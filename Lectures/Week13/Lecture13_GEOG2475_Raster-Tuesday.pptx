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6.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6.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7.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8.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28.xml" ContentType="application/vnd.openxmlformats-officedocument.presentationml.tags+xml"/>
  <Override PartName="/ppt/notesSlides/notesSlide11.xml" ContentType="application/vnd.openxmlformats-officedocument.presentationml.notesSlide+xml"/>
  <Override PartName="/ppt/tags/tag29.xml" ContentType="application/vnd.openxmlformats-officedocument.presentationml.tags+xml"/>
  <Override PartName="/ppt/notesSlides/notesSlide12.xml" ContentType="application/vnd.openxmlformats-officedocument.presentationml.notesSlide+xml"/>
  <Override PartName="/ppt/tags/tag30.xml" ContentType="application/vnd.openxmlformats-officedocument.presentationml.tags+xml"/>
  <Override PartName="/ppt/notesSlides/notesSlide13.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14.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39.xml" ContentType="application/vnd.openxmlformats-officedocument.presentationml.tags+xml"/>
  <Override PartName="/ppt/notesSlides/notesSlide17.xml" ContentType="application/vnd.openxmlformats-officedocument.presentationml.notesSlide+xml"/>
  <Override PartName="/ppt/tags/tag40.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41.xml" ContentType="application/vnd.openxmlformats-officedocument.presentationml.tags+xml"/>
  <Override PartName="/ppt/notesSlides/notesSlide20.xml" ContentType="application/vnd.openxmlformats-officedocument.presentationml.notesSlide+xml"/>
  <Override PartName="/ppt/tags/tag42.xml" ContentType="application/vnd.openxmlformats-officedocument.presentationml.tags+xml"/>
  <Override PartName="/ppt/notesSlides/notesSlide21.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22.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notesSlides/notesSlide23.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51.xml" ContentType="application/vnd.openxmlformats-officedocument.presentationml.tags+xml"/>
  <Override PartName="/ppt/notesSlides/notesSlide26.xml" ContentType="application/vnd.openxmlformats-officedocument.presentationml.notesSlide+xml"/>
  <Override PartName="/ppt/tags/tag52.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53.xml" ContentType="application/vnd.openxmlformats-officedocument.presentationml.tags+xml"/>
  <Override PartName="/ppt/notesSlides/notesSlide29.xml" ContentType="application/vnd.openxmlformats-officedocument.presentationml.notesSlide+xml"/>
  <Override PartName="/ppt/tags/tag54.xml" ContentType="application/vnd.openxmlformats-officedocument.presentationml.tags+xml"/>
  <Override PartName="/ppt/notesSlides/notesSlide30.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 id="2147483684" r:id="rId3"/>
    <p:sldMasterId id="2147483696" r:id="rId4"/>
    <p:sldMasterId id="2147483708" r:id="rId5"/>
    <p:sldMasterId id="2147483721" r:id="rId6"/>
    <p:sldMasterId id="2147483734" r:id="rId7"/>
  </p:sldMasterIdLst>
  <p:notesMasterIdLst>
    <p:notesMasterId r:id="rId56"/>
  </p:notesMasterIdLst>
  <p:sldIdLst>
    <p:sldId id="914" r:id="rId8"/>
    <p:sldId id="1647" r:id="rId9"/>
    <p:sldId id="665" r:id="rId10"/>
    <p:sldId id="693" r:id="rId11"/>
    <p:sldId id="694" r:id="rId12"/>
    <p:sldId id="699" r:id="rId13"/>
    <p:sldId id="695" r:id="rId14"/>
    <p:sldId id="697" r:id="rId15"/>
    <p:sldId id="698" r:id="rId16"/>
    <p:sldId id="700" r:id="rId17"/>
    <p:sldId id="696" r:id="rId18"/>
    <p:sldId id="706" r:id="rId19"/>
    <p:sldId id="701" r:id="rId20"/>
    <p:sldId id="702" r:id="rId21"/>
    <p:sldId id="1649" r:id="rId22"/>
    <p:sldId id="703" r:id="rId23"/>
    <p:sldId id="704" r:id="rId24"/>
    <p:sldId id="705" r:id="rId25"/>
    <p:sldId id="1652" r:id="rId26"/>
    <p:sldId id="674" r:id="rId27"/>
    <p:sldId id="316" r:id="rId28"/>
    <p:sldId id="711" r:id="rId29"/>
    <p:sldId id="310" r:id="rId30"/>
    <p:sldId id="710" r:id="rId31"/>
    <p:sldId id="712" r:id="rId32"/>
    <p:sldId id="672" r:id="rId33"/>
    <p:sldId id="1657" r:id="rId34"/>
    <p:sldId id="676" r:id="rId35"/>
    <p:sldId id="1653" r:id="rId36"/>
    <p:sldId id="318" r:id="rId37"/>
    <p:sldId id="319" r:id="rId38"/>
    <p:sldId id="716" r:id="rId39"/>
    <p:sldId id="357" r:id="rId40"/>
    <p:sldId id="713" r:id="rId41"/>
    <p:sldId id="691" r:id="rId42"/>
    <p:sldId id="320" r:id="rId43"/>
    <p:sldId id="1654" r:id="rId44"/>
    <p:sldId id="715" r:id="rId45"/>
    <p:sldId id="359" r:id="rId46"/>
    <p:sldId id="714" r:id="rId47"/>
    <p:sldId id="717" r:id="rId48"/>
    <p:sldId id="1655" r:id="rId49"/>
    <p:sldId id="321" r:id="rId50"/>
    <p:sldId id="1648" r:id="rId51"/>
    <p:sldId id="1656" r:id="rId52"/>
    <p:sldId id="1658" r:id="rId53"/>
    <p:sldId id="1659" r:id="rId54"/>
    <p:sldId id="270" r:id="rId55"/>
  </p:sldIdLst>
  <p:sldSz cx="8229600" cy="51435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210" autoAdjust="0"/>
  </p:normalViewPr>
  <p:slideViewPr>
    <p:cSldViewPr snapToGrid="0" snapToObjects="1">
      <p:cViewPr varScale="1">
        <p:scale>
          <a:sx n="114" d="100"/>
          <a:sy n="114" d="100"/>
        </p:scale>
        <p:origin x="966" y="102"/>
      </p:cViewPr>
      <p:guideLst>
        <p:guide orient="horz" pos="1620"/>
        <p:guide pos="259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slide" Target="slides/slide48.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viewProps" Target="viewProps.xml"/><Relationship Id="rId5" Type="http://schemas.openxmlformats.org/officeDocument/2006/relationships/slideMaster" Target="slideMasters/slideMaster5.xml"/><Relationship Id="rId19" Type="http://schemas.openxmlformats.org/officeDocument/2006/relationships/slide" Target="slides/slide12.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notesMaster" Target="notesMasters/notesMaster1.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theme" Target="theme/theme1.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presProps" Target="presProps.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svg"/><Relationship Id="rId1" Type="http://schemas.openxmlformats.org/officeDocument/2006/relationships/image" Target="../media/image44.png"/><Relationship Id="rId4" Type="http://schemas.openxmlformats.org/officeDocument/2006/relationships/image" Target="../media/image4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svg"/><Relationship Id="rId1" Type="http://schemas.openxmlformats.org/officeDocument/2006/relationships/image" Target="../media/image44.png"/><Relationship Id="rId4" Type="http://schemas.openxmlformats.org/officeDocument/2006/relationships/image" Target="../media/image47.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5DC5F4-D431-4A87-93B0-BBE05B35CCB1}"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54983E92-0B7C-43A8-8C1F-984B0DFA982E}">
      <dgm:prSet custT="1"/>
      <dgm:spPr/>
      <dgm:t>
        <a:bodyPr/>
        <a:lstStyle/>
        <a:p>
          <a:pPr>
            <a:defRPr cap="all"/>
          </a:pPr>
          <a:r>
            <a:rPr lang="en-US" sz="1800" dirty="0"/>
            <a:t>Due by Midnight </a:t>
          </a:r>
          <a:r>
            <a:rPr lang="en-US" sz="1800" dirty="0">
              <a:solidFill>
                <a:srgbClr val="C00000"/>
              </a:solidFill>
            </a:rPr>
            <a:t>(11:59 pm) on Monday, Nov 18, 2025</a:t>
          </a:r>
        </a:p>
      </dgm:t>
    </dgm:pt>
    <dgm:pt modelId="{47D3E5B5-E005-481D-9366-7FFA245A3F46}" type="parTrans" cxnId="{7E7C886D-A667-496F-8DDE-1B718561DB03}">
      <dgm:prSet/>
      <dgm:spPr/>
      <dgm:t>
        <a:bodyPr/>
        <a:lstStyle/>
        <a:p>
          <a:endParaRPr lang="en-US"/>
        </a:p>
      </dgm:t>
    </dgm:pt>
    <dgm:pt modelId="{9E0C94DC-193A-41FC-B82A-2A43E45C8107}" type="sibTrans" cxnId="{7E7C886D-A667-496F-8DDE-1B718561DB03}">
      <dgm:prSet/>
      <dgm:spPr/>
      <dgm:t>
        <a:bodyPr/>
        <a:lstStyle/>
        <a:p>
          <a:endParaRPr lang="en-US"/>
        </a:p>
      </dgm:t>
    </dgm:pt>
    <dgm:pt modelId="{A6242D37-AF81-4A91-9692-C3B78C4C080A}">
      <dgm:prSet custT="1"/>
      <dgm:spPr/>
      <dgm:t>
        <a:bodyPr/>
        <a:lstStyle/>
        <a:p>
          <a:pPr>
            <a:defRPr cap="all"/>
          </a:pPr>
          <a:r>
            <a:rPr lang="en-US" sz="1800" dirty="0"/>
            <a:t>Submit a word document only include </a:t>
          </a:r>
          <a:r>
            <a:rPr lang="en-US" sz="1800" dirty="0">
              <a:solidFill>
                <a:srgbClr val="C00000"/>
              </a:solidFill>
            </a:rPr>
            <a:t>question and answer</a:t>
          </a:r>
        </a:p>
      </dgm:t>
    </dgm:pt>
    <dgm:pt modelId="{A1582085-1655-4316-B7FE-C167B01E3451}" type="parTrans" cxnId="{0F5369C5-3BD8-41EC-82BC-B46BD7C285F5}">
      <dgm:prSet/>
      <dgm:spPr/>
      <dgm:t>
        <a:bodyPr/>
        <a:lstStyle/>
        <a:p>
          <a:endParaRPr lang="en-US"/>
        </a:p>
      </dgm:t>
    </dgm:pt>
    <dgm:pt modelId="{487527DA-4CA7-40A4-8E27-547430E84424}" type="sibTrans" cxnId="{0F5369C5-3BD8-41EC-82BC-B46BD7C285F5}">
      <dgm:prSet/>
      <dgm:spPr/>
      <dgm:t>
        <a:bodyPr/>
        <a:lstStyle/>
        <a:p>
          <a:endParaRPr lang="en-US"/>
        </a:p>
      </dgm:t>
    </dgm:pt>
    <dgm:pt modelId="{1CF3E5B1-FB46-4446-95BF-0E7408D9C151}" type="pres">
      <dgm:prSet presAssocID="{545DC5F4-D431-4A87-93B0-BBE05B35CCB1}" presName="root" presStyleCnt="0">
        <dgm:presLayoutVars>
          <dgm:dir/>
          <dgm:resizeHandles val="exact"/>
        </dgm:presLayoutVars>
      </dgm:prSet>
      <dgm:spPr/>
    </dgm:pt>
    <dgm:pt modelId="{BE3E81CB-7E93-484B-AE32-12C58B09BCE0}" type="pres">
      <dgm:prSet presAssocID="{54983E92-0B7C-43A8-8C1F-984B0DFA982E}" presName="compNode" presStyleCnt="0"/>
      <dgm:spPr/>
    </dgm:pt>
    <dgm:pt modelId="{D2D6216C-9B23-402E-A942-468E0F624F5B}" type="pres">
      <dgm:prSet presAssocID="{54983E92-0B7C-43A8-8C1F-984B0DFA982E}" presName="iconBgRect" presStyleLbl="bgShp" presStyleIdx="0" presStyleCnt="2"/>
      <dgm:spPr>
        <a:prstGeom prst="round2DiagRect">
          <a:avLst>
            <a:gd name="adj1" fmla="val 29727"/>
            <a:gd name="adj2" fmla="val 0"/>
          </a:avLst>
        </a:prstGeom>
      </dgm:spPr>
    </dgm:pt>
    <dgm:pt modelId="{F943F739-4EBC-47A7-A14C-25327E72C0F2}" type="pres">
      <dgm:prSet presAssocID="{54983E92-0B7C-43A8-8C1F-984B0DFA982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larm Clock"/>
        </a:ext>
      </dgm:extLst>
    </dgm:pt>
    <dgm:pt modelId="{3085FCD0-B526-4BA1-831E-148271EBCA71}" type="pres">
      <dgm:prSet presAssocID="{54983E92-0B7C-43A8-8C1F-984B0DFA982E}" presName="spaceRect" presStyleCnt="0"/>
      <dgm:spPr/>
    </dgm:pt>
    <dgm:pt modelId="{4E513C3D-9C85-4581-9570-C87158EE7A8E}" type="pres">
      <dgm:prSet presAssocID="{54983E92-0B7C-43A8-8C1F-984B0DFA982E}" presName="textRect" presStyleLbl="revTx" presStyleIdx="0" presStyleCnt="2" custScaleX="140708">
        <dgm:presLayoutVars>
          <dgm:chMax val="1"/>
          <dgm:chPref val="1"/>
        </dgm:presLayoutVars>
      </dgm:prSet>
      <dgm:spPr/>
    </dgm:pt>
    <dgm:pt modelId="{00D865C2-7AA1-4413-870A-557561F6A99D}" type="pres">
      <dgm:prSet presAssocID="{9E0C94DC-193A-41FC-B82A-2A43E45C8107}" presName="sibTrans" presStyleCnt="0"/>
      <dgm:spPr/>
    </dgm:pt>
    <dgm:pt modelId="{0444C821-AE95-419C-A2C2-10FD435B3E72}" type="pres">
      <dgm:prSet presAssocID="{A6242D37-AF81-4A91-9692-C3B78C4C080A}" presName="compNode" presStyleCnt="0"/>
      <dgm:spPr/>
    </dgm:pt>
    <dgm:pt modelId="{C1C41DF5-156F-4AFD-8177-5E65296E36DA}" type="pres">
      <dgm:prSet presAssocID="{A6242D37-AF81-4A91-9692-C3B78C4C080A}" presName="iconBgRect" presStyleLbl="bgShp" presStyleIdx="1" presStyleCnt="2"/>
      <dgm:spPr>
        <a:prstGeom prst="round2DiagRect">
          <a:avLst>
            <a:gd name="adj1" fmla="val 29727"/>
            <a:gd name="adj2" fmla="val 0"/>
          </a:avLst>
        </a:prstGeom>
      </dgm:spPr>
    </dgm:pt>
    <dgm:pt modelId="{BCD05D74-D5AE-459F-A6DF-06E0D3F03A72}" type="pres">
      <dgm:prSet presAssocID="{A6242D37-AF81-4A91-9692-C3B78C4C080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2AB5314E-660E-4ED1-846B-8434948EF46B}" type="pres">
      <dgm:prSet presAssocID="{A6242D37-AF81-4A91-9692-C3B78C4C080A}" presName="spaceRect" presStyleCnt="0"/>
      <dgm:spPr/>
    </dgm:pt>
    <dgm:pt modelId="{A3838D15-85D1-4048-B20D-9009920800B0}" type="pres">
      <dgm:prSet presAssocID="{A6242D37-AF81-4A91-9692-C3B78C4C080A}" presName="textRect" presStyleLbl="revTx" presStyleIdx="1" presStyleCnt="2" custScaleX="147657">
        <dgm:presLayoutVars>
          <dgm:chMax val="1"/>
          <dgm:chPref val="1"/>
        </dgm:presLayoutVars>
      </dgm:prSet>
      <dgm:spPr/>
    </dgm:pt>
  </dgm:ptLst>
  <dgm:cxnLst>
    <dgm:cxn modelId="{34AD3E24-5AE2-4091-998E-71D41F9CDB89}" type="presOf" srcId="{A6242D37-AF81-4A91-9692-C3B78C4C080A}" destId="{A3838D15-85D1-4048-B20D-9009920800B0}" srcOrd="0" destOrd="0" presId="urn:microsoft.com/office/officeart/2018/5/layout/IconLeafLabelList"/>
    <dgm:cxn modelId="{7E7C886D-A667-496F-8DDE-1B718561DB03}" srcId="{545DC5F4-D431-4A87-93B0-BBE05B35CCB1}" destId="{54983E92-0B7C-43A8-8C1F-984B0DFA982E}" srcOrd="0" destOrd="0" parTransId="{47D3E5B5-E005-481D-9366-7FFA245A3F46}" sibTransId="{9E0C94DC-193A-41FC-B82A-2A43E45C8107}"/>
    <dgm:cxn modelId="{B47C2F55-9A4B-4FFB-AA38-9C2574693CD4}" type="presOf" srcId="{54983E92-0B7C-43A8-8C1F-984B0DFA982E}" destId="{4E513C3D-9C85-4581-9570-C87158EE7A8E}" srcOrd="0" destOrd="0" presId="urn:microsoft.com/office/officeart/2018/5/layout/IconLeafLabelList"/>
    <dgm:cxn modelId="{53CEBE9C-EA76-48A8-8DF7-6953575A9C37}" type="presOf" srcId="{545DC5F4-D431-4A87-93B0-BBE05B35CCB1}" destId="{1CF3E5B1-FB46-4446-95BF-0E7408D9C151}" srcOrd="0" destOrd="0" presId="urn:microsoft.com/office/officeart/2018/5/layout/IconLeafLabelList"/>
    <dgm:cxn modelId="{0F5369C5-3BD8-41EC-82BC-B46BD7C285F5}" srcId="{545DC5F4-D431-4A87-93B0-BBE05B35CCB1}" destId="{A6242D37-AF81-4A91-9692-C3B78C4C080A}" srcOrd="1" destOrd="0" parTransId="{A1582085-1655-4316-B7FE-C167B01E3451}" sibTransId="{487527DA-4CA7-40A4-8E27-547430E84424}"/>
    <dgm:cxn modelId="{5C6FCB9C-3574-4EF1-979B-C82FE21FC231}" type="presParOf" srcId="{1CF3E5B1-FB46-4446-95BF-0E7408D9C151}" destId="{BE3E81CB-7E93-484B-AE32-12C58B09BCE0}" srcOrd="0" destOrd="0" presId="urn:microsoft.com/office/officeart/2018/5/layout/IconLeafLabelList"/>
    <dgm:cxn modelId="{3BEBC4B0-3768-4D30-9883-ED03B1BB2AA3}" type="presParOf" srcId="{BE3E81CB-7E93-484B-AE32-12C58B09BCE0}" destId="{D2D6216C-9B23-402E-A942-468E0F624F5B}" srcOrd="0" destOrd="0" presId="urn:microsoft.com/office/officeart/2018/5/layout/IconLeafLabelList"/>
    <dgm:cxn modelId="{9334B4F2-C5A7-478D-8C83-6B6B78937527}" type="presParOf" srcId="{BE3E81CB-7E93-484B-AE32-12C58B09BCE0}" destId="{F943F739-4EBC-47A7-A14C-25327E72C0F2}" srcOrd="1" destOrd="0" presId="urn:microsoft.com/office/officeart/2018/5/layout/IconLeafLabelList"/>
    <dgm:cxn modelId="{722E4463-BB96-47A5-B05B-8394250686DE}" type="presParOf" srcId="{BE3E81CB-7E93-484B-AE32-12C58B09BCE0}" destId="{3085FCD0-B526-4BA1-831E-148271EBCA71}" srcOrd="2" destOrd="0" presId="urn:microsoft.com/office/officeart/2018/5/layout/IconLeafLabelList"/>
    <dgm:cxn modelId="{4DDDB5E8-1F23-4A78-9605-45AAF5833E68}" type="presParOf" srcId="{BE3E81CB-7E93-484B-AE32-12C58B09BCE0}" destId="{4E513C3D-9C85-4581-9570-C87158EE7A8E}" srcOrd="3" destOrd="0" presId="urn:microsoft.com/office/officeart/2018/5/layout/IconLeafLabelList"/>
    <dgm:cxn modelId="{123D8173-4B78-41DB-B068-2BA15E016A23}" type="presParOf" srcId="{1CF3E5B1-FB46-4446-95BF-0E7408D9C151}" destId="{00D865C2-7AA1-4413-870A-557561F6A99D}" srcOrd="1" destOrd="0" presId="urn:microsoft.com/office/officeart/2018/5/layout/IconLeafLabelList"/>
    <dgm:cxn modelId="{E92967F1-54D1-402B-9BE3-03FB7BECA8E6}" type="presParOf" srcId="{1CF3E5B1-FB46-4446-95BF-0E7408D9C151}" destId="{0444C821-AE95-419C-A2C2-10FD435B3E72}" srcOrd="2" destOrd="0" presId="urn:microsoft.com/office/officeart/2018/5/layout/IconLeafLabelList"/>
    <dgm:cxn modelId="{6A34589F-98DC-49A5-B284-AB8B04E10F1B}" type="presParOf" srcId="{0444C821-AE95-419C-A2C2-10FD435B3E72}" destId="{C1C41DF5-156F-4AFD-8177-5E65296E36DA}" srcOrd="0" destOrd="0" presId="urn:microsoft.com/office/officeart/2018/5/layout/IconLeafLabelList"/>
    <dgm:cxn modelId="{E4BDC4E7-B33D-408F-A28A-9E646BDBCB86}" type="presParOf" srcId="{0444C821-AE95-419C-A2C2-10FD435B3E72}" destId="{BCD05D74-D5AE-459F-A6DF-06E0D3F03A72}" srcOrd="1" destOrd="0" presId="urn:microsoft.com/office/officeart/2018/5/layout/IconLeafLabelList"/>
    <dgm:cxn modelId="{3D1E9DB2-C5D6-4774-8110-C1F4D3951E71}" type="presParOf" srcId="{0444C821-AE95-419C-A2C2-10FD435B3E72}" destId="{2AB5314E-660E-4ED1-846B-8434948EF46B}" srcOrd="2" destOrd="0" presId="urn:microsoft.com/office/officeart/2018/5/layout/IconLeafLabelList"/>
    <dgm:cxn modelId="{2B9C7FC2-A255-4335-A004-2546E39B1238}" type="presParOf" srcId="{0444C821-AE95-419C-A2C2-10FD435B3E72}" destId="{A3838D15-85D1-4048-B20D-9009920800B0}"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D6216C-9B23-402E-A942-468E0F624F5B}">
      <dsp:nvSpPr>
        <dsp:cNvPr id="0" name=""/>
        <dsp:cNvSpPr/>
      </dsp:nvSpPr>
      <dsp:spPr>
        <a:xfrm>
          <a:off x="1178341" y="15356"/>
          <a:ext cx="1372500" cy="13725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43F739-4EBC-47A7-A14C-25327E72C0F2}">
      <dsp:nvSpPr>
        <dsp:cNvPr id="0" name=""/>
        <dsp:cNvSpPr/>
      </dsp:nvSpPr>
      <dsp:spPr>
        <a:xfrm>
          <a:off x="1470841" y="307856"/>
          <a:ext cx="787500" cy="7875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E513C3D-9C85-4581-9570-C87158EE7A8E}">
      <dsp:nvSpPr>
        <dsp:cNvPr id="0" name=""/>
        <dsp:cNvSpPr/>
      </dsp:nvSpPr>
      <dsp:spPr>
        <a:xfrm>
          <a:off x="281626" y="1815356"/>
          <a:ext cx="3165930" cy="743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Due by Midnight </a:t>
          </a:r>
          <a:r>
            <a:rPr lang="en-US" sz="1800" kern="1200" dirty="0">
              <a:solidFill>
                <a:srgbClr val="C00000"/>
              </a:solidFill>
            </a:rPr>
            <a:t>(11:59 pm) on Monday, Nov 18, 2025</a:t>
          </a:r>
        </a:p>
      </dsp:txBody>
      <dsp:txXfrm>
        <a:off x="281626" y="1815356"/>
        <a:ext cx="3165930" cy="743927"/>
      </dsp:txXfrm>
    </dsp:sp>
    <dsp:sp modelId="{C1C41DF5-156F-4AFD-8177-5E65296E36DA}">
      <dsp:nvSpPr>
        <dsp:cNvPr id="0" name=""/>
        <dsp:cNvSpPr/>
      </dsp:nvSpPr>
      <dsp:spPr>
        <a:xfrm>
          <a:off x="4816197" y="15356"/>
          <a:ext cx="1372500" cy="13725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D05D74-D5AE-459F-A6DF-06E0D3F03A72}">
      <dsp:nvSpPr>
        <dsp:cNvPr id="0" name=""/>
        <dsp:cNvSpPr/>
      </dsp:nvSpPr>
      <dsp:spPr>
        <a:xfrm>
          <a:off x="5108697" y="307856"/>
          <a:ext cx="787500" cy="7875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3838D15-85D1-4048-B20D-9009920800B0}">
      <dsp:nvSpPr>
        <dsp:cNvPr id="0" name=""/>
        <dsp:cNvSpPr/>
      </dsp:nvSpPr>
      <dsp:spPr>
        <a:xfrm>
          <a:off x="3841306" y="1815356"/>
          <a:ext cx="3322282" cy="743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Submit a word document only include </a:t>
          </a:r>
          <a:r>
            <a:rPr lang="en-US" sz="1800" kern="1200" dirty="0">
              <a:solidFill>
                <a:srgbClr val="C00000"/>
              </a:solidFill>
            </a:rPr>
            <a:t>question and answer</a:t>
          </a:r>
        </a:p>
      </dsp:txBody>
      <dsp:txXfrm>
        <a:off x="3841306" y="1815356"/>
        <a:ext cx="3322282" cy="743927"/>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11/11/2025</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507943-197E-CE46-82F0-5A323A24AE7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80193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3</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4130332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a:t>
            </a:fld>
            <a:endParaRPr lang="en-US"/>
          </a:p>
        </p:txBody>
      </p:sp>
    </p:spTree>
    <p:extLst>
      <p:ext uri="{BB962C8B-B14F-4D97-AF65-F5344CB8AC3E}">
        <p14:creationId xmlns:p14="http://schemas.microsoft.com/office/powerpoint/2010/main" val="16443863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a:t>
            </a:r>
            <a:r>
              <a:rPr lang="en-US" baseline="0" dirty="0"/>
              <a:t> is also possible to perform calculations using multiple raster grids. </a:t>
            </a:r>
          </a:p>
          <a:p>
            <a:endParaRPr lang="en-US" baseline="0" dirty="0"/>
          </a:p>
          <a:p>
            <a:r>
              <a:rPr lang="en-US" baseline="0" dirty="0"/>
              <a:t>When multiple raster grids are used, cells that overlap will be involved in calculations. </a:t>
            </a:r>
          </a:p>
          <a:p>
            <a:endParaRPr lang="en-US" baseline="0" dirty="0"/>
          </a:p>
          <a:p>
            <a:r>
              <a:rPr lang="en-US" baseline="0" dirty="0"/>
              <a:t>In the example above, cells are being multiplied and added together. </a:t>
            </a:r>
          </a:p>
          <a:p>
            <a:endParaRPr lang="en-US" baseline="0" dirty="0"/>
          </a:p>
          <a:p>
            <a:r>
              <a:rPr lang="en-US" baseline="0" dirty="0"/>
              <a:t>Note that a </a:t>
            </a:r>
            <a:r>
              <a:rPr lang="en-US" baseline="0" dirty="0" err="1"/>
              <a:t>NoData</a:t>
            </a:r>
            <a:r>
              <a:rPr lang="en-US" baseline="0" dirty="0"/>
              <a:t> result will be returned any time at least on of the grids holds a </a:t>
            </a:r>
            <a:r>
              <a:rPr lang="en-US" baseline="0" dirty="0" err="1"/>
              <a:t>NoData</a:t>
            </a:r>
            <a:r>
              <a:rPr lang="en-US" baseline="0" dirty="0"/>
              <a:t> value at that location. </a:t>
            </a:r>
          </a:p>
          <a:p>
            <a:endParaRPr lang="en-US" baseline="0" dirty="0"/>
          </a:p>
          <a:p>
            <a:r>
              <a:rPr lang="en-US" baseline="0" dirty="0"/>
              <a:t>Calculations can only be performed when values are available for all grids at that location.</a:t>
            </a:r>
          </a:p>
          <a:p>
            <a:endParaRPr lang="en-US" baseline="0" dirty="0"/>
          </a:p>
          <a:p>
            <a:r>
              <a:rPr lang="en-US" baseline="0" dirty="0"/>
              <a:t>When cells do not align properly, how the grids overlay to perform these calculations can be ambiguous. This is one reason to use a snap raster.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6</a:t>
            </a:fld>
            <a:endParaRPr lang="en-US"/>
          </a:p>
        </p:txBody>
      </p:sp>
    </p:spTree>
    <p:extLst>
      <p:ext uri="{BB962C8B-B14F-4D97-AF65-F5344CB8AC3E}">
        <p14:creationId xmlns:p14="http://schemas.microsoft.com/office/powerpoint/2010/main" val="13735288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Raster Calculator</a:t>
            </a:r>
            <a:r>
              <a:rPr lang="en-US" baseline="0" dirty="0"/>
              <a:t> Tool allows you to perform mathematical calculations on a cell-by-cell basis. </a:t>
            </a:r>
          </a:p>
          <a:p>
            <a:endParaRPr lang="en-US" baseline="0" dirty="0"/>
          </a:p>
          <a:p>
            <a:r>
              <a:rPr lang="en-US" baseline="0" dirty="0"/>
              <a:t>This tool is very flexible and can be used to perform a wide variety of raster-based calculations. </a:t>
            </a:r>
          </a:p>
          <a:p>
            <a:endParaRPr lang="en-US" baseline="0" dirty="0"/>
          </a:p>
          <a:p>
            <a:r>
              <a:rPr lang="en-US" baseline="0" dirty="0"/>
              <a:t>Examples will be provided in the following slides. </a:t>
            </a:r>
          </a:p>
        </p:txBody>
      </p:sp>
      <p:sp>
        <p:nvSpPr>
          <p:cNvPr id="4" name="Slide Number Placeholder 3"/>
          <p:cNvSpPr>
            <a:spLocks noGrp="1"/>
          </p:cNvSpPr>
          <p:nvPr>
            <p:ph type="sldNum" sz="quarter" idx="10"/>
          </p:nvPr>
        </p:nvSpPr>
        <p:spPr/>
        <p:txBody>
          <a:bodyPr/>
          <a:lstStyle/>
          <a:p>
            <a:fld id="{01F2A70B-78F2-4DCF-B53B-C990D2FAFB8A}" type="slidenum">
              <a:rPr lang="en-US" smtClean="0"/>
              <a:t>7</a:t>
            </a:fld>
            <a:endParaRPr lang="en-US"/>
          </a:p>
        </p:txBody>
      </p:sp>
    </p:spTree>
    <p:extLst>
      <p:ext uri="{BB962C8B-B14F-4D97-AF65-F5344CB8AC3E}">
        <p14:creationId xmlns:p14="http://schemas.microsoft.com/office/powerpoint/2010/main" val="30835538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Operations</a:t>
            </a:r>
            <a:r>
              <a:rPr lang="en-US" baseline="0" dirty="0"/>
              <a:t> can be performed that only require one raster input. </a:t>
            </a:r>
          </a:p>
          <a:p>
            <a:endParaRPr lang="en-US" baseline="0" dirty="0"/>
          </a:p>
          <a:p>
            <a:r>
              <a:rPr lang="en-US" baseline="0" dirty="0"/>
              <a:t>In the example above, the square root of the elevation value in the input raster will be returned to the output raster. </a:t>
            </a:r>
          </a:p>
          <a:p>
            <a:endParaRPr lang="en-US" baseline="0" dirty="0"/>
          </a:p>
          <a:p>
            <a:r>
              <a:rPr lang="en-US" baseline="0" dirty="0"/>
              <a:t>Other examples include converting grid cells from float to integer, taking the tangent of the cell values, and taking the natural log of the cell values.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8</a:t>
            </a:fld>
            <a:endParaRPr lang="en-US"/>
          </a:p>
        </p:txBody>
      </p:sp>
    </p:spTree>
    <p:extLst>
      <p:ext uri="{BB962C8B-B14F-4D97-AF65-F5344CB8AC3E}">
        <p14:creationId xmlns:p14="http://schemas.microsoft.com/office/powerpoint/2010/main" val="17615022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Operations</a:t>
            </a:r>
            <a:r>
              <a:rPr lang="en-US" baseline="0" dirty="0"/>
              <a:t> can also be performed that require raster grids and constants. </a:t>
            </a:r>
          </a:p>
          <a:p>
            <a:endParaRPr lang="en-US" baseline="0" dirty="0"/>
          </a:p>
          <a:p>
            <a:r>
              <a:rPr lang="en-US" baseline="0" dirty="0"/>
              <a:t>In the example, elevation values in meters are being multiplied by 3.281 to output elevation values in feet. </a:t>
            </a:r>
          </a:p>
          <a:p>
            <a:endParaRPr lang="en-US" baseline="0" dirty="0"/>
          </a:p>
          <a:p>
            <a:r>
              <a:rPr lang="en-US" baseline="0" dirty="0"/>
              <a:t>Unit conversion is a common use of such techniques.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9</a:t>
            </a:fld>
            <a:endParaRPr lang="en-US"/>
          </a:p>
        </p:txBody>
      </p:sp>
    </p:spTree>
    <p:extLst>
      <p:ext uri="{BB962C8B-B14F-4D97-AF65-F5344CB8AC3E}">
        <p14:creationId xmlns:p14="http://schemas.microsoft.com/office/powerpoint/2010/main" val="13424545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a:t>
            </a:r>
            <a:r>
              <a:rPr lang="en-US" baseline="0" dirty="0"/>
              <a:t> is another example of raster math involving two grids. A binary surface separating forest and not forest is being multiplied by a binary grid representing locations with elevations above 800 meters. The result will return 1 only where the forest and elevation criteria are both true. </a:t>
            </a:r>
          </a:p>
          <a:p>
            <a:endParaRPr lang="en-US" baseline="0" dirty="0"/>
          </a:p>
          <a:p>
            <a:r>
              <a:rPr lang="en-US" baseline="0" dirty="0"/>
              <a:t>So, values of 1 in the output represent locations that are forest at an elevation above 800 meters.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10</a:t>
            </a:fld>
            <a:endParaRPr lang="en-US"/>
          </a:p>
        </p:txBody>
      </p:sp>
    </p:spTree>
    <p:extLst>
      <p:ext uri="{BB962C8B-B14F-4D97-AF65-F5344CB8AC3E}">
        <p14:creationId xmlns:p14="http://schemas.microsoft.com/office/powerpoint/2010/main" val="3569450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Raster</a:t>
            </a:r>
            <a:r>
              <a:rPr lang="en-US" baseline="0" dirty="0"/>
              <a:t> Calculator can be used to produce binary, 0-1, or yes-no surfaces. In these outputs, cells that met the query criteria are coded as 1 and cells that do not meet the criteria are coded as zero. </a:t>
            </a:r>
          </a:p>
          <a:p>
            <a:endParaRPr lang="en-US" baseline="0" dirty="0"/>
          </a:p>
          <a:p>
            <a:r>
              <a:rPr lang="en-US" baseline="0" dirty="0"/>
              <a:t>1 always indicates true while 0 will indicates false. </a:t>
            </a:r>
          </a:p>
          <a:p>
            <a:endParaRPr lang="en-US" baseline="0" dirty="0"/>
          </a:p>
          <a:p>
            <a:r>
              <a:rPr lang="en-US" baseline="0" dirty="0"/>
              <a:t>In this example, I am querying the raster to find all cells in a digital elevation model that have an elevation greater than 800. Cells that hold an elevation value greater than 800 will be coded to 1 in the output. All other cells will be coded to 0.</a:t>
            </a:r>
          </a:p>
          <a:p>
            <a:endParaRPr lang="en-US" baseline="0" dirty="0"/>
          </a:p>
          <a:p>
            <a:r>
              <a:rPr lang="en-US" baseline="0" dirty="0"/>
              <a:t>The result is a binary output.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11</a:t>
            </a:fld>
            <a:endParaRPr lang="en-US"/>
          </a:p>
        </p:txBody>
      </p:sp>
    </p:spTree>
    <p:extLst>
      <p:ext uri="{BB962C8B-B14F-4D97-AF65-F5344CB8AC3E}">
        <p14:creationId xmlns:p14="http://schemas.microsoft.com/office/powerpoint/2010/main" val="34395052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12</a:t>
            </a:fld>
            <a:endParaRPr lang="en-US"/>
          </a:p>
        </p:txBody>
      </p:sp>
    </p:spTree>
    <p:extLst>
      <p:ext uri="{BB962C8B-B14F-4D97-AF65-F5344CB8AC3E}">
        <p14:creationId xmlns:p14="http://schemas.microsoft.com/office/powerpoint/2010/main" val="30155849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functions</a:t>
            </a:r>
            <a:r>
              <a:rPr lang="en-US" baseline="0" dirty="0"/>
              <a:t> are available for use within Raster Calculator. Take some time to review the available functions presented here. Note that these are not the only function available.</a:t>
            </a:r>
          </a:p>
          <a:p>
            <a:endParaRPr lang="en-US" baseline="0" dirty="0"/>
          </a:p>
          <a:p>
            <a:r>
              <a:rPr lang="en-US" baseline="0" dirty="0"/>
              <a:t>These are just examples.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13</a:t>
            </a:fld>
            <a:endParaRPr lang="en-US"/>
          </a:p>
        </p:txBody>
      </p:sp>
    </p:spTree>
    <p:extLst>
      <p:ext uri="{BB962C8B-B14F-4D97-AF65-F5344CB8AC3E}">
        <p14:creationId xmlns:p14="http://schemas.microsoft.com/office/powerpoint/2010/main" val="38414646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some additional functions</a:t>
            </a:r>
            <a:r>
              <a:rPr lang="en-US" baseline="0" dirty="0"/>
              <a:t> available in Raster Calculator. Take some time to look over these functions.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14</a:t>
            </a:fld>
            <a:endParaRPr lang="en-US"/>
          </a:p>
        </p:txBody>
      </p:sp>
    </p:spTree>
    <p:extLst>
      <p:ext uri="{BB962C8B-B14F-4D97-AF65-F5344CB8AC3E}">
        <p14:creationId xmlns:p14="http://schemas.microsoft.com/office/powerpoint/2010/main" val="37184277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Conditional statements can also be integrated</a:t>
            </a:r>
            <a:r>
              <a:rPr lang="en-US" baseline="0" dirty="0"/>
              <a:t> into Raster Calculator syntax. In a conditional statement, the first argument is the condition, the second argument defines what to return if the condition is true, and the last argument defines what to return in the condition is false. </a:t>
            </a:r>
          </a:p>
          <a:p>
            <a:endParaRPr lang="en-US" baseline="0" dirty="0"/>
          </a:p>
          <a:p>
            <a:r>
              <a:rPr lang="en-US" baseline="0" dirty="0"/>
              <a:t>In this example, the condition is that the land cover code must be equal to 41. This code represents deciduous forest. If the condition is met, or the location is coded as deciduous forest, the result will be 1. If the condition is not met, or the result is not deciduous forest, the result will be 0. So, the output here will be a binary output in which 1 indicates deciduous forest and 0 indicated not deciduous forest.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16</a:t>
            </a:fld>
            <a:endParaRPr lang="en-US"/>
          </a:p>
        </p:txBody>
      </p:sp>
    </p:spTree>
    <p:extLst>
      <p:ext uri="{BB962C8B-B14F-4D97-AF65-F5344CB8AC3E}">
        <p14:creationId xmlns:p14="http://schemas.microsoft.com/office/powerpoint/2010/main" val="14594208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 final note on raster calculations,</a:t>
            </a:r>
            <a:r>
              <a:rPr lang="en-US" baseline="0" dirty="0"/>
              <a:t> a result will only be returned when values are available in all grids.</a:t>
            </a:r>
          </a:p>
          <a:p>
            <a:endParaRPr lang="en-US" baseline="0" dirty="0"/>
          </a:p>
          <a:p>
            <a:r>
              <a:rPr lang="en-US" baseline="0" dirty="0"/>
              <a:t>As an example, if you multiply 100 grids together, and they all have cell values at a location except one grid which has a </a:t>
            </a:r>
            <a:r>
              <a:rPr lang="en-US" baseline="0" dirty="0" err="1"/>
              <a:t>NoData</a:t>
            </a:r>
            <a:r>
              <a:rPr lang="en-US" baseline="0" dirty="0"/>
              <a:t> assignment at that location, the result will be </a:t>
            </a:r>
            <a:r>
              <a:rPr lang="en-US" baseline="0" dirty="0" err="1"/>
              <a:t>NoData</a:t>
            </a:r>
            <a:r>
              <a:rPr lang="en-US" baseline="0" dirty="0"/>
              <a:t>. </a:t>
            </a:r>
          </a:p>
          <a:p>
            <a:endParaRPr lang="en-US" baseline="0" dirty="0"/>
          </a:p>
          <a:p>
            <a:r>
              <a:rPr lang="en-US" baseline="0" dirty="0"/>
              <a:t>Values must be available in all grids at a location in order for a calculation to be performed.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17</a:t>
            </a:fld>
            <a:endParaRPr lang="en-US"/>
          </a:p>
        </p:txBody>
      </p:sp>
    </p:spTree>
    <p:extLst>
      <p:ext uri="{BB962C8B-B14F-4D97-AF65-F5344CB8AC3E}">
        <p14:creationId xmlns:p14="http://schemas.microsoft.com/office/powerpoint/2010/main" val="16402824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Reclassification allow you to change</a:t>
            </a:r>
            <a:r>
              <a:rPr lang="en-US" baseline="0" dirty="0"/>
              <a:t> the cell values in a raster. The example in this slide demonstrates changing the cell values for a categorical raster grid, in this case a land cover grid from the National Land Cover Database. Here, all values corresponding to forest types were recoded to 1 and all other types were coded to 0. So, many categories were generalized to forest vs. not forest.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20</a:t>
            </a:fld>
            <a:endParaRPr lang="en-US"/>
          </a:p>
        </p:txBody>
      </p:sp>
    </p:spTree>
    <p:extLst>
      <p:ext uri="{BB962C8B-B14F-4D97-AF65-F5344CB8AC3E}">
        <p14:creationId xmlns:p14="http://schemas.microsoft.com/office/powerpoint/2010/main" val="6051919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a:t>
            </a:r>
            <a:r>
              <a:rPr lang="en-US" baseline="0" dirty="0"/>
              <a:t> is also possible to reclassify continuous raster data. In this example, a digital elevation model is being reclassified into four categories. Each category represents a range of elevation measurements.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21</a:t>
            </a:fld>
            <a:endParaRPr lang="en-US"/>
          </a:p>
        </p:txBody>
      </p:sp>
    </p:spTree>
    <p:extLst>
      <p:ext uri="{BB962C8B-B14F-4D97-AF65-F5344CB8AC3E}">
        <p14:creationId xmlns:p14="http://schemas.microsoft.com/office/powerpoint/2010/main" val="1924969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22</a:t>
            </a:fld>
            <a:endParaRPr lang="en-US"/>
          </a:p>
        </p:txBody>
      </p:sp>
    </p:spTree>
    <p:extLst>
      <p:ext uri="{BB962C8B-B14F-4D97-AF65-F5344CB8AC3E}">
        <p14:creationId xmlns:p14="http://schemas.microsoft.com/office/powerpoint/2010/main" val="37603509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raster pre-processing task is to extract</a:t>
            </a:r>
            <a:r>
              <a:rPr lang="en-US" baseline="0" dirty="0"/>
              <a:t> a portion of a raster from a larger dataset. In the example here, a portion of a DEM is being extracted from a larger DEM.</a:t>
            </a:r>
          </a:p>
          <a:p>
            <a:endParaRPr lang="en-US" baseline="0" dirty="0"/>
          </a:p>
          <a:p>
            <a:r>
              <a:rPr lang="en-US" baseline="0" dirty="0"/>
              <a:t>A variety of methods are available to extract a portion of a raster grid as defined on the slide. I commonly use Extract by Mask. To use this tool, a polygon mask or raster mask is used. Cells that fall within this mask will be written to a new file. That is how the example on the page was produced. </a:t>
            </a:r>
          </a:p>
          <a:p>
            <a:endParaRPr lang="en-US" baseline="0" dirty="0"/>
          </a:p>
          <a:p>
            <a:r>
              <a:rPr lang="en-US" baseline="0" dirty="0"/>
              <a:t>Take some time here to read through the descriptions of the different extraction methods.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23</a:t>
            </a:fld>
            <a:endParaRPr lang="en-US"/>
          </a:p>
        </p:txBody>
      </p:sp>
    </p:spTree>
    <p:extLst>
      <p:ext uri="{BB962C8B-B14F-4D97-AF65-F5344CB8AC3E}">
        <p14:creationId xmlns:p14="http://schemas.microsoft.com/office/powerpoint/2010/main" val="35234307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raster pre-processing task is to extract</a:t>
            </a:r>
            <a:r>
              <a:rPr lang="en-US" baseline="0" dirty="0"/>
              <a:t> a portion of a raster from a larger dataset. In the example here, a portion of a DEM is being extracted from a larger DEM.</a:t>
            </a:r>
          </a:p>
          <a:p>
            <a:endParaRPr lang="en-US" baseline="0" dirty="0"/>
          </a:p>
          <a:p>
            <a:r>
              <a:rPr lang="en-US" baseline="0" dirty="0"/>
              <a:t>A variety of methods are available to extract a portion of a raster grid as defined on the slide. I commonly use Extract by Mask. To use this tool, a polygon mask or raster mask is used. Cells that fall within this mask will be written to a new file. That is how the example on the page was produced. </a:t>
            </a:r>
          </a:p>
          <a:p>
            <a:endParaRPr lang="en-US" baseline="0" dirty="0"/>
          </a:p>
          <a:p>
            <a:r>
              <a:rPr lang="en-US" baseline="0" dirty="0"/>
              <a:t>Take some time here to read through the descriptions of the different extraction methods.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24</a:t>
            </a:fld>
            <a:endParaRPr lang="en-US"/>
          </a:p>
        </p:txBody>
      </p:sp>
    </p:spTree>
    <p:extLst>
      <p:ext uri="{BB962C8B-B14F-4D97-AF65-F5344CB8AC3E}">
        <p14:creationId xmlns:p14="http://schemas.microsoft.com/office/powerpoint/2010/main" val="22401083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25</a:t>
            </a:fld>
            <a:endParaRPr lang="en-US"/>
          </a:p>
        </p:txBody>
      </p:sp>
    </p:spTree>
    <p:extLst>
      <p:ext uri="{BB962C8B-B14F-4D97-AF65-F5344CB8AC3E}">
        <p14:creationId xmlns:p14="http://schemas.microsoft.com/office/powerpoint/2010/main" val="27304675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may</a:t>
            </a:r>
            <a:r>
              <a:rPr lang="en-US" baseline="0" dirty="0"/>
              <a:t> have many raster grids that you would like to combine to a single file by stacking the separate grids or bands as a single multiband file. </a:t>
            </a:r>
          </a:p>
          <a:p>
            <a:endParaRPr lang="en-US" baseline="0" dirty="0"/>
          </a:p>
          <a:p>
            <a:r>
              <a:rPr lang="en-US" baseline="0" dirty="0"/>
              <a:t>As an example, when Landsat data are downloaded they are often provided as individual bands. However, you may want to use these data as a multiband image for analysis or symbology. So, you would need to combine the bands into a single raster with multiple bands. </a:t>
            </a:r>
          </a:p>
          <a:p>
            <a:endParaRPr lang="en-US" baseline="0" dirty="0"/>
          </a:p>
          <a:p>
            <a:r>
              <a:rPr lang="en-US" baseline="0" dirty="0"/>
              <a:t>This can be accomplished using the Composite Bands Tool in ArcGIS Pro or the Stack Tool in </a:t>
            </a:r>
            <a:r>
              <a:rPr lang="en-US" baseline="0" dirty="0" err="1"/>
              <a:t>Erdas</a:t>
            </a:r>
            <a:r>
              <a:rPr lang="en-US" baseline="0" dirty="0"/>
              <a:t> Imagine.</a:t>
            </a:r>
          </a:p>
          <a:p>
            <a:endParaRPr lang="en-US" baseline="0" dirty="0"/>
          </a:p>
          <a:p>
            <a:r>
              <a:rPr lang="en-US" baseline="0" dirty="0"/>
              <a:t>Note that it is possible to stack more than just image bands. For example, you could stack a set of topographic variables into a multiband file. I have found this to be useful when preparing data for modeling. </a:t>
            </a:r>
          </a:p>
          <a:p>
            <a:endParaRPr lang="en-US" baseline="0" dirty="0"/>
          </a:p>
          <a:p>
            <a:r>
              <a:rPr lang="en-US" baseline="0" dirty="0"/>
              <a:t>Note that all bands or layers in a stack must have the same pixel type. For example, if you stack three 8-bit grids and one 16-bit grid, all the data will be converted to 16-bit. If one of your input grids is float, then all your grids will be converted to float. </a:t>
            </a:r>
          </a:p>
        </p:txBody>
      </p:sp>
      <p:sp>
        <p:nvSpPr>
          <p:cNvPr id="4" name="Slide Number Placeholder 3"/>
          <p:cNvSpPr>
            <a:spLocks noGrp="1"/>
          </p:cNvSpPr>
          <p:nvPr>
            <p:ph type="sldNum" sz="quarter" idx="10"/>
          </p:nvPr>
        </p:nvSpPr>
        <p:spPr/>
        <p:txBody>
          <a:bodyPr/>
          <a:lstStyle/>
          <a:p>
            <a:fld id="{01F2A70B-78F2-4DCF-B53B-C990D2FAFB8A}" type="slidenum">
              <a:rPr lang="en-US" smtClean="0"/>
              <a:t>26</a:t>
            </a:fld>
            <a:endParaRPr lang="en-US"/>
          </a:p>
        </p:txBody>
      </p:sp>
    </p:spTree>
    <p:extLst>
      <p:ext uri="{BB962C8B-B14F-4D97-AF65-F5344CB8AC3E}">
        <p14:creationId xmlns:p14="http://schemas.microsoft.com/office/powerpoint/2010/main" val="33824653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30</a:t>
            </a:fld>
            <a:endParaRPr lang="en-US"/>
          </a:p>
        </p:txBody>
      </p:sp>
    </p:spTree>
    <p:extLst>
      <p:ext uri="{BB962C8B-B14F-4D97-AF65-F5344CB8AC3E}">
        <p14:creationId xmlns:p14="http://schemas.microsoft.com/office/powerpoint/2010/main" val="5595490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Circular</a:t>
            </a:r>
            <a:r>
              <a:rPr lang="en-US" baseline="0" dirty="0"/>
              <a:t> windows can also be used. When using a circular window, a radius is defined relative to the map units or a number of cells. The examples here represent circular windows with radii of 1 and 2 cells.</a:t>
            </a:r>
          </a:p>
          <a:p>
            <a:endParaRPr lang="en-US" baseline="0"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31</a:t>
            </a:fld>
            <a:endParaRPr lang="en-US"/>
          </a:p>
        </p:txBody>
      </p:sp>
    </p:spTree>
    <p:extLst>
      <p:ext uri="{BB962C8B-B14F-4D97-AF65-F5344CB8AC3E}">
        <p14:creationId xmlns:p14="http://schemas.microsoft.com/office/powerpoint/2010/main" val="3717584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Focal</a:t>
            </a:r>
            <a:r>
              <a:rPr lang="en-US" baseline="0" dirty="0"/>
              <a:t> statistics is a type of moving window analysis. As the name implies, this method is used to calculate a statistic within a moving window. </a:t>
            </a:r>
          </a:p>
          <a:p>
            <a:endParaRPr lang="en-US" baseline="0" dirty="0"/>
          </a:p>
          <a:p>
            <a:r>
              <a:rPr lang="en-US" baseline="0" dirty="0"/>
              <a:t>As the window progresses over the raster grid, the resulting statistic is written to a new cell at the center cell location. The process continues to perform the calculation using all the cells in the original grid as the center cell.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33</a:t>
            </a:fld>
            <a:endParaRPr lang="en-US"/>
          </a:p>
        </p:txBody>
      </p:sp>
    </p:spTree>
    <p:extLst>
      <p:ext uri="{BB962C8B-B14F-4D97-AF65-F5344CB8AC3E}">
        <p14:creationId xmlns:p14="http://schemas.microsoft.com/office/powerpoint/2010/main" val="3662434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Circular</a:t>
            </a:r>
            <a:r>
              <a:rPr lang="en-US" baseline="0" dirty="0"/>
              <a:t> windows can also be used. When using a circular window, a radius is defined relative to the map units or a number of cells. The examples here represent circular windows with radii of 1 and 2 cells.</a:t>
            </a:r>
          </a:p>
          <a:p>
            <a:endParaRPr lang="en-US" baseline="0"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34</a:t>
            </a:fld>
            <a:endParaRPr lang="en-US"/>
          </a:p>
        </p:txBody>
      </p:sp>
    </p:spTree>
    <p:extLst>
      <p:ext uri="{BB962C8B-B14F-4D97-AF65-F5344CB8AC3E}">
        <p14:creationId xmlns:p14="http://schemas.microsoft.com/office/powerpoint/2010/main" val="37291594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variety</a:t>
            </a:r>
            <a:r>
              <a:rPr lang="en-US" baseline="0" dirty="0"/>
              <a:t> of statistics can be calculated using focal statistics. </a:t>
            </a:r>
          </a:p>
          <a:p>
            <a:endParaRPr lang="en-US" baseline="0" dirty="0"/>
          </a:p>
          <a:p>
            <a:r>
              <a:rPr lang="en-US" baseline="0" dirty="0"/>
              <a:t>For a continuous surface, such as a digital elevation model or a topographic slope grid, the mean, maximum, median, minimum, range, standard deviation, or sum may be calculated.</a:t>
            </a:r>
          </a:p>
          <a:p>
            <a:endParaRPr lang="en-US" baseline="0" dirty="0"/>
          </a:p>
          <a:p>
            <a:r>
              <a:rPr lang="en-US" baseline="0" dirty="0"/>
              <a:t>Many statistical values don’t make sense for categorical raster grids, such as land cover. However, the majority, minority, or variety could be calculated. </a:t>
            </a:r>
          </a:p>
          <a:p>
            <a:endParaRPr lang="en-US" baseline="0" dirty="0"/>
          </a:p>
          <a:p>
            <a:r>
              <a:rPr lang="en-US" baseline="0" dirty="0"/>
              <a:t>As an example, the variety measure would calculate the number of unique categories within the moving window. </a:t>
            </a:r>
          </a:p>
          <a:p>
            <a:endParaRPr lang="en-US" baseline="0" dirty="0"/>
          </a:p>
          <a:p>
            <a:r>
              <a:rPr lang="en-US" baseline="0" dirty="0"/>
              <a:t>Take some time to review the available statistics presented on this slide. </a:t>
            </a:r>
          </a:p>
          <a:p>
            <a:endParaRPr lang="en-US" baseline="0" dirty="0"/>
          </a:p>
          <a:p>
            <a:r>
              <a:rPr lang="en-US" baseline="0" dirty="0"/>
              <a:t>As a final note, larger windows sizes are generally used to represent more coarse or generalized patterns while smaller windows are used to represent more local patterns. </a:t>
            </a:r>
          </a:p>
          <a:p>
            <a:endParaRPr lang="en-US" baseline="0" dirty="0"/>
          </a:p>
          <a:p>
            <a:r>
              <a:rPr lang="en-US" baseline="0" dirty="0"/>
              <a:t>There is not necessarily a correct window size. Instead, this depends on the use case. If you are not sure what window size to use, I would recommend experimenting with multiple window sizes. </a:t>
            </a:r>
          </a:p>
          <a:p>
            <a:endParaRPr lang="en-US" baseline="0" dirty="0"/>
          </a:p>
          <a:p>
            <a:r>
              <a:rPr lang="en-US" baseline="0" dirty="0"/>
              <a:t>It is also possible to make a calculation using different window sizes then take an average.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35</a:t>
            </a:fld>
            <a:endParaRPr lang="en-US"/>
          </a:p>
        </p:txBody>
      </p:sp>
    </p:spTree>
    <p:extLst>
      <p:ext uri="{BB962C8B-B14F-4D97-AF65-F5344CB8AC3E}">
        <p14:creationId xmlns:p14="http://schemas.microsoft.com/office/powerpoint/2010/main" val="2695618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a:t>
            </a:r>
            <a:r>
              <a:rPr lang="en-US" baseline="0" dirty="0"/>
              <a:t> window analyses also have applications in remote sensing.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36</a:t>
            </a:fld>
            <a:endParaRPr lang="en-US"/>
          </a:p>
        </p:txBody>
      </p:sp>
    </p:spTree>
    <p:extLst>
      <p:ext uri="{BB962C8B-B14F-4D97-AF65-F5344CB8AC3E}">
        <p14:creationId xmlns:p14="http://schemas.microsoft.com/office/powerpoint/2010/main" val="137690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Circular</a:t>
            </a:r>
            <a:r>
              <a:rPr lang="en-US" baseline="0" dirty="0"/>
              <a:t> windows can also be used. When using a circular window, a radius is defined relative to the map units or a number of cells. The examples here represent circular windows with radii of 1 and 2 cells.</a:t>
            </a:r>
          </a:p>
          <a:p>
            <a:endParaRPr lang="en-US" baseline="0"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38</a:t>
            </a:fld>
            <a:endParaRPr lang="en-US"/>
          </a:p>
        </p:txBody>
      </p:sp>
    </p:spTree>
    <p:extLst>
      <p:ext uri="{BB962C8B-B14F-4D97-AF65-F5344CB8AC3E}">
        <p14:creationId xmlns:p14="http://schemas.microsoft.com/office/powerpoint/2010/main" val="28042686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a:t>
            </a:r>
            <a:r>
              <a:rPr lang="en-US" baseline="0" dirty="0"/>
              <a:t> may have occurred to you that cells near the edge of the raster may not have a full set of neighbors as demonstrated in this slide. </a:t>
            </a:r>
          </a:p>
          <a:p>
            <a:endParaRPr lang="en-US" baseline="0" dirty="0"/>
          </a:p>
          <a:p>
            <a:r>
              <a:rPr lang="en-US" baseline="0" dirty="0"/>
              <a:t>In these situations, two options are available. First, the result could be calculated using only the available cells. Second, results could only be calculated for cells that have a full set of neighbors. </a:t>
            </a:r>
          </a:p>
          <a:p>
            <a:endParaRPr lang="en-US" baseline="0" dirty="0"/>
          </a:p>
          <a:p>
            <a:r>
              <a:rPr lang="en-US" baseline="0" dirty="0"/>
              <a:t>If the second option is used, the size of the raster grid, or the number of rows and columns, will be reduced.</a:t>
            </a:r>
          </a:p>
          <a:p>
            <a:endParaRPr lang="en-US" baseline="0" dirty="0"/>
          </a:p>
          <a:p>
            <a:r>
              <a:rPr lang="en-US" baseline="0" dirty="0"/>
              <a:t>If you are concerned with this issue, I would recommend running an analysis using a larger extent than is required. That way, you will always have a full set of cells to cover the extent of interest.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39</a:t>
            </a:fld>
            <a:endParaRPr lang="en-US"/>
          </a:p>
        </p:txBody>
      </p:sp>
    </p:spTree>
    <p:extLst>
      <p:ext uri="{BB962C8B-B14F-4D97-AF65-F5344CB8AC3E}">
        <p14:creationId xmlns:p14="http://schemas.microsoft.com/office/powerpoint/2010/main" val="32544718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a:t>
            </a:r>
            <a:r>
              <a:rPr lang="en-US" baseline="0" dirty="0"/>
              <a:t> may have occurred to you that cells near the edge of the raster may not have a full set of neighbors as demonstrated in this slide. </a:t>
            </a:r>
          </a:p>
          <a:p>
            <a:endParaRPr lang="en-US" baseline="0" dirty="0"/>
          </a:p>
          <a:p>
            <a:r>
              <a:rPr lang="en-US" baseline="0" dirty="0"/>
              <a:t>In these situations, two options are available. First, the result could be calculated using only the available cells. Second, results could only be calculated for cells that have a full set of neighbors. </a:t>
            </a:r>
          </a:p>
          <a:p>
            <a:endParaRPr lang="en-US" baseline="0" dirty="0"/>
          </a:p>
          <a:p>
            <a:r>
              <a:rPr lang="en-US" baseline="0" dirty="0"/>
              <a:t>If the second option is used, the size of the raster grid, or the number of rows and columns, will be reduced.</a:t>
            </a:r>
          </a:p>
          <a:p>
            <a:endParaRPr lang="en-US" baseline="0" dirty="0"/>
          </a:p>
          <a:p>
            <a:r>
              <a:rPr lang="en-US" baseline="0" dirty="0"/>
              <a:t>If you are concerned with this issue, I would recommend running an analysis using a larger extent than is required. That way, you will always have a full set of cells to cover the extent of interest.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40</a:t>
            </a:fld>
            <a:endParaRPr lang="en-US"/>
          </a:p>
        </p:txBody>
      </p:sp>
    </p:spTree>
    <p:extLst>
      <p:ext uri="{BB962C8B-B14F-4D97-AF65-F5344CB8AC3E}">
        <p14:creationId xmlns:p14="http://schemas.microsoft.com/office/powerpoint/2010/main" val="6737714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Euclidean distance simply</a:t>
            </a:r>
            <a:r>
              <a:rPr lang="en-US" baseline="0" dirty="0"/>
              <a:t> represents the straight line distance from a cell to the nearest input feature. As an example, the surface shown here represents the straight line distance from the cell to the nearest major road. </a:t>
            </a:r>
          </a:p>
          <a:p>
            <a:endParaRPr lang="en-US" baseline="0" dirty="0"/>
          </a:p>
          <a:p>
            <a:r>
              <a:rPr lang="en-US" baseline="0" dirty="0"/>
              <a:t>Each cell is coded with the distance to the nearest input feature.</a:t>
            </a:r>
          </a:p>
          <a:p>
            <a:endParaRPr lang="en-US" baseline="0" dirty="0"/>
          </a:p>
          <a:p>
            <a:r>
              <a:rPr lang="en-US" baseline="0" dirty="0"/>
              <a:t>It is also possible to define a maximum distance. If a cell is further then the maximum distance from the nearest input feature, then it will not be calculated.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43</a:t>
            </a:fld>
            <a:endParaRPr lang="en-US"/>
          </a:p>
        </p:txBody>
      </p:sp>
    </p:spTree>
    <p:extLst>
      <p:ext uri="{BB962C8B-B14F-4D97-AF65-F5344CB8AC3E}">
        <p14:creationId xmlns:p14="http://schemas.microsoft.com/office/powerpoint/2010/main" val="28620926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507943-197E-CE46-82F0-5A323A24AE7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891233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48</a:t>
            </a:fld>
            <a:endParaRPr lang="en-US"/>
          </a:p>
        </p:txBody>
      </p:sp>
    </p:spTree>
    <p:extLst>
      <p:ext uri="{BB962C8B-B14F-4D97-AF65-F5344CB8AC3E}">
        <p14:creationId xmlns:p14="http://schemas.microsoft.com/office/powerpoint/2010/main" val="2956007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11D767D-17E3-4D1E-96BB-DA35CA15E4FE}" type="datetime1">
              <a:rPr lang="en-US" smtClean="0"/>
              <a:t>11/11/2025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997597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AB21909-3392-4782-9617-9DE5612D5252}" type="datetime1">
              <a:rPr lang="en-US" smtClean="0"/>
              <a:t>11/11/2025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873094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6909207B-903C-4CBB-B0DD-E4DD411966AE}" type="datetime1">
              <a:rPr lang="en-US" smtClean="0"/>
              <a:t>11/11/2025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829021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7649B8-EC05-463A-A66A-E788C1D2E86C}" type="datetime1">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6226261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7AE501-F489-46B4-B5B4-B12E557B3139}" type="datetime1">
              <a:rPr lang="en-US" smtClean="0"/>
              <a:t>11/11/2025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074104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1DD6664-E707-48D9-B311-FA9B4261E5A6}" type="datetime1">
              <a:rPr lang="en-US" smtClean="0"/>
              <a:t>11/11/2025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724381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293017-F03B-40B8-AD31-7ED21B4434B8}" type="datetime1">
              <a:rPr lang="en-US" smtClean="0"/>
              <a:t>11/11/2025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67977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5BDE3B4A-8EBA-4FE6-84DB-F2E39CD94E77}" type="datetime1">
              <a:rPr lang="en-US" smtClean="0"/>
              <a:t>11/11/2025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76274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B854E19F-0053-4C74-A527-FD4BB23E2ACC}" type="datetime1">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70542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3E6F1A-C16C-450C-BEFB-8D396364F893}" type="datetime1">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9980803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DF49B77D-D3D5-40CA-A8C6-02A8FD74D428}" type="datetime1">
              <a:rPr lang="en-US" smtClean="0"/>
              <a:t>11/11/2025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803975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458F2AB7-D7C2-4FC0-9B77-409FD6AFF150}" type="datetime1">
              <a:rPr lang="en-US" smtClean="0"/>
              <a:t>11/11/2025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4658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C0E9D82E-A9F0-4647-88F9-E986A304FBAF}" type="datetime1">
              <a:rPr lang="en-US" smtClean="0"/>
              <a:t>11/11/2025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8150082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9DD0E878-F76E-4934-9A19-05DE793D2A8C}" type="datetime1">
              <a:rPr lang="en-US" smtClean="0"/>
              <a:t>11/11/2025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594924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6B1B743-59DB-43C7-B951-5342EB9E3BBF}" type="datetime1">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9414324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DC93205-BFBB-4436-B6C0-0E1D677B6AC1}" type="datetime1">
              <a:rPr lang="en-US" smtClean="0"/>
              <a:t>11/11/2025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2302467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DC5A297-83F7-4A51-9FEC-585D7ED0CBAA}" type="datetime1">
              <a:rPr lang="en-US" smtClean="0"/>
              <a:t>11/11/2025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8538321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3EC919-DCEA-4797-B84E-1B0E268E8BA9}" type="datetime1">
              <a:rPr lang="en-US" smtClean="0"/>
              <a:t>11/11/2025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8740920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24C8802B-8D22-4029-8D00-88476FD1627A}" type="datetime1">
              <a:rPr lang="en-US" smtClean="0"/>
              <a:t>11/11/2025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4774723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163145CA-56E1-42A8-A67B-556CB7EDF0AA}" type="datetime1">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3451475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7FD487-65F4-49B5-952B-819B559FF98A}" type="datetime1">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7123290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2DC45528-D696-4A61-BD89-093665C9EB8C}" type="datetime1">
              <a:rPr lang="en-US" smtClean="0"/>
              <a:t>11/11/2025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949100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06A0FD2F-556E-43A6-BD1A-AE05D71D5ACE}" type="datetime1">
              <a:rPr lang="en-US" smtClean="0"/>
              <a:t>11/11/2025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33470021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C4CA2D96-DD5E-4EE6-BA39-19B5C56AF1F2}" type="datetime1">
              <a:rPr lang="en-US" smtClean="0"/>
              <a:t>11/11/2025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3037842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2C2D4BC3-0B93-4E0B-AE53-3E432262C0E4}" type="datetime1">
              <a:rPr lang="en-US" smtClean="0"/>
              <a:t>11/11/2025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2779892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A5CEA080-6A29-4A4D-90B1-4C73660CABD5}" type="datetime1">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994912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4EFF1D62-0785-460A-9888-5F5908AD45F7}" type="datetime1">
              <a:rPr lang="en-US" smtClean="0"/>
              <a:t>11/11/2025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2780032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4603F5A6-4790-4338-AC59-416730A16F3C}" type="datetime1">
              <a:rPr lang="en-US" smtClean="0"/>
              <a:t>11/11/2025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9421012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F331C8-E8D8-438B-B699-9ACE625F3A09}" type="datetime1">
              <a:rPr lang="en-US" smtClean="0"/>
              <a:t>11/11/2025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5628391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610C12D3-F429-42CB-9467-4C3AFEEA173C}" type="datetime1">
              <a:rPr lang="en-US" smtClean="0"/>
              <a:t>11/11/2025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2932319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283F426E-E29E-4D2E-B32D-412D98F7FC2F}" type="datetime1">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8967197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A0F15864-78C5-4237-8A12-0D1FD4E5F0BD}" type="datetime1">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1365807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AB9BBA17-EAD5-43A8-9481-F99B1E8564DB}" type="datetime1">
              <a:rPr lang="en-US" smtClean="0"/>
              <a:t>11/11/2025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32617035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C6B0FEA4-C6CA-4262-94C7-989766AA3A47}" type="datetime1">
              <a:rPr lang="en-US" smtClean="0"/>
              <a:t>11/11/2025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09333235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6F65A5F7-BE7B-4360-B821-FCDB8E9197AC}" type="datetime1">
              <a:rPr lang="en-US" smtClean="0"/>
              <a:t>11/11/2025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51352223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6145D492-0F60-495A-BAAC-3C877C1D64A2}" type="datetime1">
              <a:rPr lang="en-US" smtClean="0"/>
              <a:t>11/11/2025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5061309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4A322FED-C97B-4E3C-B05B-1278829CCA0F}" type="datetime1">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29800057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1BBF91E7-DD27-45EE-9FAC-A58839C2E3FB}" type="datetime1">
              <a:rPr lang="en-US" smtClean="0"/>
              <a:t>11/11/2025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61471281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470DB943-D34E-498D-BB5B-1BC0D01A4C3C}" type="datetime1">
              <a:rPr lang="en-US" smtClean="0"/>
              <a:t>11/11/2025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69745741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F88AC7-A362-47DE-B037-3A7E785BA73D}" type="datetime1">
              <a:rPr lang="en-US" smtClean="0"/>
              <a:t>11/11/2025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50682096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1E09BAED-B7FC-4220-8037-60663F890984}" type="datetime1">
              <a:rPr lang="en-US" smtClean="0"/>
              <a:t>11/11/2025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5078578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BB3C0B96-D43B-410F-A514-3967CACDF6C4}" type="datetime1">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61609003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C63DFB46-027F-4778-8182-714012A6E051}" type="datetime1">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2542521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770FD05A-9631-4BEE-9AA4-5575ADA850E9}" type="datetime1">
              <a:rPr lang="en-US" smtClean="0"/>
              <a:t>11/11/2025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69534373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11/11/2025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1844170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11/11/2025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0540908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11/11/2025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6331240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045425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11/11/2025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2865768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11/11/2025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4263335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5801448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11/11/2025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580424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11/11/2025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1537992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0995597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11/11/2025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4741020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ltLang="zh-CN"/>
              <a:t>Click to edit Master title style</a:t>
            </a:r>
            <a:endParaRPr/>
          </a:p>
        </p:txBody>
      </p:sp>
    </p:spTree>
    <p:extLst>
      <p:ext uri="{BB962C8B-B14F-4D97-AF65-F5344CB8AC3E}">
        <p14:creationId xmlns:p14="http://schemas.microsoft.com/office/powerpoint/2010/main" val="242951814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11/11/2025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9005979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11/11/2025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8954721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11/11/2025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4456920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8372857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11/11/2025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107235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11/11/2025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8257941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1643329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11/11/2025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98930086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11/11/2025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1776943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22895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11/11/2025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3732158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221878226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11/11/2025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8778936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dirty="0"/>
              <a:t>Click to edit Master title style</a:t>
            </a:r>
          </a:p>
        </p:txBody>
      </p:sp>
      <p:sp>
        <p:nvSpPr>
          <p:cNvPr id="3" name="Content Placeholder 2"/>
          <p:cNvSpPr>
            <a:spLocks noGrp="1"/>
          </p:cNvSpPr>
          <p:nvPr>
            <p:ph idx="1"/>
          </p:nvPr>
        </p:nvSpPr>
        <p:spPr>
          <a:xfrm>
            <a:off x="392305" y="1755648"/>
            <a:ext cx="7444990" cy="27258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11/11/2025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1038271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11/11/2025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9568288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3085812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11/11/2025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3491065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11/11/2025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0037127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5098951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11/11/2025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408890966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11/11/2025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2877544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4462954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11/11/2025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11184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theme" Target="../theme/theme5.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theme" Target="../theme/theme6.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6.xml"/><Relationship Id="rId3" Type="http://schemas.openxmlformats.org/officeDocument/2006/relationships/slideLayout" Target="../slideLayouts/slideLayout71.xml"/><Relationship Id="rId7" Type="http://schemas.openxmlformats.org/officeDocument/2006/relationships/slideLayout" Target="../slideLayouts/slideLayout75.xml"/><Relationship Id="rId12" Type="http://schemas.openxmlformats.org/officeDocument/2006/relationships/theme" Target="../theme/theme7.xml"/><Relationship Id="rId2" Type="http://schemas.openxmlformats.org/officeDocument/2006/relationships/slideLayout" Target="../slideLayouts/slideLayout70.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5" Type="http://schemas.openxmlformats.org/officeDocument/2006/relationships/slideLayout" Target="../slideLayouts/slideLayout73.xml"/><Relationship Id="rId10" Type="http://schemas.openxmlformats.org/officeDocument/2006/relationships/slideLayout" Target="../slideLayouts/slideLayout78.xml"/><Relationship Id="rId4" Type="http://schemas.openxmlformats.org/officeDocument/2006/relationships/slideLayout" Target="../slideLayouts/slideLayout72.xml"/><Relationship Id="rId9" Type="http://schemas.openxmlformats.org/officeDocument/2006/relationships/slideLayout" Target="../slideLayouts/slideLayout7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8114C2F-5358-4C76-8C42-8AC3A60E1105}" type="datetime1">
              <a:rPr lang="en-US" smtClean="0"/>
              <a:t>11/11/2025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14406619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18E6E4F-7E83-4AED-9DA1-B735CD4C0E03}" type="datetime1">
              <a:rPr lang="en-US" smtClean="0"/>
              <a:t>11/11/2025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426024275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E7733A4-5D18-4D09-8F94-45F71EE3C7C2}" type="datetime1">
              <a:rPr lang="en-US" smtClean="0"/>
              <a:t>11/11/2025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153630956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8234BEC2-5A9D-42E1-9C16-1E9F257755B7}" type="datetime1">
              <a:rPr lang="en-US" smtClean="0"/>
              <a:t>11/11/2025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242528859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11/11/2025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657624358"/>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11/11/2025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1297917300"/>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11/11/2025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4146085375"/>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8.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8" Type="http://schemas.openxmlformats.org/officeDocument/2006/relationships/tags" Target="../tags/tag9.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notesSlide" Target="../notesSlides/notesSlide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slideLayout" Target="../slideLayouts/slideLayout2.xml"/><Relationship Id="rId5" Type="http://schemas.openxmlformats.org/officeDocument/2006/relationships/tags" Target="../tags/tag6.xm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14.xml"/><Relationship Id="rId7" Type="http://schemas.openxmlformats.org/officeDocument/2006/relationships/image" Target="../media/image6.pn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tags" Target="../tags/tag15.xml"/></Relationships>
</file>

<file path=ppt/slides/_rels/slide9.xml.rels><?xml version="1.0" encoding="UTF-8" standalone="yes"?>
<Relationships xmlns="http://schemas.openxmlformats.org/package/2006/relationships"><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8.png"/><Relationship Id="rId5" Type="http://schemas.openxmlformats.org/officeDocument/2006/relationships/notesSlide" Target="../notesSlides/notesSlide7.xml"/><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21.xml"/><Relationship Id="rId7" Type="http://schemas.openxmlformats.org/officeDocument/2006/relationships/image" Target="../media/image9.png"/><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tags" Target="../tags/tag22.xml"/><Relationship Id="rId9" Type="http://schemas.openxmlformats.org/officeDocument/2006/relationships/image" Target="../media/image11.png"/></Relationships>
</file>

<file path=ppt/slides/_rels/slide1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25.xml"/><Relationship Id="rId7" Type="http://schemas.openxmlformats.org/officeDocument/2006/relationships/notesSlide" Target="../notesSlides/notesSlide9.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slideLayout" Target="../slideLayouts/slideLayout2.xml"/><Relationship Id="rId5" Type="http://schemas.openxmlformats.org/officeDocument/2006/relationships/tags" Target="../tags/tag27.xml"/><Relationship Id="rId4" Type="http://schemas.openxmlformats.org/officeDocument/2006/relationships/tags" Target="../tags/tag26.xml"/><Relationship Id="rId9"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4.xml"/><Relationship Id="rId3" Type="http://schemas.openxmlformats.org/officeDocument/2006/relationships/tags" Target="../tags/tag33.xml"/><Relationship Id="rId7" Type="http://schemas.openxmlformats.org/officeDocument/2006/relationships/slideLayout" Target="../slideLayouts/slideLayout2.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7.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38.xml"/><Relationship Id="rId6" Type="http://schemas.openxmlformats.org/officeDocument/2006/relationships/image" Target="../media/image9.png"/><Relationship Id="rId5" Type="http://schemas.openxmlformats.org/officeDocument/2006/relationships/image" Target="../media/image16.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tags" Target="../tags/tag39.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40.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xml"/><Relationship Id="rId1" Type="http://schemas.openxmlformats.org/officeDocument/2006/relationships/tags" Target="../tags/tag41.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4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3.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8.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4.png"/><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51.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53.xml"/><Relationship Id="rId4" Type="http://schemas.openxmlformats.org/officeDocument/2006/relationships/image" Target="../media/image38.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54.xml"/><Relationship Id="rId4" Type="http://schemas.openxmlformats.org/officeDocument/2006/relationships/image" Target="../media/image39.jpe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55.xml"/></Relationships>
</file>

<file path=ppt/slides/_rels/slide4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56.xml"/><Relationship Id="rId4" Type="http://schemas.openxmlformats.org/officeDocument/2006/relationships/image" Target="../media/image42.gif"/></Relationships>
</file>

<file path=ppt/slides/_rels/slide44.xml.rels><?xml version="1.0" encoding="UTF-8" standalone="yes"?>
<Relationships xmlns="http://schemas.openxmlformats.org/package/2006/relationships"><Relationship Id="rId2" Type="http://schemas.openxmlformats.org/officeDocument/2006/relationships/image" Target="../media/image42.gi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2.xml"/><Relationship Id="rId1" Type="http://schemas.openxmlformats.org/officeDocument/2006/relationships/slideLayout" Target="../slideLayouts/slideLayout7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7176"/>
            <a:ext cx="8229599"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13" y="257175"/>
            <a:ext cx="8229587" cy="4629142"/>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990" y="565785"/>
            <a:ext cx="3382366" cy="617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18" y="662983"/>
            <a:ext cx="3381337" cy="39078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565060" y="785709"/>
            <a:ext cx="3076498" cy="1831185"/>
          </a:xfrm>
        </p:spPr>
        <p:txBody>
          <a:bodyPr>
            <a:normAutofit fontScale="90000"/>
          </a:bodyPr>
          <a:lstStyle/>
          <a:p>
            <a:r>
              <a:rPr lang="en-US" sz="2800" dirty="0"/>
              <a:t>Lecture 13</a:t>
            </a:r>
            <a:br>
              <a:rPr lang="en-US" sz="2800" dirty="0"/>
            </a:br>
            <a:r>
              <a:rPr lang="en-US" sz="2800" dirty="0"/>
              <a:t>raster Analysis</a:t>
            </a:r>
            <a:br>
              <a:rPr lang="en-US" sz="2800" dirty="0"/>
            </a:br>
            <a:br>
              <a:rPr lang="en-US" altLang="zh-CN" sz="2800" dirty="0"/>
            </a:br>
            <a:br>
              <a:rPr lang="en-US" sz="2700" dirty="0">
                <a:solidFill>
                  <a:srgbClr val="FFFFFF"/>
                </a:solidFill>
              </a:rPr>
            </a:br>
            <a:r>
              <a:rPr lang="en-US" sz="2700" dirty="0">
                <a:solidFill>
                  <a:srgbClr val="FFFFFF"/>
                </a:solidFill>
              </a:rPr>
              <a:t>lecture</a:t>
            </a: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565060" y="3021937"/>
            <a:ext cx="2916154" cy="1537292"/>
          </a:xfrm>
        </p:spPr>
        <p:txBody>
          <a:bodyPr>
            <a:noAutofit/>
          </a:bodyPr>
          <a:lstStyle/>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189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2025</a:t>
            </a:r>
          </a:p>
          <a:p>
            <a:endPar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189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13.1 </a:t>
            </a:r>
            <a:br>
              <a:rPr lang="en-US" sz="4050" dirty="0">
                <a:solidFill>
                  <a:srgbClr val="FFFFFF"/>
                </a:solidFill>
              </a:rPr>
            </a:br>
            <a:r>
              <a:rPr lang="en-US" sz="4050" dirty="0">
                <a:solidFill>
                  <a:srgbClr val="FFFFFF"/>
                </a:solidFill>
              </a:rPr>
              <a:t>raster analysis</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123951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302741" y="1029962"/>
            <a:ext cx="7679724" cy="3886200"/>
          </a:xfrm>
        </p:spPr>
        <p:txBody>
          <a:bodyPr>
            <a:normAutofit fontScale="77500" lnSpcReduction="20000"/>
          </a:bodyPr>
          <a:lstStyle/>
          <a:p>
            <a:pPr>
              <a:buFont typeface="Courier New" panose="02070309020205020404" pitchFamily="49" charset="0"/>
              <a:buChar char="o"/>
            </a:pPr>
            <a:r>
              <a:rPr lang="en-US" altLang="en-US" sz="2800" dirty="0"/>
              <a:t>Raster Analysis</a:t>
            </a:r>
          </a:p>
          <a:p>
            <a:pPr lvl="1">
              <a:buFont typeface="Wingdings" panose="05000000000000000000" pitchFamily="2" charset="2"/>
              <a:buChar char="ü"/>
            </a:pPr>
            <a:r>
              <a:rPr lang="en-US" sz="2300" dirty="0"/>
              <a:t>Raster math</a:t>
            </a:r>
          </a:p>
          <a:p>
            <a:pPr lvl="1">
              <a:buFont typeface="Wingdings" panose="05000000000000000000" pitchFamily="2" charset="2"/>
              <a:buChar char="ü"/>
            </a:pPr>
            <a:r>
              <a:rPr lang="en-US" sz="2300" dirty="0"/>
              <a:t>Reclassification</a:t>
            </a:r>
          </a:p>
          <a:p>
            <a:pPr lvl="1">
              <a:buFont typeface="Wingdings" panose="05000000000000000000" pitchFamily="2" charset="2"/>
              <a:buChar char="ü"/>
            </a:pPr>
            <a:r>
              <a:rPr lang="en-US" sz="2300" dirty="0"/>
              <a:t>Extraction</a:t>
            </a:r>
          </a:p>
          <a:p>
            <a:pPr lvl="1">
              <a:buFont typeface="Wingdings" panose="05000000000000000000" pitchFamily="2" charset="2"/>
              <a:buChar char="ü"/>
            </a:pPr>
            <a:r>
              <a:rPr lang="en-US" sz="2300" dirty="0"/>
              <a:t>Neighborhood-based analysis</a:t>
            </a:r>
          </a:p>
          <a:p>
            <a:pPr lvl="1">
              <a:buFont typeface="Wingdings" panose="05000000000000000000" pitchFamily="2" charset="2"/>
              <a:buChar char="ü"/>
            </a:pPr>
            <a:r>
              <a:rPr lang="en-US" sz="2300" dirty="0"/>
              <a:t>Distance</a:t>
            </a:r>
          </a:p>
          <a:p>
            <a:pPr lvl="1">
              <a:buFont typeface="Wingdings" panose="05000000000000000000" pitchFamily="2" charset="2"/>
              <a:buChar char="ü"/>
            </a:pPr>
            <a:r>
              <a:rPr lang="en-US" sz="2300" dirty="0"/>
              <a:t>Raster generalization</a:t>
            </a:r>
          </a:p>
          <a:p>
            <a:pPr lvl="1">
              <a:buFont typeface="Wingdings" panose="05000000000000000000" pitchFamily="2" charset="2"/>
              <a:buChar char="ü"/>
            </a:pPr>
            <a:r>
              <a:rPr lang="en-US" sz="2300" dirty="0"/>
              <a:t>Raster summarization</a:t>
            </a:r>
          </a:p>
          <a:p>
            <a:pPr lvl="1">
              <a:buFont typeface="Wingdings" panose="05000000000000000000" pitchFamily="2" charset="2"/>
              <a:buChar char="ü"/>
            </a:pPr>
            <a:r>
              <a:rPr lang="en-US" altLang="en-US" sz="2300" dirty="0"/>
              <a:t>Estimating density</a:t>
            </a:r>
          </a:p>
          <a:p>
            <a:pPr lvl="1">
              <a:buFont typeface="Wingdings" panose="05000000000000000000" pitchFamily="2" charset="2"/>
              <a:buChar char="ü"/>
            </a:pPr>
            <a:r>
              <a:rPr lang="en-US" altLang="en-US" sz="2300" dirty="0"/>
              <a:t>Mosaic</a:t>
            </a:r>
          </a:p>
          <a:p>
            <a:pPr lvl="1">
              <a:buFont typeface="Wingdings" panose="05000000000000000000" pitchFamily="2" charset="2"/>
              <a:buChar char="ü"/>
            </a:pPr>
            <a:r>
              <a:rPr lang="en-US" altLang="en-US" sz="2300" dirty="0"/>
              <a:t>Spatial analysis tool</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3</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247135" y="20786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Overview</a:t>
            </a:r>
            <a:endParaRPr lang="en-US" sz="2600" i="1" dirty="0">
              <a:solidFill>
                <a:srgbClr val="7030A0"/>
              </a:solidFill>
            </a:endParaRPr>
          </a:p>
        </p:txBody>
      </p:sp>
      <p:pic>
        <p:nvPicPr>
          <p:cNvPr id="6" name="Picture 5" descr="Image showing spatial analysis tools">
            <a:extLst>
              <a:ext uri="{FF2B5EF4-FFF2-40B4-BE49-F238E27FC236}">
                <a16:creationId xmlns:a16="http://schemas.microsoft.com/office/drawing/2014/main" id="{9ACBBEF3-6516-418D-BCD1-952D5057B3DF}"/>
              </a:ext>
            </a:extLst>
          </p:cNvPr>
          <p:cNvPicPr>
            <a:picLocks noChangeAspect="1"/>
          </p:cNvPicPr>
          <p:nvPr/>
        </p:nvPicPr>
        <p:blipFill>
          <a:blip r:embed="rId3"/>
          <a:stretch>
            <a:fillRect/>
          </a:stretch>
        </p:blipFill>
        <p:spPr>
          <a:xfrm>
            <a:off x="4581246" y="1100263"/>
            <a:ext cx="1919153" cy="2633538"/>
          </a:xfrm>
          <a:prstGeom prst="rect">
            <a:avLst/>
          </a:prstGeom>
        </p:spPr>
      </p:pic>
      <p:pic>
        <p:nvPicPr>
          <p:cNvPr id="8" name="Picture 7" descr="Image showing raster tool">
            <a:extLst>
              <a:ext uri="{FF2B5EF4-FFF2-40B4-BE49-F238E27FC236}">
                <a16:creationId xmlns:a16="http://schemas.microsoft.com/office/drawing/2014/main" id="{DA683BAB-1216-4E08-990A-1C4DA8E5A55D}"/>
              </a:ext>
            </a:extLst>
          </p:cNvPr>
          <p:cNvPicPr>
            <a:picLocks noChangeAspect="1"/>
          </p:cNvPicPr>
          <p:nvPr/>
        </p:nvPicPr>
        <p:blipFill>
          <a:blip r:embed="rId4"/>
          <a:stretch>
            <a:fillRect/>
          </a:stretch>
        </p:blipFill>
        <p:spPr>
          <a:xfrm>
            <a:off x="5433683" y="4036321"/>
            <a:ext cx="1709964" cy="931048"/>
          </a:xfrm>
          <a:prstGeom prst="rect">
            <a:avLst/>
          </a:prstGeom>
        </p:spPr>
      </p:pic>
    </p:spTree>
    <p:extLst>
      <p:ext uri="{BB962C8B-B14F-4D97-AF65-F5344CB8AC3E}">
        <p14:creationId xmlns:p14="http://schemas.microsoft.com/office/powerpoint/2010/main" val="3542445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 showing raster operation type">
            <a:extLst>
              <a:ext uri="{FF2B5EF4-FFF2-40B4-BE49-F238E27FC236}">
                <a16:creationId xmlns:a16="http://schemas.microsoft.com/office/drawing/2014/main" id="{5129B875-59DC-4568-A6C4-531035FF3739}"/>
              </a:ext>
            </a:extLst>
          </p:cNvPr>
          <p:cNvPicPr>
            <a:picLocks noChangeAspect="1"/>
          </p:cNvPicPr>
          <p:nvPr/>
        </p:nvPicPr>
        <p:blipFill>
          <a:blip r:embed="rId3"/>
          <a:stretch>
            <a:fillRect/>
          </a:stretch>
        </p:blipFill>
        <p:spPr>
          <a:xfrm>
            <a:off x="3007643" y="922910"/>
            <a:ext cx="2703678" cy="4131375"/>
          </a:xfrm>
          <a:prstGeom prst="rect">
            <a:avLst/>
          </a:prstGeom>
        </p:spPr>
      </p:pic>
      <p:cxnSp>
        <p:nvCxnSpPr>
          <p:cNvPr id="4" name="Straight Connector 3">
            <a:extLst>
              <a:ext uri="{FF2B5EF4-FFF2-40B4-BE49-F238E27FC236}">
                <a16:creationId xmlns:a16="http://schemas.microsoft.com/office/drawing/2014/main" id="{A8019628-87E1-4DEF-AE97-3A9A607D8766}"/>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802ACC4D-9BC3-41D3-85F9-22F79555EFCC}"/>
              </a:ext>
            </a:extLst>
          </p:cNvPr>
          <p:cNvSpPr txBox="1">
            <a:spLocks/>
          </p:cNvSpPr>
          <p:nvPr/>
        </p:nvSpPr>
        <p:spPr>
          <a:xfrm>
            <a:off x="227202" y="1940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Operation</a:t>
            </a:r>
            <a:endParaRPr lang="en-US" sz="2600" dirty="0">
              <a:solidFill>
                <a:srgbClr val="7030A0"/>
              </a:solidFill>
            </a:endParaRPr>
          </a:p>
        </p:txBody>
      </p:sp>
      <p:sp>
        <p:nvSpPr>
          <p:cNvPr id="6" name="TextBox 5">
            <a:extLst>
              <a:ext uri="{FF2B5EF4-FFF2-40B4-BE49-F238E27FC236}">
                <a16:creationId xmlns:a16="http://schemas.microsoft.com/office/drawing/2014/main" id="{4566E588-ED50-4C7B-B3BB-C58813F47E51}"/>
              </a:ext>
            </a:extLst>
          </p:cNvPr>
          <p:cNvSpPr txBox="1"/>
          <p:nvPr/>
        </p:nvSpPr>
        <p:spPr>
          <a:xfrm>
            <a:off x="1361386" y="4818678"/>
            <a:ext cx="1097608" cy="246221"/>
          </a:xfrm>
          <a:prstGeom prst="rect">
            <a:avLst/>
          </a:prstGeom>
          <a:noFill/>
        </p:spPr>
        <p:txBody>
          <a:bodyPr wrap="square" rtlCol="0">
            <a:spAutoFit/>
          </a:bodyPr>
          <a:lstStyle/>
          <a:p>
            <a:r>
              <a:rPr lang="en-US" sz="1000" dirty="0" err="1">
                <a:solidFill>
                  <a:srgbClr val="7030A0"/>
                </a:solidFill>
              </a:rPr>
              <a:t>Bolstad</a:t>
            </a:r>
            <a:r>
              <a:rPr lang="en-US" sz="1000" dirty="0">
                <a:solidFill>
                  <a:srgbClr val="7030A0"/>
                </a:solidFill>
              </a:rPr>
              <a:t>, 2019</a:t>
            </a:r>
          </a:p>
        </p:txBody>
      </p:sp>
      <p:sp>
        <p:nvSpPr>
          <p:cNvPr id="2" name="Slide Number Placeholder 1">
            <a:extLst>
              <a:ext uri="{FF2B5EF4-FFF2-40B4-BE49-F238E27FC236}">
                <a16:creationId xmlns:a16="http://schemas.microsoft.com/office/drawing/2014/main" id="{CDA0E6EF-D77F-47C3-93F9-6B6ED52FF4C3}"/>
              </a:ext>
            </a:extLst>
          </p:cNvPr>
          <p:cNvSpPr>
            <a:spLocks noGrp="1"/>
          </p:cNvSpPr>
          <p:nvPr>
            <p:ph type="sldNum" sz="quarter" idx="12"/>
          </p:nvPr>
        </p:nvSpPr>
        <p:spPr/>
        <p:txBody>
          <a:bodyPr/>
          <a:lstStyle/>
          <a:p>
            <a:fld id="{127DDC20-79C9-9647-820E-6D40A3D210C3}" type="slidenum">
              <a:rPr lang="en-US" smtClean="0"/>
              <a:pPr/>
              <a:t>4</a:t>
            </a:fld>
            <a:endParaRPr lang="en-US"/>
          </a:p>
        </p:txBody>
      </p:sp>
    </p:spTree>
    <p:extLst>
      <p:ext uri="{BB962C8B-B14F-4D97-AF65-F5344CB8AC3E}">
        <p14:creationId xmlns:p14="http://schemas.microsoft.com/office/powerpoint/2010/main" val="3464497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2293989" y="2147708"/>
            <a:ext cx="3389358" cy="1059726"/>
          </a:xfrm>
        </p:spPr>
        <p:txBody>
          <a:bodyPr>
            <a:normAutofit/>
          </a:bodyPr>
          <a:lstStyle/>
          <a:p>
            <a:pPr algn="ctr"/>
            <a:r>
              <a:rPr lang="en-US" dirty="0"/>
              <a:t>Local function Raster Math</a:t>
            </a:r>
          </a:p>
        </p:txBody>
      </p:sp>
      <p:sp>
        <p:nvSpPr>
          <p:cNvPr id="4" name="Slide Number Placeholder 3">
            <a:extLst>
              <a:ext uri="{FF2B5EF4-FFF2-40B4-BE49-F238E27FC236}">
                <a16:creationId xmlns:a16="http://schemas.microsoft.com/office/drawing/2014/main" id="{3A55474A-5D98-4A31-8720-30ADBF962587}"/>
              </a:ext>
            </a:extLst>
          </p:cNvPr>
          <p:cNvSpPr>
            <a:spLocks noGrp="1"/>
          </p:cNvSpPr>
          <p:nvPr>
            <p:ph type="sldNum" sz="quarter" idx="12"/>
          </p:nvPr>
        </p:nvSpPr>
        <p:spPr/>
        <p:txBody>
          <a:bodyPr/>
          <a:lstStyle/>
          <a:p>
            <a:fld id="{127DDC20-79C9-9647-820E-6D40A3D210C3}" type="slidenum">
              <a:rPr lang="en-US" smtClean="0"/>
              <a:pPr/>
              <a:t>5</a:t>
            </a:fld>
            <a:endParaRPr lang="en-US"/>
          </a:p>
        </p:txBody>
      </p:sp>
      <p:cxnSp>
        <p:nvCxnSpPr>
          <p:cNvPr id="3" name="Straight Connector 2">
            <a:extLst>
              <a:ext uri="{FF2B5EF4-FFF2-40B4-BE49-F238E27FC236}">
                <a16:creationId xmlns:a16="http://schemas.microsoft.com/office/drawing/2014/main" id="{2DE8A090-1807-4E07-8CB8-69A9C3D27FF9}"/>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64848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custDataLst>
              <p:tags r:id="rId1"/>
            </p:custDataLst>
          </p:nvPr>
        </p:nvGraphicFramePr>
        <p:xfrm>
          <a:off x="330533" y="1542782"/>
          <a:ext cx="1394727" cy="1024932"/>
        </p:xfrm>
        <a:graphic>
          <a:graphicData uri="http://schemas.openxmlformats.org/drawingml/2006/table">
            <a:tbl>
              <a:tblPr>
                <a:tableStyleId>{6E25E649-3F16-4E02-A733-19D2CDBF48F0}</a:tableStyleId>
              </a:tblPr>
              <a:tblGrid>
                <a:gridCol w="464909">
                  <a:extLst>
                    <a:ext uri="{9D8B030D-6E8A-4147-A177-3AD203B41FA5}">
                      <a16:colId xmlns:a16="http://schemas.microsoft.com/office/drawing/2014/main" val="2741754113"/>
                    </a:ext>
                  </a:extLst>
                </a:gridCol>
                <a:gridCol w="464909">
                  <a:extLst>
                    <a:ext uri="{9D8B030D-6E8A-4147-A177-3AD203B41FA5}">
                      <a16:colId xmlns:a16="http://schemas.microsoft.com/office/drawing/2014/main" val="3847173035"/>
                    </a:ext>
                  </a:extLst>
                </a:gridCol>
                <a:gridCol w="464909">
                  <a:extLst>
                    <a:ext uri="{9D8B030D-6E8A-4147-A177-3AD203B41FA5}">
                      <a16:colId xmlns:a16="http://schemas.microsoft.com/office/drawing/2014/main" val="2831503961"/>
                    </a:ext>
                  </a:extLst>
                </a:gridCol>
              </a:tblGrid>
              <a:tr h="341644">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7826849"/>
                  </a:ext>
                </a:extLst>
              </a:tr>
              <a:tr h="341644">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6786408"/>
                  </a:ext>
                </a:extLst>
              </a:tr>
              <a:tr h="341644">
                <a:tc>
                  <a:txBody>
                    <a:bodyPr/>
                    <a:lstStyle/>
                    <a:p>
                      <a:pPr algn="ctr" fontAlgn="b"/>
                      <a:r>
                        <a:rPr lang="en-US" sz="1200" u="none" strike="noStrike" dirty="0">
                          <a:solidFill>
                            <a:schemeClr val="tx1"/>
                          </a:solidFill>
                          <a:effectLst/>
                        </a:rPr>
                        <a:t> </a:t>
                      </a:r>
                      <a:r>
                        <a:rPr lang="en-US" sz="900" u="none" strike="noStrike" dirty="0">
                          <a:solidFill>
                            <a:schemeClr val="tx1"/>
                          </a:solidFill>
                          <a:effectLst/>
                        </a:rPr>
                        <a:t>NoData</a:t>
                      </a:r>
                      <a:endParaRPr lang="en-US" sz="9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5086253"/>
                  </a:ext>
                </a:extLst>
              </a:tr>
            </a:tbl>
          </a:graphicData>
        </a:graphic>
      </p:graphicFrame>
      <p:graphicFrame>
        <p:nvGraphicFramePr>
          <p:cNvPr id="7" name="Table 6"/>
          <p:cNvGraphicFramePr>
            <a:graphicFrameLocks noGrp="1"/>
          </p:cNvGraphicFramePr>
          <p:nvPr>
            <p:custDataLst>
              <p:tags r:id="rId2"/>
            </p:custDataLst>
          </p:nvPr>
        </p:nvGraphicFramePr>
        <p:xfrm>
          <a:off x="2468451" y="1542782"/>
          <a:ext cx="1394727" cy="1024932"/>
        </p:xfrm>
        <a:graphic>
          <a:graphicData uri="http://schemas.openxmlformats.org/drawingml/2006/table">
            <a:tbl>
              <a:tblPr>
                <a:tableStyleId>{6E25E649-3F16-4E02-A733-19D2CDBF48F0}</a:tableStyleId>
              </a:tblPr>
              <a:tblGrid>
                <a:gridCol w="464909">
                  <a:extLst>
                    <a:ext uri="{9D8B030D-6E8A-4147-A177-3AD203B41FA5}">
                      <a16:colId xmlns:a16="http://schemas.microsoft.com/office/drawing/2014/main" val="2741754113"/>
                    </a:ext>
                  </a:extLst>
                </a:gridCol>
                <a:gridCol w="464909">
                  <a:extLst>
                    <a:ext uri="{9D8B030D-6E8A-4147-A177-3AD203B41FA5}">
                      <a16:colId xmlns:a16="http://schemas.microsoft.com/office/drawing/2014/main" val="3847173035"/>
                    </a:ext>
                  </a:extLst>
                </a:gridCol>
                <a:gridCol w="464909">
                  <a:extLst>
                    <a:ext uri="{9D8B030D-6E8A-4147-A177-3AD203B41FA5}">
                      <a16:colId xmlns:a16="http://schemas.microsoft.com/office/drawing/2014/main" val="2831503961"/>
                    </a:ext>
                  </a:extLst>
                </a:gridCol>
              </a:tblGrid>
              <a:tr h="341644">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900" b="0" i="0" u="none" strike="noStrike" dirty="0">
                          <a:solidFill>
                            <a:schemeClr val="tx1"/>
                          </a:solidFill>
                          <a:effectLst/>
                          <a:latin typeface="Calibri" panose="020F0502020204030204" pitchFamily="34" charset="0"/>
                        </a:rPr>
                        <a:t>NoData</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7826849"/>
                  </a:ext>
                </a:extLst>
              </a:tr>
              <a:tr h="341644">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6786408"/>
                  </a:ext>
                </a:extLst>
              </a:tr>
              <a:tr h="341644">
                <a:tc>
                  <a:txBody>
                    <a:bodyPr/>
                    <a:lstStyle/>
                    <a:p>
                      <a:pPr algn="ctr" fontAlgn="b"/>
                      <a:r>
                        <a:rPr lang="en-US" sz="1200" u="none" strike="noStrike" dirty="0">
                          <a:solidFill>
                            <a:schemeClr val="tx1"/>
                          </a:solidFill>
                          <a:effectLst/>
                        </a:rPr>
                        <a:t> </a:t>
                      </a:r>
                      <a:r>
                        <a:rPr lang="en-US" sz="900" u="none" strike="noStrike" dirty="0">
                          <a:solidFill>
                            <a:schemeClr val="tx1"/>
                          </a:solidFill>
                          <a:effectLst/>
                        </a:rPr>
                        <a:t>NoData</a:t>
                      </a:r>
                      <a:endParaRPr lang="en-US" sz="9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900" b="0" i="0" u="none" strike="noStrike" dirty="0">
                          <a:solidFill>
                            <a:schemeClr val="tx1"/>
                          </a:solidFill>
                          <a:effectLst/>
                          <a:latin typeface="Calibri" panose="020F0502020204030204" pitchFamily="34" charset="0"/>
                        </a:rPr>
                        <a:t>NoData</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5086253"/>
                  </a:ext>
                </a:extLst>
              </a:tr>
            </a:tbl>
          </a:graphicData>
        </a:graphic>
      </p:graphicFrame>
      <p:graphicFrame>
        <p:nvGraphicFramePr>
          <p:cNvPr id="8" name="Table 7"/>
          <p:cNvGraphicFramePr>
            <a:graphicFrameLocks noGrp="1"/>
          </p:cNvGraphicFramePr>
          <p:nvPr>
            <p:custDataLst>
              <p:tags r:id="rId3"/>
            </p:custDataLst>
          </p:nvPr>
        </p:nvGraphicFramePr>
        <p:xfrm>
          <a:off x="5452458" y="1542782"/>
          <a:ext cx="1394727" cy="1024932"/>
        </p:xfrm>
        <a:graphic>
          <a:graphicData uri="http://schemas.openxmlformats.org/drawingml/2006/table">
            <a:tbl>
              <a:tblPr>
                <a:tableStyleId>{6E25E649-3F16-4E02-A733-19D2CDBF48F0}</a:tableStyleId>
              </a:tblPr>
              <a:tblGrid>
                <a:gridCol w="464909">
                  <a:extLst>
                    <a:ext uri="{9D8B030D-6E8A-4147-A177-3AD203B41FA5}">
                      <a16:colId xmlns:a16="http://schemas.microsoft.com/office/drawing/2014/main" val="2741754113"/>
                    </a:ext>
                  </a:extLst>
                </a:gridCol>
                <a:gridCol w="464909">
                  <a:extLst>
                    <a:ext uri="{9D8B030D-6E8A-4147-A177-3AD203B41FA5}">
                      <a16:colId xmlns:a16="http://schemas.microsoft.com/office/drawing/2014/main" val="3847173035"/>
                    </a:ext>
                  </a:extLst>
                </a:gridCol>
                <a:gridCol w="464909">
                  <a:extLst>
                    <a:ext uri="{9D8B030D-6E8A-4147-A177-3AD203B41FA5}">
                      <a16:colId xmlns:a16="http://schemas.microsoft.com/office/drawing/2014/main" val="2831503961"/>
                    </a:ext>
                  </a:extLst>
                </a:gridCol>
              </a:tblGrid>
              <a:tr h="341644">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900" b="0" i="0" u="none" strike="noStrike" dirty="0">
                          <a:solidFill>
                            <a:schemeClr val="tx1"/>
                          </a:solidFill>
                          <a:effectLst/>
                          <a:latin typeface="Calibri" panose="020F0502020204030204" pitchFamily="34" charset="0"/>
                        </a:rPr>
                        <a:t>NoData</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7826849"/>
                  </a:ext>
                </a:extLst>
              </a:tr>
              <a:tr h="341644">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6786408"/>
                  </a:ext>
                </a:extLst>
              </a:tr>
              <a:tr h="341644">
                <a:tc>
                  <a:txBody>
                    <a:bodyPr/>
                    <a:lstStyle/>
                    <a:p>
                      <a:pPr algn="ctr" fontAlgn="b"/>
                      <a:r>
                        <a:rPr lang="en-US" sz="900" b="0" i="0" u="none" strike="noStrike" dirty="0">
                          <a:solidFill>
                            <a:schemeClr val="tx1"/>
                          </a:solidFill>
                          <a:effectLst/>
                          <a:latin typeface="Calibri" panose="020F0502020204030204" pitchFamily="34" charset="0"/>
                        </a:rPr>
                        <a:t>NoData</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900" b="0" i="0" u="none" strike="noStrike" dirty="0">
                          <a:solidFill>
                            <a:schemeClr val="tx1"/>
                          </a:solidFill>
                          <a:effectLst/>
                          <a:latin typeface="Calibri" panose="020F0502020204030204" pitchFamily="34" charset="0"/>
                        </a:rPr>
                        <a:t>NoData</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5086253"/>
                  </a:ext>
                </a:extLst>
              </a:tr>
            </a:tbl>
          </a:graphicData>
        </a:graphic>
      </p:graphicFrame>
      <p:sp>
        <p:nvSpPr>
          <p:cNvPr id="2" name="TextBox 1"/>
          <p:cNvSpPr txBox="1"/>
          <p:nvPr>
            <p:custDataLst>
              <p:tags r:id="rId4"/>
            </p:custDataLst>
          </p:nvPr>
        </p:nvSpPr>
        <p:spPr>
          <a:xfrm>
            <a:off x="1834731" y="1650030"/>
            <a:ext cx="514484" cy="840551"/>
          </a:xfrm>
          <a:prstGeom prst="rect">
            <a:avLst/>
          </a:prstGeom>
          <a:noFill/>
        </p:spPr>
        <p:txBody>
          <a:bodyPr wrap="square" rtlCol="0">
            <a:spAutoFit/>
          </a:bodyPr>
          <a:lstStyle/>
          <a:p>
            <a:pPr>
              <a:lnSpc>
                <a:spcPct val="90000"/>
              </a:lnSpc>
            </a:pPr>
            <a:r>
              <a:rPr lang="en-US" sz="5402" dirty="0"/>
              <a:t>x</a:t>
            </a:r>
          </a:p>
        </p:txBody>
      </p:sp>
      <p:sp>
        <p:nvSpPr>
          <p:cNvPr id="9" name="TextBox 8"/>
          <p:cNvSpPr txBox="1"/>
          <p:nvPr>
            <p:custDataLst>
              <p:tags r:id="rId5"/>
            </p:custDataLst>
          </p:nvPr>
        </p:nvSpPr>
        <p:spPr>
          <a:xfrm>
            <a:off x="4349127" y="1650029"/>
            <a:ext cx="514484" cy="840551"/>
          </a:xfrm>
          <a:prstGeom prst="rect">
            <a:avLst/>
          </a:prstGeom>
          <a:noFill/>
        </p:spPr>
        <p:txBody>
          <a:bodyPr wrap="square" rtlCol="0">
            <a:spAutoFit/>
          </a:bodyPr>
          <a:lstStyle/>
          <a:p>
            <a:pPr>
              <a:lnSpc>
                <a:spcPct val="90000"/>
              </a:lnSpc>
            </a:pPr>
            <a:r>
              <a:rPr lang="en-US" sz="5402" dirty="0"/>
              <a:t>=</a:t>
            </a:r>
          </a:p>
        </p:txBody>
      </p:sp>
      <p:graphicFrame>
        <p:nvGraphicFramePr>
          <p:cNvPr id="10" name="Table 9"/>
          <p:cNvGraphicFramePr>
            <a:graphicFrameLocks noGrp="1"/>
          </p:cNvGraphicFramePr>
          <p:nvPr>
            <p:custDataLst>
              <p:tags r:id="rId6"/>
            </p:custDataLst>
          </p:nvPr>
        </p:nvGraphicFramePr>
        <p:xfrm>
          <a:off x="330533" y="3086547"/>
          <a:ext cx="1394727" cy="1024932"/>
        </p:xfrm>
        <a:graphic>
          <a:graphicData uri="http://schemas.openxmlformats.org/drawingml/2006/table">
            <a:tbl>
              <a:tblPr>
                <a:tableStyleId>{6E25E649-3F16-4E02-A733-19D2CDBF48F0}</a:tableStyleId>
              </a:tblPr>
              <a:tblGrid>
                <a:gridCol w="464909">
                  <a:extLst>
                    <a:ext uri="{9D8B030D-6E8A-4147-A177-3AD203B41FA5}">
                      <a16:colId xmlns:a16="http://schemas.microsoft.com/office/drawing/2014/main" val="2741754113"/>
                    </a:ext>
                  </a:extLst>
                </a:gridCol>
                <a:gridCol w="464909">
                  <a:extLst>
                    <a:ext uri="{9D8B030D-6E8A-4147-A177-3AD203B41FA5}">
                      <a16:colId xmlns:a16="http://schemas.microsoft.com/office/drawing/2014/main" val="3847173035"/>
                    </a:ext>
                  </a:extLst>
                </a:gridCol>
                <a:gridCol w="464909">
                  <a:extLst>
                    <a:ext uri="{9D8B030D-6E8A-4147-A177-3AD203B41FA5}">
                      <a16:colId xmlns:a16="http://schemas.microsoft.com/office/drawing/2014/main" val="2831503961"/>
                    </a:ext>
                  </a:extLst>
                </a:gridCol>
              </a:tblGrid>
              <a:tr h="341644">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7826849"/>
                  </a:ext>
                </a:extLst>
              </a:tr>
              <a:tr h="341644">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6786408"/>
                  </a:ext>
                </a:extLst>
              </a:tr>
              <a:tr h="341644">
                <a:tc>
                  <a:txBody>
                    <a:bodyPr/>
                    <a:lstStyle/>
                    <a:p>
                      <a:pPr algn="ctr" fontAlgn="b"/>
                      <a:r>
                        <a:rPr lang="en-US" sz="1200" u="none" strike="noStrike" dirty="0">
                          <a:solidFill>
                            <a:schemeClr val="tx1"/>
                          </a:solidFill>
                          <a:effectLst/>
                        </a:rPr>
                        <a:t> </a:t>
                      </a:r>
                      <a:r>
                        <a:rPr lang="en-US" sz="900" u="none" strike="noStrike" dirty="0">
                          <a:solidFill>
                            <a:schemeClr val="tx1"/>
                          </a:solidFill>
                          <a:effectLst/>
                        </a:rPr>
                        <a:t>NoData</a:t>
                      </a:r>
                      <a:endParaRPr lang="en-US" sz="9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5086253"/>
                  </a:ext>
                </a:extLst>
              </a:tr>
            </a:tbl>
          </a:graphicData>
        </a:graphic>
      </p:graphicFrame>
      <p:graphicFrame>
        <p:nvGraphicFramePr>
          <p:cNvPr id="11" name="Table 10"/>
          <p:cNvGraphicFramePr>
            <a:graphicFrameLocks noGrp="1"/>
          </p:cNvGraphicFramePr>
          <p:nvPr>
            <p:custDataLst>
              <p:tags r:id="rId7"/>
            </p:custDataLst>
          </p:nvPr>
        </p:nvGraphicFramePr>
        <p:xfrm>
          <a:off x="2468451" y="3086546"/>
          <a:ext cx="1394727" cy="1024932"/>
        </p:xfrm>
        <a:graphic>
          <a:graphicData uri="http://schemas.openxmlformats.org/drawingml/2006/table">
            <a:tbl>
              <a:tblPr>
                <a:tableStyleId>{6E25E649-3F16-4E02-A733-19D2CDBF48F0}</a:tableStyleId>
              </a:tblPr>
              <a:tblGrid>
                <a:gridCol w="464909">
                  <a:extLst>
                    <a:ext uri="{9D8B030D-6E8A-4147-A177-3AD203B41FA5}">
                      <a16:colId xmlns:a16="http://schemas.microsoft.com/office/drawing/2014/main" val="2741754113"/>
                    </a:ext>
                  </a:extLst>
                </a:gridCol>
                <a:gridCol w="464909">
                  <a:extLst>
                    <a:ext uri="{9D8B030D-6E8A-4147-A177-3AD203B41FA5}">
                      <a16:colId xmlns:a16="http://schemas.microsoft.com/office/drawing/2014/main" val="3847173035"/>
                    </a:ext>
                  </a:extLst>
                </a:gridCol>
                <a:gridCol w="464909">
                  <a:extLst>
                    <a:ext uri="{9D8B030D-6E8A-4147-A177-3AD203B41FA5}">
                      <a16:colId xmlns:a16="http://schemas.microsoft.com/office/drawing/2014/main" val="2831503961"/>
                    </a:ext>
                  </a:extLst>
                </a:gridCol>
              </a:tblGrid>
              <a:tr h="341644">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900" b="0" i="0" u="none" strike="noStrike" dirty="0">
                          <a:solidFill>
                            <a:schemeClr val="tx1"/>
                          </a:solidFill>
                          <a:effectLst/>
                          <a:latin typeface="Calibri" panose="020F0502020204030204" pitchFamily="34" charset="0"/>
                        </a:rPr>
                        <a:t>NoData</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7826849"/>
                  </a:ext>
                </a:extLst>
              </a:tr>
              <a:tr h="341644">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6786408"/>
                  </a:ext>
                </a:extLst>
              </a:tr>
              <a:tr h="341644">
                <a:tc>
                  <a:txBody>
                    <a:bodyPr/>
                    <a:lstStyle/>
                    <a:p>
                      <a:pPr algn="ctr" fontAlgn="b"/>
                      <a:r>
                        <a:rPr lang="en-US" sz="1200" u="none" strike="noStrike" dirty="0">
                          <a:solidFill>
                            <a:schemeClr val="tx1"/>
                          </a:solidFill>
                          <a:effectLst/>
                        </a:rPr>
                        <a:t> </a:t>
                      </a:r>
                      <a:r>
                        <a:rPr lang="en-US" sz="900" u="none" strike="noStrike" dirty="0">
                          <a:solidFill>
                            <a:schemeClr val="tx1"/>
                          </a:solidFill>
                          <a:effectLst/>
                        </a:rPr>
                        <a:t>NoData</a:t>
                      </a:r>
                      <a:endParaRPr lang="en-US" sz="9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900" b="0" i="0" u="none" strike="noStrike" dirty="0">
                          <a:solidFill>
                            <a:schemeClr val="tx1"/>
                          </a:solidFill>
                          <a:effectLst/>
                          <a:latin typeface="Calibri" panose="020F0502020204030204" pitchFamily="34" charset="0"/>
                        </a:rPr>
                        <a:t>NoData</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5086253"/>
                  </a:ext>
                </a:extLst>
              </a:tr>
            </a:tbl>
          </a:graphicData>
        </a:graphic>
      </p:graphicFrame>
      <p:graphicFrame>
        <p:nvGraphicFramePr>
          <p:cNvPr id="12" name="Table 11"/>
          <p:cNvGraphicFramePr>
            <a:graphicFrameLocks noGrp="1"/>
          </p:cNvGraphicFramePr>
          <p:nvPr>
            <p:custDataLst>
              <p:tags r:id="rId8"/>
            </p:custDataLst>
          </p:nvPr>
        </p:nvGraphicFramePr>
        <p:xfrm>
          <a:off x="5452458" y="3086547"/>
          <a:ext cx="1394727" cy="1024932"/>
        </p:xfrm>
        <a:graphic>
          <a:graphicData uri="http://schemas.openxmlformats.org/drawingml/2006/table">
            <a:tbl>
              <a:tblPr>
                <a:tableStyleId>{6E25E649-3F16-4E02-A733-19D2CDBF48F0}</a:tableStyleId>
              </a:tblPr>
              <a:tblGrid>
                <a:gridCol w="464909">
                  <a:extLst>
                    <a:ext uri="{9D8B030D-6E8A-4147-A177-3AD203B41FA5}">
                      <a16:colId xmlns:a16="http://schemas.microsoft.com/office/drawing/2014/main" val="2741754113"/>
                    </a:ext>
                  </a:extLst>
                </a:gridCol>
                <a:gridCol w="464909">
                  <a:extLst>
                    <a:ext uri="{9D8B030D-6E8A-4147-A177-3AD203B41FA5}">
                      <a16:colId xmlns:a16="http://schemas.microsoft.com/office/drawing/2014/main" val="3847173035"/>
                    </a:ext>
                  </a:extLst>
                </a:gridCol>
                <a:gridCol w="464909">
                  <a:extLst>
                    <a:ext uri="{9D8B030D-6E8A-4147-A177-3AD203B41FA5}">
                      <a16:colId xmlns:a16="http://schemas.microsoft.com/office/drawing/2014/main" val="2831503961"/>
                    </a:ext>
                  </a:extLst>
                </a:gridCol>
              </a:tblGrid>
              <a:tr h="341644">
                <a:tc>
                  <a:txBody>
                    <a:bodyPr/>
                    <a:lstStyle/>
                    <a:p>
                      <a:pPr algn="ctr" fontAlgn="b"/>
                      <a:r>
                        <a:rPr lang="en-US" sz="1200" b="0" i="0" u="none" strike="noStrike" dirty="0">
                          <a:solidFill>
                            <a:schemeClr val="tx1"/>
                          </a:solidFill>
                          <a:effectLst/>
                          <a:latin typeface="Calibri" panose="020F0502020204030204" pitchFamily="34" charset="0"/>
                        </a:rPr>
                        <a:t>2</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900" b="0" i="0" u="none" strike="noStrike" dirty="0">
                          <a:solidFill>
                            <a:schemeClr val="tx1"/>
                          </a:solidFill>
                          <a:effectLst/>
                          <a:latin typeface="Calibri" panose="020F0502020204030204" pitchFamily="34" charset="0"/>
                        </a:rPr>
                        <a:t>NoData</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2</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7826849"/>
                  </a:ext>
                </a:extLst>
              </a:tr>
              <a:tr h="341644">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6786408"/>
                  </a:ext>
                </a:extLst>
              </a:tr>
              <a:tr h="341644">
                <a:tc>
                  <a:txBody>
                    <a:bodyPr/>
                    <a:lstStyle/>
                    <a:p>
                      <a:pPr algn="ctr" fontAlgn="b"/>
                      <a:r>
                        <a:rPr lang="en-US" sz="900" b="0" i="0" u="none" strike="noStrike" dirty="0">
                          <a:solidFill>
                            <a:schemeClr val="tx1"/>
                          </a:solidFill>
                          <a:effectLst/>
                          <a:latin typeface="Calibri" panose="020F0502020204030204" pitchFamily="34" charset="0"/>
                        </a:rPr>
                        <a:t>NoData</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2</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900" b="0" i="0" u="none" strike="noStrike" dirty="0">
                          <a:solidFill>
                            <a:schemeClr val="tx1"/>
                          </a:solidFill>
                          <a:effectLst/>
                          <a:latin typeface="Calibri" panose="020F0502020204030204" pitchFamily="34" charset="0"/>
                        </a:rPr>
                        <a:t>NoData</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5086253"/>
                  </a:ext>
                </a:extLst>
              </a:tr>
            </a:tbl>
          </a:graphicData>
        </a:graphic>
      </p:graphicFrame>
      <p:sp>
        <p:nvSpPr>
          <p:cNvPr id="13" name="TextBox 12"/>
          <p:cNvSpPr txBox="1"/>
          <p:nvPr>
            <p:custDataLst>
              <p:tags r:id="rId9"/>
            </p:custDataLst>
          </p:nvPr>
        </p:nvSpPr>
        <p:spPr>
          <a:xfrm>
            <a:off x="1834731" y="3193794"/>
            <a:ext cx="514484" cy="840551"/>
          </a:xfrm>
          <a:prstGeom prst="rect">
            <a:avLst/>
          </a:prstGeom>
          <a:noFill/>
        </p:spPr>
        <p:txBody>
          <a:bodyPr wrap="square" rtlCol="0">
            <a:spAutoFit/>
          </a:bodyPr>
          <a:lstStyle/>
          <a:p>
            <a:pPr>
              <a:lnSpc>
                <a:spcPct val="90000"/>
              </a:lnSpc>
            </a:pPr>
            <a:r>
              <a:rPr lang="en-US" sz="5402" dirty="0"/>
              <a:t>+</a:t>
            </a:r>
          </a:p>
        </p:txBody>
      </p:sp>
      <p:sp>
        <p:nvSpPr>
          <p:cNvPr id="14" name="TextBox 13"/>
          <p:cNvSpPr txBox="1"/>
          <p:nvPr>
            <p:custDataLst>
              <p:tags r:id="rId10"/>
            </p:custDataLst>
          </p:nvPr>
        </p:nvSpPr>
        <p:spPr>
          <a:xfrm>
            <a:off x="4349127" y="3193794"/>
            <a:ext cx="514484" cy="840551"/>
          </a:xfrm>
          <a:prstGeom prst="rect">
            <a:avLst/>
          </a:prstGeom>
          <a:noFill/>
        </p:spPr>
        <p:txBody>
          <a:bodyPr wrap="square" rtlCol="0">
            <a:spAutoFit/>
          </a:bodyPr>
          <a:lstStyle/>
          <a:p>
            <a:pPr>
              <a:lnSpc>
                <a:spcPct val="90000"/>
              </a:lnSpc>
            </a:pPr>
            <a:r>
              <a:rPr lang="en-US" sz="5402" dirty="0"/>
              <a:t>=</a:t>
            </a:r>
          </a:p>
        </p:txBody>
      </p:sp>
      <p:cxnSp>
        <p:nvCxnSpPr>
          <p:cNvPr id="15" name="Straight Connector 14">
            <a:extLst>
              <a:ext uri="{FF2B5EF4-FFF2-40B4-BE49-F238E27FC236}">
                <a16:creationId xmlns:a16="http://schemas.microsoft.com/office/drawing/2014/main" id="{D271A5D4-BC8D-46DE-B348-D98BEE1B09F8}"/>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Title 1">
            <a:extLst>
              <a:ext uri="{FF2B5EF4-FFF2-40B4-BE49-F238E27FC236}">
                <a16:creationId xmlns:a16="http://schemas.microsoft.com/office/drawing/2014/main" id="{D10A46D1-932D-4811-AEAE-33092C4AAD6B}"/>
              </a:ext>
            </a:extLst>
          </p:cNvPr>
          <p:cNvSpPr txBox="1">
            <a:spLocks/>
          </p:cNvSpPr>
          <p:nvPr/>
        </p:nvSpPr>
        <p:spPr>
          <a:xfrm>
            <a:off x="152400" y="19425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Operations Involving Multiple Raster</a:t>
            </a:r>
            <a:endParaRPr lang="en-US" sz="2600" dirty="0">
              <a:solidFill>
                <a:srgbClr val="7030A0"/>
              </a:solidFill>
            </a:endParaRPr>
          </a:p>
        </p:txBody>
      </p:sp>
      <p:sp>
        <p:nvSpPr>
          <p:cNvPr id="3" name="Slide Number Placeholder 2">
            <a:extLst>
              <a:ext uri="{FF2B5EF4-FFF2-40B4-BE49-F238E27FC236}">
                <a16:creationId xmlns:a16="http://schemas.microsoft.com/office/drawing/2014/main" id="{9466852D-35C0-4A1A-9107-1E7D743F31EA}"/>
              </a:ext>
            </a:extLst>
          </p:cNvPr>
          <p:cNvSpPr>
            <a:spLocks noGrp="1"/>
          </p:cNvSpPr>
          <p:nvPr>
            <p:ph type="sldNum" sz="quarter" idx="12"/>
          </p:nvPr>
        </p:nvSpPr>
        <p:spPr/>
        <p:txBody>
          <a:bodyPr/>
          <a:lstStyle/>
          <a:p>
            <a:fld id="{127DDC20-79C9-9647-820E-6D40A3D210C3}" type="slidenum">
              <a:rPr lang="en-US" smtClean="0"/>
              <a:pPr/>
              <a:t>6</a:t>
            </a:fld>
            <a:endParaRPr lang="en-US"/>
          </a:p>
        </p:txBody>
      </p:sp>
    </p:spTree>
    <p:extLst>
      <p:ext uri="{BB962C8B-B14F-4D97-AF65-F5344CB8AC3E}">
        <p14:creationId xmlns:p14="http://schemas.microsoft.com/office/powerpoint/2010/main" val="2628704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showing raster calculator"/>
          <p:cNvPicPr>
            <a:picLocks noChangeAspect="1"/>
          </p:cNvPicPr>
          <p:nvPr/>
        </p:nvPicPr>
        <p:blipFill>
          <a:blip r:embed="rId3"/>
          <a:stretch>
            <a:fillRect/>
          </a:stretch>
        </p:blipFill>
        <p:spPr>
          <a:xfrm>
            <a:off x="1168093" y="2014668"/>
            <a:ext cx="5893413" cy="2573180"/>
          </a:xfrm>
          <a:prstGeom prst="rect">
            <a:avLst/>
          </a:prstGeom>
        </p:spPr>
      </p:pic>
      <p:cxnSp>
        <p:nvCxnSpPr>
          <p:cNvPr id="6" name="Straight Connector 5">
            <a:extLst>
              <a:ext uri="{FF2B5EF4-FFF2-40B4-BE49-F238E27FC236}">
                <a16:creationId xmlns:a16="http://schemas.microsoft.com/office/drawing/2014/main" id="{839562A7-6AF3-44BA-8F4A-C5A4AA245DB6}"/>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2E95DD0F-F98B-4644-A000-DD359C3BE282}"/>
              </a:ext>
            </a:extLst>
          </p:cNvPr>
          <p:cNvSpPr txBox="1">
            <a:spLocks/>
          </p:cNvSpPr>
          <p:nvPr/>
        </p:nvSpPr>
        <p:spPr>
          <a:xfrm>
            <a:off x="227202" y="12702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t>
            </a:r>
            <a:r>
              <a:rPr lang="en-US" altLang="zh-CN" sz="3200" dirty="0">
                <a:solidFill>
                  <a:srgbClr val="7030A0"/>
                </a:solidFill>
              </a:rPr>
              <a:t>aster Calculator</a:t>
            </a:r>
            <a:endParaRPr lang="en-US" sz="2600" dirty="0">
              <a:solidFill>
                <a:srgbClr val="7030A0"/>
              </a:solidFill>
            </a:endParaRPr>
          </a:p>
        </p:txBody>
      </p:sp>
      <p:sp>
        <p:nvSpPr>
          <p:cNvPr id="9" name="TextBox 8">
            <a:extLst>
              <a:ext uri="{FF2B5EF4-FFF2-40B4-BE49-F238E27FC236}">
                <a16:creationId xmlns:a16="http://schemas.microsoft.com/office/drawing/2014/main" id="{CB253913-3897-4F6B-97F4-E1FEE1F2327E}"/>
              </a:ext>
            </a:extLst>
          </p:cNvPr>
          <p:cNvSpPr txBox="1"/>
          <p:nvPr/>
        </p:nvSpPr>
        <p:spPr>
          <a:xfrm>
            <a:off x="110067" y="1237957"/>
            <a:ext cx="7838179" cy="461665"/>
          </a:xfrm>
          <a:prstGeom prst="rect">
            <a:avLst/>
          </a:prstGeom>
          <a:noFill/>
        </p:spPr>
        <p:txBody>
          <a:bodyPr wrap="square" rtlCol="0">
            <a:spAutoFit/>
          </a:bodyPr>
          <a:lstStyle/>
          <a:p>
            <a:pPr marL="457200" indent="-457200">
              <a:buFont typeface="Courier New" panose="02070309020205020404" pitchFamily="49" charset="0"/>
              <a:buChar char="o"/>
            </a:pPr>
            <a:r>
              <a:rPr lang="en-US" sz="2400" dirty="0"/>
              <a:t>Perform mathematical calculations on a cell-by-cell basis</a:t>
            </a:r>
          </a:p>
        </p:txBody>
      </p:sp>
      <p:sp>
        <p:nvSpPr>
          <p:cNvPr id="3" name="Slide Number Placeholder 2">
            <a:extLst>
              <a:ext uri="{FF2B5EF4-FFF2-40B4-BE49-F238E27FC236}">
                <a16:creationId xmlns:a16="http://schemas.microsoft.com/office/drawing/2014/main" id="{18D153DF-519A-4E5B-90C3-D71969FEB6D8}"/>
              </a:ext>
            </a:extLst>
          </p:cNvPr>
          <p:cNvSpPr>
            <a:spLocks noGrp="1"/>
          </p:cNvSpPr>
          <p:nvPr>
            <p:ph type="sldNum" sz="quarter" idx="12"/>
          </p:nvPr>
        </p:nvSpPr>
        <p:spPr/>
        <p:txBody>
          <a:bodyPr/>
          <a:lstStyle/>
          <a:p>
            <a:fld id="{127DDC20-79C9-9647-820E-6D40A3D210C3}" type="slidenum">
              <a:rPr lang="en-US" smtClean="0"/>
              <a:pPr/>
              <a:t>7</a:t>
            </a:fld>
            <a:endParaRPr lang="en-US"/>
          </a:p>
        </p:txBody>
      </p:sp>
    </p:spTree>
    <p:extLst>
      <p:ext uri="{BB962C8B-B14F-4D97-AF65-F5344CB8AC3E}">
        <p14:creationId xmlns:p14="http://schemas.microsoft.com/office/powerpoint/2010/main" val="2027670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175556" y="1063709"/>
            <a:ext cx="6173808" cy="605034"/>
          </a:xfrm>
        </p:spPr>
        <p:txBody>
          <a:bodyPr/>
          <a:lstStyle/>
          <a:p>
            <a:pPr marL="0" indent="0">
              <a:buNone/>
            </a:pPr>
            <a:r>
              <a:rPr lang="en-US" dirty="0" err="1"/>
              <a:t>SquareRoot</a:t>
            </a:r>
            <a:r>
              <a:rPr lang="en-US" dirty="0"/>
              <a:t>(“Elevation”)</a:t>
            </a:r>
          </a:p>
        </p:txBody>
      </p:sp>
      <p:sp>
        <p:nvSpPr>
          <p:cNvPr id="3" name="Slide Number Placeholder 2">
            <a:extLst>
              <a:ext uri="{FF2B5EF4-FFF2-40B4-BE49-F238E27FC236}">
                <a16:creationId xmlns:a16="http://schemas.microsoft.com/office/drawing/2014/main" id="{8BB2C2A3-72CC-4203-9E16-FC9989D94785}"/>
              </a:ext>
            </a:extLst>
          </p:cNvPr>
          <p:cNvSpPr>
            <a:spLocks noGrp="1"/>
          </p:cNvSpPr>
          <p:nvPr>
            <p:ph type="sldNum" sz="quarter" idx="12"/>
          </p:nvPr>
        </p:nvSpPr>
        <p:spPr/>
        <p:txBody>
          <a:bodyPr/>
          <a:lstStyle/>
          <a:p>
            <a:fld id="{127DDC20-79C9-9647-820E-6D40A3D210C3}" type="slidenum">
              <a:rPr lang="en-US" smtClean="0"/>
              <a:pPr/>
              <a:t>8</a:t>
            </a:fld>
            <a:endParaRPr lang="en-US"/>
          </a:p>
        </p:txBody>
      </p:sp>
      <p:pic>
        <p:nvPicPr>
          <p:cNvPr id="6" name="Picture 5" descr="Image showing DEM data"/>
          <p:cNvPicPr>
            <a:picLocks noChangeAspect="1"/>
          </p:cNvPicPr>
          <p:nvPr/>
        </p:nvPicPr>
        <p:blipFill>
          <a:blip r:embed="rId7">
            <a:clrChange>
              <a:clrFrom>
                <a:srgbClr val="00C5FF"/>
              </a:clrFrom>
              <a:clrTo>
                <a:srgbClr val="00C5FF">
                  <a:alpha val="0"/>
                </a:srgbClr>
              </a:clrTo>
            </a:clrChange>
          </a:blip>
          <a:stretch>
            <a:fillRect/>
          </a:stretch>
        </p:blipFill>
        <p:spPr>
          <a:xfrm>
            <a:off x="1970996" y="1063709"/>
            <a:ext cx="2263730" cy="3717399"/>
          </a:xfrm>
          <a:prstGeom prst="rect">
            <a:avLst/>
          </a:prstGeom>
        </p:spPr>
      </p:pic>
      <p:sp>
        <p:nvSpPr>
          <p:cNvPr id="7" name="Right Arrow 6"/>
          <p:cNvSpPr/>
          <p:nvPr>
            <p:custDataLst>
              <p:tags r:id="rId2"/>
            </p:custDataLst>
          </p:nvPr>
        </p:nvSpPr>
        <p:spPr>
          <a:xfrm>
            <a:off x="4157133" y="2845235"/>
            <a:ext cx="720278" cy="154345"/>
          </a:xfrm>
          <a:prstGeom prst="rightArrow">
            <a:avLst>
              <a:gd name="adj1" fmla="val 25510"/>
              <a:gd name="adj2" fmla="val 50000"/>
            </a:avLst>
          </a:prstGeom>
          <a:solidFill>
            <a:srgbClr val="C00000"/>
          </a:solidFill>
          <a:ln>
            <a:solidFill>
              <a:srgbClr val="C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pic>
        <p:nvPicPr>
          <p:cNvPr id="2" name="Picture 1" descr="Image showing DEM data after square root"/>
          <p:cNvPicPr>
            <a:picLocks noChangeAspect="1"/>
          </p:cNvPicPr>
          <p:nvPr/>
        </p:nvPicPr>
        <p:blipFill>
          <a:blip r:embed="rId8">
            <a:clrChange>
              <a:clrFrom>
                <a:srgbClr val="00C5FF"/>
              </a:clrFrom>
              <a:clrTo>
                <a:srgbClr val="00C5FF">
                  <a:alpha val="0"/>
                </a:srgbClr>
              </a:clrTo>
            </a:clrChange>
          </a:blip>
          <a:stretch>
            <a:fillRect/>
          </a:stretch>
        </p:blipFill>
        <p:spPr>
          <a:xfrm>
            <a:off x="6166390" y="1116063"/>
            <a:ext cx="1807041" cy="3734549"/>
          </a:xfrm>
          <a:prstGeom prst="rect">
            <a:avLst/>
          </a:prstGeom>
        </p:spPr>
      </p:pic>
      <p:graphicFrame>
        <p:nvGraphicFramePr>
          <p:cNvPr id="9" name="Table 8"/>
          <p:cNvGraphicFramePr>
            <a:graphicFrameLocks noGrp="1"/>
          </p:cNvGraphicFramePr>
          <p:nvPr>
            <p:custDataLst>
              <p:tags r:id="rId3"/>
            </p:custDataLst>
            <p:extLst>
              <p:ext uri="{D42A27DB-BD31-4B8C-83A1-F6EECF244321}">
                <p14:modId xmlns:p14="http://schemas.microsoft.com/office/powerpoint/2010/main" val="2239730926"/>
              </p:ext>
            </p:extLst>
          </p:nvPr>
        </p:nvGraphicFramePr>
        <p:xfrm>
          <a:off x="256169" y="2234745"/>
          <a:ext cx="1394727" cy="1024932"/>
        </p:xfrm>
        <a:graphic>
          <a:graphicData uri="http://schemas.openxmlformats.org/drawingml/2006/table">
            <a:tbl>
              <a:tblPr>
                <a:tableStyleId>{6E25E649-3F16-4E02-A733-19D2CDBF48F0}</a:tableStyleId>
              </a:tblPr>
              <a:tblGrid>
                <a:gridCol w="464909">
                  <a:extLst>
                    <a:ext uri="{9D8B030D-6E8A-4147-A177-3AD203B41FA5}">
                      <a16:colId xmlns:a16="http://schemas.microsoft.com/office/drawing/2014/main" val="2741754113"/>
                    </a:ext>
                  </a:extLst>
                </a:gridCol>
                <a:gridCol w="464909">
                  <a:extLst>
                    <a:ext uri="{9D8B030D-6E8A-4147-A177-3AD203B41FA5}">
                      <a16:colId xmlns:a16="http://schemas.microsoft.com/office/drawing/2014/main" val="3847173035"/>
                    </a:ext>
                  </a:extLst>
                </a:gridCol>
                <a:gridCol w="464909">
                  <a:extLst>
                    <a:ext uri="{9D8B030D-6E8A-4147-A177-3AD203B41FA5}">
                      <a16:colId xmlns:a16="http://schemas.microsoft.com/office/drawing/2014/main" val="2831503961"/>
                    </a:ext>
                  </a:extLst>
                </a:gridCol>
              </a:tblGrid>
              <a:tr h="341644">
                <a:tc>
                  <a:txBody>
                    <a:bodyPr/>
                    <a:lstStyle/>
                    <a:p>
                      <a:pPr algn="ctr" fontAlgn="b"/>
                      <a:r>
                        <a:rPr lang="en-US" sz="1200" b="0" i="0" u="none" strike="noStrike" dirty="0">
                          <a:solidFill>
                            <a:schemeClr val="tx1"/>
                          </a:solidFill>
                          <a:effectLst/>
                          <a:latin typeface="Calibri" panose="020F0502020204030204" pitchFamily="34" charset="0"/>
                        </a:rPr>
                        <a:t>850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700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820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7826849"/>
                  </a:ext>
                </a:extLst>
              </a:tr>
              <a:tr h="341644">
                <a:tc>
                  <a:txBody>
                    <a:bodyPr/>
                    <a:lstStyle/>
                    <a:p>
                      <a:pPr algn="ctr" fontAlgn="b"/>
                      <a:r>
                        <a:rPr lang="en-US" sz="1200" u="none" strike="noStrike" dirty="0">
                          <a:solidFill>
                            <a:schemeClr val="tx1"/>
                          </a:solidFill>
                          <a:effectLst/>
                        </a:rPr>
                        <a:t> 600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mn-lt"/>
                        </a:rPr>
                        <a:t>820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900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6786408"/>
                  </a:ext>
                </a:extLst>
              </a:tr>
              <a:tr h="341644">
                <a:tc>
                  <a:txBody>
                    <a:bodyPr/>
                    <a:lstStyle/>
                    <a:p>
                      <a:pPr algn="ctr" fontAlgn="b"/>
                      <a:r>
                        <a:rPr lang="en-US" sz="1200" u="none" strike="noStrike" dirty="0">
                          <a:solidFill>
                            <a:schemeClr val="tx1"/>
                          </a:solidFill>
                          <a:effectLst/>
                        </a:rPr>
                        <a:t> </a:t>
                      </a:r>
                      <a:r>
                        <a:rPr lang="en-US" sz="900" u="none" strike="noStrike" dirty="0">
                          <a:solidFill>
                            <a:schemeClr val="tx1"/>
                          </a:solidFill>
                          <a:effectLst/>
                        </a:rPr>
                        <a:t>NoData</a:t>
                      </a:r>
                      <a:endParaRPr lang="en-US" sz="9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650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675</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5086253"/>
                  </a:ext>
                </a:extLst>
              </a:tr>
            </a:tbl>
          </a:graphicData>
        </a:graphic>
      </p:graphicFrame>
      <p:graphicFrame>
        <p:nvGraphicFramePr>
          <p:cNvPr id="10" name="Table 9"/>
          <p:cNvGraphicFramePr>
            <a:graphicFrameLocks noGrp="1"/>
          </p:cNvGraphicFramePr>
          <p:nvPr>
            <p:custDataLst>
              <p:tags r:id="rId4"/>
            </p:custDataLst>
            <p:extLst>
              <p:ext uri="{D42A27DB-BD31-4B8C-83A1-F6EECF244321}">
                <p14:modId xmlns:p14="http://schemas.microsoft.com/office/powerpoint/2010/main" val="941406426"/>
              </p:ext>
            </p:extLst>
          </p:nvPr>
        </p:nvGraphicFramePr>
        <p:xfrm>
          <a:off x="5114687" y="1301108"/>
          <a:ext cx="1394727" cy="1024932"/>
        </p:xfrm>
        <a:graphic>
          <a:graphicData uri="http://schemas.openxmlformats.org/drawingml/2006/table">
            <a:tbl>
              <a:tblPr>
                <a:tableStyleId>{6E25E649-3F16-4E02-A733-19D2CDBF48F0}</a:tableStyleId>
              </a:tblPr>
              <a:tblGrid>
                <a:gridCol w="464909">
                  <a:extLst>
                    <a:ext uri="{9D8B030D-6E8A-4147-A177-3AD203B41FA5}">
                      <a16:colId xmlns:a16="http://schemas.microsoft.com/office/drawing/2014/main" val="2741754113"/>
                    </a:ext>
                  </a:extLst>
                </a:gridCol>
                <a:gridCol w="464909">
                  <a:extLst>
                    <a:ext uri="{9D8B030D-6E8A-4147-A177-3AD203B41FA5}">
                      <a16:colId xmlns:a16="http://schemas.microsoft.com/office/drawing/2014/main" val="3847173035"/>
                    </a:ext>
                  </a:extLst>
                </a:gridCol>
                <a:gridCol w="464909">
                  <a:extLst>
                    <a:ext uri="{9D8B030D-6E8A-4147-A177-3AD203B41FA5}">
                      <a16:colId xmlns:a16="http://schemas.microsoft.com/office/drawing/2014/main" val="2831503961"/>
                    </a:ext>
                  </a:extLst>
                </a:gridCol>
              </a:tblGrid>
              <a:tr h="341644">
                <a:tc>
                  <a:txBody>
                    <a:bodyPr/>
                    <a:lstStyle/>
                    <a:p>
                      <a:pPr algn="ctr" fontAlgn="b"/>
                      <a:r>
                        <a:rPr lang="en-US" sz="1200" b="0" i="0" u="none" strike="noStrike" dirty="0">
                          <a:solidFill>
                            <a:schemeClr val="tx1"/>
                          </a:solidFill>
                          <a:effectLst/>
                          <a:latin typeface="Calibri" panose="020F0502020204030204" pitchFamily="34" charset="0"/>
                        </a:rPr>
                        <a:t>29.2</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26.5</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28.6</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7826849"/>
                  </a:ext>
                </a:extLst>
              </a:tr>
              <a:tr h="341644">
                <a:tc>
                  <a:txBody>
                    <a:bodyPr/>
                    <a:lstStyle/>
                    <a:p>
                      <a:pPr algn="ctr" fontAlgn="b"/>
                      <a:r>
                        <a:rPr lang="en-US" sz="1200" b="0" i="0" u="none" strike="noStrike" dirty="0">
                          <a:solidFill>
                            <a:schemeClr val="tx1"/>
                          </a:solidFill>
                          <a:effectLst/>
                          <a:latin typeface="+mn-lt"/>
                        </a:rPr>
                        <a:t>24.5</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mn-lt"/>
                        </a:rPr>
                        <a:t>28.6</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30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6786408"/>
                  </a:ext>
                </a:extLst>
              </a:tr>
              <a:tr h="341644">
                <a:tc>
                  <a:txBody>
                    <a:bodyPr/>
                    <a:lstStyle/>
                    <a:p>
                      <a:pPr algn="ctr" fontAlgn="b"/>
                      <a:r>
                        <a:rPr lang="en-US" sz="1200" u="none" strike="noStrike" dirty="0">
                          <a:solidFill>
                            <a:schemeClr val="tx1"/>
                          </a:solidFill>
                          <a:effectLst/>
                        </a:rPr>
                        <a:t> </a:t>
                      </a:r>
                      <a:r>
                        <a:rPr lang="en-US" sz="900" u="none" strike="noStrike" dirty="0">
                          <a:solidFill>
                            <a:schemeClr val="tx1"/>
                          </a:solidFill>
                          <a:effectLst/>
                        </a:rPr>
                        <a:t>NoData</a:t>
                      </a:r>
                      <a:endParaRPr lang="en-US" sz="9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25.5</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26.0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5086253"/>
                  </a:ext>
                </a:extLst>
              </a:tr>
            </a:tbl>
          </a:graphicData>
        </a:graphic>
      </p:graphicFrame>
      <p:cxnSp>
        <p:nvCxnSpPr>
          <p:cNvPr id="11" name="Straight Connector 10">
            <a:extLst>
              <a:ext uri="{FF2B5EF4-FFF2-40B4-BE49-F238E27FC236}">
                <a16:creationId xmlns:a16="http://schemas.microsoft.com/office/drawing/2014/main" id="{3D828253-97B7-4CE0-8D11-325ABF008E1B}"/>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 name="Title 1">
            <a:extLst>
              <a:ext uri="{FF2B5EF4-FFF2-40B4-BE49-F238E27FC236}">
                <a16:creationId xmlns:a16="http://schemas.microsoft.com/office/drawing/2014/main" id="{B678F6C8-917E-4DC4-8BA5-1ACF24155CA2}"/>
              </a:ext>
            </a:extLst>
          </p:cNvPr>
          <p:cNvSpPr txBox="1">
            <a:spLocks/>
          </p:cNvSpPr>
          <p:nvPr/>
        </p:nvSpPr>
        <p:spPr>
          <a:xfrm>
            <a:off x="142766" y="1360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Operations Involving A single Raster</a:t>
            </a:r>
            <a:endParaRPr lang="en-US" sz="2600" dirty="0">
              <a:solidFill>
                <a:srgbClr val="7030A0"/>
              </a:solidFill>
            </a:endParaRPr>
          </a:p>
        </p:txBody>
      </p:sp>
    </p:spTree>
    <p:extLst>
      <p:ext uri="{BB962C8B-B14F-4D97-AF65-F5344CB8AC3E}">
        <p14:creationId xmlns:p14="http://schemas.microsoft.com/office/powerpoint/2010/main" val="3031002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110067" y="1265209"/>
            <a:ext cx="6173808" cy="353130"/>
          </a:xfrm>
        </p:spPr>
        <p:txBody>
          <a:bodyPr/>
          <a:lstStyle/>
          <a:p>
            <a:pPr marL="0" indent="0">
              <a:buNone/>
            </a:pPr>
            <a:r>
              <a:rPr lang="en-US" dirty="0"/>
              <a:t>“Elevation” * 3.281 (meet to feet)</a:t>
            </a:r>
          </a:p>
        </p:txBody>
      </p:sp>
      <p:sp>
        <p:nvSpPr>
          <p:cNvPr id="3" name="Slide Number Placeholder 2">
            <a:extLst>
              <a:ext uri="{FF2B5EF4-FFF2-40B4-BE49-F238E27FC236}">
                <a16:creationId xmlns:a16="http://schemas.microsoft.com/office/drawing/2014/main" id="{8038D202-C8C2-4AF7-8205-71B517F89F17}"/>
              </a:ext>
            </a:extLst>
          </p:cNvPr>
          <p:cNvSpPr>
            <a:spLocks noGrp="1"/>
          </p:cNvSpPr>
          <p:nvPr>
            <p:ph type="sldNum" sz="quarter" idx="12"/>
          </p:nvPr>
        </p:nvSpPr>
        <p:spPr/>
        <p:txBody>
          <a:bodyPr/>
          <a:lstStyle/>
          <a:p>
            <a:fld id="{127DDC20-79C9-9647-820E-6D40A3D210C3}" type="slidenum">
              <a:rPr lang="en-US" smtClean="0"/>
              <a:pPr/>
              <a:t>9</a:t>
            </a:fld>
            <a:endParaRPr lang="en-US"/>
          </a:p>
        </p:txBody>
      </p:sp>
      <p:pic>
        <p:nvPicPr>
          <p:cNvPr id="2" name="Picture 1" descr="Image showing Raster Calculator window"/>
          <p:cNvPicPr>
            <a:picLocks noChangeAspect="1"/>
          </p:cNvPicPr>
          <p:nvPr/>
        </p:nvPicPr>
        <p:blipFill>
          <a:blip r:embed="rId6"/>
          <a:stretch>
            <a:fillRect/>
          </a:stretch>
        </p:blipFill>
        <p:spPr>
          <a:xfrm>
            <a:off x="3568914" y="1780160"/>
            <a:ext cx="4268383" cy="2766781"/>
          </a:xfrm>
          <a:prstGeom prst="rect">
            <a:avLst/>
          </a:prstGeom>
        </p:spPr>
      </p:pic>
      <p:graphicFrame>
        <p:nvGraphicFramePr>
          <p:cNvPr id="6" name="Table 5"/>
          <p:cNvGraphicFramePr>
            <a:graphicFrameLocks noGrp="1"/>
          </p:cNvGraphicFramePr>
          <p:nvPr>
            <p:custDataLst>
              <p:tags r:id="rId2"/>
            </p:custDataLst>
          </p:nvPr>
        </p:nvGraphicFramePr>
        <p:xfrm>
          <a:off x="193731" y="2777544"/>
          <a:ext cx="1394727" cy="1024932"/>
        </p:xfrm>
        <a:graphic>
          <a:graphicData uri="http://schemas.openxmlformats.org/drawingml/2006/table">
            <a:tbl>
              <a:tblPr>
                <a:tableStyleId>{6E25E649-3F16-4E02-A733-19D2CDBF48F0}</a:tableStyleId>
              </a:tblPr>
              <a:tblGrid>
                <a:gridCol w="464909">
                  <a:extLst>
                    <a:ext uri="{9D8B030D-6E8A-4147-A177-3AD203B41FA5}">
                      <a16:colId xmlns:a16="http://schemas.microsoft.com/office/drawing/2014/main" val="2741754113"/>
                    </a:ext>
                  </a:extLst>
                </a:gridCol>
                <a:gridCol w="464909">
                  <a:extLst>
                    <a:ext uri="{9D8B030D-6E8A-4147-A177-3AD203B41FA5}">
                      <a16:colId xmlns:a16="http://schemas.microsoft.com/office/drawing/2014/main" val="3847173035"/>
                    </a:ext>
                  </a:extLst>
                </a:gridCol>
                <a:gridCol w="464909">
                  <a:extLst>
                    <a:ext uri="{9D8B030D-6E8A-4147-A177-3AD203B41FA5}">
                      <a16:colId xmlns:a16="http://schemas.microsoft.com/office/drawing/2014/main" val="2831503961"/>
                    </a:ext>
                  </a:extLst>
                </a:gridCol>
              </a:tblGrid>
              <a:tr h="341644">
                <a:tc>
                  <a:txBody>
                    <a:bodyPr/>
                    <a:lstStyle/>
                    <a:p>
                      <a:pPr algn="ctr" fontAlgn="b"/>
                      <a:r>
                        <a:rPr lang="en-US" sz="1200" b="0" i="0" u="none" strike="noStrike" dirty="0">
                          <a:solidFill>
                            <a:schemeClr val="tx1"/>
                          </a:solidFill>
                          <a:effectLst/>
                          <a:latin typeface="Calibri" panose="020F0502020204030204" pitchFamily="34" charset="0"/>
                        </a:rPr>
                        <a:t>850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700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820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7826849"/>
                  </a:ext>
                </a:extLst>
              </a:tr>
              <a:tr h="341644">
                <a:tc>
                  <a:txBody>
                    <a:bodyPr/>
                    <a:lstStyle/>
                    <a:p>
                      <a:pPr algn="ctr" fontAlgn="b"/>
                      <a:r>
                        <a:rPr lang="en-US" sz="1200" u="none" strike="noStrike" dirty="0">
                          <a:solidFill>
                            <a:schemeClr val="tx1"/>
                          </a:solidFill>
                          <a:effectLst/>
                        </a:rPr>
                        <a:t> 600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mn-lt"/>
                        </a:rPr>
                        <a:t>820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900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6786408"/>
                  </a:ext>
                </a:extLst>
              </a:tr>
              <a:tr h="341644">
                <a:tc>
                  <a:txBody>
                    <a:bodyPr/>
                    <a:lstStyle/>
                    <a:p>
                      <a:pPr algn="ctr" fontAlgn="b"/>
                      <a:r>
                        <a:rPr lang="en-US" sz="1200" u="none" strike="noStrike" dirty="0">
                          <a:solidFill>
                            <a:schemeClr val="tx1"/>
                          </a:solidFill>
                          <a:effectLst/>
                        </a:rPr>
                        <a:t> </a:t>
                      </a:r>
                      <a:r>
                        <a:rPr lang="en-US" sz="900" u="none" strike="noStrike" dirty="0">
                          <a:solidFill>
                            <a:schemeClr val="tx1"/>
                          </a:solidFill>
                          <a:effectLst/>
                        </a:rPr>
                        <a:t>NoData</a:t>
                      </a:r>
                      <a:endParaRPr lang="en-US" sz="9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650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675</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5086253"/>
                  </a:ext>
                </a:extLst>
              </a:tr>
            </a:tbl>
          </a:graphicData>
        </a:graphic>
      </p:graphicFrame>
      <p:graphicFrame>
        <p:nvGraphicFramePr>
          <p:cNvPr id="7" name="Table 6"/>
          <p:cNvGraphicFramePr>
            <a:graphicFrameLocks noGrp="1"/>
          </p:cNvGraphicFramePr>
          <p:nvPr>
            <p:custDataLst>
              <p:tags r:id="rId3"/>
            </p:custDataLst>
          </p:nvPr>
        </p:nvGraphicFramePr>
        <p:xfrm>
          <a:off x="1867733" y="3588371"/>
          <a:ext cx="1394727" cy="1024932"/>
        </p:xfrm>
        <a:graphic>
          <a:graphicData uri="http://schemas.openxmlformats.org/drawingml/2006/table">
            <a:tbl>
              <a:tblPr>
                <a:tableStyleId>{6E25E649-3F16-4E02-A733-19D2CDBF48F0}</a:tableStyleId>
              </a:tblPr>
              <a:tblGrid>
                <a:gridCol w="464909">
                  <a:extLst>
                    <a:ext uri="{9D8B030D-6E8A-4147-A177-3AD203B41FA5}">
                      <a16:colId xmlns:a16="http://schemas.microsoft.com/office/drawing/2014/main" val="2741754113"/>
                    </a:ext>
                  </a:extLst>
                </a:gridCol>
                <a:gridCol w="464909">
                  <a:extLst>
                    <a:ext uri="{9D8B030D-6E8A-4147-A177-3AD203B41FA5}">
                      <a16:colId xmlns:a16="http://schemas.microsoft.com/office/drawing/2014/main" val="3847173035"/>
                    </a:ext>
                  </a:extLst>
                </a:gridCol>
                <a:gridCol w="464909">
                  <a:extLst>
                    <a:ext uri="{9D8B030D-6E8A-4147-A177-3AD203B41FA5}">
                      <a16:colId xmlns:a16="http://schemas.microsoft.com/office/drawing/2014/main" val="2831503961"/>
                    </a:ext>
                  </a:extLst>
                </a:gridCol>
              </a:tblGrid>
              <a:tr h="341644">
                <a:tc>
                  <a:txBody>
                    <a:bodyPr/>
                    <a:lstStyle/>
                    <a:p>
                      <a:pPr algn="ctr" fontAlgn="b"/>
                      <a:r>
                        <a:rPr lang="en-US" sz="1200" b="0" i="0" u="none" strike="noStrike" dirty="0">
                          <a:solidFill>
                            <a:schemeClr val="tx1"/>
                          </a:solidFill>
                          <a:effectLst/>
                          <a:latin typeface="Calibri" panose="020F0502020204030204" pitchFamily="34" charset="0"/>
                        </a:rPr>
                        <a:t>2789</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2297</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2690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7826849"/>
                  </a:ext>
                </a:extLst>
              </a:tr>
              <a:tr h="341644">
                <a:tc>
                  <a:txBody>
                    <a:bodyPr/>
                    <a:lstStyle/>
                    <a:p>
                      <a:pPr algn="ctr" fontAlgn="b"/>
                      <a:r>
                        <a:rPr lang="en-US" sz="1200" b="0" i="0" u="none" strike="noStrike" dirty="0">
                          <a:solidFill>
                            <a:schemeClr val="tx1"/>
                          </a:solidFill>
                          <a:effectLst/>
                          <a:latin typeface="+mn-lt"/>
                        </a:rPr>
                        <a:t>1969</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mn-lt"/>
                        </a:rPr>
                        <a:t>2690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2953</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6786408"/>
                  </a:ext>
                </a:extLst>
              </a:tr>
              <a:tr h="341644">
                <a:tc>
                  <a:txBody>
                    <a:bodyPr/>
                    <a:lstStyle/>
                    <a:p>
                      <a:pPr algn="ctr" fontAlgn="b"/>
                      <a:r>
                        <a:rPr lang="en-US" sz="1200" u="none" strike="noStrike" dirty="0">
                          <a:solidFill>
                            <a:schemeClr val="tx1"/>
                          </a:solidFill>
                          <a:effectLst/>
                        </a:rPr>
                        <a:t> </a:t>
                      </a:r>
                      <a:r>
                        <a:rPr lang="en-US" sz="900" u="none" strike="noStrike" dirty="0">
                          <a:solidFill>
                            <a:schemeClr val="tx1"/>
                          </a:solidFill>
                          <a:effectLst/>
                        </a:rPr>
                        <a:t>NoData</a:t>
                      </a:r>
                      <a:endParaRPr lang="en-US" sz="9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2133</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2215</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5086253"/>
                  </a:ext>
                </a:extLst>
              </a:tr>
            </a:tbl>
          </a:graphicData>
        </a:graphic>
      </p:graphicFrame>
      <p:cxnSp>
        <p:nvCxnSpPr>
          <p:cNvPr id="8" name="Straight Connector 7">
            <a:extLst>
              <a:ext uri="{FF2B5EF4-FFF2-40B4-BE49-F238E27FC236}">
                <a16:creationId xmlns:a16="http://schemas.microsoft.com/office/drawing/2014/main" id="{E7ED0CCA-E742-4B35-9FC2-12767F8E5C3F}"/>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36FBACAC-75B9-4C44-A7BF-801FF1BD30DE}"/>
              </a:ext>
            </a:extLst>
          </p:cNvPr>
          <p:cNvSpPr txBox="1">
            <a:spLocks/>
          </p:cNvSpPr>
          <p:nvPr/>
        </p:nvSpPr>
        <p:spPr>
          <a:xfrm>
            <a:off x="193731" y="17444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Operations Involving Constants</a:t>
            </a:r>
            <a:endParaRPr lang="en-US" sz="2600" dirty="0">
              <a:solidFill>
                <a:srgbClr val="7030A0"/>
              </a:solidFill>
            </a:endParaRPr>
          </a:p>
        </p:txBody>
      </p:sp>
    </p:spTree>
    <p:extLst>
      <p:ext uri="{BB962C8B-B14F-4D97-AF65-F5344CB8AC3E}">
        <p14:creationId xmlns:p14="http://schemas.microsoft.com/office/powerpoint/2010/main" val="15065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custDataLst>
              <p:tags r:id="rId1"/>
            </p:custDataLst>
          </p:nvPr>
        </p:nvSpPr>
        <p:spPr>
          <a:xfrm>
            <a:off x="2417003" y="2468853"/>
            <a:ext cx="514484" cy="840551"/>
          </a:xfrm>
          <a:prstGeom prst="rect">
            <a:avLst/>
          </a:prstGeom>
          <a:noFill/>
        </p:spPr>
        <p:txBody>
          <a:bodyPr wrap="square" rtlCol="0">
            <a:spAutoFit/>
          </a:bodyPr>
          <a:lstStyle/>
          <a:p>
            <a:pPr>
              <a:lnSpc>
                <a:spcPct val="90000"/>
              </a:lnSpc>
            </a:pPr>
            <a:r>
              <a:rPr lang="en-US" sz="5402" dirty="0"/>
              <a:t>X</a:t>
            </a:r>
          </a:p>
        </p:txBody>
      </p:sp>
      <p:sp>
        <p:nvSpPr>
          <p:cNvPr id="18" name="TextBox 17"/>
          <p:cNvSpPr txBox="1"/>
          <p:nvPr>
            <p:custDataLst>
              <p:tags r:id="rId2"/>
            </p:custDataLst>
          </p:nvPr>
        </p:nvSpPr>
        <p:spPr>
          <a:xfrm>
            <a:off x="5401010" y="2466948"/>
            <a:ext cx="514484" cy="840551"/>
          </a:xfrm>
          <a:prstGeom prst="rect">
            <a:avLst/>
          </a:prstGeom>
          <a:noFill/>
        </p:spPr>
        <p:txBody>
          <a:bodyPr wrap="square" rtlCol="0">
            <a:spAutoFit/>
          </a:bodyPr>
          <a:lstStyle/>
          <a:p>
            <a:pPr>
              <a:lnSpc>
                <a:spcPct val="90000"/>
              </a:lnSpc>
            </a:pPr>
            <a:r>
              <a:rPr lang="en-US" sz="5402" dirty="0"/>
              <a:t>=</a:t>
            </a:r>
          </a:p>
        </p:txBody>
      </p:sp>
      <p:pic>
        <p:nvPicPr>
          <p:cNvPr id="19" name="Picture 18" descr="Image showing forest"/>
          <p:cNvPicPr>
            <a:picLocks noChangeAspect="1"/>
          </p:cNvPicPr>
          <p:nvPr/>
        </p:nvPicPr>
        <p:blipFill>
          <a:blip r:embed="rId7">
            <a:clrChange>
              <a:clrFrom>
                <a:srgbClr val="00C5FF"/>
              </a:clrFrom>
              <a:clrTo>
                <a:srgbClr val="00C5FF">
                  <a:alpha val="0"/>
                </a:srgbClr>
              </a:clrTo>
            </a:clrChange>
          </a:blip>
          <a:stretch>
            <a:fillRect/>
          </a:stretch>
        </p:blipFill>
        <p:spPr>
          <a:xfrm>
            <a:off x="513413" y="1285540"/>
            <a:ext cx="1802624" cy="3459805"/>
          </a:xfrm>
          <a:prstGeom prst="rect">
            <a:avLst/>
          </a:prstGeom>
        </p:spPr>
      </p:pic>
      <p:pic>
        <p:nvPicPr>
          <p:cNvPr id="20" name="Picture 19" descr="Image showing elevation data"/>
          <p:cNvPicPr>
            <a:picLocks noChangeAspect="1"/>
          </p:cNvPicPr>
          <p:nvPr/>
        </p:nvPicPr>
        <p:blipFill>
          <a:blip r:embed="rId8">
            <a:clrChange>
              <a:clrFrom>
                <a:srgbClr val="00C5FF"/>
              </a:clrFrom>
              <a:clrTo>
                <a:srgbClr val="00C5FF">
                  <a:alpha val="0"/>
                </a:srgbClr>
              </a:clrTo>
            </a:clrChange>
          </a:blip>
          <a:stretch>
            <a:fillRect/>
          </a:stretch>
        </p:blipFill>
        <p:spPr>
          <a:xfrm>
            <a:off x="3123361" y="1075456"/>
            <a:ext cx="1982879" cy="3811472"/>
          </a:xfrm>
          <a:prstGeom prst="rect">
            <a:avLst/>
          </a:prstGeom>
        </p:spPr>
      </p:pic>
      <p:sp>
        <p:nvSpPr>
          <p:cNvPr id="3" name="TextBox 2"/>
          <p:cNvSpPr txBox="1"/>
          <p:nvPr>
            <p:custDataLst>
              <p:tags r:id="rId3"/>
            </p:custDataLst>
          </p:nvPr>
        </p:nvSpPr>
        <p:spPr>
          <a:xfrm>
            <a:off x="4365430" y="4184376"/>
            <a:ext cx="1865368" cy="765402"/>
          </a:xfrm>
          <a:prstGeom prst="rect">
            <a:avLst/>
          </a:prstGeom>
          <a:noFill/>
        </p:spPr>
        <p:txBody>
          <a:bodyPr wrap="square" rtlCol="0">
            <a:spAutoFit/>
          </a:bodyPr>
          <a:lstStyle/>
          <a:p>
            <a:pPr>
              <a:lnSpc>
                <a:spcPct val="90000"/>
              </a:lnSpc>
            </a:pPr>
            <a:r>
              <a:rPr lang="en-US" sz="1620" dirty="0"/>
              <a:t>Elevation &gt; 800 m</a:t>
            </a:r>
          </a:p>
          <a:p>
            <a:pPr>
              <a:lnSpc>
                <a:spcPct val="90000"/>
              </a:lnSpc>
            </a:pPr>
            <a:r>
              <a:rPr lang="en-US" sz="1620" dirty="0"/>
              <a:t>1: &gt; 800 m</a:t>
            </a:r>
          </a:p>
          <a:p>
            <a:pPr>
              <a:lnSpc>
                <a:spcPct val="90000"/>
              </a:lnSpc>
            </a:pPr>
            <a:r>
              <a:rPr lang="en-US" sz="1620" dirty="0"/>
              <a:t>0: &lt; 800 m</a:t>
            </a:r>
          </a:p>
        </p:txBody>
      </p:sp>
      <p:sp>
        <p:nvSpPr>
          <p:cNvPr id="21" name="TextBox 20"/>
          <p:cNvSpPr txBox="1"/>
          <p:nvPr>
            <p:custDataLst>
              <p:tags r:id="rId4"/>
            </p:custDataLst>
          </p:nvPr>
        </p:nvSpPr>
        <p:spPr>
          <a:xfrm>
            <a:off x="1874062" y="4092829"/>
            <a:ext cx="1372711" cy="765402"/>
          </a:xfrm>
          <a:prstGeom prst="rect">
            <a:avLst/>
          </a:prstGeom>
          <a:noFill/>
        </p:spPr>
        <p:txBody>
          <a:bodyPr wrap="square" rtlCol="0">
            <a:spAutoFit/>
          </a:bodyPr>
          <a:lstStyle/>
          <a:p>
            <a:pPr>
              <a:lnSpc>
                <a:spcPct val="90000"/>
              </a:lnSpc>
            </a:pPr>
            <a:r>
              <a:rPr lang="en-US" sz="1620" dirty="0"/>
              <a:t>Forest</a:t>
            </a:r>
          </a:p>
          <a:p>
            <a:pPr>
              <a:lnSpc>
                <a:spcPct val="90000"/>
              </a:lnSpc>
            </a:pPr>
            <a:r>
              <a:rPr lang="en-US" sz="1620" dirty="0"/>
              <a:t>1: Forest</a:t>
            </a:r>
          </a:p>
          <a:p>
            <a:pPr>
              <a:lnSpc>
                <a:spcPct val="90000"/>
              </a:lnSpc>
            </a:pPr>
            <a:r>
              <a:rPr lang="en-US" sz="1620" dirty="0"/>
              <a:t>0: Non Forest</a:t>
            </a:r>
          </a:p>
        </p:txBody>
      </p:sp>
      <p:pic>
        <p:nvPicPr>
          <p:cNvPr id="5" name="Picture 4" descr="Image showing results of forest x elevation"/>
          <p:cNvPicPr>
            <a:picLocks noChangeAspect="1"/>
          </p:cNvPicPr>
          <p:nvPr/>
        </p:nvPicPr>
        <p:blipFill>
          <a:blip r:embed="rId9">
            <a:clrChange>
              <a:clrFrom>
                <a:srgbClr val="00C5FF"/>
              </a:clrFrom>
              <a:clrTo>
                <a:srgbClr val="00C5FF">
                  <a:alpha val="0"/>
                </a:srgbClr>
              </a:clrTo>
            </a:clrChange>
          </a:blip>
          <a:stretch>
            <a:fillRect/>
          </a:stretch>
        </p:blipFill>
        <p:spPr>
          <a:xfrm>
            <a:off x="6013315" y="951117"/>
            <a:ext cx="1865369" cy="3877264"/>
          </a:xfrm>
          <a:prstGeom prst="rect">
            <a:avLst/>
          </a:prstGeom>
        </p:spPr>
      </p:pic>
      <p:cxnSp>
        <p:nvCxnSpPr>
          <p:cNvPr id="10" name="Straight Connector 9">
            <a:extLst>
              <a:ext uri="{FF2B5EF4-FFF2-40B4-BE49-F238E27FC236}">
                <a16:creationId xmlns:a16="http://schemas.microsoft.com/office/drawing/2014/main" id="{BA7E34A2-2BE3-413D-BE7B-5F4331EDF668}"/>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Title 1">
            <a:extLst>
              <a:ext uri="{FF2B5EF4-FFF2-40B4-BE49-F238E27FC236}">
                <a16:creationId xmlns:a16="http://schemas.microsoft.com/office/drawing/2014/main" id="{CCB9E9BE-C171-4034-AE94-1FAFB4F5B29D}"/>
              </a:ext>
            </a:extLst>
          </p:cNvPr>
          <p:cNvSpPr txBox="1">
            <a:spLocks/>
          </p:cNvSpPr>
          <p:nvPr/>
        </p:nvSpPr>
        <p:spPr>
          <a:xfrm>
            <a:off x="118533" y="16489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Operations Involving Multiple Raster</a:t>
            </a:r>
            <a:endParaRPr lang="en-US" sz="2600" dirty="0">
              <a:solidFill>
                <a:srgbClr val="7030A0"/>
              </a:solidFill>
            </a:endParaRPr>
          </a:p>
        </p:txBody>
      </p:sp>
      <p:sp>
        <p:nvSpPr>
          <p:cNvPr id="15" name="TextBox 14">
            <a:extLst>
              <a:ext uri="{FF2B5EF4-FFF2-40B4-BE49-F238E27FC236}">
                <a16:creationId xmlns:a16="http://schemas.microsoft.com/office/drawing/2014/main" id="{9E027934-BE8C-4CB4-89AC-A09F70F3EDDA}"/>
              </a:ext>
            </a:extLst>
          </p:cNvPr>
          <p:cNvSpPr txBox="1"/>
          <p:nvPr/>
        </p:nvSpPr>
        <p:spPr>
          <a:xfrm>
            <a:off x="6013315" y="4575626"/>
            <a:ext cx="2216285" cy="646331"/>
          </a:xfrm>
          <a:prstGeom prst="rect">
            <a:avLst/>
          </a:prstGeom>
          <a:noFill/>
        </p:spPr>
        <p:txBody>
          <a:bodyPr wrap="square">
            <a:spAutoFit/>
          </a:bodyPr>
          <a:lstStyle/>
          <a:p>
            <a:r>
              <a:rPr lang="en-US" dirty="0"/>
              <a:t>F</a:t>
            </a:r>
            <a:r>
              <a:rPr lang="en-US" baseline="0" dirty="0"/>
              <a:t>orest at an elevation above 800 meters</a:t>
            </a:r>
            <a:endParaRPr lang="en-US" dirty="0"/>
          </a:p>
        </p:txBody>
      </p:sp>
      <p:sp>
        <p:nvSpPr>
          <p:cNvPr id="2" name="Slide Number Placeholder 1">
            <a:extLst>
              <a:ext uri="{FF2B5EF4-FFF2-40B4-BE49-F238E27FC236}">
                <a16:creationId xmlns:a16="http://schemas.microsoft.com/office/drawing/2014/main" id="{F534EDED-5015-4C5D-BBDA-B18859B05B7B}"/>
              </a:ext>
            </a:extLst>
          </p:cNvPr>
          <p:cNvSpPr>
            <a:spLocks noGrp="1"/>
          </p:cNvSpPr>
          <p:nvPr>
            <p:ph type="sldNum" sz="quarter" idx="12"/>
          </p:nvPr>
        </p:nvSpPr>
        <p:spPr/>
        <p:txBody>
          <a:bodyPr/>
          <a:lstStyle/>
          <a:p>
            <a:fld id="{127DDC20-79C9-9647-820E-6D40A3D210C3}" type="slidenum">
              <a:rPr lang="en-US" smtClean="0"/>
              <a:pPr/>
              <a:t>10</a:t>
            </a:fld>
            <a:endParaRPr lang="en-US" dirty="0"/>
          </a:p>
        </p:txBody>
      </p:sp>
    </p:spTree>
    <p:extLst>
      <p:ext uri="{BB962C8B-B14F-4D97-AF65-F5344CB8AC3E}">
        <p14:creationId xmlns:p14="http://schemas.microsoft.com/office/powerpoint/2010/main" val="3924308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176881" y="1033773"/>
            <a:ext cx="6173808" cy="1140937"/>
          </a:xfrm>
        </p:spPr>
        <p:txBody>
          <a:bodyPr/>
          <a:lstStyle/>
          <a:p>
            <a:pPr marL="0" indent="0">
              <a:buNone/>
            </a:pPr>
            <a:r>
              <a:rPr lang="en-US" dirty="0"/>
              <a:t>“Elevation” &gt; 800</a:t>
            </a:r>
          </a:p>
          <a:p>
            <a:pPr marL="0" indent="0">
              <a:buNone/>
            </a:pPr>
            <a:r>
              <a:rPr lang="en-US" dirty="0"/>
              <a:t>1 = Yes = True</a:t>
            </a:r>
          </a:p>
          <a:p>
            <a:pPr marL="0" indent="0">
              <a:buNone/>
            </a:pPr>
            <a:r>
              <a:rPr lang="en-US" dirty="0"/>
              <a:t>0 = No = False</a:t>
            </a:r>
          </a:p>
        </p:txBody>
      </p:sp>
      <p:sp>
        <p:nvSpPr>
          <p:cNvPr id="4" name="Slide Number Placeholder 3">
            <a:extLst>
              <a:ext uri="{FF2B5EF4-FFF2-40B4-BE49-F238E27FC236}">
                <a16:creationId xmlns:a16="http://schemas.microsoft.com/office/drawing/2014/main" id="{BD3BF31A-7066-481E-8D81-DED5384A0411}"/>
              </a:ext>
            </a:extLst>
          </p:cNvPr>
          <p:cNvSpPr>
            <a:spLocks noGrp="1"/>
          </p:cNvSpPr>
          <p:nvPr>
            <p:ph type="sldNum" sz="quarter" idx="12"/>
          </p:nvPr>
        </p:nvSpPr>
        <p:spPr/>
        <p:txBody>
          <a:bodyPr/>
          <a:lstStyle/>
          <a:p>
            <a:fld id="{127DDC20-79C9-9647-820E-6D40A3D210C3}" type="slidenum">
              <a:rPr lang="en-US" smtClean="0"/>
              <a:pPr/>
              <a:t>11</a:t>
            </a:fld>
            <a:endParaRPr lang="en-US"/>
          </a:p>
        </p:txBody>
      </p:sp>
      <p:pic>
        <p:nvPicPr>
          <p:cNvPr id="2" name="Picture 1" descr="Image showing DEM data"/>
          <p:cNvPicPr>
            <a:picLocks noChangeAspect="1"/>
          </p:cNvPicPr>
          <p:nvPr/>
        </p:nvPicPr>
        <p:blipFill>
          <a:blip r:embed="rId8">
            <a:clrChange>
              <a:clrFrom>
                <a:srgbClr val="00C5FF"/>
              </a:clrFrom>
              <a:clrTo>
                <a:srgbClr val="00C5FF">
                  <a:alpha val="0"/>
                </a:srgbClr>
              </a:clrTo>
            </a:clrChange>
          </a:blip>
          <a:stretch>
            <a:fillRect/>
          </a:stretch>
        </p:blipFill>
        <p:spPr>
          <a:xfrm>
            <a:off x="3526836" y="1084555"/>
            <a:ext cx="2263730" cy="3717399"/>
          </a:xfrm>
          <a:prstGeom prst="rect">
            <a:avLst/>
          </a:prstGeom>
        </p:spPr>
      </p:pic>
      <p:pic>
        <p:nvPicPr>
          <p:cNvPr id="3" name="Picture 2" descr="Image showing DEM after logical operation"/>
          <p:cNvPicPr>
            <a:picLocks noChangeAspect="1"/>
          </p:cNvPicPr>
          <p:nvPr/>
        </p:nvPicPr>
        <p:blipFill>
          <a:blip r:embed="rId9">
            <a:clrChange>
              <a:clrFrom>
                <a:srgbClr val="00C5FF"/>
              </a:clrFrom>
              <a:clrTo>
                <a:srgbClr val="00C5FF">
                  <a:alpha val="0"/>
                </a:srgbClr>
              </a:clrTo>
            </a:clrChange>
          </a:blip>
          <a:stretch>
            <a:fillRect/>
          </a:stretch>
        </p:blipFill>
        <p:spPr>
          <a:xfrm>
            <a:off x="6069840" y="1131195"/>
            <a:ext cx="1982879" cy="3811472"/>
          </a:xfrm>
          <a:prstGeom prst="rect">
            <a:avLst/>
          </a:prstGeom>
        </p:spPr>
      </p:pic>
      <p:sp>
        <p:nvSpPr>
          <p:cNvPr id="6" name="Right Arrow 5"/>
          <p:cNvSpPr/>
          <p:nvPr>
            <p:custDataLst>
              <p:tags r:id="rId2"/>
            </p:custDataLst>
          </p:nvPr>
        </p:nvSpPr>
        <p:spPr>
          <a:xfrm>
            <a:off x="5349562" y="2959564"/>
            <a:ext cx="720278" cy="154345"/>
          </a:xfrm>
          <a:prstGeom prst="rightArrow">
            <a:avLst>
              <a:gd name="adj1" fmla="val 25510"/>
              <a:gd name="adj2" fmla="val 50000"/>
            </a:avLst>
          </a:prstGeom>
          <a:solidFill>
            <a:srgbClr val="C00000"/>
          </a:solidFill>
          <a:ln>
            <a:solidFill>
              <a:srgbClr val="C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aphicFrame>
        <p:nvGraphicFramePr>
          <p:cNvPr id="7" name="Table 6"/>
          <p:cNvGraphicFramePr>
            <a:graphicFrameLocks noGrp="1"/>
          </p:cNvGraphicFramePr>
          <p:nvPr>
            <p:custDataLst>
              <p:tags r:id="rId3"/>
            </p:custDataLst>
            <p:extLst>
              <p:ext uri="{D42A27DB-BD31-4B8C-83A1-F6EECF244321}">
                <p14:modId xmlns:p14="http://schemas.microsoft.com/office/powerpoint/2010/main" val="550931232"/>
              </p:ext>
            </p:extLst>
          </p:nvPr>
        </p:nvGraphicFramePr>
        <p:xfrm>
          <a:off x="449211" y="2260045"/>
          <a:ext cx="1394727" cy="1024932"/>
        </p:xfrm>
        <a:graphic>
          <a:graphicData uri="http://schemas.openxmlformats.org/drawingml/2006/table">
            <a:tbl>
              <a:tblPr>
                <a:tableStyleId>{6E25E649-3F16-4E02-A733-19D2CDBF48F0}</a:tableStyleId>
              </a:tblPr>
              <a:tblGrid>
                <a:gridCol w="464909">
                  <a:extLst>
                    <a:ext uri="{9D8B030D-6E8A-4147-A177-3AD203B41FA5}">
                      <a16:colId xmlns:a16="http://schemas.microsoft.com/office/drawing/2014/main" val="2741754113"/>
                    </a:ext>
                  </a:extLst>
                </a:gridCol>
                <a:gridCol w="464909">
                  <a:extLst>
                    <a:ext uri="{9D8B030D-6E8A-4147-A177-3AD203B41FA5}">
                      <a16:colId xmlns:a16="http://schemas.microsoft.com/office/drawing/2014/main" val="3847173035"/>
                    </a:ext>
                  </a:extLst>
                </a:gridCol>
                <a:gridCol w="464909">
                  <a:extLst>
                    <a:ext uri="{9D8B030D-6E8A-4147-A177-3AD203B41FA5}">
                      <a16:colId xmlns:a16="http://schemas.microsoft.com/office/drawing/2014/main" val="2831503961"/>
                    </a:ext>
                  </a:extLst>
                </a:gridCol>
              </a:tblGrid>
              <a:tr h="341644">
                <a:tc>
                  <a:txBody>
                    <a:bodyPr/>
                    <a:lstStyle/>
                    <a:p>
                      <a:pPr algn="ctr" fontAlgn="b"/>
                      <a:r>
                        <a:rPr lang="en-US" sz="1200" b="0" i="0" u="none" strike="noStrike" dirty="0">
                          <a:solidFill>
                            <a:schemeClr val="tx1"/>
                          </a:solidFill>
                          <a:effectLst/>
                          <a:latin typeface="Calibri" panose="020F0502020204030204" pitchFamily="34" charset="0"/>
                        </a:rPr>
                        <a:t>850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700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820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7826849"/>
                  </a:ext>
                </a:extLst>
              </a:tr>
              <a:tr h="341644">
                <a:tc>
                  <a:txBody>
                    <a:bodyPr/>
                    <a:lstStyle/>
                    <a:p>
                      <a:pPr algn="ctr" fontAlgn="b"/>
                      <a:r>
                        <a:rPr lang="en-US" sz="1200" u="none" strike="noStrike" dirty="0">
                          <a:solidFill>
                            <a:schemeClr val="tx1"/>
                          </a:solidFill>
                          <a:effectLst/>
                        </a:rPr>
                        <a:t> 600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mn-lt"/>
                        </a:rPr>
                        <a:t>820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900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6786408"/>
                  </a:ext>
                </a:extLst>
              </a:tr>
              <a:tr h="341644">
                <a:tc>
                  <a:txBody>
                    <a:bodyPr/>
                    <a:lstStyle/>
                    <a:p>
                      <a:pPr algn="ctr" fontAlgn="b"/>
                      <a:r>
                        <a:rPr lang="en-US" sz="1200" u="none" strike="noStrike" dirty="0">
                          <a:solidFill>
                            <a:schemeClr val="tx1"/>
                          </a:solidFill>
                          <a:effectLst/>
                        </a:rPr>
                        <a:t> </a:t>
                      </a:r>
                      <a:r>
                        <a:rPr lang="en-US" sz="900" u="none" strike="noStrike" dirty="0">
                          <a:solidFill>
                            <a:schemeClr val="tx1"/>
                          </a:solidFill>
                          <a:effectLst/>
                        </a:rPr>
                        <a:t>NoData</a:t>
                      </a:r>
                      <a:endParaRPr lang="en-US" sz="9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650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675</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5086253"/>
                  </a:ext>
                </a:extLst>
              </a:tr>
            </a:tbl>
          </a:graphicData>
        </a:graphic>
      </p:graphicFrame>
      <p:sp>
        <p:nvSpPr>
          <p:cNvPr id="8" name="Rectangle 7"/>
          <p:cNvSpPr/>
          <p:nvPr>
            <p:custDataLst>
              <p:tags r:id="rId4"/>
            </p:custDataLst>
          </p:nvPr>
        </p:nvSpPr>
        <p:spPr>
          <a:xfrm>
            <a:off x="2057937" y="2260045"/>
            <a:ext cx="4113728" cy="653256"/>
          </a:xfrm>
          <a:prstGeom prst="rect">
            <a:avLst/>
          </a:prstGeom>
        </p:spPr>
        <p:txBody>
          <a:bodyPr>
            <a:spAutoFit/>
          </a:bodyPr>
          <a:lstStyle/>
          <a:p>
            <a:r>
              <a:rPr lang="en-US" sz="1215" dirty="0"/>
              <a:t>		</a:t>
            </a:r>
          </a:p>
          <a:p>
            <a:r>
              <a:rPr lang="en-US" sz="1215" dirty="0"/>
              <a:t>		</a:t>
            </a:r>
          </a:p>
          <a:p>
            <a:r>
              <a:rPr lang="en-US" sz="1215" dirty="0"/>
              <a:t>		</a:t>
            </a:r>
          </a:p>
        </p:txBody>
      </p:sp>
      <p:graphicFrame>
        <p:nvGraphicFramePr>
          <p:cNvPr id="9" name="Table 8"/>
          <p:cNvGraphicFramePr>
            <a:graphicFrameLocks noGrp="1"/>
          </p:cNvGraphicFramePr>
          <p:nvPr>
            <p:custDataLst>
              <p:tags r:id="rId5"/>
            </p:custDataLst>
            <p:extLst>
              <p:ext uri="{D42A27DB-BD31-4B8C-83A1-F6EECF244321}">
                <p14:modId xmlns:p14="http://schemas.microsoft.com/office/powerpoint/2010/main" val="46487082"/>
              </p:ext>
            </p:extLst>
          </p:nvPr>
        </p:nvGraphicFramePr>
        <p:xfrm>
          <a:off x="1873103" y="3494019"/>
          <a:ext cx="1394727" cy="1024932"/>
        </p:xfrm>
        <a:graphic>
          <a:graphicData uri="http://schemas.openxmlformats.org/drawingml/2006/table">
            <a:tbl>
              <a:tblPr>
                <a:tableStyleId>{6E25E649-3F16-4E02-A733-19D2CDBF48F0}</a:tableStyleId>
              </a:tblPr>
              <a:tblGrid>
                <a:gridCol w="464909">
                  <a:extLst>
                    <a:ext uri="{9D8B030D-6E8A-4147-A177-3AD203B41FA5}">
                      <a16:colId xmlns:a16="http://schemas.microsoft.com/office/drawing/2014/main" val="2741754113"/>
                    </a:ext>
                  </a:extLst>
                </a:gridCol>
                <a:gridCol w="464909">
                  <a:extLst>
                    <a:ext uri="{9D8B030D-6E8A-4147-A177-3AD203B41FA5}">
                      <a16:colId xmlns:a16="http://schemas.microsoft.com/office/drawing/2014/main" val="3847173035"/>
                    </a:ext>
                  </a:extLst>
                </a:gridCol>
                <a:gridCol w="464909">
                  <a:extLst>
                    <a:ext uri="{9D8B030D-6E8A-4147-A177-3AD203B41FA5}">
                      <a16:colId xmlns:a16="http://schemas.microsoft.com/office/drawing/2014/main" val="2831503961"/>
                    </a:ext>
                  </a:extLst>
                </a:gridCol>
              </a:tblGrid>
              <a:tr h="341644">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1</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7826849"/>
                  </a:ext>
                </a:extLst>
              </a:tr>
              <a:tr h="341644">
                <a:tc>
                  <a:txBody>
                    <a:bodyPr/>
                    <a:lstStyle/>
                    <a:p>
                      <a:pPr algn="ctr" fontAlgn="b"/>
                      <a:r>
                        <a:rPr lang="en-US" sz="1200" b="0" i="0" u="none" strike="noStrike" dirty="0">
                          <a:solidFill>
                            <a:schemeClr val="tx1"/>
                          </a:solidFill>
                          <a:effectLst/>
                          <a:latin typeface="+mn-lt"/>
                        </a:rPr>
                        <a:t>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mn-lt"/>
                        </a:rPr>
                        <a:t>1</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1</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6786408"/>
                  </a:ext>
                </a:extLst>
              </a:tr>
              <a:tr h="341644">
                <a:tc>
                  <a:txBody>
                    <a:bodyPr/>
                    <a:lstStyle/>
                    <a:p>
                      <a:pPr algn="ctr" fontAlgn="b"/>
                      <a:r>
                        <a:rPr lang="en-US" sz="1200" u="none" strike="noStrike" dirty="0">
                          <a:solidFill>
                            <a:schemeClr val="tx1"/>
                          </a:solidFill>
                          <a:effectLst/>
                        </a:rPr>
                        <a:t> </a:t>
                      </a:r>
                      <a:r>
                        <a:rPr lang="en-US" sz="900" u="none" strike="noStrike" dirty="0">
                          <a:solidFill>
                            <a:schemeClr val="tx1"/>
                          </a:solidFill>
                          <a:effectLst/>
                        </a:rPr>
                        <a:t>NoData</a:t>
                      </a:r>
                      <a:endParaRPr lang="en-US" sz="9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5086253"/>
                  </a:ext>
                </a:extLst>
              </a:tr>
            </a:tbl>
          </a:graphicData>
        </a:graphic>
      </p:graphicFrame>
      <p:cxnSp>
        <p:nvCxnSpPr>
          <p:cNvPr id="10" name="Straight Connector 9">
            <a:extLst>
              <a:ext uri="{FF2B5EF4-FFF2-40B4-BE49-F238E27FC236}">
                <a16:creationId xmlns:a16="http://schemas.microsoft.com/office/drawing/2014/main" id="{1C162254-31A1-4007-9D0D-277E47CA7A5D}"/>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Title 1">
            <a:extLst>
              <a:ext uri="{FF2B5EF4-FFF2-40B4-BE49-F238E27FC236}">
                <a16:creationId xmlns:a16="http://schemas.microsoft.com/office/drawing/2014/main" id="{9DB891FC-3B4A-49D1-991E-9F9762AE90DA}"/>
              </a:ext>
            </a:extLst>
          </p:cNvPr>
          <p:cNvSpPr txBox="1">
            <a:spLocks/>
          </p:cNvSpPr>
          <p:nvPr/>
        </p:nvSpPr>
        <p:spPr>
          <a:xfrm>
            <a:off x="199101" y="12483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Logical operations</a:t>
            </a:r>
            <a:endParaRPr lang="en-US" sz="2600" dirty="0">
              <a:solidFill>
                <a:srgbClr val="7030A0"/>
              </a:solidFill>
            </a:endParaRPr>
          </a:p>
        </p:txBody>
      </p:sp>
    </p:spTree>
    <p:extLst>
      <p:ext uri="{BB962C8B-B14F-4D97-AF65-F5344CB8AC3E}">
        <p14:creationId xmlns:p14="http://schemas.microsoft.com/office/powerpoint/2010/main" val="2371851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BA7E34A2-2BE3-413D-BE7B-5F4331EDF668}"/>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Title 1">
            <a:extLst>
              <a:ext uri="{FF2B5EF4-FFF2-40B4-BE49-F238E27FC236}">
                <a16:creationId xmlns:a16="http://schemas.microsoft.com/office/drawing/2014/main" id="{CCB9E9BE-C171-4034-AE94-1FAFB4F5B29D}"/>
              </a:ext>
            </a:extLst>
          </p:cNvPr>
          <p:cNvSpPr txBox="1">
            <a:spLocks/>
          </p:cNvSpPr>
          <p:nvPr/>
        </p:nvSpPr>
        <p:spPr>
          <a:xfrm>
            <a:off x="152400" y="18306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Logical operations</a:t>
            </a:r>
            <a:endParaRPr lang="en-US" sz="2600" dirty="0">
              <a:solidFill>
                <a:srgbClr val="7030A0"/>
              </a:solidFill>
            </a:endParaRPr>
          </a:p>
        </p:txBody>
      </p:sp>
      <p:pic>
        <p:nvPicPr>
          <p:cNvPr id="4" name="Picture 3" descr="Calendar&#10;&#10;Description automatically generated">
            <a:extLst>
              <a:ext uri="{FF2B5EF4-FFF2-40B4-BE49-F238E27FC236}">
                <a16:creationId xmlns:a16="http://schemas.microsoft.com/office/drawing/2014/main" id="{801DB74A-4BFE-401C-9E7C-1C6865B2C611}"/>
              </a:ext>
            </a:extLst>
          </p:cNvPr>
          <p:cNvPicPr>
            <a:picLocks noChangeAspect="1"/>
          </p:cNvPicPr>
          <p:nvPr/>
        </p:nvPicPr>
        <p:blipFill>
          <a:blip r:embed="rId3"/>
          <a:stretch>
            <a:fillRect/>
          </a:stretch>
        </p:blipFill>
        <p:spPr>
          <a:xfrm>
            <a:off x="1556950" y="1040316"/>
            <a:ext cx="4314653" cy="4060102"/>
          </a:xfrm>
          <a:prstGeom prst="rect">
            <a:avLst/>
          </a:prstGeom>
        </p:spPr>
      </p:pic>
      <p:sp>
        <p:nvSpPr>
          <p:cNvPr id="7" name="TextBox 6">
            <a:extLst>
              <a:ext uri="{FF2B5EF4-FFF2-40B4-BE49-F238E27FC236}">
                <a16:creationId xmlns:a16="http://schemas.microsoft.com/office/drawing/2014/main" id="{C0823FFC-66EE-43DB-9BA0-8B2FDE594E13}"/>
              </a:ext>
            </a:extLst>
          </p:cNvPr>
          <p:cNvSpPr txBox="1"/>
          <p:nvPr/>
        </p:nvSpPr>
        <p:spPr>
          <a:xfrm>
            <a:off x="5735678" y="4695568"/>
            <a:ext cx="1097608" cy="246221"/>
          </a:xfrm>
          <a:prstGeom prst="rect">
            <a:avLst/>
          </a:prstGeom>
          <a:noFill/>
        </p:spPr>
        <p:txBody>
          <a:bodyPr wrap="square" rtlCol="0">
            <a:spAutoFit/>
          </a:bodyPr>
          <a:lstStyle/>
          <a:p>
            <a:r>
              <a:rPr lang="en-US" sz="1000" dirty="0" err="1">
                <a:solidFill>
                  <a:srgbClr val="7030A0"/>
                </a:solidFill>
              </a:rPr>
              <a:t>Bolstad</a:t>
            </a:r>
            <a:r>
              <a:rPr lang="en-US" sz="1000" dirty="0">
                <a:solidFill>
                  <a:srgbClr val="7030A0"/>
                </a:solidFill>
              </a:rPr>
              <a:t>, 2019</a:t>
            </a:r>
          </a:p>
        </p:txBody>
      </p:sp>
      <p:sp>
        <p:nvSpPr>
          <p:cNvPr id="2" name="Slide Number Placeholder 1">
            <a:extLst>
              <a:ext uri="{FF2B5EF4-FFF2-40B4-BE49-F238E27FC236}">
                <a16:creationId xmlns:a16="http://schemas.microsoft.com/office/drawing/2014/main" id="{0C8A3177-13AD-4005-B402-BA8EA4A73F73}"/>
              </a:ext>
            </a:extLst>
          </p:cNvPr>
          <p:cNvSpPr>
            <a:spLocks noGrp="1"/>
          </p:cNvSpPr>
          <p:nvPr>
            <p:ph type="sldNum" sz="quarter" idx="12"/>
          </p:nvPr>
        </p:nvSpPr>
        <p:spPr/>
        <p:txBody>
          <a:bodyPr/>
          <a:lstStyle/>
          <a:p>
            <a:fld id="{127DDC20-79C9-9647-820E-6D40A3D210C3}" type="slidenum">
              <a:rPr lang="en-US" smtClean="0"/>
              <a:pPr/>
              <a:t>12</a:t>
            </a:fld>
            <a:endParaRPr lang="en-US"/>
          </a:p>
        </p:txBody>
      </p:sp>
    </p:spTree>
    <p:extLst>
      <p:ext uri="{BB962C8B-B14F-4D97-AF65-F5344CB8AC3E}">
        <p14:creationId xmlns:p14="http://schemas.microsoft.com/office/powerpoint/2010/main" val="2020300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1"/>
            </p:custDataLst>
          </p:nvPr>
        </p:nvSpPr>
        <p:spPr>
          <a:xfrm>
            <a:off x="679216" y="1104221"/>
            <a:ext cx="7158081" cy="3735846"/>
          </a:xfrm>
        </p:spPr>
        <p:txBody>
          <a:bodyPr numCol="2">
            <a:noAutofit/>
          </a:bodyPr>
          <a:lstStyle/>
          <a:p>
            <a:pPr marL="0" indent="0">
              <a:buNone/>
            </a:pPr>
            <a:r>
              <a:rPr lang="en-US" sz="2400" b="1" dirty="0">
                <a:solidFill>
                  <a:srgbClr val="E3874F"/>
                </a:solidFill>
              </a:rPr>
              <a:t>+:</a:t>
            </a:r>
            <a:r>
              <a:rPr lang="en-US" sz="2400" dirty="0"/>
              <a:t> Add</a:t>
            </a:r>
          </a:p>
          <a:p>
            <a:pPr marL="0" indent="0">
              <a:buNone/>
            </a:pPr>
            <a:r>
              <a:rPr lang="en-US" sz="2400" b="1" dirty="0">
                <a:solidFill>
                  <a:srgbClr val="E3874F"/>
                </a:solidFill>
              </a:rPr>
              <a:t>-: </a:t>
            </a:r>
            <a:r>
              <a:rPr lang="en-US" sz="2400" dirty="0"/>
              <a:t>Subtract</a:t>
            </a:r>
          </a:p>
          <a:p>
            <a:pPr marL="0" indent="0">
              <a:buNone/>
            </a:pPr>
            <a:r>
              <a:rPr lang="en-US" sz="2400" b="1" dirty="0">
                <a:solidFill>
                  <a:srgbClr val="E3874F"/>
                </a:solidFill>
              </a:rPr>
              <a:t>*:</a:t>
            </a:r>
            <a:r>
              <a:rPr lang="en-US" sz="2400" dirty="0"/>
              <a:t> Multiply</a:t>
            </a:r>
          </a:p>
          <a:p>
            <a:pPr marL="0" indent="0">
              <a:buNone/>
            </a:pPr>
            <a:r>
              <a:rPr lang="en-US" sz="2400" b="1" dirty="0">
                <a:solidFill>
                  <a:srgbClr val="E3874F"/>
                </a:solidFill>
              </a:rPr>
              <a:t>/:</a:t>
            </a:r>
            <a:r>
              <a:rPr lang="en-US" sz="2400" dirty="0"/>
              <a:t> Divide</a:t>
            </a:r>
          </a:p>
          <a:p>
            <a:pPr marL="0" indent="0">
              <a:buNone/>
            </a:pPr>
            <a:r>
              <a:rPr lang="en-US" sz="2400" b="1" dirty="0">
                <a:solidFill>
                  <a:srgbClr val="E3874F"/>
                </a:solidFill>
              </a:rPr>
              <a:t>==: </a:t>
            </a:r>
            <a:r>
              <a:rPr lang="en-US" sz="2400" dirty="0"/>
              <a:t>Equal to</a:t>
            </a:r>
          </a:p>
          <a:p>
            <a:pPr marL="0" indent="0">
              <a:buNone/>
            </a:pPr>
            <a:r>
              <a:rPr lang="en-US" sz="2400" b="1" dirty="0">
                <a:solidFill>
                  <a:srgbClr val="E3874F"/>
                </a:solidFill>
              </a:rPr>
              <a:t>!=:</a:t>
            </a:r>
            <a:r>
              <a:rPr lang="en-US" sz="2400" dirty="0"/>
              <a:t> Not equal to</a:t>
            </a:r>
          </a:p>
          <a:p>
            <a:pPr marL="0" indent="0">
              <a:buNone/>
            </a:pPr>
            <a:r>
              <a:rPr lang="en-US" sz="2400" b="1" dirty="0">
                <a:solidFill>
                  <a:srgbClr val="E3874F"/>
                </a:solidFill>
              </a:rPr>
              <a:t>&gt;:</a:t>
            </a:r>
            <a:r>
              <a:rPr lang="en-US" sz="2400" dirty="0"/>
              <a:t> Greater than</a:t>
            </a:r>
          </a:p>
          <a:p>
            <a:pPr marL="0" indent="0">
              <a:buNone/>
            </a:pPr>
            <a:r>
              <a:rPr lang="en-US" sz="2400" b="1" dirty="0">
                <a:solidFill>
                  <a:srgbClr val="E3874F"/>
                </a:solidFill>
              </a:rPr>
              <a:t>&gt;=:</a:t>
            </a:r>
            <a:r>
              <a:rPr lang="en-US" sz="2400" dirty="0"/>
              <a:t> Greater than or equal to</a:t>
            </a:r>
          </a:p>
          <a:p>
            <a:pPr marL="0" indent="0">
              <a:buNone/>
            </a:pPr>
            <a:r>
              <a:rPr lang="en-US" sz="2400" b="1" dirty="0">
                <a:solidFill>
                  <a:srgbClr val="E3874F"/>
                </a:solidFill>
              </a:rPr>
              <a:t>&lt;:</a:t>
            </a:r>
            <a:r>
              <a:rPr lang="en-US" sz="2400" dirty="0"/>
              <a:t> Less than</a:t>
            </a:r>
          </a:p>
          <a:p>
            <a:pPr marL="0" indent="0">
              <a:buNone/>
            </a:pPr>
            <a:r>
              <a:rPr lang="en-US" sz="2400" b="1" dirty="0">
                <a:solidFill>
                  <a:srgbClr val="E3874F"/>
                </a:solidFill>
              </a:rPr>
              <a:t>&lt;=: </a:t>
            </a:r>
            <a:r>
              <a:rPr lang="en-US" sz="2400" dirty="0"/>
              <a:t>Less than or equal to</a:t>
            </a:r>
          </a:p>
          <a:p>
            <a:pPr marL="0" indent="0">
              <a:buNone/>
            </a:pPr>
            <a:r>
              <a:rPr lang="en-US" sz="2400" b="1" dirty="0">
                <a:solidFill>
                  <a:srgbClr val="E3874F"/>
                </a:solidFill>
              </a:rPr>
              <a:t>&amp;:</a:t>
            </a:r>
            <a:r>
              <a:rPr lang="en-US" sz="2400" dirty="0"/>
              <a:t> Boolean And</a:t>
            </a:r>
          </a:p>
          <a:p>
            <a:pPr marL="0" indent="0">
              <a:buNone/>
            </a:pPr>
            <a:r>
              <a:rPr lang="en-US" sz="2400" b="1" dirty="0">
                <a:solidFill>
                  <a:srgbClr val="E3874F"/>
                </a:solidFill>
              </a:rPr>
              <a:t>|:</a:t>
            </a:r>
            <a:r>
              <a:rPr lang="en-US" sz="2400" dirty="0"/>
              <a:t> Boolean Or</a:t>
            </a:r>
          </a:p>
          <a:p>
            <a:pPr marL="0" indent="0">
              <a:buNone/>
            </a:pPr>
            <a:r>
              <a:rPr lang="en-US" sz="2400" b="1" dirty="0">
                <a:solidFill>
                  <a:srgbClr val="E3874F"/>
                </a:solidFill>
              </a:rPr>
              <a:t>^:</a:t>
            </a:r>
            <a:r>
              <a:rPr lang="en-US" sz="2400" dirty="0"/>
              <a:t> Boolean </a:t>
            </a:r>
            <a:r>
              <a:rPr lang="en-US" sz="2400" dirty="0" err="1"/>
              <a:t>XOr</a:t>
            </a:r>
            <a:endParaRPr lang="en-US" sz="2400" dirty="0"/>
          </a:p>
          <a:p>
            <a:pPr marL="0" indent="0">
              <a:buNone/>
            </a:pPr>
            <a:r>
              <a:rPr lang="en-US" sz="2400" b="1" dirty="0">
                <a:solidFill>
                  <a:srgbClr val="E3874F"/>
                </a:solidFill>
              </a:rPr>
              <a:t>~:</a:t>
            </a:r>
            <a:r>
              <a:rPr lang="en-US" sz="2400" dirty="0"/>
              <a:t> Boolean Not</a:t>
            </a:r>
          </a:p>
          <a:p>
            <a:endParaRPr lang="en-US" sz="2400" dirty="0"/>
          </a:p>
        </p:txBody>
      </p:sp>
      <p:sp>
        <p:nvSpPr>
          <p:cNvPr id="2" name="Slide Number Placeholder 1">
            <a:extLst>
              <a:ext uri="{FF2B5EF4-FFF2-40B4-BE49-F238E27FC236}">
                <a16:creationId xmlns:a16="http://schemas.microsoft.com/office/drawing/2014/main" id="{200B4756-8019-4F63-9F70-C9FA640BEEB7}"/>
              </a:ext>
            </a:extLst>
          </p:cNvPr>
          <p:cNvSpPr>
            <a:spLocks noGrp="1"/>
          </p:cNvSpPr>
          <p:nvPr>
            <p:ph type="sldNum" sz="quarter" idx="12"/>
          </p:nvPr>
        </p:nvSpPr>
        <p:spPr/>
        <p:txBody>
          <a:bodyPr/>
          <a:lstStyle/>
          <a:p>
            <a:fld id="{127DDC20-79C9-9647-820E-6D40A3D210C3}" type="slidenum">
              <a:rPr lang="en-US" smtClean="0"/>
              <a:pPr/>
              <a:t>13</a:t>
            </a:fld>
            <a:endParaRPr lang="en-US"/>
          </a:p>
        </p:txBody>
      </p:sp>
      <p:cxnSp>
        <p:nvCxnSpPr>
          <p:cNvPr id="4" name="Straight Connector 3">
            <a:extLst>
              <a:ext uri="{FF2B5EF4-FFF2-40B4-BE49-F238E27FC236}">
                <a16:creationId xmlns:a16="http://schemas.microsoft.com/office/drawing/2014/main" id="{475593AF-EE6D-400B-A5EB-A49779F72582}"/>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16837E5-C9FD-464E-A7EF-0A647232BB5F}"/>
              </a:ext>
            </a:extLst>
          </p:cNvPr>
          <p:cNvSpPr txBox="1">
            <a:spLocks/>
          </p:cNvSpPr>
          <p:nvPr/>
        </p:nvSpPr>
        <p:spPr>
          <a:xfrm>
            <a:off x="189218" y="17730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Some useful functions</a:t>
            </a:r>
            <a:endParaRPr lang="en-US" sz="2600" dirty="0">
              <a:solidFill>
                <a:srgbClr val="7030A0"/>
              </a:solidFill>
            </a:endParaRPr>
          </a:p>
        </p:txBody>
      </p:sp>
    </p:spTree>
    <p:extLst>
      <p:ext uri="{BB962C8B-B14F-4D97-AF65-F5344CB8AC3E}">
        <p14:creationId xmlns:p14="http://schemas.microsoft.com/office/powerpoint/2010/main" val="4006496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1"/>
            </p:custDataLst>
          </p:nvPr>
        </p:nvSpPr>
        <p:spPr>
          <a:xfrm>
            <a:off x="618979" y="1105779"/>
            <a:ext cx="7244862" cy="3310571"/>
          </a:xfrm>
        </p:spPr>
        <p:txBody>
          <a:bodyPr numCol="2">
            <a:normAutofit/>
          </a:bodyPr>
          <a:lstStyle/>
          <a:p>
            <a:pPr marL="0" indent="0">
              <a:buNone/>
            </a:pPr>
            <a:r>
              <a:rPr lang="en-US" sz="2000" b="1" dirty="0">
                <a:solidFill>
                  <a:srgbClr val="E3874F"/>
                </a:solidFill>
              </a:rPr>
              <a:t>Abs: </a:t>
            </a:r>
            <a:r>
              <a:rPr lang="en-US" sz="2000" dirty="0"/>
              <a:t>Absolute value</a:t>
            </a:r>
          </a:p>
          <a:p>
            <a:pPr marL="0" indent="0">
              <a:buNone/>
            </a:pPr>
            <a:r>
              <a:rPr lang="en-US" sz="2000" b="1" dirty="0" err="1">
                <a:solidFill>
                  <a:srgbClr val="E3874F"/>
                </a:solidFill>
              </a:rPr>
              <a:t>Exp</a:t>
            </a:r>
            <a:r>
              <a:rPr lang="en-US" sz="2000" b="1" dirty="0">
                <a:solidFill>
                  <a:srgbClr val="E3874F"/>
                </a:solidFill>
              </a:rPr>
              <a:t>: </a:t>
            </a:r>
            <a:r>
              <a:rPr lang="en-US" sz="2000" dirty="0"/>
              <a:t>Base e exponential</a:t>
            </a:r>
          </a:p>
          <a:p>
            <a:pPr marL="0" indent="0">
              <a:buNone/>
            </a:pPr>
            <a:r>
              <a:rPr lang="en-US" sz="2000" b="1" dirty="0">
                <a:solidFill>
                  <a:srgbClr val="E3874F"/>
                </a:solidFill>
              </a:rPr>
              <a:t>Exp10: </a:t>
            </a:r>
            <a:r>
              <a:rPr lang="en-US" sz="2000" dirty="0"/>
              <a:t>Base 10 exponential</a:t>
            </a:r>
          </a:p>
          <a:p>
            <a:pPr marL="0" indent="0">
              <a:buNone/>
            </a:pPr>
            <a:r>
              <a:rPr lang="en-US" sz="2000" b="1" dirty="0">
                <a:solidFill>
                  <a:srgbClr val="E3874F"/>
                </a:solidFill>
              </a:rPr>
              <a:t>Exp2: </a:t>
            </a:r>
            <a:r>
              <a:rPr lang="en-US" sz="2000" dirty="0"/>
              <a:t>Base 2 exponential</a:t>
            </a:r>
          </a:p>
          <a:p>
            <a:pPr marL="0" indent="0">
              <a:buNone/>
            </a:pPr>
            <a:r>
              <a:rPr lang="en-US" sz="2000" b="1" dirty="0">
                <a:solidFill>
                  <a:srgbClr val="E3874F"/>
                </a:solidFill>
              </a:rPr>
              <a:t>Float: </a:t>
            </a:r>
            <a:r>
              <a:rPr lang="en-US" sz="2000" dirty="0"/>
              <a:t>Convert from integer to float</a:t>
            </a:r>
          </a:p>
          <a:p>
            <a:pPr marL="0" indent="0">
              <a:buNone/>
            </a:pPr>
            <a:r>
              <a:rPr lang="en-US" sz="2000" b="1" dirty="0" err="1">
                <a:solidFill>
                  <a:srgbClr val="E3874F"/>
                </a:solidFill>
              </a:rPr>
              <a:t>Int</a:t>
            </a:r>
            <a:r>
              <a:rPr lang="en-US" sz="2000" b="1" dirty="0">
                <a:solidFill>
                  <a:srgbClr val="E3874F"/>
                </a:solidFill>
              </a:rPr>
              <a:t>: </a:t>
            </a:r>
            <a:r>
              <a:rPr lang="en-US" sz="2000" dirty="0"/>
              <a:t>Convert from float to integer</a:t>
            </a:r>
          </a:p>
          <a:p>
            <a:pPr marL="0" indent="0">
              <a:buNone/>
            </a:pPr>
            <a:r>
              <a:rPr lang="en-US" sz="2000" b="1" dirty="0">
                <a:solidFill>
                  <a:srgbClr val="E3874F"/>
                </a:solidFill>
              </a:rPr>
              <a:t>Ln: </a:t>
            </a:r>
            <a:r>
              <a:rPr lang="en-US" sz="2000" dirty="0"/>
              <a:t>Natural log</a:t>
            </a:r>
          </a:p>
          <a:p>
            <a:pPr marL="0" indent="0">
              <a:buNone/>
            </a:pPr>
            <a:r>
              <a:rPr lang="en-US" sz="2000" b="1" dirty="0">
                <a:solidFill>
                  <a:srgbClr val="E3874F"/>
                </a:solidFill>
              </a:rPr>
              <a:t>Log10: </a:t>
            </a:r>
            <a:r>
              <a:rPr lang="en-US" sz="2000" dirty="0"/>
              <a:t>Base 10 log</a:t>
            </a:r>
          </a:p>
          <a:p>
            <a:pPr marL="0" indent="0">
              <a:buNone/>
            </a:pPr>
            <a:r>
              <a:rPr lang="en-US" sz="2000" b="1" dirty="0">
                <a:solidFill>
                  <a:srgbClr val="E3874F"/>
                </a:solidFill>
              </a:rPr>
              <a:t>Log: </a:t>
            </a:r>
            <a:r>
              <a:rPr lang="en-US" sz="2000" dirty="0"/>
              <a:t>Bas 2 log</a:t>
            </a:r>
          </a:p>
          <a:p>
            <a:pPr marL="0" indent="0">
              <a:buNone/>
            </a:pPr>
            <a:r>
              <a:rPr lang="en-US" sz="2000" b="1" dirty="0">
                <a:solidFill>
                  <a:srgbClr val="E3874F"/>
                </a:solidFill>
              </a:rPr>
              <a:t>Square: </a:t>
            </a:r>
            <a:r>
              <a:rPr lang="en-US" sz="2000" dirty="0"/>
              <a:t>Calculates square</a:t>
            </a:r>
          </a:p>
          <a:p>
            <a:pPr marL="0" indent="0">
              <a:buNone/>
            </a:pPr>
            <a:r>
              <a:rPr lang="en-US" sz="2000" b="1" dirty="0" err="1">
                <a:solidFill>
                  <a:srgbClr val="E3874F"/>
                </a:solidFill>
              </a:rPr>
              <a:t>SquareRoot</a:t>
            </a:r>
            <a:r>
              <a:rPr lang="en-US" sz="2000" b="1" dirty="0">
                <a:solidFill>
                  <a:srgbClr val="E3874F"/>
                </a:solidFill>
              </a:rPr>
              <a:t>: </a:t>
            </a:r>
            <a:r>
              <a:rPr lang="en-US" sz="2000" dirty="0"/>
              <a:t>Calculates square root</a:t>
            </a:r>
          </a:p>
          <a:p>
            <a:pPr marL="0" indent="0">
              <a:buNone/>
            </a:pPr>
            <a:r>
              <a:rPr lang="en-US" sz="2000" b="1" dirty="0" err="1">
                <a:solidFill>
                  <a:srgbClr val="E3874F"/>
                </a:solidFill>
              </a:rPr>
              <a:t>IsNull</a:t>
            </a:r>
            <a:r>
              <a:rPr lang="en-US" sz="2000" b="1" dirty="0">
                <a:solidFill>
                  <a:srgbClr val="E3874F"/>
                </a:solidFill>
              </a:rPr>
              <a:t>: </a:t>
            </a:r>
            <a:r>
              <a:rPr lang="en-US" sz="2000" dirty="0"/>
              <a:t>Identifies NoData cells</a:t>
            </a:r>
          </a:p>
          <a:p>
            <a:pPr marL="0" indent="0">
              <a:buNone/>
            </a:pPr>
            <a:endParaRPr lang="en-US" sz="2000" dirty="0"/>
          </a:p>
        </p:txBody>
      </p:sp>
      <p:sp>
        <p:nvSpPr>
          <p:cNvPr id="2" name="Slide Number Placeholder 1">
            <a:extLst>
              <a:ext uri="{FF2B5EF4-FFF2-40B4-BE49-F238E27FC236}">
                <a16:creationId xmlns:a16="http://schemas.microsoft.com/office/drawing/2014/main" id="{AEC9F4A8-673A-47BE-B564-2EF5F1955A43}"/>
              </a:ext>
            </a:extLst>
          </p:cNvPr>
          <p:cNvSpPr>
            <a:spLocks noGrp="1"/>
          </p:cNvSpPr>
          <p:nvPr>
            <p:ph type="sldNum" sz="quarter" idx="12"/>
          </p:nvPr>
        </p:nvSpPr>
        <p:spPr/>
        <p:txBody>
          <a:bodyPr/>
          <a:lstStyle/>
          <a:p>
            <a:fld id="{127DDC20-79C9-9647-820E-6D40A3D210C3}" type="slidenum">
              <a:rPr lang="en-US" smtClean="0"/>
              <a:pPr/>
              <a:t>14</a:t>
            </a:fld>
            <a:endParaRPr lang="en-US"/>
          </a:p>
        </p:txBody>
      </p:sp>
      <p:cxnSp>
        <p:nvCxnSpPr>
          <p:cNvPr id="5" name="Straight Connector 4">
            <a:extLst>
              <a:ext uri="{FF2B5EF4-FFF2-40B4-BE49-F238E27FC236}">
                <a16:creationId xmlns:a16="http://schemas.microsoft.com/office/drawing/2014/main" id="{8F7DD521-2471-4036-8C51-0CAD3D621FBA}"/>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A5D8F606-C548-406E-85AE-FBA813F68AA9}"/>
              </a:ext>
            </a:extLst>
          </p:cNvPr>
          <p:cNvSpPr txBox="1">
            <a:spLocks/>
          </p:cNvSpPr>
          <p:nvPr/>
        </p:nvSpPr>
        <p:spPr>
          <a:xfrm>
            <a:off x="202810" y="18569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Some useful functions</a:t>
            </a:r>
            <a:endParaRPr lang="en-US" sz="2600" dirty="0">
              <a:solidFill>
                <a:srgbClr val="7030A0"/>
              </a:solidFill>
            </a:endParaRPr>
          </a:p>
        </p:txBody>
      </p:sp>
    </p:spTree>
    <p:extLst>
      <p:ext uri="{BB962C8B-B14F-4D97-AF65-F5344CB8AC3E}">
        <p14:creationId xmlns:p14="http://schemas.microsoft.com/office/powerpoint/2010/main" val="4020146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00530-F572-3360-6C4B-3D80300FF21A}"/>
              </a:ext>
            </a:extLst>
          </p:cNvPr>
          <p:cNvSpPr>
            <a:spLocks noGrp="1"/>
          </p:cNvSpPr>
          <p:nvPr>
            <p:ph type="title"/>
          </p:nvPr>
        </p:nvSpPr>
        <p:spPr>
          <a:xfrm>
            <a:off x="392305" y="526617"/>
            <a:ext cx="7444991" cy="446506"/>
          </a:xfrm>
        </p:spPr>
        <p:txBody>
          <a:bodyPr/>
          <a:lstStyle/>
          <a:p>
            <a:r>
              <a:rPr lang="en-US" altLang="zh-CN" dirty="0"/>
              <a:t>The logical equal comparison between two layers </a:t>
            </a:r>
            <a:endParaRPr lang="zh-CN" altLang="en-US" dirty="0"/>
          </a:p>
        </p:txBody>
      </p:sp>
      <p:pic>
        <p:nvPicPr>
          <p:cNvPr id="6" name="Content Placeholder 5">
            <a:extLst>
              <a:ext uri="{FF2B5EF4-FFF2-40B4-BE49-F238E27FC236}">
                <a16:creationId xmlns:a16="http://schemas.microsoft.com/office/drawing/2014/main" id="{AE81E869-F95D-51F4-5307-0E111ED7EA89}"/>
              </a:ext>
            </a:extLst>
          </p:cNvPr>
          <p:cNvPicPr>
            <a:picLocks noGrp="1" noChangeAspect="1"/>
          </p:cNvPicPr>
          <p:nvPr>
            <p:ph idx="1"/>
          </p:nvPr>
        </p:nvPicPr>
        <p:blipFill>
          <a:blip r:embed="rId2"/>
          <a:stretch>
            <a:fillRect/>
          </a:stretch>
        </p:blipFill>
        <p:spPr>
          <a:xfrm>
            <a:off x="536872" y="973123"/>
            <a:ext cx="7300423" cy="3553744"/>
          </a:xfrm>
          <a:prstGeom prst="rect">
            <a:avLst/>
          </a:prstGeom>
        </p:spPr>
      </p:pic>
      <p:sp>
        <p:nvSpPr>
          <p:cNvPr id="4" name="Slide Number Placeholder 3">
            <a:extLst>
              <a:ext uri="{FF2B5EF4-FFF2-40B4-BE49-F238E27FC236}">
                <a16:creationId xmlns:a16="http://schemas.microsoft.com/office/drawing/2014/main" id="{CE8FCF28-70CA-9497-7632-D746D51FBEE5}"/>
              </a:ext>
            </a:extLst>
          </p:cNvPr>
          <p:cNvSpPr>
            <a:spLocks noGrp="1"/>
          </p:cNvSpPr>
          <p:nvPr>
            <p:ph type="sldNum" sz="quarter" idx="12"/>
          </p:nvPr>
        </p:nvSpPr>
        <p:spPr/>
        <p:txBody>
          <a:bodyPr/>
          <a:lstStyle/>
          <a:p>
            <a:fld id="{127DDC20-79C9-9647-820E-6D40A3D210C3}" type="slidenum">
              <a:rPr lang="en-US" smtClean="0"/>
              <a:pPr/>
              <a:t>15</a:t>
            </a:fld>
            <a:endParaRPr lang="en-US"/>
          </a:p>
        </p:txBody>
      </p:sp>
      <p:sp>
        <p:nvSpPr>
          <p:cNvPr id="9" name="Rectangle 8">
            <a:extLst>
              <a:ext uri="{FF2B5EF4-FFF2-40B4-BE49-F238E27FC236}">
                <a16:creationId xmlns:a16="http://schemas.microsoft.com/office/drawing/2014/main" id="{35AB64D6-1E22-FC87-3018-2F80DE884D54}"/>
              </a:ext>
            </a:extLst>
          </p:cNvPr>
          <p:cNvSpPr/>
          <p:nvPr/>
        </p:nvSpPr>
        <p:spPr>
          <a:xfrm>
            <a:off x="2286483" y="2719923"/>
            <a:ext cx="352337" cy="563952"/>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Rectangle 9">
            <a:extLst>
              <a:ext uri="{FF2B5EF4-FFF2-40B4-BE49-F238E27FC236}">
                <a16:creationId xmlns:a16="http://schemas.microsoft.com/office/drawing/2014/main" id="{B53ABF68-1F80-8F10-6105-94BDDBDB2FAF}"/>
              </a:ext>
            </a:extLst>
          </p:cNvPr>
          <p:cNvSpPr/>
          <p:nvPr/>
        </p:nvSpPr>
        <p:spPr>
          <a:xfrm>
            <a:off x="4740768" y="2755173"/>
            <a:ext cx="352337" cy="563952"/>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Rectangle 10">
            <a:extLst>
              <a:ext uri="{FF2B5EF4-FFF2-40B4-BE49-F238E27FC236}">
                <a16:creationId xmlns:a16="http://schemas.microsoft.com/office/drawing/2014/main" id="{BC602194-D0BB-A938-46C8-23B81CBCB71A}"/>
              </a:ext>
            </a:extLst>
          </p:cNvPr>
          <p:cNvSpPr/>
          <p:nvPr/>
        </p:nvSpPr>
        <p:spPr>
          <a:xfrm>
            <a:off x="870141" y="1662910"/>
            <a:ext cx="352337" cy="563952"/>
          </a:xfrm>
          <a:prstGeom prst="rect">
            <a:avLst/>
          </a:prstGeom>
          <a:noFill/>
          <a:ln w="38100">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sp>
        <p:nvSpPr>
          <p:cNvPr id="12" name="Rectangle 11">
            <a:extLst>
              <a:ext uri="{FF2B5EF4-FFF2-40B4-BE49-F238E27FC236}">
                <a16:creationId xmlns:a16="http://schemas.microsoft.com/office/drawing/2014/main" id="{D3E082A1-25CC-2E55-E987-2F76F5445F30}"/>
              </a:ext>
            </a:extLst>
          </p:cNvPr>
          <p:cNvSpPr/>
          <p:nvPr/>
        </p:nvSpPr>
        <p:spPr>
          <a:xfrm>
            <a:off x="3430181" y="1659699"/>
            <a:ext cx="352337" cy="563952"/>
          </a:xfrm>
          <a:prstGeom prst="rect">
            <a:avLst/>
          </a:prstGeom>
          <a:noFill/>
          <a:ln w="38100">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sp>
        <p:nvSpPr>
          <p:cNvPr id="13" name="Rectangle 12">
            <a:extLst>
              <a:ext uri="{FF2B5EF4-FFF2-40B4-BE49-F238E27FC236}">
                <a16:creationId xmlns:a16="http://schemas.microsoft.com/office/drawing/2014/main" id="{A5829CD4-39A7-C8F6-6FDB-A1931A14E877}"/>
              </a:ext>
            </a:extLst>
          </p:cNvPr>
          <p:cNvSpPr/>
          <p:nvPr/>
        </p:nvSpPr>
        <p:spPr>
          <a:xfrm>
            <a:off x="5990221" y="1659699"/>
            <a:ext cx="352337" cy="563952"/>
          </a:xfrm>
          <a:prstGeom prst="rect">
            <a:avLst/>
          </a:prstGeom>
          <a:noFill/>
          <a:ln w="38100">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sp>
        <p:nvSpPr>
          <p:cNvPr id="14" name="Rectangle 13">
            <a:extLst>
              <a:ext uri="{FF2B5EF4-FFF2-40B4-BE49-F238E27FC236}">
                <a16:creationId xmlns:a16="http://schemas.microsoft.com/office/drawing/2014/main" id="{AD762C08-B905-2DE1-E67A-7ED060D82ACC}"/>
              </a:ext>
            </a:extLst>
          </p:cNvPr>
          <p:cNvSpPr/>
          <p:nvPr/>
        </p:nvSpPr>
        <p:spPr>
          <a:xfrm>
            <a:off x="7340391" y="2749995"/>
            <a:ext cx="352337" cy="563952"/>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638232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subTnLst>
                                    <p:set>
                                      <p:cBhvr override="childStyle">
                                        <p:cTn dur="1" fill="hold" display="0" masterRel="nextClick" afterEffect="1"/>
                                        <p:tgtEl>
                                          <p:spTgt spid="14"/>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1"/>
            </p:custDataLst>
          </p:nvPr>
        </p:nvSpPr>
        <p:spPr>
          <a:xfrm>
            <a:off x="281354" y="1107347"/>
            <a:ext cx="7829713" cy="3852595"/>
          </a:xfrm>
        </p:spPr>
        <p:txBody>
          <a:bodyPr>
            <a:noAutofit/>
          </a:bodyPr>
          <a:lstStyle/>
          <a:p>
            <a:pPr>
              <a:buFont typeface="Courier New" panose="02070309020205020404" pitchFamily="49" charset="0"/>
              <a:buChar char="o"/>
            </a:pPr>
            <a:r>
              <a:rPr lang="en-US" sz="2400" dirty="0"/>
              <a:t>Con(set condition, what to return if true, what to return if false)</a:t>
            </a:r>
          </a:p>
          <a:p>
            <a:pPr marL="0" indent="0">
              <a:buNone/>
            </a:pPr>
            <a:endParaRPr lang="en-US" sz="2400" dirty="0"/>
          </a:p>
          <a:p>
            <a:pPr marL="0" indent="0">
              <a:buNone/>
            </a:pPr>
            <a:r>
              <a:rPr lang="en-US" sz="2400" dirty="0"/>
              <a:t>Example:</a:t>
            </a:r>
          </a:p>
          <a:p>
            <a:pPr marL="0" indent="0">
              <a:buNone/>
            </a:pPr>
            <a:r>
              <a:rPr lang="en-US" sz="2400" dirty="0"/>
              <a:t> Con(“</a:t>
            </a:r>
            <a:r>
              <a:rPr lang="en-US" sz="2400" dirty="0" err="1"/>
              <a:t>Land_Cover</a:t>
            </a:r>
            <a:r>
              <a:rPr lang="en-US" sz="2400" dirty="0"/>
              <a:t>" = 41, 1, 0)</a:t>
            </a:r>
          </a:p>
          <a:p>
            <a:pPr marL="0" indent="0">
              <a:buNone/>
            </a:pPr>
            <a:r>
              <a:rPr lang="en-US" sz="2400" dirty="0"/>
              <a:t>If the land cover raster grid is assigned a value of 41 (deciduous forest), return 1. If the land cover grid is assigned any other value, return 0.</a:t>
            </a:r>
          </a:p>
          <a:p>
            <a:pPr marL="0" indent="0">
              <a:buNone/>
            </a:pPr>
            <a:endParaRPr lang="en-US" sz="2400" dirty="0"/>
          </a:p>
        </p:txBody>
      </p:sp>
      <p:sp>
        <p:nvSpPr>
          <p:cNvPr id="2" name="Slide Number Placeholder 1">
            <a:extLst>
              <a:ext uri="{FF2B5EF4-FFF2-40B4-BE49-F238E27FC236}">
                <a16:creationId xmlns:a16="http://schemas.microsoft.com/office/drawing/2014/main" id="{0348C5CB-4A1A-4F09-A83C-2F375F159CCE}"/>
              </a:ext>
            </a:extLst>
          </p:cNvPr>
          <p:cNvSpPr>
            <a:spLocks noGrp="1"/>
          </p:cNvSpPr>
          <p:nvPr>
            <p:ph type="sldNum" sz="quarter" idx="12"/>
          </p:nvPr>
        </p:nvSpPr>
        <p:spPr/>
        <p:txBody>
          <a:bodyPr/>
          <a:lstStyle/>
          <a:p>
            <a:fld id="{127DDC20-79C9-9647-820E-6D40A3D210C3}" type="slidenum">
              <a:rPr lang="en-US" smtClean="0"/>
              <a:pPr/>
              <a:t>16</a:t>
            </a:fld>
            <a:endParaRPr lang="en-US"/>
          </a:p>
        </p:txBody>
      </p:sp>
      <p:cxnSp>
        <p:nvCxnSpPr>
          <p:cNvPr id="4" name="Straight Connector 3">
            <a:extLst>
              <a:ext uri="{FF2B5EF4-FFF2-40B4-BE49-F238E27FC236}">
                <a16:creationId xmlns:a16="http://schemas.microsoft.com/office/drawing/2014/main" id="{4CD6371B-6DDE-4AC9-8B83-5DAE055218E0}"/>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09D4732C-4EAA-41F5-B3F2-A92297ED5256}"/>
              </a:ext>
            </a:extLst>
          </p:cNvPr>
          <p:cNvSpPr txBox="1">
            <a:spLocks/>
          </p:cNvSpPr>
          <p:nvPr/>
        </p:nvSpPr>
        <p:spPr>
          <a:xfrm>
            <a:off x="157610" y="18355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Conditional statements</a:t>
            </a:r>
            <a:endParaRPr lang="en-US" sz="2600" dirty="0">
              <a:solidFill>
                <a:srgbClr val="7030A0"/>
              </a:solidFill>
            </a:endParaRPr>
          </a:p>
        </p:txBody>
      </p:sp>
    </p:spTree>
    <p:extLst>
      <p:ext uri="{BB962C8B-B14F-4D97-AF65-F5344CB8AC3E}">
        <p14:creationId xmlns:p14="http://schemas.microsoft.com/office/powerpoint/2010/main" val="3193648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319043" y="1083843"/>
            <a:ext cx="6807810" cy="1487905"/>
          </a:xfrm>
        </p:spPr>
        <p:txBody>
          <a:bodyPr>
            <a:noAutofit/>
          </a:bodyPr>
          <a:lstStyle/>
          <a:p>
            <a:pPr>
              <a:buFont typeface="Courier New" panose="02070309020205020404" pitchFamily="49" charset="0"/>
              <a:buChar char="o"/>
            </a:pPr>
            <a:r>
              <a:rPr lang="en-US" sz="2400" dirty="0"/>
              <a:t>NoData cells return </a:t>
            </a:r>
            <a:r>
              <a:rPr lang="en-US" sz="2400" dirty="0" err="1"/>
              <a:t>NoData</a:t>
            </a:r>
            <a:r>
              <a:rPr lang="en-US" sz="2400" dirty="0"/>
              <a:t>!!!!!!</a:t>
            </a:r>
          </a:p>
          <a:p>
            <a:pPr>
              <a:buFont typeface="Courier New" panose="02070309020205020404" pitchFamily="49" charset="0"/>
              <a:buChar char="o"/>
            </a:pPr>
            <a:r>
              <a:rPr lang="en-US" sz="2400" dirty="0"/>
              <a:t>Operations are only completed where all cell values are available</a:t>
            </a:r>
          </a:p>
        </p:txBody>
      </p:sp>
      <p:sp>
        <p:nvSpPr>
          <p:cNvPr id="2" name="Slide Number Placeholder 1">
            <a:extLst>
              <a:ext uri="{FF2B5EF4-FFF2-40B4-BE49-F238E27FC236}">
                <a16:creationId xmlns:a16="http://schemas.microsoft.com/office/drawing/2014/main" id="{F7086647-C7C3-46C1-A85E-12E7C2C9677D}"/>
              </a:ext>
            </a:extLst>
          </p:cNvPr>
          <p:cNvSpPr>
            <a:spLocks noGrp="1"/>
          </p:cNvSpPr>
          <p:nvPr>
            <p:ph type="sldNum" sz="quarter" idx="12"/>
          </p:nvPr>
        </p:nvSpPr>
        <p:spPr/>
        <p:txBody>
          <a:bodyPr/>
          <a:lstStyle/>
          <a:p>
            <a:fld id="{127DDC20-79C9-9647-820E-6D40A3D210C3}" type="slidenum">
              <a:rPr lang="en-US" smtClean="0"/>
              <a:pPr/>
              <a:t>17</a:t>
            </a:fld>
            <a:endParaRPr lang="en-US"/>
          </a:p>
        </p:txBody>
      </p:sp>
      <p:graphicFrame>
        <p:nvGraphicFramePr>
          <p:cNvPr id="6" name="Table 5"/>
          <p:cNvGraphicFramePr>
            <a:graphicFrameLocks noGrp="1"/>
          </p:cNvGraphicFramePr>
          <p:nvPr>
            <p:custDataLst>
              <p:tags r:id="rId2"/>
            </p:custDataLst>
          </p:nvPr>
        </p:nvGraphicFramePr>
        <p:xfrm>
          <a:off x="1027895" y="3398960"/>
          <a:ext cx="1394727" cy="1024932"/>
        </p:xfrm>
        <a:graphic>
          <a:graphicData uri="http://schemas.openxmlformats.org/drawingml/2006/table">
            <a:tbl>
              <a:tblPr>
                <a:tableStyleId>{6E25E649-3F16-4E02-A733-19D2CDBF48F0}</a:tableStyleId>
              </a:tblPr>
              <a:tblGrid>
                <a:gridCol w="464909">
                  <a:extLst>
                    <a:ext uri="{9D8B030D-6E8A-4147-A177-3AD203B41FA5}">
                      <a16:colId xmlns:a16="http://schemas.microsoft.com/office/drawing/2014/main" val="2741754113"/>
                    </a:ext>
                  </a:extLst>
                </a:gridCol>
                <a:gridCol w="464909">
                  <a:extLst>
                    <a:ext uri="{9D8B030D-6E8A-4147-A177-3AD203B41FA5}">
                      <a16:colId xmlns:a16="http://schemas.microsoft.com/office/drawing/2014/main" val="3847173035"/>
                    </a:ext>
                  </a:extLst>
                </a:gridCol>
                <a:gridCol w="464909">
                  <a:extLst>
                    <a:ext uri="{9D8B030D-6E8A-4147-A177-3AD203B41FA5}">
                      <a16:colId xmlns:a16="http://schemas.microsoft.com/office/drawing/2014/main" val="2831503961"/>
                    </a:ext>
                  </a:extLst>
                </a:gridCol>
              </a:tblGrid>
              <a:tr h="341644">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7826849"/>
                  </a:ext>
                </a:extLst>
              </a:tr>
              <a:tr h="341644">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6786408"/>
                  </a:ext>
                </a:extLst>
              </a:tr>
              <a:tr h="341644">
                <a:tc>
                  <a:txBody>
                    <a:bodyPr/>
                    <a:lstStyle/>
                    <a:p>
                      <a:pPr algn="ctr" fontAlgn="b"/>
                      <a:r>
                        <a:rPr lang="en-US" sz="1200" u="none" strike="noStrike" dirty="0">
                          <a:solidFill>
                            <a:schemeClr val="tx1"/>
                          </a:solidFill>
                          <a:effectLst/>
                        </a:rPr>
                        <a:t> </a:t>
                      </a:r>
                      <a:r>
                        <a:rPr lang="en-US" sz="900" u="none" strike="noStrike" dirty="0">
                          <a:solidFill>
                            <a:schemeClr val="tx1"/>
                          </a:solidFill>
                          <a:effectLst/>
                        </a:rPr>
                        <a:t>NoData</a:t>
                      </a:r>
                      <a:endParaRPr lang="en-US" sz="9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5086253"/>
                  </a:ext>
                </a:extLst>
              </a:tr>
            </a:tbl>
          </a:graphicData>
        </a:graphic>
      </p:graphicFrame>
      <p:graphicFrame>
        <p:nvGraphicFramePr>
          <p:cNvPr id="7" name="Table 6"/>
          <p:cNvGraphicFramePr>
            <a:graphicFrameLocks noGrp="1"/>
          </p:cNvGraphicFramePr>
          <p:nvPr>
            <p:custDataLst>
              <p:tags r:id="rId3"/>
            </p:custDataLst>
          </p:nvPr>
        </p:nvGraphicFramePr>
        <p:xfrm>
          <a:off x="3165813" y="3398959"/>
          <a:ext cx="1394727" cy="1024932"/>
        </p:xfrm>
        <a:graphic>
          <a:graphicData uri="http://schemas.openxmlformats.org/drawingml/2006/table">
            <a:tbl>
              <a:tblPr>
                <a:tableStyleId>{6E25E649-3F16-4E02-A733-19D2CDBF48F0}</a:tableStyleId>
              </a:tblPr>
              <a:tblGrid>
                <a:gridCol w="464909">
                  <a:extLst>
                    <a:ext uri="{9D8B030D-6E8A-4147-A177-3AD203B41FA5}">
                      <a16:colId xmlns:a16="http://schemas.microsoft.com/office/drawing/2014/main" val="2741754113"/>
                    </a:ext>
                  </a:extLst>
                </a:gridCol>
                <a:gridCol w="464909">
                  <a:extLst>
                    <a:ext uri="{9D8B030D-6E8A-4147-A177-3AD203B41FA5}">
                      <a16:colId xmlns:a16="http://schemas.microsoft.com/office/drawing/2014/main" val="3847173035"/>
                    </a:ext>
                  </a:extLst>
                </a:gridCol>
                <a:gridCol w="464909">
                  <a:extLst>
                    <a:ext uri="{9D8B030D-6E8A-4147-A177-3AD203B41FA5}">
                      <a16:colId xmlns:a16="http://schemas.microsoft.com/office/drawing/2014/main" val="2831503961"/>
                    </a:ext>
                  </a:extLst>
                </a:gridCol>
              </a:tblGrid>
              <a:tr h="341644">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900" b="0" i="0" u="none" strike="noStrike" dirty="0">
                          <a:solidFill>
                            <a:schemeClr val="tx1"/>
                          </a:solidFill>
                          <a:effectLst/>
                          <a:latin typeface="Calibri" panose="020F0502020204030204" pitchFamily="34" charset="0"/>
                        </a:rPr>
                        <a:t>NoData</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7826849"/>
                  </a:ext>
                </a:extLst>
              </a:tr>
              <a:tr h="341644">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6786408"/>
                  </a:ext>
                </a:extLst>
              </a:tr>
              <a:tr h="341644">
                <a:tc>
                  <a:txBody>
                    <a:bodyPr/>
                    <a:lstStyle/>
                    <a:p>
                      <a:pPr algn="ctr" fontAlgn="b"/>
                      <a:r>
                        <a:rPr lang="en-US" sz="1200" u="none" strike="noStrike" dirty="0">
                          <a:solidFill>
                            <a:schemeClr val="tx1"/>
                          </a:solidFill>
                          <a:effectLst/>
                        </a:rPr>
                        <a:t> </a:t>
                      </a:r>
                      <a:r>
                        <a:rPr lang="en-US" sz="900" u="none" strike="noStrike" dirty="0">
                          <a:solidFill>
                            <a:schemeClr val="tx1"/>
                          </a:solidFill>
                          <a:effectLst/>
                        </a:rPr>
                        <a:t>NoData</a:t>
                      </a:r>
                      <a:endParaRPr lang="en-US" sz="9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900" b="0" i="0" u="none" strike="noStrike" dirty="0">
                          <a:solidFill>
                            <a:schemeClr val="tx1"/>
                          </a:solidFill>
                          <a:effectLst/>
                          <a:latin typeface="Calibri" panose="020F0502020204030204" pitchFamily="34" charset="0"/>
                        </a:rPr>
                        <a:t>NoData</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5086253"/>
                  </a:ext>
                </a:extLst>
              </a:tr>
            </a:tbl>
          </a:graphicData>
        </a:graphic>
      </p:graphicFrame>
      <p:graphicFrame>
        <p:nvGraphicFramePr>
          <p:cNvPr id="8" name="Table 7"/>
          <p:cNvGraphicFramePr>
            <a:graphicFrameLocks noGrp="1"/>
          </p:cNvGraphicFramePr>
          <p:nvPr>
            <p:custDataLst>
              <p:tags r:id="rId4"/>
            </p:custDataLst>
          </p:nvPr>
        </p:nvGraphicFramePr>
        <p:xfrm>
          <a:off x="6149820" y="3398960"/>
          <a:ext cx="1394727" cy="1024932"/>
        </p:xfrm>
        <a:graphic>
          <a:graphicData uri="http://schemas.openxmlformats.org/drawingml/2006/table">
            <a:tbl>
              <a:tblPr>
                <a:tableStyleId>{6E25E649-3F16-4E02-A733-19D2CDBF48F0}</a:tableStyleId>
              </a:tblPr>
              <a:tblGrid>
                <a:gridCol w="464909">
                  <a:extLst>
                    <a:ext uri="{9D8B030D-6E8A-4147-A177-3AD203B41FA5}">
                      <a16:colId xmlns:a16="http://schemas.microsoft.com/office/drawing/2014/main" val="2741754113"/>
                    </a:ext>
                  </a:extLst>
                </a:gridCol>
                <a:gridCol w="464909">
                  <a:extLst>
                    <a:ext uri="{9D8B030D-6E8A-4147-A177-3AD203B41FA5}">
                      <a16:colId xmlns:a16="http://schemas.microsoft.com/office/drawing/2014/main" val="3847173035"/>
                    </a:ext>
                  </a:extLst>
                </a:gridCol>
                <a:gridCol w="464909">
                  <a:extLst>
                    <a:ext uri="{9D8B030D-6E8A-4147-A177-3AD203B41FA5}">
                      <a16:colId xmlns:a16="http://schemas.microsoft.com/office/drawing/2014/main" val="2831503961"/>
                    </a:ext>
                  </a:extLst>
                </a:gridCol>
              </a:tblGrid>
              <a:tr h="341644">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900" b="0" i="0" u="none" strike="noStrike" dirty="0">
                          <a:solidFill>
                            <a:schemeClr val="tx1"/>
                          </a:solidFill>
                          <a:effectLst/>
                          <a:latin typeface="Calibri" panose="020F0502020204030204" pitchFamily="34" charset="0"/>
                        </a:rPr>
                        <a:t>NoData</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7826849"/>
                  </a:ext>
                </a:extLst>
              </a:tr>
              <a:tr h="341644">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6786408"/>
                  </a:ext>
                </a:extLst>
              </a:tr>
              <a:tr h="341644">
                <a:tc>
                  <a:txBody>
                    <a:bodyPr/>
                    <a:lstStyle/>
                    <a:p>
                      <a:pPr algn="ctr" fontAlgn="b"/>
                      <a:r>
                        <a:rPr lang="en-US" sz="900" b="0" i="0" u="none" strike="noStrike" dirty="0">
                          <a:solidFill>
                            <a:schemeClr val="tx1"/>
                          </a:solidFill>
                          <a:effectLst/>
                          <a:latin typeface="Calibri" panose="020F0502020204030204" pitchFamily="34" charset="0"/>
                        </a:rPr>
                        <a:t>NoData</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900" b="0" i="0" u="none" strike="noStrike" dirty="0">
                          <a:solidFill>
                            <a:schemeClr val="tx1"/>
                          </a:solidFill>
                          <a:effectLst/>
                          <a:latin typeface="Calibri" panose="020F0502020204030204" pitchFamily="34" charset="0"/>
                        </a:rPr>
                        <a:t>NoData</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5086253"/>
                  </a:ext>
                </a:extLst>
              </a:tr>
            </a:tbl>
          </a:graphicData>
        </a:graphic>
      </p:graphicFrame>
      <p:sp>
        <p:nvSpPr>
          <p:cNvPr id="9" name="TextBox 8"/>
          <p:cNvSpPr txBox="1"/>
          <p:nvPr>
            <p:custDataLst>
              <p:tags r:id="rId5"/>
            </p:custDataLst>
          </p:nvPr>
        </p:nvSpPr>
        <p:spPr>
          <a:xfrm>
            <a:off x="2532092" y="3506207"/>
            <a:ext cx="514484" cy="840551"/>
          </a:xfrm>
          <a:prstGeom prst="rect">
            <a:avLst/>
          </a:prstGeom>
          <a:noFill/>
        </p:spPr>
        <p:txBody>
          <a:bodyPr wrap="square" rtlCol="0">
            <a:spAutoFit/>
          </a:bodyPr>
          <a:lstStyle/>
          <a:p>
            <a:pPr>
              <a:lnSpc>
                <a:spcPct val="90000"/>
              </a:lnSpc>
            </a:pPr>
            <a:r>
              <a:rPr lang="en-US" sz="5402" dirty="0"/>
              <a:t>x</a:t>
            </a:r>
          </a:p>
        </p:txBody>
      </p:sp>
      <p:sp>
        <p:nvSpPr>
          <p:cNvPr id="10" name="TextBox 9"/>
          <p:cNvSpPr txBox="1"/>
          <p:nvPr>
            <p:custDataLst>
              <p:tags r:id="rId6"/>
            </p:custDataLst>
          </p:nvPr>
        </p:nvSpPr>
        <p:spPr>
          <a:xfrm>
            <a:off x="5046488" y="3506207"/>
            <a:ext cx="514484" cy="840551"/>
          </a:xfrm>
          <a:prstGeom prst="rect">
            <a:avLst/>
          </a:prstGeom>
          <a:noFill/>
        </p:spPr>
        <p:txBody>
          <a:bodyPr wrap="square" rtlCol="0">
            <a:spAutoFit/>
          </a:bodyPr>
          <a:lstStyle/>
          <a:p>
            <a:pPr>
              <a:lnSpc>
                <a:spcPct val="90000"/>
              </a:lnSpc>
            </a:pPr>
            <a:r>
              <a:rPr lang="en-US" sz="5402" dirty="0"/>
              <a:t>=</a:t>
            </a:r>
          </a:p>
        </p:txBody>
      </p:sp>
      <p:cxnSp>
        <p:nvCxnSpPr>
          <p:cNvPr id="11" name="Straight Connector 10">
            <a:extLst>
              <a:ext uri="{FF2B5EF4-FFF2-40B4-BE49-F238E27FC236}">
                <a16:creationId xmlns:a16="http://schemas.microsoft.com/office/drawing/2014/main" id="{EE2837C8-C623-49A8-BCCB-3906D285F9AE}"/>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 name="Title 1">
            <a:extLst>
              <a:ext uri="{FF2B5EF4-FFF2-40B4-BE49-F238E27FC236}">
                <a16:creationId xmlns:a16="http://schemas.microsoft.com/office/drawing/2014/main" id="{3E02BC43-7971-4D0B-93E0-277AB1A027C5}"/>
              </a:ext>
            </a:extLst>
          </p:cNvPr>
          <p:cNvSpPr txBox="1">
            <a:spLocks/>
          </p:cNvSpPr>
          <p:nvPr/>
        </p:nvSpPr>
        <p:spPr>
          <a:xfrm>
            <a:off x="152400" y="26985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Impacts of </a:t>
            </a:r>
            <a:r>
              <a:rPr lang="en-US" sz="3200" dirty="0" err="1">
                <a:solidFill>
                  <a:srgbClr val="7030A0"/>
                </a:solidFill>
              </a:rPr>
              <a:t>NoData</a:t>
            </a:r>
            <a:r>
              <a:rPr lang="en-US" sz="3200" dirty="0">
                <a:solidFill>
                  <a:srgbClr val="7030A0"/>
                </a:solidFill>
              </a:rPr>
              <a:t> on Raster Math</a:t>
            </a:r>
            <a:endParaRPr lang="en-US" sz="2600" dirty="0">
              <a:solidFill>
                <a:srgbClr val="7030A0"/>
              </a:solidFill>
            </a:endParaRPr>
          </a:p>
        </p:txBody>
      </p:sp>
    </p:spTree>
    <p:extLst>
      <p:ext uri="{BB962C8B-B14F-4D97-AF65-F5344CB8AC3E}">
        <p14:creationId xmlns:p14="http://schemas.microsoft.com/office/powerpoint/2010/main" val="741837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2415888" y="1048877"/>
            <a:ext cx="3389358" cy="1059726"/>
          </a:xfrm>
        </p:spPr>
        <p:txBody>
          <a:bodyPr>
            <a:normAutofit/>
          </a:bodyPr>
          <a:lstStyle/>
          <a:p>
            <a:pPr algn="ctr"/>
            <a:r>
              <a:rPr lang="en-US" dirty="0"/>
              <a:t>Local function reclassification</a:t>
            </a:r>
          </a:p>
        </p:txBody>
      </p:sp>
      <p:sp>
        <p:nvSpPr>
          <p:cNvPr id="4" name="Slide Number Placeholder 3">
            <a:extLst>
              <a:ext uri="{FF2B5EF4-FFF2-40B4-BE49-F238E27FC236}">
                <a16:creationId xmlns:a16="http://schemas.microsoft.com/office/drawing/2014/main" id="{D6707542-1592-4B5E-9E2E-66E9CC252E08}"/>
              </a:ext>
            </a:extLst>
          </p:cNvPr>
          <p:cNvSpPr>
            <a:spLocks noGrp="1"/>
          </p:cNvSpPr>
          <p:nvPr>
            <p:ph type="sldNum" sz="quarter" idx="12"/>
          </p:nvPr>
        </p:nvSpPr>
        <p:spPr/>
        <p:txBody>
          <a:bodyPr/>
          <a:lstStyle/>
          <a:p>
            <a:fld id="{127DDC20-79C9-9647-820E-6D40A3D210C3}" type="slidenum">
              <a:rPr lang="en-US" smtClean="0"/>
              <a:pPr/>
              <a:t>18</a:t>
            </a:fld>
            <a:endParaRPr lang="en-US"/>
          </a:p>
        </p:txBody>
      </p:sp>
      <p:cxnSp>
        <p:nvCxnSpPr>
          <p:cNvPr id="3" name="Straight Connector 2">
            <a:extLst>
              <a:ext uri="{FF2B5EF4-FFF2-40B4-BE49-F238E27FC236}">
                <a16:creationId xmlns:a16="http://schemas.microsoft.com/office/drawing/2014/main" id="{2DE8A090-1807-4E07-8CB8-69A9C3D27FF9}"/>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58253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C8FAB549-077E-B9DA-CD2A-5AB3069D8B0C}"/>
              </a:ext>
            </a:extLst>
          </p:cNvPr>
          <p:cNvPicPr>
            <a:picLocks noGrp="1" noChangeAspect="1"/>
          </p:cNvPicPr>
          <p:nvPr>
            <p:ph idx="1"/>
          </p:nvPr>
        </p:nvPicPr>
        <p:blipFill>
          <a:blip r:embed="rId2"/>
          <a:stretch>
            <a:fillRect/>
          </a:stretch>
        </p:blipFill>
        <p:spPr>
          <a:xfrm>
            <a:off x="1343548" y="995794"/>
            <a:ext cx="5678037" cy="3822142"/>
          </a:xfrm>
          <a:prstGeom prst="rect">
            <a:avLst/>
          </a:prstGeom>
        </p:spPr>
      </p:pic>
      <p:sp>
        <p:nvSpPr>
          <p:cNvPr id="4" name="Slide Number Placeholder 3">
            <a:extLst>
              <a:ext uri="{FF2B5EF4-FFF2-40B4-BE49-F238E27FC236}">
                <a16:creationId xmlns:a16="http://schemas.microsoft.com/office/drawing/2014/main" id="{E2E6FFEF-2696-39E7-915A-0C6874F79CC9}"/>
              </a:ext>
            </a:extLst>
          </p:cNvPr>
          <p:cNvSpPr>
            <a:spLocks noGrp="1"/>
          </p:cNvSpPr>
          <p:nvPr>
            <p:ph type="sldNum" sz="quarter" idx="12"/>
          </p:nvPr>
        </p:nvSpPr>
        <p:spPr/>
        <p:txBody>
          <a:bodyPr/>
          <a:lstStyle/>
          <a:p>
            <a:fld id="{127DDC20-79C9-9647-820E-6D40A3D210C3}" type="slidenum">
              <a:rPr lang="en-US" smtClean="0"/>
              <a:pPr/>
              <a:t>19</a:t>
            </a:fld>
            <a:endParaRPr lang="en-US"/>
          </a:p>
        </p:txBody>
      </p:sp>
      <p:sp>
        <p:nvSpPr>
          <p:cNvPr id="7" name="Title 1">
            <a:extLst>
              <a:ext uri="{FF2B5EF4-FFF2-40B4-BE49-F238E27FC236}">
                <a16:creationId xmlns:a16="http://schemas.microsoft.com/office/drawing/2014/main" id="{A4CBEDA6-8FA3-3D0E-7C5E-EFAC869CCAB4}"/>
              </a:ext>
            </a:extLst>
          </p:cNvPr>
          <p:cNvSpPr txBox="1">
            <a:spLocks/>
          </p:cNvSpPr>
          <p:nvPr/>
        </p:nvSpPr>
        <p:spPr>
          <a:xfrm>
            <a:off x="160744" y="28343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Reclassification</a:t>
            </a:r>
            <a:endParaRPr lang="en-US" sz="2600" dirty="0">
              <a:solidFill>
                <a:srgbClr val="7030A0"/>
              </a:solidFill>
            </a:endParaRPr>
          </a:p>
        </p:txBody>
      </p:sp>
    </p:spTree>
    <p:extLst>
      <p:ext uri="{BB962C8B-B14F-4D97-AF65-F5344CB8AC3E}">
        <p14:creationId xmlns:p14="http://schemas.microsoft.com/office/powerpoint/2010/main" val="34654899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6069839" y="4475341"/>
            <a:ext cx="2984007" cy="308690"/>
          </a:xfrm>
        </p:spPr>
        <p:txBody>
          <a:bodyPr>
            <a:normAutofit/>
          </a:bodyPr>
          <a:lstStyle/>
          <a:p>
            <a:pPr marL="0" indent="0">
              <a:buNone/>
            </a:pPr>
            <a:r>
              <a:rPr lang="en-US" dirty="0"/>
              <a:t>Change cell values</a:t>
            </a:r>
          </a:p>
        </p:txBody>
      </p:sp>
      <p:sp>
        <p:nvSpPr>
          <p:cNvPr id="9" name="Slide Number Placeholder 8">
            <a:extLst>
              <a:ext uri="{FF2B5EF4-FFF2-40B4-BE49-F238E27FC236}">
                <a16:creationId xmlns:a16="http://schemas.microsoft.com/office/drawing/2014/main" id="{818F667E-53CC-4A16-BB17-6A085B393BA9}"/>
              </a:ext>
            </a:extLst>
          </p:cNvPr>
          <p:cNvSpPr>
            <a:spLocks noGrp="1"/>
          </p:cNvSpPr>
          <p:nvPr>
            <p:ph type="sldNum" sz="quarter" idx="12"/>
          </p:nvPr>
        </p:nvSpPr>
        <p:spPr/>
        <p:txBody>
          <a:bodyPr/>
          <a:lstStyle/>
          <a:p>
            <a:fld id="{127DDC20-79C9-9647-820E-6D40A3D210C3}" type="slidenum">
              <a:rPr lang="en-US" smtClean="0"/>
              <a:pPr/>
              <a:t>20</a:t>
            </a:fld>
            <a:endParaRPr lang="en-US"/>
          </a:p>
        </p:txBody>
      </p:sp>
      <p:pic>
        <p:nvPicPr>
          <p:cNvPr id="2" name="Picture 1" descr="Image showing land cover data"/>
          <p:cNvPicPr>
            <a:picLocks noChangeAspect="1"/>
          </p:cNvPicPr>
          <p:nvPr/>
        </p:nvPicPr>
        <p:blipFill>
          <a:blip r:embed="rId4">
            <a:clrChange>
              <a:clrFrom>
                <a:srgbClr val="00C5FF"/>
              </a:clrFrom>
              <a:clrTo>
                <a:srgbClr val="00C5FF">
                  <a:alpha val="0"/>
                </a:srgbClr>
              </a:clrTo>
            </a:clrChange>
          </a:blip>
          <a:stretch>
            <a:fillRect/>
          </a:stretch>
        </p:blipFill>
        <p:spPr>
          <a:xfrm>
            <a:off x="227391" y="1395575"/>
            <a:ext cx="1832728" cy="3376301"/>
          </a:xfrm>
          <a:prstGeom prst="rect">
            <a:avLst/>
          </a:prstGeom>
        </p:spPr>
      </p:pic>
      <p:pic>
        <p:nvPicPr>
          <p:cNvPr id="3" name="Picture 2" descr="Reclassify window"/>
          <p:cNvPicPr>
            <a:picLocks noChangeAspect="1"/>
          </p:cNvPicPr>
          <p:nvPr/>
        </p:nvPicPr>
        <p:blipFill>
          <a:blip r:embed="rId5"/>
          <a:stretch>
            <a:fillRect/>
          </a:stretch>
        </p:blipFill>
        <p:spPr>
          <a:xfrm>
            <a:off x="2670855" y="1450027"/>
            <a:ext cx="2610075" cy="3574537"/>
          </a:xfrm>
          <a:prstGeom prst="rect">
            <a:avLst/>
          </a:prstGeom>
        </p:spPr>
      </p:pic>
      <p:pic>
        <p:nvPicPr>
          <p:cNvPr id="6" name="Picture 5" descr="image showing reclassified results"/>
          <p:cNvPicPr>
            <a:picLocks noChangeAspect="1"/>
          </p:cNvPicPr>
          <p:nvPr/>
        </p:nvPicPr>
        <p:blipFill>
          <a:blip r:embed="rId6">
            <a:clrChange>
              <a:clrFrom>
                <a:srgbClr val="00C5FF"/>
              </a:clrFrom>
              <a:clrTo>
                <a:srgbClr val="00C5FF">
                  <a:alpha val="0"/>
                </a:srgbClr>
              </a:clrTo>
            </a:clrChange>
          </a:blip>
          <a:stretch>
            <a:fillRect/>
          </a:stretch>
        </p:blipFill>
        <p:spPr>
          <a:xfrm>
            <a:off x="5759218" y="1015536"/>
            <a:ext cx="1802624" cy="3459805"/>
          </a:xfrm>
          <a:prstGeom prst="rect">
            <a:avLst/>
          </a:prstGeom>
        </p:spPr>
      </p:pic>
      <p:cxnSp>
        <p:nvCxnSpPr>
          <p:cNvPr id="7" name="Straight Connector 6">
            <a:extLst>
              <a:ext uri="{FF2B5EF4-FFF2-40B4-BE49-F238E27FC236}">
                <a16:creationId xmlns:a16="http://schemas.microsoft.com/office/drawing/2014/main" id="{0FC199A8-FE6E-4078-A4DC-FD9CD2E48482}"/>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6F3AF8E2-1EF3-4C78-82CF-F1ADDAF312D1}"/>
              </a:ext>
            </a:extLst>
          </p:cNvPr>
          <p:cNvSpPr txBox="1">
            <a:spLocks/>
          </p:cNvSpPr>
          <p:nvPr/>
        </p:nvSpPr>
        <p:spPr>
          <a:xfrm>
            <a:off x="152400" y="16598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Reclassify Categorical Raster Data</a:t>
            </a:r>
            <a:endParaRPr lang="en-US" sz="2600" dirty="0">
              <a:solidFill>
                <a:srgbClr val="7030A0"/>
              </a:solidFill>
            </a:endParaRPr>
          </a:p>
        </p:txBody>
      </p:sp>
      <p:sp>
        <p:nvSpPr>
          <p:cNvPr id="4" name="TextBox 3">
            <a:extLst>
              <a:ext uri="{FF2B5EF4-FFF2-40B4-BE49-F238E27FC236}">
                <a16:creationId xmlns:a16="http://schemas.microsoft.com/office/drawing/2014/main" id="{14AF49A1-E01B-4E8D-A34F-A450F6780C2D}"/>
              </a:ext>
            </a:extLst>
          </p:cNvPr>
          <p:cNvSpPr txBox="1"/>
          <p:nvPr/>
        </p:nvSpPr>
        <p:spPr>
          <a:xfrm>
            <a:off x="2896318" y="1080695"/>
            <a:ext cx="2384612" cy="369332"/>
          </a:xfrm>
          <a:prstGeom prst="rect">
            <a:avLst/>
          </a:prstGeom>
          <a:noFill/>
        </p:spPr>
        <p:txBody>
          <a:bodyPr wrap="square" rtlCol="0">
            <a:spAutoFit/>
          </a:bodyPr>
          <a:lstStyle/>
          <a:p>
            <a:r>
              <a:rPr lang="en-US" dirty="0"/>
              <a:t>Forest =1; Non forest=0</a:t>
            </a:r>
          </a:p>
        </p:txBody>
      </p:sp>
      <p:sp>
        <p:nvSpPr>
          <p:cNvPr id="10" name="TextBox 9">
            <a:extLst>
              <a:ext uri="{FF2B5EF4-FFF2-40B4-BE49-F238E27FC236}">
                <a16:creationId xmlns:a16="http://schemas.microsoft.com/office/drawing/2014/main" id="{E39C77DE-B134-4038-AB17-96864258D351}"/>
              </a:ext>
            </a:extLst>
          </p:cNvPr>
          <p:cNvSpPr txBox="1"/>
          <p:nvPr/>
        </p:nvSpPr>
        <p:spPr>
          <a:xfrm>
            <a:off x="227391" y="1080695"/>
            <a:ext cx="1389529" cy="369332"/>
          </a:xfrm>
          <a:prstGeom prst="rect">
            <a:avLst/>
          </a:prstGeom>
          <a:noFill/>
        </p:spPr>
        <p:txBody>
          <a:bodyPr wrap="square" rtlCol="0">
            <a:spAutoFit/>
          </a:bodyPr>
          <a:lstStyle/>
          <a:p>
            <a:r>
              <a:rPr lang="en-US" dirty="0"/>
              <a:t>Land cover </a:t>
            </a:r>
          </a:p>
        </p:txBody>
      </p:sp>
    </p:spTree>
    <p:extLst>
      <p:ext uri="{BB962C8B-B14F-4D97-AF65-F5344CB8AC3E}">
        <p14:creationId xmlns:p14="http://schemas.microsoft.com/office/powerpoint/2010/main" val="3575717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 showing DEM data"/>
          <p:cNvPicPr>
            <a:picLocks noChangeAspect="1"/>
          </p:cNvPicPr>
          <p:nvPr/>
        </p:nvPicPr>
        <p:blipFill>
          <a:blip r:embed="rId3">
            <a:clrChange>
              <a:clrFrom>
                <a:srgbClr val="00C5FF"/>
              </a:clrFrom>
              <a:clrTo>
                <a:srgbClr val="00C5FF">
                  <a:alpha val="0"/>
                </a:srgbClr>
              </a:clrTo>
            </a:clrChange>
          </a:blip>
          <a:stretch>
            <a:fillRect/>
          </a:stretch>
        </p:blipFill>
        <p:spPr>
          <a:xfrm>
            <a:off x="564861" y="976850"/>
            <a:ext cx="2109384" cy="3825599"/>
          </a:xfrm>
          <a:prstGeom prst="rect">
            <a:avLst/>
          </a:prstGeom>
        </p:spPr>
      </p:pic>
      <p:pic>
        <p:nvPicPr>
          <p:cNvPr id="5" name="Picture 4" descr="Reclassify window"/>
          <p:cNvPicPr>
            <a:picLocks noChangeAspect="1"/>
          </p:cNvPicPr>
          <p:nvPr/>
        </p:nvPicPr>
        <p:blipFill>
          <a:blip r:embed="rId4"/>
          <a:stretch>
            <a:fillRect/>
          </a:stretch>
        </p:blipFill>
        <p:spPr>
          <a:xfrm>
            <a:off x="2700989" y="1266189"/>
            <a:ext cx="3067586" cy="3372924"/>
          </a:xfrm>
          <a:prstGeom prst="rect">
            <a:avLst/>
          </a:prstGeom>
        </p:spPr>
      </p:pic>
      <p:pic>
        <p:nvPicPr>
          <p:cNvPr id="6" name="Picture 5" descr="Image showing DEM reclassify result"/>
          <p:cNvPicPr>
            <a:picLocks noChangeAspect="1"/>
          </p:cNvPicPr>
          <p:nvPr/>
        </p:nvPicPr>
        <p:blipFill>
          <a:blip r:embed="rId5">
            <a:clrChange>
              <a:clrFrom>
                <a:srgbClr val="00C5FF"/>
              </a:clrFrom>
              <a:clrTo>
                <a:srgbClr val="00C5FF">
                  <a:alpha val="0"/>
                </a:srgbClr>
              </a:clrTo>
            </a:clrChange>
          </a:blip>
          <a:stretch>
            <a:fillRect/>
          </a:stretch>
        </p:blipFill>
        <p:spPr>
          <a:xfrm>
            <a:off x="5555356" y="883708"/>
            <a:ext cx="2463092" cy="4090148"/>
          </a:xfrm>
          <a:prstGeom prst="rect">
            <a:avLst/>
          </a:prstGeom>
        </p:spPr>
      </p:pic>
      <p:cxnSp>
        <p:nvCxnSpPr>
          <p:cNvPr id="7" name="Straight Connector 6">
            <a:extLst>
              <a:ext uri="{FF2B5EF4-FFF2-40B4-BE49-F238E27FC236}">
                <a16:creationId xmlns:a16="http://schemas.microsoft.com/office/drawing/2014/main" id="{D4668566-9FBB-4618-85CB-96E4E503793B}"/>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635FE82B-A2C4-427B-AB45-8AF66FD06684}"/>
              </a:ext>
            </a:extLst>
          </p:cNvPr>
          <p:cNvSpPr txBox="1">
            <a:spLocks/>
          </p:cNvSpPr>
          <p:nvPr/>
        </p:nvSpPr>
        <p:spPr>
          <a:xfrm>
            <a:off x="152400" y="16964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Reclassify Continuous Raster Data</a:t>
            </a:r>
            <a:endParaRPr lang="en-US" sz="2600" dirty="0">
              <a:solidFill>
                <a:srgbClr val="7030A0"/>
              </a:solidFill>
            </a:endParaRPr>
          </a:p>
        </p:txBody>
      </p:sp>
      <p:sp>
        <p:nvSpPr>
          <p:cNvPr id="2" name="TextBox 1">
            <a:extLst>
              <a:ext uri="{FF2B5EF4-FFF2-40B4-BE49-F238E27FC236}">
                <a16:creationId xmlns:a16="http://schemas.microsoft.com/office/drawing/2014/main" id="{7E500FA7-2AAD-4E70-BB2A-04AE89901406}"/>
              </a:ext>
            </a:extLst>
          </p:cNvPr>
          <p:cNvSpPr txBox="1"/>
          <p:nvPr/>
        </p:nvSpPr>
        <p:spPr>
          <a:xfrm>
            <a:off x="403412" y="1165412"/>
            <a:ext cx="950259" cy="369332"/>
          </a:xfrm>
          <a:prstGeom prst="rect">
            <a:avLst/>
          </a:prstGeom>
          <a:noFill/>
        </p:spPr>
        <p:txBody>
          <a:bodyPr wrap="square" rtlCol="0">
            <a:spAutoFit/>
          </a:bodyPr>
          <a:lstStyle/>
          <a:p>
            <a:r>
              <a:rPr lang="en-US" dirty="0"/>
              <a:t>DEM</a:t>
            </a:r>
          </a:p>
        </p:txBody>
      </p:sp>
      <p:sp>
        <p:nvSpPr>
          <p:cNvPr id="3" name="Slide Number Placeholder 2">
            <a:extLst>
              <a:ext uri="{FF2B5EF4-FFF2-40B4-BE49-F238E27FC236}">
                <a16:creationId xmlns:a16="http://schemas.microsoft.com/office/drawing/2014/main" id="{45B25D46-D2DC-41B5-8401-829B21E50C4B}"/>
              </a:ext>
            </a:extLst>
          </p:cNvPr>
          <p:cNvSpPr>
            <a:spLocks noGrp="1"/>
          </p:cNvSpPr>
          <p:nvPr>
            <p:ph type="sldNum" sz="quarter" idx="12"/>
          </p:nvPr>
        </p:nvSpPr>
        <p:spPr/>
        <p:txBody>
          <a:bodyPr/>
          <a:lstStyle/>
          <a:p>
            <a:fld id="{127DDC20-79C9-9647-820E-6D40A3D210C3}" type="slidenum">
              <a:rPr lang="en-US" smtClean="0"/>
              <a:pPr/>
              <a:t>21</a:t>
            </a:fld>
            <a:endParaRPr lang="en-US"/>
          </a:p>
        </p:txBody>
      </p:sp>
    </p:spTree>
    <p:extLst>
      <p:ext uri="{BB962C8B-B14F-4D97-AF65-F5344CB8AC3E}">
        <p14:creationId xmlns:p14="http://schemas.microsoft.com/office/powerpoint/2010/main" val="256062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2289177" y="1419057"/>
            <a:ext cx="3651245" cy="1269501"/>
          </a:xfrm>
        </p:spPr>
        <p:txBody>
          <a:bodyPr/>
          <a:lstStyle/>
          <a:p>
            <a:pPr algn="ctr"/>
            <a:r>
              <a:rPr lang="en-US" dirty="0"/>
              <a:t>Local function Extraction</a:t>
            </a:r>
          </a:p>
        </p:txBody>
      </p:sp>
      <p:sp>
        <p:nvSpPr>
          <p:cNvPr id="3" name="Slide Number Placeholder 2">
            <a:extLst>
              <a:ext uri="{FF2B5EF4-FFF2-40B4-BE49-F238E27FC236}">
                <a16:creationId xmlns:a16="http://schemas.microsoft.com/office/drawing/2014/main" id="{0911153A-8230-4EDF-970A-D22BC90516DA}"/>
              </a:ext>
            </a:extLst>
          </p:cNvPr>
          <p:cNvSpPr>
            <a:spLocks noGrp="1"/>
          </p:cNvSpPr>
          <p:nvPr>
            <p:ph type="sldNum" sz="quarter" idx="12"/>
          </p:nvPr>
        </p:nvSpPr>
        <p:spPr/>
        <p:txBody>
          <a:bodyPr/>
          <a:lstStyle/>
          <a:p>
            <a:fld id="{127DDC20-79C9-9647-820E-6D40A3D210C3}" type="slidenum">
              <a:rPr lang="en-US" smtClean="0"/>
              <a:pPr/>
              <a:t>22</a:t>
            </a:fld>
            <a:endParaRPr lang="en-US"/>
          </a:p>
        </p:txBody>
      </p:sp>
    </p:spTree>
    <p:extLst>
      <p:ext uri="{BB962C8B-B14F-4D97-AF65-F5344CB8AC3E}">
        <p14:creationId xmlns:p14="http://schemas.microsoft.com/office/powerpoint/2010/main" val="504664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153273" y="1131195"/>
            <a:ext cx="7823110" cy="1666875"/>
          </a:xfrm>
        </p:spPr>
        <p:txBody>
          <a:bodyPr>
            <a:normAutofit/>
          </a:bodyPr>
          <a:lstStyle/>
          <a:p>
            <a:pPr>
              <a:buFont typeface="Courier New" panose="02070309020205020404" pitchFamily="49" charset="0"/>
              <a:buChar char="o"/>
            </a:pPr>
            <a:r>
              <a:rPr lang="en-US" sz="1400" b="1" dirty="0">
                <a:solidFill>
                  <a:srgbClr val="E3874F"/>
                </a:solidFill>
              </a:rPr>
              <a:t>Extract by Circle: </a:t>
            </a:r>
            <a:r>
              <a:rPr lang="en-US" sz="1400" dirty="0"/>
              <a:t>extract cells that fall into a circle that is defined by a center coordinate and radius</a:t>
            </a:r>
          </a:p>
          <a:p>
            <a:pPr>
              <a:buFont typeface="Courier New" panose="02070309020205020404" pitchFamily="49" charset="0"/>
              <a:buChar char="o"/>
            </a:pPr>
            <a:r>
              <a:rPr lang="en-US" sz="1400" b="1" dirty="0">
                <a:solidFill>
                  <a:srgbClr val="E3874F"/>
                </a:solidFill>
              </a:rPr>
              <a:t>Extract by Mask: </a:t>
            </a:r>
            <a:r>
              <a:rPr lang="en-US" sz="1400" dirty="0"/>
              <a:t>extract cells that fall within a raster or polygon mask</a:t>
            </a:r>
          </a:p>
          <a:p>
            <a:pPr>
              <a:buFont typeface="Courier New" panose="02070309020205020404" pitchFamily="49" charset="0"/>
              <a:buChar char="o"/>
            </a:pPr>
            <a:r>
              <a:rPr lang="en-US" sz="1400" b="1" dirty="0">
                <a:solidFill>
                  <a:srgbClr val="E3874F"/>
                </a:solidFill>
              </a:rPr>
              <a:t>Extract by Point: </a:t>
            </a:r>
            <a:r>
              <a:rPr lang="en-US" sz="1400" dirty="0"/>
              <a:t>extract cells at point locations</a:t>
            </a:r>
          </a:p>
          <a:p>
            <a:pPr>
              <a:buFont typeface="Courier New" panose="02070309020205020404" pitchFamily="49" charset="0"/>
              <a:buChar char="o"/>
            </a:pPr>
            <a:r>
              <a:rPr lang="en-US" sz="1400" b="1" dirty="0">
                <a:solidFill>
                  <a:srgbClr val="E3874F"/>
                </a:solidFill>
              </a:rPr>
              <a:t>Extract by Polygon: </a:t>
            </a:r>
            <a:r>
              <a:rPr lang="en-US" sz="1400" dirty="0"/>
              <a:t>extract cells that fall within the extent of a polygon as defined by its vertices</a:t>
            </a:r>
          </a:p>
          <a:p>
            <a:pPr>
              <a:buFont typeface="Courier New" panose="02070309020205020404" pitchFamily="49" charset="0"/>
              <a:buChar char="o"/>
            </a:pPr>
            <a:r>
              <a:rPr lang="en-US" sz="1400" b="1" dirty="0">
                <a:solidFill>
                  <a:srgbClr val="E3874F"/>
                </a:solidFill>
              </a:rPr>
              <a:t>Extract by Rectangle: </a:t>
            </a:r>
            <a:r>
              <a:rPr lang="en-US" sz="1400" dirty="0"/>
              <a:t>extract cells that fall within a rectangular extent</a:t>
            </a:r>
          </a:p>
          <a:p>
            <a:pPr marL="0" indent="0">
              <a:buNone/>
            </a:pPr>
            <a:endParaRPr lang="en-US" dirty="0"/>
          </a:p>
        </p:txBody>
      </p:sp>
      <p:sp>
        <p:nvSpPr>
          <p:cNvPr id="4" name="Slide Number Placeholder 3">
            <a:extLst>
              <a:ext uri="{FF2B5EF4-FFF2-40B4-BE49-F238E27FC236}">
                <a16:creationId xmlns:a16="http://schemas.microsoft.com/office/drawing/2014/main" id="{C45250F4-7AB4-4E5E-8D75-E4DED85EA42C}"/>
              </a:ext>
            </a:extLst>
          </p:cNvPr>
          <p:cNvSpPr>
            <a:spLocks noGrp="1"/>
          </p:cNvSpPr>
          <p:nvPr>
            <p:ph type="sldNum" sz="quarter" idx="12"/>
          </p:nvPr>
        </p:nvSpPr>
        <p:spPr/>
        <p:txBody>
          <a:bodyPr/>
          <a:lstStyle/>
          <a:p>
            <a:fld id="{127DDC20-79C9-9647-820E-6D40A3D210C3}" type="slidenum">
              <a:rPr lang="en-US" smtClean="0"/>
              <a:pPr/>
              <a:t>23</a:t>
            </a:fld>
            <a:endParaRPr lang="en-US"/>
          </a:p>
        </p:txBody>
      </p:sp>
      <p:cxnSp>
        <p:nvCxnSpPr>
          <p:cNvPr id="8" name="Straight Connector 7">
            <a:extLst>
              <a:ext uri="{FF2B5EF4-FFF2-40B4-BE49-F238E27FC236}">
                <a16:creationId xmlns:a16="http://schemas.microsoft.com/office/drawing/2014/main" id="{F05ED891-9FEB-4D29-8CF7-68E8994814C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61BF75DF-6CF1-4C54-A051-D2A0513B1DE6}"/>
              </a:ext>
            </a:extLst>
          </p:cNvPr>
          <p:cNvSpPr txBox="1">
            <a:spLocks/>
          </p:cNvSpPr>
          <p:nvPr/>
        </p:nvSpPr>
        <p:spPr>
          <a:xfrm>
            <a:off x="216875" y="11735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Extraction Methods</a:t>
            </a:r>
            <a:endParaRPr lang="en-US" sz="2600" dirty="0">
              <a:solidFill>
                <a:srgbClr val="7030A0"/>
              </a:solidFill>
            </a:endParaRPr>
          </a:p>
        </p:txBody>
      </p:sp>
      <p:pic>
        <p:nvPicPr>
          <p:cNvPr id="12" name="Picture 11" descr="Image showing extraction">
            <a:extLst>
              <a:ext uri="{FF2B5EF4-FFF2-40B4-BE49-F238E27FC236}">
                <a16:creationId xmlns:a16="http://schemas.microsoft.com/office/drawing/2014/main" id="{7C761CA6-7DD0-4EE4-9493-A46A24D10A7F}"/>
              </a:ext>
            </a:extLst>
          </p:cNvPr>
          <p:cNvPicPr>
            <a:picLocks noChangeAspect="1"/>
          </p:cNvPicPr>
          <p:nvPr/>
        </p:nvPicPr>
        <p:blipFill>
          <a:blip r:embed="rId4"/>
          <a:stretch>
            <a:fillRect/>
          </a:stretch>
        </p:blipFill>
        <p:spPr>
          <a:xfrm>
            <a:off x="955063" y="3387152"/>
            <a:ext cx="6600825" cy="1666875"/>
          </a:xfrm>
          <a:prstGeom prst="rect">
            <a:avLst/>
          </a:prstGeom>
        </p:spPr>
      </p:pic>
      <p:sp>
        <p:nvSpPr>
          <p:cNvPr id="2" name="TextBox 1">
            <a:extLst>
              <a:ext uri="{FF2B5EF4-FFF2-40B4-BE49-F238E27FC236}">
                <a16:creationId xmlns:a16="http://schemas.microsoft.com/office/drawing/2014/main" id="{1E202D13-B624-4B21-B8DF-143BB478EC13}"/>
              </a:ext>
            </a:extLst>
          </p:cNvPr>
          <p:cNvSpPr txBox="1"/>
          <p:nvPr/>
        </p:nvSpPr>
        <p:spPr>
          <a:xfrm>
            <a:off x="4912659" y="3254189"/>
            <a:ext cx="1013012" cy="369332"/>
          </a:xfrm>
          <a:prstGeom prst="rect">
            <a:avLst/>
          </a:prstGeom>
          <a:noFill/>
        </p:spPr>
        <p:txBody>
          <a:bodyPr wrap="square" rtlCol="0">
            <a:spAutoFit/>
          </a:bodyPr>
          <a:lstStyle/>
          <a:p>
            <a:r>
              <a:rPr lang="en-US" dirty="0"/>
              <a:t>Angola</a:t>
            </a:r>
          </a:p>
        </p:txBody>
      </p:sp>
      <p:sp>
        <p:nvSpPr>
          <p:cNvPr id="3" name="TextBox 2">
            <a:extLst>
              <a:ext uri="{FF2B5EF4-FFF2-40B4-BE49-F238E27FC236}">
                <a16:creationId xmlns:a16="http://schemas.microsoft.com/office/drawing/2014/main" id="{8CBB77F0-351D-47A5-8371-CD265FA975B8}"/>
              </a:ext>
            </a:extLst>
          </p:cNvPr>
          <p:cNvSpPr txBox="1"/>
          <p:nvPr/>
        </p:nvSpPr>
        <p:spPr>
          <a:xfrm>
            <a:off x="2233572" y="3136005"/>
            <a:ext cx="1013012" cy="369332"/>
          </a:xfrm>
          <a:prstGeom prst="rect">
            <a:avLst/>
          </a:prstGeom>
          <a:noFill/>
        </p:spPr>
        <p:txBody>
          <a:bodyPr wrap="square" rtlCol="0">
            <a:spAutoFit/>
          </a:bodyPr>
          <a:lstStyle/>
          <a:p>
            <a:r>
              <a:rPr lang="en-US" dirty="0"/>
              <a:t>NDVI</a:t>
            </a:r>
          </a:p>
        </p:txBody>
      </p:sp>
    </p:spTree>
    <p:extLst>
      <p:ext uri="{BB962C8B-B14F-4D97-AF65-F5344CB8AC3E}">
        <p14:creationId xmlns:p14="http://schemas.microsoft.com/office/powerpoint/2010/main" val="3477351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F05ED891-9FEB-4D29-8CF7-68E8994814C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61BF75DF-6CF1-4C54-A051-D2A0513B1DE6}"/>
              </a:ext>
            </a:extLst>
          </p:cNvPr>
          <p:cNvSpPr txBox="1">
            <a:spLocks/>
          </p:cNvSpPr>
          <p:nvPr/>
        </p:nvSpPr>
        <p:spPr>
          <a:xfrm>
            <a:off x="179381" y="1848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Extraction Methods</a:t>
            </a:r>
            <a:endParaRPr lang="en-US" sz="2600" dirty="0">
              <a:solidFill>
                <a:srgbClr val="7030A0"/>
              </a:solidFill>
            </a:endParaRPr>
          </a:p>
        </p:txBody>
      </p:sp>
      <p:pic>
        <p:nvPicPr>
          <p:cNvPr id="10" name="Picture 9" descr="A picture containing text, electronics&#10;&#10;Description automatically generated">
            <a:extLst>
              <a:ext uri="{FF2B5EF4-FFF2-40B4-BE49-F238E27FC236}">
                <a16:creationId xmlns:a16="http://schemas.microsoft.com/office/drawing/2014/main" id="{B319D084-490E-4D4A-9678-16B4779C82B8}"/>
              </a:ext>
            </a:extLst>
          </p:cNvPr>
          <p:cNvPicPr>
            <a:picLocks noChangeAspect="1"/>
          </p:cNvPicPr>
          <p:nvPr/>
        </p:nvPicPr>
        <p:blipFill>
          <a:blip r:embed="rId3"/>
          <a:stretch>
            <a:fillRect/>
          </a:stretch>
        </p:blipFill>
        <p:spPr>
          <a:xfrm>
            <a:off x="2994581" y="1505818"/>
            <a:ext cx="4345334" cy="3312860"/>
          </a:xfrm>
          <a:prstGeom prst="rect">
            <a:avLst/>
          </a:prstGeom>
        </p:spPr>
      </p:pic>
      <p:sp>
        <p:nvSpPr>
          <p:cNvPr id="13" name="TextBox 12">
            <a:extLst>
              <a:ext uri="{FF2B5EF4-FFF2-40B4-BE49-F238E27FC236}">
                <a16:creationId xmlns:a16="http://schemas.microsoft.com/office/drawing/2014/main" id="{FB985146-A5CE-48A6-AF81-FA531EC53FE8}"/>
              </a:ext>
            </a:extLst>
          </p:cNvPr>
          <p:cNvSpPr txBox="1"/>
          <p:nvPr/>
        </p:nvSpPr>
        <p:spPr>
          <a:xfrm>
            <a:off x="1361386" y="4818678"/>
            <a:ext cx="1097608" cy="246221"/>
          </a:xfrm>
          <a:prstGeom prst="rect">
            <a:avLst/>
          </a:prstGeom>
          <a:noFill/>
        </p:spPr>
        <p:txBody>
          <a:bodyPr wrap="square" rtlCol="0">
            <a:spAutoFit/>
          </a:bodyPr>
          <a:lstStyle/>
          <a:p>
            <a:r>
              <a:rPr lang="en-US" sz="1000" dirty="0" err="1">
                <a:solidFill>
                  <a:srgbClr val="7030A0"/>
                </a:solidFill>
              </a:rPr>
              <a:t>Bolstad</a:t>
            </a:r>
            <a:r>
              <a:rPr lang="en-US" sz="1000" dirty="0">
                <a:solidFill>
                  <a:srgbClr val="7030A0"/>
                </a:solidFill>
              </a:rPr>
              <a:t>, 2019</a:t>
            </a:r>
          </a:p>
        </p:txBody>
      </p:sp>
      <p:sp>
        <p:nvSpPr>
          <p:cNvPr id="11" name="TextBox 10">
            <a:extLst>
              <a:ext uri="{FF2B5EF4-FFF2-40B4-BE49-F238E27FC236}">
                <a16:creationId xmlns:a16="http://schemas.microsoft.com/office/drawing/2014/main" id="{BD12E1C9-A7F2-4CA8-A477-1AB3A9591464}"/>
              </a:ext>
            </a:extLst>
          </p:cNvPr>
          <p:cNvSpPr txBox="1"/>
          <p:nvPr/>
        </p:nvSpPr>
        <p:spPr>
          <a:xfrm>
            <a:off x="179381" y="1161356"/>
            <a:ext cx="2693774" cy="1477328"/>
          </a:xfrm>
          <a:prstGeom prst="rect">
            <a:avLst/>
          </a:prstGeom>
          <a:noFill/>
        </p:spPr>
        <p:txBody>
          <a:bodyPr wrap="square" rtlCol="0">
            <a:spAutoFit/>
          </a:bodyPr>
          <a:lstStyle/>
          <a:p>
            <a:pPr marL="285750" indent="-285750">
              <a:buFont typeface="Courier New" panose="02070309020205020404" pitchFamily="49" charset="0"/>
              <a:buChar char="o"/>
            </a:pPr>
            <a:r>
              <a:rPr lang="en-US" dirty="0"/>
              <a:t>A raster clip/extraction operation may be performed via multiplication of a binary mask</a:t>
            </a:r>
          </a:p>
        </p:txBody>
      </p:sp>
      <p:sp>
        <p:nvSpPr>
          <p:cNvPr id="2" name="Slide Number Placeholder 1">
            <a:extLst>
              <a:ext uri="{FF2B5EF4-FFF2-40B4-BE49-F238E27FC236}">
                <a16:creationId xmlns:a16="http://schemas.microsoft.com/office/drawing/2014/main" id="{703723ED-A5F4-4FAF-9CAB-67F0A8612387}"/>
              </a:ext>
            </a:extLst>
          </p:cNvPr>
          <p:cNvSpPr>
            <a:spLocks noGrp="1"/>
          </p:cNvSpPr>
          <p:nvPr>
            <p:ph type="sldNum" sz="quarter" idx="12"/>
          </p:nvPr>
        </p:nvSpPr>
        <p:spPr/>
        <p:txBody>
          <a:bodyPr/>
          <a:lstStyle/>
          <a:p>
            <a:fld id="{127DDC20-79C9-9647-820E-6D40A3D210C3}" type="slidenum">
              <a:rPr lang="en-US" smtClean="0"/>
              <a:pPr/>
              <a:t>24</a:t>
            </a:fld>
            <a:endParaRPr lang="en-US"/>
          </a:p>
        </p:txBody>
      </p:sp>
    </p:spTree>
    <p:extLst>
      <p:ext uri="{BB962C8B-B14F-4D97-AF65-F5344CB8AC3E}">
        <p14:creationId xmlns:p14="http://schemas.microsoft.com/office/powerpoint/2010/main" val="92438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2289177" y="2165677"/>
            <a:ext cx="3651245" cy="661413"/>
          </a:xfrm>
        </p:spPr>
        <p:txBody>
          <a:bodyPr/>
          <a:lstStyle/>
          <a:p>
            <a:pPr algn="ctr"/>
            <a:r>
              <a:rPr lang="en-US" dirty="0"/>
              <a:t>Local function Stack</a:t>
            </a:r>
          </a:p>
        </p:txBody>
      </p:sp>
      <p:sp>
        <p:nvSpPr>
          <p:cNvPr id="3" name="Slide Number Placeholder 2">
            <a:extLst>
              <a:ext uri="{FF2B5EF4-FFF2-40B4-BE49-F238E27FC236}">
                <a16:creationId xmlns:a16="http://schemas.microsoft.com/office/drawing/2014/main" id="{73EF17C7-717D-476C-9832-9780B4E851DD}"/>
              </a:ext>
            </a:extLst>
          </p:cNvPr>
          <p:cNvSpPr>
            <a:spLocks noGrp="1"/>
          </p:cNvSpPr>
          <p:nvPr>
            <p:ph type="sldNum" sz="quarter" idx="12"/>
          </p:nvPr>
        </p:nvSpPr>
        <p:spPr/>
        <p:txBody>
          <a:bodyPr/>
          <a:lstStyle/>
          <a:p>
            <a:fld id="{127DDC20-79C9-9647-820E-6D40A3D210C3}" type="slidenum">
              <a:rPr lang="en-US" smtClean="0"/>
              <a:pPr/>
              <a:t>25</a:t>
            </a:fld>
            <a:endParaRPr lang="en-US"/>
          </a:p>
        </p:txBody>
      </p:sp>
    </p:spTree>
    <p:extLst>
      <p:ext uri="{BB962C8B-B14F-4D97-AF65-F5344CB8AC3E}">
        <p14:creationId xmlns:p14="http://schemas.microsoft.com/office/powerpoint/2010/main" val="696027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1"/>
            </p:custDataLst>
          </p:nvPr>
        </p:nvSpPr>
        <p:spPr>
          <a:xfrm>
            <a:off x="152400" y="951018"/>
            <a:ext cx="5039137" cy="2597525"/>
          </a:xfrm>
        </p:spPr>
        <p:txBody>
          <a:bodyPr>
            <a:normAutofit/>
          </a:bodyPr>
          <a:lstStyle/>
          <a:p>
            <a:pPr>
              <a:buFont typeface="Courier New" panose="02070309020205020404" pitchFamily="49" charset="0"/>
              <a:buChar char="o"/>
            </a:pPr>
            <a:r>
              <a:rPr lang="en-US" sz="1800" dirty="0"/>
              <a:t>Stack or combine individual grids into a multiband raster</a:t>
            </a:r>
          </a:p>
          <a:p>
            <a:pPr>
              <a:buFont typeface="Courier New" panose="02070309020205020404" pitchFamily="49" charset="0"/>
              <a:buChar char="o"/>
            </a:pPr>
            <a:r>
              <a:rPr lang="en-US" sz="1800" dirty="0"/>
              <a:t>Commonly used for image data</a:t>
            </a:r>
          </a:p>
          <a:p>
            <a:pPr>
              <a:buFont typeface="Courier New" panose="02070309020205020404" pitchFamily="49" charset="0"/>
              <a:buChar char="o"/>
            </a:pPr>
            <a:r>
              <a:rPr lang="en-US" sz="1800" dirty="0"/>
              <a:t>Can be used for all raster data, not just images</a:t>
            </a:r>
          </a:p>
          <a:p>
            <a:pPr>
              <a:buFont typeface="Courier New" panose="02070309020205020404" pitchFamily="49" charset="0"/>
              <a:buChar char="o"/>
            </a:pPr>
            <a:r>
              <a:rPr lang="en-US" sz="1800" dirty="0"/>
              <a:t>Output bands or layers will all have the same pixel type (e.g., 8-bit+16-bit</a:t>
            </a:r>
            <a:r>
              <a:rPr lang="en-US" sz="1800" dirty="0">
                <a:sym typeface="Wingdings" panose="05000000000000000000" pitchFamily="2" charset="2"/>
              </a:rPr>
              <a:t>16-bit</a:t>
            </a:r>
            <a:r>
              <a:rPr lang="en-US" sz="1800" dirty="0"/>
              <a:t>)</a:t>
            </a:r>
          </a:p>
          <a:p>
            <a:pPr>
              <a:buFont typeface="Courier New" panose="02070309020205020404" pitchFamily="49" charset="0"/>
              <a:buChar char="o"/>
            </a:pPr>
            <a:r>
              <a:rPr lang="en-US" sz="1800" dirty="0"/>
              <a:t>Bands will be layered in the order provided</a:t>
            </a:r>
          </a:p>
        </p:txBody>
      </p:sp>
      <p:sp>
        <p:nvSpPr>
          <p:cNvPr id="2" name="Slide Number Placeholder 1">
            <a:extLst>
              <a:ext uri="{FF2B5EF4-FFF2-40B4-BE49-F238E27FC236}">
                <a16:creationId xmlns:a16="http://schemas.microsoft.com/office/drawing/2014/main" id="{F2D6F304-6C42-4702-B637-F6D9732A9303}"/>
              </a:ext>
            </a:extLst>
          </p:cNvPr>
          <p:cNvSpPr>
            <a:spLocks noGrp="1"/>
          </p:cNvSpPr>
          <p:nvPr>
            <p:ph type="sldNum" sz="quarter" idx="12"/>
          </p:nvPr>
        </p:nvSpPr>
        <p:spPr/>
        <p:txBody>
          <a:bodyPr/>
          <a:lstStyle/>
          <a:p>
            <a:fld id="{127DDC20-79C9-9647-820E-6D40A3D210C3}" type="slidenum">
              <a:rPr lang="en-US" smtClean="0"/>
              <a:pPr/>
              <a:t>26</a:t>
            </a:fld>
            <a:endParaRPr lang="en-US"/>
          </a:p>
        </p:txBody>
      </p:sp>
      <p:pic>
        <p:nvPicPr>
          <p:cNvPr id="4" name="Picture 3" descr="Image showing composite bands tool"/>
          <p:cNvPicPr>
            <a:picLocks noChangeAspect="1"/>
          </p:cNvPicPr>
          <p:nvPr/>
        </p:nvPicPr>
        <p:blipFill>
          <a:blip r:embed="rId4"/>
          <a:stretch>
            <a:fillRect/>
          </a:stretch>
        </p:blipFill>
        <p:spPr>
          <a:xfrm>
            <a:off x="5626294" y="1299533"/>
            <a:ext cx="1924843" cy="1451448"/>
          </a:xfrm>
          <a:prstGeom prst="rect">
            <a:avLst/>
          </a:prstGeom>
        </p:spPr>
      </p:pic>
      <p:pic>
        <p:nvPicPr>
          <p:cNvPr id="5" name="Picture 4" descr="Image showing stack tool"/>
          <p:cNvPicPr>
            <a:picLocks noChangeAspect="1"/>
          </p:cNvPicPr>
          <p:nvPr/>
        </p:nvPicPr>
        <p:blipFill>
          <a:blip r:embed="rId5"/>
          <a:stretch>
            <a:fillRect/>
          </a:stretch>
        </p:blipFill>
        <p:spPr>
          <a:xfrm>
            <a:off x="5626294" y="3362450"/>
            <a:ext cx="1924843" cy="1669972"/>
          </a:xfrm>
          <a:prstGeom prst="rect">
            <a:avLst/>
          </a:prstGeom>
        </p:spPr>
      </p:pic>
      <p:pic>
        <p:nvPicPr>
          <p:cNvPr id="6" name="Picture 5" descr="Image showing stack example"/>
          <p:cNvPicPr>
            <a:picLocks noChangeAspect="1"/>
          </p:cNvPicPr>
          <p:nvPr/>
        </p:nvPicPr>
        <p:blipFill>
          <a:blip r:embed="rId6">
            <a:clrChange>
              <a:clrFrom>
                <a:srgbClr val="FFFFFF"/>
              </a:clrFrom>
              <a:clrTo>
                <a:srgbClr val="FFFFFF">
                  <a:alpha val="0"/>
                </a:srgbClr>
              </a:clrTo>
            </a:clrChange>
          </a:blip>
          <a:stretch>
            <a:fillRect/>
          </a:stretch>
        </p:blipFill>
        <p:spPr>
          <a:xfrm>
            <a:off x="2260444" y="3763106"/>
            <a:ext cx="1188838" cy="1219947"/>
          </a:xfrm>
          <a:prstGeom prst="rect">
            <a:avLst/>
          </a:prstGeom>
        </p:spPr>
      </p:pic>
      <p:cxnSp>
        <p:nvCxnSpPr>
          <p:cNvPr id="7" name="Straight Connector 6">
            <a:extLst>
              <a:ext uri="{FF2B5EF4-FFF2-40B4-BE49-F238E27FC236}">
                <a16:creationId xmlns:a16="http://schemas.microsoft.com/office/drawing/2014/main" id="{936B4D3C-C89F-4B5E-B69A-1DC2814ED3B9}"/>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259BD903-FB64-4352-A983-714D3BB71FD5}"/>
              </a:ext>
            </a:extLst>
          </p:cNvPr>
          <p:cNvSpPr txBox="1">
            <a:spLocks/>
          </p:cNvSpPr>
          <p:nvPr/>
        </p:nvSpPr>
        <p:spPr>
          <a:xfrm>
            <a:off x="243980" y="20059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Stack Grids</a:t>
            </a:r>
            <a:endParaRPr lang="en-US" sz="2600" dirty="0">
              <a:solidFill>
                <a:srgbClr val="7030A0"/>
              </a:solidFill>
            </a:endParaRPr>
          </a:p>
        </p:txBody>
      </p:sp>
      <p:sp>
        <p:nvSpPr>
          <p:cNvPr id="9" name="TextBox 8">
            <a:extLst>
              <a:ext uri="{FF2B5EF4-FFF2-40B4-BE49-F238E27FC236}">
                <a16:creationId xmlns:a16="http://schemas.microsoft.com/office/drawing/2014/main" id="{4CB844EA-F821-4504-9331-BE0689CF20FF}"/>
              </a:ext>
            </a:extLst>
          </p:cNvPr>
          <p:cNvSpPr txBox="1"/>
          <p:nvPr/>
        </p:nvSpPr>
        <p:spPr>
          <a:xfrm>
            <a:off x="5999630" y="2942937"/>
            <a:ext cx="1199029" cy="369332"/>
          </a:xfrm>
          <a:prstGeom prst="rect">
            <a:avLst/>
          </a:prstGeom>
          <a:noFill/>
        </p:spPr>
        <p:txBody>
          <a:bodyPr wrap="square">
            <a:spAutoFit/>
          </a:bodyPr>
          <a:lstStyle/>
          <a:p>
            <a:r>
              <a:rPr lang="en-US" baseline="0" dirty="0"/>
              <a:t>Stack Tool </a:t>
            </a:r>
            <a:endParaRPr lang="en-US" dirty="0"/>
          </a:p>
        </p:txBody>
      </p:sp>
      <p:sp>
        <p:nvSpPr>
          <p:cNvPr id="11" name="TextBox 10">
            <a:extLst>
              <a:ext uri="{FF2B5EF4-FFF2-40B4-BE49-F238E27FC236}">
                <a16:creationId xmlns:a16="http://schemas.microsoft.com/office/drawing/2014/main" id="{8CF93979-86F2-45E7-A600-A999E70C00F3}"/>
              </a:ext>
            </a:extLst>
          </p:cNvPr>
          <p:cNvSpPr txBox="1"/>
          <p:nvPr/>
        </p:nvSpPr>
        <p:spPr>
          <a:xfrm>
            <a:off x="5473567" y="934952"/>
            <a:ext cx="2325727" cy="369332"/>
          </a:xfrm>
          <a:prstGeom prst="rect">
            <a:avLst/>
          </a:prstGeom>
          <a:noFill/>
        </p:spPr>
        <p:txBody>
          <a:bodyPr wrap="square">
            <a:spAutoFit/>
          </a:bodyPr>
          <a:lstStyle/>
          <a:p>
            <a:r>
              <a:rPr lang="en-US" baseline="0" dirty="0"/>
              <a:t>Composite Bands Tool</a:t>
            </a:r>
            <a:endParaRPr lang="en-US" dirty="0"/>
          </a:p>
        </p:txBody>
      </p:sp>
      <p:sp>
        <p:nvSpPr>
          <p:cNvPr id="10" name="TextBox 9">
            <a:extLst>
              <a:ext uri="{FF2B5EF4-FFF2-40B4-BE49-F238E27FC236}">
                <a16:creationId xmlns:a16="http://schemas.microsoft.com/office/drawing/2014/main" id="{C5BA8892-12C9-4DF4-999F-770B83C1EAA8}"/>
              </a:ext>
            </a:extLst>
          </p:cNvPr>
          <p:cNvSpPr txBox="1"/>
          <p:nvPr/>
        </p:nvSpPr>
        <p:spPr>
          <a:xfrm>
            <a:off x="427674" y="4626077"/>
            <a:ext cx="1832770" cy="369332"/>
          </a:xfrm>
          <a:prstGeom prst="rect">
            <a:avLst/>
          </a:prstGeom>
          <a:noFill/>
        </p:spPr>
        <p:txBody>
          <a:bodyPr wrap="square" rtlCol="0">
            <a:spAutoFit/>
          </a:bodyPr>
          <a:lstStyle/>
          <a:p>
            <a:r>
              <a:rPr lang="en-US" dirty="0">
                <a:solidFill>
                  <a:srgbClr val="FF0000"/>
                </a:solidFill>
              </a:rPr>
              <a:t>Demonstration!</a:t>
            </a:r>
          </a:p>
        </p:txBody>
      </p:sp>
    </p:spTree>
    <p:extLst>
      <p:ext uri="{BB962C8B-B14F-4D97-AF65-F5344CB8AC3E}">
        <p14:creationId xmlns:p14="http://schemas.microsoft.com/office/powerpoint/2010/main" val="504504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700D79D6-47A0-F977-189E-01073F92651E}"/>
              </a:ext>
            </a:extLst>
          </p:cNvPr>
          <p:cNvPicPr>
            <a:picLocks noGrp="1" noChangeAspect="1"/>
          </p:cNvPicPr>
          <p:nvPr>
            <p:ph idx="1"/>
          </p:nvPr>
        </p:nvPicPr>
        <p:blipFill>
          <a:blip r:embed="rId2"/>
          <a:stretch>
            <a:fillRect/>
          </a:stretch>
        </p:blipFill>
        <p:spPr>
          <a:xfrm>
            <a:off x="571151" y="1150122"/>
            <a:ext cx="2904858" cy="2725738"/>
          </a:xfrm>
          <a:prstGeom prst="rect">
            <a:avLst/>
          </a:prstGeom>
        </p:spPr>
      </p:pic>
      <p:sp>
        <p:nvSpPr>
          <p:cNvPr id="4" name="Slide Number Placeholder 3">
            <a:extLst>
              <a:ext uri="{FF2B5EF4-FFF2-40B4-BE49-F238E27FC236}">
                <a16:creationId xmlns:a16="http://schemas.microsoft.com/office/drawing/2014/main" id="{480B35ED-808A-0369-1DE8-10A644E27A7F}"/>
              </a:ext>
            </a:extLst>
          </p:cNvPr>
          <p:cNvSpPr>
            <a:spLocks noGrp="1"/>
          </p:cNvSpPr>
          <p:nvPr>
            <p:ph type="sldNum" sz="quarter" idx="12"/>
          </p:nvPr>
        </p:nvSpPr>
        <p:spPr/>
        <p:txBody>
          <a:bodyPr/>
          <a:lstStyle/>
          <a:p>
            <a:fld id="{127DDC20-79C9-9647-820E-6D40A3D210C3}" type="slidenum">
              <a:rPr lang="en-US" smtClean="0"/>
              <a:pPr/>
              <a:t>27</a:t>
            </a:fld>
            <a:endParaRPr lang="en-US"/>
          </a:p>
        </p:txBody>
      </p:sp>
      <p:sp>
        <p:nvSpPr>
          <p:cNvPr id="5" name="Title 1">
            <a:extLst>
              <a:ext uri="{FF2B5EF4-FFF2-40B4-BE49-F238E27FC236}">
                <a16:creationId xmlns:a16="http://schemas.microsoft.com/office/drawing/2014/main" id="{66F72997-9FFC-03B0-F776-B1E4BD4B7CD4}"/>
              </a:ext>
            </a:extLst>
          </p:cNvPr>
          <p:cNvSpPr txBox="1">
            <a:spLocks/>
          </p:cNvSpPr>
          <p:nvPr/>
        </p:nvSpPr>
        <p:spPr>
          <a:xfrm>
            <a:off x="243980" y="20059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Band Stack of Landsat 8</a:t>
            </a:r>
            <a:endParaRPr lang="en-US" sz="2600" dirty="0">
              <a:solidFill>
                <a:srgbClr val="7030A0"/>
              </a:solidFill>
            </a:endParaRPr>
          </a:p>
        </p:txBody>
      </p:sp>
      <p:sp>
        <p:nvSpPr>
          <p:cNvPr id="12" name="TextBox 11">
            <a:extLst>
              <a:ext uri="{FF2B5EF4-FFF2-40B4-BE49-F238E27FC236}">
                <a16:creationId xmlns:a16="http://schemas.microsoft.com/office/drawing/2014/main" id="{7AB61A1B-6AFA-CF6A-BB01-8C037D3C07B7}"/>
              </a:ext>
            </a:extLst>
          </p:cNvPr>
          <p:cNvSpPr txBox="1"/>
          <p:nvPr/>
        </p:nvSpPr>
        <p:spPr>
          <a:xfrm>
            <a:off x="4613943" y="4005643"/>
            <a:ext cx="3011650" cy="923330"/>
          </a:xfrm>
          <a:prstGeom prst="rect">
            <a:avLst/>
          </a:prstGeom>
          <a:noFill/>
        </p:spPr>
        <p:txBody>
          <a:bodyPr wrap="square" rtlCol="0">
            <a:spAutoFit/>
          </a:bodyPr>
          <a:lstStyle/>
          <a:p>
            <a:r>
              <a:rPr lang="en-US" altLang="zh-CN" dirty="0"/>
              <a:t>Band 10,5,4</a:t>
            </a:r>
          </a:p>
          <a:p>
            <a:r>
              <a:rPr lang="en-US" altLang="zh-CN" dirty="0"/>
              <a:t>The burn area appears as a bright red</a:t>
            </a:r>
            <a:endParaRPr lang="zh-CN" altLang="en-US" dirty="0"/>
          </a:p>
        </p:txBody>
      </p:sp>
      <p:sp>
        <p:nvSpPr>
          <p:cNvPr id="13" name="TextBox 12">
            <a:extLst>
              <a:ext uri="{FF2B5EF4-FFF2-40B4-BE49-F238E27FC236}">
                <a16:creationId xmlns:a16="http://schemas.microsoft.com/office/drawing/2014/main" id="{C3001608-9CFC-DCDD-AEC3-27D6113ECA5E}"/>
              </a:ext>
            </a:extLst>
          </p:cNvPr>
          <p:cNvSpPr txBox="1"/>
          <p:nvPr/>
        </p:nvSpPr>
        <p:spPr>
          <a:xfrm>
            <a:off x="1268134" y="4120284"/>
            <a:ext cx="1853967" cy="369332"/>
          </a:xfrm>
          <a:prstGeom prst="rect">
            <a:avLst/>
          </a:prstGeom>
          <a:noFill/>
        </p:spPr>
        <p:txBody>
          <a:bodyPr wrap="square" rtlCol="0">
            <a:spAutoFit/>
          </a:bodyPr>
          <a:lstStyle/>
          <a:p>
            <a:r>
              <a:rPr lang="en-US" altLang="zh-CN" dirty="0"/>
              <a:t>Band 1,3,4</a:t>
            </a:r>
            <a:endParaRPr lang="zh-CN" altLang="en-US" dirty="0"/>
          </a:p>
        </p:txBody>
      </p:sp>
      <p:pic>
        <p:nvPicPr>
          <p:cNvPr id="15" name="Picture 14">
            <a:extLst>
              <a:ext uri="{FF2B5EF4-FFF2-40B4-BE49-F238E27FC236}">
                <a16:creationId xmlns:a16="http://schemas.microsoft.com/office/drawing/2014/main" id="{D9E67D0A-91A8-59E3-F02C-1CFC1AC3374B}"/>
              </a:ext>
            </a:extLst>
          </p:cNvPr>
          <p:cNvPicPr>
            <a:picLocks noChangeAspect="1"/>
          </p:cNvPicPr>
          <p:nvPr/>
        </p:nvPicPr>
        <p:blipFill>
          <a:blip r:embed="rId3"/>
          <a:stretch>
            <a:fillRect/>
          </a:stretch>
        </p:blipFill>
        <p:spPr>
          <a:xfrm>
            <a:off x="4483128" y="1130757"/>
            <a:ext cx="2850344" cy="2725739"/>
          </a:xfrm>
          <a:prstGeom prst="rect">
            <a:avLst/>
          </a:prstGeom>
        </p:spPr>
      </p:pic>
    </p:spTree>
    <p:extLst>
      <p:ext uri="{BB962C8B-B14F-4D97-AF65-F5344CB8AC3E}">
        <p14:creationId xmlns:p14="http://schemas.microsoft.com/office/powerpoint/2010/main" val="31401207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710896" y="1936677"/>
            <a:ext cx="6807808" cy="919065"/>
          </a:xfrm>
        </p:spPr>
        <p:txBody>
          <a:bodyPr/>
          <a:lstStyle/>
          <a:p>
            <a:r>
              <a:rPr lang="en-US" dirty="0"/>
              <a:t>Neighborhood-Based Analysis</a:t>
            </a:r>
          </a:p>
        </p:txBody>
      </p:sp>
      <p:sp>
        <p:nvSpPr>
          <p:cNvPr id="3" name="Slide Number Placeholder 2">
            <a:extLst>
              <a:ext uri="{FF2B5EF4-FFF2-40B4-BE49-F238E27FC236}">
                <a16:creationId xmlns:a16="http://schemas.microsoft.com/office/drawing/2014/main" id="{AAAB5147-0B13-4812-8E3B-A4AD34C56C89}"/>
              </a:ext>
            </a:extLst>
          </p:cNvPr>
          <p:cNvSpPr>
            <a:spLocks noGrp="1"/>
          </p:cNvSpPr>
          <p:nvPr>
            <p:ph type="sldNum" sz="quarter" idx="12"/>
          </p:nvPr>
        </p:nvSpPr>
        <p:spPr/>
        <p:txBody>
          <a:bodyPr/>
          <a:lstStyle/>
          <a:p>
            <a:fld id="{127DDC20-79C9-9647-820E-6D40A3D210C3}" type="slidenum">
              <a:rPr lang="en-US" smtClean="0"/>
              <a:pPr/>
              <a:t>28</a:t>
            </a:fld>
            <a:endParaRPr lang="en-US"/>
          </a:p>
        </p:txBody>
      </p:sp>
    </p:spTree>
    <p:extLst>
      <p:ext uri="{BB962C8B-B14F-4D97-AF65-F5344CB8AC3E}">
        <p14:creationId xmlns:p14="http://schemas.microsoft.com/office/powerpoint/2010/main" val="3345075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9A29E90F-BAD9-83D7-EA1C-65D64BCF2D6C}"/>
              </a:ext>
            </a:extLst>
          </p:cNvPr>
          <p:cNvPicPr>
            <a:picLocks noGrp="1" noChangeAspect="1"/>
          </p:cNvPicPr>
          <p:nvPr>
            <p:ph idx="1"/>
          </p:nvPr>
        </p:nvPicPr>
        <p:blipFill>
          <a:blip r:embed="rId2"/>
          <a:stretch>
            <a:fillRect/>
          </a:stretch>
        </p:blipFill>
        <p:spPr>
          <a:xfrm>
            <a:off x="4170041" y="1046746"/>
            <a:ext cx="4059559" cy="3696510"/>
          </a:xfrm>
          <a:prstGeom prst="rect">
            <a:avLst/>
          </a:prstGeom>
        </p:spPr>
      </p:pic>
      <p:sp>
        <p:nvSpPr>
          <p:cNvPr id="4" name="Slide Number Placeholder 3">
            <a:extLst>
              <a:ext uri="{FF2B5EF4-FFF2-40B4-BE49-F238E27FC236}">
                <a16:creationId xmlns:a16="http://schemas.microsoft.com/office/drawing/2014/main" id="{C4D88791-680B-9C1F-3065-DAF21F3BF4B2}"/>
              </a:ext>
            </a:extLst>
          </p:cNvPr>
          <p:cNvSpPr>
            <a:spLocks noGrp="1"/>
          </p:cNvSpPr>
          <p:nvPr>
            <p:ph type="sldNum" sz="quarter" idx="12"/>
          </p:nvPr>
        </p:nvSpPr>
        <p:spPr/>
        <p:txBody>
          <a:bodyPr/>
          <a:lstStyle/>
          <a:p>
            <a:fld id="{127DDC20-79C9-9647-820E-6D40A3D210C3}" type="slidenum">
              <a:rPr lang="en-US" smtClean="0"/>
              <a:pPr/>
              <a:t>29</a:t>
            </a:fld>
            <a:endParaRPr lang="en-US"/>
          </a:p>
        </p:txBody>
      </p:sp>
      <p:sp>
        <p:nvSpPr>
          <p:cNvPr id="7" name="Title 1">
            <a:extLst>
              <a:ext uri="{FF2B5EF4-FFF2-40B4-BE49-F238E27FC236}">
                <a16:creationId xmlns:a16="http://schemas.microsoft.com/office/drawing/2014/main" id="{ACB38556-36FF-4E2A-06DB-435BB2511FE6}"/>
              </a:ext>
            </a:extLst>
          </p:cNvPr>
          <p:cNvSpPr txBox="1">
            <a:spLocks/>
          </p:cNvSpPr>
          <p:nvPr/>
        </p:nvSpPr>
        <p:spPr>
          <a:xfrm>
            <a:off x="281993" y="18949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Neighborhood Function</a:t>
            </a:r>
            <a:endParaRPr lang="en-US" sz="2600" dirty="0">
              <a:solidFill>
                <a:srgbClr val="7030A0"/>
              </a:solidFill>
            </a:endParaRPr>
          </a:p>
        </p:txBody>
      </p:sp>
      <p:sp>
        <p:nvSpPr>
          <p:cNvPr id="9" name="TextBox 8">
            <a:extLst>
              <a:ext uri="{FF2B5EF4-FFF2-40B4-BE49-F238E27FC236}">
                <a16:creationId xmlns:a16="http://schemas.microsoft.com/office/drawing/2014/main" id="{655A77B0-651F-F660-4962-D7F98C2D050D}"/>
              </a:ext>
            </a:extLst>
          </p:cNvPr>
          <p:cNvSpPr txBox="1"/>
          <p:nvPr/>
        </p:nvSpPr>
        <p:spPr>
          <a:xfrm>
            <a:off x="142877" y="1279088"/>
            <a:ext cx="4027164" cy="2585323"/>
          </a:xfrm>
          <a:prstGeom prst="rect">
            <a:avLst/>
          </a:prstGeom>
          <a:noFill/>
        </p:spPr>
        <p:txBody>
          <a:bodyPr wrap="square">
            <a:spAutoFit/>
          </a:bodyPr>
          <a:lstStyle/>
          <a:p>
            <a:pPr marL="285750" indent="-285750">
              <a:buFont typeface="Wingdings" panose="05000000000000000000" pitchFamily="2" charset="2"/>
              <a:buChar char="ü"/>
            </a:pPr>
            <a:r>
              <a:rPr lang="en-US" altLang="zh-CN" dirty="0"/>
              <a:t>A moving window is a </a:t>
            </a:r>
            <a:r>
              <a:rPr lang="zh-CN" altLang="en-US" dirty="0"/>
              <a:t>configuration of raster cells used to specify the input values for an operation</a:t>
            </a:r>
            <a:r>
              <a:rPr lang="en-US" altLang="zh-CN" dirty="0"/>
              <a:t>.</a:t>
            </a:r>
            <a:r>
              <a:rPr lang="zh-CN" altLang="en-US" dirty="0"/>
              <a:t> </a:t>
            </a:r>
            <a:endParaRPr lang="en-US" altLang="zh-CN" dirty="0"/>
          </a:p>
          <a:p>
            <a:pPr marL="285750" indent="-285750">
              <a:buFont typeface="Wingdings" panose="05000000000000000000" pitchFamily="2" charset="2"/>
              <a:buChar char="ü"/>
            </a:pPr>
            <a:endParaRPr lang="en-US" altLang="zh-CN" dirty="0"/>
          </a:p>
          <a:p>
            <a:pPr marL="285750" indent="-285750">
              <a:buFont typeface="Wingdings" panose="05000000000000000000" pitchFamily="2" charset="2"/>
              <a:buChar char="ü"/>
            </a:pPr>
            <a:r>
              <a:rPr lang="zh-CN" altLang="en-US" dirty="0"/>
              <a:t>The window is positioned </a:t>
            </a:r>
            <a:r>
              <a:rPr lang="en-US" altLang="zh-CN" dirty="0"/>
              <a:t>at</a:t>
            </a:r>
            <a:r>
              <a:rPr lang="zh-CN" altLang="en-US" dirty="0"/>
              <a:t> a given location over the input raster</a:t>
            </a:r>
            <a:r>
              <a:rPr lang="en-US" altLang="zh-CN" dirty="0"/>
              <a:t>.</a:t>
            </a:r>
          </a:p>
          <a:p>
            <a:pPr marL="285750" indent="-285750">
              <a:buFont typeface="Wingdings" panose="05000000000000000000" pitchFamily="2" charset="2"/>
              <a:buChar char="ü"/>
            </a:pPr>
            <a:endParaRPr lang="en-US" altLang="zh-CN" dirty="0"/>
          </a:p>
          <a:p>
            <a:pPr marL="285750" indent="-285750">
              <a:buFont typeface="Wingdings" panose="05000000000000000000" pitchFamily="2" charset="2"/>
              <a:buChar char="ü"/>
            </a:pPr>
            <a:r>
              <a:rPr lang="en-US" altLang="zh-CN" dirty="0"/>
              <a:t>A</a:t>
            </a:r>
            <a:r>
              <a:rPr lang="zh-CN" altLang="en-US" dirty="0"/>
              <a:t>n operation </a:t>
            </a:r>
            <a:r>
              <a:rPr lang="en-US" altLang="zh-CN" dirty="0"/>
              <a:t>is </a:t>
            </a:r>
            <a:r>
              <a:rPr lang="zh-CN" altLang="en-US" dirty="0"/>
              <a:t>applied that involves the cells contained in the window. </a:t>
            </a:r>
          </a:p>
        </p:txBody>
      </p:sp>
    </p:spTree>
    <p:extLst>
      <p:ext uri="{BB962C8B-B14F-4D97-AF65-F5344CB8AC3E}">
        <p14:creationId xmlns:p14="http://schemas.microsoft.com/office/powerpoint/2010/main" val="1874311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showing moving window"/>
          <p:cNvPicPr>
            <a:picLocks noChangeAspect="1"/>
          </p:cNvPicPr>
          <p:nvPr/>
        </p:nvPicPr>
        <p:blipFill>
          <a:blip r:embed="rId5">
            <a:clrChange>
              <a:clrFrom>
                <a:srgbClr val="FFFFFF"/>
              </a:clrFrom>
              <a:clrTo>
                <a:srgbClr val="FFFFFF">
                  <a:alpha val="0"/>
                </a:srgbClr>
              </a:clrTo>
            </a:clrChange>
          </a:blip>
          <a:stretch>
            <a:fillRect/>
          </a:stretch>
        </p:blipFill>
        <p:spPr>
          <a:xfrm>
            <a:off x="1182241" y="1542782"/>
            <a:ext cx="2881110" cy="2860604"/>
          </a:xfrm>
          <a:prstGeom prst="rect">
            <a:avLst/>
          </a:prstGeom>
        </p:spPr>
      </p:pic>
      <p:pic>
        <p:nvPicPr>
          <p:cNvPr id="3" name="Picture 2" descr="Image showing moving window"/>
          <p:cNvPicPr>
            <a:picLocks noChangeAspect="1"/>
          </p:cNvPicPr>
          <p:nvPr/>
        </p:nvPicPr>
        <p:blipFill>
          <a:blip r:embed="rId6">
            <a:clrChange>
              <a:clrFrom>
                <a:srgbClr val="FFFFFF"/>
              </a:clrFrom>
              <a:clrTo>
                <a:srgbClr val="FFFFFF">
                  <a:alpha val="0"/>
                </a:srgbClr>
              </a:clrTo>
            </a:clrChange>
          </a:blip>
          <a:stretch>
            <a:fillRect/>
          </a:stretch>
        </p:blipFill>
        <p:spPr>
          <a:xfrm>
            <a:off x="4423490" y="1494425"/>
            <a:ext cx="2920287" cy="2961129"/>
          </a:xfrm>
          <a:prstGeom prst="rect">
            <a:avLst/>
          </a:prstGeom>
        </p:spPr>
      </p:pic>
      <p:sp>
        <p:nvSpPr>
          <p:cNvPr id="6" name="TextBox 5"/>
          <p:cNvSpPr txBox="1"/>
          <p:nvPr>
            <p:custDataLst>
              <p:tags r:id="rId1"/>
            </p:custDataLst>
          </p:nvPr>
        </p:nvSpPr>
        <p:spPr>
          <a:xfrm>
            <a:off x="667757" y="4496986"/>
            <a:ext cx="3755733" cy="316690"/>
          </a:xfrm>
          <a:prstGeom prst="rect">
            <a:avLst/>
          </a:prstGeom>
          <a:noFill/>
        </p:spPr>
        <p:txBody>
          <a:bodyPr wrap="square" rtlCol="0">
            <a:spAutoFit/>
          </a:bodyPr>
          <a:lstStyle/>
          <a:p>
            <a:pPr>
              <a:lnSpc>
                <a:spcPct val="90000"/>
              </a:lnSpc>
            </a:pPr>
            <a:r>
              <a:rPr lang="en-US" sz="1620" b="1" dirty="0">
                <a:solidFill>
                  <a:srgbClr val="E3874F"/>
                </a:solidFill>
              </a:rPr>
              <a:t>Rectangle</a:t>
            </a:r>
            <a:r>
              <a:rPr lang="en-US" sz="1620" dirty="0"/>
              <a:t>, Width = 3 cells Height = 3 cells</a:t>
            </a:r>
          </a:p>
        </p:txBody>
      </p:sp>
      <p:sp>
        <p:nvSpPr>
          <p:cNvPr id="7" name="TextBox 6"/>
          <p:cNvSpPr txBox="1"/>
          <p:nvPr>
            <p:custDataLst>
              <p:tags r:id="rId2"/>
            </p:custDataLst>
          </p:nvPr>
        </p:nvSpPr>
        <p:spPr>
          <a:xfrm>
            <a:off x="4269145" y="4496986"/>
            <a:ext cx="3755733" cy="316690"/>
          </a:xfrm>
          <a:prstGeom prst="rect">
            <a:avLst/>
          </a:prstGeom>
          <a:noFill/>
        </p:spPr>
        <p:txBody>
          <a:bodyPr wrap="square" rtlCol="0">
            <a:spAutoFit/>
          </a:bodyPr>
          <a:lstStyle/>
          <a:p>
            <a:pPr>
              <a:lnSpc>
                <a:spcPct val="90000"/>
              </a:lnSpc>
            </a:pPr>
            <a:r>
              <a:rPr lang="en-US" sz="1620" b="1" dirty="0">
                <a:solidFill>
                  <a:srgbClr val="E3874F"/>
                </a:solidFill>
              </a:rPr>
              <a:t>Rectangle</a:t>
            </a:r>
            <a:r>
              <a:rPr lang="en-US" sz="1620" dirty="0"/>
              <a:t>, Width = ? cells Height = ? cells</a:t>
            </a:r>
          </a:p>
        </p:txBody>
      </p:sp>
      <p:cxnSp>
        <p:nvCxnSpPr>
          <p:cNvPr id="8" name="Straight Connector 7">
            <a:extLst>
              <a:ext uri="{FF2B5EF4-FFF2-40B4-BE49-F238E27FC236}">
                <a16:creationId xmlns:a16="http://schemas.microsoft.com/office/drawing/2014/main" id="{D2314580-4863-44DA-8D69-6700C7A733BD}"/>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1CDE8D9D-B226-4E3E-B756-B7242BB3B060}"/>
              </a:ext>
            </a:extLst>
          </p:cNvPr>
          <p:cNvSpPr txBox="1">
            <a:spLocks/>
          </p:cNvSpPr>
          <p:nvPr/>
        </p:nvSpPr>
        <p:spPr>
          <a:xfrm>
            <a:off x="230545" y="16175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Defining a Neighborhood</a:t>
            </a:r>
            <a:endParaRPr lang="en-US" sz="2600" dirty="0">
              <a:solidFill>
                <a:srgbClr val="7030A0"/>
              </a:solidFill>
            </a:endParaRPr>
          </a:p>
        </p:txBody>
      </p:sp>
      <p:sp>
        <p:nvSpPr>
          <p:cNvPr id="4" name="Slide Number Placeholder 3">
            <a:extLst>
              <a:ext uri="{FF2B5EF4-FFF2-40B4-BE49-F238E27FC236}">
                <a16:creationId xmlns:a16="http://schemas.microsoft.com/office/drawing/2014/main" id="{3F132292-6A0F-459B-BFCA-4F8CB34C51C6}"/>
              </a:ext>
            </a:extLst>
          </p:cNvPr>
          <p:cNvSpPr>
            <a:spLocks noGrp="1"/>
          </p:cNvSpPr>
          <p:nvPr>
            <p:ph type="sldNum" sz="quarter" idx="12"/>
          </p:nvPr>
        </p:nvSpPr>
        <p:spPr/>
        <p:txBody>
          <a:bodyPr/>
          <a:lstStyle/>
          <a:p>
            <a:fld id="{127DDC20-79C9-9647-820E-6D40A3D210C3}" type="slidenum">
              <a:rPr lang="en-US" smtClean="0"/>
              <a:pPr/>
              <a:t>30</a:t>
            </a:fld>
            <a:endParaRPr lang="en-US"/>
          </a:p>
        </p:txBody>
      </p:sp>
    </p:spTree>
    <p:extLst>
      <p:ext uri="{BB962C8B-B14F-4D97-AF65-F5344CB8AC3E}">
        <p14:creationId xmlns:p14="http://schemas.microsoft.com/office/powerpoint/2010/main" val="617920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showing moving window"/>
          <p:cNvPicPr>
            <a:picLocks noChangeAspect="1"/>
          </p:cNvPicPr>
          <p:nvPr/>
        </p:nvPicPr>
        <p:blipFill>
          <a:blip r:embed="rId5">
            <a:clrChange>
              <a:clrFrom>
                <a:srgbClr val="FFFFFF"/>
              </a:clrFrom>
              <a:clrTo>
                <a:srgbClr val="FFFFFF">
                  <a:alpha val="0"/>
                </a:srgbClr>
              </a:clrTo>
            </a:clrChange>
          </a:blip>
          <a:stretch>
            <a:fillRect/>
          </a:stretch>
        </p:blipFill>
        <p:spPr>
          <a:xfrm>
            <a:off x="1027898" y="1439885"/>
            <a:ext cx="2932557" cy="2937676"/>
          </a:xfrm>
          <a:prstGeom prst="rect">
            <a:avLst/>
          </a:prstGeom>
        </p:spPr>
      </p:pic>
      <p:pic>
        <p:nvPicPr>
          <p:cNvPr id="3" name="Picture 2" descr="Image showing moving window"/>
          <p:cNvPicPr>
            <a:picLocks noChangeAspect="1"/>
          </p:cNvPicPr>
          <p:nvPr/>
        </p:nvPicPr>
        <p:blipFill>
          <a:blip r:embed="rId6">
            <a:clrChange>
              <a:clrFrom>
                <a:srgbClr val="FFFFFF"/>
              </a:clrFrom>
              <a:clrTo>
                <a:srgbClr val="FFFFFF">
                  <a:alpha val="0"/>
                </a:srgbClr>
              </a:clrTo>
            </a:clrChange>
          </a:blip>
          <a:stretch>
            <a:fillRect/>
          </a:stretch>
        </p:blipFill>
        <p:spPr>
          <a:xfrm>
            <a:off x="4330559" y="1439885"/>
            <a:ext cx="2994169" cy="2937675"/>
          </a:xfrm>
          <a:prstGeom prst="rect">
            <a:avLst/>
          </a:prstGeom>
        </p:spPr>
      </p:pic>
      <p:sp>
        <p:nvSpPr>
          <p:cNvPr id="8" name="TextBox 7"/>
          <p:cNvSpPr txBox="1"/>
          <p:nvPr>
            <p:custDataLst>
              <p:tags r:id="rId1"/>
            </p:custDataLst>
          </p:nvPr>
        </p:nvSpPr>
        <p:spPr>
          <a:xfrm>
            <a:off x="1439483" y="4475341"/>
            <a:ext cx="3755733" cy="316690"/>
          </a:xfrm>
          <a:prstGeom prst="rect">
            <a:avLst/>
          </a:prstGeom>
          <a:noFill/>
        </p:spPr>
        <p:txBody>
          <a:bodyPr wrap="square" rtlCol="0">
            <a:spAutoFit/>
          </a:bodyPr>
          <a:lstStyle/>
          <a:p>
            <a:pPr>
              <a:lnSpc>
                <a:spcPct val="90000"/>
              </a:lnSpc>
            </a:pPr>
            <a:r>
              <a:rPr lang="en-US" sz="1620" b="1" dirty="0">
                <a:solidFill>
                  <a:srgbClr val="E3874F"/>
                </a:solidFill>
              </a:rPr>
              <a:t>Circle</a:t>
            </a:r>
            <a:r>
              <a:rPr lang="en-US" sz="1620" dirty="0"/>
              <a:t>, Radius = 1.5 cell</a:t>
            </a:r>
          </a:p>
        </p:txBody>
      </p:sp>
      <p:sp>
        <p:nvSpPr>
          <p:cNvPr id="9" name="TextBox 8"/>
          <p:cNvSpPr txBox="1"/>
          <p:nvPr>
            <p:custDataLst>
              <p:tags r:id="rId2"/>
            </p:custDataLst>
          </p:nvPr>
        </p:nvSpPr>
        <p:spPr>
          <a:xfrm>
            <a:off x="4989423" y="4475341"/>
            <a:ext cx="3755733" cy="316690"/>
          </a:xfrm>
          <a:prstGeom prst="rect">
            <a:avLst/>
          </a:prstGeom>
          <a:noFill/>
        </p:spPr>
        <p:txBody>
          <a:bodyPr wrap="square" rtlCol="0">
            <a:spAutoFit/>
          </a:bodyPr>
          <a:lstStyle/>
          <a:p>
            <a:pPr>
              <a:lnSpc>
                <a:spcPct val="90000"/>
              </a:lnSpc>
            </a:pPr>
            <a:r>
              <a:rPr lang="en-US" sz="1620" b="1" dirty="0">
                <a:solidFill>
                  <a:srgbClr val="E3874F"/>
                </a:solidFill>
              </a:rPr>
              <a:t>Circle</a:t>
            </a:r>
            <a:r>
              <a:rPr lang="en-US" sz="1620" dirty="0"/>
              <a:t>, Radius = 2.5 cells</a:t>
            </a:r>
          </a:p>
        </p:txBody>
      </p:sp>
      <p:cxnSp>
        <p:nvCxnSpPr>
          <p:cNvPr id="7" name="Straight Connector 6">
            <a:extLst>
              <a:ext uri="{FF2B5EF4-FFF2-40B4-BE49-F238E27FC236}">
                <a16:creationId xmlns:a16="http://schemas.microsoft.com/office/drawing/2014/main" id="{C007D5A5-5186-4BB4-AFA2-0304FD3BDA90}"/>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F52637B9-FA05-4EDE-8598-5726395CB848}"/>
              </a:ext>
            </a:extLst>
          </p:cNvPr>
          <p:cNvSpPr txBox="1">
            <a:spLocks/>
          </p:cNvSpPr>
          <p:nvPr/>
        </p:nvSpPr>
        <p:spPr>
          <a:xfrm>
            <a:off x="152400" y="15215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Defining a Neighborhood</a:t>
            </a:r>
            <a:endParaRPr lang="en-US" sz="2600" dirty="0">
              <a:solidFill>
                <a:srgbClr val="7030A0"/>
              </a:solidFill>
            </a:endParaRPr>
          </a:p>
        </p:txBody>
      </p:sp>
      <p:sp>
        <p:nvSpPr>
          <p:cNvPr id="4" name="Slide Number Placeholder 3">
            <a:extLst>
              <a:ext uri="{FF2B5EF4-FFF2-40B4-BE49-F238E27FC236}">
                <a16:creationId xmlns:a16="http://schemas.microsoft.com/office/drawing/2014/main" id="{41EF1712-E534-46C5-ADA2-2F0303A10305}"/>
              </a:ext>
            </a:extLst>
          </p:cNvPr>
          <p:cNvSpPr>
            <a:spLocks noGrp="1"/>
          </p:cNvSpPr>
          <p:nvPr>
            <p:ph type="sldNum" sz="quarter" idx="12"/>
          </p:nvPr>
        </p:nvSpPr>
        <p:spPr/>
        <p:txBody>
          <a:bodyPr/>
          <a:lstStyle/>
          <a:p>
            <a:fld id="{127DDC20-79C9-9647-820E-6D40A3D210C3}" type="slidenum">
              <a:rPr lang="en-US" smtClean="0"/>
              <a:pPr/>
              <a:t>31</a:t>
            </a:fld>
            <a:endParaRPr lang="en-US"/>
          </a:p>
        </p:txBody>
      </p:sp>
    </p:spTree>
    <p:extLst>
      <p:ext uri="{BB962C8B-B14F-4D97-AF65-F5344CB8AC3E}">
        <p14:creationId xmlns:p14="http://schemas.microsoft.com/office/powerpoint/2010/main" val="909986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1535518" y="995930"/>
            <a:ext cx="5158563" cy="919065"/>
          </a:xfrm>
        </p:spPr>
        <p:txBody>
          <a:bodyPr>
            <a:normAutofit/>
          </a:bodyPr>
          <a:lstStyle/>
          <a:p>
            <a:pPr algn="ctr"/>
            <a:r>
              <a:rPr lang="en-US" dirty="0"/>
              <a:t>Neighborhood function</a:t>
            </a:r>
            <a:br>
              <a:rPr lang="en-US" dirty="0"/>
            </a:br>
            <a:r>
              <a:rPr lang="en-US" dirty="0"/>
              <a:t>Focal STATISTICS</a:t>
            </a:r>
          </a:p>
        </p:txBody>
      </p:sp>
      <p:sp>
        <p:nvSpPr>
          <p:cNvPr id="3" name="Slide Number Placeholder 2">
            <a:extLst>
              <a:ext uri="{FF2B5EF4-FFF2-40B4-BE49-F238E27FC236}">
                <a16:creationId xmlns:a16="http://schemas.microsoft.com/office/drawing/2014/main" id="{01460B17-ABEC-49F4-8877-C6C55524F42F}"/>
              </a:ext>
            </a:extLst>
          </p:cNvPr>
          <p:cNvSpPr>
            <a:spLocks noGrp="1"/>
          </p:cNvSpPr>
          <p:nvPr>
            <p:ph type="sldNum" sz="quarter" idx="12"/>
          </p:nvPr>
        </p:nvSpPr>
        <p:spPr/>
        <p:txBody>
          <a:bodyPr/>
          <a:lstStyle/>
          <a:p>
            <a:fld id="{127DDC20-79C9-9647-820E-6D40A3D210C3}" type="slidenum">
              <a:rPr lang="en-US" smtClean="0"/>
              <a:pPr/>
              <a:t>32</a:t>
            </a:fld>
            <a:endParaRPr lang="en-US"/>
          </a:p>
        </p:txBody>
      </p:sp>
    </p:spTree>
    <p:extLst>
      <p:ext uri="{BB962C8B-B14F-4D97-AF65-F5344CB8AC3E}">
        <p14:creationId xmlns:p14="http://schemas.microsoft.com/office/powerpoint/2010/main" val="4140747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1"/>
            </p:custDataLst>
          </p:nvPr>
        </p:nvSpPr>
        <p:spPr>
          <a:xfrm>
            <a:off x="247567" y="1159677"/>
            <a:ext cx="6173808" cy="1581036"/>
          </a:xfrm>
        </p:spPr>
        <p:txBody>
          <a:bodyPr>
            <a:normAutofit/>
          </a:bodyPr>
          <a:lstStyle/>
          <a:p>
            <a:pPr>
              <a:buFont typeface="Courier New" panose="02070309020205020404" pitchFamily="49" charset="0"/>
              <a:buChar char="o"/>
            </a:pPr>
            <a:r>
              <a:rPr lang="en-US" sz="1800" dirty="0"/>
              <a:t>A type of window analysis</a:t>
            </a:r>
          </a:p>
          <a:p>
            <a:pPr>
              <a:buFont typeface="Courier New" panose="02070309020205020404" pitchFamily="49" charset="0"/>
              <a:buChar char="o"/>
            </a:pPr>
            <a:r>
              <a:rPr lang="en-US" sz="1800" dirty="0"/>
              <a:t>Calculates a statistic within the window</a:t>
            </a:r>
          </a:p>
          <a:p>
            <a:pPr>
              <a:buFont typeface="Courier New" panose="02070309020205020404" pitchFamily="49" charset="0"/>
              <a:buChar char="o"/>
            </a:pPr>
            <a:r>
              <a:rPr lang="en-US" sz="1800" dirty="0"/>
              <a:t>Stores result on center cell in new output</a:t>
            </a:r>
          </a:p>
          <a:p>
            <a:pPr>
              <a:buFont typeface="Courier New" panose="02070309020205020404" pitchFamily="49" charset="0"/>
              <a:buChar char="o"/>
            </a:pPr>
            <a:r>
              <a:rPr lang="en-US" sz="1800" dirty="0"/>
              <a:t>Completes operations for all cells</a:t>
            </a:r>
          </a:p>
          <a:p>
            <a:pPr marL="0" indent="0">
              <a:buNone/>
            </a:pPr>
            <a:endParaRPr lang="en-US" dirty="0"/>
          </a:p>
        </p:txBody>
      </p:sp>
      <p:sp>
        <p:nvSpPr>
          <p:cNvPr id="2" name="Slide Number Placeholder 1">
            <a:extLst>
              <a:ext uri="{FF2B5EF4-FFF2-40B4-BE49-F238E27FC236}">
                <a16:creationId xmlns:a16="http://schemas.microsoft.com/office/drawing/2014/main" id="{85D20CF2-2B34-4CD0-8A26-CD13DD98BF84}"/>
              </a:ext>
            </a:extLst>
          </p:cNvPr>
          <p:cNvSpPr>
            <a:spLocks noGrp="1"/>
          </p:cNvSpPr>
          <p:nvPr>
            <p:ph type="sldNum" sz="quarter" idx="12"/>
          </p:nvPr>
        </p:nvSpPr>
        <p:spPr/>
        <p:txBody>
          <a:bodyPr/>
          <a:lstStyle/>
          <a:p>
            <a:fld id="{127DDC20-79C9-9647-820E-6D40A3D210C3}" type="slidenum">
              <a:rPr lang="en-US" smtClean="0"/>
              <a:pPr/>
              <a:t>33</a:t>
            </a:fld>
            <a:endParaRPr lang="en-US"/>
          </a:p>
        </p:txBody>
      </p:sp>
      <p:pic>
        <p:nvPicPr>
          <p:cNvPr id="5" name="Picture 4" descr="Image showing DEM data"/>
          <p:cNvPicPr>
            <a:picLocks noChangeAspect="1"/>
          </p:cNvPicPr>
          <p:nvPr/>
        </p:nvPicPr>
        <p:blipFill>
          <a:blip r:embed="rId5">
            <a:clrChange>
              <a:clrFrom>
                <a:srgbClr val="00C5FF"/>
              </a:clrFrom>
              <a:clrTo>
                <a:srgbClr val="00C5FF">
                  <a:alpha val="0"/>
                </a:srgbClr>
              </a:clrTo>
            </a:clrChange>
          </a:blip>
          <a:stretch>
            <a:fillRect/>
          </a:stretch>
        </p:blipFill>
        <p:spPr>
          <a:xfrm>
            <a:off x="564861" y="2586370"/>
            <a:ext cx="1286210" cy="2249110"/>
          </a:xfrm>
          <a:prstGeom prst="rect">
            <a:avLst/>
          </a:prstGeom>
        </p:spPr>
      </p:pic>
      <p:sp>
        <p:nvSpPr>
          <p:cNvPr id="6" name="Right Arrow 5" descr="Image showing arrow"/>
          <p:cNvSpPr/>
          <p:nvPr>
            <p:custDataLst>
              <p:tags r:id="rId2"/>
            </p:custDataLst>
          </p:nvPr>
        </p:nvSpPr>
        <p:spPr>
          <a:xfrm>
            <a:off x="1851070" y="3710924"/>
            <a:ext cx="720278" cy="154345"/>
          </a:xfrm>
          <a:prstGeom prst="rightArrow">
            <a:avLst>
              <a:gd name="adj1" fmla="val 25510"/>
              <a:gd name="adj2" fmla="val 50000"/>
            </a:avLst>
          </a:prstGeom>
          <a:solidFill>
            <a:srgbClr val="C00000"/>
          </a:solidFill>
          <a:ln>
            <a:solidFill>
              <a:srgbClr val="C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pic>
        <p:nvPicPr>
          <p:cNvPr id="7" name="Picture 6" descr="Image showing DEM data after focal statistics"/>
          <p:cNvPicPr>
            <a:picLocks noChangeAspect="1"/>
          </p:cNvPicPr>
          <p:nvPr/>
        </p:nvPicPr>
        <p:blipFill>
          <a:blip r:embed="rId6">
            <a:clrChange>
              <a:clrFrom>
                <a:srgbClr val="00C5FF"/>
              </a:clrFrom>
              <a:clrTo>
                <a:srgbClr val="00C5FF">
                  <a:alpha val="0"/>
                </a:srgbClr>
              </a:clrTo>
            </a:clrChange>
          </a:blip>
          <a:stretch>
            <a:fillRect/>
          </a:stretch>
        </p:blipFill>
        <p:spPr>
          <a:xfrm>
            <a:off x="2721637" y="2654266"/>
            <a:ext cx="1084472" cy="2158347"/>
          </a:xfrm>
          <a:prstGeom prst="rect">
            <a:avLst/>
          </a:prstGeom>
        </p:spPr>
      </p:pic>
      <p:pic>
        <p:nvPicPr>
          <p:cNvPr id="8" name="Picture 7" descr="Image showing focal statistics window"/>
          <p:cNvPicPr>
            <a:picLocks noChangeAspect="1"/>
          </p:cNvPicPr>
          <p:nvPr/>
        </p:nvPicPr>
        <p:blipFill>
          <a:blip r:embed="rId7"/>
          <a:stretch>
            <a:fillRect/>
          </a:stretch>
        </p:blipFill>
        <p:spPr>
          <a:xfrm>
            <a:off x="5521809" y="2541128"/>
            <a:ext cx="2460224" cy="2058670"/>
          </a:xfrm>
          <a:prstGeom prst="rect">
            <a:avLst/>
          </a:prstGeom>
        </p:spPr>
      </p:pic>
      <p:cxnSp>
        <p:nvCxnSpPr>
          <p:cNvPr id="9" name="Straight Connector 8">
            <a:extLst>
              <a:ext uri="{FF2B5EF4-FFF2-40B4-BE49-F238E27FC236}">
                <a16:creationId xmlns:a16="http://schemas.microsoft.com/office/drawing/2014/main" id="{69A0A476-980D-4B48-B3F2-DA7FF5353D97}"/>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619CE9E3-55DE-4A5E-9DDF-D4CE5896FAFA}"/>
              </a:ext>
            </a:extLst>
          </p:cNvPr>
          <p:cNvSpPr txBox="1">
            <a:spLocks/>
          </p:cNvSpPr>
          <p:nvPr/>
        </p:nvSpPr>
        <p:spPr>
          <a:xfrm>
            <a:off x="247567" y="18404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Focal Statistics</a:t>
            </a:r>
            <a:endParaRPr lang="en-US" sz="2600" dirty="0">
              <a:solidFill>
                <a:srgbClr val="7030A0"/>
              </a:solidFill>
            </a:endParaRPr>
          </a:p>
        </p:txBody>
      </p:sp>
    </p:spTree>
    <p:extLst>
      <p:ext uri="{BB962C8B-B14F-4D97-AF65-F5344CB8AC3E}">
        <p14:creationId xmlns:p14="http://schemas.microsoft.com/office/powerpoint/2010/main" val="4043452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C007D5A5-5186-4BB4-AFA2-0304FD3BDA90}"/>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F52637B9-FA05-4EDE-8598-5726395CB848}"/>
              </a:ext>
            </a:extLst>
          </p:cNvPr>
          <p:cNvSpPr txBox="1">
            <a:spLocks/>
          </p:cNvSpPr>
          <p:nvPr/>
        </p:nvSpPr>
        <p:spPr>
          <a:xfrm>
            <a:off x="118533" y="15408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Focal Statistics</a:t>
            </a:r>
            <a:endParaRPr lang="en-US" sz="2600" dirty="0">
              <a:solidFill>
                <a:srgbClr val="7030A0"/>
              </a:solidFill>
            </a:endParaRPr>
          </a:p>
        </p:txBody>
      </p:sp>
      <p:pic>
        <p:nvPicPr>
          <p:cNvPr id="5" name="Picture 4" descr="Diagram&#10;&#10;Description automatically generated">
            <a:extLst>
              <a:ext uri="{FF2B5EF4-FFF2-40B4-BE49-F238E27FC236}">
                <a16:creationId xmlns:a16="http://schemas.microsoft.com/office/drawing/2014/main" id="{0A58AEDC-8231-4A81-8DE7-D3369612F08A}"/>
              </a:ext>
            </a:extLst>
          </p:cNvPr>
          <p:cNvPicPr>
            <a:picLocks noChangeAspect="1"/>
          </p:cNvPicPr>
          <p:nvPr/>
        </p:nvPicPr>
        <p:blipFill>
          <a:blip r:embed="rId3"/>
          <a:stretch>
            <a:fillRect/>
          </a:stretch>
        </p:blipFill>
        <p:spPr>
          <a:xfrm>
            <a:off x="2295483" y="1099751"/>
            <a:ext cx="3630167" cy="3870753"/>
          </a:xfrm>
          <a:prstGeom prst="rect">
            <a:avLst/>
          </a:prstGeom>
        </p:spPr>
      </p:pic>
      <p:sp>
        <p:nvSpPr>
          <p:cNvPr id="11" name="TextBox 10">
            <a:extLst>
              <a:ext uri="{FF2B5EF4-FFF2-40B4-BE49-F238E27FC236}">
                <a16:creationId xmlns:a16="http://schemas.microsoft.com/office/drawing/2014/main" id="{86C18652-2672-4AAB-8258-C8F69E6321F6}"/>
              </a:ext>
            </a:extLst>
          </p:cNvPr>
          <p:cNvSpPr txBox="1"/>
          <p:nvPr/>
        </p:nvSpPr>
        <p:spPr>
          <a:xfrm>
            <a:off x="812582" y="4818678"/>
            <a:ext cx="1097608" cy="246221"/>
          </a:xfrm>
          <a:prstGeom prst="rect">
            <a:avLst/>
          </a:prstGeom>
          <a:noFill/>
        </p:spPr>
        <p:txBody>
          <a:bodyPr wrap="square" rtlCol="0">
            <a:spAutoFit/>
          </a:bodyPr>
          <a:lstStyle/>
          <a:p>
            <a:r>
              <a:rPr lang="en-US" sz="1000" dirty="0" err="1">
                <a:solidFill>
                  <a:srgbClr val="7030A0"/>
                </a:solidFill>
              </a:rPr>
              <a:t>Bolstad</a:t>
            </a:r>
            <a:r>
              <a:rPr lang="en-US" sz="1000" dirty="0">
                <a:solidFill>
                  <a:srgbClr val="7030A0"/>
                </a:solidFill>
              </a:rPr>
              <a:t>, 2019</a:t>
            </a:r>
          </a:p>
        </p:txBody>
      </p:sp>
      <p:sp>
        <p:nvSpPr>
          <p:cNvPr id="2" name="Slide Number Placeholder 1">
            <a:extLst>
              <a:ext uri="{FF2B5EF4-FFF2-40B4-BE49-F238E27FC236}">
                <a16:creationId xmlns:a16="http://schemas.microsoft.com/office/drawing/2014/main" id="{62FFADA9-087F-4758-9158-7BB8B676FB22}"/>
              </a:ext>
            </a:extLst>
          </p:cNvPr>
          <p:cNvSpPr>
            <a:spLocks noGrp="1"/>
          </p:cNvSpPr>
          <p:nvPr>
            <p:ph type="sldNum" sz="quarter" idx="12"/>
          </p:nvPr>
        </p:nvSpPr>
        <p:spPr/>
        <p:txBody>
          <a:bodyPr/>
          <a:lstStyle/>
          <a:p>
            <a:fld id="{127DDC20-79C9-9647-820E-6D40A3D210C3}" type="slidenum">
              <a:rPr lang="en-US" smtClean="0"/>
              <a:pPr/>
              <a:t>34</a:t>
            </a:fld>
            <a:endParaRPr lang="en-US"/>
          </a:p>
        </p:txBody>
      </p:sp>
    </p:spTree>
    <p:extLst>
      <p:ext uri="{BB962C8B-B14F-4D97-AF65-F5344CB8AC3E}">
        <p14:creationId xmlns:p14="http://schemas.microsoft.com/office/powerpoint/2010/main" val="2057487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256170" y="1097287"/>
            <a:ext cx="7665811" cy="3474714"/>
          </a:xfrm>
        </p:spPr>
        <p:txBody>
          <a:bodyPr>
            <a:normAutofit/>
          </a:bodyPr>
          <a:lstStyle/>
          <a:p>
            <a:pPr marL="0" indent="0">
              <a:buNone/>
            </a:pPr>
            <a:r>
              <a:rPr lang="en-US" sz="1600" b="1" dirty="0">
                <a:solidFill>
                  <a:srgbClr val="E3874F"/>
                </a:solidFill>
              </a:rPr>
              <a:t>MEAN: </a:t>
            </a:r>
            <a:r>
              <a:rPr lang="en-US" sz="1600" dirty="0"/>
              <a:t>Calculates the mean (average value) of the cells in the neighborhood.</a:t>
            </a:r>
          </a:p>
          <a:p>
            <a:pPr marL="0" indent="0">
              <a:buNone/>
            </a:pPr>
            <a:r>
              <a:rPr lang="en-US" sz="1600" b="1" dirty="0">
                <a:solidFill>
                  <a:srgbClr val="E3874F"/>
                </a:solidFill>
              </a:rPr>
              <a:t>MAJORITY: </a:t>
            </a:r>
            <a:r>
              <a:rPr lang="en-US" sz="1600" dirty="0"/>
              <a:t>Calculates the majority (value that occurs most often) of the cells in the neighborhood.</a:t>
            </a:r>
          </a:p>
          <a:p>
            <a:pPr marL="0" indent="0">
              <a:buNone/>
            </a:pPr>
            <a:r>
              <a:rPr lang="en-US" sz="1600" b="1" dirty="0">
                <a:solidFill>
                  <a:srgbClr val="E3874F"/>
                </a:solidFill>
              </a:rPr>
              <a:t>MAXIMUM: </a:t>
            </a:r>
            <a:r>
              <a:rPr lang="en-US" sz="1600" dirty="0"/>
              <a:t>Calculates the maximum (largest value) of the cells in the neighborhood.</a:t>
            </a:r>
          </a:p>
          <a:p>
            <a:pPr marL="0" indent="0">
              <a:buNone/>
            </a:pPr>
            <a:r>
              <a:rPr lang="en-US" sz="1600" b="1" dirty="0">
                <a:solidFill>
                  <a:srgbClr val="E3874F"/>
                </a:solidFill>
              </a:rPr>
              <a:t>MEDIAN: </a:t>
            </a:r>
            <a:r>
              <a:rPr lang="en-US" sz="1600" dirty="0"/>
              <a:t>Calculates the median of the cells in the neighborhood.</a:t>
            </a:r>
          </a:p>
          <a:p>
            <a:pPr marL="0" indent="0">
              <a:buNone/>
            </a:pPr>
            <a:r>
              <a:rPr lang="en-US" sz="1600" b="1" dirty="0">
                <a:solidFill>
                  <a:srgbClr val="E3874F"/>
                </a:solidFill>
              </a:rPr>
              <a:t>MINIMUM: </a:t>
            </a:r>
            <a:r>
              <a:rPr lang="en-US" sz="1600" dirty="0"/>
              <a:t>Calculates the minimum (smallest value) of the cells in the neighborhood.</a:t>
            </a:r>
          </a:p>
          <a:p>
            <a:pPr marL="0" indent="0">
              <a:buNone/>
            </a:pPr>
            <a:r>
              <a:rPr lang="en-US" sz="1600" b="1" dirty="0">
                <a:solidFill>
                  <a:srgbClr val="E3874F"/>
                </a:solidFill>
              </a:rPr>
              <a:t>MINORITY: </a:t>
            </a:r>
            <a:r>
              <a:rPr lang="en-US" sz="1600" dirty="0"/>
              <a:t>Calculates the minority (value that occurs least often) of the cells in the neighborhood.</a:t>
            </a:r>
          </a:p>
          <a:p>
            <a:endParaRPr lang="en-US" sz="1600" dirty="0"/>
          </a:p>
        </p:txBody>
      </p:sp>
      <p:sp>
        <p:nvSpPr>
          <p:cNvPr id="2" name="Slide Number Placeholder 1">
            <a:extLst>
              <a:ext uri="{FF2B5EF4-FFF2-40B4-BE49-F238E27FC236}">
                <a16:creationId xmlns:a16="http://schemas.microsoft.com/office/drawing/2014/main" id="{AD9D56C7-B1B0-45B2-B365-CB35BF514392}"/>
              </a:ext>
            </a:extLst>
          </p:cNvPr>
          <p:cNvSpPr>
            <a:spLocks noGrp="1"/>
          </p:cNvSpPr>
          <p:nvPr>
            <p:ph type="sldNum" sz="quarter" idx="12"/>
          </p:nvPr>
        </p:nvSpPr>
        <p:spPr/>
        <p:txBody>
          <a:bodyPr/>
          <a:lstStyle/>
          <a:p>
            <a:fld id="{127DDC20-79C9-9647-820E-6D40A3D210C3}" type="slidenum">
              <a:rPr lang="en-US" smtClean="0"/>
              <a:pPr/>
              <a:t>35</a:t>
            </a:fld>
            <a:endParaRPr lang="en-US"/>
          </a:p>
        </p:txBody>
      </p:sp>
      <p:cxnSp>
        <p:nvCxnSpPr>
          <p:cNvPr id="6" name="Straight Connector 5">
            <a:extLst>
              <a:ext uri="{FF2B5EF4-FFF2-40B4-BE49-F238E27FC236}">
                <a16:creationId xmlns:a16="http://schemas.microsoft.com/office/drawing/2014/main" id="{6EF22F3B-8A68-4A15-AF4E-B822C6B39ACE}"/>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C99D1AFD-3327-4C38-9B6B-9DE759E23B15}"/>
              </a:ext>
            </a:extLst>
          </p:cNvPr>
          <p:cNvSpPr txBox="1">
            <a:spLocks/>
          </p:cNvSpPr>
          <p:nvPr/>
        </p:nvSpPr>
        <p:spPr>
          <a:xfrm>
            <a:off x="256170" y="24003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Focal Statistics</a:t>
            </a:r>
            <a:endParaRPr lang="en-US" sz="2600" dirty="0">
              <a:solidFill>
                <a:srgbClr val="7030A0"/>
              </a:solidFill>
            </a:endParaRPr>
          </a:p>
        </p:txBody>
      </p:sp>
    </p:spTree>
    <p:extLst>
      <p:ext uri="{BB962C8B-B14F-4D97-AF65-F5344CB8AC3E}">
        <p14:creationId xmlns:p14="http://schemas.microsoft.com/office/powerpoint/2010/main" val="1699382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256170" y="1097287"/>
            <a:ext cx="7665811" cy="3474714"/>
          </a:xfrm>
        </p:spPr>
        <p:txBody>
          <a:bodyPr>
            <a:normAutofit/>
          </a:bodyPr>
          <a:lstStyle/>
          <a:p>
            <a:pPr marL="0" indent="0">
              <a:buNone/>
            </a:pPr>
            <a:r>
              <a:rPr lang="en-US" sz="2000" b="1" dirty="0">
                <a:solidFill>
                  <a:srgbClr val="E3874F"/>
                </a:solidFill>
              </a:rPr>
              <a:t>RANGE: </a:t>
            </a:r>
            <a:r>
              <a:rPr lang="en-US" sz="2000" dirty="0"/>
              <a:t>Calculates the range (difference between largest and smallest value) of the cells in the neighborhood.</a:t>
            </a:r>
          </a:p>
          <a:p>
            <a:pPr marL="0" indent="0">
              <a:buNone/>
            </a:pPr>
            <a:r>
              <a:rPr lang="en-US" sz="2000" b="1" dirty="0">
                <a:solidFill>
                  <a:srgbClr val="E3874F"/>
                </a:solidFill>
              </a:rPr>
              <a:t>STD: </a:t>
            </a:r>
            <a:r>
              <a:rPr lang="en-US" sz="2000" dirty="0"/>
              <a:t>Calculates the standard deviation of the cells in the neighborhood.</a:t>
            </a:r>
          </a:p>
          <a:p>
            <a:pPr marL="0" indent="0">
              <a:buNone/>
            </a:pPr>
            <a:r>
              <a:rPr lang="en-US" sz="2000" b="1" dirty="0">
                <a:solidFill>
                  <a:srgbClr val="E3874F"/>
                </a:solidFill>
              </a:rPr>
              <a:t>SUM: </a:t>
            </a:r>
            <a:r>
              <a:rPr lang="en-US" sz="2000" dirty="0"/>
              <a:t>Calculates the sum (total of all values) of the cells in the neighborhood.</a:t>
            </a:r>
          </a:p>
          <a:p>
            <a:pPr marL="0" indent="0">
              <a:buNone/>
            </a:pPr>
            <a:r>
              <a:rPr lang="en-US" sz="2000" b="1" dirty="0">
                <a:solidFill>
                  <a:srgbClr val="E3874F"/>
                </a:solidFill>
              </a:rPr>
              <a:t>VARIETY: </a:t>
            </a:r>
            <a:r>
              <a:rPr lang="en-US" sz="2000" dirty="0"/>
              <a:t>Calculates the variety (the number of unique values) of the cells in the neighborhood.</a:t>
            </a:r>
          </a:p>
          <a:p>
            <a:endParaRPr lang="en-US" sz="2000" dirty="0"/>
          </a:p>
        </p:txBody>
      </p:sp>
      <p:sp>
        <p:nvSpPr>
          <p:cNvPr id="2" name="Slide Number Placeholder 1">
            <a:extLst>
              <a:ext uri="{FF2B5EF4-FFF2-40B4-BE49-F238E27FC236}">
                <a16:creationId xmlns:a16="http://schemas.microsoft.com/office/drawing/2014/main" id="{F8209F68-7A94-4342-99C8-FE5072C9051E}"/>
              </a:ext>
            </a:extLst>
          </p:cNvPr>
          <p:cNvSpPr>
            <a:spLocks noGrp="1"/>
          </p:cNvSpPr>
          <p:nvPr>
            <p:ph type="sldNum" sz="quarter" idx="12"/>
          </p:nvPr>
        </p:nvSpPr>
        <p:spPr/>
        <p:txBody>
          <a:bodyPr/>
          <a:lstStyle/>
          <a:p>
            <a:fld id="{127DDC20-79C9-9647-820E-6D40A3D210C3}" type="slidenum">
              <a:rPr lang="en-US" smtClean="0"/>
              <a:pPr/>
              <a:t>36</a:t>
            </a:fld>
            <a:endParaRPr lang="en-US"/>
          </a:p>
        </p:txBody>
      </p:sp>
      <p:cxnSp>
        <p:nvCxnSpPr>
          <p:cNvPr id="6" name="Straight Connector 5">
            <a:extLst>
              <a:ext uri="{FF2B5EF4-FFF2-40B4-BE49-F238E27FC236}">
                <a16:creationId xmlns:a16="http://schemas.microsoft.com/office/drawing/2014/main" id="{6EF22F3B-8A68-4A15-AF4E-B822C6B39ACE}"/>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C99D1AFD-3327-4C38-9B6B-9DE759E23B15}"/>
              </a:ext>
            </a:extLst>
          </p:cNvPr>
          <p:cNvSpPr txBox="1">
            <a:spLocks/>
          </p:cNvSpPr>
          <p:nvPr/>
        </p:nvSpPr>
        <p:spPr>
          <a:xfrm>
            <a:off x="256170" y="15284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Focal Statistics</a:t>
            </a:r>
            <a:endParaRPr lang="en-US" sz="2600" dirty="0">
              <a:solidFill>
                <a:srgbClr val="7030A0"/>
              </a:solidFill>
            </a:endParaRPr>
          </a:p>
        </p:txBody>
      </p:sp>
    </p:spTree>
    <p:extLst>
      <p:ext uri="{BB962C8B-B14F-4D97-AF65-F5344CB8AC3E}">
        <p14:creationId xmlns:p14="http://schemas.microsoft.com/office/powerpoint/2010/main" val="2864381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DA68B6FD-116A-8F13-45A2-6539F8B8D869}"/>
              </a:ext>
            </a:extLst>
          </p:cNvPr>
          <p:cNvPicPr>
            <a:picLocks noGrp="1" noChangeAspect="1"/>
          </p:cNvPicPr>
          <p:nvPr>
            <p:ph idx="1"/>
          </p:nvPr>
        </p:nvPicPr>
        <p:blipFill>
          <a:blip r:embed="rId2"/>
          <a:stretch>
            <a:fillRect/>
          </a:stretch>
        </p:blipFill>
        <p:spPr>
          <a:xfrm>
            <a:off x="1515333" y="775670"/>
            <a:ext cx="6818037" cy="4243881"/>
          </a:xfrm>
          <a:prstGeom prst="rect">
            <a:avLst/>
          </a:prstGeom>
        </p:spPr>
      </p:pic>
      <p:sp>
        <p:nvSpPr>
          <p:cNvPr id="4" name="Slide Number Placeholder 3">
            <a:extLst>
              <a:ext uri="{FF2B5EF4-FFF2-40B4-BE49-F238E27FC236}">
                <a16:creationId xmlns:a16="http://schemas.microsoft.com/office/drawing/2014/main" id="{E35A0D94-70F6-3CDD-56DC-0BC8ABEF6EA9}"/>
              </a:ext>
            </a:extLst>
          </p:cNvPr>
          <p:cNvSpPr>
            <a:spLocks noGrp="1"/>
          </p:cNvSpPr>
          <p:nvPr>
            <p:ph type="sldNum" sz="quarter" idx="12"/>
          </p:nvPr>
        </p:nvSpPr>
        <p:spPr/>
        <p:txBody>
          <a:bodyPr/>
          <a:lstStyle/>
          <a:p>
            <a:fld id="{127DDC20-79C9-9647-820E-6D40A3D210C3}" type="slidenum">
              <a:rPr lang="en-US" smtClean="0"/>
              <a:pPr/>
              <a:t>37</a:t>
            </a:fld>
            <a:endParaRPr lang="en-US"/>
          </a:p>
        </p:txBody>
      </p:sp>
      <p:sp>
        <p:nvSpPr>
          <p:cNvPr id="7" name="Title 1">
            <a:extLst>
              <a:ext uri="{FF2B5EF4-FFF2-40B4-BE49-F238E27FC236}">
                <a16:creationId xmlns:a16="http://schemas.microsoft.com/office/drawing/2014/main" id="{A3D9108E-E4D3-6D1F-8A9F-8EE2C3BB723F}"/>
              </a:ext>
            </a:extLst>
          </p:cNvPr>
          <p:cNvSpPr txBox="1">
            <a:spLocks/>
          </p:cNvSpPr>
          <p:nvPr/>
        </p:nvSpPr>
        <p:spPr>
          <a:xfrm>
            <a:off x="256170" y="24003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Focal Statistics - Majority</a:t>
            </a:r>
            <a:endParaRPr lang="en-US" sz="2600" dirty="0">
              <a:solidFill>
                <a:srgbClr val="7030A0"/>
              </a:solidFill>
            </a:endParaRPr>
          </a:p>
        </p:txBody>
      </p:sp>
      <p:sp>
        <p:nvSpPr>
          <p:cNvPr id="10" name="Rectangle 9">
            <a:extLst>
              <a:ext uri="{FF2B5EF4-FFF2-40B4-BE49-F238E27FC236}">
                <a16:creationId xmlns:a16="http://schemas.microsoft.com/office/drawing/2014/main" id="{6208DA95-EEB3-5F9E-324B-7A2AFFC3E439}"/>
              </a:ext>
            </a:extLst>
          </p:cNvPr>
          <p:cNvSpPr/>
          <p:nvPr/>
        </p:nvSpPr>
        <p:spPr>
          <a:xfrm>
            <a:off x="2847875" y="2227801"/>
            <a:ext cx="227408" cy="343949"/>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Rectangle 10">
            <a:extLst>
              <a:ext uri="{FF2B5EF4-FFF2-40B4-BE49-F238E27FC236}">
                <a16:creationId xmlns:a16="http://schemas.microsoft.com/office/drawing/2014/main" id="{16C2442B-7833-2FAF-A48B-8DF74259AC67}"/>
              </a:ext>
            </a:extLst>
          </p:cNvPr>
          <p:cNvSpPr/>
          <p:nvPr/>
        </p:nvSpPr>
        <p:spPr>
          <a:xfrm>
            <a:off x="6014515" y="2208226"/>
            <a:ext cx="227408" cy="343949"/>
          </a:xfrm>
          <a:prstGeom prst="rect">
            <a:avLst/>
          </a:prstGeom>
          <a:noFill/>
          <a:ln>
            <a:solidFill>
              <a:srgbClr val="0070C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TextBox 12">
            <a:extLst>
              <a:ext uri="{FF2B5EF4-FFF2-40B4-BE49-F238E27FC236}">
                <a16:creationId xmlns:a16="http://schemas.microsoft.com/office/drawing/2014/main" id="{3F786D7C-93E7-A4D1-9279-CF7D3FB87EA0}"/>
              </a:ext>
            </a:extLst>
          </p:cNvPr>
          <p:cNvSpPr txBox="1"/>
          <p:nvPr/>
        </p:nvSpPr>
        <p:spPr>
          <a:xfrm>
            <a:off x="0" y="3597172"/>
            <a:ext cx="1814110" cy="769441"/>
          </a:xfrm>
          <a:prstGeom prst="rect">
            <a:avLst/>
          </a:prstGeom>
          <a:noFill/>
        </p:spPr>
        <p:txBody>
          <a:bodyPr wrap="square">
            <a:spAutoFit/>
          </a:bodyPr>
          <a:lstStyle/>
          <a:p>
            <a:r>
              <a:rPr lang="zh-CN" altLang="en-US" sz="1100" dirty="0"/>
              <a:t>Many isolated cells are converted to the category of the dominant surrounding class.</a:t>
            </a:r>
          </a:p>
        </p:txBody>
      </p:sp>
      <p:sp>
        <p:nvSpPr>
          <p:cNvPr id="14" name="Rectangle 13">
            <a:extLst>
              <a:ext uri="{FF2B5EF4-FFF2-40B4-BE49-F238E27FC236}">
                <a16:creationId xmlns:a16="http://schemas.microsoft.com/office/drawing/2014/main" id="{71059636-7959-343B-5064-5C6EC9E5E7BC}"/>
              </a:ext>
            </a:extLst>
          </p:cNvPr>
          <p:cNvSpPr/>
          <p:nvPr/>
        </p:nvSpPr>
        <p:spPr>
          <a:xfrm>
            <a:off x="1960385" y="2175256"/>
            <a:ext cx="140998" cy="207218"/>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Rectangle 14">
            <a:extLst>
              <a:ext uri="{FF2B5EF4-FFF2-40B4-BE49-F238E27FC236}">
                <a16:creationId xmlns:a16="http://schemas.microsoft.com/office/drawing/2014/main" id="{B8FE3919-8355-B932-D679-CBA84A9B02EA}"/>
              </a:ext>
            </a:extLst>
          </p:cNvPr>
          <p:cNvSpPr/>
          <p:nvPr/>
        </p:nvSpPr>
        <p:spPr>
          <a:xfrm>
            <a:off x="3075283" y="1843006"/>
            <a:ext cx="140998" cy="207218"/>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Rectangle 15">
            <a:extLst>
              <a:ext uri="{FF2B5EF4-FFF2-40B4-BE49-F238E27FC236}">
                <a16:creationId xmlns:a16="http://schemas.microsoft.com/office/drawing/2014/main" id="{A8CE9C46-E7D3-EAAD-8382-8FE32563C76A}"/>
              </a:ext>
            </a:extLst>
          </p:cNvPr>
          <p:cNvSpPr/>
          <p:nvPr/>
        </p:nvSpPr>
        <p:spPr>
          <a:xfrm>
            <a:off x="5154319" y="2106890"/>
            <a:ext cx="227408" cy="343949"/>
          </a:xfrm>
          <a:prstGeom prst="rect">
            <a:avLst/>
          </a:prstGeom>
          <a:noFill/>
          <a:ln>
            <a:solidFill>
              <a:srgbClr val="0070C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Rectangle 16">
            <a:extLst>
              <a:ext uri="{FF2B5EF4-FFF2-40B4-BE49-F238E27FC236}">
                <a16:creationId xmlns:a16="http://schemas.microsoft.com/office/drawing/2014/main" id="{EC964196-EF77-4D6A-C0A0-534559D21058}"/>
              </a:ext>
            </a:extLst>
          </p:cNvPr>
          <p:cNvSpPr/>
          <p:nvPr/>
        </p:nvSpPr>
        <p:spPr>
          <a:xfrm>
            <a:off x="6241923" y="1815051"/>
            <a:ext cx="227408" cy="343949"/>
          </a:xfrm>
          <a:prstGeom prst="rect">
            <a:avLst/>
          </a:prstGeom>
          <a:noFill/>
          <a:ln>
            <a:solidFill>
              <a:srgbClr val="0070C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40872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4" grpId="0" animBg="1"/>
      <p:bldP spid="15" grpId="0" animBg="1"/>
      <p:bldP spid="16" grpId="0" animBg="1"/>
      <p:bldP spid="1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C007D5A5-5186-4BB4-AFA2-0304FD3BDA90}"/>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F52637B9-FA05-4EDE-8598-5726395CB848}"/>
              </a:ext>
            </a:extLst>
          </p:cNvPr>
          <p:cNvSpPr txBox="1">
            <a:spLocks/>
          </p:cNvSpPr>
          <p:nvPr/>
        </p:nvSpPr>
        <p:spPr>
          <a:xfrm>
            <a:off x="152400" y="16624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Focal Statistics</a:t>
            </a:r>
            <a:endParaRPr lang="en-US" sz="2600" dirty="0">
              <a:solidFill>
                <a:srgbClr val="7030A0"/>
              </a:solidFill>
            </a:endParaRPr>
          </a:p>
        </p:txBody>
      </p:sp>
      <p:pic>
        <p:nvPicPr>
          <p:cNvPr id="3" name="Picture 2" descr="Table&#10;&#10;Description automatically generated">
            <a:extLst>
              <a:ext uri="{FF2B5EF4-FFF2-40B4-BE49-F238E27FC236}">
                <a16:creationId xmlns:a16="http://schemas.microsoft.com/office/drawing/2014/main" id="{5ACAEF73-BF55-4B25-A5BA-35C4DA155FEC}"/>
              </a:ext>
            </a:extLst>
          </p:cNvPr>
          <p:cNvPicPr>
            <a:picLocks noChangeAspect="1"/>
          </p:cNvPicPr>
          <p:nvPr/>
        </p:nvPicPr>
        <p:blipFill>
          <a:blip r:embed="rId3"/>
          <a:stretch>
            <a:fillRect/>
          </a:stretch>
        </p:blipFill>
        <p:spPr>
          <a:xfrm>
            <a:off x="1568439" y="1175002"/>
            <a:ext cx="5848579" cy="3718904"/>
          </a:xfrm>
          <a:prstGeom prst="rect">
            <a:avLst/>
          </a:prstGeom>
        </p:spPr>
      </p:pic>
      <p:sp>
        <p:nvSpPr>
          <p:cNvPr id="2" name="Slide Number Placeholder 1">
            <a:extLst>
              <a:ext uri="{FF2B5EF4-FFF2-40B4-BE49-F238E27FC236}">
                <a16:creationId xmlns:a16="http://schemas.microsoft.com/office/drawing/2014/main" id="{A479DC78-F370-4EF6-8646-46F3F298D612}"/>
              </a:ext>
            </a:extLst>
          </p:cNvPr>
          <p:cNvSpPr>
            <a:spLocks noGrp="1"/>
          </p:cNvSpPr>
          <p:nvPr>
            <p:ph type="sldNum" sz="quarter" idx="12"/>
          </p:nvPr>
        </p:nvSpPr>
        <p:spPr/>
        <p:txBody>
          <a:bodyPr/>
          <a:lstStyle/>
          <a:p>
            <a:fld id="{127DDC20-79C9-9647-820E-6D40A3D210C3}" type="slidenum">
              <a:rPr lang="en-US" smtClean="0"/>
              <a:pPr/>
              <a:t>38</a:t>
            </a:fld>
            <a:endParaRPr lang="en-US"/>
          </a:p>
        </p:txBody>
      </p:sp>
      <p:sp>
        <p:nvSpPr>
          <p:cNvPr id="5" name="TextBox 4">
            <a:extLst>
              <a:ext uri="{FF2B5EF4-FFF2-40B4-BE49-F238E27FC236}">
                <a16:creationId xmlns:a16="http://schemas.microsoft.com/office/drawing/2014/main" id="{6F889658-C035-9D0A-01CA-55A199683662}"/>
              </a:ext>
            </a:extLst>
          </p:cNvPr>
          <p:cNvSpPr txBox="1"/>
          <p:nvPr/>
        </p:nvSpPr>
        <p:spPr>
          <a:xfrm>
            <a:off x="232846" y="3964032"/>
            <a:ext cx="4114800" cy="923330"/>
          </a:xfrm>
          <a:prstGeom prst="rect">
            <a:avLst/>
          </a:prstGeom>
          <a:noFill/>
        </p:spPr>
        <p:txBody>
          <a:bodyPr wrap="square">
            <a:spAutoFit/>
          </a:bodyPr>
          <a:lstStyle/>
          <a:p>
            <a:r>
              <a:rPr lang="zh-CN" altLang="en-US" dirty="0"/>
              <a:t>A kernel for a moving window func-tion is the set of cell constants for a given window size and shape.</a:t>
            </a:r>
          </a:p>
        </p:txBody>
      </p:sp>
    </p:spTree>
    <p:extLst>
      <p:ext uri="{BB962C8B-B14F-4D97-AF65-F5344CB8AC3E}">
        <p14:creationId xmlns:p14="http://schemas.microsoft.com/office/powerpoint/2010/main" val="55986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1"/>
            </p:custDataLst>
          </p:nvPr>
        </p:nvSpPr>
        <p:spPr>
          <a:xfrm>
            <a:off x="192947" y="1131194"/>
            <a:ext cx="4656960" cy="3588525"/>
          </a:xfrm>
        </p:spPr>
        <p:txBody>
          <a:bodyPr>
            <a:normAutofit/>
          </a:bodyPr>
          <a:lstStyle/>
          <a:p>
            <a:pPr>
              <a:buFont typeface="Courier New" panose="02070309020205020404" pitchFamily="49" charset="0"/>
              <a:buChar char="o"/>
            </a:pPr>
            <a:r>
              <a:rPr lang="en-US" sz="1800" dirty="0"/>
              <a:t>Edge cells will not have a full set of neighbors</a:t>
            </a:r>
          </a:p>
          <a:p>
            <a:pPr marL="561600" lvl="1" indent="-342900">
              <a:buFont typeface="+mj-lt"/>
              <a:buAutoNum type="arabicPeriod"/>
            </a:pPr>
            <a:r>
              <a:rPr lang="en-US" sz="1800" baseline="0" dirty="0"/>
              <a:t>calculated using only the available cells</a:t>
            </a:r>
          </a:p>
          <a:p>
            <a:pPr marL="561600" lvl="1" indent="-342900">
              <a:buFont typeface="+mj-lt"/>
              <a:buAutoNum type="arabicPeriod"/>
            </a:pPr>
            <a:r>
              <a:rPr lang="en-US" sz="1800" baseline="0" dirty="0"/>
              <a:t>calculated for cells that have a full set of neighbors</a:t>
            </a:r>
            <a:r>
              <a:rPr lang="en-US" sz="1800" dirty="0"/>
              <a:t> (the size of the raster will be reduced)</a:t>
            </a:r>
          </a:p>
          <a:p>
            <a:pPr marL="218700" lvl="1" indent="0">
              <a:buNone/>
            </a:pPr>
            <a:r>
              <a:rPr lang="en-US" altLang="zh-CN" sz="1800" baseline="0" dirty="0"/>
              <a:t>Recommend: calculated a larger area to </a:t>
            </a:r>
            <a:r>
              <a:rPr lang="en-US" altLang="zh-CN" sz="1800" dirty="0"/>
              <a:t>cover the study region</a:t>
            </a:r>
            <a:endParaRPr lang="en-US" sz="1800" baseline="0" dirty="0"/>
          </a:p>
          <a:p>
            <a:pPr lvl="1">
              <a:buFont typeface="Wingdings" panose="05000000000000000000" pitchFamily="2" charset="2"/>
              <a:buChar char="ü"/>
            </a:pPr>
            <a:endParaRPr lang="en-US" sz="1800" dirty="0"/>
          </a:p>
        </p:txBody>
      </p:sp>
      <p:sp>
        <p:nvSpPr>
          <p:cNvPr id="2" name="Slide Number Placeholder 1">
            <a:extLst>
              <a:ext uri="{FF2B5EF4-FFF2-40B4-BE49-F238E27FC236}">
                <a16:creationId xmlns:a16="http://schemas.microsoft.com/office/drawing/2014/main" id="{0587E9C9-5930-4978-B889-3B5AE9733E38}"/>
              </a:ext>
            </a:extLst>
          </p:cNvPr>
          <p:cNvSpPr>
            <a:spLocks noGrp="1"/>
          </p:cNvSpPr>
          <p:nvPr>
            <p:ph type="sldNum" sz="quarter" idx="12"/>
          </p:nvPr>
        </p:nvSpPr>
        <p:spPr/>
        <p:txBody>
          <a:bodyPr/>
          <a:lstStyle/>
          <a:p>
            <a:fld id="{127DDC20-79C9-9647-820E-6D40A3D210C3}" type="slidenum">
              <a:rPr lang="en-US" smtClean="0"/>
              <a:pPr/>
              <a:t>39</a:t>
            </a:fld>
            <a:endParaRPr lang="en-US"/>
          </a:p>
        </p:txBody>
      </p:sp>
      <p:pic>
        <p:nvPicPr>
          <p:cNvPr id="4" name="Picture 3" descr="Image showing moving window"/>
          <p:cNvPicPr>
            <a:picLocks noChangeAspect="1"/>
          </p:cNvPicPr>
          <p:nvPr/>
        </p:nvPicPr>
        <p:blipFill>
          <a:blip r:embed="rId4">
            <a:clrChange>
              <a:clrFrom>
                <a:srgbClr val="FFFFFF"/>
              </a:clrFrom>
              <a:clrTo>
                <a:srgbClr val="FFFFFF">
                  <a:alpha val="0"/>
                </a:srgbClr>
              </a:clrTo>
            </a:clrChange>
          </a:blip>
          <a:stretch>
            <a:fillRect/>
          </a:stretch>
        </p:blipFill>
        <p:spPr>
          <a:xfrm>
            <a:off x="4732181" y="1491334"/>
            <a:ext cx="3134309" cy="3228387"/>
          </a:xfrm>
          <a:prstGeom prst="rect">
            <a:avLst/>
          </a:prstGeom>
        </p:spPr>
      </p:pic>
      <p:cxnSp>
        <p:nvCxnSpPr>
          <p:cNvPr id="5" name="Straight Connector 4">
            <a:extLst>
              <a:ext uri="{FF2B5EF4-FFF2-40B4-BE49-F238E27FC236}">
                <a16:creationId xmlns:a16="http://schemas.microsoft.com/office/drawing/2014/main" id="{4323010F-78CE-4824-A40B-DC18212ACFD3}"/>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67EF667E-6EE6-4D6E-BD8E-E10C64ACFA8B}"/>
              </a:ext>
            </a:extLst>
          </p:cNvPr>
          <p:cNvSpPr txBox="1">
            <a:spLocks/>
          </p:cNvSpPr>
          <p:nvPr/>
        </p:nvSpPr>
        <p:spPr>
          <a:xfrm>
            <a:off x="260758" y="22483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Edge Cells</a:t>
            </a:r>
            <a:endParaRPr lang="en-US" sz="2600" dirty="0">
              <a:solidFill>
                <a:srgbClr val="7030A0"/>
              </a:solidFill>
            </a:endParaRPr>
          </a:p>
        </p:txBody>
      </p:sp>
    </p:spTree>
    <p:extLst>
      <p:ext uri="{BB962C8B-B14F-4D97-AF65-F5344CB8AC3E}">
        <p14:creationId xmlns:p14="http://schemas.microsoft.com/office/powerpoint/2010/main" val="3570384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1"/>
            </p:custDataLst>
          </p:nvPr>
        </p:nvSpPr>
        <p:spPr>
          <a:xfrm>
            <a:off x="363110" y="1131194"/>
            <a:ext cx="7547708" cy="857251"/>
          </a:xfrm>
        </p:spPr>
        <p:txBody>
          <a:bodyPr>
            <a:normAutofit fontScale="92500" lnSpcReduction="20000"/>
          </a:bodyPr>
          <a:lstStyle/>
          <a:p>
            <a:pPr>
              <a:buFont typeface="Courier New" panose="02070309020205020404" pitchFamily="49" charset="0"/>
              <a:buChar char="o"/>
            </a:pPr>
            <a:r>
              <a:rPr lang="en-US" sz="2400" dirty="0"/>
              <a:t>Edge cells will not have a full set of neighbors</a:t>
            </a:r>
          </a:p>
          <a:p>
            <a:pPr lvl="1">
              <a:buFont typeface="Wingdings" panose="05000000000000000000" pitchFamily="2" charset="2"/>
              <a:buChar char="ü"/>
            </a:pPr>
            <a:r>
              <a:rPr lang="en-US" sz="2400" baseline="0" dirty="0"/>
              <a:t>Using different kernel in the edge</a:t>
            </a:r>
          </a:p>
          <a:p>
            <a:pPr lvl="1">
              <a:buFont typeface="Wingdings" panose="05000000000000000000" pitchFamily="2" charset="2"/>
              <a:buChar char="ü"/>
            </a:pPr>
            <a:endParaRPr lang="en-US" dirty="0"/>
          </a:p>
        </p:txBody>
      </p:sp>
      <p:sp>
        <p:nvSpPr>
          <p:cNvPr id="2" name="Slide Number Placeholder 1">
            <a:extLst>
              <a:ext uri="{FF2B5EF4-FFF2-40B4-BE49-F238E27FC236}">
                <a16:creationId xmlns:a16="http://schemas.microsoft.com/office/drawing/2014/main" id="{105FBE36-7A8B-41A4-9F5E-CDE0256D7A00}"/>
              </a:ext>
            </a:extLst>
          </p:cNvPr>
          <p:cNvSpPr>
            <a:spLocks noGrp="1"/>
          </p:cNvSpPr>
          <p:nvPr>
            <p:ph type="sldNum" sz="quarter" idx="12"/>
          </p:nvPr>
        </p:nvSpPr>
        <p:spPr/>
        <p:txBody>
          <a:bodyPr/>
          <a:lstStyle/>
          <a:p>
            <a:fld id="{127DDC20-79C9-9647-820E-6D40A3D210C3}" type="slidenum">
              <a:rPr lang="en-US" smtClean="0"/>
              <a:pPr/>
              <a:t>40</a:t>
            </a:fld>
            <a:endParaRPr lang="en-US"/>
          </a:p>
        </p:txBody>
      </p:sp>
      <p:cxnSp>
        <p:nvCxnSpPr>
          <p:cNvPr id="5" name="Straight Connector 4">
            <a:extLst>
              <a:ext uri="{FF2B5EF4-FFF2-40B4-BE49-F238E27FC236}">
                <a16:creationId xmlns:a16="http://schemas.microsoft.com/office/drawing/2014/main" id="{4323010F-78CE-4824-A40B-DC18212ACFD3}"/>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67EF667E-6EE6-4D6E-BD8E-E10C64ACFA8B}"/>
              </a:ext>
            </a:extLst>
          </p:cNvPr>
          <p:cNvSpPr txBox="1">
            <a:spLocks/>
          </p:cNvSpPr>
          <p:nvPr/>
        </p:nvSpPr>
        <p:spPr>
          <a:xfrm>
            <a:off x="152400" y="17510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Edge Cells</a:t>
            </a:r>
            <a:endParaRPr lang="en-US" sz="2600" dirty="0">
              <a:solidFill>
                <a:srgbClr val="7030A0"/>
              </a:solidFill>
            </a:endParaRPr>
          </a:p>
        </p:txBody>
      </p:sp>
      <p:pic>
        <p:nvPicPr>
          <p:cNvPr id="7" name="Picture 6" descr="A picture containing calendar&#10;&#10;Description automatically generated">
            <a:extLst>
              <a:ext uri="{FF2B5EF4-FFF2-40B4-BE49-F238E27FC236}">
                <a16:creationId xmlns:a16="http://schemas.microsoft.com/office/drawing/2014/main" id="{7DC44BB9-2BB1-404F-B7B2-2242F5866353}"/>
              </a:ext>
            </a:extLst>
          </p:cNvPr>
          <p:cNvPicPr>
            <a:picLocks noChangeAspect="1"/>
          </p:cNvPicPr>
          <p:nvPr/>
        </p:nvPicPr>
        <p:blipFill>
          <a:blip r:embed="rId4"/>
          <a:stretch>
            <a:fillRect/>
          </a:stretch>
        </p:blipFill>
        <p:spPr>
          <a:xfrm>
            <a:off x="1910190" y="1879272"/>
            <a:ext cx="5430511" cy="3047837"/>
          </a:xfrm>
          <a:prstGeom prst="rect">
            <a:avLst/>
          </a:prstGeom>
        </p:spPr>
      </p:pic>
      <p:sp>
        <p:nvSpPr>
          <p:cNvPr id="8" name="TextBox 7">
            <a:extLst>
              <a:ext uri="{FF2B5EF4-FFF2-40B4-BE49-F238E27FC236}">
                <a16:creationId xmlns:a16="http://schemas.microsoft.com/office/drawing/2014/main" id="{433A3726-D520-4B31-B5F5-1306F9114FBC}"/>
              </a:ext>
            </a:extLst>
          </p:cNvPr>
          <p:cNvSpPr txBox="1"/>
          <p:nvPr/>
        </p:nvSpPr>
        <p:spPr>
          <a:xfrm>
            <a:off x="812582" y="4818678"/>
            <a:ext cx="1097608" cy="246221"/>
          </a:xfrm>
          <a:prstGeom prst="rect">
            <a:avLst/>
          </a:prstGeom>
          <a:noFill/>
        </p:spPr>
        <p:txBody>
          <a:bodyPr wrap="square" rtlCol="0">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475978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1535518" y="1936677"/>
            <a:ext cx="5158563" cy="919065"/>
          </a:xfrm>
        </p:spPr>
        <p:txBody>
          <a:bodyPr>
            <a:normAutofit/>
          </a:bodyPr>
          <a:lstStyle/>
          <a:p>
            <a:pPr algn="ctr"/>
            <a:r>
              <a:rPr lang="en-US" dirty="0"/>
              <a:t>Neighborhood function</a:t>
            </a:r>
            <a:br>
              <a:rPr lang="en-US" dirty="0"/>
            </a:br>
            <a:r>
              <a:rPr lang="en-US" dirty="0"/>
              <a:t>distance</a:t>
            </a:r>
          </a:p>
        </p:txBody>
      </p:sp>
      <p:sp>
        <p:nvSpPr>
          <p:cNvPr id="3" name="Slide Number Placeholder 2">
            <a:extLst>
              <a:ext uri="{FF2B5EF4-FFF2-40B4-BE49-F238E27FC236}">
                <a16:creationId xmlns:a16="http://schemas.microsoft.com/office/drawing/2014/main" id="{5E351253-D166-44F7-9F84-3637602BD1DF}"/>
              </a:ext>
            </a:extLst>
          </p:cNvPr>
          <p:cNvSpPr>
            <a:spLocks noGrp="1"/>
          </p:cNvSpPr>
          <p:nvPr>
            <p:ph type="sldNum" sz="quarter" idx="12"/>
          </p:nvPr>
        </p:nvSpPr>
        <p:spPr/>
        <p:txBody>
          <a:bodyPr/>
          <a:lstStyle/>
          <a:p>
            <a:fld id="{127DDC20-79C9-9647-820E-6D40A3D210C3}" type="slidenum">
              <a:rPr lang="en-US" smtClean="0"/>
              <a:pPr/>
              <a:t>41</a:t>
            </a:fld>
            <a:endParaRPr lang="en-US"/>
          </a:p>
        </p:txBody>
      </p:sp>
    </p:spTree>
    <p:extLst>
      <p:ext uri="{BB962C8B-B14F-4D97-AF65-F5344CB8AC3E}">
        <p14:creationId xmlns:p14="http://schemas.microsoft.com/office/powerpoint/2010/main" val="2569830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89FD6F11-9383-3333-F8D6-DF4562F2FDE1}"/>
              </a:ext>
            </a:extLst>
          </p:cNvPr>
          <p:cNvPicPr>
            <a:picLocks noGrp="1" noChangeAspect="1"/>
          </p:cNvPicPr>
          <p:nvPr>
            <p:ph idx="1"/>
          </p:nvPr>
        </p:nvPicPr>
        <p:blipFill>
          <a:blip r:embed="rId2"/>
          <a:stretch>
            <a:fillRect/>
          </a:stretch>
        </p:blipFill>
        <p:spPr>
          <a:xfrm>
            <a:off x="763160" y="1090612"/>
            <a:ext cx="6718915" cy="3321174"/>
          </a:xfrm>
          <a:prstGeom prst="rect">
            <a:avLst/>
          </a:prstGeom>
        </p:spPr>
      </p:pic>
      <p:sp>
        <p:nvSpPr>
          <p:cNvPr id="4" name="Slide Number Placeholder 3">
            <a:extLst>
              <a:ext uri="{FF2B5EF4-FFF2-40B4-BE49-F238E27FC236}">
                <a16:creationId xmlns:a16="http://schemas.microsoft.com/office/drawing/2014/main" id="{1BA453CD-3F9B-2C70-CA27-7627766170A0}"/>
              </a:ext>
            </a:extLst>
          </p:cNvPr>
          <p:cNvSpPr>
            <a:spLocks noGrp="1"/>
          </p:cNvSpPr>
          <p:nvPr>
            <p:ph type="sldNum" sz="quarter" idx="12"/>
          </p:nvPr>
        </p:nvSpPr>
        <p:spPr/>
        <p:txBody>
          <a:bodyPr/>
          <a:lstStyle/>
          <a:p>
            <a:fld id="{127DDC20-79C9-9647-820E-6D40A3D210C3}" type="slidenum">
              <a:rPr lang="en-US" smtClean="0"/>
              <a:pPr/>
              <a:t>42</a:t>
            </a:fld>
            <a:endParaRPr lang="en-US"/>
          </a:p>
        </p:txBody>
      </p:sp>
      <p:sp>
        <p:nvSpPr>
          <p:cNvPr id="7" name="Title 1">
            <a:extLst>
              <a:ext uri="{FF2B5EF4-FFF2-40B4-BE49-F238E27FC236}">
                <a16:creationId xmlns:a16="http://schemas.microsoft.com/office/drawing/2014/main" id="{F51DCA37-FD49-0404-ADA6-B088F9246D6A}"/>
              </a:ext>
            </a:extLst>
          </p:cNvPr>
          <p:cNvSpPr txBox="1">
            <a:spLocks/>
          </p:cNvSpPr>
          <p:nvPr/>
        </p:nvSpPr>
        <p:spPr>
          <a:xfrm>
            <a:off x="196665" y="23336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E</a:t>
            </a:r>
            <a:r>
              <a:rPr lang="en-US" altLang="zh-CN" sz="3200" dirty="0">
                <a:solidFill>
                  <a:srgbClr val="7030A0"/>
                </a:solidFill>
              </a:rPr>
              <a:t>uclidean Distance</a:t>
            </a:r>
            <a:endParaRPr lang="en-US" sz="2600" dirty="0">
              <a:solidFill>
                <a:srgbClr val="7030A0"/>
              </a:solidFill>
            </a:endParaRPr>
          </a:p>
        </p:txBody>
      </p:sp>
      <p:sp>
        <p:nvSpPr>
          <p:cNvPr id="8" name="Rectangle 7">
            <a:extLst>
              <a:ext uri="{FF2B5EF4-FFF2-40B4-BE49-F238E27FC236}">
                <a16:creationId xmlns:a16="http://schemas.microsoft.com/office/drawing/2014/main" id="{6839BB78-406F-75CA-D4FE-CBEFD8DE9514}"/>
              </a:ext>
            </a:extLst>
          </p:cNvPr>
          <p:cNvSpPr/>
          <p:nvPr/>
        </p:nvSpPr>
        <p:spPr>
          <a:xfrm>
            <a:off x="1041634" y="2994870"/>
            <a:ext cx="302003" cy="310392"/>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Rectangle 8">
            <a:extLst>
              <a:ext uri="{FF2B5EF4-FFF2-40B4-BE49-F238E27FC236}">
                <a16:creationId xmlns:a16="http://schemas.microsoft.com/office/drawing/2014/main" id="{843ED51A-445D-DAF1-95F2-C3C65B185AE0}"/>
              </a:ext>
            </a:extLst>
          </p:cNvPr>
          <p:cNvSpPr/>
          <p:nvPr/>
        </p:nvSpPr>
        <p:spPr>
          <a:xfrm>
            <a:off x="1343637" y="1419138"/>
            <a:ext cx="636165" cy="310392"/>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Rectangle 9">
            <a:extLst>
              <a:ext uri="{FF2B5EF4-FFF2-40B4-BE49-F238E27FC236}">
                <a16:creationId xmlns:a16="http://schemas.microsoft.com/office/drawing/2014/main" id="{FA777BDC-4000-BC8D-A219-D73020613C38}"/>
              </a:ext>
            </a:extLst>
          </p:cNvPr>
          <p:cNvSpPr/>
          <p:nvPr/>
        </p:nvSpPr>
        <p:spPr>
          <a:xfrm>
            <a:off x="1661719" y="1430322"/>
            <a:ext cx="318083" cy="627733"/>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Rectangle 11">
            <a:extLst>
              <a:ext uri="{FF2B5EF4-FFF2-40B4-BE49-F238E27FC236}">
                <a16:creationId xmlns:a16="http://schemas.microsoft.com/office/drawing/2014/main" id="{51D3EE43-EE94-2AD6-2268-52AD9DEE9B50}"/>
              </a:ext>
            </a:extLst>
          </p:cNvPr>
          <p:cNvSpPr/>
          <p:nvPr/>
        </p:nvSpPr>
        <p:spPr>
          <a:xfrm>
            <a:off x="3643619" y="2992074"/>
            <a:ext cx="302003" cy="310392"/>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Rectangle 12">
            <a:extLst>
              <a:ext uri="{FF2B5EF4-FFF2-40B4-BE49-F238E27FC236}">
                <a16:creationId xmlns:a16="http://schemas.microsoft.com/office/drawing/2014/main" id="{579C514A-B2F7-DC86-965C-9F715ED95A13}"/>
              </a:ext>
            </a:extLst>
          </p:cNvPr>
          <p:cNvSpPr/>
          <p:nvPr/>
        </p:nvSpPr>
        <p:spPr>
          <a:xfrm>
            <a:off x="3935732" y="1442861"/>
            <a:ext cx="636165" cy="310392"/>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Rectangle 13">
            <a:extLst>
              <a:ext uri="{FF2B5EF4-FFF2-40B4-BE49-F238E27FC236}">
                <a16:creationId xmlns:a16="http://schemas.microsoft.com/office/drawing/2014/main" id="{EB7B7700-8D14-397B-D664-30F286CADF46}"/>
              </a:ext>
            </a:extLst>
          </p:cNvPr>
          <p:cNvSpPr/>
          <p:nvPr/>
        </p:nvSpPr>
        <p:spPr>
          <a:xfrm>
            <a:off x="4253814" y="1454045"/>
            <a:ext cx="318083" cy="627733"/>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Picture 15">
            <a:extLst>
              <a:ext uri="{FF2B5EF4-FFF2-40B4-BE49-F238E27FC236}">
                <a16:creationId xmlns:a16="http://schemas.microsoft.com/office/drawing/2014/main" id="{D03416D8-6887-D0C5-A42D-E33C79ED59BE}"/>
              </a:ext>
            </a:extLst>
          </p:cNvPr>
          <p:cNvPicPr>
            <a:picLocks noChangeAspect="1"/>
          </p:cNvPicPr>
          <p:nvPr/>
        </p:nvPicPr>
        <p:blipFill>
          <a:blip r:embed="rId3"/>
          <a:stretch>
            <a:fillRect/>
          </a:stretch>
        </p:blipFill>
        <p:spPr>
          <a:xfrm>
            <a:off x="5587597" y="451587"/>
            <a:ext cx="2516624" cy="1278050"/>
          </a:xfrm>
          <a:prstGeom prst="rect">
            <a:avLst/>
          </a:prstGeom>
        </p:spPr>
      </p:pic>
    </p:spTree>
    <p:extLst>
      <p:ext uri="{BB962C8B-B14F-4D97-AF65-F5344CB8AC3E}">
        <p14:creationId xmlns:p14="http://schemas.microsoft.com/office/powerpoint/2010/main" val="41462634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195485" y="1131195"/>
            <a:ext cx="7565719" cy="462713"/>
          </a:xfrm>
        </p:spPr>
        <p:txBody>
          <a:bodyPr>
            <a:normAutofit/>
          </a:bodyPr>
          <a:lstStyle/>
          <a:p>
            <a:pPr marL="0" indent="0">
              <a:buNone/>
            </a:pPr>
            <a:r>
              <a:rPr lang="en-US" sz="2400" dirty="0"/>
              <a:t>Straight line or Euclidean distance from the cell to a source</a:t>
            </a:r>
          </a:p>
        </p:txBody>
      </p:sp>
      <p:sp>
        <p:nvSpPr>
          <p:cNvPr id="2" name="Slide Number Placeholder 1">
            <a:extLst>
              <a:ext uri="{FF2B5EF4-FFF2-40B4-BE49-F238E27FC236}">
                <a16:creationId xmlns:a16="http://schemas.microsoft.com/office/drawing/2014/main" id="{196BD1B7-7137-4B21-981B-44FD4889EF71}"/>
              </a:ext>
            </a:extLst>
          </p:cNvPr>
          <p:cNvSpPr>
            <a:spLocks noGrp="1"/>
          </p:cNvSpPr>
          <p:nvPr>
            <p:ph type="sldNum" sz="quarter" idx="12"/>
          </p:nvPr>
        </p:nvSpPr>
        <p:spPr/>
        <p:txBody>
          <a:bodyPr/>
          <a:lstStyle/>
          <a:p>
            <a:fld id="{127DDC20-79C9-9647-820E-6D40A3D210C3}" type="slidenum">
              <a:rPr lang="en-US" smtClean="0"/>
              <a:pPr/>
              <a:t>43</a:t>
            </a:fld>
            <a:endParaRPr lang="en-US"/>
          </a:p>
        </p:txBody>
      </p:sp>
      <p:cxnSp>
        <p:nvCxnSpPr>
          <p:cNvPr id="7" name="Straight Connector 6">
            <a:extLst>
              <a:ext uri="{FF2B5EF4-FFF2-40B4-BE49-F238E27FC236}">
                <a16:creationId xmlns:a16="http://schemas.microsoft.com/office/drawing/2014/main" id="{898EC6E8-C4EB-4B9B-BD63-71DCF19E182B}"/>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969C31A1-82C7-4714-B76F-6E53DF668BD6}"/>
              </a:ext>
            </a:extLst>
          </p:cNvPr>
          <p:cNvSpPr txBox="1">
            <a:spLocks/>
          </p:cNvSpPr>
          <p:nvPr/>
        </p:nvSpPr>
        <p:spPr>
          <a:xfrm>
            <a:off x="196665" y="15800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E</a:t>
            </a:r>
            <a:r>
              <a:rPr lang="en-US" altLang="zh-CN" sz="3200" dirty="0">
                <a:solidFill>
                  <a:srgbClr val="7030A0"/>
                </a:solidFill>
              </a:rPr>
              <a:t>uclidean Distance</a:t>
            </a:r>
            <a:endParaRPr lang="en-US" sz="2600" dirty="0">
              <a:solidFill>
                <a:srgbClr val="7030A0"/>
              </a:solidFill>
            </a:endParaRPr>
          </a:p>
        </p:txBody>
      </p:sp>
      <p:pic>
        <p:nvPicPr>
          <p:cNvPr id="2050" name="Picture 2" descr="Euclidean distance example">
            <a:extLst>
              <a:ext uri="{FF2B5EF4-FFF2-40B4-BE49-F238E27FC236}">
                <a16:creationId xmlns:a16="http://schemas.microsoft.com/office/drawing/2014/main" id="{5B672095-7C91-4C03-9B57-DC6BDD5DA1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113" y="1780160"/>
            <a:ext cx="2943225" cy="2809875"/>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34375955-58A1-479A-AB7A-333A098B3A2D}"/>
              </a:ext>
            </a:extLst>
          </p:cNvPr>
          <p:cNvSpPr txBox="1"/>
          <p:nvPr/>
        </p:nvSpPr>
        <p:spPr>
          <a:xfrm>
            <a:off x="196665" y="4796807"/>
            <a:ext cx="4902289" cy="276999"/>
          </a:xfrm>
          <a:prstGeom prst="rect">
            <a:avLst/>
          </a:prstGeom>
          <a:noFill/>
        </p:spPr>
        <p:txBody>
          <a:bodyPr wrap="square">
            <a:spAutoFit/>
          </a:bodyPr>
          <a:lstStyle/>
          <a:p>
            <a:r>
              <a:rPr lang="en-US" sz="1200" b="0" i="0" dirty="0">
                <a:solidFill>
                  <a:srgbClr val="4D4D4D"/>
                </a:solidFill>
                <a:effectLst/>
                <a:latin typeface="Lucida Grande"/>
              </a:rPr>
              <a:t>Map showing the distance to the nearest town for each location</a:t>
            </a:r>
            <a:endParaRPr lang="en-US" sz="1200" dirty="0"/>
          </a:p>
        </p:txBody>
      </p:sp>
      <p:sp>
        <p:nvSpPr>
          <p:cNvPr id="6" name="TextBox 5">
            <a:extLst>
              <a:ext uri="{FF2B5EF4-FFF2-40B4-BE49-F238E27FC236}">
                <a16:creationId xmlns:a16="http://schemas.microsoft.com/office/drawing/2014/main" id="{EAC68AFD-0426-D40C-B01E-9EDBB3A1F54A}"/>
              </a:ext>
            </a:extLst>
          </p:cNvPr>
          <p:cNvSpPr txBox="1"/>
          <p:nvPr/>
        </p:nvSpPr>
        <p:spPr>
          <a:xfrm>
            <a:off x="3782348" y="1713854"/>
            <a:ext cx="4135772" cy="646331"/>
          </a:xfrm>
          <a:prstGeom prst="rect">
            <a:avLst/>
          </a:prstGeom>
          <a:noFill/>
        </p:spPr>
        <p:txBody>
          <a:bodyPr wrap="square">
            <a:spAutoFit/>
          </a:bodyPr>
          <a:lstStyle/>
          <a:p>
            <a:r>
              <a:rPr lang="en-US" b="0" i="0" dirty="0">
                <a:effectLst/>
                <a:latin typeface="Avenir Next W01"/>
              </a:rPr>
              <a:t>Map showing the distance to the nearest town for each location</a:t>
            </a:r>
            <a:endParaRPr lang="en-US" dirty="0"/>
          </a:p>
        </p:txBody>
      </p:sp>
    </p:spTree>
    <p:extLst>
      <p:ext uri="{BB962C8B-B14F-4D97-AF65-F5344CB8AC3E}">
        <p14:creationId xmlns:p14="http://schemas.microsoft.com/office/powerpoint/2010/main" val="3402026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9D223E2-6100-CD61-8DA3-69AC9BE4A8C3}"/>
              </a:ext>
            </a:extLst>
          </p:cNvPr>
          <p:cNvSpPr>
            <a:spLocks noGrp="1"/>
          </p:cNvSpPr>
          <p:nvPr>
            <p:ph type="sldNum" sz="quarter" idx="12"/>
          </p:nvPr>
        </p:nvSpPr>
        <p:spPr/>
        <p:txBody>
          <a:bodyPr/>
          <a:lstStyle/>
          <a:p>
            <a:fld id="{127DDC20-79C9-9647-820E-6D40A3D210C3}" type="slidenum">
              <a:rPr lang="en-US" smtClean="0"/>
              <a:pPr/>
              <a:t>44</a:t>
            </a:fld>
            <a:endParaRPr lang="en-US"/>
          </a:p>
        </p:txBody>
      </p:sp>
      <p:sp>
        <p:nvSpPr>
          <p:cNvPr id="6" name="Title 1">
            <a:extLst>
              <a:ext uri="{FF2B5EF4-FFF2-40B4-BE49-F238E27FC236}">
                <a16:creationId xmlns:a16="http://schemas.microsoft.com/office/drawing/2014/main" id="{60ACEDFA-03AF-CAB8-FB16-8F0BD484E642}"/>
              </a:ext>
            </a:extLst>
          </p:cNvPr>
          <p:cNvSpPr txBox="1">
            <a:spLocks/>
          </p:cNvSpPr>
          <p:nvPr/>
        </p:nvSpPr>
        <p:spPr>
          <a:xfrm>
            <a:off x="196665" y="15800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E</a:t>
            </a:r>
            <a:r>
              <a:rPr lang="en-US" altLang="zh-CN" sz="3200" dirty="0">
                <a:solidFill>
                  <a:srgbClr val="7030A0"/>
                </a:solidFill>
              </a:rPr>
              <a:t>uclidean Distance</a:t>
            </a:r>
            <a:endParaRPr lang="en-US" sz="2600" dirty="0">
              <a:solidFill>
                <a:srgbClr val="7030A0"/>
              </a:solidFill>
            </a:endParaRPr>
          </a:p>
        </p:txBody>
      </p:sp>
      <p:pic>
        <p:nvPicPr>
          <p:cNvPr id="11" name="Picture 2" descr="Euclidean distance example">
            <a:extLst>
              <a:ext uri="{FF2B5EF4-FFF2-40B4-BE49-F238E27FC236}">
                <a16:creationId xmlns:a16="http://schemas.microsoft.com/office/drawing/2014/main" id="{46E4DF79-A539-4CEE-5EDA-C5ADCC58B8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5358" y="890927"/>
            <a:ext cx="3911272" cy="3734062"/>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15163218-50BB-D08F-72B4-13F474C0E9A8}"/>
              </a:ext>
            </a:extLst>
          </p:cNvPr>
          <p:cNvSpPr txBox="1"/>
          <p:nvPr/>
        </p:nvSpPr>
        <p:spPr>
          <a:xfrm>
            <a:off x="5389927" y="2030136"/>
            <a:ext cx="595618" cy="369332"/>
          </a:xfrm>
          <a:prstGeom prst="rect">
            <a:avLst/>
          </a:prstGeom>
          <a:noFill/>
        </p:spPr>
        <p:txBody>
          <a:bodyPr wrap="square" rtlCol="0">
            <a:spAutoFit/>
          </a:bodyPr>
          <a:lstStyle/>
          <a:p>
            <a:r>
              <a:rPr lang="en-US" b="1" dirty="0">
                <a:solidFill>
                  <a:schemeClr val="bg1"/>
                </a:solidFill>
              </a:rPr>
              <a:t>A</a:t>
            </a:r>
          </a:p>
        </p:txBody>
      </p:sp>
      <p:sp>
        <p:nvSpPr>
          <p:cNvPr id="13" name="TextBox 12">
            <a:extLst>
              <a:ext uri="{FF2B5EF4-FFF2-40B4-BE49-F238E27FC236}">
                <a16:creationId xmlns:a16="http://schemas.microsoft.com/office/drawing/2014/main" id="{9F5C905D-B9F6-FDD8-77C7-E36C4F54DA55}"/>
              </a:ext>
            </a:extLst>
          </p:cNvPr>
          <p:cNvSpPr txBox="1"/>
          <p:nvPr/>
        </p:nvSpPr>
        <p:spPr>
          <a:xfrm>
            <a:off x="5163085" y="1748177"/>
            <a:ext cx="595618" cy="369332"/>
          </a:xfrm>
          <a:prstGeom prst="rect">
            <a:avLst/>
          </a:prstGeom>
          <a:noFill/>
        </p:spPr>
        <p:txBody>
          <a:bodyPr wrap="square" rtlCol="0">
            <a:spAutoFit/>
          </a:bodyPr>
          <a:lstStyle/>
          <a:p>
            <a:r>
              <a:rPr lang="en-US" b="1" dirty="0">
                <a:solidFill>
                  <a:schemeClr val="bg1"/>
                </a:solidFill>
              </a:rPr>
              <a:t>B</a:t>
            </a:r>
          </a:p>
        </p:txBody>
      </p:sp>
      <p:sp>
        <p:nvSpPr>
          <p:cNvPr id="14" name="TextBox 13">
            <a:extLst>
              <a:ext uri="{FF2B5EF4-FFF2-40B4-BE49-F238E27FC236}">
                <a16:creationId xmlns:a16="http://schemas.microsoft.com/office/drawing/2014/main" id="{E1BE5A48-29EE-62A1-E39C-FB8100D6CE0C}"/>
              </a:ext>
            </a:extLst>
          </p:cNvPr>
          <p:cNvSpPr txBox="1"/>
          <p:nvPr/>
        </p:nvSpPr>
        <p:spPr>
          <a:xfrm>
            <a:off x="352337" y="1286512"/>
            <a:ext cx="2648602" cy="646331"/>
          </a:xfrm>
          <a:prstGeom prst="rect">
            <a:avLst/>
          </a:prstGeom>
          <a:noFill/>
        </p:spPr>
        <p:txBody>
          <a:bodyPr wrap="square" rtlCol="0">
            <a:spAutoFit/>
          </a:bodyPr>
          <a:lstStyle/>
          <a:p>
            <a:r>
              <a:rPr lang="en-US" dirty="0"/>
              <a:t>1. W</a:t>
            </a:r>
            <a:r>
              <a:rPr lang="en-US" altLang="zh-CN" dirty="0"/>
              <a:t>hich location is closer to the town? A or B?</a:t>
            </a:r>
            <a:endParaRPr lang="en-US" dirty="0"/>
          </a:p>
        </p:txBody>
      </p:sp>
      <p:sp>
        <p:nvSpPr>
          <p:cNvPr id="15" name="TextBox 14">
            <a:extLst>
              <a:ext uri="{FF2B5EF4-FFF2-40B4-BE49-F238E27FC236}">
                <a16:creationId xmlns:a16="http://schemas.microsoft.com/office/drawing/2014/main" id="{8BB5E91A-F31D-EFA1-6906-0E28D103A517}"/>
              </a:ext>
            </a:extLst>
          </p:cNvPr>
          <p:cNvSpPr txBox="1"/>
          <p:nvPr/>
        </p:nvSpPr>
        <p:spPr>
          <a:xfrm>
            <a:off x="352337" y="2542643"/>
            <a:ext cx="2648602" cy="646331"/>
          </a:xfrm>
          <a:prstGeom prst="rect">
            <a:avLst/>
          </a:prstGeom>
          <a:noFill/>
        </p:spPr>
        <p:txBody>
          <a:bodyPr wrap="square" rtlCol="0">
            <a:spAutoFit/>
          </a:bodyPr>
          <a:lstStyle/>
          <a:p>
            <a:r>
              <a:rPr lang="en-US" dirty="0"/>
              <a:t>1. W</a:t>
            </a:r>
            <a:r>
              <a:rPr lang="en-US" altLang="zh-CN" dirty="0"/>
              <a:t>hich location is closer to the town? C or D?</a:t>
            </a:r>
            <a:endParaRPr lang="en-US" dirty="0"/>
          </a:p>
        </p:txBody>
      </p:sp>
      <p:sp>
        <p:nvSpPr>
          <p:cNvPr id="16" name="TextBox 15">
            <a:extLst>
              <a:ext uri="{FF2B5EF4-FFF2-40B4-BE49-F238E27FC236}">
                <a16:creationId xmlns:a16="http://schemas.microsoft.com/office/drawing/2014/main" id="{8D815C78-0274-665D-9F4F-579683584FCF}"/>
              </a:ext>
            </a:extLst>
          </p:cNvPr>
          <p:cNvSpPr txBox="1"/>
          <p:nvPr/>
        </p:nvSpPr>
        <p:spPr>
          <a:xfrm>
            <a:off x="5460894" y="3994558"/>
            <a:ext cx="595618" cy="369332"/>
          </a:xfrm>
          <a:prstGeom prst="rect">
            <a:avLst/>
          </a:prstGeom>
          <a:noFill/>
        </p:spPr>
        <p:txBody>
          <a:bodyPr wrap="square" rtlCol="0">
            <a:spAutoFit/>
          </a:bodyPr>
          <a:lstStyle/>
          <a:p>
            <a:r>
              <a:rPr lang="en-US" b="1" dirty="0"/>
              <a:t>C</a:t>
            </a:r>
          </a:p>
        </p:txBody>
      </p:sp>
      <p:sp>
        <p:nvSpPr>
          <p:cNvPr id="17" name="TextBox 16">
            <a:extLst>
              <a:ext uri="{FF2B5EF4-FFF2-40B4-BE49-F238E27FC236}">
                <a16:creationId xmlns:a16="http://schemas.microsoft.com/office/drawing/2014/main" id="{E53FDEA4-7376-B26D-B93A-ABDB5C3A8C82}"/>
              </a:ext>
            </a:extLst>
          </p:cNvPr>
          <p:cNvSpPr txBox="1"/>
          <p:nvPr/>
        </p:nvSpPr>
        <p:spPr>
          <a:xfrm>
            <a:off x="3785183" y="2030136"/>
            <a:ext cx="595618" cy="369332"/>
          </a:xfrm>
          <a:prstGeom prst="rect">
            <a:avLst/>
          </a:prstGeom>
          <a:noFill/>
        </p:spPr>
        <p:txBody>
          <a:bodyPr wrap="square" rtlCol="0">
            <a:spAutoFit/>
          </a:bodyPr>
          <a:lstStyle/>
          <a:p>
            <a:r>
              <a:rPr lang="en-US" b="1" dirty="0"/>
              <a:t>D</a:t>
            </a:r>
          </a:p>
        </p:txBody>
      </p:sp>
    </p:spTree>
    <p:extLst>
      <p:ext uri="{BB962C8B-B14F-4D97-AF65-F5344CB8AC3E}">
        <p14:creationId xmlns:p14="http://schemas.microsoft.com/office/powerpoint/2010/main" val="10995377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323AC18B-11B5-246E-CC80-92B30D2BCED9}"/>
              </a:ext>
            </a:extLst>
          </p:cNvPr>
          <p:cNvPicPr>
            <a:picLocks noGrp="1" noChangeAspect="1"/>
          </p:cNvPicPr>
          <p:nvPr>
            <p:ph idx="1"/>
          </p:nvPr>
        </p:nvPicPr>
        <p:blipFill>
          <a:blip r:embed="rId2"/>
          <a:stretch>
            <a:fillRect/>
          </a:stretch>
        </p:blipFill>
        <p:spPr>
          <a:xfrm>
            <a:off x="243980" y="945364"/>
            <a:ext cx="5739559" cy="3956443"/>
          </a:xfrm>
          <a:prstGeom prst="rect">
            <a:avLst/>
          </a:prstGeom>
        </p:spPr>
      </p:pic>
      <p:sp>
        <p:nvSpPr>
          <p:cNvPr id="4" name="Slide Number Placeholder 3">
            <a:extLst>
              <a:ext uri="{FF2B5EF4-FFF2-40B4-BE49-F238E27FC236}">
                <a16:creationId xmlns:a16="http://schemas.microsoft.com/office/drawing/2014/main" id="{D5481B54-32E9-578C-6666-DCA27E8976F5}"/>
              </a:ext>
            </a:extLst>
          </p:cNvPr>
          <p:cNvSpPr>
            <a:spLocks noGrp="1"/>
          </p:cNvSpPr>
          <p:nvPr>
            <p:ph type="sldNum" sz="quarter" idx="12"/>
          </p:nvPr>
        </p:nvSpPr>
        <p:spPr/>
        <p:txBody>
          <a:bodyPr/>
          <a:lstStyle/>
          <a:p>
            <a:fld id="{127DDC20-79C9-9647-820E-6D40A3D210C3}" type="slidenum">
              <a:rPr lang="en-US" smtClean="0"/>
              <a:pPr/>
              <a:t>45</a:t>
            </a:fld>
            <a:endParaRPr lang="en-US"/>
          </a:p>
        </p:txBody>
      </p:sp>
      <p:sp>
        <p:nvSpPr>
          <p:cNvPr id="7" name="Title 1">
            <a:extLst>
              <a:ext uri="{FF2B5EF4-FFF2-40B4-BE49-F238E27FC236}">
                <a16:creationId xmlns:a16="http://schemas.microsoft.com/office/drawing/2014/main" id="{6CBC5D48-59BD-E965-60FE-AFF887B142B2}"/>
              </a:ext>
            </a:extLst>
          </p:cNvPr>
          <p:cNvSpPr txBox="1">
            <a:spLocks/>
          </p:cNvSpPr>
          <p:nvPr/>
        </p:nvSpPr>
        <p:spPr>
          <a:xfrm>
            <a:off x="243980" y="17198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Cost</a:t>
            </a:r>
            <a:r>
              <a:rPr lang="en-US" altLang="zh-CN" sz="3200" dirty="0">
                <a:solidFill>
                  <a:srgbClr val="7030A0"/>
                </a:solidFill>
              </a:rPr>
              <a:t> Distance</a:t>
            </a:r>
            <a:endParaRPr lang="en-US" sz="2600" dirty="0">
              <a:solidFill>
                <a:srgbClr val="7030A0"/>
              </a:solidFill>
            </a:endParaRPr>
          </a:p>
        </p:txBody>
      </p:sp>
      <p:sp>
        <p:nvSpPr>
          <p:cNvPr id="8" name="TextBox 7">
            <a:extLst>
              <a:ext uri="{FF2B5EF4-FFF2-40B4-BE49-F238E27FC236}">
                <a16:creationId xmlns:a16="http://schemas.microsoft.com/office/drawing/2014/main" id="{A072050C-7D0E-E437-82FD-AFF42DC23B23}"/>
              </a:ext>
            </a:extLst>
          </p:cNvPr>
          <p:cNvSpPr txBox="1"/>
          <p:nvPr/>
        </p:nvSpPr>
        <p:spPr>
          <a:xfrm>
            <a:off x="5974245" y="1899593"/>
            <a:ext cx="2155971" cy="1754326"/>
          </a:xfrm>
          <a:prstGeom prst="rect">
            <a:avLst/>
          </a:prstGeom>
          <a:noFill/>
        </p:spPr>
        <p:txBody>
          <a:bodyPr wrap="square" rtlCol="0">
            <a:spAutoFit/>
          </a:bodyPr>
          <a:lstStyle/>
          <a:p>
            <a:r>
              <a:rPr lang="en-US" altLang="zh-CN" dirty="0"/>
              <a:t>Cost can be:</a:t>
            </a:r>
          </a:p>
          <a:p>
            <a:pPr marL="285750" indent="-285750">
              <a:buFont typeface="Wingdings" panose="05000000000000000000" pitchFamily="2" charset="2"/>
              <a:buChar char="ü"/>
            </a:pPr>
            <a:r>
              <a:rPr lang="en-US" altLang="zh-CN" dirty="0"/>
              <a:t>Preference</a:t>
            </a:r>
          </a:p>
          <a:p>
            <a:pPr marL="285750" indent="-285750">
              <a:buFont typeface="Wingdings" panose="05000000000000000000" pitchFamily="2" charset="2"/>
              <a:buChar char="ü"/>
            </a:pPr>
            <a:r>
              <a:rPr lang="en-US" altLang="zh-CN" dirty="0"/>
              <a:t>Energy expended</a:t>
            </a:r>
          </a:p>
          <a:p>
            <a:pPr marL="285750" indent="-285750">
              <a:buFont typeface="Wingdings" panose="05000000000000000000" pitchFamily="2" charset="2"/>
              <a:buChar char="ü"/>
            </a:pPr>
            <a:r>
              <a:rPr lang="en-US" altLang="zh-CN" dirty="0"/>
              <a:t>Time</a:t>
            </a:r>
          </a:p>
          <a:p>
            <a:pPr marL="285750" indent="-285750">
              <a:buFont typeface="Wingdings" panose="05000000000000000000" pitchFamily="2" charset="2"/>
              <a:buChar char="ü"/>
            </a:pPr>
            <a:r>
              <a:rPr lang="en-US" altLang="zh-CN" dirty="0"/>
              <a:t>Dollars</a:t>
            </a:r>
          </a:p>
          <a:p>
            <a:pPr marL="285750" indent="-285750">
              <a:buFont typeface="Wingdings" panose="05000000000000000000" pitchFamily="2" charset="2"/>
              <a:buChar char="ü"/>
            </a:pPr>
            <a:r>
              <a:rPr lang="en-US" altLang="zh-CN" dirty="0"/>
              <a:t>Risk</a:t>
            </a:r>
            <a:endParaRPr lang="zh-CN" altLang="en-US" dirty="0"/>
          </a:p>
        </p:txBody>
      </p:sp>
    </p:spTree>
    <p:extLst>
      <p:ext uri="{BB962C8B-B14F-4D97-AF65-F5344CB8AC3E}">
        <p14:creationId xmlns:p14="http://schemas.microsoft.com/office/powerpoint/2010/main" val="15813188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13.2 </a:t>
            </a:r>
            <a:br>
              <a:rPr lang="en-US" sz="4050" dirty="0">
                <a:solidFill>
                  <a:srgbClr val="FFFFFF"/>
                </a:solidFill>
              </a:rPr>
            </a:br>
            <a:r>
              <a:rPr lang="en-US" sz="4050" dirty="0">
                <a:solidFill>
                  <a:srgbClr val="FFFFFF"/>
                </a:solidFill>
              </a:rPr>
              <a:t>Lab session</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2268424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FABBCE0-E08C-4BBE-9FD2-E2B253D4D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6"/>
            <a:ext cx="8229600" cy="4629149"/>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500F975A-F937-77A1-413D-F51FF137F9AD}"/>
              </a:ext>
            </a:extLst>
          </p:cNvPr>
          <p:cNvSpPr>
            <a:spLocks noGrp="1"/>
          </p:cNvSpPr>
          <p:nvPr>
            <p:ph type="title"/>
          </p:nvPr>
        </p:nvSpPr>
        <p:spPr>
          <a:xfrm>
            <a:off x="392417" y="865356"/>
            <a:ext cx="7444991" cy="462049"/>
          </a:xfrm>
        </p:spPr>
        <p:txBody>
          <a:bodyPr>
            <a:normAutofit/>
          </a:bodyPr>
          <a:lstStyle/>
          <a:p>
            <a:pPr algn="ctr">
              <a:spcBef>
                <a:spcPts val="0"/>
              </a:spcBef>
              <a:spcAft>
                <a:spcPts val="398"/>
              </a:spcAft>
            </a:pPr>
            <a:r>
              <a:rPr lang="en-US" sz="2160" b="1" dirty="0">
                <a:solidFill>
                  <a:schemeClr val="tx1">
                    <a:lumMod val="85000"/>
                    <a:lumOff val="15000"/>
                  </a:schemeClr>
                </a:solidFill>
                <a:latin typeface="+mn-lt"/>
                <a:ea typeface="Calibri" panose="020F0502020204030204" pitchFamily="34" charset="0"/>
                <a:cs typeface="Calibri" panose="020F0502020204030204" pitchFamily="34" charset="0"/>
              </a:rPr>
              <a:t>Lab 09: </a:t>
            </a:r>
            <a:r>
              <a:rPr lang="en-US" b="1" dirty="0"/>
              <a:t>raster Analysis</a:t>
            </a:r>
            <a:endParaRPr lang="en-US" sz="2160" dirty="0">
              <a:solidFill>
                <a:schemeClr val="tx1">
                  <a:lumMod val="85000"/>
                  <a:lumOff val="15000"/>
                </a:schemeClr>
              </a:solidFill>
              <a:latin typeface="+mn-lt"/>
              <a:ea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FF426BAC-43D6-468E-B6FF-167034D5C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60727A"/>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FB02D80E-5995-4C54-8387-5893C2C89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896083C8-1401-4950-AF56-E2FAFE42D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graphicFrame>
        <p:nvGraphicFramePr>
          <p:cNvPr id="5" name="Content Placeholder 2">
            <a:extLst>
              <a:ext uri="{FF2B5EF4-FFF2-40B4-BE49-F238E27FC236}">
                <a16:creationId xmlns:a16="http://schemas.microsoft.com/office/drawing/2014/main" id="{F61B7E67-130C-FD82-8132-74DBD62B80A6}"/>
              </a:ext>
            </a:extLst>
          </p:cNvPr>
          <p:cNvGraphicFramePr>
            <a:graphicFrameLocks noGrp="1"/>
          </p:cNvGraphicFramePr>
          <p:nvPr>
            <p:ph idx="1"/>
            <p:extLst>
              <p:ext uri="{D42A27DB-BD31-4B8C-83A1-F6EECF244321}">
                <p14:modId xmlns:p14="http://schemas.microsoft.com/office/powerpoint/2010/main" val="3380294670"/>
              </p:ext>
            </p:extLst>
          </p:nvPr>
        </p:nvGraphicFramePr>
        <p:xfrm>
          <a:off x="392192" y="1837730"/>
          <a:ext cx="7445216" cy="25746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827850"/>
      </p:ext>
    </p:extLst>
  </p:cSld>
  <p:clrMapOvr>
    <a:overrideClrMapping bg1="dk1" tx1="lt1" bg2="dk2" tx2="lt2" accent1="accent1" accent2="accent2" accent3="accent3" accent4="accent4" accent5="accent5" accent6="accent6" hlink="hlink" folHlink="folHlink"/>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71305" y="1325254"/>
            <a:ext cx="3286989" cy="830997"/>
          </a:xfrm>
          <a:prstGeom prst="rect">
            <a:avLst/>
          </a:prstGeom>
          <a:noFill/>
        </p:spPr>
        <p:txBody>
          <a:bodyPr wrap="none" lIns="82296" tIns="41148" rIns="82296" bIns="41148">
            <a:spAutoFit/>
          </a:bodyPr>
          <a:lstStyle/>
          <a:p>
            <a:pPr algn="ctr"/>
            <a:r>
              <a:rPr lang="en-US" sz="4860" b="1" spc="180" dirty="0">
                <a:ln w="29210">
                  <a:solidFill>
                    <a:schemeClr val="accent3">
                      <a:tint val="10000"/>
                    </a:schemeClr>
                  </a:solidFill>
                </a:ln>
                <a:solidFill>
                  <a:srgbClr val="008000">
                    <a:alpha val="50000"/>
                  </a:srgbClr>
                </a:solidFill>
                <a:effectLst>
                  <a:innerShdw blurRad="50800" dist="50800" dir="8100000">
                    <a:srgbClr val="7D7D7D">
                      <a:alpha val="73000"/>
                    </a:srgbClr>
                  </a:innerShdw>
                </a:effectLst>
              </a:rPr>
              <a:t>Thank you!</a:t>
            </a:r>
          </a:p>
        </p:txBody>
      </p:sp>
      <p:sp>
        <p:nvSpPr>
          <p:cNvPr id="3" name="Slide Number Placeholder 2">
            <a:extLst>
              <a:ext uri="{FF2B5EF4-FFF2-40B4-BE49-F238E27FC236}">
                <a16:creationId xmlns:a16="http://schemas.microsoft.com/office/drawing/2014/main" id="{863C9EAE-E5B7-4784-94CD-D062E17813E3}"/>
              </a:ext>
            </a:extLst>
          </p:cNvPr>
          <p:cNvSpPr>
            <a:spLocks noGrp="1"/>
          </p:cNvSpPr>
          <p:nvPr>
            <p:ph type="sldNum" sz="quarter" idx="12"/>
          </p:nvPr>
        </p:nvSpPr>
        <p:spPr/>
        <p:txBody>
          <a:bodyPr/>
          <a:lstStyle/>
          <a:p>
            <a:fld id="{127DDC20-79C9-9647-820E-6D40A3D210C3}" type="slidenum">
              <a:rPr lang="en-US" smtClean="0"/>
              <a:pPr/>
              <a:t>48</a:t>
            </a:fld>
            <a:endParaRPr lang="en-US"/>
          </a:p>
        </p:txBody>
      </p:sp>
      <p:pic>
        <p:nvPicPr>
          <p:cNvPr id="6" name="Picture 5" descr="Geography department logo">
            <a:extLst>
              <a:ext uri="{FF2B5EF4-FFF2-40B4-BE49-F238E27FC236}">
                <a16:creationId xmlns:a16="http://schemas.microsoft.com/office/drawing/2014/main" id="{32DE135F-68C6-4911-85BA-92ABB3F9F85C}"/>
              </a:ext>
            </a:extLst>
          </p:cNvPr>
          <p:cNvPicPr/>
          <p:nvPr/>
        </p:nvPicPr>
        <p:blipFill>
          <a:blip r:embed="rId3"/>
          <a:stretch>
            <a:fillRect/>
          </a:stretch>
        </p:blipFill>
        <p:spPr>
          <a:xfrm>
            <a:off x="152400" y="4275667"/>
            <a:ext cx="5915025" cy="758190"/>
          </a:xfrm>
          <a:prstGeom prst="rect">
            <a:avLst/>
          </a:prstGeom>
        </p:spPr>
      </p:pic>
      <p:cxnSp>
        <p:nvCxnSpPr>
          <p:cNvPr id="7" name="Straight Connector 6">
            <a:extLst>
              <a:ext uri="{FF2B5EF4-FFF2-40B4-BE49-F238E27FC236}">
                <a16:creationId xmlns:a16="http://schemas.microsoft.com/office/drawing/2014/main" id="{5ADF13BC-3A5F-4415-94E6-85FAF42998C9}"/>
              </a:ext>
            </a:extLst>
          </p:cNvPr>
          <p:cNvCxnSpPr/>
          <p:nvPr/>
        </p:nvCxnSpPr>
        <p:spPr>
          <a:xfrm>
            <a:off x="152400" y="4182575"/>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522301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199DBAA3-5EC2-46E4-AC87-FE53F2E43421}&quot;/&gt;&lt;isInvalidForFieldText val=&quot;0&quot;/&gt;&lt;Image&gt;&lt;filename val=&quot;C:\Users\amaxwel6\AppData\Local\Temp\CP8644187751046Session\CPTrustFolder8644187751046\PPTImport8644187799296\data\asimages\{199DBAA3-5EC2-46E4-AC87-FE53F2E43421}_36.png&quot;/&gt;&lt;left val=&quot;133&quot;/&gt;&lt;top val=&quot;199&quot;/&gt;&lt;width val=&quot;987&quot;/&gt;&lt;height val=&quot;311&quot;/&gt;&lt;hasText val=&quot;1&quot;/&gt;&lt;/Image&gt;&lt;/ThreeDShapeInfo&gt;"/>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TableIndex row=&quot;1&quot; col=&quot;2&quot;&gt;&lt;linesCount val=&quot;1&quot;/&gt;&lt;lineCharCount val=&quot;1&quot;/&gt;&lt;/TableIndex&gt;&lt;TableIndex row=&quot;1&quot; col=&quot;3&quot;&gt;&lt;linesCount val=&quot;1&quot;/&gt;&lt;lineCharCount val=&quot;1&quot;/&gt;&lt;/TableIndex&gt;&lt;TableIndex row=&quot;2&quot; col=&quot;1&quot;&gt;&lt;linesCount val=&quot;1&quot;/&gt;&lt;lineCharCount val=&quot;1&quot;/&gt;&lt;/TableIndex&gt;&lt;TableIndex row=&quot;2&quot; col=&quot;2&quot;&gt;&lt;linesCount val=&quot;1&quot;/&gt;&lt;lineCharCount val=&quot;1&quot;/&gt;&lt;/TableIndex&gt;&lt;TableIndex row=&quot;2&quot; col=&quot;3&quot;&gt;&lt;linesCount val=&quot;1&quot;/&gt;&lt;lineCharCount val=&quot;1&quot;/&gt;&lt;/TableIndex&gt;&lt;TableIndex row=&quot;3&quot; col=&quot;1&quot;&gt;&lt;linesCount val=&quot;1&quot;/&gt;&lt;lineCharCount val=&quot;7&quot;/&gt;&lt;/TableIndex&gt;&lt;TableIndex row=&quot;3&quot; col=&quot;2&quot;&gt;&lt;linesCount val=&quot;1&quot;/&gt;&lt;lineCharCount val=&quot;1&quot;/&gt;&lt;/TableIndex&gt;&lt;TableIndex row=&quot;3&quot; col=&quot;3&quot;&gt;&lt;linesCount val=&quot;1&quot;/&gt;&lt;lineCharCount val=&quot;1&quot;/&gt;&lt;/TableIndex&gt;&lt;/ShapeTextInfo&gt;"/>
  <p:tag name="PRESENTER_SHAPEINFO" val="&lt;ThreeDShapeInfo&gt;&lt;uuid val=&quot;{AFA0938A-99D9-4F4A-86FF-18F1589021E8}&quot;/&gt;&lt;isInvalidForFieldText val=&quot;0&quot;/&gt;&lt;Image&gt;&lt;filename val=&quot;C:\Users\amaxwel6\AppData\Local\Temp\CP8644187751046Session\CPTrustFolder8644187751046\PPTImport8644187799296\data\asimages\{AFA0938A-99D9-4F4A-86FF-18F1589021E8}_41.png&quot;/&gt;&lt;left val=&quot;50&quot;/&gt;&lt;top val=&quot;198&quot;/&gt;&lt;width val=&quot;220&quot;/&gt;&lt;height val=&quot;164&quot;/&gt;&lt;hasText val=&quot;1&quot;/&gt;&lt;/Image&gt;&lt;/ThreeDShape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TableIndex row=&quot;1&quot; col=&quot;2&quot;&gt;&lt;linesCount val=&quot;1&quot;/&gt;&lt;lineCharCount val=&quot;6&quot;/&gt;&lt;/TableIndex&gt;&lt;TableIndex row=&quot;1&quot; col=&quot;3&quot;&gt;&lt;linesCount val=&quot;1&quot;/&gt;&lt;lineCharCount val=&quot;1&quot;/&gt;&lt;/TableIndex&gt;&lt;TableIndex row=&quot;2&quot; col=&quot;1&quot;&gt;&lt;linesCount val=&quot;1&quot;/&gt;&lt;lineCharCount val=&quot;1&quot;/&gt;&lt;/TableIndex&gt;&lt;TableIndex row=&quot;2&quot; col=&quot;2&quot;&gt;&lt;linesCount val=&quot;1&quot;/&gt;&lt;lineCharCount val=&quot;1&quot;/&gt;&lt;/TableIndex&gt;&lt;TableIndex row=&quot;2&quot; col=&quot;3&quot;&gt;&lt;linesCount val=&quot;1&quot;/&gt;&lt;lineCharCount val=&quot;1&quot;/&gt;&lt;/TableIndex&gt;&lt;TableIndex row=&quot;3&quot; col=&quot;1&quot;&gt;&lt;linesCount val=&quot;1&quot;/&gt;&lt;lineCharCount val=&quot;7&quot;/&gt;&lt;/TableIndex&gt;&lt;TableIndex row=&quot;3&quot; col=&quot;2&quot;&gt;&lt;linesCount val=&quot;1&quot;/&gt;&lt;lineCharCount val=&quot;1&quot;/&gt;&lt;/TableIndex&gt;&lt;TableIndex row=&quot;3&quot; col=&quot;3&quot;&gt;&lt;linesCount val=&quot;1&quot;/&gt;&lt;lineCharCount val=&quot;6&quot;/&gt;&lt;/TableIndex&gt;&lt;/ShapeTextInfo&gt;"/>
  <p:tag name="PRESENTER_SHAPEINFO" val="&lt;ThreeDShapeInfo&gt;&lt;uuid val=&quot;{5F8369CC-CBDF-4DF3-8532-031A161559E4}&quot;/&gt;&lt;isInvalidForFieldText val=&quot;0&quot;/&gt;&lt;Image&gt;&lt;filename val=&quot;C:\Users\amaxwel6\AppData\Local\Temp\CP8644187751046Session\CPTrustFolder8644187751046\PPTImport8644187799296\data\asimages\{5F8369CC-CBDF-4DF3-8532-031A161559E4}_41.png&quot;/&gt;&lt;left val=&quot;382&quot;/&gt;&lt;top val=&quot;198&quot;/&gt;&lt;width val=&quot;220&quot;/&gt;&lt;height val=&quot;164&quot;/&gt;&lt;hasText val=&quot;1&quot;/&gt;&lt;/Image&gt;&lt;/ThreeDShape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TableIndex row=&quot;1&quot; col=&quot;2&quot;&gt;&lt;linesCount val=&quot;1&quot;/&gt;&lt;lineCharCount val=&quot;6&quot;/&gt;&lt;/TableIndex&gt;&lt;TableIndex row=&quot;1&quot; col=&quot;3&quot;&gt;&lt;linesCount val=&quot;1&quot;/&gt;&lt;lineCharCount val=&quot;1&quot;/&gt;&lt;/TableIndex&gt;&lt;TableIndex row=&quot;2&quot; col=&quot;1&quot;&gt;&lt;linesCount val=&quot;1&quot;/&gt;&lt;lineCharCount val=&quot;1&quot;/&gt;&lt;/TableIndex&gt;&lt;TableIndex row=&quot;2&quot; col=&quot;2&quot;&gt;&lt;linesCount val=&quot;1&quot;/&gt;&lt;lineCharCount val=&quot;1&quot;/&gt;&lt;/TableIndex&gt;&lt;TableIndex row=&quot;2&quot; col=&quot;3&quot;&gt;&lt;linesCount val=&quot;1&quot;/&gt;&lt;lineCharCount val=&quot;1&quot;/&gt;&lt;/TableIndex&gt;&lt;TableIndex row=&quot;3&quot; col=&quot;1&quot;&gt;&lt;linesCount val=&quot;1&quot;/&gt;&lt;lineCharCount val=&quot;6&quot;/&gt;&lt;/TableIndex&gt;&lt;TableIndex row=&quot;3&quot; col=&quot;2&quot;&gt;&lt;linesCount val=&quot;1&quot;/&gt;&lt;lineCharCount val=&quot;1&quot;/&gt;&lt;/TableIndex&gt;&lt;TableIndex row=&quot;3&quot; col=&quot;3&quot;&gt;&lt;linesCount val=&quot;1&quot;/&gt;&lt;lineCharCount val=&quot;6&quot;/&gt;&lt;/TableIndex&gt;&lt;/ShapeTextInfo&gt;"/>
  <p:tag name="PRESENTER_SHAPEINFO" val="&lt;ThreeDShapeInfo&gt;&lt;uuid val=&quot;{CC9DC69D-96D5-44CF-B897-DB16BAC6E599}&quot;/&gt;&lt;isInvalidForFieldText val=&quot;0&quot;/&gt;&lt;Image&gt;&lt;filename val=&quot;C:\Users\amaxwel6\AppData\Local\Temp\CP8644187751046Session\CPTrustFolder8644187751046\PPTImport8644187799296\data\asimages\{CC9DC69D-96D5-44CF-B897-DB16BAC6E599}_41.png&quot;/&gt;&lt;left val=&quot;846&quot;/&gt;&lt;top val=&quot;198&quot;/&gt;&lt;width val=&quot;220&quot;/&gt;&lt;height val=&quot;164&quot;/&gt;&lt;hasText val=&quot;1&quot;/&gt;&lt;/Image&gt;&lt;/ThreeDShape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6DB09000-72E4-49D7-9E6C-000E66257DCC}&quot;/&gt;&lt;isInvalidForFieldText val=&quot;0&quot;/&gt;&lt;Image&gt;&lt;filename val=&quot;C:\Users\amaxwel6\AppData\Local\Temp\CP8644187751046Session\CPTrustFolder8644187751046\PPTImport8644187799296\data\asimages\{6DB09000-72E4-49D7-9E6C-000E66257DCC}_41.png&quot;/&gt;&lt;left val=&quot;230&quot;/&gt;&lt;top val=&quot;175&quot;/&gt;&lt;width val=&quot;177&quot;/&gt;&lt;height val=&quot;225&quot;/&gt;&lt;hasText val=&quot;1&quot;/&gt;&lt;/Image&gt;&lt;/ThreeDShape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24AE3CE8-DB93-4BF7-B962-2405638E830C}&quot;/&gt;&lt;isInvalidForFieldText val=&quot;0&quot;/&gt;&lt;Image&gt;&lt;filename val=&quot;C:\Users\amaxwel6\AppData\Local\Temp\CP8644187751046Session\CPTrustFolder8644187751046\PPTImport8644187799296\data\asimages\{24AE3CE8-DB93-4BF7-B962-2405638E830C}_41.png&quot;/&gt;&lt;left val=&quot;621&quot;/&gt;&lt;top val=&quot;175&quot;/&gt;&lt;width val=&quot;184&quot;/&gt;&lt;height val=&quot;225&quot;/&gt;&lt;hasText val=&quot;1&quot;/&gt;&lt;/Image&gt;&lt;/ThreeDShape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TableIndex row=&quot;1&quot; col=&quot;2&quot;&gt;&lt;linesCount val=&quot;1&quot;/&gt;&lt;lineCharCount val=&quot;1&quot;/&gt;&lt;/TableIndex&gt;&lt;TableIndex row=&quot;1&quot; col=&quot;3&quot;&gt;&lt;linesCount val=&quot;1&quot;/&gt;&lt;lineCharCount val=&quot;1&quot;/&gt;&lt;/TableIndex&gt;&lt;TableIndex row=&quot;2&quot; col=&quot;1&quot;&gt;&lt;linesCount val=&quot;1&quot;/&gt;&lt;lineCharCount val=&quot;1&quot;/&gt;&lt;/TableIndex&gt;&lt;TableIndex row=&quot;2&quot; col=&quot;2&quot;&gt;&lt;linesCount val=&quot;1&quot;/&gt;&lt;lineCharCount val=&quot;1&quot;/&gt;&lt;/TableIndex&gt;&lt;TableIndex row=&quot;2&quot; col=&quot;3&quot;&gt;&lt;linesCount val=&quot;1&quot;/&gt;&lt;lineCharCount val=&quot;1&quot;/&gt;&lt;/TableIndex&gt;&lt;TableIndex row=&quot;3&quot; col=&quot;1&quot;&gt;&lt;linesCount val=&quot;1&quot;/&gt;&lt;lineCharCount val=&quot;7&quot;/&gt;&lt;/TableIndex&gt;&lt;TableIndex row=&quot;3&quot; col=&quot;2&quot;&gt;&lt;linesCount val=&quot;1&quot;/&gt;&lt;lineCharCount val=&quot;1&quot;/&gt;&lt;/TableIndex&gt;&lt;TableIndex row=&quot;3&quot; col=&quot;3&quot;&gt;&lt;linesCount val=&quot;1&quot;/&gt;&lt;lineCharCount val=&quot;1&quot;/&gt;&lt;/TableIndex&gt;&lt;/ShapeTextInfo&gt;"/>
  <p:tag name="PRESENTER_SHAPEINFO" val="&lt;ThreeDShapeInfo&gt;&lt;uuid val=&quot;{D96CB486-5DFA-448D-8836-0239EC45E1E9}&quot;/&gt;&lt;isInvalidForFieldText val=&quot;0&quot;/&gt;&lt;Image&gt;&lt;filename val=&quot;C:\Users\amaxwel6\AppData\Local\Temp\CP8644187751046Session\CPTrustFolder8644187751046\PPTImport8644187799296\data\asimages\{D96CB486-5DFA-448D-8836-0239EC45E1E9}_41.png&quot;/&gt;&lt;left val=&quot;50&quot;/&gt;&lt;top val=&quot;438&quot;/&gt;&lt;width val=&quot;220&quot;/&gt;&lt;height val=&quot;164&quot;/&gt;&lt;hasText val=&quot;1&quot;/&gt;&lt;/Image&gt;&lt;/ThreeDShape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TableIndex row=&quot;1&quot; col=&quot;2&quot;&gt;&lt;linesCount val=&quot;1&quot;/&gt;&lt;lineCharCount val=&quot;6&quot;/&gt;&lt;/TableIndex&gt;&lt;TableIndex row=&quot;1&quot; col=&quot;3&quot;&gt;&lt;linesCount val=&quot;1&quot;/&gt;&lt;lineCharCount val=&quot;1&quot;/&gt;&lt;/TableIndex&gt;&lt;TableIndex row=&quot;2&quot; col=&quot;1&quot;&gt;&lt;linesCount val=&quot;1&quot;/&gt;&lt;lineCharCount val=&quot;1&quot;/&gt;&lt;/TableIndex&gt;&lt;TableIndex row=&quot;2&quot; col=&quot;2&quot;&gt;&lt;linesCount val=&quot;1&quot;/&gt;&lt;lineCharCount val=&quot;1&quot;/&gt;&lt;/TableIndex&gt;&lt;TableIndex row=&quot;2&quot; col=&quot;3&quot;&gt;&lt;linesCount val=&quot;1&quot;/&gt;&lt;lineCharCount val=&quot;1&quot;/&gt;&lt;/TableIndex&gt;&lt;TableIndex row=&quot;3&quot; col=&quot;1&quot;&gt;&lt;linesCount val=&quot;1&quot;/&gt;&lt;lineCharCount val=&quot;7&quot;/&gt;&lt;/TableIndex&gt;&lt;TableIndex row=&quot;3&quot; col=&quot;2&quot;&gt;&lt;linesCount val=&quot;1&quot;/&gt;&lt;lineCharCount val=&quot;1&quot;/&gt;&lt;/TableIndex&gt;&lt;TableIndex row=&quot;3&quot; col=&quot;3&quot;&gt;&lt;linesCount val=&quot;1&quot;/&gt;&lt;lineCharCount val=&quot;6&quot;/&gt;&lt;/TableIndex&gt;&lt;/ShapeTextInfo&gt;"/>
  <p:tag name="PRESENTER_SHAPEINFO" val="&lt;ThreeDShapeInfo&gt;&lt;uuid val=&quot;{14A230ED-AABF-4F57-A937-59132983753C}&quot;/&gt;&lt;isInvalidForFieldText val=&quot;0&quot;/&gt;&lt;Image&gt;&lt;filename val=&quot;C:\Users\amaxwel6\AppData\Local\Temp\CP8644187751046Session\CPTrustFolder8644187751046\PPTImport8644187799296\data\asimages\{14A230ED-AABF-4F57-A937-59132983753C}_41.png&quot;/&gt;&lt;left val=&quot;382&quot;/&gt;&lt;top val=&quot;438&quot;/&gt;&lt;width val=&quot;220&quot;/&gt;&lt;height val=&quot;164&quot;/&gt;&lt;hasText val=&quot;1&quot;/&gt;&lt;/Image&gt;&lt;/ThreeDShape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TableIndex row=&quot;1&quot; col=&quot;2&quot;&gt;&lt;linesCount val=&quot;1&quot;/&gt;&lt;lineCharCount val=&quot;6&quot;/&gt;&lt;/TableIndex&gt;&lt;TableIndex row=&quot;1&quot; col=&quot;3&quot;&gt;&lt;linesCount val=&quot;1&quot;/&gt;&lt;lineCharCount val=&quot;1&quot;/&gt;&lt;/TableIndex&gt;&lt;TableIndex row=&quot;2&quot; col=&quot;1&quot;&gt;&lt;linesCount val=&quot;1&quot;/&gt;&lt;lineCharCount val=&quot;1&quot;/&gt;&lt;/TableIndex&gt;&lt;TableIndex row=&quot;2&quot; col=&quot;2&quot;&gt;&lt;linesCount val=&quot;1&quot;/&gt;&lt;lineCharCount val=&quot;1&quot;/&gt;&lt;/TableIndex&gt;&lt;TableIndex row=&quot;2&quot; col=&quot;3&quot;&gt;&lt;linesCount val=&quot;1&quot;/&gt;&lt;lineCharCount val=&quot;1&quot;/&gt;&lt;/TableIndex&gt;&lt;TableIndex row=&quot;3&quot; col=&quot;1&quot;&gt;&lt;linesCount val=&quot;1&quot;/&gt;&lt;lineCharCount val=&quot;6&quot;/&gt;&lt;/TableIndex&gt;&lt;TableIndex row=&quot;3&quot; col=&quot;2&quot;&gt;&lt;linesCount val=&quot;1&quot;/&gt;&lt;lineCharCount val=&quot;1&quot;/&gt;&lt;/TableIndex&gt;&lt;TableIndex row=&quot;3&quot; col=&quot;3&quot;&gt;&lt;linesCount val=&quot;1&quot;/&gt;&lt;lineCharCount val=&quot;6&quot;/&gt;&lt;/TableIndex&gt;&lt;/ShapeTextInfo&gt;"/>
  <p:tag name="PRESENTER_SHAPEINFO" val="&lt;ThreeDShapeInfo&gt;&lt;uuid val=&quot;{18F00915-D89A-4CE8-B887-8430DF34C09A}&quot;/&gt;&lt;isInvalidForFieldText val=&quot;0&quot;/&gt;&lt;Image&gt;&lt;filename val=&quot;C:\Users\amaxwel6\AppData\Local\Temp\CP8644187751046Session\CPTrustFolder8644187751046\PPTImport8644187799296\data\asimages\{18F00915-D89A-4CE8-B887-8430DF34C09A}_41.png&quot;/&gt;&lt;left val=&quot;846&quot;/&gt;&lt;top val=&quot;438&quot;/&gt;&lt;width val=&quot;220&quot;/&gt;&lt;height val=&quot;164&quot;/&gt;&lt;hasText val=&quot;1&quot;/&gt;&lt;/Image&gt;&lt;/ThreeDShape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1CE2FC56-D5F8-45D5-8E6A-6974058AA428}&quot;/&gt;&lt;isInvalidForFieldText val=&quot;0&quot;/&gt;&lt;Image&gt;&lt;filename val=&quot;C:\Users\amaxwel6\AppData\Local\Temp\CP8644187751046Session\CPTrustFolder8644187751046\PPTImport8644187799296\data\asimages\{1CE2FC56-D5F8-45D5-8E6A-6974058AA428}_41.png&quot;/&gt;&lt;left val=&quot;230&quot;/&gt;&lt;top val=&quot;416&quot;/&gt;&lt;width val=&quot;184&quot;/&gt;&lt;height val=&quot;225&quot;/&gt;&lt;hasText val=&quot;1&quot;/&gt;&lt;/Image&gt;&lt;/ThreeDShape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64151491-C901-41C0-9621-9A62BCA49920}&quot;/&gt;&lt;isInvalidForFieldText val=&quot;0&quot;/&gt;&lt;Image&gt;&lt;filename val=&quot;C:\Users\amaxwel6\AppData\Local\Temp\CP8644187751046Session\CPTrustFolder8644187751046\PPTImport8644187799296\data\asimages\{64151491-C901-41C0-9621-9A62BCA49920}_41.png&quot;/&gt;&lt;left val=&quot;621&quot;/&gt;&lt;top val=&quot;416&quot;/&gt;&lt;width val=&quot;184&quot;/&gt;&lt;height val=&quot;225&quot;/&gt;&lt;hasText val=&quot;1&quot;/&gt;&lt;/Image&gt;&lt;/ThreeDShape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3&quot;/&gt;&lt;/TableIndex&gt;&lt;/ShapeTextInfo&gt;"/>
  <p:tag name="HTML_SHAPEINFO" val="&lt;ThreeDShapeInfo&gt;&lt;uuid val=&quot;{C42BE1E2-0D2D-477E-98A8-E71F0595FC09}&quot;/&gt;&lt;isInvalidForFieldText val=&quot;0&quot;/&gt;&lt;Image&gt;&lt;filename val=&quot;C:\Users\amaxwel6\AppData\Local\Temp\CP8644187751046Session\CPTrustFolder8644187751046\PPTImport8644187799296\data\asimages\{C42BE1E2-0D2D-477E-98A8-E71F0595FC09}_39.png&quot;/&gt;&lt;left val=&quot;149&quot;/&gt;&lt;top val=&quot;190&quot;/&gt;&lt;width val=&quot;971&quot;/&gt;&lt;height val=&quot;457&quot;/&gt;&lt;hasText val=&quot;1&quot;/&gt;&lt;/Image&gt;&lt;/ThreeDShape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TableIndex row=&quot;1&quot; col=&quot;2&quot;&gt;&lt;linesCount val=&quot;1&quot;/&gt;&lt;lineCharCount val=&quot;4&quot;/&gt;&lt;/TableIndex&gt;&lt;TableIndex row=&quot;1&quot; col=&quot;3&quot;&gt;&lt;linesCount val=&quot;1&quot;/&gt;&lt;lineCharCount val=&quot;4&quot;/&gt;&lt;/TableIndex&gt;&lt;TableIndex row=&quot;2&quot; col=&quot;1&quot;&gt;&lt;linesCount val=&quot;1&quot;/&gt;&lt;lineCharCount val=&quot;4&quot;/&gt;&lt;/TableIndex&gt;&lt;TableIndex row=&quot;2&quot; col=&quot;2&quot;&gt;&lt;linesCount val=&quot;1&quot;/&gt;&lt;lineCharCount val=&quot;3&quot;/&gt;&lt;/TableIndex&gt;&lt;TableIndex row=&quot;2&quot; col=&quot;3&quot;&gt;&lt;linesCount val=&quot;1&quot;/&gt;&lt;lineCharCount val=&quot;4&quot;/&gt;&lt;/TableIndex&gt;&lt;TableIndex row=&quot;3&quot; col=&quot;1&quot;&gt;&lt;linesCount val=&quot;1&quot;/&gt;&lt;lineCharCount val=&quot;7&quot;/&gt;&lt;/TableIndex&gt;&lt;TableIndex row=&quot;3&quot; col=&quot;2&quot;&gt;&lt;linesCount val=&quot;1&quot;/&gt;&lt;lineCharCount val=&quot;4&quot;/&gt;&lt;/TableIndex&gt;&lt;TableIndex row=&quot;3&quot; col=&quot;3&quot;&gt;&lt;linesCount val=&quot;1&quot;/&gt;&lt;lineCharCount val=&quot;4&quot;/&gt;&lt;/TableIndex&gt;&lt;/ShapeTextInfo&gt;"/>
  <p:tag name="PRESENTER_SHAPEINFO" val="&lt;ThreeDShapeInfo&gt;&lt;uuid val=&quot;{6C6C34A2-B8C1-462E-8458-8E549AB1B869}&quot;/&gt;&lt;isInvalidForFieldText val=&quot;0&quot;/&gt;&lt;Image&gt;&lt;filename val=&quot;C:\Users\amaxwel6\AppData\Local\Temp\CP8644187751046Session\CPTrustFolder8644187751046\PPTImport8644187799296\data\asimages\{6C6C34A2-B8C1-462E-8458-8E549AB1B869}_39.png&quot;/&gt;&lt;left val=&quot;28&quot;/&gt;&lt;top val=&quot;390&quot;/&gt;&lt;width val=&quot;220&quot;/&gt;&lt;height val=&quot;164&quot;/&gt;&lt;hasText val=&quot;1&quot;/&gt;&lt;/Image&gt;&lt;/ThreeDShapeInfo&gt;"/>
</p:tagLst>
</file>

<file path=ppt/tags/tag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quot;/&gt;&lt;/TableIndex&gt;&lt;TableIndex row=&quot;1&quot; col=&quot;2&quot;&gt;&lt;linesCount val=&quot;1&quot;/&gt;&lt;lineCharCount val=&quot;5&quot;/&gt;&lt;/TableIndex&gt;&lt;TableIndex row=&quot;1&quot; col=&quot;3&quot;&gt;&lt;linesCount val=&quot;1&quot;/&gt;&lt;lineCharCount val=&quot;5&quot;/&gt;&lt;/TableIndex&gt;&lt;TableIndex row=&quot;2&quot; col=&quot;1&quot;&gt;&lt;linesCount val=&quot;1&quot;/&gt;&lt;lineCharCount val=&quot;4&quot;/&gt;&lt;/TableIndex&gt;&lt;TableIndex row=&quot;2&quot; col=&quot;2&quot;&gt;&lt;linesCount val=&quot;1&quot;/&gt;&lt;lineCharCount val=&quot;4&quot;/&gt;&lt;/TableIndex&gt;&lt;TableIndex row=&quot;2&quot; col=&quot;3&quot;&gt;&lt;linesCount val=&quot;1&quot;/&gt;&lt;lineCharCount val=&quot;3&quot;/&gt;&lt;/TableIndex&gt;&lt;TableIndex row=&quot;3&quot; col=&quot;1&quot;&gt;&lt;linesCount val=&quot;1&quot;/&gt;&lt;lineCharCount val=&quot;7&quot;/&gt;&lt;/TableIndex&gt;&lt;TableIndex row=&quot;3&quot; col=&quot;2&quot;&gt;&lt;linesCount val=&quot;1&quot;/&gt;&lt;lineCharCount val=&quot;5&quot;/&gt;&lt;/TableIndex&gt;&lt;TableIndex row=&quot;3&quot; col=&quot;3&quot;&gt;&lt;linesCount val=&quot;1&quot;/&gt;&lt;lineCharCount val=&quot;5&quot;/&gt;&lt;/TableIndex&gt;&lt;/ShapeTextInfo&gt;"/>
  <p:tag name="PRESENTER_SHAPEINFO" val="&lt;ThreeDShapeInfo&gt;&lt;uuid val=&quot;{E4C5B367-7D21-481D-9E1D-F583318663C6}&quot;/&gt;&lt;isInvalidForFieldText val=&quot;0&quot;/&gt;&lt;Image&gt;&lt;filename val=&quot;C:\Users\amaxwel6\AppData\Local\Temp\CP8644187751046Session\CPTrustFolder8644187751046\PPTImport8644187799296\data\asimages\{E4C5B367-7D21-481D-9E1D-F583318663C6}_39.png&quot;/&gt;&lt;left val=&quot;288&quot;/&gt;&lt;top val=&quot;516&quot;/&gt;&lt;width val=&quot;220&quot;/&gt;&lt;height val=&quot;164&quot;/&gt;&lt;hasText val=&quot;1&quot;/&gt;&lt;/Image&gt;&lt;/ThreeDShapeInfo&gt;"/>
</p:tagLst>
</file>

<file path=ppt/tags/tag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 name="HTML_SHAPEINFO" val="&lt;ThreeDShapeInfo&gt;&lt;uuid val=&quot;{881EEE02-52D7-48F9-8A43-DF9041E20C4A}&quot;/&gt;&lt;isInvalidForFieldText val=&quot;0&quot;/&gt;&lt;Image&gt;&lt;filename val=&quot;C:\Users\amaxwel6\AppData\Local\Temp\CP8644187751046Session\CPTrustFolder8644187751046\PPTImport8644187799296\data\asimages\{881EEE02-52D7-48F9-8A43-DF9041E20C4A}_40.png&quot;/&gt;&lt;left val=&quot;149&quot;/&gt;&lt;top val=&quot;190&quot;/&gt;&lt;width val=&quot;971&quot;/&gt;&lt;height val=&quot;457&quot;/&gt;&lt;hasText val=&quot;1&quot;/&gt;&lt;/Image&gt;&lt;/ThreeDShapeInfo&gt;"/>
</p:tagLst>
</file>

<file path=ppt/tags/tag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TableIndex row=&quot;1&quot; col=&quot;2&quot;&gt;&lt;linesCount val=&quot;1&quot;/&gt;&lt;lineCharCount val=&quot;4&quot;/&gt;&lt;/TableIndex&gt;&lt;TableIndex row=&quot;1&quot; col=&quot;3&quot;&gt;&lt;linesCount val=&quot;1&quot;/&gt;&lt;lineCharCount val=&quot;4&quot;/&gt;&lt;/TableIndex&gt;&lt;TableIndex row=&quot;2&quot; col=&quot;1&quot;&gt;&lt;linesCount val=&quot;1&quot;/&gt;&lt;lineCharCount val=&quot;4&quot;/&gt;&lt;/TableIndex&gt;&lt;TableIndex row=&quot;2&quot; col=&quot;2&quot;&gt;&lt;linesCount val=&quot;1&quot;/&gt;&lt;lineCharCount val=&quot;3&quot;/&gt;&lt;/TableIndex&gt;&lt;TableIndex row=&quot;2&quot; col=&quot;3&quot;&gt;&lt;linesCount val=&quot;1&quot;/&gt;&lt;lineCharCount val=&quot;4&quot;/&gt;&lt;/TableIndex&gt;&lt;TableIndex row=&quot;3&quot; col=&quot;1&quot;&gt;&lt;linesCount val=&quot;1&quot;/&gt;&lt;lineCharCount val=&quot;7&quot;/&gt;&lt;/TableIndex&gt;&lt;TableIndex row=&quot;3&quot; col=&quot;2&quot;&gt;&lt;linesCount val=&quot;1&quot;/&gt;&lt;lineCharCount val=&quot;4&quot;/&gt;&lt;/TableIndex&gt;&lt;TableIndex row=&quot;3&quot; col=&quot;3&quot;&gt;&lt;linesCount val=&quot;1&quot;/&gt;&lt;lineCharCount val=&quot;4&quot;/&gt;&lt;/TableIndex&gt;&lt;/ShapeTextInfo&gt;"/>
  <p:tag name="PRESENTER_SHAPEINFO" val="&lt;ThreeDShapeInfo&gt;&lt;uuid val=&quot;{CC201F2B-9303-450A-98E2-D5283F1F8AD2}&quot;/&gt;&lt;isInvalidForFieldText val=&quot;0&quot;/&gt;&lt;Image&gt;&lt;filename val=&quot;C:\Users\amaxwel6\AppData\Local\Temp\CP8644187751046Session\CPTrustFolder8644187751046\PPTImport8644187799296\data\asimages\{CC201F2B-9303-450A-98E2-D5283F1F8AD2}_40.png&quot;/&gt;&lt;left val=&quot;28&quot;/&gt;&lt;top val=&quot;390&quot;/&gt;&lt;width val=&quot;220&quot;/&gt;&lt;height val=&quot;164&quot;/&gt;&lt;hasText val=&quot;1&quot;/&gt;&lt;/Image&gt;&lt;/ThreeDShapeInfo&gt;"/>
</p:tagLst>
</file>

<file path=ppt/tags/tag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quot;/&gt;&lt;/TableIndex&gt;&lt;TableIndex row=&quot;1&quot; col=&quot;2&quot;&gt;&lt;linesCount val=&quot;1&quot;/&gt;&lt;lineCharCount val=&quot;5&quot;/&gt;&lt;/TableIndex&gt;&lt;TableIndex row=&quot;1&quot; col=&quot;3&quot;&gt;&lt;linesCount val=&quot;1&quot;/&gt;&lt;lineCharCount val=&quot;5&quot;/&gt;&lt;/TableIndex&gt;&lt;TableIndex row=&quot;2&quot; col=&quot;1&quot;&gt;&lt;linesCount val=&quot;1&quot;/&gt;&lt;lineCharCount val=&quot;4&quot;/&gt;&lt;/TableIndex&gt;&lt;TableIndex row=&quot;2&quot; col=&quot;2&quot;&gt;&lt;linesCount val=&quot;1&quot;/&gt;&lt;lineCharCount val=&quot;4&quot;/&gt;&lt;/TableIndex&gt;&lt;TableIndex row=&quot;2&quot; col=&quot;3&quot;&gt;&lt;linesCount val=&quot;1&quot;/&gt;&lt;lineCharCount val=&quot;5&quot;/&gt;&lt;/TableIndex&gt;&lt;TableIndex row=&quot;3&quot; col=&quot;1&quot;&gt;&lt;linesCount val=&quot;1&quot;/&gt;&lt;lineCharCount val=&quot;7&quot;/&gt;&lt;/TableIndex&gt;&lt;TableIndex row=&quot;3&quot; col=&quot;2&quot;&gt;&lt;linesCount val=&quot;1&quot;/&gt;&lt;lineCharCount val=&quot;5&quot;/&gt;&lt;/TableIndex&gt;&lt;TableIndex row=&quot;3&quot; col=&quot;3&quot;&gt;&lt;linesCount val=&quot;1&quot;/&gt;&lt;lineCharCount val=&quot;5&quot;/&gt;&lt;/TableIndex&gt;&lt;/ShapeTextInfo&gt;"/>
  <p:tag name="PRESENTER_SHAPEINFO" val="&lt;ThreeDShapeInfo&gt;&lt;uuid val=&quot;{41A66FA2-02ED-4629-82E7-B9C59135A7ED}&quot;/&gt;&lt;isInvalidForFieldText val=&quot;0&quot;/&gt;&lt;Image&gt;&lt;filename val=&quot;C:\Users\amaxwel6\AppData\Local\Temp\CP8644187751046Session\CPTrustFolder8644187751046\PPTImport8644187799296\data\asimages\{41A66FA2-02ED-4629-82E7-B9C59135A7ED}_40.png&quot;/&gt;&lt;left val=&quot;288&quot;/&gt;&lt;top val=&quot;516&quot;/&gt;&lt;width val=&quot;220&quot;/&gt;&lt;height val=&quot;164&quot;/&gt;&lt;hasText val=&quot;1&quot;/&gt;&lt;/Image&gt;&lt;/ThreeDShapeInfo&gt;"/>
</p:tagLst>
</file>

<file path=ppt/tags/tag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04B2C334-CD26-40D6-94CB-0F2121467270}&quot;/&gt;&lt;isInvalidForFieldText val=&quot;0&quot;/&gt;&lt;Image&gt;&lt;filename val=&quot;C:\Users\amaxwel6\AppData\Local\Temp\CP8644187751046Session\CPTrustFolder8644187751046\PPTImport8644187799296\data\asimages\{04B2C334-CD26-40D6-94CB-0F2121467270}_42.png&quot;/&gt;&lt;left val=&quot;320&quot;/&gt;&lt;top val=&quot;303&quot;/&gt;&lt;width val=&quot;191&quot;/&gt;&lt;height val=&quot;225&quot;/&gt;&lt;hasText val=&quot;1&quot;/&gt;&lt;/Image&gt;&lt;/ThreeDShapeInfo&gt;"/>
</p:tagLst>
</file>

<file path=ppt/tags/tag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EC9C5B1F-C33E-4CFE-ACB6-1F908F4D6559}&quot;/&gt;&lt;isInvalidForFieldText val=&quot;0&quot;/&gt;&lt;Image&gt;&lt;filename val=&quot;C:\Users\amaxwel6\AppData\Local\Temp\CP8644187751046Session\CPTrustFolder8644187751046\PPTImport8644187799296\data\asimages\{EC9C5B1F-C33E-4CFE-ACB6-1F908F4D6559}_42.png&quot;/&gt;&lt;left val=&quot;784&quot;/&gt;&lt;top val=&quot;303&quot;/&gt;&lt;width val=&quot;184&quot;/&gt;&lt;height val=&quot;225&quot;/&gt;&lt;hasText val=&quot;1&quot;/&gt;&lt;/Image&gt;&lt;/ThreeDShapeInfo&gt;"/>
</p:tagLst>
</file>

<file path=ppt/tags/tag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10&quot;/&gt;&lt;lineCharCount val=&quot;7&quot;/&gt;&lt;/TableIndex&gt;&lt;/ShapeTextInfo&gt;"/>
  <p:tag name="HTML_SHAPEINFO" val="&lt;ThreeDShapeInfo&gt;&lt;uuid val=&quot;{6AF26FDE-79A3-4E95-A10B-3B95777D875E}&quot;/&gt;&lt;isInvalidForFieldText val=&quot;0&quot;/&gt;&lt;Image&gt;&lt;filename val=&quot;C:\Users\amaxwel6\AppData\Local\Temp\CP8644187751046Session\CPTrustFolder8644187751046\PPTImport8644187799296\data\asimages\{6AF26FDE-79A3-4E95-A10B-3B95777D875E}_42.png&quot;/&gt;&lt;left val=&quot;707&quot;/&gt;&lt;top val=&quot;622&quot;/&gt;&lt;width val=&quot;170&quot;/&gt;&lt;height val=&quot;103&quot;/&gt;&lt;hasText val=&quot;1&quot;/&gt;&lt;/Image&gt;&lt;/ThreeDShapeInfo&gt;"/>
</p:tagLst>
</file>

<file path=ppt/tags/tag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6&quot;/&gt;&lt;/TableIndex&gt;&lt;/ShapeTextInfo&gt;"/>
  <p:tag name="HTML_SHAPEINFO" val="&lt;ThreeDShapeInfo&gt;&lt;uuid val=&quot;{08977B0B-1EBA-4CB8-8D31-A7C5F9392E09}&quot;/&gt;&lt;isInvalidForFieldText val=&quot;0&quot;/&gt;&lt;Image&gt;&lt;filename val=&quot;C:\Users\amaxwel6\AppData\Local\Temp\CP8644187751046Session\CPTrustFolder8644187751046\PPTImport8644187799296\data\asimages\{08977B0B-1EBA-4CB8-8D31-A7C5F9392E09}_42.png&quot;/&gt;&lt;left val=&quot;309&quot;/&gt;&lt;top val=&quot;622&quot;/&gt;&lt;width val=&quot;163&quot;/&gt;&lt;height val=&quot;68&quot;/&gt;&lt;hasText val=&quot;1&quot;/&gt;&lt;/Image&gt;&lt;/ThreeDShapeInfo&gt;"/>
</p:tagLst>
</file>

<file path=ppt/tags/tag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18&quot;/&gt;&lt;lineCharCount val=&quot;15&quot;/&gt;&lt;lineCharCount val=&quot;14&quot;/&gt;&lt;/TableIndex&gt;&lt;/ShapeTextInfo&gt;"/>
  <p:tag name="HTML_SHAPEINFO" val="&lt;ThreeDShapeInfo&gt;&lt;uuid val=&quot;{C258B934-DE60-4EAF-9610-21147AAE0F8F}&quot;/&gt;&lt;isInvalidForFieldText val=&quot;0&quot;/&gt;&lt;Image&gt;&lt;filename val=&quot;C:\Users\amaxwel6\AppData\Local\Temp\CP8644187751046Session\CPTrustFolder8644187751046\PPTImport8644187799296\data\asimages\{C258B934-DE60-4EAF-9610-21147AAE0F8F}_38.png&quot;/&gt;&lt;left val=&quot;61&quot;/&gt;&lt;top val=&quot;191&quot;/&gt;&lt;width val=&quot;971&quot;/&gt;&lt;height val=&quot;457&quot;/&gt;&lt;hasText val=&quot;1&quot;/&gt;&lt;/Image&gt;&lt;/ThreeDShapeInfo&gt;"/>
</p:tagLst>
</file>

<file path=ppt/tags/tag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TableIndex row=&quot;1&quot; col=&quot;2&quot;&gt;&lt;linesCount val=&quot;1&quot;/&gt;&lt;lineCharCount val=&quot;4&quot;/&gt;&lt;/TableIndex&gt;&lt;TableIndex row=&quot;1&quot; col=&quot;3&quot;&gt;&lt;linesCount val=&quot;1&quot;/&gt;&lt;lineCharCount val=&quot;4&quot;/&gt;&lt;/TableIndex&gt;&lt;TableIndex row=&quot;2&quot; col=&quot;1&quot;&gt;&lt;linesCount val=&quot;1&quot;/&gt;&lt;lineCharCount val=&quot;4&quot;/&gt;&lt;/TableIndex&gt;&lt;TableIndex row=&quot;2&quot; col=&quot;2&quot;&gt;&lt;linesCount val=&quot;1&quot;/&gt;&lt;lineCharCount val=&quot;3&quot;/&gt;&lt;/TableIndex&gt;&lt;TableIndex row=&quot;2&quot; col=&quot;3&quot;&gt;&lt;linesCount val=&quot;1&quot;/&gt;&lt;lineCharCount val=&quot;4&quot;/&gt;&lt;/TableIndex&gt;&lt;TableIndex row=&quot;3&quot; col=&quot;1&quot;&gt;&lt;linesCount val=&quot;1&quot;/&gt;&lt;lineCharCount val=&quot;7&quot;/&gt;&lt;/TableIndex&gt;&lt;TableIndex row=&quot;3&quot; col=&quot;2&quot;&gt;&lt;linesCount val=&quot;1&quot;/&gt;&lt;lineCharCount val=&quot;4&quot;/&gt;&lt;/TableIndex&gt;&lt;TableIndex row=&quot;3&quot; col=&quot;3&quot;&gt;&lt;linesCount val=&quot;1&quot;/&gt;&lt;lineCharCount val=&quot;4&quot;/&gt;&lt;/TableIndex&gt;&lt;/ShapeTextInfo&gt;"/>
  <p:tag name="PRESENTER_SHAPEINFO" val="&lt;ThreeDShapeInfo&gt;&lt;uuid val=&quot;{30BB1245-B622-47D2-9E6A-89909264A000}&quot;/&gt;&lt;isInvalidForFieldText val=&quot;0&quot;/&gt;&lt;Image&gt;&lt;filename val=&quot;C:\Users\amaxwel6\AppData\Local\Temp\CP8644187751046Session\CPTrustFolder8644187751046\PPTImport8644187799296\data\asimages\{30BB1245-B622-47D2-9E6A-89909264A000}_38.png&quot;/&gt;&lt;left val=&quot;28&quot;/&gt;&lt;top val=&quot;390&quot;/&gt;&lt;width val=&quot;220&quot;/&gt;&lt;height val=&quot;164&quot;/&gt;&lt;hasText val=&quot;1&quot;/&gt;&lt;/Image&gt;&lt;/ThreeDShapeInfo&gt;"/>
</p:tagLst>
</file>

<file path=ppt/tags/tag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3&quot;/&gt;&lt;lineCharCount val=&quot;3&quot;/&gt;&lt;lineCharCount val=&quot;2&quot;/&gt;&lt;/TableIndex&gt;&lt;/ShapeTextInfo&gt;"/>
  <p:tag name="HTML_SHAPEINFO" val="&lt;ThreeDShapeInfo&gt;&lt;uuid val=&quot;{FF38D0A4-BFFE-41ED-A34D-C4CDD8A9783B}&quot;/&gt;&lt;isInvalidForFieldText val=&quot;0&quot;/&gt;&lt;Image&gt;&lt;filename val=&quot;C:\Users\amaxwel6\AppData\Local\Temp\CP8644187751046Session\CPTrustFolder8644187751046\PPTImport8644187799296\data\asimages\{FF38D0A4-BFFE-41ED-A34D-C4CDD8A9783B}_38.png&quot;/&gt;&lt;left val=&quot;319&quot;/&gt;&lt;top val=&quot;310&quot;/&gt;&lt;width val=&quot;640&quot;/&gt;&lt;height val=&quot;98&quot;/&gt;&lt;hasText val=&quot;1&quot;/&gt;&lt;/Image&gt;&lt;/ThreeDShapeInfo&gt;"/>
</p:tagLst>
</file>

<file path=ppt/tags/tag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TableIndex row=&quot;1&quot; col=&quot;2&quot;&gt;&lt;linesCount val=&quot;1&quot;/&gt;&lt;lineCharCount val=&quot;2&quot;/&gt;&lt;/TableIndex&gt;&lt;TableIndex row=&quot;1&quot; col=&quot;3&quot;&gt;&lt;linesCount val=&quot;1&quot;/&gt;&lt;lineCharCount val=&quot;2&quot;/&gt;&lt;/TableIndex&gt;&lt;TableIndex row=&quot;2&quot; col=&quot;1&quot;&gt;&lt;linesCount val=&quot;1&quot;/&gt;&lt;lineCharCount val=&quot;1&quot;/&gt;&lt;/TableIndex&gt;&lt;TableIndex row=&quot;2&quot; col=&quot;2&quot;&gt;&lt;linesCount val=&quot;1&quot;/&gt;&lt;lineCharCount val=&quot;1&quot;/&gt;&lt;/TableIndex&gt;&lt;TableIndex row=&quot;2&quot; col=&quot;3&quot;&gt;&lt;linesCount val=&quot;1&quot;/&gt;&lt;lineCharCount val=&quot;2&quot;/&gt;&lt;/TableIndex&gt;&lt;TableIndex row=&quot;3&quot; col=&quot;1&quot;&gt;&lt;linesCount val=&quot;1&quot;/&gt;&lt;lineCharCount val=&quot;7&quot;/&gt;&lt;/TableIndex&gt;&lt;TableIndex row=&quot;3&quot; col=&quot;2&quot;&gt;&lt;linesCount val=&quot;1&quot;/&gt;&lt;lineCharCount val=&quot;2&quot;/&gt;&lt;/TableIndex&gt;&lt;TableIndex row=&quot;3&quot; col=&quot;3&quot;&gt;&lt;linesCount val=&quot;1&quot;/&gt;&lt;lineCharCount val=&quot;2&quot;/&gt;&lt;/TableIndex&gt;&lt;/ShapeTextInfo&gt;"/>
  <p:tag name="PRESENTER_SHAPEINFO" val="&lt;ThreeDShapeInfo&gt;&lt;uuid val=&quot;{272EC979-2D8A-4BD1-A508-3DE228C43A38}&quot;/&gt;&lt;isInvalidForFieldText val=&quot;0&quot;/&gt;&lt;Image&gt;&lt;filename val=&quot;C:\Users\amaxwel6\AppData\Local\Temp\CP8644187751046Session\CPTrustFolder8644187751046\PPTImport8644187799296\data\asimages\{272EC979-2D8A-4BD1-A508-3DE228C43A38}_38.png&quot;/&gt;&lt;left val=&quot;288&quot;/&gt;&lt;top val=&quot;516&quot;/&gt;&lt;width val=&quot;220&quot;/&gt;&lt;height val=&quot;164&quot;/&gt;&lt;hasText val=&quot;1&quot;/&gt;&lt;/Image&gt;&lt;/ThreeDShapeInfo&gt;"/>
</p:tagLst>
</file>

<file path=ppt/tags/tag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4&quot;/&gt;&lt;lineCharCount val=&quot;7&quot;/&gt;&lt;lineCharCount val=&quot;12&quot;/&gt;&lt;lineCharCount val=&quot;12&quot;/&gt;&lt;lineCharCount val=&quot;10&quot;/&gt;&lt;lineCharCount val=&quot;13&quot;/&gt;&lt;lineCharCount val=&quot;17&quot;/&gt;&lt;lineCharCount val=&quot;16&quot;/&gt;&lt;lineCharCount val=&quot;29&quot;/&gt;&lt;lineCharCount val=&quot;13&quot;/&gt;&lt;lineCharCount val=&quot;26&quot;/&gt;&lt;lineCharCount val=&quot;15&quot;/&gt;&lt;lineCharCount val=&quot;14&quot;/&gt;&lt;lineCharCount val=&quot;15&quot;/&gt;&lt;lineCharCount val=&quot;15&quot;/&gt;&lt;/TableIndex&gt;&lt;/ShapeTextInfo&gt;"/>
  <p:tag name="HTML_SHAPEINFO" val="&lt;ThreeDShapeInfo&gt;&lt;uuid val=&quot;{2DB92B80-4983-4980-B3BC-88E650E14554}&quot;/&gt;&lt;isInvalidForFieldText val=&quot;0&quot;/&gt;&lt;Image&gt;&lt;filename val=&quot;C:\Users\amaxwel6\AppData\Local\Temp\CP8644187751046Session\CPTrustFolder8644187751046\PPTImport8644187799296\data\asimages\{2DB92B80-4983-4980-B3BC-88E650E14554}_43.png&quot;/&gt;&lt;left val=&quot;149&quot;/&gt;&lt;top val=&quot;187&quot;/&gt;&lt;width val=&quot;971&quot;/&gt;&lt;height val=&quot;460&quot;/&gt;&lt;hasText val=&quot;1&quot;/&gt;&lt;/Image&gt;&lt;/ThreeDShapeInfo&gt;"/>
</p:tagLst>
</file>

<file path=ppt/tags/tag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4&quot;/&gt;&lt;lineCharCount val=&quot;20&quot;/&gt;&lt;lineCharCount val=&quot;15&quot;/&gt;&lt;lineCharCount val=&quot;24&quot;/&gt;&lt;lineCharCount val=&quot;27&quot;/&gt;&lt;lineCharCount val=&quot;25&quot;/&gt;&lt;lineCharCount val=&quot;37&quot;/&gt;&lt;lineCharCount val=&quot;35&quot;/&gt;&lt;lineCharCount val=&quot;16&quot;/&gt;&lt;lineCharCount val=&quot;19&quot;/&gt;&lt;lineCharCount val=&quot;15&quot;/&gt;&lt;lineCharCount val=&quot;26&quot;/&gt;&lt;lineCharCount val=&quot;30&quot;/&gt;&lt;lineCharCount val=&quot;5&quot;/&gt;&lt;lineCharCount val=&quot;32&quot;/&gt;&lt;/TableIndex&gt;&lt;/ShapeTextInfo&gt;"/>
  <p:tag name="HTML_SHAPEINFO" val="&lt;ThreeDShapeInfo&gt;&lt;uuid val=&quot;{AA78315D-D25A-4549-87DF-E87A8FF168A8}&quot;/&gt;&lt;isInvalidForFieldText val=&quot;0&quot;/&gt;&lt;Image&gt;&lt;filename val=&quot;C:\Users\amaxwel6\AppData\Local\Temp\CP8644187751046Session\CPTrustFolder8644187751046\PPTImport8644187799296\data\asimages\{AA78315D-D25A-4549-87DF-E87A8FF168A8}_44.png&quot;/&gt;&lt;left val=&quot;149&quot;/&gt;&lt;top val=&quot;190&quot;/&gt;&lt;width val=&quot;971&quot;/&gt;&lt;height val=&quot;457&quot;/&gt;&lt;hasText val=&quot;1&quot;/&gt;&lt;/Image&gt;&lt;/ThreeDShapeInfo&gt;"/>
</p:tagLst>
</file>

<file path=ppt/tags/tag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6&quot;/&gt;&lt;lineCharCount val=&quot;68&quot;/&gt;&lt;lineCharCount val=&quot;1&quot;/&gt;&lt;lineCharCount val=&quot;9&quot;/&gt;&lt;lineCharCount val=&quot;30&quot;/&gt;&lt;lineCharCount val=&quot;76&quot;/&gt;&lt;lineCharCount val=&quot;72&quot;/&gt;&lt;/TableIndex&gt;&lt;/ShapeTextInfo&gt;"/>
  <p:tag name="HTML_SHAPEINFO" val="&lt;ThreeDShapeInfo&gt;&lt;uuid val=&quot;{9ABCD685-4E27-4649-AE10-5163347204CE}&quot;/&gt;&lt;isInvalidForFieldText val=&quot;0&quot;/&gt;&lt;Image&gt;&lt;filename val=&quot;C:\Users\amaxwel6\AppData\Local\Temp\CP8644187751046Session\CPTrustFolder8644187751046\PPTImport8644187799296\data\asimages\{9ABCD685-4E27-4649-AE10-5163347204CE}_45.png&quot;/&gt;&lt;left val=&quot;149&quot;/&gt;&lt;top val=&quot;190&quot;/&gt;&lt;width val=&quot;971&quot;/&gt;&lt;height val=&quot;457&quot;/&gt;&lt;hasText val=&quot;1&quot;/&gt;&lt;/Image&gt;&lt;/ThreeDShapeInfo&gt;"/>
</p:tagLst>
</file>

<file path=ppt/tags/tag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33&quot;/&gt;&lt;lineCharCount val=&quot;65&quot;/&gt;&lt;/TableIndex&gt;&lt;/ShapeTextInfo&gt;"/>
  <p:tag name="HTML_SHAPEINFO" val="&lt;ThreeDShapeInfo&gt;&lt;uuid val=&quot;{0CD06129-9EA6-4E36-9984-5DA91917B34A}&quot;/&gt;&lt;isInvalidForFieldText val=&quot;0&quot;/&gt;&lt;Image&gt;&lt;filename val=&quot;C:\Users\amaxwel6\AppData\Local\Temp\CP8644187751046Session\CPTrustFolder8644187751046\PPTImport8644187799296\data\asimages\{0CD06129-9EA6-4E36-9984-5DA91917B34A}_46.png&quot;/&gt;&lt;left val=&quot;149&quot;/&gt;&lt;top val=&quot;190&quot;/&gt;&lt;width val=&quot;971&quot;/&gt;&lt;height val=&quot;457&quot;/&gt;&lt;hasText val=&quot;1&quot;/&gt;&lt;/Image&gt;&lt;/ThreeDShapeInfo&gt;"/>
</p:tagLst>
</file>

<file path=ppt/tags/tag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TableIndex row=&quot;1&quot; col=&quot;2&quot;&gt;&lt;linesCount val=&quot;1&quot;/&gt;&lt;lineCharCount val=&quot;1&quot;/&gt;&lt;/TableIndex&gt;&lt;TableIndex row=&quot;1&quot; col=&quot;3&quot;&gt;&lt;linesCount val=&quot;1&quot;/&gt;&lt;lineCharCount val=&quot;1&quot;/&gt;&lt;/TableIndex&gt;&lt;TableIndex row=&quot;2&quot; col=&quot;1&quot;&gt;&lt;linesCount val=&quot;1&quot;/&gt;&lt;lineCharCount val=&quot;1&quot;/&gt;&lt;/TableIndex&gt;&lt;TableIndex row=&quot;2&quot; col=&quot;2&quot;&gt;&lt;linesCount val=&quot;1&quot;/&gt;&lt;lineCharCount val=&quot;1&quot;/&gt;&lt;/TableIndex&gt;&lt;TableIndex row=&quot;2&quot; col=&quot;3&quot;&gt;&lt;linesCount val=&quot;1&quot;/&gt;&lt;lineCharCount val=&quot;1&quot;/&gt;&lt;/TableIndex&gt;&lt;TableIndex row=&quot;3&quot; col=&quot;1&quot;&gt;&lt;linesCount val=&quot;1&quot;/&gt;&lt;lineCharCount val=&quot;7&quot;/&gt;&lt;/TableIndex&gt;&lt;TableIndex row=&quot;3&quot; col=&quot;2&quot;&gt;&lt;linesCount val=&quot;1&quot;/&gt;&lt;lineCharCount val=&quot;1&quot;/&gt;&lt;/TableIndex&gt;&lt;TableIndex row=&quot;3&quot; col=&quot;3&quot;&gt;&lt;linesCount val=&quot;1&quot;/&gt;&lt;lineCharCount val=&quot;1&quot;/&gt;&lt;/TableIndex&gt;&lt;/ShapeTextInfo&gt;"/>
  <p:tag name="PRESENTER_SHAPEINFO" val="&lt;ThreeDShapeInfo&gt;&lt;uuid val=&quot;{C2B8BA8D-1239-4DAD-BCCD-0ED9DD605EA6}&quot;/&gt;&lt;isInvalidForFieldText val=&quot;0&quot;/&gt;&lt;Image&gt;&lt;filename val=&quot;C:\Users\amaxwel6\AppData\Local\Temp\CP8644187751046Session\CPTrustFolder8644187751046\PPTImport8644187799296\data\asimages\{C2B8BA8D-1239-4DAD-BCCD-0ED9DD605EA6}_46.png&quot;/&gt;&lt;left val=&quot;126&quot;/&gt;&lt;top val=&quot;390&quot;/&gt;&lt;width val=&quot;220&quot;/&gt;&lt;height val=&quot;164&quot;/&gt;&lt;hasText val=&quot;1&quot;/&gt;&lt;/Image&gt;&lt;/ThreeDShapeInfo&gt;"/>
</p:tagLst>
</file>

<file path=ppt/tags/tag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TableIndex row=&quot;1&quot; col=&quot;2&quot;&gt;&lt;linesCount val=&quot;1&quot;/&gt;&lt;lineCharCount val=&quot;6&quot;/&gt;&lt;/TableIndex&gt;&lt;TableIndex row=&quot;1&quot; col=&quot;3&quot;&gt;&lt;linesCount val=&quot;1&quot;/&gt;&lt;lineCharCount val=&quot;1&quot;/&gt;&lt;/TableIndex&gt;&lt;TableIndex row=&quot;2&quot; col=&quot;1&quot;&gt;&lt;linesCount val=&quot;1&quot;/&gt;&lt;lineCharCount val=&quot;1&quot;/&gt;&lt;/TableIndex&gt;&lt;TableIndex row=&quot;2&quot; col=&quot;2&quot;&gt;&lt;linesCount val=&quot;1&quot;/&gt;&lt;lineCharCount val=&quot;1&quot;/&gt;&lt;/TableIndex&gt;&lt;TableIndex row=&quot;2&quot; col=&quot;3&quot;&gt;&lt;linesCount val=&quot;1&quot;/&gt;&lt;lineCharCount val=&quot;1&quot;/&gt;&lt;/TableIndex&gt;&lt;TableIndex row=&quot;3&quot; col=&quot;1&quot;&gt;&lt;linesCount val=&quot;1&quot;/&gt;&lt;lineCharCount val=&quot;7&quot;/&gt;&lt;/TableIndex&gt;&lt;TableIndex row=&quot;3&quot; col=&quot;2&quot;&gt;&lt;linesCount val=&quot;1&quot;/&gt;&lt;lineCharCount val=&quot;1&quot;/&gt;&lt;/TableIndex&gt;&lt;TableIndex row=&quot;3&quot; col=&quot;3&quot;&gt;&lt;linesCount val=&quot;1&quot;/&gt;&lt;lineCharCount val=&quot;6&quot;/&gt;&lt;/TableIndex&gt;&lt;/ShapeTextInfo&gt;"/>
  <p:tag name="PRESENTER_SHAPEINFO" val="&lt;ThreeDShapeInfo&gt;&lt;uuid val=&quot;{2D3AFACC-30D9-4920-8104-8E8CC6C5F088}&quot;/&gt;&lt;isInvalidForFieldText val=&quot;0&quot;/&gt;&lt;Image&gt;&lt;filename val=&quot;C:\Users\amaxwel6\AppData\Local\Temp\CP8644187751046Session\CPTrustFolder8644187751046\PPTImport8644187799296\data\asimages\{2D3AFACC-30D9-4920-8104-8E8CC6C5F088}_46.png&quot;/&gt;&lt;left val=&quot;458&quot;/&gt;&lt;top val=&quot;390&quot;/&gt;&lt;width val=&quot;220&quot;/&gt;&lt;height val=&quot;164&quot;/&gt;&lt;hasText val=&quot;1&quot;/&gt;&lt;/Image&gt;&lt;/ThreeDShapeInfo&gt;"/>
</p:tagLst>
</file>

<file path=ppt/tags/tag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TableIndex row=&quot;1&quot; col=&quot;2&quot;&gt;&lt;linesCount val=&quot;1&quot;/&gt;&lt;lineCharCount val=&quot;6&quot;/&gt;&lt;/TableIndex&gt;&lt;TableIndex row=&quot;1&quot; col=&quot;3&quot;&gt;&lt;linesCount val=&quot;1&quot;/&gt;&lt;lineCharCount val=&quot;1&quot;/&gt;&lt;/TableIndex&gt;&lt;TableIndex row=&quot;2&quot; col=&quot;1&quot;&gt;&lt;linesCount val=&quot;1&quot;/&gt;&lt;lineCharCount val=&quot;1&quot;/&gt;&lt;/TableIndex&gt;&lt;TableIndex row=&quot;2&quot; col=&quot;2&quot;&gt;&lt;linesCount val=&quot;1&quot;/&gt;&lt;lineCharCount val=&quot;1&quot;/&gt;&lt;/TableIndex&gt;&lt;TableIndex row=&quot;2&quot; col=&quot;3&quot;&gt;&lt;linesCount val=&quot;1&quot;/&gt;&lt;lineCharCount val=&quot;1&quot;/&gt;&lt;/TableIndex&gt;&lt;TableIndex row=&quot;3&quot; col=&quot;1&quot;&gt;&lt;linesCount val=&quot;1&quot;/&gt;&lt;lineCharCount val=&quot;6&quot;/&gt;&lt;/TableIndex&gt;&lt;TableIndex row=&quot;3&quot; col=&quot;2&quot;&gt;&lt;linesCount val=&quot;1&quot;/&gt;&lt;lineCharCount val=&quot;1&quot;/&gt;&lt;/TableIndex&gt;&lt;TableIndex row=&quot;3&quot; col=&quot;3&quot;&gt;&lt;linesCount val=&quot;1&quot;/&gt;&lt;lineCharCount val=&quot;6&quot;/&gt;&lt;/TableIndex&gt;&lt;/ShapeTextInfo&gt;"/>
  <p:tag name="PRESENTER_SHAPEINFO" val="&lt;ThreeDShapeInfo&gt;&lt;uuid val=&quot;{B862319A-9F46-4AC8-99C4-EE247D2F135B}&quot;/&gt;&lt;isInvalidForFieldText val=&quot;0&quot;/&gt;&lt;Image&gt;&lt;filename val=&quot;C:\Users\amaxwel6\AppData\Local\Temp\CP8644187751046Session\CPTrustFolder8644187751046\PPTImport8644187799296\data\asimages\{B862319A-9F46-4AC8-99C4-EE247D2F135B}_46.png&quot;/&gt;&lt;left val=&quot;922&quot;/&gt;&lt;top val=&quot;390&quot;/&gt;&lt;width val=&quot;220&quot;/&gt;&lt;height val=&quot;164&quot;/&gt;&lt;hasText val=&quot;1&quot;/&gt;&lt;/Image&gt;&lt;/ThreeDShapeInfo&gt;"/>
</p:tagLst>
</file>

<file path=ppt/tags/tag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343EE301-34B3-4D0D-8BC0-4F11F85A3C94}&quot;/&gt;&lt;isInvalidForFieldText val=&quot;0&quot;/&gt;&lt;Image&gt;&lt;filename val=&quot;C:\Users\amaxwel6\AppData\Local\Temp\CP8644187751046Session\CPTrustFolder8644187751046\PPTImport8644187799296\data\asimages\{343EE301-34B3-4D0D-8BC0-4F11F85A3C94}_46.png&quot;/&gt;&lt;left val=&quot;306&quot;/&gt;&lt;top val=&quot;367&quot;/&gt;&lt;width val=&quot;177&quot;/&gt;&lt;height val=&quot;225&quot;/&gt;&lt;hasText val=&quot;1&quot;/&gt;&lt;/Image&gt;&lt;/ThreeDShapeInfo&gt;"/>
</p:tagLst>
</file>

<file path=ppt/tags/tag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5799D747-4E40-43D1-AA53-ADBE17B8CC9C}&quot;/&gt;&lt;isInvalidForFieldText val=&quot;0&quot;/&gt;&lt;Image&gt;&lt;filename val=&quot;C:\Users\amaxwel6\AppData\Local\Temp\CP8644187751046Session\CPTrustFolder8644187751046\PPTImport8644187799296\data\asimages\{5799D747-4E40-43D1-AA53-ADBE17B8CC9C}_46.png&quot;/&gt;&lt;left val=&quot;697&quot;/&gt;&lt;top val=&quot;367&quot;/&gt;&lt;width val=&quot;184&quot;/&gt;&lt;height val=&quot;225&quot;/&gt;&lt;hasText val=&quot;1&quot;/&gt;&lt;/Image&gt;&lt;/ThreeDShapeInfo&gt;"/>
</p:tagLst>
</file>

<file path=ppt/tags/tag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199DBAA3-5EC2-46E4-AC87-FE53F2E43421}&quot;/&gt;&lt;isInvalidForFieldText val=&quot;0&quot;/&gt;&lt;Image&gt;&lt;filename val=&quot;C:\Users\amaxwel6\AppData\Local\Temp\CP8644187751046Session\CPTrustFolder8644187751046\PPTImport8644187799296\data\asimages\{199DBAA3-5EC2-46E4-AC87-FE53F2E43421}_36.png&quot;/&gt;&lt;left val=&quot;133&quot;/&gt;&lt;top val=&quot;199&quot;/&gt;&lt;width val=&quot;987&quot;/&gt;&lt;height val=&quot;311&quot;/&gt;&lt;hasText val=&quot;1&quot;/&gt;&lt;/Image&gt;&lt;/ThreeDShapeInfo&gt;"/>
</p:tagLst>
</file>

<file path=ppt/tags/tag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8&quot;/&gt;&lt;/TableIndex&gt;&lt;/ShapeTextInfo&gt;"/>
  <p:tag name="HTML_SHAPEINFO" val="&lt;ThreeDShapeInfo&gt;&lt;uuid val=&quot;{59823A75-FC3F-47BB-BD82-95C4C67FC09F}&quot;/&gt;&lt;isInvalidForFieldText val=&quot;0&quot;/&gt;&lt;Image&gt;&lt;filename val=&quot;C:\Users\amaxwel6\AppData\Local\Temp\CP8644187751046Session\CPTrustFolder8644187751046\PPTImport8644187799296\data\asimages\{59823A75-FC3F-47BB-BD82-95C4C67FC09F}_15.png&quot;/&gt;&lt;left val=&quot;933&quot;/&gt;&lt;top val=&quot;646&quot;/&gt;&lt;width val=&quot;475&quot;/&gt;&lt;height val=&quot;68&quot;/&gt;&lt;hasText val=&quot;1&quot;/&gt;&lt;/Image&gt;&lt;/ThreeDShapeInfo&gt;"/>
</p:tagLst>
</file>

<file path=ppt/tags/tag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 name="HTML_SHAPEINFO" val="&lt;ThreeDShapeInfo&gt;&lt;uuid val=&quot;{DD0FA19A-343C-44FF-A376-07C9E7F31F09}&quot;/&gt;&lt;isInvalidForFieldText val=&quot;0&quot;/&gt;&lt;Image&gt;&lt;filename val=&quot;C:\Users\amaxwel6\AppData\Local\Temp\CP8644187751046Session\CPTrustFolder8644187751046\PPTImport8644187799296\data\asimages\{DD0FA19A-343C-44FF-A376-07C9E7F31F09}_7.png&quot;/&gt;&lt;left val=&quot;133&quot;/&gt;&lt;top val=&quot;199&quot;/&gt;&lt;width val=&quot;987&quot;/&gt;&lt;height val=&quot;311&quot;/&gt;&lt;hasText val=&quot;1&quot;/&gt;&lt;/Image&gt;&lt;/ThreeDShapeInfo&gt;"/>
</p:tagLst>
</file>

<file path=ppt/tags/tag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9&quot;/&gt;&lt;lineCharCount val=&quot;57&quot;/&gt;&lt;lineCharCount val=&quot;50&quot;/&gt;&lt;lineCharCount val=&quot;50&quot;/&gt;&lt;lineCharCount val=&quot;23&quot;/&gt;&lt;lineCharCount val=&quot;51&quot;/&gt;&lt;lineCharCount val=&quot;51&quot;/&gt;&lt;lineCharCount val=&quot;51&quot;/&gt;&lt;lineCharCount val=&quot;53&quot;/&gt;&lt;lineCharCount val=&quot;21&quot;/&gt;&lt;/TableIndex&gt;&lt;/ShapeTextInfo&gt;"/>
  <p:tag name="HTML_SHAPEINFO" val="&lt;ThreeDShapeInfo&gt;&lt;uuid val=&quot;{C6E2D632-85DD-4EB1-AFAD-CABDC7C0E825}&quot;/&gt;&lt;isInvalidForFieldText val=&quot;0&quot;/&gt;&lt;Image&gt;&lt;filename val=&quot;C:\Users\amaxwel6\AppData\Local\Temp\CP8644187751046Session\CPTrustFolder8644187751046\PPTImport8644187799296\data\asimages\{C6E2D632-85DD-4EB1-AFAD-CABDC7C0E825}_8.png&quot;/&gt;&lt;left val=&quot;15&quot;/&gt;&lt;top val=&quot;183&quot;/&gt;&lt;width val=&quot;649&quot;/&gt;&lt;height val=&quot;456&quot;/&gt;&lt;hasText val=&quot;1&quot;/&gt;&lt;/Image&gt;&lt;/ThreeDShapeInfo&gt;"/>
</p:tagLst>
</file>

<file path=ppt/tags/tag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 name="HTML_SHAPEINFO" val="&lt;ThreeDShapeInfo&gt;&lt;uuid val=&quot;{DD0FA19A-343C-44FF-A376-07C9E7F31F09}&quot;/&gt;&lt;isInvalidForFieldText val=&quot;0&quot;/&gt;&lt;Image&gt;&lt;filename val=&quot;C:\Users\amaxwel6\AppData\Local\Temp\CP8644187751046Session\CPTrustFolder8644187751046\PPTImport8644187799296\data\asimages\{DD0FA19A-343C-44FF-A376-07C9E7F31F09}_7.png&quot;/&gt;&lt;left val=&quot;133&quot;/&gt;&lt;top val=&quot;199&quot;/&gt;&lt;width val=&quot;987&quot;/&gt;&lt;height val=&quot;311&quot;/&gt;&lt;hasText val=&quot;1&quot;/&gt;&lt;/Image&gt;&lt;/ThreeDShapeInfo&gt;"/>
</p:tagLst>
</file>

<file path=ppt/tags/tag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58&quot;/&gt;&lt;lineCharCount val=&quot;29&quot;/&gt;&lt;lineCharCount val=&quot;49&quot;/&gt;&lt;lineCharCount val=&quot;57&quot;/&gt;&lt;lineCharCount val=&quot;43&quot;/&gt;&lt;/TableIndex&gt;&lt;/ShapeTextInfo&gt;"/>
  <p:tag name="HTML_SHAPEINFO" val="&lt;ThreeDShapeInfo&gt;&lt;uuid val=&quot;{159A6672-2B8B-4222-99BB-8F63AF091E3C}&quot;/&gt;&lt;isInvalidForFieldText val=&quot;0&quot;/&gt;&lt;Image&gt;&lt;filename val=&quot;C:\Users\amaxwel6\AppData\Local\Temp\CP8644187751046Session\CPTrustFolder8644187751046\PPTImport8644187799296\data\asimages\{159A6672-2B8B-4222-99BB-8F63AF091E3C}_12.png&quot;/&gt;&lt;left val=&quot;29&quot;/&gt;&lt;top val=&quot;174&quot;/&gt;&lt;width val=&quot;971&quot;/&gt;&lt;height val=&quot;457&quot;/&gt;&lt;hasText val=&quot;1&quot;/&gt;&lt;/Image&gt;&lt;/ThreeDShapeInfo&gt;"/>
</p:tagLst>
</file>

<file path=ppt/tags/tag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7&quot;/&gt;&lt;/TableIndex&gt;&lt;/ShapeTextInfo&gt;"/>
  <p:tag name="HTML_SHAPEINFO" val="&lt;ThreeDShapeInfo&gt;&lt;uuid val=&quot;{A500EF48-AA73-43A9-A54B-DB3935A38C24}&quot;/&gt;&lt;isInvalidForFieldText val=&quot;0&quot;/&gt;&lt;Image&gt;&lt;filename val=&quot;C:\Users\amaxwel6\AppData\Local\Temp\CP8644187751046Session\CPTrustFolder8644187751046\PPTImport8644187799296\data\asimages\{A500EF48-AA73-43A9-A54B-DB3935A38C24}_18.png&quot;/&gt;&lt;left val=&quot;133&quot;/&gt;&lt;top val=&quot;199&quot;/&gt;&lt;width val=&quot;987&quot;/&gt;&lt;height val=&quot;311&quot;/&gt;&lt;hasText val=&quot;1&quot;/&gt;&lt;/Image&gt;&lt;/ThreeDShapeInfo&gt;"/>
</p:tagLst>
</file>

<file path=ppt/tags/tag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3&quot;/&gt;&lt;/TableIndex&gt;&lt;/ShapeTextInfo&gt;"/>
  <p:tag name="HTML_SHAPEINFO" val="&lt;ThreeDShapeInfo&gt;&lt;uuid val=&quot;{978DE4D1-22A6-4E53-8C3D-9726009376EA}&quot;/&gt;&lt;isInvalidForFieldText val=&quot;0&quot;/&gt;&lt;Image&gt;&lt;filename val=&quot;C:\Users\amaxwel6\AppData\Local\Temp\CP8644187751046Session\CPTrustFolder8644187751046\PPTImport8644187799296\data\asimages\{978DE4D1-22A6-4E53-8C3D-9726009376EA}_25.png&quot;/&gt;&lt;left val=&quot;93&quot;/&gt;&lt;top val=&quot;650&quot;/&gt;&lt;width val=&quot;595&quot;/&gt;&lt;height val=&quot;68&quot;/&gt;&lt;hasText val=&quot;1&quot;/&gt;&lt;/Image&gt;&lt;/ThreeDShapeInfo&gt;"/>
</p:tagLst>
</file>

<file path=ppt/tags/tag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3&quot;/&gt;&lt;/TableIndex&gt;&lt;/ShapeTextInfo&gt;"/>
  <p:tag name="HTML_SHAPEINFO" val="&lt;ThreeDShapeInfo&gt;&lt;uuid val=&quot;{1B82E587-A70B-45E7-871D-82C912A2BDA6}&quot;/&gt;&lt;isInvalidForFieldText val=&quot;0&quot;/&gt;&lt;Image&gt;&lt;filename val=&quot;C:\Users\amaxwel6\AppData\Local\Temp\CP8644187751046Session\CPTrustFolder8644187751046\PPTImport8644187799296\data\asimages\{1B82E587-A70B-45E7-871D-82C912A2BDA6}_25.png&quot;/&gt;&lt;left val=&quot;653&quot;/&gt;&lt;top val=&quot;650&quot;/&gt;&lt;width val=&quot;595&quot;/&gt;&lt;height val=&quot;68&quot;/&gt;&lt;hasText val=&quot;1&quot;/&gt;&lt;/Image&gt;&lt;/ThreeDShapeInfo&gt;"/>
</p:tagLst>
</file>

<file path=ppt/tags/tag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3&quot;/&gt;&lt;/TableIndex&gt;&lt;/ShapeTextInfo&gt;"/>
  <p:tag name="HTML_SHAPEINFO" val="&lt;ThreeDShapeInfo&gt;&lt;uuid val=&quot;{B380F15C-ED32-42A0-AADD-3B762F03D708}&quot;/&gt;&lt;isInvalidForFieldText val=&quot;0&quot;/&gt;&lt;Image&gt;&lt;filename val=&quot;C:\Users\amaxwel6\AppData\Local\Temp\CP8644187751046Session\CPTrustFolder8644187751046\PPTImport8644187799296\data\asimages\{B380F15C-ED32-42A0-AADD-3B762F03D708}_26.png&quot;/&gt;&lt;left val=&quot;213&quot;/&gt;&lt;top val=&quot;646&quot;/&gt;&lt;width val=&quot;595&quot;/&gt;&lt;height val=&quot;68&quot;/&gt;&lt;hasText val=&quot;1&quot;/&gt;&lt;/Image&gt;&lt;/ThreeDShapeInfo&gt;"/>
</p:tagLst>
</file>

<file path=ppt/tags/tag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4&quot;/&gt;&lt;/TableIndex&gt;&lt;/ShapeTextInfo&gt;"/>
  <p:tag name="HTML_SHAPEINFO" val="&lt;ThreeDShapeInfo&gt;&lt;uuid val=&quot;{6D1095D6-7590-4EBD-ADC4-76E9F35C2D5E}&quot;/&gt;&lt;isInvalidForFieldText val=&quot;0&quot;/&gt;&lt;Image&gt;&lt;filename val=&quot;C:\Users\amaxwel6\AppData\Local\Temp\CP8644187751046Session\CPTrustFolder8644187751046\PPTImport8644187799296\data\asimages\{6D1095D6-7590-4EBD-ADC4-76E9F35C2D5E}_26.png&quot;/&gt;&lt;left val=&quot;765&quot;/&gt;&lt;top val=&quot;646&quot;/&gt;&lt;width val=&quot;595&quot;/&gt;&lt;height val=&quot;68&quot;/&gt;&lt;hasText val=&quot;1&quot;/&gt;&lt;/Image&gt;&lt;/ThreeDShapeInfo&gt;"/>
</p:tagLst>
</file>

<file path=ppt/tags/tag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7&quot;/&gt;&lt;/TableIndex&gt;&lt;/ShapeTextInfo&gt;"/>
  <p:tag name="HTML_SHAPEINFO" val="&lt;ThreeDShapeInfo&gt;&lt;uuid val=&quot;{A500EF48-AA73-43A9-A54B-DB3935A38C24}&quot;/&gt;&lt;isInvalidForFieldText val=&quot;0&quot;/&gt;&lt;Image&gt;&lt;filename val=&quot;C:\Users\amaxwel6\AppData\Local\Temp\CP8644187751046Session\CPTrustFolder8644187751046\PPTImport8644187799296\data\asimages\{A500EF48-AA73-43A9-A54B-DB3935A38C24}_18.png&quot;/&gt;&lt;left val=&quot;133&quot;/&gt;&lt;top val=&quot;199&quot;/&gt;&lt;width val=&quot;987&quot;/&gt;&lt;height val=&quot;311&quot;/&gt;&lt;hasText val=&quot;1&quot;/&gt;&lt;/Image&gt;&lt;/ThreeDShapeInfo&gt;"/>
</p:tagLst>
</file>

<file path=ppt/tags/tag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41&quot;/&gt;&lt;lineCharCount val=&quot;43&quot;/&gt;&lt;lineCharCount val=&quot;35&quot;/&gt;&lt;/TableIndex&gt;&lt;/ShapeTextInfo&gt;"/>
  <p:tag name="HTML_SHAPEINFO" val="&lt;ThreeDShapeInfo&gt;&lt;uuid val=&quot;{18EABB7B-5AAC-41A9-85CD-3CC23218E9B8}&quot;/&gt;&lt;isInvalidForFieldText val=&quot;0&quot;/&gt;&lt;Image&gt;&lt;filename val=&quot;C:\Users\amaxwel6\AppData\Local\Temp\CP8644187751046Session\CPTrustFolder8644187751046\PPTImport8644187799296\data\asimages\{18EABB7B-5AAC-41A9-85CD-3CC23218E9B8}_28.png&quot;/&gt;&lt;left val=&quot;38&quot;/&gt;&lt;top val=&quot;190&quot;/&gt;&lt;width val=&quot;969&quot;/&gt;&lt;height val=&quot;457&quot;/&gt;&lt;hasText val=&quot;1&quot;/&gt;&lt;/Image&gt;&lt;/ThreeDShapeInfo&gt;"/>
</p:tagLst>
</file>

<file path=ppt/tags/tag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1&quot;/&gt;&lt;lineCharCount val=&quot;76&quot;/&gt;&lt;lineCharCount val=&quot;99&quot;/&gt;&lt;lineCharCount val=&quot;82&quot;/&gt;&lt;lineCharCount val=&quot;64&quot;/&gt;&lt;lineCharCount val=&quot;83&quot;/&gt;&lt;lineCharCount val=&quot;100&quot;/&gt;&lt;lineCharCount val=&quot;96&quot;/&gt;&lt;lineCharCount val=&quot;14&quot;/&gt;&lt;lineCharCount val=&quot;73&quot;/&gt;&lt;lineCharCount val=&quot;80&quot;/&gt;&lt;lineCharCount val=&quot;96&quot;/&gt;&lt;/TableIndex&gt;&lt;/ShapeTextInfo&gt;"/>
  <p:tag name="HTML_SHAPEINFO" val="&lt;ThreeDShapeInfo&gt;&lt;uuid val=&quot;{A9BF0650-A847-4BA8-8562-5C4957B32B8A}&quot;/&gt;&lt;isInvalidForFieldText val=&quot;0&quot;/&gt;&lt;Image&gt;&lt;filename val=&quot;C:\Users\amaxwel6\AppData\Local\Temp\CP8644187751046Session\CPTrustFolder8644187751046\PPTImport8644187799296\data\asimages\{A9BF0650-A847-4BA8-8562-5C4957B32B8A}_29.png&quot;/&gt;&lt;left val=&quot;32&quot;/&gt;&lt;top val=&quot;171&quot;/&gt;&lt;width val=&quot;1199&quot;/&gt;&lt;height val=&quot;516&quot;/&gt;&lt;hasText val=&quot;1&quot;/&gt;&lt;/Image&gt;&lt;/ThreeDShapeInfo&gt;"/>
</p:tagLst>
</file>

<file path=ppt/tags/tag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1&quot;/&gt;&lt;lineCharCount val=&quot;76&quot;/&gt;&lt;lineCharCount val=&quot;99&quot;/&gt;&lt;lineCharCount val=&quot;82&quot;/&gt;&lt;lineCharCount val=&quot;64&quot;/&gt;&lt;lineCharCount val=&quot;83&quot;/&gt;&lt;lineCharCount val=&quot;100&quot;/&gt;&lt;lineCharCount val=&quot;96&quot;/&gt;&lt;lineCharCount val=&quot;14&quot;/&gt;&lt;lineCharCount val=&quot;73&quot;/&gt;&lt;lineCharCount val=&quot;80&quot;/&gt;&lt;lineCharCount val=&quot;96&quot;/&gt;&lt;/TableIndex&gt;&lt;/ShapeTextInfo&gt;"/>
  <p:tag name="HTML_SHAPEINFO" val="&lt;ThreeDShapeInfo&gt;&lt;uuid val=&quot;{A9BF0650-A847-4BA8-8562-5C4957B32B8A}&quot;/&gt;&lt;isInvalidForFieldText val=&quot;0&quot;/&gt;&lt;Image&gt;&lt;filename val=&quot;C:\Users\amaxwel6\AppData\Local\Temp\CP8644187751046Session\CPTrustFolder8644187751046\PPTImport8644187799296\data\asimages\{A9BF0650-A847-4BA8-8562-5C4957B32B8A}_29.png&quot;/&gt;&lt;left val=&quot;32&quot;/&gt;&lt;top val=&quot;171&quot;/&gt;&lt;width val=&quot;1199&quot;/&gt;&lt;height val=&quot;516&quot;/&gt;&lt;hasText val=&quot;1&quot;/&gt;&lt;/Image&gt;&lt;/ThreeDShapeInfo&gt;"/>
</p:tagLst>
</file>

<file path=ppt/tags/tag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8&quot;/&gt;&lt;/TableIndex&gt;&lt;/ShapeTextInfo&gt;"/>
  <p:tag name="HTML_SHAPEINFO" val="&lt;ThreeDShapeInfo&gt;&lt;uuid val=&quot;{F5620151-007F-4EC2-ADB7-02DFF55AC520}&quot;/&gt;&lt;isInvalidForFieldText val=&quot;0&quot;/&gt;&lt;Image&gt;&lt;filename val=&quot;C:\Users\amaxwel6\AppData\Local\Temp\CP8644187751046Session\CPTrustFolder8644187751046\PPTImport8644187799296\data\asimages\{F5620151-007F-4EC2-ADB7-02DFF55AC520}_31.png&quot;/&gt;&lt;left val=&quot;149&quot;/&gt;&lt;top val=&quot;190&quot;/&gt;&lt;width val=&quot;971&quot;/&gt;&lt;height val=&quot;457&quot;/&gt;&lt;hasText val=&quot;1&quot;/&gt;&lt;/Image&gt;&lt;/ThreeDShapeInfo&gt;"/>
</p:tagLst>
</file>

<file path=ppt/tags/tag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8&quot;/&gt;&lt;/TableIndex&gt;&lt;/ShapeTextInfo&gt;"/>
  <p:tag name="HTML_SHAPEINFO" val="&lt;ThreeDShapeInfo&gt;&lt;uuid val=&quot;{F5620151-007F-4EC2-ADB7-02DFF55AC520}&quot;/&gt;&lt;isInvalidForFieldText val=&quot;0&quot;/&gt;&lt;Image&gt;&lt;filename val=&quot;C:\Users\amaxwel6\AppData\Local\Temp\CP8644187751046Session\CPTrustFolder8644187751046\PPTImport8644187799296\data\asimages\{F5620151-007F-4EC2-ADB7-02DFF55AC520}_31.png&quot;/&gt;&lt;left val=&quot;149&quot;/&gt;&lt;top val=&quot;190&quot;/&gt;&lt;width val=&quot;971&quot;/&gt;&lt;height val=&quot;457&quot;/&gt;&lt;hasText val=&quot;1&quot;/&gt;&lt;/Image&gt;&lt;/ThreeDShapeInfo&gt;"/>
</p:tagLst>
</file>

<file path=ppt/tags/tag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7&quot;/&gt;&lt;/TableIndex&gt;&lt;/ShapeTextInfo&gt;"/>
  <p:tag name="HTML_SHAPEINFO" val="&lt;ThreeDShapeInfo&gt;&lt;uuid val=&quot;{A500EF48-AA73-43A9-A54B-DB3935A38C24}&quot;/&gt;&lt;isInvalidForFieldText val=&quot;0&quot;/&gt;&lt;Image&gt;&lt;filename val=&quot;C:\Users\amaxwel6\AppData\Local\Temp\CP8644187751046Session\CPTrustFolder8644187751046\PPTImport8644187799296\data\asimages\{A500EF48-AA73-43A9-A54B-DB3935A38C24}_18.png&quot;/&gt;&lt;left val=&quot;133&quot;/&gt;&lt;top val=&quot;199&quot;/&gt;&lt;width val=&quot;987&quot;/&gt;&lt;height val=&quot;311&quot;/&gt;&lt;hasText val=&quot;1&quot;/&gt;&lt;/Image&gt;&lt;/ThreeDShapeInfo&gt;"/>
</p:tagLst>
</file>

<file path=ppt/tags/tag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61&quot;/&gt;&lt;/TableIndex&gt;&lt;/ShapeTextInfo&gt;"/>
  <p:tag name="HTML_SHAPEINFO" val="&lt;ThreeDShapeInfo&gt;&lt;uuid val=&quot;{B1C87B41-9BCC-46A8-B11F-8B53E5962458}&quot;/&gt;&lt;isInvalidForFieldText val=&quot;0&quot;/&gt;&lt;Image&gt;&lt;filename val=&quot;C:\Users\amaxwel6\AppData\Local\Temp\CP8644187751046Session\CPTrustFolder8644187751046\PPTImport8644187799296\data\asimages\{B1C87B41-9BCC-46A8-B11F-8B53E5962458}_33.png&quot;/&gt;&lt;left val=&quot;149&quot;/&gt;&lt;top val=&quot;190&quot;/&gt;&lt;width val=&quot;971&quot;/&gt;&lt;height val=&quot;457&quot;/&gt;&lt;hasText val=&quot;1&quot;/&gt;&lt;/Image&gt;&lt;/ThreeDShapeInfo&gt;"/>
</p:tagLst>
</file>

<file path=ppt/theme/theme1.xml><?xml version="1.0" encoding="utf-8"?>
<a:theme xmlns:a="http://schemas.openxmlformats.org/drawingml/2006/main" name="7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5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5.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6.xml><?xml version="1.0" encoding="utf-8"?>
<a:theme xmlns:a="http://schemas.openxmlformats.org/drawingml/2006/main" name="6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7.xml><?xml version="1.0" encoding="utf-8"?>
<a:theme xmlns:a="http://schemas.openxmlformats.org/drawingml/2006/main" name="8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Lecture10_GEOG2475_Accuracy</Template>
  <TotalTime>8338</TotalTime>
  <Words>3631</Words>
  <Application>Microsoft Office PowerPoint</Application>
  <PresentationFormat>Custom</PresentationFormat>
  <Paragraphs>517</Paragraphs>
  <Slides>48</Slides>
  <Notes>33</Notes>
  <HiddenSlides>0</HiddenSlides>
  <MMClips>0</MMClips>
  <ScaleCrop>false</ScaleCrop>
  <HeadingPairs>
    <vt:vector size="6" baseType="variant">
      <vt:variant>
        <vt:lpstr>Fonts Used</vt:lpstr>
      </vt:variant>
      <vt:variant>
        <vt:i4>8</vt:i4>
      </vt:variant>
      <vt:variant>
        <vt:lpstr>Theme</vt:lpstr>
      </vt:variant>
      <vt:variant>
        <vt:i4>7</vt:i4>
      </vt:variant>
      <vt:variant>
        <vt:lpstr>Slide Titles</vt:lpstr>
      </vt:variant>
      <vt:variant>
        <vt:i4>48</vt:i4>
      </vt:variant>
    </vt:vector>
  </HeadingPairs>
  <TitlesOfParts>
    <vt:vector size="63" baseType="lpstr">
      <vt:lpstr>Avenir Next W01</vt:lpstr>
      <vt:lpstr>Lucida Grande</vt:lpstr>
      <vt:lpstr>Arial Black</vt:lpstr>
      <vt:lpstr>Calibri</vt:lpstr>
      <vt:lpstr>Courier New</vt:lpstr>
      <vt:lpstr>Gill Sans MT</vt:lpstr>
      <vt:lpstr>Wingdings</vt:lpstr>
      <vt:lpstr>Wingdings 2</vt:lpstr>
      <vt:lpstr>7_DividendVTI</vt:lpstr>
      <vt:lpstr>5_DividendVTI</vt:lpstr>
      <vt:lpstr>2_DividendVTI</vt:lpstr>
      <vt:lpstr>DividendVTI</vt:lpstr>
      <vt:lpstr>1_DividendVTI</vt:lpstr>
      <vt:lpstr>6_DividendVTI</vt:lpstr>
      <vt:lpstr>8_DividendVTI</vt:lpstr>
      <vt:lpstr>Lecture 13 raster Analysis   lecture</vt:lpstr>
      <vt:lpstr>13.1  raster analysis</vt:lpstr>
      <vt:lpstr>PowerPoint Presentation</vt:lpstr>
      <vt:lpstr>PowerPoint Presentation</vt:lpstr>
      <vt:lpstr>Local function Raster Math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logical equal comparison between two layers </vt:lpstr>
      <vt:lpstr>PowerPoint Presentation</vt:lpstr>
      <vt:lpstr>PowerPoint Presentation</vt:lpstr>
      <vt:lpstr>Local function reclassification</vt:lpstr>
      <vt:lpstr>PowerPoint Presentation</vt:lpstr>
      <vt:lpstr>PowerPoint Presentation</vt:lpstr>
      <vt:lpstr>PowerPoint Presentation</vt:lpstr>
      <vt:lpstr>Local function Extraction</vt:lpstr>
      <vt:lpstr>PowerPoint Presentation</vt:lpstr>
      <vt:lpstr>PowerPoint Presentation</vt:lpstr>
      <vt:lpstr>Local function Stack</vt:lpstr>
      <vt:lpstr>PowerPoint Presentation</vt:lpstr>
      <vt:lpstr>PowerPoint Presentation</vt:lpstr>
      <vt:lpstr>Neighborhood-Based Analysis</vt:lpstr>
      <vt:lpstr>PowerPoint Presentation</vt:lpstr>
      <vt:lpstr>PowerPoint Presentation</vt:lpstr>
      <vt:lpstr>PowerPoint Presentation</vt:lpstr>
      <vt:lpstr>Neighborhood function Focal STATISTICS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Neighborhood function distance</vt:lpstr>
      <vt:lpstr>PowerPoint Presentation</vt:lpstr>
      <vt:lpstr>PowerPoint Presentation</vt:lpstr>
      <vt:lpstr>PowerPoint Presentation</vt:lpstr>
      <vt:lpstr>PowerPoint Presentation</vt:lpstr>
      <vt:lpstr>13.2  Lab session</vt:lpstr>
      <vt:lpstr>Lab 09: raster Analysis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Information Science Introduction</dc:title>
  <dc:creator>Yaqian He</dc:creator>
  <cp:lastModifiedBy>Yanan Wu</cp:lastModifiedBy>
  <cp:revision>589</cp:revision>
  <cp:lastPrinted>2020-03-26T12:59:04Z</cp:lastPrinted>
  <dcterms:created xsi:type="dcterms:W3CDTF">2020-03-24T14:51:54Z</dcterms:created>
  <dcterms:modified xsi:type="dcterms:W3CDTF">2025-11-11T15:32:26Z</dcterms:modified>
</cp:coreProperties>
</file>