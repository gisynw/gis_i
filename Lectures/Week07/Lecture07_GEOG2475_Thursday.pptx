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672" r:id="rId2"/>
    <p:sldMasterId id="2147483684" r:id="rId3"/>
    <p:sldMasterId id="2147483697" r:id="rId4"/>
    <p:sldMasterId id="2147483709" r:id="rId5"/>
  </p:sldMasterIdLst>
  <p:notesMasterIdLst>
    <p:notesMasterId r:id="rId34"/>
  </p:notesMasterIdLst>
  <p:sldIdLst>
    <p:sldId id="914" r:id="rId6"/>
    <p:sldId id="1647" r:id="rId7"/>
    <p:sldId id="514" r:id="rId8"/>
    <p:sldId id="516" r:id="rId9"/>
    <p:sldId id="654" r:id="rId10"/>
    <p:sldId id="518" r:id="rId11"/>
    <p:sldId id="520" r:id="rId12"/>
    <p:sldId id="521" r:id="rId13"/>
    <p:sldId id="523" r:id="rId14"/>
    <p:sldId id="655" r:id="rId15"/>
    <p:sldId id="524" r:id="rId16"/>
    <p:sldId id="526" r:id="rId17"/>
    <p:sldId id="556" r:id="rId18"/>
    <p:sldId id="656" r:id="rId19"/>
    <p:sldId id="666" r:id="rId20"/>
    <p:sldId id="1648" r:id="rId21"/>
    <p:sldId id="533" r:id="rId22"/>
    <p:sldId id="535" r:id="rId23"/>
    <p:sldId id="537" r:id="rId24"/>
    <p:sldId id="539" r:id="rId25"/>
    <p:sldId id="536" r:id="rId26"/>
    <p:sldId id="541" r:id="rId27"/>
    <p:sldId id="667" r:id="rId28"/>
    <p:sldId id="540" r:id="rId29"/>
    <p:sldId id="665" r:id="rId30"/>
    <p:sldId id="553" r:id="rId31"/>
    <p:sldId id="1658" r:id="rId32"/>
    <p:sldId id="1659" r:id="rId33"/>
  </p:sldIdLst>
  <p:sldSz cx="8229600" cy="51435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5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384" autoAdjust="0"/>
  </p:normalViewPr>
  <p:slideViewPr>
    <p:cSldViewPr snapToGrid="0" snapToObjects="1">
      <p:cViewPr varScale="1">
        <p:scale>
          <a:sx n="128" d="100"/>
          <a:sy n="128" d="100"/>
        </p:scale>
        <p:origin x="1500" y="108"/>
      </p:cViewPr>
      <p:guideLst>
        <p:guide orient="horz" pos="1620"/>
        <p:guide pos="259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presProps" Target="presProps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4" Type="http://schemas.openxmlformats.org/officeDocument/2006/relationships/image" Target="../media/image2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5DC5F4-D431-4A87-93B0-BBE05B35CCB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4983E92-0B7C-43A8-8C1F-984B0DFA982E}">
      <dgm:prSet custT="1"/>
      <dgm:spPr/>
      <dgm:t>
        <a:bodyPr/>
        <a:lstStyle/>
        <a:p>
          <a:pPr>
            <a:defRPr cap="all"/>
          </a:pPr>
          <a:r>
            <a:rPr lang="en-US" sz="1800" dirty="0"/>
            <a:t>Due by Midnight </a:t>
          </a:r>
          <a:r>
            <a:rPr lang="en-US" sz="1800" dirty="0">
              <a:solidFill>
                <a:srgbClr val="C00000"/>
              </a:solidFill>
            </a:rPr>
            <a:t>(11:59 pm) on Monday, OCT 06, 2025</a:t>
          </a:r>
        </a:p>
      </dgm:t>
    </dgm:pt>
    <dgm:pt modelId="{47D3E5B5-E005-481D-9366-7FFA245A3F46}" type="parTrans" cxnId="{7E7C886D-A667-496F-8DDE-1B718561DB03}">
      <dgm:prSet/>
      <dgm:spPr/>
      <dgm:t>
        <a:bodyPr/>
        <a:lstStyle/>
        <a:p>
          <a:endParaRPr lang="en-US"/>
        </a:p>
      </dgm:t>
    </dgm:pt>
    <dgm:pt modelId="{9E0C94DC-193A-41FC-B82A-2A43E45C8107}" type="sibTrans" cxnId="{7E7C886D-A667-496F-8DDE-1B718561DB03}">
      <dgm:prSet/>
      <dgm:spPr/>
      <dgm:t>
        <a:bodyPr/>
        <a:lstStyle/>
        <a:p>
          <a:endParaRPr lang="en-US"/>
        </a:p>
      </dgm:t>
    </dgm:pt>
    <dgm:pt modelId="{A6242D37-AF81-4A91-9692-C3B78C4C080A}">
      <dgm:prSet custT="1"/>
      <dgm:spPr/>
      <dgm:t>
        <a:bodyPr/>
        <a:lstStyle/>
        <a:p>
          <a:pPr>
            <a:defRPr cap="all"/>
          </a:pPr>
          <a:r>
            <a:rPr lang="en-US" sz="1800" dirty="0"/>
            <a:t>Submit a word document only include </a:t>
          </a:r>
          <a:r>
            <a:rPr lang="en-US" sz="1800" dirty="0">
              <a:solidFill>
                <a:srgbClr val="C00000"/>
              </a:solidFill>
            </a:rPr>
            <a:t>question and answer</a:t>
          </a:r>
        </a:p>
      </dgm:t>
    </dgm:pt>
    <dgm:pt modelId="{A1582085-1655-4316-B7FE-C167B01E3451}" type="parTrans" cxnId="{0F5369C5-3BD8-41EC-82BC-B46BD7C285F5}">
      <dgm:prSet/>
      <dgm:spPr/>
      <dgm:t>
        <a:bodyPr/>
        <a:lstStyle/>
        <a:p>
          <a:endParaRPr lang="en-US"/>
        </a:p>
      </dgm:t>
    </dgm:pt>
    <dgm:pt modelId="{487527DA-4CA7-40A4-8E27-547430E84424}" type="sibTrans" cxnId="{0F5369C5-3BD8-41EC-82BC-B46BD7C285F5}">
      <dgm:prSet/>
      <dgm:spPr/>
      <dgm:t>
        <a:bodyPr/>
        <a:lstStyle/>
        <a:p>
          <a:endParaRPr lang="en-US"/>
        </a:p>
      </dgm:t>
    </dgm:pt>
    <dgm:pt modelId="{1CF3E5B1-FB46-4446-95BF-0E7408D9C151}" type="pres">
      <dgm:prSet presAssocID="{545DC5F4-D431-4A87-93B0-BBE05B35CCB1}" presName="root" presStyleCnt="0">
        <dgm:presLayoutVars>
          <dgm:dir/>
          <dgm:resizeHandles val="exact"/>
        </dgm:presLayoutVars>
      </dgm:prSet>
      <dgm:spPr/>
    </dgm:pt>
    <dgm:pt modelId="{BE3E81CB-7E93-484B-AE32-12C58B09BCE0}" type="pres">
      <dgm:prSet presAssocID="{54983E92-0B7C-43A8-8C1F-984B0DFA982E}" presName="compNode" presStyleCnt="0"/>
      <dgm:spPr/>
    </dgm:pt>
    <dgm:pt modelId="{D2D6216C-9B23-402E-A942-468E0F624F5B}" type="pres">
      <dgm:prSet presAssocID="{54983E92-0B7C-43A8-8C1F-984B0DFA982E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F943F739-4EBC-47A7-A14C-25327E72C0F2}" type="pres">
      <dgm:prSet presAssocID="{54983E92-0B7C-43A8-8C1F-984B0DFA982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larm Clock"/>
        </a:ext>
      </dgm:extLst>
    </dgm:pt>
    <dgm:pt modelId="{3085FCD0-B526-4BA1-831E-148271EBCA71}" type="pres">
      <dgm:prSet presAssocID="{54983E92-0B7C-43A8-8C1F-984B0DFA982E}" presName="spaceRect" presStyleCnt="0"/>
      <dgm:spPr/>
    </dgm:pt>
    <dgm:pt modelId="{4E513C3D-9C85-4581-9570-C87158EE7A8E}" type="pres">
      <dgm:prSet presAssocID="{54983E92-0B7C-43A8-8C1F-984B0DFA982E}" presName="textRect" presStyleLbl="revTx" presStyleIdx="0" presStyleCnt="2" custScaleX="140708">
        <dgm:presLayoutVars>
          <dgm:chMax val="1"/>
          <dgm:chPref val="1"/>
        </dgm:presLayoutVars>
      </dgm:prSet>
      <dgm:spPr/>
    </dgm:pt>
    <dgm:pt modelId="{00D865C2-7AA1-4413-870A-557561F6A99D}" type="pres">
      <dgm:prSet presAssocID="{9E0C94DC-193A-41FC-B82A-2A43E45C8107}" presName="sibTrans" presStyleCnt="0"/>
      <dgm:spPr/>
    </dgm:pt>
    <dgm:pt modelId="{0444C821-AE95-419C-A2C2-10FD435B3E72}" type="pres">
      <dgm:prSet presAssocID="{A6242D37-AF81-4A91-9692-C3B78C4C080A}" presName="compNode" presStyleCnt="0"/>
      <dgm:spPr/>
    </dgm:pt>
    <dgm:pt modelId="{C1C41DF5-156F-4AFD-8177-5E65296E36DA}" type="pres">
      <dgm:prSet presAssocID="{A6242D37-AF81-4A91-9692-C3B78C4C080A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BCD05D74-D5AE-459F-A6DF-06E0D3F03A72}" type="pres">
      <dgm:prSet presAssocID="{A6242D37-AF81-4A91-9692-C3B78C4C080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AB5314E-660E-4ED1-846B-8434948EF46B}" type="pres">
      <dgm:prSet presAssocID="{A6242D37-AF81-4A91-9692-C3B78C4C080A}" presName="spaceRect" presStyleCnt="0"/>
      <dgm:spPr/>
    </dgm:pt>
    <dgm:pt modelId="{A3838D15-85D1-4048-B20D-9009920800B0}" type="pres">
      <dgm:prSet presAssocID="{A6242D37-AF81-4A91-9692-C3B78C4C080A}" presName="textRect" presStyleLbl="revTx" presStyleIdx="1" presStyleCnt="2" custScaleX="147657">
        <dgm:presLayoutVars>
          <dgm:chMax val="1"/>
          <dgm:chPref val="1"/>
        </dgm:presLayoutVars>
      </dgm:prSet>
      <dgm:spPr/>
    </dgm:pt>
  </dgm:ptLst>
  <dgm:cxnLst>
    <dgm:cxn modelId="{34AD3E24-5AE2-4091-998E-71D41F9CDB89}" type="presOf" srcId="{A6242D37-AF81-4A91-9692-C3B78C4C080A}" destId="{A3838D15-85D1-4048-B20D-9009920800B0}" srcOrd="0" destOrd="0" presId="urn:microsoft.com/office/officeart/2018/5/layout/IconLeafLabelList"/>
    <dgm:cxn modelId="{7E7C886D-A667-496F-8DDE-1B718561DB03}" srcId="{545DC5F4-D431-4A87-93B0-BBE05B35CCB1}" destId="{54983E92-0B7C-43A8-8C1F-984B0DFA982E}" srcOrd="0" destOrd="0" parTransId="{47D3E5B5-E005-481D-9366-7FFA245A3F46}" sibTransId="{9E0C94DC-193A-41FC-B82A-2A43E45C8107}"/>
    <dgm:cxn modelId="{B47C2F55-9A4B-4FFB-AA38-9C2574693CD4}" type="presOf" srcId="{54983E92-0B7C-43A8-8C1F-984B0DFA982E}" destId="{4E513C3D-9C85-4581-9570-C87158EE7A8E}" srcOrd="0" destOrd="0" presId="urn:microsoft.com/office/officeart/2018/5/layout/IconLeafLabelList"/>
    <dgm:cxn modelId="{53CEBE9C-EA76-48A8-8DF7-6953575A9C37}" type="presOf" srcId="{545DC5F4-D431-4A87-93B0-BBE05B35CCB1}" destId="{1CF3E5B1-FB46-4446-95BF-0E7408D9C151}" srcOrd="0" destOrd="0" presId="urn:microsoft.com/office/officeart/2018/5/layout/IconLeafLabelList"/>
    <dgm:cxn modelId="{0F5369C5-3BD8-41EC-82BC-B46BD7C285F5}" srcId="{545DC5F4-D431-4A87-93B0-BBE05B35CCB1}" destId="{A6242D37-AF81-4A91-9692-C3B78C4C080A}" srcOrd="1" destOrd="0" parTransId="{A1582085-1655-4316-B7FE-C167B01E3451}" sibTransId="{487527DA-4CA7-40A4-8E27-547430E84424}"/>
    <dgm:cxn modelId="{5C6FCB9C-3574-4EF1-979B-C82FE21FC231}" type="presParOf" srcId="{1CF3E5B1-FB46-4446-95BF-0E7408D9C151}" destId="{BE3E81CB-7E93-484B-AE32-12C58B09BCE0}" srcOrd="0" destOrd="0" presId="urn:microsoft.com/office/officeart/2018/5/layout/IconLeafLabelList"/>
    <dgm:cxn modelId="{3BEBC4B0-3768-4D30-9883-ED03B1BB2AA3}" type="presParOf" srcId="{BE3E81CB-7E93-484B-AE32-12C58B09BCE0}" destId="{D2D6216C-9B23-402E-A942-468E0F624F5B}" srcOrd="0" destOrd="0" presId="urn:microsoft.com/office/officeart/2018/5/layout/IconLeafLabelList"/>
    <dgm:cxn modelId="{9334B4F2-C5A7-478D-8C83-6B6B78937527}" type="presParOf" srcId="{BE3E81CB-7E93-484B-AE32-12C58B09BCE0}" destId="{F943F739-4EBC-47A7-A14C-25327E72C0F2}" srcOrd="1" destOrd="0" presId="urn:microsoft.com/office/officeart/2018/5/layout/IconLeafLabelList"/>
    <dgm:cxn modelId="{722E4463-BB96-47A5-B05B-8394250686DE}" type="presParOf" srcId="{BE3E81CB-7E93-484B-AE32-12C58B09BCE0}" destId="{3085FCD0-B526-4BA1-831E-148271EBCA71}" srcOrd="2" destOrd="0" presId="urn:microsoft.com/office/officeart/2018/5/layout/IconLeafLabelList"/>
    <dgm:cxn modelId="{4DDDB5E8-1F23-4A78-9605-45AAF5833E68}" type="presParOf" srcId="{BE3E81CB-7E93-484B-AE32-12C58B09BCE0}" destId="{4E513C3D-9C85-4581-9570-C87158EE7A8E}" srcOrd="3" destOrd="0" presId="urn:microsoft.com/office/officeart/2018/5/layout/IconLeafLabelList"/>
    <dgm:cxn modelId="{123D8173-4B78-41DB-B068-2BA15E016A23}" type="presParOf" srcId="{1CF3E5B1-FB46-4446-95BF-0E7408D9C151}" destId="{00D865C2-7AA1-4413-870A-557561F6A99D}" srcOrd="1" destOrd="0" presId="urn:microsoft.com/office/officeart/2018/5/layout/IconLeafLabelList"/>
    <dgm:cxn modelId="{E92967F1-54D1-402B-9BE3-03FB7BECA8E6}" type="presParOf" srcId="{1CF3E5B1-FB46-4446-95BF-0E7408D9C151}" destId="{0444C821-AE95-419C-A2C2-10FD435B3E72}" srcOrd="2" destOrd="0" presId="urn:microsoft.com/office/officeart/2018/5/layout/IconLeafLabelList"/>
    <dgm:cxn modelId="{6A34589F-98DC-49A5-B284-AB8B04E10F1B}" type="presParOf" srcId="{0444C821-AE95-419C-A2C2-10FD435B3E72}" destId="{C1C41DF5-156F-4AFD-8177-5E65296E36DA}" srcOrd="0" destOrd="0" presId="urn:microsoft.com/office/officeart/2018/5/layout/IconLeafLabelList"/>
    <dgm:cxn modelId="{E4BDC4E7-B33D-408F-A28A-9E646BDBCB86}" type="presParOf" srcId="{0444C821-AE95-419C-A2C2-10FD435B3E72}" destId="{BCD05D74-D5AE-459F-A6DF-06E0D3F03A72}" srcOrd="1" destOrd="0" presId="urn:microsoft.com/office/officeart/2018/5/layout/IconLeafLabelList"/>
    <dgm:cxn modelId="{3D1E9DB2-C5D6-4774-8110-C1F4D3951E71}" type="presParOf" srcId="{0444C821-AE95-419C-A2C2-10FD435B3E72}" destId="{2AB5314E-660E-4ED1-846B-8434948EF46B}" srcOrd="2" destOrd="0" presId="urn:microsoft.com/office/officeart/2018/5/layout/IconLeafLabelList"/>
    <dgm:cxn modelId="{2B9C7FC2-A255-4335-A004-2546E39B1238}" type="presParOf" srcId="{0444C821-AE95-419C-A2C2-10FD435B3E72}" destId="{A3838D15-85D1-4048-B20D-9009920800B0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D6216C-9B23-402E-A942-468E0F624F5B}">
      <dsp:nvSpPr>
        <dsp:cNvPr id="0" name=""/>
        <dsp:cNvSpPr/>
      </dsp:nvSpPr>
      <dsp:spPr>
        <a:xfrm>
          <a:off x="1178341" y="15356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43F739-4EBC-47A7-A14C-25327E72C0F2}">
      <dsp:nvSpPr>
        <dsp:cNvPr id="0" name=""/>
        <dsp:cNvSpPr/>
      </dsp:nvSpPr>
      <dsp:spPr>
        <a:xfrm>
          <a:off x="1470841" y="307856"/>
          <a:ext cx="787500" cy="787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513C3D-9C85-4581-9570-C87158EE7A8E}">
      <dsp:nvSpPr>
        <dsp:cNvPr id="0" name=""/>
        <dsp:cNvSpPr/>
      </dsp:nvSpPr>
      <dsp:spPr>
        <a:xfrm>
          <a:off x="281626" y="1815356"/>
          <a:ext cx="3165930" cy="7439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Due by Midnight </a:t>
          </a:r>
          <a:r>
            <a:rPr lang="en-US" sz="1800" kern="1200" dirty="0">
              <a:solidFill>
                <a:srgbClr val="C00000"/>
              </a:solidFill>
            </a:rPr>
            <a:t>(11:59 pm) on Monday, OCT 06, 2025</a:t>
          </a:r>
        </a:p>
      </dsp:txBody>
      <dsp:txXfrm>
        <a:off x="281626" y="1815356"/>
        <a:ext cx="3165930" cy="743927"/>
      </dsp:txXfrm>
    </dsp:sp>
    <dsp:sp modelId="{C1C41DF5-156F-4AFD-8177-5E65296E36DA}">
      <dsp:nvSpPr>
        <dsp:cNvPr id="0" name=""/>
        <dsp:cNvSpPr/>
      </dsp:nvSpPr>
      <dsp:spPr>
        <a:xfrm>
          <a:off x="4816197" y="15356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D05D74-D5AE-459F-A6DF-06E0D3F03A72}">
      <dsp:nvSpPr>
        <dsp:cNvPr id="0" name=""/>
        <dsp:cNvSpPr/>
      </dsp:nvSpPr>
      <dsp:spPr>
        <a:xfrm>
          <a:off x="5108697" y="307856"/>
          <a:ext cx="787500" cy="787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838D15-85D1-4048-B20D-9009920800B0}">
      <dsp:nvSpPr>
        <dsp:cNvPr id="0" name=""/>
        <dsp:cNvSpPr/>
      </dsp:nvSpPr>
      <dsp:spPr>
        <a:xfrm>
          <a:off x="3841306" y="1815356"/>
          <a:ext cx="3322282" cy="7439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Submit a word document only include </a:t>
          </a:r>
          <a:r>
            <a:rPr lang="en-US" sz="1800" kern="1200" dirty="0">
              <a:solidFill>
                <a:srgbClr val="C00000"/>
              </a:solidFill>
            </a:rPr>
            <a:t>question and answer</a:t>
          </a:r>
        </a:p>
      </dsp:txBody>
      <dsp:txXfrm>
        <a:off x="3841306" y="1815356"/>
        <a:ext cx="3322282" cy="7439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6C520B4-85AA-9542-8CF7-3D2DDCE6041D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696913"/>
            <a:ext cx="557847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6507943-197E-CE46-82F0-5A323A24AE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73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07943-197E-CE46-82F0-5A323A24AE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0193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larger scale: greater detail and smaller area</a:t>
            </a:r>
          </a:p>
          <a:p>
            <a:r>
              <a:rPr lang="en-US" dirty="0"/>
              <a:t>Smaller scale: less detail and larger area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094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view, it will not change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0747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Miller Cylindrical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0270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07943-197E-CE46-82F0-5A323A24AE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9123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0FD2F-556E-43A6-BD1A-AE05D71D5ACE}" type="datetime1">
              <a:rPr lang="en-US" smtClean="0"/>
              <a:t>10/2/2025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857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2D96-DD5E-4EE6-BA39-19B5C56AF1F2}" type="datetime1">
              <a:rPr lang="en-US" smtClean="0"/>
              <a:t>10/2/2025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857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D4BC3-0B93-4E0B-AE53-3E432262C0E4}" type="datetime1">
              <a:rPr lang="en-US" smtClean="0"/>
              <a:t>10/2/2025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799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A080-6A29-4A4D-90B1-4C73660CABD5}" type="datetime1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89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F1D62-0785-460A-9888-5F5908AD45F7}" type="datetime1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512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F5A6-4790-4338-AC59-416730A16F3C}" type="datetime1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741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331C8-E8D8-438B-B699-9ACE625F3A09}" type="datetime1">
              <a:rPr lang="en-US" smtClean="0"/>
              <a:t>10/2/2025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482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610C12D3-F429-42CB-9467-4C3AFEEA173C}" type="datetime1">
              <a:rPr lang="en-US" smtClean="0"/>
              <a:t>10/2/2025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257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F426E-E29E-4D2E-B32D-412D98F7FC2F}" type="datetime1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62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15864-78C5-4237-8A12-0D1FD4E5F0BD}" type="datetime1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320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BBA17-EAD5-43A8-9481-F99B1E8564DB}" type="datetime1">
              <a:rPr lang="en-US" smtClean="0"/>
              <a:t>10/2/2025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436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FEA4-C6CA-4262-94C7-989766AA3A47}" type="datetime1">
              <a:rPr lang="en-US" smtClean="0"/>
              <a:t>10/2/2025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8537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5A5F7-BE7B-4360-B821-FCDB8E9197AC}" type="datetime1">
              <a:rPr lang="en-US" smtClean="0"/>
              <a:t>10/2/2025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3228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5D492-0F60-495A-BAAC-3C877C1D64A2}" type="datetime1">
              <a:rPr lang="en-US" smtClean="0"/>
              <a:t>10/2/2025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738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22FED-C97B-4E3C-B05B-1278829CCA0F}" type="datetime1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4344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F91E7-DD27-45EE-9FAC-A58839C2E3FB}" type="datetime1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288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B943-D34E-498D-BB5B-1BC0D01A4C3C}" type="datetime1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2847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88AC7-A362-47DE-B037-3A7E785BA73D}" type="datetime1">
              <a:rPr lang="en-US" smtClean="0"/>
              <a:t>10/2/2025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1836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1E09BAED-B7FC-4220-8037-60663F890984}" type="datetime1">
              <a:rPr lang="en-US" smtClean="0"/>
              <a:t>10/2/2025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9847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0B96-D43B-410F-A514-3967CACDF6C4}" type="datetime1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7889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DFB46-027F-4778-8182-714012A6E051}" type="datetime1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8397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FD05A-9631-4BEE-9AA4-5575ADA850E9}" type="datetime1">
              <a:rPr lang="en-US" smtClean="0"/>
              <a:t>10/2/2025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0584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4539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5490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1585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1713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188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8521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89299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D82884F1-FFEA-405F-9602-3DCA865EDA4E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0763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5576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6606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7414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280530" y="597425"/>
            <a:ext cx="766854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altLang="zh-CN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194581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03313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32872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8070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1480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65884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90169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44478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D82884F1-FFEA-405F-9602-3DCA865EDA4E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6016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59678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42688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30335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14084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07934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16767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20401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85770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72197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79081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D82884F1-FFEA-405F-9602-3DCA865EDA4E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19357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00933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76872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89623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280530" y="597425"/>
            <a:ext cx="766854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33470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E7733A4-5D18-4D09-8F94-45F71EE3C7C2}" type="datetime1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438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234BEC2-5A9D-42E1-9C16-1E9F257755B7}" type="datetime1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496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9368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sldNum="0"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1796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sldNum="0"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0670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</p:sldLayoutIdLst>
  <p:hf sldNum="0"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5485B9-8EE1-447A-9C08-F7D6B532A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57176"/>
            <a:ext cx="8229599" cy="4629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 descr="A colorful background with waves&#10;&#10;Description automatically generated with medium confidence">
            <a:extLst>
              <a:ext uri="{FF2B5EF4-FFF2-40B4-BE49-F238E27FC236}">
                <a16:creationId xmlns:a16="http://schemas.microsoft.com/office/drawing/2014/main" id="{1734BD9E-DDD5-C150-8BA0-0B1B13AE06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111"/>
          <a:stretch/>
        </p:blipFill>
        <p:spPr>
          <a:xfrm>
            <a:off x="13" y="257175"/>
            <a:ext cx="8229587" cy="462914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963707F-B98C-4143-AFCF-D6B56C975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6990" y="565785"/>
            <a:ext cx="3382366" cy="617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D2DFBB-460D-4ECB-BD76-509C99DAD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018" y="662983"/>
            <a:ext cx="3381337" cy="390782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E3439C-E1CA-A039-1552-7B23AB700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060" y="785709"/>
            <a:ext cx="3871767" cy="1831185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Lecture 07 </a:t>
            </a:r>
            <a:br>
              <a:rPr lang="en-US" altLang="zh-CN" sz="2800" dirty="0"/>
            </a:br>
            <a:r>
              <a:rPr lang="en-US" altLang="zh-CN" sz="2800" dirty="0"/>
              <a:t>Map Elements</a:t>
            </a:r>
            <a:br>
              <a:rPr lang="en-US" altLang="zh-CN" sz="2800" dirty="0"/>
            </a:br>
            <a:br>
              <a:rPr lang="en-US" sz="2700" dirty="0">
                <a:solidFill>
                  <a:srgbClr val="FFFFFF"/>
                </a:solidFill>
              </a:rPr>
            </a:br>
            <a:r>
              <a:rPr lang="en-US" sz="2700" dirty="0">
                <a:solidFill>
                  <a:srgbClr val="FFFFFF"/>
                </a:solidFill>
              </a:rPr>
              <a:t>lecture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6AEC8-AD7D-2F2A-F638-325ACB8C9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060" y="2798352"/>
            <a:ext cx="2916154" cy="1537292"/>
          </a:xfrm>
        </p:spPr>
        <p:txBody>
          <a:bodyPr>
            <a:noAutofit/>
          </a:bodyPr>
          <a:lstStyle/>
          <a:p>
            <a:r>
              <a:rPr lang="en-US" sz="189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Instructor: Yanan Wu</a:t>
            </a:r>
          </a:p>
          <a:p>
            <a:r>
              <a:rPr lang="en-US" sz="189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1890" dirty="0" err="1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fALL</a:t>
            </a:r>
            <a:r>
              <a:rPr lang="en-US" sz="189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2025</a:t>
            </a:r>
          </a:p>
          <a:p>
            <a:endParaRPr lang="en-US" sz="1890" dirty="0">
              <a:solidFill>
                <a:srgbClr val="FFFFFF">
                  <a:alpha val="75000"/>
                </a:srgb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9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1301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0" y="565785"/>
            <a:ext cx="2499741" cy="6412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8449" y="563384"/>
            <a:ext cx="2499741" cy="6652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3235" y="565785"/>
            <a:ext cx="2499741" cy="6172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1" y="2340066"/>
            <a:ext cx="7626779" cy="22532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39171204-6A50-40E1-B631-84CEDFC93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7175"/>
            <a:ext cx="8229600" cy="4629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C973F6-5187-412F-AACC-6E3FF8A6A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3999" y="592623"/>
            <a:ext cx="746661" cy="395532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11AE14F-1B7E-41E6-B579-2F71D1350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178" y="592621"/>
            <a:ext cx="6723707" cy="24826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8BAB5-C1DE-8DAD-E76F-BECA6F24C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258" y="735412"/>
            <a:ext cx="6492542" cy="2247787"/>
          </a:xfrm>
        </p:spPr>
        <p:txBody>
          <a:bodyPr vert="horz" lIns="61722" tIns="30861" rIns="61722" bIns="30861" rtlCol="0" anchor="ctr">
            <a:normAutofit/>
          </a:bodyPr>
          <a:lstStyle/>
          <a:p>
            <a:r>
              <a:rPr lang="en-US" sz="4050" dirty="0">
                <a:solidFill>
                  <a:srgbClr val="FFFFFF"/>
                </a:solidFill>
              </a:rPr>
              <a:t>7.1 </a:t>
            </a:r>
            <a:br>
              <a:rPr lang="en-US" sz="4050" dirty="0">
                <a:solidFill>
                  <a:srgbClr val="FFFFFF"/>
                </a:solidFill>
              </a:rPr>
            </a:br>
            <a:r>
              <a:rPr lang="en-US" sz="4050" dirty="0">
                <a:solidFill>
                  <a:srgbClr val="FFFFFF"/>
                </a:solidFill>
              </a:rPr>
              <a:t>MAP ELEMENTS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52BB805-F7B7-4B80-A1C5-385D4DAF7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133" y="3149018"/>
            <a:ext cx="6723753" cy="1398925"/>
          </a:xfrm>
          <a:prstGeom prst="rect">
            <a:avLst/>
          </a:prstGeom>
          <a:solidFill>
            <a:srgbClr val="6C7781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9517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876300"/>
            <a:ext cx="8077200" cy="2399049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000" dirty="0"/>
              <a:t>Allows the map user to determine where data were obtained</a:t>
            </a:r>
          </a:p>
          <a:p>
            <a:pPr marL="765810" lvl="1" indent="-457200">
              <a:buFont typeface="Wingdings" panose="05000000000000000000" pitchFamily="2" charset="2"/>
              <a:buChar char="ü"/>
            </a:pPr>
            <a:r>
              <a:rPr lang="en-US" sz="2000" dirty="0"/>
              <a:t>Sources of base information are normally omitted from thematic maps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dirty="0"/>
              <a:t>Should be formatted similar to a standard bibliographic reference, but is often more concise and less formal 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413EBF-9B5B-45E1-B6EC-28D2CD8E0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C8B6E33-BB32-407B-B3A2-4DB83E80B91D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6D9AF380-D92B-4FD3-A5AF-A2B8A746E2D9}"/>
              </a:ext>
            </a:extLst>
          </p:cNvPr>
          <p:cNvSpPr txBox="1">
            <a:spLocks/>
          </p:cNvSpPr>
          <p:nvPr/>
        </p:nvSpPr>
        <p:spPr>
          <a:xfrm>
            <a:off x="238454" y="164384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D</a:t>
            </a:r>
            <a:r>
              <a:rPr lang="en-US" altLang="zh-CN" sz="3200" dirty="0">
                <a:solidFill>
                  <a:srgbClr val="7030A0"/>
                </a:solidFill>
              </a:rPr>
              <a:t>ata source</a:t>
            </a:r>
            <a:endParaRPr lang="en-US" sz="2600" i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014070"/>
            <a:ext cx="8001000" cy="3741896"/>
          </a:xfrm>
        </p:spPr>
        <p:txBody>
          <a:bodyPr>
            <a:normAutofit fontScale="925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The words “Data Source:” or “Source:” should be included to avoid ambiguity</a:t>
            </a:r>
          </a:p>
          <a:p>
            <a:pPr marL="594360" lvl="1" indent="-285750">
              <a:buFont typeface="Wingdings" panose="05000000000000000000" pitchFamily="2" charset="2"/>
              <a:buChar char="ü"/>
            </a:pPr>
            <a:r>
              <a:rPr lang="en-US" sz="2200" dirty="0"/>
              <a:t>The data source indicates where data came from, not map authorship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A separate block of type can be used to indicate map authorship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The style of the data source should be plain and subtle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Publication names should be </a:t>
            </a:r>
            <a:r>
              <a:rPr lang="en-US" sz="2400" i="1" dirty="0"/>
              <a:t>italicized</a:t>
            </a:r>
            <a:r>
              <a:rPr lang="en-US" sz="2400" dirty="0"/>
              <a:t>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Multiple lines of type should be horizontally centered (center aligned) </a:t>
            </a:r>
          </a:p>
          <a:p>
            <a:pPr marL="308610" lvl="1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84C556-2BF8-4CCA-9244-3DA9407E3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4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A3BAF26-21BD-4526-AD1E-92E0A256B648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FFF1CC0-0ABD-4FA5-8B7F-599AC402B1EA}"/>
              </a:ext>
            </a:extLst>
          </p:cNvPr>
          <p:cNvSpPr txBox="1">
            <a:spLocks/>
          </p:cNvSpPr>
          <p:nvPr/>
        </p:nvSpPr>
        <p:spPr>
          <a:xfrm>
            <a:off x="152400" y="166618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D</a:t>
            </a:r>
            <a:r>
              <a:rPr lang="en-US" altLang="zh-CN" sz="3200" dirty="0">
                <a:solidFill>
                  <a:srgbClr val="7030A0"/>
                </a:solidFill>
              </a:rPr>
              <a:t>ata source</a:t>
            </a:r>
            <a:endParaRPr lang="en-US" sz="2600" i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72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3323" y="1748494"/>
            <a:ext cx="5681088" cy="2112551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A3BAF26-21BD-4526-AD1E-92E0A256B648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FFF1CC0-0ABD-4FA5-8B7F-599AC402B1EA}"/>
              </a:ext>
            </a:extLst>
          </p:cNvPr>
          <p:cNvSpPr txBox="1">
            <a:spLocks/>
          </p:cNvSpPr>
          <p:nvPr/>
        </p:nvSpPr>
        <p:spPr>
          <a:xfrm>
            <a:off x="230959" y="201859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D</a:t>
            </a:r>
            <a:r>
              <a:rPr lang="en-US" altLang="zh-CN" sz="3200" dirty="0">
                <a:solidFill>
                  <a:srgbClr val="7030A0"/>
                </a:solidFill>
              </a:rPr>
              <a:t>ata source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829A4E-2266-4CA3-B4F6-610212483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662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>
          <a:xfrm>
            <a:off x="288758" y="985840"/>
            <a:ext cx="7700209" cy="1543050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1600" dirty="0"/>
              <a:t>The data source should be among the smallest type on a map</a:t>
            </a:r>
          </a:p>
          <a:p>
            <a:pPr marL="765810" lvl="1" indent="-457200">
              <a:buFont typeface="Wingdings" panose="05000000000000000000" pitchFamily="2" charset="2"/>
              <a:buChar char="ü"/>
            </a:pPr>
            <a:r>
              <a:rPr lang="en-US" sz="1600" dirty="0"/>
              <a:t>Its purpose is to inform the curious, not to attract attention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dirty="0"/>
              <a:t>Center it below the legend</a:t>
            </a:r>
          </a:p>
          <a:p>
            <a:pPr marL="727234" lvl="1" indent="-457200">
              <a:buFont typeface="Wingdings" panose="05000000000000000000" pitchFamily="2" charset="2"/>
              <a:buChar char="ü"/>
            </a:pPr>
            <a:r>
              <a:rPr lang="en-US" sz="1600" dirty="0"/>
              <a:t>Or tuck it into a lower corner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320318-7D3E-4E4F-A5D3-78DC6ACE4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86020" name="Picture 5" descr="Image showing data sourc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22614" y="2940222"/>
            <a:ext cx="2396014" cy="2157056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2" name="Picture 1" descr="Image showing data sour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903" y="3440243"/>
            <a:ext cx="3109455" cy="982478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9EE5423-F840-4562-AE03-FE11EB9F6852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F708B0C1-5640-41C0-B7C3-D0DDA7FEA272}"/>
              </a:ext>
            </a:extLst>
          </p:cNvPr>
          <p:cNvSpPr txBox="1">
            <a:spLocks/>
          </p:cNvSpPr>
          <p:nvPr/>
        </p:nvSpPr>
        <p:spPr>
          <a:xfrm>
            <a:off x="288758" y="128590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D</a:t>
            </a:r>
            <a:r>
              <a:rPr lang="en-US" altLang="zh-CN" sz="3200" dirty="0">
                <a:solidFill>
                  <a:srgbClr val="7030A0"/>
                </a:solidFill>
              </a:rPr>
              <a:t>ata source</a:t>
            </a:r>
            <a:endParaRPr lang="en-US" sz="2600" i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>
          <a:xfrm>
            <a:off x="118533" y="1028700"/>
            <a:ext cx="7870435" cy="2628895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000" dirty="0"/>
              <a:t>Indicates the amount of reduction that has taken place on a map, or allows the map user to measure distances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dirty="0"/>
              <a:t>Can take three forms</a:t>
            </a:r>
          </a:p>
          <a:p>
            <a:pPr marL="765810" lvl="1" indent="-457200">
              <a:buFont typeface="Wingdings" panose="05000000000000000000" pitchFamily="2" charset="2"/>
              <a:buChar char="ü"/>
            </a:pPr>
            <a:r>
              <a:rPr lang="en-US" sz="2000" dirty="0"/>
              <a:t>Representative Fraction (1:24,000) </a:t>
            </a:r>
          </a:p>
          <a:p>
            <a:pPr marL="765810" lvl="1" indent="-457200">
              <a:buFont typeface="Wingdings" panose="05000000000000000000" pitchFamily="2" charset="2"/>
              <a:buChar char="ü"/>
            </a:pPr>
            <a:r>
              <a:rPr lang="en-US" sz="2000" dirty="0"/>
              <a:t>Verbal Scale (“One Inch to the Mile”)</a:t>
            </a:r>
          </a:p>
          <a:p>
            <a:pPr marL="765810" lvl="1" indent="-457200">
              <a:buFont typeface="Wingdings" panose="05000000000000000000" pitchFamily="2" charset="2"/>
              <a:buChar char="ü"/>
            </a:pPr>
            <a:r>
              <a:rPr lang="en-US" sz="2000" dirty="0"/>
              <a:t>Bar Scale or Scale Bar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76C17A-4AB0-4AA1-8D36-17A705D01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88068" name="Picture 4" descr="Image showing scal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28025" y="3121254"/>
            <a:ext cx="1454050" cy="1833604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F99F1A8-A99C-4BCA-881F-493B6793DD01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326BF4C-D5A6-4D87-9299-C75E7ABC924E}"/>
              </a:ext>
            </a:extLst>
          </p:cNvPr>
          <p:cNvSpPr txBox="1">
            <a:spLocks/>
          </p:cNvSpPr>
          <p:nvPr/>
        </p:nvSpPr>
        <p:spPr>
          <a:xfrm>
            <a:off x="260940" y="171450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Scale</a:t>
            </a:r>
            <a:endParaRPr lang="en-US" sz="26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91" name="Picture 3" descr="Image showing scale"/>
          <p:cNvPicPr preferRelativeResize="0"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27704" y="1052274"/>
            <a:ext cx="4979551" cy="3660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70372" name="Oval 4" descr="Red circle"/>
          <p:cNvSpPr>
            <a:spLocks noChangeArrowheads="1"/>
          </p:cNvSpPr>
          <p:nvPr/>
        </p:nvSpPr>
        <p:spPr bwMode="auto">
          <a:xfrm>
            <a:off x="5109211" y="4319470"/>
            <a:ext cx="1446609" cy="383619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215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4F623BC-4BFB-4E54-B05D-FD0D42473E59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F08ED228-176A-466B-8C92-BE95ED0CEFE5}"/>
              </a:ext>
            </a:extLst>
          </p:cNvPr>
          <p:cNvSpPr txBox="1">
            <a:spLocks/>
          </p:cNvSpPr>
          <p:nvPr/>
        </p:nvSpPr>
        <p:spPr>
          <a:xfrm>
            <a:off x="268434" y="185381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Scale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E1996B-A2AE-4F32-A897-B41C90202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037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Rectangle 3"/>
          <p:cNvSpPr>
            <a:spLocks noGrp="1" noChangeArrowheads="1"/>
          </p:cNvSpPr>
          <p:nvPr>
            <p:ph idx="1"/>
          </p:nvPr>
        </p:nvSpPr>
        <p:spPr>
          <a:xfrm>
            <a:off x="118533" y="957714"/>
            <a:ext cx="7818120" cy="3202056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The bar scale is preferred format for inclusion on a thematic map </a:t>
            </a:r>
          </a:p>
          <a:p>
            <a:pPr marL="765810" lvl="1" indent="-457200">
              <a:buFont typeface="Wingdings" panose="05000000000000000000" pitchFamily="2" charset="2"/>
              <a:buChar char="ü"/>
            </a:pPr>
            <a:r>
              <a:rPr lang="en-US" sz="2400" dirty="0"/>
              <a:t>Resembles a ruler </a:t>
            </a:r>
          </a:p>
          <a:p>
            <a:pPr marL="765810" lvl="1" indent="-457200">
              <a:buFont typeface="Wingdings" panose="05000000000000000000" pitchFamily="2" charset="2"/>
              <a:buChar char="ü"/>
            </a:pPr>
            <a:r>
              <a:rPr lang="en-US" sz="2400" dirty="0"/>
              <a:t>Remains true when a map is enlarged or reduced (representative fractions and verbal scales don’t)</a:t>
            </a:r>
          </a:p>
          <a:p>
            <a:pPr marL="727226" lvl="1" indent="-457200">
              <a:buFont typeface="Wingdings" panose="05000000000000000000" pitchFamily="2" charset="2"/>
              <a:buChar char="ü"/>
            </a:pPr>
            <a:r>
              <a:rPr lang="en-US" sz="2400" dirty="0"/>
              <a:t>Include if distance information can enhance the map user’s understanding of the theme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184035-05D3-4200-B06D-E79D6205E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9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2C320FB-BD2A-4B6D-9598-423246954E4A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5B1F549D-29E0-4CE6-B74B-5D3B67FBA063}"/>
              </a:ext>
            </a:extLst>
          </p:cNvPr>
          <p:cNvSpPr txBox="1">
            <a:spLocks/>
          </p:cNvSpPr>
          <p:nvPr/>
        </p:nvSpPr>
        <p:spPr>
          <a:xfrm>
            <a:off x="292947" y="200006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Scale</a:t>
            </a:r>
            <a:endParaRPr lang="en-US" sz="26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2C320FB-BD2A-4B6D-9598-423246954E4A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5B1F549D-29E0-4CE6-B74B-5D3B67FBA063}"/>
              </a:ext>
            </a:extLst>
          </p:cNvPr>
          <p:cNvSpPr txBox="1">
            <a:spLocks/>
          </p:cNvSpPr>
          <p:nvPr/>
        </p:nvSpPr>
        <p:spPr>
          <a:xfrm>
            <a:off x="235518" y="173613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Scale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BE3332-4ED6-4335-8129-744FAC467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026" name="Picture 2" descr="Information 15 00107 g006">
            <a:extLst>
              <a:ext uri="{FF2B5EF4-FFF2-40B4-BE49-F238E27FC236}">
                <a16:creationId xmlns:a16="http://schemas.microsoft.com/office/drawing/2014/main" id="{7CB9B25E-18DF-7DFC-54B5-94EDEFCE63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727" y="1030863"/>
            <a:ext cx="5416888" cy="3965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1629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>
          <a:xfrm>
            <a:off x="236278" y="1000978"/>
            <a:ext cx="7917122" cy="974981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000" dirty="0"/>
              <a:t>Use caution when employing bar scales on smaller scale maps</a:t>
            </a:r>
          </a:p>
          <a:p>
            <a:pPr marL="1125855" lvl="2" indent="-457200">
              <a:buFont typeface="Wingdings" panose="05000000000000000000" pitchFamily="2" charset="2"/>
              <a:buChar char="ü"/>
            </a:pPr>
            <a:r>
              <a:rPr lang="en-US" sz="2000" dirty="0"/>
              <a:t>Scale is only accurate along standard lines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8EF2E5-5D69-4F16-897E-BDC7A050E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92164" name="Picture 5" descr="Image showing scale"/>
          <p:cNvPicPr>
            <a:picLocks noChangeAspect="1" noChangeArrowheads="1"/>
          </p:cNvPicPr>
          <p:nvPr/>
        </p:nvPicPr>
        <p:blipFill>
          <a:blip r:embed="rId3" cstate="print"/>
          <a:srcRect t="6451" b="16319"/>
          <a:stretch>
            <a:fillRect/>
          </a:stretch>
        </p:blipFill>
        <p:spPr bwMode="auto">
          <a:xfrm>
            <a:off x="2008596" y="2364484"/>
            <a:ext cx="4602066" cy="26105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92165" name="Text Box 6"/>
          <p:cNvSpPr txBox="1">
            <a:spLocks noChangeArrowheads="1"/>
          </p:cNvSpPr>
          <p:nvPr/>
        </p:nvSpPr>
        <p:spPr bwMode="auto">
          <a:xfrm>
            <a:off x="432150" y="1976852"/>
            <a:ext cx="3525253" cy="300082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350" dirty="0"/>
              <a:t>Scale is accurate only along the standard line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02BB30-A513-4913-A493-0AE4D17EC639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4A66D0F-FD62-4D62-A1D7-F96AC05B44AE}"/>
              </a:ext>
            </a:extLst>
          </p:cNvPr>
          <p:cNvSpPr txBox="1">
            <a:spLocks/>
          </p:cNvSpPr>
          <p:nvPr/>
        </p:nvSpPr>
        <p:spPr>
          <a:xfrm>
            <a:off x="236278" y="168516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Scale</a:t>
            </a:r>
            <a:endParaRPr lang="en-US" sz="26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Rectangle 3"/>
          <p:cNvSpPr>
            <a:spLocks noGrp="1" noChangeArrowheads="1"/>
          </p:cNvSpPr>
          <p:nvPr>
            <p:ph idx="1"/>
          </p:nvPr>
        </p:nvSpPr>
        <p:spPr>
          <a:xfrm>
            <a:off x="33867" y="1003558"/>
            <a:ext cx="8077200" cy="3043882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The maximum distance value should always be round and easy to work with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Incorporate a unit of measure that is appropriate for the intended audience</a:t>
            </a:r>
          </a:p>
          <a:p>
            <a:pPr marL="765810" lvl="1" indent="-457200">
              <a:buFont typeface="Wingdings" panose="05000000000000000000" pitchFamily="2" charset="2"/>
              <a:buChar char="ü"/>
            </a:pPr>
            <a:r>
              <a:rPr lang="en-US" sz="2000" dirty="0"/>
              <a:t>Incorporate both miles and kilometers if necessary </a:t>
            </a:r>
          </a:p>
          <a:p>
            <a:pPr marL="765810" lvl="1" indent="-457200">
              <a:buFont typeface="Wingdings" panose="05000000000000000000" pitchFamily="2" charset="2"/>
              <a:buChar char="ü"/>
            </a:pPr>
            <a:r>
              <a:rPr lang="en-US" sz="2000" dirty="0"/>
              <a:t>Choose a unit of measure that is appropriate for the maximum value</a:t>
            </a:r>
          </a:p>
          <a:p>
            <a:pPr lvl="1" indent="-360045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044809-C523-4428-B06D-7BC522F5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94212" name="Picture 6" descr="Image showing sca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7884" y="3760981"/>
            <a:ext cx="2173129" cy="59686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94213" name="Picture 10" descr="Image showing scal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50209" y="4512815"/>
            <a:ext cx="3335774" cy="59150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</p:pic>
      <p:grpSp>
        <p:nvGrpSpPr>
          <p:cNvPr id="94214" name="Group 12" descr="Image showing scale"/>
          <p:cNvGrpSpPr>
            <a:grpSpLocks/>
          </p:cNvGrpSpPr>
          <p:nvPr/>
        </p:nvGrpSpPr>
        <p:grpSpPr bwMode="auto">
          <a:xfrm>
            <a:off x="2615029" y="3738294"/>
            <a:ext cx="3722608" cy="618292"/>
            <a:chOff x="1053" y="2822"/>
            <a:chExt cx="3474" cy="577"/>
          </a:xfrm>
        </p:grpSpPr>
        <p:pic>
          <p:nvPicPr>
            <p:cNvPr id="94215" name="Picture 8"/>
            <p:cNvPicPr>
              <a:picLocks noChangeAspect="1" noChangeArrowheads="1"/>
            </p:cNvPicPr>
            <p:nvPr/>
          </p:nvPicPr>
          <p:blipFill>
            <a:blip r:embed="rId4" cstate="print"/>
            <a:srcRect r="2866"/>
            <a:stretch>
              <a:fillRect/>
            </a:stretch>
          </p:blipFill>
          <p:spPr bwMode="auto">
            <a:xfrm>
              <a:off x="1053" y="2822"/>
              <a:ext cx="3458" cy="577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</p:spPr>
        </p:pic>
        <p:sp>
          <p:nvSpPr>
            <p:cNvPr id="94216" name="Rectangle 11"/>
            <p:cNvSpPr>
              <a:spLocks noChangeArrowheads="1"/>
            </p:cNvSpPr>
            <p:nvPr/>
          </p:nvSpPr>
          <p:spPr bwMode="auto">
            <a:xfrm>
              <a:off x="4355" y="2951"/>
              <a:ext cx="172" cy="261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 sz="1215"/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E29180A-36BA-4E43-98B2-CC03623A4B7D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B08AF1DA-6E76-4CC4-981F-A206239C865C}"/>
              </a:ext>
            </a:extLst>
          </p:cNvPr>
          <p:cNvSpPr txBox="1">
            <a:spLocks/>
          </p:cNvSpPr>
          <p:nvPr/>
        </p:nvSpPr>
        <p:spPr>
          <a:xfrm>
            <a:off x="237884" y="156106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Scale</a:t>
            </a:r>
            <a:endParaRPr lang="en-US" sz="26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Rectangle 3"/>
          <p:cNvSpPr>
            <a:spLocks noGrp="1" noChangeArrowheads="1"/>
          </p:cNvSpPr>
          <p:nvPr>
            <p:ph idx="1"/>
          </p:nvPr>
        </p:nvSpPr>
        <p:spPr>
          <a:xfrm>
            <a:off x="161535" y="922910"/>
            <a:ext cx="7906530" cy="288099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000" dirty="0"/>
              <a:t>The style of the bar scale should be simple and subtle; it should not attract attention</a:t>
            </a:r>
          </a:p>
          <a:p>
            <a:pPr marL="765810" lvl="1" indent="-457200">
              <a:buFont typeface="Wingdings" panose="05000000000000000000" pitchFamily="2" charset="2"/>
              <a:buChar char="ü"/>
            </a:pPr>
            <a:r>
              <a:rPr lang="en-US" sz="2000" dirty="0"/>
              <a:t>Bulky and complex designs should be avoided</a:t>
            </a:r>
          </a:p>
          <a:p>
            <a:pPr marL="765810" lvl="1" indent="-457200">
              <a:buFont typeface="Wingdings" panose="05000000000000000000" pitchFamily="2" charset="2"/>
              <a:buChar char="ü"/>
            </a:pPr>
            <a:r>
              <a:rPr lang="en-US" sz="2000" dirty="0"/>
              <a:t>Line weights should be thin and type should be among the smallest on a map</a:t>
            </a:r>
          </a:p>
          <a:p>
            <a:pPr marL="765810" lvl="1" indent="-457200">
              <a:buFont typeface="Wingdings" panose="05000000000000000000" pitchFamily="2" charset="2"/>
              <a:buChar char="ü"/>
            </a:pPr>
            <a:r>
              <a:rPr lang="en-US" sz="2000" dirty="0"/>
              <a:t>Avoid the use of bold and italic type styles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A0C38B-1D13-420D-B7B4-DEFB2F948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13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53C7D2-E673-4F0B-BC5D-966FD27C3E10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DB846AD2-ABA7-41FC-8500-DFD9254A2CEC}"/>
              </a:ext>
            </a:extLst>
          </p:cNvPr>
          <p:cNvSpPr txBox="1">
            <a:spLocks/>
          </p:cNvSpPr>
          <p:nvPr/>
        </p:nvSpPr>
        <p:spPr>
          <a:xfrm>
            <a:off x="170670" y="162396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Scale</a:t>
            </a:r>
            <a:endParaRPr lang="en-US" sz="26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Image showing sca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33111" y="1870098"/>
            <a:ext cx="2827200" cy="110236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6" name="Picture 6" descr="Image showing scal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33111" y="3186147"/>
            <a:ext cx="2827200" cy="151926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5581711" y="2247879"/>
            <a:ext cx="1545142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350" dirty="0"/>
              <a:t>Poorly Designed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5669787" y="3626302"/>
            <a:ext cx="1545141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350" dirty="0"/>
              <a:t>Well Designed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53C7D2-E673-4F0B-BC5D-966FD27C3E10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DB846AD2-ABA7-41FC-8500-DFD9254A2CEC}"/>
              </a:ext>
            </a:extLst>
          </p:cNvPr>
          <p:cNvSpPr txBox="1">
            <a:spLocks/>
          </p:cNvSpPr>
          <p:nvPr/>
        </p:nvSpPr>
        <p:spPr>
          <a:xfrm>
            <a:off x="152400" y="145648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Discussion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AA9ED1-190D-4313-9A86-4E4B0C8E1F06}"/>
              </a:ext>
            </a:extLst>
          </p:cNvPr>
          <p:cNvSpPr txBox="1"/>
          <p:nvPr/>
        </p:nvSpPr>
        <p:spPr>
          <a:xfrm>
            <a:off x="1476412" y="1133189"/>
            <a:ext cx="5671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Which group is better? And Why?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CDF850-DF0D-43B0-BE28-2E695A8BC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387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53C7D2-E673-4F0B-BC5D-966FD27C3E10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DB846AD2-ABA7-41FC-8500-DFD9254A2CEC}"/>
              </a:ext>
            </a:extLst>
          </p:cNvPr>
          <p:cNvSpPr txBox="1">
            <a:spLocks/>
          </p:cNvSpPr>
          <p:nvPr/>
        </p:nvSpPr>
        <p:spPr>
          <a:xfrm>
            <a:off x="310896" y="120918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Scale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CDF850-DF0D-43B0-BE28-2E695A8BC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1" name="Picture 10" descr="Image showing scale">
            <a:extLst>
              <a:ext uri="{FF2B5EF4-FFF2-40B4-BE49-F238E27FC236}">
                <a16:creationId xmlns:a16="http://schemas.microsoft.com/office/drawing/2014/main" id="{11C361CE-5153-4D51-AC75-3353FD4AA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847" y="2457529"/>
            <a:ext cx="5962214" cy="173724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2B40AEA-B1F8-4234-B92A-5ED951D05E30}"/>
              </a:ext>
            </a:extLst>
          </p:cNvPr>
          <p:cNvSpPr txBox="1"/>
          <p:nvPr/>
        </p:nvSpPr>
        <p:spPr>
          <a:xfrm>
            <a:off x="310896" y="1132529"/>
            <a:ext cx="676046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The compact form is more modern, the linear form is classic.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4204CCBE-E302-473B-9FF5-B2B33FDDD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049" y="4434618"/>
            <a:ext cx="974947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Peterson, 2021</a:t>
            </a:r>
          </a:p>
        </p:txBody>
      </p:sp>
    </p:spTree>
    <p:extLst>
      <p:ext uri="{BB962C8B-B14F-4D97-AF65-F5344CB8AC3E}">
        <p14:creationId xmlns:p14="http://schemas.microsoft.com/office/powerpoint/2010/main" val="252260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46651-FD7B-4AE3-1E90-4BFCCE95F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896" y="978168"/>
            <a:ext cx="7444990" cy="597408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Explore Scale in ArcGIS Pro</a:t>
            </a:r>
            <a:endParaRPr lang="zh-CN" alt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3507B-B38F-EB06-3C57-6F5287F46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5723FA5-4FB2-F35F-5A4B-37235F724902}"/>
              </a:ext>
            </a:extLst>
          </p:cNvPr>
          <p:cNvSpPr txBox="1">
            <a:spLocks/>
          </p:cNvSpPr>
          <p:nvPr/>
        </p:nvSpPr>
        <p:spPr>
          <a:xfrm>
            <a:off x="310896" y="120918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Scale</a:t>
            </a:r>
            <a:endParaRPr lang="en-US" sz="26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98474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3"/>
          <p:cNvSpPr>
            <a:spLocks noGrp="1" noChangeArrowheads="1"/>
          </p:cNvSpPr>
          <p:nvPr>
            <p:ph idx="1"/>
          </p:nvPr>
        </p:nvSpPr>
        <p:spPr>
          <a:xfrm>
            <a:off x="229883" y="1002892"/>
            <a:ext cx="7769833" cy="1795163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The indication of north on a map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Orientation can be indicated by a </a:t>
            </a:r>
          </a:p>
          <a:p>
            <a:pPr marL="765810" lvl="1" indent="-457200">
              <a:buFont typeface="Wingdings" panose="05000000000000000000" pitchFamily="2" charset="2"/>
              <a:buChar char="ü"/>
            </a:pPr>
            <a:r>
              <a:rPr lang="en-US" sz="1800" dirty="0"/>
              <a:t>North Arrow</a:t>
            </a:r>
          </a:p>
          <a:p>
            <a:pPr marL="765810" lvl="1" indent="-457200">
              <a:buFont typeface="Wingdings" panose="05000000000000000000" pitchFamily="2" charset="2"/>
              <a:buChar char="ü"/>
            </a:pPr>
            <a:r>
              <a:rPr lang="en-US" sz="1800" dirty="0"/>
              <a:t>Graticule (a system of grid lines, normally representing longitude and latitude)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9DA414-9F56-4B34-AB97-967FEE794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01380" name="Picture 4" descr="Image north arrow"/>
          <p:cNvPicPr>
            <a:picLocks noChangeAspect="1" noChangeArrowheads="1"/>
          </p:cNvPicPr>
          <p:nvPr/>
        </p:nvPicPr>
        <p:blipFill>
          <a:blip r:embed="rId2" cstate="print"/>
          <a:srcRect t="43307"/>
          <a:stretch>
            <a:fillRect/>
          </a:stretch>
        </p:blipFill>
        <p:spPr bwMode="auto">
          <a:xfrm>
            <a:off x="755610" y="2894529"/>
            <a:ext cx="2995882" cy="211562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FC04BC5-0C8E-4D54-8121-733EF7DAE27E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6E0DB97C-737D-46F0-B786-40C88C6FF285}"/>
              </a:ext>
            </a:extLst>
          </p:cNvPr>
          <p:cNvSpPr txBox="1">
            <a:spLocks/>
          </p:cNvSpPr>
          <p:nvPr/>
        </p:nvSpPr>
        <p:spPr>
          <a:xfrm>
            <a:off x="264695" y="15326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Orientation</a:t>
            </a:r>
            <a:endParaRPr lang="en-US" sz="2600" dirty="0">
              <a:solidFill>
                <a:srgbClr val="7030A0"/>
              </a:solidFill>
            </a:endParaRPr>
          </a:p>
        </p:txBody>
      </p:sp>
      <p:pic>
        <p:nvPicPr>
          <p:cNvPr id="2" name="Picture 5" descr="image showing graticule">
            <a:extLst>
              <a:ext uri="{FF2B5EF4-FFF2-40B4-BE49-F238E27FC236}">
                <a16:creationId xmlns:a16="http://schemas.microsoft.com/office/drawing/2014/main" id="{38458325-8C7D-4D95-8795-CBE3D70F0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t="6451" b="16319"/>
          <a:stretch>
            <a:fillRect/>
          </a:stretch>
        </p:blipFill>
        <p:spPr bwMode="auto">
          <a:xfrm>
            <a:off x="3968495" y="2894529"/>
            <a:ext cx="3694538" cy="2095709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50058"/>
            <a:ext cx="8001000" cy="1660204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000" dirty="0"/>
              <a:t>A north arrow is </a:t>
            </a:r>
            <a:r>
              <a:rPr lang="en-US" sz="2000" i="1" dirty="0"/>
              <a:t>not required </a:t>
            </a:r>
            <a:r>
              <a:rPr lang="en-US" sz="2000" dirty="0"/>
              <a:t>on </a:t>
            </a:r>
            <a:r>
              <a:rPr lang="en-US" sz="2000" i="1" dirty="0"/>
              <a:t>every</a:t>
            </a:r>
            <a:r>
              <a:rPr lang="en-US" sz="2000" dirty="0"/>
              <a:t> </a:t>
            </a:r>
            <a:r>
              <a:rPr lang="en-US" sz="2000" i="1" dirty="0"/>
              <a:t>map!</a:t>
            </a:r>
            <a:endParaRPr lang="en-US" sz="2000" dirty="0"/>
          </a:p>
          <a:p>
            <a:pPr marL="765810" lvl="1" indent="-457200">
              <a:buFont typeface="Wingdings" panose="05000000000000000000" pitchFamily="2" charset="2"/>
              <a:buChar char="ü"/>
            </a:pPr>
            <a:r>
              <a:rPr lang="en-US" sz="2000" dirty="0"/>
              <a:t>The orientation of maps with north at the top is a long-standing tradition</a:t>
            </a:r>
          </a:p>
          <a:p>
            <a:pPr marL="765810" lvl="1" indent="-457200">
              <a:buFont typeface="Wingdings" panose="05000000000000000000" pitchFamily="2" charset="2"/>
              <a:buChar char="ü"/>
            </a:pPr>
            <a:r>
              <a:rPr lang="en-US" sz="2000" dirty="0"/>
              <a:t>It is assumed that “north is at the top” of most modern maps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26050B-0F09-4AAB-9635-AA143F2B6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4" name="Picture 3" descr="Image showing map"/>
          <p:cNvPicPr preferRelativeResize="0"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62349" y="2637409"/>
            <a:ext cx="3304902" cy="2429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E201F0-833C-49A0-946A-0C4D0EB22CFE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0B114705-C7B4-48CF-9EE1-1B9F18DEC45B}"/>
              </a:ext>
            </a:extLst>
          </p:cNvPr>
          <p:cNvSpPr txBox="1">
            <a:spLocks/>
          </p:cNvSpPr>
          <p:nvPr/>
        </p:nvSpPr>
        <p:spPr>
          <a:xfrm>
            <a:off x="275168" y="184738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Orientation</a:t>
            </a:r>
            <a:endParaRPr lang="en-US" sz="26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3"/>
          <p:cNvSpPr>
            <a:spLocks noGrp="1" noChangeArrowheads="1"/>
          </p:cNvSpPr>
          <p:nvPr>
            <p:ph idx="1"/>
          </p:nvPr>
        </p:nvSpPr>
        <p:spPr>
          <a:xfrm>
            <a:off x="118533" y="922907"/>
            <a:ext cx="7870614" cy="1129282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000" dirty="0"/>
              <a:t>Include an indication of orientation if</a:t>
            </a:r>
          </a:p>
          <a:p>
            <a:pPr marL="765810" lvl="1" indent="-457200">
              <a:buFont typeface="Wingdings" panose="05000000000000000000" pitchFamily="2" charset="2"/>
              <a:buChar char="ü"/>
            </a:pPr>
            <a:r>
              <a:rPr lang="en-US" sz="2000" dirty="0"/>
              <a:t>The map is </a:t>
            </a:r>
            <a:r>
              <a:rPr lang="en-US" sz="2000" i="1" dirty="0"/>
              <a:t>not</a:t>
            </a:r>
            <a:r>
              <a:rPr lang="en-US" sz="2000" dirty="0"/>
              <a:t> oriented with geographic or “true” north at the top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35CE27-3B5A-4E49-88A9-85E7529FA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104452" name="Picture 4" descr="Image showing north arrow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18928" y="2052189"/>
            <a:ext cx="6191743" cy="255416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68EBF0-8402-40DC-936B-2C76407507E0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DF8E4202-E36F-4F6C-8DF9-AF284F37FDBA}"/>
              </a:ext>
            </a:extLst>
          </p:cNvPr>
          <p:cNvSpPr txBox="1">
            <a:spLocks/>
          </p:cNvSpPr>
          <p:nvPr/>
        </p:nvSpPr>
        <p:spPr>
          <a:xfrm>
            <a:off x="240453" y="171450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Orientation</a:t>
            </a:r>
            <a:endParaRPr lang="en-US" sz="26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Rectangle 4"/>
          <p:cNvSpPr>
            <a:spLocks noGrp="1" noChangeArrowheads="1"/>
          </p:cNvSpPr>
          <p:nvPr>
            <p:ph idx="1"/>
          </p:nvPr>
        </p:nvSpPr>
        <p:spPr>
          <a:xfrm>
            <a:off x="0" y="1028700"/>
            <a:ext cx="8077200" cy="1299972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000" dirty="0"/>
              <a:t>Include an indication of orientation if</a:t>
            </a:r>
          </a:p>
          <a:p>
            <a:pPr marL="765810" lvl="1" indent="-457200">
              <a:buFont typeface="Wingdings" panose="05000000000000000000" pitchFamily="2" charset="2"/>
              <a:buChar char="ü"/>
            </a:pPr>
            <a:r>
              <a:rPr lang="en-US" sz="2000" dirty="0"/>
              <a:t>Geographic features are oriented in a manner that might confuse the map user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772D49-202B-410D-9143-C6CD7390D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106500" name="Picture 5" descr="Image showing north arrow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64325" y="2434461"/>
            <a:ext cx="5777150" cy="238347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DC45D47-D9A4-425E-98E6-7A8DF523C3DA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C7AC46E4-4C2B-435A-A5F0-6BC6436863E1}"/>
              </a:ext>
            </a:extLst>
          </p:cNvPr>
          <p:cNvSpPr txBox="1">
            <a:spLocks/>
          </p:cNvSpPr>
          <p:nvPr/>
        </p:nvSpPr>
        <p:spPr>
          <a:xfrm>
            <a:off x="289221" y="183675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Orientation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B8A000-4339-FB78-1F80-6D8BCBE15667}"/>
              </a:ext>
            </a:extLst>
          </p:cNvPr>
          <p:cNvSpPr/>
          <p:nvPr/>
        </p:nvSpPr>
        <p:spPr>
          <a:xfrm>
            <a:off x="6895475" y="3567659"/>
            <a:ext cx="87134" cy="8619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004237"/>
            <a:ext cx="8119532" cy="177554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000" dirty="0"/>
              <a:t>A graticule indicates direction through the orientation of grid lines</a:t>
            </a:r>
          </a:p>
          <a:p>
            <a:pPr marL="765810" lvl="1" indent="-457200">
              <a:buFont typeface="Wingdings" panose="05000000000000000000" pitchFamily="2" charset="2"/>
              <a:buChar char="ü"/>
            </a:pPr>
            <a:r>
              <a:rPr lang="en-US" sz="2000" dirty="0"/>
              <a:t>Typically meridians that run north–south</a:t>
            </a:r>
          </a:p>
          <a:p>
            <a:pPr marL="765810" lvl="1" indent="-457200">
              <a:buFont typeface="Wingdings" panose="05000000000000000000" pitchFamily="2" charset="2"/>
              <a:buChar char="ü"/>
            </a:pPr>
            <a:r>
              <a:rPr lang="en-US" sz="2000" dirty="0"/>
              <a:t>The graticule can also provide positional information, such as latitude and longitude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9C320A-A619-44DE-BE54-77BF6DE99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107524" name="Picture 6" descr="Image showing north arrow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5818" y="2779777"/>
            <a:ext cx="5109094" cy="210464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12DB62C-9360-4AA9-A343-48B4125FB8A2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D8FAA60D-9ABF-4EF0-8A7F-015F34F11C64}"/>
              </a:ext>
            </a:extLst>
          </p:cNvPr>
          <p:cNvSpPr txBox="1">
            <a:spLocks/>
          </p:cNvSpPr>
          <p:nvPr/>
        </p:nvSpPr>
        <p:spPr>
          <a:xfrm>
            <a:off x="194732" y="146986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Orientation</a:t>
            </a:r>
            <a:endParaRPr lang="en-US" sz="26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>
          <a:xfrm>
            <a:off x="152401" y="1028701"/>
            <a:ext cx="8043332" cy="1177016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000" dirty="0"/>
              <a:t>Use caution when using north arrows on smaller scale map</a:t>
            </a:r>
          </a:p>
          <a:p>
            <a:pPr marL="765810" lvl="1" indent="-457200">
              <a:buFont typeface="Wingdings" panose="05000000000000000000" pitchFamily="2" charset="2"/>
              <a:buChar char="ü"/>
            </a:pPr>
            <a:r>
              <a:rPr lang="en-US" sz="2000" dirty="0"/>
              <a:t>The direction of north can differ greatly in the maps with azimuthal and conic projection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9CE1A-39DF-405B-A7F4-3CD746ED7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10854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39288" y="2637891"/>
            <a:ext cx="5433893" cy="2238494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</p:pic>
      <p:grpSp>
        <p:nvGrpSpPr>
          <p:cNvPr id="2" name="Group 8" descr="north arrrow"/>
          <p:cNvGrpSpPr>
            <a:grpSpLocks/>
          </p:cNvGrpSpPr>
          <p:nvPr/>
        </p:nvGrpSpPr>
        <p:grpSpPr bwMode="auto">
          <a:xfrm>
            <a:off x="4105669" y="3806966"/>
            <a:ext cx="319325" cy="829389"/>
            <a:chOff x="5345" y="836"/>
            <a:chExt cx="298" cy="774"/>
          </a:xfrm>
        </p:grpSpPr>
        <p:sp>
          <p:nvSpPr>
            <p:cNvPr id="108554" name="Rectangle 7"/>
            <p:cNvSpPr>
              <a:spLocks noChangeArrowheads="1"/>
            </p:cNvSpPr>
            <p:nvPr/>
          </p:nvSpPr>
          <p:spPr bwMode="auto">
            <a:xfrm>
              <a:off x="5419" y="1132"/>
              <a:ext cx="172" cy="261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 sz="1215"/>
            </a:p>
          </p:txBody>
        </p:sp>
        <p:sp>
          <p:nvSpPr>
            <p:cNvPr id="108555" name="Line 5"/>
            <p:cNvSpPr>
              <a:spLocks noChangeShapeType="1"/>
            </p:cNvSpPr>
            <p:nvPr/>
          </p:nvSpPr>
          <p:spPr bwMode="auto">
            <a:xfrm flipV="1">
              <a:off x="5472" y="1124"/>
              <a:ext cx="0" cy="4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</p:spPr>
          <p:txBody>
            <a:bodyPr>
              <a:spAutoFit/>
            </a:bodyPr>
            <a:lstStyle/>
            <a:p>
              <a:endParaRPr lang="en-US" sz="1215"/>
            </a:p>
          </p:txBody>
        </p:sp>
        <p:sp>
          <p:nvSpPr>
            <p:cNvPr id="108556" name="Rectangle 6"/>
            <p:cNvSpPr>
              <a:spLocks noChangeArrowheads="1"/>
            </p:cNvSpPr>
            <p:nvPr/>
          </p:nvSpPr>
          <p:spPr bwMode="auto">
            <a:xfrm>
              <a:off x="5345" y="836"/>
              <a:ext cx="298" cy="31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20"/>
                <a:t>N</a:t>
              </a:r>
            </a:p>
          </p:txBody>
        </p:sp>
      </p:grpSp>
      <p:grpSp>
        <p:nvGrpSpPr>
          <p:cNvPr id="3" name="Group 9" descr="north arrow"/>
          <p:cNvGrpSpPr>
            <a:grpSpLocks/>
          </p:cNvGrpSpPr>
          <p:nvPr/>
        </p:nvGrpSpPr>
        <p:grpSpPr bwMode="auto">
          <a:xfrm rot="-960000">
            <a:off x="6252266" y="2976567"/>
            <a:ext cx="319326" cy="846534"/>
            <a:chOff x="5324" y="820"/>
            <a:chExt cx="298" cy="790"/>
          </a:xfrm>
        </p:grpSpPr>
        <p:sp>
          <p:nvSpPr>
            <p:cNvPr id="108551" name="Rectangle 10"/>
            <p:cNvSpPr>
              <a:spLocks noChangeArrowheads="1"/>
            </p:cNvSpPr>
            <p:nvPr/>
          </p:nvSpPr>
          <p:spPr bwMode="auto">
            <a:xfrm>
              <a:off x="5391" y="1132"/>
              <a:ext cx="172" cy="261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 sz="1215"/>
            </a:p>
          </p:txBody>
        </p:sp>
        <p:sp>
          <p:nvSpPr>
            <p:cNvPr id="108552" name="Line 11"/>
            <p:cNvSpPr>
              <a:spLocks noChangeShapeType="1"/>
            </p:cNvSpPr>
            <p:nvPr/>
          </p:nvSpPr>
          <p:spPr bwMode="auto">
            <a:xfrm flipV="1">
              <a:off x="5472" y="1124"/>
              <a:ext cx="0" cy="4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</p:spPr>
          <p:txBody>
            <a:bodyPr>
              <a:spAutoFit/>
            </a:bodyPr>
            <a:lstStyle/>
            <a:p>
              <a:endParaRPr lang="en-US" sz="1215"/>
            </a:p>
          </p:txBody>
        </p:sp>
        <p:sp>
          <p:nvSpPr>
            <p:cNvPr id="108553" name="Rectangle 12"/>
            <p:cNvSpPr>
              <a:spLocks noChangeArrowheads="1"/>
            </p:cNvSpPr>
            <p:nvPr/>
          </p:nvSpPr>
          <p:spPr bwMode="auto">
            <a:xfrm>
              <a:off x="5324" y="820"/>
              <a:ext cx="298" cy="31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20"/>
                <a:t>N</a:t>
              </a:r>
            </a:p>
          </p:txBody>
        </p:sp>
      </p:grpSp>
      <p:grpSp>
        <p:nvGrpSpPr>
          <p:cNvPr id="13" name="Group 9" descr="north arrow"/>
          <p:cNvGrpSpPr>
            <a:grpSpLocks/>
          </p:cNvGrpSpPr>
          <p:nvPr/>
        </p:nvGrpSpPr>
        <p:grpSpPr bwMode="auto">
          <a:xfrm rot="900000">
            <a:off x="1946750" y="2967826"/>
            <a:ext cx="319326" cy="846534"/>
            <a:chOff x="5324" y="820"/>
            <a:chExt cx="298" cy="790"/>
          </a:xfrm>
        </p:grpSpPr>
        <p:sp>
          <p:nvSpPr>
            <p:cNvPr id="14" name="Rectangle 10"/>
            <p:cNvSpPr>
              <a:spLocks noChangeArrowheads="1"/>
            </p:cNvSpPr>
            <p:nvPr/>
          </p:nvSpPr>
          <p:spPr bwMode="auto">
            <a:xfrm>
              <a:off x="5391" y="1132"/>
              <a:ext cx="172" cy="261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 sz="1215"/>
            </a:p>
          </p:txBody>
        </p:sp>
        <p:sp>
          <p:nvSpPr>
            <p:cNvPr id="15" name="Line 11"/>
            <p:cNvSpPr>
              <a:spLocks noChangeShapeType="1"/>
            </p:cNvSpPr>
            <p:nvPr/>
          </p:nvSpPr>
          <p:spPr bwMode="auto">
            <a:xfrm flipV="1">
              <a:off x="5472" y="1124"/>
              <a:ext cx="0" cy="4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</p:spPr>
          <p:txBody>
            <a:bodyPr>
              <a:spAutoFit/>
            </a:bodyPr>
            <a:lstStyle/>
            <a:p>
              <a:endParaRPr lang="en-US" sz="1215"/>
            </a:p>
          </p:txBody>
        </p:sp>
        <p:sp>
          <p:nvSpPr>
            <p:cNvPr id="16" name="Rectangle 12"/>
            <p:cNvSpPr>
              <a:spLocks noChangeArrowheads="1"/>
            </p:cNvSpPr>
            <p:nvPr/>
          </p:nvSpPr>
          <p:spPr bwMode="auto">
            <a:xfrm>
              <a:off x="5324" y="820"/>
              <a:ext cx="298" cy="31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20"/>
                <a:t>N</a:t>
              </a:r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6ABBE66-6937-43C6-B8DB-A54BB3FB986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itle 1">
            <a:extLst>
              <a:ext uri="{FF2B5EF4-FFF2-40B4-BE49-F238E27FC236}">
                <a16:creationId xmlns:a16="http://schemas.microsoft.com/office/drawing/2014/main" id="{83D1248C-6660-4A8F-BAE8-7050C81FF3A9}"/>
              </a:ext>
            </a:extLst>
          </p:cNvPr>
          <p:cNvSpPr txBox="1">
            <a:spLocks/>
          </p:cNvSpPr>
          <p:nvPr/>
        </p:nvSpPr>
        <p:spPr>
          <a:xfrm>
            <a:off x="238518" y="162131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Orientation</a:t>
            </a:r>
            <a:endParaRPr lang="en-US" sz="26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028700"/>
            <a:ext cx="7808975" cy="934211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/>
                </a:solidFill>
              </a:rPr>
              <a:t>Use caution when using north arrows on smaller scale maps</a:t>
            </a:r>
          </a:p>
          <a:p>
            <a:pPr marL="765810" lvl="1" indent="-457200">
              <a:buFont typeface="Wingdings" panose="05000000000000000000" pitchFamily="2" charset="2"/>
              <a:buChar char="ü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TimesLTStd-Roman"/>
              </a:rPr>
              <a:t> Place the graticules beneath land masses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9CE1A-39DF-405B-A7F4-3CD746ED7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23</a:t>
            </a:fld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6ABBE66-6937-43C6-B8DB-A54BB3FB986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itle 1">
            <a:extLst>
              <a:ext uri="{FF2B5EF4-FFF2-40B4-BE49-F238E27FC236}">
                <a16:creationId xmlns:a16="http://schemas.microsoft.com/office/drawing/2014/main" id="{83D1248C-6660-4A8F-BAE8-7050C81FF3A9}"/>
              </a:ext>
            </a:extLst>
          </p:cNvPr>
          <p:cNvSpPr txBox="1">
            <a:spLocks/>
          </p:cNvSpPr>
          <p:nvPr/>
        </p:nvSpPr>
        <p:spPr>
          <a:xfrm>
            <a:off x="268225" y="230746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Orientation</a:t>
            </a:r>
            <a:endParaRPr lang="en-US" sz="2600" dirty="0">
              <a:solidFill>
                <a:srgbClr val="7030A0"/>
              </a:solidFill>
            </a:endParaRPr>
          </a:p>
        </p:txBody>
      </p:sp>
      <p:pic>
        <p:nvPicPr>
          <p:cNvPr id="6" name="Picture 5" descr="image showing graticules">
            <a:extLst>
              <a:ext uri="{FF2B5EF4-FFF2-40B4-BE49-F238E27FC236}">
                <a16:creationId xmlns:a16="http://schemas.microsoft.com/office/drawing/2014/main" id="{9A499126-A638-4173-9BBA-E6A1E23AE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1785732"/>
            <a:ext cx="3291840" cy="3189950"/>
          </a:xfrm>
          <a:prstGeom prst="rect">
            <a:avLst/>
          </a:prstGeom>
        </p:spPr>
      </p:pic>
      <p:sp>
        <p:nvSpPr>
          <p:cNvPr id="21" name="Rectangle 5">
            <a:extLst>
              <a:ext uri="{FF2B5EF4-FFF2-40B4-BE49-F238E27FC236}">
                <a16:creationId xmlns:a16="http://schemas.microsoft.com/office/drawing/2014/main" id="{FE26A2F9-0A8E-4562-88F7-58C72DBB0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049" y="4789643"/>
            <a:ext cx="974947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Peterson, 2021</a:t>
            </a:r>
          </a:p>
        </p:txBody>
      </p:sp>
    </p:spTree>
    <p:extLst>
      <p:ext uri="{BB962C8B-B14F-4D97-AF65-F5344CB8AC3E}">
        <p14:creationId xmlns:p14="http://schemas.microsoft.com/office/powerpoint/2010/main" val="12028331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1" name="Rectangle 3"/>
          <p:cNvSpPr>
            <a:spLocks noGrp="1" noChangeArrowheads="1"/>
          </p:cNvSpPr>
          <p:nvPr>
            <p:ph idx="1"/>
          </p:nvPr>
        </p:nvSpPr>
        <p:spPr>
          <a:xfrm>
            <a:off x="118533" y="1077767"/>
            <a:ext cx="7216140" cy="1958039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1600" dirty="0"/>
              <a:t>The style of the north arrow and graticule should be simple and subtle; they should not attract attention</a:t>
            </a:r>
          </a:p>
          <a:p>
            <a:pPr marL="765810" lvl="1" indent="-457200">
              <a:buFont typeface="Wingdings" panose="05000000000000000000" pitchFamily="2" charset="2"/>
              <a:buChar char="ü"/>
            </a:pPr>
            <a:r>
              <a:rPr lang="en-US" sz="1600" dirty="0"/>
              <a:t>Bulky and complex designs should be avoided</a:t>
            </a:r>
          </a:p>
          <a:p>
            <a:pPr marL="765810" lvl="1" indent="-457200">
              <a:buFont typeface="Wingdings" panose="05000000000000000000" pitchFamily="2" charset="2"/>
              <a:buChar char="ü"/>
            </a:pPr>
            <a:r>
              <a:rPr lang="en-US" sz="1600" dirty="0"/>
              <a:t>Line weights should be thin and type should be among the smallest on a map</a:t>
            </a:r>
          </a:p>
          <a:p>
            <a:pPr marL="765810" lvl="1" indent="-457200">
              <a:buFont typeface="Wingdings" panose="05000000000000000000" pitchFamily="2" charset="2"/>
              <a:buChar char="ü"/>
            </a:pPr>
            <a:r>
              <a:rPr lang="en-US" sz="1600" dirty="0"/>
              <a:t>Only north should be indicated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9C1FAA-6EE6-452A-AB02-7D22C365C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24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BBC47F8-FF19-4F97-B299-C3544DD779F2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67A8B44B-DB9B-42C8-A32E-31646D7A7C66}"/>
              </a:ext>
            </a:extLst>
          </p:cNvPr>
          <p:cNvSpPr txBox="1">
            <a:spLocks/>
          </p:cNvSpPr>
          <p:nvPr/>
        </p:nvSpPr>
        <p:spPr>
          <a:xfrm>
            <a:off x="386757" y="143090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Orientation</a:t>
            </a:r>
            <a:endParaRPr lang="en-US" sz="26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Image showing north arrow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55238" y="1763190"/>
            <a:ext cx="2522687" cy="1333154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6" name="Picture 6" descr="Image showing north arrow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55238" y="3299024"/>
            <a:ext cx="2522687" cy="1353004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5032527" y="2292876"/>
            <a:ext cx="209432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Poorly Designed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5032527" y="3825485"/>
            <a:ext cx="170107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Well Designed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BBC47F8-FF19-4F97-B299-C3544DD779F2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67A8B44B-DB9B-42C8-A32E-31646D7A7C66}"/>
              </a:ext>
            </a:extLst>
          </p:cNvPr>
          <p:cNvSpPr txBox="1">
            <a:spLocks/>
          </p:cNvSpPr>
          <p:nvPr/>
        </p:nvSpPr>
        <p:spPr>
          <a:xfrm>
            <a:off x="345288" y="186597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Discussion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89F82D-B266-461E-A63E-7C012ED57F9B}"/>
              </a:ext>
            </a:extLst>
          </p:cNvPr>
          <p:cNvSpPr txBox="1"/>
          <p:nvPr/>
        </p:nvSpPr>
        <p:spPr>
          <a:xfrm>
            <a:off x="1319389" y="1080356"/>
            <a:ext cx="54142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Which group is better? And Why?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466ED-368D-4DE3-9297-901CA4AE0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599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82000"/>
            <a:ext cx="8422104" cy="771525"/>
          </a:xfrm>
        </p:spPr>
        <p:txBody>
          <a:bodyPr>
            <a:noAutofit/>
          </a:bodyPr>
          <a:lstStyle/>
          <a:p>
            <a:pPr eaLnBrk="1" hangingPunct="1"/>
            <a:r>
              <a:rPr lang="en-US" sz="2800" dirty="0">
                <a:solidFill>
                  <a:srgbClr val="7030A0"/>
                </a:solidFill>
              </a:rPr>
              <a:t>RELATIVE TYPE SIZES FOR CERTAIN MAP ELEMENTS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idx="1"/>
          </p:nvPr>
        </p:nvSpPr>
        <p:spPr>
          <a:xfrm>
            <a:off x="141464" y="1113188"/>
            <a:ext cx="5328881" cy="3741896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 Sizes should decrease as follows</a:t>
            </a:r>
          </a:p>
          <a:p>
            <a:pPr marL="408105" lvl="1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Title</a:t>
            </a:r>
          </a:p>
          <a:p>
            <a:pPr marL="408105" lvl="1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Subtitle</a:t>
            </a:r>
          </a:p>
          <a:p>
            <a:pPr marL="408105" lvl="1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Legend Heading</a:t>
            </a:r>
          </a:p>
          <a:p>
            <a:pPr marL="408105" lvl="1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Legend Definitions</a:t>
            </a:r>
          </a:p>
          <a:p>
            <a:pPr marL="408105" lvl="1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Source, scale,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north arrow</a:t>
            </a:r>
          </a:p>
          <a:p>
            <a:pPr marL="411480" indent="-411480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CD85AA-BCCF-47AC-AEB3-E32898BE7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1026" name="Picture 2" descr="Image showing type siz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73561" y="1276495"/>
            <a:ext cx="2314575" cy="321847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 bwMode="auto">
          <a:xfrm>
            <a:off x="4791369" y="1580638"/>
            <a:ext cx="136501" cy="24929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1722" tIns="30861" rIns="61722" bIns="30861" numCol="1" rtlCol="0" anchor="t" anchorCtr="0" compatLnSpc="1">
            <a:prstTxWarp prst="textNoShape">
              <a:avLst/>
            </a:prstTxWarp>
            <a:spAutoFit/>
          </a:bodyPr>
          <a:lstStyle/>
          <a:p>
            <a:endParaRPr lang="en-US" sz="1215"/>
          </a:p>
        </p:txBody>
      </p:sp>
      <p:sp>
        <p:nvSpPr>
          <p:cNvPr id="7" name="Rectangle 6"/>
          <p:cNvSpPr/>
          <p:nvPr/>
        </p:nvSpPr>
        <p:spPr bwMode="auto">
          <a:xfrm>
            <a:off x="4783456" y="1954530"/>
            <a:ext cx="136501" cy="24929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1722" tIns="30861" rIns="61722" bIns="30861" numCol="1" rtlCol="0" anchor="t" anchorCtr="0" compatLnSpc="1">
            <a:prstTxWarp prst="textNoShape">
              <a:avLst/>
            </a:prstTxWarp>
            <a:spAutoFit/>
          </a:bodyPr>
          <a:lstStyle/>
          <a:p>
            <a:endParaRPr lang="en-US" sz="1215"/>
          </a:p>
        </p:txBody>
      </p:sp>
      <p:sp>
        <p:nvSpPr>
          <p:cNvPr id="8" name="Rectangle 7"/>
          <p:cNvSpPr/>
          <p:nvPr/>
        </p:nvSpPr>
        <p:spPr bwMode="auto">
          <a:xfrm>
            <a:off x="4783456" y="2314575"/>
            <a:ext cx="136501" cy="24929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1722" tIns="30861" rIns="61722" bIns="30861" numCol="1" rtlCol="0" anchor="t" anchorCtr="0" compatLnSpc="1">
            <a:prstTxWarp prst="textNoShape">
              <a:avLst/>
            </a:prstTxWarp>
            <a:spAutoFit/>
          </a:bodyPr>
          <a:lstStyle/>
          <a:p>
            <a:endParaRPr lang="en-US" sz="1215"/>
          </a:p>
        </p:txBody>
      </p:sp>
      <p:sp>
        <p:nvSpPr>
          <p:cNvPr id="9" name="Rectangle 8"/>
          <p:cNvSpPr/>
          <p:nvPr/>
        </p:nvSpPr>
        <p:spPr bwMode="auto">
          <a:xfrm>
            <a:off x="4783456" y="2777490"/>
            <a:ext cx="136501" cy="24929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1722" tIns="30861" rIns="61722" bIns="30861" numCol="1" rtlCol="0" anchor="t" anchorCtr="0" compatLnSpc="1">
            <a:prstTxWarp prst="textNoShape">
              <a:avLst/>
            </a:prstTxWarp>
            <a:spAutoFit/>
          </a:bodyPr>
          <a:lstStyle/>
          <a:p>
            <a:endParaRPr lang="en-US" sz="1215"/>
          </a:p>
        </p:txBody>
      </p:sp>
      <p:sp>
        <p:nvSpPr>
          <p:cNvPr id="10" name="Rectangle 9"/>
          <p:cNvSpPr/>
          <p:nvPr/>
        </p:nvSpPr>
        <p:spPr bwMode="auto">
          <a:xfrm>
            <a:off x="4783456" y="3394710"/>
            <a:ext cx="136501" cy="24929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1722" tIns="30861" rIns="61722" bIns="30861" numCol="1" rtlCol="0" anchor="t" anchorCtr="0" compatLnSpc="1">
            <a:prstTxWarp prst="textNoShape">
              <a:avLst/>
            </a:prstTxWarp>
            <a:spAutoFit/>
          </a:bodyPr>
          <a:lstStyle/>
          <a:p>
            <a:endParaRPr lang="en-US" sz="1215"/>
          </a:p>
        </p:txBody>
      </p:sp>
      <p:sp>
        <p:nvSpPr>
          <p:cNvPr id="2" name="Rectangle 1"/>
          <p:cNvSpPr/>
          <p:nvPr/>
        </p:nvSpPr>
        <p:spPr>
          <a:xfrm>
            <a:off x="2062936" y="4605711"/>
            <a:ext cx="5018133" cy="3831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90" b="1" dirty="0"/>
              <a:t>Use the same type family for ALL map elements!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6A15DC6-084A-4D47-92AD-A57C45B0D8F4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0" y="565785"/>
            <a:ext cx="2499741" cy="6412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8449" y="563384"/>
            <a:ext cx="2499741" cy="6652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3235" y="565785"/>
            <a:ext cx="2499741" cy="6172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1" y="2340066"/>
            <a:ext cx="7626779" cy="22532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39171204-6A50-40E1-B631-84CEDFC93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7175"/>
            <a:ext cx="8229600" cy="4629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C973F6-5187-412F-AACC-6E3FF8A6A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3999" y="592623"/>
            <a:ext cx="746661" cy="395532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11AE14F-1B7E-41E6-B579-2F71D1350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178" y="592621"/>
            <a:ext cx="6723707" cy="24826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8BAB5-C1DE-8DAD-E76F-BECA6F24C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258" y="735412"/>
            <a:ext cx="6492542" cy="2247787"/>
          </a:xfrm>
        </p:spPr>
        <p:txBody>
          <a:bodyPr vert="horz" lIns="61722" tIns="30861" rIns="61722" bIns="30861" rtlCol="0" anchor="ctr">
            <a:normAutofit/>
          </a:bodyPr>
          <a:lstStyle/>
          <a:p>
            <a:r>
              <a:rPr lang="en-US" sz="4050" dirty="0">
                <a:solidFill>
                  <a:srgbClr val="FFFFFF"/>
                </a:solidFill>
              </a:rPr>
              <a:t>7.2 </a:t>
            </a:r>
            <a:br>
              <a:rPr lang="en-US" sz="4050" dirty="0">
                <a:solidFill>
                  <a:srgbClr val="FFFFFF"/>
                </a:solidFill>
              </a:rPr>
            </a:br>
            <a:r>
              <a:rPr lang="en-US" sz="4050" dirty="0">
                <a:solidFill>
                  <a:srgbClr val="FFFFFF"/>
                </a:solidFill>
              </a:rPr>
              <a:t>Lab session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52BB805-F7B7-4B80-A1C5-385D4DAF7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133" y="3149018"/>
            <a:ext cx="6723753" cy="1398925"/>
          </a:xfrm>
          <a:prstGeom prst="rect">
            <a:avLst/>
          </a:prstGeom>
          <a:solidFill>
            <a:srgbClr val="6C7781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8424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FABBCE0-E08C-4BBE-9FD2-E2B253D4D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7176"/>
            <a:ext cx="8229600" cy="462914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0F975A-F937-77A1-413D-F51FF137F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417" y="865356"/>
            <a:ext cx="7444991" cy="462049"/>
          </a:xfrm>
        </p:spPr>
        <p:txBody>
          <a:bodyPr>
            <a:normAutofit/>
          </a:bodyPr>
          <a:lstStyle/>
          <a:p>
            <a:pPr algn="ctr">
              <a:spcBef>
                <a:spcPts val="0"/>
              </a:spcBef>
              <a:spcAft>
                <a:spcPts val="398"/>
              </a:spcAft>
            </a:pPr>
            <a:r>
              <a:rPr lang="en-US" sz="216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Lab 05: </a:t>
            </a:r>
            <a:r>
              <a:rPr lang="en-US" b="1" dirty="0"/>
              <a:t>standardization and classification</a:t>
            </a:r>
            <a:endParaRPr lang="en-US" sz="216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426BAC-43D6-468E-B6FF-167034D5C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0" y="565785"/>
            <a:ext cx="2499741" cy="64123"/>
          </a:xfrm>
          <a:prstGeom prst="rect">
            <a:avLst/>
          </a:prstGeom>
          <a:solidFill>
            <a:srgbClr val="60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617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02D80E-5995-4C54-8387-5893C2C89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3235" y="565785"/>
            <a:ext cx="2499741" cy="6172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617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6083C8-1401-4950-AF56-E2FAFE42D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8449" y="563384"/>
            <a:ext cx="2499741" cy="6652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617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1B7E67-130C-FD82-8132-74DBD62B80A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92192" y="1837730"/>
          <a:ext cx="7445216" cy="2574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827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2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1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4.xml><?xml version="1.0" encoding="utf-8"?>
<a:theme xmlns:a="http://schemas.openxmlformats.org/drawingml/2006/main" name="5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5.xml><?xml version="1.0" encoding="utf-8"?>
<a:theme xmlns:a="http://schemas.openxmlformats.org/drawingml/2006/main" name="6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Week04_GEOG2475_Tu</Template>
  <TotalTime>11089</TotalTime>
  <Words>793</Words>
  <Application>Microsoft Office PowerPoint</Application>
  <PresentationFormat>Custom</PresentationFormat>
  <Paragraphs>141</Paragraphs>
  <Slides>28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28</vt:i4>
      </vt:variant>
    </vt:vector>
  </HeadingPairs>
  <TitlesOfParts>
    <vt:vector size="40" baseType="lpstr">
      <vt:lpstr>TimesLTStd-Roman</vt:lpstr>
      <vt:lpstr>Arial Black</vt:lpstr>
      <vt:lpstr>Calibri</vt:lpstr>
      <vt:lpstr>Courier New</vt:lpstr>
      <vt:lpstr>Gill Sans MT</vt:lpstr>
      <vt:lpstr>Wingdings</vt:lpstr>
      <vt:lpstr>Wingdings 2</vt:lpstr>
      <vt:lpstr>2_DividendVTI</vt:lpstr>
      <vt:lpstr>DividendVTI</vt:lpstr>
      <vt:lpstr>1_DividendVTI</vt:lpstr>
      <vt:lpstr>5_DividendVTI</vt:lpstr>
      <vt:lpstr>6_DividendVTI</vt:lpstr>
      <vt:lpstr>Lecture 07  Map Elements  lecture</vt:lpstr>
      <vt:lpstr>7.1  MAP ELEMENTS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RELATIVE TYPE SIZES FOR CERTAIN MAP ELEMENTS</vt:lpstr>
      <vt:lpstr>7.2  Lab session</vt:lpstr>
      <vt:lpstr>Lab 05: standardization and classification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Geographic Field Techniques</dc:title>
  <dc:creator>Yaqian He</dc:creator>
  <cp:lastModifiedBy>Yanan Wu</cp:lastModifiedBy>
  <cp:revision>443</cp:revision>
  <dcterms:created xsi:type="dcterms:W3CDTF">2020-07-26T21:20:11Z</dcterms:created>
  <dcterms:modified xsi:type="dcterms:W3CDTF">2025-10-02T15:17:06Z</dcterms:modified>
</cp:coreProperties>
</file>