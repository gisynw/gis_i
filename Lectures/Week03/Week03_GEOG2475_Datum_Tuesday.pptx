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 id="2147483685" r:id="rId3"/>
  </p:sldMasterIdLst>
  <p:notesMasterIdLst>
    <p:notesMasterId r:id="rId55"/>
  </p:notesMasterIdLst>
  <p:sldIdLst>
    <p:sldId id="914" r:id="rId4"/>
    <p:sldId id="915" r:id="rId5"/>
    <p:sldId id="617" r:id="rId6"/>
    <p:sldId id="1651" r:id="rId7"/>
    <p:sldId id="605" r:id="rId8"/>
    <p:sldId id="281" r:id="rId9"/>
    <p:sldId id="619" r:id="rId10"/>
    <p:sldId id="1658" r:id="rId11"/>
    <p:sldId id="260" r:id="rId12"/>
    <p:sldId id="1655" r:id="rId13"/>
    <p:sldId id="1659" r:id="rId14"/>
    <p:sldId id="1660" r:id="rId15"/>
    <p:sldId id="604" r:id="rId16"/>
    <p:sldId id="1653" r:id="rId17"/>
    <p:sldId id="1661" r:id="rId18"/>
    <p:sldId id="1656" r:id="rId19"/>
    <p:sldId id="1657" r:id="rId20"/>
    <p:sldId id="1664" r:id="rId21"/>
    <p:sldId id="1663" r:id="rId22"/>
    <p:sldId id="653" r:id="rId23"/>
    <p:sldId id="1652" r:id="rId24"/>
    <p:sldId id="637" r:id="rId25"/>
    <p:sldId id="1662" r:id="rId26"/>
    <p:sldId id="916" r:id="rId27"/>
    <p:sldId id="918" r:id="rId28"/>
    <p:sldId id="919" r:id="rId29"/>
    <p:sldId id="620" r:id="rId30"/>
    <p:sldId id="638" r:id="rId31"/>
    <p:sldId id="923" r:id="rId32"/>
    <p:sldId id="917" r:id="rId33"/>
    <p:sldId id="920" r:id="rId34"/>
    <p:sldId id="921" r:id="rId35"/>
    <p:sldId id="288" r:id="rId36"/>
    <p:sldId id="1666" r:id="rId37"/>
    <p:sldId id="1667" r:id="rId38"/>
    <p:sldId id="922" r:id="rId39"/>
    <p:sldId id="1665" r:id="rId40"/>
    <p:sldId id="640" r:id="rId41"/>
    <p:sldId id="1650" r:id="rId42"/>
    <p:sldId id="296" r:id="rId43"/>
    <p:sldId id="608" r:id="rId44"/>
    <p:sldId id="622" r:id="rId45"/>
    <p:sldId id="609" r:id="rId46"/>
    <p:sldId id="297" r:id="rId47"/>
    <p:sldId id="611" r:id="rId48"/>
    <p:sldId id="623" r:id="rId49"/>
    <p:sldId id="299" r:id="rId50"/>
    <p:sldId id="924" r:id="rId51"/>
    <p:sldId id="295" r:id="rId52"/>
    <p:sldId id="1648" r:id="rId53"/>
    <p:sldId id="1649" r:id="rId54"/>
  </p:sldIdLst>
  <p:sldSz cx="8229600" cy="51435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77432" autoAdjust="0"/>
  </p:normalViewPr>
  <p:slideViewPr>
    <p:cSldViewPr snapToGrid="0" snapToObjects="1">
      <p:cViewPr varScale="1">
        <p:scale>
          <a:sx n="113" d="100"/>
          <a:sy n="113" d="100"/>
        </p:scale>
        <p:origin x="1908" y="96"/>
      </p:cViewPr>
      <p:guideLst>
        <p:guide orient="horz" pos="1620"/>
        <p:guide pos="2592"/>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notesMaster" Target="notesMasters/notesMaster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theme" Target="theme/theme1.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viewProps" Target="viewProp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s>
</file>

<file path=ppt/diagrams/_rels/data2.xml.rels><?xml version="1.0" encoding="UTF-8" standalone="yes"?>
<Relationships xmlns="http://schemas.openxmlformats.org/package/2006/relationships"><Relationship Id="rId2" Type="http://schemas.openxmlformats.org/officeDocument/2006/relationships/image" Target="../media/image36.svg"/><Relationship Id="rId1" Type="http://schemas.openxmlformats.org/officeDocument/2006/relationships/image" Target="../media/image35.svg"/></Relationships>
</file>

<file path=ppt/diagrams/_rels/drawing2.xml.rels><?xml version="1.0" encoding="UTF-8" standalone="yes"?>
<Relationships xmlns="http://schemas.openxmlformats.org/package/2006/relationships"><Relationship Id="rId2" Type="http://schemas.openxmlformats.org/officeDocument/2006/relationships/image" Target="../media/image36.svg"/><Relationship Id="rId1" Type="http://schemas.openxmlformats.org/officeDocument/2006/relationships/image" Target="../media/image35.svg"/></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35834EA-327D-45DD-98AB-07FE2DC7700D}" type="doc">
      <dgm:prSet loTypeId="urn:microsoft.com/office/officeart/2005/8/layout/vList2" loCatId="list" qsTypeId="urn:microsoft.com/office/officeart/2005/8/quickstyle/simple1#1" qsCatId="simple" csTypeId="urn:microsoft.com/office/officeart/2005/8/colors/accent1_2#1" csCatId="accent1" phldr="1"/>
      <dgm:spPr/>
      <dgm:t>
        <a:bodyPr/>
        <a:lstStyle/>
        <a:p>
          <a:endParaRPr lang="en-US"/>
        </a:p>
      </dgm:t>
    </dgm:pt>
    <dgm:pt modelId="{48FB469D-1A78-42B1-A58E-7A72D53631FC}">
      <dgm:prSet custT="1"/>
      <dgm:spPr/>
      <dgm:t>
        <a:bodyPr/>
        <a:lstStyle/>
        <a:p>
          <a:r>
            <a:rPr lang="en-US" sz="1800" dirty="0"/>
            <a:t>In geodesy, the geoid is an imaginary sea (mean sea level) that covers the entire Earth</a:t>
          </a:r>
        </a:p>
      </dgm:t>
    </dgm:pt>
    <dgm:pt modelId="{0372EF15-20EF-4398-8CCA-179783FAEE2A}" type="parTrans" cxnId="{D93FF82C-5CCD-4CCF-AA77-B252A4248F8A}">
      <dgm:prSet/>
      <dgm:spPr/>
      <dgm:t>
        <a:bodyPr/>
        <a:lstStyle/>
        <a:p>
          <a:endParaRPr lang="en-US"/>
        </a:p>
      </dgm:t>
    </dgm:pt>
    <dgm:pt modelId="{16A2E504-B63D-4959-9132-37DF9F61991C}" type="sibTrans" cxnId="{D93FF82C-5CCD-4CCF-AA77-B252A4248F8A}">
      <dgm:prSet/>
      <dgm:spPr/>
      <dgm:t>
        <a:bodyPr/>
        <a:lstStyle/>
        <a:p>
          <a:endParaRPr lang="en-US"/>
        </a:p>
      </dgm:t>
    </dgm:pt>
    <dgm:pt modelId="{74D99BED-F0EE-4C1E-83AA-904B30C44494}">
      <dgm:prSet custT="1"/>
      <dgm:spPr/>
      <dgm:t>
        <a:bodyPr/>
        <a:lstStyle/>
        <a:p>
          <a:r>
            <a:rPr lang="en-US" sz="1800" dirty="0"/>
            <a:t>It is not affected by wind, waves, the Moon, or forces other than Earth’s gravity. </a:t>
          </a:r>
        </a:p>
      </dgm:t>
    </dgm:pt>
    <dgm:pt modelId="{9D6A5FC4-6686-41F4-AE44-19FC36C9B09C}" type="parTrans" cxnId="{9557528C-F2D5-4B77-AE4C-96C485E4791A}">
      <dgm:prSet/>
      <dgm:spPr/>
      <dgm:t>
        <a:bodyPr/>
        <a:lstStyle/>
        <a:p>
          <a:endParaRPr lang="en-US"/>
        </a:p>
      </dgm:t>
    </dgm:pt>
    <dgm:pt modelId="{EAA11220-777B-4B22-9E15-25F09C8809C5}" type="sibTrans" cxnId="{9557528C-F2D5-4B77-AE4C-96C485E4791A}">
      <dgm:prSet/>
      <dgm:spPr/>
      <dgm:t>
        <a:bodyPr/>
        <a:lstStyle/>
        <a:p>
          <a:endParaRPr lang="en-US"/>
        </a:p>
      </dgm:t>
    </dgm:pt>
    <dgm:pt modelId="{6AF72455-B734-4FFF-B381-E4BD42AE18BA}">
      <dgm:prSet phldrT="[Text]" custT="1"/>
      <dgm:spPr/>
      <dgm:t>
        <a:bodyPr/>
        <a:lstStyle/>
        <a:p>
          <a:pPr>
            <a:buNone/>
          </a:pPr>
          <a:r>
            <a:rPr lang="en-US" sz="1800" b="0" dirty="0"/>
            <a:t>The geoid is a gravity-based model of global mean sea level.</a:t>
          </a:r>
          <a:br>
            <a:rPr lang="en-US" sz="1800" dirty="0"/>
          </a:br>
          <a:r>
            <a:rPr lang="en-US" sz="1800" dirty="0"/>
            <a:t>It provides a reference surface for measuring elevation.</a:t>
          </a:r>
        </a:p>
      </dgm:t>
    </dgm:pt>
    <dgm:pt modelId="{01AB7573-077B-4482-B32B-FDFDBBEC40CA}" type="parTrans" cxnId="{3788F6C8-6DC6-4FA5-8CA7-7472627B7BC6}">
      <dgm:prSet/>
      <dgm:spPr/>
      <dgm:t>
        <a:bodyPr/>
        <a:lstStyle/>
        <a:p>
          <a:endParaRPr lang="en-US"/>
        </a:p>
      </dgm:t>
    </dgm:pt>
    <dgm:pt modelId="{AD6AA066-45A7-41E0-A40D-6777F65FBB6D}" type="sibTrans" cxnId="{3788F6C8-6DC6-4FA5-8CA7-7472627B7BC6}">
      <dgm:prSet/>
      <dgm:spPr/>
      <dgm:t>
        <a:bodyPr/>
        <a:lstStyle/>
        <a:p>
          <a:endParaRPr lang="en-US"/>
        </a:p>
      </dgm:t>
    </dgm:pt>
    <dgm:pt modelId="{2722C20B-E4A0-4060-83C2-C2780A959189}" type="pres">
      <dgm:prSet presAssocID="{135834EA-327D-45DD-98AB-07FE2DC7700D}" presName="linear" presStyleCnt="0">
        <dgm:presLayoutVars>
          <dgm:animLvl val="lvl"/>
          <dgm:resizeHandles val="exact"/>
        </dgm:presLayoutVars>
      </dgm:prSet>
      <dgm:spPr/>
    </dgm:pt>
    <dgm:pt modelId="{72651F47-2E3D-48D3-A8C3-C7C5FD7AA023}" type="pres">
      <dgm:prSet presAssocID="{48FB469D-1A78-42B1-A58E-7A72D53631FC}" presName="parentText" presStyleLbl="node1" presStyleIdx="0" presStyleCnt="3">
        <dgm:presLayoutVars>
          <dgm:chMax val="0"/>
          <dgm:bulletEnabled val="1"/>
        </dgm:presLayoutVars>
      </dgm:prSet>
      <dgm:spPr/>
    </dgm:pt>
    <dgm:pt modelId="{4204E0B9-2EE3-4606-BB7A-545E4E5E4E72}" type="pres">
      <dgm:prSet presAssocID="{16A2E504-B63D-4959-9132-37DF9F61991C}" presName="spacer" presStyleCnt="0"/>
      <dgm:spPr/>
    </dgm:pt>
    <dgm:pt modelId="{79BF11A6-FC7E-4A9F-BE12-DF944A6D0F75}" type="pres">
      <dgm:prSet presAssocID="{74D99BED-F0EE-4C1E-83AA-904B30C44494}" presName="parentText" presStyleLbl="node1" presStyleIdx="1" presStyleCnt="3">
        <dgm:presLayoutVars>
          <dgm:chMax val="0"/>
          <dgm:bulletEnabled val="1"/>
        </dgm:presLayoutVars>
      </dgm:prSet>
      <dgm:spPr/>
    </dgm:pt>
    <dgm:pt modelId="{2575249E-BD5B-4D92-A913-956AEA02A377}" type="pres">
      <dgm:prSet presAssocID="{EAA11220-777B-4B22-9E15-25F09C8809C5}" presName="spacer" presStyleCnt="0"/>
      <dgm:spPr/>
    </dgm:pt>
    <dgm:pt modelId="{45060F6A-271C-4D2C-A7D3-40F5931FFE96}" type="pres">
      <dgm:prSet presAssocID="{6AF72455-B734-4FFF-B381-E4BD42AE18BA}" presName="parentText" presStyleLbl="node1" presStyleIdx="2" presStyleCnt="3">
        <dgm:presLayoutVars>
          <dgm:chMax val="0"/>
          <dgm:bulletEnabled val="1"/>
        </dgm:presLayoutVars>
      </dgm:prSet>
      <dgm:spPr/>
    </dgm:pt>
  </dgm:ptLst>
  <dgm:cxnLst>
    <dgm:cxn modelId="{ED504608-C72F-417A-A056-83FB6CFCB56F}" type="presOf" srcId="{74D99BED-F0EE-4C1E-83AA-904B30C44494}" destId="{79BF11A6-FC7E-4A9F-BE12-DF944A6D0F75}" srcOrd="0" destOrd="0" presId="urn:microsoft.com/office/officeart/2005/8/layout/vList2"/>
    <dgm:cxn modelId="{D93FF82C-5CCD-4CCF-AA77-B252A4248F8A}" srcId="{135834EA-327D-45DD-98AB-07FE2DC7700D}" destId="{48FB469D-1A78-42B1-A58E-7A72D53631FC}" srcOrd="0" destOrd="0" parTransId="{0372EF15-20EF-4398-8CCA-179783FAEE2A}" sibTransId="{16A2E504-B63D-4959-9132-37DF9F61991C}"/>
    <dgm:cxn modelId="{C4BBB169-6417-46CD-B3A7-84027C88C8C8}" type="presOf" srcId="{48FB469D-1A78-42B1-A58E-7A72D53631FC}" destId="{72651F47-2E3D-48D3-A8C3-C7C5FD7AA023}" srcOrd="0" destOrd="0" presId="urn:microsoft.com/office/officeart/2005/8/layout/vList2"/>
    <dgm:cxn modelId="{9557528C-F2D5-4B77-AE4C-96C485E4791A}" srcId="{135834EA-327D-45DD-98AB-07FE2DC7700D}" destId="{74D99BED-F0EE-4C1E-83AA-904B30C44494}" srcOrd="1" destOrd="0" parTransId="{9D6A5FC4-6686-41F4-AE44-19FC36C9B09C}" sibTransId="{EAA11220-777B-4B22-9E15-25F09C8809C5}"/>
    <dgm:cxn modelId="{DA8F798D-0DAB-4E5A-9EC7-117B5278C727}" type="presOf" srcId="{135834EA-327D-45DD-98AB-07FE2DC7700D}" destId="{2722C20B-E4A0-4060-83C2-C2780A959189}" srcOrd="0" destOrd="0" presId="urn:microsoft.com/office/officeart/2005/8/layout/vList2"/>
    <dgm:cxn modelId="{C027A79D-6CB3-4EE8-AAF6-8D7F36AD9CE2}" type="presOf" srcId="{6AF72455-B734-4FFF-B381-E4BD42AE18BA}" destId="{45060F6A-271C-4D2C-A7D3-40F5931FFE96}" srcOrd="0" destOrd="0" presId="urn:microsoft.com/office/officeart/2005/8/layout/vList2"/>
    <dgm:cxn modelId="{3788F6C8-6DC6-4FA5-8CA7-7472627B7BC6}" srcId="{135834EA-327D-45DD-98AB-07FE2DC7700D}" destId="{6AF72455-B734-4FFF-B381-E4BD42AE18BA}" srcOrd="2" destOrd="0" parTransId="{01AB7573-077B-4482-B32B-FDFDBBEC40CA}" sibTransId="{AD6AA066-45A7-41E0-A40D-6777F65FBB6D}"/>
    <dgm:cxn modelId="{44001BFE-951A-4251-B683-87BD85452FFF}" type="presParOf" srcId="{2722C20B-E4A0-4060-83C2-C2780A959189}" destId="{72651F47-2E3D-48D3-A8C3-C7C5FD7AA023}" srcOrd="0" destOrd="0" presId="urn:microsoft.com/office/officeart/2005/8/layout/vList2"/>
    <dgm:cxn modelId="{8580A17E-F451-4BC3-AA5C-D1B63A6361EF}" type="presParOf" srcId="{2722C20B-E4A0-4060-83C2-C2780A959189}" destId="{4204E0B9-2EE3-4606-BB7A-545E4E5E4E72}" srcOrd="1" destOrd="0" presId="urn:microsoft.com/office/officeart/2005/8/layout/vList2"/>
    <dgm:cxn modelId="{C78B2C13-BE40-4723-A5D1-799D242D954F}" type="presParOf" srcId="{2722C20B-E4A0-4060-83C2-C2780A959189}" destId="{79BF11A6-FC7E-4A9F-BE12-DF944A6D0F75}" srcOrd="2" destOrd="0" presId="urn:microsoft.com/office/officeart/2005/8/layout/vList2"/>
    <dgm:cxn modelId="{784EBF93-1D44-426F-A84E-280793ED73BF}" type="presParOf" srcId="{2722C20B-E4A0-4060-83C2-C2780A959189}" destId="{2575249E-BD5B-4D92-A913-956AEA02A377}" srcOrd="3" destOrd="0" presId="urn:microsoft.com/office/officeart/2005/8/layout/vList2"/>
    <dgm:cxn modelId="{129E7F54-BDAB-402B-A27B-B7EA3271D811}" type="presParOf" srcId="{2722C20B-E4A0-4060-83C2-C2780A959189}" destId="{45060F6A-271C-4D2C-A7D3-40F5931FFE96}"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45DC5F4-D431-4A87-93B0-BBE05B35CCB1}" type="doc">
      <dgm:prSet loTypeId="urn:microsoft.com/office/officeart/2018/5/layout/IconLeafLabelList" loCatId="icon" qsTypeId="urn:microsoft.com/office/officeart/2005/8/quickstyle/simple1#2" qsCatId="simple" csTypeId="urn:microsoft.com/office/officeart/2018/5/colors/Iconchunking_neutralicon_colorful1" csCatId="colorful" phldr="1"/>
      <dgm:spPr/>
      <dgm:t>
        <a:bodyPr/>
        <a:lstStyle/>
        <a:p>
          <a:endParaRPr lang="en-US"/>
        </a:p>
      </dgm:t>
    </dgm:pt>
    <dgm:pt modelId="{54983E92-0B7C-43A8-8C1F-984B0DFA982E}">
      <dgm:prSet custT="1"/>
      <dgm:spPr/>
      <dgm:t>
        <a:bodyPr/>
        <a:lstStyle/>
        <a:p>
          <a:pPr>
            <a:defRPr cap="all"/>
          </a:pPr>
          <a:r>
            <a:rPr lang="en-US" sz="1800" dirty="0"/>
            <a:t>Due by Midnight </a:t>
          </a:r>
          <a:r>
            <a:rPr lang="en-US" sz="1800" dirty="0">
              <a:solidFill>
                <a:srgbClr val="C00000"/>
              </a:solidFill>
            </a:rPr>
            <a:t>(11:59 pm) on Monday, Sep 8, 2025</a:t>
          </a:r>
        </a:p>
      </dgm:t>
    </dgm:pt>
    <dgm:pt modelId="{47D3E5B5-E005-481D-9366-7FFA245A3F46}" type="parTrans" cxnId="{7E7C886D-A667-496F-8DDE-1B718561DB03}">
      <dgm:prSet/>
      <dgm:spPr/>
      <dgm:t>
        <a:bodyPr/>
        <a:lstStyle/>
        <a:p>
          <a:endParaRPr lang="en-US"/>
        </a:p>
      </dgm:t>
    </dgm:pt>
    <dgm:pt modelId="{9E0C94DC-193A-41FC-B82A-2A43E45C8107}" type="sibTrans" cxnId="{7E7C886D-A667-496F-8DDE-1B718561DB03}">
      <dgm:prSet/>
      <dgm:spPr/>
      <dgm:t>
        <a:bodyPr/>
        <a:lstStyle/>
        <a:p>
          <a:endParaRPr lang="en-US"/>
        </a:p>
      </dgm:t>
    </dgm:pt>
    <dgm:pt modelId="{A6242D37-AF81-4A91-9692-C3B78C4C080A}">
      <dgm:prSet custT="1"/>
      <dgm:spPr/>
      <dgm:t>
        <a:bodyPr/>
        <a:lstStyle/>
        <a:p>
          <a:pPr>
            <a:defRPr cap="all"/>
          </a:pPr>
          <a:r>
            <a:rPr lang="en-US" sz="1800" dirty="0"/>
            <a:t>Submit a word document only include </a:t>
          </a:r>
          <a:r>
            <a:rPr lang="en-US" sz="1800" dirty="0">
              <a:solidFill>
                <a:srgbClr val="C00000"/>
              </a:solidFill>
            </a:rPr>
            <a:t>question and answer</a:t>
          </a:r>
        </a:p>
      </dgm:t>
    </dgm:pt>
    <dgm:pt modelId="{A1582085-1655-4316-B7FE-C167B01E3451}" type="parTrans" cxnId="{0F5369C5-3BD8-41EC-82BC-B46BD7C285F5}">
      <dgm:prSet/>
      <dgm:spPr/>
      <dgm:t>
        <a:bodyPr/>
        <a:lstStyle/>
        <a:p>
          <a:endParaRPr lang="en-US"/>
        </a:p>
      </dgm:t>
    </dgm:pt>
    <dgm:pt modelId="{487527DA-4CA7-40A4-8E27-547430E84424}" type="sibTrans" cxnId="{0F5369C5-3BD8-41EC-82BC-B46BD7C285F5}">
      <dgm:prSet/>
      <dgm:spPr/>
      <dgm:t>
        <a:bodyPr/>
        <a:lstStyle/>
        <a:p>
          <a:endParaRPr lang="en-US"/>
        </a:p>
      </dgm:t>
    </dgm:pt>
    <dgm:pt modelId="{1CF3E5B1-FB46-4446-95BF-0E7408D9C151}" type="pres">
      <dgm:prSet presAssocID="{545DC5F4-D431-4A87-93B0-BBE05B35CCB1}" presName="root" presStyleCnt="0">
        <dgm:presLayoutVars>
          <dgm:dir/>
          <dgm:resizeHandles val="exact"/>
        </dgm:presLayoutVars>
      </dgm:prSet>
      <dgm:spPr/>
    </dgm:pt>
    <dgm:pt modelId="{BE3E81CB-7E93-484B-AE32-12C58B09BCE0}" type="pres">
      <dgm:prSet presAssocID="{54983E92-0B7C-43A8-8C1F-984B0DFA982E}" presName="compNode" presStyleCnt="0"/>
      <dgm:spPr/>
    </dgm:pt>
    <dgm:pt modelId="{D2D6216C-9B23-402E-A942-468E0F624F5B}" type="pres">
      <dgm:prSet presAssocID="{54983E92-0B7C-43A8-8C1F-984B0DFA982E}" presName="iconBgRect" presStyleLbl="bgShp" presStyleIdx="0" presStyleCnt="2"/>
      <dgm:spPr>
        <a:prstGeom prst="round2DiagRect">
          <a:avLst>
            <a:gd name="adj1" fmla="val 29727"/>
            <a:gd name="adj2" fmla="val 0"/>
          </a:avLst>
        </a:prstGeom>
      </dgm:spPr>
    </dgm:pt>
    <dgm:pt modelId="{F943F739-4EBC-47A7-A14C-25327E72C0F2}" type="pres">
      <dgm:prSet presAssocID="{54983E92-0B7C-43A8-8C1F-984B0DFA982E}"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Alarm Clock"/>
        </a:ext>
      </dgm:extLst>
    </dgm:pt>
    <dgm:pt modelId="{3085FCD0-B526-4BA1-831E-148271EBCA71}" type="pres">
      <dgm:prSet presAssocID="{54983E92-0B7C-43A8-8C1F-984B0DFA982E}" presName="spaceRect" presStyleCnt="0"/>
      <dgm:spPr/>
    </dgm:pt>
    <dgm:pt modelId="{4E513C3D-9C85-4581-9570-C87158EE7A8E}" type="pres">
      <dgm:prSet presAssocID="{54983E92-0B7C-43A8-8C1F-984B0DFA982E}" presName="textRect" presStyleLbl="revTx" presStyleIdx="0" presStyleCnt="2" custScaleX="140708">
        <dgm:presLayoutVars>
          <dgm:chMax val="1"/>
          <dgm:chPref val="1"/>
        </dgm:presLayoutVars>
      </dgm:prSet>
      <dgm:spPr/>
    </dgm:pt>
    <dgm:pt modelId="{00D865C2-7AA1-4413-870A-557561F6A99D}" type="pres">
      <dgm:prSet presAssocID="{9E0C94DC-193A-41FC-B82A-2A43E45C8107}" presName="sibTrans" presStyleCnt="0"/>
      <dgm:spPr/>
    </dgm:pt>
    <dgm:pt modelId="{0444C821-AE95-419C-A2C2-10FD435B3E72}" type="pres">
      <dgm:prSet presAssocID="{A6242D37-AF81-4A91-9692-C3B78C4C080A}" presName="compNode" presStyleCnt="0"/>
      <dgm:spPr/>
    </dgm:pt>
    <dgm:pt modelId="{C1C41DF5-156F-4AFD-8177-5E65296E36DA}" type="pres">
      <dgm:prSet presAssocID="{A6242D37-AF81-4A91-9692-C3B78C4C080A}" presName="iconBgRect" presStyleLbl="bgShp" presStyleIdx="1" presStyleCnt="2"/>
      <dgm:spPr>
        <a:prstGeom prst="round2DiagRect">
          <a:avLst>
            <a:gd name="adj1" fmla="val 29727"/>
            <a:gd name="adj2" fmla="val 0"/>
          </a:avLst>
        </a:prstGeom>
      </dgm:spPr>
    </dgm:pt>
    <dgm:pt modelId="{BCD05D74-D5AE-459F-A6DF-06E0D3F03A72}" type="pres">
      <dgm:prSet presAssocID="{A6242D37-AF81-4A91-9692-C3B78C4C080A}"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2AB5314E-660E-4ED1-846B-8434948EF46B}" type="pres">
      <dgm:prSet presAssocID="{A6242D37-AF81-4A91-9692-C3B78C4C080A}" presName="spaceRect" presStyleCnt="0"/>
      <dgm:spPr/>
    </dgm:pt>
    <dgm:pt modelId="{A3838D15-85D1-4048-B20D-9009920800B0}" type="pres">
      <dgm:prSet presAssocID="{A6242D37-AF81-4A91-9692-C3B78C4C080A}" presName="textRect" presStyleLbl="revTx" presStyleIdx="1" presStyleCnt="2" custScaleX="147657">
        <dgm:presLayoutVars>
          <dgm:chMax val="1"/>
          <dgm:chPref val="1"/>
        </dgm:presLayoutVars>
      </dgm:prSet>
      <dgm:spPr/>
    </dgm:pt>
  </dgm:ptLst>
  <dgm:cxnLst>
    <dgm:cxn modelId="{34AD3E24-5AE2-4091-998E-71D41F9CDB89}" type="presOf" srcId="{A6242D37-AF81-4A91-9692-C3B78C4C080A}" destId="{A3838D15-85D1-4048-B20D-9009920800B0}" srcOrd="0" destOrd="0" presId="urn:microsoft.com/office/officeart/2018/5/layout/IconLeafLabelList"/>
    <dgm:cxn modelId="{7E7C886D-A667-496F-8DDE-1B718561DB03}" srcId="{545DC5F4-D431-4A87-93B0-BBE05B35CCB1}" destId="{54983E92-0B7C-43A8-8C1F-984B0DFA982E}" srcOrd="0" destOrd="0" parTransId="{47D3E5B5-E005-481D-9366-7FFA245A3F46}" sibTransId="{9E0C94DC-193A-41FC-B82A-2A43E45C8107}"/>
    <dgm:cxn modelId="{B47C2F55-9A4B-4FFB-AA38-9C2574693CD4}" type="presOf" srcId="{54983E92-0B7C-43A8-8C1F-984B0DFA982E}" destId="{4E513C3D-9C85-4581-9570-C87158EE7A8E}" srcOrd="0" destOrd="0" presId="urn:microsoft.com/office/officeart/2018/5/layout/IconLeafLabelList"/>
    <dgm:cxn modelId="{53CEBE9C-EA76-48A8-8DF7-6953575A9C37}" type="presOf" srcId="{545DC5F4-D431-4A87-93B0-BBE05B35CCB1}" destId="{1CF3E5B1-FB46-4446-95BF-0E7408D9C151}" srcOrd="0" destOrd="0" presId="urn:microsoft.com/office/officeart/2018/5/layout/IconLeafLabelList"/>
    <dgm:cxn modelId="{0F5369C5-3BD8-41EC-82BC-B46BD7C285F5}" srcId="{545DC5F4-D431-4A87-93B0-BBE05B35CCB1}" destId="{A6242D37-AF81-4A91-9692-C3B78C4C080A}" srcOrd="1" destOrd="0" parTransId="{A1582085-1655-4316-B7FE-C167B01E3451}" sibTransId="{487527DA-4CA7-40A4-8E27-547430E84424}"/>
    <dgm:cxn modelId="{5C6FCB9C-3574-4EF1-979B-C82FE21FC231}" type="presParOf" srcId="{1CF3E5B1-FB46-4446-95BF-0E7408D9C151}" destId="{BE3E81CB-7E93-484B-AE32-12C58B09BCE0}" srcOrd="0" destOrd="0" presId="urn:microsoft.com/office/officeart/2018/5/layout/IconLeafLabelList"/>
    <dgm:cxn modelId="{3BEBC4B0-3768-4D30-9883-ED03B1BB2AA3}" type="presParOf" srcId="{BE3E81CB-7E93-484B-AE32-12C58B09BCE0}" destId="{D2D6216C-9B23-402E-A942-468E0F624F5B}" srcOrd="0" destOrd="0" presId="urn:microsoft.com/office/officeart/2018/5/layout/IconLeafLabelList"/>
    <dgm:cxn modelId="{9334B4F2-C5A7-478D-8C83-6B6B78937527}" type="presParOf" srcId="{BE3E81CB-7E93-484B-AE32-12C58B09BCE0}" destId="{F943F739-4EBC-47A7-A14C-25327E72C0F2}" srcOrd="1" destOrd="0" presId="urn:microsoft.com/office/officeart/2018/5/layout/IconLeafLabelList"/>
    <dgm:cxn modelId="{722E4463-BB96-47A5-B05B-8394250686DE}" type="presParOf" srcId="{BE3E81CB-7E93-484B-AE32-12C58B09BCE0}" destId="{3085FCD0-B526-4BA1-831E-148271EBCA71}" srcOrd="2" destOrd="0" presId="urn:microsoft.com/office/officeart/2018/5/layout/IconLeafLabelList"/>
    <dgm:cxn modelId="{4DDDB5E8-1F23-4A78-9605-45AAF5833E68}" type="presParOf" srcId="{BE3E81CB-7E93-484B-AE32-12C58B09BCE0}" destId="{4E513C3D-9C85-4581-9570-C87158EE7A8E}" srcOrd="3" destOrd="0" presId="urn:microsoft.com/office/officeart/2018/5/layout/IconLeafLabelList"/>
    <dgm:cxn modelId="{123D8173-4B78-41DB-B068-2BA15E016A23}" type="presParOf" srcId="{1CF3E5B1-FB46-4446-95BF-0E7408D9C151}" destId="{00D865C2-7AA1-4413-870A-557561F6A99D}" srcOrd="1" destOrd="0" presId="urn:microsoft.com/office/officeart/2018/5/layout/IconLeafLabelList"/>
    <dgm:cxn modelId="{E92967F1-54D1-402B-9BE3-03FB7BECA8E6}" type="presParOf" srcId="{1CF3E5B1-FB46-4446-95BF-0E7408D9C151}" destId="{0444C821-AE95-419C-A2C2-10FD435B3E72}" srcOrd="2" destOrd="0" presId="urn:microsoft.com/office/officeart/2018/5/layout/IconLeafLabelList"/>
    <dgm:cxn modelId="{6A34589F-98DC-49A5-B284-AB8B04E10F1B}" type="presParOf" srcId="{0444C821-AE95-419C-A2C2-10FD435B3E72}" destId="{C1C41DF5-156F-4AFD-8177-5E65296E36DA}" srcOrd="0" destOrd="0" presId="urn:microsoft.com/office/officeart/2018/5/layout/IconLeafLabelList"/>
    <dgm:cxn modelId="{E4BDC4E7-B33D-408F-A28A-9E646BDBCB86}" type="presParOf" srcId="{0444C821-AE95-419C-A2C2-10FD435B3E72}" destId="{BCD05D74-D5AE-459F-A6DF-06E0D3F03A72}" srcOrd="1" destOrd="0" presId="urn:microsoft.com/office/officeart/2018/5/layout/IconLeafLabelList"/>
    <dgm:cxn modelId="{3D1E9DB2-C5D6-4774-8110-C1F4D3951E71}" type="presParOf" srcId="{0444C821-AE95-419C-A2C2-10FD435B3E72}" destId="{2AB5314E-660E-4ED1-846B-8434948EF46B}" srcOrd="2" destOrd="0" presId="urn:microsoft.com/office/officeart/2018/5/layout/IconLeafLabelList"/>
    <dgm:cxn modelId="{2B9C7FC2-A255-4335-A004-2546E39B1238}" type="presParOf" srcId="{0444C821-AE95-419C-A2C2-10FD435B3E72}" destId="{A3838D15-85D1-4048-B20D-9009920800B0}"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651F47-2E3D-48D3-A8C3-C7C5FD7AA023}">
      <dsp:nvSpPr>
        <dsp:cNvPr id="0" name=""/>
        <dsp:cNvSpPr/>
      </dsp:nvSpPr>
      <dsp:spPr>
        <a:xfrm>
          <a:off x="0" y="1271"/>
          <a:ext cx="4771223" cy="1028796"/>
        </a:xfrm>
        <a:prstGeom prst="round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In geodesy, the geoid is an imaginary sea (mean sea level) that covers the entire Earth</a:t>
          </a:r>
        </a:p>
      </dsp:txBody>
      <dsp:txXfrm>
        <a:off x="50222" y="51493"/>
        <a:ext cx="4670779" cy="928352"/>
      </dsp:txXfrm>
    </dsp:sp>
    <dsp:sp modelId="{79BF11A6-FC7E-4A9F-BE12-DF944A6D0F75}">
      <dsp:nvSpPr>
        <dsp:cNvPr id="0" name=""/>
        <dsp:cNvSpPr/>
      </dsp:nvSpPr>
      <dsp:spPr>
        <a:xfrm>
          <a:off x="0" y="1044201"/>
          <a:ext cx="4771223" cy="1028796"/>
        </a:xfrm>
        <a:prstGeom prst="round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It is not affected by wind, waves, the Moon, or forces other than Earth’s gravity. </a:t>
          </a:r>
        </a:p>
      </dsp:txBody>
      <dsp:txXfrm>
        <a:off x="50222" y="1094423"/>
        <a:ext cx="4670779" cy="928352"/>
      </dsp:txXfrm>
    </dsp:sp>
    <dsp:sp modelId="{45060F6A-271C-4D2C-A7D3-40F5931FFE96}">
      <dsp:nvSpPr>
        <dsp:cNvPr id="0" name=""/>
        <dsp:cNvSpPr/>
      </dsp:nvSpPr>
      <dsp:spPr>
        <a:xfrm>
          <a:off x="0" y="2087131"/>
          <a:ext cx="4771223" cy="1028796"/>
        </a:xfrm>
        <a:prstGeom prst="round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kern="1200" dirty="0"/>
            <a:t>The geoid is a gravity-based model of global mean sea level.</a:t>
          </a:r>
          <a:br>
            <a:rPr lang="en-US" sz="1800" kern="1200" dirty="0"/>
          </a:br>
          <a:r>
            <a:rPr lang="en-US" sz="1800" kern="1200" dirty="0"/>
            <a:t>It provides a reference surface for measuring elevation.</a:t>
          </a:r>
        </a:p>
      </dsp:txBody>
      <dsp:txXfrm>
        <a:off x="50222" y="2137353"/>
        <a:ext cx="4670779" cy="9283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D6216C-9B23-402E-A942-468E0F624F5B}">
      <dsp:nvSpPr>
        <dsp:cNvPr id="0" name=""/>
        <dsp:cNvSpPr/>
      </dsp:nvSpPr>
      <dsp:spPr>
        <a:xfrm>
          <a:off x="1178341" y="15356"/>
          <a:ext cx="1372500" cy="13725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43F739-4EBC-47A7-A14C-25327E72C0F2}">
      <dsp:nvSpPr>
        <dsp:cNvPr id="0" name=""/>
        <dsp:cNvSpPr/>
      </dsp:nvSpPr>
      <dsp:spPr>
        <a:xfrm>
          <a:off x="1470841" y="307856"/>
          <a:ext cx="787500" cy="7875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E513C3D-9C85-4581-9570-C87158EE7A8E}">
      <dsp:nvSpPr>
        <dsp:cNvPr id="0" name=""/>
        <dsp:cNvSpPr/>
      </dsp:nvSpPr>
      <dsp:spPr>
        <a:xfrm>
          <a:off x="281626" y="1815356"/>
          <a:ext cx="3165930" cy="743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Due by Midnight </a:t>
          </a:r>
          <a:r>
            <a:rPr lang="en-US" sz="1800" kern="1200" dirty="0">
              <a:solidFill>
                <a:srgbClr val="C00000"/>
              </a:solidFill>
            </a:rPr>
            <a:t>(11:59 pm) on Monday, Sep 8, 2025</a:t>
          </a:r>
        </a:p>
      </dsp:txBody>
      <dsp:txXfrm>
        <a:off x="281626" y="1815356"/>
        <a:ext cx="3165930" cy="743927"/>
      </dsp:txXfrm>
    </dsp:sp>
    <dsp:sp modelId="{C1C41DF5-156F-4AFD-8177-5E65296E36DA}">
      <dsp:nvSpPr>
        <dsp:cNvPr id="0" name=""/>
        <dsp:cNvSpPr/>
      </dsp:nvSpPr>
      <dsp:spPr>
        <a:xfrm>
          <a:off x="4816197" y="15356"/>
          <a:ext cx="1372500" cy="13725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D05D74-D5AE-459F-A6DF-06E0D3F03A72}">
      <dsp:nvSpPr>
        <dsp:cNvPr id="0" name=""/>
        <dsp:cNvSpPr/>
      </dsp:nvSpPr>
      <dsp:spPr>
        <a:xfrm>
          <a:off x="5108697" y="307856"/>
          <a:ext cx="787500" cy="7875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3838D15-85D1-4048-B20D-9009920800B0}">
      <dsp:nvSpPr>
        <dsp:cNvPr id="0" name=""/>
        <dsp:cNvSpPr/>
      </dsp:nvSpPr>
      <dsp:spPr>
        <a:xfrm>
          <a:off x="3841306" y="1815356"/>
          <a:ext cx="3322282" cy="743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Submit a word document only include </a:t>
          </a:r>
          <a:r>
            <a:rPr lang="en-US" sz="1800" kern="1200" dirty="0">
              <a:solidFill>
                <a:srgbClr val="C00000"/>
              </a:solidFill>
            </a:rPr>
            <a:t>question and answer</a:t>
          </a:r>
        </a:p>
      </dsp:txBody>
      <dsp:txXfrm>
        <a:off x="3841306" y="1815356"/>
        <a:ext cx="3322282" cy="74392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9/1/2026</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3</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28382809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geoid</a:t>
            </a:r>
            <a:r>
              <a:rPr lang="en-US" baseline="0" dirty="0"/>
              <a:t> is still a complex shape that cannot be modeled with a simple mathematical equation. </a:t>
            </a:r>
          </a:p>
          <a:p>
            <a:endParaRPr lang="en-US" baseline="0" dirty="0"/>
          </a:p>
          <a:p>
            <a:r>
              <a:rPr lang="en-US" baseline="0" dirty="0"/>
              <a:t>So, it is further simplified to an ellipsoid or spheroid model of the Earth. </a:t>
            </a:r>
          </a:p>
          <a:p>
            <a:endParaRPr lang="en-US" baseline="0" dirty="0"/>
          </a:p>
          <a:p>
            <a:r>
              <a:rPr lang="en-US" baseline="0" dirty="0"/>
              <a:t>This is a mathematical model that approximates the geoid as a smooth surface. Basically, this is a 3D ellipse. </a:t>
            </a:r>
          </a:p>
          <a:p>
            <a:endParaRPr lang="en-US" baseline="0" dirty="0"/>
          </a:p>
          <a:p>
            <a:r>
              <a:rPr lang="en-US" baseline="0" dirty="0"/>
              <a:t>Combining this model with ground survey data allows us to produce </a:t>
            </a:r>
            <a:r>
              <a:rPr lang="en-US" baseline="0" dirty="0" err="1"/>
              <a:t>datums</a:t>
            </a:r>
            <a:r>
              <a:rPr lang="en-US" baseline="0" dirty="0"/>
              <a:t>. </a:t>
            </a:r>
          </a:p>
          <a:p>
            <a:endParaRPr lang="en-US" baseline="0" dirty="0"/>
          </a:p>
          <a:p>
            <a:r>
              <a:rPr lang="en-US" baseline="0" dirty="0"/>
              <a:t>These </a:t>
            </a:r>
            <a:r>
              <a:rPr lang="en-US" baseline="0" dirty="0" err="1"/>
              <a:t>datums</a:t>
            </a:r>
            <a:r>
              <a:rPr lang="en-US" baseline="0" dirty="0"/>
              <a:t> serve as the reference systems by which we represent locations on Earth’s surface. </a:t>
            </a:r>
          </a:p>
          <a:p>
            <a:endParaRPr lang="en-US" baseline="0" dirty="0"/>
          </a:p>
          <a:p>
            <a:r>
              <a:rPr lang="en-US" baseline="0" dirty="0"/>
              <a:t>Our map and geospatial data will be referenced to one of these models.</a:t>
            </a:r>
          </a:p>
          <a:p>
            <a:endParaRPr lang="en-US" baseline="0" dirty="0"/>
          </a:p>
          <a:p>
            <a:r>
              <a:rPr lang="en-US" b="0" i="0" dirty="0">
                <a:solidFill>
                  <a:srgbClr val="000000"/>
                </a:solidFill>
                <a:effectLst/>
                <a:latin typeface="Times New Roman" panose="02020603050405020304" pitchFamily="18" charset="0"/>
              </a:rPr>
              <a:t>The arc lengths may be measured by surface surveys, and the angles from astronomical observations</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5</a:t>
            </a:fld>
            <a:endParaRPr lang="en-US"/>
          </a:p>
        </p:txBody>
      </p:sp>
    </p:spTree>
    <p:extLst>
      <p:ext uri="{BB962C8B-B14F-4D97-AF65-F5344CB8AC3E}">
        <p14:creationId xmlns:p14="http://schemas.microsoft.com/office/powerpoint/2010/main" val="1381826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a:t>
            </a:r>
            <a:r>
              <a:rPr lang="en-US" baseline="0" dirty="0"/>
              <a:t> begin, the Earth is not a perfect sphere. Instead, it is an oblate spheroid. </a:t>
            </a:r>
          </a:p>
          <a:p>
            <a:endParaRPr lang="en-US" baseline="0" dirty="0"/>
          </a:p>
          <a:p>
            <a:r>
              <a:rPr lang="en-US" baseline="0" dirty="0"/>
              <a:t>It is wider than it is tall. Or, the circumference of the equator is longer than the circumference of the prime meridian or any meridian. </a:t>
            </a:r>
          </a:p>
          <a:p>
            <a:endParaRPr lang="en-US" baseline="0" dirty="0"/>
          </a:p>
          <a:p>
            <a:r>
              <a:rPr lang="en-US" baseline="0" dirty="0"/>
              <a:t>This results from the centrifugal forces arising from the planet’s rotation. </a:t>
            </a:r>
          </a:p>
          <a:p>
            <a:endParaRPr lang="en-US" baseline="0" dirty="0"/>
          </a:p>
          <a:p>
            <a:r>
              <a:rPr lang="en-US" baseline="0" dirty="0"/>
              <a:t>Further, mass is not evenly distributed throughout the Earth. </a:t>
            </a:r>
          </a:p>
          <a:p>
            <a:endParaRPr lang="en-US" baseline="0" dirty="0"/>
          </a:p>
          <a:p>
            <a:r>
              <a:rPr lang="en-US" baseline="0" dirty="0"/>
              <a:t>So, the Earth is actually a fairly irregular shape, which results in complexity in regards to producing reference systems by which to reference our maps and data against it. </a:t>
            </a:r>
          </a:p>
        </p:txBody>
      </p:sp>
      <p:sp>
        <p:nvSpPr>
          <p:cNvPr id="4" name="Slide Number Placeholder 3"/>
          <p:cNvSpPr>
            <a:spLocks noGrp="1"/>
          </p:cNvSpPr>
          <p:nvPr>
            <p:ph type="sldNum" sz="quarter" idx="10"/>
          </p:nvPr>
        </p:nvSpPr>
        <p:spPr/>
        <p:txBody>
          <a:bodyPr/>
          <a:lstStyle/>
          <a:p>
            <a:fld id="{01F2A70B-78F2-4DCF-B53B-C990D2FAFB8A}" type="slidenum">
              <a:rPr lang="en-US" smtClean="0"/>
              <a:t>6</a:t>
            </a:fld>
            <a:endParaRPr lang="en-US"/>
          </a:p>
        </p:txBody>
      </p:sp>
    </p:spTree>
    <p:extLst>
      <p:ext uri="{BB962C8B-B14F-4D97-AF65-F5344CB8AC3E}">
        <p14:creationId xmlns:p14="http://schemas.microsoft.com/office/powerpoint/2010/main" val="11031182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a:t>
            </a:r>
            <a:r>
              <a:rPr lang="en-US" baseline="0" dirty="0"/>
              <a:t> begin, the Earth is not a perfect sphere. Instead, it is an oblate spheroid. </a:t>
            </a:r>
          </a:p>
          <a:p>
            <a:endParaRPr lang="en-US" baseline="0" dirty="0"/>
          </a:p>
          <a:p>
            <a:r>
              <a:rPr lang="en-US" baseline="0" dirty="0"/>
              <a:t>It is wider than it is tall. Or, the circumference of the equator is longer than the circumference of the prime meridian or any meridian. </a:t>
            </a:r>
          </a:p>
          <a:p>
            <a:endParaRPr lang="en-US" baseline="0" dirty="0"/>
          </a:p>
          <a:p>
            <a:r>
              <a:rPr lang="en-US" baseline="0" dirty="0"/>
              <a:t>This results from the centrifugal forces arising from the planet’s rotation. </a:t>
            </a:r>
          </a:p>
          <a:p>
            <a:endParaRPr lang="en-US" baseline="0" dirty="0"/>
          </a:p>
          <a:p>
            <a:r>
              <a:rPr lang="en-US" baseline="0" dirty="0"/>
              <a:t>Further, mass is not evenly distributed throughout the Earth. </a:t>
            </a:r>
          </a:p>
          <a:p>
            <a:endParaRPr lang="en-US" baseline="0" dirty="0"/>
          </a:p>
          <a:p>
            <a:r>
              <a:rPr lang="en-US" baseline="0" dirty="0"/>
              <a:t>So, the Earth is actually a fairly irregular shape, which results in complexity in regards to producing reference systems by which to reference our maps and data against it. </a:t>
            </a:r>
          </a:p>
        </p:txBody>
      </p:sp>
      <p:sp>
        <p:nvSpPr>
          <p:cNvPr id="4" name="Slide Number Placeholder 3"/>
          <p:cNvSpPr>
            <a:spLocks noGrp="1"/>
          </p:cNvSpPr>
          <p:nvPr>
            <p:ph type="sldNum" sz="quarter" idx="10"/>
          </p:nvPr>
        </p:nvSpPr>
        <p:spPr/>
        <p:txBody>
          <a:bodyPr/>
          <a:lstStyle/>
          <a:p>
            <a:fld id="{01F2A70B-78F2-4DCF-B53B-C990D2FAFB8A}" type="slidenum">
              <a:rPr lang="en-US" smtClean="0"/>
              <a:t>7</a:t>
            </a:fld>
            <a:endParaRPr lang="en-US"/>
          </a:p>
        </p:txBody>
      </p:sp>
    </p:spTree>
    <p:extLst>
      <p:ext uri="{BB962C8B-B14F-4D97-AF65-F5344CB8AC3E}">
        <p14:creationId xmlns:p14="http://schemas.microsoft.com/office/powerpoint/2010/main" val="25873840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All spatial data must be referenced to the surface of the Earth so that they draw at the correct location in the map space. </a:t>
            </a:r>
          </a:p>
          <a:p>
            <a:endParaRPr lang="en-US" baseline="0" dirty="0"/>
          </a:p>
          <a:p>
            <a:r>
              <a:rPr lang="en-US" baseline="0" dirty="0"/>
              <a:t>This means that we need models of the Earth to which we can reference maps and data. </a:t>
            </a:r>
          </a:p>
          <a:p>
            <a:endParaRPr lang="en-US" baseline="0" dirty="0"/>
          </a:p>
          <a:p>
            <a:r>
              <a:rPr lang="en-US" baseline="0" dirty="0"/>
              <a:t>This is a component of the science of geodesy, which relates to measuring the Earth’s shape and positions on it.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9</a:t>
            </a:fld>
            <a:endParaRPr lang="en-US"/>
          </a:p>
        </p:txBody>
      </p:sp>
    </p:spTree>
    <p:extLst>
      <p:ext uri="{BB962C8B-B14F-4D97-AF65-F5344CB8AC3E}">
        <p14:creationId xmlns:p14="http://schemas.microsoft.com/office/powerpoint/2010/main" val="41034218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geoid models the distribution of mass across the Earth, which is not uniform. The Earth is a bumpy surface. </a:t>
            </a:r>
          </a:p>
          <a:p>
            <a:endParaRPr lang="en-US" baseline="0" dirty="0"/>
          </a:p>
          <a:p>
            <a:r>
              <a:rPr lang="en-US" baseline="0" dirty="0"/>
              <a:t>This is partially accomplished by measuring gravitational forces across the globe. </a:t>
            </a:r>
          </a:p>
          <a:p>
            <a:endParaRPr lang="en-US" baseline="0" dirty="0"/>
          </a:p>
          <a:p>
            <a:r>
              <a:rPr lang="en-US" baseline="0" dirty="0"/>
              <a:t>A conceptualization of the geoid is a globe that is fully covered by water or has no continental masses.</a:t>
            </a:r>
          </a:p>
          <a:p>
            <a:endParaRPr lang="en-US" baseline="0" dirty="0"/>
          </a:p>
          <a:p>
            <a:r>
              <a:rPr lang="en-US" baseline="0" dirty="0"/>
              <a:t>Because there are differences in mass and gravitational forces across the globe, the water surface would not be smooth. </a:t>
            </a:r>
          </a:p>
          <a:p>
            <a:endParaRPr lang="en-US" baseline="0" dirty="0"/>
          </a:p>
          <a:p>
            <a:r>
              <a:rPr lang="en-US" baseline="0" dirty="0"/>
              <a:t>Instead, it would be a smoothly undulating shape.</a:t>
            </a:r>
          </a:p>
          <a:p>
            <a:endParaRPr lang="en-US" baseline="0" dirty="0"/>
          </a:p>
          <a:p>
            <a:r>
              <a:rPr lang="en-US" baseline="0" dirty="0"/>
              <a:t>This smoothly undulating shape that takes into account the distribution of mass is called the geoid. </a:t>
            </a:r>
          </a:p>
          <a:p>
            <a:endParaRPr lang="en-US" baseline="0" dirty="0"/>
          </a:p>
          <a:p>
            <a:r>
              <a:rPr lang="en-US" baseline="0" dirty="0"/>
              <a:t>The geoid surface can them be used as a reference for zero elevation.</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13</a:t>
            </a:fld>
            <a:endParaRPr lang="en-US"/>
          </a:p>
        </p:txBody>
      </p:sp>
    </p:spTree>
    <p:extLst>
      <p:ext uri="{BB962C8B-B14F-4D97-AF65-F5344CB8AC3E}">
        <p14:creationId xmlns:p14="http://schemas.microsoft.com/office/powerpoint/2010/main" val="29830137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17</a:t>
            </a:fld>
            <a:endParaRPr lang="en-US"/>
          </a:p>
        </p:txBody>
      </p:sp>
    </p:spTree>
    <p:extLst>
      <p:ext uri="{BB962C8B-B14F-4D97-AF65-F5344CB8AC3E}">
        <p14:creationId xmlns:p14="http://schemas.microsoft.com/office/powerpoint/2010/main" val="6917100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19</a:t>
            </a:fld>
            <a:endParaRPr lang="en-US"/>
          </a:p>
        </p:txBody>
      </p:sp>
    </p:spTree>
    <p:extLst>
      <p:ext uri="{BB962C8B-B14F-4D97-AF65-F5344CB8AC3E}">
        <p14:creationId xmlns:p14="http://schemas.microsoft.com/office/powerpoint/2010/main" val="3136564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NGS (National Geodetic Survey),Triangulation survey</a:t>
            </a:r>
          </a:p>
          <a:p>
            <a:r>
              <a:rPr lang="en-US" dirty="0"/>
              <a:t>For the most of the past 150 years, the most accurate observations were referenced to the Sun, stars, or other celestial bodies</a:t>
            </a:r>
          </a:p>
          <a:p>
            <a:r>
              <a:rPr lang="en-US" dirty="0"/>
              <a:t>Every few years</a:t>
            </a:r>
          </a:p>
        </p:txBody>
      </p:sp>
      <p:sp>
        <p:nvSpPr>
          <p:cNvPr id="4" name="Slide Number Placeholder 3"/>
          <p:cNvSpPr>
            <a:spLocks noGrp="1"/>
          </p:cNvSpPr>
          <p:nvPr>
            <p:ph type="sldNum" sz="quarter" idx="10"/>
          </p:nvPr>
        </p:nvSpPr>
        <p:spPr/>
        <p:txBody>
          <a:bodyPr/>
          <a:lstStyle/>
          <a:p>
            <a:fld id="{01F2A70B-78F2-4DCF-B53B-C990D2FAFB8A}" type="slidenum">
              <a:rPr lang="en-US" smtClean="0"/>
              <a:t>22</a:t>
            </a:fld>
            <a:endParaRPr lang="en-US"/>
          </a:p>
        </p:txBody>
      </p:sp>
    </p:spTree>
    <p:extLst>
      <p:ext uri="{BB962C8B-B14F-4D97-AF65-F5344CB8AC3E}">
        <p14:creationId xmlns:p14="http://schemas.microsoft.com/office/powerpoint/2010/main" val="20441956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different</a:t>
            </a:r>
            <a:r>
              <a:rPr lang="en-US" baseline="0" dirty="0"/>
              <a:t> datums by which we reference are horizontal measurements or coordinates on the Earth. </a:t>
            </a:r>
          </a:p>
          <a:p>
            <a:endParaRPr lang="en-US" baseline="0" dirty="0"/>
          </a:p>
          <a:p>
            <a:r>
              <a:rPr lang="en-US" baseline="0" dirty="0"/>
              <a:t>Examples include the North American Datum of 1927 (or NAD27), the North American Datum of 1983 (or NAD83), and the World Geodetic System of 1984 (or WGS83).</a:t>
            </a:r>
          </a:p>
          <a:p>
            <a:endParaRPr lang="en-US" baseline="0" dirty="0"/>
          </a:p>
          <a:p>
            <a:r>
              <a:rPr lang="en-US" baseline="0" dirty="0"/>
              <a:t>In North America, it is common to reference data against NAD83 or WGS84. </a:t>
            </a:r>
          </a:p>
          <a:p>
            <a:endParaRPr lang="en-US" baseline="0" dirty="0"/>
          </a:p>
          <a:p>
            <a:r>
              <a:rPr lang="en-US" baseline="0" dirty="0"/>
              <a:t>Global Navigation Satellite Systems, or GNSS, often make use of WGS84 as a worldwide datum.</a:t>
            </a:r>
          </a:p>
          <a:p>
            <a:endParaRPr lang="en-US" baseline="0" dirty="0"/>
          </a:p>
          <a:p>
            <a:r>
              <a:rPr lang="en-US" baseline="0" dirty="0"/>
              <a:t>Again, think of these as different models of the Earth, all of which are simplifications. </a:t>
            </a:r>
          </a:p>
          <a:p>
            <a:endParaRPr lang="en-US" baseline="0" dirty="0"/>
          </a:p>
          <a:p>
            <a:r>
              <a:rPr lang="en-US" baseline="0" dirty="0"/>
              <a:t>The </a:t>
            </a:r>
            <a:r>
              <a:rPr lang="en-US" baseline="0" dirty="0" err="1"/>
              <a:t>HARN</a:t>
            </a:r>
            <a:r>
              <a:rPr lang="en-US" baseline="0" dirty="0"/>
              <a:t> and subsequent </a:t>
            </a:r>
            <a:r>
              <a:rPr lang="en-US" baseline="0" dirty="0" err="1"/>
              <a:t>NAD83</a:t>
            </a:r>
            <a:r>
              <a:rPr lang="en-US" baseline="0" dirty="0"/>
              <a:t> adjustments are largely satellite-based, including </a:t>
            </a:r>
            <a:r>
              <a:rPr lang="en-US" baseline="0" dirty="0" err="1"/>
              <a:t>WGS84</a:t>
            </a:r>
            <a:r>
              <a:rPr lang="en-US" baseline="0" dirty="0"/>
              <a:t> and </a:t>
            </a:r>
            <a:r>
              <a:rPr lang="en-US" baseline="0" dirty="0" err="1"/>
              <a:t>ITRF</a:t>
            </a:r>
            <a:endParaRPr lang="en-US" baseline="0" dirty="0"/>
          </a:p>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27</a:t>
            </a:fld>
            <a:endParaRPr lang="en-US"/>
          </a:p>
        </p:txBody>
      </p:sp>
    </p:spTree>
    <p:extLst>
      <p:ext uri="{BB962C8B-B14F-4D97-AF65-F5344CB8AC3E}">
        <p14:creationId xmlns:p14="http://schemas.microsoft.com/office/powerpoint/2010/main" val="33331753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Tectonic movement, crustal deformation</a:t>
            </a:r>
          </a:p>
        </p:txBody>
      </p:sp>
      <p:sp>
        <p:nvSpPr>
          <p:cNvPr id="4" name="Slide Number Placeholder 3"/>
          <p:cNvSpPr>
            <a:spLocks noGrp="1"/>
          </p:cNvSpPr>
          <p:nvPr>
            <p:ph type="sldNum" sz="quarter" idx="10"/>
          </p:nvPr>
        </p:nvSpPr>
        <p:spPr/>
        <p:txBody>
          <a:bodyPr/>
          <a:lstStyle/>
          <a:p>
            <a:fld id="{01F2A70B-78F2-4DCF-B53B-C990D2FAFB8A}" type="slidenum">
              <a:rPr lang="en-US" smtClean="0"/>
              <a:t>28</a:t>
            </a:fld>
            <a:endParaRPr lang="en-US"/>
          </a:p>
        </p:txBody>
      </p:sp>
    </p:spTree>
    <p:extLst>
      <p:ext uri="{BB962C8B-B14F-4D97-AF65-F5344CB8AC3E}">
        <p14:creationId xmlns:p14="http://schemas.microsoft.com/office/powerpoint/2010/main" val="5134872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a:t>
            </a:r>
            <a:r>
              <a:rPr lang="en-US" baseline="0" dirty="0"/>
              <a:t> vertical </a:t>
            </a:r>
            <a:r>
              <a:rPr lang="en-US" baseline="0" dirty="0" err="1"/>
              <a:t>datums</a:t>
            </a:r>
            <a:r>
              <a:rPr lang="en-US" baseline="0" dirty="0"/>
              <a:t> in North America include the National Geodetic Vertical Datum of 1929 (NGVD29) and the more recent North American Vertical Datum of 1988 (NAVD88).</a:t>
            </a:r>
          </a:p>
          <a:p>
            <a:endParaRPr lang="en-US" baseline="0" dirty="0"/>
          </a:p>
          <a:p>
            <a:r>
              <a:rPr lang="en-US" baseline="0" dirty="0"/>
              <a:t>As technologies advance, updated versions of horizontal and vertical datums will be released. </a:t>
            </a:r>
          </a:p>
          <a:p>
            <a:endParaRPr lang="en-US" baseline="0" dirty="0"/>
          </a:p>
          <a:p>
            <a:r>
              <a:rPr lang="en-US" b="0" i="0" dirty="0">
                <a:solidFill>
                  <a:srgbClr val="333333"/>
                </a:solidFill>
                <a:effectLst/>
                <a:latin typeface="Helvetica Neue"/>
              </a:rPr>
              <a:t>GEOID18 is intended for use with coordinates in the North American Datum of 1983 (2011) [NAD 83 (2011) epoch 2010.00]. It provides orthometric heights consistent with the North American Vertical Datum of 1988 (NAVD 88), the Puerto Rico Vertical Datum of 2002 (PRVD02), or the Virgin Islands Vertical Datum of 2009 (VIVD09).</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33</a:t>
            </a:fld>
            <a:endParaRPr lang="en-US"/>
          </a:p>
        </p:txBody>
      </p:sp>
    </p:spTree>
    <p:extLst>
      <p:ext uri="{BB962C8B-B14F-4D97-AF65-F5344CB8AC3E}">
        <p14:creationId xmlns:p14="http://schemas.microsoft.com/office/powerpoint/2010/main" val="579324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a:t>
            </a:r>
            <a:r>
              <a:rPr lang="en-US" baseline="0" dirty="0"/>
              <a:t> vertical </a:t>
            </a:r>
            <a:r>
              <a:rPr lang="en-US" baseline="0" dirty="0" err="1"/>
              <a:t>datums</a:t>
            </a:r>
            <a:r>
              <a:rPr lang="en-US" baseline="0" dirty="0"/>
              <a:t> in North America include the National Geodetic Vertical Datum of 1929 (NGVD29) and the more recent North American Vertical Datum of 1988 (NAVD88).</a:t>
            </a:r>
          </a:p>
          <a:p>
            <a:endParaRPr lang="en-US" baseline="0" dirty="0"/>
          </a:p>
          <a:p>
            <a:r>
              <a:rPr lang="en-US" baseline="0" dirty="0"/>
              <a:t>As technologies advance, updated versions of horizontal and vertical datums will be released. </a:t>
            </a:r>
          </a:p>
          <a:p>
            <a:endParaRPr lang="en-US" baseline="0" dirty="0"/>
          </a:p>
          <a:p>
            <a:r>
              <a:rPr lang="en-US" b="0" i="0" dirty="0">
                <a:solidFill>
                  <a:srgbClr val="333333"/>
                </a:solidFill>
                <a:effectLst/>
                <a:latin typeface="Helvetica Neue"/>
              </a:rPr>
              <a:t>GEOID18 is intended for use with coordinates in the North American Datum of 1983 (2011) [NAD 83 (2011) epoch 2010.00]. It provides orthometric heights consistent with the North American Vertical Datum of 1988 (NAVD 88), the Puerto Rico Vertical Datum of 2002 (PRVD02), or the Virgin Islands Vertical Datum of 2009 (VIVD09).</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38</a:t>
            </a:fld>
            <a:endParaRPr lang="en-US"/>
          </a:p>
        </p:txBody>
      </p:sp>
    </p:spTree>
    <p:extLst>
      <p:ext uri="{BB962C8B-B14F-4D97-AF65-F5344CB8AC3E}">
        <p14:creationId xmlns:p14="http://schemas.microsoft.com/office/powerpoint/2010/main" val="18378861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Coordinates</a:t>
            </a:r>
            <a:r>
              <a:rPr lang="en-US" baseline="0" dirty="0"/>
              <a:t> on Earth are measured in degree units relative to the center of the Earth. </a:t>
            </a:r>
          </a:p>
          <a:p>
            <a:endParaRPr lang="en-US" baseline="0" dirty="0"/>
          </a:p>
          <a:p>
            <a:r>
              <a:rPr lang="en-US" baseline="0" dirty="0"/>
              <a:t>Latitude is measures as an angle of rise relative to the center of the Earth while longitude represents angles of rotation around the center of the Earth. </a:t>
            </a:r>
          </a:p>
          <a:p>
            <a:endParaRPr lang="en-US" baseline="0" dirty="0"/>
          </a:p>
          <a:p>
            <a:r>
              <a:rPr lang="en-US" baseline="0" dirty="0"/>
              <a:t>Note that it is not easy to make measures of distance using lengths on a spherical surface.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40</a:t>
            </a:fld>
            <a:endParaRPr lang="en-US"/>
          </a:p>
        </p:txBody>
      </p:sp>
    </p:spTree>
    <p:extLst>
      <p:ext uri="{BB962C8B-B14F-4D97-AF65-F5344CB8AC3E}">
        <p14:creationId xmlns:p14="http://schemas.microsoft.com/office/powerpoint/2010/main" val="23376227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Latitude measures north to south or up and down. There are 90° of latitude in each hemisphere.</a:t>
            </a:r>
            <a:r>
              <a:rPr lang="en-US" baseline="0" dirty="0"/>
              <a:t> The value increases as you move north or south relative to the equator. The equator has a latitude of </a:t>
            </a:r>
            <a:r>
              <a:rPr lang="en-US" dirty="0"/>
              <a:t>0° and</a:t>
            </a:r>
            <a:r>
              <a:rPr lang="en-US" baseline="0" dirty="0"/>
              <a:t> the poles have a latitude of </a:t>
            </a:r>
            <a:r>
              <a:rPr lang="en-US" dirty="0"/>
              <a:t>90°.</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41</a:t>
            </a:fld>
            <a:endParaRPr lang="en-US"/>
          </a:p>
        </p:txBody>
      </p:sp>
    </p:spTree>
    <p:extLst>
      <p:ext uri="{BB962C8B-B14F-4D97-AF65-F5344CB8AC3E}">
        <p14:creationId xmlns:p14="http://schemas.microsoft.com/office/powerpoint/2010/main" val="27620279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Longitude</a:t>
            </a:r>
            <a:r>
              <a:rPr lang="en-US" baseline="0" dirty="0"/>
              <a:t> measures east to west or side to side. There are </a:t>
            </a:r>
            <a:r>
              <a:rPr lang="en-US" sz="1200" dirty="0"/>
              <a:t>180° of longitude in each hemisphere, east and west.</a:t>
            </a:r>
            <a:r>
              <a:rPr lang="en-US" sz="1200" baseline="0" dirty="0"/>
              <a:t> Longitude increases has you move west in the western hemisphere and increase as you move east in the eastern hemisphere. </a:t>
            </a:r>
            <a:r>
              <a:rPr lang="en-US" sz="1200" dirty="0"/>
              <a:t>0°</a:t>
            </a:r>
            <a:r>
              <a:rPr lang="en-US" sz="1200" baseline="0" dirty="0"/>
              <a:t> longitude is refined relative to the prime meridian which passes through Greenwich, England.</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It makes sense to use the equator to represent 0° latitude.</a:t>
            </a:r>
            <a:r>
              <a:rPr lang="en-US" sz="1200" baseline="0" dirty="0"/>
              <a:t> The </a:t>
            </a:r>
            <a:r>
              <a:rPr lang="en-US" sz="1200" dirty="0"/>
              <a:t>0° reference for longitude</a:t>
            </a:r>
            <a:r>
              <a:rPr lang="en-US" sz="1200" baseline="0" dirty="0"/>
              <a:t> is somewhat arbitrary.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a:t>We can specify the northern or southern hemispheres for latitude by including an “N” or “S” with the measurements. For longitude, we can use “E” or “W”.</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a:t>In software, this can be problematic due to the mix of numbers and letters. So, instead we tend to use positive angles to represent the northern or eastern hemispheres and negative angles to represent the southern or western hemispheres.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a:t>Coordinates referenced to a datum representing the 3D Earth or globe are known as geographic coordinate systems as opposed to projected coordinate systems, which will be discussed later.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a:p>
          <a:p>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42</a:t>
            </a:fld>
            <a:endParaRPr lang="en-US"/>
          </a:p>
        </p:txBody>
      </p:sp>
    </p:spTree>
    <p:extLst>
      <p:ext uri="{BB962C8B-B14F-4D97-AF65-F5344CB8AC3E}">
        <p14:creationId xmlns:p14="http://schemas.microsoft.com/office/powerpoint/2010/main" val="16081886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a:t>
            </a:r>
            <a:r>
              <a:rPr lang="en-US" baseline="0" dirty="0"/>
              <a:t> degree of latitude or longitude can be a large distance. So, in order to provide precise measurements, we need to be able to further divide degrees into smaller units. </a:t>
            </a:r>
          </a:p>
          <a:p>
            <a:endParaRPr lang="en-US" baseline="0" dirty="0"/>
          </a:p>
          <a:p>
            <a:r>
              <a:rPr lang="en-US" baseline="0" dirty="0"/>
              <a:t>A degree can be divided into minutes and second, similar to an hour on a clock. </a:t>
            </a:r>
          </a:p>
          <a:p>
            <a:endParaRPr lang="en-US" baseline="0" dirty="0"/>
          </a:p>
          <a:p>
            <a:r>
              <a:rPr lang="en-US" baseline="0" dirty="0"/>
              <a:t>1 degree equals 60 minutes or 3600 seconds. </a:t>
            </a:r>
          </a:p>
          <a:p>
            <a:endParaRPr lang="en-US" baseline="0" dirty="0"/>
          </a:p>
          <a:p>
            <a:r>
              <a:rPr lang="en-US" baseline="0" dirty="0"/>
              <a:t>We can also use decimal degrees as opposed to minutes and seconds. </a:t>
            </a:r>
          </a:p>
          <a:p>
            <a:endParaRPr lang="en-US" baseline="0" dirty="0"/>
          </a:p>
          <a:p>
            <a:r>
              <a:rPr lang="en-US" baseline="0" dirty="0"/>
              <a:t>It is possible to convert between degrees, minutes, and second and degrees and decimal degrees.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43</a:t>
            </a:fld>
            <a:endParaRPr lang="en-US"/>
          </a:p>
        </p:txBody>
      </p:sp>
    </p:spTree>
    <p:extLst>
      <p:ext uri="{BB962C8B-B14F-4D97-AF65-F5344CB8AC3E}">
        <p14:creationId xmlns:p14="http://schemas.microsoft.com/office/powerpoint/2010/main" val="27964120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a:t>
            </a:r>
            <a:r>
              <a:rPr lang="en-US" baseline="0" dirty="0"/>
              <a:t> are some advantages to modeling the Earth as a 3D globe. First, this is an accurate representation in which map features and latitude and longitude lines can be plotted without distortion.</a:t>
            </a:r>
          </a:p>
          <a:p>
            <a:endParaRPr lang="en-US" baseline="0" dirty="0"/>
          </a:p>
          <a:p>
            <a:r>
              <a:rPr lang="en-US" baseline="0" dirty="0"/>
              <a:t>However, there are some disadvantages. Making globes can be expensive. They are also cumbersome to handle and store. It is also not easy to make distance measurements on the curved surface of the globe. Duo to the 3D nature of a globe, it is not possible to view the entirety of Earth’s surface from a single vantage point. </a:t>
            </a:r>
          </a:p>
          <a:p>
            <a:endParaRPr lang="en-US" baseline="0" dirty="0"/>
          </a:p>
          <a:p>
            <a:r>
              <a:rPr lang="en-US" baseline="0" dirty="0"/>
              <a:t>So, we need a means by which to represent the curved, 3D Earth in a flat map space. We do this using projections, which we will discuss next.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44</a:t>
            </a:fld>
            <a:endParaRPr lang="en-US"/>
          </a:p>
        </p:txBody>
      </p:sp>
    </p:spTree>
    <p:extLst>
      <p:ext uri="{BB962C8B-B14F-4D97-AF65-F5344CB8AC3E}">
        <p14:creationId xmlns:p14="http://schemas.microsoft.com/office/powerpoint/2010/main" val="14605489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using a the 3D</a:t>
            </a:r>
            <a:r>
              <a:rPr lang="en-US" baseline="0" dirty="0"/>
              <a:t> spherical globe, we can mathematically transform the Earth into a flat map space. </a:t>
            </a:r>
          </a:p>
          <a:p>
            <a:endParaRPr lang="en-US" baseline="0" dirty="0"/>
          </a:p>
          <a:p>
            <a:r>
              <a:rPr lang="en-US" baseline="0" dirty="0"/>
              <a:t>Now, instead of making measurements of distance or length in angles, we can make measurements in length units. </a:t>
            </a:r>
          </a:p>
          <a:p>
            <a:endParaRPr lang="en-US" baseline="0" dirty="0"/>
          </a:p>
          <a:p>
            <a:r>
              <a:rPr lang="en-US" baseline="0" dirty="0"/>
              <a:t>These 2D surfaces are known as projected coordinate systems or map projections. </a:t>
            </a:r>
          </a:p>
          <a:p>
            <a:endParaRPr lang="en-US" baseline="0" dirty="0"/>
          </a:p>
          <a:p>
            <a:r>
              <a:rPr lang="en-US" baseline="0" dirty="0"/>
              <a:t>They allow us to make measurements in a Cartesian coordinate system on a plane. </a:t>
            </a:r>
            <a:r>
              <a:rPr lang="en-US" dirty="0"/>
              <a:t> </a:t>
            </a:r>
          </a:p>
        </p:txBody>
      </p:sp>
      <p:sp>
        <p:nvSpPr>
          <p:cNvPr id="4" name="Slide Number Placeholder 3"/>
          <p:cNvSpPr>
            <a:spLocks noGrp="1"/>
          </p:cNvSpPr>
          <p:nvPr>
            <p:ph type="sldNum" sz="quarter" idx="10"/>
          </p:nvPr>
        </p:nvSpPr>
        <p:spPr/>
        <p:txBody>
          <a:bodyPr/>
          <a:lstStyle/>
          <a:p>
            <a:fld id="{01F2A70B-78F2-4DCF-B53B-C990D2FAFB8A}" type="slidenum">
              <a:rPr lang="en-US" smtClean="0"/>
              <a:t>45</a:t>
            </a:fld>
            <a:endParaRPr lang="en-US"/>
          </a:p>
        </p:txBody>
      </p:sp>
    </p:spTree>
    <p:extLst>
      <p:ext uri="{BB962C8B-B14F-4D97-AF65-F5344CB8AC3E}">
        <p14:creationId xmlns:p14="http://schemas.microsoft.com/office/powerpoint/2010/main" val="21239640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46</a:t>
            </a:fld>
            <a:endParaRPr lang="en-US"/>
          </a:p>
        </p:txBody>
      </p:sp>
    </p:spTree>
    <p:extLst>
      <p:ext uri="{BB962C8B-B14F-4D97-AF65-F5344CB8AC3E}">
        <p14:creationId xmlns:p14="http://schemas.microsoft.com/office/powerpoint/2010/main" val="34446495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provides an example of the difference between geographic</a:t>
            </a:r>
            <a:r>
              <a:rPr lang="en-US" baseline="0" dirty="0"/>
              <a:t> and projected coordinate systems. </a:t>
            </a:r>
          </a:p>
          <a:p>
            <a:endParaRPr lang="en-US" baseline="0" dirty="0"/>
          </a:p>
          <a:p>
            <a:r>
              <a:rPr lang="en-US" baseline="0" dirty="0"/>
              <a:t>The globe provides a 3D representation of the Earth where measurements are made in angles. </a:t>
            </a:r>
          </a:p>
          <a:p>
            <a:endParaRPr lang="en-US" baseline="0" dirty="0"/>
          </a:p>
          <a:p>
            <a:r>
              <a:rPr lang="en-US" baseline="0" dirty="0"/>
              <a:t>In contrast, projections are 2D and allow for measurements to be made in Cartesian coordinate space. </a:t>
            </a:r>
          </a:p>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47</a:t>
            </a:fld>
            <a:endParaRPr lang="en-US"/>
          </a:p>
        </p:txBody>
      </p:sp>
    </p:spTree>
    <p:extLst>
      <p:ext uri="{BB962C8B-B14F-4D97-AF65-F5344CB8AC3E}">
        <p14:creationId xmlns:p14="http://schemas.microsoft.com/office/powerpoint/2010/main" val="8506356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Datum and sometimes</a:t>
            </a:r>
            <a:r>
              <a:rPr lang="en-US" baseline="0" dirty="0"/>
              <a:t> </a:t>
            </a:r>
            <a:r>
              <a:rPr lang="en-US" dirty="0"/>
              <a:t>projection</a:t>
            </a:r>
            <a:r>
              <a:rPr lang="en-US" baseline="0" dirty="0"/>
              <a:t> information are associated with maps and geospatial data layers. </a:t>
            </a:r>
          </a:p>
          <a:p>
            <a:endParaRPr lang="en-US" baseline="0" dirty="0"/>
          </a:p>
          <a:p>
            <a:r>
              <a:rPr lang="en-US" baseline="0" dirty="0"/>
              <a:t>In ArcGIS Pro, datum and projection information for a layer can be found in the Source tab. </a:t>
            </a:r>
          </a:p>
          <a:p>
            <a:endParaRPr lang="en-US" baseline="0" dirty="0"/>
          </a:p>
          <a:p>
            <a:r>
              <a:rPr lang="en-US" baseline="0" dirty="0"/>
              <a:t>We will talk about projections later in this module.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49</a:t>
            </a:fld>
            <a:endParaRPr lang="en-US"/>
          </a:p>
        </p:txBody>
      </p:sp>
    </p:spTree>
    <p:extLst>
      <p:ext uri="{BB962C8B-B14F-4D97-AF65-F5344CB8AC3E}">
        <p14:creationId xmlns:p14="http://schemas.microsoft.com/office/powerpoint/2010/main" val="4284499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A720AEDC-E445-4777-AA58-256DBE856A2E}" type="datetime1">
              <a:rPr lang="en-US" smtClean="0"/>
              <a:t>9/1/2026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34630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2AFFDC0E-2571-4B49-A099-A35911FE2571}" type="datetime1">
              <a:rPr lang="en-US" smtClean="0"/>
              <a:t>9/1/2026</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668528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52A49ABB-4417-47CD-80B9-0D55D8A8F9A6}" type="datetime1">
              <a:rPr lang="en-US" smtClean="0"/>
              <a:t>9/1/2026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00153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A34475E-0273-439D-974C-8782C6CF6085}" type="datetime1">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81049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3C4C3F7-B696-4E33-B8CA-A5029D94236E}" type="datetime1">
              <a:rPr lang="en-US" smtClean="0"/>
              <a:t>9/1/2026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788584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19F242B4-A1B4-4224-ACE8-F64A6DFDF6CB}" type="datetime1">
              <a:rPr lang="en-US" smtClean="0"/>
              <a:t>9/1/2026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39938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D0FCFC-EFD5-4D6F-AF5D-114622F47081}" type="datetime1">
              <a:rPr lang="en-US" smtClean="0"/>
              <a:t>9/1/2026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932067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FAFBCFB9-675F-4800-8AC7-ED3B357177A4}" type="datetime1">
              <a:rPr lang="en-US" smtClean="0"/>
              <a:t>9/1/2026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339752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9D67AFB5-74EF-4A25-966B-E982CF09D51D}" type="datetime1">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623627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704811"/>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7A43A2-25E5-4F4A-8CC5-2EB1720C6339}" type="datetime1">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74458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B211E9CE-A9D6-4C10-9743-25DD5C510D14}" type="datetime1">
              <a:rPr lang="en-US" smtClean="0"/>
              <a:t>9/1/2026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7109661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9/1/2026</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14702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9/1/2026</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300653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9/1/2026</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43209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772346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891093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7654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695850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9/1/2026</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41635109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9/1/2026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43740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24884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9/1/2026</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366355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19160426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9/1/2026</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739600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dirty="0"/>
              <a:t>Click to edit Master title style</a:t>
            </a:r>
          </a:p>
        </p:txBody>
      </p:sp>
      <p:sp>
        <p:nvSpPr>
          <p:cNvPr id="3" name="Content Placeholder 2"/>
          <p:cNvSpPr>
            <a:spLocks noGrp="1"/>
          </p:cNvSpPr>
          <p:nvPr>
            <p:ph idx="1"/>
          </p:nvPr>
        </p:nvSpPr>
        <p:spPr>
          <a:xfrm>
            <a:off x="392305" y="1755648"/>
            <a:ext cx="7444990" cy="27258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9/1/2026</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520354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9/1/2026</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89748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9/1/2026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110060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9/1/2026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179589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904715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2527608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9/1/2026</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66389869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9/1/2026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5708884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396734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9/1/2026</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52392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696387"/>
            <a:ext cx="7444991" cy="892166"/>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775824D9-FB06-4772-8A16-CEC7F6E704E4}" type="datetime1">
              <a:rPr lang="en-US" smtClean="0"/>
              <a:t>9/1/2026</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15638855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9/1/2026</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282776471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2400"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9/1/2026</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019979359"/>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giro3d.org/latest/examples/ellipsoid.html?utm_source=chatgpt.com"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en.wikipedia.org/wiki/Geoid" TargetMode="External"/><Relationship Id="rId7" Type="http://schemas.openxmlformats.org/officeDocument/2006/relationships/diagramColors" Target="../diagrams/colors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svs.gsfc.nasa.gov/5660/"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www.youtube.com/watch?v=kXTHaMY3cVk&amp;t=130s&amp;ab_channel=TheCOMETProgram%2FMetEd"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earth.google.com/web/"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wildlifemigration.utah.gov/land-animals/tracking/"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hyperlink" Target="https://www.spatialpost.com/what-datum-does-google-maps-use/" TargetMode="Externa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s://commons.wikimedia.org/wiki/File:Latitude_and_Longitude_of_the_Earth.svg" TargetMode="External"/></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hyperlink" Target="https://commons.wikimedia.org/wiki/File:Latitude_and_Longitude_of_the_Earth.svg" TargetMode="Externa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hyperlink" Target="https://commons.wikimedia.org/wiki/File:Cartesian_coordinate_system_(comma).svg" TargetMode="External"/></Relationships>
</file>

<file path=ppt/slides/_rels/slide4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hyperlink" Target="https://commons.wikimedia.org/wiki/File:Cartesian_coordinate_system_(comma).svg" TargetMode="External"/></Relationships>
</file>

<file path=ppt/slides/_rels/slide4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7176"/>
            <a:ext cx="8229599"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8610">
              <a:defRPr/>
            </a:pPr>
            <a:endParaRPr lang="en-US" sz="1215">
              <a:solidFill>
                <a:srgbClr val="FFFFFF"/>
              </a:solidFill>
              <a:latin typeface="Calibri"/>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13" y="257175"/>
            <a:ext cx="8229587" cy="4629142"/>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990" y="565785"/>
            <a:ext cx="3382366" cy="617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18" y="662983"/>
            <a:ext cx="3381337" cy="39078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346990" y="937607"/>
            <a:ext cx="4143417" cy="1356597"/>
          </a:xfrm>
        </p:spPr>
        <p:txBody>
          <a:bodyPr>
            <a:normAutofit/>
          </a:bodyPr>
          <a:lstStyle/>
          <a:p>
            <a:r>
              <a:rPr lang="en-US" sz="2700" dirty="0">
                <a:solidFill>
                  <a:srgbClr val="FFFFFF"/>
                </a:solidFill>
              </a:rPr>
              <a:t>WEEK 03</a:t>
            </a:r>
            <a:br>
              <a:rPr lang="en-US" sz="2700" dirty="0">
                <a:solidFill>
                  <a:srgbClr val="FFFFFF"/>
                </a:solidFill>
              </a:rPr>
            </a:br>
            <a:br>
              <a:rPr lang="en-US" sz="2700" dirty="0">
                <a:solidFill>
                  <a:srgbClr val="FFFFFF"/>
                </a:solidFill>
              </a:rPr>
            </a:br>
            <a:r>
              <a:rPr lang="en-US" sz="2800" dirty="0"/>
              <a:t>Datum </a:t>
            </a:r>
            <a:r>
              <a:rPr lang="en-US" altLang="zh-CN" sz="2800" dirty="0"/>
              <a:t>and projection</a:t>
            </a:r>
            <a:endParaRPr lang="en-US" sz="2700" dirty="0">
              <a:solidFill>
                <a:srgbClr val="FFFFFF"/>
              </a:solidFill>
            </a:endParaRP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346990" y="2668601"/>
            <a:ext cx="3512300" cy="1537292"/>
          </a:xfrm>
        </p:spPr>
        <p:txBody>
          <a:bodyPr>
            <a:noAutofit/>
          </a:bodyPr>
          <a:lstStyle/>
          <a:p>
            <a:r>
              <a:rPr lang="en-US" sz="24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24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240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24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2026</a:t>
            </a:r>
          </a:p>
          <a:p>
            <a:endParaRPr lang="en-US" sz="24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8610">
              <a:defRPr/>
            </a:pPr>
            <a:endParaRPr lang="en-US" sz="1215">
              <a:solidFill>
                <a:srgbClr val="FFFFFF"/>
              </a:solidFill>
              <a:latin typeface="Calibri"/>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3.1 </a:t>
            </a:r>
            <a:br>
              <a:rPr lang="en-US" sz="4050" dirty="0">
                <a:solidFill>
                  <a:srgbClr val="FFFFFF"/>
                </a:solidFill>
              </a:rPr>
            </a:br>
            <a:r>
              <a:rPr lang="en-US" sz="4050" dirty="0">
                <a:solidFill>
                  <a:srgbClr val="FFFFFF"/>
                </a:solidFill>
              </a:rPr>
              <a:t>D</a:t>
            </a:r>
            <a:r>
              <a:rPr lang="en-US" altLang="zh-CN" sz="4050" dirty="0">
                <a:solidFill>
                  <a:srgbClr val="FFFFFF"/>
                </a:solidFill>
              </a:rPr>
              <a:t>atum</a:t>
            </a:r>
            <a:endParaRPr lang="en-US" sz="4050" dirty="0">
              <a:solidFill>
                <a:srgbClr val="FFFFFF"/>
              </a:solidFill>
            </a:endParaRP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Tree>
    <p:extLst>
      <p:ext uri="{BB962C8B-B14F-4D97-AF65-F5344CB8AC3E}">
        <p14:creationId xmlns:p14="http://schemas.microsoft.com/office/powerpoint/2010/main" val="1586883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2089872" y="1156514"/>
            <a:ext cx="4861262" cy="3064076"/>
          </a:xfrm>
        </p:spPr>
        <p:txBody>
          <a:bodyPr>
            <a:noAutofit/>
          </a:bodyPr>
          <a:lstStyle/>
          <a:p>
            <a:r>
              <a:rPr lang="en-US" altLang="en-US" sz="2400" dirty="0"/>
              <a:t>Datum</a:t>
            </a:r>
          </a:p>
          <a:p>
            <a:pPr lvl="1"/>
            <a:r>
              <a:rPr lang="en-US" altLang="en-US" sz="2400" dirty="0"/>
              <a:t>Shape of Earth</a:t>
            </a:r>
          </a:p>
          <a:p>
            <a:pPr lvl="1"/>
            <a:r>
              <a:rPr lang="en-US" altLang="en-US" sz="2400" dirty="0"/>
              <a:t>Geoid</a:t>
            </a:r>
          </a:p>
          <a:p>
            <a:r>
              <a:rPr lang="en-US" altLang="en-US" sz="2400" dirty="0"/>
              <a:t>Coordinate system</a:t>
            </a:r>
          </a:p>
          <a:p>
            <a:pPr lvl="1"/>
            <a:r>
              <a:rPr lang="en-US" sz="2400" dirty="0"/>
              <a:t>Geographic coordinate systems</a:t>
            </a:r>
          </a:p>
          <a:p>
            <a:pPr lvl="1"/>
            <a:r>
              <a:rPr lang="en-US" altLang="en-US" sz="2400" dirty="0"/>
              <a:t>Projected coordinate systems</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a:xfrm>
            <a:off x="7126853" y="4817936"/>
            <a:ext cx="710444" cy="273844"/>
          </a:xfrm>
        </p:spPr>
        <p:txBody>
          <a:bodyPr/>
          <a:lstStyle/>
          <a:p>
            <a:fld id="{127DDC20-79C9-9647-820E-6D40A3D210C3}" type="slidenum">
              <a:rPr lang="en-US" smtClean="0"/>
              <a:pPr/>
              <a:t>3</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04003" y="22733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Overview</a:t>
            </a:r>
            <a:endParaRPr lang="en-US" sz="2600" i="1" dirty="0">
              <a:solidFill>
                <a:srgbClr val="7030A0"/>
              </a:solidFill>
            </a:endParaRPr>
          </a:p>
        </p:txBody>
      </p:sp>
    </p:spTree>
    <p:extLst>
      <p:ext uri="{BB962C8B-B14F-4D97-AF65-F5344CB8AC3E}">
        <p14:creationId xmlns:p14="http://schemas.microsoft.com/office/powerpoint/2010/main" val="1753796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719CF-6242-53FE-F081-FE916DE57886}"/>
              </a:ext>
            </a:extLst>
          </p:cNvPr>
          <p:cNvSpPr>
            <a:spLocks noGrp="1"/>
          </p:cNvSpPr>
          <p:nvPr>
            <p:ph type="title"/>
          </p:nvPr>
        </p:nvSpPr>
        <p:spPr>
          <a:xfrm>
            <a:off x="239905" y="531349"/>
            <a:ext cx="7444991" cy="396250"/>
          </a:xfrm>
        </p:spPr>
        <p:txBody>
          <a:bodyPr>
            <a:normAutofit fontScale="90000"/>
          </a:bodyPr>
          <a:lstStyle/>
          <a:p>
            <a:pPr defTabSz="411480"/>
            <a:r>
              <a:rPr lang="en-US" altLang="zh-CN" sz="3200" dirty="0">
                <a:solidFill>
                  <a:srgbClr val="7030A0"/>
                </a:solidFill>
              </a:rPr>
              <a:t>Latitude and longitude</a:t>
            </a:r>
            <a:endParaRPr lang="zh-CN" altLang="en-US" sz="3200" dirty="0">
              <a:solidFill>
                <a:srgbClr val="7030A0"/>
              </a:solidFill>
            </a:endParaRPr>
          </a:p>
        </p:txBody>
      </p:sp>
      <p:pic>
        <p:nvPicPr>
          <p:cNvPr id="6" name="Content Placeholder 5">
            <a:extLst>
              <a:ext uri="{FF2B5EF4-FFF2-40B4-BE49-F238E27FC236}">
                <a16:creationId xmlns:a16="http://schemas.microsoft.com/office/drawing/2014/main" id="{D22FA332-E0EC-49FC-A764-CDC9EBB9A129}"/>
              </a:ext>
            </a:extLst>
          </p:cNvPr>
          <p:cNvPicPr>
            <a:picLocks noGrp="1" noChangeAspect="1"/>
          </p:cNvPicPr>
          <p:nvPr>
            <p:ph idx="1"/>
          </p:nvPr>
        </p:nvPicPr>
        <p:blipFill>
          <a:blip r:embed="rId2"/>
          <a:stretch>
            <a:fillRect/>
          </a:stretch>
        </p:blipFill>
        <p:spPr>
          <a:xfrm>
            <a:off x="1145690" y="860112"/>
            <a:ext cx="6169510" cy="3752039"/>
          </a:xfrm>
          <a:prstGeom prst="rect">
            <a:avLst/>
          </a:prstGeom>
        </p:spPr>
      </p:pic>
      <p:sp>
        <p:nvSpPr>
          <p:cNvPr id="4" name="Slide Number Placeholder 3">
            <a:extLst>
              <a:ext uri="{FF2B5EF4-FFF2-40B4-BE49-F238E27FC236}">
                <a16:creationId xmlns:a16="http://schemas.microsoft.com/office/drawing/2014/main" id="{A459BD80-B7CE-2F41-7367-2D66DD81D2B7}"/>
              </a:ext>
            </a:extLst>
          </p:cNvPr>
          <p:cNvSpPr>
            <a:spLocks noGrp="1"/>
          </p:cNvSpPr>
          <p:nvPr>
            <p:ph type="sldNum" sz="quarter" idx="12"/>
          </p:nvPr>
        </p:nvSpPr>
        <p:spPr/>
        <p:txBody>
          <a:bodyPr/>
          <a:lstStyle/>
          <a:p>
            <a:fld id="{127DDC20-79C9-9647-820E-6D40A3D210C3}" type="slidenum">
              <a:rPr lang="en-US" smtClean="0"/>
              <a:pPr/>
              <a:t>4</a:t>
            </a:fld>
            <a:endParaRPr lang="en-US"/>
          </a:p>
        </p:txBody>
      </p:sp>
      <p:sp>
        <p:nvSpPr>
          <p:cNvPr id="8" name="TextBox 7">
            <a:extLst>
              <a:ext uri="{FF2B5EF4-FFF2-40B4-BE49-F238E27FC236}">
                <a16:creationId xmlns:a16="http://schemas.microsoft.com/office/drawing/2014/main" id="{D4249BE6-4CB4-EFB4-9F91-1EF70591E220}"/>
              </a:ext>
            </a:extLst>
          </p:cNvPr>
          <p:cNvSpPr txBox="1"/>
          <p:nvPr/>
        </p:nvSpPr>
        <p:spPr>
          <a:xfrm>
            <a:off x="80433" y="4476051"/>
            <a:ext cx="8068733" cy="646331"/>
          </a:xfrm>
          <a:prstGeom prst="rect">
            <a:avLst/>
          </a:prstGeom>
          <a:noFill/>
        </p:spPr>
        <p:txBody>
          <a:bodyPr wrap="square">
            <a:spAutoFit/>
          </a:bodyPr>
          <a:lstStyle/>
          <a:p>
            <a:r>
              <a:rPr lang="zh-CN" altLang="zh-CN" dirty="0"/>
              <a:t>To address this challenge, we need to transform the 3D Earth surface into a 2D map using datums, coordinate systems, and map projections.</a:t>
            </a:r>
            <a:endParaRPr lang="zh-CN" altLang="en-US" dirty="0"/>
          </a:p>
        </p:txBody>
      </p:sp>
    </p:spTree>
    <p:extLst>
      <p:ext uri="{BB962C8B-B14F-4D97-AF65-F5344CB8AC3E}">
        <p14:creationId xmlns:p14="http://schemas.microsoft.com/office/powerpoint/2010/main" val="12597368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027">
            <a:extLst>
              <a:ext uri="{FF2B5EF4-FFF2-40B4-BE49-F238E27FC236}">
                <a16:creationId xmlns:a16="http://schemas.microsoft.com/office/drawing/2014/main" id="{9B279F75-48B4-4031-87F7-D061E46BE766}"/>
              </a:ext>
            </a:extLst>
          </p:cNvPr>
          <p:cNvSpPr txBox="1">
            <a:spLocks noChangeArrowheads="1"/>
          </p:cNvSpPr>
          <p:nvPr/>
        </p:nvSpPr>
        <p:spPr>
          <a:xfrm>
            <a:off x="302741" y="1029962"/>
            <a:ext cx="7679724" cy="2034514"/>
          </a:xfrm>
          <a:prstGeom prst="rect">
            <a:avLst/>
          </a:prstGeom>
        </p:spPr>
        <p:txBody>
          <a:bodyPr vert="horz" lIns="91440" tIns="45720" rIns="91440" bIns="45720" rtlCol="0">
            <a:normAutofit fontScale="92500"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zh-CN" altLang="zh-CN" dirty="0"/>
              <a:t>A datum characterizes the shape of the Earth’s surface and is defined by specifying the origin of the coordinate system, the orientation of the coordinate system, and the dimensions of the ellipsoid</a:t>
            </a:r>
            <a:r>
              <a:rPr lang="en-US" altLang="zh-CN" dirty="0"/>
              <a:t>.</a:t>
            </a:r>
            <a:endParaRPr lang="en-US" altLang="en-US" sz="2600" dirty="0">
              <a:solidFill>
                <a:srgbClr val="FF0000"/>
              </a:solidFill>
            </a:endParaRPr>
          </a:p>
        </p:txBody>
      </p:sp>
      <p:cxnSp>
        <p:nvCxnSpPr>
          <p:cNvPr id="5" name="Straight Connector 4">
            <a:extLst>
              <a:ext uri="{FF2B5EF4-FFF2-40B4-BE49-F238E27FC236}">
                <a16:creationId xmlns:a16="http://schemas.microsoft.com/office/drawing/2014/main" id="{D7B7BC78-D894-4474-B472-32D53812C8BC}"/>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8124C274-97D0-422F-8C64-7B8F8F1C63D8}"/>
              </a:ext>
            </a:extLst>
          </p:cNvPr>
          <p:cNvSpPr txBox="1">
            <a:spLocks/>
          </p:cNvSpPr>
          <p:nvPr/>
        </p:nvSpPr>
        <p:spPr>
          <a:xfrm>
            <a:off x="118533" y="1727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Datum</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E300CDA3-F19D-48BF-87E1-EA21B004D529}"/>
              </a:ext>
            </a:extLst>
          </p:cNvPr>
          <p:cNvSpPr>
            <a:spLocks noGrp="1"/>
          </p:cNvSpPr>
          <p:nvPr>
            <p:ph type="sldNum" sz="quarter" idx="12"/>
          </p:nvPr>
        </p:nvSpPr>
        <p:spPr/>
        <p:txBody>
          <a:bodyPr/>
          <a:lstStyle/>
          <a:p>
            <a:fld id="{127DDC20-79C9-9647-820E-6D40A3D210C3}" type="slidenum">
              <a:rPr lang="en-US" smtClean="0"/>
              <a:pPr/>
              <a:t>5</a:t>
            </a:fld>
            <a:endParaRPr lang="en-US"/>
          </a:p>
        </p:txBody>
      </p:sp>
      <p:pic>
        <p:nvPicPr>
          <p:cNvPr id="4" name="Picture 3">
            <a:extLst>
              <a:ext uri="{FF2B5EF4-FFF2-40B4-BE49-F238E27FC236}">
                <a16:creationId xmlns:a16="http://schemas.microsoft.com/office/drawing/2014/main" id="{15356323-F567-DD66-71F5-6DD6D6E9C127}"/>
              </a:ext>
            </a:extLst>
          </p:cNvPr>
          <p:cNvPicPr>
            <a:picLocks noChangeAspect="1"/>
          </p:cNvPicPr>
          <p:nvPr/>
        </p:nvPicPr>
        <p:blipFill>
          <a:blip r:embed="rId3"/>
          <a:stretch>
            <a:fillRect/>
          </a:stretch>
        </p:blipFill>
        <p:spPr>
          <a:xfrm>
            <a:off x="2374668" y="3004337"/>
            <a:ext cx="2571199" cy="2087443"/>
          </a:xfrm>
          <a:prstGeom prst="rect">
            <a:avLst/>
          </a:prstGeom>
        </p:spPr>
      </p:pic>
    </p:spTree>
    <p:extLst>
      <p:ext uri="{BB962C8B-B14F-4D97-AF65-F5344CB8AC3E}">
        <p14:creationId xmlns:p14="http://schemas.microsoft.com/office/powerpoint/2010/main" val="2744765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027">
            <a:extLst>
              <a:ext uri="{FF2B5EF4-FFF2-40B4-BE49-F238E27FC236}">
                <a16:creationId xmlns:a16="http://schemas.microsoft.com/office/drawing/2014/main" id="{5E95B6F4-5764-4E81-B914-E3D1CC2EE4E1}"/>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600" dirty="0"/>
              <a:t>Oblate spheroid</a:t>
            </a:r>
          </a:p>
          <a:p>
            <a:pPr lvl="1">
              <a:buFont typeface="Wingdings" panose="05000000000000000000" pitchFamily="2" charset="2"/>
              <a:buChar char="ü"/>
            </a:pPr>
            <a:r>
              <a:rPr lang="en-US" altLang="en-US" sz="2160" dirty="0"/>
              <a:t>Equator has larger circumference than meridians</a:t>
            </a:r>
          </a:p>
          <a:p>
            <a:pPr lvl="1">
              <a:buFont typeface="Wingdings" panose="05000000000000000000" pitchFamily="2" charset="2"/>
              <a:buChar char="ü"/>
            </a:pPr>
            <a:r>
              <a:rPr lang="en-US" altLang="en-US" sz="2160" dirty="0"/>
              <a:t>Mass not evenly distributed </a:t>
            </a:r>
          </a:p>
        </p:txBody>
      </p:sp>
      <p:pic>
        <p:nvPicPr>
          <p:cNvPr id="4" name="Picture 3"/>
          <p:cNvPicPr>
            <a:picLocks noChangeAspect="1"/>
          </p:cNvPicPr>
          <p:nvPr/>
        </p:nvPicPr>
        <p:blipFill>
          <a:blip r:embed="rId3">
            <a:clrChange>
              <a:clrFrom>
                <a:srgbClr val="FFFFFF"/>
              </a:clrFrom>
              <a:clrTo>
                <a:srgbClr val="FFFFFF">
                  <a:alpha val="0"/>
                </a:srgbClr>
              </a:clrTo>
            </a:clrChange>
          </a:blip>
          <a:stretch>
            <a:fillRect/>
          </a:stretch>
        </p:blipFill>
        <p:spPr>
          <a:xfrm>
            <a:off x="2349500" y="2632388"/>
            <a:ext cx="3966561" cy="1893944"/>
          </a:xfrm>
          <a:prstGeom prst="rect">
            <a:avLst/>
          </a:prstGeom>
        </p:spPr>
      </p:pic>
      <p:cxnSp>
        <p:nvCxnSpPr>
          <p:cNvPr id="7" name="Straight Connector 6">
            <a:extLst>
              <a:ext uri="{FF2B5EF4-FFF2-40B4-BE49-F238E27FC236}">
                <a16:creationId xmlns:a16="http://schemas.microsoft.com/office/drawing/2014/main" id="{D665678C-6D72-4D89-9FEE-2F8EFCB18F9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180342B3-71DA-4411-AD9E-33891050CB4E}"/>
              </a:ext>
            </a:extLst>
          </p:cNvPr>
          <p:cNvSpPr txBox="1">
            <a:spLocks/>
          </p:cNvSpPr>
          <p:nvPr/>
        </p:nvSpPr>
        <p:spPr>
          <a:xfrm>
            <a:off x="118533" y="17229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Shape of the Earth</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48406186-F2E8-4D8D-97C6-590CE149A3BD}"/>
              </a:ext>
            </a:extLst>
          </p:cNvPr>
          <p:cNvSpPr>
            <a:spLocks noGrp="1"/>
          </p:cNvSpPr>
          <p:nvPr>
            <p:ph type="sldNum" sz="quarter" idx="12"/>
          </p:nvPr>
        </p:nvSpPr>
        <p:spPr/>
        <p:txBody>
          <a:bodyPr/>
          <a:lstStyle/>
          <a:p>
            <a:fld id="{127DDC20-79C9-9647-820E-6D40A3D210C3}" type="slidenum">
              <a:rPr lang="en-US" smtClean="0"/>
              <a:pPr/>
              <a:t>6</a:t>
            </a:fld>
            <a:endParaRPr lang="en-US"/>
          </a:p>
        </p:txBody>
      </p:sp>
    </p:spTree>
    <p:extLst>
      <p:ext uri="{BB962C8B-B14F-4D97-AF65-F5344CB8AC3E}">
        <p14:creationId xmlns:p14="http://schemas.microsoft.com/office/powerpoint/2010/main" val="2979019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027">
            <a:extLst>
              <a:ext uri="{FF2B5EF4-FFF2-40B4-BE49-F238E27FC236}">
                <a16:creationId xmlns:a16="http://schemas.microsoft.com/office/drawing/2014/main" id="{5E95B6F4-5764-4E81-B914-E3D1CC2EE4E1}"/>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600" dirty="0"/>
              <a:t>Oblate spheroid</a:t>
            </a:r>
          </a:p>
          <a:p>
            <a:pPr lvl="1">
              <a:buFont typeface="Wingdings" panose="05000000000000000000" pitchFamily="2" charset="2"/>
              <a:buChar char="ü"/>
            </a:pPr>
            <a:r>
              <a:rPr lang="en-US" altLang="en-US" sz="2160" dirty="0"/>
              <a:t>Equator has larger circumference than meridians</a:t>
            </a:r>
          </a:p>
          <a:p>
            <a:pPr lvl="1">
              <a:buFont typeface="Wingdings" panose="05000000000000000000" pitchFamily="2" charset="2"/>
              <a:buChar char="ü"/>
            </a:pPr>
            <a:r>
              <a:rPr lang="en-US" altLang="en-US" sz="2160" dirty="0"/>
              <a:t>Mass not evenly distributed </a:t>
            </a:r>
          </a:p>
        </p:txBody>
      </p:sp>
      <p:cxnSp>
        <p:nvCxnSpPr>
          <p:cNvPr id="7" name="Straight Connector 6">
            <a:extLst>
              <a:ext uri="{FF2B5EF4-FFF2-40B4-BE49-F238E27FC236}">
                <a16:creationId xmlns:a16="http://schemas.microsoft.com/office/drawing/2014/main" id="{D665678C-6D72-4D89-9FEE-2F8EFCB18F9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180342B3-71DA-4411-AD9E-33891050CB4E}"/>
              </a:ext>
            </a:extLst>
          </p:cNvPr>
          <p:cNvSpPr txBox="1">
            <a:spLocks/>
          </p:cNvSpPr>
          <p:nvPr/>
        </p:nvSpPr>
        <p:spPr>
          <a:xfrm>
            <a:off x="104003" y="1727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Shape of the Earth</a:t>
            </a:r>
            <a:endParaRPr lang="en-US" sz="2600" i="1" dirty="0">
              <a:solidFill>
                <a:srgbClr val="7030A0"/>
              </a:solidFill>
            </a:endParaRPr>
          </a:p>
        </p:txBody>
      </p:sp>
      <p:pic>
        <p:nvPicPr>
          <p:cNvPr id="14" name="Picture 13">
            <a:extLst>
              <a:ext uri="{FF2B5EF4-FFF2-40B4-BE49-F238E27FC236}">
                <a16:creationId xmlns:a16="http://schemas.microsoft.com/office/drawing/2014/main" id="{1C3836D6-3642-47E5-A9E6-C939910CDD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7143" y="2595836"/>
            <a:ext cx="2595311" cy="22106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a:extLst>
              <a:ext uri="{FF2B5EF4-FFF2-40B4-BE49-F238E27FC236}">
                <a16:creationId xmlns:a16="http://schemas.microsoft.com/office/drawing/2014/main" id="{4A37278D-2929-4879-83B7-668DE83FC6F7}"/>
              </a:ext>
            </a:extLst>
          </p:cNvPr>
          <p:cNvSpPr>
            <a:spLocks noGrp="1"/>
          </p:cNvSpPr>
          <p:nvPr>
            <p:ph type="sldNum" sz="quarter" idx="12"/>
          </p:nvPr>
        </p:nvSpPr>
        <p:spPr/>
        <p:txBody>
          <a:bodyPr/>
          <a:lstStyle/>
          <a:p>
            <a:fld id="{127DDC20-79C9-9647-820E-6D40A3D210C3}" type="slidenum">
              <a:rPr lang="en-US" smtClean="0"/>
              <a:pPr/>
              <a:t>7</a:t>
            </a:fld>
            <a:endParaRPr lang="en-US"/>
          </a:p>
        </p:txBody>
      </p:sp>
    </p:spTree>
    <p:extLst>
      <p:ext uri="{BB962C8B-B14F-4D97-AF65-F5344CB8AC3E}">
        <p14:creationId xmlns:p14="http://schemas.microsoft.com/office/powerpoint/2010/main" val="3935545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1FB797-4BD4-5032-2CCB-C890F53CACDD}"/>
              </a:ext>
            </a:extLst>
          </p:cNvPr>
          <p:cNvSpPr>
            <a:spLocks noGrp="1"/>
          </p:cNvSpPr>
          <p:nvPr>
            <p:ph idx="1"/>
          </p:nvPr>
        </p:nvSpPr>
        <p:spPr>
          <a:xfrm>
            <a:off x="392305" y="1019048"/>
            <a:ext cx="7444990" cy="2725865"/>
          </a:xfrm>
        </p:spPr>
        <p:txBody>
          <a:bodyPr>
            <a:normAutofit/>
          </a:bodyPr>
          <a:lstStyle/>
          <a:p>
            <a:r>
              <a:rPr lang="en-US" sz="2400" b="1" dirty="0"/>
              <a:t>Which statement best describes the shape of the Earth?</a:t>
            </a:r>
            <a:endParaRPr lang="en-US" sz="2400" dirty="0"/>
          </a:p>
          <a:p>
            <a:pPr marL="0" indent="0">
              <a:buNone/>
            </a:pPr>
            <a:r>
              <a:rPr lang="en-US" sz="2400" dirty="0"/>
              <a:t>A. A perfect sphere</a:t>
            </a:r>
            <a:br>
              <a:rPr lang="en-US" sz="2400" dirty="0"/>
            </a:br>
            <a:r>
              <a:rPr lang="en-US" sz="2400" dirty="0"/>
              <a:t>B. A flat circle</a:t>
            </a:r>
            <a:br>
              <a:rPr lang="en-US" sz="2400" dirty="0"/>
            </a:br>
            <a:r>
              <a:rPr lang="en-US" sz="2400" dirty="0"/>
              <a:t>C. An oblate spheroid</a:t>
            </a:r>
            <a:br>
              <a:rPr lang="en-US" sz="2400" dirty="0"/>
            </a:br>
            <a:r>
              <a:rPr lang="en-US" sz="2400" dirty="0"/>
              <a:t>D. A perfect ellipsoid</a:t>
            </a:r>
          </a:p>
          <a:p>
            <a:endParaRPr lang="en-US" sz="2400" dirty="0"/>
          </a:p>
        </p:txBody>
      </p:sp>
      <p:sp>
        <p:nvSpPr>
          <p:cNvPr id="4" name="Slide Number Placeholder 3">
            <a:extLst>
              <a:ext uri="{FF2B5EF4-FFF2-40B4-BE49-F238E27FC236}">
                <a16:creationId xmlns:a16="http://schemas.microsoft.com/office/drawing/2014/main" id="{BB39792B-F51D-9F25-5789-C9477E4E57AF}"/>
              </a:ext>
            </a:extLst>
          </p:cNvPr>
          <p:cNvSpPr>
            <a:spLocks noGrp="1"/>
          </p:cNvSpPr>
          <p:nvPr>
            <p:ph type="sldNum" sz="quarter" idx="12"/>
          </p:nvPr>
        </p:nvSpPr>
        <p:spPr/>
        <p:txBody>
          <a:bodyPr/>
          <a:lstStyle/>
          <a:p>
            <a:fld id="{127DDC20-79C9-9647-820E-6D40A3D210C3}" type="slidenum">
              <a:rPr lang="en-US" smtClean="0"/>
              <a:pPr/>
              <a:t>8</a:t>
            </a:fld>
            <a:endParaRPr lang="en-US"/>
          </a:p>
        </p:txBody>
      </p:sp>
    </p:spTree>
    <p:extLst>
      <p:ext uri="{BB962C8B-B14F-4D97-AF65-F5344CB8AC3E}">
        <p14:creationId xmlns:p14="http://schemas.microsoft.com/office/powerpoint/2010/main" val="3391467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027">
            <a:extLst>
              <a:ext uri="{FF2B5EF4-FFF2-40B4-BE49-F238E27FC236}">
                <a16:creationId xmlns:a16="http://schemas.microsoft.com/office/drawing/2014/main" id="{27DB8FA9-BDA5-4B3E-BDD4-93B7C42F443E}"/>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zh-CN" altLang="zh-CN" sz="2800" dirty="0"/>
              <a:t>An </a:t>
            </a:r>
            <a:r>
              <a:rPr lang="zh-CN" altLang="zh-CN" b="1" dirty="0"/>
              <a:t>ellipsoid</a:t>
            </a:r>
            <a:r>
              <a:rPr lang="zh-CN" altLang="zh-CN" sz="2800" dirty="0"/>
              <a:t> in GIS is a mathematically smooth, three-dimensional shape used to approximate the true, irregular shape of the Earth for coordinate calculations</a:t>
            </a:r>
            <a:r>
              <a:rPr lang="en-US" altLang="zh-CN" sz="2800" dirty="0"/>
              <a:t>.</a:t>
            </a:r>
            <a:endParaRPr lang="en-US" altLang="en-US" sz="2160" dirty="0"/>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cxnSp>
        <p:nvCxnSpPr>
          <p:cNvPr id="7" name="Straight Connector 6">
            <a:extLst>
              <a:ext uri="{FF2B5EF4-FFF2-40B4-BE49-F238E27FC236}">
                <a16:creationId xmlns:a16="http://schemas.microsoft.com/office/drawing/2014/main" id="{887169D0-0D27-4724-9609-1F1856F2AFA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63AFA498-9D77-44AF-AA2F-9C61F0248172}"/>
              </a:ext>
            </a:extLst>
          </p:cNvPr>
          <p:cNvSpPr txBox="1">
            <a:spLocks/>
          </p:cNvSpPr>
          <p:nvPr/>
        </p:nvSpPr>
        <p:spPr>
          <a:xfrm>
            <a:off x="104003" y="18132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Shape of the Earth - Ellipsoid</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1D813555-35FD-44B8-90EE-078819E9A143}"/>
              </a:ext>
            </a:extLst>
          </p:cNvPr>
          <p:cNvSpPr>
            <a:spLocks noGrp="1"/>
          </p:cNvSpPr>
          <p:nvPr>
            <p:ph type="sldNum" sz="quarter" idx="12"/>
          </p:nvPr>
        </p:nvSpPr>
        <p:spPr/>
        <p:txBody>
          <a:bodyPr/>
          <a:lstStyle/>
          <a:p>
            <a:fld id="{127DDC20-79C9-9647-820E-6D40A3D210C3}" type="slidenum">
              <a:rPr lang="en-US" smtClean="0"/>
              <a:pPr/>
              <a:t>9</a:t>
            </a:fld>
            <a:endParaRPr lang="en-US"/>
          </a:p>
        </p:txBody>
      </p:sp>
      <p:pic>
        <p:nvPicPr>
          <p:cNvPr id="5" name="Picture 4">
            <a:extLst>
              <a:ext uri="{FF2B5EF4-FFF2-40B4-BE49-F238E27FC236}">
                <a16:creationId xmlns:a16="http://schemas.microsoft.com/office/drawing/2014/main" id="{56BAF2A5-138A-7F20-89A8-2BFEA5004976}"/>
              </a:ext>
            </a:extLst>
          </p:cNvPr>
          <p:cNvPicPr>
            <a:picLocks noChangeAspect="1"/>
          </p:cNvPicPr>
          <p:nvPr/>
        </p:nvPicPr>
        <p:blipFill>
          <a:blip r:embed="rId3"/>
          <a:stretch>
            <a:fillRect/>
          </a:stretch>
        </p:blipFill>
        <p:spPr>
          <a:xfrm>
            <a:off x="1121548" y="2940696"/>
            <a:ext cx="2202686" cy="2063275"/>
          </a:xfrm>
          <a:prstGeom prst="rect">
            <a:avLst/>
          </a:prstGeom>
        </p:spPr>
      </p:pic>
      <p:sp>
        <p:nvSpPr>
          <p:cNvPr id="11" name="TextBox 10">
            <a:extLst>
              <a:ext uri="{FF2B5EF4-FFF2-40B4-BE49-F238E27FC236}">
                <a16:creationId xmlns:a16="http://schemas.microsoft.com/office/drawing/2014/main" id="{0DF6BFEE-5CC0-210E-6276-C6FEBB19901A}"/>
              </a:ext>
            </a:extLst>
          </p:cNvPr>
          <p:cNvSpPr txBox="1"/>
          <p:nvPr/>
        </p:nvSpPr>
        <p:spPr>
          <a:xfrm>
            <a:off x="3519158" y="3287371"/>
            <a:ext cx="4140200" cy="1200329"/>
          </a:xfrm>
          <a:prstGeom prst="rect">
            <a:avLst/>
          </a:prstGeom>
          <a:noFill/>
        </p:spPr>
        <p:txBody>
          <a:bodyPr wrap="square">
            <a:spAutoFit/>
          </a:bodyPr>
          <a:lstStyle/>
          <a:p>
            <a:pPr marL="285750" indent="-285750">
              <a:buFont typeface="Wingdings" panose="05000000000000000000" pitchFamily="2" charset="2"/>
              <a:buChar char="ü"/>
            </a:pPr>
            <a:r>
              <a:rPr lang="zh-CN" altLang="zh-CN" sz="1800" b="0" i="0" dirty="0">
                <a:solidFill>
                  <a:schemeClr val="tx1"/>
                </a:solidFill>
                <a:effectLst/>
                <a:latin typeface="Times New Roman" panose="02020603050405020304" pitchFamily="18" charset="0"/>
                <a:cs typeface="Times New Roman" panose="02020603050405020304" pitchFamily="18" charset="0"/>
              </a:rPr>
              <a:t>The major axis of an ellipse is the equatorial radius. </a:t>
            </a:r>
            <a:endParaRPr lang="en-US" altLang="zh-CN" sz="1800" b="0" i="0" dirty="0">
              <a:solidFill>
                <a:schemeClr val="tx1"/>
              </a:solidFill>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r>
              <a:rPr lang="zh-CN" altLang="zh-CN" sz="1800" b="0" i="0" dirty="0">
                <a:solidFill>
                  <a:schemeClr val="tx1"/>
                </a:solidFill>
                <a:effectLst/>
                <a:latin typeface="Times New Roman" panose="02020603050405020304" pitchFamily="18" charset="0"/>
                <a:cs typeface="Times New Roman" panose="02020603050405020304" pitchFamily="18" charset="0"/>
              </a:rPr>
              <a:t>The minor axis is from the poles to the center.</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2047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B75C6-6A62-BDFB-10AB-A13EE12BD784}"/>
              </a:ext>
            </a:extLst>
          </p:cNvPr>
          <p:cNvSpPr>
            <a:spLocks noGrp="1"/>
          </p:cNvSpPr>
          <p:nvPr>
            <p:ph type="title"/>
          </p:nvPr>
        </p:nvSpPr>
        <p:spPr>
          <a:xfrm>
            <a:off x="392305" y="526616"/>
            <a:ext cx="7444991" cy="582517"/>
          </a:xfrm>
        </p:spPr>
        <p:txBody>
          <a:bodyPr>
            <a:normAutofit/>
          </a:bodyPr>
          <a:lstStyle/>
          <a:p>
            <a:r>
              <a:rPr lang="en-US" sz="3200" dirty="0">
                <a:solidFill>
                  <a:srgbClr val="7030A0"/>
                </a:solidFill>
              </a:rPr>
              <a:t>Visualize an ellipsoid.</a:t>
            </a:r>
          </a:p>
        </p:txBody>
      </p:sp>
      <p:sp>
        <p:nvSpPr>
          <p:cNvPr id="4" name="Slide Number Placeholder 3">
            <a:extLst>
              <a:ext uri="{FF2B5EF4-FFF2-40B4-BE49-F238E27FC236}">
                <a16:creationId xmlns:a16="http://schemas.microsoft.com/office/drawing/2014/main" id="{4616B473-A139-66DF-8A45-96FE85F48A86}"/>
              </a:ext>
            </a:extLst>
          </p:cNvPr>
          <p:cNvSpPr>
            <a:spLocks noGrp="1"/>
          </p:cNvSpPr>
          <p:nvPr>
            <p:ph type="sldNum" sz="quarter" idx="12"/>
          </p:nvPr>
        </p:nvSpPr>
        <p:spPr/>
        <p:txBody>
          <a:bodyPr/>
          <a:lstStyle/>
          <a:p>
            <a:fld id="{127DDC20-79C9-9647-820E-6D40A3D210C3}" type="slidenum">
              <a:rPr lang="en-US" smtClean="0"/>
              <a:pPr/>
              <a:t>10</a:t>
            </a:fld>
            <a:endParaRPr lang="en-US"/>
          </a:p>
        </p:txBody>
      </p:sp>
      <p:pic>
        <p:nvPicPr>
          <p:cNvPr id="10" name="Content Placeholder 9">
            <a:hlinkClick r:id="rId2"/>
            <a:extLst>
              <a:ext uri="{FF2B5EF4-FFF2-40B4-BE49-F238E27FC236}">
                <a16:creationId xmlns:a16="http://schemas.microsoft.com/office/drawing/2014/main" id="{E87A7E0E-A736-07F8-B152-BE6D2215DE6A}"/>
              </a:ext>
            </a:extLst>
          </p:cNvPr>
          <p:cNvPicPr>
            <a:picLocks noGrp="1" noChangeAspect="1"/>
          </p:cNvPicPr>
          <p:nvPr>
            <p:ph idx="1"/>
          </p:nvPr>
        </p:nvPicPr>
        <p:blipFill>
          <a:blip r:embed="rId3"/>
          <a:stretch>
            <a:fillRect/>
          </a:stretch>
        </p:blipFill>
        <p:spPr>
          <a:xfrm>
            <a:off x="1737912" y="1134177"/>
            <a:ext cx="5230155" cy="3482707"/>
          </a:xfrm>
          <a:prstGeom prst="rect">
            <a:avLst/>
          </a:prstGeom>
        </p:spPr>
      </p:pic>
    </p:spTree>
    <p:extLst>
      <p:ext uri="{BB962C8B-B14F-4D97-AF65-F5344CB8AC3E}">
        <p14:creationId xmlns:p14="http://schemas.microsoft.com/office/powerpoint/2010/main" val="24475584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C98CF7-6823-2681-11C0-C917D642E94B}"/>
              </a:ext>
            </a:extLst>
          </p:cNvPr>
          <p:cNvSpPr>
            <a:spLocks noGrp="1"/>
          </p:cNvSpPr>
          <p:nvPr>
            <p:ph idx="1"/>
          </p:nvPr>
        </p:nvSpPr>
        <p:spPr>
          <a:xfrm>
            <a:off x="392305" y="536448"/>
            <a:ext cx="7444990" cy="2725865"/>
          </a:xfrm>
        </p:spPr>
        <p:txBody>
          <a:bodyPr>
            <a:normAutofit/>
          </a:bodyPr>
          <a:lstStyle/>
          <a:p>
            <a:r>
              <a:rPr lang="en-US" sz="2400" b="1" dirty="0"/>
              <a:t>True or False</a:t>
            </a:r>
            <a:endParaRPr lang="en-US" sz="2400" dirty="0"/>
          </a:p>
          <a:p>
            <a:pPr marL="0" indent="0">
              <a:buNone/>
            </a:pPr>
            <a:r>
              <a:rPr lang="en-US" sz="2400" dirty="0"/>
              <a:t>An ellipsoid is designed to reproduce every mountain, valley, and ocean trench on Earth.</a:t>
            </a:r>
          </a:p>
          <a:p>
            <a:endParaRPr lang="en-US" sz="2400" dirty="0"/>
          </a:p>
        </p:txBody>
      </p:sp>
      <p:sp>
        <p:nvSpPr>
          <p:cNvPr id="4" name="Slide Number Placeholder 3">
            <a:extLst>
              <a:ext uri="{FF2B5EF4-FFF2-40B4-BE49-F238E27FC236}">
                <a16:creationId xmlns:a16="http://schemas.microsoft.com/office/drawing/2014/main" id="{E0A67046-FCC3-9BAC-3979-A28EEB14F298}"/>
              </a:ext>
            </a:extLst>
          </p:cNvPr>
          <p:cNvSpPr>
            <a:spLocks noGrp="1"/>
          </p:cNvSpPr>
          <p:nvPr>
            <p:ph type="sldNum" sz="quarter" idx="12"/>
          </p:nvPr>
        </p:nvSpPr>
        <p:spPr/>
        <p:txBody>
          <a:bodyPr/>
          <a:lstStyle/>
          <a:p>
            <a:fld id="{127DDC20-79C9-9647-820E-6D40A3D210C3}" type="slidenum">
              <a:rPr lang="en-US" smtClean="0"/>
              <a:pPr/>
              <a:t>11</a:t>
            </a:fld>
            <a:endParaRPr lang="en-US"/>
          </a:p>
        </p:txBody>
      </p:sp>
    </p:spTree>
    <p:extLst>
      <p:ext uri="{BB962C8B-B14F-4D97-AF65-F5344CB8AC3E}">
        <p14:creationId xmlns:p14="http://schemas.microsoft.com/office/powerpoint/2010/main" val="3758676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B35158-36A1-8FD6-76B1-DAAE872A5F61}"/>
              </a:ext>
            </a:extLst>
          </p:cNvPr>
          <p:cNvSpPr>
            <a:spLocks noGrp="1"/>
          </p:cNvSpPr>
          <p:nvPr>
            <p:ph idx="1"/>
          </p:nvPr>
        </p:nvSpPr>
        <p:spPr>
          <a:xfrm>
            <a:off x="392305" y="908981"/>
            <a:ext cx="7444990" cy="2725865"/>
          </a:xfrm>
        </p:spPr>
        <p:txBody>
          <a:bodyPr>
            <a:normAutofit/>
          </a:bodyPr>
          <a:lstStyle/>
          <a:p>
            <a:r>
              <a:rPr lang="en-US" sz="2400" b="1" dirty="0"/>
              <a:t>Which two measurements primarily define the size and shape of an ellipsoid?</a:t>
            </a:r>
            <a:endParaRPr lang="en-US" sz="2400" dirty="0"/>
          </a:p>
          <a:p>
            <a:pPr marL="0" indent="0">
              <a:buNone/>
            </a:pPr>
            <a:r>
              <a:rPr lang="en-US" sz="2400" dirty="0"/>
              <a:t>A. Latitude and longitude</a:t>
            </a:r>
            <a:br>
              <a:rPr lang="en-US" sz="2400" dirty="0"/>
            </a:br>
            <a:r>
              <a:rPr lang="en-US" sz="2400" dirty="0"/>
              <a:t>B. Major axis and minor axis</a:t>
            </a:r>
            <a:br>
              <a:rPr lang="en-US" sz="2400" dirty="0"/>
            </a:br>
            <a:r>
              <a:rPr lang="en-US" sz="2400" dirty="0"/>
              <a:t>C. Elevation and depth</a:t>
            </a:r>
            <a:br>
              <a:rPr lang="en-US" sz="2400" dirty="0"/>
            </a:br>
            <a:r>
              <a:rPr lang="en-US" sz="2400" dirty="0"/>
              <a:t>D. Prime Meridian and Equator</a:t>
            </a:r>
          </a:p>
          <a:p>
            <a:endParaRPr lang="en-US" sz="2400" dirty="0"/>
          </a:p>
        </p:txBody>
      </p:sp>
      <p:sp>
        <p:nvSpPr>
          <p:cNvPr id="4" name="Slide Number Placeholder 3">
            <a:extLst>
              <a:ext uri="{FF2B5EF4-FFF2-40B4-BE49-F238E27FC236}">
                <a16:creationId xmlns:a16="http://schemas.microsoft.com/office/drawing/2014/main" id="{92E58082-024A-6CD4-DB61-FAD47E479068}"/>
              </a:ext>
            </a:extLst>
          </p:cNvPr>
          <p:cNvSpPr>
            <a:spLocks noGrp="1"/>
          </p:cNvSpPr>
          <p:nvPr>
            <p:ph type="sldNum" sz="quarter" idx="12"/>
          </p:nvPr>
        </p:nvSpPr>
        <p:spPr/>
        <p:txBody>
          <a:bodyPr/>
          <a:lstStyle/>
          <a:p>
            <a:fld id="{127DDC20-79C9-9647-820E-6D40A3D210C3}" type="slidenum">
              <a:rPr lang="en-US" smtClean="0"/>
              <a:pPr/>
              <a:t>12</a:t>
            </a:fld>
            <a:endParaRPr lang="en-US"/>
          </a:p>
        </p:txBody>
      </p:sp>
    </p:spTree>
    <p:extLst>
      <p:ext uri="{BB962C8B-B14F-4D97-AF65-F5344CB8AC3E}">
        <p14:creationId xmlns:p14="http://schemas.microsoft.com/office/powerpoint/2010/main" val="31437334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42230" y="4857520"/>
            <a:ext cx="4113728" cy="249684"/>
          </a:xfrm>
          <a:prstGeom prst="rect">
            <a:avLst/>
          </a:prstGeom>
        </p:spPr>
        <p:txBody>
          <a:bodyPr>
            <a:spAutoFit/>
          </a:bodyPr>
          <a:lstStyle/>
          <a:p>
            <a:pPr>
              <a:lnSpc>
                <a:spcPct val="107000"/>
              </a:lnSpc>
              <a:spcAft>
                <a:spcPts val="540"/>
              </a:spcAft>
            </a:pPr>
            <a:r>
              <a:rPr lang="en-US" sz="1000" dirty="0">
                <a:hlinkClick r:id="rId3"/>
              </a:rPr>
              <a:t>https://en.wikipedia.org/wiki/Geoid</a:t>
            </a:r>
            <a:endParaRPr lang="en-US" sz="1000" dirty="0">
              <a:latin typeface="Calibri" panose="020F0502020204030204" pitchFamily="34" charset="0"/>
              <a:ea typeface="Calibri" panose="020F0502020204030204" pitchFamily="34"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1376729C-592A-456C-8742-EE7FC5D27C8B}"/>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A3091769-5A78-4A75-99DB-506EEF9ACF66}"/>
              </a:ext>
            </a:extLst>
          </p:cNvPr>
          <p:cNvSpPr txBox="1">
            <a:spLocks/>
          </p:cNvSpPr>
          <p:nvPr/>
        </p:nvSpPr>
        <p:spPr>
          <a:xfrm>
            <a:off x="417358" y="77766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400" dirty="0"/>
              <a:t>Geoid: gravity-related vertical reference </a:t>
            </a:r>
          </a:p>
        </p:txBody>
      </p:sp>
      <p:sp>
        <p:nvSpPr>
          <p:cNvPr id="2" name="Slide Number Placeholder 1">
            <a:extLst>
              <a:ext uri="{FF2B5EF4-FFF2-40B4-BE49-F238E27FC236}">
                <a16:creationId xmlns:a16="http://schemas.microsoft.com/office/drawing/2014/main" id="{CDDA0B7A-1231-4BB4-8A98-0B08770C2378}"/>
              </a:ext>
            </a:extLst>
          </p:cNvPr>
          <p:cNvSpPr>
            <a:spLocks noGrp="1"/>
          </p:cNvSpPr>
          <p:nvPr>
            <p:ph type="sldNum" sz="quarter" idx="12"/>
          </p:nvPr>
        </p:nvSpPr>
        <p:spPr>
          <a:xfrm>
            <a:off x="7126853" y="4817936"/>
            <a:ext cx="710444" cy="273844"/>
          </a:xfrm>
        </p:spPr>
        <p:txBody>
          <a:bodyPr/>
          <a:lstStyle/>
          <a:p>
            <a:fld id="{127DDC20-79C9-9647-820E-6D40A3D210C3}" type="slidenum">
              <a:rPr lang="en-US" smtClean="0"/>
              <a:pPr/>
              <a:t>13</a:t>
            </a:fld>
            <a:endParaRPr lang="en-US"/>
          </a:p>
        </p:txBody>
      </p:sp>
      <p:sp>
        <p:nvSpPr>
          <p:cNvPr id="6" name="TextBox 5">
            <a:extLst>
              <a:ext uri="{FF2B5EF4-FFF2-40B4-BE49-F238E27FC236}">
                <a16:creationId xmlns:a16="http://schemas.microsoft.com/office/drawing/2014/main" id="{B5B4CAEF-9E5D-65A7-E7B1-ADFB0EF8910B}"/>
              </a:ext>
            </a:extLst>
          </p:cNvPr>
          <p:cNvSpPr txBox="1"/>
          <p:nvPr/>
        </p:nvSpPr>
        <p:spPr>
          <a:xfrm>
            <a:off x="632178" y="2901244"/>
            <a:ext cx="970844" cy="649270"/>
          </a:xfrm>
          <a:prstGeom prst="rect">
            <a:avLst/>
          </a:prstGeom>
          <a:noFill/>
        </p:spPr>
        <p:txBody>
          <a:bodyPr wrap="square" rtlCol="0">
            <a:spAutoFit/>
          </a:bodyPr>
          <a:lstStyle/>
          <a:p>
            <a:endParaRPr lang="en-US" dirty="0"/>
          </a:p>
        </p:txBody>
      </p:sp>
      <p:graphicFrame>
        <p:nvGraphicFramePr>
          <p:cNvPr id="2052" name="TextBox 12">
            <a:extLst>
              <a:ext uri="{FF2B5EF4-FFF2-40B4-BE49-F238E27FC236}">
                <a16:creationId xmlns:a16="http://schemas.microsoft.com/office/drawing/2014/main" id="{9171D8EA-90E9-752E-A668-3C67A32D15B0}"/>
              </a:ext>
            </a:extLst>
          </p:cNvPr>
          <p:cNvGraphicFramePr/>
          <p:nvPr>
            <p:extLst>
              <p:ext uri="{D42A27DB-BD31-4B8C-83A1-F6EECF244321}">
                <p14:modId xmlns:p14="http://schemas.microsoft.com/office/powerpoint/2010/main" val="2794897877"/>
              </p:ext>
            </p:extLst>
          </p:nvPr>
        </p:nvGraphicFramePr>
        <p:xfrm>
          <a:off x="152400" y="1570934"/>
          <a:ext cx="4771223" cy="31172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9" name="Picture 18">
            <a:extLst>
              <a:ext uri="{FF2B5EF4-FFF2-40B4-BE49-F238E27FC236}">
                <a16:creationId xmlns:a16="http://schemas.microsoft.com/office/drawing/2014/main" id="{936041FA-F5AC-6F64-95C0-F05301F86021}"/>
              </a:ext>
            </a:extLst>
          </p:cNvPr>
          <p:cNvPicPr>
            <a:picLocks noChangeAspect="1"/>
          </p:cNvPicPr>
          <p:nvPr/>
        </p:nvPicPr>
        <p:blipFill>
          <a:blip r:embed="rId9"/>
          <a:stretch>
            <a:fillRect/>
          </a:stretch>
        </p:blipFill>
        <p:spPr>
          <a:xfrm>
            <a:off x="4942114" y="1368218"/>
            <a:ext cx="3211286" cy="3066052"/>
          </a:xfrm>
          <a:prstGeom prst="rect">
            <a:avLst/>
          </a:prstGeom>
        </p:spPr>
      </p:pic>
      <p:sp>
        <p:nvSpPr>
          <p:cNvPr id="8" name="Title 1">
            <a:extLst>
              <a:ext uri="{FF2B5EF4-FFF2-40B4-BE49-F238E27FC236}">
                <a16:creationId xmlns:a16="http://schemas.microsoft.com/office/drawing/2014/main" id="{17134E9B-04F7-2107-68AC-0710C31D080B}"/>
              </a:ext>
            </a:extLst>
          </p:cNvPr>
          <p:cNvSpPr txBox="1">
            <a:spLocks/>
          </p:cNvSpPr>
          <p:nvPr/>
        </p:nvSpPr>
        <p:spPr>
          <a:xfrm>
            <a:off x="237067" y="26829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Shape of the Earth - Geoid</a:t>
            </a:r>
            <a:endParaRPr lang="en-US" sz="2600" i="1" dirty="0">
              <a:solidFill>
                <a:srgbClr val="7030A0"/>
              </a:solidFill>
            </a:endParaRPr>
          </a:p>
        </p:txBody>
      </p:sp>
    </p:spTree>
    <p:extLst>
      <p:ext uri="{BB962C8B-B14F-4D97-AF65-F5344CB8AC3E}">
        <p14:creationId xmlns:p14="http://schemas.microsoft.com/office/powerpoint/2010/main" val="3162667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411A0CB-2098-3D1E-38BE-F717CA095505}"/>
              </a:ext>
            </a:extLst>
          </p:cNvPr>
          <p:cNvSpPr>
            <a:spLocks noGrp="1"/>
          </p:cNvSpPr>
          <p:nvPr>
            <p:ph type="sldNum" sz="quarter" idx="12"/>
          </p:nvPr>
        </p:nvSpPr>
        <p:spPr/>
        <p:txBody>
          <a:bodyPr/>
          <a:lstStyle/>
          <a:p>
            <a:fld id="{127DDC20-79C9-9647-820E-6D40A3D210C3}" type="slidenum">
              <a:rPr lang="en-US" smtClean="0"/>
              <a:pPr/>
              <a:t>14</a:t>
            </a:fld>
            <a:endParaRPr lang="en-US"/>
          </a:p>
        </p:txBody>
      </p:sp>
      <p:pic>
        <p:nvPicPr>
          <p:cNvPr id="14" name="Content Placeholder 13">
            <a:hlinkClick r:id="rId2"/>
            <a:extLst>
              <a:ext uri="{FF2B5EF4-FFF2-40B4-BE49-F238E27FC236}">
                <a16:creationId xmlns:a16="http://schemas.microsoft.com/office/drawing/2014/main" id="{770A2CC6-6D46-9C08-09C9-838A2A4BC432}"/>
              </a:ext>
            </a:extLst>
          </p:cNvPr>
          <p:cNvPicPr>
            <a:picLocks noGrp="1" noChangeAspect="1"/>
          </p:cNvPicPr>
          <p:nvPr>
            <p:ph idx="1"/>
          </p:nvPr>
        </p:nvPicPr>
        <p:blipFill>
          <a:blip r:embed="rId3"/>
          <a:stretch>
            <a:fillRect/>
          </a:stretch>
        </p:blipFill>
        <p:spPr>
          <a:xfrm>
            <a:off x="637488" y="968961"/>
            <a:ext cx="6844587" cy="3985897"/>
          </a:xfrm>
          <a:prstGeom prst="rect">
            <a:avLst/>
          </a:prstGeom>
        </p:spPr>
      </p:pic>
      <p:sp>
        <p:nvSpPr>
          <p:cNvPr id="10" name="Title 1">
            <a:extLst>
              <a:ext uri="{FF2B5EF4-FFF2-40B4-BE49-F238E27FC236}">
                <a16:creationId xmlns:a16="http://schemas.microsoft.com/office/drawing/2014/main" id="{D3646006-8C46-3464-07F2-E473088080C8}"/>
              </a:ext>
            </a:extLst>
          </p:cNvPr>
          <p:cNvSpPr txBox="1">
            <a:spLocks/>
          </p:cNvSpPr>
          <p:nvPr/>
        </p:nvSpPr>
        <p:spPr>
          <a:xfrm>
            <a:off x="270933" y="30702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Geoid Height – Geoid 3D Model</a:t>
            </a:r>
            <a:endParaRPr lang="en-US" sz="2600" dirty="0">
              <a:solidFill>
                <a:srgbClr val="7030A0"/>
              </a:solidFill>
            </a:endParaRPr>
          </a:p>
        </p:txBody>
      </p:sp>
    </p:spTree>
    <p:extLst>
      <p:ext uri="{BB962C8B-B14F-4D97-AF65-F5344CB8AC3E}">
        <p14:creationId xmlns:p14="http://schemas.microsoft.com/office/powerpoint/2010/main" val="11704946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68C0EA-6F74-9132-0B36-06160A626AF3}"/>
              </a:ext>
            </a:extLst>
          </p:cNvPr>
          <p:cNvSpPr>
            <a:spLocks noGrp="1"/>
          </p:cNvSpPr>
          <p:nvPr>
            <p:ph idx="1"/>
          </p:nvPr>
        </p:nvSpPr>
        <p:spPr>
          <a:xfrm>
            <a:off x="392305" y="1032934"/>
            <a:ext cx="7444990" cy="3448580"/>
          </a:xfrm>
        </p:spPr>
        <p:txBody>
          <a:bodyPr>
            <a:normAutofit/>
          </a:bodyPr>
          <a:lstStyle/>
          <a:p>
            <a:r>
              <a:rPr lang="en-US" sz="2400" b="1" dirty="0"/>
              <a:t>True or False</a:t>
            </a:r>
            <a:endParaRPr lang="en-US" sz="2400" dirty="0"/>
          </a:p>
          <a:p>
            <a:pPr marL="0" indent="0">
              <a:buNone/>
            </a:pPr>
            <a:r>
              <a:rPr lang="en-US" sz="2400" dirty="0"/>
              <a:t>The geoid is a perfectly smooth mathematical surface.</a:t>
            </a:r>
          </a:p>
          <a:p>
            <a:r>
              <a:rPr lang="en-US" sz="2400" b="1" dirty="0"/>
              <a:t>What causes the geoid to be irregular?</a:t>
            </a:r>
            <a:endParaRPr lang="en-US" sz="2400" dirty="0"/>
          </a:p>
          <a:p>
            <a:pPr marL="0" indent="0">
              <a:buNone/>
            </a:pPr>
            <a:r>
              <a:rPr lang="en-US" sz="2400" dirty="0"/>
              <a:t>A. Political boundaries</a:t>
            </a:r>
            <a:br>
              <a:rPr lang="en-US" sz="2400" dirty="0"/>
            </a:br>
            <a:r>
              <a:rPr lang="en-US" sz="2400" dirty="0"/>
              <a:t>B. Uneven distribution of Earth’s mass</a:t>
            </a:r>
            <a:br>
              <a:rPr lang="en-US" sz="2400" dirty="0"/>
            </a:br>
            <a:r>
              <a:rPr lang="en-US" sz="2400" dirty="0"/>
              <a:t>C. Latitude lines</a:t>
            </a:r>
            <a:br>
              <a:rPr lang="en-US" sz="2400" dirty="0"/>
            </a:br>
            <a:r>
              <a:rPr lang="en-US" sz="2400" dirty="0"/>
              <a:t>D. Map projections</a:t>
            </a:r>
          </a:p>
        </p:txBody>
      </p:sp>
      <p:sp>
        <p:nvSpPr>
          <p:cNvPr id="4" name="Slide Number Placeholder 3">
            <a:extLst>
              <a:ext uri="{FF2B5EF4-FFF2-40B4-BE49-F238E27FC236}">
                <a16:creationId xmlns:a16="http://schemas.microsoft.com/office/drawing/2014/main" id="{CEEC8FB4-4160-2C35-2D1D-03C8C665F998}"/>
              </a:ext>
            </a:extLst>
          </p:cNvPr>
          <p:cNvSpPr>
            <a:spLocks noGrp="1"/>
          </p:cNvSpPr>
          <p:nvPr>
            <p:ph type="sldNum" sz="quarter" idx="12"/>
          </p:nvPr>
        </p:nvSpPr>
        <p:spPr/>
        <p:txBody>
          <a:bodyPr/>
          <a:lstStyle/>
          <a:p>
            <a:fld id="{127DDC20-79C9-9647-820E-6D40A3D210C3}" type="slidenum">
              <a:rPr lang="en-US" smtClean="0"/>
              <a:pPr/>
              <a:t>15</a:t>
            </a:fld>
            <a:endParaRPr lang="en-US"/>
          </a:p>
        </p:txBody>
      </p:sp>
    </p:spTree>
    <p:extLst>
      <p:ext uri="{BB962C8B-B14F-4D97-AF65-F5344CB8AC3E}">
        <p14:creationId xmlns:p14="http://schemas.microsoft.com/office/powerpoint/2010/main" val="40899994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50EC3-C373-A0F2-AFE8-B9D40A2B96F0}"/>
              </a:ext>
            </a:extLst>
          </p:cNvPr>
          <p:cNvSpPr>
            <a:spLocks noGrp="1"/>
          </p:cNvSpPr>
          <p:nvPr>
            <p:ph type="title"/>
          </p:nvPr>
        </p:nvSpPr>
        <p:spPr>
          <a:xfrm>
            <a:off x="392305" y="526617"/>
            <a:ext cx="7444991" cy="520201"/>
          </a:xfrm>
        </p:spPr>
        <p:txBody>
          <a:bodyPr>
            <a:normAutofit fontScale="90000"/>
          </a:bodyPr>
          <a:lstStyle/>
          <a:p>
            <a:r>
              <a:rPr lang="en-US" sz="3200" dirty="0">
                <a:solidFill>
                  <a:srgbClr val="7030A0"/>
                </a:solidFill>
              </a:rPr>
              <a:t>The Geoid and GPS</a:t>
            </a:r>
            <a:r>
              <a:rPr lang="zh-CN" altLang="en-US" sz="3200" dirty="0">
                <a:solidFill>
                  <a:srgbClr val="7030A0"/>
                </a:solidFill>
              </a:rPr>
              <a:t> </a:t>
            </a:r>
            <a:r>
              <a:rPr lang="en-US" sz="3200" dirty="0">
                <a:solidFill>
                  <a:srgbClr val="7030A0"/>
                </a:solidFill>
              </a:rPr>
              <a:t>Receiver Measurements</a:t>
            </a:r>
          </a:p>
        </p:txBody>
      </p:sp>
      <p:pic>
        <p:nvPicPr>
          <p:cNvPr id="6" name="Content Placeholder 5">
            <a:extLst>
              <a:ext uri="{FF2B5EF4-FFF2-40B4-BE49-F238E27FC236}">
                <a16:creationId xmlns:a16="http://schemas.microsoft.com/office/drawing/2014/main" id="{011192F6-5A97-174B-4E1A-9D60220C4646}"/>
              </a:ext>
            </a:extLst>
          </p:cNvPr>
          <p:cNvPicPr>
            <a:picLocks noGrp="1" noChangeAspect="1"/>
          </p:cNvPicPr>
          <p:nvPr>
            <p:ph idx="1"/>
          </p:nvPr>
        </p:nvPicPr>
        <p:blipFill>
          <a:blip r:embed="rId2"/>
          <a:stretch>
            <a:fillRect/>
          </a:stretch>
        </p:blipFill>
        <p:spPr>
          <a:xfrm>
            <a:off x="392305" y="1388534"/>
            <a:ext cx="7524940" cy="2965979"/>
          </a:xfrm>
          <a:prstGeom prst="rect">
            <a:avLst/>
          </a:prstGeom>
        </p:spPr>
      </p:pic>
      <p:sp>
        <p:nvSpPr>
          <p:cNvPr id="4" name="Slide Number Placeholder 3">
            <a:extLst>
              <a:ext uri="{FF2B5EF4-FFF2-40B4-BE49-F238E27FC236}">
                <a16:creationId xmlns:a16="http://schemas.microsoft.com/office/drawing/2014/main" id="{7974BE34-C1BE-6BCE-B453-9797B7C7A68F}"/>
              </a:ext>
            </a:extLst>
          </p:cNvPr>
          <p:cNvSpPr>
            <a:spLocks noGrp="1"/>
          </p:cNvSpPr>
          <p:nvPr>
            <p:ph type="sldNum" sz="quarter" idx="12"/>
          </p:nvPr>
        </p:nvSpPr>
        <p:spPr/>
        <p:txBody>
          <a:bodyPr/>
          <a:lstStyle/>
          <a:p>
            <a:fld id="{127DDC20-79C9-9647-820E-6D40A3D210C3}" type="slidenum">
              <a:rPr lang="en-US" smtClean="0"/>
              <a:pPr/>
              <a:t>16</a:t>
            </a:fld>
            <a:endParaRPr lang="en-US"/>
          </a:p>
        </p:txBody>
      </p:sp>
    </p:spTree>
    <p:extLst>
      <p:ext uri="{BB962C8B-B14F-4D97-AF65-F5344CB8AC3E}">
        <p14:creationId xmlns:p14="http://schemas.microsoft.com/office/powerpoint/2010/main" val="22373813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9D0D1-3FDC-9132-C1DE-A9D820DCA03A}"/>
              </a:ext>
            </a:extLst>
          </p:cNvPr>
          <p:cNvSpPr>
            <a:spLocks noGrp="1"/>
          </p:cNvSpPr>
          <p:nvPr>
            <p:ph type="title"/>
          </p:nvPr>
        </p:nvSpPr>
        <p:spPr>
          <a:xfrm>
            <a:off x="392305" y="526617"/>
            <a:ext cx="7444991" cy="531716"/>
          </a:xfrm>
        </p:spPr>
        <p:txBody>
          <a:bodyPr>
            <a:normAutofit fontScale="90000"/>
          </a:bodyPr>
          <a:lstStyle/>
          <a:p>
            <a:r>
              <a:rPr lang="en-US" sz="2900" dirty="0">
                <a:solidFill>
                  <a:srgbClr val="7030A0"/>
                </a:solidFill>
              </a:rPr>
              <a:t>The Geoid and GPS</a:t>
            </a:r>
            <a:r>
              <a:rPr lang="zh-CN" altLang="en-US" sz="2900" dirty="0">
                <a:solidFill>
                  <a:srgbClr val="7030A0"/>
                </a:solidFill>
              </a:rPr>
              <a:t> </a:t>
            </a:r>
            <a:r>
              <a:rPr lang="en-US" sz="2900" dirty="0">
                <a:solidFill>
                  <a:srgbClr val="7030A0"/>
                </a:solidFill>
              </a:rPr>
              <a:t>Receiver Measurements</a:t>
            </a:r>
          </a:p>
        </p:txBody>
      </p:sp>
      <p:pic>
        <p:nvPicPr>
          <p:cNvPr id="6" name="Content Placeholder 5">
            <a:extLst>
              <a:ext uri="{FF2B5EF4-FFF2-40B4-BE49-F238E27FC236}">
                <a16:creationId xmlns:a16="http://schemas.microsoft.com/office/drawing/2014/main" id="{FE578B90-7738-B7A8-50C3-16899094EA78}"/>
              </a:ext>
            </a:extLst>
          </p:cNvPr>
          <p:cNvPicPr>
            <a:picLocks noGrp="1" noChangeAspect="1"/>
          </p:cNvPicPr>
          <p:nvPr>
            <p:ph idx="1"/>
          </p:nvPr>
        </p:nvPicPr>
        <p:blipFill>
          <a:blip r:embed="rId3"/>
          <a:stretch>
            <a:fillRect/>
          </a:stretch>
        </p:blipFill>
        <p:spPr>
          <a:xfrm>
            <a:off x="319840" y="1239573"/>
            <a:ext cx="7589920" cy="3025246"/>
          </a:xfrm>
          <a:prstGeom prst="rect">
            <a:avLst/>
          </a:prstGeom>
        </p:spPr>
      </p:pic>
      <p:sp>
        <p:nvSpPr>
          <p:cNvPr id="4" name="Slide Number Placeholder 3">
            <a:extLst>
              <a:ext uri="{FF2B5EF4-FFF2-40B4-BE49-F238E27FC236}">
                <a16:creationId xmlns:a16="http://schemas.microsoft.com/office/drawing/2014/main" id="{AD733BC0-75CC-ABC4-83A7-2EC409F24F07}"/>
              </a:ext>
            </a:extLst>
          </p:cNvPr>
          <p:cNvSpPr>
            <a:spLocks noGrp="1"/>
          </p:cNvSpPr>
          <p:nvPr>
            <p:ph type="sldNum" sz="quarter" idx="12"/>
          </p:nvPr>
        </p:nvSpPr>
        <p:spPr/>
        <p:txBody>
          <a:bodyPr/>
          <a:lstStyle/>
          <a:p>
            <a:fld id="{127DDC20-79C9-9647-820E-6D40A3D210C3}" type="slidenum">
              <a:rPr lang="en-US" smtClean="0"/>
              <a:pPr/>
              <a:t>17</a:t>
            </a:fld>
            <a:endParaRPr lang="en-US"/>
          </a:p>
        </p:txBody>
      </p:sp>
    </p:spTree>
    <p:extLst>
      <p:ext uri="{BB962C8B-B14F-4D97-AF65-F5344CB8AC3E}">
        <p14:creationId xmlns:p14="http://schemas.microsoft.com/office/powerpoint/2010/main" val="22307922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AC9D5-42FB-8D8E-593D-3C8DFD0EF322}"/>
              </a:ext>
            </a:extLst>
          </p:cNvPr>
          <p:cNvSpPr>
            <a:spLocks noGrp="1"/>
          </p:cNvSpPr>
          <p:nvPr>
            <p:ph type="title"/>
          </p:nvPr>
        </p:nvSpPr>
        <p:spPr>
          <a:xfrm>
            <a:off x="392305" y="526617"/>
            <a:ext cx="7444991" cy="472450"/>
          </a:xfrm>
        </p:spPr>
        <p:txBody>
          <a:bodyPr/>
          <a:lstStyle/>
          <a:p>
            <a:r>
              <a:rPr lang="en-US" sz="2000" dirty="0">
                <a:solidFill>
                  <a:srgbClr val="7030A0"/>
                </a:solidFill>
              </a:rPr>
              <a:t>Geoid below ellipsoid</a:t>
            </a:r>
            <a:endParaRPr lang="en-US" dirty="0"/>
          </a:p>
        </p:txBody>
      </p:sp>
      <p:pic>
        <p:nvPicPr>
          <p:cNvPr id="6" name="Content Placeholder 5">
            <a:extLst>
              <a:ext uri="{FF2B5EF4-FFF2-40B4-BE49-F238E27FC236}">
                <a16:creationId xmlns:a16="http://schemas.microsoft.com/office/drawing/2014/main" id="{A3B13A1A-17A6-5E80-6F09-430ADCACE569}"/>
              </a:ext>
            </a:extLst>
          </p:cNvPr>
          <p:cNvPicPr>
            <a:picLocks noGrp="1" noChangeAspect="1"/>
          </p:cNvPicPr>
          <p:nvPr>
            <p:ph idx="1"/>
          </p:nvPr>
        </p:nvPicPr>
        <p:blipFill>
          <a:blip r:embed="rId2"/>
          <a:stretch>
            <a:fillRect/>
          </a:stretch>
        </p:blipFill>
        <p:spPr>
          <a:xfrm>
            <a:off x="1664721" y="1140975"/>
            <a:ext cx="4900158" cy="3676961"/>
          </a:xfrm>
          <a:prstGeom prst="rect">
            <a:avLst/>
          </a:prstGeom>
        </p:spPr>
      </p:pic>
      <p:sp>
        <p:nvSpPr>
          <p:cNvPr id="4" name="Slide Number Placeholder 3">
            <a:extLst>
              <a:ext uri="{FF2B5EF4-FFF2-40B4-BE49-F238E27FC236}">
                <a16:creationId xmlns:a16="http://schemas.microsoft.com/office/drawing/2014/main" id="{31188935-7382-4F97-97CA-E38BEDC8D487}"/>
              </a:ext>
            </a:extLst>
          </p:cNvPr>
          <p:cNvSpPr>
            <a:spLocks noGrp="1"/>
          </p:cNvSpPr>
          <p:nvPr>
            <p:ph type="sldNum" sz="quarter" idx="12"/>
          </p:nvPr>
        </p:nvSpPr>
        <p:spPr/>
        <p:txBody>
          <a:bodyPr/>
          <a:lstStyle/>
          <a:p>
            <a:fld id="{127DDC20-79C9-9647-820E-6D40A3D210C3}" type="slidenum">
              <a:rPr lang="en-US" smtClean="0"/>
              <a:pPr/>
              <a:t>18</a:t>
            </a:fld>
            <a:endParaRPr lang="en-US"/>
          </a:p>
        </p:txBody>
      </p:sp>
    </p:spTree>
    <p:extLst>
      <p:ext uri="{BB962C8B-B14F-4D97-AF65-F5344CB8AC3E}">
        <p14:creationId xmlns:p14="http://schemas.microsoft.com/office/powerpoint/2010/main" val="5094120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FBF9FC2-C803-6ED5-4442-5CD49D5F7A8F}"/>
                  </a:ext>
                </a:extLst>
              </p:cNvPr>
              <p:cNvSpPr>
                <a:spLocks noGrp="1"/>
              </p:cNvSpPr>
              <p:nvPr>
                <p:ph idx="1"/>
              </p:nvPr>
            </p:nvSpPr>
            <p:spPr>
              <a:xfrm>
                <a:off x="392307" y="492521"/>
                <a:ext cx="7444990" cy="4470803"/>
              </a:xfrm>
            </p:spPr>
            <p:txBody>
              <a:bodyPr>
                <a:normAutofit/>
              </a:bodyPr>
              <a:lstStyle/>
              <a:p>
                <a:r>
                  <a:rPr lang="en-US" sz="2400" b="1" dirty="0"/>
                  <a:t>If the geoid height </a:t>
                </a:r>
                <a14:m>
                  <m:oMath xmlns:m="http://schemas.openxmlformats.org/officeDocument/2006/math">
                    <m:r>
                      <a:rPr lang="en-US" sz="2400" i="1">
                        <a:latin typeface="Cambria Math" panose="02040503050406030204" pitchFamily="18" charset="0"/>
                      </a:rPr>
                      <m:t>𝑁</m:t>
                    </m:r>
                    <m:r>
                      <a:rPr lang="en-US" sz="2400" b="0" i="1" smtClean="0">
                        <a:latin typeface="Cambria Math" panose="02040503050406030204" pitchFamily="18" charset="0"/>
                      </a:rPr>
                      <m:t> </m:t>
                    </m:r>
                  </m:oMath>
                </a14:m>
                <a:r>
                  <a:rPr lang="en-US" sz="2400" b="1" dirty="0"/>
                  <a:t>is +40 m, what does this mean?</a:t>
                </a:r>
                <a:endParaRPr lang="en-US" sz="2400" dirty="0"/>
              </a:p>
              <a:p>
                <a:pPr marL="0" indent="0">
                  <a:buNone/>
                </a:pPr>
                <a:r>
                  <a:rPr lang="en-US" sz="2400" dirty="0"/>
                  <a:t>A. The terrain is 40 m high.</a:t>
                </a:r>
                <a:br>
                  <a:rPr lang="en-US" sz="2400" dirty="0"/>
                </a:br>
                <a:r>
                  <a:rPr lang="en-US" sz="2400" dirty="0"/>
                  <a:t>B. The geoid is 40 m above the reference ellipsoid.</a:t>
                </a:r>
                <a:br>
                  <a:rPr lang="en-US" sz="2400" dirty="0"/>
                </a:br>
                <a:r>
                  <a:rPr lang="en-US" sz="2400" dirty="0"/>
                  <a:t>C. The ellipsoid is 40 m above the geoid.</a:t>
                </a:r>
                <a:br>
                  <a:rPr lang="en-US" sz="2400" dirty="0"/>
                </a:br>
                <a:r>
                  <a:rPr lang="en-US" sz="2400" dirty="0"/>
                  <a:t>D. The elevation is automatically 40 m.</a:t>
                </a:r>
              </a:p>
              <a:p>
                <a:r>
                  <a:rPr lang="en-US" sz="2400" b="1" dirty="0"/>
                  <a:t>If the geoid height </a:t>
                </a:r>
                <a14:m>
                  <m:oMath xmlns:m="http://schemas.openxmlformats.org/officeDocument/2006/math">
                    <m:r>
                      <a:rPr lang="en-US" sz="2400" i="1">
                        <a:latin typeface="Cambria Math" panose="02040503050406030204" pitchFamily="18" charset="0"/>
                      </a:rPr>
                      <m:t>𝑁</m:t>
                    </m:r>
                    <m:r>
                      <a:rPr lang="en-US" sz="2400" i="1">
                        <a:latin typeface="Cambria Math" panose="02040503050406030204" pitchFamily="18" charset="0"/>
                      </a:rPr>
                      <m:t> </m:t>
                    </m:r>
                  </m:oMath>
                </a14:m>
                <a:r>
                  <a:rPr lang="en-US" sz="2400" b="1" dirty="0"/>
                  <a:t>is -25 m, what does this mean?</a:t>
                </a:r>
                <a:endParaRPr lang="en-US" sz="2400" dirty="0"/>
              </a:p>
              <a:p>
                <a:pPr marL="0" indent="0">
                  <a:buNone/>
                </a:pPr>
                <a:r>
                  <a:rPr lang="en-US" sz="2400" dirty="0"/>
                  <a:t>A. The terrain is 40 m high.</a:t>
                </a:r>
                <a:br>
                  <a:rPr lang="en-US" sz="2400" dirty="0"/>
                </a:br>
                <a:r>
                  <a:rPr lang="en-US" sz="2400" dirty="0"/>
                  <a:t>B. The geoid is 25 m below the reference ellipsoid.</a:t>
                </a:r>
                <a:br>
                  <a:rPr lang="en-US" sz="2400" dirty="0"/>
                </a:br>
                <a:r>
                  <a:rPr lang="en-US" sz="2400" dirty="0"/>
                  <a:t>C. The ellipsoid is 40 m above the geoid.</a:t>
                </a:r>
                <a:br>
                  <a:rPr lang="en-US" sz="2400" dirty="0"/>
                </a:br>
                <a:r>
                  <a:rPr lang="en-US" sz="2400" dirty="0"/>
                  <a:t>D. The elevation is automatically 40 m.</a:t>
                </a:r>
              </a:p>
              <a:p>
                <a:endParaRPr lang="en-US" sz="2400" dirty="0"/>
              </a:p>
            </p:txBody>
          </p:sp>
        </mc:Choice>
        <mc:Fallback xmlns="">
          <p:sp>
            <p:nvSpPr>
              <p:cNvPr id="3" name="Content Placeholder 2">
                <a:extLst>
                  <a:ext uri="{FF2B5EF4-FFF2-40B4-BE49-F238E27FC236}">
                    <a16:creationId xmlns:a16="http://schemas.microsoft.com/office/drawing/2014/main" id="{DFBF9FC2-C803-6ED5-4442-5CD49D5F7A8F}"/>
                  </a:ext>
                </a:extLst>
              </p:cNvPr>
              <p:cNvSpPr>
                <a:spLocks noGrp="1" noRot="1" noChangeAspect="1" noMove="1" noResize="1" noEditPoints="1" noAdjustHandles="1" noChangeArrowheads="1" noChangeShapeType="1" noTextEdit="1"/>
              </p:cNvSpPr>
              <p:nvPr>
                <p:ph idx="1"/>
              </p:nvPr>
            </p:nvSpPr>
            <p:spPr>
              <a:xfrm>
                <a:off x="392307" y="492521"/>
                <a:ext cx="7444990" cy="4470803"/>
              </a:xfrm>
              <a:blipFill>
                <a:blip r:embed="rId3"/>
                <a:stretch>
                  <a:fillRect l="-1227" t="-272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E1DDA6C2-67DF-FA6A-537E-4323F7880871}"/>
              </a:ext>
            </a:extLst>
          </p:cNvPr>
          <p:cNvSpPr>
            <a:spLocks noGrp="1"/>
          </p:cNvSpPr>
          <p:nvPr>
            <p:ph type="sldNum" sz="quarter" idx="12"/>
          </p:nvPr>
        </p:nvSpPr>
        <p:spPr/>
        <p:txBody>
          <a:bodyPr/>
          <a:lstStyle/>
          <a:p>
            <a:fld id="{127DDC20-79C9-9647-820E-6D40A3D210C3}" type="slidenum">
              <a:rPr lang="en-US" smtClean="0"/>
              <a:pPr/>
              <a:t>19</a:t>
            </a:fld>
            <a:endParaRPr lang="en-US"/>
          </a:p>
        </p:txBody>
      </p:sp>
    </p:spTree>
    <p:extLst>
      <p:ext uri="{BB962C8B-B14F-4D97-AF65-F5344CB8AC3E}">
        <p14:creationId xmlns:p14="http://schemas.microsoft.com/office/powerpoint/2010/main" val="32926970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B0A7CF6-A01A-9674-9466-7A90338FCA66}"/>
              </a:ext>
            </a:extLst>
          </p:cNvPr>
          <p:cNvSpPr>
            <a:spLocks noGrp="1"/>
          </p:cNvSpPr>
          <p:nvPr>
            <p:ph type="sldNum" sz="quarter" idx="12"/>
          </p:nvPr>
        </p:nvSpPr>
        <p:spPr/>
        <p:txBody>
          <a:bodyPr/>
          <a:lstStyle/>
          <a:p>
            <a:fld id="{127DDC20-79C9-9647-820E-6D40A3D210C3}" type="slidenum">
              <a:rPr lang="en-US" smtClean="0"/>
              <a:pPr/>
              <a:t>20</a:t>
            </a:fld>
            <a:endParaRPr lang="en-US"/>
          </a:p>
        </p:txBody>
      </p:sp>
      <p:sp>
        <p:nvSpPr>
          <p:cNvPr id="5" name="Title 1">
            <a:extLst>
              <a:ext uri="{FF2B5EF4-FFF2-40B4-BE49-F238E27FC236}">
                <a16:creationId xmlns:a16="http://schemas.microsoft.com/office/drawing/2014/main" id="{797FB215-6895-CDF9-48A8-5E566773035C}"/>
              </a:ext>
            </a:extLst>
          </p:cNvPr>
          <p:cNvSpPr txBox="1">
            <a:spLocks/>
          </p:cNvSpPr>
          <p:nvPr/>
        </p:nvSpPr>
        <p:spPr>
          <a:xfrm>
            <a:off x="152400" y="22454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Geoid Height</a:t>
            </a:r>
            <a:endParaRPr lang="en-US" sz="2600" dirty="0">
              <a:solidFill>
                <a:srgbClr val="7030A0"/>
              </a:solidFill>
            </a:endParaRPr>
          </a:p>
        </p:txBody>
      </p:sp>
      <p:pic>
        <p:nvPicPr>
          <p:cNvPr id="7" name="Picture 6">
            <a:extLst>
              <a:ext uri="{FF2B5EF4-FFF2-40B4-BE49-F238E27FC236}">
                <a16:creationId xmlns:a16="http://schemas.microsoft.com/office/drawing/2014/main" id="{537B8E12-E4AF-CC97-4A66-C6A24884362B}"/>
              </a:ext>
            </a:extLst>
          </p:cNvPr>
          <p:cNvPicPr>
            <a:picLocks noChangeAspect="1"/>
          </p:cNvPicPr>
          <p:nvPr/>
        </p:nvPicPr>
        <p:blipFill>
          <a:blip r:embed="rId2"/>
          <a:stretch>
            <a:fillRect/>
          </a:stretch>
        </p:blipFill>
        <p:spPr>
          <a:xfrm>
            <a:off x="1052801" y="1433756"/>
            <a:ext cx="6392726" cy="3627246"/>
          </a:xfrm>
          <a:prstGeom prst="rect">
            <a:avLst/>
          </a:prstGeom>
        </p:spPr>
      </p:pic>
      <p:sp>
        <p:nvSpPr>
          <p:cNvPr id="2" name="TextBox 1">
            <a:extLst>
              <a:ext uri="{FF2B5EF4-FFF2-40B4-BE49-F238E27FC236}">
                <a16:creationId xmlns:a16="http://schemas.microsoft.com/office/drawing/2014/main" id="{45573FE1-4B10-3AAD-E39B-B59AF1D86994}"/>
              </a:ext>
            </a:extLst>
          </p:cNvPr>
          <p:cNvSpPr txBox="1"/>
          <p:nvPr/>
        </p:nvSpPr>
        <p:spPr>
          <a:xfrm>
            <a:off x="1143634" y="1033646"/>
            <a:ext cx="6547696" cy="400110"/>
          </a:xfrm>
          <a:prstGeom prst="rect">
            <a:avLst/>
          </a:prstGeom>
          <a:noFill/>
        </p:spPr>
        <p:txBody>
          <a:bodyPr wrap="square" rtlCol="0">
            <a:spAutoFit/>
          </a:bodyPr>
          <a:lstStyle/>
          <a:p>
            <a:r>
              <a:rPr lang="en-US" sz="2000" dirty="0"/>
              <a:t>Which areas have higher values of Geoid height?</a:t>
            </a:r>
          </a:p>
        </p:txBody>
      </p:sp>
      <p:sp>
        <p:nvSpPr>
          <p:cNvPr id="9" name="TextBox 8">
            <a:extLst>
              <a:ext uri="{FF2B5EF4-FFF2-40B4-BE49-F238E27FC236}">
                <a16:creationId xmlns:a16="http://schemas.microsoft.com/office/drawing/2014/main" id="{9E635D23-61A0-1362-BF37-BD4FBF43C16E}"/>
              </a:ext>
            </a:extLst>
          </p:cNvPr>
          <p:cNvSpPr txBox="1"/>
          <p:nvPr/>
        </p:nvSpPr>
        <p:spPr>
          <a:xfrm>
            <a:off x="298450" y="1002869"/>
            <a:ext cx="709083" cy="461665"/>
          </a:xfrm>
          <a:prstGeom prst="rect">
            <a:avLst/>
          </a:prstGeom>
          <a:noFill/>
        </p:spPr>
        <p:txBody>
          <a:bodyPr wrap="square">
            <a:spAutoFit/>
          </a:bodyPr>
          <a:lstStyle/>
          <a:p>
            <a:r>
              <a:rPr lang="en-US" sz="2400" dirty="0"/>
              <a:t>🤔</a:t>
            </a:r>
          </a:p>
        </p:txBody>
      </p:sp>
      <p:sp>
        <p:nvSpPr>
          <p:cNvPr id="6" name="TextBox 5">
            <a:extLst>
              <a:ext uri="{FF2B5EF4-FFF2-40B4-BE49-F238E27FC236}">
                <a16:creationId xmlns:a16="http://schemas.microsoft.com/office/drawing/2014/main" id="{9EF3F881-8742-4442-E986-14079E1AD7C2}"/>
              </a:ext>
            </a:extLst>
          </p:cNvPr>
          <p:cNvSpPr txBox="1"/>
          <p:nvPr/>
        </p:nvSpPr>
        <p:spPr>
          <a:xfrm>
            <a:off x="152400" y="4168450"/>
            <a:ext cx="4119032" cy="923330"/>
          </a:xfrm>
          <a:prstGeom prst="rect">
            <a:avLst/>
          </a:prstGeom>
          <a:noFill/>
        </p:spPr>
        <p:txBody>
          <a:bodyPr wrap="square">
            <a:spAutoFit/>
          </a:bodyPr>
          <a:lstStyle/>
          <a:p>
            <a:pPr>
              <a:buNone/>
            </a:pPr>
            <a:r>
              <a:rPr lang="en-US" b="1" dirty="0">
                <a:solidFill>
                  <a:srgbClr val="FF0000"/>
                </a:solidFill>
              </a:rPr>
              <a:t>A higher geoid height does not necessarily mean higher terrain, higher elevation, or more mountains.</a:t>
            </a:r>
            <a:endParaRPr lang="en-US" dirty="0">
              <a:solidFill>
                <a:srgbClr val="FF0000"/>
              </a:solidFill>
            </a:endParaRPr>
          </a:p>
        </p:txBody>
      </p:sp>
    </p:spTree>
    <p:extLst>
      <p:ext uri="{BB962C8B-B14F-4D97-AF65-F5344CB8AC3E}">
        <p14:creationId xmlns:p14="http://schemas.microsoft.com/office/powerpoint/2010/main" val="143438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DD51EB9-3431-28E6-A5D5-AB46BDADCD9D}"/>
              </a:ext>
            </a:extLst>
          </p:cNvPr>
          <p:cNvSpPr>
            <a:spLocks noGrp="1"/>
          </p:cNvSpPr>
          <p:nvPr>
            <p:ph type="sldNum" sz="quarter" idx="12"/>
          </p:nvPr>
        </p:nvSpPr>
        <p:spPr/>
        <p:txBody>
          <a:bodyPr/>
          <a:lstStyle/>
          <a:p>
            <a:fld id="{127DDC20-79C9-9647-820E-6D40A3D210C3}" type="slidenum">
              <a:rPr lang="en-US" smtClean="0"/>
              <a:pPr/>
              <a:t>21</a:t>
            </a:fld>
            <a:endParaRPr lang="en-US"/>
          </a:p>
        </p:txBody>
      </p:sp>
      <p:pic>
        <p:nvPicPr>
          <p:cNvPr id="6" name="Picture 5">
            <a:extLst>
              <a:ext uri="{FF2B5EF4-FFF2-40B4-BE49-F238E27FC236}">
                <a16:creationId xmlns:a16="http://schemas.microsoft.com/office/drawing/2014/main" id="{476D8713-378C-EFAB-302F-56F9E17785FC}"/>
              </a:ext>
            </a:extLst>
          </p:cNvPr>
          <p:cNvPicPr>
            <a:picLocks noChangeAspect="1"/>
          </p:cNvPicPr>
          <p:nvPr/>
        </p:nvPicPr>
        <p:blipFill>
          <a:blip r:embed="rId2"/>
          <a:stretch>
            <a:fillRect/>
          </a:stretch>
        </p:blipFill>
        <p:spPr>
          <a:xfrm>
            <a:off x="512210" y="1330033"/>
            <a:ext cx="7435961" cy="3021680"/>
          </a:xfrm>
          <a:prstGeom prst="rect">
            <a:avLst/>
          </a:prstGeom>
        </p:spPr>
      </p:pic>
      <p:sp>
        <p:nvSpPr>
          <p:cNvPr id="8" name="Title 1">
            <a:extLst>
              <a:ext uri="{FF2B5EF4-FFF2-40B4-BE49-F238E27FC236}">
                <a16:creationId xmlns:a16="http://schemas.microsoft.com/office/drawing/2014/main" id="{DF40862E-7DAC-C971-C358-FDF8988F637F}"/>
              </a:ext>
            </a:extLst>
          </p:cNvPr>
          <p:cNvSpPr txBox="1">
            <a:spLocks/>
          </p:cNvSpPr>
          <p:nvPr/>
        </p:nvSpPr>
        <p:spPr>
          <a:xfrm>
            <a:off x="270933" y="32829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Ellipsoid and Geoid</a:t>
            </a:r>
            <a:endParaRPr lang="en-US" sz="2600" dirty="0">
              <a:solidFill>
                <a:srgbClr val="7030A0"/>
              </a:solidFill>
            </a:endParaRPr>
          </a:p>
        </p:txBody>
      </p:sp>
    </p:spTree>
    <p:extLst>
      <p:ext uri="{BB962C8B-B14F-4D97-AF65-F5344CB8AC3E}">
        <p14:creationId xmlns:p14="http://schemas.microsoft.com/office/powerpoint/2010/main" val="35500509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F00BFBDE-1E47-E447-3038-E154848F45D7}"/>
              </a:ext>
            </a:extLst>
          </p:cNvPr>
          <p:cNvPicPr>
            <a:picLocks noChangeAspect="1"/>
          </p:cNvPicPr>
          <p:nvPr/>
        </p:nvPicPr>
        <p:blipFill>
          <a:blip r:embed="rId3"/>
          <a:stretch>
            <a:fillRect/>
          </a:stretch>
        </p:blipFill>
        <p:spPr>
          <a:xfrm>
            <a:off x="1715492" y="3561379"/>
            <a:ext cx="5411361" cy="1530401"/>
          </a:xfrm>
          <a:prstGeom prst="rect">
            <a:avLst/>
          </a:prstGeom>
        </p:spPr>
      </p:pic>
      <p:cxnSp>
        <p:nvCxnSpPr>
          <p:cNvPr id="5" name="Straight Connector 4">
            <a:extLst>
              <a:ext uri="{FF2B5EF4-FFF2-40B4-BE49-F238E27FC236}">
                <a16:creationId xmlns:a16="http://schemas.microsoft.com/office/drawing/2014/main" id="{D7B7BC78-D894-4474-B472-32D53812C8BC}"/>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8124C274-97D0-422F-8C64-7B8F8F1C63D8}"/>
              </a:ext>
            </a:extLst>
          </p:cNvPr>
          <p:cNvSpPr txBox="1">
            <a:spLocks/>
          </p:cNvSpPr>
          <p:nvPr/>
        </p:nvSpPr>
        <p:spPr>
          <a:xfrm>
            <a:off x="222330" y="21435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defTabSz="308610"/>
            <a:r>
              <a:rPr lang="en-US" sz="2000" cap="all" dirty="0">
                <a:solidFill>
                  <a:schemeClr val="tx1">
                    <a:lumMod val="75000"/>
                    <a:lumOff val="25000"/>
                  </a:schemeClr>
                </a:solidFill>
              </a:rPr>
              <a:t>Relationship between terrain, an datum, and an ellipsoid</a:t>
            </a:r>
          </a:p>
        </p:txBody>
      </p:sp>
      <p:sp>
        <p:nvSpPr>
          <p:cNvPr id="2" name="Slide Number Placeholder 1">
            <a:extLst>
              <a:ext uri="{FF2B5EF4-FFF2-40B4-BE49-F238E27FC236}">
                <a16:creationId xmlns:a16="http://schemas.microsoft.com/office/drawing/2014/main" id="{E300CDA3-F19D-48BF-87E1-EA21B004D529}"/>
              </a:ext>
            </a:extLst>
          </p:cNvPr>
          <p:cNvSpPr>
            <a:spLocks noGrp="1"/>
          </p:cNvSpPr>
          <p:nvPr>
            <p:ph type="sldNum" sz="quarter" idx="12"/>
          </p:nvPr>
        </p:nvSpPr>
        <p:spPr/>
        <p:txBody>
          <a:bodyPr/>
          <a:lstStyle/>
          <a:p>
            <a:fld id="{127DDC20-79C9-9647-820E-6D40A3D210C3}" type="slidenum">
              <a:rPr lang="en-US" smtClean="0"/>
              <a:pPr/>
              <a:t>22</a:t>
            </a:fld>
            <a:endParaRPr lang="en-US"/>
          </a:p>
        </p:txBody>
      </p:sp>
      <p:pic>
        <p:nvPicPr>
          <p:cNvPr id="7" name="Picture 6">
            <a:extLst>
              <a:ext uri="{FF2B5EF4-FFF2-40B4-BE49-F238E27FC236}">
                <a16:creationId xmlns:a16="http://schemas.microsoft.com/office/drawing/2014/main" id="{90297F4A-943C-AAE9-C30F-68A3F6E67790}"/>
              </a:ext>
            </a:extLst>
          </p:cNvPr>
          <p:cNvPicPr>
            <a:picLocks noChangeAspect="1"/>
          </p:cNvPicPr>
          <p:nvPr/>
        </p:nvPicPr>
        <p:blipFill>
          <a:blip r:embed="rId4"/>
          <a:stretch>
            <a:fillRect/>
          </a:stretch>
        </p:blipFill>
        <p:spPr>
          <a:xfrm>
            <a:off x="613868" y="1009004"/>
            <a:ext cx="7078063" cy="3019846"/>
          </a:xfrm>
          <a:prstGeom prst="rect">
            <a:avLst/>
          </a:prstGeom>
        </p:spPr>
      </p:pic>
    </p:spTree>
    <p:extLst>
      <p:ext uri="{BB962C8B-B14F-4D97-AF65-F5344CB8AC3E}">
        <p14:creationId xmlns:p14="http://schemas.microsoft.com/office/powerpoint/2010/main" val="2639691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259812-4C9E-C62E-28D7-04DCCC83E0E4}"/>
              </a:ext>
            </a:extLst>
          </p:cNvPr>
          <p:cNvSpPr>
            <a:spLocks noGrp="1"/>
          </p:cNvSpPr>
          <p:nvPr>
            <p:ph idx="1"/>
          </p:nvPr>
        </p:nvSpPr>
        <p:spPr>
          <a:xfrm>
            <a:off x="392307" y="1146048"/>
            <a:ext cx="7444990" cy="2725865"/>
          </a:xfrm>
        </p:spPr>
        <p:txBody>
          <a:bodyPr>
            <a:normAutofit/>
          </a:bodyPr>
          <a:lstStyle/>
          <a:p>
            <a:r>
              <a:rPr lang="en-US" sz="2000" b="1" dirty="0"/>
              <a:t>Which statement is correct?</a:t>
            </a:r>
            <a:endParaRPr lang="en-US" sz="2000" dirty="0"/>
          </a:p>
          <a:p>
            <a:pPr marL="0" indent="0">
              <a:buNone/>
            </a:pPr>
            <a:r>
              <a:rPr lang="en-US" sz="2000" dirty="0"/>
              <a:t>A. Both the geoid and ellipsoid are perfectly smooth mathematical surfaces.</a:t>
            </a:r>
            <a:br>
              <a:rPr lang="en-US" sz="2000" dirty="0"/>
            </a:br>
            <a:r>
              <a:rPr lang="en-US" sz="2000" dirty="0"/>
              <a:t>B. The ellipsoid is gravity-based, while the geoid is purely mathematical.</a:t>
            </a:r>
            <a:br>
              <a:rPr lang="en-US" sz="2000" dirty="0"/>
            </a:br>
            <a:r>
              <a:rPr lang="en-US" sz="2000" dirty="0"/>
              <a:t>C. The ellipsoid is a smooth mathematical approximation; the geoid is gravity-based and irregular.</a:t>
            </a:r>
            <a:br>
              <a:rPr lang="en-US" sz="2000" dirty="0"/>
            </a:br>
            <a:r>
              <a:rPr lang="en-US" sz="2000" dirty="0"/>
              <a:t>D. The geoid represents mountains and terrain.</a:t>
            </a:r>
          </a:p>
          <a:p>
            <a:endParaRPr lang="en-US" sz="2000" dirty="0"/>
          </a:p>
        </p:txBody>
      </p:sp>
      <p:sp>
        <p:nvSpPr>
          <p:cNvPr id="4" name="Slide Number Placeholder 3">
            <a:extLst>
              <a:ext uri="{FF2B5EF4-FFF2-40B4-BE49-F238E27FC236}">
                <a16:creationId xmlns:a16="http://schemas.microsoft.com/office/drawing/2014/main" id="{7D302F20-B84C-0BF0-F869-6BFFD99B0FF1}"/>
              </a:ext>
            </a:extLst>
          </p:cNvPr>
          <p:cNvSpPr>
            <a:spLocks noGrp="1"/>
          </p:cNvSpPr>
          <p:nvPr>
            <p:ph type="sldNum" sz="quarter" idx="12"/>
          </p:nvPr>
        </p:nvSpPr>
        <p:spPr/>
        <p:txBody>
          <a:bodyPr/>
          <a:lstStyle/>
          <a:p>
            <a:fld id="{127DDC20-79C9-9647-820E-6D40A3D210C3}" type="slidenum">
              <a:rPr lang="en-US" smtClean="0"/>
              <a:pPr/>
              <a:t>23</a:t>
            </a:fld>
            <a:endParaRPr lang="en-US"/>
          </a:p>
        </p:txBody>
      </p:sp>
    </p:spTree>
    <p:extLst>
      <p:ext uri="{BB962C8B-B14F-4D97-AF65-F5344CB8AC3E}">
        <p14:creationId xmlns:p14="http://schemas.microsoft.com/office/powerpoint/2010/main" val="38489123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46D13-C729-E912-2B53-1D69AA01894C}"/>
              </a:ext>
            </a:extLst>
          </p:cNvPr>
          <p:cNvSpPr>
            <a:spLocks noGrp="1"/>
          </p:cNvSpPr>
          <p:nvPr>
            <p:ph type="title"/>
          </p:nvPr>
        </p:nvSpPr>
        <p:spPr>
          <a:xfrm>
            <a:off x="392305" y="426090"/>
            <a:ext cx="7444991" cy="641378"/>
          </a:xfrm>
        </p:spPr>
        <p:txBody>
          <a:bodyPr>
            <a:noAutofit/>
          </a:bodyPr>
          <a:lstStyle/>
          <a:p>
            <a:r>
              <a:rPr lang="en-US" sz="3200" dirty="0"/>
              <a:t>What is datum?</a:t>
            </a:r>
          </a:p>
        </p:txBody>
      </p:sp>
      <p:pic>
        <p:nvPicPr>
          <p:cNvPr id="6" name="Content Placeholder 5">
            <a:hlinkClick r:id="rId2"/>
            <a:extLst>
              <a:ext uri="{FF2B5EF4-FFF2-40B4-BE49-F238E27FC236}">
                <a16:creationId xmlns:a16="http://schemas.microsoft.com/office/drawing/2014/main" id="{B23066BB-A765-511B-6511-67DA6F279696}"/>
              </a:ext>
            </a:extLst>
          </p:cNvPr>
          <p:cNvPicPr>
            <a:picLocks noGrp="1" noChangeAspect="1"/>
          </p:cNvPicPr>
          <p:nvPr>
            <p:ph idx="1"/>
          </p:nvPr>
        </p:nvPicPr>
        <p:blipFill>
          <a:blip r:embed="rId3"/>
          <a:stretch>
            <a:fillRect/>
          </a:stretch>
        </p:blipFill>
        <p:spPr>
          <a:xfrm>
            <a:off x="392305" y="1167995"/>
            <a:ext cx="7560435" cy="3448887"/>
          </a:xfrm>
        </p:spPr>
      </p:pic>
      <p:sp>
        <p:nvSpPr>
          <p:cNvPr id="4" name="Slide Number Placeholder 3">
            <a:extLst>
              <a:ext uri="{FF2B5EF4-FFF2-40B4-BE49-F238E27FC236}">
                <a16:creationId xmlns:a16="http://schemas.microsoft.com/office/drawing/2014/main" id="{308FB293-23BD-9C64-F7F1-6B64D06DCAAE}"/>
              </a:ext>
            </a:extLst>
          </p:cNvPr>
          <p:cNvSpPr>
            <a:spLocks noGrp="1"/>
          </p:cNvSpPr>
          <p:nvPr>
            <p:ph type="sldNum" sz="quarter" idx="12"/>
          </p:nvPr>
        </p:nvSpPr>
        <p:spPr/>
        <p:txBody>
          <a:bodyPr/>
          <a:lstStyle/>
          <a:p>
            <a:fld id="{127DDC20-79C9-9647-820E-6D40A3D210C3}" type="slidenum">
              <a:rPr lang="en-US" smtClean="0"/>
              <a:pPr/>
              <a:t>24</a:t>
            </a:fld>
            <a:endParaRPr lang="en-US"/>
          </a:p>
        </p:txBody>
      </p:sp>
    </p:spTree>
    <p:extLst>
      <p:ext uri="{BB962C8B-B14F-4D97-AF65-F5344CB8AC3E}">
        <p14:creationId xmlns:p14="http://schemas.microsoft.com/office/powerpoint/2010/main" val="25659012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3C0DC-AA63-CFFE-85FF-59B6840736B4}"/>
              </a:ext>
            </a:extLst>
          </p:cNvPr>
          <p:cNvSpPr>
            <a:spLocks noGrp="1"/>
          </p:cNvSpPr>
          <p:nvPr>
            <p:ph type="title"/>
          </p:nvPr>
        </p:nvSpPr>
        <p:spPr>
          <a:xfrm>
            <a:off x="392305" y="526616"/>
            <a:ext cx="7444991" cy="455517"/>
          </a:xfrm>
        </p:spPr>
        <p:txBody>
          <a:bodyPr>
            <a:noAutofit/>
          </a:bodyPr>
          <a:lstStyle/>
          <a:p>
            <a:r>
              <a:rPr lang="en-US" altLang="zh-CN" sz="2800" dirty="0"/>
              <a:t>Horizontal datum</a:t>
            </a:r>
            <a:endParaRPr lang="en-US" sz="2800" dirty="0"/>
          </a:p>
        </p:txBody>
      </p:sp>
      <p:sp>
        <p:nvSpPr>
          <p:cNvPr id="3" name="Content Placeholder 2">
            <a:extLst>
              <a:ext uri="{FF2B5EF4-FFF2-40B4-BE49-F238E27FC236}">
                <a16:creationId xmlns:a16="http://schemas.microsoft.com/office/drawing/2014/main" id="{A136308D-7965-253B-1A6A-7B25831617B4}"/>
              </a:ext>
            </a:extLst>
          </p:cNvPr>
          <p:cNvSpPr>
            <a:spLocks noGrp="1"/>
          </p:cNvSpPr>
          <p:nvPr>
            <p:ph idx="1"/>
          </p:nvPr>
        </p:nvSpPr>
        <p:spPr>
          <a:xfrm>
            <a:off x="392307" y="1016931"/>
            <a:ext cx="7444990" cy="1410885"/>
          </a:xfrm>
        </p:spPr>
        <p:txBody>
          <a:bodyPr>
            <a:normAutofit/>
          </a:bodyPr>
          <a:lstStyle/>
          <a:p>
            <a:r>
              <a:rPr lang="en-US" sz="2000" dirty="0"/>
              <a:t>Ellipsoid model and reference system</a:t>
            </a:r>
          </a:p>
          <a:p>
            <a:r>
              <a:rPr lang="en-US" sz="2000" dirty="0"/>
              <a:t>It defines how to pinpoint locations on the Earth's surface using latitude and longitude coordinates</a:t>
            </a:r>
          </a:p>
        </p:txBody>
      </p:sp>
      <p:sp>
        <p:nvSpPr>
          <p:cNvPr id="4" name="Slide Number Placeholder 3">
            <a:extLst>
              <a:ext uri="{FF2B5EF4-FFF2-40B4-BE49-F238E27FC236}">
                <a16:creationId xmlns:a16="http://schemas.microsoft.com/office/drawing/2014/main" id="{5ABA03A2-AA5B-ACBE-54DA-19ECF0CDCE41}"/>
              </a:ext>
            </a:extLst>
          </p:cNvPr>
          <p:cNvSpPr>
            <a:spLocks noGrp="1"/>
          </p:cNvSpPr>
          <p:nvPr>
            <p:ph type="sldNum" sz="quarter" idx="12"/>
          </p:nvPr>
        </p:nvSpPr>
        <p:spPr/>
        <p:txBody>
          <a:bodyPr/>
          <a:lstStyle/>
          <a:p>
            <a:fld id="{127DDC20-79C9-9647-820E-6D40A3D210C3}" type="slidenum">
              <a:rPr lang="en-US" smtClean="0"/>
              <a:pPr/>
              <a:t>25</a:t>
            </a:fld>
            <a:endParaRPr lang="en-US"/>
          </a:p>
        </p:txBody>
      </p:sp>
      <p:pic>
        <p:nvPicPr>
          <p:cNvPr id="6" name="Picture 5">
            <a:extLst>
              <a:ext uri="{FF2B5EF4-FFF2-40B4-BE49-F238E27FC236}">
                <a16:creationId xmlns:a16="http://schemas.microsoft.com/office/drawing/2014/main" id="{D922FABF-C9CC-7647-9FAB-64F80647A4E6}"/>
              </a:ext>
            </a:extLst>
          </p:cNvPr>
          <p:cNvPicPr>
            <a:picLocks noChangeAspect="1"/>
          </p:cNvPicPr>
          <p:nvPr/>
        </p:nvPicPr>
        <p:blipFill>
          <a:blip r:embed="rId2"/>
          <a:stretch>
            <a:fillRect/>
          </a:stretch>
        </p:blipFill>
        <p:spPr>
          <a:xfrm>
            <a:off x="1545166" y="2495518"/>
            <a:ext cx="5139267" cy="2596262"/>
          </a:xfrm>
          <a:prstGeom prst="rect">
            <a:avLst/>
          </a:prstGeom>
        </p:spPr>
      </p:pic>
    </p:spTree>
    <p:extLst>
      <p:ext uri="{BB962C8B-B14F-4D97-AF65-F5344CB8AC3E}">
        <p14:creationId xmlns:p14="http://schemas.microsoft.com/office/powerpoint/2010/main" val="39247727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9B407-E925-6325-7587-C47CAD1FE8B2}"/>
              </a:ext>
            </a:extLst>
          </p:cNvPr>
          <p:cNvSpPr>
            <a:spLocks noGrp="1"/>
          </p:cNvSpPr>
          <p:nvPr>
            <p:ph type="title"/>
          </p:nvPr>
        </p:nvSpPr>
        <p:spPr>
          <a:xfrm>
            <a:off x="392305" y="573174"/>
            <a:ext cx="7617162" cy="891540"/>
          </a:xfrm>
        </p:spPr>
        <p:txBody>
          <a:bodyPr>
            <a:noAutofit/>
          </a:bodyPr>
          <a:lstStyle/>
          <a:p>
            <a:r>
              <a:rPr lang="en-US" sz="2800" dirty="0"/>
              <a:t>The World at Zero: Equator &amp; Prime Meridian</a:t>
            </a:r>
          </a:p>
        </p:txBody>
      </p:sp>
      <p:sp>
        <p:nvSpPr>
          <p:cNvPr id="4" name="Slide Number Placeholder 3">
            <a:extLst>
              <a:ext uri="{FF2B5EF4-FFF2-40B4-BE49-F238E27FC236}">
                <a16:creationId xmlns:a16="http://schemas.microsoft.com/office/drawing/2014/main" id="{54DB4DA8-0E05-0F00-F4C4-FBCF7830654F}"/>
              </a:ext>
            </a:extLst>
          </p:cNvPr>
          <p:cNvSpPr>
            <a:spLocks noGrp="1"/>
          </p:cNvSpPr>
          <p:nvPr>
            <p:ph type="sldNum" sz="quarter" idx="12"/>
          </p:nvPr>
        </p:nvSpPr>
        <p:spPr/>
        <p:txBody>
          <a:bodyPr/>
          <a:lstStyle/>
          <a:p>
            <a:fld id="{127DDC20-79C9-9647-820E-6D40A3D210C3}" type="slidenum">
              <a:rPr lang="en-US" smtClean="0"/>
              <a:pPr/>
              <a:t>26</a:t>
            </a:fld>
            <a:endParaRPr lang="en-US"/>
          </a:p>
        </p:txBody>
      </p:sp>
      <p:sp>
        <p:nvSpPr>
          <p:cNvPr id="5" name="Rectangle 1">
            <a:extLst>
              <a:ext uri="{FF2B5EF4-FFF2-40B4-BE49-F238E27FC236}">
                <a16:creationId xmlns:a16="http://schemas.microsoft.com/office/drawing/2014/main" id="{D31D0D77-0577-2FAD-949D-F31BEC7ECEBF}"/>
              </a:ext>
            </a:extLst>
          </p:cNvPr>
          <p:cNvSpPr>
            <a:spLocks noGrp="1" noChangeArrowheads="1"/>
          </p:cNvSpPr>
          <p:nvPr>
            <p:ph idx="1"/>
          </p:nvPr>
        </p:nvSpPr>
        <p:spPr bwMode="auto">
          <a:xfrm>
            <a:off x="392306" y="1464714"/>
            <a:ext cx="7515562" cy="2927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06550" lvl="8" indent="-206550" fontAlgn="base">
              <a:buClr>
                <a:schemeClr val="accent1"/>
              </a:buClr>
            </a:pPr>
            <a:r>
              <a:rPr lang="en-US" altLang="en-US" sz="2400" dirty="0">
                <a:solidFill>
                  <a:schemeClr val="tx1">
                    <a:lumMod val="75000"/>
                    <a:lumOff val="25000"/>
                  </a:schemeClr>
                </a:solidFill>
              </a:rPr>
              <a:t>Using </a:t>
            </a:r>
            <a:r>
              <a:rPr lang="en-US" altLang="en-US" sz="2400" dirty="0">
                <a:solidFill>
                  <a:schemeClr val="tx1">
                    <a:lumMod val="75000"/>
                    <a:lumOff val="25000"/>
                  </a:schemeClr>
                </a:solidFill>
                <a:hlinkClick r:id="rId2"/>
              </a:rPr>
              <a:t>Google Earth</a:t>
            </a:r>
            <a:r>
              <a:rPr lang="en-US" altLang="en-US" sz="2400" dirty="0">
                <a:solidFill>
                  <a:schemeClr val="tx1">
                    <a:lumMod val="75000"/>
                    <a:lumOff val="25000"/>
                  </a:schemeClr>
                </a:solidFill>
              </a:rPr>
              <a:t>, find the location at the intersection of the Equator (0° latitude) and the Prime Meridian (0° longitude). Does this point fall on land or in the ocean?</a:t>
            </a:r>
          </a:p>
          <a:p>
            <a:pPr marR="0" lvl="0" fontAlgn="base">
              <a:tabLst/>
            </a:pPr>
            <a:r>
              <a:rPr lang="en-US" altLang="en-US" sz="2400" dirty="0"/>
              <a:t>Identify one country that lies near the Prime Meridian (0° longitude).</a:t>
            </a:r>
          </a:p>
          <a:p>
            <a:pPr marR="0" lvl="0" fontAlgn="base">
              <a:tabLst/>
            </a:pPr>
            <a:r>
              <a:rPr lang="en-US" altLang="en-US" sz="2400" dirty="0"/>
              <a:t>Identify one country that lies near the Equator (0° latitude).</a:t>
            </a:r>
          </a:p>
        </p:txBody>
      </p:sp>
      <p:sp>
        <p:nvSpPr>
          <p:cNvPr id="6" name="TextBox 5">
            <a:extLst>
              <a:ext uri="{FF2B5EF4-FFF2-40B4-BE49-F238E27FC236}">
                <a16:creationId xmlns:a16="http://schemas.microsoft.com/office/drawing/2014/main" id="{43C134F2-7F8D-DAF4-3D12-D089C7379F31}"/>
              </a:ext>
            </a:extLst>
          </p:cNvPr>
          <p:cNvSpPr txBox="1"/>
          <p:nvPr/>
        </p:nvSpPr>
        <p:spPr>
          <a:xfrm>
            <a:off x="685799" y="4605867"/>
            <a:ext cx="6062133" cy="369332"/>
          </a:xfrm>
          <a:prstGeom prst="rect">
            <a:avLst/>
          </a:prstGeom>
          <a:noFill/>
        </p:spPr>
        <p:txBody>
          <a:bodyPr wrap="square" rtlCol="0">
            <a:spAutoFit/>
          </a:bodyPr>
          <a:lstStyle/>
          <a:p>
            <a:r>
              <a:rPr lang="en-US" dirty="0"/>
              <a:t>* Click view – show gridlines to display gridlines on earth</a:t>
            </a:r>
          </a:p>
        </p:txBody>
      </p:sp>
    </p:spTree>
    <p:extLst>
      <p:ext uri="{BB962C8B-B14F-4D97-AF65-F5344CB8AC3E}">
        <p14:creationId xmlns:p14="http://schemas.microsoft.com/office/powerpoint/2010/main" val="3587898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69F59D4F-B0BE-475D-AE48-3F3857D19DC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0B03CE7B-460A-422D-AA2F-1AE4F1359281}"/>
              </a:ext>
            </a:extLst>
          </p:cNvPr>
          <p:cNvSpPr txBox="1">
            <a:spLocks/>
          </p:cNvSpPr>
          <p:nvPr/>
        </p:nvSpPr>
        <p:spPr>
          <a:xfrm>
            <a:off x="118533" y="22733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Common Horizontal Datum</a:t>
            </a:r>
            <a:endParaRPr lang="en-US" sz="2600" dirty="0">
              <a:solidFill>
                <a:srgbClr val="7030A0"/>
              </a:solidFill>
            </a:endParaRPr>
          </a:p>
        </p:txBody>
      </p:sp>
      <p:sp>
        <p:nvSpPr>
          <p:cNvPr id="4" name="Rectangle 1027">
            <a:extLst>
              <a:ext uri="{FF2B5EF4-FFF2-40B4-BE49-F238E27FC236}">
                <a16:creationId xmlns:a16="http://schemas.microsoft.com/office/drawing/2014/main" id="{69E91D31-722B-4BC5-8372-946A6405564F}"/>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lnSpc>
                <a:spcPct val="90000"/>
              </a:lnSpc>
              <a:buFont typeface="Courier New" panose="02070309020205020404" pitchFamily="49" charset="0"/>
              <a:buChar char="o"/>
            </a:pPr>
            <a:r>
              <a:rPr lang="en-GB" sz="2600" b="1" dirty="0"/>
              <a:t>NAD27: </a:t>
            </a:r>
            <a:r>
              <a:rPr lang="en-GB" sz="2600" dirty="0"/>
              <a:t>North American Datum of 1927</a:t>
            </a:r>
            <a:endParaRPr lang="en-GB" sz="2600" b="1" dirty="0"/>
          </a:p>
          <a:p>
            <a:pPr>
              <a:lnSpc>
                <a:spcPct val="90000"/>
              </a:lnSpc>
              <a:buFont typeface="Courier New" panose="02070309020205020404" pitchFamily="49" charset="0"/>
              <a:buChar char="o"/>
            </a:pPr>
            <a:r>
              <a:rPr lang="en-GB" sz="2600" b="1" dirty="0"/>
              <a:t>NAD83: </a:t>
            </a:r>
            <a:r>
              <a:rPr lang="en-GB" sz="2600" dirty="0"/>
              <a:t>North American Datum of 1983</a:t>
            </a:r>
          </a:p>
          <a:p>
            <a:pPr lvl="1">
              <a:lnSpc>
                <a:spcPct val="90000"/>
              </a:lnSpc>
              <a:buFont typeface="Wingdings" panose="05000000000000000000" pitchFamily="2" charset="2"/>
              <a:buChar char="ü"/>
            </a:pPr>
            <a:r>
              <a:rPr lang="en-GB" sz="2240" dirty="0"/>
              <a:t>NAD83(xx), xx represents year, version of datum adjustment</a:t>
            </a:r>
          </a:p>
          <a:p>
            <a:pPr lvl="1">
              <a:lnSpc>
                <a:spcPct val="90000"/>
              </a:lnSpc>
              <a:buFont typeface="Wingdings" panose="05000000000000000000" pitchFamily="2" charset="2"/>
              <a:buChar char="ü"/>
            </a:pPr>
            <a:r>
              <a:rPr lang="en-GB" sz="2240" dirty="0"/>
              <a:t>NAD83(HARN/HPGN): High Accuracy Reference Networks or High Precision Geodetic Networks</a:t>
            </a:r>
          </a:p>
          <a:p>
            <a:pPr>
              <a:lnSpc>
                <a:spcPct val="90000"/>
              </a:lnSpc>
              <a:buFont typeface="Courier New" panose="02070309020205020404" pitchFamily="49" charset="0"/>
              <a:buChar char="o"/>
            </a:pPr>
            <a:r>
              <a:rPr lang="en-GB" sz="2600" b="1" dirty="0"/>
              <a:t>WGS84: </a:t>
            </a:r>
            <a:r>
              <a:rPr lang="en-GB" sz="2600" dirty="0"/>
              <a:t>World Geodetic System 0f 1984</a:t>
            </a:r>
          </a:p>
          <a:p>
            <a:pPr lvl="1">
              <a:lnSpc>
                <a:spcPct val="90000"/>
              </a:lnSpc>
              <a:buFont typeface="Wingdings" panose="05000000000000000000" pitchFamily="2" charset="2"/>
              <a:buChar char="ü"/>
            </a:pPr>
            <a:r>
              <a:rPr lang="en-GB" sz="2240" dirty="0"/>
              <a:t>WGS84(xx)</a:t>
            </a:r>
          </a:p>
          <a:p>
            <a:pPr>
              <a:lnSpc>
                <a:spcPct val="90000"/>
              </a:lnSpc>
              <a:buFont typeface="Courier New" panose="02070309020205020404" pitchFamily="49" charset="0"/>
              <a:buChar char="o"/>
            </a:pPr>
            <a:r>
              <a:rPr lang="en-GB" sz="2800" b="1" dirty="0"/>
              <a:t>ITRF: </a:t>
            </a:r>
            <a:r>
              <a:rPr lang="en-GB" sz="2800" dirty="0"/>
              <a:t>International Terrestrial Reference Frames</a:t>
            </a:r>
          </a:p>
          <a:p>
            <a:pPr lvl="1">
              <a:lnSpc>
                <a:spcPct val="90000"/>
              </a:lnSpc>
              <a:buFont typeface="Wingdings" panose="05000000000000000000" pitchFamily="2" charset="2"/>
              <a:buChar char="ü"/>
            </a:pPr>
            <a:r>
              <a:rPr lang="en-GB" sz="2440" dirty="0"/>
              <a:t>ITRF89, ITRF90, ITRF91</a:t>
            </a:r>
          </a:p>
          <a:p>
            <a:pPr>
              <a:lnSpc>
                <a:spcPct val="90000"/>
              </a:lnSpc>
            </a:pPr>
            <a:endParaRPr lang="en-GB" sz="2800" b="1" dirty="0">
              <a:solidFill>
                <a:schemeClr val="tx2"/>
              </a:solidFill>
            </a:endParaRPr>
          </a:p>
          <a:p>
            <a:pPr marL="0" indent="0">
              <a:buNone/>
            </a:pPr>
            <a:endParaRPr lang="en-US" altLang="en-US" sz="2600" dirty="0"/>
          </a:p>
          <a:p>
            <a:pPr lvl="1">
              <a:buFont typeface="Arial" panose="020B0604020202020204" pitchFamily="34" charset="0"/>
              <a:buChar char="•"/>
            </a:pPr>
            <a:endParaRPr lang="en-US" altLang="en-US" sz="2240" dirty="0"/>
          </a:p>
          <a:p>
            <a:pPr marL="411480" lvl="1" indent="0">
              <a:buNone/>
            </a:pPr>
            <a:endParaRPr lang="en-US" altLang="en-US" sz="2240" dirty="0"/>
          </a:p>
        </p:txBody>
      </p:sp>
      <p:sp>
        <p:nvSpPr>
          <p:cNvPr id="2" name="Slide Number Placeholder 1">
            <a:extLst>
              <a:ext uri="{FF2B5EF4-FFF2-40B4-BE49-F238E27FC236}">
                <a16:creationId xmlns:a16="http://schemas.microsoft.com/office/drawing/2014/main" id="{4D1598C4-F4D7-4636-A85B-3F16EB6F6921}"/>
              </a:ext>
            </a:extLst>
          </p:cNvPr>
          <p:cNvSpPr>
            <a:spLocks noGrp="1"/>
          </p:cNvSpPr>
          <p:nvPr>
            <p:ph type="sldNum" sz="quarter" idx="12"/>
          </p:nvPr>
        </p:nvSpPr>
        <p:spPr/>
        <p:txBody>
          <a:bodyPr/>
          <a:lstStyle/>
          <a:p>
            <a:fld id="{127DDC20-79C9-9647-820E-6D40A3D210C3}" type="slidenum">
              <a:rPr lang="en-US" smtClean="0"/>
              <a:pPr/>
              <a:t>27</a:t>
            </a:fld>
            <a:endParaRPr lang="en-US"/>
          </a:p>
        </p:txBody>
      </p:sp>
    </p:spTree>
    <p:extLst>
      <p:ext uri="{BB962C8B-B14F-4D97-AF65-F5344CB8AC3E}">
        <p14:creationId xmlns:p14="http://schemas.microsoft.com/office/powerpoint/2010/main" val="2640908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69F59D4F-B0BE-475D-AE48-3F3857D19DC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0B03CE7B-460A-422D-AA2F-1AE4F1359281}"/>
              </a:ext>
            </a:extLst>
          </p:cNvPr>
          <p:cNvSpPr txBox="1">
            <a:spLocks/>
          </p:cNvSpPr>
          <p:nvPr/>
        </p:nvSpPr>
        <p:spPr>
          <a:xfrm>
            <a:off x="152400" y="2020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Datum</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4D1598C4-F4D7-4636-A85B-3F16EB6F6921}"/>
              </a:ext>
            </a:extLst>
          </p:cNvPr>
          <p:cNvSpPr>
            <a:spLocks noGrp="1"/>
          </p:cNvSpPr>
          <p:nvPr>
            <p:ph type="sldNum" sz="quarter" idx="12"/>
          </p:nvPr>
        </p:nvSpPr>
        <p:spPr/>
        <p:txBody>
          <a:bodyPr/>
          <a:lstStyle/>
          <a:p>
            <a:fld id="{127DDC20-79C9-9647-820E-6D40A3D210C3}" type="slidenum">
              <a:rPr lang="en-US" smtClean="0"/>
              <a:pPr/>
              <a:t>28</a:t>
            </a:fld>
            <a:endParaRPr lang="en-US"/>
          </a:p>
        </p:txBody>
      </p:sp>
      <p:pic>
        <p:nvPicPr>
          <p:cNvPr id="5" name="Picture 4" descr="Diagram&#10;&#10;Description automatically generated">
            <a:extLst>
              <a:ext uri="{FF2B5EF4-FFF2-40B4-BE49-F238E27FC236}">
                <a16:creationId xmlns:a16="http://schemas.microsoft.com/office/drawing/2014/main" id="{8E5A012B-77DC-45C8-8F2D-98C4CF7F71FA}"/>
              </a:ext>
            </a:extLst>
          </p:cNvPr>
          <p:cNvPicPr>
            <a:picLocks noChangeAspect="1"/>
          </p:cNvPicPr>
          <p:nvPr/>
        </p:nvPicPr>
        <p:blipFill>
          <a:blip r:embed="rId3"/>
          <a:stretch>
            <a:fillRect/>
          </a:stretch>
        </p:blipFill>
        <p:spPr>
          <a:xfrm>
            <a:off x="1841157" y="2117671"/>
            <a:ext cx="4337221" cy="3025829"/>
          </a:xfrm>
          <a:prstGeom prst="rect">
            <a:avLst/>
          </a:prstGeom>
        </p:spPr>
      </p:pic>
      <p:sp>
        <p:nvSpPr>
          <p:cNvPr id="8" name="Rectangle 1027">
            <a:extLst>
              <a:ext uri="{FF2B5EF4-FFF2-40B4-BE49-F238E27FC236}">
                <a16:creationId xmlns:a16="http://schemas.microsoft.com/office/drawing/2014/main" id="{95E0B5C8-DE5F-410D-955B-E0CA34F0F8D2}"/>
              </a:ext>
            </a:extLst>
          </p:cNvPr>
          <p:cNvSpPr txBox="1">
            <a:spLocks noChangeArrowheads="1"/>
          </p:cNvSpPr>
          <p:nvPr/>
        </p:nvSpPr>
        <p:spPr>
          <a:xfrm>
            <a:off x="302741" y="1029962"/>
            <a:ext cx="7679724" cy="1218968"/>
          </a:xfrm>
          <a:prstGeom prst="rect">
            <a:avLst/>
          </a:prstGeom>
        </p:spPr>
        <p:txBody>
          <a:bodyPr vert="horz" lIns="91440" tIns="45720" rIns="91440" bIns="45720" rtlCol="0">
            <a:normAutofit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lnSpc>
                <a:spcPct val="90000"/>
              </a:lnSpc>
              <a:buFont typeface="Courier New" panose="02070309020205020404" pitchFamily="49" charset="0"/>
              <a:buChar char="o"/>
            </a:pPr>
            <a:r>
              <a:rPr lang="en-GB" sz="2600" dirty="0"/>
              <a:t>WGS84 and </a:t>
            </a:r>
            <a:r>
              <a:rPr lang="en-GB" sz="2800" dirty="0"/>
              <a:t>ITRF can be considered equivalent for most purpose, as difference between them since 1995 are generally only a few centimetres</a:t>
            </a:r>
            <a:endParaRPr lang="en-GB" sz="2800" dirty="0">
              <a:solidFill>
                <a:schemeClr val="tx2"/>
              </a:solidFill>
            </a:endParaRPr>
          </a:p>
          <a:p>
            <a:pPr marL="0" indent="0">
              <a:buNone/>
            </a:pPr>
            <a:endParaRPr lang="en-US" altLang="en-US" sz="2600" dirty="0"/>
          </a:p>
          <a:p>
            <a:pPr lvl="1">
              <a:buFont typeface="Arial" panose="020B0604020202020204" pitchFamily="34" charset="0"/>
              <a:buChar char="•"/>
            </a:pPr>
            <a:endParaRPr lang="en-US" altLang="en-US" sz="2240" dirty="0"/>
          </a:p>
          <a:p>
            <a:pPr marL="411480" lvl="1" indent="0">
              <a:buNone/>
            </a:pPr>
            <a:endParaRPr lang="en-US" altLang="en-US" sz="2240" dirty="0"/>
          </a:p>
        </p:txBody>
      </p:sp>
      <p:sp>
        <p:nvSpPr>
          <p:cNvPr id="10" name="TextBox 9">
            <a:extLst>
              <a:ext uri="{FF2B5EF4-FFF2-40B4-BE49-F238E27FC236}">
                <a16:creationId xmlns:a16="http://schemas.microsoft.com/office/drawing/2014/main" id="{B74B018C-907B-4E6E-B81B-898FEC17D5FC}"/>
              </a:ext>
            </a:extLst>
          </p:cNvPr>
          <p:cNvSpPr txBox="1"/>
          <p:nvPr/>
        </p:nvSpPr>
        <p:spPr>
          <a:xfrm>
            <a:off x="462777" y="4897280"/>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2807174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63297-AC72-079C-97B0-82339A5122ED}"/>
              </a:ext>
            </a:extLst>
          </p:cNvPr>
          <p:cNvSpPr>
            <a:spLocks noGrp="1"/>
          </p:cNvSpPr>
          <p:nvPr>
            <p:ph type="title"/>
          </p:nvPr>
        </p:nvSpPr>
        <p:spPr>
          <a:xfrm>
            <a:off x="392305" y="526617"/>
            <a:ext cx="7444991" cy="523250"/>
          </a:xfrm>
        </p:spPr>
        <p:txBody>
          <a:bodyPr>
            <a:normAutofit/>
          </a:bodyPr>
          <a:lstStyle/>
          <a:p>
            <a:r>
              <a:rPr lang="en-US" sz="2800" dirty="0"/>
              <a:t>Why</a:t>
            </a:r>
            <a:r>
              <a:rPr lang="zh-CN" altLang="en-US" sz="2800" dirty="0"/>
              <a:t> </a:t>
            </a:r>
            <a:r>
              <a:rPr lang="en-US" altLang="zh-CN" sz="2800" dirty="0"/>
              <a:t>are datums</a:t>
            </a:r>
            <a:r>
              <a:rPr lang="zh-CN" altLang="en-US" sz="2800" dirty="0"/>
              <a:t> </a:t>
            </a:r>
            <a:r>
              <a:rPr lang="en-US" altLang="zh-CN" sz="2800" dirty="0"/>
              <a:t>important?</a:t>
            </a:r>
            <a:r>
              <a:rPr lang="zh-CN" altLang="en-US" sz="2800" dirty="0"/>
              <a:t> </a:t>
            </a:r>
            <a:endParaRPr lang="en-US" sz="2800" dirty="0"/>
          </a:p>
        </p:txBody>
      </p:sp>
      <p:pic>
        <p:nvPicPr>
          <p:cNvPr id="6" name="Content Placeholder 5">
            <a:hlinkClick r:id="rId2"/>
            <a:extLst>
              <a:ext uri="{FF2B5EF4-FFF2-40B4-BE49-F238E27FC236}">
                <a16:creationId xmlns:a16="http://schemas.microsoft.com/office/drawing/2014/main" id="{0A844E9F-C357-8FF1-5B02-9C3D31CBE4AB}"/>
              </a:ext>
            </a:extLst>
          </p:cNvPr>
          <p:cNvPicPr>
            <a:picLocks noGrp="1" noChangeAspect="1"/>
          </p:cNvPicPr>
          <p:nvPr>
            <p:ph idx="1"/>
          </p:nvPr>
        </p:nvPicPr>
        <p:blipFill>
          <a:blip r:embed="rId3"/>
          <a:stretch>
            <a:fillRect/>
          </a:stretch>
        </p:blipFill>
        <p:spPr>
          <a:xfrm>
            <a:off x="392305" y="1734017"/>
            <a:ext cx="7445375" cy="3083919"/>
          </a:xfrm>
          <a:prstGeom prst="rect">
            <a:avLst/>
          </a:prstGeom>
        </p:spPr>
      </p:pic>
      <p:sp>
        <p:nvSpPr>
          <p:cNvPr id="4" name="Slide Number Placeholder 3">
            <a:extLst>
              <a:ext uri="{FF2B5EF4-FFF2-40B4-BE49-F238E27FC236}">
                <a16:creationId xmlns:a16="http://schemas.microsoft.com/office/drawing/2014/main" id="{C69A70B8-0AE3-F8DF-974E-6737A3CFA3F3}"/>
              </a:ext>
            </a:extLst>
          </p:cNvPr>
          <p:cNvSpPr>
            <a:spLocks noGrp="1"/>
          </p:cNvSpPr>
          <p:nvPr>
            <p:ph type="sldNum" sz="quarter" idx="12"/>
          </p:nvPr>
        </p:nvSpPr>
        <p:spPr/>
        <p:txBody>
          <a:bodyPr/>
          <a:lstStyle/>
          <a:p>
            <a:fld id="{127DDC20-79C9-9647-820E-6D40A3D210C3}" type="slidenum">
              <a:rPr lang="en-US" smtClean="0"/>
              <a:pPr/>
              <a:t>29</a:t>
            </a:fld>
            <a:endParaRPr lang="en-US"/>
          </a:p>
        </p:txBody>
      </p:sp>
      <p:sp>
        <p:nvSpPr>
          <p:cNvPr id="7" name="TextBox 6">
            <a:extLst>
              <a:ext uri="{FF2B5EF4-FFF2-40B4-BE49-F238E27FC236}">
                <a16:creationId xmlns:a16="http://schemas.microsoft.com/office/drawing/2014/main" id="{D87D8A48-6D23-C54C-3C41-2AEF0A24EDE6}"/>
              </a:ext>
            </a:extLst>
          </p:cNvPr>
          <p:cNvSpPr txBox="1"/>
          <p:nvPr/>
        </p:nvSpPr>
        <p:spPr>
          <a:xfrm>
            <a:off x="392305" y="1135709"/>
            <a:ext cx="5850466" cy="400110"/>
          </a:xfrm>
          <a:prstGeom prst="rect">
            <a:avLst/>
          </a:prstGeom>
          <a:noFill/>
        </p:spPr>
        <p:txBody>
          <a:bodyPr wrap="square" rtlCol="0">
            <a:spAutoFit/>
          </a:bodyPr>
          <a:lstStyle/>
          <a:p>
            <a:r>
              <a:rPr lang="en-US" sz="2000" dirty="0"/>
              <a:t>Tracking land-based wildlife with GPS</a:t>
            </a:r>
          </a:p>
        </p:txBody>
      </p:sp>
    </p:spTree>
    <p:extLst>
      <p:ext uri="{BB962C8B-B14F-4D97-AF65-F5344CB8AC3E}">
        <p14:creationId xmlns:p14="http://schemas.microsoft.com/office/powerpoint/2010/main" val="36101483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EAD71-4312-90A7-3C6E-3E0C16EC2851}"/>
              </a:ext>
            </a:extLst>
          </p:cNvPr>
          <p:cNvSpPr>
            <a:spLocks noGrp="1"/>
          </p:cNvSpPr>
          <p:nvPr>
            <p:ph type="title"/>
          </p:nvPr>
        </p:nvSpPr>
        <p:spPr>
          <a:xfrm>
            <a:off x="392305" y="526617"/>
            <a:ext cx="7444991" cy="514783"/>
          </a:xfrm>
        </p:spPr>
        <p:txBody>
          <a:bodyPr>
            <a:noAutofit/>
          </a:bodyPr>
          <a:lstStyle/>
          <a:p>
            <a:r>
              <a:rPr lang="en-US" sz="2800" dirty="0"/>
              <a:t>Which datum google map use?</a:t>
            </a:r>
          </a:p>
        </p:txBody>
      </p:sp>
      <p:sp>
        <p:nvSpPr>
          <p:cNvPr id="4" name="Slide Number Placeholder 3">
            <a:extLst>
              <a:ext uri="{FF2B5EF4-FFF2-40B4-BE49-F238E27FC236}">
                <a16:creationId xmlns:a16="http://schemas.microsoft.com/office/drawing/2014/main" id="{0AA6773C-6614-0C8E-F998-73A80DEBC02A}"/>
              </a:ext>
            </a:extLst>
          </p:cNvPr>
          <p:cNvSpPr>
            <a:spLocks noGrp="1"/>
          </p:cNvSpPr>
          <p:nvPr>
            <p:ph type="sldNum" sz="quarter" idx="12"/>
          </p:nvPr>
        </p:nvSpPr>
        <p:spPr/>
        <p:txBody>
          <a:bodyPr/>
          <a:lstStyle/>
          <a:p>
            <a:fld id="{127DDC20-79C9-9647-820E-6D40A3D210C3}" type="slidenum">
              <a:rPr lang="en-US" smtClean="0"/>
              <a:pPr/>
              <a:t>30</a:t>
            </a:fld>
            <a:endParaRPr lang="en-US"/>
          </a:p>
        </p:txBody>
      </p:sp>
      <p:pic>
        <p:nvPicPr>
          <p:cNvPr id="3074" name="Picture 2">
            <a:hlinkClick r:id="rId2"/>
            <a:extLst>
              <a:ext uri="{FF2B5EF4-FFF2-40B4-BE49-F238E27FC236}">
                <a16:creationId xmlns:a16="http://schemas.microsoft.com/office/drawing/2014/main" id="{748EA289-03D9-E071-0691-CFE39498BE64}"/>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29654" y="1570311"/>
            <a:ext cx="6608569" cy="3342747"/>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4">
            <a:extLst>
              <a:ext uri="{FF2B5EF4-FFF2-40B4-BE49-F238E27FC236}">
                <a16:creationId xmlns:a16="http://schemas.microsoft.com/office/drawing/2014/main" id="{C8E79D03-084E-1BA2-71FD-7626938CFD48}"/>
              </a:ext>
            </a:extLst>
          </p:cNvPr>
          <p:cNvGrpSpPr/>
          <p:nvPr/>
        </p:nvGrpSpPr>
        <p:grpSpPr>
          <a:xfrm>
            <a:off x="5664499" y="678482"/>
            <a:ext cx="2172795" cy="2172795"/>
            <a:chOff x="5664499" y="678482"/>
            <a:chExt cx="2172795" cy="2172795"/>
          </a:xfrm>
        </p:grpSpPr>
        <p:pic>
          <p:nvPicPr>
            <p:cNvPr id="3078" name="Picture 6" descr="Thinking Person Icons - Free SVG &amp; PNG ...">
              <a:extLst>
                <a:ext uri="{FF2B5EF4-FFF2-40B4-BE49-F238E27FC236}">
                  <a16:creationId xmlns:a16="http://schemas.microsoft.com/office/drawing/2014/main" id="{E08C63B5-0B05-FC54-EA6E-C0A7BB395F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64499" y="678482"/>
              <a:ext cx="2172795" cy="217279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longitude and latitude lines color icon ...">
              <a:extLst>
                <a:ext uri="{FF2B5EF4-FFF2-40B4-BE49-F238E27FC236}">
                  <a16:creationId xmlns:a16="http://schemas.microsoft.com/office/drawing/2014/main" id="{814DD969-E927-E2FE-7F6D-EE4DCB6F989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3176" t="13645" r="6267" b="8530"/>
            <a:stretch>
              <a:fillRect/>
            </a:stretch>
          </p:blipFill>
          <p:spPr bwMode="auto">
            <a:xfrm>
              <a:off x="6838223" y="1094189"/>
              <a:ext cx="438186" cy="423333"/>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TextBox 5">
            <a:extLst>
              <a:ext uri="{FF2B5EF4-FFF2-40B4-BE49-F238E27FC236}">
                <a16:creationId xmlns:a16="http://schemas.microsoft.com/office/drawing/2014/main" id="{E5BC2B04-B94E-C6A2-686A-98DD2FC3E66B}"/>
              </a:ext>
            </a:extLst>
          </p:cNvPr>
          <p:cNvSpPr txBox="1"/>
          <p:nvPr/>
        </p:nvSpPr>
        <p:spPr>
          <a:xfrm>
            <a:off x="392305" y="1068789"/>
            <a:ext cx="4114800" cy="369332"/>
          </a:xfrm>
          <a:prstGeom prst="rect">
            <a:avLst/>
          </a:prstGeom>
          <a:noFill/>
        </p:spPr>
        <p:txBody>
          <a:bodyPr wrap="square">
            <a:spAutoFit/>
          </a:bodyPr>
          <a:lstStyle/>
          <a:p>
            <a:r>
              <a:rPr lang="en-GB" sz="1800" b="1" dirty="0"/>
              <a:t>NAD27 or WGS84?</a:t>
            </a:r>
            <a:endParaRPr lang="en-US" dirty="0"/>
          </a:p>
        </p:txBody>
      </p:sp>
    </p:spTree>
    <p:extLst>
      <p:ext uri="{BB962C8B-B14F-4D97-AF65-F5344CB8AC3E}">
        <p14:creationId xmlns:p14="http://schemas.microsoft.com/office/powerpoint/2010/main" val="40312508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AFEED-430B-6730-B9AE-9EC938B6A8F9}"/>
              </a:ext>
            </a:extLst>
          </p:cNvPr>
          <p:cNvSpPr>
            <a:spLocks noGrp="1"/>
          </p:cNvSpPr>
          <p:nvPr>
            <p:ph type="title"/>
          </p:nvPr>
        </p:nvSpPr>
        <p:spPr>
          <a:xfrm>
            <a:off x="392304" y="679949"/>
            <a:ext cx="7444991" cy="438583"/>
          </a:xfrm>
        </p:spPr>
        <p:txBody>
          <a:bodyPr>
            <a:noAutofit/>
          </a:bodyPr>
          <a:lstStyle/>
          <a:p>
            <a:r>
              <a:rPr lang="en-US" sz="2800" dirty="0"/>
              <a:t>Vertical datum</a:t>
            </a:r>
          </a:p>
        </p:txBody>
      </p:sp>
      <p:sp>
        <p:nvSpPr>
          <p:cNvPr id="3" name="Content Placeholder 2">
            <a:extLst>
              <a:ext uri="{FF2B5EF4-FFF2-40B4-BE49-F238E27FC236}">
                <a16:creationId xmlns:a16="http://schemas.microsoft.com/office/drawing/2014/main" id="{79A6F83D-5527-FCE0-8948-C80B9F3ABD76}"/>
              </a:ext>
            </a:extLst>
          </p:cNvPr>
          <p:cNvSpPr>
            <a:spLocks noGrp="1"/>
          </p:cNvSpPr>
          <p:nvPr>
            <p:ph idx="1"/>
          </p:nvPr>
        </p:nvSpPr>
        <p:spPr>
          <a:xfrm>
            <a:off x="392305" y="1169332"/>
            <a:ext cx="7444990" cy="1402418"/>
          </a:xfrm>
        </p:spPr>
        <p:txBody>
          <a:bodyPr>
            <a:noAutofit/>
          </a:bodyPr>
          <a:lstStyle/>
          <a:p>
            <a:r>
              <a:rPr lang="en-US" sz="2400" dirty="0"/>
              <a:t>A standardized reference surface used to define elevations and depths on the Earth's surface, serving as a "zero" point for measurements.</a:t>
            </a:r>
          </a:p>
        </p:txBody>
      </p:sp>
      <p:sp>
        <p:nvSpPr>
          <p:cNvPr id="4" name="Slide Number Placeholder 3">
            <a:extLst>
              <a:ext uri="{FF2B5EF4-FFF2-40B4-BE49-F238E27FC236}">
                <a16:creationId xmlns:a16="http://schemas.microsoft.com/office/drawing/2014/main" id="{036E6BD3-2ED6-47BA-3B81-FA8AFCBE1546}"/>
              </a:ext>
            </a:extLst>
          </p:cNvPr>
          <p:cNvSpPr>
            <a:spLocks noGrp="1"/>
          </p:cNvSpPr>
          <p:nvPr>
            <p:ph type="sldNum" sz="quarter" idx="12"/>
          </p:nvPr>
        </p:nvSpPr>
        <p:spPr/>
        <p:txBody>
          <a:bodyPr/>
          <a:lstStyle/>
          <a:p>
            <a:fld id="{127DDC20-79C9-9647-820E-6D40A3D210C3}" type="slidenum">
              <a:rPr lang="en-US" smtClean="0"/>
              <a:pPr/>
              <a:t>31</a:t>
            </a:fld>
            <a:endParaRPr lang="en-US"/>
          </a:p>
        </p:txBody>
      </p:sp>
      <p:pic>
        <p:nvPicPr>
          <p:cNvPr id="6" name="Picture 5">
            <a:extLst>
              <a:ext uri="{FF2B5EF4-FFF2-40B4-BE49-F238E27FC236}">
                <a16:creationId xmlns:a16="http://schemas.microsoft.com/office/drawing/2014/main" id="{A1A34AC3-EE8B-B23B-D53D-621319E6FC70}"/>
              </a:ext>
            </a:extLst>
          </p:cNvPr>
          <p:cNvPicPr>
            <a:picLocks noChangeAspect="1"/>
          </p:cNvPicPr>
          <p:nvPr/>
        </p:nvPicPr>
        <p:blipFill>
          <a:blip r:embed="rId2"/>
          <a:stretch>
            <a:fillRect/>
          </a:stretch>
        </p:blipFill>
        <p:spPr>
          <a:xfrm>
            <a:off x="1752601" y="2782498"/>
            <a:ext cx="3733800" cy="2065334"/>
          </a:xfrm>
          <a:prstGeom prst="rect">
            <a:avLst/>
          </a:prstGeom>
        </p:spPr>
      </p:pic>
    </p:spTree>
    <p:extLst>
      <p:ext uri="{BB962C8B-B14F-4D97-AF65-F5344CB8AC3E}">
        <p14:creationId xmlns:p14="http://schemas.microsoft.com/office/powerpoint/2010/main" val="13010211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5C4F4-FD25-7BE1-A7BF-C20D18BBCCBF}"/>
              </a:ext>
            </a:extLst>
          </p:cNvPr>
          <p:cNvSpPr>
            <a:spLocks noGrp="1"/>
          </p:cNvSpPr>
          <p:nvPr>
            <p:ph type="title"/>
          </p:nvPr>
        </p:nvSpPr>
        <p:spPr>
          <a:xfrm>
            <a:off x="392305" y="526617"/>
            <a:ext cx="7444991" cy="472450"/>
          </a:xfrm>
        </p:spPr>
        <p:txBody>
          <a:bodyPr>
            <a:normAutofit/>
          </a:bodyPr>
          <a:lstStyle/>
          <a:p>
            <a:r>
              <a:rPr lang="en-US" sz="2400" dirty="0"/>
              <a:t>Vertical datum - examples</a:t>
            </a:r>
          </a:p>
        </p:txBody>
      </p:sp>
      <p:sp>
        <p:nvSpPr>
          <p:cNvPr id="4" name="Slide Number Placeholder 3">
            <a:extLst>
              <a:ext uri="{FF2B5EF4-FFF2-40B4-BE49-F238E27FC236}">
                <a16:creationId xmlns:a16="http://schemas.microsoft.com/office/drawing/2014/main" id="{212A2E4F-292C-A6C9-BBEC-3BADA51BE4A0}"/>
              </a:ext>
            </a:extLst>
          </p:cNvPr>
          <p:cNvSpPr>
            <a:spLocks noGrp="1"/>
          </p:cNvSpPr>
          <p:nvPr>
            <p:ph type="sldNum" sz="quarter" idx="12"/>
          </p:nvPr>
        </p:nvSpPr>
        <p:spPr/>
        <p:txBody>
          <a:bodyPr/>
          <a:lstStyle/>
          <a:p>
            <a:fld id="{127DDC20-79C9-9647-820E-6D40A3D210C3}" type="slidenum">
              <a:rPr lang="en-US" smtClean="0"/>
              <a:pPr/>
              <a:t>32</a:t>
            </a:fld>
            <a:endParaRPr lang="en-US"/>
          </a:p>
        </p:txBody>
      </p:sp>
      <p:sp>
        <p:nvSpPr>
          <p:cNvPr id="5" name="Content Placeholder 4">
            <a:extLst>
              <a:ext uri="{FF2B5EF4-FFF2-40B4-BE49-F238E27FC236}">
                <a16:creationId xmlns:a16="http://schemas.microsoft.com/office/drawing/2014/main" id="{4FA343E3-0018-7856-9452-B79A7AA9ADDA}"/>
              </a:ext>
            </a:extLst>
          </p:cNvPr>
          <p:cNvSpPr txBox="1">
            <a:spLocks noGrp="1"/>
          </p:cNvSpPr>
          <p:nvPr>
            <p:ph idx="1"/>
          </p:nvPr>
        </p:nvSpPr>
        <p:spPr>
          <a:xfrm>
            <a:off x="468313" y="1286413"/>
            <a:ext cx="7445375" cy="3118803"/>
          </a:xfrm>
          <a:prstGeom prst="rect">
            <a:avLst/>
          </a:prstGeom>
          <a:noFill/>
        </p:spPr>
        <p:txBody>
          <a:bodyPr wrap="square" rtlCol="0">
            <a:spAutoFit/>
          </a:bodyPr>
          <a:lstStyle/>
          <a:p>
            <a:r>
              <a:rPr lang="en-US" sz="2000" dirty="0"/>
              <a:t>Elevation of cities and landmarks 🏔️</a:t>
            </a:r>
          </a:p>
          <a:p>
            <a:pPr marL="0" indent="0">
              <a:buNone/>
            </a:pPr>
            <a:r>
              <a:rPr lang="en-US" sz="2000" dirty="0"/>
              <a:t>– Example: The elevation of Denver (“Mile High City”) is measured relative to NAVD88 in the U.S.</a:t>
            </a:r>
          </a:p>
          <a:p>
            <a:endParaRPr lang="en-US" sz="2000" dirty="0"/>
          </a:p>
          <a:p>
            <a:r>
              <a:rPr lang="en-US" sz="2000" dirty="0"/>
              <a:t>Flood levels &amp; floodplain mapping 🌊</a:t>
            </a:r>
          </a:p>
          <a:p>
            <a:pPr marL="0" indent="0">
              <a:buNone/>
            </a:pPr>
            <a:r>
              <a:rPr lang="en-US" sz="2000" dirty="0"/>
              <a:t>– FEMA flood maps use vertical datums (e.g., NAVD88) to define the Base Flood Elevation (BFE).</a:t>
            </a:r>
          </a:p>
          <a:p>
            <a:endParaRPr lang="en-US" sz="2000" dirty="0"/>
          </a:p>
        </p:txBody>
      </p:sp>
    </p:spTree>
    <p:extLst>
      <p:ext uri="{BB962C8B-B14F-4D97-AF65-F5344CB8AC3E}">
        <p14:creationId xmlns:p14="http://schemas.microsoft.com/office/powerpoint/2010/main" val="30321697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027">
            <a:extLst>
              <a:ext uri="{FF2B5EF4-FFF2-40B4-BE49-F238E27FC236}">
                <a16:creationId xmlns:a16="http://schemas.microsoft.com/office/drawing/2014/main" id="{B4DB0BA8-71AC-4495-9AC5-ACEFECE1E34F}"/>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lnSpc>
                <a:spcPct val="90000"/>
              </a:lnSpc>
              <a:buFont typeface="Courier New" panose="02070309020205020404" pitchFamily="49" charset="0"/>
              <a:buChar char="o"/>
            </a:pPr>
            <a:r>
              <a:rPr lang="en-US" sz="2800" dirty="0"/>
              <a:t>NGVD29: National Geodetic Vertical Datum of 1929</a:t>
            </a:r>
          </a:p>
          <a:p>
            <a:pPr lvl="1">
              <a:lnSpc>
                <a:spcPct val="90000"/>
              </a:lnSpc>
              <a:buFont typeface="Wingdings" panose="05000000000000000000" pitchFamily="2" charset="2"/>
              <a:buChar char="ü"/>
            </a:pPr>
            <a:r>
              <a:rPr lang="en-US" sz="2440" dirty="0"/>
              <a:t>No geoid, mean sea level</a:t>
            </a:r>
          </a:p>
          <a:p>
            <a:pPr>
              <a:lnSpc>
                <a:spcPct val="90000"/>
              </a:lnSpc>
              <a:buFont typeface="Courier New" panose="02070309020205020404" pitchFamily="49" charset="0"/>
              <a:buChar char="o"/>
            </a:pPr>
            <a:r>
              <a:rPr lang="en-US" sz="2800" dirty="0"/>
              <a:t>NAVD88: North American Vertical Datum of 1988 (NAVD88)</a:t>
            </a:r>
          </a:p>
          <a:p>
            <a:pPr lvl="1">
              <a:lnSpc>
                <a:spcPct val="90000"/>
              </a:lnSpc>
              <a:buFont typeface="Wingdings" panose="05000000000000000000" pitchFamily="2" charset="2"/>
              <a:buChar char="ü"/>
            </a:pPr>
            <a:r>
              <a:rPr lang="en-US" sz="2440" dirty="0"/>
              <a:t>GEOID03, GEOID09, GEOID12B</a:t>
            </a:r>
          </a:p>
          <a:p>
            <a:pPr marL="0" indent="0">
              <a:buNone/>
            </a:pPr>
            <a:endParaRPr lang="en-US" altLang="en-US" sz="2600" dirty="0"/>
          </a:p>
          <a:p>
            <a:pPr lvl="1">
              <a:buFont typeface="Arial" panose="020B0604020202020204" pitchFamily="34" charset="0"/>
              <a:buChar char="•"/>
            </a:pPr>
            <a:endParaRPr lang="en-US" altLang="en-US" sz="2240" dirty="0"/>
          </a:p>
          <a:p>
            <a:pPr marL="411480" lvl="1" indent="0">
              <a:buNone/>
            </a:pPr>
            <a:endParaRPr lang="en-US" altLang="en-US" sz="2240" dirty="0"/>
          </a:p>
        </p:txBody>
      </p:sp>
      <p:cxnSp>
        <p:nvCxnSpPr>
          <p:cNvPr id="4" name="Straight Connector 3">
            <a:extLst>
              <a:ext uri="{FF2B5EF4-FFF2-40B4-BE49-F238E27FC236}">
                <a16:creationId xmlns:a16="http://schemas.microsoft.com/office/drawing/2014/main" id="{0BD080BA-CC03-452C-A9D3-5FA2A115A4D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0226D165-166F-4690-BF41-0FAABFDAA7AE}"/>
              </a:ext>
            </a:extLst>
          </p:cNvPr>
          <p:cNvSpPr txBox="1">
            <a:spLocks/>
          </p:cNvSpPr>
          <p:nvPr/>
        </p:nvSpPr>
        <p:spPr>
          <a:xfrm>
            <a:off x="152400" y="22733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Common vertical datum</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C1C6BEA9-C11D-4021-9591-267B33051A62}"/>
              </a:ext>
            </a:extLst>
          </p:cNvPr>
          <p:cNvSpPr>
            <a:spLocks noGrp="1"/>
          </p:cNvSpPr>
          <p:nvPr>
            <p:ph type="sldNum" sz="quarter" idx="12"/>
          </p:nvPr>
        </p:nvSpPr>
        <p:spPr/>
        <p:txBody>
          <a:bodyPr/>
          <a:lstStyle/>
          <a:p>
            <a:fld id="{127DDC20-79C9-9647-820E-6D40A3D210C3}" type="slidenum">
              <a:rPr lang="en-US" smtClean="0"/>
              <a:pPr/>
              <a:t>33</a:t>
            </a:fld>
            <a:endParaRPr lang="en-US"/>
          </a:p>
        </p:txBody>
      </p:sp>
    </p:spTree>
    <p:extLst>
      <p:ext uri="{BB962C8B-B14F-4D97-AF65-F5344CB8AC3E}">
        <p14:creationId xmlns:p14="http://schemas.microsoft.com/office/powerpoint/2010/main" val="4115392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0665EF-7410-E4C7-0D60-593CCF23A751}"/>
              </a:ext>
            </a:extLst>
          </p:cNvPr>
          <p:cNvSpPr>
            <a:spLocks noGrp="1"/>
          </p:cNvSpPr>
          <p:nvPr>
            <p:ph idx="1"/>
          </p:nvPr>
        </p:nvSpPr>
        <p:spPr>
          <a:xfrm>
            <a:off x="392307" y="784490"/>
            <a:ext cx="7444990" cy="3423180"/>
          </a:xfrm>
        </p:spPr>
        <p:txBody>
          <a:bodyPr>
            <a:noAutofit/>
          </a:bodyPr>
          <a:lstStyle/>
          <a:p>
            <a:r>
              <a:rPr lang="en-US" sz="2800" b="1" dirty="0"/>
              <a:t>A vertical datum primarily provides a reference for measuring:</a:t>
            </a:r>
            <a:endParaRPr lang="en-US" sz="2800" dirty="0"/>
          </a:p>
          <a:p>
            <a:pPr marL="0" indent="0">
              <a:buNone/>
            </a:pPr>
            <a:r>
              <a:rPr lang="en-US" sz="2800" dirty="0"/>
              <a:t>A. Latitude</a:t>
            </a:r>
            <a:br>
              <a:rPr lang="en-US" sz="2800" dirty="0"/>
            </a:br>
            <a:r>
              <a:rPr lang="en-US" sz="2800" dirty="0"/>
              <a:t>B. Longitude</a:t>
            </a:r>
            <a:br>
              <a:rPr lang="en-US" sz="2800" dirty="0"/>
            </a:br>
            <a:r>
              <a:rPr lang="en-US" sz="2800" dirty="0"/>
              <a:t>C. Elevation and depth</a:t>
            </a:r>
            <a:br>
              <a:rPr lang="en-US" sz="2800" dirty="0"/>
            </a:br>
            <a:r>
              <a:rPr lang="en-US" sz="2800" dirty="0"/>
              <a:t>D. Map scale</a:t>
            </a:r>
          </a:p>
          <a:p>
            <a:endParaRPr lang="en-US" sz="2800" dirty="0"/>
          </a:p>
        </p:txBody>
      </p:sp>
      <p:sp>
        <p:nvSpPr>
          <p:cNvPr id="4" name="Slide Number Placeholder 3">
            <a:extLst>
              <a:ext uri="{FF2B5EF4-FFF2-40B4-BE49-F238E27FC236}">
                <a16:creationId xmlns:a16="http://schemas.microsoft.com/office/drawing/2014/main" id="{F585A7E1-D4A4-BC88-BE47-F2E1C477D85C}"/>
              </a:ext>
            </a:extLst>
          </p:cNvPr>
          <p:cNvSpPr>
            <a:spLocks noGrp="1"/>
          </p:cNvSpPr>
          <p:nvPr>
            <p:ph type="sldNum" sz="quarter" idx="12"/>
          </p:nvPr>
        </p:nvSpPr>
        <p:spPr/>
        <p:txBody>
          <a:bodyPr/>
          <a:lstStyle/>
          <a:p>
            <a:fld id="{127DDC20-79C9-9647-820E-6D40A3D210C3}" type="slidenum">
              <a:rPr lang="en-US" smtClean="0"/>
              <a:pPr/>
              <a:t>34</a:t>
            </a:fld>
            <a:endParaRPr lang="en-US"/>
          </a:p>
        </p:txBody>
      </p:sp>
    </p:spTree>
    <p:extLst>
      <p:ext uri="{BB962C8B-B14F-4D97-AF65-F5344CB8AC3E}">
        <p14:creationId xmlns:p14="http://schemas.microsoft.com/office/powerpoint/2010/main" val="32373966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61E8BD-A91D-1878-A425-7E592C399765}"/>
              </a:ext>
            </a:extLst>
          </p:cNvPr>
          <p:cNvSpPr>
            <a:spLocks noGrp="1"/>
          </p:cNvSpPr>
          <p:nvPr>
            <p:ph idx="1"/>
          </p:nvPr>
        </p:nvSpPr>
        <p:spPr>
          <a:xfrm>
            <a:off x="392305" y="516468"/>
            <a:ext cx="7444990" cy="3965046"/>
          </a:xfrm>
        </p:spPr>
        <p:txBody>
          <a:bodyPr>
            <a:noAutofit/>
          </a:bodyPr>
          <a:lstStyle/>
          <a:p>
            <a:r>
              <a:rPr lang="en-US" sz="1800" b="1" dirty="0"/>
              <a:t>Scenario Question</a:t>
            </a:r>
            <a:endParaRPr lang="en-US" sz="1800" dirty="0"/>
          </a:p>
          <a:p>
            <a:pPr marL="0" indent="0">
              <a:buNone/>
            </a:pPr>
            <a:r>
              <a:rPr lang="en-US" sz="1800" dirty="0"/>
              <a:t>Two engineers measure the same floodwater surface:</a:t>
            </a:r>
          </a:p>
          <a:p>
            <a:pPr marL="0" lvl="0" indent="0">
              <a:buNone/>
            </a:pPr>
            <a:r>
              <a:rPr lang="en-US" sz="1800" dirty="0"/>
              <a:t>Engineer A: elevation = 100.2 ft </a:t>
            </a:r>
          </a:p>
          <a:p>
            <a:pPr marL="0" lvl="0" indent="0">
              <a:buNone/>
            </a:pPr>
            <a:r>
              <a:rPr lang="en-US" sz="1800" dirty="0"/>
              <a:t>Engineer B: elevation = 99.1 ft </a:t>
            </a:r>
          </a:p>
          <a:p>
            <a:pPr marL="0" indent="0">
              <a:buNone/>
            </a:pPr>
            <a:r>
              <a:rPr lang="en-US" sz="1800" b="1" dirty="0"/>
              <a:t>Before concluding that one measurement is wrong, what should you check?</a:t>
            </a:r>
            <a:endParaRPr lang="en-US" sz="1800" dirty="0"/>
          </a:p>
          <a:p>
            <a:r>
              <a:rPr lang="en-US" sz="1800" dirty="0"/>
              <a:t>A. Map color</a:t>
            </a:r>
            <a:br>
              <a:rPr lang="en-US" sz="1800" dirty="0"/>
            </a:br>
            <a:r>
              <a:rPr lang="en-US" sz="1800" dirty="0"/>
              <a:t>B. Vertical datum</a:t>
            </a:r>
            <a:br>
              <a:rPr lang="en-US" sz="1800" dirty="0"/>
            </a:br>
            <a:r>
              <a:rPr lang="en-US" sz="1800" dirty="0"/>
              <a:t>C. Computer brand</a:t>
            </a:r>
            <a:br>
              <a:rPr lang="en-US" sz="1800" dirty="0"/>
            </a:br>
            <a:r>
              <a:rPr lang="en-US" sz="1800" dirty="0"/>
              <a:t>D. Latitude only</a:t>
            </a:r>
          </a:p>
          <a:p>
            <a:endParaRPr lang="en-US" sz="1800" dirty="0"/>
          </a:p>
        </p:txBody>
      </p:sp>
      <p:sp>
        <p:nvSpPr>
          <p:cNvPr id="4" name="Slide Number Placeholder 3">
            <a:extLst>
              <a:ext uri="{FF2B5EF4-FFF2-40B4-BE49-F238E27FC236}">
                <a16:creationId xmlns:a16="http://schemas.microsoft.com/office/drawing/2014/main" id="{6D6604F7-3F51-C3EF-1097-243E4C95552F}"/>
              </a:ext>
            </a:extLst>
          </p:cNvPr>
          <p:cNvSpPr>
            <a:spLocks noGrp="1"/>
          </p:cNvSpPr>
          <p:nvPr>
            <p:ph type="sldNum" sz="quarter" idx="12"/>
          </p:nvPr>
        </p:nvSpPr>
        <p:spPr/>
        <p:txBody>
          <a:bodyPr/>
          <a:lstStyle/>
          <a:p>
            <a:fld id="{127DDC20-79C9-9647-820E-6D40A3D210C3}" type="slidenum">
              <a:rPr lang="en-US" smtClean="0"/>
              <a:pPr/>
              <a:t>35</a:t>
            </a:fld>
            <a:endParaRPr lang="en-US"/>
          </a:p>
        </p:txBody>
      </p:sp>
    </p:spTree>
    <p:extLst>
      <p:ext uri="{BB962C8B-B14F-4D97-AF65-F5344CB8AC3E}">
        <p14:creationId xmlns:p14="http://schemas.microsoft.com/office/powerpoint/2010/main" val="28293221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AF4EB1E6-E70B-810F-DF9C-FD6A59B8267D}"/>
              </a:ext>
            </a:extLst>
          </p:cNvPr>
          <p:cNvPicPr>
            <a:picLocks noGrp="1" noChangeAspect="1"/>
          </p:cNvPicPr>
          <p:nvPr>
            <p:ph idx="1"/>
          </p:nvPr>
        </p:nvPicPr>
        <p:blipFill>
          <a:blip r:embed="rId2"/>
          <a:stretch>
            <a:fillRect/>
          </a:stretch>
        </p:blipFill>
        <p:spPr>
          <a:xfrm>
            <a:off x="1771461" y="855133"/>
            <a:ext cx="5865472" cy="4302633"/>
          </a:xfrm>
          <a:prstGeom prst="rect">
            <a:avLst/>
          </a:prstGeom>
        </p:spPr>
      </p:pic>
      <p:sp>
        <p:nvSpPr>
          <p:cNvPr id="4" name="Slide Number Placeholder 3">
            <a:extLst>
              <a:ext uri="{FF2B5EF4-FFF2-40B4-BE49-F238E27FC236}">
                <a16:creationId xmlns:a16="http://schemas.microsoft.com/office/drawing/2014/main" id="{BF29F389-CFE1-C09F-6418-3DA44E588C01}"/>
              </a:ext>
            </a:extLst>
          </p:cNvPr>
          <p:cNvSpPr>
            <a:spLocks noGrp="1"/>
          </p:cNvSpPr>
          <p:nvPr>
            <p:ph type="sldNum" sz="quarter" idx="12"/>
          </p:nvPr>
        </p:nvSpPr>
        <p:spPr/>
        <p:txBody>
          <a:bodyPr/>
          <a:lstStyle/>
          <a:p>
            <a:fld id="{127DDC20-79C9-9647-820E-6D40A3D210C3}" type="slidenum">
              <a:rPr lang="en-US" smtClean="0"/>
              <a:pPr/>
              <a:t>36</a:t>
            </a:fld>
            <a:endParaRPr lang="en-US"/>
          </a:p>
        </p:txBody>
      </p:sp>
      <p:sp>
        <p:nvSpPr>
          <p:cNvPr id="5" name="Title 1">
            <a:extLst>
              <a:ext uri="{FF2B5EF4-FFF2-40B4-BE49-F238E27FC236}">
                <a16:creationId xmlns:a16="http://schemas.microsoft.com/office/drawing/2014/main" id="{5FFFA57A-2386-A149-9679-04A5C6A41AD7}"/>
              </a:ext>
            </a:extLst>
          </p:cNvPr>
          <p:cNvSpPr txBox="1">
            <a:spLocks/>
          </p:cNvSpPr>
          <p:nvPr/>
        </p:nvSpPr>
        <p:spPr>
          <a:xfrm>
            <a:off x="228599" y="392844"/>
            <a:ext cx="8077200" cy="462289"/>
          </a:xfrm>
          <a:prstGeom prst="rect">
            <a:avLst/>
          </a:prstGeom>
        </p:spPr>
        <p:txBody>
          <a:bodyPr vert="horz" lIns="91440" tIns="45720" rIns="91440" bIns="45720" rtlCol="0" anchor="ctr">
            <a:normAutofit fontScale="85000" lnSpcReduction="10000"/>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Datum Inconsistent</a:t>
            </a:r>
            <a:endParaRPr lang="en-US" sz="2600" dirty="0">
              <a:solidFill>
                <a:srgbClr val="7030A0"/>
              </a:solidFill>
            </a:endParaRPr>
          </a:p>
        </p:txBody>
      </p:sp>
    </p:spTree>
    <p:extLst>
      <p:ext uri="{BB962C8B-B14F-4D97-AF65-F5344CB8AC3E}">
        <p14:creationId xmlns:p14="http://schemas.microsoft.com/office/powerpoint/2010/main" val="35255140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808230-66BE-023F-BFDA-1E06554D6E7E}"/>
              </a:ext>
            </a:extLst>
          </p:cNvPr>
          <p:cNvSpPr>
            <a:spLocks noGrp="1"/>
          </p:cNvSpPr>
          <p:nvPr>
            <p:ph idx="1"/>
          </p:nvPr>
        </p:nvSpPr>
        <p:spPr>
          <a:xfrm>
            <a:off x="392305" y="807381"/>
            <a:ext cx="7444990" cy="2725865"/>
          </a:xfrm>
        </p:spPr>
        <p:txBody>
          <a:bodyPr>
            <a:normAutofit/>
          </a:bodyPr>
          <a:lstStyle/>
          <a:p>
            <a:r>
              <a:rPr lang="en-US" sz="2000" b="1" dirty="0"/>
              <a:t>A researcher tracks the same bear for 10 years. The first dataset uses NAD27 and the new GPS dataset uses WGS84. Can the researcher immediately overlay the coordinates and assume they represent exactly the same locations?</a:t>
            </a:r>
            <a:endParaRPr lang="en-US" sz="2000" dirty="0"/>
          </a:p>
          <a:p>
            <a:pPr marL="0" indent="0">
              <a:buNone/>
            </a:pPr>
            <a:r>
              <a:rPr lang="en-US" sz="2000" dirty="0"/>
              <a:t>A. Yes</a:t>
            </a:r>
            <a:br>
              <a:rPr lang="en-US" sz="2000" dirty="0"/>
            </a:br>
            <a:r>
              <a:rPr lang="en-US" sz="2000" dirty="0"/>
              <a:t>B. No</a:t>
            </a:r>
          </a:p>
          <a:p>
            <a:endParaRPr lang="en-US" sz="2000" dirty="0"/>
          </a:p>
        </p:txBody>
      </p:sp>
      <p:sp>
        <p:nvSpPr>
          <p:cNvPr id="4" name="Slide Number Placeholder 3">
            <a:extLst>
              <a:ext uri="{FF2B5EF4-FFF2-40B4-BE49-F238E27FC236}">
                <a16:creationId xmlns:a16="http://schemas.microsoft.com/office/drawing/2014/main" id="{27C243A6-D48E-A2A8-3CCA-BB5716FDAA24}"/>
              </a:ext>
            </a:extLst>
          </p:cNvPr>
          <p:cNvSpPr>
            <a:spLocks noGrp="1"/>
          </p:cNvSpPr>
          <p:nvPr>
            <p:ph type="sldNum" sz="quarter" idx="12"/>
          </p:nvPr>
        </p:nvSpPr>
        <p:spPr/>
        <p:txBody>
          <a:bodyPr/>
          <a:lstStyle/>
          <a:p>
            <a:fld id="{127DDC20-79C9-9647-820E-6D40A3D210C3}" type="slidenum">
              <a:rPr lang="en-US" smtClean="0"/>
              <a:pPr/>
              <a:t>37</a:t>
            </a:fld>
            <a:endParaRPr lang="en-US"/>
          </a:p>
        </p:txBody>
      </p:sp>
    </p:spTree>
    <p:extLst>
      <p:ext uri="{BB962C8B-B14F-4D97-AF65-F5344CB8AC3E}">
        <p14:creationId xmlns:p14="http://schemas.microsoft.com/office/powerpoint/2010/main" val="19260364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0BD080BA-CC03-452C-A9D3-5FA2A115A4D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0226D165-166F-4690-BF41-0FAABFDAA7AE}"/>
              </a:ext>
            </a:extLst>
          </p:cNvPr>
          <p:cNvSpPr txBox="1">
            <a:spLocks/>
          </p:cNvSpPr>
          <p:nvPr/>
        </p:nvSpPr>
        <p:spPr>
          <a:xfrm>
            <a:off x="211667" y="24208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Datum Pairing</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C1C6BEA9-C11D-4021-9591-267B33051A62}"/>
              </a:ext>
            </a:extLst>
          </p:cNvPr>
          <p:cNvSpPr>
            <a:spLocks noGrp="1"/>
          </p:cNvSpPr>
          <p:nvPr>
            <p:ph type="sldNum" sz="quarter" idx="12"/>
          </p:nvPr>
        </p:nvSpPr>
        <p:spPr/>
        <p:txBody>
          <a:bodyPr/>
          <a:lstStyle/>
          <a:p>
            <a:fld id="{127DDC20-79C9-9647-820E-6D40A3D210C3}" type="slidenum">
              <a:rPr lang="en-US" smtClean="0"/>
              <a:pPr/>
              <a:t>38</a:t>
            </a:fld>
            <a:endParaRPr lang="en-US"/>
          </a:p>
        </p:txBody>
      </p:sp>
      <p:pic>
        <p:nvPicPr>
          <p:cNvPr id="6" name="Picture 5" descr="Text&#10;&#10;Description automatically generated">
            <a:extLst>
              <a:ext uri="{FF2B5EF4-FFF2-40B4-BE49-F238E27FC236}">
                <a16:creationId xmlns:a16="http://schemas.microsoft.com/office/drawing/2014/main" id="{30C37468-DE9B-42C6-993A-67D3A12115FE}"/>
              </a:ext>
            </a:extLst>
          </p:cNvPr>
          <p:cNvPicPr>
            <a:picLocks noChangeAspect="1"/>
          </p:cNvPicPr>
          <p:nvPr/>
        </p:nvPicPr>
        <p:blipFill>
          <a:blip r:embed="rId3"/>
          <a:stretch>
            <a:fillRect/>
          </a:stretch>
        </p:blipFill>
        <p:spPr>
          <a:xfrm>
            <a:off x="3977640" y="1188770"/>
            <a:ext cx="1920240" cy="3715415"/>
          </a:xfrm>
          <a:prstGeom prst="rect">
            <a:avLst/>
          </a:prstGeom>
        </p:spPr>
      </p:pic>
      <p:sp>
        <p:nvSpPr>
          <p:cNvPr id="8" name="Rectangle 1027">
            <a:extLst>
              <a:ext uri="{FF2B5EF4-FFF2-40B4-BE49-F238E27FC236}">
                <a16:creationId xmlns:a16="http://schemas.microsoft.com/office/drawing/2014/main" id="{5E7CC563-6B5C-41EA-9C3D-76E343DE1D41}"/>
              </a:ext>
            </a:extLst>
          </p:cNvPr>
          <p:cNvSpPr txBox="1">
            <a:spLocks noChangeArrowheads="1"/>
          </p:cNvSpPr>
          <p:nvPr/>
        </p:nvSpPr>
        <p:spPr>
          <a:xfrm>
            <a:off x="302741" y="1029962"/>
            <a:ext cx="3340128" cy="2924199"/>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lnSpc>
                <a:spcPct val="90000"/>
              </a:lnSpc>
              <a:buFont typeface="Courier New" panose="02070309020205020404" pitchFamily="49" charset="0"/>
              <a:buChar char="o"/>
            </a:pPr>
            <a:r>
              <a:rPr lang="en-US" sz="2800" dirty="0"/>
              <a:t>Pairing for horizontal and vertical datums for North America</a:t>
            </a:r>
            <a:endParaRPr lang="en-US" sz="2440" dirty="0"/>
          </a:p>
          <a:p>
            <a:pPr marL="0" indent="0">
              <a:buNone/>
            </a:pPr>
            <a:endParaRPr lang="en-US" altLang="en-US" sz="2600" dirty="0"/>
          </a:p>
          <a:p>
            <a:pPr lvl="1">
              <a:buFont typeface="Arial" panose="020B0604020202020204" pitchFamily="34" charset="0"/>
              <a:buChar char="•"/>
            </a:pPr>
            <a:endParaRPr lang="en-US" altLang="en-US" sz="2240" dirty="0"/>
          </a:p>
          <a:p>
            <a:pPr marL="411480" lvl="1" indent="0">
              <a:buNone/>
            </a:pPr>
            <a:endParaRPr lang="en-US" altLang="en-US" sz="2240" dirty="0"/>
          </a:p>
        </p:txBody>
      </p:sp>
    </p:spTree>
    <p:extLst>
      <p:ext uri="{BB962C8B-B14F-4D97-AF65-F5344CB8AC3E}">
        <p14:creationId xmlns:p14="http://schemas.microsoft.com/office/powerpoint/2010/main" val="4169342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677B93-0E46-73AB-1AAF-9E3766333699}"/>
            </a:ext>
          </a:extLst>
        </p:cNvPr>
        <p:cNvGrpSpPr/>
        <p:nvPr/>
      </p:nvGrpSpPr>
      <p:grpSpPr>
        <a:xfrm>
          <a:off x="0" y="0"/>
          <a:ext cx="0" cy="0"/>
          <a:chOff x="0" y="0"/>
          <a:chExt cx="0" cy="0"/>
        </a:xfrm>
      </p:grpSpPr>
      <p:sp>
        <p:nvSpPr>
          <p:cNvPr id="36" name="Rectangle 35">
            <a:extLst>
              <a:ext uri="{FF2B5EF4-FFF2-40B4-BE49-F238E27FC236}">
                <a16:creationId xmlns:a16="http://schemas.microsoft.com/office/drawing/2014/main" id="{A5C1D4E9-08BF-4B6E-27D5-5B6AAF2CF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1A74CF8A-89E5-06A2-92D7-4ED98DBCAF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01D72347-A6A7-1757-8AC6-FFD5E76C29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96D92ED0-42AC-51DA-AC68-C554A8AA84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480E4AFF-045D-EA4D-3449-F8A1FB7228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20D1ED9A-E6A4-3931-8E7E-C2999F2D85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AF438896-A180-5B54-40D5-3035172C21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CEDAB598-97E5-E65B-9D13-7487F560B28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2.2 </a:t>
            </a:r>
            <a:br>
              <a:rPr lang="en-US" sz="4050" dirty="0">
                <a:solidFill>
                  <a:srgbClr val="FFFFFF"/>
                </a:solidFill>
              </a:rPr>
            </a:br>
            <a:r>
              <a:rPr lang="en-US" sz="4050" dirty="0">
                <a:solidFill>
                  <a:srgbClr val="FFFFFF"/>
                </a:solidFill>
              </a:rPr>
              <a:t>coordinate system</a:t>
            </a:r>
          </a:p>
        </p:txBody>
      </p:sp>
      <p:sp>
        <p:nvSpPr>
          <p:cNvPr id="50" name="Rectangle 49">
            <a:extLst>
              <a:ext uri="{FF2B5EF4-FFF2-40B4-BE49-F238E27FC236}">
                <a16:creationId xmlns:a16="http://schemas.microsoft.com/office/drawing/2014/main" id="{FF05695F-C42F-8F23-71C8-17E8CC36D3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219646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27">
            <a:extLst>
              <a:ext uri="{FF2B5EF4-FFF2-40B4-BE49-F238E27FC236}">
                <a16:creationId xmlns:a16="http://schemas.microsoft.com/office/drawing/2014/main" id="{39BCE360-8580-4F4B-8587-5E8B64E7D405}"/>
              </a:ext>
            </a:extLst>
          </p:cNvPr>
          <p:cNvSpPr txBox="1">
            <a:spLocks noChangeArrowheads="1"/>
          </p:cNvSpPr>
          <p:nvPr/>
        </p:nvSpPr>
        <p:spPr>
          <a:xfrm>
            <a:off x="302741" y="1029962"/>
            <a:ext cx="5677929"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600" dirty="0"/>
              <a:t>Coordinates on a Sphere</a:t>
            </a:r>
          </a:p>
          <a:p>
            <a:pPr lvl="1">
              <a:buFont typeface="Wingdings" panose="05000000000000000000" pitchFamily="2" charset="2"/>
              <a:buChar char="ü"/>
            </a:pPr>
            <a:r>
              <a:rPr lang="en-US" altLang="en-US" sz="2160" dirty="0"/>
              <a:t>Latitude and Longitude</a:t>
            </a:r>
          </a:p>
          <a:p>
            <a:pPr lvl="1">
              <a:buFont typeface="Wingdings" panose="05000000000000000000" pitchFamily="2" charset="2"/>
              <a:buChar char="ü"/>
            </a:pPr>
            <a:r>
              <a:rPr lang="en-US" altLang="en-US" sz="2160" dirty="0"/>
              <a:t>Specified as angles or degrees</a:t>
            </a:r>
          </a:p>
          <a:p>
            <a:pPr marL="308610" lvl="1" indent="-308610">
              <a:buFont typeface="Courier New" panose="02070309020205020404" pitchFamily="49" charset="0"/>
              <a:buChar char="o"/>
            </a:pPr>
            <a:r>
              <a:rPr lang="en-US" altLang="en-US" sz="2600" dirty="0"/>
              <a:t>Latitude: Angles from equator</a:t>
            </a:r>
          </a:p>
          <a:p>
            <a:pPr marL="817245" lvl="2" indent="-457200">
              <a:buFont typeface="Wingdings" panose="05000000000000000000" pitchFamily="2" charset="2"/>
              <a:buChar char="ü"/>
            </a:pPr>
            <a:r>
              <a:rPr lang="en-US" altLang="en-US" sz="2240" dirty="0"/>
              <a:t>Range 0-90 N/S</a:t>
            </a:r>
          </a:p>
          <a:p>
            <a:pPr marL="308610" lvl="1" indent="-308610">
              <a:buFont typeface="Courier New" panose="02070309020205020404" pitchFamily="49" charset="0"/>
              <a:buChar char="o"/>
            </a:pPr>
            <a:r>
              <a:rPr lang="en-US" altLang="en-US" sz="2600" dirty="0"/>
              <a:t>Longitude: Angles from prime meridian</a:t>
            </a:r>
          </a:p>
          <a:p>
            <a:pPr marL="817245" lvl="2" indent="-457200">
              <a:buFont typeface="Wingdings" panose="05000000000000000000" pitchFamily="2" charset="2"/>
              <a:buChar char="ü"/>
            </a:pPr>
            <a:r>
              <a:rPr lang="en-US" altLang="en-US" sz="2240" dirty="0"/>
              <a:t>Range 0-180 E/W</a:t>
            </a:r>
          </a:p>
          <a:p>
            <a:pPr marL="0" lvl="1" indent="0">
              <a:buNone/>
            </a:pPr>
            <a:endParaRPr lang="en-US" altLang="en-US" sz="2600" dirty="0"/>
          </a:p>
          <a:p>
            <a:pPr marL="411480" lvl="1" indent="0">
              <a:buNone/>
            </a:pPr>
            <a:endParaRPr lang="en-US" altLang="en-US" sz="2160" dirty="0"/>
          </a:p>
        </p:txBody>
      </p:sp>
      <p:cxnSp>
        <p:nvCxnSpPr>
          <p:cNvPr id="9" name="Straight Connector 8">
            <a:extLst>
              <a:ext uri="{FF2B5EF4-FFF2-40B4-BE49-F238E27FC236}">
                <a16:creationId xmlns:a16="http://schemas.microsoft.com/office/drawing/2014/main" id="{33F2CCBF-5E56-4834-8DA7-E3DBBBFB85A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A398380F-D3A4-4224-A979-1C20D39224A8}"/>
              </a:ext>
            </a:extLst>
          </p:cNvPr>
          <p:cNvSpPr txBox="1">
            <a:spLocks/>
          </p:cNvSpPr>
          <p:nvPr/>
        </p:nvSpPr>
        <p:spPr>
          <a:xfrm>
            <a:off x="152400" y="20177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Geographic Coordinate Systems</a:t>
            </a:r>
            <a:endParaRPr lang="en-US" sz="2600" dirty="0">
              <a:solidFill>
                <a:srgbClr val="7030A0"/>
              </a:solidFill>
            </a:endParaRPr>
          </a:p>
        </p:txBody>
      </p:sp>
      <p:pic>
        <p:nvPicPr>
          <p:cNvPr id="17" name="Picture 4" descr="Fig1_5">
            <a:extLst>
              <a:ext uri="{FF2B5EF4-FFF2-40B4-BE49-F238E27FC236}">
                <a16:creationId xmlns:a16="http://schemas.microsoft.com/office/drawing/2014/main" id="{182FF10D-FBD2-4D21-875A-451B50BAF47C}"/>
              </a:ext>
            </a:extLst>
          </p:cNvPr>
          <p:cNvPicPr>
            <a:picLocks noChangeAspect="1" noChangeArrowheads="1"/>
          </p:cNvPicPr>
          <p:nvPr/>
        </p:nvPicPr>
        <p:blipFill>
          <a:blip r:embed="rId3" cstate="print"/>
          <a:srcRect/>
          <a:stretch>
            <a:fillRect/>
          </a:stretch>
        </p:blipFill>
        <p:spPr>
          <a:xfrm>
            <a:off x="5834189" y="1018094"/>
            <a:ext cx="1862434" cy="4067601"/>
          </a:xfrm>
          <a:prstGeom prst="rect">
            <a:avLst/>
          </a:prstGeom>
          <a:noFill/>
          <a:ln/>
        </p:spPr>
      </p:pic>
      <p:sp>
        <p:nvSpPr>
          <p:cNvPr id="18" name="Footer Placeholder 8">
            <a:extLst>
              <a:ext uri="{FF2B5EF4-FFF2-40B4-BE49-F238E27FC236}">
                <a16:creationId xmlns:a16="http://schemas.microsoft.com/office/drawing/2014/main" id="{8026846C-FD1A-4037-A62E-82EFF84A6025}"/>
              </a:ext>
            </a:extLst>
          </p:cNvPr>
          <p:cNvSpPr txBox="1">
            <a:spLocks/>
          </p:cNvSpPr>
          <p:nvPr/>
        </p:nvSpPr>
        <p:spPr>
          <a:xfrm>
            <a:off x="302741" y="4753892"/>
            <a:ext cx="5105400" cy="365125"/>
          </a:xfrm>
          <a:prstGeom prst="rect">
            <a:avLst/>
          </a:prstGeom>
        </p:spPr>
        <p:txBody>
          <a:bodyPr vert="horz" lIns="91440" tIns="45720" rIns="91440" bIns="45720" rtlCol="0" anchor="ctr"/>
          <a:lstStyle>
            <a:defPPr>
              <a:defRPr lang="en-US"/>
            </a:defPPr>
            <a:lvl1pPr marL="0" algn="ctr" defTabSz="457200" rtl="0" eaLnBrk="1" latinLnBrk="0" hangingPunct="1">
              <a:defRPr sz="108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1000" dirty="0">
                <a:solidFill>
                  <a:srgbClr val="7030A0"/>
                </a:solidFill>
                <a:ea typeface="ＭＳ Ｐゴシック" charset="-128"/>
              </a:rPr>
              <a:t>© 2013 by John Wiley &amp; Sons, Inc. All rights reserved.</a:t>
            </a:r>
          </a:p>
        </p:txBody>
      </p:sp>
      <p:sp>
        <p:nvSpPr>
          <p:cNvPr id="2" name="Slide Number Placeholder 1">
            <a:extLst>
              <a:ext uri="{FF2B5EF4-FFF2-40B4-BE49-F238E27FC236}">
                <a16:creationId xmlns:a16="http://schemas.microsoft.com/office/drawing/2014/main" id="{0C16B96D-0A24-49CC-8284-5913A6421139}"/>
              </a:ext>
            </a:extLst>
          </p:cNvPr>
          <p:cNvSpPr>
            <a:spLocks noGrp="1"/>
          </p:cNvSpPr>
          <p:nvPr>
            <p:ph type="sldNum" sz="quarter" idx="12"/>
          </p:nvPr>
        </p:nvSpPr>
        <p:spPr/>
        <p:txBody>
          <a:bodyPr/>
          <a:lstStyle/>
          <a:p>
            <a:fld id="{127DDC20-79C9-9647-820E-6D40A3D210C3}" type="slidenum">
              <a:rPr lang="en-US" smtClean="0"/>
              <a:pPr/>
              <a:t>40</a:t>
            </a:fld>
            <a:endParaRPr lang="en-US"/>
          </a:p>
        </p:txBody>
      </p:sp>
    </p:spTree>
    <p:extLst>
      <p:ext uri="{BB962C8B-B14F-4D97-AF65-F5344CB8AC3E}">
        <p14:creationId xmlns:p14="http://schemas.microsoft.com/office/powerpoint/2010/main" val="56808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C3BD925-E052-4870-9974-1064694058E3}"/>
              </a:ext>
            </a:extLst>
          </p:cNvPr>
          <p:cNvSpPr txBox="1">
            <a:spLocks/>
          </p:cNvSpPr>
          <p:nvPr/>
        </p:nvSpPr>
        <p:spPr>
          <a:xfrm>
            <a:off x="152400" y="22672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Geographic Coordinate Systems</a:t>
            </a:r>
            <a:endParaRPr lang="en-US" sz="2600" dirty="0">
              <a:solidFill>
                <a:srgbClr val="7030A0"/>
              </a:solidFill>
            </a:endParaRPr>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pic>
        <p:nvPicPr>
          <p:cNvPr id="4098" name="Picture 2" descr="File:Latitude and Longitude of the Earth.sv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3727" y="1663955"/>
            <a:ext cx="3781457" cy="1971927"/>
          </a:xfrm>
          <a:prstGeom prst="rect">
            <a:avLst/>
          </a:prstGeom>
          <a:solidFill>
            <a:schemeClr val="tx1"/>
          </a:solidFill>
        </p:spPr>
      </p:pic>
      <p:sp>
        <p:nvSpPr>
          <p:cNvPr id="9" name="TextBox 8"/>
          <p:cNvSpPr txBox="1"/>
          <p:nvPr/>
        </p:nvSpPr>
        <p:spPr>
          <a:xfrm>
            <a:off x="77272" y="1116838"/>
            <a:ext cx="4113728" cy="3066160"/>
          </a:xfrm>
          <a:prstGeom prst="rect">
            <a:avLst/>
          </a:prstGeom>
          <a:noFill/>
        </p:spPr>
        <p:txBody>
          <a:bodyPr wrap="square" rtlCol="0">
            <a:spAutoFit/>
          </a:bodyPr>
          <a:lstStyle/>
          <a:p>
            <a:pPr marL="308610" indent="-308610" defTabSz="411480">
              <a:lnSpc>
                <a:spcPct val="90000"/>
              </a:lnSpc>
              <a:spcBef>
                <a:spcPct val="20000"/>
              </a:spcBef>
              <a:buFont typeface="Courier New" panose="02070309020205020404" pitchFamily="49" charset="0"/>
              <a:buChar char="o"/>
            </a:pPr>
            <a:r>
              <a:rPr lang="en-US" sz="2600" dirty="0"/>
              <a:t>Latitude (Parallels):</a:t>
            </a:r>
          </a:p>
          <a:p>
            <a:pPr marL="668655" lvl="1" indent="-257175" defTabSz="411480">
              <a:lnSpc>
                <a:spcPct val="90000"/>
              </a:lnSpc>
              <a:spcBef>
                <a:spcPct val="20000"/>
              </a:spcBef>
              <a:buFont typeface="Wingdings" panose="05000000000000000000" pitchFamily="2" charset="2"/>
              <a:buChar char="ü"/>
            </a:pPr>
            <a:r>
              <a:rPr lang="en-US" sz="2160" dirty="0"/>
              <a:t>Measures north to south</a:t>
            </a:r>
          </a:p>
          <a:p>
            <a:pPr marL="668655" lvl="1" indent="-257175" defTabSz="411480">
              <a:lnSpc>
                <a:spcPct val="90000"/>
              </a:lnSpc>
              <a:spcBef>
                <a:spcPct val="20000"/>
              </a:spcBef>
              <a:buFont typeface="Wingdings" panose="05000000000000000000" pitchFamily="2" charset="2"/>
              <a:buChar char="ü"/>
            </a:pPr>
            <a:r>
              <a:rPr lang="en-US" sz="2160" dirty="0"/>
              <a:t>90° in each hemisphere</a:t>
            </a:r>
          </a:p>
          <a:p>
            <a:pPr marL="668655" lvl="1" indent="-257175" defTabSz="411480">
              <a:lnSpc>
                <a:spcPct val="90000"/>
              </a:lnSpc>
              <a:spcBef>
                <a:spcPct val="20000"/>
              </a:spcBef>
              <a:buFont typeface="Wingdings" panose="05000000000000000000" pitchFamily="2" charset="2"/>
              <a:buChar char="ü"/>
            </a:pPr>
            <a:r>
              <a:rPr lang="en-US" sz="2160" dirty="0"/>
              <a:t>Increases as you go north in the northern hemisphere</a:t>
            </a:r>
          </a:p>
          <a:p>
            <a:pPr marL="668655" lvl="1" indent="-257175" defTabSz="411480">
              <a:lnSpc>
                <a:spcPct val="90000"/>
              </a:lnSpc>
              <a:spcBef>
                <a:spcPct val="20000"/>
              </a:spcBef>
              <a:buFont typeface="Wingdings" panose="05000000000000000000" pitchFamily="2" charset="2"/>
              <a:buChar char="ü"/>
            </a:pPr>
            <a:r>
              <a:rPr lang="en-US" sz="2160" dirty="0"/>
              <a:t>Increases as you go south in the southern hemisphere</a:t>
            </a:r>
          </a:p>
          <a:p>
            <a:pPr marL="668655" lvl="1" indent="-257175" defTabSz="411480">
              <a:lnSpc>
                <a:spcPct val="90000"/>
              </a:lnSpc>
              <a:spcBef>
                <a:spcPct val="20000"/>
              </a:spcBef>
              <a:buFont typeface="Wingdings" panose="05000000000000000000" pitchFamily="2" charset="2"/>
              <a:buChar char="ü"/>
            </a:pPr>
            <a:r>
              <a:rPr lang="en-US" sz="2160" dirty="0"/>
              <a:t>Zero in Equator</a:t>
            </a:r>
          </a:p>
          <a:p>
            <a:pPr>
              <a:lnSpc>
                <a:spcPct val="90000"/>
              </a:lnSpc>
            </a:pPr>
            <a:endParaRPr lang="en-US" sz="1350" dirty="0"/>
          </a:p>
        </p:txBody>
      </p:sp>
      <p:sp>
        <p:nvSpPr>
          <p:cNvPr id="2" name="Rectangle 1"/>
          <p:cNvSpPr/>
          <p:nvPr/>
        </p:nvSpPr>
        <p:spPr>
          <a:xfrm>
            <a:off x="4138380" y="4556416"/>
            <a:ext cx="3781458" cy="587084"/>
          </a:xfrm>
          <a:prstGeom prst="rect">
            <a:avLst/>
          </a:prstGeom>
        </p:spPr>
        <p:txBody>
          <a:bodyPr wrap="square">
            <a:spAutoFit/>
          </a:bodyPr>
          <a:lstStyle/>
          <a:p>
            <a:r>
              <a:rPr lang="en-US" sz="1000" dirty="0">
                <a:hlinkClick r:id="rId4"/>
              </a:rPr>
              <a:t>https://commons.wikimedia.org/wiki/File:Latitude_and_Longitude_of_the_Earth.svg</a:t>
            </a:r>
            <a:endParaRPr lang="en-US" sz="1000" dirty="0"/>
          </a:p>
          <a:p>
            <a:endParaRPr lang="en-US" sz="1215" dirty="0"/>
          </a:p>
        </p:txBody>
      </p:sp>
      <p:cxnSp>
        <p:nvCxnSpPr>
          <p:cNvPr id="10" name="Straight Connector 9">
            <a:extLst>
              <a:ext uri="{FF2B5EF4-FFF2-40B4-BE49-F238E27FC236}">
                <a16:creationId xmlns:a16="http://schemas.microsoft.com/office/drawing/2014/main" id="{823D992F-35A5-499E-89DF-03203F13AD0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Slide Number Placeholder 2">
            <a:extLst>
              <a:ext uri="{FF2B5EF4-FFF2-40B4-BE49-F238E27FC236}">
                <a16:creationId xmlns:a16="http://schemas.microsoft.com/office/drawing/2014/main" id="{87847239-2B7C-40FC-B8C2-ED600088FD75}"/>
              </a:ext>
            </a:extLst>
          </p:cNvPr>
          <p:cNvSpPr>
            <a:spLocks noGrp="1"/>
          </p:cNvSpPr>
          <p:nvPr>
            <p:ph type="sldNum" sz="quarter" idx="12"/>
          </p:nvPr>
        </p:nvSpPr>
        <p:spPr/>
        <p:txBody>
          <a:bodyPr/>
          <a:lstStyle/>
          <a:p>
            <a:fld id="{127DDC20-79C9-9647-820E-6D40A3D210C3}" type="slidenum">
              <a:rPr lang="en-US" smtClean="0"/>
              <a:pPr/>
              <a:t>41</a:t>
            </a:fld>
            <a:endParaRPr lang="en-US"/>
          </a:p>
        </p:txBody>
      </p:sp>
    </p:spTree>
    <p:extLst>
      <p:ext uri="{BB962C8B-B14F-4D97-AF65-F5344CB8AC3E}">
        <p14:creationId xmlns:p14="http://schemas.microsoft.com/office/powerpoint/2010/main" val="3215501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C3BD925-E052-4870-9974-1064694058E3}"/>
              </a:ext>
            </a:extLst>
          </p:cNvPr>
          <p:cNvSpPr txBox="1">
            <a:spLocks/>
          </p:cNvSpPr>
          <p:nvPr/>
        </p:nvSpPr>
        <p:spPr>
          <a:xfrm>
            <a:off x="152400" y="22709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Geographic Coordinate Systems</a:t>
            </a:r>
            <a:endParaRPr lang="en-US" sz="2600" dirty="0">
              <a:solidFill>
                <a:srgbClr val="7030A0"/>
              </a:solidFill>
            </a:endParaRPr>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pic>
        <p:nvPicPr>
          <p:cNvPr id="4098" name="Picture 2" descr="File:Latitude and Longitude of the Earth.sv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8473" y="1478471"/>
            <a:ext cx="4193044" cy="2186558"/>
          </a:xfrm>
          <a:prstGeom prst="rect">
            <a:avLst/>
          </a:prstGeom>
          <a:solidFill>
            <a:schemeClr val="tx1"/>
          </a:solidFill>
        </p:spPr>
      </p:pic>
      <p:sp>
        <p:nvSpPr>
          <p:cNvPr id="9" name="TextBox 8"/>
          <p:cNvSpPr txBox="1"/>
          <p:nvPr/>
        </p:nvSpPr>
        <p:spPr>
          <a:xfrm>
            <a:off x="118533" y="850969"/>
            <a:ext cx="3601388" cy="4309641"/>
          </a:xfrm>
          <a:prstGeom prst="rect">
            <a:avLst/>
          </a:prstGeom>
          <a:noFill/>
        </p:spPr>
        <p:txBody>
          <a:bodyPr wrap="square" rtlCol="0">
            <a:spAutoFit/>
          </a:bodyPr>
          <a:lstStyle/>
          <a:p>
            <a:pPr>
              <a:lnSpc>
                <a:spcPct val="90000"/>
              </a:lnSpc>
            </a:pPr>
            <a:endParaRPr lang="en-US" sz="1350" dirty="0"/>
          </a:p>
          <a:p>
            <a:pPr marL="308610" indent="-308610" defTabSz="411480">
              <a:lnSpc>
                <a:spcPct val="90000"/>
              </a:lnSpc>
              <a:spcBef>
                <a:spcPct val="20000"/>
              </a:spcBef>
              <a:buFont typeface="Courier New" panose="02070309020205020404" pitchFamily="49" charset="0"/>
              <a:buChar char="o"/>
            </a:pPr>
            <a:r>
              <a:rPr lang="en-US" sz="2600" dirty="0"/>
              <a:t>Longitude (Meridians)</a:t>
            </a:r>
          </a:p>
          <a:p>
            <a:pPr marL="800100" lvl="1" indent="-342900">
              <a:lnSpc>
                <a:spcPct val="90000"/>
              </a:lnSpc>
              <a:buFont typeface="Wingdings" panose="05000000000000000000" pitchFamily="2" charset="2"/>
              <a:buChar char="ü"/>
            </a:pPr>
            <a:r>
              <a:rPr lang="en-US" sz="2160" dirty="0"/>
              <a:t>Measures east to west</a:t>
            </a:r>
          </a:p>
          <a:p>
            <a:pPr marL="800100" lvl="1" indent="-342900">
              <a:lnSpc>
                <a:spcPct val="90000"/>
              </a:lnSpc>
              <a:buFont typeface="Wingdings" panose="05000000000000000000" pitchFamily="2" charset="2"/>
              <a:buChar char="ü"/>
            </a:pPr>
            <a:r>
              <a:rPr lang="en-US" sz="2160" dirty="0"/>
              <a:t>180° in each hemisphere</a:t>
            </a:r>
          </a:p>
          <a:p>
            <a:pPr marL="800100" lvl="1" indent="-342900">
              <a:lnSpc>
                <a:spcPct val="90000"/>
              </a:lnSpc>
              <a:buFont typeface="Wingdings" panose="05000000000000000000" pitchFamily="2" charset="2"/>
              <a:buChar char="ü"/>
            </a:pPr>
            <a:r>
              <a:rPr lang="en-US" sz="2160" dirty="0"/>
              <a:t>Increases as you go east in the eastern hemisphere</a:t>
            </a:r>
          </a:p>
          <a:p>
            <a:pPr marL="800100" lvl="1" indent="-342900">
              <a:lnSpc>
                <a:spcPct val="90000"/>
              </a:lnSpc>
              <a:buFont typeface="Wingdings" panose="05000000000000000000" pitchFamily="2" charset="2"/>
              <a:buChar char="ü"/>
            </a:pPr>
            <a:r>
              <a:rPr lang="en-US" sz="2160" dirty="0"/>
              <a:t>Increases as you go west in the western hemisphere</a:t>
            </a:r>
          </a:p>
          <a:p>
            <a:pPr marL="800100" lvl="1" indent="-342900">
              <a:lnSpc>
                <a:spcPct val="90000"/>
              </a:lnSpc>
              <a:buFont typeface="Wingdings" panose="05000000000000000000" pitchFamily="2" charset="2"/>
              <a:buChar char="ü"/>
            </a:pPr>
            <a:r>
              <a:rPr lang="en-US" sz="2160" dirty="0"/>
              <a:t>Zero is </a:t>
            </a:r>
            <a:r>
              <a:rPr lang="en-US" sz="2160" dirty="0">
                <a:solidFill>
                  <a:srgbClr val="7030A0"/>
                </a:solidFill>
              </a:rPr>
              <a:t>Prime Meridian, </a:t>
            </a:r>
            <a:r>
              <a:rPr lang="en-US" sz="2160" dirty="0"/>
              <a:t>going through Greenwich, England</a:t>
            </a:r>
          </a:p>
        </p:txBody>
      </p:sp>
      <p:sp>
        <p:nvSpPr>
          <p:cNvPr id="2" name="Rectangle 1"/>
          <p:cNvSpPr/>
          <p:nvPr/>
        </p:nvSpPr>
        <p:spPr>
          <a:xfrm>
            <a:off x="3806110" y="4165821"/>
            <a:ext cx="4113728" cy="587084"/>
          </a:xfrm>
          <a:prstGeom prst="rect">
            <a:avLst/>
          </a:prstGeom>
        </p:spPr>
        <p:txBody>
          <a:bodyPr>
            <a:spAutoFit/>
          </a:bodyPr>
          <a:lstStyle/>
          <a:p>
            <a:r>
              <a:rPr lang="en-US" sz="1000" dirty="0">
                <a:hlinkClick r:id="rId4"/>
              </a:rPr>
              <a:t>https://commons.wikimedia.org/wiki/File:Latitude_and_Longitude_of_the_Earth.svg</a:t>
            </a:r>
            <a:endParaRPr lang="en-US" sz="1000" dirty="0"/>
          </a:p>
          <a:p>
            <a:endParaRPr lang="en-US" sz="1215" dirty="0"/>
          </a:p>
        </p:txBody>
      </p:sp>
      <p:cxnSp>
        <p:nvCxnSpPr>
          <p:cNvPr id="10" name="Straight Connector 9">
            <a:extLst>
              <a:ext uri="{FF2B5EF4-FFF2-40B4-BE49-F238E27FC236}">
                <a16:creationId xmlns:a16="http://schemas.microsoft.com/office/drawing/2014/main" id="{823D992F-35A5-499E-89DF-03203F13AD0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Slide Number Placeholder 2">
            <a:extLst>
              <a:ext uri="{FF2B5EF4-FFF2-40B4-BE49-F238E27FC236}">
                <a16:creationId xmlns:a16="http://schemas.microsoft.com/office/drawing/2014/main" id="{BC5C1C7C-3351-4663-9B00-6707BE1B9C5A}"/>
              </a:ext>
            </a:extLst>
          </p:cNvPr>
          <p:cNvSpPr>
            <a:spLocks noGrp="1"/>
          </p:cNvSpPr>
          <p:nvPr>
            <p:ph type="sldNum" sz="quarter" idx="12"/>
          </p:nvPr>
        </p:nvSpPr>
        <p:spPr/>
        <p:txBody>
          <a:bodyPr/>
          <a:lstStyle/>
          <a:p>
            <a:fld id="{127DDC20-79C9-9647-820E-6D40A3D210C3}" type="slidenum">
              <a:rPr lang="en-US" smtClean="0"/>
              <a:pPr/>
              <a:t>42</a:t>
            </a:fld>
            <a:endParaRPr lang="en-US"/>
          </a:p>
        </p:txBody>
      </p:sp>
    </p:spTree>
    <p:extLst>
      <p:ext uri="{BB962C8B-B14F-4D97-AF65-F5344CB8AC3E}">
        <p14:creationId xmlns:p14="http://schemas.microsoft.com/office/powerpoint/2010/main" val="2356075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27">
            <a:extLst>
              <a:ext uri="{FF2B5EF4-FFF2-40B4-BE49-F238E27FC236}">
                <a16:creationId xmlns:a16="http://schemas.microsoft.com/office/drawing/2014/main" id="{F0690D3F-1287-4907-82BD-8C9B2368ED81}"/>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1 Degree = 60 Minutes = 3600 Seconds</a:t>
            </a:r>
          </a:p>
          <a:p>
            <a:pPr lvl="1">
              <a:lnSpc>
                <a:spcPct val="90000"/>
              </a:lnSpc>
              <a:buFont typeface="Wingdings" panose="05000000000000000000" pitchFamily="2" charset="2"/>
              <a:buChar char="ü"/>
            </a:pPr>
            <a:r>
              <a:rPr lang="en-US" sz="2440" dirty="0"/>
              <a:t>˚ = Degrees</a:t>
            </a:r>
          </a:p>
          <a:p>
            <a:pPr lvl="1">
              <a:lnSpc>
                <a:spcPct val="90000"/>
              </a:lnSpc>
              <a:buFont typeface="Wingdings" panose="05000000000000000000" pitchFamily="2" charset="2"/>
              <a:buChar char="ü"/>
            </a:pPr>
            <a:r>
              <a:rPr lang="en-US" sz="2440" dirty="0"/>
              <a:t>‘ = Minutes</a:t>
            </a:r>
          </a:p>
          <a:p>
            <a:pPr lvl="1">
              <a:lnSpc>
                <a:spcPct val="90000"/>
              </a:lnSpc>
              <a:buFont typeface="Wingdings" panose="05000000000000000000" pitchFamily="2" charset="2"/>
              <a:buChar char="ü"/>
            </a:pPr>
            <a:r>
              <a:rPr lang="en-US" sz="2440" dirty="0"/>
              <a:t>“ = Seconds</a:t>
            </a:r>
          </a:p>
          <a:p>
            <a:pPr marL="411480" lvl="1" indent="0">
              <a:lnSpc>
                <a:spcPct val="90000"/>
              </a:lnSpc>
              <a:buNone/>
            </a:pPr>
            <a:r>
              <a:rPr lang="en-US" sz="2440" dirty="0"/>
              <a:t>1.5 ˚ =1 ˚ 0.5X60’= 1 ˚ 30’</a:t>
            </a:r>
          </a:p>
          <a:p>
            <a:pPr marL="411480" lvl="1" indent="0">
              <a:lnSpc>
                <a:spcPct val="90000"/>
              </a:lnSpc>
              <a:buNone/>
            </a:pPr>
            <a:r>
              <a:rPr lang="en-US" sz="2440" dirty="0"/>
              <a:t>1 ˚ 30’ = 1° + (30’/60’) = 1.5°</a:t>
            </a:r>
          </a:p>
          <a:p>
            <a:pPr marL="411480" lvl="1" indent="0">
              <a:lnSpc>
                <a:spcPct val="90000"/>
              </a:lnSpc>
              <a:buNone/>
            </a:pPr>
            <a:endParaRPr lang="en-US" sz="2440" dirty="0"/>
          </a:p>
          <a:p>
            <a:pPr marL="411480" lvl="1" indent="0">
              <a:lnSpc>
                <a:spcPct val="90000"/>
              </a:lnSpc>
              <a:buNone/>
            </a:pPr>
            <a:endParaRPr lang="en-US" sz="244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7" name="Title 1">
            <a:extLst>
              <a:ext uri="{FF2B5EF4-FFF2-40B4-BE49-F238E27FC236}">
                <a16:creationId xmlns:a16="http://schemas.microsoft.com/office/drawing/2014/main" id="{F2A322D7-BC21-4C11-B78A-E3379C2B16AD}"/>
              </a:ext>
            </a:extLst>
          </p:cNvPr>
          <p:cNvSpPr txBox="1">
            <a:spLocks/>
          </p:cNvSpPr>
          <p:nvPr/>
        </p:nvSpPr>
        <p:spPr>
          <a:xfrm>
            <a:off x="152400" y="1727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Geographic Coordinate Systems</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EA923B1D-85AD-49E9-9586-7D3446AA4D46}"/>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F7053173-CEB8-45E8-8FE5-7B5941CA1507}"/>
              </a:ext>
            </a:extLst>
          </p:cNvPr>
          <p:cNvSpPr>
            <a:spLocks noGrp="1"/>
          </p:cNvSpPr>
          <p:nvPr>
            <p:ph type="sldNum" sz="quarter" idx="12"/>
          </p:nvPr>
        </p:nvSpPr>
        <p:spPr/>
        <p:txBody>
          <a:bodyPr/>
          <a:lstStyle/>
          <a:p>
            <a:fld id="{127DDC20-79C9-9647-820E-6D40A3D210C3}" type="slidenum">
              <a:rPr lang="en-US" smtClean="0"/>
              <a:pPr/>
              <a:t>43</a:t>
            </a:fld>
            <a:endParaRPr lang="en-US"/>
          </a:p>
        </p:txBody>
      </p:sp>
    </p:spTree>
    <p:extLst>
      <p:ext uri="{BB962C8B-B14F-4D97-AF65-F5344CB8AC3E}">
        <p14:creationId xmlns:p14="http://schemas.microsoft.com/office/powerpoint/2010/main" val="464217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27">
            <a:extLst>
              <a:ext uri="{FF2B5EF4-FFF2-40B4-BE49-F238E27FC236}">
                <a16:creationId xmlns:a16="http://schemas.microsoft.com/office/drawing/2014/main" id="{7435645E-F332-4962-9C30-7E2B3B1E8757}"/>
              </a:ext>
            </a:extLst>
          </p:cNvPr>
          <p:cNvSpPr txBox="1">
            <a:spLocks noChangeArrowheads="1"/>
          </p:cNvSpPr>
          <p:nvPr/>
        </p:nvSpPr>
        <p:spPr>
          <a:xfrm>
            <a:off x="302741" y="1029962"/>
            <a:ext cx="4107894" cy="3886200"/>
          </a:xfrm>
          <a:prstGeom prst="rect">
            <a:avLst/>
          </a:prstGeom>
        </p:spPr>
        <p:txBody>
          <a:bodyPr vert="horz" lIns="91440" tIns="45720" rIns="91440" bIns="45720" rtlCol="0">
            <a:normAutofit fontScale="925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600" dirty="0"/>
              <a:t>Advantages:</a:t>
            </a:r>
          </a:p>
          <a:p>
            <a:pPr lvl="1">
              <a:buFont typeface="Wingdings" panose="05000000000000000000" pitchFamily="2" charset="2"/>
              <a:buChar char="ü"/>
            </a:pPr>
            <a:r>
              <a:rPr lang="en-US" altLang="en-US" sz="2160" dirty="0"/>
              <a:t>Accurate representation</a:t>
            </a:r>
          </a:p>
          <a:p>
            <a:pPr lvl="1">
              <a:buFont typeface="Wingdings" panose="05000000000000000000" pitchFamily="2" charset="2"/>
              <a:buChar char="ü"/>
            </a:pPr>
            <a:r>
              <a:rPr lang="en-US" altLang="en-US" sz="2160" dirty="0"/>
              <a:t>Latitude and longitude lines</a:t>
            </a:r>
          </a:p>
          <a:p>
            <a:pPr lvl="1">
              <a:buFont typeface="Wingdings" panose="05000000000000000000" pitchFamily="2" charset="2"/>
              <a:buChar char="ü"/>
            </a:pPr>
            <a:r>
              <a:rPr lang="en-US" altLang="en-US" sz="2160" dirty="0"/>
              <a:t>Without distortion</a:t>
            </a:r>
          </a:p>
          <a:p>
            <a:pPr marL="308610" lvl="1" indent="-308610">
              <a:buFont typeface="Courier New" panose="02070309020205020404" pitchFamily="49" charset="0"/>
              <a:buChar char="o"/>
            </a:pPr>
            <a:r>
              <a:rPr lang="en-US" altLang="en-US" sz="2600" dirty="0"/>
              <a:t>Disadvantages</a:t>
            </a:r>
          </a:p>
          <a:p>
            <a:pPr marL="817245" lvl="2" indent="-457200">
              <a:buFont typeface="Wingdings" panose="05000000000000000000" pitchFamily="2" charset="2"/>
              <a:buChar char="ü"/>
            </a:pPr>
            <a:r>
              <a:rPr lang="en-US" altLang="en-US" sz="2240" dirty="0"/>
              <a:t>Expensive to make</a:t>
            </a:r>
          </a:p>
          <a:p>
            <a:pPr marL="817245" lvl="2" indent="-457200">
              <a:buFont typeface="Wingdings" panose="05000000000000000000" pitchFamily="2" charset="2"/>
              <a:buChar char="ü"/>
            </a:pPr>
            <a:r>
              <a:rPr lang="en-US" altLang="en-US" sz="2240" dirty="0"/>
              <a:t>Cumbersome to handle and store</a:t>
            </a:r>
          </a:p>
          <a:p>
            <a:pPr marL="817245" lvl="2" indent="-457200">
              <a:buFont typeface="Wingdings" panose="05000000000000000000" pitchFamily="2" charset="2"/>
              <a:buChar char="ü"/>
            </a:pPr>
            <a:r>
              <a:rPr lang="en-US" altLang="en-US" sz="2240" dirty="0"/>
              <a:t>Difficult to measure distance</a:t>
            </a:r>
          </a:p>
          <a:p>
            <a:pPr marL="817245" lvl="2" indent="-457200">
              <a:buFont typeface="Wingdings" panose="05000000000000000000" pitchFamily="2" charset="2"/>
              <a:buChar char="ü"/>
            </a:pPr>
            <a:r>
              <a:rPr lang="en-US" altLang="en-US" sz="2240" dirty="0"/>
              <a:t>Not fully visible at one view</a:t>
            </a:r>
          </a:p>
          <a:p>
            <a:pPr marL="0" lvl="1" indent="0">
              <a:buNone/>
            </a:pPr>
            <a:endParaRPr lang="en-US" altLang="en-US" sz="2600" dirty="0"/>
          </a:p>
          <a:p>
            <a:pPr marL="411480" lvl="1" indent="0">
              <a:buNone/>
            </a:pPr>
            <a:endParaRPr lang="en-US" altLang="en-US" sz="2160" dirty="0"/>
          </a:p>
        </p:txBody>
      </p:sp>
      <p:sp>
        <p:nvSpPr>
          <p:cNvPr id="7" name="Title 1">
            <a:extLst>
              <a:ext uri="{FF2B5EF4-FFF2-40B4-BE49-F238E27FC236}">
                <a16:creationId xmlns:a16="http://schemas.microsoft.com/office/drawing/2014/main" id="{BAF570F0-51AD-4159-BFD1-24845160EA17}"/>
              </a:ext>
            </a:extLst>
          </p:cNvPr>
          <p:cNvSpPr txBox="1">
            <a:spLocks/>
          </p:cNvSpPr>
          <p:nvPr/>
        </p:nvSpPr>
        <p:spPr>
          <a:xfrm>
            <a:off x="152400" y="20320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Geographic Coordinate Systems</a:t>
            </a:r>
            <a:endParaRPr lang="en-US" sz="2600" dirty="0">
              <a:solidFill>
                <a:srgbClr val="7030A0"/>
              </a:solidFill>
            </a:endParaRPr>
          </a:p>
        </p:txBody>
      </p:sp>
      <p:sp>
        <p:nvSpPr>
          <p:cNvPr id="6" name="TextBox 5"/>
          <p:cNvSpPr txBox="1"/>
          <p:nvPr/>
        </p:nvSpPr>
        <p:spPr>
          <a:xfrm>
            <a:off x="4680732" y="4180707"/>
            <a:ext cx="2675317" cy="230832"/>
          </a:xfrm>
          <a:prstGeom prst="rect">
            <a:avLst/>
          </a:prstGeom>
          <a:noFill/>
        </p:spPr>
        <p:txBody>
          <a:bodyPr wrap="square" rtlCol="0">
            <a:spAutoFit/>
          </a:bodyPr>
          <a:lstStyle/>
          <a:p>
            <a:pPr>
              <a:lnSpc>
                <a:spcPct val="90000"/>
              </a:lnSpc>
            </a:pPr>
            <a:r>
              <a:rPr lang="en-US" sz="1000" dirty="0"/>
              <a:t>Image from Google Earth</a:t>
            </a:r>
          </a:p>
        </p:txBody>
      </p:sp>
      <p:cxnSp>
        <p:nvCxnSpPr>
          <p:cNvPr id="8" name="Straight Connector 7">
            <a:extLst>
              <a:ext uri="{FF2B5EF4-FFF2-40B4-BE49-F238E27FC236}">
                <a16:creationId xmlns:a16="http://schemas.microsoft.com/office/drawing/2014/main" id="{017C9FB0-1B18-4D9E-8F65-6B1A2DC2284B}"/>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806C726F-532B-4100-B463-9107D18091E9}"/>
              </a:ext>
            </a:extLst>
          </p:cNvPr>
          <p:cNvSpPr>
            <a:spLocks noGrp="1"/>
          </p:cNvSpPr>
          <p:nvPr>
            <p:ph type="sldNum" sz="quarter" idx="12"/>
          </p:nvPr>
        </p:nvSpPr>
        <p:spPr/>
        <p:txBody>
          <a:bodyPr/>
          <a:lstStyle/>
          <a:p>
            <a:fld id="{127DDC20-79C9-9647-820E-6D40A3D210C3}" type="slidenum">
              <a:rPr lang="en-US" smtClean="0"/>
              <a:pPr/>
              <a:t>44</a:t>
            </a:fld>
            <a:endParaRPr lang="en-US"/>
          </a:p>
        </p:txBody>
      </p:sp>
      <p:pic>
        <p:nvPicPr>
          <p:cNvPr id="4" name="Picture 3">
            <a:extLst>
              <a:ext uri="{FF2B5EF4-FFF2-40B4-BE49-F238E27FC236}">
                <a16:creationId xmlns:a16="http://schemas.microsoft.com/office/drawing/2014/main" id="{974AD892-0985-2F70-737F-6156145CF66D}"/>
              </a:ext>
            </a:extLst>
          </p:cNvPr>
          <p:cNvPicPr>
            <a:picLocks noChangeAspect="1"/>
          </p:cNvPicPr>
          <p:nvPr/>
        </p:nvPicPr>
        <p:blipFill>
          <a:blip r:embed="rId3"/>
          <a:stretch>
            <a:fillRect/>
          </a:stretch>
        </p:blipFill>
        <p:spPr>
          <a:xfrm>
            <a:off x="4430903" y="1006878"/>
            <a:ext cx="3722497" cy="3129743"/>
          </a:xfrm>
          <a:prstGeom prst="rect">
            <a:avLst/>
          </a:prstGeom>
        </p:spPr>
      </p:pic>
    </p:spTree>
    <p:extLst>
      <p:ext uri="{BB962C8B-B14F-4D97-AF65-F5344CB8AC3E}">
        <p14:creationId xmlns:p14="http://schemas.microsoft.com/office/powerpoint/2010/main" val="690034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78269809-D32A-42CA-8E1F-E095C87C6E8C}"/>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400" dirty="0"/>
              <a:t>Map projections allow us to view the 3D Earth on a 2D surface</a:t>
            </a:r>
          </a:p>
          <a:p>
            <a:pPr marL="308610" lvl="1" indent="-308610">
              <a:buFont typeface="Courier New" panose="02070309020205020404" pitchFamily="49" charset="0"/>
              <a:buChar char="o"/>
            </a:pPr>
            <a:r>
              <a:rPr lang="en-US" altLang="en-US" sz="2400" dirty="0"/>
              <a:t>Earth is mathematically projected to a surface that can be made flat</a:t>
            </a:r>
          </a:p>
          <a:p>
            <a:pPr marL="308610" lvl="1" indent="-308610">
              <a:buFont typeface="Courier New" panose="02070309020205020404" pitchFamily="49" charset="0"/>
              <a:buChar char="o"/>
            </a:pPr>
            <a:r>
              <a:rPr lang="en-US" altLang="en-US" sz="2400" dirty="0"/>
              <a:t>We now make measurements in distance or length units as opposed to degrees</a:t>
            </a:r>
          </a:p>
          <a:p>
            <a:pPr marL="0" lvl="1" indent="0">
              <a:buNone/>
            </a:pPr>
            <a:endParaRPr lang="en-US" altLang="en-US" sz="2600" dirty="0"/>
          </a:p>
          <a:p>
            <a:pPr marL="411480" lvl="1" indent="0">
              <a:buNone/>
            </a:pPr>
            <a:endParaRPr lang="en-US" altLang="en-US" sz="2160" dirty="0"/>
          </a:p>
        </p:txBody>
      </p:sp>
      <p:sp>
        <p:nvSpPr>
          <p:cNvPr id="7" name="Title 1">
            <a:extLst>
              <a:ext uri="{FF2B5EF4-FFF2-40B4-BE49-F238E27FC236}">
                <a16:creationId xmlns:a16="http://schemas.microsoft.com/office/drawing/2014/main" id="{5F16C27D-A469-4F31-8194-7DA8FFFE1EDF}"/>
              </a:ext>
            </a:extLst>
          </p:cNvPr>
          <p:cNvSpPr txBox="1">
            <a:spLocks/>
          </p:cNvSpPr>
          <p:nvPr/>
        </p:nvSpPr>
        <p:spPr>
          <a:xfrm>
            <a:off x="247135" y="24861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Projected Coordinate Systems</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2E6C1CC7-670A-4019-ADC2-BB4666F4A672}"/>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pic>
        <p:nvPicPr>
          <p:cNvPr id="12" name="Picture 2" descr="File:Cartesian coordinate system (comma).svg">
            <a:extLst>
              <a:ext uri="{FF2B5EF4-FFF2-40B4-BE49-F238E27FC236}">
                <a16:creationId xmlns:a16="http://schemas.microsoft.com/office/drawing/2014/main" id="{2D31ABAD-1876-4EC1-B39B-0755327556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7814" y="3055185"/>
            <a:ext cx="2035199" cy="2035199"/>
          </a:xfrm>
          <a:prstGeom prst="rect">
            <a:avLst/>
          </a:prstGeom>
          <a:solidFill>
            <a:schemeClr val="tx1"/>
          </a:solidFill>
        </p:spPr>
      </p:pic>
      <p:sp>
        <p:nvSpPr>
          <p:cNvPr id="16" name="Rectangle 15">
            <a:extLst>
              <a:ext uri="{FF2B5EF4-FFF2-40B4-BE49-F238E27FC236}">
                <a16:creationId xmlns:a16="http://schemas.microsoft.com/office/drawing/2014/main" id="{BBB1338A-3A9D-4014-AA8B-2A0796C78CD3}"/>
              </a:ext>
            </a:extLst>
          </p:cNvPr>
          <p:cNvSpPr/>
          <p:nvPr/>
        </p:nvSpPr>
        <p:spPr>
          <a:xfrm>
            <a:off x="114821" y="4881424"/>
            <a:ext cx="4763475" cy="391646"/>
          </a:xfrm>
          <a:prstGeom prst="rect">
            <a:avLst/>
          </a:prstGeom>
        </p:spPr>
        <p:txBody>
          <a:bodyPr wrap="square">
            <a:spAutoFit/>
          </a:bodyPr>
          <a:lstStyle/>
          <a:p>
            <a:r>
              <a:rPr lang="en-US" sz="1000" dirty="0">
                <a:hlinkClick r:id="rId4"/>
              </a:rPr>
              <a:t>https://commons.wikimedia.org/wiki/File:Cartesian_coordinate_system_(comma).svg</a:t>
            </a:r>
            <a:endParaRPr lang="en-US" sz="1000" dirty="0"/>
          </a:p>
          <a:p>
            <a:endParaRPr lang="en-US" sz="945" dirty="0"/>
          </a:p>
        </p:txBody>
      </p:sp>
      <p:sp>
        <p:nvSpPr>
          <p:cNvPr id="2" name="Slide Number Placeholder 1">
            <a:extLst>
              <a:ext uri="{FF2B5EF4-FFF2-40B4-BE49-F238E27FC236}">
                <a16:creationId xmlns:a16="http://schemas.microsoft.com/office/drawing/2014/main" id="{F0453AF4-6AD4-4087-9CBB-C630F6A20D2D}"/>
              </a:ext>
            </a:extLst>
          </p:cNvPr>
          <p:cNvSpPr>
            <a:spLocks noGrp="1"/>
          </p:cNvSpPr>
          <p:nvPr>
            <p:ph type="sldNum" sz="quarter" idx="12"/>
          </p:nvPr>
        </p:nvSpPr>
        <p:spPr/>
        <p:txBody>
          <a:bodyPr/>
          <a:lstStyle/>
          <a:p>
            <a:fld id="{127DDC20-79C9-9647-820E-6D40A3D210C3}" type="slidenum">
              <a:rPr lang="en-US" smtClean="0"/>
              <a:pPr/>
              <a:t>45</a:t>
            </a:fld>
            <a:endParaRPr lang="en-US"/>
          </a:p>
        </p:txBody>
      </p:sp>
    </p:spTree>
    <p:extLst>
      <p:ext uri="{BB962C8B-B14F-4D97-AF65-F5344CB8AC3E}">
        <p14:creationId xmlns:p14="http://schemas.microsoft.com/office/powerpoint/2010/main" val="4072628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78269809-D32A-42CA-8E1F-E095C87C6E8C}"/>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marL="308610" lvl="1" indent="-308610">
              <a:buFont typeface="Courier New" panose="02070309020205020404" pitchFamily="49" charset="0"/>
              <a:buChar char="o"/>
            </a:pPr>
            <a:r>
              <a:rPr lang="en-US" altLang="en-US" sz="2600" dirty="0"/>
              <a:t>They allow us to make measurements in a Cartesian coordinate system on a plane</a:t>
            </a:r>
          </a:p>
          <a:p>
            <a:pPr marL="308610" lvl="1" indent="-308610">
              <a:buFont typeface="Courier New" panose="02070309020205020404" pitchFamily="49" charset="0"/>
              <a:buChar char="o"/>
            </a:pPr>
            <a:r>
              <a:rPr lang="en-US" altLang="en-US" sz="2600" dirty="0"/>
              <a:t>These 2D surface are known as </a:t>
            </a:r>
            <a:r>
              <a:rPr lang="en-US" altLang="en-US" sz="2600" dirty="0">
                <a:solidFill>
                  <a:srgbClr val="7030A0"/>
                </a:solidFill>
              </a:rPr>
              <a:t>map projections</a:t>
            </a:r>
            <a:r>
              <a:rPr lang="en-US" altLang="en-US" sz="2600" dirty="0"/>
              <a:t>.</a:t>
            </a:r>
          </a:p>
          <a:p>
            <a:pPr marL="0" lvl="1" indent="0">
              <a:buNone/>
            </a:pPr>
            <a:endParaRPr lang="en-US" altLang="en-US" sz="2600" dirty="0"/>
          </a:p>
          <a:p>
            <a:pPr marL="411480" lvl="1" indent="0">
              <a:buNone/>
            </a:pPr>
            <a:endParaRPr lang="en-US" altLang="en-US" sz="2160" dirty="0"/>
          </a:p>
        </p:txBody>
      </p:sp>
      <p:sp>
        <p:nvSpPr>
          <p:cNvPr id="7" name="Title 1">
            <a:extLst>
              <a:ext uri="{FF2B5EF4-FFF2-40B4-BE49-F238E27FC236}">
                <a16:creationId xmlns:a16="http://schemas.microsoft.com/office/drawing/2014/main" id="{5F16C27D-A469-4F31-8194-7DA8FFFE1EDF}"/>
              </a:ext>
            </a:extLst>
          </p:cNvPr>
          <p:cNvSpPr txBox="1">
            <a:spLocks/>
          </p:cNvSpPr>
          <p:nvPr/>
        </p:nvSpPr>
        <p:spPr>
          <a:xfrm>
            <a:off x="247135" y="20261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Projected Coordinate Systems</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2E6C1CC7-670A-4019-ADC2-BB4666F4A672}"/>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pic>
        <p:nvPicPr>
          <p:cNvPr id="4" name="Picture 2" descr="File:Cartesian coordinate system (comma).svg">
            <a:extLst>
              <a:ext uri="{FF2B5EF4-FFF2-40B4-BE49-F238E27FC236}">
                <a16:creationId xmlns:a16="http://schemas.microsoft.com/office/drawing/2014/main" id="{3F55F73B-67A7-4338-A658-1FBC3C22CE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7814" y="3055185"/>
            <a:ext cx="2035199" cy="2035199"/>
          </a:xfrm>
          <a:prstGeom prst="rect">
            <a:avLst/>
          </a:prstGeom>
          <a:solidFill>
            <a:schemeClr val="tx1"/>
          </a:solidFill>
        </p:spPr>
      </p:pic>
      <p:sp>
        <p:nvSpPr>
          <p:cNvPr id="5" name="Rectangle 4">
            <a:extLst>
              <a:ext uri="{FF2B5EF4-FFF2-40B4-BE49-F238E27FC236}">
                <a16:creationId xmlns:a16="http://schemas.microsoft.com/office/drawing/2014/main" id="{7F931FA7-089A-4943-A3A0-BB72E95F2B64}"/>
              </a:ext>
            </a:extLst>
          </p:cNvPr>
          <p:cNvSpPr/>
          <p:nvPr/>
        </p:nvSpPr>
        <p:spPr>
          <a:xfrm>
            <a:off x="114821" y="4881424"/>
            <a:ext cx="4763475" cy="391646"/>
          </a:xfrm>
          <a:prstGeom prst="rect">
            <a:avLst/>
          </a:prstGeom>
        </p:spPr>
        <p:txBody>
          <a:bodyPr wrap="square">
            <a:spAutoFit/>
          </a:bodyPr>
          <a:lstStyle/>
          <a:p>
            <a:r>
              <a:rPr lang="en-US" sz="1000" dirty="0">
                <a:hlinkClick r:id="rId4"/>
              </a:rPr>
              <a:t>https://commons.wikimedia.org/wiki/File:Cartesian_coordinate_system_(comma).svg</a:t>
            </a:r>
            <a:endParaRPr lang="en-US" sz="1000" dirty="0"/>
          </a:p>
          <a:p>
            <a:endParaRPr lang="en-US" sz="945" dirty="0"/>
          </a:p>
        </p:txBody>
      </p:sp>
      <p:sp>
        <p:nvSpPr>
          <p:cNvPr id="2" name="Slide Number Placeholder 1">
            <a:extLst>
              <a:ext uri="{FF2B5EF4-FFF2-40B4-BE49-F238E27FC236}">
                <a16:creationId xmlns:a16="http://schemas.microsoft.com/office/drawing/2014/main" id="{67B5BB24-EB69-471E-A74E-8E36D14CC1B7}"/>
              </a:ext>
            </a:extLst>
          </p:cNvPr>
          <p:cNvSpPr>
            <a:spLocks noGrp="1"/>
          </p:cNvSpPr>
          <p:nvPr>
            <p:ph type="sldNum" sz="quarter" idx="12"/>
          </p:nvPr>
        </p:nvSpPr>
        <p:spPr/>
        <p:txBody>
          <a:bodyPr/>
          <a:lstStyle/>
          <a:p>
            <a:fld id="{127DDC20-79C9-9647-820E-6D40A3D210C3}" type="slidenum">
              <a:rPr lang="en-US" smtClean="0"/>
              <a:pPr/>
              <a:t>46</a:t>
            </a:fld>
            <a:endParaRPr lang="en-US"/>
          </a:p>
        </p:txBody>
      </p:sp>
    </p:spTree>
    <p:extLst>
      <p:ext uri="{BB962C8B-B14F-4D97-AF65-F5344CB8AC3E}">
        <p14:creationId xmlns:p14="http://schemas.microsoft.com/office/powerpoint/2010/main" val="90760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392" y="566558"/>
            <a:ext cx="7741920" cy="857250"/>
          </a:xfrm>
        </p:spPr>
        <p:txBody>
          <a:bodyPr>
            <a:noAutofit/>
          </a:bodyPr>
          <a:lstStyle/>
          <a:p>
            <a:pPr algn="l"/>
            <a:r>
              <a:rPr lang="en-US" sz="3200" b="1" dirty="0">
                <a:solidFill>
                  <a:srgbClr val="7030A0"/>
                </a:solidFill>
              </a:rPr>
              <a:t>Geographic</a:t>
            </a:r>
            <a:r>
              <a:rPr lang="en-US" sz="3200" dirty="0">
                <a:solidFill>
                  <a:srgbClr val="7030A0"/>
                </a:solidFill>
              </a:rPr>
              <a:t> vs </a:t>
            </a:r>
            <a:r>
              <a:rPr lang="en-US" sz="3200" b="1" dirty="0">
                <a:solidFill>
                  <a:srgbClr val="7030A0"/>
                </a:solidFill>
              </a:rPr>
              <a:t>Projected Coordinate Systems</a:t>
            </a:r>
          </a:p>
        </p:txBody>
      </p:sp>
      <p:sp>
        <p:nvSpPr>
          <p:cNvPr id="3" name="Slide Number Placeholder 2">
            <a:extLst>
              <a:ext uri="{FF2B5EF4-FFF2-40B4-BE49-F238E27FC236}">
                <a16:creationId xmlns:a16="http://schemas.microsoft.com/office/drawing/2014/main" id="{00D14853-EB2E-435F-91F6-A58993870A1A}"/>
              </a:ext>
            </a:extLst>
          </p:cNvPr>
          <p:cNvSpPr>
            <a:spLocks noGrp="1"/>
          </p:cNvSpPr>
          <p:nvPr>
            <p:ph type="sldNum" sz="quarter" idx="12"/>
          </p:nvPr>
        </p:nvSpPr>
        <p:spPr/>
        <p:txBody>
          <a:bodyPr/>
          <a:lstStyle/>
          <a:p>
            <a:fld id="{127DDC20-79C9-9647-820E-6D40A3D210C3}" type="slidenum">
              <a:rPr lang="en-US" smtClean="0"/>
              <a:pPr/>
              <a:t>47</a:t>
            </a:fld>
            <a:endParaRPr lang="en-US"/>
          </a:p>
        </p:txBody>
      </p:sp>
      <p:pic>
        <p:nvPicPr>
          <p:cNvPr id="7" name="Picture 6"/>
          <p:cNvPicPr>
            <a:picLocks noChangeAspect="1"/>
          </p:cNvPicPr>
          <p:nvPr/>
        </p:nvPicPr>
        <p:blipFill>
          <a:blip r:embed="rId3"/>
          <a:stretch>
            <a:fillRect/>
          </a:stretch>
        </p:blipFill>
        <p:spPr>
          <a:xfrm>
            <a:off x="4269145" y="1563580"/>
            <a:ext cx="3384074" cy="2903619"/>
          </a:xfrm>
          <a:prstGeom prst="rect">
            <a:avLst/>
          </a:prstGeom>
        </p:spPr>
      </p:pic>
      <p:pic>
        <p:nvPicPr>
          <p:cNvPr id="8" name="Picture 7"/>
          <p:cNvPicPr>
            <a:picLocks noChangeAspect="1"/>
          </p:cNvPicPr>
          <p:nvPr/>
        </p:nvPicPr>
        <p:blipFill>
          <a:blip r:embed="rId4"/>
          <a:stretch>
            <a:fillRect/>
          </a:stretch>
        </p:blipFill>
        <p:spPr>
          <a:xfrm>
            <a:off x="770654" y="1661757"/>
            <a:ext cx="3111949" cy="2643161"/>
          </a:xfrm>
          <a:prstGeom prst="rect">
            <a:avLst/>
          </a:prstGeom>
        </p:spPr>
      </p:pic>
      <p:sp>
        <p:nvSpPr>
          <p:cNvPr id="9" name="TextBox 8"/>
          <p:cNvSpPr txBox="1"/>
          <p:nvPr/>
        </p:nvSpPr>
        <p:spPr>
          <a:xfrm>
            <a:off x="4835077" y="4526790"/>
            <a:ext cx="2675317" cy="230832"/>
          </a:xfrm>
          <a:prstGeom prst="rect">
            <a:avLst/>
          </a:prstGeom>
          <a:noFill/>
        </p:spPr>
        <p:txBody>
          <a:bodyPr wrap="square" rtlCol="0">
            <a:spAutoFit/>
          </a:bodyPr>
          <a:lstStyle/>
          <a:p>
            <a:pPr>
              <a:lnSpc>
                <a:spcPct val="90000"/>
              </a:lnSpc>
            </a:pPr>
            <a:r>
              <a:rPr lang="en-US" sz="1000" dirty="0"/>
              <a:t>Image from ArcGIS API for JavaScript</a:t>
            </a:r>
          </a:p>
        </p:txBody>
      </p:sp>
      <p:sp>
        <p:nvSpPr>
          <p:cNvPr id="10" name="TextBox 9"/>
          <p:cNvSpPr txBox="1"/>
          <p:nvPr/>
        </p:nvSpPr>
        <p:spPr>
          <a:xfrm>
            <a:off x="1388035" y="4542867"/>
            <a:ext cx="2675317" cy="230832"/>
          </a:xfrm>
          <a:prstGeom prst="rect">
            <a:avLst/>
          </a:prstGeom>
          <a:noFill/>
        </p:spPr>
        <p:txBody>
          <a:bodyPr wrap="square" rtlCol="0">
            <a:spAutoFit/>
          </a:bodyPr>
          <a:lstStyle/>
          <a:p>
            <a:pPr>
              <a:lnSpc>
                <a:spcPct val="90000"/>
              </a:lnSpc>
            </a:pPr>
            <a:r>
              <a:rPr lang="en-US" sz="1000" dirty="0"/>
              <a:t>Image from ArcGIS API for JavaScript</a:t>
            </a:r>
          </a:p>
        </p:txBody>
      </p:sp>
      <p:cxnSp>
        <p:nvCxnSpPr>
          <p:cNvPr id="11" name="Straight Connector 10">
            <a:extLst>
              <a:ext uri="{FF2B5EF4-FFF2-40B4-BE49-F238E27FC236}">
                <a16:creationId xmlns:a16="http://schemas.microsoft.com/office/drawing/2014/main" id="{8FEE7F4C-E570-40FC-AFA7-A77890CFC4F1}"/>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47934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0F3E3-DDAD-2870-3882-C37005FA9DE8}"/>
              </a:ext>
            </a:extLst>
          </p:cNvPr>
          <p:cNvSpPr>
            <a:spLocks noGrp="1"/>
          </p:cNvSpPr>
          <p:nvPr>
            <p:ph type="title"/>
          </p:nvPr>
        </p:nvSpPr>
        <p:spPr>
          <a:xfrm>
            <a:off x="392305" y="526617"/>
            <a:ext cx="7444991" cy="497850"/>
          </a:xfrm>
        </p:spPr>
        <p:txBody>
          <a:bodyPr>
            <a:normAutofit/>
          </a:bodyPr>
          <a:lstStyle/>
          <a:p>
            <a:r>
              <a:rPr lang="en-US" sz="2400" dirty="0"/>
              <a:t>Well-Known ID - </a:t>
            </a:r>
            <a:r>
              <a:rPr lang="en-US" sz="2400" dirty="0" err="1"/>
              <a:t>wkid</a:t>
            </a:r>
            <a:endParaRPr lang="en-US" sz="2400" dirty="0"/>
          </a:p>
        </p:txBody>
      </p:sp>
      <p:sp>
        <p:nvSpPr>
          <p:cNvPr id="3" name="Content Placeholder 2">
            <a:extLst>
              <a:ext uri="{FF2B5EF4-FFF2-40B4-BE49-F238E27FC236}">
                <a16:creationId xmlns:a16="http://schemas.microsoft.com/office/drawing/2014/main" id="{31A53FB0-4B50-F1D6-1E49-87635F598FE0}"/>
              </a:ext>
            </a:extLst>
          </p:cNvPr>
          <p:cNvSpPr>
            <a:spLocks noGrp="1"/>
          </p:cNvSpPr>
          <p:nvPr>
            <p:ph idx="1"/>
          </p:nvPr>
        </p:nvSpPr>
        <p:spPr>
          <a:xfrm>
            <a:off x="392307" y="1208817"/>
            <a:ext cx="7444990" cy="2725865"/>
          </a:xfrm>
        </p:spPr>
        <p:txBody>
          <a:bodyPr>
            <a:normAutofit/>
          </a:bodyPr>
          <a:lstStyle/>
          <a:p>
            <a:r>
              <a:rPr lang="en-US" sz="1800" b="1" dirty="0"/>
              <a:t>Defines a Coordinate System</a:t>
            </a:r>
            <a:endParaRPr lang="en-US" sz="1800" dirty="0"/>
          </a:p>
          <a:p>
            <a:pPr marL="218700" lvl="1" indent="0">
              <a:buNone/>
            </a:pPr>
            <a:r>
              <a:rPr lang="en-US" sz="1800" dirty="0"/>
              <a:t>It identifies a specific system for measuring locations on the Earth's surface, including geographic coordinates (like latitude and longitude) and projected coordinates. </a:t>
            </a:r>
          </a:p>
          <a:p>
            <a:pPr marL="218700" lvl="1" indent="0">
              <a:buNone/>
            </a:pPr>
            <a:endParaRPr lang="en-US" sz="1800" dirty="0"/>
          </a:p>
          <a:p>
            <a:pPr marL="218700" lvl="1" indent="0">
              <a:buNone/>
            </a:pPr>
            <a:r>
              <a:rPr lang="en-US" sz="1800" dirty="0"/>
              <a:t>Examples of WKIDs:</a:t>
            </a:r>
          </a:p>
          <a:p>
            <a:pPr marL="218700" lvl="1" indent="0">
              <a:buNone/>
            </a:pPr>
            <a:r>
              <a:rPr lang="en-US" sz="1800" dirty="0"/>
              <a:t>4326 (WGS 84)</a:t>
            </a:r>
          </a:p>
          <a:p>
            <a:endParaRPr lang="en-US" sz="1800" dirty="0"/>
          </a:p>
        </p:txBody>
      </p:sp>
      <p:sp>
        <p:nvSpPr>
          <p:cNvPr id="4" name="Slide Number Placeholder 3">
            <a:extLst>
              <a:ext uri="{FF2B5EF4-FFF2-40B4-BE49-F238E27FC236}">
                <a16:creationId xmlns:a16="http://schemas.microsoft.com/office/drawing/2014/main" id="{6EF9C787-54D8-63D5-84DA-173047C5C4FD}"/>
              </a:ext>
            </a:extLst>
          </p:cNvPr>
          <p:cNvSpPr>
            <a:spLocks noGrp="1"/>
          </p:cNvSpPr>
          <p:nvPr>
            <p:ph type="sldNum" sz="quarter" idx="12"/>
          </p:nvPr>
        </p:nvSpPr>
        <p:spPr/>
        <p:txBody>
          <a:bodyPr/>
          <a:lstStyle/>
          <a:p>
            <a:fld id="{127DDC20-79C9-9647-820E-6D40A3D210C3}" type="slidenum">
              <a:rPr lang="en-US" smtClean="0"/>
              <a:pPr/>
              <a:t>48</a:t>
            </a:fld>
            <a:endParaRPr lang="en-US"/>
          </a:p>
        </p:txBody>
      </p:sp>
    </p:spTree>
    <p:extLst>
      <p:ext uri="{BB962C8B-B14F-4D97-AF65-F5344CB8AC3E}">
        <p14:creationId xmlns:p14="http://schemas.microsoft.com/office/powerpoint/2010/main" val="18223667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1375484" y="996981"/>
            <a:ext cx="5505525" cy="4026344"/>
          </a:xfrm>
          <a:prstGeom prst="rect">
            <a:avLst/>
          </a:prstGeom>
        </p:spPr>
      </p:pic>
      <p:cxnSp>
        <p:nvCxnSpPr>
          <p:cNvPr id="9" name="Straight Connector 8">
            <a:extLst>
              <a:ext uri="{FF2B5EF4-FFF2-40B4-BE49-F238E27FC236}">
                <a16:creationId xmlns:a16="http://schemas.microsoft.com/office/drawing/2014/main" id="{60DC164A-0922-4C57-92DD-F39DB8A9527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0F1DF0CA-91C0-4617-A962-C3F155E8B998}"/>
              </a:ext>
            </a:extLst>
          </p:cNvPr>
          <p:cNvSpPr txBox="1">
            <a:spLocks/>
          </p:cNvSpPr>
          <p:nvPr/>
        </p:nvSpPr>
        <p:spPr>
          <a:xfrm>
            <a:off x="76200" y="23015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Datum/Projection Info in ArcGIS</a:t>
            </a:r>
            <a:endParaRPr lang="en-US" sz="2600" dirty="0">
              <a:solidFill>
                <a:srgbClr val="7030A0"/>
              </a:solidFill>
            </a:endParaRPr>
          </a:p>
        </p:txBody>
      </p:sp>
      <p:sp>
        <p:nvSpPr>
          <p:cNvPr id="3" name="Slide Number Placeholder 2">
            <a:extLst>
              <a:ext uri="{FF2B5EF4-FFF2-40B4-BE49-F238E27FC236}">
                <a16:creationId xmlns:a16="http://schemas.microsoft.com/office/drawing/2014/main" id="{E2167723-7FF9-4B98-B8D2-55DE54DAA7CD}"/>
              </a:ext>
            </a:extLst>
          </p:cNvPr>
          <p:cNvSpPr>
            <a:spLocks noGrp="1"/>
          </p:cNvSpPr>
          <p:nvPr>
            <p:ph type="sldNum" sz="quarter" idx="12"/>
          </p:nvPr>
        </p:nvSpPr>
        <p:spPr/>
        <p:txBody>
          <a:bodyPr/>
          <a:lstStyle/>
          <a:p>
            <a:fld id="{127DDC20-79C9-9647-820E-6D40A3D210C3}" type="slidenum">
              <a:rPr lang="en-US" smtClean="0"/>
              <a:pPr/>
              <a:t>49</a:t>
            </a:fld>
            <a:endParaRPr lang="en-US"/>
          </a:p>
        </p:txBody>
      </p:sp>
    </p:spTree>
    <p:extLst>
      <p:ext uri="{BB962C8B-B14F-4D97-AF65-F5344CB8AC3E}">
        <p14:creationId xmlns:p14="http://schemas.microsoft.com/office/powerpoint/2010/main" val="1862205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8610">
              <a:defRPr/>
            </a:pPr>
            <a:endParaRPr lang="en-US" sz="1215">
              <a:solidFill>
                <a:srgbClr val="FFFFFF"/>
              </a:solidFill>
              <a:latin typeface="Calibri"/>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2.3 </a:t>
            </a:r>
            <a:br>
              <a:rPr lang="en-US" sz="4050" dirty="0">
                <a:solidFill>
                  <a:srgbClr val="FFFFFF"/>
                </a:solidFill>
              </a:rPr>
            </a:br>
            <a:r>
              <a:rPr lang="en-US" sz="4050" dirty="0">
                <a:solidFill>
                  <a:srgbClr val="FFFFFF"/>
                </a:solidFill>
              </a:rPr>
              <a:t>Lab session</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Tree>
    <p:extLst>
      <p:ext uri="{BB962C8B-B14F-4D97-AF65-F5344CB8AC3E}">
        <p14:creationId xmlns:p14="http://schemas.microsoft.com/office/powerpoint/2010/main" val="2268424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FABBCE0-E08C-4BBE-9FD2-E2B253D4D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6"/>
            <a:ext cx="8229600" cy="4629149"/>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8610">
              <a:defRPr/>
            </a:pPr>
            <a:endParaRPr lang="en-US" sz="1215">
              <a:solidFill>
                <a:prstClr val="white"/>
              </a:solidFill>
              <a:latin typeface="Gill Sans MT" panose="020B0502020104020203"/>
            </a:endParaRPr>
          </a:p>
        </p:txBody>
      </p:sp>
      <p:sp>
        <p:nvSpPr>
          <p:cNvPr id="2" name="Title 1">
            <a:extLst>
              <a:ext uri="{FF2B5EF4-FFF2-40B4-BE49-F238E27FC236}">
                <a16:creationId xmlns:a16="http://schemas.microsoft.com/office/drawing/2014/main" id="{500F975A-F937-77A1-413D-F51FF137F9AD}"/>
              </a:ext>
            </a:extLst>
          </p:cNvPr>
          <p:cNvSpPr>
            <a:spLocks noGrp="1"/>
          </p:cNvSpPr>
          <p:nvPr>
            <p:ph type="title"/>
          </p:nvPr>
        </p:nvSpPr>
        <p:spPr>
          <a:xfrm>
            <a:off x="392417" y="865356"/>
            <a:ext cx="7444991" cy="462049"/>
          </a:xfrm>
        </p:spPr>
        <p:txBody>
          <a:bodyPr>
            <a:normAutofit/>
          </a:bodyPr>
          <a:lstStyle/>
          <a:p>
            <a:pPr algn="ctr">
              <a:spcBef>
                <a:spcPts val="0"/>
              </a:spcBef>
              <a:spcAft>
                <a:spcPts val="398"/>
              </a:spcAft>
            </a:pPr>
            <a:r>
              <a:rPr lang="en-US" sz="2160" b="1" dirty="0">
                <a:solidFill>
                  <a:schemeClr val="tx1">
                    <a:lumMod val="85000"/>
                    <a:lumOff val="15000"/>
                  </a:schemeClr>
                </a:solidFill>
                <a:latin typeface="+mn-lt"/>
                <a:ea typeface="Calibri" panose="020F0502020204030204" pitchFamily="34" charset="0"/>
                <a:cs typeface="Calibri" panose="020F0502020204030204" pitchFamily="34" charset="0"/>
              </a:rPr>
              <a:t>Lab 02: datum </a:t>
            </a:r>
            <a:r>
              <a:rPr lang="en-US" sz="2160" b="1">
                <a:solidFill>
                  <a:schemeClr val="tx1">
                    <a:lumMod val="85000"/>
                    <a:lumOff val="15000"/>
                  </a:schemeClr>
                </a:solidFill>
                <a:latin typeface="+mn-lt"/>
                <a:ea typeface="Calibri" panose="020F0502020204030204" pitchFamily="34" charset="0"/>
                <a:cs typeface="Calibri" panose="020F0502020204030204" pitchFamily="34" charset="0"/>
              </a:rPr>
              <a:t>and projection</a:t>
            </a:r>
            <a:endParaRPr lang="en-US" sz="2160" dirty="0">
              <a:solidFill>
                <a:schemeClr val="tx1">
                  <a:lumMod val="85000"/>
                  <a:lumOff val="15000"/>
                </a:schemeClr>
              </a:solidFill>
              <a:latin typeface="+mn-lt"/>
              <a:ea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FF426BAC-43D6-468E-B6FF-167034D5C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60727A"/>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617220"/>
            <a:endParaRPr lang="en-US" sz="1215">
              <a:solidFill>
                <a:srgbClr val="FFFFFF"/>
              </a:solidFill>
              <a:latin typeface="Calibri"/>
            </a:endParaRPr>
          </a:p>
        </p:txBody>
      </p:sp>
      <p:sp>
        <p:nvSpPr>
          <p:cNvPr id="13" name="Rectangle 12">
            <a:extLst>
              <a:ext uri="{FF2B5EF4-FFF2-40B4-BE49-F238E27FC236}">
                <a16:creationId xmlns:a16="http://schemas.microsoft.com/office/drawing/2014/main" id="{FB02D80E-5995-4C54-8387-5893C2C89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617220"/>
            <a:endParaRPr lang="en-US" sz="1215">
              <a:solidFill>
                <a:srgbClr val="FFFFFF"/>
              </a:solidFill>
              <a:latin typeface="Calibri"/>
            </a:endParaRPr>
          </a:p>
        </p:txBody>
      </p:sp>
      <p:sp>
        <p:nvSpPr>
          <p:cNvPr id="15" name="Rectangle 14">
            <a:extLst>
              <a:ext uri="{FF2B5EF4-FFF2-40B4-BE49-F238E27FC236}">
                <a16:creationId xmlns:a16="http://schemas.microsoft.com/office/drawing/2014/main" id="{896083C8-1401-4950-AF56-E2FAFE42D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617220"/>
            <a:endParaRPr lang="en-US" sz="1215">
              <a:solidFill>
                <a:srgbClr val="FFFFFF"/>
              </a:solidFill>
              <a:latin typeface="Calibri"/>
            </a:endParaRPr>
          </a:p>
        </p:txBody>
      </p:sp>
      <p:graphicFrame>
        <p:nvGraphicFramePr>
          <p:cNvPr id="5" name="Content Placeholder 2">
            <a:extLst>
              <a:ext uri="{FF2B5EF4-FFF2-40B4-BE49-F238E27FC236}">
                <a16:creationId xmlns:a16="http://schemas.microsoft.com/office/drawing/2014/main" id="{F61B7E67-130C-FD82-8132-74DBD62B80A6}"/>
              </a:ext>
            </a:extLst>
          </p:cNvPr>
          <p:cNvGraphicFramePr>
            <a:graphicFrameLocks noGrp="1"/>
          </p:cNvGraphicFramePr>
          <p:nvPr>
            <p:ph idx="1"/>
            <p:extLst>
              <p:ext uri="{D42A27DB-BD31-4B8C-83A1-F6EECF244321}">
                <p14:modId xmlns:p14="http://schemas.microsoft.com/office/powerpoint/2010/main" val="1940074986"/>
              </p:ext>
            </p:extLst>
          </p:nvPr>
        </p:nvGraphicFramePr>
        <p:xfrm>
          <a:off x="392192" y="1837730"/>
          <a:ext cx="7445216" cy="25746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827850"/>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2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Week04_BivariateRegression_Part02</Template>
  <TotalTime>9198</TotalTime>
  <Words>3641</Words>
  <Application>Microsoft Office PowerPoint</Application>
  <PresentationFormat>Custom</PresentationFormat>
  <Paragraphs>377</Paragraphs>
  <Slides>51</Slides>
  <Notes>22</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51</vt:i4>
      </vt:variant>
    </vt:vector>
  </HeadingPairs>
  <TitlesOfParts>
    <vt:vector size="65" baseType="lpstr">
      <vt:lpstr>Helvetica Neue</vt:lpstr>
      <vt:lpstr>ＭＳ Ｐゴシック</vt:lpstr>
      <vt:lpstr>Arial</vt:lpstr>
      <vt:lpstr>Arial Black</vt:lpstr>
      <vt:lpstr>Calibri</vt:lpstr>
      <vt:lpstr>Cambria Math</vt:lpstr>
      <vt:lpstr>Courier New</vt:lpstr>
      <vt:lpstr>Gill Sans MT</vt:lpstr>
      <vt:lpstr>Times New Roman</vt:lpstr>
      <vt:lpstr>Wingdings</vt:lpstr>
      <vt:lpstr>Wingdings 2</vt:lpstr>
      <vt:lpstr>DividendVTI</vt:lpstr>
      <vt:lpstr>1_DividendVTI</vt:lpstr>
      <vt:lpstr>2_DividendVTI</vt:lpstr>
      <vt:lpstr>WEEK 03  Datum and projection</vt:lpstr>
      <vt:lpstr>3.1  Datum</vt:lpstr>
      <vt:lpstr>PowerPoint Presentation</vt:lpstr>
      <vt:lpstr>Latitude and longitude</vt:lpstr>
      <vt:lpstr>PowerPoint Presentation</vt:lpstr>
      <vt:lpstr>PowerPoint Presentation</vt:lpstr>
      <vt:lpstr>PowerPoint Presentation</vt:lpstr>
      <vt:lpstr>PowerPoint Presentation</vt:lpstr>
      <vt:lpstr>PowerPoint Presentation</vt:lpstr>
      <vt:lpstr>Visualize an ellipsoid.</vt:lpstr>
      <vt:lpstr>PowerPoint Presentation</vt:lpstr>
      <vt:lpstr>PowerPoint Presentation</vt:lpstr>
      <vt:lpstr>PowerPoint Presentation</vt:lpstr>
      <vt:lpstr>PowerPoint Presentation</vt:lpstr>
      <vt:lpstr>PowerPoint Presentation</vt:lpstr>
      <vt:lpstr>The Geoid and GPS Receiver Measurements</vt:lpstr>
      <vt:lpstr>The Geoid and GPS Receiver Measurements</vt:lpstr>
      <vt:lpstr>Geoid below ellipsoid</vt:lpstr>
      <vt:lpstr>PowerPoint Presentation</vt:lpstr>
      <vt:lpstr>PowerPoint Presentation</vt:lpstr>
      <vt:lpstr>PowerPoint Presentation</vt:lpstr>
      <vt:lpstr>PowerPoint Presentation</vt:lpstr>
      <vt:lpstr>PowerPoint Presentation</vt:lpstr>
      <vt:lpstr>What is datum?</vt:lpstr>
      <vt:lpstr>Horizontal datum</vt:lpstr>
      <vt:lpstr>The World at Zero: Equator &amp; Prime Meridian</vt:lpstr>
      <vt:lpstr>PowerPoint Presentation</vt:lpstr>
      <vt:lpstr>PowerPoint Presentation</vt:lpstr>
      <vt:lpstr>Why are datums important? </vt:lpstr>
      <vt:lpstr>Which datum google map use?</vt:lpstr>
      <vt:lpstr>Vertical datum</vt:lpstr>
      <vt:lpstr>Vertical datum - examples</vt:lpstr>
      <vt:lpstr>PowerPoint Presentation</vt:lpstr>
      <vt:lpstr>PowerPoint Presentation</vt:lpstr>
      <vt:lpstr>PowerPoint Presentation</vt:lpstr>
      <vt:lpstr>PowerPoint Presentation</vt:lpstr>
      <vt:lpstr>PowerPoint Presentation</vt:lpstr>
      <vt:lpstr>PowerPoint Presentation</vt:lpstr>
      <vt:lpstr>2.2  coordinate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Geographic vs Projected Coordinate Systems</vt:lpstr>
      <vt:lpstr>Well-Known ID - wkid</vt:lpstr>
      <vt:lpstr>PowerPoint Presentation</vt:lpstr>
      <vt:lpstr>2.3  Lab session</vt:lpstr>
      <vt:lpstr>Lab 02: datum and projection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Information Science Introduction</dc:title>
  <dc:creator>Yaqian He</dc:creator>
  <cp:lastModifiedBy>Yanan Wu</cp:lastModifiedBy>
  <cp:revision>499</cp:revision>
  <cp:lastPrinted>2020-03-26T12:59:04Z</cp:lastPrinted>
  <dcterms:created xsi:type="dcterms:W3CDTF">2020-03-24T14:51:54Z</dcterms:created>
  <dcterms:modified xsi:type="dcterms:W3CDTF">2026-09-01T15:37:17Z</dcterms:modified>
</cp:coreProperties>
</file>