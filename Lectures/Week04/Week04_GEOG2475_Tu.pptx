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36"/>
  </p:notesMasterIdLst>
  <p:sldIdLst>
    <p:sldId id="914" r:id="rId4"/>
    <p:sldId id="1647" r:id="rId5"/>
    <p:sldId id="617" r:id="rId6"/>
    <p:sldId id="265" r:id="rId7"/>
    <p:sldId id="269" r:id="rId8"/>
    <p:sldId id="266" r:id="rId9"/>
    <p:sldId id="1648" r:id="rId10"/>
    <p:sldId id="1649" r:id="rId11"/>
    <p:sldId id="1650" r:id="rId12"/>
    <p:sldId id="267" r:id="rId13"/>
    <p:sldId id="1651" r:id="rId14"/>
    <p:sldId id="1671" r:id="rId15"/>
    <p:sldId id="268" r:id="rId16"/>
    <p:sldId id="1675" r:id="rId17"/>
    <p:sldId id="1652" r:id="rId18"/>
    <p:sldId id="637" r:id="rId19"/>
    <p:sldId id="635" r:id="rId20"/>
    <p:sldId id="642" r:id="rId21"/>
    <p:sldId id="638" r:id="rId22"/>
    <p:sldId id="271" r:id="rId23"/>
    <p:sldId id="1662" r:id="rId24"/>
    <p:sldId id="1663" r:id="rId25"/>
    <p:sldId id="1664" r:id="rId26"/>
    <p:sldId id="1653" r:id="rId27"/>
    <p:sldId id="1654" r:id="rId28"/>
    <p:sldId id="273" r:id="rId29"/>
    <p:sldId id="1655" r:id="rId30"/>
    <p:sldId id="1673" r:id="rId31"/>
    <p:sldId id="1669" r:id="rId32"/>
    <p:sldId id="1672" r:id="rId33"/>
    <p:sldId id="1658" r:id="rId34"/>
    <p:sldId id="1659" r:id="rId35"/>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8" autoAdjust="0"/>
    <p:restoredTop sz="81907" autoAdjust="0"/>
  </p:normalViewPr>
  <p:slideViewPr>
    <p:cSldViewPr snapToGrid="0" snapToObjects="1">
      <p:cViewPr varScale="1">
        <p:scale>
          <a:sx n="120" d="100"/>
          <a:sy n="120" d="100"/>
        </p:scale>
        <p:origin x="1884"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_rels/data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a:t>
          </a:r>
          <a:r>
            <a:rPr lang="en-US" altLang="zh-CN" sz="1800" dirty="0"/>
            <a:t>noon</a:t>
          </a:r>
          <a:r>
            <a:rPr lang="en-US" sz="1800" dirty="0"/>
            <a:t> </a:t>
          </a:r>
          <a:r>
            <a:rPr lang="en-US" sz="1800" dirty="0">
              <a:solidFill>
                <a:srgbClr val="C00000"/>
              </a:solidFill>
            </a:rPr>
            <a:t>(12:00 PM) on Wednesday, Sep 16, 2026</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a:t>
          </a:r>
          <a:r>
            <a:rPr lang="en-US" altLang="zh-CN" sz="1800" kern="1200" dirty="0"/>
            <a:t>noon</a:t>
          </a:r>
          <a:r>
            <a:rPr lang="en-US" sz="1800" kern="1200" dirty="0"/>
            <a:t> </a:t>
          </a:r>
          <a:r>
            <a:rPr lang="en-US" sz="1800" kern="1200" dirty="0">
              <a:solidFill>
                <a:srgbClr val="C00000"/>
              </a:solidFill>
            </a:rPr>
            <a:t>(12:00 PM) on Wednesday, Sep 16, 2026</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9/9/2026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a:t>
            </a:fld>
            <a:endParaRPr lang="en-US"/>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708313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broad</a:t>
            </a:r>
            <a:r>
              <a:rPr lang="en-US" baseline="0" dirty="0"/>
              <a:t> types of geospatial data are available: vector data and raster data. </a:t>
            </a:r>
          </a:p>
          <a:p>
            <a:endParaRPr lang="en-US" baseline="0" dirty="0"/>
          </a:p>
          <a:p>
            <a:r>
              <a:rPr lang="en-US" baseline="0" dirty="0"/>
              <a:t>Vector data generally represent discrete features as points, lines, or polygons. </a:t>
            </a:r>
          </a:p>
          <a:p>
            <a:endParaRPr lang="en-US" baseline="0" dirty="0"/>
          </a:p>
          <a:p>
            <a:r>
              <a:rPr lang="en-US" baseline="0" dirty="0"/>
              <a:t>Raster data generally represent continuous features as pixels or grid cells. </a:t>
            </a:r>
          </a:p>
          <a:p>
            <a:endParaRPr lang="en-US" baseline="0" dirty="0"/>
          </a:p>
          <a:p>
            <a:r>
              <a:rPr lang="en-US" baseline="0" dirty="0"/>
              <a:t>We will begin with a discussion of vector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93972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mentioned above, all vector data are made up of coordinates. Points are individual coordinates while lines and polygons are made up of interrelated coordinates. </a:t>
            </a:r>
          </a:p>
          <a:p>
            <a:endParaRPr lang="en-US" dirty="0"/>
          </a:p>
          <a:p>
            <a:r>
              <a:rPr lang="en-US" dirty="0"/>
              <a:t>These individual coordinates are called vertices. Vertices that occur at or define the end of a line segment are called nodes. </a:t>
            </a:r>
          </a:p>
          <a:p>
            <a:endParaRPr lang="en-US" dirty="0"/>
          </a:p>
          <a:p>
            <a:r>
              <a:rPr lang="en-US" dirty="0"/>
              <a:t>Again, all vector data are made up of coordinate points.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32664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data can be represented as points, lines, or polygons. </a:t>
            </a:r>
            <a:br>
              <a:rPr lang="en-US" dirty="0"/>
            </a:br>
            <a:endParaRPr lang="en-US" dirty="0"/>
          </a:p>
          <a:p>
            <a:r>
              <a:rPr lang="en-US" dirty="0"/>
              <a:t>Point data are simply coordinate pairs with associated attributes. They have no spatial dimensions, since they do not have length or width. </a:t>
            </a:r>
          </a:p>
          <a:p>
            <a:endParaRPr lang="en-US" dirty="0"/>
          </a:p>
          <a:p>
            <a:r>
              <a:rPr lang="en-US" dirty="0"/>
              <a:t>Lines are a series of coordinate pairs connected to form a line. They have one spatial dimension, since they have length but not width.</a:t>
            </a:r>
          </a:p>
          <a:p>
            <a:endParaRPr lang="en-US" dirty="0"/>
          </a:p>
          <a:p>
            <a:r>
              <a:rPr lang="en-US" dirty="0"/>
              <a:t>Polygons are a series of coordinates in which the first and last coordinates are connected to form a closed feature or area. They have both length and width, so have two spatial dimensions. Since they have length and width, they have an area.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25036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powerful aspect of a GIS and geospatial data is the ability to relate spatial and tabulated data. Vector data are not just map coordinates. These features are also associated with tabulated information. For example, the parcels boundaries shown on this slide are attributed with a set of information. This allows us to relate spatial and tabulated data.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365942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concept associated with vector data is the concept of topology. This is not to be confused with topography. </a:t>
            </a:r>
          </a:p>
          <a:p>
            <a:endParaRPr lang="en-US" dirty="0"/>
          </a:p>
          <a:p>
            <a:r>
              <a:rPr lang="en-US" dirty="0"/>
              <a:t>Topology is the study of properties of geometric objects, including map features, that remain invariant, or don’t change, under certain transformations such as bending or stretching. </a:t>
            </a:r>
          </a:p>
          <a:p>
            <a:endParaRPr lang="en-US" dirty="0"/>
          </a:p>
          <a:p>
            <a:r>
              <a:rPr lang="en-US" dirty="0"/>
              <a:t>Example topological relationships include adjacent to and incident with. For example, if the US state boundaries could be bent or stretched, the adjacently between states would be maintained. Or, adjacent states would still be next to each other and share boundaries. If map features were bent or stretched, features that occur within or are incident with other features would maintain this relationship with those other features. For example, cities would still fall within the correct state or country. </a:t>
            </a:r>
          </a:p>
          <a:p>
            <a:r>
              <a:rPr lang="en-US" dirty="0"/>
              <a:t>Arkansas and </a:t>
            </a:r>
            <a:r>
              <a:rPr lang="en-US" dirty="0" err="1"/>
              <a:t>mississippi</a:t>
            </a:r>
            <a:endParaRPr lang="en-US" dirty="0"/>
          </a:p>
          <a:p>
            <a:endParaRPr lang="en-US" dirty="0"/>
          </a:p>
          <a:p>
            <a:r>
              <a:rPr lang="en-US" dirty="0"/>
              <a:t>A good example of topology is</a:t>
            </a:r>
            <a:r>
              <a:rPr lang="en-US" baseline="0" dirty="0"/>
              <a:t> a</a:t>
            </a:r>
            <a:r>
              <a:rPr lang="en-US" dirty="0"/>
              <a:t> subway map. On this slide, I have included the subway map for the city of Vancouver in British Columbia. The subway lines and other map features have been generalized such that the full complexity is not represented. However, important topological relationships have been maintained. For example, you know which stops occur along or are incident with which lines. You also know where different lines cross, or where you can transfer between lines. So, even though these data have been generalized, important topological rules have been maintained so that you can use the map to navigate the subway system. </a:t>
            </a:r>
          </a:p>
          <a:p>
            <a:endParaRPr lang="en-US" dirty="0"/>
          </a:p>
          <a:p>
            <a:r>
              <a:rPr lang="en-US" dirty="0"/>
              <a:t>Topology is important because it allows us to solve problems that require an understanding of the spatial relationship between map features.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451092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634257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 new data, issues can arise that cause topological relationships to not be maintained. </a:t>
            </a:r>
          </a:p>
          <a:p>
            <a:endParaRPr lang="en-US" dirty="0"/>
          </a:p>
          <a:p>
            <a:r>
              <a:rPr lang="en-US" dirty="0"/>
              <a:t>Dangles occur when 2 line features are supposed to connect, such as at a road intersection, but they fall short. If you were trying to model movement along a road network, this would be an issue.</a:t>
            </a:r>
          </a:p>
          <a:p>
            <a:endParaRPr lang="en-US" dirty="0"/>
          </a:p>
          <a:p>
            <a:r>
              <a:rPr lang="en-US" dirty="0"/>
              <a:t>Overshoots occur when one line segment is supposed to end when it intersects another segment, but it continues or overshoots. </a:t>
            </a:r>
          </a:p>
          <a:p>
            <a:endParaRPr lang="en-US" dirty="0"/>
          </a:p>
          <a:p>
            <a:r>
              <a:rPr lang="en-US" dirty="0"/>
              <a:t>Slivers represent areas of non-overlap between features that could represent real patterns or result for digitization errors or scale difference in the input data.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2452018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24913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233718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shapefile</a:t>
            </a:r>
            <a:r>
              <a:rPr lang="en-US" dirty="0"/>
              <a:t> is a </a:t>
            </a:r>
            <a:r>
              <a:rPr lang="en-US" dirty="0" err="1"/>
              <a:t>georelational</a:t>
            </a:r>
            <a:r>
              <a:rPr lang="en-US" dirty="0"/>
              <a:t> model that is still commonly used. It was originally developed by ESRI but is non-proprietary. </a:t>
            </a:r>
          </a:p>
          <a:p>
            <a:endParaRPr lang="en-US" dirty="0"/>
          </a:p>
          <a:p>
            <a:r>
              <a:rPr lang="en-US" dirty="0"/>
              <a:t>It is a </a:t>
            </a:r>
            <a:r>
              <a:rPr lang="en-US" dirty="0" err="1"/>
              <a:t>nontopological</a:t>
            </a:r>
            <a:r>
              <a:rPr lang="en-US" dirty="0"/>
              <a:t> model. Generally, </a:t>
            </a:r>
            <a:r>
              <a:rPr lang="en-US" dirty="0" err="1"/>
              <a:t>nontopological</a:t>
            </a:r>
            <a:r>
              <a:rPr lang="en-US" dirty="0"/>
              <a:t> data can display more rapidly on a computer than topological data. They can also be used across multiple software packages. </a:t>
            </a:r>
          </a:p>
          <a:p>
            <a:endParaRPr lang="en-US" dirty="0"/>
          </a:p>
          <a:p>
            <a:r>
              <a:rPr lang="en-US" dirty="0"/>
              <a:t>Although this is a </a:t>
            </a:r>
            <a:r>
              <a:rPr lang="en-US" dirty="0" err="1"/>
              <a:t>nontopological</a:t>
            </a:r>
            <a:r>
              <a:rPr lang="en-US" dirty="0"/>
              <a:t> model, topological relationships can be calculated on-the-fly to perform analyses.</a:t>
            </a:r>
          </a:p>
          <a:p>
            <a:endParaRPr lang="en-US" dirty="0"/>
          </a:p>
          <a:p>
            <a:r>
              <a:rPr lang="en-US" dirty="0"/>
              <a:t>The geometric information is stored in the .</a:t>
            </a:r>
            <a:r>
              <a:rPr lang="en-US" dirty="0" err="1"/>
              <a:t>shp</a:t>
            </a:r>
            <a:r>
              <a:rPr lang="en-US" dirty="0"/>
              <a:t> file while the .</a:t>
            </a:r>
            <a:r>
              <a:rPr lang="en-US" dirty="0" err="1"/>
              <a:t>shx</a:t>
            </a:r>
            <a:r>
              <a:rPr lang="en-US" dirty="0"/>
              <a:t> file provides an index of the geometry, which can speed up searching and display. </a:t>
            </a:r>
          </a:p>
          <a:p>
            <a:endParaRPr lang="en-US" dirty="0"/>
          </a:p>
          <a:p>
            <a:r>
              <a:rPr lang="en-US" dirty="0"/>
              <a:t>The attributed or tabulated data are stored in the .dbf file. This is why this is </a:t>
            </a:r>
            <a:r>
              <a:rPr lang="en-US" dirty="0" err="1"/>
              <a:t>georelational</a:t>
            </a:r>
            <a:r>
              <a:rPr lang="en-US" dirty="0"/>
              <a:t> model: geometry and attributes are stored in separate files. The .</a:t>
            </a:r>
            <a:r>
              <a:rPr lang="en-US" dirty="0" err="1"/>
              <a:t>sbn</a:t>
            </a:r>
            <a:r>
              <a:rPr lang="en-US" dirty="0"/>
              <a:t> and .</a:t>
            </a:r>
            <a:r>
              <a:rPr lang="en-US" dirty="0" err="1"/>
              <a:t>sbx</a:t>
            </a:r>
            <a:r>
              <a:rPr lang="en-US" dirty="0"/>
              <a:t> components provide indices for the attributes, which can speed of queries. </a:t>
            </a:r>
          </a:p>
          <a:p>
            <a:endParaRPr lang="en-US" dirty="0"/>
          </a:p>
          <a:p>
            <a:r>
              <a:rPr lang="en-US" dirty="0"/>
              <a:t>The projection information is stored in the .</a:t>
            </a:r>
            <a:r>
              <a:rPr lang="en-US" dirty="0" err="1"/>
              <a:t>prj</a:t>
            </a:r>
            <a:r>
              <a:rPr lang="en-US" dirty="0"/>
              <a:t> file. This component is important because it tells the computer what the projection is so that the data can be drawn at the correct location in the map space. </a:t>
            </a:r>
          </a:p>
          <a:p>
            <a:endParaRPr lang="en-US" dirty="0"/>
          </a:p>
          <a:p>
            <a:r>
              <a:rPr lang="en-US" dirty="0"/>
              <a:t>If metadata are created, this additional information can be stored in the .xml component. </a:t>
            </a:r>
          </a:p>
          <a:p>
            <a:endParaRPr lang="en-US" dirty="0"/>
          </a:p>
          <a:p>
            <a:r>
              <a:rPr lang="en-US" b="1" i="0" dirty="0" err="1">
                <a:solidFill>
                  <a:srgbClr val="222222"/>
                </a:solidFill>
                <a:effectLst/>
                <a:latin typeface="Roboto"/>
              </a:rPr>
              <a:t>cpg</a:t>
            </a:r>
            <a:r>
              <a:rPr lang="en-US" b="0" i="0" dirty="0">
                <a:solidFill>
                  <a:srgbClr val="222222"/>
                </a:solidFill>
                <a:effectLst/>
                <a:latin typeface="Roboto"/>
              </a:rPr>
              <a:t> are optional plain text files that describes the encoding applied to create the </a:t>
            </a:r>
            <a:r>
              <a:rPr lang="en-US" b="1" i="0" dirty="0">
                <a:solidFill>
                  <a:srgbClr val="222222"/>
                </a:solidFill>
                <a:effectLst/>
                <a:latin typeface="Roboto"/>
              </a:rPr>
              <a:t>shapefile</a:t>
            </a:r>
            <a:r>
              <a:rPr lang="en-US" b="0" i="0" dirty="0">
                <a:solidFill>
                  <a:srgbClr val="222222"/>
                </a:solidFill>
                <a:effectLst/>
                <a:latin typeface="Roboto"/>
              </a:rPr>
              <a:t>. If your </a:t>
            </a:r>
            <a:r>
              <a:rPr lang="en-US" b="1" i="0" dirty="0">
                <a:solidFill>
                  <a:srgbClr val="222222"/>
                </a:solidFill>
                <a:effectLst/>
                <a:latin typeface="Roboto"/>
              </a:rPr>
              <a:t>shapefile</a:t>
            </a:r>
            <a:r>
              <a:rPr lang="en-US" b="0" i="0" dirty="0">
                <a:solidFill>
                  <a:srgbClr val="222222"/>
                </a:solidFill>
                <a:effectLst/>
                <a:latin typeface="Roboto"/>
              </a:rPr>
              <a:t> doesn't have a </a:t>
            </a:r>
            <a:r>
              <a:rPr lang="en-US" b="1" i="0" dirty="0" err="1">
                <a:solidFill>
                  <a:srgbClr val="222222"/>
                </a:solidFill>
                <a:effectLst/>
                <a:latin typeface="Roboto"/>
              </a:rPr>
              <a:t>cpg</a:t>
            </a:r>
            <a:r>
              <a:rPr lang="en-US" b="0" i="0" dirty="0">
                <a:solidFill>
                  <a:srgbClr val="222222"/>
                </a:solidFill>
                <a:effectLst/>
                <a:latin typeface="Roboto"/>
              </a:rPr>
              <a:t> file, then it has the system default encoding.</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4020819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BE7F-400F-3FFB-A99C-E61D44F87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57205-9522-9AEC-E10A-A8BFDAA1F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FBD5D-0EA0-BEC5-793F-EC9D65BDC115}"/>
              </a:ext>
            </a:extLst>
          </p:cNvPr>
          <p:cNvSpPr>
            <a:spLocks noGrp="1"/>
          </p:cNvSpPr>
          <p:nvPr>
            <p:ph type="body" idx="1"/>
          </p:nvPr>
        </p:nvSpPr>
        <p:spPr/>
        <p:txBody>
          <a:bodyPr/>
          <a:lstStyle/>
          <a:p>
            <a:r>
              <a:rPr lang="en-US" dirty="0"/>
              <a:t>The </a:t>
            </a:r>
            <a:r>
              <a:rPr lang="en-US" dirty="0" err="1"/>
              <a:t>shapefile</a:t>
            </a:r>
            <a:r>
              <a:rPr lang="en-US" dirty="0"/>
              <a:t> is a </a:t>
            </a:r>
            <a:r>
              <a:rPr lang="en-US" dirty="0" err="1"/>
              <a:t>georelational</a:t>
            </a:r>
            <a:r>
              <a:rPr lang="en-US" dirty="0"/>
              <a:t> model that is still commonly used. It was originally developed by ESRI but is non-proprietary. </a:t>
            </a:r>
          </a:p>
          <a:p>
            <a:endParaRPr lang="en-US" dirty="0"/>
          </a:p>
          <a:p>
            <a:r>
              <a:rPr lang="en-US" dirty="0"/>
              <a:t>It is a </a:t>
            </a:r>
            <a:r>
              <a:rPr lang="en-US" dirty="0" err="1"/>
              <a:t>nontopological</a:t>
            </a:r>
            <a:r>
              <a:rPr lang="en-US" dirty="0"/>
              <a:t> model. Generally, </a:t>
            </a:r>
            <a:r>
              <a:rPr lang="en-US" dirty="0" err="1"/>
              <a:t>nontopological</a:t>
            </a:r>
            <a:r>
              <a:rPr lang="en-US" dirty="0"/>
              <a:t> data can display more rapidly on a computer than topological data. They can also be used across multiple software packages. </a:t>
            </a:r>
          </a:p>
          <a:p>
            <a:endParaRPr lang="en-US" dirty="0"/>
          </a:p>
          <a:p>
            <a:r>
              <a:rPr lang="en-US" dirty="0"/>
              <a:t>Although this is a </a:t>
            </a:r>
            <a:r>
              <a:rPr lang="en-US" dirty="0" err="1"/>
              <a:t>nontopological</a:t>
            </a:r>
            <a:r>
              <a:rPr lang="en-US" dirty="0"/>
              <a:t> model, topological relationships can be calculated on-the-fly to perform analyses.</a:t>
            </a:r>
          </a:p>
          <a:p>
            <a:endParaRPr lang="en-US" dirty="0"/>
          </a:p>
          <a:p>
            <a:r>
              <a:rPr lang="en-US" dirty="0"/>
              <a:t>The geometric information is stored in the .</a:t>
            </a:r>
            <a:r>
              <a:rPr lang="en-US" dirty="0" err="1"/>
              <a:t>shp</a:t>
            </a:r>
            <a:r>
              <a:rPr lang="en-US" dirty="0"/>
              <a:t> file while the .</a:t>
            </a:r>
            <a:r>
              <a:rPr lang="en-US" dirty="0" err="1"/>
              <a:t>shx</a:t>
            </a:r>
            <a:r>
              <a:rPr lang="en-US" dirty="0"/>
              <a:t> file provides an index of the geometry, which can speed up searching and display. </a:t>
            </a:r>
          </a:p>
          <a:p>
            <a:endParaRPr lang="en-US" dirty="0"/>
          </a:p>
          <a:p>
            <a:r>
              <a:rPr lang="en-US" dirty="0"/>
              <a:t>The attributed or tabulated data are stored in the .dbf file. This is why this is </a:t>
            </a:r>
            <a:r>
              <a:rPr lang="en-US" dirty="0" err="1"/>
              <a:t>georelational</a:t>
            </a:r>
            <a:r>
              <a:rPr lang="en-US" dirty="0"/>
              <a:t> model: geometry and attributes are stored in separate files. The .</a:t>
            </a:r>
            <a:r>
              <a:rPr lang="en-US" dirty="0" err="1"/>
              <a:t>sbn</a:t>
            </a:r>
            <a:r>
              <a:rPr lang="en-US" dirty="0"/>
              <a:t> and .</a:t>
            </a:r>
            <a:r>
              <a:rPr lang="en-US" dirty="0" err="1"/>
              <a:t>sbx</a:t>
            </a:r>
            <a:r>
              <a:rPr lang="en-US" dirty="0"/>
              <a:t> components provide indices for the attributes, which can speed of queries. </a:t>
            </a:r>
          </a:p>
          <a:p>
            <a:endParaRPr lang="en-US" dirty="0"/>
          </a:p>
          <a:p>
            <a:r>
              <a:rPr lang="en-US" dirty="0"/>
              <a:t>The projection information is stored in the .</a:t>
            </a:r>
            <a:r>
              <a:rPr lang="en-US" dirty="0" err="1"/>
              <a:t>prj</a:t>
            </a:r>
            <a:r>
              <a:rPr lang="en-US" dirty="0"/>
              <a:t> file. This component is important because it tells the computer what the projection is so that the data can be drawn at the correct location in the map space. </a:t>
            </a:r>
          </a:p>
          <a:p>
            <a:endParaRPr lang="en-US" dirty="0"/>
          </a:p>
          <a:p>
            <a:r>
              <a:rPr lang="en-US" dirty="0"/>
              <a:t>If metadata are created, this additional information can be stored in the .xml component. </a:t>
            </a:r>
          </a:p>
          <a:p>
            <a:endParaRPr lang="en-US" dirty="0"/>
          </a:p>
          <a:p>
            <a:r>
              <a:rPr lang="en-US" b="1" i="0" dirty="0" err="1">
                <a:solidFill>
                  <a:srgbClr val="222222"/>
                </a:solidFill>
                <a:effectLst/>
                <a:latin typeface="Roboto"/>
              </a:rPr>
              <a:t>cpg</a:t>
            </a:r>
            <a:r>
              <a:rPr lang="en-US" b="0" i="0" dirty="0">
                <a:solidFill>
                  <a:srgbClr val="222222"/>
                </a:solidFill>
                <a:effectLst/>
                <a:latin typeface="Roboto"/>
              </a:rPr>
              <a:t> are optional plain text files that describes the encoding applied to create the </a:t>
            </a:r>
            <a:r>
              <a:rPr lang="en-US" b="1" i="0" dirty="0">
                <a:solidFill>
                  <a:srgbClr val="222222"/>
                </a:solidFill>
                <a:effectLst/>
                <a:latin typeface="Roboto"/>
              </a:rPr>
              <a:t>shapefile</a:t>
            </a:r>
            <a:r>
              <a:rPr lang="en-US" b="0" i="0" dirty="0">
                <a:solidFill>
                  <a:srgbClr val="222222"/>
                </a:solidFill>
                <a:effectLst/>
                <a:latin typeface="Roboto"/>
              </a:rPr>
              <a:t>. If your </a:t>
            </a:r>
            <a:r>
              <a:rPr lang="en-US" b="1" i="0" dirty="0">
                <a:solidFill>
                  <a:srgbClr val="222222"/>
                </a:solidFill>
                <a:effectLst/>
                <a:latin typeface="Roboto"/>
              </a:rPr>
              <a:t>shapefile</a:t>
            </a:r>
            <a:r>
              <a:rPr lang="en-US" b="0" i="0" dirty="0">
                <a:solidFill>
                  <a:srgbClr val="222222"/>
                </a:solidFill>
                <a:effectLst/>
                <a:latin typeface="Roboto"/>
              </a:rPr>
              <a:t> doesn't have a </a:t>
            </a:r>
            <a:r>
              <a:rPr lang="en-US" b="1" i="0" dirty="0" err="1">
                <a:solidFill>
                  <a:srgbClr val="222222"/>
                </a:solidFill>
                <a:effectLst/>
                <a:latin typeface="Roboto"/>
              </a:rPr>
              <a:t>cpg</a:t>
            </a:r>
            <a:r>
              <a:rPr lang="en-US" b="0" i="0" dirty="0">
                <a:solidFill>
                  <a:srgbClr val="222222"/>
                </a:solidFill>
                <a:effectLst/>
                <a:latin typeface="Roboto"/>
              </a:rPr>
              <a:t> file, then it has the system default encoding.</a:t>
            </a:r>
            <a:endParaRPr lang="en-US" dirty="0"/>
          </a:p>
        </p:txBody>
      </p:sp>
      <p:sp>
        <p:nvSpPr>
          <p:cNvPr id="4" name="Slide Number Placeholder 3">
            <a:extLst>
              <a:ext uri="{FF2B5EF4-FFF2-40B4-BE49-F238E27FC236}">
                <a16:creationId xmlns:a16="http://schemas.microsoft.com/office/drawing/2014/main" id="{7BB404F7-BAF3-470D-0FCB-720DFDC3C359}"/>
              </a:ext>
            </a:extLst>
          </p:cNvPr>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4291314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E421E-204B-FCDC-6B33-3EDC6D7A1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3414C-21FA-8489-E5C6-C1552E5DC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E810D-7B87-F5BA-4315-86553E5679F5}"/>
              </a:ext>
            </a:extLst>
          </p:cNvPr>
          <p:cNvSpPr>
            <a:spLocks noGrp="1"/>
          </p:cNvSpPr>
          <p:nvPr>
            <p:ph type="body" idx="1"/>
          </p:nvPr>
        </p:nvSpPr>
        <p:spPr/>
        <p:txBody>
          <a:bodyPr/>
          <a:lstStyle/>
          <a:p>
            <a:r>
              <a:rPr lang="en-US" dirty="0"/>
              <a:t>The </a:t>
            </a:r>
            <a:r>
              <a:rPr lang="en-US" dirty="0" err="1"/>
              <a:t>shapefile</a:t>
            </a:r>
            <a:r>
              <a:rPr lang="en-US" dirty="0"/>
              <a:t> is a </a:t>
            </a:r>
            <a:r>
              <a:rPr lang="en-US" dirty="0" err="1"/>
              <a:t>georelational</a:t>
            </a:r>
            <a:r>
              <a:rPr lang="en-US" dirty="0"/>
              <a:t> model that is still commonly used. It was originally developed by ESRI but is non-proprietary. </a:t>
            </a:r>
          </a:p>
          <a:p>
            <a:endParaRPr lang="en-US" dirty="0"/>
          </a:p>
          <a:p>
            <a:r>
              <a:rPr lang="en-US" dirty="0"/>
              <a:t>It is a </a:t>
            </a:r>
            <a:r>
              <a:rPr lang="en-US" dirty="0" err="1"/>
              <a:t>nontopological</a:t>
            </a:r>
            <a:r>
              <a:rPr lang="en-US" dirty="0"/>
              <a:t> model. Generally, </a:t>
            </a:r>
            <a:r>
              <a:rPr lang="en-US" dirty="0" err="1"/>
              <a:t>nontopological</a:t>
            </a:r>
            <a:r>
              <a:rPr lang="en-US" dirty="0"/>
              <a:t> data can display more rapidly on a computer than topological data. They can also be used across multiple software packages. </a:t>
            </a:r>
          </a:p>
          <a:p>
            <a:endParaRPr lang="en-US" dirty="0"/>
          </a:p>
          <a:p>
            <a:r>
              <a:rPr lang="en-US" dirty="0"/>
              <a:t>Although this is a </a:t>
            </a:r>
            <a:r>
              <a:rPr lang="en-US" dirty="0" err="1"/>
              <a:t>nontopological</a:t>
            </a:r>
            <a:r>
              <a:rPr lang="en-US" dirty="0"/>
              <a:t> model, topological relationships can be calculated on-the-fly to perform analyses.</a:t>
            </a:r>
          </a:p>
          <a:p>
            <a:endParaRPr lang="en-US" dirty="0"/>
          </a:p>
          <a:p>
            <a:r>
              <a:rPr lang="en-US" dirty="0"/>
              <a:t>The geometric information is stored in the .</a:t>
            </a:r>
            <a:r>
              <a:rPr lang="en-US" dirty="0" err="1"/>
              <a:t>shp</a:t>
            </a:r>
            <a:r>
              <a:rPr lang="en-US" dirty="0"/>
              <a:t> file while the .</a:t>
            </a:r>
            <a:r>
              <a:rPr lang="en-US" dirty="0" err="1"/>
              <a:t>shx</a:t>
            </a:r>
            <a:r>
              <a:rPr lang="en-US" dirty="0"/>
              <a:t> file provides an index of the geometry, which can speed up searching and display. </a:t>
            </a:r>
          </a:p>
          <a:p>
            <a:endParaRPr lang="en-US" dirty="0"/>
          </a:p>
          <a:p>
            <a:r>
              <a:rPr lang="en-US" dirty="0"/>
              <a:t>The attributed or tabulated data are stored in the .dbf file. This is why this is </a:t>
            </a:r>
            <a:r>
              <a:rPr lang="en-US" dirty="0" err="1"/>
              <a:t>georelational</a:t>
            </a:r>
            <a:r>
              <a:rPr lang="en-US" dirty="0"/>
              <a:t> model: geometry and attributes are stored in separate files. The .</a:t>
            </a:r>
            <a:r>
              <a:rPr lang="en-US" dirty="0" err="1"/>
              <a:t>sbn</a:t>
            </a:r>
            <a:r>
              <a:rPr lang="en-US" dirty="0"/>
              <a:t> and .</a:t>
            </a:r>
            <a:r>
              <a:rPr lang="en-US" dirty="0" err="1"/>
              <a:t>sbx</a:t>
            </a:r>
            <a:r>
              <a:rPr lang="en-US" dirty="0"/>
              <a:t> components provide indices for the attributes, which can speed of queries. </a:t>
            </a:r>
          </a:p>
          <a:p>
            <a:endParaRPr lang="en-US" dirty="0"/>
          </a:p>
          <a:p>
            <a:r>
              <a:rPr lang="en-US" dirty="0"/>
              <a:t>The projection information is stored in the .</a:t>
            </a:r>
            <a:r>
              <a:rPr lang="en-US" dirty="0" err="1"/>
              <a:t>prj</a:t>
            </a:r>
            <a:r>
              <a:rPr lang="en-US" dirty="0"/>
              <a:t> file. This component is important because it tells the computer what the projection is so that the data can be drawn at the correct location in the map space. </a:t>
            </a:r>
          </a:p>
          <a:p>
            <a:endParaRPr lang="en-US" dirty="0"/>
          </a:p>
          <a:p>
            <a:r>
              <a:rPr lang="en-US" dirty="0"/>
              <a:t>If metadata are created, this additional information can be stored in the .xml component. </a:t>
            </a:r>
          </a:p>
          <a:p>
            <a:endParaRPr lang="en-US" dirty="0"/>
          </a:p>
          <a:p>
            <a:r>
              <a:rPr lang="en-US" b="1" i="0" dirty="0" err="1">
                <a:solidFill>
                  <a:srgbClr val="222222"/>
                </a:solidFill>
                <a:effectLst/>
                <a:latin typeface="Roboto"/>
              </a:rPr>
              <a:t>cpg</a:t>
            </a:r>
            <a:r>
              <a:rPr lang="en-US" b="0" i="0" dirty="0">
                <a:solidFill>
                  <a:srgbClr val="222222"/>
                </a:solidFill>
                <a:effectLst/>
                <a:latin typeface="Roboto"/>
              </a:rPr>
              <a:t> are optional plain text files that describes the encoding applied to create the </a:t>
            </a:r>
            <a:r>
              <a:rPr lang="en-US" b="1" i="0" dirty="0">
                <a:solidFill>
                  <a:srgbClr val="222222"/>
                </a:solidFill>
                <a:effectLst/>
                <a:latin typeface="Roboto"/>
              </a:rPr>
              <a:t>shapefile</a:t>
            </a:r>
            <a:r>
              <a:rPr lang="en-US" b="0" i="0" dirty="0">
                <a:solidFill>
                  <a:srgbClr val="222222"/>
                </a:solidFill>
                <a:effectLst/>
                <a:latin typeface="Roboto"/>
              </a:rPr>
              <a:t>. If your </a:t>
            </a:r>
            <a:r>
              <a:rPr lang="en-US" b="1" i="0" dirty="0">
                <a:solidFill>
                  <a:srgbClr val="222222"/>
                </a:solidFill>
                <a:effectLst/>
                <a:latin typeface="Roboto"/>
              </a:rPr>
              <a:t>shapefile</a:t>
            </a:r>
            <a:r>
              <a:rPr lang="en-US" b="0" i="0" dirty="0">
                <a:solidFill>
                  <a:srgbClr val="222222"/>
                </a:solidFill>
                <a:effectLst/>
                <a:latin typeface="Roboto"/>
              </a:rPr>
              <a:t> doesn't have a </a:t>
            </a:r>
            <a:r>
              <a:rPr lang="en-US" b="1" i="0" dirty="0" err="1">
                <a:solidFill>
                  <a:srgbClr val="222222"/>
                </a:solidFill>
                <a:effectLst/>
                <a:latin typeface="Roboto"/>
              </a:rPr>
              <a:t>cpg</a:t>
            </a:r>
            <a:r>
              <a:rPr lang="en-US" b="0" i="0" dirty="0">
                <a:solidFill>
                  <a:srgbClr val="222222"/>
                </a:solidFill>
                <a:effectLst/>
                <a:latin typeface="Roboto"/>
              </a:rPr>
              <a:t> file, then it has the system default encoding.</a:t>
            </a:r>
            <a:endParaRPr lang="en-US" dirty="0"/>
          </a:p>
        </p:txBody>
      </p:sp>
      <p:sp>
        <p:nvSpPr>
          <p:cNvPr id="4" name="Slide Number Placeholder 3">
            <a:extLst>
              <a:ext uri="{FF2B5EF4-FFF2-40B4-BE49-F238E27FC236}">
                <a16:creationId xmlns:a16="http://schemas.microsoft.com/office/drawing/2014/main" id="{6C7DC866-83AF-0A86-73C5-8AD4478340A3}"/>
              </a:ext>
            </a:extLst>
          </p:cNvPr>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023345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469418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8075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9/9/2026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5557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48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1929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89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389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3025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5773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828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65017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3339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9/9/2026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856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9/9/2026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224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9/9/2026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002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9371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809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78024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3441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9/9/2026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93211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9/9/2026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975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22699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9/9/2026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5547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88692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9/9/2026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04798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9/9/2026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277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9/9/2026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175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809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05718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7208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5628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9/9/2026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5107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9/9/2026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08948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144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9/9/2026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256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9/9/2026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86706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9/9/2026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9488988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9/9/2026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23282236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t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04 </a:t>
            </a:r>
            <a:br>
              <a:rPr lang="en-US" sz="2700" dirty="0">
                <a:solidFill>
                  <a:srgbClr val="FFFFFF"/>
                </a:solidFill>
              </a:rPr>
            </a:br>
            <a:r>
              <a:rPr lang="en-US" sz="2800" dirty="0"/>
              <a:t>Geospatial Data</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2026</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Geospatial data</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815039" y="985104"/>
            <a:ext cx="2941391" cy="3886200"/>
          </a:xfrm>
        </p:spPr>
        <p:txBody>
          <a:bodyPr>
            <a:noAutofit/>
          </a:bodyPr>
          <a:lstStyle/>
          <a:p>
            <a:pPr>
              <a:buFont typeface="Courier New" panose="02070309020205020404" pitchFamily="49" charset="0"/>
              <a:buChar char="o"/>
            </a:pPr>
            <a:r>
              <a:rPr lang="en-US" altLang="en-US" sz="2800" dirty="0"/>
              <a:t>Geospatial data</a:t>
            </a:r>
          </a:p>
          <a:p>
            <a:pPr lvl="1">
              <a:buFont typeface="Wingdings" panose="05000000000000000000" pitchFamily="2" charset="2"/>
              <a:buChar char="ü"/>
            </a:pPr>
            <a:r>
              <a:rPr lang="en-US" altLang="en-US" sz="2800" dirty="0"/>
              <a:t>Vector</a:t>
            </a:r>
          </a:p>
          <a:p>
            <a:pPr lvl="2">
              <a:buFont typeface="Arial" panose="020B0604020202020204" pitchFamily="34" charset="0"/>
              <a:buChar char="•"/>
            </a:pPr>
            <a:r>
              <a:rPr lang="en-US" altLang="en-US" sz="2800" dirty="0"/>
              <a:t>Point</a:t>
            </a:r>
          </a:p>
          <a:p>
            <a:pPr lvl="2">
              <a:buFont typeface="Arial" panose="020B0604020202020204" pitchFamily="34" charset="0"/>
              <a:buChar char="•"/>
            </a:pPr>
            <a:r>
              <a:rPr lang="en-US" altLang="en-US" sz="2800" dirty="0"/>
              <a:t>Line</a:t>
            </a:r>
          </a:p>
          <a:p>
            <a:pPr lvl="2">
              <a:buFont typeface="Arial" panose="020B0604020202020204" pitchFamily="34" charset="0"/>
              <a:buChar char="•"/>
            </a:pPr>
            <a:r>
              <a:rPr lang="en-US" altLang="en-US" sz="2800" dirty="0"/>
              <a:t>Polygon</a:t>
            </a:r>
          </a:p>
          <a:p>
            <a:pPr lvl="1">
              <a:buFont typeface="Wingdings" panose="05000000000000000000" pitchFamily="2" charset="2"/>
              <a:buChar char="ü"/>
            </a:pPr>
            <a:r>
              <a:rPr lang="en-US" altLang="en-US" sz="2800" dirty="0"/>
              <a:t>Raster</a:t>
            </a:r>
          </a:p>
          <a:p>
            <a:pPr lvl="2">
              <a:buFont typeface="Arial" panose="020B0604020202020204" pitchFamily="34" charset="0"/>
              <a:buChar char="•"/>
            </a:pPr>
            <a:r>
              <a:rPr lang="en-US" altLang="en-US" sz="2800" dirty="0"/>
              <a:t>Pixel</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56674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2585" y="1165536"/>
            <a:ext cx="7406640" cy="3394472"/>
          </a:xfrm>
        </p:spPr>
        <p:txBody>
          <a:bodyPr>
            <a:noAutofit/>
          </a:bodyPr>
          <a:lstStyle/>
          <a:p>
            <a:pPr>
              <a:buFont typeface="Courier New" panose="02070309020205020404" pitchFamily="49" charset="0"/>
              <a:buChar char="o"/>
            </a:pPr>
            <a:r>
              <a:rPr lang="en-US" sz="2400" dirty="0"/>
              <a:t>Two data models</a:t>
            </a:r>
          </a:p>
          <a:p>
            <a:pPr lvl="1">
              <a:buFont typeface="Wingdings" panose="05000000000000000000" pitchFamily="2" charset="2"/>
              <a:buChar char="ü"/>
            </a:pPr>
            <a:r>
              <a:rPr lang="en-US" sz="2400" b="1" dirty="0">
                <a:solidFill>
                  <a:srgbClr val="E3874F"/>
                </a:solidFill>
              </a:rPr>
              <a:t>Vector Data</a:t>
            </a:r>
          </a:p>
          <a:p>
            <a:pPr lvl="2">
              <a:buFont typeface="Arial" panose="020B0604020202020204" pitchFamily="34" charset="0"/>
              <a:buChar char="•"/>
            </a:pPr>
            <a:r>
              <a:rPr lang="en-US" sz="2400" dirty="0"/>
              <a:t>Discrete</a:t>
            </a:r>
          </a:p>
          <a:p>
            <a:pPr lvl="2">
              <a:buFont typeface="Arial" panose="020B0604020202020204" pitchFamily="34" charset="0"/>
              <a:buChar char="•"/>
            </a:pPr>
            <a:r>
              <a:rPr lang="en-US" sz="2400" dirty="0"/>
              <a:t>Points, lines, and polygons</a:t>
            </a:r>
          </a:p>
          <a:p>
            <a:pPr lvl="1">
              <a:buFont typeface="Wingdings" panose="05000000000000000000" pitchFamily="2" charset="2"/>
              <a:buChar char="ü"/>
            </a:pPr>
            <a:r>
              <a:rPr lang="en-US" sz="2400" b="1" dirty="0">
                <a:solidFill>
                  <a:srgbClr val="E3874F"/>
                </a:solidFill>
              </a:rPr>
              <a:t>Raster Data</a:t>
            </a:r>
          </a:p>
          <a:p>
            <a:pPr lvl="2">
              <a:buFont typeface="Arial" panose="020B0604020202020204" pitchFamily="34" charset="0"/>
              <a:buChar char="•"/>
            </a:pPr>
            <a:r>
              <a:rPr lang="en-US" sz="2400" dirty="0"/>
              <a:t>Space filling</a:t>
            </a:r>
          </a:p>
          <a:p>
            <a:pPr lvl="2">
              <a:buFont typeface="Arial" panose="020B0604020202020204" pitchFamily="34" charset="0"/>
              <a:buChar char="•"/>
            </a:pPr>
            <a:r>
              <a:rPr lang="en-US" sz="2400" dirty="0"/>
              <a:t>Cell- or pixel-based</a:t>
            </a:r>
          </a:p>
        </p:txBody>
      </p:sp>
      <p:sp>
        <p:nvSpPr>
          <p:cNvPr id="2" name="Slide Number Placeholder 1">
            <a:extLst>
              <a:ext uri="{FF2B5EF4-FFF2-40B4-BE49-F238E27FC236}">
                <a16:creationId xmlns:a16="http://schemas.microsoft.com/office/drawing/2014/main" id="{C3962AF3-F9BB-4A89-9FB4-DE7E4393D2FA}"/>
              </a:ext>
            </a:extLst>
          </p:cNvPr>
          <p:cNvSpPr>
            <a:spLocks noGrp="1"/>
          </p:cNvSpPr>
          <p:nvPr>
            <p:ph type="sldNum" sz="quarter" idx="12"/>
          </p:nvPr>
        </p:nvSpPr>
        <p:spPr/>
        <p:txBody>
          <a:bodyPr/>
          <a:lstStyle/>
          <a:p>
            <a:fld id="{127DDC20-79C9-9647-820E-6D40A3D210C3}" type="slidenum">
              <a:rPr lang="en-US" smtClean="0"/>
              <a:pPr/>
              <a:t>4</a:t>
            </a:fld>
            <a:endParaRPr lang="en-US"/>
          </a:p>
        </p:txBody>
      </p:sp>
      <p:grpSp>
        <p:nvGrpSpPr>
          <p:cNvPr id="6" name="Group 5" descr="Vector data"/>
          <p:cNvGrpSpPr/>
          <p:nvPr/>
        </p:nvGrpSpPr>
        <p:grpSpPr>
          <a:xfrm>
            <a:off x="3777649" y="1413770"/>
            <a:ext cx="3909542" cy="1357877"/>
            <a:chOff x="5595059" y="1713920"/>
            <a:chExt cx="5790406" cy="2011146"/>
          </a:xfrm>
        </p:grpSpPr>
        <p:sp>
          <p:nvSpPr>
            <p:cNvPr id="7" name="Line 51"/>
            <p:cNvSpPr>
              <a:spLocks noChangeShapeType="1"/>
            </p:cNvSpPr>
            <p:nvPr/>
          </p:nvSpPr>
          <p:spPr bwMode="auto">
            <a:xfrm flipH="1">
              <a:off x="9699503" y="2825747"/>
              <a:ext cx="42863" cy="827087"/>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8" name="Line 65"/>
            <p:cNvSpPr>
              <a:spLocks noChangeShapeType="1"/>
            </p:cNvSpPr>
            <p:nvPr/>
          </p:nvSpPr>
          <p:spPr bwMode="auto">
            <a:xfrm>
              <a:off x="7654768" y="2382258"/>
              <a:ext cx="2036762" cy="1262063"/>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9" name="Line 44"/>
            <p:cNvSpPr>
              <a:spLocks noChangeShapeType="1"/>
            </p:cNvSpPr>
            <p:nvPr/>
          </p:nvSpPr>
          <p:spPr bwMode="auto">
            <a:xfrm>
              <a:off x="6811011" y="1841606"/>
              <a:ext cx="820738" cy="520700"/>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10" name="Line 67"/>
            <p:cNvSpPr>
              <a:spLocks noChangeShapeType="1"/>
            </p:cNvSpPr>
            <p:nvPr/>
          </p:nvSpPr>
          <p:spPr bwMode="auto">
            <a:xfrm>
              <a:off x="8962146" y="2113753"/>
              <a:ext cx="57150" cy="382588"/>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1" name="Line 48"/>
            <p:cNvSpPr>
              <a:spLocks noChangeShapeType="1"/>
            </p:cNvSpPr>
            <p:nvPr/>
          </p:nvSpPr>
          <p:spPr bwMode="auto">
            <a:xfrm>
              <a:off x="9511347" y="2545734"/>
              <a:ext cx="225425" cy="2889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12" name="Group 11"/>
            <p:cNvGrpSpPr/>
            <p:nvPr/>
          </p:nvGrpSpPr>
          <p:grpSpPr>
            <a:xfrm>
              <a:off x="5595059" y="1713920"/>
              <a:ext cx="5790406" cy="2011146"/>
              <a:chOff x="718344" y="4402354"/>
              <a:chExt cx="5790406" cy="2011146"/>
            </a:xfrm>
          </p:grpSpPr>
          <p:sp>
            <p:nvSpPr>
              <p:cNvPr id="13"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4"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5"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16"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17"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18"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9"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20"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1"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22"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3"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4"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5"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6"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7"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28"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9" name="Oval 28"/>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0"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31"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2"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grpSp>
      <p:pic>
        <p:nvPicPr>
          <p:cNvPr id="33" name="Picture 32" descr="Raster data"/>
          <p:cNvPicPr>
            <a:picLocks noChangeAspect="1"/>
          </p:cNvPicPr>
          <p:nvPr/>
        </p:nvPicPr>
        <p:blipFill>
          <a:blip r:embed="rId3"/>
          <a:stretch>
            <a:fillRect/>
          </a:stretch>
        </p:blipFill>
        <p:spPr>
          <a:xfrm>
            <a:off x="5247288" y="2956534"/>
            <a:ext cx="2116177" cy="1819214"/>
          </a:xfrm>
          <a:prstGeom prst="rect">
            <a:avLst/>
          </a:prstGeom>
        </p:spPr>
      </p:pic>
      <p:sp>
        <p:nvSpPr>
          <p:cNvPr id="34" name="Title 1">
            <a:extLst>
              <a:ext uri="{FF2B5EF4-FFF2-40B4-BE49-F238E27FC236}">
                <a16:creationId xmlns:a16="http://schemas.microsoft.com/office/drawing/2014/main" id="{F2B43843-8E1E-49CE-959C-569F105F5BC4}"/>
              </a:ext>
            </a:extLst>
          </p:cNvPr>
          <p:cNvSpPr txBox="1">
            <a:spLocks/>
          </p:cNvSpPr>
          <p:nvPr/>
        </p:nvSpPr>
        <p:spPr>
          <a:xfrm>
            <a:off x="182585" y="1687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Geospatial data</a:t>
            </a:r>
            <a:endParaRPr lang="en-US" sz="2600" dirty="0">
              <a:solidFill>
                <a:srgbClr val="7030A0"/>
              </a:solidFill>
            </a:endParaRPr>
          </a:p>
        </p:txBody>
      </p:sp>
      <p:cxnSp>
        <p:nvCxnSpPr>
          <p:cNvPr id="35" name="Straight Connector 34">
            <a:extLst>
              <a:ext uri="{FF2B5EF4-FFF2-40B4-BE49-F238E27FC236}">
                <a16:creationId xmlns:a16="http://schemas.microsoft.com/office/drawing/2014/main" id="{F76F82A3-9536-4D99-B8CB-DD7C4CC7BD6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949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Line 51"/>
          <p:cNvSpPr>
            <a:spLocks noChangeShapeType="1"/>
          </p:cNvSpPr>
          <p:nvPr/>
        </p:nvSpPr>
        <p:spPr bwMode="auto">
          <a:xfrm flipH="1">
            <a:off x="6336626" y="2874727"/>
            <a:ext cx="28940" cy="558429"/>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1" name="Line 65"/>
          <p:cNvSpPr>
            <a:spLocks noChangeShapeType="1"/>
          </p:cNvSpPr>
          <p:nvPr/>
        </p:nvSpPr>
        <p:spPr bwMode="auto">
          <a:xfrm>
            <a:off x="4956070" y="2575294"/>
            <a:ext cx="1375172" cy="852114"/>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62" name="Line 44"/>
          <p:cNvSpPr>
            <a:spLocks noChangeShapeType="1"/>
          </p:cNvSpPr>
          <p:nvPr/>
        </p:nvSpPr>
        <p:spPr bwMode="auto">
          <a:xfrm>
            <a:off x="4386386" y="2210258"/>
            <a:ext cx="554142" cy="351564"/>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63" name="Line 67"/>
          <p:cNvSpPr>
            <a:spLocks noChangeShapeType="1"/>
          </p:cNvSpPr>
          <p:nvPr/>
        </p:nvSpPr>
        <p:spPr bwMode="auto">
          <a:xfrm>
            <a:off x="5838780" y="2394005"/>
            <a:ext cx="38586" cy="258314"/>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5" name="Line 48"/>
          <p:cNvSpPr>
            <a:spLocks noChangeShapeType="1"/>
          </p:cNvSpPr>
          <p:nvPr/>
        </p:nvSpPr>
        <p:spPr bwMode="auto">
          <a:xfrm>
            <a:off x="6209587" y="2685669"/>
            <a:ext cx="152202" cy="19507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40" name="Group 39" descr="Vector"/>
          <p:cNvGrpSpPr/>
          <p:nvPr/>
        </p:nvGrpSpPr>
        <p:grpSpPr>
          <a:xfrm>
            <a:off x="3565404" y="2124047"/>
            <a:ext cx="3909542" cy="1357877"/>
            <a:chOff x="718344" y="4402354"/>
            <a:chExt cx="5790406" cy="2011146"/>
          </a:xfrm>
        </p:grpSpPr>
        <p:sp>
          <p:nvSpPr>
            <p:cNvPr id="44"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1"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2"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43"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45"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6"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7"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48"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9"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50"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1"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2"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3"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4"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5"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56"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7" name="Oval 56"/>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8"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9"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60"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sp>
        <p:nvSpPr>
          <p:cNvPr id="4" name="TextBox 3"/>
          <p:cNvSpPr txBox="1"/>
          <p:nvPr/>
        </p:nvSpPr>
        <p:spPr>
          <a:xfrm>
            <a:off x="242603" y="1126700"/>
            <a:ext cx="3582630" cy="4000775"/>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600" dirty="0"/>
              <a:t>Vector Data Structure</a:t>
            </a:r>
          </a:p>
          <a:p>
            <a:pPr marL="742950" lvl="1" indent="-285750">
              <a:lnSpc>
                <a:spcPct val="90000"/>
              </a:lnSpc>
              <a:buFont typeface="Wingdings" panose="05000000000000000000" pitchFamily="2" charset="2"/>
              <a:buChar char="ü"/>
            </a:pPr>
            <a:r>
              <a:rPr lang="en-US" sz="2000" dirty="0"/>
              <a:t>Vector data are made up of connected </a:t>
            </a:r>
            <a:r>
              <a:rPr lang="en-US" sz="2000" b="1" dirty="0">
                <a:solidFill>
                  <a:srgbClr val="E3874F"/>
                </a:solidFill>
              </a:rPr>
              <a:t>vertices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End vertices are called </a:t>
            </a:r>
            <a:r>
              <a:rPr lang="en-US" sz="2000" b="1" dirty="0">
                <a:solidFill>
                  <a:srgbClr val="E3874F"/>
                </a:solidFill>
              </a:rPr>
              <a:t>nodes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Vertices can be connected as lines and polygons.</a:t>
            </a:r>
          </a:p>
          <a:p>
            <a:pPr marL="285750" indent="-285750">
              <a:lnSpc>
                <a:spcPct val="90000"/>
              </a:lnSpc>
              <a:buFont typeface="Wingdings" panose="05000000000000000000" pitchFamily="2" charset="2"/>
              <a:buChar char="ü"/>
            </a:pPr>
            <a:endParaRPr lang="en-US" sz="2000" dirty="0"/>
          </a:p>
          <a:p>
            <a:pPr marL="742950" lvl="1" indent="-285750">
              <a:lnSpc>
                <a:spcPct val="90000"/>
              </a:lnSpc>
              <a:buFont typeface="Wingdings" panose="05000000000000000000" pitchFamily="2" charset="2"/>
              <a:buChar char="ü"/>
            </a:pPr>
            <a:r>
              <a:rPr lang="en-US" sz="2000" dirty="0"/>
              <a:t>Vector data are made up of coordinate points.</a:t>
            </a:r>
          </a:p>
          <a:p>
            <a:pPr>
              <a:lnSpc>
                <a:spcPct val="90000"/>
              </a:lnSpc>
            </a:pPr>
            <a:endParaRPr lang="en-US" sz="1620" dirty="0"/>
          </a:p>
        </p:txBody>
      </p:sp>
      <p:sp>
        <p:nvSpPr>
          <p:cNvPr id="31" name="Title 1">
            <a:extLst>
              <a:ext uri="{FF2B5EF4-FFF2-40B4-BE49-F238E27FC236}">
                <a16:creationId xmlns:a16="http://schemas.microsoft.com/office/drawing/2014/main" id="{9B2B1801-7820-4AAB-9189-BBEF84DCB143}"/>
              </a:ext>
            </a:extLst>
          </p:cNvPr>
          <p:cNvSpPr txBox="1">
            <a:spLocks/>
          </p:cNvSpPr>
          <p:nvPr/>
        </p:nvSpPr>
        <p:spPr>
          <a:xfrm>
            <a:off x="256192" y="20191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32" name="Straight Connector 31">
            <a:extLst>
              <a:ext uri="{FF2B5EF4-FFF2-40B4-BE49-F238E27FC236}">
                <a16:creationId xmlns:a16="http://schemas.microsoft.com/office/drawing/2014/main" id="{66B48A8C-1C5B-4F6C-AFDA-28C5801EAC5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63EAA61-C80F-4387-830A-C343BDF1CB79}"/>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6295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7757"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Points</a:t>
            </a:r>
          </a:p>
        </p:txBody>
      </p:sp>
      <p:sp>
        <p:nvSpPr>
          <p:cNvPr id="15" name="TextBox 14"/>
          <p:cNvSpPr txBox="1"/>
          <p:nvPr/>
        </p:nvSpPr>
        <p:spPr>
          <a:xfrm>
            <a:off x="3497419"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Lines</a:t>
            </a:r>
          </a:p>
        </p:txBody>
      </p:sp>
      <p:sp>
        <p:nvSpPr>
          <p:cNvPr id="7" name="TextBox 6"/>
          <p:cNvSpPr txBox="1"/>
          <p:nvPr/>
        </p:nvSpPr>
        <p:spPr>
          <a:xfrm>
            <a:off x="6121288"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Polygons</a:t>
            </a:r>
          </a:p>
        </p:txBody>
      </p:sp>
      <p:pic>
        <p:nvPicPr>
          <p:cNvPr id="8" name="Picture 33" descr="RomneyPoints"/>
          <p:cNvPicPr>
            <a:picLocks noChangeAspect="1" noChangeArrowheads="1"/>
          </p:cNvPicPr>
          <p:nvPr/>
        </p:nvPicPr>
        <p:blipFill>
          <a:blip r:embed="rId3" cstate="print"/>
          <a:srcRect/>
          <a:stretch>
            <a:fillRect/>
          </a:stretch>
        </p:blipFill>
        <p:spPr bwMode="auto">
          <a:xfrm>
            <a:off x="306548" y="1378177"/>
            <a:ext cx="2110456" cy="1903417"/>
          </a:xfrm>
          <a:prstGeom prst="rect">
            <a:avLst/>
          </a:prstGeom>
          <a:noFill/>
          <a:ln w="9525">
            <a:noFill/>
            <a:miter lim="800000"/>
            <a:headEnd/>
            <a:tailEnd/>
          </a:ln>
        </p:spPr>
      </p:pic>
      <p:pic>
        <p:nvPicPr>
          <p:cNvPr id="9" name="Picture 4" descr="RomneyLines"/>
          <p:cNvPicPr>
            <a:picLocks noChangeAspect="1" noChangeArrowheads="1"/>
          </p:cNvPicPr>
          <p:nvPr/>
        </p:nvPicPr>
        <p:blipFill>
          <a:blip r:embed="rId4" cstate="print"/>
          <a:srcRect/>
          <a:stretch>
            <a:fillRect/>
          </a:stretch>
        </p:blipFill>
        <p:spPr bwMode="auto">
          <a:xfrm>
            <a:off x="3034384" y="1381109"/>
            <a:ext cx="2160833" cy="1935747"/>
          </a:xfrm>
          <a:prstGeom prst="rect">
            <a:avLst/>
          </a:prstGeom>
          <a:noFill/>
          <a:ln w="9525">
            <a:noFill/>
            <a:miter lim="800000"/>
            <a:headEnd/>
            <a:tailEnd/>
          </a:ln>
        </p:spPr>
      </p:pic>
      <p:pic>
        <p:nvPicPr>
          <p:cNvPr id="10" name="Picture 5" descr="romneyPolys"/>
          <p:cNvPicPr>
            <a:picLocks noChangeAspect="1" noChangeArrowheads="1"/>
          </p:cNvPicPr>
          <p:nvPr/>
        </p:nvPicPr>
        <p:blipFill>
          <a:blip r:embed="rId5" cstate="print"/>
          <a:srcRect/>
          <a:stretch>
            <a:fillRect/>
          </a:stretch>
        </p:blipFill>
        <p:spPr bwMode="auto">
          <a:xfrm>
            <a:off x="5812597" y="1417338"/>
            <a:ext cx="2109384" cy="1863289"/>
          </a:xfrm>
          <a:prstGeom prst="rect">
            <a:avLst/>
          </a:prstGeom>
          <a:noFill/>
          <a:ln w="9525">
            <a:noFill/>
            <a:miter lim="800000"/>
            <a:headEnd/>
            <a:tailEnd/>
          </a:ln>
        </p:spPr>
      </p:pic>
      <p:sp>
        <p:nvSpPr>
          <p:cNvPr id="11" name="TextBox 10"/>
          <p:cNvSpPr txBox="1"/>
          <p:nvPr/>
        </p:nvSpPr>
        <p:spPr>
          <a:xfrm>
            <a:off x="308156" y="4242874"/>
            <a:ext cx="2321425" cy="541046"/>
          </a:xfrm>
          <a:prstGeom prst="rect">
            <a:avLst/>
          </a:prstGeom>
          <a:noFill/>
        </p:spPr>
        <p:txBody>
          <a:bodyPr wrap="square" rtlCol="0">
            <a:spAutoFit/>
          </a:bodyPr>
          <a:lstStyle/>
          <a:p>
            <a:pPr>
              <a:lnSpc>
                <a:spcPct val="90000"/>
              </a:lnSpc>
            </a:pPr>
            <a:r>
              <a:rPr lang="en-US" sz="1620" dirty="0"/>
              <a:t>Coordinate locations, Zero-dimensional</a:t>
            </a:r>
          </a:p>
        </p:txBody>
      </p:sp>
      <p:sp>
        <p:nvSpPr>
          <p:cNvPr id="14" name="TextBox 13"/>
          <p:cNvSpPr txBox="1"/>
          <p:nvPr/>
        </p:nvSpPr>
        <p:spPr>
          <a:xfrm>
            <a:off x="3175599" y="4237015"/>
            <a:ext cx="1955039" cy="541046"/>
          </a:xfrm>
          <a:prstGeom prst="rect">
            <a:avLst/>
          </a:prstGeom>
          <a:noFill/>
        </p:spPr>
        <p:txBody>
          <a:bodyPr wrap="square" rtlCol="0">
            <a:spAutoFit/>
          </a:bodyPr>
          <a:lstStyle/>
          <a:p>
            <a:pPr>
              <a:lnSpc>
                <a:spcPct val="90000"/>
              </a:lnSpc>
            </a:pPr>
            <a:r>
              <a:rPr lang="en-US" sz="1620" dirty="0"/>
              <a:t>One-dimensional,</a:t>
            </a:r>
          </a:p>
          <a:p>
            <a:pPr>
              <a:lnSpc>
                <a:spcPct val="90000"/>
              </a:lnSpc>
            </a:pPr>
            <a:r>
              <a:rPr lang="en-US" sz="1620" dirty="0"/>
              <a:t>Length, No width</a:t>
            </a:r>
          </a:p>
        </p:txBody>
      </p:sp>
      <p:sp>
        <p:nvSpPr>
          <p:cNvPr id="16" name="TextBox 15"/>
          <p:cNvSpPr txBox="1"/>
          <p:nvPr/>
        </p:nvSpPr>
        <p:spPr>
          <a:xfrm>
            <a:off x="5966942" y="4237015"/>
            <a:ext cx="1955039" cy="765402"/>
          </a:xfrm>
          <a:prstGeom prst="rect">
            <a:avLst/>
          </a:prstGeom>
          <a:noFill/>
        </p:spPr>
        <p:txBody>
          <a:bodyPr wrap="square" rtlCol="0">
            <a:spAutoFit/>
          </a:bodyPr>
          <a:lstStyle/>
          <a:p>
            <a:pPr>
              <a:lnSpc>
                <a:spcPct val="90000"/>
              </a:lnSpc>
            </a:pPr>
            <a:r>
              <a:rPr lang="en-US" sz="1620" dirty="0"/>
              <a:t>Two-dimensional,</a:t>
            </a:r>
          </a:p>
          <a:p>
            <a:pPr>
              <a:lnSpc>
                <a:spcPct val="90000"/>
              </a:lnSpc>
            </a:pPr>
            <a:r>
              <a:rPr lang="en-US" sz="1620" dirty="0"/>
              <a:t>Length and width, enclose an area</a:t>
            </a:r>
          </a:p>
        </p:txBody>
      </p:sp>
      <p:sp>
        <p:nvSpPr>
          <p:cNvPr id="17" name="Oval 28" descr="Point"/>
          <p:cNvSpPr>
            <a:spLocks noChangeArrowheads="1"/>
          </p:cNvSpPr>
          <p:nvPr/>
        </p:nvSpPr>
        <p:spPr bwMode="auto">
          <a:xfrm>
            <a:off x="1902519" y="3425518"/>
            <a:ext cx="108256" cy="120046"/>
          </a:xfrm>
          <a:prstGeom prst="ellipse">
            <a:avLst/>
          </a:prstGeom>
          <a:solidFill>
            <a:srgbClr val="479AAD"/>
          </a:solidFill>
          <a:ln w="9525">
            <a:solidFill>
              <a:srgbClr val="000000"/>
            </a:solidFill>
            <a:round/>
            <a:headEnd/>
            <a:tailEnd/>
          </a:ln>
        </p:spPr>
        <p:txBody>
          <a:bodyPr wrap="none" anchor="ctr"/>
          <a:lstStyle/>
          <a:p>
            <a:endParaRPr lang="en-US" sz="1215"/>
          </a:p>
        </p:txBody>
      </p:sp>
      <p:sp>
        <p:nvSpPr>
          <p:cNvPr id="18" name="Text Box 27"/>
          <p:cNvSpPr txBox="1">
            <a:spLocks noChangeArrowheads="1"/>
          </p:cNvSpPr>
          <p:nvPr/>
        </p:nvSpPr>
        <p:spPr bwMode="auto">
          <a:xfrm>
            <a:off x="1810340"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grpSp>
        <p:nvGrpSpPr>
          <p:cNvPr id="19" name="Group 18" descr="Line"/>
          <p:cNvGrpSpPr/>
          <p:nvPr/>
        </p:nvGrpSpPr>
        <p:grpSpPr>
          <a:xfrm>
            <a:off x="3453035" y="3410015"/>
            <a:ext cx="1506817" cy="362091"/>
            <a:chOff x="2967038" y="2684463"/>
            <a:chExt cx="2600325" cy="768350"/>
          </a:xfrm>
        </p:grpSpPr>
        <p:sp>
          <p:nvSpPr>
            <p:cNvPr id="21" name="Freeform 9"/>
            <p:cNvSpPr>
              <a:spLocks/>
            </p:cNvSpPr>
            <p:nvPr/>
          </p:nvSpPr>
          <p:spPr bwMode="auto">
            <a:xfrm>
              <a:off x="2989263" y="2773363"/>
              <a:ext cx="2514600" cy="609600"/>
            </a:xfrm>
            <a:custGeom>
              <a:avLst/>
              <a:gdLst>
                <a:gd name="T0" fmla="*/ 0 w 1584"/>
                <a:gd name="T1" fmla="*/ 0 h 384"/>
                <a:gd name="T2" fmla="*/ 381000 w 1584"/>
                <a:gd name="T3" fmla="*/ 0 h 384"/>
                <a:gd name="T4" fmla="*/ 762000 w 1584"/>
                <a:gd name="T5" fmla="*/ 0 h 384"/>
                <a:gd name="T6" fmla="*/ 1447800 w 1584"/>
                <a:gd name="T7" fmla="*/ 76200 h 384"/>
                <a:gd name="T8" fmla="*/ 2514600 w 1584"/>
                <a:gd name="T9" fmla="*/ 609600 h 384"/>
                <a:gd name="T10" fmla="*/ 0 60000 65536"/>
                <a:gd name="T11" fmla="*/ 0 60000 65536"/>
                <a:gd name="T12" fmla="*/ 0 60000 65536"/>
                <a:gd name="T13" fmla="*/ 0 60000 65536"/>
                <a:gd name="T14" fmla="*/ 0 60000 65536"/>
                <a:gd name="T15" fmla="*/ 0 w 1584"/>
                <a:gd name="T16" fmla="*/ 0 h 384"/>
                <a:gd name="T17" fmla="*/ 1584 w 1584"/>
                <a:gd name="T18" fmla="*/ 384 h 384"/>
              </a:gdLst>
              <a:ahLst/>
              <a:cxnLst>
                <a:cxn ang="T10">
                  <a:pos x="T0" y="T1"/>
                </a:cxn>
                <a:cxn ang="T11">
                  <a:pos x="T2" y="T3"/>
                </a:cxn>
                <a:cxn ang="T12">
                  <a:pos x="T4" y="T5"/>
                </a:cxn>
                <a:cxn ang="T13">
                  <a:pos x="T6" y="T7"/>
                </a:cxn>
                <a:cxn ang="T14">
                  <a:pos x="T8" y="T9"/>
                </a:cxn>
              </a:cxnLst>
              <a:rect l="T15" t="T16" r="T17" b="T18"/>
              <a:pathLst>
                <a:path w="1584" h="384">
                  <a:moveTo>
                    <a:pt x="0" y="0"/>
                  </a:moveTo>
                  <a:lnTo>
                    <a:pt x="240" y="0"/>
                  </a:lnTo>
                  <a:lnTo>
                    <a:pt x="480" y="0"/>
                  </a:lnTo>
                  <a:lnTo>
                    <a:pt x="912" y="48"/>
                  </a:lnTo>
                  <a:lnTo>
                    <a:pt x="1584" y="384"/>
                  </a:lnTo>
                </a:path>
              </a:pathLst>
            </a:custGeom>
            <a:noFill/>
            <a:ln w="57150" cmpd="sng">
              <a:solidFill>
                <a:srgbClr val="E3874F"/>
              </a:solidFill>
              <a:prstDash val="solid"/>
              <a:round/>
              <a:headEnd/>
              <a:tailEnd/>
            </a:ln>
          </p:spPr>
          <p:txBody>
            <a:bodyPr wrap="none" anchor="ctr"/>
            <a:lstStyle/>
            <a:p>
              <a:endParaRPr lang="en-US" sz="1215"/>
            </a:p>
          </p:txBody>
        </p:sp>
        <p:sp>
          <p:nvSpPr>
            <p:cNvPr id="22" name="Oval 10"/>
            <p:cNvSpPr>
              <a:spLocks noChangeArrowheads="1"/>
            </p:cNvSpPr>
            <p:nvPr/>
          </p:nvSpPr>
          <p:spPr bwMode="auto">
            <a:xfrm>
              <a:off x="5407025" y="3275013"/>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3" name="Oval 11"/>
            <p:cNvSpPr>
              <a:spLocks noChangeArrowheads="1"/>
            </p:cNvSpPr>
            <p:nvPr/>
          </p:nvSpPr>
          <p:spPr bwMode="auto">
            <a:xfrm>
              <a:off x="4360863" y="2752725"/>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4" name="Oval 12"/>
            <p:cNvSpPr>
              <a:spLocks noChangeArrowheads="1"/>
            </p:cNvSpPr>
            <p:nvPr/>
          </p:nvSpPr>
          <p:spPr bwMode="auto">
            <a:xfrm>
              <a:off x="3717925" y="2686050"/>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5" name="Oval 13"/>
            <p:cNvSpPr>
              <a:spLocks noChangeArrowheads="1"/>
            </p:cNvSpPr>
            <p:nvPr/>
          </p:nvSpPr>
          <p:spPr bwMode="auto">
            <a:xfrm>
              <a:off x="2967038" y="2684463"/>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grpSp>
      <p:sp>
        <p:nvSpPr>
          <p:cNvPr id="27" name="Freeform 42" descr="Polygon"/>
          <p:cNvSpPr>
            <a:spLocks/>
          </p:cNvSpPr>
          <p:nvPr/>
        </p:nvSpPr>
        <p:spPr bwMode="auto">
          <a:xfrm>
            <a:off x="7360337" y="3222999"/>
            <a:ext cx="715990" cy="883197"/>
          </a:xfrm>
          <a:custGeom>
            <a:avLst/>
            <a:gdLst>
              <a:gd name="T0" fmla="*/ 20637 w 668"/>
              <a:gd name="T1" fmla="*/ 415925 h 824"/>
              <a:gd name="T2" fmla="*/ 0 w 668"/>
              <a:gd name="T3" fmla="*/ 1308100 h 824"/>
              <a:gd name="T4" fmla="*/ 1060450 w 668"/>
              <a:gd name="T5" fmla="*/ 987425 h 824"/>
              <a:gd name="T6" fmla="*/ 1049338 w 668"/>
              <a:gd name="T7" fmla="*/ 0 h 824"/>
              <a:gd name="T8" fmla="*/ 20637 w 668"/>
              <a:gd name="T9" fmla="*/ 415925 h 824"/>
              <a:gd name="T10" fmla="*/ 0 60000 65536"/>
              <a:gd name="T11" fmla="*/ 0 60000 65536"/>
              <a:gd name="T12" fmla="*/ 0 60000 65536"/>
              <a:gd name="T13" fmla="*/ 0 60000 65536"/>
              <a:gd name="T14" fmla="*/ 0 60000 65536"/>
              <a:gd name="T15" fmla="*/ 0 w 668"/>
              <a:gd name="T16" fmla="*/ 0 h 824"/>
              <a:gd name="T17" fmla="*/ 668 w 668"/>
              <a:gd name="T18" fmla="*/ 824 h 824"/>
            </a:gdLst>
            <a:ahLst/>
            <a:cxnLst>
              <a:cxn ang="T10">
                <a:pos x="T0" y="T1"/>
              </a:cxn>
              <a:cxn ang="T11">
                <a:pos x="T2" y="T3"/>
              </a:cxn>
              <a:cxn ang="T12">
                <a:pos x="T4" y="T5"/>
              </a:cxn>
              <a:cxn ang="T13">
                <a:pos x="T6" y="T7"/>
              </a:cxn>
              <a:cxn ang="T14">
                <a:pos x="T8" y="T9"/>
              </a:cxn>
            </a:cxnLst>
            <a:rect l="T15" t="T16" r="T17" b="T18"/>
            <a:pathLst>
              <a:path w="668" h="824">
                <a:moveTo>
                  <a:pt x="13" y="262"/>
                </a:moveTo>
                <a:lnTo>
                  <a:pt x="0" y="824"/>
                </a:lnTo>
                <a:lnTo>
                  <a:pt x="668" y="622"/>
                </a:lnTo>
                <a:lnTo>
                  <a:pt x="661" y="0"/>
                </a:lnTo>
                <a:lnTo>
                  <a:pt x="13" y="262"/>
                </a:lnTo>
                <a:close/>
              </a:path>
            </a:pathLst>
          </a:custGeom>
          <a:solidFill>
            <a:srgbClr val="CCFFCC"/>
          </a:solidFill>
          <a:ln w="34925" cap="flat" cmpd="sng">
            <a:solidFill>
              <a:srgbClr val="008000"/>
            </a:solidFill>
            <a:prstDash val="solid"/>
            <a:round/>
            <a:headEnd/>
            <a:tailEnd/>
          </a:ln>
        </p:spPr>
        <p:txBody>
          <a:bodyPr wrap="none" lIns="62167" tIns="31084" rIns="62167" bIns="31084" anchor="ctr"/>
          <a:lstStyle/>
          <a:p>
            <a:endParaRPr lang="en-US" sz="1215"/>
          </a:p>
        </p:txBody>
      </p:sp>
      <p:sp>
        <p:nvSpPr>
          <p:cNvPr id="28" name="Oval 29"/>
          <p:cNvSpPr>
            <a:spLocks noChangeArrowheads="1"/>
          </p:cNvSpPr>
          <p:nvPr/>
        </p:nvSpPr>
        <p:spPr bwMode="auto">
          <a:xfrm>
            <a:off x="7332469" y="3452373"/>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29" name="Oval 30"/>
          <p:cNvSpPr>
            <a:spLocks noChangeArrowheads="1"/>
          </p:cNvSpPr>
          <p:nvPr/>
        </p:nvSpPr>
        <p:spPr bwMode="auto">
          <a:xfrm>
            <a:off x="7318534" y="4027952"/>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0" name="Oval 31"/>
          <p:cNvSpPr>
            <a:spLocks noChangeArrowheads="1"/>
          </p:cNvSpPr>
          <p:nvPr/>
        </p:nvSpPr>
        <p:spPr bwMode="auto">
          <a:xfrm>
            <a:off x="8028094" y="3839308"/>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1" name="Oval 32"/>
          <p:cNvSpPr>
            <a:spLocks noChangeArrowheads="1"/>
          </p:cNvSpPr>
          <p:nvPr/>
        </p:nvSpPr>
        <p:spPr bwMode="auto">
          <a:xfrm>
            <a:off x="8010944" y="3151185"/>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2" name="Text Box 27"/>
          <p:cNvSpPr txBox="1">
            <a:spLocks noChangeArrowheads="1"/>
          </p:cNvSpPr>
          <p:nvPr/>
        </p:nvSpPr>
        <p:spPr bwMode="auto">
          <a:xfrm>
            <a:off x="3344365" y="345298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3" name="Text Box 27"/>
          <p:cNvSpPr txBox="1">
            <a:spLocks noChangeArrowheads="1"/>
          </p:cNvSpPr>
          <p:nvPr/>
        </p:nvSpPr>
        <p:spPr bwMode="auto">
          <a:xfrm>
            <a:off x="3784729" y="347165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4" name="Text Box 27"/>
          <p:cNvSpPr txBox="1">
            <a:spLocks noChangeArrowheads="1"/>
          </p:cNvSpPr>
          <p:nvPr/>
        </p:nvSpPr>
        <p:spPr bwMode="auto">
          <a:xfrm>
            <a:off x="4113437"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5" name="Text Box 27"/>
          <p:cNvSpPr txBox="1">
            <a:spLocks noChangeArrowheads="1"/>
          </p:cNvSpPr>
          <p:nvPr/>
        </p:nvSpPr>
        <p:spPr bwMode="auto">
          <a:xfrm>
            <a:off x="4701824" y="378033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6" name="Text Box 27"/>
          <p:cNvSpPr txBox="1">
            <a:spLocks noChangeArrowheads="1"/>
          </p:cNvSpPr>
          <p:nvPr/>
        </p:nvSpPr>
        <p:spPr bwMode="auto">
          <a:xfrm>
            <a:off x="6985728" y="4014017"/>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7" name="Text Box 27"/>
          <p:cNvSpPr txBox="1">
            <a:spLocks noChangeArrowheads="1"/>
          </p:cNvSpPr>
          <p:nvPr/>
        </p:nvSpPr>
        <p:spPr bwMode="auto">
          <a:xfrm>
            <a:off x="7845881" y="3976398"/>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8" name="Text Box 27"/>
          <p:cNvSpPr txBox="1">
            <a:spLocks noChangeArrowheads="1"/>
          </p:cNvSpPr>
          <p:nvPr/>
        </p:nvSpPr>
        <p:spPr bwMode="auto">
          <a:xfrm>
            <a:off x="6974185" y="335964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9" name="Text Box 27"/>
          <p:cNvSpPr txBox="1">
            <a:spLocks noChangeArrowheads="1"/>
          </p:cNvSpPr>
          <p:nvPr/>
        </p:nvSpPr>
        <p:spPr bwMode="auto">
          <a:xfrm>
            <a:off x="7918766" y="290224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40" name="Content Placeholder 2"/>
          <p:cNvSpPr>
            <a:spLocks noGrp="1"/>
          </p:cNvSpPr>
          <p:nvPr>
            <p:ph idx="1"/>
          </p:nvPr>
        </p:nvSpPr>
        <p:spPr>
          <a:xfrm>
            <a:off x="273638" y="4881992"/>
            <a:ext cx="5607877" cy="308690"/>
          </a:xfrm>
        </p:spPr>
        <p:txBody>
          <a:bodyPr>
            <a:normAutofit/>
          </a:bodyPr>
          <a:lstStyle/>
          <a:p>
            <a:pPr marL="0" indent="0">
              <a:buNone/>
            </a:pPr>
            <a:r>
              <a:rPr lang="en-US" sz="1350" dirty="0"/>
              <a:t>Examples by Dr. Mike and Dr. Jackie Strager</a:t>
            </a:r>
          </a:p>
        </p:txBody>
      </p:sp>
      <p:sp>
        <p:nvSpPr>
          <p:cNvPr id="2" name="Slide Number Placeholder 1">
            <a:extLst>
              <a:ext uri="{FF2B5EF4-FFF2-40B4-BE49-F238E27FC236}">
                <a16:creationId xmlns:a16="http://schemas.microsoft.com/office/drawing/2014/main" id="{CB474B26-8826-408A-B866-62864722971A}"/>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41" name="Title 1">
            <a:extLst>
              <a:ext uri="{FF2B5EF4-FFF2-40B4-BE49-F238E27FC236}">
                <a16:creationId xmlns:a16="http://schemas.microsoft.com/office/drawing/2014/main" id="{6166A9B3-B66C-4E84-A226-508A3BAADFB6}"/>
              </a:ext>
            </a:extLst>
          </p:cNvPr>
          <p:cNvSpPr txBox="1">
            <a:spLocks/>
          </p:cNvSpPr>
          <p:nvPr/>
        </p:nvSpPr>
        <p:spPr>
          <a:xfrm>
            <a:off x="222118" y="2100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42" name="Straight Connector 41">
            <a:extLst>
              <a:ext uri="{FF2B5EF4-FFF2-40B4-BE49-F238E27FC236}">
                <a16:creationId xmlns:a16="http://schemas.microsoft.com/office/drawing/2014/main" id="{17668E15-A010-4986-A119-742F8440DD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0170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8EF1-46C9-2362-33F9-9C0322346704}"/>
              </a:ext>
            </a:extLst>
          </p:cNvPr>
          <p:cNvSpPr>
            <a:spLocks noGrp="1"/>
          </p:cNvSpPr>
          <p:nvPr>
            <p:ph type="title"/>
          </p:nvPr>
        </p:nvSpPr>
        <p:spPr>
          <a:xfrm>
            <a:off x="392306" y="478992"/>
            <a:ext cx="7444991" cy="530658"/>
          </a:xfrm>
        </p:spPr>
        <p:txBody>
          <a:bodyPr>
            <a:normAutofit fontScale="90000"/>
          </a:bodyPr>
          <a:lstStyle/>
          <a:p>
            <a:pPr defTabSz="411480"/>
            <a:r>
              <a:rPr lang="en-US" altLang="zh-CN" sz="3200" dirty="0">
                <a:solidFill>
                  <a:srgbClr val="7030A0"/>
                </a:solidFill>
              </a:rPr>
              <a:t>representation</a:t>
            </a:r>
            <a:endParaRPr lang="en-US" sz="3200" dirty="0">
              <a:solidFill>
                <a:srgbClr val="7030A0"/>
              </a:solidFill>
            </a:endParaRPr>
          </a:p>
        </p:txBody>
      </p:sp>
      <p:pic>
        <p:nvPicPr>
          <p:cNvPr id="6" name="Content Placeholder 5">
            <a:extLst>
              <a:ext uri="{FF2B5EF4-FFF2-40B4-BE49-F238E27FC236}">
                <a16:creationId xmlns:a16="http://schemas.microsoft.com/office/drawing/2014/main" id="{FFED56F9-6D48-6427-A8ED-F54FF21E2CD5}"/>
              </a:ext>
            </a:extLst>
          </p:cNvPr>
          <p:cNvPicPr>
            <a:picLocks noGrp="1" noChangeAspect="1"/>
          </p:cNvPicPr>
          <p:nvPr>
            <p:ph idx="1"/>
          </p:nvPr>
        </p:nvPicPr>
        <p:blipFill>
          <a:blip r:embed="rId2"/>
          <a:stretch>
            <a:fillRect/>
          </a:stretch>
        </p:blipFill>
        <p:spPr>
          <a:xfrm>
            <a:off x="893327" y="1019175"/>
            <a:ext cx="6588748" cy="3836861"/>
          </a:xfrm>
          <a:prstGeom prst="rect">
            <a:avLst/>
          </a:prstGeom>
        </p:spPr>
      </p:pic>
      <p:sp>
        <p:nvSpPr>
          <p:cNvPr id="4" name="Slide Number Placeholder 3">
            <a:extLst>
              <a:ext uri="{FF2B5EF4-FFF2-40B4-BE49-F238E27FC236}">
                <a16:creationId xmlns:a16="http://schemas.microsoft.com/office/drawing/2014/main" id="{4F6BC4FD-5E12-27D6-E1E1-83B48473DC21}"/>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255126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1945-2DD0-23DD-A5CF-10D949E2EA7D}"/>
              </a:ext>
            </a:extLst>
          </p:cNvPr>
          <p:cNvSpPr>
            <a:spLocks noGrp="1"/>
          </p:cNvSpPr>
          <p:nvPr>
            <p:ph type="title"/>
          </p:nvPr>
        </p:nvSpPr>
        <p:spPr>
          <a:xfrm>
            <a:off x="392306" y="455055"/>
            <a:ext cx="7444991" cy="445770"/>
          </a:xfrm>
        </p:spPr>
        <p:txBody>
          <a:bodyPr>
            <a:normAutofit fontScale="90000"/>
          </a:bodyPr>
          <a:lstStyle/>
          <a:p>
            <a:pPr defTabSz="411480"/>
            <a:r>
              <a:rPr lang="en-US" altLang="zh-CN" sz="2900" dirty="0">
                <a:solidFill>
                  <a:srgbClr val="7030A0"/>
                </a:solidFill>
              </a:rPr>
              <a:t>representation</a:t>
            </a:r>
            <a:endParaRPr lang="en-US" sz="2900" dirty="0">
              <a:solidFill>
                <a:srgbClr val="7030A0"/>
              </a:solidFill>
            </a:endParaRPr>
          </a:p>
        </p:txBody>
      </p:sp>
      <p:pic>
        <p:nvPicPr>
          <p:cNvPr id="6" name="Content Placeholder 5">
            <a:extLst>
              <a:ext uri="{FF2B5EF4-FFF2-40B4-BE49-F238E27FC236}">
                <a16:creationId xmlns:a16="http://schemas.microsoft.com/office/drawing/2014/main" id="{7ED32FA1-6F7E-9EA5-3B9B-3F3ED4AFF0A7}"/>
              </a:ext>
            </a:extLst>
          </p:cNvPr>
          <p:cNvPicPr>
            <a:picLocks noGrp="1" noChangeAspect="1"/>
          </p:cNvPicPr>
          <p:nvPr>
            <p:ph idx="1"/>
          </p:nvPr>
        </p:nvPicPr>
        <p:blipFill>
          <a:blip r:embed="rId2"/>
          <a:stretch>
            <a:fillRect/>
          </a:stretch>
        </p:blipFill>
        <p:spPr>
          <a:xfrm>
            <a:off x="3258555" y="1175960"/>
            <a:ext cx="4711136" cy="3778898"/>
          </a:xfrm>
          <a:prstGeom prst="rect">
            <a:avLst/>
          </a:prstGeom>
        </p:spPr>
      </p:pic>
      <p:sp>
        <p:nvSpPr>
          <p:cNvPr id="4" name="Slide Number Placeholder 3">
            <a:extLst>
              <a:ext uri="{FF2B5EF4-FFF2-40B4-BE49-F238E27FC236}">
                <a16:creationId xmlns:a16="http://schemas.microsoft.com/office/drawing/2014/main" id="{BAA0B77D-7030-425C-95BD-4959F455A652}"/>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7" name="TextBox 6">
            <a:extLst>
              <a:ext uri="{FF2B5EF4-FFF2-40B4-BE49-F238E27FC236}">
                <a16:creationId xmlns:a16="http://schemas.microsoft.com/office/drawing/2014/main" id="{93B380CF-ABF7-6973-42BE-8FB147B1B590}"/>
              </a:ext>
            </a:extLst>
          </p:cNvPr>
          <p:cNvSpPr txBox="1"/>
          <p:nvPr/>
        </p:nvSpPr>
        <p:spPr>
          <a:xfrm>
            <a:off x="259909" y="2387581"/>
            <a:ext cx="3212327" cy="923330"/>
          </a:xfrm>
          <a:prstGeom prst="rect">
            <a:avLst/>
          </a:prstGeom>
          <a:noFill/>
        </p:spPr>
        <p:txBody>
          <a:bodyPr wrap="square" rtlCol="0">
            <a:spAutoFit/>
          </a:bodyPr>
          <a:lstStyle/>
          <a:p>
            <a:r>
              <a:rPr lang="en-US" dirty="0"/>
              <a:t>Identify which features are represented by which vector type.</a:t>
            </a:r>
          </a:p>
        </p:txBody>
      </p:sp>
      <p:sp>
        <p:nvSpPr>
          <p:cNvPr id="9" name="TextBox 8">
            <a:extLst>
              <a:ext uri="{FF2B5EF4-FFF2-40B4-BE49-F238E27FC236}">
                <a16:creationId xmlns:a16="http://schemas.microsoft.com/office/drawing/2014/main" id="{AFA09A28-5C5C-C02F-71FB-EBDF05758133}"/>
              </a:ext>
            </a:extLst>
          </p:cNvPr>
          <p:cNvSpPr txBox="1"/>
          <p:nvPr/>
        </p:nvSpPr>
        <p:spPr>
          <a:xfrm>
            <a:off x="259909" y="1430411"/>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162456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359F1-40D7-1E8F-6909-AB5236B204F6}"/>
              </a:ext>
            </a:extLst>
          </p:cNvPr>
          <p:cNvSpPr>
            <a:spLocks noGrp="1"/>
          </p:cNvSpPr>
          <p:nvPr>
            <p:ph type="title"/>
          </p:nvPr>
        </p:nvSpPr>
        <p:spPr>
          <a:xfrm>
            <a:off x="392305" y="403714"/>
            <a:ext cx="7519243" cy="369332"/>
          </a:xfrm>
        </p:spPr>
        <p:txBody>
          <a:bodyPr>
            <a:normAutofit fontScale="90000"/>
          </a:bodyPr>
          <a:lstStyle/>
          <a:p>
            <a:pPr defTabSz="411480"/>
            <a:r>
              <a:rPr lang="en-US" sz="2000" dirty="0">
                <a:solidFill>
                  <a:srgbClr val="7030A0"/>
                </a:solidFill>
              </a:rPr>
              <a:t>Same Feature, Different Vector Representations</a:t>
            </a:r>
          </a:p>
        </p:txBody>
      </p:sp>
      <p:sp>
        <p:nvSpPr>
          <p:cNvPr id="4" name="Slide Number Placeholder 3">
            <a:extLst>
              <a:ext uri="{FF2B5EF4-FFF2-40B4-BE49-F238E27FC236}">
                <a16:creationId xmlns:a16="http://schemas.microsoft.com/office/drawing/2014/main" id="{3BBE2B84-D722-71E4-783A-7D57DA9557C6}"/>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12" name="Content Placeholder 11">
            <a:extLst>
              <a:ext uri="{FF2B5EF4-FFF2-40B4-BE49-F238E27FC236}">
                <a16:creationId xmlns:a16="http://schemas.microsoft.com/office/drawing/2014/main" id="{ABD51186-835A-3607-4ADA-69D4135A921B}"/>
              </a:ext>
            </a:extLst>
          </p:cNvPr>
          <p:cNvPicPr>
            <a:picLocks noGrp="1" noChangeAspect="1"/>
          </p:cNvPicPr>
          <p:nvPr>
            <p:ph idx="1"/>
          </p:nvPr>
        </p:nvPicPr>
        <p:blipFill>
          <a:blip r:embed="rId2"/>
          <a:stretch>
            <a:fillRect/>
          </a:stretch>
        </p:blipFill>
        <p:spPr>
          <a:xfrm>
            <a:off x="843372" y="2907239"/>
            <a:ext cx="2180952" cy="2047619"/>
          </a:xfrm>
          <a:prstGeom prst="rect">
            <a:avLst/>
          </a:prstGeom>
        </p:spPr>
      </p:pic>
      <p:pic>
        <p:nvPicPr>
          <p:cNvPr id="10" name="Picture 9">
            <a:extLst>
              <a:ext uri="{FF2B5EF4-FFF2-40B4-BE49-F238E27FC236}">
                <a16:creationId xmlns:a16="http://schemas.microsoft.com/office/drawing/2014/main" id="{52E9C0F1-5CB7-5515-5E6C-75B5773D6C5B}"/>
              </a:ext>
            </a:extLst>
          </p:cNvPr>
          <p:cNvPicPr>
            <a:picLocks noChangeAspect="1"/>
          </p:cNvPicPr>
          <p:nvPr/>
        </p:nvPicPr>
        <p:blipFill>
          <a:blip r:embed="rId3"/>
          <a:stretch>
            <a:fillRect/>
          </a:stretch>
        </p:blipFill>
        <p:spPr>
          <a:xfrm>
            <a:off x="3341673" y="1418157"/>
            <a:ext cx="1818724" cy="1668357"/>
          </a:xfrm>
          <a:prstGeom prst="rect">
            <a:avLst/>
          </a:prstGeom>
        </p:spPr>
      </p:pic>
      <p:pic>
        <p:nvPicPr>
          <p:cNvPr id="14" name="Picture 13">
            <a:extLst>
              <a:ext uri="{FF2B5EF4-FFF2-40B4-BE49-F238E27FC236}">
                <a16:creationId xmlns:a16="http://schemas.microsoft.com/office/drawing/2014/main" id="{98457F3B-BBA8-470B-07BF-74AC246FF2C9}"/>
              </a:ext>
            </a:extLst>
          </p:cNvPr>
          <p:cNvPicPr>
            <a:picLocks noChangeAspect="1"/>
          </p:cNvPicPr>
          <p:nvPr/>
        </p:nvPicPr>
        <p:blipFill>
          <a:blip r:embed="rId4"/>
          <a:stretch>
            <a:fillRect/>
          </a:stretch>
        </p:blipFill>
        <p:spPr>
          <a:xfrm>
            <a:off x="5411496" y="3028908"/>
            <a:ext cx="1818724" cy="1925950"/>
          </a:xfrm>
          <a:prstGeom prst="rect">
            <a:avLst/>
          </a:prstGeom>
        </p:spPr>
      </p:pic>
      <p:pic>
        <p:nvPicPr>
          <p:cNvPr id="16" name="Picture 15">
            <a:extLst>
              <a:ext uri="{FF2B5EF4-FFF2-40B4-BE49-F238E27FC236}">
                <a16:creationId xmlns:a16="http://schemas.microsoft.com/office/drawing/2014/main" id="{345D3F61-7221-E0CA-DB3A-CFF1C0C2DFC1}"/>
              </a:ext>
            </a:extLst>
          </p:cNvPr>
          <p:cNvPicPr>
            <a:picLocks noChangeAspect="1"/>
          </p:cNvPicPr>
          <p:nvPr/>
        </p:nvPicPr>
        <p:blipFill>
          <a:blip r:embed="rId5"/>
          <a:stretch>
            <a:fillRect/>
          </a:stretch>
        </p:blipFill>
        <p:spPr>
          <a:xfrm>
            <a:off x="2190997" y="1552926"/>
            <a:ext cx="992002" cy="957397"/>
          </a:xfrm>
          <a:prstGeom prst="rect">
            <a:avLst/>
          </a:prstGeom>
        </p:spPr>
      </p:pic>
      <p:pic>
        <p:nvPicPr>
          <p:cNvPr id="17" name="Picture 16">
            <a:extLst>
              <a:ext uri="{FF2B5EF4-FFF2-40B4-BE49-F238E27FC236}">
                <a16:creationId xmlns:a16="http://schemas.microsoft.com/office/drawing/2014/main" id="{B722F941-CF69-195B-FDA7-5D5C0BD9FFFC}"/>
              </a:ext>
            </a:extLst>
          </p:cNvPr>
          <p:cNvPicPr>
            <a:picLocks noChangeAspect="1"/>
          </p:cNvPicPr>
          <p:nvPr/>
        </p:nvPicPr>
        <p:blipFill>
          <a:blip r:embed="rId5"/>
          <a:stretch>
            <a:fillRect/>
          </a:stretch>
        </p:blipFill>
        <p:spPr>
          <a:xfrm flipH="1">
            <a:off x="5543970" y="1552927"/>
            <a:ext cx="992002" cy="957397"/>
          </a:xfrm>
          <a:prstGeom prst="rect">
            <a:avLst/>
          </a:prstGeom>
        </p:spPr>
      </p:pic>
      <p:sp>
        <p:nvSpPr>
          <p:cNvPr id="18" name="TextBox 17">
            <a:extLst>
              <a:ext uri="{FF2B5EF4-FFF2-40B4-BE49-F238E27FC236}">
                <a16:creationId xmlns:a16="http://schemas.microsoft.com/office/drawing/2014/main" id="{86617A4C-9602-0665-EFEE-119CF3995CED}"/>
              </a:ext>
            </a:extLst>
          </p:cNvPr>
          <p:cNvSpPr txBox="1"/>
          <p:nvPr/>
        </p:nvSpPr>
        <p:spPr>
          <a:xfrm>
            <a:off x="1622066" y="2537907"/>
            <a:ext cx="759762" cy="369332"/>
          </a:xfrm>
          <a:prstGeom prst="rect">
            <a:avLst/>
          </a:prstGeom>
          <a:noFill/>
        </p:spPr>
        <p:txBody>
          <a:bodyPr wrap="square" rtlCol="0">
            <a:spAutoFit/>
          </a:bodyPr>
          <a:lstStyle/>
          <a:p>
            <a:r>
              <a:rPr lang="en-US" dirty="0"/>
              <a:t>Point</a:t>
            </a:r>
          </a:p>
        </p:txBody>
      </p:sp>
      <p:sp>
        <p:nvSpPr>
          <p:cNvPr id="19" name="TextBox 18">
            <a:extLst>
              <a:ext uri="{FF2B5EF4-FFF2-40B4-BE49-F238E27FC236}">
                <a16:creationId xmlns:a16="http://schemas.microsoft.com/office/drawing/2014/main" id="{0DCBD9EB-40D9-19EE-61E1-320CA2A08656}"/>
              </a:ext>
            </a:extLst>
          </p:cNvPr>
          <p:cNvSpPr txBox="1"/>
          <p:nvPr/>
        </p:nvSpPr>
        <p:spPr>
          <a:xfrm>
            <a:off x="5973692" y="2537907"/>
            <a:ext cx="1153161" cy="369332"/>
          </a:xfrm>
          <a:prstGeom prst="rect">
            <a:avLst/>
          </a:prstGeom>
          <a:noFill/>
        </p:spPr>
        <p:txBody>
          <a:bodyPr wrap="square" rtlCol="0">
            <a:spAutoFit/>
          </a:bodyPr>
          <a:lstStyle/>
          <a:p>
            <a:r>
              <a:rPr lang="en-US" dirty="0"/>
              <a:t>Polygon</a:t>
            </a:r>
          </a:p>
        </p:txBody>
      </p:sp>
      <p:sp>
        <p:nvSpPr>
          <p:cNvPr id="20" name="TextBox 19">
            <a:extLst>
              <a:ext uri="{FF2B5EF4-FFF2-40B4-BE49-F238E27FC236}">
                <a16:creationId xmlns:a16="http://schemas.microsoft.com/office/drawing/2014/main" id="{E4B1B6CA-44BD-DA98-0F93-4F8E3D300590}"/>
              </a:ext>
            </a:extLst>
          </p:cNvPr>
          <p:cNvSpPr txBox="1"/>
          <p:nvPr/>
        </p:nvSpPr>
        <p:spPr>
          <a:xfrm>
            <a:off x="355178" y="822816"/>
            <a:ext cx="7519243" cy="646331"/>
          </a:xfrm>
          <a:prstGeom prst="rect">
            <a:avLst/>
          </a:prstGeom>
          <a:noFill/>
        </p:spPr>
        <p:txBody>
          <a:bodyPr wrap="square" rtlCol="0">
            <a:spAutoFit/>
          </a:bodyPr>
          <a:lstStyle/>
          <a:p>
            <a:r>
              <a:rPr lang="en-US" dirty="0"/>
              <a:t>If the same feature (like a house) is represented as a point vs. a polygon, what types of analysis can we do in each case?</a:t>
            </a:r>
          </a:p>
        </p:txBody>
      </p:sp>
      <p:sp>
        <p:nvSpPr>
          <p:cNvPr id="21" name="TextBox 20">
            <a:extLst>
              <a:ext uri="{FF2B5EF4-FFF2-40B4-BE49-F238E27FC236}">
                <a16:creationId xmlns:a16="http://schemas.microsoft.com/office/drawing/2014/main" id="{7A748AA0-62A4-A4DF-B826-F99F21A8B8E8}"/>
              </a:ext>
            </a:extLst>
          </p:cNvPr>
          <p:cNvSpPr txBox="1"/>
          <p:nvPr/>
        </p:nvSpPr>
        <p:spPr>
          <a:xfrm>
            <a:off x="284297" y="1444709"/>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23186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4967" y="1257376"/>
            <a:ext cx="7064612" cy="42473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All types can store attribute information</a:t>
            </a:r>
          </a:p>
        </p:txBody>
      </p:sp>
      <p:pic>
        <p:nvPicPr>
          <p:cNvPr id="5" name="Picture 4" descr="Example of attribute table"/>
          <p:cNvPicPr>
            <a:picLocks noChangeAspect="1"/>
          </p:cNvPicPr>
          <p:nvPr/>
        </p:nvPicPr>
        <p:blipFill>
          <a:blip r:embed="rId3"/>
          <a:stretch>
            <a:fillRect/>
          </a:stretch>
        </p:blipFill>
        <p:spPr>
          <a:xfrm>
            <a:off x="1433960" y="1724411"/>
            <a:ext cx="4986626" cy="3106986"/>
          </a:xfrm>
          <a:prstGeom prst="rect">
            <a:avLst/>
          </a:prstGeom>
        </p:spPr>
      </p:pic>
      <p:sp>
        <p:nvSpPr>
          <p:cNvPr id="6" name="Content Placeholder 2"/>
          <p:cNvSpPr txBox="1">
            <a:spLocks/>
          </p:cNvSpPr>
          <p:nvPr/>
        </p:nvSpPr>
        <p:spPr>
          <a:xfrm>
            <a:off x="4510326" y="4831397"/>
            <a:ext cx="3479198" cy="30869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None/>
            </a:pPr>
            <a:r>
              <a:rPr lang="en-US" sz="945" dirty="0"/>
              <a:t>Examples by Dr. Mike and Dr. Jackie Strager</a:t>
            </a:r>
          </a:p>
        </p:txBody>
      </p:sp>
      <p:sp>
        <p:nvSpPr>
          <p:cNvPr id="7" name="Title 1">
            <a:extLst>
              <a:ext uri="{FF2B5EF4-FFF2-40B4-BE49-F238E27FC236}">
                <a16:creationId xmlns:a16="http://schemas.microsoft.com/office/drawing/2014/main" id="{00AAFE97-D806-4790-B52F-1023F13ACC88}"/>
              </a:ext>
            </a:extLst>
          </p:cNvPr>
          <p:cNvSpPr txBox="1">
            <a:spLocks/>
          </p:cNvSpPr>
          <p:nvPr/>
        </p:nvSpPr>
        <p:spPr>
          <a:xfrm>
            <a:off x="237802" y="256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C8ADA019-C51C-42CA-A187-F611CFD3025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B5E1D4F-53B4-4400-B159-7207EAAD2FA3}"/>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226355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23FFD-ADBE-83FC-2E50-43FD6F250CEE}"/>
              </a:ext>
            </a:extLst>
          </p:cNvPr>
          <p:cNvSpPr>
            <a:spLocks noGrp="1"/>
          </p:cNvSpPr>
          <p:nvPr>
            <p:ph type="title"/>
          </p:nvPr>
        </p:nvSpPr>
        <p:spPr>
          <a:xfrm>
            <a:off x="194280" y="-97470"/>
            <a:ext cx="7444991" cy="570663"/>
          </a:xfrm>
        </p:spPr>
        <p:txBody>
          <a:bodyPr>
            <a:normAutofit fontScale="90000"/>
          </a:bodyPr>
          <a:lstStyle/>
          <a:p>
            <a:pPr defTabSz="411480"/>
            <a:r>
              <a:rPr lang="en-US" sz="3200" dirty="0">
                <a:solidFill>
                  <a:srgbClr val="7030A0"/>
                </a:solidFill>
              </a:rPr>
              <a:t>Rows and Columns in an Attribute Table</a:t>
            </a:r>
          </a:p>
        </p:txBody>
      </p:sp>
      <p:sp>
        <p:nvSpPr>
          <p:cNvPr id="4" name="Slide Number Placeholder 3">
            <a:extLst>
              <a:ext uri="{FF2B5EF4-FFF2-40B4-BE49-F238E27FC236}">
                <a16:creationId xmlns:a16="http://schemas.microsoft.com/office/drawing/2014/main" id="{D4505DDB-2C69-26E5-D0C2-DACC2096DC4A}"/>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Content Placeholder 4" descr="Example of attribute table">
            <a:extLst>
              <a:ext uri="{FF2B5EF4-FFF2-40B4-BE49-F238E27FC236}">
                <a16:creationId xmlns:a16="http://schemas.microsoft.com/office/drawing/2014/main" id="{6041FE5F-B417-800F-D0DC-5A875AD7480A}"/>
              </a:ext>
            </a:extLst>
          </p:cNvPr>
          <p:cNvPicPr>
            <a:picLocks noGrp="1" noChangeAspect="1"/>
          </p:cNvPicPr>
          <p:nvPr>
            <p:ph idx="1"/>
          </p:nvPr>
        </p:nvPicPr>
        <p:blipFill>
          <a:blip r:embed="rId2"/>
          <a:stretch>
            <a:fillRect/>
          </a:stretch>
        </p:blipFill>
        <p:spPr>
          <a:xfrm>
            <a:off x="90682" y="1755775"/>
            <a:ext cx="4374734" cy="2725738"/>
          </a:xfrm>
          <a:prstGeom prst="rect">
            <a:avLst/>
          </a:prstGeom>
        </p:spPr>
      </p:pic>
      <p:sp>
        <p:nvSpPr>
          <p:cNvPr id="6" name="TextBox 5">
            <a:extLst>
              <a:ext uri="{FF2B5EF4-FFF2-40B4-BE49-F238E27FC236}">
                <a16:creationId xmlns:a16="http://schemas.microsoft.com/office/drawing/2014/main" id="{34610C23-AFB7-183B-9B76-4E9F429DB9A0}"/>
              </a:ext>
            </a:extLst>
          </p:cNvPr>
          <p:cNvSpPr txBox="1"/>
          <p:nvPr/>
        </p:nvSpPr>
        <p:spPr>
          <a:xfrm>
            <a:off x="3916776" y="1158894"/>
            <a:ext cx="4312824"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a:t>Row = one record = one feature</a:t>
            </a:r>
          </a:p>
          <a:p>
            <a:pPr marL="285750" indent="-285750">
              <a:buFont typeface="Wingdings" panose="05000000000000000000" pitchFamily="2" charset="2"/>
              <a:buChar char="Ø"/>
            </a:pPr>
            <a:endParaRPr lang="en-US" dirty="0"/>
          </a:p>
          <a:p>
            <a:pPr marL="800100" lvl="1" indent="-342900">
              <a:buFont typeface="+mj-lt"/>
              <a:buAutoNum type="arabicPeriod"/>
            </a:pPr>
            <a:r>
              <a:rPr lang="en-US" dirty="0"/>
              <a:t>Example: Parcel 08-003 (North, Tim) is one row in the table and one polygon on the map.</a:t>
            </a:r>
          </a:p>
          <a:p>
            <a:pPr marL="800100" lvl="1" indent="-342900">
              <a:buFont typeface="+mj-lt"/>
              <a:buAutoNum type="arabicPeriod"/>
            </a:pPr>
            <a:endParaRPr lang="en-US" dirty="0"/>
          </a:p>
          <a:p>
            <a:pPr marL="342900" indent="-342900">
              <a:buFont typeface="Wingdings" panose="05000000000000000000" pitchFamily="2" charset="2"/>
              <a:buChar char="Ø"/>
            </a:pPr>
            <a:r>
              <a:rPr lang="en-US" dirty="0"/>
              <a:t>Each field (a column describing one property of all features) is represented by a column in the table.</a:t>
            </a:r>
          </a:p>
          <a:p>
            <a:pPr marL="800100" lvl="1" indent="-342900">
              <a:buFont typeface="+mj-lt"/>
              <a:buAutoNum type="arabicPeriod"/>
            </a:pPr>
            <a:endParaRPr lang="en-US" dirty="0"/>
          </a:p>
          <a:p>
            <a:pPr marL="800100" lvl="1" indent="-342900">
              <a:buFont typeface="+mj-lt"/>
              <a:buAutoNum type="arabicPeriod"/>
            </a:pPr>
            <a:r>
              <a:rPr lang="en-US" dirty="0"/>
              <a:t>Field = one type of information for all features</a:t>
            </a:r>
          </a:p>
          <a:p>
            <a:pPr marL="800100" lvl="1" indent="-342900">
              <a:buFont typeface="+mj-lt"/>
              <a:buAutoNum type="arabicPeriod"/>
            </a:pPr>
            <a:r>
              <a:rPr lang="en-US" dirty="0"/>
              <a:t>Example fields: Parcel ID, Owner</a:t>
            </a:r>
          </a:p>
        </p:txBody>
      </p:sp>
      <p:sp>
        <p:nvSpPr>
          <p:cNvPr id="7" name="TextBox 6">
            <a:extLst>
              <a:ext uri="{FF2B5EF4-FFF2-40B4-BE49-F238E27FC236}">
                <a16:creationId xmlns:a16="http://schemas.microsoft.com/office/drawing/2014/main" id="{A2360064-F1D4-6D36-89D6-3CE07FB5B523}"/>
              </a:ext>
            </a:extLst>
          </p:cNvPr>
          <p:cNvSpPr txBox="1"/>
          <p:nvPr/>
        </p:nvSpPr>
        <p:spPr>
          <a:xfrm>
            <a:off x="194280" y="483075"/>
            <a:ext cx="7064612" cy="42473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All types can store attribute information</a:t>
            </a:r>
          </a:p>
        </p:txBody>
      </p:sp>
    </p:spTree>
    <p:extLst>
      <p:ext uri="{BB962C8B-B14F-4D97-AF65-F5344CB8AC3E}">
        <p14:creationId xmlns:p14="http://schemas.microsoft.com/office/powerpoint/2010/main" val="2061050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411637"/>
          </a:xfrm>
        </p:spPr>
        <p:txBody>
          <a:bodyPr>
            <a:normAutofit fontScale="90000"/>
          </a:bodyPr>
          <a:lstStyle/>
          <a:p>
            <a:r>
              <a:rPr sz="3000" b="0" dirty="0">
                <a:solidFill>
                  <a:srgbClr val="7030A0"/>
                </a:solidFill>
              </a:rPr>
              <a:t>ATTRIBUTE FIELD TYPES</a:t>
            </a:r>
          </a:p>
        </p:txBody>
      </p:sp>
      <p:grpSp>
        <p:nvGrpSpPr>
          <p:cNvPr id="46" name="Group 45">
            <a:extLst>
              <a:ext uri="{FF2B5EF4-FFF2-40B4-BE49-F238E27FC236}">
                <a16:creationId xmlns:a16="http://schemas.microsoft.com/office/drawing/2014/main" id="{4F8D78C6-392A-34D7-4D84-A8F6F3AB6FAA}"/>
              </a:ext>
            </a:extLst>
          </p:cNvPr>
          <p:cNvGrpSpPr/>
          <p:nvPr/>
        </p:nvGrpSpPr>
        <p:grpSpPr>
          <a:xfrm>
            <a:off x="781215" y="976729"/>
            <a:ext cx="6537960" cy="3416300"/>
            <a:chOff x="502920" y="1561592"/>
            <a:chExt cx="6537960" cy="3416300"/>
          </a:xfrm>
        </p:grpSpPr>
        <p:sp>
          <p:nvSpPr>
            <p:cNvPr id="3" name="Rectangle 2"/>
            <p:cNvSpPr/>
            <p:nvPr/>
          </p:nvSpPr>
          <p:spPr>
            <a:xfrm>
              <a:off x="502920" y="1572768"/>
              <a:ext cx="1234440" cy="484632"/>
            </a:xfrm>
            <a:prstGeom prst="rect">
              <a:avLst/>
            </a:prstGeom>
            <a:solidFill>
              <a:srgbClr val="7030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4" name="TextBox 3"/>
            <p:cNvSpPr txBox="1"/>
            <p:nvPr/>
          </p:nvSpPr>
          <p:spPr>
            <a:xfrm>
              <a:off x="502920" y="1598168"/>
              <a:ext cx="12344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Calibri"/>
                  <a:ea typeface="+mn-ea"/>
                  <a:cs typeface="+mn-cs"/>
                </a:rPr>
                <a:t>Field Type</a:t>
              </a:r>
            </a:p>
          </p:txBody>
        </p:sp>
        <p:sp>
          <p:nvSpPr>
            <p:cNvPr id="5" name="Rectangle 4"/>
            <p:cNvSpPr/>
            <p:nvPr/>
          </p:nvSpPr>
          <p:spPr>
            <a:xfrm>
              <a:off x="1750060" y="1561592"/>
              <a:ext cx="3291840" cy="484632"/>
            </a:xfrm>
            <a:prstGeom prst="rect">
              <a:avLst/>
            </a:prstGeom>
            <a:solidFill>
              <a:srgbClr val="7030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6" name="TextBox 5"/>
            <p:cNvSpPr txBox="1"/>
            <p:nvPr/>
          </p:nvSpPr>
          <p:spPr>
            <a:xfrm>
              <a:off x="1737360" y="1598168"/>
              <a:ext cx="32918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Calibri"/>
                  <a:ea typeface="+mn-ea"/>
                  <a:cs typeface="+mn-cs"/>
                </a:rPr>
                <a:t>What it stores</a:t>
              </a:r>
            </a:p>
          </p:txBody>
        </p:sp>
        <p:sp>
          <p:nvSpPr>
            <p:cNvPr id="7" name="Rectangle 6"/>
            <p:cNvSpPr/>
            <p:nvPr/>
          </p:nvSpPr>
          <p:spPr>
            <a:xfrm>
              <a:off x="5029200" y="1572768"/>
              <a:ext cx="2011680" cy="484632"/>
            </a:xfrm>
            <a:prstGeom prst="rect">
              <a:avLst/>
            </a:prstGeom>
            <a:solidFill>
              <a:srgbClr val="7030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TextBox 7"/>
            <p:cNvSpPr txBox="1"/>
            <p:nvPr/>
          </p:nvSpPr>
          <p:spPr>
            <a:xfrm>
              <a:off x="5029200" y="1598168"/>
              <a:ext cx="20116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Calibri"/>
                  <a:ea typeface="+mn-ea"/>
                  <a:cs typeface="+mn-cs"/>
                </a:rPr>
                <a:t>Example</a:t>
              </a:r>
            </a:p>
          </p:txBody>
        </p:sp>
        <p:sp>
          <p:nvSpPr>
            <p:cNvPr id="9" name="Rectangle 8"/>
            <p:cNvSpPr/>
            <p:nvPr/>
          </p:nvSpPr>
          <p:spPr>
            <a:xfrm>
              <a:off x="502920" y="2057400"/>
              <a:ext cx="123444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TextBox 9"/>
            <p:cNvSpPr txBox="1"/>
            <p:nvPr/>
          </p:nvSpPr>
          <p:spPr>
            <a:xfrm>
              <a:off x="528320" y="2070100"/>
              <a:ext cx="11836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Short Integer</a:t>
              </a:r>
            </a:p>
          </p:txBody>
        </p:sp>
        <p:sp>
          <p:nvSpPr>
            <p:cNvPr id="11" name="Rectangle 10"/>
            <p:cNvSpPr/>
            <p:nvPr/>
          </p:nvSpPr>
          <p:spPr>
            <a:xfrm>
              <a:off x="1737360" y="2057400"/>
              <a:ext cx="329184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TextBox 11"/>
            <p:cNvSpPr txBox="1"/>
            <p:nvPr/>
          </p:nvSpPr>
          <p:spPr>
            <a:xfrm>
              <a:off x="1762760" y="2070100"/>
              <a:ext cx="32410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Whole numbers; no decimals</a:t>
              </a:r>
            </a:p>
          </p:txBody>
        </p:sp>
        <p:sp>
          <p:nvSpPr>
            <p:cNvPr id="13" name="Rectangle 12"/>
            <p:cNvSpPr/>
            <p:nvPr/>
          </p:nvSpPr>
          <p:spPr>
            <a:xfrm>
              <a:off x="5029200" y="2057400"/>
              <a:ext cx="201168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TextBox 13"/>
            <p:cNvSpPr txBox="1"/>
            <p:nvPr/>
          </p:nvSpPr>
          <p:spPr>
            <a:xfrm>
              <a:off x="5054600" y="2070100"/>
              <a:ext cx="19608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25</a:t>
              </a:r>
            </a:p>
          </p:txBody>
        </p:sp>
        <p:sp>
          <p:nvSpPr>
            <p:cNvPr id="15" name="Rectangle 14"/>
            <p:cNvSpPr/>
            <p:nvPr/>
          </p:nvSpPr>
          <p:spPr>
            <a:xfrm>
              <a:off x="502920" y="2542032"/>
              <a:ext cx="123444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6" name="TextBox 15"/>
            <p:cNvSpPr txBox="1"/>
            <p:nvPr/>
          </p:nvSpPr>
          <p:spPr>
            <a:xfrm>
              <a:off x="528320" y="2554732"/>
              <a:ext cx="11836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Long Integer</a:t>
              </a:r>
            </a:p>
          </p:txBody>
        </p:sp>
        <p:sp>
          <p:nvSpPr>
            <p:cNvPr id="17" name="Rectangle 16"/>
            <p:cNvSpPr/>
            <p:nvPr/>
          </p:nvSpPr>
          <p:spPr>
            <a:xfrm>
              <a:off x="1737360" y="2542032"/>
              <a:ext cx="329184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17"/>
            <p:cNvSpPr txBox="1"/>
            <p:nvPr/>
          </p:nvSpPr>
          <p:spPr>
            <a:xfrm>
              <a:off x="1762760" y="2554732"/>
              <a:ext cx="32410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Larger whole numbers; no decimals</a:t>
              </a:r>
            </a:p>
          </p:txBody>
        </p:sp>
        <p:sp>
          <p:nvSpPr>
            <p:cNvPr id="19" name="Rectangle 18"/>
            <p:cNvSpPr/>
            <p:nvPr/>
          </p:nvSpPr>
          <p:spPr>
            <a:xfrm>
              <a:off x="5029200" y="2542032"/>
              <a:ext cx="201168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Box 19"/>
            <p:cNvSpPr txBox="1"/>
            <p:nvPr/>
          </p:nvSpPr>
          <p:spPr>
            <a:xfrm>
              <a:off x="5054600" y="2554732"/>
              <a:ext cx="19608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2,000,000</a:t>
              </a:r>
            </a:p>
          </p:txBody>
        </p:sp>
        <p:sp>
          <p:nvSpPr>
            <p:cNvPr id="21" name="Rectangle 20"/>
            <p:cNvSpPr/>
            <p:nvPr/>
          </p:nvSpPr>
          <p:spPr>
            <a:xfrm>
              <a:off x="502920" y="3026664"/>
              <a:ext cx="123444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TextBox 21"/>
            <p:cNvSpPr txBox="1"/>
            <p:nvPr/>
          </p:nvSpPr>
          <p:spPr>
            <a:xfrm>
              <a:off x="528320" y="3039364"/>
              <a:ext cx="11836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Float</a:t>
              </a:r>
            </a:p>
          </p:txBody>
        </p:sp>
        <p:sp>
          <p:nvSpPr>
            <p:cNvPr id="23" name="Rectangle 22"/>
            <p:cNvSpPr/>
            <p:nvPr/>
          </p:nvSpPr>
          <p:spPr>
            <a:xfrm>
              <a:off x="1737360" y="3026664"/>
              <a:ext cx="329184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4" name="TextBox 23"/>
            <p:cNvSpPr txBox="1"/>
            <p:nvPr/>
          </p:nvSpPr>
          <p:spPr>
            <a:xfrm>
              <a:off x="1762760" y="3039364"/>
              <a:ext cx="32410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Decimal values (lower precision)</a:t>
              </a:r>
            </a:p>
          </p:txBody>
        </p:sp>
        <p:sp>
          <p:nvSpPr>
            <p:cNvPr id="25" name="Rectangle 24"/>
            <p:cNvSpPr/>
            <p:nvPr/>
          </p:nvSpPr>
          <p:spPr>
            <a:xfrm>
              <a:off x="5029200" y="3026664"/>
              <a:ext cx="201168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TextBox 25"/>
            <p:cNvSpPr txBox="1"/>
            <p:nvPr/>
          </p:nvSpPr>
          <p:spPr>
            <a:xfrm>
              <a:off x="5054600" y="3039364"/>
              <a:ext cx="19608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12.35</a:t>
              </a:r>
            </a:p>
          </p:txBody>
        </p:sp>
        <p:sp>
          <p:nvSpPr>
            <p:cNvPr id="27" name="Rectangle 26"/>
            <p:cNvSpPr/>
            <p:nvPr/>
          </p:nvSpPr>
          <p:spPr>
            <a:xfrm>
              <a:off x="502920" y="3511296"/>
              <a:ext cx="123444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8" name="TextBox 27"/>
            <p:cNvSpPr txBox="1"/>
            <p:nvPr/>
          </p:nvSpPr>
          <p:spPr>
            <a:xfrm>
              <a:off x="528320" y="3523996"/>
              <a:ext cx="11836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Double</a:t>
              </a:r>
            </a:p>
          </p:txBody>
        </p:sp>
        <p:sp>
          <p:nvSpPr>
            <p:cNvPr id="29" name="Rectangle 28"/>
            <p:cNvSpPr/>
            <p:nvPr/>
          </p:nvSpPr>
          <p:spPr>
            <a:xfrm>
              <a:off x="1737360" y="3511296"/>
              <a:ext cx="329184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TextBox 29"/>
            <p:cNvSpPr txBox="1"/>
            <p:nvPr/>
          </p:nvSpPr>
          <p:spPr>
            <a:xfrm>
              <a:off x="1762760" y="3523996"/>
              <a:ext cx="32410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Decimal values (higher precision)</a:t>
              </a:r>
            </a:p>
          </p:txBody>
        </p:sp>
        <p:sp>
          <p:nvSpPr>
            <p:cNvPr id="31" name="Rectangle 30"/>
            <p:cNvSpPr/>
            <p:nvPr/>
          </p:nvSpPr>
          <p:spPr>
            <a:xfrm>
              <a:off x="5029200" y="3511296"/>
              <a:ext cx="201168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2" name="TextBox 31"/>
            <p:cNvSpPr txBox="1"/>
            <p:nvPr/>
          </p:nvSpPr>
          <p:spPr>
            <a:xfrm>
              <a:off x="5054600" y="3523996"/>
              <a:ext cx="19608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12.3456789</a:t>
              </a:r>
            </a:p>
          </p:txBody>
        </p:sp>
        <p:sp>
          <p:nvSpPr>
            <p:cNvPr id="33" name="Rectangle 32"/>
            <p:cNvSpPr/>
            <p:nvPr/>
          </p:nvSpPr>
          <p:spPr>
            <a:xfrm>
              <a:off x="502920" y="3995928"/>
              <a:ext cx="123444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TextBox 33"/>
            <p:cNvSpPr txBox="1"/>
            <p:nvPr/>
          </p:nvSpPr>
          <p:spPr>
            <a:xfrm>
              <a:off x="528320" y="4008628"/>
              <a:ext cx="11836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Text</a:t>
              </a:r>
            </a:p>
          </p:txBody>
        </p:sp>
        <p:sp>
          <p:nvSpPr>
            <p:cNvPr id="35" name="Rectangle 34"/>
            <p:cNvSpPr/>
            <p:nvPr/>
          </p:nvSpPr>
          <p:spPr>
            <a:xfrm>
              <a:off x="1737360" y="3995928"/>
              <a:ext cx="329184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6" name="TextBox 35"/>
            <p:cNvSpPr txBox="1"/>
            <p:nvPr/>
          </p:nvSpPr>
          <p:spPr>
            <a:xfrm>
              <a:off x="1762760" y="4008628"/>
              <a:ext cx="32410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Strings / non-numeric values</a:t>
              </a:r>
            </a:p>
          </p:txBody>
        </p:sp>
        <p:sp>
          <p:nvSpPr>
            <p:cNvPr id="37" name="Rectangle 36"/>
            <p:cNvSpPr/>
            <p:nvPr/>
          </p:nvSpPr>
          <p:spPr>
            <a:xfrm>
              <a:off x="5029200" y="3995928"/>
              <a:ext cx="2011680" cy="484632"/>
            </a:xfrm>
            <a:prstGeom prst="rect">
              <a:avLst/>
            </a:prstGeom>
            <a:solidFill>
              <a:srgbClr val="FFFFFF"/>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TextBox 37"/>
            <p:cNvSpPr txBox="1"/>
            <p:nvPr/>
          </p:nvSpPr>
          <p:spPr>
            <a:xfrm>
              <a:off x="5054600" y="4008628"/>
              <a:ext cx="19608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Bridge</a:t>
              </a:r>
            </a:p>
          </p:txBody>
        </p:sp>
        <p:sp>
          <p:nvSpPr>
            <p:cNvPr id="39" name="Rectangle 38"/>
            <p:cNvSpPr/>
            <p:nvPr/>
          </p:nvSpPr>
          <p:spPr>
            <a:xfrm>
              <a:off x="502920" y="4480560"/>
              <a:ext cx="123444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TextBox 39"/>
            <p:cNvSpPr txBox="1"/>
            <p:nvPr/>
          </p:nvSpPr>
          <p:spPr>
            <a:xfrm>
              <a:off x="528320" y="4493260"/>
              <a:ext cx="11836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Date</a:t>
              </a:r>
            </a:p>
          </p:txBody>
        </p:sp>
        <p:sp>
          <p:nvSpPr>
            <p:cNvPr id="41" name="Rectangle 40"/>
            <p:cNvSpPr/>
            <p:nvPr/>
          </p:nvSpPr>
          <p:spPr>
            <a:xfrm>
              <a:off x="1737360" y="4480560"/>
              <a:ext cx="329184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TextBox 41"/>
            <p:cNvSpPr txBox="1"/>
            <p:nvPr/>
          </p:nvSpPr>
          <p:spPr>
            <a:xfrm>
              <a:off x="1762760" y="4493260"/>
              <a:ext cx="324104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Date information</a:t>
              </a:r>
            </a:p>
          </p:txBody>
        </p:sp>
        <p:sp>
          <p:nvSpPr>
            <p:cNvPr id="43" name="Rectangle 42"/>
            <p:cNvSpPr/>
            <p:nvPr/>
          </p:nvSpPr>
          <p:spPr>
            <a:xfrm>
              <a:off x="5029200" y="4480560"/>
              <a:ext cx="2011680" cy="484632"/>
            </a:xfrm>
            <a:prstGeom prst="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TextBox 43"/>
            <p:cNvSpPr txBox="1"/>
            <p:nvPr/>
          </p:nvSpPr>
          <p:spPr>
            <a:xfrm>
              <a:off x="5054600" y="4493260"/>
              <a:ext cx="1960880" cy="484632"/>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404040"/>
                  </a:solidFill>
                  <a:effectLst/>
                  <a:uLnTx/>
                  <a:uFillTx/>
                  <a:latin typeface="Calibri"/>
                  <a:ea typeface="+mn-ea"/>
                  <a:cs typeface="+mn-cs"/>
                </a:rPr>
                <a:t>09/16/2026</a:t>
              </a:r>
            </a:p>
          </p:txBody>
        </p:sp>
      </p:grpSp>
      <p:sp>
        <p:nvSpPr>
          <p:cNvPr id="45" name="TextBox 44">
            <a:extLst>
              <a:ext uri="{FF2B5EF4-FFF2-40B4-BE49-F238E27FC236}">
                <a16:creationId xmlns:a16="http://schemas.microsoft.com/office/drawing/2014/main" id="{494B8804-A2C5-0862-D437-14C521695BE6}"/>
              </a:ext>
            </a:extLst>
          </p:cNvPr>
          <p:cNvSpPr txBox="1"/>
          <p:nvPr/>
        </p:nvSpPr>
        <p:spPr>
          <a:xfrm>
            <a:off x="667910" y="4524292"/>
            <a:ext cx="7331102" cy="369332"/>
          </a:xfrm>
          <a:prstGeom prst="rect">
            <a:avLst/>
          </a:prstGeom>
          <a:noFill/>
        </p:spPr>
        <p:txBody>
          <a:bodyPr wrap="square" rtlCol="0">
            <a:spAutoFit/>
          </a:bodyPr>
          <a:lstStyle/>
          <a:p>
            <a:pPr lvl="0"/>
            <a:r>
              <a:rPr lang="en-US" dirty="0"/>
              <a:t>What field type is shown in the attribute table on the previous slide?</a:t>
            </a:r>
          </a:p>
        </p:txBody>
      </p:sp>
      <p:sp>
        <p:nvSpPr>
          <p:cNvPr id="48" name="TextBox 47">
            <a:extLst>
              <a:ext uri="{FF2B5EF4-FFF2-40B4-BE49-F238E27FC236}">
                <a16:creationId xmlns:a16="http://schemas.microsoft.com/office/drawing/2014/main" id="{41B4BD5F-B99E-5669-137C-3A2BA81795B1}"/>
              </a:ext>
            </a:extLst>
          </p:cNvPr>
          <p:cNvSpPr txBox="1"/>
          <p:nvPr/>
        </p:nvSpPr>
        <p:spPr>
          <a:xfrm>
            <a:off x="133185" y="4524292"/>
            <a:ext cx="534725"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293621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399" y="1131194"/>
            <a:ext cx="3930633" cy="3504453"/>
          </a:xfrm>
        </p:spPr>
        <p:txBody>
          <a:bodyPr>
            <a:normAutofit fontScale="85000" lnSpcReduction="20000"/>
          </a:bodyPr>
          <a:lstStyle/>
          <a:p>
            <a:pPr>
              <a:buFont typeface="Courier New" panose="02070309020205020404" pitchFamily="49" charset="0"/>
              <a:buChar char="o"/>
            </a:pPr>
            <a:r>
              <a:rPr lang="en-US" sz="3700" dirty="0"/>
              <a:t>Topology</a:t>
            </a:r>
          </a:p>
          <a:p>
            <a:pPr lvl="1">
              <a:buFont typeface="Wingdings" panose="05000000000000000000" pitchFamily="2" charset="2"/>
              <a:buChar char="ü"/>
            </a:pPr>
            <a:r>
              <a:rPr lang="en-US" sz="2900" i="1" dirty="0"/>
              <a:t>Study of properties of geometric objects that remain invariant under certain transformations such as bending or stretching </a:t>
            </a:r>
            <a:r>
              <a:rPr lang="en-US" sz="2900" dirty="0"/>
              <a:t>(Massey 1967)</a:t>
            </a:r>
          </a:p>
          <a:p>
            <a:pPr lvl="1">
              <a:buFont typeface="Wingdings" panose="05000000000000000000" pitchFamily="2" charset="2"/>
              <a:buChar char="ü"/>
            </a:pPr>
            <a:r>
              <a:rPr lang="en-US" sz="2900" dirty="0"/>
              <a:t>Spatial relationship between map features.</a:t>
            </a:r>
          </a:p>
        </p:txBody>
      </p:sp>
      <p:sp>
        <p:nvSpPr>
          <p:cNvPr id="2" name="Slide Number Placeholder 1">
            <a:extLst>
              <a:ext uri="{FF2B5EF4-FFF2-40B4-BE49-F238E27FC236}">
                <a16:creationId xmlns:a16="http://schemas.microsoft.com/office/drawing/2014/main" id="{31F84E32-FA73-48A5-9B0F-FB0209A3A6C9}"/>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5" name="Rectangle 4"/>
          <p:cNvSpPr/>
          <p:nvPr/>
        </p:nvSpPr>
        <p:spPr>
          <a:xfrm>
            <a:off x="4146568" y="4293877"/>
            <a:ext cx="4113728" cy="237757"/>
          </a:xfrm>
          <a:prstGeom prst="rect">
            <a:avLst/>
          </a:prstGeom>
        </p:spPr>
        <p:txBody>
          <a:bodyPr>
            <a:spAutoFit/>
          </a:bodyPr>
          <a:lstStyle/>
          <a:p>
            <a:r>
              <a:rPr lang="en-US" sz="900" dirty="0">
                <a:solidFill>
                  <a:srgbClr val="7030A0"/>
                </a:solidFill>
              </a:rPr>
              <a:t>https://en.wikipedia.org/wiki/File:Map_of_USA_with_state_names.svg</a:t>
            </a:r>
          </a:p>
        </p:txBody>
      </p:sp>
      <p:sp>
        <p:nvSpPr>
          <p:cNvPr id="7" name="Title 1">
            <a:extLst>
              <a:ext uri="{FF2B5EF4-FFF2-40B4-BE49-F238E27FC236}">
                <a16:creationId xmlns:a16="http://schemas.microsoft.com/office/drawing/2014/main" id="{0374214E-288E-46C0-ABD7-A339293F7EE2}"/>
              </a:ext>
            </a:extLst>
          </p:cNvPr>
          <p:cNvSpPr txBox="1">
            <a:spLocks/>
          </p:cNvSpPr>
          <p:nvPr/>
        </p:nvSpPr>
        <p:spPr>
          <a:xfrm>
            <a:off x="286908" y="2267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Map of United States">
            <a:extLst>
              <a:ext uri="{FF2B5EF4-FFF2-40B4-BE49-F238E27FC236}">
                <a16:creationId xmlns:a16="http://schemas.microsoft.com/office/drawing/2014/main" id="{2E0E8251-FF87-42F6-92D5-0D4C6F1F5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7054" y="1426319"/>
            <a:ext cx="3997003" cy="2471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584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7B9911C-FA18-0BAE-EBD4-B5E9533F0AAE}"/>
              </a:ext>
            </a:extLst>
          </p:cNvPr>
          <p:cNvPicPr>
            <a:picLocks noGrp="1" noChangeAspect="1"/>
          </p:cNvPicPr>
          <p:nvPr>
            <p:ph idx="1"/>
          </p:nvPr>
        </p:nvPicPr>
        <p:blipFill>
          <a:blip r:embed="rId2"/>
          <a:stretch>
            <a:fillRect/>
          </a:stretch>
        </p:blipFill>
        <p:spPr>
          <a:xfrm>
            <a:off x="891194" y="777448"/>
            <a:ext cx="6762470" cy="3667237"/>
          </a:xfrm>
          <a:prstGeom prst="rect">
            <a:avLst/>
          </a:prstGeom>
        </p:spPr>
      </p:pic>
      <p:sp>
        <p:nvSpPr>
          <p:cNvPr id="4" name="Slide Number Placeholder 3">
            <a:extLst>
              <a:ext uri="{FF2B5EF4-FFF2-40B4-BE49-F238E27FC236}">
                <a16:creationId xmlns:a16="http://schemas.microsoft.com/office/drawing/2014/main" id="{18722AD0-3C5C-7ABA-DE55-5DD625BEE312}"/>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6" name="Title 1">
            <a:extLst>
              <a:ext uri="{FF2B5EF4-FFF2-40B4-BE49-F238E27FC236}">
                <a16:creationId xmlns:a16="http://schemas.microsoft.com/office/drawing/2014/main" id="{F1AEEB7B-BA31-8D4C-7267-51CF749B4684}"/>
              </a:ext>
            </a:extLst>
          </p:cNvPr>
          <p:cNvSpPr txBox="1">
            <a:spLocks/>
          </p:cNvSpPr>
          <p:nvPr/>
        </p:nvSpPr>
        <p:spPr>
          <a:xfrm>
            <a:off x="286908" y="-187032"/>
            <a:ext cx="8077200" cy="695589"/>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Examples of Topological Spatial Relationship</a:t>
            </a:r>
            <a:endParaRPr lang="en-US" sz="2600" dirty="0">
              <a:solidFill>
                <a:srgbClr val="7030A0"/>
              </a:solidFill>
            </a:endParaRPr>
          </a:p>
        </p:txBody>
      </p:sp>
    </p:spTree>
    <p:extLst>
      <p:ext uri="{BB962C8B-B14F-4D97-AF65-F5344CB8AC3E}">
        <p14:creationId xmlns:p14="http://schemas.microsoft.com/office/powerpoint/2010/main" val="3263764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0509-03FA-31E0-A446-825C5014566F}"/>
              </a:ext>
            </a:extLst>
          </p:cNvPr>
          <p:cNvSpPr>
            <a:spLocks noGrp="1"/>
          </p:cNvSpPr>
          <p:nvPr>
            <p:ph type="title"/>
          </p:nvPr>
        </p:nvSpPr>
        <p:spPr/>
        <p:txBody>
          <a:bodyPr>
            <a:normAutofit fontScale="90000"/>
          </a:bodyPr>
          <a:lstStyle/>
          <a:p>
            <a:pPr defTabSz="411480"/>
            <a:r>
              <a:rPr lang="en-US" sz="3200" dirty="0">
                <a:solidFill>
                  <a:srgbClr val="7030A0"/>
                </a:solidFill>
              </a:rPr>
              <a:t>Topology Remains the Same Across Projections</a:t>
            </a:r>
          </a:p>
        </p:txBody>
      </p:sp>
      <p:pic>
        <p:nvPicPr>
          <p:cNvPr id="6" name="Content Placeholder 5">
            <a:extLst>
              <a:ext uri="{FF2B5EF4-FFF2-40B4-BE49-F238E27FC236}">
                <a16:creationId xmlns:a16="http://schemas.microsoft.com/office/drawing/2014/main" id="{8DB9DE06-906C-ABA3-BE8B-1776D622C404}"/>
              </a:ext>
            </a:extLst>
          </p:cNvPr>
          <p:cNvPicPr>
            <a:picLocks noGrp="1" noChangeAspect="1"/>
          </p:cNvPicPr>
          <p:nvPr>
            <p:ph idx="1"/>
          </p:nvPr>
        </p:nvPicPr>
        <p:blipFill>
          <a:blip r:embed="rId2"/>
          <a:stretch>
            <a:fillRect/>
          </a:stretch>
        </p:blipFill>
        <p:spPr>
          <a:xfrm>
            <a:off x="2872398" y="997291"/>
            <a:ext cx="4903977" cy="3820645"/>
          </a:xfrm>
          <a:prstGeom prst="rect">
            <a:avLst/>
          </a:prstGeom>
        </p:spPr>
      </p:pic>
      <p:sp>
        <p:nvSpPr>
          <p:cNvPr id="4" name="Slide Number Placeholder 3">
            <a:extLst>
              <a:ext uri="{FF2B5EF4-FFF2-40B4-BE49-F238E27FC236}">
                <a16:creationId xmlns:a16="http://schemas.microsoft.com/office/drawing/2014/main" id="{BFD4399D-C23A-B715-99FB-699A17C2BA70}"/>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12" name="TextBox 11">
            <a:extLst>
              <a:ext uri="{FF2B5EF4-FFF2-40B4-BE49-F238E27FC236}">
                <a16:creationId xmlns:a16="http://schemas.microsoft.com/office/drawing/2014/main" id="{46AB2555-6F21-5C25-6939-368A51B0A64B}"/>
              </a:ext>
            </a:extLst>
          </p:cNvPr>
          <p:cNvSpPr txBox="1"/>
          <p:nvPr/>
        </p:nvSpPr>
        <p:spPr>
          <a:xfrm>
            <a:off x="161716" y="2071605"/>
            <a:ext cx="2480093" cy="923330"/>
          </a:xfrm>
          <a:prstGeom prst="rect">
            <a:avLst/>
          </a:prstGeom>
          <a:noFill/>
        </p:spPr>
        <p:txBody>
          <a:bodyPr wrap="square">
            <a:spAutoFit/>
          </a:bodyPr>
          <a:lstStyle/>
          <a:p>
            <a:r>
              <a:rPr lang="en-US" dirty="0"/>
              <a:t>If I want to know which states border Arkansas, does projection matter</a:t>
            </a:r>
          </a:p>
        </p:txBody>
      </p:sp>
      <p:sp>
        <p:nvSpPr>
          <p:cNvPr id="13" name="TextBox 12">
            <a:extLst>
              <a:ext uri="{FF2B5EF4-FFF2-40B4-BE49-F238E27FC236}">
                <a16:creationId xmlns:a16="http://schemas.microsoft.com/office/drawing/2014/main" id="{3A693CF6-D605-DEB9-AA75-E79802CD79B0}"/>
              </a:ext>
            </a:extLst>
          </p:cNvPr>
          <p:cNvSpPr txBox="1"/>
          <p:nvPr/>
        </p:nvSpPr>
        <p:spPr>
          <a:xfrm>
            <a:off x="284297" y="1444709"/>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3195746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61657" y="2589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83E4600F-9E38-40FE-9AB2-D17BA8FA9274}"/>
              </a:ext>
            </a:extLst>
          </p:cNvPr>
          <p:cNvSpPr>
            <a:spLocks noGrp="1"/>
          </p:cNvSpPr>
          <p:nvPr>
            <p:ph idx="1"/>
          </p:nvPr>
        </p:nvSpPr>
        <p:spPr>
          <a:xfrm>
            <a:off x="152399" y="1043730"/>
            <a:ext cx="3930633" cy="3504453"/>
          </a:xfrm>
        </p:spPr>
        <p:txBody>
          <a:bodyPr>
            <a:normAutofit fontScale="92500"/>
          </a:bodyPr>
          <a:lstStyle/>
          <a:p>
            <a:pPr>
              <a:buFont typeface="Courier New" panose="02070309020205020404" pitchFamily="49" charset="0"/>
              <a:buChar char="o"/>
            </a:pPr>
            <a:r>
              <a:rPr lang="en-US" sz="2800" dirty="0"/>
              <a:t>Topology</a:t>
            </a:r>
          </a:p>
          <a:p>
            <a:pPr lvl="1">
              <a:buFont typeface="Wingdings" panose="05000000000000000000" pitchFamily="2" charset="2"/>
              <a:buChar char="ü"/>
            </a:pPr>
            <a:r>
              <a:rPr lang="en-US" sz="2300" i="1" dirty="0"/>
              <a:t>Often use codes and tables to record topology</a:t>
            </a:r>
            <a:endParaRPr lang="en-US" sz="2300" dirty="0"/>
          </a:p>
          <a:p>
            <a:pPr lvl="1">
              <a:buFont typeface="Wingdings" panose="05000000000000000000" pitchFamily="2" charset="2"/>
              <a:buChar char="ü"/>
            </a:pPr>
            <a:r>
              <a:rPr lang="en-US" sz="2300" dirty="0"/>
              <a:t>Information on the adjacency (which polygons are next to which), connectivity (which lines connect to which), and other spatial relationships could be stored</a:t>
            </a:r>
          </a:p>
        </p:txBody>
      </p:sp>
      <p:sp>
        <p:nvSpPr>
          <p:cNvPr id="2" name="Slide Number Placeholder 1">
            <a:extLst>
              <a:ext uri="{FF2B5EF4-FFF2-40B4-BE49-F238E27FC236}">
                <a16:creationId xmlns:a16="http://schemas.microsoft.com/office/drawing/2014/main" id="{EF634A91-4C52-438F-929F-85DE0DF86DE2}"/>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4" name="Picture 3" descr="Showing topology">
            <a:extLst>
              <a:ext uri="{FF2B5EF4-FFF2-40B4-BE49-F238E27FC236}">
                <a16:creationId xmlns:a16="http://schemas.microsoft.com/office/drawing/2014/main" id="{F4274337-8575-46BD-B757-BD7E6989A2EA}"/>
              </a:ext>
            </a:extLst>
          </p:cNvPr>
          <p:cNvPicPr>
            <a:picLocks noChangeAspect="1"/>
          </p:cNvPicPr>
          <p:nvPr/>
        </p:nvPicPr>
        <p:blipFill>
          <a:blip r:embed="rId3"/>
          <a:stretch>
            <a:fillRect/>
          </a:stretch>
        </p:blipFill>
        <p:spPr>
          <a:xfrm>
            <a:off x="3868088" y="1335999"/>
            <a:ext cx="4059584" cy="3284609"/>
          </a:xfrm>
          <a:prstGeom prst="rect">
            <a:avLst/>
          </a:prstGeom>
        </p:spPr>
      </p:pic>
      <p:sp>
        <p:nvSpPr>
          <p:cNvPr id="6" name="TextBox 5">
            <a:extLst>
              <a:ext uri="{FF2B5EF4-FFF2-40B4-BE49-F238E27FC236}">
                <a16:creationId xmlns:a16="http://schemas.microsoft.com/office/drawing/2014/main" id="{ABF2BF9F-71B8-4F60-ABB4-19912978B829}"/>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3" name="TextBox 2">
            <a:extLst>
              <a:ext uri="{FF2B5EF4-FFF2-40B4-BE49-F238E27FC236}">
                <a16:creationId xmlns:a16="http://schemas.microsoft.com/office/drawing/2014/main" id="{86049730-1D82-F002-DB87-700F98808EED}"/>
              </a:ext>
            </a:extLst>
          </p:cNvPr>
          <p:cNvSpPr txBox="1"/>
          <p:nvPr/>
        </p:nvSpPr>
        <p:spPr>
          <a:xfrm>
            <a:off x="-78188" y="4585563"/>
            <a:ext cx="4952338" cy="369332"/>
          </a:xfrm>
          <a:prstGeom prst="rect">
            <a:avLst/>
          </a:prstGeom>
          <a:noFill/>
        </p:spPr>
        <p:txBody>
          <a:bodyPr wrap="square" rtlCol="0">
            <a:spAutoFit/>
          </a:bodyPr>
          <a:lstStyle/>
          <a:p>
            <a:r>
              <a:rPr lang="en-US" dirty="0"/>
              <a:t>1. Explain the topological information of Line 53.</a:t>
            </a:r>
          </a:p>
        </p:txBody>
      </p:sp>
      <p:sp>
        <p:nvSpPr>
          <p:cNvPr id="10" name="TextBox 9">
            <a:extLst>
              <a:ext uri="{FF2B5EF4-FFF2-40B4-BE49-F238E27FC236}">
                <a16:creationId xmlns:a16="http://schemas.microsoft.com/office/drawing/2014/main" id="{4664901B-0CB6-9561-DE8D-636D5AEDCB59}"/>
              </a:ext>
            </a:extLst>
          </p:cNvPr>
          <p:cNvSpPr txBox="1"/>
          <p:nvPr/>
        </p:nvSpPr>
        <p:spPr>
          <a:xfrm>
            <a:off x="0" y="4251276"/>
            <a:ext cx="4234068"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425189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Topological iss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812" y="3400476"/>
            <a:ext cx="2486334" cy="1743023"/>
          </a:xfrm>
          <a:prstGeom prst="rect">
            <a:avLst/>
          </a:prstGeom>
        </p:spPr>
      </p:pic>
      <p:sp>
        <p:nvSpPr>
          <p:cNvPr id="3" name="Content Placeholder 2"/>
          <p:cNvSpPr>
            <a:spLocks noGrp="1"/>
          </p:cNvSpPr>
          <p:nvPr>
            <p:ph idx="1"/>
          </p:nvPr>
        </p:nvSpPr>
        <p:spPr>
          <a:xfrm>
            <a:off x="152400" y="1009843"/>
            <a:ext cx="4805499" cy="2612532"/>
          </a:xfrm>
        </p:spPr>
        <p:txBody>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00" dirty="0"/>
              <a:t>Dangles: two line features are supposed to connect, but not</a:t>
            </a:r>
          </a:p>
          <a:p>
            <a:pPr lvl="2">
              <a:buFont typeface="Arial" panose="020B0604020202020204" pitchFamily="34" charset="0"/>
              <a:buChar char="•"/>
            </a:pPr>
            <a:r>
              <a:rPr lang="en-US" sz="1600" dirty="0"/>
              <a:t>Overshoots: one line segment is supposed to end but not</a:t>
            </a:r>
          </a:p>
          <a:p>
            <a:pPr lvl="2">
              <a:buFont typeface="Arial" panose="020B0604020202020204" pitchFamily="34" charset="0"/>
              <a:buChar char="•"/>
            </a:pPr>
            <a:r>
              <a:rPr lang="en-US" sz="1600" dirty="0"/>
              <a:t>undershoots</a:t>
            </a:r>
          </a:p>
          <a:p>
            <a:pPr lvl="1">
              <a:buFont typeface="Wingdings" panose="05000000000000000000" pitchFamily="2" charset="2"/>
              <a:buChar char="ü"/>
            </a:pPr>
            <a:r>
              <a:rPr lang="en-US" sz="1600" dirty="0"/>
              <a:t>Slivers: areas of non-overlap due to digitization error</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4" name="Picture 3" descr="Topological issues"/>
          <p:cNvPicPr>
            <a:picLocks noChangeAspect="1"/>
          </p:cNvPicPr>
          <p:nvPr/>
        </p:nvPicPr>
        <p:blipFill>
          <a:blip r:embed="rId4">
            <a:clrChange>
              <a:clrFrom>
                <a:srgbClr val="FFFFFF"/>
              </a:clrFrom>
              <a:clrTo>
                <a:srgbClr val="FFFFFF">
                  <a:alpha val="0"/>
                </a:srgbClr>
              </a:clrTo>
            </a:clrChange>
          </a:blip>
          <a:stretch>
            <a:fillRect/>
          </a:stretch>
        </p:blipFill>
        <p:spPr>
          <a:xfrm>
            <a:off x="4523173" y="2633199"/>
            <a:ext cx="3183370" cy="1937469"/>
          </a:xfrm>
          <a:prstGeom prst="rect">
            <a:avLst/>
          </a:prstGeom>
        </p:spPr>
      </p:pic>
      <p:pic>
        <p:nvPicPr>
          <p:cNvPr id="5" name="Picture 4" descr="Topological issues"/>
          <p:cNvPicPr>
            <a:picLocks noChangeAspect="1"/>
          </p:cNvPicPr>
          <p:nvPr/>
        </p:nvPicPr>
        <p:blipFill>
          <a:blip r:embed="rId5">
            <a:clrChange>
              <a:clrFrom>
                <a:srgbClr val="FFFFFF"/>
              </a:clrFrom>
              <a:clrTo>
                <a:srgbClr val="FFFFFF">
                  <a:alpha val="0"/>
                </a:srgbClr>
              </a:clrTo>
            </a:clrChange>
          </a:blip>
          <a:stretch>
            <a:fillRect/>
          </a:stretch>
        </p:blipFill>
        <p:spPr>
          <a:xfrm>
            <a:off x="4269145" y="1055625"/>
            <a:ext cx="3373086" cy="2059151"/>
          </a:xfrm>
          <a:prstGeom prst="rect">
            <a:avLst/>
          </a:prstGeom>
        </p:spPr>
      </p:pic>
      <p:sp>
        <p:nvSpPr>
          <p:cNvPr id="7" name="Title 1">
            <a:extLst>
              <a:ext uri="{FF2B5EF4-FFF2-40B4-BE49-F238E27FC236}">
                <a16:creationId xmlns:a16="http://schemas.microsoft.com/office/drawing/2014/main" id="{156996B2-F3FC-4F50-B014-98F8117C2FA7}"/>
              </a:ext>
            </a:extLst>
          </p:cNvPr>
          <p:cNvSpPr txBox="1">
            <a:spLocks/>
          </p:cNvSpPr>
          <p:nvPr/>
        </p:nvSpPr>
        <p:spPr>
          <a:xfrm>
            <a:off x="230545" y="2052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4372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97192"/>
            <a:ext cx="3575933" cy="3691578"/>
          </a:xfrm>
        </p:spPr>
        <p:txBody>
          <a:bodyPr>
            <a:normAutofit/>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40" dirty="0"/>
              <a:t>Between different layers</a:t>
            </a:r>
          </a:p>
          <a:p>
            <a:pPr lvl="1">
              <a:buFont typeface="Wingdings" panose="05000000000000000000" pitchFamily="2" charset="2"/>
              <a:buChar char="ü"/>
            </a:pPr>
            <a:endParaRPr lang="en-US" sz="164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7" name="Title 1">
            <a:extLst>
              <a:ext uri="{FF2B5EF4-FFF2-40B4-BE49-F238E27FC236}">
                <a16:creationId xmlns:a16="http://schemas.microsoft.com/office/drawing/2014/main" id="{156996B2-F3FC-4F50-B014-98F8117C2FA7}"/>
              </a:ext>
            </a:extLst>
          </p:cNvPr>
          <p:cNvSpPr txBox="1">
            <a:spLocks/>
          </p:cNvSpPr>
          <p:nvPr/>
        </p:nvSpPr>
        <p:spPr>
          <a:xfrm>
            <a:off x="245754" y="198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Topological issues">
            <a:extLst>
              <a:ext uri="{FF2B5EF4-FFF2-40B4-BE49-F238E27FC236}">
                <a16:creationId xmlns:a16="http://schemas.microsoft.com/office/drawing/2014/main" id="{35345436-2E13-4CB5-839B-8A47EB96EB9B}"/>
              </a:ext>
            </a:extLst>
          </p:cNvPr>
          <p:cNvPicPr>
            <a:picLocks noChangeAspect="1"/>
          </p:cNvPicPr>
          <p:nvPr/>
        </p:nvPicPr>
        <p:blipFill>
          <a:blip r:embed="rId3"/>
          <a:stretch>
            <a:fillRect/>
          </a:stretch>
        </p:blipFill>
        <p:spPr>
          <a:xfrm>
            <a:off x="3987413" y="1452792"/>
            <a:ext cx="3207471" cy="3153691"/>
          </a:xfrm>
          <a:prstGeom prst="rect">
            <a:avLst/>
          </a:prstGeom>
        </p:spPr>
      </p:pic>
      <p:sp>
        <p:nvSpPr>
          <p:cNvPr id="12" name="TextBox 11">
            <a:extLst>
              <a:ext uri="{FF2B5EF4-FFF2-40B4-BE49-F238E27FC236}">
                <a16:creationId xmlns:a16="http://schemas.microsoft.com/office/drawing/2014/main" id="{8B17CC58-34D0-40B3-B6FF-3EC775A53E6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77455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13949" y="2291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a:bodyPr>
          <a:lstStyle/>
          <a:p>
            <a:pPr>
              <a:buFont typeface="Courier New" panose="02070309020205020404" pitchFamily="49" charset="0"/>
              <a:buChar char="o"/>
            </a:pPr>
            <a:r>
              <a:rPr lang="en-US" sz="2600" dirty="0"/>
              <a:t>Topology</a:t>
            </a:r>
          </a:p>
          <a:p>
            <a:pPr lvl="1">
              <a:buFont typeface="Wingdings" panose="05000000000000000000" pitchFamily="2" charset="2"/>
              <a:buChar char="ü"/>
            </a:pPr>
            <a:r>
              <a:rPr lang="en-US" sz="2300" i="1" dirty="0"/>
              <a:t>Topology and coordinate data are often hidden from the user, but linked to the attribute and geographic features through pointers and index variables.</a:t>
            </a:r>
            <a:endParaRPr lang="en-US" sz="2300" dirty="0"/>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6" name="Picture 5" descr="Topology information">
            <a:extLst>
              <a:ext uri="{FF2B5EF4-FFF2-40B4-BE49-F238E27FC236}">
                <a16:creationId xmlns:a16="http://schemas.microsoft.com/office/drawing/2014/main" id="{066346CA-B457-43E1-A858-A9AAB7AE71CC}"/>
              </a:ext>
            </a:extLst>
          </p:cNvPr>
          <p:cNvPicPr>
            <a:picLocks noChangeAspect="1"/>
          </p:cNvPicPr>
          <p:nvPr/>
        </p:nvPicPr>
        <p:blipFill>
          <a:blip r:embed="rId3"/>
          <a:stretch>
            <a:fillRect/>
          </a:stretch>
        </p:blipFill>
        <p:spPr>
          <a:xfrm>
            <a:off x="3940130" y="1109688"/>
            <a:ext cx="4255603" cy="3208420"/>
          </a:xfrm>
          <a:prstGeom prst="rect">
            <a:avLst/>
          </a:prstGeom>
        </p:spPr>
      </p:pic>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00552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4" y="1042572"/>
            <a:ext cx="7761095" cy="1883505"/>
          </a:xfrm>
        </p:spPr>
        <p:txBody>
          <a:bodyPr>
            <a:normAutofit/>
          </a:bodyPr>
          <a:lstStyle/>
          <a:p>
            <a:pPr marL="0" indent="0">
              <a:buNone/>
            </a:pPr>
            <a:r>
              <a:rPr lang="en-US" sz="3600" dirty="0"/>
              <a:t>Shapefile</a:t>
            </a:r>
          </a:p>
          <a:p>
            <a:pPr lvl="0"/>
            <a:r>
              <a:rPr lang="en-US" sz="1600" dirty="0"/>
              <a:t>A shapefile is a commonly used </a:t>
            </a:r>
            <a:r>
              <a:rPr lang="en-US" sz="1600" b="1" dirty="0"/>
              <a:t>vector data format</a:t>
            </a:r>
            <a:r>
              <a:rPr lang="en-US" sz="1600" dirty="0"/>
              <a:t> in GIS. </a:t>
            </a:r>
          </a:p>
          <a:p>
            <a:pPr lvl="0"/>
            <a:r>
              <a:rPr lang="en-US" sz="1600" dirty="0"/>
              <a:t>It can represent </a:t>
            </a:r>
            <a:r>
              <a:rPr lang="en-US" sz="1600" b="1" dirty="0"/>
              <a:t>points, lines, and polygons</a:t>
            </a:r>
            <a:r>
              <a:rPr lang="en-US" sz="1600" dirty="0"/>
              <a:t>, together with their attribute information. </a:t>
            </a:r>
          </a:p>
          <a:p>
            <a:pPr lvl="0"/>
            <a:r>
              <a:rPr lang="en-US" sz="1600" dirty="0"/>
              <a:t>One shapefile dataset consists of </a:t>
            </a:r>
            <a:r>
              <a:rPr lang="en-US" sz="1600" b="1" dirty="0"/>
              <a:t>multiple related files</a:t>
            </a:r>
            <a:r>
              <a:rPr lang="en-US" sz="1600" dirty="0"/>
              <a:t>, not just a single .</a:t>
            </a:r>
            <a:r>
              <a:rPr lang="en-US" sz="1600" dirty="0" err="1"/>
              <a:t>shp</a:t>
            </a:r>
            <a:r>
              <a:rPr lang="en-US" sz="1600" dirty="0"/>
              <a:t> file.</a:t>
            </a:r>
          </a:p>
          <a:p>
            <a:pPr marL="0" indent="0">
              <a:buNone/>
            </a:pPr>
            <a:endParaRPr lang="en-US" dirty="0"/>
          </a:p>
        </p:txBody>
      </p:sp>
      <p:sp>
        <p:nvSpPr>
          <p:cNvPr id="2" name="Slide Number Placeholder 1">
            <a:extLst>
              <a:ext uri="{FF2B5EF4-FFF2-40B4-BE49-F238E27FC236}">
                <a16:creationId xmlns:a16="http://schemas.microsoft.com/office/drawing/2014/main" id="{3256DB5A-BCE4-44EC-92DE-AE510B105612}"/>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5" name="Title 1">
            <a:extLst>
              <a:ext uri="{FF2B5EF4-FFF2-40B4-BE49-F238E27FC236}">
                <a16:creationId xmlns:a16="http://schemas.microsoft.com/office/drawing/2014/main" id="{11548964-AFC5-470A-8598-008C7497388C}"/>
              </a:ext>
            </a:extLst>
          </p:cNvPr>
          <p:cNvSpPr txBox="1">
            <a:spLocks/>
          </p:cNvSpPr>
          <p:nvPr/>
        </p:nvSpPr>
        <p:spPr>
          <a:xfrm>
            <a:off x="253705" y="185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4B16F464-2410-47BD-B6CD-F51BFB98CC0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7CF47EBF-A055-AA46-4CAA-5868DDB58FB3}"/>
              </a:ext>
            </a:extLst>
          </p:cNvPr>
          <p:cNvPicPr>
            <a:picLocks noChangeAspect="1"/>
          </p:cNvPicPr>
          <p:nvPr/>
        </p:nvPicPr>
        <p:blipFill>
          <a:blip r:embed="rId3"/>
          <a:stretch>
            <a:fillRect/>
          </a:stretch>
        </p:blipFill>
        <p:spPr>
          <a:xfrm>
            <a:off x="4114800" y="2777494"/>
            <a:ext cx="1657143" cy="2314286"/>
          </a:xfrm>
          <a:prstGeom prst="rect">
            <a:avLst/>
          </a:prstGeom>
        </p:spPr>
      </p:pic>
      <p:pic>
        <p:nvPicPr>
          <p:cNvPr id="9" name="Picture 8">
            <a:extLst>
              <a:ext uri="{FF2B5EF4-FFF2-40B4-BE49-F238E27FC236}">
                <a16:creationId xmlns:a16="http://schemas.microsoft.com/office/drawing/2014/main" id="{8E31AE65-58DC-8C51-5602-CF611F694E65}"/>
              </a:ext>
            </a:extLst>
          </p:cNvPr>
          <p:cNvPicPr>
            <a:picLocks noChangeAspect="1"/>
          </p:cNvPicPr>
          <p:nvPr/>
        </p:nvPicPr>
        <p:blipFill>
          <a:blip r:embed="rId4"/>
          <a:stretch>
            <a:fillRect/>
          </a:stretch>
        </p:blipFill>
        <p:spPr>
          <a:xfrm>
            <a:off x="564543" y="2943400"/>
            <a:ext cx="3188473" cy="1908978"/>
          </a:xfrm>
          <a:prstGeom prst="rect">
            <a:avLst/>
          </a:prstGeom>
        </p:spPr>
      </p:pic>
      <p:pic>
        <p:nvPicPr>
          <p:cNvPr id="12" name="Picture 11">
            <a:extLst>
              <a:ext uri="{FF2B5EF4-FFF2-40B4-BE49-F238E27FC236}">
                <a16:creationId xmlns:a16="http://schemas.microsoft.com/office/drawing/2014/main" id="{5E64B183-02CF-F458-ABAC-D6A4C93A0B84}"/>
              </a:ext>
            </a:extLst>
          </p:cNvPr>
          <p:cNvPicPr>
            <a:picLocks noChangeAspect="1"/>
          </p:cNvPicPr>
          <p:nvPr/>
        </p:nvPicPr>
        <p:blipFill>
          <a:blip r:embed="rId5"/>
          <a:stretch>
            <a:fillRect/>
          </a:stretch>
        </p:blipFill>
        <p:spPr>
          <a:xfrm>
            <a:off x="5865057" y="2835527"/>
            <a:ext cx="1800000" cy="2266667"/>
          </a:xfrm>
          <a:prstGeom prst="rect">
            <a:avLst/>
          </a:prstGeom>
        </p:spPr>
      </p:pic>
    </p:spTree>
    <p:extLst>
      <p:ext uri="{BB962C8B-B14F-4D97-AF65-F5344CB8AC3E}">
        <p14:creationId xmlns:p14="http://schemas.microsoft.com/office/powerpoint/2010/main" val="11501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3905-7A8C-D0EC-F6BC-3EF6443252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F1D62-5236-6AA2-33B4-3D161F6877AB}"/>
              </a:ext>
            </a:extLst>
          </p:cNvPr>
          <p:cNvSpPr>
            <a:spLocks noGrp="1"/>
          </p:cNvSpPr>
          <p:nvPr>
            <p:ph idx="1"/>
          </p:nvPr>
        </p:nvSpPr>
        <p:spPr>
          <a:xfrm>
            <a:off x="152400" y="1114133"/>
            <a:ext cx="3815301" cy="1120182"/>
          </a:xfrm>
        </p:spPr>
        <p:txBody>
          <a:bodyPr>
            <a:noAutofit/>
          </a:bodyPr>
          <a:lstStyle/>
          <a:p>
            <a:pPr marL="0" indent="0">
              <a:buNone/>
            </a:pPr>
            <a:r>
              <a:rPr lang="en-US" sz="1600" u="sng" dirty="0">
                <a:latin typeface="Times New Roman" panose="02020603050405020304" pitchFamily="18" charset="0"/>
                <a:cs typeface="Times New Roman" panose="02020603050405020304" pitchFamily="18" charset="0"/>
              </a:rPr>
              <a:t>Components (</a:t>
            </a:r>
            <a:r>
              <a:rPr lang="en-US" sz="1600" u="sng" dirty="0">
                <a:solidFill>
                  <a:srgbClr val="FF0000"/>
                </a:solidFill>
                <a:latin typeface="Times New Roman" panose="02020603050405020304" pitchFamily="18" charset="0"/>
                <a:cs typeface="Times New Roman" panose="02020603050405020304" pitchFamily="18" charset="0"/>
              </a:rPr>
              <a:t>Three mandatory files</a:t>
            </a:r>
            <a:r>
              <a:rPr lang="en-US" sz="1600" u="sng" dirty="0">
                <a:latin typeface="Times New Roman" panose="02020603050405020304" pitchFamily="18" charset="0"/>
                <a:cs typeface="Times New Roman" panose="02020603050405020304" pitchFamily="18" charset="0"/>
              </a:rPr>
              <a:t>)</a:t>
            </a:r>
          </a:p>
          <a:p>
            <a:pPr marL="0" indent="0">
              <a:buNone/>
            </a:pPr>
            <a:r>
              <a:rPr lang="en-US" sz="1600" b="1" dirty="0">
                <a:solidFill>
                  <a:srgbClr val="FF0000"/>
                </a:solidFill>
                <a:latin typeface="Times New Roman" panose="02020603050405020304" pitchFamily="18" charset="0"/>
                <a:cs typeface="Times New Roman" panose="02020603050405020304" pitchFamily="18" charset="0"/>
              </a:rPr>
              <a:t>.</a:t>
            </a:r>
            <a:r>
              <a:rPr lang="en-US" sz="1600" b="1" dirty="0" err="1">
                <a:solidFill>
                  <a:srgbClr val="FF0000"/>
                </a:solidFill>
                <a:latin typeface="Times New Roman" panose="02020603050405020304" pitchFamily="18" charset="0"/>
                <a:cs typeface="Times New Roman" panose="02020603050405020304" pitchFamily="18" charset="0"/>
              </a:rPr>
              <a:t>shp</a:t>
            </a:r>
            <a:r>
              <a:rPr lang="en-US" sz="1600" b="1" dirty="0">
                <a:solidFill>
                  <a:srgbClr val="FF000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geometry data</a:t>
            </a:r>
          </a:p>
          <a:p>
            <a:pPr>
              <a:buFont typeface="Wingdings" panose="05000000000000000000" pitchFamily="2" charset="2"/>
              <a:buChar char="ü"/>
            </a:pPr>
            <a:r>
              <a:rPr lang="zh-CN" altLang="zh-CN" sz="1600" dirty="0">
                <a:latin typeface="Times New Roman" panose="02020603050405020304" pitchFamily="18" charset="0"/>
                <a:cs typeface="Times New Roman" panose="02020603050405020304" pitchFamily="18" charset="0"/>
              </a:rPr>
              <a:t>Stores the shapes and coordinates of the geographic features, such as polygons.</a:t>
            </a:r>
            <a:endParaRPr lang="en-US" altLang="zh-CN" sz="1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EDEB4A3-3972-1ED7-A89E-53C53C9DED37}"/>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5" name="Title 1">
            <a:extLst>
              <a:ext uri="{FF2B5EF4-FFF2-40B4-BE49-F238E27FC236}">
                <a16:creationId xmlns:a16="http://schemas.microsoft.com/office/drawing/2014/main" id="{CB77B362-64BE-A22B-CFF8-0AA228F56882}"/>
              </a:ext>
            </a:extLst>
          </p:cNvPr>
          <p:cNvSpPr txBox="1">
            <a:spLocks/>
          </p:cNvSpPr>
          <p:nvPr/>
        </p:nvSpPr>
        <p:spPr>
          <a:xfrm>
            <a:off x="309364" y="2568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 - S</a:t>
            </a:r>
            <a:r>
              <a:rPr lang="en-US" altLang="zh-CN" sz="3200" dirty="0">
                <a:solidFill>
                  <a:srgbClr val="7030A0"/>
                </a:solidFill>
              </a:rPr>
              <a:t>hapefile</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E5294F1A-601E-721B-2EDB-1BC108A7673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67FDA302-9FBC-6F7C-C414-1A47BBBBCFB3}"/>
              </a:ext>
            </a:extLst>
          </p:cNvPr>
          <p:cNvPicPr>
            <a:picLocks noChangeAspect="1"/>
          </p:cNvPicPr>
          <p:nvPr/>
        </p:nvPicPr>
        <p:blipFill>
          <a:blip r:embed="rId3"/>
          <a:stretch>
            <a:fillRect/>
          </a:stretch>
        </p:blipFill>
        <p:spPr>
          <a:xfrm>
            <a:off x="878565" y="2421487"/>
            <a:ext cx="1440586" cy="975397"/>
          </a:xfrm>
          <a:prstGeom prst="rect">
            <a:avLst/>
          </a:prstGeom>
        </p:spPr>
      </p:pic>
      <p:pic>
        <p:nvPicPr>
          <p:cNvPr id="9" name="Picture 8">
            <a:extLst>
              <a:ext uri="{FF2B5EF4-FFF2-40B4-BE49-F238E27FC236}">
                <a16:creationId xmlns:a16="http://schemas.microsoft.com/office/drawing/2014/main" id="{99F50142-BBA9-7026-C4CB-4B51D16342E8}"/>
              </a:ext>
            </a:extLst>
          </p:cNvPr>
          <p:cNvPicPr>
            <a:picLocks noChangeAspect="1"/>
          </p:cNvPicPr>
          <p:nvPr/>
        </p:nvPicPr>
        <p:blipFill>
          <a:blip r:embed="rId4"/>
          <a:stretch>
            <a:fillRect/>
          </a:stretch>
        </p:blipFill>
        <p:spPr>
          <a:xfrm>
            <a:off x="5214545" y="2037715"/>
            <a:ext cx="2114286" cy="1295238"/>
          </a:xfrm>
          <a:prstGeom prst="rect">
            <a:avLst/>
          </a:prstGeom>
        </p:spPr>
      </p:pic>
      <p:sp>
        <p:nvSpPr>
          <p:cNvPr id="11" name="TextBox 10">
            <a:extLst>
              <a:ext uri="{FF2B5EF4-FFF2-40B4-BE49-F238E27FC236}">
                <a16:creationId xmlns:a16="http://schemas.microsoft.com/office/drawing/2014/main" id="{27EFB454-CDA6-9C39-7FA7-5EA99A86A2B9}"/>
              </a:ext>
            </a:extLst>
          </p:cNvPr>
          <p:cNvSpPr txBox="1"/>
          <p:nvPr/>
        </p:nvSpPr>
        <p:spPr>
          <a:xfrm>
            <a:off x="4261901" y="1006815"/>
            <a:ext cx="4182386" cy="1077218"/>
          </a:xfrm>
          <a:prstGeom prst="rect">
            <a:avLst/>
          </a:prstGeom>
          <a:noFill/>
        </p:spPr>
        <p:txBody>
          <a:bodyPr wrap="square" rtlCol="0">
            <a:spAutoFit/>
          </a:bodyPr>
          <a:lstStyle/>
          <a:p>
            <a:r>
              <a:rPr lang="en-US" altLang="zh-CN" sz="1600" b="1" dirty="0">
                <a:solidFill>
                  <a:srgbClr val="FF0000"/>
                </a:solidFill>
              </a:rPr>
              <a:t>.</a:t>
            </a:r>
            <a:r>
              <a:rPr lang="en-US" altLang="zh-CN" sz="1600" b="1" dirty="0" err="1">
                <a:solidFill>
                  <a:srgbClr val="FF0000"/>
                </a:solidFill>
              </a:rPr>
              <a:t>dbf</a:t>
            </a:r>
            <a:r>
              <a:rPr lang="en-US" altLang="zh-CN" sz="1600" b="1" dirty="0">
                <a:solidFill>
                  <a:srgbClr val="FF0000"/>
                </a:solidFill>
              </a:rPr>
              <a:t> </a:t>
            </a:r>
            <a:r>
              <a:rPr lang="en-US" altLang="zh-CN" sz="1600" dirty="0"/>
              <a:t>= attribute table/aspatial data</a:t>
            </a:r>
          </a:p>
          <a:p>
            <a:pPr marL="285750" indent="-285750">
              <a:buFont typeface="Wingdings" panose="05000000000000000000" pitchFamily="2" charset="2"/>
              <a:buChar char="ü"/>
            </a:pPr>
            <a:r>
              <a:rPr lang="zh-CN" altLang="zh-CN" sz="1600" dirty="0"/>
              <a:t>Stores the non-spatial, or </a:t>
            </a:r>
            <a:r>
              <a:rPr lang="zh-CN" altLang="zh-CN" sz="1600" b="1" dirty="0"/>
              <a:t>aspatial</a:t>
            </a:r>
            <a:r>
              <a:rPr lang="zh-CN" altLang="zh-CN" sz="1600" dirty="0"/>
              <a:t>, information associated with each feature, such as population</a:t>
            </a:r>
            <a:endParaRPr lang="en-US" altLang="zh-CN" sz="1600" dirty="0"/>
          </a:p>
        </p:txBody>
      </p:sp>
      <p:sp>
        <p:nvSpPr>
          <p:cNvPr id="12" name="TextBox 11">
            <a:extLst>
              <a:ext uri="{FF2B5EF4-FFF2-40B4-BE49-F238E27FC236}">
                <a16:creationId xmlns:a16="http://schemas.microsoft.com/office/drawing/2014/main" id="{7F8A2F7E-43C4-F575-B408-061E33B856F0}"/>
              </a:ext>
            </a:extLst>
          </p:cNvPr>
          <p:cNvSpPr txBox="1"/>
          <p:nvPr/>
        </p:nvSpPr>
        <p:spPr>
          <a:xfrm>
            <a:off x="36443" y="3396884"/>
            <a:ext cx="8156713" cy="830997"/>
          </a:xfrm>
          <a:prstGeom prst="rect">
            <a:avLst/>
          </a:prstGeom>
          <a:noFill/>
        </p:spPr>
        <p:txBody>
          <a:bodyPr wrap="square" rtlCol="0">
            <a:spAutoFit/>
          </a:bodyPr>
          <a:lstStyle/>
          <a:p>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dirty="0" err="1">
                <a:solidFill>
                  <a:srgbClr val="FF0000"/>
                </a:solidFill>
                <a:latin typeface="Times New Roman" panose="02020603050405020304" pitchFamily="18" charset="0"/>
                <a:cs typeface="Times New Roman" panose="02020603050405020304" pitchFamily="18" charset="0"/>
              </a:rPr>
              <a:t>shx</a:t>
            </a:r>
            <a:r>
              <a:rPr lang="en-US" altLang="zh-CN" sz="1600" b="1" dirty="0">
                <a:solidFill>
                  <a:srgbClr val="FF0000"/>
                </a:solidFill>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 index file for geometry (helps with speed)</a:t>
            </a:r>
          </a:p>
          <a:p>
            <a:pPr marL="285750" indent="-285750">
              <a:buFont typeface="Wingdings" panose="05000000000000000000" pitchFamily="2" charset="2"/>
              <a:buChar char="ü"/>
            </a:pPr>
            <a:r>
              <a:rPr lang="zh-CN" altLang="zh-CN" sz="1600" dirty="0">
                <a:latin typeface="Times New Roman" panose="02020603050405020304" pitchFamily="18" charset="0"/>
                <a:cs typeface="Times New Roman" panose="02020603050405020304" pitchFamily="18" charset="0"/>
              </a:rPr>
              <a:t>Stores an index of the features in the .shp file so GIS software can locate and access each geometry more efficiently.</a:t>
            </a:r>
            <a:endParaRPr lang="en-US" altLang="zh-CN" sz="1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3DADD0B-A43E-D798-23F7-2F89C42748AE}"/>
              </a:ext>
            </a:extLst>
          </p:cNvPr>
          <p:cNvPicPr>
            <a:picLocks noChangeAspect="1"/>
          </p:cNvPicPr>
          <p:nvPr/>
        </p:nvPicPr>
        <p:blipFill>
          <a:blip r:embed="rId5"/>
          <a:stretch>
            <a:fillRect/>
          </a:stretch>
        </p:blipFill>
        <p:spPr>
          <a:xfrm>
            <a:off x="4636809" y="3957429"/>
            <a:ext cx="2170704" cy="1106801"/>
          </a:xfrm>
          <a:prstGeom prst="rect">
            <a:avLst/>
          </a:prstGeom>
        </p:spPr>
      </p:pic>
    </p:spTree>
    <p:extLst>
      <p:ext uri="{BB962C8B-B14F-4D97-AF65-F5344CB8AC3E}">
        <p14:creationId xmlns:p14="http://schemas.microsoft.com/office/powerpoint/2010/main" val="10179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09575-A2B9-EA1B-4264-6FDC63785F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81289E-E5A5-5F1D-9F7B-5118F2A4E1F2}"/>
              </a:ext>
            </a:extLst>
          </p:cNvPr>
          <p:cNvSpPr>
            <a:spLocks noGrp="1"/>
          </p:cNvSpPr>
          <p:nvPr>
            <p:ph idx="1"/>
          </p:nvPr>
        </p:nvSpPr>
        <p:spPr>
          <a:xfrm>
            <a:off x="152400" y="1042571"/>
            <a:ext cx="4196963" cy="1529177"/>
          </a:xfrm>
        </p:spPr>
        <p:txBody>
          <a:bodyPr>
            <a:noAutofit/>
          </a:bodyPr>
          <a:lstStyle/>
          <a:p>
            <a:pPr marL="0" indent="0">
              <a:buNone/>
            </a:pPr>
            <a:r>
              <a:rPr lang="en-US" sz="1600" u="sng" dirty="0">
                <a:latin typeface="+mn-ea"/>
                <a:cs typeface="Times New Roman" panose="02020603050405020304" pitchFamily="18" charset="0"/>
              </a:rPr>
              <a:t>Components (</a:t>
            </a:r>
            <a:r>
              <a:rPr lang="en-US" sz="1600" u="sng" dirty="0">
                <a:solidFill>
                  <a:srgbClr val="FF0000"/>
                </a:solidFill>
                <a:latin typeface="+mn-ea"/>
                <a:cs typeface="Times New Roman" panose="02020603050405020304" pitchFamily="18" charset="0"/>
              </a:rPr>
              <a:t>Non - mandatory files</a:t>
            </a:r>
            <a:r>
              <a:rPr lang="en-US" sz="1600" u="sng" dirty="0">
                <a:latin typeface="+mn-ea"/>
                <a:cs typeface="Times New Roman" panose="02020603050405020304" pitchFamily="18" charset="0"/>
              </a:rPr>
              <a:t>)</a:t>
            </a:r>
          </a:p>
          <a:p>
            <a:pPr marL="0" indent="0">
              <a:buNone/>
            </a:pPr>
            <a:r>
              <a:rPr lang="en-US" altLang="zh-CN" sz="1600" b="1" dirty="0">
                <a:solidFill>
                  <a:srgbClr val="E3874F"/>
                </a:solidFill>
                <a:latin typeface="+mn-ea"/>
                <a:cs typeface="Times New Roman" panose="02020603050405020304" pitchFamily="18" charset="0"/>
              </a:rPr>
              <a:t>.</a:t>
            </a:r>
            <a:r>
              <a:rPr lang="en-US" altLang="zh-CN" sz="1600" b="1" dirty="0" err="1">
                <a:solidFill>
                  <a:srgbClr val="E3874F"/>
                </a:solidFill>
                <a:latin typeface="+mn-ea"/>
                <a:cs typeface="Times New Roman" panose="02020603050405020304" pitchFamily="18" charset="0"/>
              </a:rPr>
              <a:t>prj</a:t>
            </a:r>
            <a:r>
              <a:rPr lang="en-US" altLang="zh-CN" sz="1600" b="1" dirty="0">
                <a:solidFill>
                  <a:srgbClr val="E3874F"/>
                </a:solidFill>
                <a:latin typeface="+mn-ea"/>
                <a:cs typeface="Times New Roman" panose="02020603050405020304" pitchFamily="18" charset="0"/>
              </a:rPr>
              <a:t> </a:t>
            </a:r>
            <a:r>
              <a:rPr lang="en-US" altLang="zh-CN" sz="1600" dirty="0">
                <a:latin typeface="+mn-ea"/>
                <a:cs typeface="Times New Roman" panose="02020603050405020304" pitchFamily="18" charset="0"/>
              </a:rPr>
              <a:t>= spatial reference/projection information</a:t>
            </a:r>
          </a:p>
          <a:p>
            <a:pPr>
              <a:buFont typeface="Wingdings" panose="05000000000000000000" pitchFamily="2" charset="2"/>
              <a:buChar char="ü"/>
            </a:pPr>
            <a:r>
              <a:rPr lang="zh-CN" altLang="zh-CN" sz="1600" dirty="0">
                <a:latin typeface="+mn-ea"/>
                <a:cs typeface="Times New Roman" panose="02020603050405020304" pitchFamily="18" charset="0"/>
              </a:rPr>
              <a:t>Stores the coordinate system and projection information</a:t>
            </a:r>
            <a:endParaRPr lang="en-US" altLang="zh-CN" sz="1600" dirty="0">
              <a:latin typeface="+mn-ea"/>
              <a:cs typeface="Times New Roman" panose="02020603050405020304" pitchFamily="18" charset="0"/>
            </a:endParaRPr>
          </a:p>
        </p:txBody>
      </p:sp>
      <p:sp>
        <p:nvSpPr>
          <p:cNvPr id="2" name="Slide Number Placeholder 1">
            <a:extLst>
              <a:ext uri="{FF2B5EF4-FFF2-40B4-BE49-F238E27FC236}">
                <a16:creationId xmlns:a16="http://schemas.microsoft.com/office/drawing/2014/main" id="{3840205E-D8A7-96EF-4E27-464D061BC7D4}"/>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5" name="Title 1">
            <a:extLst>
              <a:ext uri="{FF2B5EF4-FFF2-40B4-BE49-F238E27FC236}">
                <a16:creationId xmlns:a16="http://schemas.microsoft.com/office/drawing/2014/main" id="{8B7FD92A-A04A-3CFE-6931-C398C4CC631D}"/>
              </a:ext>
            </a:extLst>
          </p:cNvPr>
          <p:cNvSpPr txBox="1">
            <a:spLocks/>
          </p:cNvSpPr>
          <p:nvPr/>
        </p:nvSpPr>
        <p:spPr>
          <a:xfrm>
            <a:off x="253705" y="185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 - S</a:t>
            </a:r>
            <a:r>
              <a:rPr lang="en-US" altLang="zh-CN" sz="3200" dirty="0">
                <a:solidFill>
                  <a:srgbClr val="7030A0"/>
                </a:solidFill>
              </a:rPr>
              <a:t>hapefile</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23B5EF69-0BED-F855-BF75-33840820D1E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4EC57D8-25AA-C7F0-08D3-4A73C22193FF}"/>
              </a:ext>
            </a:extLst>
          </p:cNvPr>
          <p:cNvSpPr txBox="1"/>
          <p:nvPr/>
        </p:nvSpPr>
        <p:spPr>
          <a:xfrm>
            <a:off x="152401" y="3679345"/>
            <a:ext cx="3783495" cy="584775"/>
          </a:xfrm>
          <a:prstGeom prst="rect">
            <a:avLst/>
          </a:prstGeom>
          <a:noFill/>
        </p:spPr>
        <p:txBody>
          <a:bodyPr wrap="square" rtlCol="0">
            <a:spAutoFit/>
          </a:bodyPr>
          <a:lstStyle/>
          <a:p>
            <a:r>
              <a:rPr lang="zh-CN" altLang="zh-CN" sz="1600" b="1" dirty="0">
                <a:solidFill>
                  <a:srgbClr val="E3874F"/>
                </a:solidFill>
              </a:rPr>
              <a:t>.cpg </a:t>
            </a:r>
            <a:r>
              <a:rPr lang="zh-CN" altLang="zh-CN" sz="1600" dirty="0"/>
              <a:t>= tells the software how to interpret the text encoding in the .dbf</a:t>
            </a:r>
            <a:endParaRPr lang="en-US" altLang="zh-CN" sz="1600" dirty="0"/>
          </a:p>
        </p:txBody>
      </p:sp>
      <p:sp>
        <p:nvSpPr>
          <p:cNvPr id="8" name="TextBox 7">
            <a:extLst>
              <a:ext uri="{FF2B5EF4-FFF2-40B4-BE49-F238E27FC236}">
                <a16:creationId xmlns:a16="http://schemas.microsoft.com/office/drawing/2014/main" id="{8CA7FBE5-4DE7-11F0-42CB-6B2D65FAD13B}"/>
              </a:ext>
            </a:extLst>
          </p:cNvPr>
          <p:cNvSpPr txBox="1"/>
          <p:nvPr/>
        </p:nvSpPr>
        <p:spPr>
          <a:xfrm>
            <a:off x="4080583" y="988008"/>
            <a:ext cx="4072817" cy="1077218"/>
          </a:xfrm>
          <a:prstGeom prst="rect">
            <a:avLst/>
          </a:prstGeom>
          <a:noFill/>
        </p:spPr>
        <p:txBody>
          <a:bodyPr wrap="square" rtlCol="0">
            <a:spAutoFit/>
          </a:bodyPr>
          <a:lstStyle/>
          <a:p>
            <a:r>
              <a:rPr lang="en-US" altLang="zh-CN" sz="1600" b="1" dirty="0">
                <a:solidFill>
                  <a:srgbClr val="E3874F"/>
                </a:solidFill>
              </a:rPr>
              <a:t>.</a:t>
            </a:r>
            <a:r>
              <a:rPr lang="en-US" altLang="zh-CN" sz="1600" b="1" dirty="0" err="1">
                <a:solidFill>
                  <a:srgbClr val="E3874F"/>
                </a:solidFill>
              </a:rPr>
              <a:t>sbn</a:t>
            </a:r>
            <a:r>
              <a:rPr lang="en-US" altLang="zh-CN" sz="1600" b="1" dirty="0">
                <a:solidFill>
                  <a:srgbClr val="E3874F"/>
                </a:solidFill>
              </a:rPr>
              <a:t> </a:t>
            </a:r>
            <a:r>
              <a:rPr lang="en-US" altLang="zh-CN" sz="1600" dirty="0"/>
              <a:t>and </a:t>
            </a:r>
            <a:r>
              <a:rPr lang="en-US" altLang="zh-CN" sz="1600" b="1" dirty="0">
                <a:solidFill>
                  <a:srgbClr val="E3874F"/>
                </a:solidFill>
              </a:rPr>
              <a:t>.</a:t>
            </a:r>
            <a:r>
              <a:rPr lang="en-US" altLang="zh-CN" sz="1600" b="1" dirty="0" err="1">
                <a:solidFill>
                  <a:srgbClr val="E3874F"/>
                </a:solidFill>
              </a:rPr>
              <a:t>sbx</a:t>
            </a:r>
            <a:r>
              <a:rPr lang="en-US" altLang="zh-CN" sz="1600" b="1" dirty="0">
                <a:solidFill>
                  <a:srgbClr val="E3874F"/>
                </a:solidFill>
              </a:rPr>
              <a:t> </a:t>
            </a:r>
            <a:r>
              <a:rPr lang="en-US" altLang="zh-CN" sz="1600" dirty="0"/>
              <a:t>= index file for the attributes (speed of queries)</a:t>
            </a:r>
          </a:p>
          <a:p>
            <a:pPr marL="285750" indent="-285750">
              <a:buFont typeface="Wingdings" panose="05000000000000000000" pitchFamily="2" charset="2"/>
              <a:buChar char="ü"/>
            </a:pPr>
            <a:r>
              <a:rPr lang="zh-CN" altLang="zh-CN" sz="1600" dirty="0"/>
              <a:t>Help GIS software perform spatial searches and display features more efficiently.</a:t>
            </a:r>
            <a:endParaRPr lang="en-US" altLang="zh-CN" sz="1600" dirty="0"/>
          </a:p>
        </p:txBody>
      </p:sp>
      <p:sp>
        <p:nvSpPr>
          <p:cNvPr id="9" name="TextBox 8">
            <a:extLst>
              <a:ext uri="{FF2B5EF4-FFF2-40B4-BE49-F238E27FC236}">
                <a16:creationId xmlns:a16="http://schemas.microsoft.com/office/drawing/2014/main" id="{F07ED2A1-F66E-2219-9597-B49478F585F3}"/>
              </a:ext>
            </a:extLst>
          </p:cNvPr>
          <p:cNvSpPr txBox="1"/>
          <p:nvPr/>
        </p:nvSpPr>
        <p:spPr>
          <a:xfrm>
            <a:off x="4152900" y="3703105"/>
            <a:ext cx="3514458" cy="1077218"/>
          </a:xfrm>
          <a:prstGeom prst="rect">
            <a:avLst/>
          </a:prstGeom>
          <a:noFill/>
        </p:spPr>
        <p:txBody>
          <a:bodyPr wrap="square" rtlCol="0">
            <a:spAutoFit/>
          </a:bodyPr>
          <a:lstStyle/>
          <a:p>
            <a:r>
              <a:rPr lang="en-US" altLang="zh-CN" sz="1600" b="1" dirty="0">
                <a:solidFill>
                  <a:srgbClr val="E3874F"/>
                </a:solidFill>
              </a:rPr>
              <a:t>.shp.xml </a:t>
            </a:r>
            <a:r>
              <a:rPr lang="en-US" altLang="zh-CN" sz="1600" dirty="0"/>
              <a:t>= metadata</a:t>
            </a:r>
          </a:p>
          <a:p>
            <a:pPr marL="285750" indent="-285750">
              <a:buFont typeface="Wingdings" panose="05000000000000000000" pitchFamily="2" charset="2"/>
              <a:buChar char="ü"/>
            </a:pPr>
            <a:r>
              <a:rPr lang="zh-CN" altLang="zh-CN" sz="1600" dirty="0"/>
              <a:t>Stores information about the dataset, such as its source, creator, date, accuracy, and description.</a:t>
            </a:r>
            <a:endParaRPr lang="en-US" altLang="zh-CN" sz="1600" dirty="0"/>
          </a:p>
        </p:txBody>
      </p:sp>
      <p:pic>
        <p:nvPicPr>
          <p:cNvPr id="11" name="Picture 10">
            <a:extLst>
              <a:ext uri="{FF2B5EF4-FFF2-40B4-BE49-F238E27FC236}">
                <a16:creationId xmlns:a16="http://schemas.microsoft.com/office/drawing/2014/main" id="{31E187C1-0607-B8BB-EB73-5E4D16B6CAA4}"/>
              </a:ext>
            </a:extLst>
          </p:cNvPr>
          <p:cNvPicPr>
            <a:picLocks noChangeAspect="1"/>
          </p:cNvPicPr>
          <p:nvPr/>
        </p:nvPicPr>
        <p:blipFill>
          <a:blip r:embed="rId3"/>
          <a:stretch>
            <a:fillRect/>
          </a:stretch>
        </p:blipFill>
        <p:spPr>
          <a:xfrm>
            <a:off x="1585049" y="2571750"/>
            <a:ext cx="2085714" cy="1095238"/>
          </a:xfrm>
          <a:prstGeom prst="rect">
            <a:avLst/>
          </a:prstGeom>
        </p:spPr>
      </p:pic>
      <p:pic>
        <p:nvPicPr>
          <p:cNvPr id="13" name="Picture 12">
            <a:extLst>
              <a:ext uri="{FF2B5EF4-FFF2-40B4-BE49-F238E27FC236}">
                <a16:creationId xmlns:a16="http://schemas.microsoft.com/office/drawing/2014/main" id="{6987DCDD-A915-EE48-740E-B3DCD3CE5611}"/>
              </a:ext>
            </a:extLst>
          </p:cNvPr>
          <p:cNvPicPr>
            <a:picLocks noChangeAspect="1"/>
          </p:cNvPicPr>
          <p:nvPr/>
        </p:nvPicPr>
        <p:blipFill>
          <a:blip r:embed="rId4"/>
          <a:stretch>
            <a:fillRect/>
          </a:stretch>
        </p:blipFill>
        <p:spPr>
          <a:xfrm>
            <a:off x="1429351" y="4276477"/>
            <a:ext cx="1352381" cy="723810"/>
          </a:xfrm>
          <a:prstGeom prst="rect">
            <a:avLst/>
          </a:prstGeom>
        </p:spPr>
      </p:pic>
      <p:pic>
        <p:nvPicPr>
          <p:cNvPr id="15" name="Picture 14">
            <a:extLst>
              <a:ext uri="{FF2B5EF4-FFF2-40B4-BE49-F238E27FC236}">
                <a16:creationId xmlns:a16="http://schemas.microsoft.com/office/drawing/2014/main" id="{3060AFF9-0C84-FE1C-18B9-D127104A88FE}"/>
              </a:ext>
            </a:extLst>
          </p:cNvPr>
          <p:cNvPicPr>
            <a:picLocks noChangeAspect="1"/>
          </p:cNvPicPr>
          <p:nvPr/>
        </p:nvPicPr>
        <p:blipFill>
          <a:blip r:embed="rId5"/>
          <a:stretch>
            <a:fillRect/>
          </a:stretch>
        </p:blipFill>
        <p:spPr>
          <a:xfrm>
            <a:off x="5041373" y="2135274"/>
            <a:ext cx="1971429" cy="1190476"/>
          </a:xfrm>
          <a:prstGeom prst="rect">
            <a:avLst/>
          </a:prstGeom>
        </p:spPr>
      </p:pic>
    </p:spTree>
    <p:extLst>
      <p:ext uri="{BB962C8B-B14F-4D97-AF65-F5344CB8AC3E}">
        <p14:creationId xmlns:p14="http://schemas.microsoft.com/office/powerpoint/2010/main" val="2281199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27A57-21DE-BF3F-EBA8-4F03723E9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20322-2B1A-5572-619F-8E1D50FBCFAE}"/>
              </a:ext>
            </a:extLst>
          </p:cNvPr>
          <p:cNvSpPr>
            <a:spLocks noGrp="1"/>
          </p:cNvSpPr>
          <p:nvPr>
            <p:ph type="title"/>
          </p:nvPr>
        </p:nvSpPr>
        <p:spPr/>
        <p:txBody>
          <a:bodyPr>
            <a:normAutofit fontScale="90000"/>
          </a:bodyPr>
          <a:lstStyle/>
          <a:p>
            <a:pPr defTabSz="411480"/>
            <a:r>
              <a:rPr lang="en-US" sz="3200" dirty="0">
                <a:solidFill>
                  <a:srgbClr val="7030A0"/>
                </a:solidFill>
              </a:rPr>
              <a:t>Class Activity: Exploring </a:t>
            </a:r>
            <a:r>
              <a:rPr lang="en-US" sz="3200" dirty="0" err="1">
                <a:solidFill>
                  <a:srgbClr val="7030A0"/>
                </a:solidFill>
              </a:rPr>
              <a:t>Arcgis</a:t>
            </a:r>
            <a:r>
              <a:rPr lang="en-US" sz="3200" dirty="0">
                <a:solidFill>
                  <a:srgbClr val="7030A0"/>
                </a:solidFill>
              </a:rPr>
              <a:t> Pro project</a:t>
            </a:r>
          </a:p>
        </p:txBody>
      </p:sp>
      <p:sp>
        <p:nvSpPr>
          <p:cNvPr id="3" name="Content Placeholder 2">
            <a:extLst>
              <a:ext uri="{FF2B5EF4-FFF2-40B4-BE49-F238E27FC236}">
                <a16:creationId xmlns:a16="http://schemas.microsoft.com/office/drawing/2014/main" id="{A3BB9EC7-35C7-F70E-BFBB-9F8BB153E471}"/>
              </a:ext>
            </a:extLst>
          </p:cNvPr>
          <p:cNvSpPr>
            <a:spLocks noGrp="1"/>
          </p:cNvSpPr>
          <p:nvPr>
            <p:ph idx="1"/>
          </p:nvPr>
        </p:nvSpPr>
        <p:spPr>
          <a:xfrm>
            <a:off x="392305" y="1424518"/>
            <a:ext cx="7444990" cy="3667262"/>
          </a:xfrm>
        </p:spPr>
        <p:txBody>
          <a:bodyPr>
            <a:normAutofit lnSpcReduction="10000"/>
          </a:bodyPr>
          <a:lstStyle/>
          <a:p>
            <a:pPr lvl="0"/>
            <a:r>
              <a:rPr lang="zh-CN" altLang="zh-CN" sz="2000" dirty="0"/>
              <a:t>Create a new project in ArcGIS Pro. </a:t>
            </a:r>
          </a:p>
          <a:p>
            <a:pPr lvl="0"/>
            <a:r>
              <a:rPr lang="zh-CN" altLang="zh-CN" sz="2000" dirty="0"/>
              <a:t>Open the project location in File Explorer. </a:t>
            </a:r>
          </a:p>
          <a:p>
            <a:pPr lvl="0"/>
            <a:r>
              <a:rPr lang="zh-CN" altLang="zh-CN" sz="2000" dirty="0"/>
              <a:t>Identify the new local folder and its contents.</a:t>
            </a:r>
          </a:p>
          <a:p>
            <a:r>
              <a:rPr lang="en-US" sz="2000" b="1" dirty="0"/>
              <a:t>Reminder:</a:t>
            </a:r>
            <a:endParaRPr lang="en-US" sz="2000" dirty="0"/>
          </a:p>
          <a:p>
            <a:pPr lvl="1"/>
            <a:r>
              <a:rPr lang="zh-CN" altLang="zh-CN" sz="1400" dirty="0"/>
              <a:t>When you create a new project in ArcGIS Pro, a new local project folder is also created on your computer. </a:t>
            </a:r>
          </a:p>
          <a:p>
            <a:pPr lvl="1"/>
            <a:r>
              <a:rPr lang="zh-CN" altLang="zh-CN" sz="1400" dirty="0"/>
              <a:t>This folder usually contains: </a:t>
            </a:r>
          </a:p>
          <a:p>
            <a:pPr lvl="2"/>
            <a:r>
              <a:rPr lang="zh-CN" altLang="zh-CN" sz="1400" dirty="0"/>
              <a:t>the </a:t>
            </a:r>
            <a:r>
              <a:rPr lang="zh-CN" altLang="zh-CN" sz="1400" b="1" dirty="0"/>
              <a:t>.aprx project file</a:t>
            </a:r>
            <a:r>
              <a:rPr lang="zh-CN" altLang="zh-CN" sz="1400" dirty="0"/>
              <a:t> </a:t>
            </a:r>
          </a:p>
          <a:p>
            <a:pPr lvl="2"/>
            <a:r>
              <a:rPr lang="zh-CN" altLang="zh-CN" sz="1400" dirty="0"/>
              <a:t>the </a:t>
            </a:r>
            <a:r>
              <a:rPr lang="zh-CN" altLang="zh-CN" sz="1400" b="1" dirty="0"/>
              <a:t>default geodatabase</a:t>
            </a:r>
            <a:r>
              <a:rPr lang="zh-CN" altLang="zh-CN" sz="1400" dirty="0"/>
              <a:t> </a:t>
            </a:r>
          </a:p>
          <a:p>
            <a:pPr lvl="2"/>
            <a:r>
              <a:rPr lang="zh-CN" altLang="zh-CN" sz="1400" dirty="0"/>
              <a:t>the </a:t>
            </a:r>
            <a:r>
              <a:rPr lang="zh-CN" altLang="zh-CN" sz="1400" b="1" dirty="0"/>
              <a:t>default toolbox</a:t>
            </a:r>
            <a:r>
              <a:rPr lang="zh-CN" altLang="zh-CN" sz="1400" dirty="0"/>
              <a:t> </a:t>
            </a:r>
          </a:p>
          <a:p>
            <a:pPr lvl="1"/>
            <a:r>
              <a:rPr lang="zh-CN" altLang="zh-CN" sz="1400" dirty="0"/>
              <a:t>Keeping the project folder organized helps you manage GIS data more efficiently.</a:t>
            </a:r>
          </a:p>
        </p:txBody>
      </p:sp>
      <p:sp>
        <p:nvSpPr>
          <p:cNvPr id="4" name="Slide Number Placeholder 3">
            <a:extLst>
              <a:ext uri="{FF2B5EF4-FFF2-40B4-BE49-F238E27FC236}">
                <a16:creationId xmlns:a16="http://schemas.microsoft.com/office/drawing/2014/main" id="{33CCDCB7-CC1E-FA63-1233-BE4F83F1C5B3}"/>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1352351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EF9-0C69-CEC6-50F5-31C8C5ABA9CD}"/>
              </a:ext>
            </a:extLst>
          </p:cNvPr>
          <p:cNvSpPr>
            <a:spLocks noGrp="1"/>
          </p:cNvSpPr>
          <p:nvPr>
            <p:ph type="title"/>
          </p:nvPr>
        </p:nvSpPr>
        <p:spPr/>
        <p:txBody>
          <a:bodyPr>
            <a:normAutofit fontScale="90000"/>
          </a:bodyPr>
          <a:lstStyle/>
          <a:p>
            <a:pPr defTabSz="411480"/>
            <a:r>
              <a:rPr lang="en-US" sz="3200" dirty="0">
                <a:solidFill>
                  <a:srgbClr val="7030A0"/>
                </a:solidFill>
              </a:rPr>
              <a:t>Class Activity: Exploring Shapefile Components</a:t>
            </a:r>
          </a:p>
        </p:txBody>
      </p:sp>
      <p:sp>
        <p:nvSpPr>
          <p:cNvPr id="3" name="Content Placeholder 2">
            <a:extLst>
              <a:ext uri="{FF2B5EF4-FFF2-40B4-BE49-F238E27FC236}">
                <a16:creationId xmlns:a16="http://schemas.microsoft.com/office/drawing/2014/main" id="{0EDCBCB8-63FB-EE58-B17D-0ED4DF37D0C3}"/>
              </a:ext>
            </a:extLst>
          </p:cNvPr>
          <p:cNvSpPr>
            <a:spLocks noGrp="1"/>
          </p:cNvSpPr>
          <p:nvPr>
            <p:ph idx="1"/>
          </p:nvPr>
        </p:nvSpPr>
        <p:spPr>
          <a:xfrm>
            <a:off x="392305" y="1424518"/>
            <a:ext cx="7444990" cy="2725865"/>
          </a:xfrm>
        </p:spPr>
        <p:txBody>
          <a:bodyPr>
            <a:normAutofit/>
          </a:bodyPr>
          <a:lstStyle/>
          <a:p>
            <a:r>
              <a:rPr lang="en-US" sz="2000" dirty="0"/>
              <a:t>Open W</a:t>
            </a:r>
            <a:r>
              <a:rPr lang="en-US" altLang="zh-CN" sz="2000" dirty="0"/>
              <a:t>eek04_Lecture_Data .</a:t>
            </a:r>
            <a:r>
              <a:rPr lang="en-US" altLang="zh-CN" sz="2000" dirty="0" err="1"/>
              <a:t>aprx</a:t>
            </a:r>
            <a:r>
              <a:rPr lang="en-US" sz="2000" dirty="0"/>
              <a:t>.</a:t>
            </a:r>
          </a:p>
          <a:p>
            <a:r>
              <a:rPr lang="en-US" sz="2000" dirty="0"/>
              <a:t>Identify the components </a:t>
            </a:r>
          </a:p>
          <a:p>
            <a:r>
              <a:rPr lang="en-US" sz="2000" b="1" dirty="0"/>
              <a:t>Reminder:</a:t>
            </a:r>
            <a:endParaRPr lang="en-US" sz="2000" dirty="0"/>
          </a:p>
          <a:p>
            <a:pPr lvl="1"/>
            <a:r>
              <a:rPr lang="en-US" sz="2000" dirty="0"/>
              <a:t>A shapefile is </a:t>
            </a:r>
            <a:r>
              <a:rPr lang="en-US" sz="2000" b="1" dirty="0"/>
              <a:t>not just one file</a:t>
            </a:r>
            <a:r>
              <a:rPr lang="en-US" sz="2000" dirty="0"/>
              <a:t>.</a:t>
            </a:r>
          </a:p>
          <a:p>
            <a:pPr lvl="1"/>
            <a:r>
              <a:rPr lang="en-US" sz="2000" dirty="0"/>
              <a:t>If you want to share data, you must </a:t>
            </a:r>
            <a:r>
              <a:rPr lang="en-US" sz="2000" b="1" dirty="0"/>
              <a:t>copy ALL shapefile components</a:t>
            </a:r>
            <a:r>
              <a:rPr lang="en-US" sz="2000" dirty="0"/>
              <a:t> together, not just the .</a:t>
            </a:r>
            <a:r>
              <a:rPr lang="en-US" sz="2000" dirty="0" err="1"/>
              <a:t>shp</a:t>
            </a:r>
            <a:r>
              <a:rPr lang="en-US" sz="2000" dirty="0"/>
              <a:t> file.</a:t>
            </a:r>
          </a:p>
        </p:txBody>
      </p:sp>
      <p:sp>
        <p:nvSpPr>
          <p:cNvPr id="4" name="Slide Number Placeholder 3">
            <a:extLst>
              <a:ext uri="{FF2B5EF4-FFF2-40B4-BE49-F238E27FC236}">
                <a16:creationId xmlns:a16="http://schemas.microsoft.com/office/drawing/2014/main" id="{47D91E8F-AA5E-6B4B-DD2B-3E9AA9292885}"/>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2032737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DB11-4D0F-7DE9-4C50-6A5500EF0BC2}"/>
              </a:ext>
            </a:extLst>
          </p:cNvPr>
          <p:cNvSpPr>
            <a:spLocks noGrp="1"/>
          </p:cNvSpPr>
          <p:nvPr>
            <p:ph type="title"/>
          </p:nvPr>
        </p:nvSpPr>
        <p:spPr/>
        <p:txBody>
          <a:bodyPr>
            <a:normAutofit fontScale="90000"/>
          </a:bodyPr>
          <a:lstStyle/>
          <a:p>
            <a:pPr defTabSz="411480"/>
            <a:r>
              <a:rPr lang="en-US" sz="2900" dirty="0">
                <a:solidFill>
                  <a:srgbClr val="7030A0"/>
                </a:solidFill>
              </a:rPr>
              <a:t>Quick Way to Check Attributes in a Shapefile (.</a:t>
            </a:r>
            <a:r>
              <a:rPr lang="en-US" sz="2900" dirty="0" err="1">
                <a:solidFill>
                  <a:srgbClr val="7030A0"/>
                </a:solidFill>
              </a:rPr>
              <a:t>dbf</a:t>
            </a:r>
            <a:r>
              <a:rPr lang="en-US" sz="2900" dirty="0">
                <a:solidFill>
                  <a:srgbClr val="7030A0"/>
                </a:solidFill>
              </a:rPr>
              <a:t> file)</a:t>
            </a:r>
          </a:p>
        </p:txBody>
      </p:sp>
      <p:sp>
        <p:nvSpPr>
          <p:cNvPr id="3" name="Content Placeholder 2">
            <a:extLst>
              <a:ext uri="{FF2B5EF4-FFF2-40B4-BE49-F238E27FC236}">
                <a16:creationId xmlns:a16="http://schemas.microsoft.com/office/drawing/2014/main" id="{1F6F83A2-AB42-A6BF-AF3A-620F30E70E4C}"/>
              </a:ext>
            </a:extLst>
          </p:cNvPr>
          <p:cNvSpPr>
            <a:spLocks noGrp="1"/>
          </p:cNvSpPr>
          <p:nvPr>
            <p:ph idx="1"/>
          </p:nvPr>
        </p:nvSpPr>
        <p:spPr>
          <a:xfrm>
            <a:off x="392305" y="1508998"/>
            <a:ext cx="7444990" cy="3445860"/>
          </a:xfrm>
        </p:spPr>
        <p:txBody>
          <a:bodyPr>
            <a:noAutofit/>
          </a:bodyPr>
          <a:lstStyle/>
          <a:p>
            <a:r>
              <a:rPr lang="en-US" sz="1600" b="1" dirty="0"/>
              <a:t>Locate the .</a:t>
            </a:r>
            <a:r>
              <a:rPr lang="en-US" sz="1600" b="1" dirty="0" err="1"/>
              <a:t>dbf</a:t>
            </a:r>
            <a:r>
              <a:rPr lang="en-US" sz="1600" b="1" dirty="0"/>
              <a:t> file</a:t>
            </a:r>
            <a:r>
              <a:rPr lang="en-US" sz="1600" dirty="0"/>
              <a:t> in the local computer (e.g., </a:t>
            </a:r>
            <a:r>
              <a:rPr lang="en-US" sz="1600" dirty="0" err="1"/>
              <a:t>Historical_features.dbf</a:t>
            </a:r>
            <a:r>
              <a:rPr lang="en-US" sz="1600" dirty="0"/>
              <a:t>).</a:t>
            </a:r>
          </a:p>
          <a:p>
            <a:r>
              <a:rPr lang="en-US" sz="1600" b="1" dirty="0"/>
              <a:t>Open Excel</a:t>
            </a:r>
            <a:r>
              <a:rPr lang="en-US" sz="1600" dirty="0"/>
              <a:t>, go to </a:t>
            </a:r>
            <a:r>
              <a:rPr lang="en-US" sz="1600" b="1" dirty="0"/>
              <a:t>File → Open → Browse</a:t>
            </a:r>
            <a:r>
              <a:rPr lang="en-US" sz="1600" dirty="0"/>
              <a:t>, then select the .</a:t>
            </a:r>
            <a:r>
              <a:rPr lang="en-US" sz="1600" dirty="0" err="1"/>
              <a:t>dbf</a:t>
            </a:r>
            <a:r>
              <a:rPr lang="en-US" sz="1600" dirty="0"/>
              <a:t> file.</a:t>
            </a:r>
          </a:p>
          <a:p>
            <a:r>
              <a:rPr lang="en-US" sz="1600" dirty="0"/>
              <a:t>The attribute table will appear as a spreadsheet:</a:t>
            </a:r>
          </a:p>
          <a:p>
            <a:pPr lvl="1"/>
            <a:r>
              <a:rPr lang="en-US" sz="1600" dirty="0"/>
              <a:t>Each </a:t>
            </a:r>
            <a:r>
              <a:rPr lang="en-US" sz="1600" b="1" dirty="0"/>
              <a:t>row = one feature</a:t>
            </a:r>
            <a:endParaRPr lang="en-US" sz="1600" dirty="0"/>
          </a:p>
          <a:p>
            <a:pPr lvl="1"/>
            <a:r>
              <a:rPr lang="en-US" sz="1600" dirty="0"/>
              <a:t>Each </a:t>
            </a:r>
            <a:r>
              <a:rPr lang="en-US" sz="1600" b="1" dirty="0"/>
              <a:t>column (field) = one type of data</a:t>
            </a:r>
            <a:r>
              <a:rPr lang="en-US" sz="1600" dirty="0"/>
              <a:t> (ID, name, area, etc.).</a:t>
            </a:r>
          </a:p>
          <a:p>
            <a:r>
              <a:rPr lang="en-US" sz="1600" dirty="0"/>
              <a:t>You can now quickly check the attribute values without opening GIS software.</a:t>
            </a:r>
            <a:br>
              <a:rPr lang="en-US" sz="1600" dirty="0"/>
            </a:br>
            <a:endParaRPr lang="en-US" sz="1600" dirty="0"/>
          </a:p>
          <a:p>
            <a:r>
              <a:rPr lang="en-US" sz="1600" dirty="0"/>
              <a:t>⚠️ </a:t>
            </a:r>
          </a:p>
          <a:p>
            <a:pPr lvl="1"/>
            <a:r>
              <a:rPr lang="en-US" sz="1600" dirty="0"/>
              <a:t>Do </a:t>
            </a:r>
            <a:r>
              <a:rPr lang="en-US" sz="1600" b="1" dirty="0"/>
              <a:t>not edit and save</a:t>
            </a:r>
            <a:r>
              <a:rPr lang="en-US" sz="1600" dirty="0"/>
              <a:t> the .</a:t>
            </a:r>
            <a:r>
              <a:rPr lang="en-US" sz="1600" dirty="0" err="1"/>
              <a:t>dbf</a:t>
            </a:r>
            <a:r>
              <a:rPr lang="en-US" sz="1600" dirty="0"/>
              <a:t> in Excel (it can corrupt the shapefile).</a:t>
            </a:r>
          </a:p>
          <a:p>
            <a:pPr lvl="1"/>
            <a:r>
              <a:rPr lang="en-US" sz="1600" dirty="0"/>
              <a:t>Only use it for a </a:t>
            </a:r>
            <a:r>
              <a:rPr lang="en-US" sz="1600" b="1" dirty="0"/>
              <a:t>quick look</a:t>
            </a:r>
            <a:r>
              <a:rPr lang="en-US" sz="1600" dirty="0"/>
              <a:t> at the data.</a:t>
            </a:r>
          </a:p>
        </p:txBody>
      </p:sp>
      <p:sp>
        <p:nvSpPr>
          <p:cNvPr id="4" name="Slide Number Placeholder 3">
            <a:extLst>
              <a:ext uri="{FF2B5EF4-FFF2-40B4-BE49-F238E27FC236}">
                <a16:creationId xmlns:a16="http://schemas.microsoft.com/office/drawing/2014/main" id="{4622E4DC-F453-864D-F476-D95735BBFE10}"/>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1231362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4" y="1025859"/>
            <a:ext cx="4260961" cy="3993739"/>
          </a:xfrm>
        </p:spPr>
        <p:txBody>
          <a:bodyPr>
            <a:noAutofit/>
          </a:bodyPr>
          <a:lstStyle/>
          <a:p>
            <a:pPr lvl="1">
              <a:buFont typeface="Courier New" panose="02070309020205020404" pitchFamily="49" charset="0"/>
              <a:buChar char="o"/>
            </a:pPr>
            <a:r>
              <a:rPr lang="en-US" sz="2100" dirty="0"/>
              <a:t>Polygon inclusions and boundary generalization</a:t>
            </a:r>
          </a:p>
          <a:p>
            <a:pPr lvl="2">
              <a:buFont typeface="Wingdings" panose="05000000000000000000" pitchFamily="2" charset="2"/>
              <a:buChar char="ü"/>
            </a:pPr>
            <a:r>
              <a:rPr lang="en-US" sz="2000" dirty="0"/>
              <a:t>Polygon inclusions: areas in a polygon that are different from the rest of the polygon, but still part of it</a:t>
            </a:r>
          </a:p>
          <a:p>
            <a:pPr lvl="2">
              <a:buFont typeface="Wingdings" panose="05000000000000000000" pitchFamily="2" charset="2"/>
              <a:buChar char="ü"/>
            </a:pPr>
            <a:r>
              <a:rPr lang="en-US" sz="2000" dirty="0"/>
              <a:t>Boundary generalization: incomplete representation of boundary locations</a:t>
            </a:r>
          </a:p>
        </p:txBody>
      </p:sp>
      <p:sp>
        <p:nvSpPr>
          <p:cNvPr id="2" name="Slide Number Placeholder 1">
            <a:extLst>
              <a:ext uri="{FF2B5EF4-FFF2-40B4-BE49-F238E27FC236}">
                <a16:creationId xmlns:a16="http://schemas.microsoft.com/office/drawing/2014/main" id="{254A5B20-0DCA-46AE-B5E5-13CD7698E5BC}"/>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7" name="Title 1">
            <a:extLst>
              <a:ext uri="{FF2B5EF4-FFF2-40B4-BE49-F238E27FC236}">
                <a16:creationId xmlns:a16="http://schemas.microsoft.com/office/drawing/2014/main" id="{21467794-C3B7-44D8-9D87-30E6930724DC}"/>
              </a:ext>
            </a:extLst>
          </p:cNvPr>
          <p:cNvSpPr txBox="1">
            <a:spLocks/>
          </p:cNvSpPr>
          <p:nvPr/>
        </p:nvSpPr>
        <p:spPr>
          <a:xfrm>
            <a:off x="256675" y="2284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p>
        </p:txBody>
      </p:sp>
      <p:cxnSp>
        <p:nvCxnSpPr>
          <p:cNvPr id="8" name="Straight Connector 7">
            <a:extLst>
              <a:ext uri="{FF2B5EF4-FFF2-40B4-BE49-F238E27FC236}">
                <a16:creationId xmlns:a16="http://schemas.microsoft.com/office/drawing/2014/main" id="{47D0E21A-3648-4249-B4ED-F54D8A1E10F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Polygon inclusions and boundary generalization problem">
            <a:extLst>
              <a:ext uri="{FF2B5EF4-FFF2-40B4-BE49-F238E27FC236}">
                <a16:creationId xmlns:a16="http://schemas.microsoft.com/office/drawing/2014/main" id="{BF57EF9C-3F1C-44FA-9DAC-F65567FA36A9}"/>
              </a:ext>
            </a:extLst>
          </p:cNvPr>
          <p:cNvPicPr>
            <a:picLocks noChangeAspect="1"/>
          </p:cNvPicPr>
          <p:nvPr/>
        </p:nvPicPr>
        <p:blipFill>
          <a:blip r:embed="rId3"/>
          <a:stretch>
            <a:fillRect/>
          </a:stretch>
        </p:blipFill>
        <p:spPr>
          <a:xfrm>
            <a:off x="4295275" y="1145558"/>
            <a:ext cx="3897428" cy="3454411"/>
          </a:xfrm>
          <a:prstGeom prst="rect">
            <a:avLst/>
          </a:prstGeom>
        </p:spPr>
      </p:pic>
      <p:sp>
        <p:nvSpPr>
          <p:cNvPr id="10" name="TextBox 9">
            <a:extLst>
              <a:ext uri="{FF2B5EF4-FFF2-40B4-BE49-F238E27FC236}">
                <a16:creationId xmlns:a16="http://schemas.microsoft.com/office/drawing/2014/main" id="{2BC15DF4-9871-436F-BFB1-E513E8B8EAF4}"/>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8752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5C22-3776-7FC2-0A25-891FCF9E8D53}"/>
              </a:ext>
            </a:extLst>
          </p:cNvPr>
          <p:cNvSpPr>
            <a:spLocks noGrp="1"/>
          </p:cNvSpPr>
          <p:nvPr>
            <p:ph type="title"/>
          </p:nvPr>
        </p:nvSpPr>
        <p:spPr/>
        <p:txBody>
          <a:bodyPr>
            <a:normAutofit fontScale="90000"/>
          </a:bodyPr>
          <a:lstStyle/>
          <a:p>
            <a:pPr defTabSz="411480"/>
            <a:r>
              <a:rPr lang="en-US" sz="3200" dirty="0">
                <a:solidFill>
                  <a:srgbClr val="7030A0"/>
                </a:solidFill>
              </a:rPr>
              <a:t>Class Activity: Representing Indoor Features in GIS</a:t>
            </a:r>
          </a:p>
        </p:txBody>
      </p:sp>
      <p:sp>
        <p:nvSpPr>
          <p:cNvPr id="3" name="Content Placeholder 2">
            <a:extLst>
              <a:ext uri="{FF2B5EF4-FFF2-40B4-BE49-F238E27FC236}">
                <a16:creationId xmlns:a16="http://schemas.microsoft.com/office/drawing/2014/main" id="{248ADAD6-FF4C-A361-9243-AE292D0E5B8A}"/>
              </a:ext>
            </a:extLst>
          </p:cNvPr>
          <p:cNvSpPr>
            <a:spLocks noGrp="1"/>
          </p:cNvSpPr>
          <p:nvPr>
            <p:ph idx="1"/>
          </p:nvPr>
        </p:nvSpPr>
        <p:spPr>
          <a:xfrm>
            <a:off x="392307" y="1555079"/>
            <a:ext cx="7444990" cy="2921505"/>
          </a:xfrm>
        </p:spPr>
        <p:txBody>
          <a:bodyPr>
            <a:noAutofit/>
          </a:bodyPr>
          <a:lstStyle/>
          <a:p>
            <a:r>
              <a:rPr lang="en-US" sz="2400" dirty="0"/>
              <a:t>Each group discusses which </a:t>
            </a:r>
            <a:r>
              <a:rPr lang="en-US" sz="2400" b="1" dirty="0"/>
              <a:t>indoor features</a:t>
            </a:r>
            <a:r>
              <a:rPr lang="en-US" sz="2400" dirty="0"/>
              <a:t> are best represented by:</a:t>
            </a:r>
          </a:p>
          <a:p>
            <a:pPr lvl="1"/>
            <a:r>
              <a:rPr lang="en-US" sz="2400" b="1" dirty="0"/>
              <a:t>Points</a:t>
            </a:r>
            <a:endParaRPr lang="en-US" sz="2400" dirty="0"/>
          </a:p>
          <a:p>
            <a:pPr lvl="1"/>
            <a:r>
              <a:rPr lang="en-US" sz="2400" b="1" dirty="0"/>
              <a:t>Lines</a:t>
            </a:r>
            <a:endParaRPr lang="en-US" sz="2400" dirty="0"/>
          </a:p>
          <a:p>
            <a:pPr lvl="1"/>
            <a:r>
              <a:rPr lang="en-US" sz="2400" b="1" dirty="0"/>
              <a:t>Polygons</a:t>
            </a:r>
            <a:endParaRPr lang="en-US" sz="2400" dirty="0"/>
          </a:p>
          <a:p>
            <a:r>
              <a:rPr lang="en-US" sz="2400" dirty="0"/>
              <a:t>After 5 minutes, share your answers with the class.</a:t>
            </a:r>
          </a:p>
        </p:txBody>
      </p:sp>
      <p:sp>
        <p:nvSpPr>
          <p:cNvPr id="4" name="Slide Number Placeholder 3">
            <a:extLst>
              <a:ext uri="{FF2B5EF4-FFF2-40B4-BE49-F238E27FC236}">
                <a16:creationId xmlns:a16="http://schemas.microsoft.com/office/drawing/2014/main" id="{DBD206D6-4823-45AC-A7CE-7F6294DF7EDA}"/>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3070053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192741-2E20-A357-D596-00A64E82765B}"/>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25E7ECBD-8717-D45A-6474-C0BCDAE6F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3CE36604-85F6-B3B5-D741-D86D9BE3D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D6A8B65-41A4-1877-1208-2E0113E0C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32921FF7-09C0-7A77-DBA0-A3B7F20800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98441F52-C7B3-D06C-78C0-DE5C3962D6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D8D75BED-7BC7-9008-5D0D-66C75AD77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08595642-E5BF-9DBA-1A22-F9EC93A02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058BA4DC-1ACE-B8A7-9670-411415A1595D}"/>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4.2 </a:t>
            </a:r>
            <a:br>
              <a:rPr lang="en-US" sz="4050" dirty="0">
                <a:solidFill>
                  <a:srgbClr val="FFFFFF"/>
                </a:solidFill>
              </a:rPr>
            </a:br>
            <a:r>
              <a:rPr lang="en-US" sz="4050" dirty="0">
                <a:solidFill>
                  <a:srgbClr val="FFFFFF"/>
                </a:solidFill>
              </a:rPr>
              <a:t>key points for the lab 3</a:t>
            </a:r>
          </a:p>
        </p:txBody>
      </p:sp>
      <p:sp>
        <p:nvSpPr>
          <p:cNvPr id="50" name="Rectangle 49">
            <a:extLst>
              <a:ext uri="{FF2B5EF4-FFF2-40B4-BE49-F238E27FC236}">
                <a16:creationId xmlns:a16="http://schemas.microsoft.com/office/drawing/2014/main" id="{C7BAD0F4-AC5B-11C0-22CC-ECE578BC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7711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890" y="417684"/>
            <a:ext cx="7444991" cy="891540"/>
          </a:xfrm>
        </p:spPr>
        <p:txBody>
          <a:bodyPr>
            <a:normAutofit fontScale="90000"/>
          </a:bodyPr>
          <a:lstStyle/>
          <a:p>
            <a:r>
              <a:rPr sz="3000" b="0" dirty="0">
                <a:solidFill>
                  <a:srgbClr val="7030A0"/>
                </a:solidFill>
              </a:rPr>
              <a:t>LAYER SPATIAL REFERENCE VS. MAP COORDINATE SYSTEM</a:t>
            </a:r>
          </a:p>
        </p:txBody>
      </p:sp>
      <p:sp>
        <p:nvSpPr>
          <p:cNvPr id="3" name="Rounded Rectangle 2"/>
          <p:cNvSpPr/>
          <p:nvPr/>
        </p:nvSpPr>
        <p:spPr>
          <a:xfrm>
            <a:off x="548640" y="1298448"/>
            <a:ext cx="2240280" cy="658368"/>
          </a:xfrm>
          <a:prstGeom prst="roundRect">
            <a:avLst/>
          </a:prstGeom>
          <a:solidFill>
            <a:srgbClr val="EAF2F8"/>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404040"/>
                </a:solidFill>
                <a:effectLst/>
                <a:uLnTx/>
                <a:uFillTx/>
                <a:latin typeface="Calibri"/>
                <a:ea typeface="+mn-ea"/>
                <a:cs typeface="+mn-cs"/>
              </a:rPr>
              <a:t>Airport layer</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dirty="0">
                <a:ln>
                  <a:noFill/>
                </a:ln>
                <a:solidFill>
                  <a:srgbClr val="404040"/>
                </a:solidFill>
                <a:effectLst/>
                <a:uLnTx/>
                <a:uFillTx/>
                <a:latin typeface="Calibri"/>
                <a:ea typeface="+mn-ea"/>
                <a:cs typeface="+mn-cs"/>
              </a:rPr>
              <a:t>spatial reference</a:t>
            </a:r>
          </a:p>
        </p:txBody>
      </p:sp>
      <p:sp>
        <p:nvSpPr>
          <p:cNvPr id="4" name="Right Arrow 3"/>
          <p:cNvSpPr/>
          <p:nvPr/>
        </p:nvSpPr>
        <p:spPr>
          <a:xfrm>
            <a:off x="2852928" y="1435608"/>
            <a:ext cx="566928" cy="329184"/>
          </a:xfrm>
          <a:prstGeom prst="rightArrow">
            <a:avLst/>
          </a:prstGeom>
          <a:solidFill>
            <a:srgbClr val="C99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5" name="Rounded Rectangle 4"/>
          <p:cNvSpPr/>
          <p:nvPr/>
        </p:nvSpPr>
        <p:spPr>
          <a:xfrm>
            <a:off x="548640" y="2167128"/>
            <a:ext cx="2240280" cy="658368"/>
          </a:xfrm>
          <a:prstGeom prst="roundRect">
            <a:avLst/>
          </a:prstGeom>
          <a:solidFill>
            <a:srgbClr val="EBF5EE"/>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404040"/>
                </a:solidFill>
                <a:effectLst/>
                <a:uLnTx/>
                <a:uFillTx/>
                <a:latin typeface="Calibri"/>
                <a:ea typeface="+mn-ea"/>
                <a:cs typeface="+mn-cs"/>
              </a:rPr>
              <a:t>Railroad layer</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dirty="0">
                <a:ln>
                  <a:noFill/>
                </a:ln>
                <a:solidFill>
                  <a:srgbClr val="404040"/>
                </a:solidFill>
                <a:effectLst/>
                <a:uLnTx/>
                <a:uFillTx/>
                <a:latin typeface="Calibri"/>
                <a:ea typeface="+mn-ea"/>
                <a:cs typeface="+mn-cs"/>
              </a:rPr>
              <a:t>spatial reference</a:t>
            </a:r>
          </a:p>
        </p:txBody>
      </p:sp>
      <p:sp>
        <p:nvSpPr>
          <p:cNvPr id="6" name="Right Arrow 5"/>
          <p:cNvSpPr/>
          <p:nvPr/>
        </p:nvSpPr>
        <p:spPr>
          <a:xfrm>
            <a:off x="2852928" y="2304288"/>
            <a:ext cx="566928" cy="329184"/>
          </a:xfrm>
          <a:prstGeom prst="rightArrow">
            <a:avLst/>
          </a:prstGeom>
          <a:solidFill>
            <a:srgbClr val="C99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7" name="Rounded Rectangle 6"/>
          <p:cNvSpPr/>
          <p:nvPr/>
        </p:nvSpPr>
        <p:spPr>
          <a:xfrm>
            <a:off x="548640" y="3035808"/>
            <a:ext cx="2240280" cy="658368"/>
          </a:xfrm>
          <a:prstGeom prst="round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a:ln>
                  <a:noFill/>
                </a:ln>
                <a:solidFill>
                  <a:srgbClr val="404040"/>
                </a:solidFill>
                <a:effectLst/>
                <a:uLnTx/>
                <a:uFillTx/>
                <a:latin typeface="Calibri"/>
                <a:ea typeface="+mn-ea"/>
                <a:cs typeface="+mn-cs"/>
              </a:rPr>
              <a:t>DSM raster</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a:ln>
                  <a:noFill/>
                </a:ln>
                <a:solidFill>
                  <a:srgbClr val="404040"/>
                </a:solidFill>
                <a:effectLst/>
                <a:uLnTx/>
                <a:uFillTx/>
                <a:latin typeface="Calibri"/>
                <a:ea typeface="+mn-ea"/>
                <a:cs typeface="+mn-cs"/>
              </a:rPr>
              <a:t>spatial reference</a:t>
            </a:r>
          </a:p>
        </p:txBody>
      </p:sp>
      <p:sp>
        <p:nvSpPr>
          <p:cNvPr id="8" name="Right Arrow 7"/>
          <p:cNvSpPr/>
          <p:nvPr/>
        </p:nvSpPr>
        <p:spPr>
          <a:xfrm>
            <a:off x="2852928" y="3172968"/>
            <a:ext cx="566928" cy="329184"/>
          </a:xfrm>
          <a:prstGeom prst="rightArrow">
            <a:avLst/>
          </a:prstGeom>
          <a:solidFill>
            <a:srgbClr val="C99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9" name="Rounded Rectangle 8"/>
          <p:cNvSpPr/>
          <p:nvPr/>
        </p:nvSpPr>
        <p:spPr>
          <a:xfrm>
            <a:off x="3611880" y="1874519"/>
            <a:ext cx="3017520" cy="1143000"/>
          </a:xfrm>
          <a:prstGeom prst="roundRect">
            <a:avLst/>
          </a:prstGeom>
          <a:solidFill>
            <a:srgbClr val="F0E8F5"/>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404040"/>
                </a:solidFill>
                <a:effectLst/>
                <a:uLnTx/>
                <a:uFillTx/>
                <a:latin typeface="Calibri"/>
                <a:ea typeface="+mn-ea"/>
                <a:cs typeface="+mn-cs"/>
              </a:rPr>
              <a:t>MAP</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dirty="0">
                <a:ln>
                  <a:noFill/>
                </a:ln>
                <a:solidFill>
                  <a:srgbClr val="404040"/>
                </a:solidFill>
                <a:effectLst/>
                <a:uLnTx/>
                <a:uFillTx/>
                <a:latin typeface="Calibri"/>
                <a:ea typeface="+mn-ea"/>
                <a:cs typeface="+mn-cs"/>
              </a:rPr>
              <a:t>The map has its own coordinate system.</a:t>
            </a:r>
          </a:p>
        </p:txBody>
      </p:sp>
      <p:sp>
        <p:nvSpPr>
          <p:cNvPr id="10" name="TextBox 9"/>
          <p:cNvSpPr txBox="1"/>
          <p:nvPr/>
        </p:nvSpPr>
        <p:spPr>
          <a:xfrm>
            <a:off x="628152" y="3791182"/>
            <a:ext cx="6869927" cy="115416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sz="1600" b="0" i="0" u="none" strike="noStrike" kern="1200" cap="none" spc="0" normalizeH="0" baseline="0" noProof="0" dirty="0">
                <a:ln>
                  <a:noFill/>
                </a:ln>
                <a:solidFill>
                  <a:srgbClr val="404040"/>
                </a:solidFill>
                <a:effectLst/>
                <a:uLnTx/>
                <a:uFillTx/>
                <a:latin typeface="Calibri"/>
                <a:ea typeface="+mn-ea"/>
                <a:cs typeface="+mn-cs"/>
              </a:rPr>
              <a:t>Unless manually changed, the map is assigned the same coordinate system as the first layer added.</a:t>
            </a:r>
            <a:endParaRPr kumimoji="0" lang="en-US" sz="1600" b="0" i="0" u="none" strike="noStrike" kern="1200" cap="none" spc="0" normalizeH="0" baseline="0" noProof="0" dirty="0">
              <a:ln>
                <a:noFill/>
              </a:ln>
              <a:solidFill>
                <a:srgbClr val="40404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endParaRPr lang="en-US" sz="1600" dirty="0">
              <a:solidFill>
                <a:srgbClr val="404040"/>
              </a:solidFill>
              <a:latin typeface="Calibri"/>
            </a:endParaRPr>
          </a:p>
          <a:p>
            <a:pPr marL="285750" indent="-285750">
              <a:spcAft>
                <a:spcPts val="300"/>
              </a:spcAft>
              <a:buFont typeface="Wingdings" panose="05000000000000000000" pitchFamily="2" charset="2"/>
              <a:buChar char="ü"/>
            </a:pPr>
            <a:r>
              <a:rPr lang="en-US" altLang="zh-CN" sz="1600" dirty="0">
                <a:solidFill>
                  <a:srgbClr val="404040"/>
                </a:solidFill>
              </a:rPr>
              <a:t>Check it in ArcGIS Pro: right-click Map → Properties → Coordinate System.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305" y="434050"/>
            <a:ext cx="7444991" cy="540183"/>
          </a:xfrm>
        </p:spPr>
        <p:txBody>
          <a:bodyPr>
            <a:normAutofit fontScale="90000"/>
          </a:bodyPr>
          <a:lstStyle/>
          <a:p>
            <a:r>
              <a:rPr sz="3000" b="0" dirty="0">
                <a:solidFill>
                  <a:srgbClr val="7030A0"/>
                </a:solidFill>
              </a:rPr>
              <a:t>SUMMARIZING AN ATTRIBUTE FIELD</a:t>
            </a:r>
          </a:p>
        </p:txBody>
      </p:sp>
      <p:sp>
        <p:nvSpPr>
          <p:cNvPr id="3" name="TextBox 2"/>
          <p:cNvSpPr txBox="1"/>
          <p:nvPr/>
        </p:nvSpPr>
        <p:spPr>
          <a:xfrm>
            <a:off x="551023" y="1100924"/>
            <a:ext cx="3538728" cy="286232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sz="1700" b="0" i="0" u="none" strike="noStrike" kern="1200" cap="none" spc="0" normalizeH="0" baseline="0" noProof="0" dirty="0">
                <a:ln>
                  <a:noFill/>
                </a:ln>
                <a:solidFill>
                  <a:srgbClr val="404040"/>
                </a:solidFill>
                <a:effectLst/>
                <a:uLnTx/>
                <a:uFillTx/>
                <a:latin typeface="Calibri"/>
                <a:ea typeface="+mn-ea"/>
                <a:cs typeface="+mn-cs"/>
              </a:rPr>
              <a:t>The Summarize command groups records using a case field.</a:t>
            </a:r>
            <a:endParaRPr kumimoji="0" lang="en-US" sz="1700" b="0" i="0" u="none" strike="noStrike" kern="1200" cap="none" spc="0" normalizeH="0" baseline="0" noProof="0" dirty="0">
              <a:ln>
                <a:noFill/>
              </a:ln>
              <a:solidFill>
                <a:srgbClr val="40404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endParaRPr lang="en-US" sz="1700" dirty="0">
              <a:solidFill>
                <a:srgbClr val="404040"/>
              </a:solidFill>
              <a:latin typeface="Calibri"/>
            </a:endParaRPr>
          </a:p>
          <a:p>
            <a:pPr marL="285750" indent="-285750">
              <a:spcAft>
                <a:spcPts val="300"/>
              </a:spcAft>
              <a:buFont typeface="Wingdings" panose="05000000000000000000" pitchFamily="2" charset="2"/>
              <a:buChar char="ü"/>
            </a:pPr>
            <a:r>
              <a:rPr lang="en-US" altLang="zh-CN" sz="1700" dirty="0">
                <a:solidFill>
                  <a:srgbClr val="404040"/>
                </a:solidFill>
              </a:rPr>
              <a:t>The output table includes FREQUENCY: the number of records in each group.</a:t>
            </a:r>
          </a:p>
          <a:p>
            <a:pPr marL="285750" indent="-285750">
              <a:spcAft>
                <a:spcPts val="300"/>
              </a:spcAft>
              <a:buFont typeface="Wingdings" panose="05000000000000000000" pitchFamily="2" charset="2"/>
              <a:buChar char="ü"/>
            </a:pPr>
            <a:endParaRPr lang="en-US" altLang="zh-CN" sz="1700" dirty="0">
              <a:solidFill>
                <a:srgbClr val="404040"/>
              </a:solidFill>
            </a:endParaRPr>
          </a:p>
          <a:p>
            <a:pPr marL="285750" indent="-285750">
              <a:spcAft>
                <a:spcPts val="300"/>
              </a:spcAft>
              <a:buFont typeface="Wingdings" panose="05000000000000000000" pitchFamily="2" charset="2"/>
              <a:buChar char="ü"/>
            </a:pPr>
            <a:r>
              <a:rPr lang="en-US" altLang="zh-CN" sz="1700" dirty="0">
                <a:solidFill>
                  <a:srgbClr val="404040"/>
                </a:solidFill>
              </a:rPr>
              <a:t>Additional statistics can be calculated for a selected statistics field.</a:t>
            </a:r>
          </a:p>
        </p:txBody>
      </p:sp>
      <p:sp>
        <p:nvSpPr>
          <p:cNvPr id="9" name="Rounded Rectangle 8"/>
          <p:cNvSpPr/>
          <p:nvPr/>
        </p:nvSpPr>
        <p:spPr>
          <a:xfrm>
            <a:off x="4690874" y="1074685"/>
            <a:ext cx="2971800" cy="731520"/>
          </a:xfrm>
          <a:prstGeom prst="roundRect">
            <a:avLst/>
          </a:prstGeom>
          <a:solidFill>
            <a:srgbClr val="EAF2F8"/>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404040"/>
                </a:solidFill>
                <a:effectLst/>
                <a:uLnTx/>
                <a:uFillTx/>
                <a:latin typeface="Calibri"/>
                <a:ea typeface="+mn-ea"/>
                <a:cs typeface="+mn-cs"/>
              </a:rPr>
              <a:t>1. Choose a field</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dirty="0">
                <a:ln>
                  <a:noFill/>
                </a:ln>
                <a:solidFill>
                  <a:srgbClr val="404040"/>
                </a:solidFill>
                <a:effectLst/>
                <a:uLnTx/>
                <a:uFillTx/>
                <a:latin typeface="Calibri"/>
                <a:ea typeface="+mn-ea"/>
                <a:cs typeface="+mn-cs"/>
              </a:rPr>
              <a:t>Example: FEATURE_CL</a:t>
            </a:r>
          </a:p>
        </p:txBody>
      </p:sp>
      <p:sp>
        <p:nvSpPr>
          <p:cNvPr id="10" name="Down Arrow 9"/>
          <p:cNvSpPr/>
          <p:nvPr/>
        </p:nvSpPr>
        <p:spPr>
          <a:xfrm>
            <a:off x="5879594" y="1824493"/>
            <a:ext cx="502920" cy="384048"/>
          </a:xfrm>
          <a:prstGeom prst="downArrow">
            <a:avLst/>
          </a:prstGeom>
          <a:solidFill>
            <a:srgbClr val="C99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Rounded Rectangle 10"/>
          <p:cNvSpPr/>
          <p:nvPr/>
        </p:nvSpPr>
        <p:spPr>
          <a:xfrm>
            <a:off x="4690874" y="2199397"/>
            <a:ext cx="2971800" cy="822960"/>
          </a:xfrm>
          <a:prstGeom prst="roundRect">
            <a:avLst/>
          </a:prstGeom>
          <a:solidFill>
            <a:srgbClr val="F4E8E1"/>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404040"/>
                </a:solidFill>
                <a:effectLst/>
                <a:uLnTx/>
                <a:uFillTx/>
                <a:latin typeface="Calibri"/>
                <a:ea typeface="+mn-ea"/>
                <a:cs typeface="+mn-cs"/>
              </a:rPr>
              <a:t>2. Summarize</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dirty="0">
                <a:ln>
                  <a:noFill/>
                </a:ln>
                <a:solidFill>
                  <a:srgbClr val="404040"/>
                </a:solidFill>
                <a:effectLst/>
                <a:uLnTx/>
                <a:uFillTx/>
                <a:latin typeface="Calibri"/>
                <a:ea typeface="+mn-ea"/>
                <a:cs typeface="+mn-cs"/>
              </a:rPr>
              <a:t>Case field groups categories; add requested statistics</a:t>
            </a:r>
          </a:p>
        </p:txBody>
      </p:sp>
      <p:sp>
        <p:nvSpPr>
          <p:cNvPr id="12" name="Down Arrow 11"/>
          <p:cNvSpPr/>
          <p:nvPr/>
        </p:nvSpPr>
        <p:spPr>
          <a:xfrm>
            <a:off x="5879594" y="3040645"/>
            <a:ext cx="502920" cy="384048"/>
          </a:xfrm>
          <a:prstGeom prst="downArrow">
            <a:avLst/>
          </a:prstGeom>
          <a:solidFill>
            <a:srgbClr val="C99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ounded Rectangle 12"/>
          <p:cNvSpPr/>
          <p:nvPr/>
        </p:nvSpPr>
        <p:spPr>
          <a:xfrm>
            <a:off x="4690874" y="3296677"/>
            <a:ext cx="2971800" cy="1051560"/>
          </a:xfrm>
          <a:prstGeom prst="roundRect">
            <a:avLst/>
          </a:prstGeom>
          <a:solidFill>
            <a:srgbClr val="EBF5EE"/>
          </a:solidFill>
          <a:ln>
            <a:solidFill>
              <a:srgbClr val="D0D0D0"/>
            </a:solidFill>
          </a:ln>
        </p:spPr>
        <p:style>
          <a:lnRef idx="1">
            <a:schemeClr val="accent1"/>
          </a:lnRef>
          <a:fillRef idx="3">
            <a:schemeClr val="accent1"/>
          </a:fillRef>
          <a:effectRef idx="2">
            <a:schemeClr val="accent1"/>
          </a:effectRef>
          <a:fontRef idx="minor">
            <a:schemeClr val="lt1"/>
          </a:fontRef>
        </p:style>
        <p:txBody>
          <a:bodyPr wrap="square" lIns="127000" tIns="101600" rIns="127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a:ln>
                  <a:noFill/>
                </a:ln>
                <a:solidFill>
                  <a:srgbClr val="404040"/>
                </a:solidFill>
                <a:effectLst/>
                <a:uLnTx/>
                <a:uFillTx/>
                <a:latin typeface="Calibri"/>
                <a:ea typeface="+mn-ea"/>
                <a:cs typeface="+mn-cs"/>
              </a:rPr>
              <a:t>3. Output table</a:t>
            </a:r>
          </a:p>
          <a:p>
            <a:pPr marL="0" marR="0" lvl="0" indent="0" algn="l" defTabSz="914400" rtl="0" eaLnBrk="1" fontAlgn="auto" latinLnBrk="0" hangingPunct="1">
              <a:lnSpc>
                <a:spcPct val="100000"/>
              </a:lnSpc>
              <a:spcBef>
                <a:spcPts val="500"/>
              </a:spcBef>
              <a:spcAft>
                <a:spcPts val="0"/>
              </a:spcAft>
              <a:buClrTx/>
              <a:buSzTx/>
              <a:buFontTx/>
              <a:buNone/>
              <a:tabLst/>
              <a:defRPr/>
            </a:pPr>
            <a:r>
              <a:rPr kumimoji="0" sz="1600" b="0" i="0" u="none" strike="noStrike" kern="1200" cap="none" spc="0" normalizeH="0" baseline="0" noProof="0">
                <a:ln>
                  <a:noFill/>
                </a:ln>
                <a:solidFill>
                  <a:srgbClr val="404040"/>
                </a:solidFill>
                <a:effectLst/>
                <a:uLnTx/>
                <a:uFillTx/>
                <a:latin typeface="Calibri"/>
                <a:ea typeface="+mn-ea"/>
                <a:cs typeface="+mn-cs"/>
              </a:rPr>
              <a:t>One row per category + FREQUENCY + calculated statistic</a:t>
            </a:r>
          </a:p>
        </p:txBody>
      </p:sp>
      <p:sp>
        <p:nvSpPr>
          <p:cNvPr id="15" name="TextBox 14"/>
          <p:cNvSpPr txBox="1"/>
          <p:nvPr/>
        </p:nvSpPr>
        <p:spPr>
          <a:xfrm>
            <a:off x="713232" y="4123944"/>
            <a:ext cx="2697480" cy="594360"/>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030A0"/>
                </a:solidFill>
                <a:effectLst/>
                <a:uLnTx/>
                <a:uFillTx/>
                <a:latin typeface="Calibri"/>
                <a:ea typeface="+mn-ea"/>
                <a:cs typeface="+mn-cs"/>
              </a:rPr>
              <a:t>Exercise 3: FEATURE_CL is the case field; save the output table so you can find it later.</a:t>
            </a:r>
          </a:p>
        </p:txBody>
      </p:sp>
    </p:spTree>
    <p:extLst>
      <p:ext uri="{BB962C8B-B14F-4D97-AF65-F5344CB8AC3E}">
        <p14:creationId xmlns:p14="http://schemas.microsoft.com/office/powerpoint/2010/main" val="14384631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03: </a:t>
            </a:r>
            <a:r>
              <a:rPr lang="en-US" b="1"/>
              <a:t>exploring spatial data</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541088902"/>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Week02_Intro_To_GIS</Template>
  <TotalTime>9048</TotalTime>
  <Words>3454</Words>
  <Application>Microsoft Office PowerPoint</Application>
  <PresentationFormat>Custom</PresentationFormat>
  <Paragraphs>346</Paragraphs>
  <Slides>32</Slides>
  <Notes>15</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32</vt:i4>
      </vt:variant>
    </vt:vector>
  </HeadingPairs>
  <TitlesOfParts>
    <vt:vector size="44" baseType="lpstr">
      <vt:lpstr>Arial</vt:lpstr>
      <vt:lpstr>Arial Black</vt:lpstr>
      <vt:lpstr>Calibri</vt:lpstr>
      <vt:lpstr>Courier New</vt:lpstr>
      <vt:lpstr>Gill Sans MT</vt:lpstr>
      <vt:lpstr>Roboto</vt:lpstr>
      <vt:lpstr>Times New Roman</vt:lpstr>
      <vt:lpstr>Wingdings</vt:lpstr>
      <vt:lpstr>Wingdings 2</vt:lpstr>
      <vt:lpstr>DividendVTI</vt:lpstr>
      <vt:lpstr>1_DividendVTI</vt:lpstr>
      <vt:lpstr>2_DividendVTI</vt:lpstr>
      <vt:lpstr>WEEK 04  Geospatial Data  lecture</vt:lpstr>
      <vt:lpstr>4.1  Geospatial data</vt:lpstr>
      <vt:lpstr>PowerPoint Presentation</vt:lpstr>
      <vt:lpstr>PowerPoint Presentation</vt:lpstr>
      <vt:lpstr>PowerPoint Presentation</vt:lpstr>
      <vt:lpstr>PowerPoint Presentation</vt:lpstr>
      <vt:lpstr>representation</vt:lpstr>
      <vt:lpstr>representation</vt:lpstr>
      <vt:lpstr>Same Feature, Different Vector Representations</vt:lpstr>
      <vt:lpstr>PowerPoint Presentation</vt:lpstr>
      <vt:lpstr>Rows and Columns in an Attribute Table</vt:lpstr>
      <vt:lpstr>ATTRIBUTE FIELD TYPES</vt:lpstr>
      <vt:lpstr>PowerPoint Presentation</vt:lpstr>
      <vt:lpstr>PowerPoint Presentation</vt:lpstr>
      <vt:lpstr>Topology Remains the Same Across Projections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Activity: Exploring Arcgis Pro project</vt:lpstr>
      <vt:lpstr>Class Activity: Exploring Shapefile Components</vt:lpstr>
      <vt:lpstr>Quick Way to Check Attributes in a Shapefile (.dbf file)</vt:lpstr>
      <vt:lpstr>PowerPoint Presentation</vt:lpstr>
      <vt:lpstr>Class Activity: Representing Indoor Features in GIS</vt:lpstr>
      <vt:lpstr>4.2  key points for the lab 3</vt:lpstr>
      <vt:lpstr>LAYER SPATIAL REFERENCE VS. MAP COORDINATE SYSTEM</vt:lpstr>
      <vt:lpstr>SUMMARIZING AN ATTRIBUTE FIELD</vt:lpstr>
      <vt:lpstr>4.2  Lab session</vt:lpstr>
      <vt:lpstr>Lab 03: exploring spatial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510</cp:revision>
  <cp:lastPrinted>2020-03-26T12:59:04Z</cp:lastPrinted>
  <dcterms:created xsi:type="dcterms:W3CDTF">2020-03-24T14:51:54Z</dcterms:created>
  <dcterms:modified xsi:type="dcterms:W3CDTF">2026-09-09T20:16:11Z</dcterms:modified>
</cp:coreProperties>
</file>