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5" r:id="rId3"/>
  </p:sldMasterIdLst>
  <p:notesMasterIdLst>
    <p:notesMasterId r:id="rId30"/>
  </p:notesMasterIdLst>
  <p:sldIdLst>
    <p:sldId id="914" r:id="rId4"/>
    <p:sldId id="1647" r:id="rId5"/>
    <p:sldId id="617" r:id="rId6"/>
    <p:sldId id="300" r:id="rId7"/>
    <p:sldId id="305" r:id="rId8"/>
    <p:sldId id="275" r:id="rId9"/>
    <p:sldId id="329" r:id="rId10"/>
    <p:sldId id="652" r:id="rId11"/>
    <p:sldId id="336" r:id="rId12"/>
    <p:sldId id="326" r:id="rId13"/>
    <p:sldId id="1648" r:id="rId14"/>
    <p:sldId id="330" r:id="rId15"/>
    <p:sldId id="292" r:id="rId16"/>
    <p:sldId id="284" r:id="rId17"/>
    <p:sldId id="285" r:id="rId18"/>
    <p:sldId id="288" r:id="rId19"/>
    <p:sldId id="644" r:id="rId20"/>
    <p:sldId id="645" r:id="rId21"/>
    <p:sldId id="651" r:id="rId22"/>
    <p:sldId id="287" r:id="rId23"/>
    <p:sldId id="647" r:id="rId24"/>
    <p:sldId id="648" r:id="rId25"/>
    <p:sldId id="646" r:id="rId26"/>
    <p:sldId id="649" r:id="rId27"/>
    <p:sldId id="650" r:id="rId28"/>
    <p:sldId id="270" r:id="rId29"/>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907" autoAdjust="0"/>
  </p:normalViewPr>
  <p:slideViewPr>
    <p:cSldViewPr snapToGrid="0" snapToObjects="1">
      <p:cViewPr varScale="1">
        <p:scale>
          <a:sx n="120" d="100"/>
          <a:sy n="120" d="100"/>
        </p:scale>
        <p:origin x="1692" y="90"/>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9/7/2025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708313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explore the spectral reflectance</a:t>
            </a:r>
            <a:r>
              <a:rPr lang="en-US" baseline="0" dirty="0"/>
              <a:t> of this maple leaf further. </a:t>
            </a:r>
          </a:p>
          <a:p>
            <a:endParaRPr lang="en-US" baseline="0" dirty="0"/>
          </a:p>
          <a:p>
            <a:r>
              <a:rPr lang="en-US" baseline="0" dirty="0"/>
              <a:t>Here, I have color coded different spectral ranges with different color “</a:t>
            </a:r>
            <a:r>
              <a:rPr lang="en-US" baseline="0" dirty="0" err="1"/>
              <a:t>Xs</a:t>
            </a:r>
            <a:r>
              <a:rPr lang="en-US" baseline="0" dirty="0"/>
              <a:t>.”</a:t>
            </a:r>
          </a:p>
          <a:p>
            <a:endParaRPr lang="en-US" baseline="0" dirty="0"/>
          </a:p>
          <a:p>
            <a:r>
              <a:rPr lang="en-US" baseline="0" dirty="0"/>
              <a:t>This leaf tends to absorb as opposed to reflect a lot of visible radiation. However, it absorbs more blue and red in comparison to green. This is why leaves appear green to us. This absorption results from the pigments in the leaf, such as chlorophyll, that interact with Sunlight in the process of photosynthesis to make energy and sugars for the plant. During the winter, when the tree is not photosynthetically active, the leaf will no longer appear green to us. </a:t>
            </a:r>
          </a:p>
          <a:p>
            <a:endParaRPr lang="en-US" baseline="0" dirty="0"/>
          </a:p>
          <a:p>
            <a:r>
              <a:rPr lang="en-US" baseline="0" dirty="0"/>
              <a:t>Green, healthy, and photosynthetically active leaves tend to scatter or reflect a larger proportion of incident near infrared radiation than visible light due to how this radiation interacts with cell walls. So, if we could sense near infrared radiation, a leaf would appear to be near infrared as opposed to green. However, this has no physical meaning since we can’t see near infrared radiation. </a:t>
            </a:r>
          </a:p>
          <a:p>
            <a:endParaRPr lang="en-US" baseline="0" dirty="0"/>
          </a:p>
          <a:p>
            <a:r>
              <a:rPr lang="en-US" baseline="0" dirty="0"/>
              <a:t>In the shortwave infrared range there are some absorption features associated with water in the plant tissue. </a:t>
            </a:r>
          </a:p>
          <a:p>
            <a:endParaRPr lang="en-US" baseline="0" dirty="0"/>
          </a:p>
          <a:p>
            <a:r>
              <a:rPr lang="en-US" baseline="0" dirty="0"/>
              <a:t>This graph highlights the wavelength specific nature of spectral reflectance. </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3912248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provides another comparison.</a:t>
            </a:r>
            <a:r>
              <a:rPr lang="en-US" baseline="0" dirty="0"/>
              <a:t> </a:t>
            </a:r>
          </a:p>
          <a:p>
            <a:endParaRPr lang="en-US" baseline="0" dirty="0"/>
          </a:p>
          <a:p>
            <a:r>
              <a:rPr lang="en-US" baseline="0" dirty="0"/>
              <a:t>Soil tends to show greater spectral reflectance in the shortwave infrared range in comparison to near infrared or visible wavelengths, a pattern that is much different from green vegetation. </a:t>
            </a:r>
          </a:p>
          <a:p>
            <a:endParaRPr lang="en-US" baseline="0" dirty="0"/>
          </a:p>
          <a:p>
            <a:r>
              <a:rPr lang="en-US" baseline="0" dirty="0"/>
              <a:t>Water tends to absorb most near infrared and shortwave infrared radiation. </a:t>
            </a:r>
          </a:p>
          <a:p>
            <a:endParaRPr lang="en-US" baseline="0" dirty="0"/>
          </a:p>
          <a:p>
            <a:r>
              <a:rPr lang="en-US" baseline="0" dirty="0"/>
              <a:t>So, using these patterns, we could potentially differentiate these different surface materials. </a:t>
            </a:r>
          </a:p>
          <a:p>
            <a:endParaRPr lang="en-US" baseline="0" dirty="0"/>
          </a:p>
          <a:p>
            <a:r>
              <a:rPr lang="en-US" baseline="0" dirty="0"/>
              <a:t>You may notice some small troughs in the shortwave range for soil that align with the deeper troughs for green vegetation. This results from water in the soil, just as the troughs in the green vegetation curve relate to water in the plant tissue. </a:t>
            </a:r>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662985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often valuable to compare</a:t>
            </a:r>
            <a:r>
              <a:rPr lang="en-US" baseline="0" dirty="0"/>
              <a:t> the spectral reflectance in different wavelength ranges or bands.</a:t>
            </a:r>
          </a:p>
          <a:p>
            <a:endParaRPr lang="en-US" baseline="0" dirty="0"/>
          </a:p>
          <a:p>
            <a:r>
              <a:rPr lang="en-US" baseline="0" dirty="0"/>
              <a:t>To accomplished this task, we can produce ratios from input bands. </a:t>
            </a:r>
          </a:p>
          <a:p>
            <a:endParaRPr lang="en-US" baseline="0" dirty="0"/>
          </a:p>
          <a:p>
            <a:r>
              <a:rPr lang="en-US" baseline="0" dirty="0"/>
              <a:t>As an example, the normalized difference vegetation index, or NDVI, compares near infrared and red reflectance. </a:t>
            </a:r>
          </a:p>
          <a:p>
            <a:endParaRPr lang="en-US" baseline="0" dirty="0"/>
          </a:p>
          <a:p>
            <a:r>
              <a:rPr lang="en-US" baseline="0" dirty="0"/>
              <a:t>Based on our previous discussions, you now know that green, healthy, photosynthetically active vegetation tends to reflect more infrared radiation than it does red radiation. This is because pigments absorb the red radiation in the process of photosynthesis. </a:t>
            </a:r>
          </a:p>
          <a:p>
            <a:endParaRPr lang="en-US" baseline="0" dirty="0"/>
          </a:p>
          <a:p>
            <a:r>
              <a:rPr lang="en-US" baseline="0" dirty="0"/>
              <a:t>High values of this index indicate the presence of green, healthy, photosynthetically active vegetation where as low values indicate that vegetation is not present, it is not photosynthetically active, or it is not healthy for some reason. </a:t>
            </a:r>
          </a:p>
          <a:p>
            <a:endParaRPr lang="en-US" baseline="0" dirty="0"/>
          </a:p>
          <a:p>
            <a:r>
              <a:rPr lang="en-US" baseline="0" dirty="0"/>
              <a:t>As an example, the image on the left shows NDVI for a small area in West Virginia. Dark green areas indicate high NDVI or healthy vegetation. In contrast, the white or light green areas indicate lower NDVI. Many of these large patches of lower NDVI are associated with forest harvesting.</a:t>
            </a:r>
          </a:p>
          <a:p>
            <a:endParaRPr lang="en-US" baseline="0" dirty="0"/>
          </a:p>
          <a:p>
            <a:r>
              <a:rPr lang="en-US" baseline="0" dirty="0"/>
              <a:t>There are many other examples of band ratios that can be used to map, assess, or monitor different landscape features. Here, I am just providing NDVI as an example. </a:t>
            </a:r>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4000476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most recent Landsat, Landsat 8, carries the Operational Land Imager and the Thermal Infrared Sensor. </a:t>
            </a:r>
          </a:p>
          <a:p>
            <a:endParaRPr lang="en-US" baseline="0" dirty="0"/>
          </a:p>
          <a:p>
            <a:r>
              <a:rPr lang="en-US" baseline="0" dirty="0"/>
              <a:t>In comparison to Landsat 7 ETM+, the Landsat 8 sensor adds a ultra blue band for coastal mapping and aerosol mapping and a cirrus cloud band for detecting high clouds and cloud contamination. </a:t>
            </a:r>
          </a:p>
          <a:p>
            <a:endParaRPr lang="en-US" baseline="0" dirty="0"/>
          </a:p>
          <a:p>
            <a:r>
              <a:rPr lang="en-US" baseline="0" dirty="0"/>
              <a:t>It also provides 2 thermal bands as opposed to one. </a:t>
            </a:r>
          </a:p>
          <a:p>
            <a:endParaRPr lang="en-US" baseline="0" dirty="0"/>
          </a:p>
          <a:p>
            <a:r>
              <a:rPr lang="en-US" baseline="0" dirty="0"/>
              <a:t>Landsat 9 will have similar specifications to Landsat 8 and is expected to launch in December of 2020. </a:t>
            </a:r>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68382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than panchromatic, or black-and-white, imagery, image datasets contain more than one band. </a:t>
            </a:r>
          </a:p>
          <a:p>
            <a:endParaRPr lang="en-US" dirty="0"/>
          </a:p>
          <a:p>
            <a:r>
              <a:rPr lang="en-US" dirty="0"/>
              <a:t>For example, a true color image will contain three bands: red, green, and blue. </a:t>
            </a:r>
          </a:p>
          <a:p>
            <a:endParaRPr lang="en-US" dirty="0"/>
          </a:p>
          <a:p>
            <a:r>
              <a:rPr lang="en-US" dirty="0"/>
              <a:t>For multiband images, the raster data structure is that of an array. Each cell location holds multiple measurements, or a single measurement in each band.</a:t>
            </a:r>
          </a:p>
          <a:p>
            <a:endParaRPr lang="en-US" dirty="0"/>
          </a:p>
          <a:p>
            <a:r>
              <a:rPr lang="en-US" dirty="0"/>
              <a:t>You can think of a multiband raster as a stack of single band layers that act as one file. </a:t>
            </a:r>
          </a:p>
          <a:p>
            <a:endParaRPr lang="en-US" dirty="0"/>
          </a:p>
          <a:p>
            <a:r>
              <a:rPr lang="en-US" dirty="0"/>
              <a:t>Although we will focus on multiband imagery here, you can actually create multiband raster grids from a variety of raster data layers. </a:t>
            </a:r>
          </a:p>
          <a:p>
            <a:endParaRPr lang="en-US" dirty="0"/>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511427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altLang="zh-CN" b="0" i="0" dirty="0">
                <a:solidFill>
                  <a:srgbClr val="4C4C4C"/>
                </a:solidFill>
                <a:effectLst/>
                <a:latin typeface="Avenir Next W01"/>
              </a:rPr>
              <a:t>One way to use the bands is to choose three of them and to combine them to produce a composite image. There are many possible band combinations and each one shows the imagery differently. Some combinations can be particularly good at highlighting specific types of landscape features or properties.</a:t>
            </a:r>
          </a:p>
          <a:p>
            <a:pPr>
              <a:buNone/>
            </a:pPr>
            <a:br>
              <a:rPr lang="en-US" altLang="zh-CN"/>
            </a:br>
            <a:endParaRPr lang="zh-CN" altLang="en-US"/>
          </a:p>
        </p:txBody>
      </p:sp>
    </p:spTree>
    <p:extLst>
      <p:ext uri="{BB962C8B-B14F-4D97-AF65-F5344CB8AC3E}">
        <p14:creationId xmlns:p14="http://schemas.microsoft.com/office/powerpoint/2010/main" val="538259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Radiometric resolution has</a:t>
            </a:r>
            <a:r>
              <a:rPr lang="en-US" baseline="0" dirty="0"/>
              <a:t> to do with what levels in brightness can be differentiated. </a:t>
            </a:r>
          </a:p>
          <a:p>
            <a:endParaRPr lang="en-US" baseline="0" dirty="0"/>
          </a:p>
          <a:p>
            <a:r>
              <a:rPr lang="en-US" baseline="0" dirty="0"/>
              <a:t>This relates to the pixel type or pixel depth of an image. For example, a 4-bit image would be able to differentiate 16, or 2 to the 4</a:t>
            </a:r>
            <a:r>
              <a:rPr lang="en-US" baseline="30000" dirty="0"/>
              <a:t>th</a:t>
            </a:r>
            <a:r>
              <a:rPr lang="en-US" baseline="0" dirty="0"/>
              <a:t> power, discrete levels of brightness. In contrast an 8-bit image could differentiate 256, or 2 to the 8</a:t>
            </a:r>
            <a:r>
              <a:rPr lang="en-US" baseline="30000" dirty="0"/>
              <a:t>th</a:t>
            </a:r>
            <a:r>
              <a:rPr lang="en-US" baseline="0" dirty="0"/>
              <a:t> power, discrete levels of brightness. </a:t>
            </a:r>
          </a:p>
          <a:p>
            <a:endParaRPr lang="en-US" baseline="0" dirty="0"/>
          </a:p>
          <a:p>
            <a:r>
              <a:rPr lang="en-US" baseline="0" dirty="0"/>
              <a:t>A 16-bit image could differentiate a large number of discrete brightness differences. </a:t>
            </a:r>
          </a:p>
          <a:p>
            <a:endParaRPr lang="en-US" baseline="0" dirty="0"/>
          </a:p>
          <a:p>
            <a:r>
              <a:rPr lang="en-US" baseline="0" dirty="0"/>
              <a:t>As an extreme case, a 1-bit image could only differentiate 2 to the 1</a:t>
            </a:r>
            <a:r>
              <a:rPr lang="en-US" baseline="30000" dirty="0"/>
              <a:t>st</a:t>
            </a:r>
            <a:r>
              <a:rPr lang="en-US" baseline="0" dirty="0"/>
              <a:t> power, or 2, levels of brightness. So, the result would be black and white, or on and off. </a:t>
            </a:r>
          </a:p>
          <a:p>
            <a:endParaRPr lang="en-US" baseline="0" dirty="0"/>
          </a:p>
          <a:p>
            <a:r>
              <a:rPr lang="en-US" baseline="0" dirty="0"/>
              <a:t>You can think of this as the precision of the measurement. As an analogy, increasing radiometric resolution is like making length measurements to the nearest millimeter as oppose to the nearest meter. Or, you will be able to differentiate smaller differences in length. </a:t>
            </a:r>
          </a:p>
          <a:p>
            <a:endParaRPr lang="en-US" baseline="0" dirty="0"/>
          </a:p>
          <a:p>
            <a:r>
              <a:rPr lang="en-US" baseline="0" dirty="0"/>
              <a:t>Many older sensor recorded 8-bit data. However, modern sensors are increasingly providing 11-bit or 16-bit data. Again, this allows for more precise differentiation of brightness or spectral reflectance. The trade-off is larger file size and greater data volumes. </a:t>
            </a:r>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415680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grid cells are rectangular even if data are not provided in each cell. </a:t>
            </a:r>
          </a:p>
          <a:p>
            <a:endParaRPr lang="en-US" dirty="0"/>
          </a:p>
          <a:p>
            <a:r>
              <a:rPr lang="en-US" dirty="0"/>
              <a:t>This is because each row and column must have a full set of cells. </a:t>
            </a:r>
          </a:p>
          <a:p>
            <a:endParaRPr lang="en-US" dirty="0"/>
          </a:p>
          <a:p>
            <a:r>
              <a:rPr lang="en-US" dirty="0"/>
              <a:t>Grid cells that do not hold a measurement still exist, but they store a </a:t>
            </a:r>
            <a:r>
              <a:rPr lang="en-US" dirty="0" err="1"/>
              <a:t>NoData</a:t>
            </a:r>
            <a:r>
              <a:rPr lang="en-US" dirty="0"/>
              <a:t> assignment. </a:t>
            </a:r>
          </a:p>
          <a:p>
            <a:endParaRPr lang="en-US" dirty="0"/>
          </a:p>
          <a:p>
            <a:r>
              <a:rPr lang="en-US" dirty="0"/>
              <a:t>When the computer sees this value, it interprets it to mean empty, null, or missing. </a:t>
            </a:r>
          </a:p>
          <a:p>
            <a:endParaRPr lang="en-US" dirty="0"/>
          </a:p>
          <a:p>
            <a:r>
              <a:rPr lang="en-US" dirty="0"/>
              <a:t>For example, for an 8-bit raster grid either the lowest value, 0, or the highest value, 255, is commonly reserved as the </a:t>
            </a:r>
            <a:r>
              <a:rPr lang="en-US" dirty="0" err="1"/>
              <a:t>NoData</a:t>
            </a:r>
            <a:r>
              <a:rPr lang="en-US" dirty="0"/>
              <a:t> value.</a:t>
            </a:r>
          </a:p>
          <a:p>
            <a:endParaRPr lang="en-US" dirty="0"/>
          </a:p>
          <a:p>
            <a:r>
              <a:rPr lang="en-US" dirty="0"/>
              <a:t>In the example above, all cells within the state of Arkansas hold an elevation measurement. However, the full extent of the grid is rectangular. </a:t>
            </a:r>
          </a:p>
          <a:p>
            <a:endParaRPr lang="en-US" dirty="0"/>
          </a:p>
          <a:p>
            <a:r>
              <a:rPr lang="en-US" dirty="0"/>
              <a:t>So, the remaining cells, shown here in pink, are coded with the </a:t>
            </a:r>
            <a:r>
              <a:rPr lang="en-US" dirty="0" err="1"/>
              <a:t>NoData</a:t>
            </a:r>
            <a:r>
              <a:rPr lang="en-US" dirty="0"/>
              <a:t> assignment.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39472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Reducing the cell size can have a large impact on the total number of cells and, as a result, the file size. </a:t>
            </a:r>
          </a:p>
          <a:p>
            <a:endParaRPr lang="en-US" dirty="0"/>
          </a:p>
          <a:p>
            <a:r>
              <a:rPr lang="en-US" dirty="0"/>
              <a:t>For example, in the image above the red grid represents cells that are 100 by 100 meters.</a:t>
            </a:r>
          </a:p>
          <a:p>
            <a:endParaRPr lang="en-US" dirty="0"/>
          </a:p>
          <a:p>
            <a:r>
              <a:rPr lang="en-US" dirty="0"/>
              <a:t>The green grid represents cells that are 50 by 50 meters. </a:t>
            </a:r>
          </a:p>
          <a:p>
            <a:endParaRPr lang="en-US" dirty="0"/>
          </a:p>
          <a:p>
            <a:r>
              <a:rPr lang="en-US" dirty="0"/>
              <a:t>Each 100 by 100 meter cell contains four as opposed to two 50 by 50 meters cells. </a:t>
            </a:r>
          </a:p>
          <a:p>
            <a:endParaRPr lang="en-US" dirty="0"/>
          </a:p>
          <a:p>
            <a:r>
              <a:rPr lang="en-US" dirty="0"/>
              <a:t>So, decreasing the cell size by half quadruples the number of pixels. </a:t>
            </a:r>
          </a:p>
          <a:p>
            <a:endParaRPr lang="en-US" dirty="0"/>
          </a:p>
          <a:p>
            <a:r>
              <a:rPr lang="en-US" dirty="0"/>
              <a:t>As another example, a 10 by 10 meter cell would contain 100 1 by 1 meter cells. </a:t>
            </a:r>
          </a:p>
          <a:p>
            <a:endParaRPr lang="en-US" dirty="0"/>
          </a:p>
          <a:p>
            <a:r>
              <a:rPr lang="en-US" dirty="0"/>
              <a:t>So, high spatial resolution raster grids can be very large files, especially if they cover a large spatial extent.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4148242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variety of raster grid formats. However, I commonly use ESRI grids, </a:t>
            </a:r>
            <a:r>
              <a:rPr lang="en-US" dirty="0" err="1"/>
              <a:t>Erdas</a:t>
            </a:r>
            <a:r>
              <a:rPr lang="en-US" dirty="0"/>
              <a:t> Imagine, or </a:t>
            </a:r>
            <a:r>
              <a:rPr lang="en-US" dirty="0" err="1"/>
              <a:t>GeoTIFF</a:t>
            </a:r>
            <a:r>
              <a:rPr lang="en-US" dirty="0"/>
              <a:t> files. </a:t>
            </a:r>
          </a:p>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433367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2875089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1010319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E,H,J</a:t>
            </a:r>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3445995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25943717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11236643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8191600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2887090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37458205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4284622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26</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9/7/2025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80753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9/7/2025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5557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9/7/2025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42482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31929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35890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33895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3025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9/7/2025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57735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382864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65017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9/7/2025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33390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68566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872240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500289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993718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809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778024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53441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293211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197563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322699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155479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88692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204798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9/7/2025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32770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9/7/2025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1759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38092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05718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272089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655628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9/7/2025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251074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9/7/2025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008948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714485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9/7/2025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92567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9/7/2025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867066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9488988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9/7/2025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32822364"/>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www.seos-project.eu/modules/classification/classification-c01-p05.html"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hyperlink" Target="https://landsat.usgs.gov/what-are-band-designations-landsat-satellite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5.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t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1" y="740565"/>
            <a:ext cx="3871767" cy="1831185"/>
          </a:xfrm>
        </p:spPr>
        <p:txBody>
          <a:bodyPr>
            <a:normAutofit/>
          </a:bodyPr>
          <a:lstStyle/>
          <a:p>
            <a:r>
              <a:rPr lang="en-US" sz="2700" dirty="0">
                <a:solidFill>
                  <a:srgbClr val="FFFFFF"/>
                </a:solidFill>
              </a:rPr>
              <a:t>WEEK 04 </a:t>
            </a:r>
            <a:br>
              <a:rPr lang="en-US" sz="2700" dirty="0">
                <a:solidFill>
                  <a:srgbClr val="FFFFFF"/>
                </a:solidFill>
              </a:rPr>
            </a:br>
            <a:r>
              <a:rPr lang="en-US" sz="2800" dirty="0"/>
              <a:t>Geospatial Data</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defRPr/>
            </a:pPr>
            <a:endParaRPr lang="en-US" sz="1215">
              <a:solidFill>
                <a:srgbClr val="FFFFFF"/>
              </a:solidFill>
              <a:latin typeface="Calibri"/>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4.1 </a:t>
            </a:r>
            <a:br>
              <a:rPr lang="en-US" sz="4050" dirty="0">
                <a:solidFill>
                  <a:srgbClr val="FFFFFF"/>
                </a:solidFill>
              </a:rPr>
            </a:br>
            <a:r>
              <a:rPr lang="en-US" sz="4050" dirty="0">
                <a:solidFill>
                  <a:srgbClr val="FFFFFF"/>
                </a:solidFill>
              </a:rPr>
              <a:t>Introduction to </a:t>
            </a:r>
            <a:r>
              <a:rPr lang="en-US" sz="4050" dirty="0" err="1">
                <a:solidFill>
                  <a:srgbClr val="FFFFFF"/>
                </a:solidFill>
              </a:rPr>
              <a:t>gis</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defRPr/>
            </a:pPr>
            <a:endParaRPr lang="en-US" sz="1215">
              <a:solidFill>
                <a:srgbClr val="FFFFFF"/>
              </a:solidFill>
              <a:latin typeface="Calibri"/>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029962"/>
            <a:ext cx="7679724" cy="3886200"/>
          </a:xfrm>
        </p:spPr>
        <p:txBody>
          <a:bodyPr>
            <a:normAutofit fontScale="92500" lnSpcReduction="10000"/>
          </a:bodyPr>
          <a:lstStyle/>
          <a:p>
            <a:pPr>
              <a:buFont typeface="Courier New" panose="02070309020205020404" pitchFamily="49" charset="0"/>
              <a:buChar char="o"/>
            </a:pPr>
            <a:r>
              <a:rPr lang="en-US" altLang="en-US" sz="2600" dirty="0"/>
              <a:t>Geospatial data</a:t>
            </a:r>
          </a:p>
          <a:p>
            <a:pPr lvl="1">
              <a:buFont typeface="Wingdings" panose="05000000000000000000" pitchFamily="2" charset="2"/>
              <a:buChar char="ü"/>
            </a:pPr>
            <a:r>
              <a:rPr lang="en-US" altLang="en-US" sz="2300" dirty="0"/>
              <a:t>Vector</a:t>
            </a:r>
          </a:p>
          <a:p>
            <a:pPr lvl="2">
              <a:buFont typeface="Arial" panose="020B0604020202020204" pitchFamily="34" charset="0"/>
              <a:buChar char="•"/>
            </a:pPr>
            <a:r>
              <a:rPr lang="en-US" altLang="en-US" sz="1940" dirty="0"/>
              <a:t>Point</a:t>
            </a:r>
          </a:p>
          <a:p>
            <a:pPr lvl="2">
              <a:buFont typeface="Arial" panose="020B0604020202020204" pitchFamily="34" charset="0"/>
              <a:buChar char="•"/>
            </a:pPr>
            <a:r>
              <a:rPr lang="en-US" altLang="en-US" sz="1940" dirty="0"/>
              <a:t>Line</a:t>
            </a:r>
          </a:p>
          <a:p>
            <a:pPr lvl="2">
              <a:buFont typeface="Arial" panose="020B0604020202020204" pitchFamily="34" charset="0"/>
              <a:buChar char="•"/>
            </a:pPr>
            <a:r>
              <a:rPr lang="en-US" altLang="en-US" sz="1940" dirty="0"/>
              <a:t>Polygon</a:t>
            </a:r>
          </a:p>
          <a:p>
            <a:pPr lvl="1">
              <a:buFont typeface="Wingdings" panose="05000000000000000000" pitchFamily="2" charset="2"/>
              <a:buChar char="ü"/>
            </a:pPr>
            <a:r>
              <a:rPr lang="en-US" altLang="en-US" sz="2300" dirty="0"/>
              <a:t>Raster</a:t>
            </a:r>
          </a:p>
          <a:p>
            <a:pPr lvl="2">
              <a:buFont typeface="Arial" panose="020B0604020202020204" pitchFamily="34" charset="0"/>
              <a:buChar char="•"/>
            </a:pPr>
            <a:r>
              <a:rPr lang="en-US" altLang="en-US" sz="1940" dirty="0"/>
              <a:t>Pixel</a:t>
            </a:r>
          </a:p>
          <a:p>
            <a:pPr lvl="1">
              <a:buFont typeface="Wingdings" panose="05000000000000000000" pitchFamily="2" charset="2"/>
              <a:buChar char="ü"/>
            </a:pPr>
            <a:r>
              <a:rPr lang="en-US" altLang="en-US" sz="2300" dirty="0"/>
              <a:t>Triangulated Irregular Network</a:t>
            </a:r>
          </a:p>
          <a:p>
            <a:pPr lvl="1">
              <a:buFont typeface="Wingdings" panose="05000000000000000000" pitchFamily="2" charset="2"/>
              <a:buChar char="ü"/>
            </a:pPr>
            <a:r>
              <a:rPr lang="en-US" altLang="en-US" sz="2300" dirty="0"/>
              <a:t>Objected Data Model</a:t>
            </a:r>
          </a:p>
          <a:p>
            <a:pPr lvl="1">
              <a:buFont typeface="Wingdings" panose="05000000000000000000" pitchFamily="2" charset="2"/>
              <a:buChar char="ü"/>
            </a:pPr>
            <a:r>
              <a:rPr lang="en-US" altLang="en-US" sz="2300" dirty="0"/>
              <a:t>Three-Dimensional Data Models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1812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extLst>
      <p:ext uri="{BB962C8B-B14F-4D97-AF65-F5344CB8AC3E}">
        <p14:creationId xmlns:p14="http://schemas.microsoft.com/office/powerpoint/2010/main" val="1566743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mage showing spectral reflectance profil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722" y="1491334"/>
            <a:ext cx="4042987" cy="31640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436012" y="1566615"/>
            <a:ext cx="3241249" cy="2560253"/>
          </a:xfrm>
          <a:prstGeom prst="rect">
            <a:avLst/>
          </a:prstGeom>
          <a:noFill/>
        </p:spPr>
        <p:txBody>
          <a:bodyPr wrap="square" rtlCol="0">
            <a:spAutoFit/>
          </a:bodyPr>
          <a:lstStyle/>
          <a:p>
            <a:pPr>
              <a:lnSpc>
                <a:spcPct val="90000"/>
              </a:lnSpc>
            </a:pPr>
            <a:r>
              <a:rPr lang="en-US" sz="1620" b="1" dirty="0">
                <a:solidFill>
                  <a:schemeClr val="accent1">
                    <a:lumMod val="50000"/>
                  </a:schemeClr>
                </a:solidFill>
              </a:rPr>
              <a:t>Blue</a:t>
            </a:r>
            <a:r>
              <a:rPr lang="en-US" sz="1620" dirty="0"/>
              <a:t> = absorption by pigments</a:t>
            </a:r>
          </a:p>
          <a:p>
            <a:pPr>
              <a:lnSpc>
                <a:spcPct val="90000"/>
              </a:lnSpc>
            </a:pPr>
            <a:endParaRPr lang="en-US" sz="1620" dirty="0"/>
          </a:p>
          <a:p>
            <a:pPr>
              <a:lnSpc>
                <a:spcPct val="90000"/>
              </a:lnSpc>
            </a:pPr>
            <a:r>
              <a:rPr lang="en-US" sz="1620" b="1" dirty="0">
                <a:solidFill>
                  <a:srgbClr val="92D050"/>
                </a:solidFill>
              </a:rPr>
              <a:t>Green</a:t>
            </a:r>
            <a:r>
              <a:rPr lang="en-US" sz="1620" dirty="0"/>
              <a:t> = less absorption by pigment</a:t>
            </a:r>
          </a:p>
          <a:p>
            <a:pPr>
              <a:lnSpc>
                <a:spcPct val="90000"/>
              </a:lnSpc>
            </a:pPr>
            <a:endParaRPr lang="en-US" sz="1620" b="1" dirty="0">
              <a:solidFill>
                <a:srgbClr val="E3874F"/>
              </a:solidFill>
            </a:endParaRPr>
          </a:p>
          <a:p>
            <a:pPr>
              <a:lnSpc>
                <a:spcPct val="90000"/>
              </a:lnSpc>
            </a:pPr>
            <a:r>
              <a:rPr lang="en-US" sz="1620" b="1" dirty="0">
                <a:solidFill>
                  <a:srgbClr val="FF0000"/>
                </a:solidFill>
              </a:rPr>
              <a:t>Red</a:t>
            </a:r>
            <a:r>
              <a:rPr lang="en-US" sz="1620" b="1" dirty="0">
                <a:solidFill>
                  <a:srgbClr val="E3874F"/>
                </a:solidFill>
              </a:rPr>
              <a:t> </a:t>
            </a:r>
            <a:r>
              <a:rPr lang="en-US" sz="1620" dirty="0"/>
              <a:t>= absorption by pigments</a:t>
            </a:r>
          </a:p>
          <a:p>
            <a:pPr>
              <a:lnSpc>
                <a:spcPct val="90000"/>
              </a:lnSpc>
            </a:pPr>
            <a:endParaRPr lang="en-US" sz="1620" dirty="0"/>
          </a:p>
          <a:p>
            <a:pPr>
              <a:lnSpc>
                <a:spcPct val="90000"/>
              </a:lnSpc>
            </a:pPr>
            <a:r>
              <a:rPr lang="en-US" sz="1620" b="1" dirty="0">
                <a:solidFill>
                  <a:schemeClr val="accent4">
                    <a:lumMod val="75000"/>
                  </a:schemeClr>
                </a:solidFill>
              </a:rPr>
              <a:t>Near Infrared </a:t>
            </a:r>
            <a:r>
              <a:rPr lang="en-US" sz="1620" dirty="0"/>
              <a:t>= reflect and </a:t>
            </a:r>
          </a:p>
          <a:p>
            <a:pPr>
              <a:lnSpc>
                <a:spcPct val="90000"/>
              </a:lnSpc>
            </a:pPr>
            <a:r>
              <a:rPr lang="en-US" sz="1620" dirty="0"/>
              <a:t>scattered by interior cell walls</a:t>
            </a:r>
          </a:p>
          <a:p>
            <a:pPr>
              <a:lnSpc>
                <a:spcPct val="90000"/>
              </a:lnSpc>
            </a:pPr>
            <a:endParaRPr lang="en-US" sz="1620" dirty="0"/>
          </a:p>
          <a:p>
            <a:pPr>
              <a:lnSpc>
                <a:spcPct val="90000"/>
              </a:lnSpc>
            </a:pPr>
            <a:r>
              <a:rPr lang="en-US" sz="1620" b="1" dirty="0">
                <a:solidFill>
                  <a:schemeClr val="accent2">
                    <a:lumMod val="75000"/>
                  </a:schemeClr>
                </a:solidFill>
              </a:rPr>
              <a:t>Shortwave Infrared </a:t>
            </a:r>
            <a:r>
              <a:rPr lang="en-US" sz="1620" dirty="0"/>
              <a:t>= absorption by water in plant tissue</a:t>
            </a:r>
          </a:p>
        </p:txBody>
      </p:sp>
      <p:sp>
        <p:nvSpPr>
          <p:cNvPr id="9" name="TextBox 8"/>
          <p:cNvSpPr txBox="1"/>
          <p:nvPr/>
        </p:nvSpPr>
        <p:spPr>
          <a:xfrm>
            <a:off x="818205" y="3806512"/>
            <a:ext cx="257242" cy="316690"/>
          </a:xfrm>
          <a:prstGeom prst="rect">
            <a:avLst/>
          </a:prstGeom>
          <a:noFill/>
        </p:spPr>
        <p:txBody>
          <a:bodyPr wrap="square" rtlCol="0">
            <a:spAutoFit/>
          </a:bodyPr>
          <a:lstStyle/>
          <a:p>
            <a:pPr>
              <a:lnSpc>
                <a:spcPct val="90000"/>
              </a:lnSpc>
            </a:pPr>
            <a:r>
              <a:rPr lang="en-US" sz="1620" dirty="0">
                <a:solidFill>
                  <a:schemeClr val="accent1">
                    <a:lumMod val="50000"/>
                  </a:schemeClr>
                </a:solidFill>
              </a:rPr>
              <a:t>X</a:t>
            </a:r>
          </a:p>
        </p:txBody>
      </p:sp>
      <p:sp>
        <p:nvSpPr>
          <p:cNvPr id="11" name="TextBox 10"/>
          <p:cNvSpPr txBox="1"/>
          <p:nvPr/>
        </p:nvSpPr>
        <p:spPr>
          <a:xfrm>
            <a:off x="1006508" y="3600718"/>
            <a:ext cx="257242" cy="316690"/>
          </a:xfrm>
          <a:prstGeom prst="rect">
            <a:avLst/>
          </a:prstGeom>
          <a:noFill/>
        </p:spPr>
        <p:txBody>
          <a:bodyPr wrap="square" rtlCol="0">
            <a:spAutoFit/>
          </a:bodyPr>
          <a:lstStyle/>
          <a:p>
            <a:pPr>
              <a:lnSpc>
                <a:spcPct val="90000"/>
              </a:lnSpc>
            </a:pPr>
            <a:r>
              <a:rPr lang="en-US" sz="1620" dirty="0">
                <a:solidFill>
                  <a:srgbClr val="92D050"/>
                </a:solidFill>
              </a:rPr>
              <a:t>X</a:t>
            </a:r>
          </a:p>
        </p:txBody>
      </p:sp>
      <p:sp>
        <p:nvSpPr>
          <p:cNvPr id="12" name="TextBox 11"/>
          <p:cNvSpPr txBox="1"/>
          <p:nvPr/>
        </p:nvSpPr>
        <p:spPr>
          <a:xfrm>
            <a:off x="1174055" y="3744103"/>
            <a:ext cx="257242" cy="316690"/>
          </a:xfrm>
          <a:prstGeom prst="rect">
            <a:avLst/>
          </a:prstGeom>
          <a:noFill/>
        </p:spPr>
        <p:txBody>
          <a:bodyPr wrap="square" rtlCol="0">
            <a:spAutoFit/>
          </a:bodyPr>
          <a:lstStyle/>
          <a:p>
            <a:pPr>
              <a:lnSpc>
                <a:spcPct val="90000"/>
              </a:lnSpc>
            </a:pPr>
            <a:r>
              <a:rPr lang="en-US" sz="1620" dirty="0">
                <a:solidFill>
                  <a:srgbClr val="FF0000"/>
                </a:solidFill>
              </a:rPr>
              <a:t>X</a:t>
            </a:r>
          </a:p>
        </p:txBody>
      </p:sp>
      <p:sp>
        <p:nvSpPr>
          <p:cNvPr id="13" name="TextBox 12"/>
          <p:cNvSpPr txBox="1"/>
          <p:nvPr/>
        </p:nvSpPr>
        <p:spPr>
          <a:xfrm>
            <a:off x="1696725" y="2211611"/>
            <a:ext cx="257242" cy="316690"/>
          </a:xfrm>
          <a:prstGeom prst="rect">
            <a:avLst/>
          </a:prstGeom>
          <a:noFill/>
        </p:spPr>
        <p:txBody>
          <a:bodyPr wrap="square" rtlCol="0">
            <a:spAutoFit/>
          </a:bodyPr>
          <a:lstStyle/>
          <a:p>
            <a:pPr>
              <a:lnSpc>
                <a:spcPct val="90000"/>
              </a:lnSpc>
            </a:pPr>
            <a:r>
              <a:rPr lang="en-US" sz="1620" dirty="0">
                <a:solidFill>
                  <a:schemeClr val="accent4">
                    <a:lumMod val="75000"/>
                  </a:schemeClr>
                </a:solidFill>
              </a:rPr>
              <a:t>X</a:t>
            </a:r>
          </a:p>
        </p:txBody>
      </p:sp>
      <p:sp>
        <p:nvSpPr>
          <p:cNvPr id="14" name="TextBox 13"/>
          <p:cNvSpPr txBox="1"/>
          <p:nvPr/>
        </p:nvSpPr>
        <p:spPr>
          <a:xfrm>
            <a:off x="2982935" y="3457334"/>
            <a:ext cx="257242" cy="316690"/>
          </a:xfrm>
          <a:prstGeom prst="rect">
            <a:avLst/>
          </a:prstGeom>
          <a:noFill/>
        </p:spPr>
        <p:txBody>
          <a:bodyPr wrap="square" rtlCol="0">
            <a:spAutoFit/>
          </a:bodyPr>
          <a:lstStyle/>
          <a:p>
            <a:pPr>
              <a:lnSpc>
                <a:spcPct val="90000"/>
              </a:lnSpc>
            </a:pPr>
            <a:r>
              <a:rPr lang="en-US" sz="1620" dirty="0">
                <a:solidFill>
                  <a:schemeClr val="accent2">
                    <a:lumMod val="75000"/>
                  </a:schemeClr>
                </a:solidFill>
              </a:rPr>
              <a:t>X</a:t>
            </a:r>
          </a:p>
        </p:txBody>
      </p:sp>
      <p:sp>
        <p:nvSpPr>
          <p:cNvPr id="15" name="TextBox 14"/>
          <p:cNvSpPr txBox="1"/>
          <p:nvPr/>
        </p:nvSpPr>
        <p:spPr>
          <a:xfrm>
            <a:off x="2262658" y="2983337"/>
            <a:ext cx="257242" cy="316690"/>
          </a:xfrm>
          <a:prstGeom prst="rect">
            <a:avLst/>
          </a:prstGeom>
          <a:noFill/>
        </p:spPr>
        <p:txBody>
          <a:bodyPr wrap="square" rtlCol="0">
            <a:spAutoFit/>
          </a:bodyPr>
          <a:lstStyle/>
          <a:p>
            <a:pPr>
              <a:lnSpc>
                <a:spcPct val="90000"/>
              </a:lnSpc>
            </a:pPr>
            <a:r>
              <a:rPr lang="en-US" sz="1620" dirty="0">
                <a:solidFill>
                  <a:schemeClr val="accent2">
                    <a:lumMod val="75000"/>
                  </a:schemeClr>
                </a:solidFill>
              </a:rPr>
              <a:t>X</a:t>
            </a:r>
          </a:p>
        </p:txBody>
      </p:sp>
      <p:sp>
        <p:nvSpPr>
          <p:cNvPr id="16" name="TextBox 15"/>
          <p:cNvSpPr txBox="1"/>
          <p:nvPr/>
        </p:nvSpPr>
        <p:spPr>
          <a:xfrm>
            <a:off x="4436013" y="4277481"/>
            <a:ext cx="6872649" cy="541046"/>
          </a:xfrm>
          <a:prstGeom prst="rect">
            <a:avLst/>
          </a:prstGeom>
          <a:noFill/>
        </p:spPr>
        <p:txBody>
          <a:bodyPr wrap="square" rtlCol="0">
            <a:spAutoFit/>
          </a:bodyPr>
          <a:lstStyle/>
          <a:p>
            <a:pPr>
              <a:lnSpc>
                <a:spcPct val="90000"/>
              </a:lnSpc>
            </a:pPr>
            <a:r>
              <a:rPr lang="en-US" sz="1620" dirty="0"/>
              <a:t>Example: Maple  Leaf</a:t>
            </a:r>
          </a:p>
          <a:p>
            <a:pPr>
              <a:lnSpc>
                <a:spcPct val="90000"/>
              </a:lnSpc>
            </a:pPr>
            <a:r>
              <a:rPr lang="en-US" sz="1620" dirty="0"/>
              <a:t>Data from USGS Spectral Library Version 7</a:t>
            </a:r>
          </a:p>
        </p:txBody>
      </p:sp>
      <p:sp>
        <p:nvSpPr>
          <p:cNvPr id="17" name="Title 1">
            <a:extLst>
              <a:ext uri="{FF2B5EF4-FFF2-40B4-BE49-F238E27FC236}">
                <a16:creationId xmlns:a16="http://schemas.microsoft.com/office/drawing/2014/main" id="{0C1A3143-82D4-489A-ACB3-F404EF454F7F}"/>
              </a:ext>
            </a:extLst>
          </p:cNvPr>
          <p:cNvSpPr txBox="1">
            <a:spLocks/>
          </p:cNvSpPr>
          <p:nvPr/>
        </p:nvSpPr>
        <p:spPr>
          <a:xfrm>
            <a:off x="118533" y="20952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Spectral Reflectance of Vegetation</a:t>
            </a:r>
          </a:p>
        </p:txBody>
      </p:sp>
      <p:cxnSp>
        <p:nvCxnSpPr>
          <p:cNvPr id="18" name="Straight Connector 17">
            <a:extLst>
              <a:ext uri="{FF2B5EF4-FFF2-40B4-BE49-F238E27FC236}">
                <a16:creationId xmlns:a16="http://schemas.microsoft.com/office/drawing/2014/main" id="{0E360975-95A0-416B-A02D-224C66F712FB}"/>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C6230557-4564-45AC-91F7-32D99E59541C}"/>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3714316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spectral reflectan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2198" y="1129088"/>
            <a:ext cx="6548204" cy="329480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159761" y="4399093"/>
            <a:ext cx="4113728" cy="466281"/>
          </a:xfrm>
          <a:prstGeom prst="rect">
            <a:avLst/>
          </a:prstGeom>
        </p:spPr>
        <p:txBody>
          <a:bodyPr>
            <a:spAutoFit/>
          </a:bodyPr>
          <a:lstStyle/>
          <a:p>
            <a:r>
              <a:rPr lang="en-US" sz="1215" dirty="0">
                <a:hlinkClick r:id="rId4"/>
              </a:rPr>
              <a:t>http://www.seos-project.eu/modules/classification/classification-c01-p05.html</a:t>
            </a:r>
            <a:r>
              <a:rPr lang="en-US" sz="1215" dirty="0"/>
              <a:t> </a:t>
            </a:r>
          </a:p>
        </p:txBody>
      </p:sp>
      <p:sp>
        <p:nvSpPr>
          <p:cNvPr id="6" name="Title 1">
            <a:extLst>
              <a:ext uri="{FF2B5EF4-FFF2-40B4-BE49-F238E27FC236}">
                <a16:creationId xmlns:a16="http://schemas.microsoft.com/office/drawing/2014/main" id="{8D429EF9-4E61-4D78-9D6A-77A68FE3C217}"/>
              </a:ext>
            </a:extLst>
          </p:cNvPr>
          <p:cNvSpPr txBox="1">
            <a:spLocks/>
          </p:cNvSpPr>
          <p:nvPr/>
        </p:nvSpPr>
        <p:spPr>
          <a:xfrm>
            <a:off x="118533" y="413468"/>
            <a:ext cx="8077200" cy="509441"/>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400" dirty="0">
                <a:solidFill>
                  <a:srgbClr val="7030A0"/>
                </a:solidFill>
              </a:rPr>
              <a:t>Different materials have different reflectance properties</a:t>
            </a:r>
          </a:p>
        </p:txBody>
      </p:sp>
      <p:cxnSp>
        <p:nvCxnSpPr>
          <p:cNvPr id="7" name="Straight Connector 6">
            <a:extLst>
              <a:ext uri="{FF2B5EF4-FFF2-40B4-BE49-F238E27FC236}">
                <a16:creationId xmlns:a16="http://schemas.microsoft.com/office/drawing/2014/main" id="{B09BABC6-1B2B-4A05-A8C2-B86A75E0D62E}"/>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D49518FF-5FFC-4A77-AE16-7237E3FE0DCF}"/>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27779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E3874F"/>
                </a:solidFill>
              </a:rPr>
              <a:t> </a:t>
            </a:r>
          </a:p>
        </p:txBody>
      </p:sp>
      <p:sp>
        <p:nvSpPr>
          <p:cNvPr id="5" name="Slide Number Placeholder 4">
            <a:extLst>
              <a:ext uri="{FF2B5EF4-FFF2-40B4-BE49-F238E27FC236}">
                <a16:creationId xmlns:a16="http://schemas.microsoft.com/office/drawing/2014/main" id="{20248019-98C9-4C91-8143-69A4457C955E}"/>
              </a:ext>
            </a:extLst>
          </p:cNvPr>
          <p:cNvSpPr>
            <a:spLocks noGrp="1"/>
          </p:cNvSpPr>
          <p:nvPr>
            <p:ph type="sldNum" sz="quarter" idx="12"/>
          </p:nvPr>
        </p:nvSpPr>
        <p:spPr/>
        <p:txBody>
          <a:bodyPr/>
          <a:lstStyle/>
          <a:p>
            <a:fld id="{127DDC20-79C9-9647-820E-6D40A3D210C3}" type="slidenum">
              <a:rPr lang="en-US" smtClean="0"/>
              <a:pPr/>
              <a:t>6</a:t>
            </a:fld>
            <a:endParaRPr lang="en-US"/>
          </a:p>
        </p:txBody>
      </p:sp>
      <mc:AlternateContent xmlns:mc="http://schemas.openxmlformats.org/markup-compatibility/2006" xmlns:a14="http://schemas.microsoft.com/office/drawing/2010/main">
        <mc:Choice Requires="a14">
          <p:sp>
            <p:nvSpPr>
              <p:cNvPr id="4" name="TextBox 3"/>
              <p:cNvSpPr txBox="1"/>
              <p:nvPr/>
            </p:nvSpPr>
            <p:spPr>
              <a:xfrm>
                <a:off x="307618" y="1748576"/>
                <a:ext cx="2469522" cy="559512"/>
              </a:xfrm>
              <a:prstGeom prst="rect">
                <a:avLst/>
              </a:prstGeom>
              <a:noFill/>
            </p:spPr>
            <p:txBody>
              <a:bodyPr wrap="square" rtlCol="0">
                <a:spAutoFit/>
              </a:bodyPr>
              <a:lstStyle/>
              <a:p>
                <a:pPr>
                  <a:lnSpc>
                    <a:spcPct val="90000"/>
                  </a:lnSpc>
                </a:pPr>
                <a14:m>
                  <m:oMathPara xmlns:m="http://schemas.openxmlformats.org/officeDocument/2006/math">
                    <m:oMathParaPr>
                      <m:jc m:val="centerGroup"/>
                    </m:oMathParaPr>
                    <m:oMath xmlns:m="http://schemas.openxmlformats.org/officeDocument/2006/math">
                      <m:f>
                        <m:fPr>
                          <m:ctrlPr>
                            <a:rPr lang="en-US" sz="1620" i="1">
                              <a:latin typeface="Cambria Math" panose="02040503050406030204" pitchFamily="18" charset="0"/>
                            </a:rPr>
                          </m:ctrlPr>
                        </m:fPr>
                        <m:num>
                          <m:r>
                            <a:rPr lang="en-US" sz="1620" i="1">
                              <a:latin typeface="Cambria Math" panose="02040503050406030204" pitchFamily="18" charset="0"/>
                            </a:rPr>
                            <m:t>(</m:t>
                          </m:r>
                          <m:r>
                            <a:rPr lang="en-US" sz="1620" i="1">
                              <a:latin typeface="Cambria Math" panose="02040503050406030204" pitchFamily="18" charset="0"/>
                            </a:rPr>
                            <m:t>𝑁𝐼𝑅</m:t>
                          </m:r>
                          <m:r>
                            <a:rPr lang="en-US" sz="1620" i="1">
                              <a:latin typeface="Cambria Math" panose="02040503050406030204" pitchFamily="18" charset="0"/>
                            </a:rPr>
                            <m:t> −</m:t>
                          </m:r>
                          <m:r>
                            <a:rPr lang="en-US" sz="1620" i="1">
                              <a:latin typeface="Cambria Math" panose="02040503050406030204" pitchFamily="18" charset="0"/>
                            </a:rPr>
                            <m:t>𝑅𝑒𝑑</m:t>
                          </m:r>
                          <m:r>
                            <a:rPr lang="en-US" sz="1620" i="1">
                              <a:latin typeface="Cambria Math" panose="02040503050406030204" pitchFamily="18" charset="0"/>
                            </a:rPr>
                            <m:t>)</m:t>
                          </m:r>
                        </m:num>
                        <m:den>
                          <m:r>
                            <a:rPr lang="en-US" sz="1620" i="1">
                              <a:latin typeface="Cambria Math" panose="02040503050406030204" pitchFamily="18" charset="0"/>
                            </a:rPr>
                            <m:t>(</m:t>
                          </m:r>
                          <m:r>
                            <a:rPr lang="en-US" sz="1620" i="1">
                              <a:latin typeface="Cambria Math" panose="02040503050406030204" pitchFamily="18" charset="0"/>
                            </a:rPr>
                            <m:t>𝑁𝐼𝑅</m:t>
                          </m:r>
                          <m:r>
                            <a:rPr lang="en-US" sz="1620" i="1">
                              <a:latin typeface="Cambria Math" panose="02040503050406030204" pitchFamily="18" charset="0"/>
                            </a:rPr>
                            <m:t>+</m:t>
                          </m:r>
                          <m:r>
                            <a:rPr lang="en-US" sz="1620" i="1">
                              <a:latin typeface="Cambria Math" panose="02040503050406030204" pitchFamily="18" charset="0"/>
                            </a:rPr>
                            <m:t>𝑅𝑒𝑑</m:t>
                          </m:r>
                          <m:r>
                            <a:rPr lang="en-US" sz="1620" i="1">
                              <a:latin typeface="Cambria Math" panose="02040503050406030204" pitchFamily="18" charset="0"/>
                            </a:rPr>
                            <m:t>)</m:t>
                          </m:r>
                        </m:den>
                      </m:f>
                    </m:oMath>
                  </m:oMathPara>
                </a14:m>
                <a:endParaRPr lang="en-US" sz="1620" dirty="0"/>
              </a:p>
            </p:txBody>
          </p:sp>
        </mc:Choice>
        <mc:Fallback xmlns="">
          <p:sp>
            <p:nvSpPr>
              <p:cNvPr id="4" name="TextBox 3"/>
              <p:cNvSpPr txBox="1">
                <a:spLocks noRot="1" noChangeAspect="1" noMove="1" noResize="1" noEditPoints="1" noAdjustHandles="1" noChangeArrowheads="1" noChangeShapeType="1" noTextEdit="1"/>
              </p:cNvSpPr>
              <p:nvPr/>
            </p:nvSpPr>
            <p:spPr>
              <a:xfrm>
                <a:off x="307618" y="1748576"/>
                <a:ext cx="2469522" cy="559512"/>
              </a:xfrm>
              <a:prstGeom prst="rect">
                <a:avLst/>
              </a:prstGeom>
              <a:blipFill>
                <a:blip r:embed="rId3"/>
                <a:stretch>
                  <a:fillRect t="-3261" b="-11957"/>
                </a:stretch>
              </a:blipFill>
            </p:spPr>
            <p:txBody>
              <a:bodyPr/>
              <a:lstStyle/>
              <a:p>
                <a:r>
                  <a:rPr lang="en-US">
                    <a:noFill/>
                  </a:rPr>
                  <a:t> </a:t>
                </a:r>
              </a:p>
            </p:txBody>
          </p:sp>
        </mc:Fallback>
      </mc:AlternateContent>
      <p:pic>
        <p:nvPicPr>
          <p:cNvPr id="6" name="Picture 5" descr="Image showing NDVI"/>
          <p:cNvPicPr/>
          <p:nvPr/>
        </p:nvPicPr>
        <p:blipFill>
          <a:blip r:embed="rId4"/>
          <a:stretch>
            <a:fillRect/>
          </a:stretch>
        </p:blipFill>
        <p:spPr>
          <a:xfrm>
            <a:off x="307619" y="2623199"/>
            <a:ext cx="3549939" cy="1924780"/>
          </a:xfrm>
          <a:prstGeom prst="rect">
            <a:avLst/>
          </a:prstGeom>
        </p:spPr>
      </p:pic>
      <p:pic>
        <p:nvPicPr>
          <p:cNvPr id="3" name="Picture 2" descr="Image showing NDVI"/>
          <p:cNvPicPr>
            <a:picLocks noChangeAspect="1"/>
          </p:cNvPicPr>
          <p:nvPr/>
        </p:nvPicPr>
        <p:blipFill>
          <a:blip r:embed="rId5">
            <a:clrChange>
              <a:clrFrom>
                <a:srgbClr val="FFFFFF"/>
              </a:clrFrom>
              <a:clrTo>
                <a:srgbClr val="FFFFFF">
                  <a:alpha val="0"/>
                </a:srgbClr>
              </a:clrTo>
            </a:clrChange>
          </a:blip>
          <a:stretch>
            <a:fillRect/>
          </a:stretch>
        </p:blipFill>
        <p:spPr>
          <a:xfrm>
            <a:off x="4208643" y="1800024"/>
            <a:ext cx="4020957" cy="2847884"/>
          </a:xfrm>
          <a:prstGeom prst="rect">
            <a:avLst/>
          </a:prstGeom>
        </p:spPr>
      </p:pic>
      <p:sp>
        <p:nvSpPr>
          <p:cNvPr id="8" name="TextBox 7"/>
          <p:cNvSpPr txBox="1"/>
          <p:nvPr/>
        </p:nvSpPr>
        <p:spPr>
          <a:xfrm>
            <a:off x="5812597" y="4639368"/>
            <a:ext cx="3344146" cy="241926"/>
          </a:xfrm>
          <a:prstGeom prst="rect">
            <a:avLst/>
          </a:prstGeom>
          <a:noFill/>
        </p:spPr>
        <p:txBody>
          <a:bodyPr wrap="square" rtlCol="0">
            <a:spAutoFit/>
          </a:bodyPr>
          <a:lstStyle/>
          <a:p>
            <a:pPr>
              <a:lnSpc>
                <a:spcPct val="90000"/>
              </a:lnSpc>
            </a:pPr>
            <a:r>
              <a:rPr lang="en-US" sz="1080" dirty="0"/>
              <a:t>Data from Landsat 5 Thematic Mapper</a:t>
            </a:r>
          </a:p>
        </p:txBody>
      </p:sp>
      <p:sp>
        <p:nvSpPr>
          <p:cNvPr id="7" name="Title 1">
            <a:extLst>
              <a:ext uri="{FF2B5EF4-FFF2-40B4-BE49-F238E27FC236}">
                <a16:creationId xmlns:a16="http://schemas.microsoft.com/office/drawing/2014/main" id="{D3EAD5FF-5FDF-4617-ADB2-22F0C70B61D9}"/>
              </a:ext>
            </a:extLst>
          </p:cNvPr>
          <p:cNvSpPr txBox="1">
            <a:spLocks/>
          </p:cNvSpPr>
          <p:nvPr/>
        </p:nvSpPr>
        <p:spPr>
          <a:xfrm>
            <a:off x="170043" y="23591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lnSpc>
                <a:spcPct val="80000"/>
              </a:lnSpc>
            </a:pPr>
            <a:r>
              <a:rPr lang="en-US" sz="3000" dirty="0">
                <a:solidFill>
                  <a:srgbClr val="7030A0"/>
                </a:solidFill>
              </a:rPr>
              <a:t>Normalized Difference Vegetation Index (NDVI)</a:t>
            </a:r>
          </a:p>
        </p:txBody>
      </p:sp>
      <p:cxnSp>
        <p:nvCxnSpPr>
          <p:cNvPr id="9" name="Straight Connector 8">
            <a:extLst>
              <a:ext uri="{FF2B5EF4-FFF2-40B4-BE49-F238E27FC236}">
                <a16:creationId xmlns:a16="http://schemas.microsoft.com/office/drawing/2014/main" id="{64D29BD9-1D7B-4244-9F80-36A53DA560E5}"/>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4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53968" y="4372444"/>
            <a:ext cx="4113728" cy="653256"/>
          </a:xfrm>
          <a:prstGeom prst="rect">
            <a:avLst/>
          </a:prstGeom>
        </p:spPr>
        <p:txBody>
          <a:bodyPr>
            <a:spAutoFit/>
          </a:bodyPr>
          <a:lstStyle/>
          <a:p>
            <a:r>
              <a:rPr lang="en-US" sz="1215" dirty="0">
                <a:hlinkClick r:id="rId3"/>
              </a:rPr>
              <a:t>https://landsat.usgs.gov/what-are-band-designations-landsat-satellites</a:t>
            </a:r>
            <a:endParaRPr lang="en-US" sz="1215" dirty="0"/>
          </a:p>
          <a:p>
            <a:endParaRPr lang="en-US" sz="1215" dirty="0"/>
          </a:p>
        </p:txBody>
      </p:sp>
      <p:pic>
        <p:nvPicPr>
          <p:cNvPr id="4" name="Picture 3" descr="Image showing bands information"/>
          <p:cNvPicPr>
            <a:picLocks noChangeAspect="1"/>
          </p:cNvPicPr>
          <p:nvPr/>
        </p:nvPicPr>
        <p:blipFill>
          <a:blip r:embed="rId4"/>
          <a:stretch>
            <a:fillRect/>
          </a:stretch>
        </p:blipFill>
        <p:spPr>
          <a:xfrm>
            <a:off x="458159" y="1238685"/>
            <a:ext cx="7313281" cy="2934729"/>
          </a:xfrm>
          <a:prstGeom prst="rect">
            <a:avLst/>
          </a:prstGeom>
        </p:spPr>
      </p:pic>
      <p:sp>
        <p:nvSpPr>
          <p:cNvPr id="5" name="Title 1">
            <a:extLst>
              <a:ext uri="{FF2B5EF4-FFF2-40B4-BE49-F238E27FC236}">
                <a16:creationId xmlns:a16="http://schemas.microsoft.com/office/drawing/2014/main" id="{5AB4CBA1-35A4-47DC-BF50-03AA9127743D}"/>
              </a:ext>
            </a:extLst>
          </p:cNvPr>
          <p:cNvSpPr txBox="1">
            <a:spLocks/>
          </p:cNvSpPr>
          <p:nvPr/>
        </p:nvSpPr>
        <p:spPr>
          <a:xfrm>
            <a:off x="285510" y="2471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lnSpc>
                <a:spcPct val="80000"/>
              </a:lnSpc>
            </a:pPr>
            <a:r>
              <a:rPr lang="en-US" sz="3000" dirty="0">
                <a:solidFill>
                  <a:srgbClr val="7030A0"/>
                </a:solidFill>
              </a:rPr>
              <a:t>Imagery bands</a:t>
            </a:r>
          </a:p>
        </p:txBody>
      </p:sp>
      <p:cxnSp>
        <p:nvCxnSpPr>
          <p:cNvPr id="6" name="Straight Connector 5">
            <a:extLst>
              <a:ext uri="{FF2B5EF4-FFF2-40B4-BE49-F238E27FC236}">
                <a16:creationId xmlns:a16="http://schemas.microsoft.com/office/drawing/2014/main" id="{438EAF51-F17B-41A3-8A87-78DCABEC1A62}"/>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F990570F-79D6-4934-85AE-1F5CD92FB71A}"/>
              </a:ext>
            </a:extLst>
          </p:cNvPr>
          <p:cNvSpPr>
            <a:spLocks noGrp="1"/>
          </p:cNvSpPr>
          <p:nvPr>
            <p:ph type="sldNum" sz="quarter" idx="12"/>
          </p:nvPr>
        </p:nvSpPr>
        <p:spPr/>
        <p:txBody>
          <a:bodyPr/>
          <a:lstStyle/>
          <a:p>
            <a:fld id="{127DDC20-79C9-9647-820E-6D40A3D210C3}" type="slidenum">
              <a:rPr lang="en-US" smtClean="0"/>
              <a:pPr/>
              <a:t>7</a:t>
            </a:fld>
            <a:endParaRPr lang="en-US"/>
          </a:p>
        </p:txBody>
      </p:sp>
    </p:spTree>
    <p:extLst>
      <p:ext uri="{BB962C8B-B14F-4D97-AF65-F5344CB8AC3E}">
        <p14:creationId xmlns:p14="http://schemas.microsoft.com/office/powerpoint/2010/main" val="2047766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0005" y="1093641"/>
            <a:ext cx="8055728" cy="1303301"/>
          </a:xfrm>
        </p:spPr>
        <p:txBody>
          <a:bodyPr>
            <a:noAutofit/>
          </a:bodyPr>
          <a:lstStyle/>
          <a:p>
            <a:pPr>
              <a:buFont typeface="Courier New" panose="02070309020205020404" pitchFamily="49" charset="0"/>
              <a:buChar char="o"/>
            </a:pPr>
            <a:r>
              <a:rPr lang="en-US" sz="2800" dirty="0"/>
              <a:t>Remote sensing imagery</a:t>
            </a:r>
          </a:p>
          <a:p>
            <a:pPr lvl="1">
              <a:buFont typeface="Wingdings" panose="05000000000000000000" pitchFamily="2" charset="2"/>
              <a:buChar char="ü"/>
            </a:pPr>
            <a:r>
              <a:rPr lang="en-US" sz="2800" dirty="0"/>
              <a:t>Multiple layers or bands that are stacked to produce an image</a:t>
            </a:r>
          </a:p>
        </p:txBody>
      </p:sp>
      <p:sp>
        <p:nvSpPr>
          <p:cNvPr id="2" name="Slide Number Placeholder 1">
            <a:extLst>
              <a:ext uri="{FF2B5EF4-FFF2-40B4-BE49-F238E27FC236}">
                <a16:creationId xmlns:a16="http://schemas.microsoft.com/office/drawing/2014/main" id="{0C989F52-141B-4E20-AB15-34FE548DC988}"/>
              </a:ext>
            </a:extLst>
          </p:cNvPr>
          <p:cNvSpPr>
            <a:spLocks noGrp="1"/>
          </p:cNvSpPr>
          <p:nvPr>
            <p:ph type="sldNum" sz="quarter" idx="12"/>
          </p:nvPr>
        </p:nvSpPr>
        <p:spPr/>
        <p:txBody>
          <a:bodyPr/>
          <a:lstStyle/>
          <a:p>
            <a:fld id="{127DDC20-79C9-9647-820E-6D40A3D210C3}" type="slidenum">
              <a:rPr lang="en-US" smtClean="0"/>
              <a:pPr/>
              <a:t>8</a:t>
            </a:fld>
            <a:endParaRPr lang="en-US"/>
          </a:p>
        </p:txBody>
      </p:sp>
      <p:sp>
        <p:nvSpPr>
          <p:cNvPr id="27" name="Text Box 11"/>
          <p:cNvSpPr txBox="1">
            <a:spLocks noChangeArrowheads="1"/>
          </p:cNvSpPr>
          <p:nvPr/>
        </p:nvSpPr>
        <p:spPr bwMode="auto">
          <a:xfrm>
            <a:off x="5027067" y="3245880"/>
            <a:ext cx="1017780" cy="249749"/>
          </a:xfrm>
          <a:prstGeom prst="rect">
            <a:avLst/>
          </a:prstGeom>
          <a:noFill/>
          <a:ln w="12700">
            <a:noFill/>
            <a:miter lim="800000"/>
            <a:headEnd/>
            <a:tailEnd/>
          </a:ln>
        </p:spPr>
        <p:txBody>
          <a:bodyPr wrap="none" lIns="62167" tIns="31084" rIns="62167" bIns="31084">
            <a:spAutoFit/>
          </a:bodyPr>
          <a:lstStyle/>
          <a:p>
            <a:r>
              <a:rPr lang="en-US" sz="1215" dirty="0">
                <a:solidFill>
                  <a:schemeClr val="bg1"/>
                </a:solidFill>
              </a:rPr>
              <a:t>Value = 896 m</a:t>
            </a:r>
          </a:p>
        </p:txBody>
      </p:sp>
      <p:pic>
        <p:nvPicPr>
          <p:cNvPr id="7" name="Picture 6" descr="Image showing remote sensing imagery"/>
          <p:cNvPicPr>
            <a:picLocks noChangeAspect="1"/>
          </p:cNvPicPr>
          <p:nvPr/>
        </p:nvPicPr>
        <p:blipFill>
          <a:blip r:embed="rId3"/>
          <a:stretch>
            <a:fillRect/>
          </a:stretch>
        </p:blipFill>
        <p:spPr>
          <a:xfrm>
            <a:off x="4080819" y="2444119"/>
            <a:ext cx="3970592" cy="2535362"/>
          </a:xfrm>
          <a:prstGeom prst="rect">
            <a:avLst/>
          </a:prstGeom>
        </p:spPr>
      </p:pic>
      <p:pic>
        <p:nvPicPr>
          <p:cNvPr id="8" name="Picture 7" descr="Image showing bands information"/>
          <p:cNvPicPr>
            <a:picLocks noChangeAspect="1"/>
          </p:cNvPicPr>
          <p:nvPr/>
        </p:nvPicPr>
        <p:blipFill>
          <a:blip r:embed="rId4"/>
          <a:stretch>
            <a:fillRect/>
          </a:stretch>
        </p:blipFill>
        <p:spPr>
          <a:xfrm>
            <a:off x="2674245" y="3885213"/>
            <a:ext cx="1292641" cy="707415"/>
          </a:xfrm>
          <a:prstGeom prst="rect">
            <a:avLst/>
          </a:prstGeom>
        </p:spPr>
      </p:pic>
      <p:pic>
        <p:nvPicPr>
          <p:cNvPr id="9" name="Picture 8" descr="Image showing bands information"/>
          <p:cNvPicPr>
            <a:picLocks noChangeAspect="1"/>
          </p:cNvPicPr>
          <p:nvPr/>
        </p:nvPicPr>
        <p:blipFill>
          <a:blip r:embed="rId5"/>
          <a:stretch>
            <a:fillRect/>
          </a:stretch>
        </p:blipFill>
        <p:spPr>
          <a:xfrm>
            <a:off x="3088068" y="3133006"/>
            <a:ext cx="578794" cy="578794"/>
          </a:xfrm>
          <a:prstGeom prst="rect">
            <a:avLst/>
          </a:prstGeom>
        </p:spPr>
      </p:pic>
      <p:pic>
        <p:nvPicPr>
          <p:cNvPr id="10" name="Picture 9" descr="Image showing remote sensing imagery"/>
          <p:cNvPicPr>
            <a:picLocks noChangeAspect="1"/>
          </p:cNvPicPr>
          <p:nvPr/>
        </p:nvPicPr>
        <p:blipFill>
          <a:blip r:embed="rId6">
            <a:clrChange>
              <a:clrFrom>
                <a:srgbClr val="00C5FF"/>
              </a:clrFrom>
              <a:clrTo>
                <a:srgbClr val="00C5FF">
                  <a:alpha val="0"/>
                </a:srgbClr>
              </a:clrTo>
            </a:clrChange>
          </a:blip>
          <a:stretch>
            <a:fillRect/>
          </a:stretch>
        </p:blipFill>
        <p:spPr>
          <a:xfrm>
            <a:off x="294216" y="2130554"/>
            <a:ext cx="2379895" cy="3012946"/>
          </a:xfrm>
          <a:prstGeom prst="rect">
            <a:avLst/>
          </a:prstGeom>
        </p:spPr>
      </p:pic>
      <p:sp>
        <p:nvSpPr>
          <p:cNvPr id="11" name="Title 1">
            <a:extLst>
              <a:ext uri="{FF2B5EF4-FFF2-40B4-BE49-F238E27FC236}">
                <a16:creationId xmlns:a16="http://schemas.microsoft.com/office/drawing/2014/main" id="{4986ACE7-854C-482B-95DA-DB7E166026E0}"/>
              </a:ext>
            </a:extLst>
          </p:cNvPr>
          <p:cNvSpPr txBox="1">
            <a:spLocks/>
          </p:cNvSpPr>
          <p:nvPr/>
        </p:nvSpPr>
        <p:spPr>
          <a:xfrm>
            <a:off x="152400" y="22104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2" name="Straight Connector 11">
            <a:extLst>
              <a:ext uri="{FF2B5EF4-FFF2-40B4-BE49-F238E27FC236}">
                <a16:creationId xmlns:a16="http://schemas.microsoft.com/office/drawing/2014/main" id="{939DDA80-AFF0-4A66-A294-2E209B8860F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948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1DD1A-57D6-BC30-5AE1-FF80D24738AD}"/>
              </a:ext>
            </a:extLst>
          </p:cNvPr>
          <p:cNvSpPr>
            <a:spLocks noGrp="1"/>
          </p:cNvSpPr>
          <p:nvPr>
            <p:ph type="title"/>
          </p:nvPr>
        </p:nvSpPr>
        <p:spPr>
          <a:xfrm>
            <a:off x="392305" y="731130"/>
            <a:ext cx="7444991" cy="421014"/>
          </a:xfrm>
        </p:spPr>
        <p:txBody>
          <a:bodyPr/>
          <a:lstStyle/>
          <a:p>
            <a:r>
              <a:rPr lang="en-US" altLang="zh-CN" dirty="0"/>
              <a:t>Band combination</a:t>
            </a:r>
            <a:endParaRPr lang="zh-CN" altLang="en-US" dirty="0"/>
          </a:p>
        </p:txBody>
      </p:sp>
      <p:pic>
        <p:nvPicPr>
          <p:cNvPr id="5" name="Content Placeholder 4">
            <a:extLst>
              <a:ext uri="{FF2B5EF4-FFF2-40B4-BE49-F238E27FC236}">
                <a16:creationId xmlns:a16="http://schemas.microsoft.com/office/drawing/2014/main" id="{2BABF783-E5E4-1F52-9E91-920A06C660F9}"/>
              </a:ext>
            </a:extLst>
          </p:cNvPr>
          <p:cNvPicPr>
            <a:picLocks noGrp="1" noChangeAspect="1"/>
          </p:cNvPicPr>
          <p:nvPr>
            <p:ph idx="1"/>
          </p:nvPr>
        </p:nvPicPr>
        <p:blipFill>
          <a:blip r:embed="rId2"/>
          <a:stretch>
            <a:fillRect/>
          </a:stretch>
        </p:blipFill>
        <p:spPr>
          <a:xfrm>
            <a:off x="704256" y="1715275"/>
            <a:ext cx="1576803" cy="2452806"/>
          </a:xfrm>
        </p:spPr>
      </p:pic>
      <p:pic>
        <p:nvPicPr>
          <p:cNvPr id="7" name="Picture 6">
            <a:extLst>
              <a:ext uri="{FF2B5EF4-FFF2-40B4-BE49-F238E27FC236}">
                <a16:creationId xmlns:a16="http://schemas.microsoft.com/office/drawing/2014/main" id="{3C21F251-9913-B4C6-F694-524232B0B336}"/>
              </a:ext>
            </a:extLst>
          </p:cNvPr>
          <p:cNvPicPr>
            <a:picLocks noChangeAspect="1"/>
          </p:cNvPicPr>
          <p:nvPr/>
        </p:nvPicPr>
        <p:blipFill>
          <a:blip r:embed="rId3"/>
          <a:stretch>
            <a:fillRect/>
          </a:stretch>
        </p:blipFill>
        <p:spPr>
          <a:xfrm>
            <a:off x="2897620" y="1758480"/>
            <a:ext cx="1576803" cy="2535737"/>
          </a:xfrm>
          <a:prstGeom prst="rect">
            <a:avLst/>
          </a:prstGeom>
        </p:spPr>
      </p:pic>
      <p:pic>
        <p:nvPicPr>
          <p:cNvPr id="9" name="Picture 8">
            <a:extLst>
              <a:ext uri="{FF2B5EF4-FFF2-40B4-BE49-F238E27FC236}">
                <a16:creationId xmlns:a16="http://schemas.microsoft.com/office/drawing/2014/main" id="{FF3C64BA-0D34-0708-B151-D60CEE6FA79B}"/>
              </a:ext>
            </a:extLst>
          </p:cNvPr>
          <p:cNvPicPr>
            <a:picLocks noChangeAspect="1"/>
          </p:cNvPicPr>
          <p:nvPr/>
        </p:nvPicPr>
        <p:blipFill>
          <a:blip r:embed="rId4"/>
          <a:stretch>
            <a:fillRect/>
          </a:stretch>
        </p:blipFill>
        <p:spPr>
          <a:xfrm>
            <a:off x="5090983" y="1685276"/>
            <a:ext cx="1961684" cy="2374909"/>
          </a:xfrm>
          <a:prstGeom prst="rect">
            <a:avLst/>
          </a:prstGeom>
        </p:spPr>
      </p:pic>
      <p:sp>
        <p:nvSpPr>
          <p:cNvPr id="10" name="Footer Placeholder 9">
            <a:extLst>
              <a:ext uri="{FF2B5EF4-FFF2-40B4-BE49-F238E27FC236}">
                <a16:creationId xmlns:a16="http://schemas.microsoft.com/office/drawing/2014/main" id="{E87616C3-5CBF-CBCB-6F98-A16EC8BC4613}"/>
              </a:ext>
            </a:extLst>
          </p:cNvPr>
          <p:cNvSpPr>
            <a:spLocks noGrp="1"/>
          </p:cNvSpPr>
          <p:nvPr>
            <p:ph type="ftr" sz="quarter" idx="11"/>
          </p:nvPr>
        </p:nvSpPr>
        <p:spPr>
          <a:xfrm>
            <a:off x="0" y="4607981"/>
            <a:ext cx="4669117" cy="246459"/>
          </a:xfrm>
        </p:spPr>
        <p:txBody>
          <a:bodyPr/>
          <a:lstStyle/>
          <a:p>
            <a:pPr defTabSz="308610"/>
            <a:r>
              <a:rPr lang="en-US" dirty="0">
                <a:solidFill>
                  <a:srgbClr val="000000">
                    <a:lumMod val="75000"/>
                    <a:lumOff val="25000"/>
                  </a:srgbClr>
                </a:solidFill>
                <a:latin typeface="Calibri"/>
              </a:rPr>
              <a:t>Common Landsat Band Combinations: https://www.usgs.gov/media/images/common-landsat-band-combinations</a:t>
            </a:r>
          </a:p>
        </p:txBody>
      </p:sp>
    </p:spTree>
    <p:extLst>
      <p:ext uri="{BB962C8B-B14F-4D97-AF65-F5344CB8AC3E}">
        <p14:creationId xmlns:p14="http://schemas.microsoft.com/office/powerpoint/2010/main" val="2804254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endParaRPr lang="en-US" sz="1215">
              <a:solidFill>
                <a:srgbClr val="FFFFFF"/>
              </a:solidFill>
              <a:latin typeface="Calibri"/>
            </a:endParaRPr>
          </a:p>
        </p:txBody>
      </p:sp>
      <p:sp>
        <p:nvSpPr>
          <p:cNvPr id="25" name="Rectangle 24">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662986"/>
            <a:ext cx="2499741" cy="39078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a:solidFill>
                <a:srgbClr val="FFFFFF"/>
              </a:solidFill>
              <a:latin typeface="Calibri"/>
            </a:endParaRPr>
          </a:p>
        </p:txBody>
      </p:sp>
      <p:sp>
        <p:nvSpPr>
          <p:cNvPr id="2" name="Title 1">
            <a:extLst>
              <a:ext uri="{FF2B5EF4-FFF2-40B4-BE49-F238E27FC236}">
                <a16:creationId xmlns:a16="http://schemas.microsoft.com/office/drawing/2014/main" id="{605948FA-1E0B-C0A2-F5A8-C1A78BE1D412}"/>
              </a:ext>
            </a:extLst>
          </p:cNvPr>
          <p:cNvSpPr>
            <a:spLocks noGrp="1"/>
          </p:cNvSpPr>
          <p:nvPr>
            <p:ph type="title"/>
          </p:nvPr>
        </p:nvSpPr>
        <p:spPr>
          <a:xfrm>
            <a:off x="332452" y="938518"/>
            <a:ext cx="2499741" cy="466451"/>
          </a:xfrm>
        </p:spPr>
        <p:txBody>
          <a:bodyPr>
            <a:normAutofit/>
          </a:bodyPr>
          <a:lstStyle/>
          <a:p>
            <a:r>
              <a:rPr lang="en-US" altLang="zh-CN" dirty="0">
                <a:solidFill>
                  <a:srgbClr val="FFFFFF"/>
                </a:solidFill>
              </a:rPr>
              <a:t>Observe the imagery</a:t>
            </a:r>
            <a:endParaRPr lang="en-US" dirty="0">
              <a:solidFill>
                <a:srgbClr val="FFFFFF"/>
              </a:solidFill>
            </a:endParaRPr>
          </a:p>
        </p:txBody>
      </p:sp>
      <p:sp>
        <p:nvSpPr>
          <p:cNvPr id="27" name="Rectangle 26">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a:solidFill>
                <a:srgbClr val="FFFFFF"/>
              </a:solidFill>
              <a:latin typeface="Calibri"/>
            </a:endParaRPr>
          </a:p>
        </p:txBody>
      </p:sp>
      <p:sp>
        <p:nvSpPr>
          <p:cNvPr id="29" name="Rectangle 28">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dirty="0">
              <a:solidFill>
                <a:srgbClr val="FFFFFF"/>
              </a:solidFill>
              <a:latin typeface="Calibri"/>
            </a:endParaRPr>
          </a:p>
        </p:txBody>
      </p:sp>
      <p:sp>
        <p:nvSpPr>
          <p:cNvPr id="31" name="Rectangle 30">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a:solidFill>
                <a:srgbClr val="FFFFFF"/>
              </a:solidFill>
              <a:latin typeface="Calibri"/>
            </a:endParaRPr>
          </a:p>
        </p:txBody>
      </p:sp>
      <p:sp>
        <p:nvSpPr>
          <p:cNvPr id="3" name="Content Placeholder 2">
            <a:extLst>
              <a:ext uri="{FF2B5EF4-FFF2-40B4-BE49-F238E27FC236}">
                <a16:creationId xmlns:a16="http://schemas.microsoft.com/office/drawing/2014/main" id="{0FDFF157-6F76-5B2C-D395-E5D12A87C821}"/>
              </a:ext>
            </a:extLst>
          </p:cNvPr>
          <p:cNvSpPr>
            <a:spLocks noGrp="1"/>
          </p:cNvSpPr>
          <p:nvPr>
            <p:ph idx="1"/>
          </p:nvPr>
        </p:nvSpPr>
        <p:spPr>
          <a:xfrm>
            <a:off x="453271" y="1587919"/>
            <a:ext cx="2108554" cy="2478557"/>
          </a:xfrm>
        </p:spPr>
        <p:txBody>
          <a:bodyPr anchor="t">
            <a:normAutofit/>
          </a:bodyPr>
          <a:lstStyle/>
          <a:p>
            <a:r>
              <a:rPr lang="en-US" sz="1350" dirty="0">
                <a:solidFill>
                  <a:srgbClr val="FFFFFF"/>
                </a:solidFill>
              </a:rPr>
              <a:t>Images: Landsat 9 acquired January 23, 2025. </a:t>
            </a:r>
          </a:p>
          <a:p>
            <a:r>
              <a:rPr lang="en-US" sz="1350" dirty="0">
                <a:solidFill>
                  <a:srgbClr val="FFFFFF"/>
                </a:solidFill>
              </a:rPr>
              <a:t>Band number displayed as R, G, B</a:t>
            </a:r>
          </a:p>
          <a:p>
            <a:pPr marL="527310" lvl="1" indent="-308610">
              <a:buFont typeface="+mj-lt"/>
              <a:buAutoNum type="arabicPeriod"/>
            </a:pPr>
            <a:r>
              <a:rPr lang="en-US" sz="1350" dirty="0">
                <a:solidFill>
                  <a:srgbClr val="FFFFFF"/>
                </a:solidFill>
              </a:rPr>
              <a:t>Natural Color: 4, 3, 2</a:t>
            </a:r>
          </a:p>
        </p:txBody>
      </p:sp>
      <p:pic>
        <p:nvPicPr>
          <p:cNvPr id="7" name="Picture 6" descr="Aerial view of a city&#10;&#10;AI-generated content may be incorrect.">
            <a:extLst>
              <a:ext uri="{FF2B5EF4-FFF2-40B4-BE49-F238E27FC236}">
                <a16:creationId xmlns:a16="http://schemas.microsoft.com/office/drawing/2014/main" id="{F24FB25B-EE64-B881-E82B-AB3B87AB4AC6}"/>
              </a:ext>
            </a:extLst>
          </p:cNvPr>
          <p:cNvPicPr>
            <a:picLocks noChangeAspect="1"/>
          </p:cNvPicPr>
          <p:nvPr/>
        </p:nvPicPr>
        <p:blipFill>
          <a:blip r:embed="rId3">
            <a:extLst>
              <a:ext uri="{28A0092B-C50C-407E-A947-70E740481C1C}">
                <a14:useLocalDpi xmlns:a14="http://schemas.microsoft.com/office/drawing/2010/main" val="0"/>
              </a:ext>
            </a:extLst>
          </a:blip>
          <a:srcRect t="11924" b="10922"/>
          <a:stretch/>
        </p:blipFill>
        <p:spPr>
          <a:xfrm>
            <a:off x="2863235" y="662986"/>
            <a:ext cx="5064954" cy="3907821"/>
          </a:xfrm>
          <a:prstGeom prst="rect">
            <a:avLst/>
          </a:prstGeom>
        </p:spPr>
      </p:pic>
    </p:spTree>
    <p:extLst>
      <p:ext uri="{BB962C8B-B14F-4D97-AF65-F5344CB8AC3E}">
        <p14:creationId xmlns:p14="http://schemas.microsoft.com/office/powerpoint/2010/main" val="1520437983"/>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617CFFC-D195-557E-511E-E144DA6BA2CA}"/>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endParaRPr lang="en-US" sz="1215">
              <a:solidFill>
                <a:srgbClr val="FFFFFF"/>
              </a:solidFill>
              <a:latin typeface="Calibri"/>
            </a:endParaRPr>
          </a:p>
        </p:txBody>
      </p:sp>
      <p:sp>
        <p:nvSpPr>
          <p:cNvPr id="25" name="Rectangle 24">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662986"/>
            <a:ext cx="2499741" cy="39078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a:solidFill>
                <a:srgbClr val="FFFFFF"/>
              </a:solidFill>
              <a:latin typeface="Calibri"/>
            </a:endParaRPr>
          </a:p>
        </p:txBody>
      </p:sp>
      <p:sp>
        <p:nvSpPr>
          <p:cNvPr id="2" name="Title 1">
            <a:extLst>
              <a:ext uri="{FF2B5EF4-FFF2-40B4-BE49-F238E27FC236}">
                <a16:creationId xmlns:a16="http://schemas.microsoft.com/office/drawing/2014/main" id="{D715820E-DA9D-A3F6-2F3D-0833B34D7907}"/>
              </a:ext>
            </a:extLst>
          </p:cNvPr>
          <p:cNvSpPr>
            <a:spLocks noGrp="1"/>
          </p:cNvSpPr>
          <p:nvPr>
            <p:ph type="title"/>
          </p:nvPr>
        </p:nvSpPr>
        <p:spPr>
          <a:xfrm>
            <a:off x="301410" y="938518"/>
            <a:ext cx="2451391" cy="415274"/>
          </a:xfrm>
        </p:spPr>
        <p:txBody>
          <a:bodyPr>
            <a:normAutofit fontScale="90000"/>
          </a:bodyPr>
          <a:lstStyle/>
          <a:p>
            <a:r>
              <a:rPr lang="en-US" altLang="zh-CN" dirty="0">
                <a:solidFill>
                  <a:srgbClr val="FFFFFF"/>
                </a:solidFill>
              </a:rPr>
              <a:t>Observe the imagery</a:t>
            </a:r>
            <a:endParaRPr lang="en-US" dirty="0">
              <a:solidFill>
                <a:srgbClr val="FFFFFF"/>
              </a:solidFill>
            </a:endParaRPr>
          </a:p>
        </p:txBody>
      </p:sp>
      <p:sp>
        <p:nvSpPr>
          <p:cNvPr id="27" name="Rectangle 26">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a:solidFill>
                <a:srgbClr val="FFFFFF"/>
              </a:solidFill>
              <a:latin typeface="Calibri"/>
            </a:endParaRPr>
          </a:p>
        </p:txBody>
      </p:sp>
      <p:sp>
        <p:nvSpPr>
          <p:cNvPr id="29" name="Rectangle 28">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dirty="0">
              <a:solidFill>
                <a:srgbClr val="FFFFFF"/>
              </a:solidFill>
              <a:latin typeface="Calibri"/>
            </a:endParaRPr>
          </a:p>
        </p:txBody>
      </p:sp>
      <p:sp>
        <p:nvSpPr>
          <p:cNvPr id="31" name="Rectangle 30">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a:solidFill>
                <a:srgbClr val="FFFFFF"/>
              </a:solidFill>
              <a:latin typeface="Calibri"/>
            </a:endParaRPr>
          </a:p>
        </p:txBody>
      </p:sp>
      <p:sp>
        <p:nvSpPr>
          <p:cNvPr id="3" name="Content Placeholder 2">
            <a:extLst>
              <a:ext uri="{FF2B5EF4-FFF2-40B4-BE49-F238E27FC236}">
                <a16:creationId xmlns:a16="http://schemas.microsoft.com/office/drawing/2014/main" id="{F854ACB4-D64D-446F-BB37-2DA35FF692EE}"/>
              </a:ext>
            </a:extLst>
          </p:cNvPr>
          <p:cNvSpPr>
            <a:spLocks noGrp="1"/>
          </p:cNvSpPr>
          <p:nvPr>
            <p:ph idx="1"/>
          </p:nvPr>
        </p:nvSpPr>
        <p:spPr>
          <a:xfrm>
            <a:off x="325585" y="1506081"/>
            <a:ext cx="2451391" cy="2478557"/>
          </a:xfrm>
        </p:spPr>
        <p:txBody>
          <a:bodyPr anchor="t">
            <a:normAutofit/>
          </a:bodyPr>
          <a:lstStyle/>
          <a:p>
            <a:r>
              <a:rPr lang="en-US" sz="1350" dirty="0">
                <a:solidFill>
                  <a:srgbClr val="FFFFFF"/>
                </a:solidFill>
              </a:rPr>
              <a:t>Images: Landsat 9 acquired January 23, 2025. </a:t>
            </a:r>
          </a:p>
          <a:p>
            <a:r>
              <a:rPr lang="en-US" sz="1350" dirty="0">
                <a:solidFill>
                  <a:srgbClr val="FFFFFF"/>
                </a:solidFill>
              </a:rPr>
              <a:t>Band number displayed as R, G, B</a:t>
            </a:r>
          </a:p>
          <a:p>
            <a:pPr marL="527310" lvl="1" indent="-308610">
              <a:buFont typeface="+mj-lt"/>
              <a:buAutoNum type="arabicPeriod"/>
            </a:pPr>
            <a:r>
              <a:rPr lang="en-US" sz="1350" dirty="0">
                <a:solidFill>
                  <a:srgbClr val="FFFFFF"/>
                </a:solidFill>
              </a:rPr>
              <a:t>False Color (Urban): 7,6,4</a:t>
            </a:r>
          </a:p>
        </p:txBody>
      </p:sp>
      <p:pic>
        <p:nvPicPr>
          <p:cNvPr id="6" name="Picture 5" descr="A satellite view of a river&#10;&#10;AI-generated content may be incorrect.">
            <a:extLst>
              <a:ext uri="{FF2B5EF4-FFF2-40B4-BE49-F238E27FC236}">
                <a16:creationId xmlns:a16="http://schemas.microsoft.com/office/drawing/2014/main" id="{DCFE5230-2F0D-C8D0-8ABF-BFA844ACD459}"/>
              </a:ext>
            </a:extLst>
          </p:cNvPr>
          <p:cNvPicPr>
            <a:picLocks noChangeAspect="1"/>
          </p:cNvPicPr>
          <p:nvPr/>
        </p:nvPicPr>
        <p:blipFill>
          <a:blip r:embed="rId2">
            <a:extLst>
              <a:ext uri="{28A0092B-C50C-407E-A947-70E740481C1C}">
                <a14:useLocalDpi xmlns:a14="http://schemas.microsoft.com/office/drawing/2010/main" val="0"/>
              </a:ext>
            </a:extLst>
          </a:blip>
          <a:srcRect t="15561" b="7284"/>
          <a:stretch/>
        </p:blipFill>
        <p:spPr>
          <a:xfrm>
            <a:off x="2863235" y="662986"/>
            <a:ext cx="5064954" cy="3907821"/>
          </a:xfrm>
          <a:prstGeom prst="rect">
            <a:avLst/>
          </a:prstGeom>
        </p:spPr>
      </p:pic>
    </p:spTree>
    <p:extLst>
      <p:ext uri="{BB962C8B-B14F-4D97-AF65-F5344CB8AC3E}">
        <p14:creationId xmlns:p14="http://schemas.microsoft.com/office/powerpoint/2010/main" val="3530828930"/>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D64AB76F-07E2-62D1-4181-4A7C30914740}"/>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8610"/>
            <a:endParaRPr lang="en-US" sz="1215">
              <a:solidFill>
                <a:srgbClr val="FFFFFF"/>
              </a:solidFill>
              <a:latin typeface="Calibri"/>
            </a:endParaRPr>
          </a:p>
        </p:txBody>
      </p:sp>
      <p:sp>
        <p:nvSpPr>
          <p:cNvPr id="38" name="Rectangle 37">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662986"/>
            <a:ext cx="2499741" cy="39078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a:solidFill>
                <a:srgbClr val="FFFFFF"/>
              </a:solidFill>
              <a:latin typeface="Calibri"/>
            </a:endParaRPr>
          </a:p>
        </p:txBody>
      </p:sp>
      <p:sp>
        <p:nvSpPr>
          <p:cNvPr id="2" name="Title 1">
            <a:extLst>
              <a:ext uri="{FF2B5EF4-FFF2-40B4-BE49-F238E27FC236}">
                <a16:creationId xmlns:a16="http://schemas.microsoft.com/office/drawing/2014/main" id="{C8014D1A-4BBB-2EEB-77CA-B8E7BE68384B}"/>
              </a:ext>
            </a:extLst>
          </p:cNvPr>
          <p:cNvSpPr>
            <a:spLocks noGrp="1"/>
          </p:cNvSpPr>
          <p:nvPr>
            <p:ph type="title"/>
          </p:nvPr>
        </p:nvSpPr>
        <p:spPr>
          <a:xfrm>
            <a:off x="301410" y="787984"/>
            <a:ext cx="2499741" cy="464651"/>
          </a:xfrm>
        </p:spPr>
        <p:txBody>
          <a:bodyPr>
            <a:normAutofit/>
          </a:bodyPr>
          <a:lstStyle/>
          <a:p>
            <a:r>
              <a:rPr lang="en-US" altLang="zh-CN" dirty="0">
                <a:solidFill>
                  <a:srgbClr val="FFFFFF"/>
                </a:solidFill>
              </a:rPr>
              <a:t>Observe the imagery</a:t>
            </a:r>
            <a:endParaRPr lang="en-US" dirty="0">
              <a:solidFill>
                <a:srgbClr val="FFFFFF"/>
              </a:solidFill>
            </a:endParaRPr>
          </a:p>
        </p:txBody>
      </p:sp>
      <p:sp>
        <p:nvSpPr>
          <p:cNvPr id="40" name="Rectangle 39">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a:solidFill>
                <a:srgbClr val="FFFFFF"/>
              </a:solidFill>
              <a:latin typeface="Calibri"/>
            </a:endParaRPr>
          </a:p>
        </p:txBody>
      </p:sp>
      <p:sp>
        <p:nvSpPr>
          <p:cNvPr id="42" name="Rectangle 41">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dirty="0">
              <a:solidFill>
                <a:srgbClr val="FFFFFF"/>
              </a:solidFill>
              <a:latin typeface="Calibri"/>
            </a:endParaRPr>
          </a:p>
        </p:txBody>
      </p:sp>
      <p:sp>
        <p:nvSpPr>
          <p:cNvPr id="44" name="Rectangle 43">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defTabSz="308610"/>
            <a:endParaRPr lang="en-US" sz="1215">
              <a:solidFill>
                <a:srgbClr val="FFFFFF"/>
              </a:solidFill>
              <a:latin typeface="Calibri"/>
            </a:endParaRPr>
          </a:p>
        </p:txBody>
      </p:sp>
      <p:sp>
        <p:nvSpPr>
          <p:cNvPr id="3" name="Content Placeholder 2">
            <a:extLst>
              <a:ext uri="{FF2B5EF4-FFF2-40B4-BE49-F238E27FC236}">
                <a16:creationId xmlns:a16="http://schemas.microsoft.com/office/drawing/2014/main" id="{5A588943-6E6C-1283-FDA7-DD2DC50E9B80}"/>
              </a:ext>
            </a:extLst>
          </p:cNvPr>
          <p:cNvSpPr>
            <a:spLocks noGrp="1"/>
          </p:cNvSpPr>
          <p:nvPr>
            <p:ph idx="1"/>
          </p:nvPr>
        </p:nvSpPr>
        <p:spPr>
          <a:xfrm>
            <a:off x="453271" y="1968996"/>
            <a:ext cx="2108554" cy="2478557"/>
          </a:xfrm>
        </p:spPr>
        <p:txBody>
          <a:bodyPr anchor="t">
            <a:normAutofit/>
          </a:bodyPr>
          <a:lstStyle/>
          <a:p>
            <a:r>
              <a:rPr lang="en-US" dirty="0">
                <a:solidFill>
                  <a:srgbClr val="FFFFFF"/>
                </a:solidFill>
              </a:rPr>
              <a:t>Images: Landsat 9 acquired January 23, 2025. Band number displayed as R, G, B</a:t>
            </a:r>
          </a:p>
          <a:p>
            <a:pPr lvl="1"/>
            <a:r>
              <a:rPr lang="en-US" dirty="0">
                <a:solidFill>
                  <a:srgbClr val="FFFFFF"/>
                </a:solidFill>
              </a:rPr>
              <a:t>False Color (</a:t>
            </a:r>
            <a:r>
              <a:rPr lang="en-US">
                <a:solidFill>
                  <a:srgbClr val="FFFFFF"/>
                </a:solidFill>
              </a:rPr>
              <a:t>Vegatation</a:t>
            </a:r>
            <a:r>
              <a:rPr lang="en-US" dirty="0">
                <a:solidFill>
                  <a:srgbClr val="FFFFFF"/>
                </a:solidFill>
              </a:rPr>
              <a:t>): 6,5,4</a:t>
            </a:r>
          </a:p>
        </p:txBody>
      </p:sp>
      <p:pic>
        <p:nvPicPr>
          <p:cNvPr id="5" name="Picture 4" descr="A map of a river&#10;&#10;AI-generated content may be incorrect.">
            <a:extLst>
              <a:ext uri="{FF2B5EF4-FFF2-40B4-BE49-F238E27FC236}">
                <a16:creationId xmlns:a16="http://schemas.microsoft.com/office/drawing/2014/main" id="{B154D874-F8A8-C5BD-402F-E7A0EF7B1D1D}"/>
              </a:ext>
            </a:extLst>
          </p:cNvPr>
          <p:cNvPicPr>
            <a:picLocks noChangeAspect="1"/>
          </p:cNvPicPr>
          <p:nvPr/>
        </p:nvPicPr>
        <p:blipFill>
          <a:blip r:embed="rId2">
            <a:extLst>
              <a:ext uri="{28A0092B-C50C-407E-A947-70E740481C1C}">
                <a14:useLocalDpi xmlns:a14="http://schemas.microsoft.com/office/drawing/2010/main" val="0"/>
              </a:ext>
            </a:extLst>
          </a:blip>
          <a:srcRect t="13032" b="9814"/>
          <a:stretch/>
        </p:blipFill>
        <p:spPr>
          <a:xfrm>
            <a:off x="2863235" y="662986"/>
            <a:ext cx="5064954" cy="3907821"/>
          </a:xfrm>
          <a:prstGeom prst="rect">
            <a:avLst/>
          </a:prstGeom>
        </p:spPr>
      </p:pic>
    </p:spTree>
    <p:extLst>
      <p:ext uri="{BB962C8B-B14F-4D97-AF65-F5344CB8AC3E}">
        <p14:creationId xmlns:p14="http://schemas.microsoft.com/office/powerpoint/2010/main" val="572677822"/>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152400" y="1197740"/>
            <a:ext cx="4342327" cy="3683351"/>
          </a:xfrm>
          <a:prstGeom prst="rect">
            <a:avLst/>
          </a:prstGeom>
        </p:spPr>
        <p:txBody>
          <a:bodyPr vert="horz" lIns="61738" tIns="30869" rIns="61738" bIns="30869" rtlCol="0">
            <a:normAutofit fontScale="62500" lnSpcReduction="2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a:buFont typeface="Courier New" panose="02070309020205020404" pitchFamily="49" charset="0"/>
              <a:buChar char="o"/>
            </a:pPr>
            <a:r>
              <a:rPr lang="en-US" sz="4000" dirty="0"/>
              <a:t>R</a:t>
            </a:r>
            <a:r>
              <a:rPr lang="en-US" altLang="zh-CN" sz="4000" dirty="0"/>
              <a:t>adiometric Resolution</a:t>
            </a:r>
            <a:endParaRPr lang="en-US" sz="4000" dirty="0"/>
          </a:p>
          <a:p>
            <a:pPr marL="0" indent="0">
              <a:buNone/>
            </a:pPr>
            <a:r>
              <a:rPr lang="en-US" sz="3200" b="1" dirty="0">
                <a:solidFill>
                  <a:srgbClr val="E3874F"/>
                </a:solidFill>
              </a:rPr>
              <a:t>Pixel Type</a:t>
            </a:r>
            <a:r>
              <a:rPr lang="en-US" sz="3200" dirty="0"/>
              <a:t>/</a:t>
            </a:r>
            <a:r>
              <a:rPr lang="en-US" sz="3200" b="1" dirty="0">
                <a:solidFill>
                  <a:srgbClr val="E3874F"/>
                </a:solidFill>
              </a:rPr>
              <a:t>Pixel Depth</a:t>
            </a:r>
            <a:endParaRPr lang="en-US" sz="3200" dirty="0"/>
          </a:p>
          <a:p>
            <a:pPr marL="0" indent="0">
              <a:buNone/>
            </a:pPr>
            <a:r>
              <a:rPr lang="en-US" sz="3200" dirty="0"/>
              <a:t>	</a:t>
            </a:r>
            <a:r>
              <a:rPr lang="en-US" sz="3200" b="1" dirty="0">
                <a:solidFill>
                  <a:srgbClr val="E3874F"/>
                </a:solidFill>
              </a:rPr>
              <a:t>4-bit = </a:t>
            </a:r>
            <a:r>
              <a:rPr lang="en-US" sz="3200" dirty="0"/>
              <a:t>2</a:t>
            </a:r>
            <a:r>
              <a:rPr lang="en-US" sz="3200" baseline="30000" dirty="0"/>
              <a:t>4</a:t>
            </a:r>
            <a:r>
              <a:rPr lang="en-US" sz="3200" dirty="0"/>
              <a:t> (16) unique values</a:t>
            </a:r>
          </a:p>
          <a:p>
            <a:pPr marL="0" indent="0">
              <a:buNone/>
            </a:pPr>
            <a:r>
              <a:rPr lang="en-US" sz="3200" dirty="0"/>
              <a:t>	</a:t>
            </a:r>
            <a:r>
              <a:rPr lang="en-US" sz="3200" b="1" dirty="0">
                <a:solidFill>
                  <a:srgbClr val="E3874F"/>
                </a:solidFill>
              </a:rPr>
              <a:t>8-bit = </a:t>
            </a:r>
            <a:r>
              <a:rPr lang="en-US" sz="3200" dirty="0"/>
              <a:t>2</a:t>
            </a:r>
            <a:r>
              <a:rPr lang="en-US" sz="3200" baseline="30000" dirty="0"/>
              <a:t>8</a:t>
            </a:r>
            <a:r>
              <a:rPr lang="en-US" sz="3200" dirty="0"/>
              <a:t> (256) unique values</a:t>
            </a:r>
          </a:p>
          <a:p>
            <a:pPr marL="0" indent="0">
              <a:buNone/>
            </a:pPr>
            <a:r>
              <a:rPr lang="en-US" sz="3200" dirty="0"/>
              <a:t>	</a:t>
            </a:r>
            <a:r>
              <a:rPr lang="en-US" sz="3200" b="1" dirty="0">
                <a:solidFill>
                  <a:srgbClr val="E3874F"/>
                </a:solidFill>
              </a:rPr>
              <a:t>16-bit = </a:t>
            </a:r>
            <a:r>
              <a:rPr lang="en-US" sz="3200" dirty="0"/>
              <a:t>2</a:t>
            </a:r>
            <a:r>
              <a:rPr lang="en-US" sz="3200" baseline="30000" dirty="0"/>
              <a:t>16</a:t>
            </a:r>
            <a:r>
              <a:rPr lang="en-US" sz="3200" dirty="0"/>
              <a:t> (65,536) unique 	values</a:t>
            </a:r>
          </a:p>
          <a:p>
            <a:pPr marL="0" indent="0">
              <a:buNone/>
            </a:pPr>
            <a:r>
              <a:rPr lang="en-US" sz="3200" dirty="0"/>
              <a:t>	</a:t>
            </a:r>
            <a:r>
              <a:rPr lang="en-US" sz="3200" b="1" dirty="0">
                <a:solidFill>
                  <a:srgbClr val="E3874F"/>
                </a:solidFill>
              </a:rPr>
              <a:t>32-bit = </a:t>
            </a:r>
            <a:r>
              <a:rPr lang="en-US" sz="3200" dirty="0"/>
              <a:t>2</a:t>
            </a:r>
            <a:r>
              <a:rPr lang="en-US" sz="3200" baseline="30000" dirty="0"/>
              <a:t>32</a:t>
            </a:r>
            <a:r>
              <a:rPr lang="en-US" sz="3200" dirty="0"/>
              <a:t> (4,294,967,296) 	unique values</a:t>
            </a:r>
          </a:p>
          <a:p>
            <a:pPr marL="0" indent="0">
              <a:buNone/>
            </a:pPr>
            <a:r>
              <a:rPr lang="en-US" sz="3200" dirty="0"/>
              <a:t>	1-bit, 2-bit, 11-bit, 12-bit, etc. </a:t>
            </a:r>
          </a:p>
          <a:p>
            <a:pPr marL="0" indent="0">
              <a:buNone/>
            </a:pPr>
            <a:endParaRPr lang="en-US" sz="1620" dirty="0"/>
          </a:p>
        </p:txBody>
      </p:sp>
      <p:sp>
        <p:nvSpPr>
          <p:cNvPr id="3" name="TextBox 2"/>
          <p:cNvSpPr txBox="1"/>
          <p:nvPr/>
        </p:nvSpPr>
        <p:spPr>
          <a:xfrm>
            <a:off x="5237383" y="3681971"/>
            <a:ext cx="2726765" cy="765402"/>
          </a:xfrm>
          <a:prstGeom prst="rect">
            <a:avLst/>
          </a:prstGeom>
          <a:noFill/>
        </p:spPr>
        <p:txBody>
          <a:bodyPr wrap="square" rtlCol="0">
            <a:spAutoFit/>
          </a:bodyPr>
          <a:lstStyle/>
          <a:p>
            <a:pPr>
              <a:lnSpc>
                <a:spcPct val="90000"/>
              </a:lnSpc>
            </a:pPr>
            <a:r>
              <a:rPr lang="en-US" sz="1620" dirty="0"/>
              <a:t>Can think of this as the degree of brightness difference that can be quantified</a:t>
            </a:r>
          </a:p>
        </p:txBody>
      </p:sp>
      <p:pic>
        <p:nvPicPr>
          <p:cNvPr id="4" name="Picture 3" descr="Pixel depth"/>
          <p:cNvPicPr>
            <a:picLocks noChangeAspect="1"/>
          </p:cNvPicPr>
          <p:nvPr/>
        </p:nvPicPr>
        <p:blipFill>
          <a:blip r:embed="rId3">
            <a:clrChange>
              <a:clrFrom>
                <a:srgbClr val="21AAE1"/>
              </a:clrFrom>
              <a:clrTo>
                <a:srgbClr val="21AAE1">
                  <a:alpha val="0"/>
                </a:srgbClr>
              </a:clrTo>
            </a:clrChange>
          </a:blip>
          <a:stretch>
            <a:fillRect/>
          </a:stretch>
        </p:blipFill>
        <p:spPr>
          <a:xfrm>
            <a:off x="4732181" y="1742357"/>
            <a:ext cx="3428479" cy="1755464"/>
          </a:xfrm>
          <a:prstGeom prst="rect">
            <a:avLst/>
          </a:prstGeom>
        </p:spPr>
      </p:pic>
      <p:sp>
        <p:nvSpPr>
          <p:cNvPr id="6" name="TextBox 5"/>
          <p:cNvSpPr txBox="1"/>
          <p:nvPr/>
        </p:nvSpPr>
        <p:spPr>
          <a:xfrm>
            <a:off x="4732181" y="1594231"/>
            <a:ext cx="205794" cy="316690"/>
          </a:xfrm>
          <a:prstGeom prst="rect">
            <a:avLst/>
          </a:prstGeom>
          <a:noFill/>
        </p:spPr>
        <p:txBody>
          <a:bodyPr wrap="square" rtlCol="0">
            <a:spAutoFit/>
          </a:bodyPr>
          <a:lstStyle/>
          <a:p>
            <a:pPr>
              <a:lnSpc>
                <a:spcPct val="90000"/>
              </a:lnSpc>
            </a:pPr>
            <a:r>
              <a:rPr lang="en-US" sz="1620" dirty="0"/>
              <a:t>0</a:t>
            </a:r>
          </a:p>
        </p:txBody>
      </p:sp>
      <p:sp>
        <p:nvSpPr>
          <p:cNvPr id="9" name="TextBox 8"/>
          <p:cNvSpPr txBox="1"/>
          <p:nvPr/>
        </p:nvSpPr>
        <p:spPr>
          <a:xfrm>
            <a:off x="4732181" y="2068227"/>
            <a:ext cx="205794" cy="316690"/>
          </a:xfrm>
          <a:prstGeom prst="rect">
            <a:avLst/>
          </a:prstGeom>
          <a:noFill/>
        </p:spPr>
        <p:txBody>
          <a:bodyPr wrap="square" rtlCol="0">
            <a:spAutoFit/>
          </a:bodyPr>
          <a:lstStyle/>
          <a:p>
            <a:pPr>
              <a:lnSpc>
                <a:spcPct val="90000"/>
              </a:lnSpc>
            </a:pPr>
            <a:r>
              <a:rPr lang="en-US" sz="1620" dirty="0"/>
              <a:t>0</a:t>
            </a:r>
          </a:p>
        </p:txBody>
      </p:sp>
      <p:sp>
        <p:nvSpPr>
          <p:cNvPr id="10" name="TextBox 9"/>
          <p:cNvSpPr txBox="1"/>
          <p:nvPr/>
        </p:nvSpPr>
        <p:spPr>
          <a:xfrm>
            <a:off x="7767636" y="1616152"/>
            <a:ext cx="393024" cy="316690"/>
          </a:xfrm>
          <a:prstGeom prst="rect">
            <a:avLst/>
          </a:prstGeom>
          <a:noFill/>
        </p:spPr>
        <p:txBody>
          <a:bodyPr wrap="square" rtlCol="0">
            <a:spAutoFit/>
          </a:bodyPr>
          <a:lstStyle/>
          <a:p>
            <a:pPr>
              <a:lnSpc>
                <a:spcPct val="90000"/>
              </a:lnSpc>
            </a:pPr>
            <a:r>
              <a:rPr lang="en-US" sz="1620" dirty="0"/>
              <a:t>16</a:t>
            </a:r>
          </a:p>
        </p:txBody>
      </p:sp>
      <p:sp>
        <p:nvSpPr>
          <p:cNvPr id="12" name="TextBox 11"/>
          <p:cNvSpPr txBox="1"/>
          <p:nvPr/>
        </p:nvSpPr>
        <p:spPr>
          <a:xfrm>
            <a:off x="4734392" y="2966158"/>
            <a:ext cx="205794" cy="316690"/>
          </a:xfrm>
          <a:prstGeom prst="rect">
            <a:avLst/>
          </a:prstGeom>
          <a:noFill/>
        </p:spPr>
        <p:txBody>
          <a:bodyPr wrap="square" rtlCol="0">
            <a:spAutoFit/>
          </a:bodyPr>
          <a:lstStyle/>
          <a:p>
            <a:pPr>
              <a:lnSpc>
                <a:spcPct val="90000"/>
              </a:lnSpc>
            </a:pPr>
            <a:r>
              <a:rPr lang="en-US" sz="1620" dirty="0"/>
              <a:t>0</a:t>
            </a:r>
          </a:p>
        </p:txBody>
      </p:sp>
      <p:sp>
        <p:nvSpPr>
          <p:cNvPr id="13" name="TextBox 12"/>
          <p:cNvSpPr txBox="1"/>
          <p:nvPr/>
        </p:nvSpPr>
        <p:spPr>
          <a:xfrm>
            <a:off x="4732181" y="2542223"/>
            <a:ext cx="205794" cy="316690"/>
          </a:xfrm>
          <a:prstGeom prst="rect">
            <a:avLst/>
          </a:prstGeom>
          <a:noFill/>
        </p:spPr>
        <p:txBody>
          <a:bodyPr wrap="square" rtlCol="0">
            <a:spAutoFit/>
          </a:bodyPr>
          <a:lstStyle/>
          <a:p>
            <a:pPr>
              <a:lnSpc>
                <a:spcPct val="90000"/>
              </a:lnSpc>
            </a:pPr>
            <a:r>
              <a:rPr lang="en-US" sz="1620" dirty="0"/>
              <a:t>0</a:t>
            </a:r>
          </a:p>
        </p:txBody>
      </p:sp>
      <p:sp>
        <p:nvSpPr>
          <p:cNvPr id="14" name="TextBox 13"/>
          <p:cNvSpPr txBox="1"/>
          <p:nvPr/>
        </p:nvSpPr>
        <p:spPr>
          <a:xfrm>
            <a:off x="7767636" y="2046305"/>
            <a:ext cx="753163" cy="316690"/>
          </a:xfrm>
          <a:prstGeom prst="rect">
            <a:avLst/>
          </a:prstGeom>
          <a:noFill/>
        </p:spPr>
        <p:txBody>
          <a:bodyPr wrap="square" rtlCol="0">
            <a:spAutoFit/>
          </a:bodyPr>
          <a:lstStyle/>
          <a:p>
            <a:pPr>
              <a:lnSpc>
                <a:spcPct val="90000"/>
              </a:lnSpc>
            </a:pPr>
            <a:r>
              <a:rPr lang="en-US" sz="1620" dirty="0"/>
              <a:t>255</a:t>
            </a:r>
          </a:p>
        </p:txBody>
      </p:sp>
      <p:sp>
        <p:nvSpPr>
          <p:cNvPr id="15" name="TextBox 14"/>
          <p:cNvSpPr txBox="1"/>
          <p:nvPr/>
        </p:nvSpPr>
        <p:spPr>
          <a:xfrm>
            <a:off x="7458946" y="2499693"/>
            <a:ext cx="1234762" cy="316690"/>
          </a:xfrm>
          <a:prstGeom prst="rect">
            <a:avLst/>
          </a:prstGeom>
          <a:noFill/>
        </p:spPr>
        <p:txBody>
          <a:bodyPr wrap="square" rtlCol="0">
            <a:spAutoFit/>
          </a:bodyPr>
          <a:lstStyle/>
          <a:p>
            <a:pPr>
              <a:lnSpc>
                <a:spcPct val="90000"/>
              </a:lnSpc>
            </a:pPr>
            <a:r>
              <a:rPr lang="en-US" sz="1620" dirty="0"/>
              <a:t>65,536</a:t>
            </a:r>
          </a:p>
        </p:txBody>
      </p:sp>
      <p:sp>
        <p:nvSpPr>
          <p:cNvPr id="17" name="TextBox 16"/>
          <p:cNvSpPr txBox="1"/>
          <p:nvPr/>
        </p:nvSpPr>
        <p:spPr>
          <a:xfrm>
            <a:off x="6841565" y="2956642"/>
            <a:ext cx="1852142" cy="316690"/>
          </a:xfrm>
          <a:prstGeom prst="rect">
            <a:avLst/>
          </a:prstGeom>
          <a:noFill/>
        </p:spPr>
        <p:txBody>
          <a:bodyPr wrap="square" rtlCol="0">
            <a:spAutoFit/>
          </a:bodyPr>
          <a:lstStyle/>
          <a:p>
            <a:pPr>
              <a:lnSpc>
                <a:spcPct val="90000"/>
              </a:lnSpc>
            </a:pPr>
            <a:r>
              <a:rPr lang="en-US" sz="1620" dirty="0"/>
              <a:t>4,294,967,295</a:t>
            </a:r>
          </a:p>
        </p:txBody>
      </p:sp>
      <p:sp>
        <p:nvSpPr>
          <p:cNvPr id="16" name="Title 1">
            <a:extLst>
              <a:ext uri="{FF2B5EF4-FFF2-40B4-BE49-F238E27FC236}">
                <a16:creationId xmlns:a16="http://schemas.microsoft.com/office/drawing/2014/main" id="{609515EC-1439-4AF3-B080-8D0037A0579D}"/>
              </a:ext>
            </a:extLst>
          </p:cNvPr>
          <p:cNvSpPr txBox="1">
            <a:spLocks/>
          </p:cNvSpPr>
          <p:nvPr/>
        </p:nvSpPr>
        <p:spPr>
          <a:xfrm>
            <a:off x="152400" y="1831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8" name="Straight Connector 17">
            <a:extLst>
              <a:ext uri="{FF2B5EF4-FFF2-40B4-BE49-F238E27FC236}">
                <a16:creationId xmlns:a16="http://schemas.microsoft.com/office/drawing/2014/main" id="{87AD31A7-2D21-4E67-BD49-65B9910D5614}"/>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80530961-7C66-480E-9F62-EF11DEE9D39A}"/>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3053822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ater example">
            <a:extLst>
              <a:ext uri="{FF2B5EF4-FFF2-40B4-BE49-F238E27FC236}">
                <a16:creationId xmlns:a16="http://schemas.microsoft.com/office/drawing/2014/main" id="{9B25F166-DADE-46F9-8EAF-1D11F942FF78}"/>
              </a:ext>
            </a:extLst>
          </p:cNvPr>
          <p:cNvPicPr>
            <a:picLocks noChangeAspect="1"/>
          </p:cNvPicPr>
          <p:nvPr/>
        </p:nvPicPr>
        <p:blipFill>
          <a:blip r:embed="rId3"/>
          <a:stretch>
            <a:fillRect/>
          </a:stretch>
        </p:blipFill>
        <p:spPr>
          <a:xfrm>
            <a:off x="160235" y="1901308"/>
            <a:ext cx="3533775" cy="3143250"/>
          </a:xfrm>
          <a:prstGeom prst="rect">
            <a:avLst/>
          </a:prstGeom>
        </p:spPr>
      </p:pic>
      <p:sp>
        <p:nvSpPr>
          <p:cNvPr id="12" name="Content Placeholder 2">
            <a:extLst>
              <a:ext uri="{FF2B5EF4-FFF2-40B4-BE49-F238E27FC236}">
                <a16:creationId xmlns:a16="http://schemas.microsoft.com/office/drawing/2014/main" id="{6FB2EADA-F4FE-4E93-8E28-861EEA2E8C66}"/>
              </a:ext>
            </a:extLst>
          </p:cNvPr>
          <p:cNvSpPr>
            <a:spLocks noGrp="1"/>
          </p:cNvSpPr>
          <p:nvPr>
            <p:ph idx="1"/>
          </p:nvPr>
        </p:nvSpPr>
        <p:spPr>
          <a:xfrm>
            <a:off x="131454" y="1150094"/>
            <a:ext cx="8055728" cy="520474"/>
          </a:xfrm>
        </p:spPr>
        <p:txBody>
          <a:bodyPr>
            <a:normAutofit/>
          </a:bodyPr>
          <a:lstStyle/>
          <a:p>
            <a:pPr>
              <a:buFont typeface="Courier New" panose="02070309020205020404" pitchFamily="49" charset="0"/>
              <a:buChar char="o"/>
            </a:pPr>
            <a:r>
              <a:rPr lang="en-US" sz="2800" dirty="0"/>
              <a:t>Raster data are always rectangular</a:t>
            </a:r>
          </a:p>
        </p:txBody>
      </p:sp>
      <p:sp>
        <p:nvSpPr>
          <p:cNvPr id="3" name="Slide Number Placeholder 2">
            <a:extLst>
              <a:ext uri="{FF2B5EF4-FFF2-40B4-BE49-F238E27FC236}">
                <a16:creationId xmlns:a16="http://schemas.microsoft.com/office/drawing/2014/main" id="{F728C8B0-EAAD-4CF1-8ED8-0E984ED26B51}"/>
              </a:ext>
            </a:extLst>
          </p:cNvPr>
          <p:cNvSpPr>
            <a:spLocks noGrp="1"/>
          </p:cNvSpPr>
          <p:nvPr>
            <p:ph type="sldNum" sz="quarter" idx="12"/>
          </p:nvPr>
        </p:nvSpPr>
        <p:spPr/>
        <p:txBody>
          <a:bodyPr/>
          <a:lstStyle/>
          <a:p>
            <a:fld id="{127DDC20-79C9-9647-820E-6D40A3D210C3}" type="slidenum">
              <a:rPr lang="en-US" smtClean="0"/>
              <a:pPr/>
              <a:t>14</a:t>
            </a:fld>
            <a:endParaRPr lang="en-US"/>
          </a:p>
        </p:txBody>
      </p:sp>
      <p:sp>
        <p:nvSpPr>
          <p:cNvPr id="6" name="TextBox 5"/>
          <p:cNvSpPr txBox="1"/>
          <p:nvPr/>
        </p:nvSpPr>
        <p:spPr>
          <a:xfrm>
            <a:off x="3969483" y="3462333"/>
            <a:ext cx="2440680" cy="316690"/>
          </a:xfrm>
          <a:prstGeom prst="rect">
            <a:avLst/>
          </a:prstGeom>
          <a:noFill/>
        </p:spPr>
        <p:txBody>
          <a:bodyPr wrap="square" rtlCol="0">
            <a:spAutoFit/>
          </a:bodyPr>
          <a:lstStyle/>
          <a:p>
            <a:pPr>
              <a:lnSpc>
                <a:spcPct val="90000"/>
              </a:lnSpc>
            </a:pPr>
            <a:r>
              <a:rPr lang="en-US" sz="1620" dirty="0"/>
              <a:t>No data cells still exist</a:t>
            </a:r>
          </a:p>
        </p:txBody>
      </p:sp>
      <p:cxnSp>
        <p:nvCxnSpPr>
          <p:cNvPr id="8" name="Straight Arrow Connector 7"/>
          <p:cNvCxnSpPr>
            <a:cxnSpLocks/>
          </p:cNvCxnSpPr>
          <p:nvPr/>
        </p:nvCxnSpPr>
        <p:spPr>
          <a:xfrm flipH="1">
            <a:off x="3454999" y="3620930"/>
            <a:ext cx="514484" cy="166712"/>
          </a:xfrm>
          <a:prstGeom prst="straightConnector1">
            <a:avLst/>
          </a:prstGeom>
          <a:ln w="254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6775050B-DB2C-4FB2-9D90-B29B70D3AA56}"/>
              </a:ext>
            </a:extLst>
          </p:cNvPr>
          <p:cNvSpPr txBox="1">
            <a:spLocks/>
          </p:cNvSpPr>
          <p:nvPr/>
        </p:nvSpPr>
        <p:spPr>
          <a:xfrm>
            <a:off x="253705" y="21749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11" name="Straight Connector 10">
            <a:extLst>
              <a:ext uri="{FF2B5EF4-FFF2-40B4-BE49-F238E27FC236}">
                <a16:creationId xmlns:a16="http://schemas.microsoft.com/office/drawing/2014/main" id="{43FF1606-4729-47F7-93FD-B7F019F81F5F}"/>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3DC85013-2AE8-445E-A986-91C022686336}"/>
              </a:ext>
            </a:extLst>
          </p:cNvPr>
          <p:cNvSpPr/>
          <p:nvPr/>
        </p:nvSpPr>
        <p:spPr>
          <a:xfrm>
            <a:off x="399246" y="2086377"/>
            <a:ext cx="3234798" cy="2871989"/>
          </a:xfrm>
          <a:prstGeom prst="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64670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Raster data"/>
          <p:cNvPicPr>
            <a:picLocks noChangeAspect="1"/>
          </p:cNvPicPr>
          <p:nvPr/>
        </p:nvPicPr>
        <p:blipFill>
          <a:blip r:embed="rId3"/>
          <a:stretch>
            <a:fillRect/>
          </a:stretch>
        </p:blipFill>
        <p:spPr>
          <a:xfrm>
            <a:off x="3145321" y="979575"/>
            <a:ext cx="4183398" cy="4108385"/>
          </a:xfrm>
          <a:prstGeom prst="rect">
            <a:avLst/>
          </a:prstGeom>
        </p:spPr>
      </p:pic>
      <p:sp>
        <p:nvSpPr>
          <p:cNvPr id="6" name="Title 1">
            <a:extLst>
              <a:ext uri="{FF2B5EF4-FFF2-40B4-BE49-F238E27FC236}">
                <a16:creationId xmlns:a16="http://schemas.microsoft.com/office/drawing/2014/main" id="{FFDDA386-4BED-47A4-994D-F6D1CB18377D}"/>
              </a:ext>
            </a:extLst>
          </p:cNvPr>
          <p:cNvSpPr txBox="1">
            <a:spLocks/>
          </p:cNvSpPr>
          <p:nvPr/>
        </p:nvSpPr>
        <p:spPr>
          <a:xfrm>
            <a:off x="285511" y="2200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1D316141-7AA0-405F-B4E4-8B372F1D99F8}"/>
              </a:ext>
            </a:extLst>
          </p:cNvPr>
          <p:cNvSpPr>
            <a:spLocks noGrp="1"/>
          </p:cNvSpPr>
          <p:nvPr>
            <p:ph idx="1"/>
          </p:nvPr>
        </p:nvSpPr>
        <p:spPr>
          <a:xfrm>
            <a:off x="-1" y="1077312"/>
            <a:ext cx="3641271" cy="2881110"/>
          </a:xfrm>
        </p:spPr>
        <p:txBody>
          <a:bodyPr>
            <a:normAutofit/>
          </a:bodyPr>
          <a:lstStyle/>
          <a:p>
            <a:pPr>
              <a:buFont typeface="Courier New" panose="02070309020205020404" pitchFamily="49" charset="0"/>
              <a:buChar char="o"/>
            </a:pPr>
            <a:r>
              <a:rPr lang="en-US" sz="2000" dirty="0"/>
              <a:t>Cell size (spatial resolution)</a:t>
            </a:r>
          </a:p>
          <a:p>
            <a:pPr lvl="1">
              <a:buFont typeface="Wingdings" panose="05000000000000000000" pitchFamily="2" charset="2"/>
              <a:buChar char="ü"/>
            </a:pPr>
            <a:r>
              <a:rPr lang="en-US" sz="2000" dirty="0"/>
              <a:t>Red: 100 mx100 m (lower resolution)</a:t>
            </a:r>
          </a:p>
          <a:p>
            <a:pPr lvl="1">
              <a:buFont typeface="Wingdings" panose="05000000000000000000" pitchFamily="2" charset="2"/>
              <a:buChar char="ü"/>
            </a:pPr>
            <a:r>
              <a:rPr lang="en-US" sz="2000" dirty="0"/>
              <a:t>Green: 50 mx50 m (higher resolution)</a:t>
            </a:r>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extLst>
      <p:ext uri="{BB962C8B-B14F-4D97-AF65-F5344CB8AC3E}">
        <p14:creationId xmlns:p14="http://schemas.microsoft.com/office/powerpoint/2010/main" val="2914344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06D67E7-07E3-4DDE-8657-A833667B44A8}"/>
              </a:ext>
            </a:extLst>
          </p:cNvPr>
          <p:cNvSpPr txBox="1">
            <a:spLocks/>
          </p:cNvSpPr>
          <p:nvPr/>
        </p:nvSpPr>
        <p:spPr>
          <a:xfrm>
            <a:off x="152400" y="2271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5" name="Straight Connector 4">
            <a:extLst>
              <a:ext uri="{FF2B5EF4-FFF2-40B4-BE49-F238E27FC236}">
                <a16:creationId xmlns:a16="http://schemas.microsoft.com/office/drawing/2014/main" id="{B420DB2B-CF0E-48EA-842A-A78C6F44576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Content Placeholder 2">
            <a:extLst>
              <a:ext uri="{FF2B5EF4-FFF2-40B4-BE49-F238E27FC236}">
                <a16:creationId xmlns:a16="http://schemas.microsoft.com/office/drawing/2014/main" id="{72AE8853-0138-42CB-BEB6-269EEA26BAFD}"/>
              </a:ext>
            </a:extLst>
          </p:cNvPr>
          <p:cNvSpPr txBox="1">
            <a:spLocks/>
          </p:cNvSpPr>
          <p:nvPr/>
        </p:nvSpPr>
        <p:spPr>
          <a:xfrm>
            <a:off x="140005" y="1093641"/>
            <a:ext cx="8055728" cy="288111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Raster File Formats</a:t>
            </a:r>
          </a:p>
          <a:p>
            <a:pPr lvl="1">
              <a:buFont typeface="Wingdings" panose="05000000000000000000" pitchFamily="2" charset="2"/>
              <a:buChar char="ü"/>
            </a:pPr>
            <a:r>
              <a:rPr lang="en-US" dirty="0"/>
              <a:t>ESRI Grid</a:t>
            </a:r>
          </a:p>
          <a:p>
            <a:pPr lvl="1">
              <a:buFont typeface="Wingdings" panose="05000000000000000000" pitchFamily="2" charset="2"/>
              <a:buChar char="ü"/>
            </a:pPr>
            <a:r>
              <a:rPr lang="en-US" dirty="0" err="1"/>
              <a:t>Erdas</a:t>
            </a:r>
            <a:r>
              <a:rPr lang="en-US" dirty="0"/>
              <a:t> Imagine (.</a:t>
            </a:r>
            <a:r>
              <a:rPr lang="en-US" dirty="0" err="1"/>
              <a:t>img</a:t>
            </a:r>
            <a:r>
              <a:rPr lang="en-US" dirty="0"/>
              <a:t>)</a:t>
            </a:r>
          </a:p>
          <a:p>
            <a:pPr lvl="1">
              <a:buFont typeface="Wingdings" panose="05000000000000000000" pitchFamily="2" charset="2"/>
              <a:buChar char="ü"/>
            </a:pPr>
            <a:r>
              <a:rPr lang="en-US" dirty="0" err="1"/>
              <a:t>GeoTIFF</a:t>
            </a:r>
            <a:r>
              <a:rPr lang="en-US" dirty="0"/>
              <a:t> (.</a:t>
            </a:r>
            <a:r>
              <a:rPr lang="en-US" dirty="0" err="1"/>
              <a:t>tif</a:t>
            </a:r>
            <a:r>
              <a:rPr lang="en-US" dirty="0"/>
              <a:t>)</a:t>
            </a:r>
          </a:p>
          <a:p>
            <a:pPr>
              <a:buFont typeface="Courier New" panose="02070309020205020404" pitchFamily="49" charset="0"/>
              <a:buChar char="o"/>
            </a:pPr>
            <a:endParaRPr lang="en-US" dirty="0"/>
          </a:p>
        </p:txBody>
      </p:sp>
      <p:sp>
        <p:nvSpPr>
          <p:cNvPr id="2" name="Slide Number Placeholder 1">
            <a:extLst>
              <a:ext uri="{FF2B5EF4-FFF2-40B4-BE49-F238E27FC236}">
                <a16:creationId xmlns:a16="http://schemas.microsoft.com/office/drawing/2014/main" id="{E81F5CB9-1D30-4291-8A3D-9A11CA7AF3BE}"/>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extLst>
      <p:ext uri="{BB962C8B-B14F-4D97-AF65-F5344CB8AC3E}">
        <p14:creationId xmlns:p14="http://schemas.microsoft.com/office/powerpoint/2010/main" val="4213124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FDDA386-4BED-47A4-994D-F6D1CB18377D}"/>
              </a:ext>
            </a:extLst>
          </p:cNvPr>
          <p:cNvSpPr txBox="1">
            <a:spLocks/>
          </p:cNvSpPr>
          <p:nvPr/>
        </p:nvSpPr>
        <p:spPr>
          <a:xfrm>
            <a:off x="328865" y="23652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1D316141-7AA0-405F-B4E4-8B372F1D99F8}"/>
              </a:ext>
            </a:extLst>
          </p:cNvPr>
          <p:cNvSpPr>
            <a:spLocks noGrp="1"/>
          </p:cNvSpPr>
          <p:nvPr>
            <p:ph idx="1"/>
          </p:nvPr>
        </p:nvSpPr>
        <p:spPr>
          <a:xfrm>
            <a:off x="-1" y="1077311"/>
            <a:ext cx="3862138" cy="3429601"/>
          </a:xfrm>
        </p:spPr>
        <p:txBody>
          <a:bodyPr>
            <a:normAutofit lnSpcReduction="10000"/>
          </a:bodyPr>
          <a:lstStyle/>
          <a:p>
            <a:pPr>
              <a:buFont typeface="Courier New" panose="02070309020205020404" pitchFamily="49" charset="0"/>
              <a:buChar char="o"/>
            </a:pPr>
            <a:r>
              <a:rPr lang="en-US" sz="2400" dirty="0"/>
              <a:t>Raster cell values assignment maybe complicated</a:t>
            </a:r>
          </a:p>
          <a:p>
            <a:pPr lvl="1">
              <a:buFont typeface="Wingdings" panose="05000000000000000000" pitchFamily="2" charset="2"/>
              <a:buChar char="ü"/>
            </a:pPr>
            <a:r>
              <a:rPr lang="en-US" sz="2100" dirty="0"/>
              <a:t>When they are multiple features within a single cell</a:t>
            </a:r>
          </a:p>
          <a:p>
            <a:pPr lvl="2">
              <a:buFont typeface="Arial" panose="020B0604020202020204" pitchFamily="34" charset="0"/>
              <a:buChar char="•"/>
            </a:pPr>
            <a:r>
              <a:rPr lang="en-US" sz="1740" dirty="0"/>
              <a:t>Select a representative feature, and use the attribute from that feature</a:t>
            </a:r>
          </a:p>
          <a:p>
            <a:pPr lvl="2">
              <a:buFont typeface="Arial" panose="020B0604020202020204" pitchFamily="34" charset="0"/>
              <a:buChar char="•"/>
            </a:pPr>
            <a:r>
              <a:rPr lang="en-US" sz="1740" dirty="0"/>
              <a:t>Reduce the cell size to include only one feature in each cell</a:t>
            </a:r>
          </a:p>
          <a:p>
            <a:pPr marL="411480" lvl="1" indent="0">
              <a:buNone/>
            </a:pPr>
            <a:endParaRPr lang="en-US" sz="2100" dirty="0"/>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17</a:t>
            </a:fld>
            <a:endParaRPr lang="en-US"/>
          </a:p>
        </p:txBody>
      </p:sp>
      <p:pic>
        <p:nvPicPr>
          <p:cNvPr id="4" name="Picture 3" descr="Raster cell values assignment">
            <a:extLst>
              <a:ext uri="{FF2B5EF4-FFF2-40B4-BE49-F238E27FC236}">
                <a16:creationId xmlns:a16="http://schemas.microsoft.com/office/drawing/2014/main" id="{14EAF040-A394-4EDC-84F5-79D8C0E89F1D}"/>
              </a:ext>
            </a:extLst>
          </p:cNvPr>
          <p:cNvPicPr>
            <a:picLocks noChangeAspect="1"/>
          </p:cNvPicPr>
          <p:nvPr/>
        </p:nvPicPr>
        <p:blipFill>
          <a:blip r:embed="rId3"/>
          <a:stretch>
            <a:fillRect/>
          </a:stretch>
        </p:blipFill>
        <p:spPr>
          <a:xfrm>
            <a:off x="4152900" y="1568195"/>
            <a:ext cx="3106072" cy="2938719"/>
          </a:xfrm>
          <a:prstGeom prst="rect">
            <a:avLst/>
          </a:prstGeom>
        </p:spPr>
      </p:pic>
      <p:sp>
        <p:nvSpPr>
          <p:cNvPr id="10" name="TextBox 9">
            <a:extLst>
              <a:ext uri="{FF2B5EF4-FFF2-40B4-BE49-F238E27FC236}">
                <a16:creationId xmlns:a16="http://schemas.microsoft.com/office/drawing/2014/main" id="{B814C260-89DD-41A9-B2B8-41D2AC73B478}"/>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Tree>
    <p:extLst>
      <p:ext uri="{BB962C8B-B14F-4D97-AF65-F5344CB8AC3E}">
        <p14:creationId xmlns:p14="http://schemas.microsoft.com/office/powerpoint/2010/main" val="469344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FDDA386-4BED-47A4-994D-F6D1CB18377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Raster Data</a:t>
            </a:r>
          </a:p>
        </p:txBody>
      </p:sp>
      <p:cxnSp>
        <p:nvCxnSpPr>
          <p:cNvPr id="7" name="Straight Connector 6">
            <a:extLst>
              <a:ext uri="{FF2B5EF4-FFF2-40B4-BE49-F238E27FC236}">
                <a16:creationId xmlns:a16="http://schemas.microsoft.com/office/drawing/2014/main" id="{F476FF1B-D536-4D07-92B3-750D07D0922C}"/>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Content Placeholder 2">
            <a:extLst>
              <a:ext uri="{FF2B5EF4-FFF2-40B4-BE49-F238E27FC236}">
                <a16:creationId xmlns:a16="http://schemas.microsoft.com/office/drawing/2014/main" id="{0EEE6E8B-7F63-4A33-BA9F-D8CA076C1A8C}"/>
              </a:ext>
            </a:extLst>
          </p:cNvPr>
          <p:cNvSpPr>
            <a:spLocks noGrp="1"/>
          </p:cNvSpPr>
          <p:nvPr>
            <p:ph idx="1"/>
          </p:nvPr>
        </p:nvSpPr>
        <p:spPr>
          <a:xfrm>
            <a:off x="-1" y="1077311"/>
            <a:ext cx="3862138" cy="3429601"/>
          </a:xfrm>
        </p:spPr>
        <p:txBody>
          <a:bodyPr>
            <a:normAutofit/>
          </a:bodyPr>
          <a:lstStyle/>
          <a:p>
            <a:pPr>
              <a:buFont typeface="Courier New" panose="02070309020205020404" pitchFamily="49" charset="0"/>
              <a:buChar char="o"/>
            </a:pPr>
            <a:r>
              <a:rPr lang="en-US" sz="2400" dirty="0"/>
              <a:t>Raster cell values assignment maybe complicated</a:t>
            </a:r>
          </a:p>
          <a:p>
            <a:pPr lvl="1">
              <a:buFont typeface="Wingdings" panose="05000000000000000000" pitchFamily="2" charset="2"/>
              <a:buChar char="ü"/>
            </a:pPr>
            <a:r>
              <a:rPr lang="en-US" sz="2100" dirty="0"/>
              <a:t>When they are multiple features within a single cell</a:t>
            </a:r>
          </a:p>
          <a:p>
            <a:pPr lvl="2">
              <a:buFont typeface="Arial" panose="020B0604020202020204" pitchFamily="34" charset="0"/>
              <a:buChar char="•"/>
            </a:pPr>
            <a:r>
              <a:rPr lang="en-US" sz="1740" dirty="0"/>
              <a:t>Winner-take-all or majority</a:t>
            </a:r>
          </a:p>
          <a:p>
            <a:pPr lvl="2">
              <a:buFont typeface="Arial" panose="020B0604020202020204" pitchFamily="34" charset="0"/>
              <a:buChar char="•"/>
            </a:pPr>
            <a:r>
              <a:rPr lang="en-US" sz="1740" dirty="0"/>
              <a:t>User’s preference</a:t>
            </a:r>
          </a:p>
          <a:p>
            <a:pPr lvl="2">
              <a:buFont typeface="Arial" panose="020B0604020202020204" pitchFamily="34" charset="0"/>
              <a:buChar char="•"/>
            </a:pPr>
            <a:endParaRPr lang="en-US" sz="1740" dirty="0"/>
          </a:p>
          <a:p>
            <a:pPr marL="411480" lvl="1" indent="0">
              <a:buNone/>
            </a:pPr>
            <a:endParaRPr lang="en-US" sz="2100" dirty="0"/>
          </a:p>
        </p:txBody>
      </p:sp>
      <p:sp>
        <p:nvSpPr>
          <p:cNvPr id="2" name="Slide Number Placeholder 1">
            <a:extLst>
              <a:ext uri="{FF2B5EF4-FFF2-40B4-BE49-F238E27FC236}">
                <a16:creationId xmlns:a16="http://schemas.microsoft.com/office/drawing/2014/main" id="{55DDC56B-1C1C-4793-8C56-827138CA2672}"/>
              </a:ext>
            </a:extLst>
          </p:cNvPr>
          <p:cNvSpPr>
            <a:spLocks noGrp="1"/>
          </p:cNvSpPr>
          <p:nvPr>
            <p:ph type="sldNum" sz="quarter" idx="12"/>
          </p:nvPr>
        </p:nvSpPr>
        <p:spPr/>
        <p:txBody>
          <a:bodyPr/>
          <a:lstStyle/>
          <a:p>
            <a:fld id="{127DDC20-79C9-9647-820E-6D40A3D210C3}" type="slidenum">
              <a:rPr lang="en-US" smtClean="0"/>
              <a:pPr/>
              <a:t>18</a:t>
            </a:fld>
            <a:endParaRPr lang="en-US"/>
          </a:p>
        </p:txBody>
      </p:sp>
      <p:sp>
        <p:nvSpPr>
          <p:cNvPr id="10" name="TextBox 9">
            <a:extLst>
              <a:ext uri="{FF2B5EF4-FFF2-40B4-BE49-F238E27FC236}">
                <a16:creationId xmlns:a16="http://schemas.microsoft.com/office/drawing/2014/main" id="{B814C260-89DD-41A9-B2B8-41D2AC73B478}"/>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5" name="Picture 4" descr="A picture containing shoji, indoor, tiled&#10;&#10;Description automatically generated">
            <a:extLst>
              <a:ext uri="{FF2B5EF4-FFF2-40B4-BE49-F238E27FC236}">
                <a16:creationId xmlns:a16="http://schemas.microsoft.com/office/drawing/2014/main" id="{41FF60D0-BB4F-4A62-B219-609D6D790CDE}"/>
              </a:ext>
            </a:extLst>
          </p:cNvPr>
          <p:cNvPicPr>
            <a:picLocks noChangeAspect="1"/>
          </p:cNvPicPr>
          <p:nvPr/>
        </p:nvPicPr>
        <p:blipFill>
          <a:blip r:embed="rId3"/>
          <a:stretch>
            <a:fillRect/>
          </a:stretch>
        </p:blipFill>
        <p:spPr>
          <a:xfrm>
            <a:off x="4258763" y="1463138"/>
            <a:ext cx="2832579" cy="2832579"/>
          </a:xfrm>
          <a:prstGeom prst="rect">
            <a:avLst/>
          </a:prstGeom>
        </p:spPr>
      </p:pic>
    </p:spTree>
    <p:extLst>
      <p:ext uri="{BB962C8B-B14F-4D97-AF65-F5344CB8AC3E}">
        <p14:creationId xmlns:p14="http://schemas.microsoft.com/office/powerpoint/2010/main" val="935085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Group Activity 3-1</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3" name="Picture 2" descr="Raster cell assignment">
            <a:extLst>
              <a:ext uri="{FF2B5EF4-FFF2-40B4-BE49-F238E27FC236}">
                <a16:creationId xmlns:a16="http://schemas.microsoft.com/office/drawing/2014/main" id="{E96C08B5-E0D0-4D27-8ADC-9BE630118BFA}"/>
              </a:ext>
            </a:extLst>
          </p:cNvPr>
          <p:cNvPicPr>
            <a:picLocks noChangeAspect="1"/>
          </p:cNvPicPr>
          <p:nvPr/>
        </p:nvPicPr>
        <p:blipFill>
          <a:blip r:embed="rId3"/>
          <a:stretch>
            <a:fillRect/>
          </a:stretch>
        </p:blipFill>
        <p:spPr>
          <a:xfrm>
            <a:off x="4152900" y="1276225"/>
            <a:ext cx="3439276" cy="3439276"/>
          </a:xfrm>
          <a:prstGeom prst="rect">
            <a:avLst/>
          </a:prstGeom>
        </p:spPr>
      </p:pic>
      <p:sp>
        <p:nvSpPr>
          <p:cNvPr id="7" name="TextBox 6">
            <a:extLst>
              <a:ext uri="{FF2B5EF4-FFF2-40B4-BE49-F238E27FC236}">
                <a16:creationId xmlns:a16="http://schemas.microsoft.com/office/drawing/2014/main" id="{5474EA51-2322-4C00-982D-0C431278D89A}"/>
              </a:ext>
            </a:extLst>
          </p:cNvPr>
          <p:cNvSpPr txBox="1"/>
          <p:nvPr/>
        </p:nvSpPr>
        <p:spPr>
          <a:xfrm>
            <a:off x="118533" y="1276224"/>
            <a:ext cx="3856567" cy="2631489"/>
          </a:xfrm>
          <a:prstGeom prst="rect">
            <a:avLst/>
          </a:prstGeom>
          <a:noFill/>
        </p:spPr>
        <p:txBody>
          <a:bodyPr wrap="square" rtlCol="0">
            <a:spAutoFit/>
          </a:bodyPr>
          <a:lstStyle/>
          <a:p>
            <a:pPr marL="285750" indent="-285750">
              <a:buFont typeface="Courier New" panose="02070309020205020404" pitchFamily="49" charset="0"/>
              <a:buChar char="o"/>
            </a:pPr>
            <a:r>
              <a:rPr lang="en-US" sz="2100" dirty="0"/>
              <a:t>Discuss with your peers: </a:t>
            </a:r>
          </a:p>
          <a:p>
            <a:pPr marL="742950" lvl="1" indent="-285750">
              <a:buFont typeface="Wingdings" panose="05000000000000000000" pitchFamily="2" charset="2"/>
              <a:buChar char="ü"/>
            </a:pPr>
            <a:r>
              <a:rPr lang="en-US" dirty="0"/>
              <a:t>List the labels (A, B, C…J) of raster cells that would be assigned as water (dark blue) or land (light green) under a majority coverage rule (i.e., winner-take-all) and </a:t>
            </a:r>
            <a:r>
              <a:rPr lang="en-US" sz="1800" dirty="0"/>
              <a:t>User’s preference (i.e., water)</a:t>
            </a:r>
          </a:p>
          <a:p>
            <a:pPr marL="742950" lvl="1" indent="-285750">
              <a:buFont typeface="Wingdings" panose="05000000000000000000" pitchFamily="2" charset="2"/>
              <a:buChar char="ü"/>
            </a:pPr>
            <a:endParaRPr lang="en-US" dirty="0"/>
          </a:p>
        </p:txBody>
      </p:sp>
      <p:sp>
        <p:nvSpPr>
          <p:cNvPr id="2" name="Slide Number Placeholder 1">
            <a:extLst>
              <a:ext uri="{FF2B5EF4-FFF2-40B4-BE49-F238E27FC236}">
                <a16:creationId xmlns:a16="http://schemas.microsoft.com/office/drawing/2014/main" id="{09E29BC8-F148-4F60-A327-A16BCC310FB8}"/>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extLst>
      <p:ext uri="{BB962C8B-B14F-4D97-AF65-F5344CB8AC3E}">
        <p14:creationId xmlns:p14="http://schemas.microsoft.com/office/powerpoint/2010/main" val="345808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20</a:t>
            </a:fld>
            <a:endParaRPr lang="en-US"/>
          </a:p>
        </p:txBody>
      </p:sp>
      <p:cxnSp>
        <p:nvCxnSpPr>
          <p:cNvPr id="32" name="Straight Connector 31">
            <a:extLst>
              <a:ext uri="{FF2B5EF4-FFF2-40B4-BE49-F238E27FC236}">
                <a16:creationId xmlns:a16="http://schemas.microsoft.com/office/drawing/2014/main" id="{FEBA748E-D6FA-4E5F-860E-E59CB5DE16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3" name="Picture 32" descr="Raster and vector data comparison">
            <a:extLst>
              <a:ext uri="{FF2B5EF4-FFF2-40B4-BE49-F238E27FC236}">
                <a16:creationId xmlns:a16="http://schemas.microsoft.com/office/drawing/2014/main" id="{F4E4FD98-891D-4F9A-84DD-2C7D3D45802D}"/>
              </a:ext>
            </a:extLst>
          </p:cNvPr>
          <p:cNvPicPr>
            <a:picLocks noChangeAspect="1"/>
          </p:cNvPicPr>
          <p:nvPr/>
        </p:nvPicPr>
        <p:blipFill>
          <a:blip r:embed="rId3"/>
          <a:stretch>
            <a:fillRect/>
          </a:stretch>
        </p:blipFill>
        <p:spPr>
          <a:xfrm>
            <a:off x="98304" y="1199507"/>
            <a:ext cx="8032991" cy="3567756"/>
          </a:xfrm>
          <a:prstGeom prst="rect">
            <a:avLst/>
          </a:prstGeom>
        </p:spPr>
      </p:pic>
      <p:sp>
        <p:nvSpPr>
          <p:cNvPr id="34" name="TextBox 33">
            <a:extLst>
              <a:ext uri="{FF2B5EF4-FFF2-40B4-BE49-F238E27FC236}">
                <a16:creationId xmlns:a16="http://schemas.microsoft.com/office/drawing/2014/main" id="{98A32CE0-F43D-4586-8DE0-7D168CAE6D82}"/>
              </a:ext>
            </a:extLst>
          </p:cNvPr>
          <p:cNvSpPr txBox="1"/>
          <p:nvPr/>
        </p:nvSpPr>
        <p:spPr>
          <a:xfrm>
            <a:off x="4492106" y="4788769"/>
            <a:ext cx="2365894"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37" name="Title 1">
            <a:extLst>
              <a:ext uri="{FF2B5EF4-FFF2-40B4-BE49-F238E27FC236}">
                <a16:creationId xmlns:a16="http://schemas.microsoft.com/office/drawing/2014/main" id="{471A2D9C-D590-4DA5-A6C7-8718A610505D}"/>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and Raster Models Comparison</a:t>
            </a:r>
          </a:p>
        </p:txBody>
      </p:sp>
    </p:spTree>
    <p:extLst>
      <p:ext uri="{BB962C8B-B14F-4D97-AF65-F5344CB8AC3E}">
        <p14:creationId xmlns:p14="http://schemas.microsoft.com/office/powerpoint/2010/main" val="221676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21</a:t>
            </a:fld>
            <a:endParaRPr lang="en-US"/>
          </a:p>
        </p:txBody>
      </p:sp>
      <p:cxnSp>
        <p:nvCxnSpPr>
          <p:cNvPr id="32" name="Straight Connector 31">
            <a:extLst>
              <a:ext uri="{FF2B5EF4-FFF2-40B4-BE49-F238E27FC236}">
                <a16:creationId xmlns:a16="http://schemas.microsoft.com/office/drawing/2014/main" id="{FEBA748E-D6FA-4E5F-860E-E59CB5DE16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8A32CE0-F43D-4586-8DE0-7D168CAE6D82}"/>
              </a:ext>
            </a:extLst>
          </p:cNvPr>
          <p:cNvSpPr txBox="1"/>
          <p:nvPr/>
        </p:nvSpPr>
        <p:spPr>
          <a:xfrm>
            <a:off x="317147" y="4810275"/>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9" name="Title 1">
            <a:extLst>
              <a:ext uri="{FF2B5EF4-FFF2-40B4-BE49-F238E27FC236}">
                <a16:creationId xmlns:a16="http://schemas.microsoft.com/office/drawing/2014/main" id="{88F5EBF3-CFA8-46E7-83A5-D048BBF86427}"/>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and Raster Models Conversion</a:t>
            </a:r>
          </a:p>
        </p:txBody>
      </p:sp>
      <p:pic>
        <p:nvPicPr>
          <p:cNvPr id="7" name="Picture 6" descr="Vector to Raster and Raster to Vector">
            <a:extLst>
              <a:ext uri="{FF2B5EF4-FFF2-40B4-BE49-F238E27FC236}">
                <a16:creationId xmlns:a16="http://schemas.microsoft.com/office/drawing/2014/main" id="{CD82A66E-4A5F-425B-9082-A4CBAD22448A}"/>
              </a:ext>
            </a:extLst>
          </p:cNvPr>
          <p:cNvPicPr>
            <a:picLocks noChangeAspect="1"/>
          </p:cNvPicPr>
          <p:nvPr/>
        </p:nvPicPr>
        <p:blipFill rotWithShape="1">
          <a:blip r:embed="rId3"/>
          <a:srcRect b="49280"/>
          <a:stretch/>
        </p:blipFill>
        <p:spPr>
          <a:xfrm>
            <a:off x="3015042" y="1865518"/>
            <a:ext cx="5096025" cy="2059522"/>
          </a:xfrm>
          <a:prstGeom prst="rect">
            <a:avLst/>
          </a:prstGeom>
        </p:spPr>
      </p:pic>
      <p:sp>
        <p:nvSpPr>
          <p:cNvPr id="8" name="TextBox 7">
            <a:extLst>
              <a:ext uri="{FF2B5EF4-FFF2-40B4-BE49-F238E27FC236}">
                <a16:creationId xmlns:a16="http://schemas.microsoft.com/office/drawing/2014/main" id="{44D80BAE-4358-4C32-844F-AD56DDFBDF53}"/>
              </a:ext>
            </a:extLst>
          </p:cNvPr>
          <p:cNvSpPr txBox="1"/>
          <p:nvPr/>
        </p:nvSpPr>
        <p:spPr>
          <a:xfrm>
            <a:off x="118533" y="1304693"/>
            <a:ext cx="2708887" cy="2862322"/>
          </a:xfrm>
          <a:prstGeom prst="rect">
            <a:avLst/>
          </a:prstGeom>
          <a:noFill/>
        </p:spPr>
        <p:txBody>
          <a:bodyPr wrap="square" rtlCol="0">
            <a:spAutoFit/>
          </a:bodyPr>
          <a:lstStyle/>
          <a:p>
            <a:pPr marL="285750" indent="-285750">
              <a:buFont typeface="Courier New" panose="02070309020205020404" pitchFamily="49" charset="0"/>
              <a:buChar char="o"/>
            </a:pPr>
            <a:r>
              <a:rPr lang="en-US" dirty="0"/>
              <a:t>Vector to Raster</a:t>
            </a:r>
          </a:p>
          <a:p>
            <a:pPr marL="742950" lvl="1" indent="-285750">
              <a:buFont typeface="Wingdings" panose="05000000000000000000" pitchFamily="2" charset="2"/>
              <a:buChar char="ü"/>
            </a:pPr>
            <a:r>
              <a:rPr lang="en-US" dirty="0"/>
              <a:t>Assign a value to a cell if a vector line intersects with any part of the cell</a:t>
            </a:r>
          </a:p>
          <a:p>
            <a:pPr marL="742950" lvl="1" indent="-285750">
              <a:buFont typeface="Wingdings" panose="05000000000000000000" pitchFamily="2" charset="2"/>
              <a:buChar char="ü"/>
            </a:pPr>
            <a:r>
              <a:rPr lang="en-US" dirty="0"/>
              <a:t>Assign a value to a cell  only when the cell center is near a vector line segment</a:t>
            </a:r>
          </a:p>
        </p:txBody>
      </p:sp>
      <p:sp>
        <p:nvSpPr>
          <p:cNvPr id="15" name="TextBox 14">
            <a:extLst>
              <a:ext uri="{FF2B5EF4-FFF2-40B4-BE49-F238E27FC236}">
                <a16:creationId xmlns:a16="http://schemas.microsoft.com/office/drawing/2014/main" id="{3F9AF276-9146-4815-839E-67E8F1A77FC1}"/>
              </a:ext>
            </a:extLst>
          </p:cNvPr>
          <p:cNvSpPr txBox="1"/>
          <p:nvPr/>
        </p:nvSpPr>
        <p:spPr>
          <a:xfrm>
            <a:off x="4307485" y="1717955"/>
            <a:ext cx="1920240" cy="369332"/>
          </a:xfrm>
          <a:prstGeom prst="rect">
            <a:avLst/>
          </a:prstGeom>
          <a:noFill/>
        </p:spPr>
        <p:txBody>
          <a:bodyPr wrap="square">
            <a:spAutoFit/>
          </a:bodyPr>
          <a:lstStyle/>
          <a:p>
            <a:r>
              <a:rPr lang="en-US" dirty="0"/>
              <a:t>Vector to Raster</a:t>
            </a:r>
          </a:p>
        </p:txBody>
      </p:sp>
    </p:spTree>
    <p:extLst>
      <p:ext uri="{BB962C8B-B14F-4D97-AF65-F5344CB8AC3E}">
        <p14:creationId xmlns:p14="http://schemas.microsoft.com/office/powerpoint/2010/main" val="177333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F4DEDE-90C6-4A95-BFE6-002269B6C44C}"/>
              </a:ext>
            </a:extLst>
          </p:cNvPr>
          <p:cNvSpPr>
            <a:spLocks noGrp="1"/>
          </p:cNvSpPr>
          <p:nvPr>
            <p:ph type="sldNum" sz="quarter" idx="12"/>
          </p:nvPr>
        </p:nvSpPr>
        <p:spPr/>
        <p:txBody>
          <a:bodyPr/>
          <a:lstStyle/>
          <a:p>
            <a:fld id="{127DDC20-79C9-9647-820E-6D40A3D210C3}" type="slidenum">
              <a:rPr lang="en-US" smtClean="0"/>
              <a:pPr/>
              <a:t>22</a:t>
            </a:fld>
            <a:endParaRPr lang="en-US"/>
          </a:p>
        </p:txBody>
      </p:sp>
      <p:cxnSp>
        <p:nvCxnSpPr>
          <p:cNvPr id="32" name="Straight Connector 31">
            <a:extLst>
              <a:ext uri="{FF2B5EF4-FFF2-40B4-BE49-F238E27FC236}">
                <a16:creationId xmlns:a16="http://schemas.microsoft.com/office/drawing/2014/main" id="{FEBA748E-D6FA-4E5F-860E-E59CB5DE169A}"/>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8A32CE0-F43D-4586-8DE0-7D168CAE6D82}"/>
              </a:ext>
            </a:extLst>
          </p:cNvPr>
          <p:cNvSpPr txBox="1"/>
          <p:nvPr/>
        </p:nvSpPr>
        <p:spPr>
          <a:xfrm>
            <a:off x="317147" y="4810275"/>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9" name="Title 1">
            <a:extLst>
              <a:ext uri="{FF2B5EF4-FFF2-40B4-BE49-F238E27FC236}">
                <a16:creationId xmlns:a16="http://schemas.microsoft.com/office/drawing/2014/main" id="{88F5EBF3-CFA8-46E7-83A5-D048BBF86427}"/>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Vector and Raster Models Conversion</a:t>
            </a:r>
          </a:p>
        </p:txBody>
      </p:sp>
      <p:pic>
        <p:nvPicPr>
          <p:cNvPr id="7" name="Picture 6" descr="Vector to Raster and Raster to Vector">
            <a:extLst>
              <a:ext uri="{FF2B5EF4-FFF2-40B4-BE49-F238E27FC236}">
                <a16:creationId xmlns:a16="http://schemas.microsoft.com/office/drawing/2014/main" id="{CD82A66E-4A5F-425B-9082-A4CBAD22448A}"/>
              </a:ext>
            </a:extLst>
          </p:cNvPr>
          <p:cNvPicPr>
            <a:picLocks noChangeAspect="1"/>
          </p:cNvPicPr>
          <p:nvPr/>
        </p:nvPicPr>
        <p:blipFill rotWithShape="1">
          <a:blip r:embed="rId3"/>
          <a:srcRect t="49974"/>
          <a:stretch/>
        </p:blipFill>
        <p:spPr>
          <a:xfrm>
            <a:off x="2827420" y="1769463"/>
            <a:ext cx="5096025" cy="2031325"/>
          </a:xfrm>
          <a:prstGeom prst="rect">
            <a:avLst/>
          </a:prstGeom>
        </p:spPr>
      </p:pic>
      <p:sp>
        <p:nvSpPr>
          <p:cNvPr id="8" name="TextBox 7">
            <a:extLst>
              <a:ext uri="{FF2B5EF4-FFF2-40B4-BE49-F238E27FC236}">
                <a16:creationId xmlns:a16="http://schemas.microsoft.com/office/drawing/2014/main" id="{44D80BAE-4358-4C32-844F-AD56DDFBDF53}"/>
              </a:ext>
            </a:extLst>
          </p:cNvPr>
          <p:cNvSpPr txBox="1"/>
          <p:nvPr/>
        </p:nvSpPr>
        <p:spPr>
          <a:xfrm>
            <a:off x="118533" y="1304693"/>
            <a:ext cx="2708887" cy="2031325"/>
          </a:xfrm>
          <a:prstGeom prst="rect">
            <a:avLst/>
          </a:prstGeom>
          <a:noFill/>
        </p:spPr>
        <p:txBody>
          <a:bodyPr wrap="square" rtlCol="0">
            <a:spAutoFit/>
          </a:bodyPr>
          <a:lstStyle/>
          <a:p>
            <a:pPr marL="285750" indent="-285750">
              <a:buFont typeface="Courier New" panose="02070309020205020404" pitchFamily="49" charset="0"/>
              <a:buChar char="o"/>
            </a:pPr>
            <a:r>
              <a:rPr lang="en-US" dirty="0"/>
              <a:t>Raster to Vector</a:t>
            </a:r>
          </a:p>
          <a:p>
            <a:pPr marL="742950" lvl="1" indent="-285750">
              <a:buFont typeface="Wingdings" panose="05000000000000000000" pitchFamily="2" charset="2"/>
              <a:buChar char="ü"/>
            </a:pPr>
            <a:r>
              <a:rPr lang="en-US" dirty="0"/>
              <a:t>Each vector point feature is usually assigned the coordinate of the corresponding cell center</a:t>
            </a:r>
          </a:p>
        </p:txBody>
      </p:sp>
      <p:sp>
        <p:nvSpPr>
          <p:cNvPr id="11" name="TextBox 10">
            <a:extLst>
              <a:ext uri="{FF2B5EF4-FFF2-40B4-BE49-F238E27FC236}">
                <a16:creationId xmlns:a16="http://schemas.microsoft.com/office/drawing/2014/main" id="{F5CE4AD2-2F90-4FD5-B855-CF41DC691890}"/>
              </a:ext>
            </a:extLst>
          </p:cNvPr>
          <p:cNvSpPr txBox="1"/>
          <p:nvPr/>
        </p:nvSpPr>
        <p:spPr>
          <a:xfrm>
            <a:off x="4220125" y="1696718"/>
            <a:ext cx="1920240" cy="369332"/>
          </a:xfrm>
          <a:prstGeom prst="rect">
            <a:avLst/>
          </a:prstGeom>
          <a:noFill/>
        </p:spPr>
        <p:txBody>
          <a:bodyPr wrap="square">
            <a:spAutoFit/>
          </a:bodyPr>
          <a:lstStyle/>
          <a:p>
            <a:r>
              <a:rPr lang="en-US" dirty="0"/>
              <a:t>Raster to Vector</a:t>
            </a:r>
          </a:p>
        </p:txBody>
      </p:sp>
    </p:spTree>
    <p:extLst>
      <p:ext uri="{BB962C8B-B14F-4D97-AF65-F5344CB8AC3E}">
        <p14:creationId xmlns:p14="http://schemas.microsoft.com/office/powerpoint/2010/main" val="344197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Triangulated Irregular Networks</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3637547" cy="3747646"/>
          </a:xfrm>
          <a:prstGeom prst="rect">
            <a:avLst/>
          </a:prstGeom>
        </p:spPr>
        <p:txBody>
          <a:bodyPr vert="horz" lIns="91440" tIns="45720" rIns="91440" bIns="45720" rtlCol="0">
            <a:normAutofit fontScale="70000" lnSpcReduction="2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dirty="0"/>
              <a:t>TIN is a data model commonly used to represent terrain heights</a:t>
            </a:r>
          </a:p>
          <a:p>
            <a:pPr lvl="1">
              <a:buFont typeface="Wingdings" panose="05000000000000000000" pitchFamily="2" charset="2"/>
              <a:buChar char="ü"/>
            </a:pPr>
            <a:r>
              <a:rPr lang="en-US" dirty="0"/>
              <a:t>There points are connected such that the smallest triangle possible spans any three adjacent points.</a:t>
            </a:r>
          </a:p>
          <a:p>
            <a:pPr lvl="1">
              <a:buFont typeface="Wingdings" panose="05000000000000000000" pitchFamily="2" charset="2"/>
              <a:buChar char="ü"/>
            </a:pPr>
            <a:r>
              <a:rPr lang="en-US" dirty="0"/>
              <a:t>A trainable is drawn only if the corresponding convergent circle contains no other sampling points </a:t>
            </a:r>
          </a:p>
          <a:p>
            <a:pPr lvl="1">
              <a:buFont typeface="Wingdings" panose="05000000000000000000" pitchFamily="2" charset="2"/>
              <a:buChar char="ü"/>
            </a:pPr>
            <a:r>
              <a:rPr lang="en-US" dirty="0"/>
              <a:t>Higher variable region, more smaller triangles</a:t>
            </a:r>
          </a:p>
          <a:p>
            <a:pPr lvl="1">
              <a:buFont typeface="Wingdings" panose="05000000000000000000" pitchFamily="2" charset="2"/>
              <a:buChar char="ü"/>
            </a:pPr>
            <a:r>
              <a:rPr lang="en-US" dirty="0"/>
              <a:t>Flat region, less but large triangles</a:t>
            </a:r>
          </a:p>
          <a:p>
            <a:pPr lvl="1">
              <a:buFont typeface="Wingdings" panose="05000000000000000000" pitchFamily="2" charset="2"/>
              <a:buChar char="ü"/>
            </a:pPr>
            <a:endParaRPr lang="en-US" dirty="0"/>
          </a:p>
          <a:p>
            <a:pPr marL="0" indent="0">
              <a:buFont typeface="Arial"/>
              <a:buNone/>
            </a:pPr>
            <a:endParaRPr lang="en-US" dirty="0"/>
          </a:p>
        </p:txBody>
      </p:sp>
      <p:pic>
        <p:nvPicPr>
          <p:cNvPr id="13" name="Picture 12" descr="TIN">
            <a:extLst>
              <a:ext uri="{FF2B5EF4-FFF2-40B4-BE49-F238E27FC236}">
                <a16:creationId xmlns:a16="http://schemas.microsoft.com/office/drawing/2014/main" id="{1384CF99-A9C0-4CD5-9221-109057F62A97}"/>
              </a:ext>
            </a:extLst>
          </p:cNvPr>
          <p:cNvPicPr>
            <a:picLocks noChangeAspect="1"/>
          </p:cNvPicPr>
          <p:nvPr/>
        </p:nvPicPr>
        <p:blipFill>
          <a:blip r:embed="rId3"/>
          <a:stretch>
            <a:fillRect/>
          </a:stretch>
        </p:blipFill>
        <p:spPr>
          <a:xfrm>
            <a:off x="3646188" y="1576137"/>
            <a:ext cx="4431012" cy="2767261"/>
          </a:xfrm>
          <a:prstGeom prst="rect">
            <a:avLst/>
          </a:prstGeom>
        </p:spPr>
      </p:pic>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sp>
        <p:nvSpPr>
          <p:cNvPr id="2" name="Slide Number Placeholder 1">
            <a:extLst>
              <a:ext uri="{FF2B5EF4-FFF2-40B4-BE49-F238E27FC236}">
                <a16:creationId xmlns:a16="http://schemas.microsoft.com/office/drawing/2014/main" id="{D4B12F72-EFEC-4673-842B-028AE96137BD}"/>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408933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Object Data Model</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3637547" cy="1810561"/>
          </a:xfrm>
          <a:prstGeom prst="rect">
            <a:avLst/>
          </a:prstGeom>
        </p:spPr>
        <p:txBody>
          <a:bodyPr vert="horz" lIns="91440" tIns="45720" rIns="91440" bIns="45720" rtlCol="0">
            <a:normAutofit fontScale="925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200" dirty="0"/>
              <a:t>Objects are often geographic features, with spatial and attribute data and topological relationship</a:t>
            </a:r>
          </a:p>
          <a:p>
            <a:pPr lvl="1">
              <a:buFont typeface="Wingdings" panose="05000000000000000000" pitchFamily="2" charset="2"/>
              <a:buChar char="ü"/>
            </a:pPr>
            <a:r>
              <a:rPr lang="en-US" sz="1800" dirty="0"/>
              <a:t>A river basin</a:t>
            </a:r>
          </a:p>
          <a:p>
            <a:pPr lvl="1">
              <a:buFont typeface="Wingdings" panose="05000000000000000000" pitchFamily="2" charset="2"/>
              <a:buChar char="ü"/>
            </a:pPr>
            <a:endParaRPr lang="en-US" dirty="0"/>
          </a:p>
          <a:p>
            <a:pPr marL="0" indent="0">
              <a:buFont typeface="Arial"/>
              <a:buNone/>
            </a:pPr>
            <a:endParaRPr lang="en-US" dirty="0"/>
          </a:p>
        </p:txBody>
      </p:sp>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3" name="Picture 2" descr="Object data">
            <a:extLst>
              <a:ext uri="{FF2B5EF4-FFF2-40B4-BE49-F238E27FC236}">
                <a16:creationId xmlns:a16="http://schemas.microsoft.com/office/drawing/2014/main" id="{4C812047-1AAC-424E-AB86-C785CB38CA53}"/>
              </a:ext>
            </a:extLst>
          </p:cNvPr>
          <p:cNvPicPr>
            <a:picLocks noChangeAspect="1"/>
          </p:cNvPicPr>
          <p:nvPr/>
        </p:nvPicPr>
        <p:blipFill>
          <a:blip r:embed="rId3"/>
          <a:stretch>
            <a:fillRect/>
          </a:stretch>
        </p:blipFill>
        <p:spPr>
          <a:xfrm>
            <a:off x="3844592" y="1041023"/>
            <a:ext cx="2560534" cy="3971287"/>
          </a:xfrm>
          <a:prstGeom prst="rect">
            <a:avLst/>
          </a:prstGeom>
        </p:spPr>
      </p:pic>
      <p:sp>
        <p:nvSpPr>
          <p:cNvPr id="2" name="Slide Number Placeholder 1">
            <a:extLst>
              <a:ext uri="{FF2B5EF4-FFF2-40B4-BE49-F238E27FC236}">
                <a16:creationId xmlns:a16="http://schemas.microsoft.com/office/drawing/2014/main" id="{55F8FF9D-8D17-42DD-A9AE-35581BB522CB}"/>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2826780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3B66272-CEF2-4CEC-9A04-AACDCD87440C}"/>
              </a:ext>
            </a:extLst>
          </p:cNvPr>
          <p:cNvSpPr txBox="1">
            <a:spLocks/>
          </p:cNvSpPr>
          <p:nvPr/>
        </p:nvSpPr>
        <p:spPr>
          <a:xfrm>
            <a:off x="118533" y="656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3-D Data Model</a:t>
            </a:r>
          </a:p>
        </p:txBody>
      </p:sp>
      <p:cxnSp>
        <p:nvCxnSpPr>
          <p:cNvPr id="10" name="Straight Connector 9">
            <a:extLst>
              <a:ext uri="{FF2B5EF4-FFF2-40B4-BE49-F238E27FC236}">
                <a16:creationId xmlns:a16="http://schemas.microsoft.com/office/drawing/2014/main" id="{2F98180B-87D5-4F8C-8441-7ACF3B73C030}"/>
              </a:ext>
            </a:extLst>
          </p:cNvPr>
          <p:cNvCxnSpPr/>
          <p:nvPr/>
        </p:nvCxnSpPr>
        <p:spPr>
          <a:xfrm>
            <a:off x="152400" y="970086"/>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Content Placeholder 2">
            <a:extLst>
              <a:ext uri="{FF2B5EF4-FFF2-40B4-BE49-F238E27FC236}">
                <a16:creationId xmlns:a16="http://schemas.microsoft.com/office/drawing/2014/main" id="{96243F1B-AAB5-4FD3-857F-C206319CD95A}"/>
              </a:ext>
            </a:extLst>
          </p:cNvPr>
          <p:cNvSpPr txBox="1">
            <a:spLocks/>
          </p:cNvSpPr>
          <p:nvPr/>
        </p:nvSpPr>
        <p:spPr>
          <a:xfrm>
            <a:off x="152400" y="1064985"/>
            <a:ext cx="3637547" cy="1810561"/>
          </a:xfrm>
          <a:prstGeom prst="rect">
            <a:avLst/>
          </a:prstGeom>
        </p:spPr>
        <p:txBody>
          <a:bodyPr vert="horz" lIns="91440" tIns="45720" rIns="91440" bIns="45720" rtlCol="0">
            <a:normAutofit fontScale="85000" lnSpcReduction="10000"/>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200" dirty="0"/>
              <a:t>Reality mesh combines a three-dimensional triangulated irregular network with an image-based texture surface</a:t>
            </a:r>
          </a:p>
          <a:p>
            <a:pPr lvl="1">
              <a:buFont typeface="Wingdings" panose="05000000000000000000" pitchFamily="2" charset="2"/>
              <a:buChar char="ü"/>
            </a:pPr>
            <a:r>
              <a:rPr lang="en-US" sz="1800" dirty="0"/>
              <a:t>Useful for height-related characteristics, such as building height, roof shapes</a:t>
            </a:r>
          </a:p>
          <a:p>
            <a:pPr lvl="1">
              <a:buFont typeface="Wingdings" panose="05000000000000000000" pitchFamily="2" charset="2"/>
              <a:buChar char="ü"/>
            </a:pPr>
            <a:endParaRPr lang="en-US" dirty="0"/>
          </a:p>
          <a:p>
            <a:pPr marL="0" indent="0">
              <a:buFont typeface="Arial"/>
              <a:buNone/>
            </a:pPr>
            <a:endParaRPr lang="en-US" dirty="0"/>
          </a:p>
        </p:txBody>
      </p:sp>
      <p:sp>
        <p:nvSpPr>
          <p:cNvPr id="14" name="TextBox 13">
            <a:extLst>
              <a:ext uri="{FF2B5EF4-FFF2-40B4-BE49-F238E27FC236}">
                <a16:creationId xmlns:a16="http://schemas.microsoft.com/office/drawing/2014/main" id="{B690577A-42E9-436D-90FE-BAE3A05B1F80}"/>
              </a:ext>
            </a:extLst>
          </p:cNvPr>
          <p:cNvSpPr txBox="1"/>
          <p:nvPr/>
        </p:nvSpPr>
        <p:spPr>
          <a:xfrm>
            <a:off x="6405126" y="4798243"/>
            <a:ext cx="1114610" cy="230832"/>
          </a:xfrm>
          <a:prstGeom prst="rect">
            <a:avLst/>
          </a:prstGeom>
          <a:noFill/>
        </p:spPr>
        <p:txBody>
          <a:bodyPr wrap="square" rtlCol="0">
            <a:spAutoFit/>
          </a:bodyPr>
          <a:lstStyle/>
          <a:p>
            <a:r>
              <a:rPr lang="en-US" sz="900" dirty="0" err="1">
                <a:solidFill>
                  <a:srgbClr val="7030A0"/>
                </a:solidFill>
              </a:rPr>
              <a:t>Bolstad</a:t>
            </a:r>
            <a:r>
              <a:rPr lang="en-US" sz="900" dirty="0">
                <a:solidFill>
                  <a:srgbClr val="7030A0"/>
                </a:solidFill>
              </a:rPr>
              <a:t>, 2019 </a:t>
            </a:r>
          </a:p>
        </p:txBody>
      </p:sp>
      <p:pic>
        <p:nvPicPr>
          <p:cNvPr id="4" name="Picture 3" descr="3D model">
            <a:extLst>
              <a:ext uri="{FF2B5EF4-FFF2-40B4-BE49-F238E27FC236}">
                <a16:creationId xmlns:a16="http://schemas.microsoft.com/office/drawing/2014/main" id="{90040EF6-2C20-4607-8122-FACE8A893B6A}"/>
              </a:ext>
            </a:extLst>
          </p:cNvPr>
          <p:cNvPicPr>
            <a:picLocks noChangeAspect="1"/>
          </p:cNvPicPr>
          <p:nvPr/>
        </p:nvPicPr>
        <p:blipFill>
          <a:blip r:embed="rId3"/>
          <a:stretch>
            <a:fillRect/>
          </a:stretch>
        </p:blipFill>
        <p:spPr>
          <a:xfrm>
            <a:off x="3675200" y="1064986"/>
            <a:ext cx="3519683" cy="3851658"/>
          </a:xfrm>
          <a:prstGeom prst="rect">
            <a:avLst/>
          </a:prstGeom>
        </p:spPr>
      </p:pic>
      <p:sp>
        <p:nvSpPr>
          <p:cNvPr id="2" name="Slide Number Placeholder 1">
            <a:extLst>
              <a:ext uri="{FF2B5EF4-FFF2-40B4-BE49-F238E27FC236}">
                <a16:creationId xmlns:a16="http://schemas.microsoft.com/office/drawing/2014/main" id="{1CC2E75A-4A43-4894-844F-D5B7D7183D93}"/>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176955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26</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Week02_Intro_To_GIS</Template>
  <TotalTime>8589</TotalTime>
  <Words>2094</Words>
  <Application>Microsoft Office PowerPoint</Application>
  <PresentationFormat>Custom</PresentationFormat>
  <Paragraphs>264</Paragraphs>
  <Slides>26</Slides>
  <Notes>21</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26</vt:i4>
      </vt:variant>
    </vt:vector>
  </HeadingPairs>
  <TitlesOfParts>
    <vt:vector size="37" baseType="lpstr">
      <vt:lpstr>Avenir Next W01</vt:lpstr>
      <vt:lpstr>Arial</vt:lpstr>
      <vt:lpstr>Arial Black</vt:lpstr>
      <vt:lpstr>Calibri</vt:lpstr>
      <vt:lpstr>Cambria Math</vt:lpstr>
      <vt:lpstr>Courier New</vt:lpstr>
      <vt:lpstr>Wingdings</vt:lpstr>
      <vt:lpstr>Wingdings 2</vt:lpstr>
      <vt:lpstr>DividendVTI</vt:lpstr>
      <vt:lpstr>1_DividendVTI</vt:lpstr>
      <vt:lpstr>2_DividendVTI</vt:lpstr>
      <vt:lpstr>WEEK 04  Geospatial Data  lecture</vt:lpstr>
      <vt:lpstr>4.1  Introduction to gis</vt:lpstr>
      <vt:lpstr>PowerPoint Presentation</vt:lpstr>
      <vt:lpstr>PowerPoint Presentation</vt:lpstr>
      <vt:lpstr>PowerPoint Presentation</vt:lpstr>
      <vt:lpstr> </vt:lpstr>
      <vt:lpstr>PowerPoint Presentation</vt:lpstr>
      <vt:lpstr>PowerPoint Presentation</vt:lpstr>
      <vt:lpstr>Band combination</vt:lpstr>
      <vt:lpstr>Observe the imagery</vt:lpstr>
      <vt:lpstr>Observe the imagery</vt:lpstr>
      <vt:lpstr>Observe the imagery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Information Science Introduction</dc:title>
  <dc:creator>Yaqian He</dc:creator>
  <cp:lastModifiedBy>Yanan Wu</cp:lastModifiedBy>
  <cp:revision>432</cp:revision>
  <cp:lastPrinted>2020-03-26T12:59:04Z</cp:lastPrinted>
  <dcterms:created xsi:type="dcterms:W3CDTF">2020-03-24T14:51:54Z</dcterms:created>
  <dcterms:modified xsi:type="dcterms:W3CDTF">2025-09-07T20:06:23Z</dcterms:modified>
</cp:coreProperties>
</file>