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Lst>
  <p:notesMasterIdLst>
    <p:notesMasterId r:id="rId36"/>
  </p:notesMasterIdLst>
  <p:sldIdLst>
    <p:sldId id="914" r:id="rId7"/>
    <p:sldId id="1647" r:id="rId8"/>
    <p:sldId id="655" r:id="rId9"/>
    <p:sldId id="676" r:id="rId10"/>
    <p:sldId id="678" r:id="rId11"/>
    <p:sldId id="677" r:id="rId12"/>
    <p:sldId id="1648" r:id="rId13"/>
    <p:sldId id="683" r:id="rId14"/>
    <p:sldId id="282" r:id="rId15"/>
    <p:sldId id="283" r:id="rId16"/>
    <p:sldId id="292" r:id="rId17"/>
    <p:sldId id="286" r:id="rId18"/>
    <p:sldId id="1649" r:id="rId19"/>
    <p:sldId id="679" r:id="rId20"/>
    <p:sldId id="681" r:id="rId21"/>
    <p:sldId id="685" r:id="rId22"/>
    <p:sldId id="682" r:id="rId23"/>
    <p:sldId id="684" r:id="rId24"/>
    <p:sldId id="690" r:id="rId25"/>
    <p:sldId id="657" r:id="rId26"/>
    <p:sldId id="1650" r:id="rId27"/>
    <p:sldId id="674" r:id="rId28"/>
    <p:sldId id="281" r:id="rId29"/>
    <p:sldId id="271" r:id="rId30"/>
    <p:sldId id="1660" r:id="rId31"/>
    <p:sldId id="272" r:id="rId32"/>
    <p:sldId id="675" r:id="rId33"/>
    <p:sldId id="1658" r:id="rId34"/>
    <p:sldId id="1659" r:id="rId3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03" autoAdjust="0"/>
  </p:normalViewPr>
  <p:slideViewPr>
    <p:cSldViewPr snapToGrid="0" snapToObjects="1">
      <p:cViewPr varScale="1">
        <p:scale>
          <a:sx n="120" d="100"/>
          <a:sy n="120" d="100"/>
        </p:scale>
        <p:origin x="1692"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slideMaster" Target="slideMasters/slideMaster3.xml"/></Relationships>
</file>

<file path=ppt/diagrams/_rels/data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OCT 20,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OCT 20,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10/9/2025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59009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a:t>
            </a:fld>
            <a:endParaRPr lang="en-US"/>
          </a:p>
        </p:txBody>
      </p:sp>
    </p:spTree>
    <p:extLst>
      <p:ext uri="{BB962C8B-B14F-4D97-AF65-F5344CB8AC3E}">
        <p14:creationId xmlns:p14="http://schemas.microsoft.com/office/powerpoint/2010/main" val="781223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electrically sensitized puck. The most common digitizers are based on a wire grid embedded in or under a table</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a:t>
            </a:fld>
            <a:endParaRPr lang="en-US"/>
          </a:p>
        </p:txBody>
      </p:sp>
    </p:spTree>
    <p:extLst>
      <p:ext uri="{BB962C8B-B14F-4D97-AF65-F5344CB8AC3E}">
        <p14:creationId xmlns:p14="http://schemas.microsoft.com/office/powerpoint/2010/main" val="3771589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a:t>
            </a:fld>
            <a:endParaRPr lang="en-US"/>
          </a:p>
        </p:txBody>
      </p:sp>
    </p:spTree>
    <p:extLst>
      <p:ext uri="{BB962C8B-B14F-4D97-AF65-F5344CB8AC3E}">
        <p14:creationId xmlns:p14="http://schemas.microsoft.com/office/powerpoint/2010/main" val="2485877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CA611-0D90-6D86-0692-6BF7B0147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62C11-DFD8-6F7D-8609-0E2E21158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BBBDC-8BA6-1A22-674A-F5699D1AD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C0B1C-7EF8-5A5A-5D3C-FC39180621E0}"/>
              </a:ext>
            </a:extLst>
          </p:cNvPr>
          <p:cNvSpPr>
            <a:spLocks noGrp="1"/>
          </p:cNvSpPr>
          <p:nvPr>
            <p:ph type="sldNum" sz="quarter" idx="5"/>
          </p:nvPr>
        </p:nvSpPr>
        <p:spPr/>
        <p:txBody>
          <a:bodyPr/>
          <a:lstStyle/>
          <a:p>
            <a:fld id="{56507943-197E-CE46-82F0-5A323A24AE7A}" type="slidenum">
              <a:rPr lang="en-US" smtClean="0"/>
              <a:pPr/>
              <a:t>7</a:t>
            </a:fld>
            <a:endParaRPr lang="en-US"/>
          </a:p>
        </p:txBody>
      </p:sp>
    </p:spTree>
    <p:extLst>
      <p:ext uri="{BB962C8B-B14F-4D97-AF65-F5344CB8AC3E}">
        <p14:creationId xmlns:p14="http://schemas.microsoft.com/office/powerpoint/2010/main" val="3682431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8</a:t>
            </a:fld>
            <a:endParaRPr lang="en-US"/>
          </a:p>
        </p:txBody>
      </p:sp>
    </p:spTree>
    <p:extLst>
      <p:ext uri="{BB962C8B-B14F-4D97-AF65-F5344CB8AC3E}">
        <p14:creationId xmlns:p14="http://schemas.microsoft.com/office/powerpoint/2010/main" val="633605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Before beginning to digitize, you will need to obtain some input imagery or other reference data. </a:t>
            </a:r>
          </a:p>
          <a:p>
            <a:endParaRPr lang="en-US" baseline="0" dirty="0"/>
          </a:p>
          <a:p>
            <a:r>
              <a:rPr lang="en-US" baseline="0" dirty="0"/>
              <a:t>You will then need to create a new </a:t>
            </a:r>
            <a:r>
              <a:rPr lang="en-US" baseline="0" dirty="0" err="1"/>
              <a:t>shapefile</a:t>
            </a:r>
            <a:r>
              <a:rPr lang="en-US" baseline="0" dirty="0"/>
              <a:t> or feature class to draw into. This will require defining the geometry (point, line, or polygon), setting the projection or coordinate reference system, and creating any required attribute fields. </a:t>
            </a:r>
          </a:p>
          <a:p>
            <a:endParaRPr lang="en-US" baseline="0" dirty="0"/>
          </a:p>
          <a:p>
            <a:r>
              <a:rPr lang="en-US" baseline="0" dirty="0"/>
              <a:t>You can then draw the new features using the reference data. You will also need to edit the attribute table. </a:t>
            </a:r>
          </a:p>
          <a:p>
            <a:endParaRPr lang="en-US" baseline="0" dirty="0"/>
          </a:p>
          <a:p>
            <a:r>
              <a:rPr lang="en-US" baseline="0" dirty="0"/>
              <a:t>It is always important to validate your results for quality control purposes.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708213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Digitizing</a:t>
            </a:r>
            <a:r>
              <a:rPr lang="en-US" baseline="0" dirty="0"/>
              <a:t> options are available in the Edit Tab. </a:t>
            </a:r>
          </a:p>
          <a:p>
            <a:endParaRPr lang="en-US" baseline="0" dirty="0"/>
          </a:p>
          <a:p>
            <a:r>
              <a:rPr lang="en-US" baseline="0" dirty="0"/>
              <a:t>As you edit the geometry and attributes, remember to save often so you don’t lose any work.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463668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a new field, you will need to define the field type. </a:t>
            </a:r>
          </a:p>
          <a:p>
            <a:endParaRPr lang="en-US" baseline="0" dirty="0"/>
          </a:p>
          <a:p>
            <a:r>
              <a:rPr lang="en-US" baseline="0" dirty="0"/>
              <a:t>Short and long integer fields can only store integer or whole number values. Long integers can stored a wider range of numbers than short integers. </a:t>
            </a:r>
          </a:p>
          <a:p>
            <a:endParaRPr lang="en-US" baseline="0" dirty="0"/>
          </a:p>
          <a:p>
            <a:r>
              <a:rPr lang="en-US" baseline="0" dirty="0"/>
              <a:t>If you need to maintain decimal values, you cannot use a short or long integer. Instead, you must use a float or double type. Float fields can store up to 6 decimal places while double can store more than 6.</a:t>
            </a:r>
          </a:p>
          <a:p>
            <a:endParaRPr lang="en-US" baseline="0" dirty="0"/>
          </a:p>
          <a:p>
            <a:r>
              <a:rPr lang="en-US" baseline="0" dirty="0"/>
              <a:t>If you would like to store text or string data, you will do so in a text field. Note that numbers stored in text field will be treated like strings. They will not be treated line numbers. For example, you will not be able to perform mathematical operations on these data. </a:t>
            </a:r>
          </a:p>
          <a:p>
            <a:endParaRPr lang="en-US" baseline="0" dirty="0"/>
          </a:p>
          <a:p>
            <a:r>
              <a:rPr lang="en-US" baseline="0" dirty="0"/>
              <a:t>Date fields store dates and will treat the information as dates.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274899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geometric measures can be calculated and stored in the attribute table for points, lines, and polygon data. </a:t>
            </a:r>
          </a:p>
          <a:p>
            <a:endParaRPr lang="en-US" dirty="0"/>
          </a:p>
          <a:p>
            <a:r>
              <a:rPr lang="en-US" dirty="0"/>
              <a:t>For point data, it is possible to store the x and y coordinate. If the feature is Z-enabled, or contains elevation or height information, this value can also be calculated. If it is M-enable, the M coordinate can be calculated. M-coordinates generally relate to positions along a network. </a:t>
            </a:r>
          </a:p>
          <a:p>
            <a:endParaRPr lang="en-US" dirty="0"/>
          </a:p>
          <a:p>
            <a:r>
              <a:rPr lang="en-US" dirty="0"/>
              <a:t>For lines, you can calculate the x and y coordinates for the start, end, and middle of the line segment. You can also calculate the length and bearing. The bearing is the compass direction of the line and is defined as the direction of travel from the start to the end node. </a:t>
            </a:r>
          </a:p>
          <a:p>
            <a:endParaRPr lang="en-US" dirty="0"/>
          </a:p>
          <a:p>
            <a:r>
              <a:rPr lang="en-US" dirty="0"/>
              <a:t>For polygons, you can calculate the area and perimeter. The perimeter is the length of all the lines that make up the</a:t>
            </a:r>
            <a:r>
              <a:rPr lang="en-US" baseline="0" dirty="0"/>
              <a:t> polygon</a:t>
            </a:r>
            <a:r>
              <a:rPr lang="en-US" dirty="0"/>
              <a:t>. You can also calculate the centroid, or geometric center, coordinates. Note that centroid coordinates can sometimes be misleading. For example, for irregular or elongated shapes, the centroid may not actually occur within the polygon. For a “C” shaped feature, the centroid would occur somewhere in the middle of the “C” as oppose to within the area that makes it up. So, be careful when using centroid measures.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4137090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883850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Dangling include overshoot and undershoot, and two lines with points not connected. Dangling node include undershoot and overshoot node.</a:t>
            </a:r>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3590349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1446172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4121904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18</a:t>
            </a:fld>
            <a:endParaRPr lang="en-US"/>
          </a:p>
        </p:txBody>
      </p:sp>
    </p:spTree>
    <p:extLst>
      <p:ext uri="{BB962C8B-B14F-4D97-AF65-F5344CB8AC3E}">
        <p14:creationId xmlns:p14="http://schemas.microsoft.com/office/powerpoint/2010/main" val="3303198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a-undershoot; b-undershoot; c-</a:t>
            </a:r>
            <a:r>
              <a:rPr lang="en-US" dirty="0" err="1"/>
              <a:t>psuedonode</a:t>
            </a:r>
            <a:r>
              <a:rPr lang="en-US" dirty="0"/>
              <a:t>; d-overshoot; e-undershoot; f-missing label; g-overshoot.</a:t>
            </a:r>
          </a:p>
        </p:txBody>
      </p:sp>
      <p:sp>
        <p:nvSpPr>
          <p:cNvPr id="4" name="Slide Number Placeholder 3"/>
          <p:cNvSpPr>
            <a:spLocks noGrp="1"/>
          </p:cNvSpPr>
          <p:nvPr>
            <p:ph type="sldNum" sz="quarter" idx="5"/>
          </p:nvPr>
        </p:nvSpPr>
        <p:spPr/>
        <p:txBody>
          <a:bodyPr/>
          <a:lstStyle/>
          <a:p>
            <a:fld id="{56507943-197E-CE46-82F0-5A323A24AE7A}" type="slidenum">
              <a:rPr lang="en-US" smtClean="0"/>
              <a:pPr/>
              <a:t>19</a:t>
            </a:fld>
            <a:endParaRPr lang="en-US"/>
          </a:p>
        </p:txBody>
      </p:sp>
    </p:spTree>
    <p:extLst>
      <p:ext uri="{BB962C8B-B14F-4D97-AF65-F5344CB8AC3E}">
        <p14:creationId xmlns:p14="http://schemas.microsoft.com/office/powerpoint/2010/main" val="1494321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Resampling is used to change the cell size of</a:t>
            </a:r>
            <a:r>
              <a:rPr lang="en-US" baseline="0" dirty="0"/>
              <a:t> raster data. Generally, cells are made larger, or the data are coarsened, since making the cells smaller will not really add information but will just duplicate existing values. You can’t increase the detail by simply resampling a coarser dataset to a finer resolution. </a:t>
            </a:r>
          </a:p>
          <a:p>
            <a:endParaRPr lang="en-US" baseline="0" dirty="0"/>
          </a:p>
          <a:p>
            <a:r>
              <a:rPr lang="en-US" baseline="0" dirty="0"/>
              <a:t>You may resample raster data to make it easier to process over large extents or to change the cell size to match other inputs in an analysis. </a:t>
            </a:r>
          </a:p>
          <a:p>
            <a:endParaRPr lang="en-US" baseline="0" dirty="0"/>
          </a:p>
          <a:p>
            <a:r>
              <a:rPr lang="en-US" baseline="0" dirty="0"/>
              <a:t>We will now talk about methods used to resample raster data.</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3663333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Majority</a:t>
            </a:r>
            <a:r>
              <a:rPr lang="en-US" baseline="0" dirty="0"/>
              <a:t> resampling will assign the most common cell value of the original cells that fall within the new cell to the new cell. </a:t>
            </a:r>
          </a:p>
          <a:p>
            <a:endParaRPr lang="en-US" baseline="0" dirty="0"/>
          </a:p>
          <a:p>
            <a:r>
              <a:rPr lang="en-US" baseline="0" dirty="0"/>
              <a:t>This method is not generally used for continuous data. It is more commonly used for categorical data. </a:t>
            </a:r>
          </a:p>
          <a:p>
            <a:endParaRPr lang="en-US" baseline="0" dirty="0"/>
          </a:p>
          <a:p>
            <a:r>
              <a:rPr lang="en-US" baseline="0" dirty="0"/>
              <a:t>For example, if a land cover categorical raster grid was resampled using this method, each new cell would be assigned the majority land cover class from the smaller original cells that fall inside of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027284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Nearest</a:t>
            </a:r>
            <a:r>
              <a:rPr lang="en-US" baseline="0" dirty="0"/>
              <a:t> neighbor resampling assigns the closest cell value from the original raster grid to the new cell.</a:t>
            </a:r>
          </a:p>
          <a:p>
            <a:endParaRPr lang="en-US" baseline="0" dirty="0"/>
          </a:p>
          <a:p>
            <a:r>
              <a:rPr lang="en-US" baseline="0" dirty="0"/>
              <a:t>No averaging is performed, so this method can be used to resample both categorical and continuous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242271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Bilinear</a:t>
            </a:r>
            <a:r>
              <a:rPr lang="en-US" baseline="0" dirty="0"/>
              <a:t> interpolation uses the inverse distance-weighted average of the four nearest pixel values in the original grid to estimate the new cell value.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four cell centers from the input raster that are closest to the cell center for the output processing cell will be weighted based on inverse distance and then averaged. So, nearer cells will have a larger weight in the calculation than</a:t>
            </a:r>
            <a:r>
              <a:rPr lang="en-US" baseline="0" dirty="0"/>
              <a:t> cells that are further away.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Since averaging is performed, this method is not appropriate for categorical data. However, it can be used for continuous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This method tends to smooth the image or raster data.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887233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Cubic convolution</a:t>
            </a:r>
            <a:r>
              <a:rPr lang="en-US" baseline="0" dirty="0"/>
              <a:t> is similar to bilinear interpolation except that the nearest 16 cells are used as opposed to the nearest 4. Since it makes use of averaging, it is also not appropriate for categorical data but can be used for continuous data. </a:t>
            </a:r>
          </a:p>
          <a:p>
            <a:endParaRPr lang="en-US" baseline="0" dirty="0"/>
          </a:p>
          <a:p>
            <a:r>
              <a:rPr lang="en-US" baseline="0" dirty="0"/>
              <a:t>This method tends to sharpen edges more than bilinear interpolation. </a:t>
            </a:r>
          </a:p>
          <a:p>
            <a:endParaRPr lang="en-US" baseline="0" dirty="0"/>
          </a:p>
          <a:p>
            <a:r>
              <a:rPr lang="en-US" baseline="0" dirty="0"/>
              <a:t>Bilinear interpolation and cubic convolution are both commonly used to resample image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974589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read more about resampling, check out this ESRI link. </a:t>
            </a:r>
          </a:p>
          <a:p>
            <a:endParaRPr lang="en-US" baseline="0" dirty="0"/>
          </a:p>
          <a:p>
            <a:r>
              <a:rPr lang="en-US" baseline="0" dirty="0"/>
              <a:t>Note that resampling is made available in a variety of GIS and remote sensing </a:t>
            </a:r>
            <a:r>
              <a:rPr lang="en-US" baseline="0"/>
              <a:t>software packages. </a:t>
            </a:r>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4285714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10/9/2025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5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10/9/2025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607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10/9/2025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614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9694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5954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41106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0229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10/9/2025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2744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8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47025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10/9/2025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24963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10/9/2025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348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10/9/2025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77497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10/9/2025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7501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38547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111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6811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700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10/9/2025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7628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74701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2696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10/9/2025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43720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10/9/2025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20717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10/9/2025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265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10/9/2025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3125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882986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9331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435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75034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10/9/2025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593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732472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3872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10/9/2025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68782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456197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4555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1748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555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39146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649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9431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282331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913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4224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470752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3957960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208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48166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846444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21019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450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649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58955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202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68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7739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479357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4565354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07575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0984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3400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9301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10648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24985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10538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760601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796280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21286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4673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10/9/2025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44053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10/9/2025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96323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10/9/2025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837469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723677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9047875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86498306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esri.com/arcgis-blog/products/arcgis-pro/mapping/digitizing-scanned-maps-using-ai-in-arcgis-pro"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pro.arcgis.com/en/pro-app/latest/tool-reference/image-analyst/detect-objects-using-deep-learning.ht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3.jp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ti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19.jp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desktop.arcgis.com/en/arcmap/latest/extensions/spatial-analyst/performing-analysis/cell-size-and-resampling-in-analysis.ht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desktop.arcgis.com/en/arcmap/latest/extensions/spatial-analyst/performing-analysis/cell-size-and-resampling-in-analysis.htm"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desktop.arcgis.com/en/arcmap/latest/extensions/spatial-analyst/performing-analysis/cell-size-and-resampling-in-analysis.ht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5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409912" y="663183"/>
            <a:ext cx="6638886" cy="2211377"/>
          </a:xfrm>
        </p:spPr>
        <p:txBody>
          <a:bodyPr>
            <a:normAutofit/>
          </a:bodyPr>
          <a:lstStyle/>
          <a:p>
            <a:r>
              <a:rPr lang="en-US" altLang="zh-CN" sz="2800" dirty="0"/>
              <a:t>Lecture 07 </a:t>
            </a:r>
            <a:r>
              <a:rPr lang="en-US" sz="2800" dirty="0"/>
              <a:t>Digitizing, </a:t>
            </a:r>
            <a:br>
              <a:rPr lang="en-US" sz="2800" dirty="0"/>
            </a:br>
            <a:r>
              <a:rPr lang="en-US" sz="2800" dirty="0"/>
              <a:t>Georeferencing,</a:t>
            </a:r>
            <a:br>
              <a:rPr lang="en-US" sz="2800" dirty="0"/>
            </a:br>
            <a:r>
              <a:rPr lang="en-US" sz="2800" dirty="0"/>
              <a:t>Resampling</a:t>
            </a:r>
            <a:br>
              <a:rPr lang="en-US"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477596" y="311179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330323" y="1029962"/>
            <a:ext cx="3943256" cy="3886200"/>
          </a:xfrm>
        </p:spPr>
        <p:txBody>
          <a:bodyPr>
            <a:normAutofit/>
          </a:bodyPr>
          <a:lstStyle/>
          <a:p>
            <a:pPr>
              <a:buFont typeface="Courier New" panose="02070309020205020404" pitchFamily="49" charset="0"/>
              <a:buChar char="o"/>
            </a:pPr>
            <a:r>
              <a:rPr lang="en-US" altLang="en-US" sz="2600" dirty="0"/>
              <a:t>Digitizing</a:t>
            </a:r>
          </a:p>
          <a:p>
            <a:pPr lvl="1">
              <a:buFont typeface="Wingdings" panose="05000000000000000000" pitchFamily="2" charset="2"/>
              <a:buChar char="ü"/>
            </a:pPr>
            <a:r>
              <a:rPr lang="en-US" altLang="en-US" sz="2300" dirty="0"/>
              <a:t>Digitizing types</a:t>
            </a:r>
          </a:p>
          <a:p>
            <a:pPr lvl="1">
              <a:buFont typeface="Wingdings" panose="05000000000000000000" pitchFamily="2" charset="2"/>
              <a:buChar char="ü"/>
            </a:pPr>
            <a:r>
              <a:rPr lang="en-US" altLang="en-US" sz="2300" dirty="0"/>
              <a:t>Digitizing steps</a:t>
            </a:r>
          </a:p>
          <a:p>
            <a:pPr lvl="1">
              <a:buFont typeface="Wingdings" panose="05000000000000000000" pitchFamily="2" charset="2"/>
              <a:buChar char="ü"/>
            </a:pPr>
            <a:r>
              <a:rPr lang="en-US" altLang="en-US" sz="2300" dirty="0"/>
              <a:t>Snapping</a:t>
            </a:r>
          </a:p>
          <a:p>
            <a:pPr marL="0" lvl="1">
              <a:buFont typeface="Courier New" panose="02070309020205020404" pitchFamily="49" charset="0"/>
              <a:buChar char="o"/>
            </a:pPr>
            <a:r>
              <a:rPr lang="en-US" altLang="en-US" sz="2600" dirty="0"/>
              <a:t>Resampling</a:t>
            </a:r>
          </a:p>
          <a:p>
            <a:pPr lvl="1">
              <a:buFont typeface="Wingdings" panose="05000000000000000000" pitchFamily="2" charset="2"/>
              <a:buChar char="ü"/>
            </a:pPr>
            <a:r>
              <a:rPr lang="en-US" altLang="en-US" sz="2300" dirty="0"/>
              <a:t>Resampling methods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96553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34850" y="2140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34850" y="1213687"/>
            <a:ext cx="7559899" cy="2492990"/>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The process by which coordinates from a map, image, or other sources are converted into a vector layer in a GIS.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pic>
        <p:nvPicPr>
          <p:cNvPr id="10" name="Picture 9" descr="Image showing digitizing">
            <a:extLst>
              <a:ext uri="{FF2B5EF4-FFF2-40B4-BE49-F238E27FC236}">
                <a16:creationId xmlns:a16="http://schemas.microsoft.com/office/drawing/2014/main" id="{2C09E13B-91BF-48EF-9AC2-855EB248EC58}"/>
              </a:ext>
            </a:extLst>
          </p:cNvPr>
          <p:cNvPicPr>
            <a:picLocks noChangeAspect="1"/>
          </p:cNvPicPr>
          <p:nvPr/>
        </p:nvPicPr>
        <p:blipFill>
          <a:blip r:embed="rId3"/>
          <a:stretch>
            <a:fillRect/>
          </a:stretch>
        </p:blipFill>
        <p:spPr>
          <a:xfrm>
            <a:off x="3182544" y="2646090"/>
            <a:ext cx="3580989" cy="2245223"/>
          </a:xfrm>
          <a:prstGeom prst="rect">
            <a:avLst/>
          </a:prstGeom>
        </p:spPr>
      </p:pic>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1971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55660" y="1064871"/>
            <a:ext cx="8097740" cy="3077766"/>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Hardcopy digitizing</a:t>
            </a:r>
          </a:p>
          <a:p>
            <a:pPr marL="1371600" lvl="2" indent="-457200">
              <a:buFont typeface="Arial" panose="020B0604020202020204" pitchFamily="34" charset="0"/>
              <a:buChar char="•"/>
            </a:pPr>
            <a:r>
              <a:rPr lang="en-US" sz="2000" dirty="0"/>
              <a:t>Human-guided coordinate capture from a paper, plastic, or other hardcopy map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9" name="Picture 8" descr="A picture containing text, person, indoor&#10;&#10;Description automatically generated">
            <a:extLst>
              <a:ext uri="{FF2B5EF4-FFF2-40B4-BE49-F238E27FC236}">
                <a16:creationId xmlns:a16="http://schemas.microsoft.com/office/drawing/2014/main" id="{E3E18528-1D6F-4A11-A5BD-7A28C58D3468}"/>
              </a:ext>
            </a:extLst>
          </p:cNvPr>
          <p:cNvPicPr>
            <a:picLocks noChangeAspect="1"/>
          </p:cNvPicPr>
          <p:nvPr/>
        </p:nvPicPr>
        <p:blipFill>
          <a:blip r:embed="rId3"/>
          <a:stretch>
            <a:fillRect/>
          </a:stretch>
        </p:blipFill>
        <p:spPr>
          <a:xfrm>
            <a:off x="2971054" y="2889956"/>
            <a:ext cx="2692298" cy="2196084"/>
          </a:xfrm>
          <a:prstGeom prst="rect">
            <a:avLst/>
          </a:prstGeom>
        </p:spPr>
      </p:pic>
    </p:spTree>
    <p:extLst>
      <p:ext uri="{BB962C8B-B14F-4D97-AF65-F5344CB8AC3E}">
        <p14:creationId xmlns:p14="http://schemas.microsoft.com/office/powerpoint/2010/main" val="139679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25267" y="19717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0854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On-screen digitizing</a:t>
            </a:r>
          </a:p>
          <a:p>
            <a:pPr marL="1371600" lvl="2" indent="-457200">
              <a:buFont typeface="Arial" panose="020B0604020202020204" pitchFamily="34" charset="0"/>
              <a:buChar char="•"/>
            </a:pPr>
            <a:r>
              <a:rPr lang="en-US" sz="2000" dirty="0"/>
              <a:t>Heads-up digitizing, involves manually digitizing on a computer screen, using a digital image as a backdrop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4" name="Picture 3" descr="A person sitting at a desk with a computer and a monitor&#10;&#10;Description automatically generated with low confidence">
            <a:extLst>
              <a:ext uri="{FF2B5EF4-FFF2-40B4-BE49-F238E27FC236}">
                <a16:creationId xmlns:a16="http://schemas.microsoft.com/office/drawing/2014/main" id="{FED5F856-39CD-41A9-B0A2-B514A399A04E}"/>
              </a:ext>
            </a:extLst>
          </p:cNvPr>
          <p:cNvPicPr>
            <a:picLocks noChangeAspect="1"/>
          </p:cNvPicPr>
          <p:nvPr/>
        </p:nvPicPr>
        <p:blipFill>
          <a:blip r:embed="rId3"/>
          <a:stretch>
            <a:fillRect/>
          </a:stretch>
        </p:blipFill>
        <p:spPr>
          <a:xfrm>
            <a:off x="2551288" y="2937886"/>
            <a:ext cx="2861895" cy="2103221"/>
          </a:xfrm>
          <a:prstGeom prst="rect">
            <a:avLst/>
          </a:prstGeom>
        </p:spPr>
      </p:pic>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10336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94E3-8410-E62B-96B6-58501177B7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BDFCD60-A6C3-B664-D1FC-EAFFC513E443}"/>
              </a:ext>
            </a:extLst>
          </p:cNvPr>
          <p:cNvSpPr txBox="1">
            <a:spLocks/>
          </p:cNvSpPr>
          <p:nvPr/>
        </p:nvSpPr>
        <p:spPr>
          <a:xfrm>
            <a:off x="283335"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7179C099-25F3-3F72-BD19-90BEC768F54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B8EF20F-19A2-55AF-24D1-3F268A9D34A6}"/>
              </a:ext>
            </a:extLst>
          </p:cNvPr>
          <p:cNvSpPr txBox="1"/>
          <p:nvPr/>
        </p:nvSpPr>
        <p:spPr>
          <a:xfrm>
            <a:off x="386366" y="1064871"/>
            <a:ext cx="7559899" cy="246221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Scan digitizing</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A8EBB368-44D0-E738-560F-9BE9A94E3648}"/>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10" name="Picture 9" descr="Image of Scanner">
            <a:extLst>
              <a:ext uri="{FF2B5EF4-FFF2-40B4-BE49-F238E27FC236}">
                <a16:creationId xmlns:a16="http://schemas.microsoft.com/office/drawing/2014/main" id="{34B98A4B-F8F0-A566-46DF-6E7C5B890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85844" y="2445564"/>
            <a:ext cx="3712036" cy="2458621"/>
          </a:xfrm>
          <a:prstGeom prst="rect">
            <a:avLst/>
          </a:prstGeom>
        </p:spPr>
      </p:pic>
    </p:spTree>
    <p:extLst>
      <p:ext uri="{BB962C8B-B14F-4D97-AF65-F5344CB8AC3E}">
        <p14:creationId xmlns:p14="http://schemas.microsoft.com/office/powerpoint/2010/main" val="34016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1569660"/>
          </a:xfrm>
          <a:prstGeom prst="rect">
            <a:avLst/>
          </a:prstGeom>
          <a:noFill/>
        </p:spPr>
        <p:txBody>
          <a:bodyPr wrap="square" rtlCol="0">
            <a:spAutoFit/>
          </a:bodyPr>
          <a:lstStyle/>
          <a:p>
            <a:pPr marL="457200" indent="-457200">
              <a:buFont typeface="Courier New" panose="02070309020205020404" pitchFamily="49" charset="0"/>
              <a:buChar char="o"/>
            </a:pPr>
            <a:r>
              <a:rPr lang="en-US" altLang="zh-CN" sz="2600" dirty="0">
                <a:hlinkClick r:id="rId3"/>
              </a:rPr>
              <a:t>Digitizing scanned maps using AI in ArcGIS Pro</a:t>
            </a:r>
            <a:endParaRPr lang="en-US" altLang="zh-CN" sz="2600" dirty="0"/>
          </a:p>
          <a:p>
            <a:pPr marL="914400" lvl="1" indent="-457200">
              <a:buFont typeface="Wingdings" panose="05000000000000000000" pitchFamily="2" charset="2"/>
              <a:buChar char="ü"/>
            </a:pPr>
            <a:r>
              <a:rPr lang="en-US" altLang="zh-CN" dirty="0">
                <a:hlinkClick r:id="rId4"/>
              </a:rPr>
              <a:t>Detect Object using Deep Learning tool</a:t>
            </a: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4" name="Picture 3">
            <a:extLst>
              <a:ext uri="{FF2B5EF4-FFF2-40B4-BE49-F238E27FC236}">
                <a16:creationId xmlns:a16="http://schemas.microsoft.com/office/drawing/2014/main" id="{00B71413-0E40-ADBF-EDBD-4B3445208A6F}"/>
              </a:ext>
            </a:extLst>
          </p:cNvPr>
          <p:cNvPicPr>
            <a:picLocks noChangeAspect="1"/>
          </p:cNvPicPr>
          <p:nvPr/>
        </p:nvPicPr>
        <p:blipFill>
          <a:blip r:embed="rId5"/>
          <a:stretch>
            <a:fillRect/>
          </a:stretch>
        </p:blipFill>
        <p:spPr>
          <a:xfrm>
            <a:off x="874644" y="1951445"/>
            <a:ext cx="6162261" cy="2221969"/>
          </a:xfrm>
          <a:prstGeom prst="rect">
            <a:avLst/>
          </a:prstGeom>
        </p:spPr>
      </p:pic>
    </p:spTree>
    <p:extLst>
      <p:ext uri="{BB962C8B-B14F-4D97-AF65-F5344CB8AC3E}">
        <p14:creationId xmlns:p14="http://schemas.microsoft.com/office/powerpoint/2010/main" val="2888690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11480" y="1200151"/>
            <a:ext cx="4542183" cy="3394472"/>
          </a:xfrm>
        </p:spPr>
        <p:txBody>
          <a:bodyPr>
            <a:noAutofit/>
          </a:bodyPr>
          <a:lstStyle/>
          <a:p>
            <a:pPr marL="308701" indent="-308701">
              <a:buFont typeface="+mj-lt"/>
              <a:buAutoNum type="arabicPeriod"/>
            </a:pPr>
            <a:r>
              <a:rPr lang="en-US" sz="1800" dirty="0"/>
              <a:t>Obtain input imagery or other reference data</a:t>
            </a:r>
          </a:p>
          <a:p>
            <a:pPr marL="308701" indent="-308701">
              <a:buFont typeface="+mj-lt"/>
              <a:buAutoNum type="arabicPeriod"/>
            </a:pPr>
            <a:r>
              <a:rPr lang="en-US" sz="1800" dirty="0"/>
              <a:t>Create a new file to edit</a:t>
            </a:r>
          </a:p>
          <a:p>
            <a:pPr lvl="1"/>
            <a:r>
              <a:rPr lang="en-US" sz="1800" dirty="0"/>
              <a:t>Define geometry (point, lines, or polygon)</a:t>
            </a:r>
          </a:p>
          <a:p>
            <a:pPr lvl="1"/>
            <a:r>
              <a:rPr lang="en-US" sz="1800" dirty="0"/>
              <a:t>Define projection</a:t>
            </a:r>
          </a:p>
          <a:p>
            <a:pPr lvl="1"/>
            <a:r>
              <a:rPr lang="en-US" sz="1800" dirty="0"/>
              <a:t>Create attribute fields</a:t>
            </a:r>
          </a:p>
          <a:p>
            <a:pPr marL="308701" indent="-308701">
              <a:buFont typeface="+mj-lt"/>
              <a:buAutoNum type="arabicPeriod"/>
            </a:pPr>
            <a:r>
              <a:rPr lang="en-US" sz="1800" dirty="0"/>
              <a:t>Digitizing</a:t>
            </a:r>
          </a:p>
          <a:p>
            <a:pPr marL="308701" indent="-308701">
              <a:buFont typeface="+mj-lt"/>
              <a:buAutoNum type="arabicPeriod"/>
            </a:pPr>
            <a:r>
              <a:rPr lang="en-US" sz="1800" dirty="0"/>
              <a:t>Edit attribute information</a:t>
            </a:r>
          </a:p>
          <a:p>
            <a:pPr marL="308701" indent="-308701">
              <a:buFont typeface="+mj-lt"/>
              <a:buAutoNum type="arabicPeriod"/>
            </a:pPr>
            <a:r>
              <a:rPr lang="en-US" sz="1800" dirty="0"/>
              <a:t>Check and validate your results</a:t>
            </a:r>
          </a:p>
        </p:txBody>
      </p:sp>
      <p:sp>
        <p:nvSpPr>
          <p:cNvPr id="2" name="Slide Number Placeholder 1">
            <a:extLst>
              <a:ext uri="{FF2B5EF4-FFF2-40B4-BE49-F238E27FC236}">
                <a16:creationId xmlns:a16="http://schemas.microsoft.com/office/drawing/2014/main" id="{7C1A49C7-FA84-46E0-8E90-8C89D6FAB3A9}"/>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8" name="Picture 7" descr="Image showing digitizing"/>
          <p:cNvPicPr/>
          <p:nvPr/>
        </p:nvPicPr>
        <p:blipFill>
          <a:blip r:embed="rId3"/>
          <a:stretch>
            <a:fillRect/>
          </a:stretch>
        </p:blipFill>
        <p:spPr>
          <a:xfrm>
            <a:off x="6761408" y="2871242"/>
            <a:ext cx="1347614" cy="1404539"/>
          </a:xfrm>
          <a:prstGeom prst="rect">
            <a:avLst/>
          </a:prstGeom>
        </p:spPr>
      </p:pic>
      <p:sp>
        <p:nvSpPr>
          <p:cNvPr id="9" name="Title 1">
            <a:extLst>
              <a:ext uri="{FF2B5EF4-FFF2-40B4-BE49-F238E27FC236}">
                <a16:creationId xmlns:a16="http://schemas.microsoft.com/office/drawing/2014/main" id="{ABF173F6-8A9B-4179-BD70-1B4C34D32D63}"/>
              </a:ext>
            </a:extLst>
          </p:cNvPr>
          <p:cNvSpPr txBox="1">
            <a:spLocks/>
          </p:cNvSpPr>
          <p:nvPr/>
        </p:nvSpPr>
        <p:spPr>
          <a:xfrm>
            <a:off x="277559"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Steps</a:t>
            </a:r>
          </a:p>
        </p:txBody>
      </p:sp>
      <p:cxnSp>
        <p:nvCxnSpPr>
          <p:cNvPr id="10" name="Straight Connector 9">
            <a:extLst>
              <a:ext uri="{FF2B5EF4-FFF2-40B4-BE49-F238E27FC236}">
                <a16:creationId xmlns:a16="http://schemas.microsoft.com/office/drawing/2014/main" id="{B59FEFF1-EC5F-497A-8389-B009E822888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Picture 3" descr="Image showing the location of New">
            <a:extLst>
              <a:ext uri="{FF2B5EF4-FFF2-40B4-BE49-F238E27FC236}">
                <a16:creationId xmlns:a16="http://schemas.microsoft.com/office/drawing/2014/main" id="{FCEEBB37-881E-45EB-AD23-9C5F03C43C93}"/>
              </a:ext>
            </a:extLst>
          </p:cNvPr>
          <p:cNvPicPr>
            <a:picLocks noChangeAspect="1"/>
          </p:cNvPicPr>
          <p:nvPr/>
        </p:nvPicPr>
        <p:blipFill>
          <a:blip r:embed="rId4"/>
          <a:stretch>
            <a:fillRect/>
          </a:stretch>
        </p:blipFill>
        <p:spPr>
          <a:xfrm>
            <a:off x="5770943" y="1027511"/>
            <a:ext cx="2327155" cy="1538720"/>
          </a:xfrm>
          <a:prstGeom prst="rect">
            <a:avLst/>
          </a:prstGeom>
        </p:spPr>
      </p:pic>
      <p:pic>
        <p:nvPicPr>
          <p:cNvPr id="12" name="Picture 11" descr="Image showing Create Feature Class window">
            <a:extLst>
              <a:ext uri="{FF2B5EF4-FFF2-40B4-BE49-F238E27FC236}">
                <a16:creationId xmlns:a16="http://schemas.microsoft.com/office/drawing/2014/main" id="{036D83F0-04FD-4047-BBB4-82354FAB2D2C}"/>
              </a:ext>
            </a:extLst>
          </p:cNvPr>
          <p:cNvPicPr>
            <a:picLocks noChangeAspect="1"/>
          </p:cNvPicPr>
          <p:nvPr/>
        </p:nvPicPr>
        <p:blipFill>
          <a:blip r:embed="rId5"/>
          <a:stretch>
            <a:fillRect/>
          </a:stretch>
        </p:blipFill>
        <p:spPr>
          <a:xfrm>
            <a:off x="5054602" y="2871242"/>
            <a:ext cx="1432682" cy="2010531"/>
          </a:xfrm>
          <a:prstGeom prst="rect">
            <a:avLst/>
          </a:prstGeom>
        </p:spPr>
      </p:pic>
    </p:spTree>
    <p:extLst>
      <p:ext uri="{BB962C8B-B14F-4D97-AF65-F5344CB8AC3E}">
        <p14:creationId xmlns:p14="http://schemas.microsoft.com/office/powerpoint/2010/main" val="132044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476" y="1102748"/>
            <a:ext cx="3293571" cy="2881110"/>
          </a:xfrm>
        </p:spPr>
        <p:txBody>
          <a:bodyPr>
            <a:normAutofit/>
          </a:bodyPr>
          <a:lstStyle/>
          <a:p>
            <a:pPr>
              <a:buFont typeface="Courier New" panose="02070309020205020404" pitchFamily="49" charset="0"/>
              <a:buChar char="o"/>
            </a:pPr>
            <a:r>
              <a:rPr lang="en-US" sz="2000" dirty="0"/>
              <a:t>Use Edit tab</a:t>
            </a:r>
          </a:p>
          <a:p>
            <a:pPr>
              <a:buFont typeface="Courier New" panose="02070309020205020404" pitchFamily="49" charset="0"/>
              <a:buChar char="o"/>
            </a:pPr>
            <a:r>
              <a:rPr lang="en-US" sz="2000" dirty="0"/>
              <a:t>Remember to consider topology</a:t>
            </a:r>
          </a:p>
          <a:p>
            <a:pPr>
              <a:buFont typeface="Courier New" panose="02070309020205020404" pitchFamily="49" charset="0"/>
              <a:buChar char="o"/>
            </a:pPr>
            <a:r>
              <a:rPr lang="en-US" sz="2000" dirty="0"/>
              <a:t>Remember to edit attributes</a:t>
            </a:r>
          </a:p>
          <a:p>
            <a:pPr>
              <a:buFont typeface="Courier New" panose="02070309020205020404" pitchFamily="49" charset="0"/>
              <a:buChar char="o"/>
            </a:pPr>
            <a:r>
              <a:rPr lang="en-US" sz="2000" dirty="0"/>
              <a:t>Save often!!!!!!!</a:t>
            </a:r>
          </a:p>
        </p:txBody>
      </p:sp>
      <p:sp>
        <p:nvSpPr>
          <p:cNvPr id="10" name="Slide Number Placeholder 9">
            <a:extLst>
              <a:ext uri="{FF2B5EF4-FFF2-40B4-BE49-F238E27FC236}">
                <a16:creationId xmlns:a16="http://schemas.microsoft.com/office/drawing/2014/main" id="{93E01AE5-1096-4C2B-86A3-16C6129116C7}"/>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4" name="Picture 3" descr="Image showing Edit menu"/>
          <p:cNvPicPr>
            <a:picLocks noChangeAspect="1"/>
          </p:cNvPicPr>
          <p:nvPr/>
        </p:nvPicPr>
        <p:blipFill>
          <a:blip r:embed="rId3"/>
          <a:stretch>
            <a:fillRect/>
          </a:stretch>
        </p:blipFill>
        <p:spPr>
          <a:xfrm>
            <a:off x="27869" y="4218099"/>
            <a:ext cx="8173864" cy="531446"/>
          </a:xfrm>
          <a:prstGeom prst="rect">
            <a:avLst/>
          </a:prstGeom>
        </p:spPr>
      </p:pic>
      <p:sp>
        <p:nvSpPr>
          <p:cNvPr id="8" name="Title 1">
            <a:extLst>
              <a:ext uri="{FF2B5EF4-FFF2-40B4-BE49-F238E27FC236}">
                <a16:creationId xmlns:a16="http://schemas.microsoft.com/office/drawing/2014/main" id="{EA878F0E-69E1-47C6-8A7A-27E9EF95E28F}"/>
              </a:ext>
            </a:extLst>
          </p:cNvPr>
          <p:cNvSpPr txBox="1">
            <a:spLocks/>
          </p:cNvSpPr>
          <p:nvPr/>
        </p:nvSpPr>
        <p:spPr>
          <a:xfrm>
            <a:off x="269608" y="22036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in ArcGIS Pro</a:t>
            </a:r>
          </a:p>
        </p:txBody>
      </p:sp>
      <p:cxnSp>
        <p:nvCxnSpPr>
          <p:cNvPr id="9" name="Straight Connector 8">
            <a:extLst>
              <a:ext uri="{FF2B5EF4-FFF2-40B4-BE49-F238E27FC236}">
                <a16:creationId xmlns:a16="http://schemas.microsoft.com/office/drawing/2014/main" id="{5A52E41D-2C22-4A80-B343-1EE298DEE0A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10" descr="Red box">
            <a:extLst>
              <a:ext uri="{FF2B5EF4-FFF2-40B4-BE49-F238E27FC236}">
                <a16:creationId xmlns:a16="http://schemas.microsoft.com/office/drawing/2014/main" id="{84B50D08-D472-467E-BA7B-624810E2A4ED}"/>
              </a:ext>
            </a:extLst>
          </p:cNvPr>
          <p:cNvSpPr/>
          <p:nvPr/>
        </p:nvSpPr>
        <p:spPr>
          <a:xfrm>
            <a:off x="1094874" y="4159032"/>
            <a:ext cx="733926" cy="26176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030A0"/>
              </a:solidFill>
            </a:endParaRPr>
          </a:p>
        </p:txBody>
      </p:sp>
      <p:pic>
        <p:nvPicPr>
          <p:cNvPr id="12" name="Picture 11" descr="Image showing edit attributes">
            <a:extLst>
              <a:ext uri="{FF2B5EF4-FFF2-40B4-BE49-F238E27FC236}">
                <a16:creationId xmlns:a16="http://schemas.microsoft.com/office/drawing/2014/main" id="{59455D5F-8F0F-4C33-9BB9-9C5A0D078EFE}"/>
              </a:ext>
            </a:extLst>
          </p:cNvPr>
          <p:cNvPicPr/>
          <p:nvPr/>
        </p:nvPicPr>
        <p:blipFill>
          <a:blip r:embed="rId4"/>
          <a:stretch>
            <a:fillRect/>
          </a:stretch>
        </p:blipFill>
        <p:spPr>
          <a:xfrm>
            <a:off x="6256045" y="1204328"/>
            <a:ext cx="1155096" cy="2602905"/>
          </a:xfrm>
          <a:prstGeom prst="rect">
            <a:avLst/>
          </a:prstGeom>
        </p:spPr>
      </p:pic>
      <p:pic>
        <p:nvPicPr>
          <p:cNvPr id="13" name="Picture 12" descr="A picture containing text, automaton&#10;&#10;Description automatically generated">
            <a:extLst>
              <a:ext uri="{FF2B5EF4-FFF2-40B4-BE49-F238E27FC236}">
                <a16:creationId xmlns:a16="http://schemas.microsoft.com/office/drawing/2014/main" id="{528FBF22-9826-493D-A8C9-E90AA7979DF9}"/>
              </a:ext>
            </a:extLst>
          </p:cNvPr>
          <p:cNvPicPr/>
          <p:nvPr/>
        </p:nvPicPr>
        <p:blipFill>
          <a:blip r:embed="rId5"/>
          <a:stretch>
            <a:fillRect/>
          </a:stretch>
        </p:blipFill>
        <p:spPr>
          <a:xfrm>
            <a:off x="3934760" y="1204328"/>
            <a:ext cx="2052572" cy="2602905"/>
          </a:xfrm>
          <a:prstGeom prst="rect">
            <a:avLst/>
          </a:prstGeom>
        </p:spPr>
      </p:pic>
    </p:spTree>
    <p:extLst>
      <p:ext uri="{BB962C8B-B14F-4D97-AF65-F5344CB8AC3E}">
        <p14:creationId xmlns:p14="http://schemas.microsoft.com/office/powerpoint/2010/main" val="324946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07619" y="2350810"/>
            <a:ext cx="6173808" cy="417635"/>
          </a:xfrm>
        </p:spPr>
        <p:txBody>
          <a:bodyPr>
            <a:normAutofit fontScale="92500" lnSpcReduction="10000"/>
          </a:bodyPr>
          <a:lstStyle/>
          <a:p>
            <a:pPr>
              <a:buFont typeface="Courier New" panose="02070309020205020404" pitchFamily="49" charset="0"/>
              <a:buChar char="o"/>
            </a:pPr>
            <a:r>
              <a:rPr lang="en-US" sz="2400" dirty="0"/>
              <a:t>Make sure to define the correct type</a:t>
            </a:r>
          </a:p>
        </p:txBody>
      </p:sp>
      <p:sp>
        <p:nvSpPr>
          <p:cNvPr id="2" name="Slide Number Placeholder 1">
            <a:extLst>
              <a:ext uri="{FF2B5EF4-FFF2-40B4-BE49-F238E27FC236}">
                <a16:creationId xmlns:a16="http://schemas.microsoft.com/office/drawing/2014/main" id="{0634FF61-BA3B-43CC-9169-040F2415554A}"/>
              </a:ext>
            </a:extLst>
          </p:cNvPr>
          <p:cNvSpPr>
            <a:spLocks noGrp="1"/>
          </p:cNvSpPr>
          <p:nvPr>
            <p:ph type="sldNum" sz="quarter" idx="12"/>
          </p:nvPr>
        </p:nvSpPr>
        <p:spPr/>
        <p:txBody>
          <a:bodyPr/>
          <a:lstStyle/>
          <a:p>
            <a:fld id="{127DDC20-79C9-9647-820E-6D40A3D210C3}" type="slidenum">
              <a:rPr lang="en-US" smtClean="0"/>
              <a:pPr/>
              <a:t>11</a:t>
            </a:fld>
            <a:endParaRPr lang="en-US"/>
          </a:p>
        </p:txBody>
      </p:sp>
      <p:graphicFrame>
        <p:nvGraphicFramePr>
          <p:cNvPr id="5" name="Content Placeholder 3"/>
          <p:cNvGraphicFramePr>
            <a:graphicFrameLocks/>
          </p:cNvGraphicFramePr>
          <p:nvPr>
            <p:custDataLst>
              <p:tags r:id="rId2"/>
            </p:custDataLst>
            <p:extLst>
              <p:ext uri="{D42A27DB-BD31-4B8C-83A1-F6EECF244321}">
                <p14:modId xmlns:p14="http://schemas.microsoft.com/office/powerpoint/2010/main" val="1712225646"/>
              </p:ext>
            </p:extLst>
          </p:nvPr>
        </p:nvGraphicFramePr>
        <p:xfrm>
          <a:off x="1199977" y="3080783"/>
          <a:ext cx="6173808" cy="1878306"/>
        </p:xfrm>
        <a:graphic>
          <a:graphicData uri="http://schemas.openxmlformats.org/drawingml/2006/table">
            <a:tbl>
              <a:tblPr firstRow="1" bandRow="1">
                <a:tableStyleId>{6E25E649-3F16-4E02-A733-19D2CDBF48F0}</a:tableStyleId>
              </a:tblPr>
              <a:tblGrid>
                <a:gridCol w="3086904">
                  <a:extLst>
                    <a:ext uri="{9D8B030D-6E8A-4147-A177-3AD203B41FA5}">
                      <a16:colId xmlns:a16="http://schemas.microsoft.com/office/drawing/2014/main" val="332536845"/>
                    </a:ext>
                  </a:extLst>
                </a:gridCol>
                <a:gridCol w="3086904">
                  <a:extLst>
                    <a:ext uri="{9D8B030D-6E8A-4147-A177-3AD203B41FA5}">
                      <a16:colId xmlns:a16="http://schemas.microsoft.com/office/drawing/2014/main" val="3240416613"/>
                    </a:ext>
                  </a:extLst>
                </a:gridCol>
              </a:tblGrid>
              <a:tr h="250382">
                <a:tc>
                  <a:txBody>
                    <a:bodyPr/>
                    <a:lstStyle/>
                    <a:p>
                      <a:r>
                        <a:rPr lang="en-US" sz="1100" dirty="0"/>
                        <a:t>Data Type</a:t>
                      </a:r>
                    </a:p>
                  </a:txBody>
                  <a:tcPr marL="61738" marR="61738" marT="30869" marB="30869">
                    <a:solidFill>
                      <a:srgbClr val="E3874F"/>
                    </a:solidFill>
                  </a:tcPr>
                </a:tc>
                <a:tc>
                  <a:txBody>
                    <a:bodyPr/>
                    <a:lstStyle/>
                    <a:p>
                      <a:endParaRPr lang="en-US" sz="1100" dirty="0"/>
                    </a:p>
                  </a:txBody>
                  <a:tcPr marL="61738" marR="61738" marT="30869" marB="30869">
                    <a:solidFill>
                      <a:srgbClr val="E3874F"/>
                    </a:solidFill>
                  </a:tcPr>
                </a:tc>
                <a:extLst>
                  <a:ext uri="{0D108BD9-81ED-4DB2-BD59-A6C34878D82A}">
                    <a16:rowId xmlns:a16="http://schemas.microsoft.com/office/drawing/2014/main" val="3465418279"/>
                  </a:ext>
                </a:extLst>
              </a:tr>
              <a:tr h="250382">
                <a:tc>
                  <a:txBody>
                    <a:bodyPr/>
                    <a:lstStyle/>
                    <a:p>
                      <a:r>
                        <a:rPr lang="en-US" sz="1100" b="1" dirty="0">
                          <a:solidFill>
                            <a:srgbClr val="E3874F"/>
                          </a:solidFill>
                        </a:rPr>
                        <a:t>Short</a:t>
                      </a:r>
                      <a:r>
                        <a:rPr lang="en-US" sz="1100" b="1" baseline="0" dirty="0">
                          <a:solidFill>
                            <a:srgbClr val="E3874F"/>
                          </a:solidFill>
                        </a:rPr>
                        <a:t> Integer</a:t>
                      </a:r>
                      <a:endParaRPr lang="en-US" sz="1100" b="1" dirty="0">
                        <a:solidFill>
                          <a:srgbClr val="E3874F"/>
                        </a:solidFill>
                      </a:endParaRPr>
                    </a:p>
                  </a:txBody>
                  <a:tcPr marL="61738" marR="61738" marT="30869" marB="30869"/>
                </a:tc>
                <a:tc>
                  <a:txBody>
                    <a:bodyPr/>
                    <a:lstStyle/>
                    <a:p>
                      <a:r>
                        <a:rPr lang="en-US" sz="1100" dirty="0"/>
                        <a:t>Integer values</a:t>
                      </a:r>
                      <a:r>
                        <a:rPr lang="en-US" sz="1100" baseline="0" dirty="0"/>
                        <a:t> between -32,768 and 32,767</a:t>
                      </a:r>
                      <a:endParaRPr lang="en-US" sz="1100" dirty="0"/>
                    </a:p>
                  </a:txBody>
                  <a:tcPr marL="61738" marR="61738" marT="30869" marB="30869"/>
                </a:tc>
                <a:extLst>
                  <a:ext uri="{0D108BD9-81ED-4DB2-BD59-A6C34878D82A}">
                    <a16:rowId xmlns:a16="http://schemas.microsoft.com/office/drawing/2014/main" val="917302846"/>
                  </a:ext>
                </a:extLst>
              </a:tr>
              <a:tr h="395124">
                <a:tc>
                  <a:txBody>
                    <a:bodyPr/>
                    <a:lstStyle/>
                    <a:p>
                      <a:r>
                        <a:rPr lang="en-US" sz="1100" b="1" dirty="0">
                          <a:solidFill>
                            <a:srgbClr val="E3874F"/>
                          </a:solidFill>
                        </a:rPr>
                        <a:t>Long Integer</a:t>
                      </a:r>
                    </a:p>
                  </a:txBody>
                  <a:tcPr marL="61738" marR="61738" marT="30869" marB="30869"/>
                </a:tc>
                <a:tc>
                  <a:txBody>
                    <a:bodyPr/>
                    <a:lstStyle/>
                    <a:p>
                      <a:r>
                        <a:rPr lang="en-US" sz="1100" dirty="0"/>
                        <a:t>Integer values between -2,147,483,648 and 2,147,483,647</a:t>
                      </a:r>
                    </a:p>
                  </a:txBody>
                  <a:tcPr marL="61738" marR="61738" marT="30869" marB="30869"/>
                </a:tc>
                <a:extLst>
                  <a:ext uri="{0D108BD9-81ED-4DB2-BD59-A6C34878D82A}">
                    <a16:rowId xmlns:a16="http://schemas.microsoft.com/office/drawing/2014/main" val="497073896"/>
                  </a:ext>
                </a:extLst>
              </a:tr>
              <a:tr h="250382">
                <a:tc>
                  <a:txBody>
                    <a:bodyPr/>
                    <a:lstStyle/>
                    <a:p>
                      <a:r>
                        <a:rPr lang="en-US" sz="1100" b="1" dirty="0">
                          <a:solidFill>
                            <a:srgbClr val="E3874F"/>
                          </a:solidFill>
                        </a:rPr>
                        <a:t>Float</a:t>
                      </a:r>
                    </a:p>
                  </a:txBody>
                  <a:tcPr marL="61738" marR="61738" marT="30869" marB="30869"/>
                </a:tc>
                <a:tc>
                  <a:txBody>
                    <a:bodyPr/>
                    <a:lstStyle/>
                    <a:p>
                      <a:r>
                        <a:rPr lang="en-US" sz="1100" dirty="0"/>
                        <a:t>Decimal values with 1-6 decimal places</a:t>
                      </a:r>
                    </a:p>
                  </a:txBody>
                  <a:tcPr marL="61738" marR="61738" marT="30869" marB="30869"/>
                </a:tc>
                <a:extLst>
                  <a:ext uri="{0D108BD9-81ED-4DB2-BD59-A6C34878D82A}">
                    <a16:rowId xmlns:a16="http://schemas.microsoft.com/office/drawing/2014/main" val="3288428188"/>
                  </a:ext>
                </a:extLst>
              </a:tr>
              <a:tr h="250382">
                <a:tc>
                  <a:txBody>
                    <a:bodyPr/>
                    <a:lstStyle/>
                    <a:p>
                      <a:r>
                        <a:rPr lang="en-US" sz="1100" b="1" dirty="0">
                          <a:solidFill>
                            <a:srgbClr val="E3874F"/>
                          </a:solidFill>
                        </a:rPr>
                        <a:t>Double</a:t>
                      </a:r>
                    </a:p>
                  </a:txBody>
                  <a:tcPr marL="61738" marR="61738" marT="30869" marB="30869"/>
                </a:tc>
                <a:tc>
                  <a:txBody>
                    <a:bodyPr/>
                    <a:lstStyle/>
                    <a:p>
                      <a:r>
                        <a:rPr lang="en-US" sz="1100" dirty="0"/>
                        <a:t>Decimal</a:t>
                      </a:r>
                      <a:r>
                        <a:rPr lang="en-US" sz="1100" baseline="0" dirty="0"/>
                        <a:t> values with more the 6 decimal places</a:t>
                      </a:r>
                      <a:endParaRPr lang="en-US" sz="1100" dirty="0"/>
                    </a:p>
                  </a:txBody>
                  <a:tcPr marL="61738" marR="61738" marT="30869" marB="30869"/>
                </a:tc>
                <a:extLst>
                  <a:ext uri="{0D108BD9-81ED-4DB2-BD59-A6C34878D82A}">
                    <a16:rowId xmlns:a16="http://schemas.microsoft.com/office/drawing/2014/main" val="3026856190"/>
                  </a:ext>
                </a:extLst>
              </a:tr>
              <a:tr h="228431">
                <a:tc>
                  <a:txBody>
                    <a:bodyPr/>
                    <a:lstStyle/>
                    <a:p>
                      <a:r>
                        <a:rPr lang="en-US" sz="1100" b="1" dirty="0">
                          <a:solidFill>
                            <a:srgbClr val="E3874F"/>
                          </a:solidFill>
                        </a:rPr>
                        <a:t>Text</a:t>
                      </a:r>
                    </a:p>
                  </a:txBody>
                  <a:tcPr marL="61738" marR="61738" marT="30869" marB="30869"/>
                </a:tc>
                <a:tc>
                  <a:txBody>
                    <a:bodyPr/>
                    <a:lstStyle/>
                    <a:p>
                      <a:r>
                        <a:rPr lang="en-US" sz="1100" dirty="0"/>
                        <a:t>Text</a:t>
                      </a:r>
                      <a:r>
                        <a:rPr lang="en-US" sz="1100" baseline="0" dirty="0"/>
                        <a:t> strings</a:t>
                      </a:r>
                      <a:endParaRPr lang="en-US" sz="1100" dirty="0"/>
                    </a:p>
                  </a:txBody>
                  <a:tcPr marL="61738" marR="61738" marT="30869" marB="30869"/>
                </a:tc>
                <a:extLst>
                  <a:ext uri="{0D108BD9-81ED-4DB2-BD59-A6C34878D82A}">
                    <a16:rowId xmlns:a16="http://schemas.microsoft.com/office/drawing/2014/main" val="1992011703"/>
                  </a:ext>
                </a:extLst>
              </a:tr>
              <a:tr h="250382">
                <a:tc>
                  <a:txBody>
                    <a:bodyPr/>
                    <a:lstStyle/>
                    <a:p>
                      <a:r>
                        <a:rPr lang="en-US" sz="1100" b="1" dirty="0">
                          <a:solidFill>
                            <a:srgbClr val="E3874F"/>
                          </a:solidFill>
                        </a:rPr>
                        <a:t>Date</a:t>
                      </a:r>
                    </a:p>
                  </a:txBody>
                  <a:tcPr marL="61738" marR="61738" marT="30869" marB="30869"/>
                </a:tc>
                <a:tc>
                  <a:txBody>
                    <a:bodyPr/>
                    <a:lstStyle/>
                    <a:p>
                      <a:r>
                        <a:rPr lang="en-US" sz="1100" dirty="0"/>
                        <a:t>Data info (mm/</a:t>
                      </a:r>
                      <a:r>
                        <a:rPr lang="en-US" sz="1100" dirty="0" err="1"/>
                        <a:t>dd</a:t>
                      </a:r>
                      <a:r>
                        <a:rPr lang="en-US" sz="1100" dirty="0"/>
                        <a:t>/</a:t>
                      </a:r>
                      <a:r>
                        <a:rPr lang="en-US" sz="1100" dirty="0" err="1"/>
                        <a:t>yyyy</a:t>
                      </a:r>
                      <a:r>
                        <a:rPr lang="en-US" sz="1100" dirty="0"/>
                        <a:t>)</a:t>
                      </a:r>
                    </a:p>
                  </a:txBody>
                  <a:tcPr marL="61738" marR="61738" marT="30869" marB="30869"/>
                </a:tc>
                <a:extLst>
                  <a:ext uri="{0D108BD9-81ED-4DB2-BD59-A6C34878D82A}">
                    <a16:rowId xmlns:a16="http://schemas.microsoft.com/office/drawing/2014/main" val="2515088809"/>
                  </a:ext>
                </a:extLst>
              </a:tr>
            </a:tbl>
          </a:graphicData>
        </a:graphic>
      </p:graphicFrame>
      <p:sp>
        <p:nvSpPr>
          <p:cNvPr id="7" name="Title 1">
            <a:extLst>
              <a:ext uri="{FF2B5EF4-FFF2-40B4-BE49-F238E27FC236}">
                <a16:creationId xmlns:a16="http://schemas.microsoft.com/office/drawing/2014/main" id="{8D051FDC-C928-4430-91DA-3587E01F4A33}"/>
              </a:ext>
            </a:extLst>
          </p:cNvPr>
          <p:cNvSpPr txBox="1">
            <a:spLocks/>
          </p:cNvSpPr>
          <p:nvPr/>
        </p:nvSpPr>
        <p:spPr>
          <a:xfrm>
            <a:off x="248281" y="1770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Fields</a:t>
            </a:r>
          </a:p>
        </p:txBody>
      </p:sp>
      <p:cxnSp>
        <p:nvCxnSpPr>
          <p:cNvPr id="8" name="Straight Connector 7">
            <a:extLst>
              <a:ext uri="{FF2B5EF4-FFF2-40B4-BE49-F238E27FC236}">
                <a16:creationId xmlns:a16="http://schemas.microsoft.com/office/drawing/2014/main" id="{78F5BBE1-E258-44E0-B3CC-1B351EFFD62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Image showing Add Field">
            <a:extLst>
              <a:ext uri="{FF2B5EF4-FFF2-40B4-BE49-F238E27FC236}">
                <a16:creationId xmlns:a16="http://schemas.microsoft.com/office/drawing/2014/main" id="{55778E80-ECFE-4126-BFF7-2BAF24FC8127}"/>
              </a:ext>
            </a:extLst>
          </p:cNvPr>
          <p:cNvPicPr/>
          <p:nvPr/>
        </p:nvPicPr>
        <p:blipFill>
          <a:blip r:embed="rId5"/>
          <a:stretch>
            <a:fillRect/>
          </a:stretch>
        </p:blipFill>
        <p:spPr>
          <a:xfrm>
            <a:off x="1183253" y="1034268"/>
            <a:ext cx="6052434" cy="1028443"/>
          </a:xfrm>
          <a:prstGeom prst="rect">
            <a:avLst/>
          </a:prstGeom>
        </p:spPr>
      </p:pic>
    </p:spTree>
    <p:extLst>
      <p:ext uri="{BB962C8B-B14F-4D97-AF65-F5344CB8AC3E}">
        <p14:creationId xmlns:p14="http://schemas.microsoft.com/office/powerpoint/2010/main" val="77698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200151"/>
            <a:ext cx="7699587" cy="3394472"/>
          </a:xfrm>
        </p:spPr>
        <p:txBody>
          <a:bodyPr/>
          <a:lstStyle/>
          <a:p>
            <a:pPr>
              <a:buFont typeface="Courier New" panose="02070309020205020404" pitchFamily="49" charset="0"/>
              <a:buChar char="o"/>
            </a:pPr>
            <a:r>
              <a:rPr lang="en-US" dirty="0"/>
              <a:t>Use Add/Calculate Geometry Attributes Tool</a:t>
            </a:r>
          </a:p>
        </p:txBody>
      </p:sp>
      <p:sp>
        <p:nvSpPr>
          <p:cNvPr id="2" name="Slide Number Placeholder 1">
            <a:extLst>
              <a:ext uri="{FF2B5EF4-FFF2-40B4-BE49-F238E27FC236}">
                <a16:creationId xmlns:a16="http://schemas.microsoft.com/office/drawing/2014/main" id="{5DB7DF09-7AD5-42EF-92A6-84B85F8FE560}"/>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4" name="Picture 3" descr="Image showing Add Geometry Attributes"/>
          <p:cNvPicPr>
            <a:picLocks noChangeAspect="1"/>
          </p:cNvPicPr>
          <p:nvPr/>
        </p:nvPicPr>
        <p:blipFill>
          <a:blip r:embed="rId3"/>
          <a:stretch>
            <a:fillRect/>
          </a:stretch>
        </p:blipFill>
        <p:spPr>
          <a:xfrm>
            <a:off x="4121391" y="2057266"/>
            <a:ext cx="3492060" cy="2263730"/>
          </a:xfrm>
          <a:prstGeom prst="rect">
            <a:avLst/>
          </a:prstGeom>
        </p:spPr>
      </p:pic>
      <p:graphicFrame>
        <p:nvGraphicFramePr>
          <p:cNvPr id="5" name="Content Placeholder 3"/>
          <p:cNvGraphicFramePr>
            <a:graphicFrameLocks/>
          </p:cNvGraphicFramePr>
          <p:nvPr>
            <p:extLst>
              <p:ext uri="{D42A27DB-BD31-4B8C-83A1-F6EECF244321}">
                <p14:modId xmlns:p14="http://schemas.microsoft.com/office/powerpoint/2010/main" val="945891171"/>
              </p:ext>
            </p:extLst>
          </p:nvPr>
        </p:nvGraphicFramePr>
        <p:xfrm>
          <a:off x="256170" y="2062739"/>
          <a:ext cx="3601389" cy="2546710"/>
        </p:xfrm>
        <a:graphic>
          <a:graphicData uri="http://schemas.openxmlformats.org/drawingml/2006/table">
            <a:tbl>
              <a:tblPr firstRow="1" bandRow="1">
                <a:tableStyleId>{6E25E649-3F16-4E02-A733-19D2CDBF48F0}</a:tableStyleId>
              </a:tblPr>
              <a:tblGrid>
                <a:gridCol w="1200463">
                  <a:extLst>
                    <a:ext uri="{9D8B030D-6E8A-4147-A177-3AD203B41FA5}">
                      <a16:colId xmlns:a16="http://schemas.microsoft.com/office/drawing/2014/main" val="2928220064"/>
                    </a:ext>
                  </a:extLst>
                </a:gridCol>
                <a:gridCol w="1200463">
                  <a:extLst>
                    <a:ext uri="{9D8B030D-6E8A-4147-A177-3AD203B41FA5}">
                      <a16:colId xmlns:a16="http://schemas.microsoft.com/office/drawing/2014/main" val="3542481309"/>
                    </a:ext>
                  </a:extLst>
                </a:gridCol>
                <a:gridCol w="1200463">
                  <a:extLst>
                    <a:ext uri="{9D8B030D-6E8A-4147-A177-3AD203B41FA5}">
                      <a16:colId xmlns:a16="http://schemas.microsoft.com/office/drawing/2014/main" val="1337384188"/>
                    </a:ext>
                  </a:extLst>
                </a:gridCol>
              </a:tblGrid>
              <a:tr h="250382">
                <a:tc>
                  <a:txBody>
                    <a:bodyPr/>
                    <a:lstStyle/>
                    <a:p>
                      <a:r>
                        <a:rPr lang="en-US" sz="1100" dirty="0"/>
                        <a:t>Points</a:t>
                      </a:r>
                    </a:p>
                  </a:txBody>
                  <a:tcPr marL="61738" marR="61738" marT="30869" marB="30869">
                    <a:solidFill>
                      <a:srgbClr val="E3874F"/>
                    </a:solidFill>
                  </a:tcPr>
                </a:tc>
                <a:tc>
                  <a:txBody>
                    <a:bodyPr/>
                    <a:lstStyle/>
                    <a:p>
                      <a:r>
                        <a:rPr lang="en-US" sz="1100" dirty="0"/>
                        <a:t>Lines</a:t>
                      </a:r>
                    </a:p>
                  </a:txBody>
                  <a:tcPr marL="61738" marR="61738" marT="30869" marB="30869">
                    <a:solidFill>
                      <a:srgbClr val="E3874F"/>
                    </a:solidFill>
                  </a:tcPr>
                </a:tc>
                <a:tc>
                  <a:txBody>
                    <a:bodyPr/>
                    <a:lstStyle/>
                    <a:p>
                      <a:r>
                        <a:rPr lang="en-US" sz="1100" dirty="0"/>
                        <a:t>Polygons</a:t>
                      </a:r>
                    </a:p>
                  </a:txBody>
                  <a:tcPr marL="61738" marR="61738" marT="30869" marB="30869">
                    <a:solidFill>
                      <a:srgbClr val="E3874F"/>
                    </a:solidFill>
                  </a:tcPr>
                </a:tc>
                <a:extLst>
                  <a:ext uri="{0D108BD9-81ED-4DB2-BD59-A6C34878D82A}">
                    <a16:rowId xmlns:a16="http://schemas.microsoft.com/office/drawing/2014/main" val="584739742"/>
                  </a:ext>
                </a:extLst>
              </a:tr>
              <a:tr h="250382">
                <a:tc>
                  <a:txBody>
                    <a:bodyPr/>
                    <a:lstStyle/>
                    <a:p>
                      <a:r>
                        <a:rPr lang="en-US" sz="1100" dirty="0"/>
                        <a:t>X-coordinate</a:t>
                      </a:r>
                    </a:p>
                  </a:txBody>
                  <a:tcPr marL="61738" marR="61738" marT="30869" marB="30869"/>
                </a:tc>
                <a:tc>
                  <a:txBody>
                    <a:bodyPr/>
                    <a:lstStyle/>
                    <a:p>
                      <a:r>
                        <a:rPr lang="en-US" sz="1100" dirty="0"/>
                        <a:t>Start-X</a:t>
                      </a:r>
                    </a:p>
                  </a:txBody>
                  <a:tcPr marL="61738" marR="61738" marT="30869" marB="30869"/>
                </a:tc>
                <a:tc>
                  <a:txBody>
                    <a:bodyPr/>
                    <a:lstStyle/>
                    <a:p>
                      <a:r>
                        <a:rPr lang="en-US" sz="1100" dirty="0"/>
                        <a:t>Area</a:t>
                      </a:r>
                    </a:p>
                  </a:txBody>
                  <a:tcPr marL="61738" marR="61738" marT="30869" marB="30869"/>
                </a:tc>
                <a:extLst>
                  <a:ext uri="{0D108BD9-81ED-4DB2-BD59-A6C34878D82A}">
                    <a16:rowId xmlns:a16="http://schemas.microsoft.com/office/drawing/2014/main" val="2029775200"/>
                  </a:ext>
                </a:extLst>
              </a:tr>
              <a:tr h="250382">
                <a:tc>
                  <a:txBody>
                    <a:bodyPr/>
                    <a:lstStyle/>
                    <a:p>
                      <a:r>
                        <a:rPr lang="en-US" sz="1100" dirty="0"/>
                        <a:t>Y-coordinate</a:t>
                      </a:r>
                    </a:p>
                  </a:txBody>
                  <a:tcPr marL="61738" marR="61738" marT="30869" marB="30869"/>
                </a:tc>
                <a:tc>
                  <a:txBody>
                    <a:bodyPr/>
                    <a:lstStyle/>
                    <a:p>
                      <a:r>
                        <a:rPr lang="en-US" sz="1100" dirty="0"/>
                        <a:t>Start-Y</a:t>
                      </a:r>
                    </a:p>
                  </a:txBody>
                  <a:tcPr marL="61738" marR="61738" marT="30869" marB="30869"/>
                </a:tc>
                <a:tc>
                  <a:txBody>
                    <a:bodyPr/>
                    <a:lstStyle/>
                    <a:p>
                      <a:r>
                        <a:rPr lang="en-US" sz="1100" dirty="0"/>
                        <a:t>Perimeter</a:t>
                      </a:r>
                    </a:p>
                  </a:txBody>
                  <a:tcPr marL="61738" marR="61738" marT="30869" marB="30869"/>
                </a:tc>
                <a:extLst>
                  <a:ext uri="{0D108BD9-81ED-4DB2-BD59-A6C34878D82A}">
                    <a16:rowId xmlns:a16="http://schemas.microsoft.com/office/drawing/2014/main" val="1210143157"/>
                  </a:ext>
                </a:extLst>
              </a:tr>
              <a:tr h="395124">
                <a:tc>
                  <a:txBody>
                    <a:bodyPr/>
                    <a:lstStyle/>
                    <a:p>
                      <a:r>
                        <a:rPr lang="en-US" sz="1100" dirty="0"/>
                        <a:t>Z-coordinate (if z-enabled)</a:t>
                      </a:r>
                    </a:p>
                  </a:txBody>
                  <a:tcPr marL="61738" marR="61738" marT="30869" marB="30869"/>
                </a:tc>
                <a:tc>
                  <a:txBody>
                    <a:bodyPr/>
                    <a:lstStyle/>
                    <a:p>
                      <a:r>
                        <a:rPr lang="en-US" sz="1100" dirty="0"/>
                        <a:t>End-X</a:t>
                      </a:r>
                    </a:p>
                  </a:txBody>
                  <a:tcPr marL="61738" marR="61738" marT="30869" marB="30869"/>
                </a:tc>
                <a:tc>
                  <a:txBody>
                    <a:bodyPr/>
                    <a:lstStyle/>
                    <a:p>
                      <a:r>
                        <a:rPr lang="en-US" sz="1100" dirty="0"/>
                        <a:t>Centroid</a:t>
                      </a:r>
                      <a:r>
                        <a:rPr lang="en-US" sz="1100" baseline="0" dirty="0"/>
                        <a:t>-X</a:t>
                      </a:r>
                      <a:endParaRPr lang="en-US" sz="1100" dirty="0"/>
                    </a:p>
                  </a:txBody>
                  <a:tcPr marL="61738" marR="61738" marT="30869" marB="30869"/>
                </a:tc>
                <a:extLst>
                  <a:ext uri="{0D108BD9-81ED-4DB2-BD59-A6C34878D82A}">
                    <a16:rowId xmlns:a16="http://schemas.microsoft.com/office/drawing/2014/main" val="1801068917"/>
                  </a:ext>
                </a:extLst>
              </a:tr>
              <a:tr h="395124">
                <a:tc>
                  <a:txBody>
                    <a:bodyPr/>
                    <a:lstStyle/>
                    <a:p>
                      <a:r>
                        <a:rPr lang="en-US" sz="1100" dirty="0"/>
                        <a:t>M-coordinate (if m-enabled)</a:t>
                      </a:r>
                    </a:p>
                  </a:txBody>
                  <a:tcPr marL="61738" marR="61738" marT="30869" marB="30869"/>
                </a:tc>
                <a:tc>
                  <a:txBody>
                    <a:bodyPr/>
                    <a:lstStyle/>
                    <a:p>
                      <a:r>
                        <a:rPr lang="en-US" sz="1100" dirty="0"/>
                        <a:t>End-Y</a:t>
                      </a:r>
                    </a:p>
                  </a:txBody>
                  <a:tcPr marL="61738" marR="61738" marT="30869" marB="30869"/>
                </a:tc>
                <a:tc>
                  <a:txBody>
                    <a:bodyPr/>
                    <a:lstStyle/>
                    <a:p>
                      <a:r>
                        <a:rPr lang="en-US" sz="1100" dirty="0"/>
                        <a:t>Centroid-Y</a:t>
                      </a:r>
                    </a:p>
                  </a:txBody>
                  <a:tcPr marL="61738" marR="61738" marT="30869" marB="30869"/>
                </a:tc>
                <a:extLst>
                  <a:ext uri="{0D108BD9-81ED-4DB2-BD59-A6C34878D82A}">
                    <a16:rowId xmlns:a16="http://schemas.microsoft.com/office/drawing/2014/main" val="1607823658"/>
                  </a:ext>
                </a:extLst>
              </a:tr>
              <a:tr h="250382">
                <a:tc>
                  <a:txBody>
                    <a:bodyPr/>
                    <a:lstStyle/>
                    <a:p>
                      <a:endParaRPr lang="en-US" sz="1100"/>
                    </a:p>
                  </a:txBody>
                  <a:tcPr marL="61738" marR="61738" marT="30869" marB="30869"/>
                </a:tc>
                <a:tc>
                  <a:txBody>
                    <a:bodyPr/>
                    <a:lstStyle/>
                    <a:p>
                      <a:r>
                        <a:rPr lang="en-US" sz="1100" dirty="0"/>
                        <a:t>Mid-X</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2222794712"/>
                  </a:ext>
                </a:extLst>
              </a:tr>
              <a:tr h="250382">
                <a:tc>
                  <a:txBody>
                    <a:bodyPr/>
                    <a:lstStyle/>
                    <a:p>
                      <a:endParaRPr lang="en-US" sz="1100" dirty="0"/>
                    </a:p>
                  </a:txBody>
                  <a:tcPr marL="61738" marR="61738" marT="30869" marB="30869"/>
                </a:tc>
                <a:tc>
                  <a:txBody>
                    <a:bodyPr/>
                    <a:lstStyle/>
                    <a:p>
                      <a:r>
                        <a:rPr lang="en-US" sz="1100" dirty="0"/>
                        <a:t>Mid-Y</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4166193178"/>
                  </a:ext>
                </a:extLst>
              </a:tr>
              <a:tr h="250382">
                <a:tc>
                  <a:txBody>
                    <a:bodyPr/>
                    <a:lstStyle/>
                    <a:p>
                      <a:endParaRPr lang="en-US" sz="1100" dirty="0"/>
                    </a:p>
                  </a:txBody>
                  <a:tcPr marL="61738" marR="61738" marT="30869" marB="30869"/>
                </a:tc>
                <a:tc>
                  <a:txBody>
                    <a:bodyPr/>
                    <a:lstStyle/>
                    <a:p>
                      <a:r>
                        <a:rPr lang="en-US" sz="1100" dirty="0"/>
                        <a:t>Length</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215381754"/>
                  </a:ext>
                </a:extLst>
              </a:tr>
              <a:tr h="250382">
                <a:tc>
                  <a:txBody>
                    <a:bodyPr/>
                    <a:lstStyle/>
                    <a:p>
                      <a:endParaRPr lang="en-US" sz="1100" dirty="0"/>
                    </a:p>
                  </a:txBody>
                  <a:tcPr marL="61738" marR="61738" marT="30869" marB="30869"/>
                </a:tc>
                <a:tc>
                  <a:txBody>
                    <a:bodyPr/>
                    <a:lstStyle/>
                    <a:p>
                      <a:r>
                        <a:rPr lang="en-US" sz="1100" dirty="0"/>
                        <a:t>Bearing</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47051366"/>
                  </a:ext>
                </a:extLst>
              </a:tr>
            </a:tbl>
          </a:graphicData>
        </a:graphic>
      </p:graphicFrame>
      <p:sp>
        <p:nvSpPr>
          <p:cNvPr id="6" name="Title 1">
            <a:extLst>
              <a:ext uri="{FF2B5EF4-FFF2-40B4-BE49-F238E27FC236}">
                <a16:creationId xmlns:a16="http://schemas.microsoft.com/office/drawing/2014/main" id="{BDA4046C-FB5D-4281-BEF7-EAE15E1E1896}"/>
              </a:ext>
            </a:extLst>
          </p:cNvPr>
          <p:cNvSpPr txBox="1">
            <a:spLocks/>
          </p:cNvSpPr>
          <p:nvPr/>
        </p:nvSpPr>
        <p:spPr>
          <a:xfrm>
            <a:off x="256170"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Geometric Fields</a:t>
            </a:r>
          </a:p>
        </p:txBody>
      </p:sp>
      <p:cxnSp>
        <p:nvCxnSpPr>
          <p:cNvPr id="7" name="Straight Connector 6">
            <a:extLst>
              <a:ext uri="{FF2B5EF4-FFF2-40B4-BE49-F238E27FC236}">
                <a16:creationId xmlns:a16="http://schemas.microsoft.com/office/drawing/2014/main" id="{A72A4ACD-3968-4618-AAF8-20D3362D953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958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3EBD-CC8B-BC2F-0CD9-0E06E15AE76D}"/>
              </a:ext>
            </a:extLst>
          </p:cNvPr>
          <p:cNvSpPr>
            <a:spLocks noGrp="1"/>
          </p:cNvSpPr>
          <p:nvPr>
            <p:ph type="title"/>
          </p:nvPr>
        </p:nvSpPr>
        <p:spPr>
          <a:xfrm>
            <a:off x="392307" y="470957"/>
            <a:ext cx="7444991" cy="515004"/>
          </a:xfrm>
        </p:spPr>
        <p:txBody>
          <a:bodyPr>
            <a:normAutofit/>
          </a:bodyPr>
          <a:lstStyle/>
          <a:p>
            <a:r>
              <a:rPr lang="en-US" altLang="zh-CN" sz="2600" dirty="0">
                <a:solidFill>
                  <a:srgbClr val="7030A0"/>
                </a:solidFill>
              </a:rPr>
              <a:t>class discussion</a:t>
            </a:r>
          </a:p>
        </p:txBody>
      </p:sp>
      <p:sp>
        <p:nvSpPr>
          <p:cNvPr id="3" name="Content Placeholder 2">
            <a:extLst>
              <a:ext uri="{FF2B5EF4-FFF2-40B4-BE49-F238E27FC236}">
                <a16:creationId xmlns:a16="http://schemas.microsoft.com/office/drawing/2014/main" id="{86F4D4F2-5B1D-4323-5828-86CF14A4764A}"/>
              </a:ext>
            </a:extLst>
          </p:cNvPr>
          <p:cNvSpPr>
            <a:spLocks noGrp="1"/>
          </p:cNvSpPr>
          <p:nvPr>
            <p:ph idx="1"/>
          </p:nvPr>
        </p:nvSpPr>
        <p:spPr>
          <a:xfrm>
            <a:off x="392308" y="985961"/>
            <a:ext cx="7444990" cy="661548"/>
          </a:xfrm>
        </p:spPr>
        <p:txBody>
          <a:bodyPr>
            <a:normAutofit/>
          </a:bodyPr>
          <a:lstStyle/>
          <a:p>
            <a:r>
              <a:rPr lang="en-US" altLang="zh-CN" sz="2000" dirty="0"/>
              <a:t>Digitizing the floor plan of UCA</a:t>
            </a:r>
            <a:endParaRPr lang="zh-CN" altLang="en-US" sz="2000" dirty="0"/>
          </a:p>
        </p:txBody>
      </p:sp>
      <p:sp>
        <p:nvSpPr>
          <p:cNvPr id="4" name="Slide Number Placeholder 3">
            <a:extLst>
              <a:ext uri="{FF2B5EF4-FFF2-40B4-BE49-F238E27FC236}">
                <a16:creationId xmlns:a16="http://schemas.microsoft.com/office/drawing/2014/main" id="{BDEDD0FA-380C-83B1-9E4D-E37D15E9EE98}"/>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1328098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1652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06210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Source data errors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Table&#10;&#10;Description automatically generated">
            <a:extLst>
              <a:ext uri="{FF2B5EF4-FFF2-40B4-BE49-F238E27FC236}">
                <a16:creationId xmlns:a16="http://schemas.microsoft.com/office/drawing/2014/main" id="{5D87CB0D-79BF-4695-A798-68ED9F384780}"/>
              </a:ext>
            </a:extLst>
          </p:cNvPr>
          <p:cNvPicPr>
            <a:picLocks noChangeAspect="1"/>
          </p:cNvPicPr>
          <p:nvPr/>
        </p:nvPicPr>
        <p:blipFill>
          <a:blip r:embed="rId3"/>
          <a:stretch>
            <a:fillRect/>
          </a:stretch>
        </p:blipFill>
        <p:spPr>
          <a:xfrm>
            <a:off x="4551074" y="1647777"/>
            <a:ext cx="2931001" cy="2958394"/>
          </a:xfrm>
          <a:prstGeom prst="rect">
            <a:avLst/>
          </a:prstGeom>
        </p:spPr>
      </p:pic>
      <p:sp>
        <p:nvSpPr>
          <p:cNvPr id="10" name="TextBox 9">
            <a:extLst>
              <a:ext uri="{FF2B5EF4-FFF2-40B4-BE49-F238E27FC236}">
                <a16:creationId xmlns:a16="http://schemas.microsoft.com/office/drawing/2014/main" id="{6D466E43-D173-46B5-8F81-9626D141EEEF}"/>
              </a:ext>
            </a:extLst>
          </p:cNvPr>
          <p:cNvSpPr txBox="1"/>
          <p:nvPr/>
        </p:nvSpPr>
        <p:spPr>
          <a:xfrm>
            <a:off x="274961" y="2102763"/>
            <a:ext cx="3811923" cy="646331"/>
          </a:xfrm>
          <a:prstGeom prst="rect">
            <a:avLst/>
          </a:prstGeom>
          <a:noFill/>
        </p:spPr>
        <p:txBody>
          <a:bodyPr wrap="square" rtlCol="0">
            <a:spAutoFit/>
          </a:bodyPr>
          <a:lstStyle/>
          <a:p>
            <a:r>
              <a:rPr lang="en-US" dirty="0"/>
              <a:t>The surface error caused by 1 millimeter digitizing error</a:t>
            </a:r>
          </a:p>
        </p:txBody>
      </p:sp>
    </p:spTree>
    <p:extLst>
      <p:ext uri="{BB962C8B-B14F-4D97-AF65-F5344CB8AC3E}">
        <p14:creationId xmlns:p14="http://schemas.microsoft.com/office/powerpoint/2010/main" val="426272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60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70099"/>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4" name="Picture 3" descr="Diagram&#10;&#10;Description automatically generated">
            <a:extLst>
              <a:ext uri="{FF2B5EF4-FFF2-40B4-BE49-F238E27FC236}">
                <a16:creationId xmlns:a16="http://schemas.microsoft.com/office/drawing/2014/main" id="{CA00911C-B61F-4729-97DA-F05513AF64FB}"/>
              </a:ext>
            </a:extLst>
          </p:cNvPr>
          <p:cNvPicPr>
            <a:picLocks noChangeAspect="1"/>
          </p:cNvPicPr>
          <p:nvPr/>
        </p:nvPicPr>
        <p:blipFill>
          <a:blip r:embed="rId3"/>
          <a:stretch>
            <a:fillRect/>
          </a:stretch>
        </p:blipFill>
        <p:spPr>
          <a:xfrm>
            <a:off x="2901245" y="2687349"/>
            <a:ext cx="2625006" cy="2216835"/>
          </a:xfrm>
          <a:prstGeom prst="rect">
            <a:avLst/>
          </a:prstGeom>
        </p:spPr>
      </p:pic>
      <p:sp>
        <p:nvSpPr>
          <p:cNvPr id="9" name="TextBox 8">
            <a:extLst>
              <a:ext uri="{FF2B5EF4-FFF2-40B4-BE49-F238E27FC236}">
                <a16:creationId xmlns:a16="http://schemas.microsoft.com/office/drawing/2014/main" id="{B3662432-C69A-456D-9C68-846425D7F2AD}"/>
              </a:ext>
            </a:extLst>
          </p:cNvPr>
          <p:cNvSpPr txBox="1"/>
          <p:nvPr/>
        </p:nvSpPr>
        <p:spPr>
          <a:xfrm>
            <a:off x="5768622" y="4767263"/>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342906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277398"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Topology</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topology location">
            <a:extLst>
              <a:ext uri="{FF2B5EF4-FFF2-40B4-BE49-F238E27FC236}">
                <a16:creationId xmlns:a16="http://schemas.microsoft.com/office/drawing/2014/main" id="{A310E88C-DB8C-4423-B8C8-FCECF5E96BDA}"/>
              </a:ext>
            </a:extLst>
          </p:cNvPr>
          <p:cNvPicPr>
            <a:picLocks noChangeAspect="1"/>
          </p:cNvPicPr>
          <p:nvPr/>
        </p:nvPicPr>
        <p:blipFill>
          <a:blip r:embed="rId3"/>
          <a:stretch>
            <a:fillRect/>
          </a:stretch>
        </p:blipFill>
        <p:spPr>
          <a:xfrm>
            <a:off x="3384348" y="2702080"/>
            <a:ext cx="3605468" cy="1999186"/>
          </a:xfrm>
          <a:prstGeom prst="rect">
            <a:avLst/>
          </a:prstGeom>
        </p:spPr>
      </p:pic>
    </p:spTree>
    <p:extLst>
      <p:ext uri="{BB962C8B-B14F-4D97-AF65-F5344CB8AC3E}">
        <p14:creationId xmlns:p14="http://schemas.microsoft.com/office/powerpoint/2010/main" val="23677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83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Snapping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2683994" y="464257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5" name="Picture 4" descr="Image showing snapping location">
            <a:extLst>
              <a:ext uri="{FF2B5EF4-FFF2-40B4-BE49-F238E27FC236}">
                <a16:creationId xmlns:a16="http://schemas.microsoft.com/office/drawing/2014/main" id="{E70A0F37-EF50-4748-9B09-CCB8F3CA55EE}"/>
              </a:ext>
            </a:extLst>
          </p:cNvPr>
          <p:cNvPicPr>
            <a:picLocks noChangeAspect="1"/>
          </p:cNvPicPr>
          <p:nvPr/>
        </p:nvPicPr>
        <p:blipFill>
          <a:blip r:embed="rId4"/>
          <a:stretch>
            <a:fillRect/>
          </a:stretch>
        </p:blipFill>
        <p:spPr>
          <a:xfrm>
            <a:off x="778933" y="3443211"/>
            <a:ext cx="1644811" cy="1514271"/>
          </a:xfrm>
          <a:prstGeom prst="rect">
            <a:avLst/>
          </a:prstGeom>
        </p:spPr>
      </p:pic>
      <p:pic>
        <p:nvPicPr>
          <p:cNvPr id="11" name="Picture 10" descr="Diagram&#10;&#10;Description automatically generated">
            <a:extLst>
              <a:ext uri="{FF2B5EF4-FFF2-40B4-BE49-F238E27FC236}">
                <a16:creationId xmlns:a16="http://schemas.microsoft.com/office/drawing/2014/main" id="{35B24936-65F1-42FF-A181-20FA2C8332D5}"/>
              </a:ext>
            </a:extLst>
          </p:cNvPr>
          <p:cNvPicPr>
            <a:picLocks noChangeAspect="1"/>
          </p:cNvPicPr>
          <p:nvPr/>
        </p:nvPicPr>
        <p:blipFill>
          <a:blip r:embed="rId5"/>
          <a:stretch>
            <a:fillRect/>
          </a:stretch>
        </p:blipFill>
        <p:spPr>
          <a:xfrm>
            <a:off x="3665015" y="2713832"/>
            <a:ext cx="3785652" cy="2377725"/>
          </a:xfrm>
          <a:prstGeom prst="rect">
            <a:avLst/>
          </a:prstGeom>
        </p:spPr>
      </p:pic>
      <p:sp>
        <p:nvSpPr>
          <p:cNvPr id="19" name="SMARTInkShape-175"/>
          <p:cNvSpPr/>
          <p:nvPr>
            <p:custDataLst>
              <p:tags r:id="rId1"/>
            </p:custDataLst>
          </p:nvPr>
        </p:nvSpPr>
        <p:spPr>
          <a:xfrm>
            <a:off x="4657725" y="4646295"/>
            <a:ext cx="5716" cy="5716"/>
          </a:xfrm>
          <a:custGeom>
            <a:avLst/>
            <a:gdLst/>
            <a:ahLst/>
            <a:cxnLst/>
            <a:rect l="0" t="0" r="0" b="0"/>
            <a:pathLst>
              <a:path w="5716" h="5716">
                <a:moveTo>
                  <a:pt x="0" y="0"/>
                </a:moveTo>
                <a:lnTo>
                  <a:pt x="0" y="0"/>
                </a:lnTo>
                <a:lnTo>
                  <a:pt x="5715" y="571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1943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Reshaping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4" name="Picture 3" descr="Image showing reshaping location">
            <a:extLst>
              <a:ext uri="{FF2B5EF4-FFF2-40B4-BE49-F238E27FC236}">
                <a16:creationId xmlns:a16="http://schemas.microsoft.com/office/drawing/2014/main" id="{2F8CE35C-1121-4CFA-9372-841EB49EDDAC}"/>
              </a:ext>
            </a:extLst>
          </p:cNvPr>
          <p:cNvPicPr>
            <a:picLocks noChangeAspect="1"/>
          </p:cNvPicPr>
          <p:nvPr/>
        </p:nvPicPr>
        <p:blipFill>
          <a:blip r:embed="rId3"/>
          <a:stretch>
            <a:fillRect/>
          </a:stretch>
        </p:blipFill>
        <p:spPr>
          <a:xfrm>
            <a:off x="2218166" y="3399235"/>
            <a:ext cx="4362450" cy="1504950"/>
          </a:xfrm>
          <a:prstGeom prst="rect">
            <a:avLst/>
          </a:prstGeom>
        </p:spPr>
      </p:pic>
    </p:spTree>
    <p:extLst>
      <p:ext uri="{BB962C8B-B14F-4D97-AF65-F5344CB8AC3E}">
        <p14:creationId xmlns:p14="http://schemas.microsoft.com/office/powerpoint/2010/main" val="366632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51179" y="1709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t>
            </a:r>
            <a:r>
              <a:rPr lang="en-US" altLang="zh-CN" sz="2600" dirty="0">
                <a:solidFill>
                  <a:srgbClr val="7030A0"/>
                </a:solidFill>
              </a:rPr>
              <a:t>lass Discussion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152400" y="1056316"/>
            <a:ext cx="4000920" cy="2092881"/>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Identify a characteristic feature or error in digitizing at each of the labeled letter locations in the drawing below. </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9" name="TextBox 8">
            <a:extLst>
              <a:ext uri="{FF2B5EF4-FFF2-40B4-BE49-F238E27FC236}">
                <a16:creationId xmlns:a16="http://schemas.microsoft.com/office/drawing/2014/main" id="{0F5CCA9F-3559-4BFC-9759-DED444042DB4}"/>
              </a:ext>
            </a:extLst>
          </p:cNvPr>
          <p:cNvSpPr txBox="1"/>
          <p:nvPr/>
        </p:nvSpPr>
        <p:spPr>
          <a:xfrm>
            <a:off x="6194839" y="474449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digitizing error">
            <a:extLst>
              <a:ext uri="{FF2B5EF4-FFF2-40B4-BE49-F238E27FC236}">
                <a16:creationId xmlns:a16="http://schemas.microsoft.com/office/drawing/2014/main" id="{2D57CE61-F0CE-417C-90F4-8D9046E81F1D}"/>
              </a:ext>
            </a:extLst>
          </p:cNvPr>
          <p:cNvPicPr>
            <a:picLocks noChangeAspect="1"/>
          </p:cNvPicPr>
          <p:nvPr/>
        </p:nvPicPr>
        <p:blipFill>
          <a:blip r:embed="rId3"/>
          <a:stretch>
            <a:fillRect/>
          </a:stretch>
        </p:blipFill>
        <p:spPr>
          <a:xfrm>
            <a:off x="4289779" y="1453649"/>
            <a:ext cx="3690822" cy="3090193"/>
          </a:xfrm>
          <a:prstGeom prst="rect">
            <a:avLst/>
          </a:prstGeom>
        </p:spPr>
      </p:pic>
    </p:spTree>
    <p:extLst>
      <p:ext uri="{BB962C8B-B14F-4D97-AF65-F5344CB8AC3E}">
        <p14:creationId xmlns:p14="http://schemas.microsoft.com/office/powerpoint/2010/main" val="296699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699" y="1006885"/>
            <a:ext cx="4728792" cy="436718"/>
          </a:xfrm>
        </p:spPr>
        <p:txBody>
          <a:bodyPr>
            <a:normAutofit/>
          </a:bodyPr>
          <a:lstStyle/>
          <a:p>
            <a:pPr>
              <a:buFont typeface="Courier New" panose="02070309020205020404" pitchFamily="49" charset="0"/>
              <a:buChar char="o"/>
            </a:pPr>
            <a:r>
              <a:rPr lang="en-US" sz="2000" dirty="0"/>
              <a:t>Change the cell size</a:t>
            </a:r>
          </a:p>
        </p:txBody>
      </p:sp>
      <p:sp>
        <p:nvSpPr>
          <p:cNvPr id="9" name="AutoShape 8"/>
          <p:cNvSpPr>
            <a:spLocks noChangeArrowheads="1"/>
          </p:cNvSpPr>
          <p:nvPr/>
        </p:nvSpPr>
        <p:spPr bwMode="auto">
          <a:xfrm>
            <a:off x="3137627" y="2415261"/>
            <a:ext cx="1692438" cy="312978"/>
          </a:xfrm>
          <a:prstGeom prst="rightArrow">
            <a:avLst>
              <a:gd name="adj1" fmla="val 50000"/>
              <a:gd name="adj2" fmla="val 135188"/>
            </a:avLst>
          </a:prstGeom>
          <a:solidFill>
            <a:schemeClr val="tx1"/>
          </a:solidFill>
          <a:ln w="9525">
            <a:solidFill>
              <a:srgbClr val="000000"/>
            </a:solidFill>
            <a:miter lim="800000"/>
            <a:headEnd/>
            <a:tailEnd/>
          </a:ln>
          <a:effectLst/>
        </p:spPr>
        <p:txBody>
          <a:bodyPr wrap="none" lIns="62167" tIns="31084" rIns="62167" bIns="31084" anchor="ctr"/>
          <a:lstStyle/>
          <a:p>
            <a:endParaRPr lang="en-US" sz="1215"/>
          </a:p>
        </p:txBody>
      </p:sp>
      <p:sp>
        <p:nvSpPr>
          <p:cNvPr id="10" name="Text Box 6"/>
          <p:cNvSpPr txBox="1">
            <a:spLocks noChangeArrowheads="1"/>
          </p:cNvSpPr>
          <p:nvPr/>
        </p:nvSpPr>
        <p:spPr bwMode="auto">
          <a:xfrm>
            <a:off x="999187" y="3640012"/>
            <a:ext cx="1931831" cy="370552"/>
          </a:xfrm>
          <a:prstGeom prst="rect">
            <a:avLst/>
          </a:prstGeom>
          <a:noFill/>
          <a:ln w="9525">
            <a:noFill/>
            <a:miter lim="800000"/>
            <a:headEnd/>
            <a:tailEnd/>
          </a:ln>
          <a:effectLst/>
        </p:spPr>
        <p:txBody>
          <a:bodyPr wrap="square" lIns="62167" tIns="31084" rIns="62167" bIns="31084">
            <a:spAutoFit/>
          </a:bodyPr>
          <a:lstStyle/>
          <a:p>
            <a:r>
              <a:rPr lang="en-US" sz="2000" dirty="0"/>
              <a:t>500 m cell size</a:t>
            </a:r>
          </a:p>
        </p:txBody>
      </p:sp>
      <p:sp>
        <p:nvSpPr>
          <p:cNvPr id="11" name="Text Box 7"/>
          <p:cNvSpPr txBox="1">
            <a:spLocks noChangeArrowheads="1"/>
          </p:cNvSpPr>
          <p:nvPr/>
        </p:nvSpPr>
        <p:spPr bwMode="auto">
          <a:xfrm>
            <a:off x="4912471" y="3603455"/>
            <a:ext cx="3161273" cy="370552"/>
          </a:xfrm>
          <a:prstGeom prst="rect">
            <a:avLst/>
          </a:prstGeom>
          <a:noFill/>
          <a:ln w="9525">
            <a:noFill/>
            <a:miter lim="800000"/>
            <a:headEnd/>
            <a:tailEnd/>
          </a:ln>
          <a:effectLst/>
        </p:spPr>
        <p:txBody>
          <a:bodyPr wrap="square" lIns="62167" tIns="31084" rIns="62167" bIns="31084">
            <a:spAutoFit/>
          </a:bodyPr>
          <a:lstStyle/>
          <a:p>
            <a:r>
              <a:rPr lang="en-US" sz="2000" dirty="0"/>
              <a:t>Resampled 8,000 m cell size</a:t>
            </a:r>
          </a:p>
        </p:txBody>
      </p:sp>
      <p:sp>
        <p:nvSpPr>
          <p:cNvPr id="12" name="Title 1">
            <a:extLst>
              <a:ext uri="{FF2B5EF4-FFF2-40B4-BE49-F238E27FC236}">
                <a16:creationId xmlns:a16="http://schemas.microsoft.com/office/drawing/2014/main" id="{AD0357C4-938A-400F-A6C0-98E3A962AD94}"/>
              </a:ext>
            </a:extLst>
          </p:cNvPr>
          <p:cNvSpPr txBox="1">
            <a:spLocks/>
          </p:cNvSpPr>
          <p:nvPr/>
        </p:nvSpPr>
        <p:spPr>
          <a:xfrm>
            <a:off x="269607" y="19561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13" name="Straight Connector 12">
            <a:extLst>
              <a:ext uri="{FF2B5EF4-FFF2-40B4-BE49-F238E27FC236}">
                <a16:creationId xmlns:a16="http://schemas.microsoft.com/office/drawing/2014/main" id="{6BE592FA-2CDF-45E4-B4F7-09AF2581455A}"/>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4" name="Picture 13" descr="Image showing raster data with coarse resolution">
            <a:extLst>
              <a:ext uri="{FF2B5EF4-FFF2-40B4-BE49-F238E27FC236}">
                <a16:creationId xmlns:a16="http://schemas.microsoft.com/office/drawing/2014/main" id="{5FB85322-E629-40D4-9333-94B857947150}"/>
              </a:ext>
            </a:extLst>
          </p:cNvPr>
          <p:cNvPicPr>
            <a:picLocks noChangeAspect="1"/>
          </p:cNvPicPr>
          <p:nvPr/>
        </p:nvPicPr>
        <p:blipFill>
          <a:blip r:embed="rId3"/>
          <a:stretch>
            <a:fillRect/>
          </a:stretch>
        </p:blipFill>
        <p:spPr>
          <a:xfrm>
            <a:off x="4830065" y="1667007"/>
            <a:ext cx="3161273" cy="1870282"/>
          </a:xfrm>
          <a:prstGeom prst="rect">
            <a:avLst/>
          </a:prstGeom>
        </p:spPr>
      </p:pic>
      <p:pic>
        <p:nvPicPr>
          <p:cNvPr id="16" name="Picture 15" descr="Image showing raster data with high resolution">
            <a:extLst>
              <a:ext uri="{FF2B5EF4-FFF2-40B4-BE49-F238E27FC236}">
                <a16:creationId xmlns:a16="http://schemas.microsoft.com/office/drawing/2014/main" id="{ADD0B668-B3F0-423F-B4C8-FC6CA094C1C8}"/>
              </a:ext>
            </a:extLst>
          </p:cNvPr>
          <p:cNvPicPr>
            <a:picLocks noChangeAspect="1"/>
          </p:cNvPicPr>
          <p:nvPr/>
        </p:nvPicPr>
        <p:blipFill>
          <a:blip r:embed="rId4"/>
          <a:stretch>
            <a:fillRect/>
          </a:stretch>
        </p:blipFill>
        <p:spPr>
          <a:xfrm>
            <a:off x="269607" y="1809810"/>
            <a:ext cx="2784354" cy="1703195"/>
          </a:xfrm>
          <a:prstGeom prst="rect">
            <a:avLst/>
          </a:prstGeom>
        </p:spPr>
      </p:pic>
      <p:sp>
        <p:nvSpPr>
          <p:cNvPr id="2" name="Slide Number Placeholder 1">
            <a:extLst>
              <a:ext uri="{FF2B5EF4-FFF2-40B4-BE49-F238E27FC236}">
                <a16:creationId xmlns:a16="http://schemas.microsoft.com/office/drawing/2014/main" id="{8ADF862F-2BA0-4C1B-BD52-4521690A71BF}"/>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77366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23B403-F89B-E3F4-8DC9-868850A4ED3C}"/>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5" name="Content Placeholder 4">
            <a:extLst>
              <a:ext uri="{FF2B5EF4-FFF2-40B4-BE49-F238E27FC236}">
                <a16:creationId xmlns:a16="http://schemas.microsoft.com/office/drawing/2014/main" id="{6BDA09E7-2234-A2D9-0FD6-FAFA347E4975}"/>
              </a:ext>
            </a:extLst>
          </p:cNvPr>
          <p:cNvPicPr>
            <a:picLocks noGrp="1" noChangeAspect="1"/>
          </p:cNvPicPr>
          <p:nvPr>
            <p:ph idx="1"/>
          </p:nvPr>
        </p:nvPicPr>
        <p:blipFill>
          <a:blip r:embed="rId2"/>
          <a:stretch>
            <a:fillRect/>
          </a:stretch>
        </p:blipFill>
        <p:spPr>
          <a:xfrm>
            <a:off x="1678319" y="1447421"/>
            <a:ext cx="4872962" cy="3005310"/>
          </a:xfrm>
          <a:prstGeom prst="rect">
            <a:avLst/>
          </a:prstGeom>
        </p:spPr>
      </p:pic>
      <p:sp>
        <p:nvSpPr>
          <p:cNvPr id="7" name="TextBox 6">
            <a:extLst>
              <a:ext uri="{FF2B5EF4-FFF2-40B4-BE49-F238E27FC236}">
                <a16:creationId xmlns:a16="http://schemas.microsoft.com/office/drawing/2014/main" id="{F0725B00-52B0-9E4F-9930-0A961036A7FC}"/>
              </a:ext>
            </a:extLst>
          </p:cNvPr>
          <p:cNvSpPr txBox="1"/>
          <p:nvPr/>
        </p:nvSpPr>
        <p:spPr>
          <a:xfrm>
            <a:off x="244503" y="415765"/>
            <a:ext cx="4114800" cy="492443"/>
          </a:xfrm>
          <a:prstGeom prst="rect">
            <a:avLst/>
          </a:prstGeom>
          <a:noFill/>
        </p:spPr>
        <p:txBody>
          <a:bodyPr wrap="square">
            <a:spAutoFit/>
          </a:bodyPr>
          <a:lstStyle/>
          <a:p>
            <a:pPr defTabSz="411480">
              <a:spcBef>
                <a:spcPct val="0"/>
              </a:spcBef>
            </a:pPr>
            <a:r>
              <a:rPr lang="en-US" altLang="zh-CN" sz="2600" dirty="0">
                <a:solidFill>
                  <a:srgbClr val="7030A0"/>
                </a:solidFill>
                <a:latin typeface="+mj-lt"/>
                <a:ea typeface="+mj-ea"/>
                <a:cs typeface="+mj-cs"/>
              </a:rPr>
              <a:t>Resampling</a:t>
            </a:r>
          </a:p>
        </p:txBody>
      </p:sp>
    </p:spTree>
    <p:extLst>
      <p:ext uri="{BB962C8B-B14F-4D97-AF65-F5344CB8AC3E}">
        <p14:creationId xmlns:p14="http://schemas.microsoft.com/office/powerpoint/2010/main" val="1969583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88" y="1057752"/>
            <a:ext cx="7819623" cy="1350497"/>
          </a:xfrm>
        </p:spPr>
        <p:txBody>
          <a:bodyPr>
            <a:noAutofit/>
          </a:bodyPr>
          <a:lstStyle/>
          <a:p>
            <a:pPr>
              <a:buFont typeface="Courier New" panose="02070309020205020404" pitchFamily="49" charset="0"/>
              <a:buChar char="o"/>
            </a:pPr>
            <a:r>
              <a:rPr lang="en-US" sz="2000" b="1" dirty="0">
                <a:solidFill>
                  <a:srgbClr val="E3874F"/>
                </a:solidFill>
              </a:rPr>
              <a:t>Majority Resampling</a:t>
            </a:r>
          </a:p>
          <a:p>
            <a:pPr lvl="1">
              <a:buFont typeface="Wingdings" panose="05000000000000000000" pitchFamily="2" charset="2"/>
              <a:buChar char="ü"/>
            </a:pPr>
            <a:r>
              <a:rPr lang="en-US" sz="2000" dirty="0"/>
              <a:t>Resamples using the most common cell value</a:t>
            </a:r>
          </a:p>
          <a:p>
            <a:pPr lvl="1">
              <a:buFont typeface="Wingdings" panose="05000000000000000000" pitchFamily="2" charset="2"/>
              <a:buChar char="ü"/>
            </a:pPr>
            <a:r>
              <a:rPr lang="en-US" sz="2000" dirty="0"/>
              <a:t>Good for categorical data</a:t>
            </a:r>
          </a:p>
        </p:txBody>
      </p:sp>
      <p:sp>
        <p:nvSpPr>
          <p:cNvPr id="4" name="Title 1">
            <a:extLst>
              <a:ext uri="{FF2B5EF4-FFF2-40B4-BE49-F238E27FC236}">
                <a16:creationId xmlns:a16="http://schemas.microsoft.com/office/drawing/2014/main" id="{2D4D02B2-8738-42DE-9A16-ECF43307C328}"/>
              </a:ext>
            </a:extLst>
          </p:cNvPr>
          <p:cNvSpPr txBox="1">
            <a:spLocks/>
          </p:cNvSpPr>
          <p:nvPr/>
        </p:nvSpPr>
        <p:spPr>
          <a:xfrm>
            <a:off x="276549" y="2005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5" name="Straight Connector 4">
            <a:extLst>
              <a:ext uri="{FF2B5EF4-FFF2-40B4-BE49-F238E27FC236}">
                <a16:creationId xmlns:a16="http://schemas.microsoft.com/office/drawing/2014/main" id="{47DB4E3B-9DE5-4583-AB2E-1C05B6DD9181}"/>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6" name="Picture 5" descr="A close up of a colorful background&#10;&#10;Description automatically generated">
            <a:extLst>
              <a:ext uri="{FF2B5EF4-FFF2-40B4-BE49-F238E27FC236}">
                <a16:creationId xmlns:a16="http://schemas.microsoft.com/office/drawing/2014/main" id="{A2DB181B-38D6-49B1-9EDE-4E48F670BA78}"/>
              </a:ext>
            </a:extLst>
          </p:cNvPr>
          <p:cNvPicPr>
            <a:picLocks noChangeAspect="1"/>
          </p:cNvPicPr>
          <p:nvPr/>
        </p:nvPicPr>
        <p:blipFill rotWithShape="1">
          <a:blip r:embed="rId3"/>
          <a:srcRect l="25136" t="35848" b="32218"/>
          <a:stretch/>
        </p:blipFill>
        <p:spPr>
          <a:xfrm>
            <a:off x="1181724" y="2571750"/>
            <a:ext cx="5945129" cy="1726691"/>
          </a:xfrm>
          <a:prstGeom prst="rect">
            <a:avLst/>
          </a:prstGeom>
        </p:spPr>
      </p:pic>
      <p:sp>
        <p:nvSpPr>
          <p:cNvPr id="2" name="Slide Number Placeholder 1">
            <a:extLst>
              <a:ext uri="{FF2B5EF4-FFF2-40B4-BE49-F238E27FC236}">
                <a16:creationId xmlns:a16="http://schemas.microsoft.com/office/drawing/2014/main" id="{4F69F379-7022-4519-83C2-CB2C3388AB46}"/>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187966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351" y="1069182"/>
            <a:ext cx="7684898" cy="1510518"/>
          </a:xfrm>
        </p:spPr>
        <p:txBody>
          <a:bodyPr>
            <a:normAutofit/>
          </a:bodyPr>
          <a:lstStyle/>
          <a:p>
            <a:pPr>
              <a:buFont typeface="Courier New" panose="02070309020205020404" pitchFamily="49" charset="0"/>
              <a:buChar char="o"/>
            </a:pPr>
            <a:r>
              <a:rPr lang="en-US" sz="1800" b="1" dirty="0">
                <a:solidFill>
                  <a:srgbClr val="E3874F"/>
                </a:solidFill>
              </a:rPr>
              <a:t>Nearest Neighbor</a:t>
            </a:r>
          </a:p>
          <a:p>
            <a:pPr lvl="1">
              <a:buFont typeface="Wingdings" panose="05000000000000000000" pitchFamily="2" charset="2"/>
              <a:buChar char="ü"/>
            </a:pPr>
            <a:r>
              <a:rPr lang="en-US" sz="1800" dirty="0"/>
              <a:t>New value will be the value of the original cell closest to the center of the new (larger) cell</a:t>
            </a:r>
          </a:p>
          <a:p>
            <a:pPr lvl="1">
              <a:buFont typeface="Wingdings" panose="05000000000000000000" pitchFamily="2" charset="2"/>
              <a:buChar char="ü"/>
            </a:pPr>
            <a:r>
              <a:rPr lang="en-US" sz="1800" dirty="0"/>
              <a:t>Good for categorical data</a:t>
            </a:r>
          </a:p>
          <a:p>
            <a:pPr marL="0" indent="0">
              <a:buNone/>
            </a:pPr>
            <a:endParaRPr lang="en-US" dirty="0"/>
          </a:p>
        </p:txBody>
      </p:sp>
      <p:sp>
        <p:nvSpPr>
          <p:cNvPr id="6" name="Title 1">
            <a:extLst>
              <a:ext uri="{FF2B5EF4-FFF2-40B4-BE49-F238E27FC236}">
                <a16:creationId xmlns:a16="http://schemas.microsoft.com/office/drawing/2014/main" id="{8C044168-931A-4586-B842-5316029440F1}"/>
              </a:ext>
            </a:extLst>
          </p:cNvPr>
          <p:cNvSpPr txBox="1">
            <a:spLocks/>
          </p:cNvSpPr>
          <p:nvPr/>
        </p:nvSpPr>
        <p:spPr>
          <a:xfrm>
            <a:off x="333218" y="1982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7" name="Straight Connector 6">
            <a:extLst>
              <a:ext uri="{FF2B5EF4-FFF2-40B4-BE49-F238E27FC236}">
                <a16:creationId xmlns:a16="http://schemas.microsoft.com/office/drawing/2014/main" id="{2B02453F-1D2D-4A2D-91BE-BFB803ECD05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A close up of a colorful background&#10;&#10;Description automatically generated">
            <a:extLst>
              <a:ext uri="{FF2B5EF4-FFF2-40B4-BE49-F238E27FC236}">
                <a16:creationId xmlns:a16="http://schemas.microsoft.com/office/drawing/2014/main" id="{FDBF60C0-A867-4E2A-BB24-F22A885D9B4F}"/>
              </a:ext>
            </a:extLst>
          </p:cNvPr>
          <p:cNvPicPr>
            <a:picLocks noChangeAspect="1"/>
          </p:cNvPicPr>
          <p:nvPr/>
        </p:nvPicPr>
        <p:blipFill rotWithShape="1">
          <a:blip r:embed="rId3"/>
          <a:srcRect l="24794" t="6216" b="66221"/>
          <a:stretch/>
        </p:blipFill>
        <p:spPr>
          <a:xfrm>
            <a:off x="1297486" y="2793078"/>
            <a:ext cx="5634628" cy="1406094"/>
          </a:xfrm>
          <a:prstGeom prst="rect">
            <a:avLst/>
          </a:prstGeom>
        </p:spPr>
      </p:pic>
      <p:sp>
        <p:nvSpPr>
          <p:cNvPr id="2" name="Slide Number Placeholder 1">
            <a:extLst>
              <a:ext uri="{FF2B5EF4-FFF2-40B4-BE49-F238E27FC236}">
                <a16:creationId xmlns:a16="http://schemas.microsoft.com/office/drawing/2014/main" id="{1E9C5F84-217D-4111-A5CC-2AB6EF823892}"/>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91568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118" y="1520890"/>
            <a:ext cx="5205390" cy="2643230"/>
          </a:xfrm>
        </p:spPr>
        <p:txBody>
          <a:bodyPr>
            <a:normAutofit/>
          </a:bodyPr>
          <a:lstStyle/>
          <a:p>
            <a:pPr marL="0" indent="0">
              <a:buNone/>
            </a:pPr>
            <a:r>
              <a:rPr lang="en-US" sz="4100" b="1" dirty="0">
                <a:solidFill>
                  <a:srgbClr val="E3874F"/>
                </a:solidFill>
              </a:rPr>
              <a:t>Bilinear Interpolation</a:t>
            </a:r>
          </a:p>
          <a:p>
            <a:pPr>
              <a:buFont typeface="Wingdings" panose="05000000000000000000" pitchFamily="2" charset="2"/>
              <a:buChar char="ü"/>
            </a:pPr>
            <a:r>
              <a:rPr lang="en-US" altLang="zh-CN" sz="1600" dirty="0"/>
              <a:t>The cell centers of the input raster are in gray points</a:t>
            </a:r>
          </a:p>
          <a:p>
            <a:pPr>
              <a:buFont typeface="Wingdings" panose="05000000000000000000" pitchFamily="2" charset="2"/>
              <a:buChar char="ü"/>
            </a:pPr>
            <a:r>
              <a:rPr lang="en-US" altLang="zh-CN" sz="1600" dirty="0"/>
              <a:t>The output cells are shaded in green</a:t>
            </a:r>
          </a:p>
          <a:p>
            <a:pPr>
              <a:buFont typeface="Wingdings" panose="05000000000000000000" pitchFamily="2" charset="2"/>
              <a:buChar char="ü"/>
            </a:pPr>
            <a:r>
              <a:rPr lang="en-US" altLang="zh-CN" sz="1600" dirty="0"/>
              <a:t>The cell being processed is shaded in yellow. </a:t>
            </a:r>
          </a:p>
          <a:p>
            <a:pPr>
              <a:buFont typeface="Wingdings" panose="05000000000000000000" pitchFamily="2" charset="2"/>
              <a:buChar char="ü"/>
            </a:pPr>
            <a:r>
              <a:rPr lang="en-US" sz="1600" dirty="0"/>
              <a:t>Good for continuous data</a:t>
            </a:r>
          </a:p>
          <a:p>
            <a:pPr>
              <a:buFont typeface="Wingdings" panose="05000000000000000000" pitchFamily="2" charset="2"/>
              <a:buChar char="ü"/>
            </a:pPr>
            <a:r>
              <a:rPr lang="en-US" sz="1600" dirty="0"/>
              <a:t>Creates a smoothed surface</a:t>
            </a:r>
          </a:p>
          <a:p>
            <a:pPr marL="0" indent="0">
              <a:buNone/>
            </a:pPr>
            <a:endParaRPr lang="en-US" dirty="0"/>
          </a:p>
        </p:txBody>
      </p:sp>
      <p:pic>
        <p:nvPicPr>
          <p:cNvPr id="3074" name="Picture 2" descr="Bilinear resampling 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3508" y="1557013"/>
            <a:ext cx="2379488" cy="228302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732450" y="4188417"/>
            <a:ext cx="4113728" cy="528606"/>
          </a:xfrm>
          <a:prstGeom prst="rect">
            <a:avLst/>
          </a:prstGeom>
        </p:spPr>
        <p:txBody>
          <a:bodyPr>
            <a:spAutoFit/>
          </a:bodyPr>
          <a:lstStyle/>
          <a:p>
            <a:r>
              <a:rPr lang="en-US" sz="945" dirty="0">
                <a:hlinkClick r:id="rId4"/>
              </a:rPr>
              <a:t>http://desktop.arcgis.com/en/arcmap/latest/extensions/spatial-analyst/performing-analysis/cell-size-and-resampling-in-analysis.htm</a:t>
            </a:r>
            <a:endParaRPr lang="en-US" sz="945" dirty="0"/>
          </a:p>
          <a:p>
            <a:endParaRPr lang="en-US" sz="945" dirty="0"/>
          </a:p>
        </p:txBody>
      </p:sp>
      <p:sp>
        <p:nvSpPr>
          <p:cNvPr id="6" name="Title 1">
            <a:extLst>
              <a:ext uri="{FF2B5EF4-FFF2-40B4-BE49-F238E27FC236}">
                <a16:creationId xmlns:a16="http://schemas.microsoft.com/office/drawing/2014/main" id="{AC79CE9B-44C9-4D93-90A4-013E8DBC19CC}"/>
              </a:ext>
            </a:extLst>
          </p:cNvPr>
          <p:cNvSpPr txBox="1">
            <a:spLocks/>
          </p:cNvSpPr>
          <p:nvPr/>
        </p:nvSpPr>
        <p:spPr>
          <a:xfrm>
            <a:off x="253705" y="1653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8" name="Straight Connector 7">
            <a:extLst>
              <a:ext uri="{FF2B5EF4-FFF2-40B4-BE49-F238E27FC236}">
                <a16:creationId xmlns:a16="http://schemas.microsoft.com/office/drawing/2014/main" id="{63CC05AC-8907-4BA8-B400-71598DB9DA3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32C8329-E356-43E4-98AC-A97FEB0BBB40}"/>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84474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394F-4057-8741-50AF-A8BB81836589}"/>
              </a:ext>
            </a:extLst>
          </p:cNvPr>
          <p:cNvSpPr>
            <a:spLocks noGrp="1"/>
          </p:cNvSpPr>
          <p:nvPr>
            <p:ph type="title"/>
          </p:nvPr>
        </p:nvSpPr>
        <p:spPr>
          <a:xfrm>
            <a:off x="392305" y="526617"/>
            <a:ext cx="7444991" cy="538858"/>
          </a:xfrm>
        </p:spPr>
        <p:txBody>
          <a:bodyPr>
            <a:noAutofit/>
          </a:bodyPr>
          <a:lstStyle/>
          <a:p>
            <a:r>
              <a:rPr lang="en-US" altLang="zh-CN" sz="2800" b="1" dirty="0">
                <a:solidFill>
                  <a:srgbClr val="E3874F"/>
                </a:solidFill>
              </a:rPr>
              <a:t>Bilinear Interpolation</a:t>
            </a:r>
            <a:endParaRPr lang="zh-CN" altLang="en-US" sz="2800" dirty="0"/>
          </a:p>
        </p:txBody>
      </p:sp>
      <p:sp>
        <p:nvSpPr>
          <p:cNvPr id="4" name="Slide Number Placeholder 3">
            <a:extLst>
              <a:ext uri="{FF2B5EF4-FFF2-40B4-BE49-F238E27FC236}">
                <a16:creationId xmlns:a16="http://schemas.microsoft.com/office/drawing/2014/main" id="{2B4CF97F-EC63-0065-1A0C-FADF2A3F78A6}"/>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5" name="Picture 2" descr="Bilinear resampling example">
            <a:extLst>
              <a:ext uri="{FF2B5EF4-FFF2-40B4-BE49-F238E27FC236}">
                <a16:creationId xmlns:a16="http://schemas.microsoft.com/office/drawing/2014/main" id="{F587B267-5A26-CCB0-140B-BB84640884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34152" y="1124023"/>
            <a:ext cx="3992701" cy="3830835"/>
          </a:xfrm>
          <a:prstGeom prst="rect">
            <a:avLst/>
          </a:prstGeom>
          <a:noFill/>
          <a:extLst>
            <a:ext uri="{909E8E84-426E-40DD-AFC4-6F175D3DCCD1}">
              <a14:hiddenFill xmlns:a14="http://schemas.microsoft.com/office/drawing/2010/main">
                <a:solidFill>
                  <a:srgbClr val="FFFFFF"/>
                </a:solidFill>
              </a14:hiddenFill>
            </a:ext>
          </a:extLst>
        </p:spPr>
      </p:pic>
      <p:sp>
        <p:nvSpPr>
          <p:cNvPr id="6" name="Flowchart: Connector 5">
            <a:extLst>
              <a:ext uri="{FF2B5EF4-FFF2-40B4-BE49-F238E27FC236}">
                <a16:creationId xmlns:a16="http://schemas.microsoft.com/office/drawing/2014/main" id="{B50E026B-528E-8F32-9F10-434B24DED7E0}"/>
              </a:ext>
            </a:extLst>
          </p:cNvPr>
          <p:cNvSpPr/>
          <p:nvPr/>
        </p:nvSpPr>
        <p:spPr>
          <a:xfrm>
            <a:off x="5542059" y="3387256"/>
            <a:ext cx="45719" cy="45719"/>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F0"/>
              </a:solidFill>
            </a:endParaRPr>
          </a:p>
        </p:txBody>
      </p:sp>
    </p:spTree>
    <p:extLst>
      <p:ext uri="{BB962C8B-B14F-4D97-AF65-F5344CB8AC3E}">
        <p14:creationId xmlns:p14="http://schemas.microsoft.com/office/powerpoint/2010/main" val="176850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559" y="1636570"/>
            <a:ext cx="4373989" cy="2283021"/>
          </a:xfrm>
        </p:spPr>
        <p:txBody>
          <a:bodyPr>
            <a:normAutofit/>
          </a:bodyPr>
          <a:lstStyle/>
          <a:p>
            <a:pPr marL="0" indent="0">
              <a:buNone/>
            </a:pPr>
            <a:r>
              <a:rPr lang="en-US" sz="2800" b="1" dirty="0">
                <a:solidFill>
                  <a:srgbClr val="E3874F"/>
                </a:solidFill>
              </a:rPr>
              <a:t>Cubic Convolution </a:t>
            </a:r>
          </a:p>
          <a:p>
            <a:pPr>
              <a:buFont typeface="Wingdings" panose="05000000000000000000" pitchFamily="2" charset="2"/>
              <a:buChar char="ü"/>
            </a:pPr>
            <a:r>
              <a:rPr lang="en-US" sz="2000" dirty="0"/>
              <a:t>Similar to bilinear interpolation, except the 16 nearest input cell centers and their values are used </a:t>
            </a:r>
          </a:p>
          <a:p>
            <a:pPr>
              <a:buFont typeface="Wingdings" panose="05000000000000000000" pitchFamily="2" charset="2"/>
              <a:buChar char="ü"/>
            </a:pPr>
            <a:r>
              <a:rPr lang="en-US" sz="2000" dirty="0"/>
              <a:t>Good for continuous data</a:t>
            </a:r>
          </a:p>
          <a:p>
            <a:pPr marL="0" indent="0">
              <a:buNone/>
            </a:pPr>
            <a:endParaRPr lang="en-US" dirty="0"/>
          </a:p>
        </p:txBody>
      </p:sp>
      <p:pic>
        <p:nvPicPr>
          <p:cNvPr id="4098" name="Picture 2" descr="Cubic resampling 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4578" y="1542782"/>
            <a:ext cx="2379488" cy="228302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26388" y="4247260"/>
            <a:ext cx="4113728" cy="528606"/>
          </a:xfrm>
          <a:prstGeom prst="rect">
            <a:avLst/>
          </a:prstGeom>
        </p:spPr>
        <p:txBody>
          <a:bodyPr>
            <a:spAutoFit/>
          </a:bodyPr>
          <a:lstStyle/>
          <a:p>
            <a:r>
              <a:rPr lang="en-US" sz="945" dirty="0">
                <a:hlinkClick r:id="rId4"/>
              </a:rPr>
              <a:t>http://desktop.arcgis.com/en/arcmap/latest/extensions/spatial-analyst/performing-analysis/cell-size-and-resampling-in-analysis.htm</a:t>
            </a:r>
            <a:endParaRPr lang="en-US" sz="945" dirty="0"/>
          </a:p>
          <a:p>
            <a:endParaRPr lang="en-US" sz="945" dirty="0"/>
          </a:p>
        </p:txBody>
      </p:sp>
      <p:sp>
        <p:nvSpPr>
          <p:cNvPr id="7" name="Title 1">
            <a:extLst>
              <a:ext uri="{FF2B5EF4-FFF2-40B4-BE49-F238E27FC236}">
                <a16:creationId xmlns:a16="http://schemas.microsoft.com/office/drawing/2014/main" id="{957150CF-E350-411A-BAC6-3685129058EF}"/>
              </a:ext>
            </a:extLst>
          </p:cNvPr>
          <p:cNvSpPr txBox="1">
            <a:spLocks/>
          </p:cNvSpPr>
          <p:nvPr/>
        </p:nvSpPr>
        <p:spPr>
          <a:xfrm>
            <a:off x="277559" y="2358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8" name="Straight Connector 7">
            <a:extLst>
              <a:ext uri="{FF2B5EF4-FFF2-40B4-BE49-F238E27FC236}">
                <a16:creationId xmlns:a16="http://schemas.microsoft.com/office/drawing/2014/main" id="{8C31F29B-D773-4E48-8594-245A4B59A109}"/>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CCF44D3-FAB9-41A0-A80D-1442C1D43B06}"/>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640519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262213"/>
            <a:ext cx="7485684" cy="659653"/>
          </a:xfrm>
        </p:spPr>
        <p:txBody>
          <a:bodyPr>
            <a:normAutofit fontScale="92500" lnSpcReduction="20000"/>
          </a:bodyPr>
          <a:lstStyle/>
          <a:p>
            <a:pPr marL="0" indent="0">
              <a:buNone/>
            </a:pPr>
            <a:r>
              <a:rPr lang="en-US" dirty="0"/>
              <a:t>A good resource:</a:t>
            </a:r>
          </a:p>
          <a:p>
            <a:pPr marL="0" indent="0">
              <a:buNone/>
            </a:pPr>
            <a:r>
              <a:rPr lang="en-US" dirty="0">
                <a:hlinkClick r:id="rId3"/>
              </a:rPr>
              <a:t>http://desktop.arcgis.com/en/arcmap/latest/extensions/spatial-analyst/performing-analysis/cell-size-and-resampling-in-analysis.htm</a:t>
            </a:r>
            <a:endParaRPr lang="en-US" dirty="0"/>
          </a:p>
          <a:p>
            <a:pPr marL="0" indent="0">
              <a:buNone/>
            </a:pPr>
            <a:endParaRPr lang="en-US" dirty="0"/>
          </a:p>
          <a:p>
            <a:pPr marL="0" indent="0">
              <a:buNone/>
            </a:pPr>
            <a:endParaRPr lang="en-US" dirty="0"/>
          </a:p>
        </p:txBody>
      </p:sp>
      <p:pic>
        <p:nvPicPr>
          <p:cNvPr id="6" name="Picture 5" descr="Image showing Resampling method in ArcPro"/>
          <p:cNvPicPr>
            <a:picLocks noChangeAspect="1"/>
          </p:cNvPicPr>
          <p:nvPr/>
        </p:nvPicPr>
        <p:blipFill>
          <a:blip r:embed="rId4"/>
          <a:stretch>
            <a:fillRect/>
          </a:stretch>
        </p:blipFill>
        <p:spPr>
          <a:xfrm>
            <a:off x="4114800" y="1500052"/>
            <a:ext cx="3099766" cy="1901871"/>
          </a:xfrm>
          <a:prstGeom prst="rect">
            <a:avLst/>
          </a:prstGeom>
        </p:spPr>
      </p:pic>
      <p:pic>
        <p:nvPicPr>
          <p:cNvPr id="7" name="Picture 6" descr="Image showing Rsample method in EARDAS"/>
          <p:cNvPicPr>
            <a:picLocks noChangeAspect="1"/>
          </p:cNvPicPr>
          <p:nvPr/>
        </p:nvPicPr>
        <p:blipFill>
          <a:blip r:embed="rId5"/>
          <a:stretch>
            <a:fillRect/>
          </a:stretch>
        </p:blipFill>
        <p:spPr>
          <a:xfrm>
            <a:off x="928703" y="1240807"/>
            <a:ext cx="2729174" cy="2790504"/>
          </a:xfrm>
          <a:prstGeom prst="rect">
            <a:avLst/>
          </a:prstGeom>
        </p:spPr>
      </p:pic>
      <p:sp>
        <p:nvSpPr>
          <p:cNvPr id="8" name="Title 1">
            <a:extLst>
              <a:ext uri="{FF2B5EF4-FFF2-40B4-BE49-F238E27FC236}">
                <a16:creationId xmlns:a16="http://schemas.microsoft.com/office/drawing/2014/main" id="{45F956C0-76FA-4603-9972-790689940D6B}"/>
              </a:ext>
            </a:extLst>
          </p:cNvPr>
          <p:cNvSpPr txBox="1">
            <a:spLocks/>
          </p:cNvSpPr>
          <p:nvPr/>
        </p:nvSpPr>
        <p:spPr>
          <a:xfrm>
            <a:off x="213948" y="1468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 in ArcGIS Pro</a:t>
            </a:r>
          </a:p>
        </p:txBody>
      </p:sp>
      <p:cxnSp>
        <p:nvCxnSpPr>
          <p:cNvPr id="9" name="Straight Connector 8">
            <a:extLst>
              <a:ext uri="{FF2B5EF4-FFF2-40B4-BE49-F238E27FC236}">
                <a16:creationId xmlns:a16="http://schemas.microsoft.com/office/drawing/2014/main" id="{367B9171-DDCA-463E-8C3F-31ACF8B84A0A}"/>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5F82CB6B-0E14-4814-B9BB-FFDCA6855982}"/>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51880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8.2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08: </a:t>
            </a:r>
            <a:r>
              <a:rPr lang="en-US" b="1" dirty="0"/>
              <a:t>G</a:t>
            </a:r>
            <a:r>
              <a:rPr lang="en-US" altLang="zh-CN" b="1" dirty="0"/>
              <a:t>eoreferencing and resampling</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 name="HTML_SHAPEINFO" val="&lt;ThreeDShapeInfo&gt;&lt;uuid val=&quot;{65CCD91D-216F-4273-8EA2-30827332E767}&quot;/&gt;&lt;isInvalidForFieldText val=&quot;0&quot;/&gt;&lt;Image&gt;&lt;filename val=&quot;C:\Users\amaxwel6\AppData\Local\Temp\CP10972185572203Session\CPTrustFolder10972185572203\PPTImport10972188411375\data\asimages\{65CCD91D-216F-4273-8EA2-30827332E767}_9.png&quot;/&gt;&lt;left val=&quot;149&quot;/&gt;&lt;top val=&quot;190&quot;/&gt;&lt;width val=&quot;971&quot;/&gt;&lt;height val=&quot;457&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0&quot;/&gt;&lt;/TableIndex&gt;&lt;TableIndex row=&quot;2&quot; col=&quot;1&quot;&gt;&lt;linesCount val=&quot;1&quot;/&gt;&lt;lineCharCount val=&quot;13&quot;/&gt;&lt;/TableIndex&gt;&lt;TableIndex row=&quot;2&quot; col=&quot;2&quot;&gt;&lt;linesCount val=&quot;1&quot;/&gt;&lt;lineCharCount val=&quot;41&quot;/&gt;&lt;/TableIndex&gt;&lt;TableIndex row=&quot;3&quot; col=&quot;1&quot;&gt;&lt;linesCount val=&quot;1&quot;/&gt;&lt;lineCharCount val=&quot;12&quot;/&gt;&lt;/TableIndex&gt;&lt;TableIndex row=&quot;3&quot; col=&quot;2&quot;&gt;&lt;linesCount val=&quot;2&quot;/&gt;&lt;lineCharCount val=&quot;42&quot;/&gt;&lt;lineCharCount val=&quot;13&quot;/&gt;&lt;/TableIndex&gt;&lt;TableIndex row=&quot;4&quot; col=&quot;1&quot;&gt;&lt;linesCount val=&quot;1&quot;/&gt;&lt;lineCharCount val=&quot;5&quot;/&gt;&lt;/TableIndex&gt;&lt;TableIndex row=&quot;4&quot; col=&quot;2&quot;&gt;&lt;linesCount val=&quot;1&quot;/&gt;&lt;lineCharCount val=&quot;38&quot;/&gt;&lt;/TableIndex&gt;&lt;TableIndex row=&quot;5&quot; col=&quot;1&quot;&gt;&lt;linesCount val=&quot;1&quot;/&gt;&lt;lineCharCount val=&quot;6&quot;/&gt;&lt;/TableIndex&gt;&lt;TableIndex row=&quot;5&quot; col=&quot;2&quot;&gt;&lt;linesCount val=&quot;1&quot;/&gt;&lt;lineCharCount val=&quot;45&quot;/&gt;&lt;/TableIndex&gt;&lt;TableIndex row=&quot;6&quot; col=&quot;1&quot;&gt;&lt;linesCount val=&quot;1&quot;/&gt;&lt;lineCharCount val=&quot;4&quot;/&gt;&lt;/TableIndex&gt;&lt;TableIndex row=&quot;6&quot; col=&quot;2&quot;&gt;&lt;linesCount val=&quot;1&quot;/&gt;&lt;lineCharCount val=&quot;12&quot;/&gt;&lt;/TableIndex&gt;&lt;TableIndex row=&quot;7&quot; col=&quot;1&quot;&gt;&lt;linesCount val=&quot;1&quot;/&gt;&lt;lineCharCount val=&quot;4&quot;/&gt;&lt;/TableIndex&gt;&lt;TableIndex row=&quot;7&quot; col=&quot;2&quot;&gt;&lt;linesCount val=&quot;1&quot;/&gt;&lt;lineCharCount val=&quot;22&quot;/&gt;&lt;/TableIndex&gt;&lt;/ShapeTextInfo&gt;"/>
  <p:tag name="PRESENTER_SHAPEINFO" val="&lt;ThreeDShapeInfo&gt;&lt;uuid val=&quot;{CDFF7BC7-18B8-42DC-A522-5CEF65B26C86}&quot;/&gt;&lt;isInvalidForFieldText val=&quot;0&quot;/&gt;&lt;Image&gt;&lt;filename val=&quot;C:\Users\amaxwel6\AppData\Local\Temp\CP10972185572203Session\CPTrustFolder10972185572203\PPTImport10972188411375\data\asimages\{CDFF7BC7-18B8-42DC-A522-5CEF65B26C86}_9.png&quot;/&gt;&lt;left val=&quot;287&quot;/&gt;&lt;top val=&quot;388&quot;/&gt;&lt;width val=&quot;962&quot;/&gt;&lt;height val=&quot;313&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Lecture07_GEOG2475_Tuesday</Template>
  <TotalTime>8241</TotalTime>
  <Words>1826</Words>
  <Application>Microsoft Office PowerPoint</Application>
  <PresentationFormat>Custom</PresentationFormat>
  <Paragraphs>261</Paragraphs>
  <Slides>29</Slides>
  <Notes>24</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29</vt:i4>
      </vt:variant>
    </vt:vector>
  </HeadingPairs>
  <TitlesOfParts>
    <vt:vector size="42" baseType="lpstr">
      <vt:lpstr>Arial</vt:lpstr>
      <vt:lpstr>Arial Black</vt:lpstr>
      <vt:lpstr>Calibri</vt:lpstr>
      <vt:lpstr>Courier New</vt:lpstr>
      <vt:lpstr>Gill Sans MT</vt:lpstr>
      <vt:lpstr>Wingdings</vt:lpstr>
      <vt:lpstr>Wingdings 2</vt:lpstr>
      <vt:lpstr>5_DividendVTI</vt:lpstr>
      <vt:lpstr>2_DividendVTI</vt:lpstr>
      <vt:lpstr>DividendVTI</vt:lpstr>
      <vt:lpstr>1_DividendVTI</vt:lpstr>
      <vt:lpstr>6_DividendVTI</vt:lpstr>
      <vt:lpstr>7_DividendVTI</vt:lpstr>
      <vt:lpstr>Lecture 07 Digitizing,  Georeferencing, Resampling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Bilinear Interpolation</vt:lpstr>
      <vt:lpstr>PowerPoint Presentation</vt:lpstr>
      <vt:lpstr>PowerPoint Presentation</vt:lpstr>
      <vt:lpstr>8.2  Lab session</vt:lpstr>
      <vt:lpstr>Lab 08: Georeferencing and resampling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503</cp:revision>
  <cp:lastPrinted>2020-03-26T12:59:04Z</cp:lastPrinted>
  <dcterms:created xsi:type="dcterms:W3CDTF">2020-03-24T14:51:54Z</dcterms:created>
  <dcterms:modified xsi:type="dcterms:W3CDTF">2025-10-09T14:46:40Z</dcterms:modified>
</cp:coreProperties>
</file>