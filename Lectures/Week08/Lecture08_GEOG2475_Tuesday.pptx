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16.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6" r:id="rId4"/>
    <p:sldMasterId id="2147483709" r:id="rId5"/>
    <p:sldMasterId id="2147483722" r:id="rId6"/>
  </p:sldMasterIdLst>
  <p:notesMasterIdLst>
    <p:notesMasterId r:id="rId45"/>
  </p:notesMasterIdLst>
  <p:sldIdLst>
    <p:sldId id="914" r:id="rId7"/>
    <p:sldId id="1647" r:id="rId8"/>
    <p:sldId id="655" r:id="rId9"/>
    <p:sldId id="258" r:id="rId10"/>
    <p:sldId id="277" r:id="rId11"/>
    <p:sldId id="259" r:id="rId12"/>
    <p:sldId id="691" r:id="rId13"/>
    <p:sldId id="687" r:id="rId14"/>
    <p:sldId id="260" r:id="rId15"/>
    <p:sldId id="261" r:id="rId16"/>
    <p:sldId id="264" r:id="rId17"/>
    <p:sldId id="279" r:id="rId18"/>
    <p:sldId id="278" r:id="rId19"/>
    <p:sldId id="1650" r:id="rId20"/>
    <p:sldId id="1652" r:id="rId21"/>
    <p:sldId id="262" r:id="rId22"/>
    <p:sldId id="276" r:id="rId23"/>
    <p:sldId id="670" r:id="rId24"/>
    <p:sldId id="280" r:id="rId25"/>
    <p:sldId id="688" r:id="rId26"/>
    <p:sldId id="676" r:id="rId27"/>
    <p:sldId id="678" r:id="rId28"/>
    <p:sldId id="677" r:id="rId29"/>
    <p:sldId id="1648" r:id="rId30"/>
    <p:sldId id="683" r:id="rId31"/>
    <p:sldId id="282" r:id="rId32"/>
    <p:sldId id="283" r:id="rId33"/>
    <p:sldId id="292" r:id="rId34"/>
    <p:sldId id="286" r:id="rId35"/>
    <p:sldId id="1649" r:id="rId36"/>
    <p:sldId id="679" r:id="rId37"/>
    <p:sldId id="681" r:id="rId38"/>
    <p:sldId id="685" r:id="rId39"/>
    <p:sldId id="682" r:id="rId40"/>
    <p:sldId id="684" r:id="rId41"/>
    <p:sldId id="690" r:id="rId42"/>
    <p:sldId id="1658" r:id="rId43"/>
    <p:sldId id="1659" r:id="rId44"/>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203" autoAdjust="0"/>
  </p:normalViewPr>
  <p:slideViewPr>
    <p:cSldViewPr snapToGrid="0" snapToObjects="1">
      <p:cViewPr varScale="1">
        <p:scale>
          <a:sx n="120" d="100"/>
          <a:sy n="120" d="100"/>
        </p:scale>
        <p:origin x="1692" y="96"/>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presProps" Target="presProps.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diagrams/_rels/data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svg"/><Relationship Id="rId1" Type="http://schemas.openxmlformats.org/officeDocument/2006/relationships/image" Target="../media/image37.png"/><Relationship Id="rId4" Type="http://schemas.openxmlformats.org/officeDocument/2006/relationships/image" Target="../media/image4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svg"/><Relationship Id="rId1" Type="http://schemas.openxmlformats.org/officeDocument/2006/relationships/image" Target="../media/image37.png"/><Relationship Id="rId4" Type="http://schemas.openxmlformats.org/officeDocument/2006/relationships/image" Target="../media/image40.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5DC5F4-D431-4A87-93B0-BBE05B35CCB1}"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4983E92-0B7C-43A8-8C1F-984B0DFA982E}">
      <dgm:prSet custT="1"/>
      <dgm:spPr/>
      <dgm:t>
        <a:bodyPr/>
        <a:lstStyle/>
        <a:p>
          <a:pPr>
            <a:defRPr cap="all"/>
          </a:pPr>
          <a:r>
            <a:rPr lang="en-US" sz="1800" dirty="0"/>
            <a:t>Due by Midnight </a:t>
          </a:r>
          <a:r>
            <a:rPr lang="en-US" sz="1800" dirty="0">
              <a:solidFill>
                <a:srgbClr val="C00000"/>
              </a:solidFill>
            </a:rPr>
            <a:t>(11:59 pm) on Monday, OCT 20, 2025</a:t>
          </a:r>
        </a:p>
      </dgm:t>
    </dgm:pt>
    <dgm:pt modelId="{47D3E5B5-E005-481D-9366-7FFA245A3F46}" type="parTrans" cxnId="{7E7C886D-A667-496F-8DDE-1B718561DB03}">
      <dgm:prSet/>
      <dgm:spPr/>
      <dgm:t>
        <a:bodyPr/>
        <a:lstStyle/>
        <a:p>
          <a:endParaRPr lang="en-US"/>
        </a:p>
      </dgm:t>
    </dgm:pt>
    <dgm:pt modelId="{9E0C94DC-193A-41FC-B82A-2A43E45C8107}" type="sibTrans" cxnId="{7E7C886D-A667-496F-8DDE-1B718561DB03}">
      <dgm:prSet/>
      <dgm:spPr/>
      <dgm:t>
        <a:bodyPr/>
        <a:lstStyle/>
        <a:p>
          <a:endParaRPr lang="en-US"/>
        </a:p>
      </dgm:t>
    </dgm:pt>
    <dgm:pt modelId="{A6242D37-AF81-4A91-9692-C3B78C4C080A}">
      <dgm:prSet custT="1"/>
      <dgm:spPr/>
      <dgm:t>
        <a:bodyPr/>
        <a:lstStyle/>
        <a:p>
          <a:pPr>
            <a:defRPr cap="all"/>
          </a:pPr>
          <a:r>
            <a:rPr lang="en-US" sz="1800" dirty="0"/>
            <a:t>Submit a word document only include </a:t>
          </a:r>
          <a:r>
            <a:rPr lang="en-US" sz="1800" dirty="0">
              <a:solidFill>
                <a:srgbClr val="C00000"/>
              </a:solidFill>
            </a:rPr>
            <a:t>question and answer</a:t>
          </a:r>
        </a:p>
      </dgm:t>
    </dgm:pt>
    <dgm:pt modelId="{A1582085-1655-4316-B7FE-C167B01E3451}" type="parTrans" cxnId="{0F5369C5-3BD8-41EC-82BC-B46BD7C285F5}">
      <dgm:prSet/>
      <dgm:spPr/>
      <dgm:t>
        <a:bodyPr/>
        <a:lstStyle/>
        <a:p>
          <a:endParaRPr lang="en-US"/>
        </a:p>
      </dgm:t>
    </dgm:pt>
    <dgm:pt modelId="{487527DA-4CA7-40A4-8E27-547430E84424}" type="sibTrans" cxnId="{0F5369C5-3BD8-41EC-82BC-B46BD7C285F5}">
      <dgm:prSet/>
      <dgm:spPr/>
      <dgm:t>
        <a:bodyPr/>
        <a:lstStyle/>
        <a:p>
          <a:endParaRPr lang="en-US"/>
        </a:p>
      </dgm:t>
    </dgm:pt>
    <dgm:pt modelId="{1CF3E5B1-FB46-4446-95BF-0E7408D9C151}" type="pres">
      <dgm:prSet presAssocID="{545DC5F4-D431-4A87-93B0-BBE05B35CCB1}" presName="root" presStyleCnt="0">
        <dgm:presLayoutVars>
          <dgm:dir/>
          <dgm:resizeHandles val="exact"/>
        </dgm:presLayoutVars>
      </dgm:prSet>
      <dgm:spPr/>
    </dgm:pt>
    <dgm:pt modelId="{BE3E81CB-7E93-484B-AE32-12C58B09BCE0}" type="pres">
      <dgm:prSet presAssocID="{54983E92-0B7C-43A8-8C1F-984B0DFA982E}" presName="compNode" presStyleCnt="0"/>
      <dgm:spPr/>
    </dgm:pt>
    <dgm:pt modelId="{D2D6216C-9B23-402E-A942-468E0F624F5B}" type="pres">
      <dgm:prSet presAssocID="{54983E92-0B7C-43A8-8C1F-984B0DFA982E}" presName="iconBgRect" presStyleLbl="bgShp" presStyleIdx="0" presStyleCnt="2"/>
      <dgm:spPr>
        <a:prstGeom prst="round2DiagRect">
          <a:avLst>
            <a:gd name="adj1" fmla="val 29727"/>
            <a:gd name="adj2" fmla="val 0"/>
          </a:avLst>
        </a:prstGeom>
      </dgm:spPr>
    </dgm:pt>
    <dgm:pt modelId="{F943F739-4EBC-47A7-A14C-25327E72C0F2}" type="pres">
      <dgm:prSet presAssocID="{54983E92-0B7C-43A8-8C1F-984B0DFA982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larm Clock"/>
        </a:ext>
      </dgm:extLst>
    </dgm:pt>
    <dgm:pt modelId="{3085FCD0-B526-4BA1-831E-148271EBCA71}" type="pres">
      <dgm:prSet presAssocID="{54983E92-0B7C-43A8-8C1F-984B0DFA982E}" presName="spaceRect" presStyleCnt="0"/>
      <dgm:spPr/>
    </dgm:pt>
    <dgm:pt modelId="{4E513C3D-9C85-4581-9570-C87158EE7A8E}" type="pres">
      <dgm:prSet presAssocID="{54983E92-0B7C-43A8-8C1F-984B0DFA982E}" presName="textRect" presStyleLbl="revTx" presStyleIdx="0" presStyleCnt="2" custScaleX="140708">
        <dgm:presLayoutVars>
          <dgm:chMax val="1"/>
          <dgm:chPref val="1"/>
        </dgm:presLayoutVars>
      </dgm:prSet>
      <dgm:spPr/>
    </dgm:pt>
    <dgm:pt modelId="{00D865C2-7AA1-4413-870A-557561F6A99D}" type="pres">
      <dgm:prSet presAssocID="{9E0C94DC-193A-41FC-B82A-2A43E45C8107}" presName="sibTrans" presStyleCnt="0"/>
      <dgm:spPr/>
    </dgm:pt>
    <dgm:pt modelId="{0444C821-AE95-419C-A2C2-10FD435B3E72}" type="pres">
      <dgm:prSet presAssocID="{A6242D37-AF81-4A91-9692-C3B78C4C080A}" presName="compNode" presStyleCnt="0"/>
      <dgm:spPr/>
    </dgm:pt>
    <dgm:pt modelId="{C1C41DF5-156F-4AFD-8177-5E65296E36DA}" type="pres">
      <dgm:prSet presAssocID="{A6242D37-AF81-4A91-9692-C3B78C4C080A}" presName="iconBgRect" presStyleLbl="bgShp" presStyleIdx="1" presStyleCnt="2"/>
      <dgm:spPr>
        <a:prstGeom prst="round2DiagRect">
          <a:avLst>
            <a:gd name="adj1" fmla="val 29727"/>
            <a:gd name="adj2" fmla="val 0"/>
          </a:avLst>
        </a:prstGeom>
      </dgm:spPr>
    </dgm:pt>
    <dgm:pt modelId="{BCD05D74-D5AE-459F-A6DF-06E0D3F03A72}" type="pres">
      <dgm:prSet presAssocID="{A6242D37-AF81-4A91-9692-C3B78C4C080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2AB5314E-660E-4ED1-846B-8434948EF46B}" type="pres">
      <dgm:prSet presAssocID="{A6242D37-AF81-4A91-9692-C3B78C4C080A}" presName="spaceRect" presStyleCnt="0"/>
      <dgm:spPr/>
    </dgm:pt>
    <dgm:pt modelId="{A3838D15-85D1-4048-B20D-9009920800B0}" type="pres">
      <dgm:prSet presAssocID="{A6242D37-AF81-4A91-9692-C3B78C4C080A}" presName="textRect" presStyleLbl="revTx" presStyleIdx="1" presStyleCnt="2" custScaleX="147657">
        <dgm:presLayoutVars>
          <dgm:chMax val="1"/>
          <dgm:chPref val="1"/>
        </dgm:presLayoutVars>
      </dgm:prSet>
      <dgm:spPr/>
    </dgm:pt>
  </dgm:ptLst>
  <dgm:cxnLst>
    <dgm:cxn modelId="{34AD3E24-5AE2-4091-998E-71D41F9CDB89}" type="presOf" srcId="{A6242D37-AF81-4A91-9692-C3B78C4C080A}" destId="{A3838D15-85D1-4048-B20D-9009920800B0}" srcOrd="0" destOrd="0" presId="urn:microsoft.com/office/officeart/2018/5/layout/IconLeafLabelList"/>
    <dgm:cxn modelId="{7E7C886D-A667-496F-8DDE-1B718561DB03}" srcId="{545DC5F4-D431-4A87-93B0-BBE05B35CCB1}" destId="{54983E92-0B7C-43A8-8C1F-984B0DFA982E}" srcOrd="0" destOrd="0" parTransId="{47D3E5B5-E005-481D-9366-7FFA245A3F46}" sibTransId="{9E0C94DC-193A-41FC-B82A-2A43E45C8107}"/>
    <dgm:cxn modelId="{B47C2F55-9A4B-4FFB-AA38-9C2574693CD4}" type="presOf" srcId="{54983E92-0B7C-43A8-8C1F-984B0DFA982E}" destId="{4E513C3D-9C85-4581-9570-C87158EE7A8E}" srcOrd="0" destOrd="0" presId="urn:microsoft.com/office/officeart/2018/5/layout/IconLeafLabelList"/>
    <dgm:cxn modelId="{53CEBE9C-EA76-48A8-8DF7-6953575A9C37}" type="presOf" srcId="{545DC5F4-D431-4A87-93B0-BBE05B35CCB1}" destId="{1CF3E5B1-FB46-4446-95BF-0E7408D9C151}" srcOrd="0" destOrd="0" presId="urn:microsoft.com/office/officeart/2018/5/layout/IconLeafLabelList"/>
    <dgm:cxn modelId="{0F5369C5-3BD8-41EC-82BC-B46BD7C285F5}" srcId="{545DC5F4-D431-4A87-93B0-BBE05B35CCB1}" destId="{A6242D37-AF81-4A91-9692-C3B78C4C080A}" srcOrd="1" destOrd="0" parTransId="{A1582085-1655-4316-B7FE-C167B01E3451}" sibTransId="{487527DA-4CA7-40A4-8E27-547430E84424}"/>
    <dgm:cxn modelId="{5C6FCB9C-3574-4EF1-979B-C82FE21FC231}" type="presParOf" srcId="{1CF3E5B1-FB46-4446-95BF-0E7408D9C151}" destId="{BE3E81CB-7E93-484B-AE32-12C58B09BCE0}" srcOrd="0" destOrd="0" presId="urn:microsoft.com/office/officeart/2018/5/layout/IconLeafLabelList"/>
    <dgm:cxn modelId="{3BEBC4B0-3768-4D30-9883-ED03B1BB2AA3}" type="presParOf" srcId="{BE3E81CB-7E93-484B-AE32-12C58B09BCE0}" destId="{D2D6216C-9B23-402E-A942-468E0F624F5B}" srcOrd="0" destOrd="0" presId="urn:microsoft.com/office/officeart/2018/5/layout/IconLeafLabelList"/>
    <dgm:cxn modelId="{9334B4F2-C5A7-478D-8C83-6B6B78937527}" type="presParOf" srcId="{BE3E81CB-7E93-484B-AE32-12C58B09BCE0}" destId="{F943F739-4EBC-47A7-A14C-25327E72C0F2}" srcOrd="1" destOrd="0" presId="urn:microsoft.com/office/officeart/2018/5/layout/IconLeafLabelList"/>
    <dgm:cxn modelId="{722E4463-BB96-47A5-B05B-8394250686DE}" type="presParOf" srcId="{BE3E81CB-7E93-484B-AE32-12C58B09BCE0}" destId="{3085FCD0-B526-4BA1-831E-148271EBCA71}" srcOrd="2" destOrd="0" presId="urn:microsoft.com/office/officeart/2018/5/layout/IconLeafLabelList"/>
    <dgm:cxn modelId="{4DDDB5E8-1F23-4A78-9605-45AAF5833E68}" type="presParOf" srcId="{BE3E81CB-7E93-484B-AE32-12C58B09BCE0}" destId="{4E513C3D-9C85-4581-9570-C87158EE7A8E}" srcOrd="3" destOrd="0" presId="urn:microsoft.com/office/officeart/2018/5/layout/IconLeafLabelList"/>
    <dgm:cxn modelId="{123D8173-4B78-41DB-B068-2BA15E016A23}" type="presParOf" srcId="{1CF3E5B1-FB46-4446-95BF-0E7408D9C151}" destId="{00D865C2-7AA1-4413-870A-557561F6A99D}" srcOrd="1" destOrd="0" presId="urn:microsoft.com/office/officeart/2018/5/layout/IconLeafLabelList"/>
    <dgm:cxn modelId="{E92967F1-54D1-402B-9BE3-03FB7BECA8E6}" type="presParOf" srcId="{1CF3E5B1-FB46-4446-95BF-0E7408D9C151}" destId="{0444C821-AE95-419C-A2C2-10FD435B3E72}" srcOrd="2" destOrd="0" presId="urn:microsoft.com/office/officeart/2018/5/layout/IconLeafLabelList"/>
    <dgm:cxn modelId="{6A34589F-98DC-49A5-B284-AB8B04E10F1B}" type="presParOf" srcId="{0444C821-AE95-419C-A2C2-10FD435B3E72}" destId="{C1C41DF5-156F-4AFD-8177-5E65296E36DA}" srcOrd="0" destOrd="0" presId="urn:microsoft.com/office/officeart/2018/5/layout/IconLeafLabelList"/>
    <dgm:cxn modelId="{E4BDC4E7-B33D-408F-A28A-9E646BDBCB86}" type="presParOf" srcId="{0444C821-AE95-419C-A2C2-10FD435B3E72}" destId="{BCD05D74-D5AE-459F-A6DF-06E0D3F03A72}" srcOrd="1" destOrd="0" presId="urn:microsoft.com/office/officeart/2018/5/layout/IconLeafLabelList"/>
    <dgm:cxn modelId="{3D1E9DB2-C5D6-4774-8110-C1F4D3951E71}" type="presParOf" srcId="{0444C821-AE95-419C-A2C2-10FD435B3E72}" destId="{2AB5314E-660E-4ED1-846B-8434948EF46B}" srcOrd="2" destOrd="0" presId="urn:microsoft.com/office/officeart/2018/5/layout/IconLeafLabelList"/>
    <dgm:cxn modelId="{2B9C7FC2-A255-4335-A004-2546E39B1238}" type="presParOf" srcId="{0444C821-AE95-419C-A2C2-10FD435B3E72}" destId="{A3838D15-85D1-4048-B20D-9009920800B0}"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6216C-9B23-402E-A942-468E0F624F5B}">
      <dsp:nvSpPr>
        <dsp:cNvPr id="0" name=""/>
        <dsp:cNvSpPr/>
      </dsp:nvSpPr>
      <dsp:spPr>
        <a:xfrm>
          <a:off x="1178341" y="15356"/>
          <a:ext cx="1372500" cy="13725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3F739-4EBC-47A7-A14C-25327E72C0F2}">
      <dsp:nvSpPr>
        <dsp:cNvPr id="0" name=""/>
        <dsp:cNvSpPr/>
      </dsp:nvSpPr>
      <dsp:spPr>
        <a:xfrm>
          <a:off x="1470841" y="307856"/>
          <a:ext cx="787500" cy="787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513C3D-9C85-4581-9570-C87158EE7A8E}">
      <dsp:nvSpPr>
        <dsp:cNvPr id="0" name=""/>
        <dsp:cNvSpPr/>
      </dsp:nvSpPr>
      <dsp:spPr>
        <a:xfrm>
          <a:off x="281626" y="1815356"/>
          <a:ext cx="3165930"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Due by Midnight </a:t>
          </a:r>
          <a:r>
            <a:rPr lang="en-US" sz="1800" kern="1200" dirty="0">
              <a:solidFill>
                <a:srgbClr val="C00000"/>
              </a:solidFill>
            </a:rPr>
            <a:t>(11:59 pm) on Monday, OCT 20, 2025</a:t>
          </a:r>
        </a:p>
      </dsp:txBody>
      <dsp:txXfrm>
        <a:off x="281626" y="1815356"/>
        <a:ext cx="3165930" cy="743927"/>
      </dsp:txXfrm>
    </dsp:sp>
    <dsp:sp modelId="{C1C41DF5-156F-4AFD-8177-5E65296E36DA}">
      <dsp:nvSpPr>
        <dsp:cNvPr id="0" name=""/>
        <dsp:cNvSpPr/>
      </dsp:nvSpPr>
      <dsp:spPr>
        <a:xfrm>
          <a:off x="4816197" y="15356"/>
          <a:ext cx="1372500" cy="13725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05D74-D5AE-459F-A6DF-06E0D3F03A72}">
      <dsp:nvSpPr>
        <dsp:cNvPr id="0" name=""/>
        <dsp:cNvSpPr/>
      </dsp:nvSpPr>
      <dsp:spPr>
        <a:xfrm>
          <a:off x="5108697" y="307856"/>
          <a:ext cx="787500" cy="787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838D15-85D1-4048-B20D-9009920800B0}">
      <dsp:nvSpPr>
        <dsp:cNvPr id="0" name=""/>
        <dsp:cNvSpPr/>
      </dsp:nvSpPr>
      <dsp:spPr>
        <a:xfrm>
          <a:off x="3841306" y="1815356"/>
          <a:ext cx="3322282"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Submit a word document only include </a:t>
          </a:r>
          <a:r>
            <a:rPr lang="en-US" sz="1800" kern="1200" dirty="0">
              <a:solidFill>
                <a:srgbClr val="C00000"/>
              </a:solidFill>
            </a:rPr>
            <a:t>question and answer</a:t>
          </a:r>
        </a:p>
      </dsp:txBody>
      <dsp:txXfrm>
        <a:off x="3841306" y="1815356"/>
        <a:ext cx="3322282" cy="743927"/>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9-22T16:17:12.543"/>
    </inkml:context>
    <inkml:brush xml:id="br0">
      <inkml:brushProperty name="width" value="0.05" units="cm"/>
      <inkml:brushProperty name="height" value="0.05" units="cm"/>
      <inkml:brushProperty name="ignorePressure" value="1"/>
    </inkml:brush>
  </inkml:definitions>
  <inkml:trace contextRef="#ctx0" brushRef="#br0">0 229,'97'-4,"174"-32,-180 20,-1 4,114 0,-104 3,-18 1,210 6,162-8,-171-7,274-25,-83 14,77 6,-477 15,130 4,-159 6,-1 2,0 2,0 2,53 18,-38-7,1-3,0-3,1-2,0-3,75 1,100-13,-122-1,214 21,-307-13,0 1,0 1,34 15,-19-7,-13-8,1 0,-1-2,1-1,-1-1,1-1,38-3,-26 1,62 6,-88-3,0 0,0-1,1 0,-1-1,0 0,0-1,0 0,0 0,0-1,0 0,0-1,0 0,-1-1,18-9,-25 12,-1 0,0 0,0 0,1 1,-1-1,0 0,1 0,-1 1,0-1,1 1,-1-1,1 1,-1 0,1 0,-1-1,1 1,-1 0,1 0,-1 1,1-1,-1 0,3 1,0 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9-22T16:17:20.453"/>
    </inkml:context>
    <inkml:brush xml:id="br0">
      <inkml:brushProperty name="width" value="0.05" units="cm"/>
      <inkml:brushProperty name="height" value="0.05" units="cm"/>
      <inkml:brushProperty name="ignorePressure" value="1"/>
    </inkml:brush>
  </inkml:definitions>
  <inkml:trace contextRef="#ctx0" brushRef="#br0">0 98,'364'-5,"-244"-2,121-24,-167 23,0 2,0 4,122 13,34-1,-154-14,113-20,-107 11,-39 7,-12 1,63-3,119 20,-75-3,-99-5,52 12,1 0,67 11,-95-14,124 8,61-6,178-8,-241-10,108 6,314-6,-358-16,94-1,-144 30,14 0,-114-9,112-3,-200 0,0 0,-1-1,1-1,-1 0,0 0,0-1,0-1,13-8,-15 8,0 1,1 0,0 0,0 1,0 0,0 0,1 2,17-4,-27 6,0 0,-1 0,1-1,-1 1,1 0,0 0,-1 0,1 0,-1 0,1 1,0-1,-1 0,1 0,-1 0,1 0,0 1,-1-1,1 0,-1 1,1-1,-1 0,1 1,-1-1,1 0,-1 1,0-1,1 1,-1-1,0 1,1 0,-2 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9-22T16:17:30.679"/>
    </inkml:context>
    <inkml:brush xml:id="br0">
      <inkml:brushProperty name="width" value="0.05" units="cm"/>
      <inkml:brushProperty name="height" value="0.05" units="cm"/>
      <inkml:brushProperty name="ignorePressure" value="1"/>
    </inkml:brush>
  </inkml:definitions>
  <inkml:trace contextRef="#ctx0" brushRef="#br0">0 24,'21'1,"-1"1,40 9,7 2,114 0,221-11,-179-5,1149 3,-1103 21,-96-3,65 2,-134-13,146 5,4-26,-232 12,57-2,-47 4,-1-2,0-1,0-1,0-2,30-10,18-7,1 4,140-17,-96 26,183 9,-137 4,605-3,-759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10/7/2025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019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590098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Georeferencing</a:t>
            </a:r>
            <a:r>
              <a:rPr lang="en-US" baseline="0" dirty="0"/>
              <a:t> is the process of aligning an unreferenced dataset with one that has spatial reference information. </a:t>
            </a:r>
          </a:p>
          <a:p>
            <a:endParaRPr lang="en-US" baseline="0" dirty="0"/>
          </a:p>
          <a:p>
            <a:r>
              <a:rPr lang="en-US" baseline="0" dirty="0"/>
              <a:t>As an example, you may want to use a paper map in your GIS. In order to use it effectively with other data layers, it will need to be referenced to the correct location in the map space. So, you will need to create a digital data file then apply a process to align it to other data layers in the map space. This is the process of </a:t>
            </a:r>
            <a:r>
              <a:rPr lang="en-US" baseline="0" dirty="0" err="1"/>
              <a:t>georeferencing</a:t>
            </a:r>
            <a:r>
              <a:rPr lang="en-US" baseline="0" dirty="0"/>
              <a:t>. </a:t>
            </a:r>
          </a:p>
          <a:p>
            <a:endParaRPr lang="en-US" baseline="0" dirty="0"/>
          </a:p>
          <a:p>
            <a:r>
              <a:rPr lang="en-US" baseline="0" dirty="0"/>
              <a:t>When aerial or satellite imagery are collected, they also need to be referenced to the correct location in the map space. </a:t>
            </a:r>
          </a:p>
          <a:p>
            <a:endParaRPr lang="en-US" baseline="0" dirty="0"/>
          </a:p>
          <a:p>
            <a:r>
              <a:rPr lang="en-US" baseline="0" dirty="0"/>
              <a:t>So, this is a common preparatory task when working with spatial data. </a:t>
            </a:r>
          </a:p>
          <a:p>
            <a:endParaRPr lang="en-US" baseline="0" dirty="0"/>
          </a:p>
          <a:p>
            <a:r>
              <a:rPr lang="en-US" baseline="0" dirty="0"/>
              <a:t>Many GIS and remote sensing software packages provide </a:t>
            </a:r>
            <a:r>
              <a:rPr lang="en-US" baseline="0" dirty="0" err="1"/>
              <a:t>georeferencing</a:t>
            </a:r>
            <a:r>
              <a:rPr lang="en-US" baseline="0" dirty="0"/>
              <a:t> tools. </a:t>
            </a:r>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1310367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quality of the scanned raster image will partially depend on the quality of the analog data.</a:t>
            </a:r>
            <a:r>
              <a:rPr lang="en-US" baseline="0" dirty="0"/>
              <a:t> However, the scanning settings can also have an impact, such as the dpi used. </a:t>
            </a:r>
          </a:p>
          <a:p>
            <a:endParaRPr lang="en-US" baseline="0" dirty="0"/>
          </a:p>
          <a:p>
            <a:r>
              <a:rPr lang="en-US" baseline="0" dirty="0"/>
              <a:t>Make sure that you use adequate settings to scan in quality data. </a:t>
            </a:r>
          </a:p>
          <a:p>
            <a:endParaRPr lang="en-US" baseline="0" dirty="0"/>
          </a:p>
          <a:p>
            <a:r>
              <a:rPr lang="en-US" baseline="0" dirty="0"/>
              <a:t>Once data have been scanned in and georeferenced, vector data can be generated by digitizing or tracing over the map data.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1298689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points are</a:t>
            </a:r>
            <a:r>
              <a:rPr lang="en-US" baseline="0" dirty="0"/>
              <a:t> an important component of the </a:t>
            </a:r>
            <a:r>
              <a:rPr lang="en-US" baseline="0" dirty="0" err="1"/>
              <a:t>georeferencing</a:t>
            </a:r>
            <a:r>
              <a:rPr lang="en-US" baseline="0" dirty="0"/>
              <a:t> process. </a:t>
            </a:r>
          </a:p>
          <a:p>
            <a:endParaRPr lang="en-US" baseline="0" dirty="0"/>
          </a:p>
          <a:p>
            <a:r>
              <a:rPr lang="en-US" baseline="0" dirty="0"/>
              <a:t>Control points are used as reference and represent the same location in the data being referenced and reference data. </a:t>
            </a:r>
          </a:p>
          <a:p>
            <a:endParaRPr lang="en-US" baseline="0" dirty="0"/>
          </a:p>
          <a:p>
            <a:r>
              <a:rPr lang="en-US" baseline="0" dirty="0"/>
              <a:t>Control points can be created by digitizing examples on the screen. </a:t>
            </a:r>
          </a:p>
          <a:p>
            <a:endParaRPr lang="en-US" baseline="0" dirty="0"/>
          </a:p>
          <a:p>
            <a:r>
              <a:rPr lang="en-US" baseline="0" dirty="0"/>
              <a:t>Whenever aerial imagery is collected, it is common for ground control points to be placed on the ground prior to the data collection. These ground targets are surveyed using GPS equipment. An analyst can then use the ground targets in the image and their associated coordinates to </a:t>
            </a:r>
            <a:r>
              <a:rPr lang="en-US" baseline="0" dirty="0" err="1"/>
              <a:t>georeference</a:t>
            </a:r>
            <a:r>
              <a:rPr lang="en-US" baseline="0" dirty="0"/>
              <a:t> the data. This method generally produces quality results. However, this is only possible if control points can be placed in the image prior to the data collection. </a:t>
            </a:r>
          </a:p>
          <a:p>
            <a:endParaRPr lang="en-US" baseline="0" dirty="0"/>
          </a:p>
          <a:p>
            <a:r>
              <a:rPr lang="en-US" baseline="0" dirty="0"/>
              <a:t>So, many times were are forced to create control points on the computer screen and </a:t>
            </a:r>
            <a:r>
              <a:rPr lang="en-US" baseline="0" dirty="0" err="1"/>
              <a:t>georeference</a:t>
            </a:r>
            <a:r>
              <a:rPr lang="en-US" baseline="0" dirty="0"/>
              <a:t> our data relative to a dataset that has already been referenced, such as aerial imagery. </a:t>
            </a:r>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4292994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points are</a:t>
            </a:r>
            <a:r>
              <a:rPr lang="en-US" baseline="0" dirty="0"/>
              <a:t> an important component of the </a:t>
            </a:r>
            <a:r>
              <a:rPr lang="en-US" baseline="0" dirty="0" err="1"/>
              <a:t>georeferencing</a:t>
            </a:r>
            <a:r>
              <a:rPr lang="en-US" baseline="0" dirty="0"/>
              <a:t> process. </a:t>
            </a:r>
          </a:p>
          <a:p>
            <a:endParaRPr lang="en-US" baseline="0" dirty="0"/>
          </a:p>
          <a:p>
            <a:r>
              <a:rPr lang="en-US" baseline="0" dirty="0"/>
              <a:t>Control points are used as reference and represent the same location in the data being referenced and reference data. </a:t>
            </a:r>
          </a:p>
          <a:p>
            <a:endParaRPr lang="en-US" baseline="0" dirty="0"/>
          </a:p>
          <a:p>
            <a:r>
              <a:rPr lang="en-US" baseline="0" dirty="0"/>
              <a:t>Control points can be created by digitizing examples on the screen. </a:t>
            </a:r>
          </a:p>
          <a:p>
            <a:endParaRPr lang="en-US" baseline="0" dirty="0"/>
          </a:p>
          <a:p>
            <a:r>
              <a:rPr lang="en-US" baseline="0" dirty="0"/>
              <a:t>Whenever aerial imagery is collected, it is common for ground control points to be placed on the ground prior to the data collection. These ground targets are surveyed using GPS equipment. An analyst can then use the ground targets in the image and their associated coordinates to </a:t>
            </a:r>
            <a:r>
              <a:rPr lang="en-US" baseline="0" dirty="0" err="1"/>
              <a:t>georeference</a:t>
            </a:r>
            <a:r>
              <a:rPr lang="en-US" baseline="0" dirty="0"/>
              <a:t> the data. This method generally produces quality results. However, this is only possible if control points can be placed in the image prior to the data collection. </a:t>
            </a:r>
          </a:p>
          <a:p>
            <a:endParaRPr lang="en-US" baseline="0" dirty="0"/>
          </a:p>
          <a:p>
            <a:r>
              <a:rPr lang="en-US" baseline="0" dirty="0"/>
              <a:t>So, many times were are forced to create control points on the computer screen and </a:t>
            </a:r>
            <a:r>
              <a:rPr lang="en-US" baseline="0" dirty="0" err="1"/>
              <a:t>georeference</a:t>
            </a:r>
            <a:r>
              <a:rPr lang="en-US" baseline="0" dirty="0"/>
              <a:t> our data relative to a dataset that has already been referenced, such as aerial imagery. </a:t>
            </a:r>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3238734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points are</a:t>
            </a:r>
            <a:r>
              <a:rPr lang="en-US" baseline="0" dirty="0"/>
              <a:t> an important component of the </a:t>
            </a:r>
            <a:r>
              <a:rPr lang="en-US" baseline="0" dirty="0" err="1"/>
              <a:t>georeferencing</a:t>
            </a:r>
            <a:r>
              <a:rPr lang="en-US" baseline="0" dirty="0"/>
              <a:t> process. </a:t>
            </a:r>
          </a:p>
          <a:p>
            <a:endParaRPr lang="en-US" baseline="0" dirty="0"/>
          </a:p>
          <a:p>
            <a:r>
              <a:rPr lang="en-US" baseline="0" dirty="0"/>
              <a:t>Control points are used as reference and represent the same location in the data being referenced and reference data. </a:t>
            </a:r>
          </a:p>
          <a:p>
            <a:endParaRPr lang="en-US" baseline="0" dirty="0"/>
          </a:p>
          <a:p>
            <a:r>
              <a:rPr lang="en-US" baseline="0" dirty="0"/>
              <a:t>Control points can be created by digitizing examples on the screen. </a:t>
            </a:r>
          </a:p>
          <a:p>
            <a:endParaRPr lang="en-US" baseline="0" dirty="0"/>
          </a:p>
          <a:p>
            <a:r>
              <a:rPr lang="en-US" baseline="0" dirty="0"/>
              <a:t>Whenever aerial imagery is collected, it is common for ground control points to be placed on the ground prior to the data collection. These ground targets are surveyed using GPS equipment. An analyst can then use the ground targets in the image and their associated coordinates to </a:t>
            </a:r>
            <a:r>
              <a:rPr lang="en-US" baseline="0" dirty="0" err="1"/>
              <a:t>georeference</a:t>
            </a:r>
            <a:r>
              <a:rPr lang="en-US" baseline="0" dirty="0"/>
              <a:t> the data. This method generally produces quality results. However, this is only possible if control points can be placed in the image prior to the data collection. </a:t>
            </a:r>
          </a:p>
          <a:p>
            <a:endParaRPr lang="en-US" baseline="0" dirty="0"/>
          </a:p>
          <a:p>
            <a:r>
              <a:rPr lang="en-US" baseline="0" dirty="0"/>
              <a:t>So, many times were are forced to create control points on the computer screen and </a:t>
            </a:r>
            <a:r>
              <a:rPr lang="en-US" baseline="0" dirty="0" err="1"/>
              <a:t>georeference</a:t>
            </a:r>
            <a:r>
              <a:rPr lang="en-US" baseline="0" dirty="0"/>
              <a:t> our data relative to a dataset that has already been referenced, such as aerial imagery. </a:t>
            </a:r>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1262234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Collecting</a:t>
            </a:r>
            <a:r>
              <a:rPr lang="en-US" baseline="0" dirty="0"/>
              <a:t> quality control points is key for successful </a:t>
            </a:r>
            <a:r>
              <a:rPr lang="en-US" baseline="0" dirty="0" err="1"/>
              <a:t>georeferecning</a:t>
            </a:r>
            <a:r>
              <a:rPr lang="en-US" baseline="0" dirty="0"/>
              <a:t>. Here are some suggestions for collecting quality control points. </a:t>
            </a:r>
          </a:p>
          <a:p>
            <a:endParaRPr lang="en-US" baseline="0" dirty="0"/>
          </a:p>
          <a:p>
            <a:r>
              <a:rPr lang="en-US" baseline="0" dirty="0"/>
              <a:t>First, the control points should be spread evenly around the study area. If the control points are only collected within the center of the image, the algorithm used will have a difficult time accurately referencing the margins of the image. So, make sure to include some points in the image margins. </a:t>
            </a:r>
          </a:p>
          <a:p>
            <a:endParaRPr lang="en-US" baseline="0" dirty="0"/>
          </a:p>
          <a:p>
            <a:r>
              <a:rPr lang="en-US" baseline="0" dirty="0"/>
              <a:t>You should have enough points to use the </a:t>
            </a:r>
            <a:r>
              <a:rPr lang="en-US" baseline="0" dirty="0" err="1"/>
              <a:t>georeferecning</a:t>
            </a:r>
            <a:r>
              <a:rPr lang="en-US" baseline="0" dirty="0"/>
              <a:t> algorithm of choice. The number of points needed depends on the algorithm, which we will discuss later. </a:t>
            </a:r>
          </a:p>
          <a:p>
            <a:endParaRPr lang="en-US" baseline="0" dirty="0"/>
          </a:p>
          <a:p>
            <a:r>
              <a:rPr lang="en-US" baseline="0" dirty="0"/>
              <a:t>Any positional errors in the input data will impact the </a:t>
            </a:r>
            <a:r>
              <a:rPr lang="en-US" baseline="0" dirty="0" err="1"/>
              <a:t>georeferecning</a:t>
            </a:r>
            <a:r>
              <a:rPr lang="en-US" baseline="0" dirty="0"/>
              <a:t> result. So, it is important to use quality reference data. Generally, we rely on high resolution imagery. </a:t>
            </a:r>
          </a:p>
          <a:p>
            <a:endParaRPr lang="en-US" baseline="0" dirty="0"/>
          </a:p>
          <a:p>
            <a:r>
              <a:rPr lang="en-US" baseline="0" dirty="0"/>
              <a:t>Locations must be identifiable in both datasets, the data being referenced and the reference imagery. </a:t>
            </a:r>
          </a:p>
          <a:p>
            <a:endParaRPr lang="en-US" baseline="0" dirty="0"/>
          </a:p>
          <a:p>
            <a:r>
              <a:rPr lang="en-US" baseline="0" dirty="0"/>
              <a:t>Generally, I try to obtain as many quality reference points as possible. However, adding more points that may be suboptimal can cause issues. So, make sure the points that you use can be accurately located in both images. Adding points that are of low quality can decrease the quality of the result.</a:t>
            </a:r>
          </a:p>
          <a:p>
            <a:endParaRPr lang="en-US" baseline="0" dirty="0"/>
          </a:p>
          <a:p>
            <a:r>
              <a:rPr lang="en-US" baseline="0" dirty="0"/>
              <a:t>When defining a control point, you will need to identify it in both datasets. The from point is the location on the data being referenced while the to point is the location relative to the reference data. The algorithm will attempt to move the from point location to the to point location. </a:t>
            </a:r>
          </a:p>
          <a:p>
            <a:endParaRPr lang="en-US" baseline="0" dirty="0"/>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11393294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performing</a:t>
            </a:r>
            <a:r>
              <a:rPr lang="en-US" baseline="0" dirty="0"/>
              <a:t> </a:t>
            </a:r>
            <a:r>
              <a:rPr lang="en-US" baseline="0" dirty="0" err="1"/>
              <a:t>georeferencing</a:t>
            </a:r>
            <a:r>
              <a:rPr lang="en-US" baseline="0" dirty="0"/>
              <a:t> different transformations can be applied. </a:t>
            </a:r>
          </a:p>
          <a:p>
            <a:endParaRPr lang="en-US" baseline="0" dirty="0"/>
          </a:p>
          <a:p>
            <a:r>
              <a:rPr lang="en-US" baseline="0" dirty="0"/>
              <a:t>Translation implies moving the image without changing its shape or size. </a:t>
            </a:r>
          </a:p>
          <a:p>
            <a:endParaRPr lang="en-US" baseline="0" dirty="0"/>
          </a:p>
          <a:p>
            <a:r>
              <a:rPr lang="en-US" baseline="0" dirty="0"/>
              <a:t>Changing the scale means to change the size of the image but not the shape. </a:t>
            </a:r>
          </a:p>
          <a:p>
            <a:endParaRPr lang="en-US" baseline="0" dirty="0"/>
          </a:p>
          <a:p>
            <a:r>
              <a:rPr lang="en-US" baseline="0" dirty="0"/>
              <a:t>Rotation will reorient the scene relative to a point of rotation.</a:t>
            </a:r>
          </a:p>
          <a:p>
            <a:endParaRPr lang="en-US" baseline="0" dirty="0"/>
          </a:p>
          <a:p>
            <a:r>
              <a:rPr lang="en-US" baseline="0" dirty="0"/>
              <a:t>Skew is used to change or distort the shape of the data. </a:t>
            </a:r>
          </a:p>
          <a:p>
            <a:endParaRPr lang="en-US" baseline="0" dirty="0"/>
          </a:p>
          <a:p>
            <a:r>
              <a:rPr lang="en-US" baseline="0" dirty="0"/>
              <a:t>The transformations that can be applied depends on the algorithm used.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14289690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Polynomial</a:t>
            </a:r>
            <a:r>
              <a:rPr lang="en-US" baseline="0" dirty="0"/>
              <a:t> equations can be used for </a:t>
            </a:r>
            <a:r>
              <a:rPr lang="en-US" baseline="0" dirty="0" err="1"/>
              <a:t>georeferencing</a:t>
            </a:r>
            <a:r>
              <a:rPr lang="en-US" baseline="0" dirty="0"/>
              <a:t>. </a:t>
            </a:r>
          </a:p>
          <a:p>
            <a:endParaRPr lang="en-US" baseline="0" dirty="0"/>
          </a:p>
          <a:p>
            <a:r>
              <a:rPr lang="en-US" baseline="0" dirty="0"/>
              <a:t>Zero-order polynomials can only shift or translate the image and require only a single control point.</a:t>
            </a:r>
          </a:p>
          <a:p>
            <a:endParaRPr lang="en-US" baseline="0" dirty="0"/>
          </a:p>
          <a:p>
            <a:r>
              <a:rPr lang="en-US" baseline="0" dirty="0"/>
              <a:t>First-order polynomials can translate, scale, and rotate the data. However, they cannot change the shape or skew the image. Three control points are required. </a:t>
            </a:r>
          </a:p>
          <a:p>
            <a:endParaRPr lang="en-US" baseline="0" dirty="0"/>
          </a:p>
          <a:p>
            <a:r>
              <a:rPr lang="en-US" baseline="0" dirty="0"/>
              <a:t>Higher order polynomials can apply all four distortions and require more than three control points. We rarely use higher than third order polynomials for </a:t>
            </a:r>
            <a:r>
              <a:rPr lang="en-US" baseline="0" dirty="0" err="1"/>
              <a:t>georeferencing</a:t>
            </a:r>
            <a:r>
              <a:rPr lang="en-US" baseline="0" dirty="0"/>
              <a: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4079002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an example of a first-order polynomial</a:t>
            </a:r>
            <a:r>
              <a:rPr lang="en-US" baseline="0" dirty="0"/>
              <a:t>, also called an affine transformation. </a:t>
            </a:r>
          </a:p>
          <a:p>
            <a:endParaRPr lang="en-US" baseline="0" dirty="0"/>
          </a:p>
          <a:p>
            <a:r>
              <a:rPr lang="en-US" baseline="0" dirty="0"/>
              <a:t>Here, the new X and Y coordinates are predicted using the original x, and y coordinates. Note that both coordinates are used to predict each of the new coordinates. </a:t>
            </a:r>
          </a:p>
          <a:p>
            <a:endParaRPr lang="en-US" baseline="0" dirty="0"/>
          </a:p>
          <a:p>
            <a:r>
              <a:rPr lang="en-US" baseline="0" dirty="0"/>
              <a:t>The goal here is to determine appropriate coefficients to transform the data. Note that x and y are not raised to a power, as this in only first-order, so no square or cubed terms can be used.  </a:t>
            </a:r>
          </a:p>
          <a:p>
            <a:endParaRPr lang="en-US" baseline="0" dirty="0"/>
          </a:p>
          <a:p>
            <a:r>
              <a:rPr lang="en-US" baseline="0" dirty="0"/>
              <a:t>The A term and D terms relate to changing the scale in the x and y directions, respectively. The B and E terms relate to rotation, and the C and F terms relate to translation. Again, this method does not allow for a skew to be applied. </a:t>
            </a:r>
          </a:p>
          <a:p>
            <a:endParaRPr lang="en-US" baseline="0" dirty="0"/>
          </a:p>
          <a:p>
            <a:r>
              <a:rPr lang="en-US" baseline="0" dirty="0"/>
              <a:t>The terms are determined using the control points. </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12953864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methods are available</a:t>
            </a:r>
            <a:r>
              <a:rPr lang="en-US" baseline="0" dirty="0"/>
              <a:t> that do not rely on or solely rely on polynomial equations. This slide provides some examples. </a:t>
            </a:r>
          </a:p>
          <a:p>
            <a:endParaRPr lang="en-US" baseline="0" dirty="0"/>
          </a:p>
          <a:p>
            <a:r>
              <a:rPr lang="en-US" baseline="0" dirty="0"/>
              <a:t>Again, different projection methods require different numbers of control points. </a:t>
            </a:r>
          </a:p>
          <a:p>
            <a:endParaRPr lang="en-US" baseline="0" dirty="0"/>
          </a:p>
          <a:p>
            <a:r>
              <a:rPr lang="en-US" baseline="0" dirty="0"/>
              <a:t>The optimal method will depend on the data being referenced, the control points used, and the required transformations.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27747344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Georeferencing</a:t>
            </a:r>
            <a:r>
              <a:rPr lang="en-US" baseline="0" dirty="0"/>
              <a:t> is generally assessed using the root mean square error, or RMSE, statistic. </a:t>
            </a:r>
          </a:p>
          <a:p>
            <a:endParaRPr lang="en-US" baseline="0" dirty="0"/>
          </a:p>
          <a:p>
            <a:r>
              <a:rPr lang="en-US" baseline="0" dirty="0"/>
              <a:t>This measure provides an assessment of how well the now referenced data matches the source or reference image. </a:t>
            </a:r>
          </a:p>
          <a:p>
            <a:endParaRPr lang="en-US" baseline="0" dirty="0"/>
          </a:p>
          <a:p>
            <a:r>
              <a:rPr lang="en-US" baseline="0" dirty="0"/>
              <a:t>It is generally calculated by comparing the known location of the control point with the computed coordinates of the control point. </a:t>
            </a:r>
          </a:p>
          <a:p>
            <a:endParaRPr lang="en-US" baseline="0" dirty="0"/>
          </a:p>
          <a:p>
            <a:r>
              <a:rPr lang="en-US" baseline="0" dirty="0"/>
              <a:t>The predicted x and y coordinates are subtracted from the correct location to obtain a residual or error. The residuals are then squared, summed, then divided by the number of samples. Lastly the square root is taken. This will provide a RMSE for the x and y directions. These measures can then be combined to obtain a total RMSE. </a:t>
            </a:r>
          </a:p>
          <a:p>
            <a:endParaRPr lang="en-US" baseline="0" dirty="0"/>
          </a:p>
          <a:p>
            <a:r>
              <a:rPr lang="en-US" baseline="0" dirty="0"/>
              <a:t>RMSE will be reported in the map units or as number of pixels. Lower RMSE is better.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4287676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slide provides an example of an RMSE calculation. </a:t>
            </a:r>
          </a:p>
          <a:p>
            <a:endParaRPr lang="en-US" baseline="0" dirty="0"/>
          </a:p>
          <a:p>
            <a:r>
              <a:rPr lang="en-US" baseline="0" dirty="0"/>
              <a:t>The correct and predicted x and y coordinates are differenced to obtain a residual. The residuals are then squared, summed, then divided by the number of samples. The last step is to take the square root. </a:t>
            </a:r>
          </a:p>
          <a:p>
            <a:endParaRPr lang="en-US" baseline="0" dirty="0"/>
          </a:p>
          <a:p>
            <a:r>
              <a:rPr lang="en-US" baseline="0" dirty="0"/>
              <a:t>Once the RMSE is obtained in the x and y directions, they can be combined to obtain a total RMSE.</a:t>
            </a:r>
          </a:p>
          <a:p>
            <a:endParaRPr lang="en-US" baseline="0" dirty="0"/>
          </a:p>
          <a:p>
            <a:r>
              <a:rPr lang="en-US" baseline="0" dirty="0"/>
              <a:t>In this example, the total RMSE is 2.96 meters. This suggest that each pixel is, on average, 2.96 meters from its correct location.</a:t>
            </a:r>
          </a:p>
          <a:p>
            <a:endParaRPr lang="en-US" baseline="0" dirty="0"/>
          </a:p>
          <a:p>
            <a:r>
              <a:rPr lang="en-US" baseline="0" dirty="0"/>
              <a:t>What is considered an acceptable RMSE? This depends on many factors. For example, coarser spatial resolution data will tend to have a larger RMSE than fine resolution data as the larger pixel or cell size will result in some spatial ambiguity. </a:t>
            </a:r>
          </a:p>
          <a:p>
            <a:endParaRPr lang="en-US" baseline="0" dirty="0"/>
          </a:p>
          <a:p>
            <a:r>
              <a:rPr lang="en-US" baseline="0" dirty="0"/>
              <a:t>For imagery, our goal is generally to obtain and RMSE that is smaller than the dimensions of a pixel or cell. </a:t>
            </a:r>
          </a:p>
          <a:p>
            <a:endParaRPr lang="en-US" baseline="0" dirty="0"/>
          </a:p>
          <a:p>
            <a:r>
              <a:rPr lang="en-US" baseline="0" dirty="0"/>
              <a:t>Some mapping tasks may require better </a:t>
            </a:r>
            <a:r>
              <a:rPr lang="en-US" baseline="0" dirty="0" err="1"/>
              <a:t>georeferencing</a:t>
            </a:r>
            <a:r>
              <a:rPr lang="en-US" baseline="0" dirty="0"/>
              <a:t> results than others. There will always be some </a:t>
            </a:r>
            <a:r>
              <a:rPr lang="en-US" baseline="0" dirty="0" err="1"/>
              <a:t>georeferencing</a:t>
            </a:r>
            <a:r>
              <a:rPr lang="en-US" baseline="0" dirty="0"/>
              <a:t> or positional error in your data. </a:t>
            </a:r>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2287147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Positional uncertainty</a:t>
            </a:r>
            <a:r>
              <a:rPr lang="en-US" baseline="0" dirty="0"/>
              <a:t> relates to differences in the position of your data relative to the correct location. </a:t>
            </a:r>
          </a:p>
          <a:p>
            <a:endParaRPr lang="en-US" baseline="0" dirty="0"/>
          </a:p>
          <a:p>
            <a:r>
              <a:rPr lang="en-US" baseline="0" dirty="0"/>
              <a:t>You can consider uncertainty in 2D space as x and y coordinates in a geographic or projected space. </a:t>
            </a:r>
          </a:p>
          <a:p>
            <a:endParaRPr lang="en-US" baseline="0" dirty="0"/>
          </a:p>
          <a:p>
            <a:r>
              <a:rPr lang="en-US" baseline="0" dirty="0"/>
              <a:t>You can also consider the uncertainty of elevation measurements. </a:t>
            </a:r>
          </a:p>
          <a:p>
            <a:endParaRPr lang="en-US" baseline="0" dirty="0"/>
          </a:p>
          <a:p>
            <a:r>
              <a:rPr lang="en-US" baseline="0" dirty="0"/>
              <a:t>Combining these, you can consider uncertainty in 3D space. </a:t>
            </a:r>
          </a:p>
          <a:p>
            <a:endParaRPr lang="en-US" baseline="0" dirty="0"/>
          </a:p>
          <a:p>
            <a:r>
              <a:rPr lang="en-US" baseline="0" dirty="0"/>
              <a:t>As an example, the image shows some uncertainty in a vector line road dataset in comparison to the </a:t>
            </a:r>
            <a:r>
              <a:rPr lang="en-US" baseline="0" dirty="0" err="1"/>
              <a:t>orthophotography</a:t>
            </a:r>
            <a:r>
              <a:rPr lang="en-US" baseline="0" dirty="0"/>
              <a:t>. </a:t>
            </a:r>
          </a:p>
          <a:p>
            <a:endParaRPr lang="en-US" baseline="0" dirty="0"/>
          </a:p>
          <a:p>
            <a:r>
              <a:rPr lang="en-US" baseline="0" dirty="0"/>
              <a:t>Positional error is generally assessed using root mean square error or RMSE, similar to how </a:t>
            </a:r>
            <a:r>
              <a:rPr lang="en-US" baseline="0" dirty="0" err="1"/>
              <a:t>georeferencing</a:t>
            </a:r>
            <a:r>
              <a:rPr lang="en-US" baseline="0" dirty="0"/>
              <a:t> results are assessed. </a:t>
            </a:r>
            <a:br>
              <a:rPr lang="en-US" baseline="0" dirty="0"/>
            </a:br>
            <a:endParaRPr lang="en-US" baseline="0" dirty="0"/>
          </a:p>
          <a:p>
            <a:r>
              <a:rPr lang="en-US" baseline="0" dirty="0"/>
              <a:t>All spatial data have some positional uncertainty; however, this is only a concern if there is too much uncertainty to support your analysis or mapping needs.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37839846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other notes regarding</a:t>
            </a:r>
            <a:r>
              <a:rPr lang="en-US" baseline="0" dirty="0"/>
              <a:t> interpreting RMSE. </a:t>
            </a:r>
          </a:p>
          <a:p>
            <a:endParaRPr lang="en-US" baseline="0" dirty="0"/>
          </a:p>
          <a:p>
            <a:r>
              <a:rPr lang="en-US" baseline="0" dirty="0"/>
              <a:t>Note that RMSE can be misleading if the quality of the control points is suspect or poor. </a:t>
            </a:r>
          </a:p>
          <a:p>
            <a:endParaRPr lang="en-US" baseline="0" dirty="0"/>
          </a:p>
          <a:p>
            <a:r>
              <a:rPr lang="en-US" baseline="0" dirty="0"/>
              <a:t>Also, algorithms commonly </a:t>
            </a:r>
            <a:r>
              <a:rPr lang="en-US" baseline="0" dirty="0" err="1"/>
              <a:t>overfit</a:t>
            </a:r>
            <a:r>
              <a:rPr lang="en-US" baseline="0" dirty="0"/>
              <a:t> to the control points. So, if control points are used to calculate RMSE, the accuracy can be inflated. </a:t>
            </a:r>
          </a:p>
          <a:p>
            <a:endParaRPr lang="en-US" baseline="0" dirty="0"/>
          </a:p>
          <a:p>
            <a:r>
              <a:rPr lang="en-US" baseline="0" dirty="0"/>
              <a:t>It is best to withhold data points and calculate RMSE relative to these locations.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20167951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other notes regarding</a:t>
            </a:r>
            <a:r>
              <a:rPr lang="en-US" baseline="0" dirty="0"/>
              <a:t> interpreting RMSE. </a:t>
            </a:r>
          </a:p>
          <a:p>
            <a:endParaRPr lang="en-US" baseline="0" dirty="0"/>
          </a:p>
          <a:p>
            <a:r>
              <a:rPr lang="en-US" baseline="0" dirty="0"/>
              <a:t>Note that RMSE can be misleading if the quality of the control points is suspect or poor. </a:t>
            </a:r>
          </a:p>
          <a:p>
            <a:endParaRPr lang="en-US" baseline="0" dirty="0"/>
          </a:p>
          <a:p>
            <a:r>
              <a:rPr lang="en-US" baseline="0" dirty="0"/>
              <a:t>Also, algorithms commonly </a:t>
            </a:r>
            <a:r>
              <a:rPr lang="en-US" baseline="0" dirty="0" err="1"/>
              <a:t>overfit</a:t>
            </a:r>
            <a:r>
              <a:rPr lang="en-US" baseline="0" dirty="0"/>
              <a:t> to the control points. So, if control points are used to calculate RMSE, the accuracy can be inflated. </a:t>
            </a:r>
          </a:p>
          <a:p>
            <a:endParaRPr lang="en-US" baseline="0" dirty="0"/>
          </a:p>
          <a:p>
            <a:r>
              <a:rPr lang="en-US" baseline="0" dirty="0"/>
              <a:t>It is best to withhold data points and calculate RMSE relative to these locations.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20</a:t>
            </a:fld>
            <a:endParaRPr lang="en-US"/>
          </a:p>
        </p:txBody>
      </p:sp>
    </p:spTree>
    <p:extLst>
      <p:ext uri="{BB962C8B-B14F-4D97-AF65-F5344CB8AC3E}">
        <p14:creationId xmlns:p14="http://schemas.microsoft.com/office/powerpoint/2010/main" val="35370970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x, y coordinates of these features are automatically recorded and stored as spatial data.</a:t>
            </a:r>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21</a:t>
            </a:fld>
            <a:endParaRPr lang="en-US"/>
          </a:p>
        </p:txBody>
      </p:sp>
    </p:spTree>
    <p:extLst>
      <p:ext uri="{BB962C8B-B14F-4D97-AF65-F5344CB8AC3E}">
        <p14:creationId xmlns:p14="http://schemas.microsoft.com/office/powerpoint/2010/main" val="7812233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electrically sensitized puck. The most common digitizers are based on a wire grid embedded in or under a table</a:t>
            </a:r>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22</a:t>
            </a:fld>
            <a:endParaRPr lang="en-US"/>
          </a:p>
        </p:txBody>
      </p:sp>
    </p:spTree>
    <p:extLst>
      <p:ext uri="{BB962C8B-B14F-4D97-AF65-F5344CB8AC3E}">
        <p14:creationId xmlns:p14="http://schemas.microsoft.com/office/powerpoint/2010/main" val="37715895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x, y coordinates of these features are automatically recorded and stored as spatial data.</a:t>
            </a:r>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23</a:t>
            </a:fld>
            <a:endParaRPr lang="en-US"/>
          </a:p>
        </p:txBody>
      </p:sp>
    </p:spTree>
    <p:extLst>
      <p:ext uri="{BB962C8B-B14F-4D97-AF65-F5344CB8AC3E}">
        <p14:creationId xmlns:p14="http://schemas.microsoft.com/office/powerpoint/2010/main" val="24858770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CA611-0D90-6D86-0692-6BF7B01479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862C11-DFD8-6F7D-8609-0E2E21158B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3BBBDC-8BA6-1A22-674A-F5699D1AD0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5C0B1C-7EF8-5A5A-5D3C-FC39180621E0}"/>
              </a:ext>
            </a:extLst>
          </p:cNvPr>
          <p:cNvSpPr>
            <a:spLocks noGrp="1"/>
          </p:cNvSpPr>
          <p:nvPr>
            <p:ph type="sldNum" sz="quarter" idx="5"/>
          </p:nvPr>
        </p:nvSpPr>
        <p:spPr/>
        <p:txBody>
          <a:bodyPr/>
          <a:lstStyle/>
          <a:p>
            <a:fld id="{56507943-197E-CE46-82F0-5A323A24AE7A}" type="slidenum">
              <a:rPr lang="en-US" smtClean="0"/>
              <a:pPr/>
              <a:t>24</a:t>
            </a:fld>
            <a:endParaRPr lang="en-US"/>
          </a:p>
        </p:txBody>
      </p:sp>
    </p:spTree>
    <p:extLst>
      <p:ext uri="{BB962C8B-B14F-4D97-AF65-F5344CB8AC3E}">
        <p14:creationId xmlns:p14="http://schemas.microsoft.com/office/powerpoint/2010/main" val="36824319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25</a:t>
            </a:fld>
            <a:endParaRPr lang="en-US"/>
          </a:p>
        </p:txBody>
      </p:sp>
    </p:spTree>
    <p:extLst>
      <p:ext uri="{BB962C8B-B14F-4D97-AF65-F5344CB8AC3E}">
        <p14:creationId xmlns:p14="http://schemas.microsoft.com/office/powerpoint/2010/main" val="6336055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Before beginning to digitize, you will need to obtain some input imagery or other reference data. </a:t>
            </a:r>
          </a:p>
          <a:p>
            <a:endParaRPr lang="en-US" baseline="0" dirty="0"/>
          </a:p>
          <a:p>
            <a:r>
              <a:rPr lang="en-US" baseline="0" dirty="0"/>
              <a:t>You will then need to create a new </a:t>
            </a:r>
            <a:r>
              <a:rPr lang="en-US" baseline="0" dirty="0" err="1"/>
              <a:t>shapefile</a:t>
            </a:r>
            <a:r>
              <a:rPr lang="en-US" baseline="0" dirty="0"/>
              <a:t> or feature class to draw into. This will require defining the geometry (point, line, or polygon), setting the projection or coordinate reference system, and creating any required attribute fields. </a:t>
            </a:r>
          </a:p>
          <a:p>
            <a:endParaRPr lang="en-US" baseline="0" dirty="0"/>
          </a:p>
          <a:p>
            <a:r>
              <a:rPr lang="en-US" baseline="0" dirty="0"/>
              <a:t>You can then draw the new features using the reference data. You will also need to edit the attribute table. </a:t>
            </a:r>
          </a:p>
          <a:p>
            <a:endParaRPr lang="en-US" baseline="0" dirty="0"/>
          </a:p>
          <a:p>
            <a:r>
              <a:rPr lang="en-US" baseline="0" dirty="0"/>
              <a:t>It is always important to validate your results for quality control purposes.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7082135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Digitizing</a:t>
            </a:r>
            <a:r>
              <a:rPr lang="en-US" baseline="0" dirty="0"/>
              <a:t> options are available in the Edit Tab. </a:t>
            </a:r>
          </a:p>
          <a:p>
            <a:endParaRPr lang="en-US" baseline="0" dirty="0"/>
          </a:p>
          <a:p>
            <a:r>
              <a:rPr lang="en-US" baseline="0" dirty="0"/>
              <a:t>As you edit the geometry and attributes, remember to save often so you don’t lose any work.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24636689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creating</a:t>
            </a:r>
            <a:r>
              <a:rPr lang="en-US" baseline="0" dirty="0"/>
              <a:t> a new field, you will need to define the field type. </a:t>
            </a:r>
          </a:p>
          <a:p>
            <a:endParaRPr lang="en-US" baseline="0" dirty="0"/>
          </a:p>
          <a:p>
            <a:r>
              <a:rPr lang="en-US" baseline="0" dirty="0"/>
              <a:t>Short and long integer fields can only store integer or whole number values. Long integers can stored a wider range of numbers than short integers. </a:t>
            </a:r>
          </a:p>
          <a:p>
            <a:endParaRPr lang="en-US" baseline="0" dirty="0"/>
          </a:p>
          <a:p>
            <a:r>
              <a:rPr lang="en-US" baseline="0" dirty="0"/>
              <a:t>If you need to maintain decimal values, you cannot use a short or long integer. Instead, you must use a float or double type. Float fields can store up to 6 decimal places while double can store more than 6.</a:t>
            </a:r>
          </a:p>
          <a:p>
            <a:endParaRPr lang="en-US" baseline="0" dirty="0"/>
          </a:p>
          <a:p>
            <a:r>
              <a:rPr lang="en-US" baseline="0" dirty="0"/>
              <a:t>If you would like to store text or string data, you will do so in a text field. Note that numbers stored in text field will be treated like strings. They will not be treated line numbers. For example, you will not be able to perform mathematical operations on these data. </a:t>
            </a:r>
          </a:p>
          <a:p>
            <a:endParaRPr lang="en-US" baseline="0" dirty="0"/>
          </a:p>
          <a:p>
            <a:r>
              <a:rPr lang="en-US" baseline="0" dirty="0"/>
              <a:t>Date fields store dates and will treat the information as dates.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2748997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geometric measures can be calculated and stored in the attribute table for points, lines, and polygon data. </a:t>
            </a:r>
          </a:p>
          <a:p>
            <a:endParaRPr lang="en-US" dirty="0"/>
          </a:p>
          <a:p>
            <a:r>
              <a:rPr lang="en-US" dirty="0"/>
              <a:t>For point data, it is possible to store the x and y coordinate. If the feature is Z-enabled, or contains elevation or height information, this value can also be calculated. If it is M-enable, the M coordinate can be calculated. M-coordinates generally relate to positions along a network. </a:t>
            </a:r>
          </a:p>
          <a:p>
            <a:endParaRPr lang="en-US" dirty="0"/>
          </a:p>
          <a:p>
            <a:r>
              <a:rPr lang="en-US" dirty="0"/>
              <a:t>For lines, you can calculate the x and y coordinates for the start, end, and middle of the line segment. You can also calculate the length and bearing. The bearing is the compass direction of the line and is defined as the direction of travel from the start to the end node. </a:t>
            </a:r>
          </a:p>
          <a:p>
            <a:endParaRPr lang="en-US" dirty="0"/>
          </a:p>
          <a:p>
            <a:r>
              <a:rPr lang="en-US" dirty="0"/>
              <a:t>For polygons, you can calculate the area and perimeter. The perimeter is the length of all the lines that make up the</a:t>
            </a:r>
            <a:r>
              <a:rPr lang="en-US" baseline="0" dirty="0"/>
              <a:t> polygon</a:t>
            </a:r>
            <a:r>
              <a:rPr lang="en-US" dirty="0"/>
              <a:t>. You can also calculate the centroid, or geometric center, coordinates. Note that centroid coordinates can sometimes be misleading. For example, for irregular or elongated shapes, the centroid may not actually occur within the polygon. For a “C” shaped feature, the centroid would occur somewhere in the middle of the “C” as oppose to within the area that makes it up. So, be careful when using centroid measures. </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41370904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31</a:t>
            </a:fld>
            <a:endParaRPr lang="en-US"/>
          </a:p>
        </p:txBody>
      </p:sp>
    </p:spTree>
    <p:extLst>
      <p:ext uri="{BB962C8B-B14F-4D97-AF65-F5344CB8AC3E}">
        <p14:creationId xmlns:p14="http://schemas.microsoft.com/office/powerpoint/2010/main" val="8838509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Dangling include overshoot and undershoot, and two lines with points not connected. Dangling node include undershoot and overshoot node.</a:t>
            </a:r>
          </a:p>
        </p:txBody>
      </p:sp>
      <p:sp>
        <p:nvSpPr>
          <p:cNvPr id="4" name="Slide Number Placeholder 3"/>
          <p:cNvSpPr>
            <a:spLocks noGrp="1"/>
          </p:cNvSpPr>
          <p:nvPr>
            <p:ph type="sldNum" sz="quarter" idx="5"/>
          </p:nvPr>
        </p:nvSpPr>
        <p:spPr/>
        <p:txBody>
          <a:bodyPr/>
          <a:lstStyle/>
          <a:p>
            <a:fld id="{56507943-197E-CE46-82F0-5A323A24AE7A}" type="slidenum">
              <a:rPr lang="en-US" smtClean="0"/>
              <a:pPr/>
              <a:t>32</a:t>
            </a:fld>
            <a:endParaRPr lang="en-US"/>
          </a:p>
        </p:txBody>
      </p:sp>
    </p:spTree>
    <p:extLst>
      <p:ext uri="{BB962C8B-B14F-4D97-AF65-F5344CB8AC3E}">
        <p14:creationId xmlns:p14="http://schemas.microsoft.com/office/powerpoint/2010/main" val="35903497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33</a:t>
            </a:fld>
            <a:endParaRPr lang="en-US"/>
          </a:p>
        </p:txBody>
      </p:sp>
    </p:spTree>
    <p:extLst>
      <p:ext uri="{BB962C8B-B14F-4D97-AF65-F5344CB8AC3E}">
        <p14:creationId xmlns:p14="http://schemas.microsoft.com/office/powerpoint/2010/main" val="14461729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34</a:t>
            </a:fld>
            <a:endParaRPr lang="en-US"/>
          </a:p>
        </p:txBody>
      </p:sp>
    </p:spTree>
    <p:extLst>
      <p:ext uri="{BB962C8B-B14F-4D97-AF65-F5344CB8AC3E}">
        <p14:creationId xmlns:p14="http://schemas.microsoft.com/office/powerpoint/2010/main" val="41219042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35</a:t>
            </a:fld>
            <a:endParaRPr lang="en-US"/>
          </a:p>
        </p:txBody>
      </p:sp>
    </p:spTree>
    <p:extLst>
      <p:ext uri="{BB962C8B-B14F-4D97-AF65-F5344CB8AC3E}">
        <p14:creationId xmlns:p14="http://schemas.microsoft.com/office/powerpoint/2010/main" val="33031984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a-undershoot; b-undershoot; c-</a:t>
            </a:r>
            <a:r>
              <a:rPr lang="en-US" dirty="0" err="1"/>
              <a:t>psuedonode</a:t>
            </a:r>
            <a:r>
              <a:rPr lang="en-US" dirty="0"/>
              <a:t>; d-overshoot; e-undershoot; f-missing label; g-overshoot.</a:t>
            </a:r>
          </a:p>
        </p:txBody>
      </p:sp>
      <p:sp>
        <p:nvSpPr>
          <p:cNvPr id="4" name="Slide Number Placeholder 3"/>
          <p:cNvSpPr>
            <a:spLocks noGrp="1"/>
          </p:cNvSpPr>
          <p:nvPr>
            <p:ph type="sldNum" sz="quarter" idx="5"/>
          </p:nvPr>
        </p:nvSpPr>
        <p:spPr/>
        <p:txBody>
          <a:bodyPr/>
          <a:lstStyle/>
          <a:p>
            <a:fld id="{56507943-197E-CE46-82F0-5A323A24AE7A}" type="slidenum">
              <a:rPr lang="en-US" smtClean="0"/>
              <a:pPr/>
              <a:t>36</a:t>
            </a:fld>
            <a:endParaRPr lang="en-US"/>
          </a:p>
        </p:txBody>
      </p:sp>
    </p:spTree>
    <p:extLst>
      <p:ext uri="{BB962C8B-B14F-4D97-AF65-F5344CB8AC3E}">
        <p14:creationId xmlns:p14="http://schemas.microsoft.com/office/powerpoint/2010/main" val="14943219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89123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A0B820CE-B148-45DC-B1F4-C6D7A412B18C}" type="datetime1">
              <a:rPr lang="en-US" smtClean="0"/>
              <a:t>10/7/2025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326152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6217A2D-4697-45F9-B456-6F41C271EA23}" type="datetime1">
              <a:rPr lang="en-US" smtClean="0"/>
              <a:t>10/7/2025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46073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72275FA-1176-482D-89DB-1BECA8A9E900}" type="datetime1">
              <a:rPr lang="en-US" smtClean="0"/>
              <a:t>10/7/2025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2614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489F1B3-7391-4D9B-BF55-8F9F90900E0F}" type="datetime1">
              <a:rPr lang="en-US" smtClean="0"/>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96946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193EC4F-A052-40F8-9DD4-466F1C40115C}" type="datetime1">
              <a:rPr lang="en-US" smtClean="0"/>
              <a:t>10/7/2025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959542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74D10B7-D3C1-4214-BDCA-01BBB3DB90F8}" type="datetime1">
              <a:rPr lang="en-US" smtClean="0"/>
              <a:t>10/7/2025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141106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0670BA-1561-4CCE-8764-4C8B3832F4FB}" type="datetime1">
              <a:rPr lang="en-US" smtClean="0"/>
              <a:t>10/7/2025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90229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A488E77D-1EBC-4F57-BD58-E22A435F61EA}" type="datetime1">
              <a:rPr lang="en-US" smtClean="0"/>
              <a:t>10/7/2025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27440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B86176DD-5979-40E1-A68A-A63D9FD6A3EA}" type="datetime1">
              <a:rPr lang="en-US" smtClean="0"/>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1685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987901-C162-4F42-BC7D-9497877AE2BA}" type="datetime1">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47025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3AAF78D1-5DF2-46C5-87F7-8CCF7159B52F}" type="datetime1">
              <a:rPr lang="en-US" smtClean="0"/>
              <a:t>10/7/2025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8249636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06A0FD2F-556E-43A6-BD1A-AE05D71D5ACE}" type="datetime1">
              <a:rPr lang="en-US" smtClean="0"/>
              <a:t>10/7/2025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034882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C4CA2D96-DD5E-4EE6-BA39-19B5C56AF1F2}" type="datetime1">
              <a:rPr lang="en-US" smtClean="0"/>
              <a:t>10/7/2025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774975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2C2D4BC3-0B93-4E0B-AE53-3E432262C0E4}" type="datetime1">
              <a:rPr lang="en-US" smtClean="0"/>
              <a:t>10/7/2025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475013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A5CEA080-6A29-4A4D-90B1-4C73660CABD5}" type="datetime1">
              <a:rPr lang="en-US" smtClean="0"/>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38547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4EFF1D62-0785-460A-9888-5F5908AD45F7}" type="datetime1">
              <a:rPr lang="en-US" smtClean="0"/>
              <a:t>10/7/2025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2911174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603F5A6-4790-4338-AC59-416730A16F3C}" type="datetime1">
              <a:rPr lang="en-US" smtClean="0"/>
              <a:t>10/7/2025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2681109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F331C8-E8D8-438B-B699-9ACE625F3A09}" type="datetime1">
              <a:rPr lang="en-US" smtClean="0"/>
              <a:t>10/7/2025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57003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610C12D3-F429-42CB-9467-4C3AFEEA173C}" type="datetime1">
              <a:rPr lang="en-US" smtClean="0"/>
              <a:t>10/7/2025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476280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283F426E-E29E-4D2E-B32D-412D98F7FC2F}" type="datetime1">
              <a:rPr lang="en-US" smtClean="0"/>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0747012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A0F15864-78C5-4237-8A12-0D1FD4E5F0BD}" type="datetime1">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326967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B9BBA17-EAD5-43A8-9481-F99B1E8564DB}" type="datetime1">
              <a:rPr lang="en-US" smtClean="0"/>
              <a:t>10/7/2025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437206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10/7/2025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220717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10/7/2025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232657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10/7/2025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831252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882986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10/7/2025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193315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10/7/2025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44355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10/7/2025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750341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10/7/2025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25937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732472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838722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10/7/2025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687828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10/7/2025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4561971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10/7/2025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345552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10/7/2025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7174828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10/7/2025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755597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10/7/2025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739146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10/7/2025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94649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10/7/2025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8594319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10/7/2025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32823317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10/7/2025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99133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42244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10/7/2025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4707527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339579608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10/7/2025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12087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10/7/2025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6481662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10/7/2025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8464445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10/7/2025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8210196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10/7/2025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8545023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10/7/2025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1564927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10/7/2025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9589557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10/7/2025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0820202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10/7/2025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616688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0773920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10/7/2025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479357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45653549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10/7/2025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4075759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10/7/2025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09846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10/7/2025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1340049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10/7/2025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3793019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10/7/2025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9106483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10/7/2025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1249853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10/7/2025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0105383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10/7/2025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17606013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10/7/2025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5796280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4212865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10/7/2025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64673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6.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E2E9440-3DFA-4FE6-8145-2E7243E55A26}" type="datetime1">
              <a:rPr lang="en-US" smtClean="0"/>
              <a:t>10/7/2025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6440531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E7733A4-5D18-4D09-8F94-45F71EE3C7C2}" type="datetime1">
              <a:rPr lang="en-US" smtClean="0"/>
              <a:t>10/7/2025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69632340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10/7/2025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68374691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10/7/2025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77236771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10/7/2025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790478751"/>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10/7/2025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864983066"/>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3.jpg"/><Relationship Id="rId5" Type="http://schemas.openxmlformats.org/officeDocument/2006/relationships/image" Target="../media/image2.jp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7.xml"/><Relationship Id="rId3" Type="http://schemas.openxmlformats.org/officeDocument/2006/relationships/tags" Target="../tags/tag7.xml"/><Relationship Id="rId7"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image" Target="../media/image10.png"/><Relationship Id="rId5" Type="http://schemas.openxmlformats.org/officeDocument/2006/relationships/tags" Target="../tags/tag9.xml"/><Relationship Id="rId10" Type="http://schemas.openxmlformats.org/officeDocument/2006/relationships/image" Target="../media/image9.png"/><Relationship Id="rId4" Type="http://schemas.openxmlformats.org/officeDocument/2006/relationships/tags" Target="../tags/tag8.xml"/><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8" Type="http://schemas.openxmlformats.org/officeDocument/2006/relationships/customXml" Target="../ink/ink2.xml"/><Relationship Id="rId3" Type="http://schemas.openxmlformats.org/officeDocument/2006/relationships/notesSlide" Target="../notesSlides/notesSlide13.xml"/><Relationship Id="rId21" Type="http://schemas.openxmlformats.org/officeDocument/2006/relationships/image" Target="../media/image340.png"/><Relationship Id="rId17" Type="http://schemas.openxmlformats.org/officeDocument/2006/relationships/image" Target="../media/image320.png"/><Relationship Id="rId2" Type="http://schemas.openxmlformats.org/officeDocument/2006/relationships/slideLayout" Target="../slideLayouts/slideLayout2.xml"/><Relationship Id="rId20" Type="http://schemas.openxmlformats.org/officeDocument/2006/relationships/customXml" Target="../ink/ink3.xml"/><Relationship Id="rId1" Type="http://schemas.openxmlformats.org/officeDocument/2006/relationships/tags" Target="../tags/tag13.xml"/><Relationship Id="rId19" Type="http://schemas.openxmlformats.org/officeDocument/2006/relationships/image" Target="../media/image330.png"/><Relationship Id="rId4" Type="http://schemas.openxmlformats.org/officeDocument/2006/relationships/customXml" Target="../ink/ink1.xml"/><Relationship Id="rId22" Type="http://schemas.openxmlformats.org/officeDocument/2006/relationships/image" Target="../media/image15.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hyperlink" Target="https://www.esri.com/arcgis-blog/products/arcgis-pro/mapping/digitizing-scanned-maps-using-ai-in-arcgis-pro"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hyperlink" Target="https://pro.arcgis.com/en/pro-app/latest/tool-reference/image-analyst/detect-objects-using-deep-learning.htm"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jp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28.jp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tif"/><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xml"/><Relationship Id="rId1" Type="http://schemas.openxmlformats.org/officeDocument/2006/relationships/tags" Target="../tags/tag16.xml"/><Relationship Id="rId5" Type="http://schemas.openxmlformats.org/officeDocument/2006/relationships/image" Target="../media/image34.jpg"/><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3.xml"/><Relationship Id="rId1" Type="http://schemas.openxmlformats.org/officeDocument/2006/relationships/slideLayout" Target="../slideLayouts/slideLayout5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409912" y="663183"/>
            <a:ext cx="6638886" cy="2211377"/>
          </a:xfrm>
        </p:spPr>
        <p:txBody>
          <a:bodyPr>
            <a:normAutofit/>
          </a:bodyPr>
          <a:lstStyle/>
          <a:p>
            <a:r>
              <a:rPr lang="en-US" altLang="zh-CN" sz="2800" dirty="0"/>
              <a:t>Lecture 07 </a:t>
            </a:r>
            <a:r>
              <a:rPr lang="en-US" sz="2800" dirty="0"/>
              <a:t>Digitizing, </a:t>
            </a:r>
            <a:br>
              <a:rPr lang="en-US" sz="2800" dirty="0"/>
            </a:br>
            <a:r>
              <a:rPr lang="en-US" sz="2800" dirty="0"/>
              <a:t>Georeferencing,</a:t>
            </a:r>
            <a:br>
              <a:rPr lang="en-US" sz="2800" dirty="0"/>
            </a:br>
            <a:r>
              <a:rPr lang="en-US" sz="2800" dirty="0"/>
              <a:t>Resampling</a:t>
            </a:r>
            <a:br>
              <a:rPr lang="en-US" sz="2800" dirty="0"/>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477596" y="3111792"/>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7.1 </a:t>
            </a:r>
            <a:br>
              <a:rPr lang="en-US" sz="4050" dirty="0">
                <a:solidFill>
                  <a:srgbClr val="FFFFFF"/>
                </a:solidFill>
              </a:rPr>
            </a:br>
            <a:r>
              <a:rPr lang="en-US" altLang="zh-CN" sz="4050" dirty="0">
                <a:solidFill>
                  <a:srgbClr val="FFFFFF"/>
                </a:solidFill>
              </a:rPr>
              <a:t>georeferencing</a:t>
            </a:r>
            <a:endParaRPr lang="en-US" sz="4050" dirty="0">
              <a:solidFill>
                <a:srgbClr val="FFFFFF"/>
              </a:solidFill>
            </a:endParaRP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2352816" y="922910"/>
            <a:ext cx="3943256" cy="3886200"/>
          </a:xfrm>
        </p:spPr>
        <p:txBody>
          <a:bodyPr>
            <a:normAutofit/>
          </a:bodyPr>
          <a:lstStyle/>
          <a:p>
            <a:pPr marL="0" lvl="1">
              <a:buFont typeface="Courier New" panose="02070309020205020404" pitchFamily="49" charset="0"/>
              <a:buChar char="o"/>
            </a:pPr>
            <a:r>
              <a:rPr lang="en-US" altLang="en-US" sz="2600" dirty="0"/>
              <a:t>Georeferencing</a:t>
            </a:r>
          </a:p>
          <a:p>
            <a:pPr lvl="1">
              <a:buFont typeface="Wingdings" panose="05000000000000000000" pitchFamily="2" charset="2"/>
              <a:buChar char="ü"/>
            </a:pPr>
            <a:r>
              <a:rPr lang="en-US" altLang="en-US" sz="2300" dirty="0"/>
              <a:t>Control points</a:t>
            </a:r>
          </a:p>
          <a:p>
            <a:pPr lvl="1">
              <a:buFont typeface="Wingdings" panose="05000000000000000000" pitchFamily="2" charset="2"/>
              <a:buChar char="ü"/>
            </a:pPr>
            <a:r>
              <a:rPr lang="en-US" altLang="en-US" sz="2300" dirty="0"/>
              <a:t>Transformation methods</a:t>
            </a:r>
          </a:p>
          <a:p>
            <a:pPr>
              <a:buFont typeface="Courier New" panose="02070309020205020404" pitchFamily="49" charset="0"/>
              <a:buChar char="o"/>
            </a:pPr>
            <a:r>
              <a:rPr lang="en-US" altLang="en-US" sz="2600" dirty="0"/>
              <a:t>Digitizing</a:t>
            </a:r>
          </a:p>
          <a:p>
            <a:pPr lvl="1">
              <a:buFont typeface="Wingdings" panose="05000000000000000000" pitchFamily="2" charset="2"/>
              <a:buChar char="ü"/>
            </a:pPr>
            <a:r>
              <a:rPr lang="en-US" altLang="en-US" sz="2300" dirty="0"/>
              <a:t>Digitizing types</a:t>
            </a:r>
          </a:p>
          <a:p>
            <a:pPr lvl="1">
              <a:buFont typeface="Wingdings" panose="05000000000000000000" pitchFamily="2" charset="2"/>
              <a:buChar char="ü"/>
            </a:pPr>
            <a:r>
              <a:rPr lang="en-US" altLang="en-US" sz="2300" dirty="0"/>
              <a:t>Digitizing steps</a:t>
            </a:r>
          </a:p>
          <a:p>
            <a:pPr lvl="1">
              <a:buFont typeface="Wingdings" panose="05000000000000000000" pitchFamily="2" charset="2"/>
              <a:buChar char="ü"/>
            </a:pPr>
            <a:r>
              <a:rPr lang="en-US" altLang="en-US" sz="2300" dirty="0"/>
              <a:t>Snapping</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52400"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Tree>
    <p:extLst>
      <p:ext uri="{BB962C8B-B14F-4D97-AF65-F5344CB8AC3E}">
        <p14:creationId xmlns:p14="http://schemas.microsoft.com/office/powerpoint/2010/main" val="1965534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TextBox 6"/>
          <p:cNvSpPr txBox="1"/>
          <p:nvPr/>
        </p:nvSpPr>
        <p:spPr>
          <a:xfrm>
            <a:off x="448884" y="1211210"/>
            <a:ext cx="7543839" cy="829201"/>
          </a:xfrm>
          <a:prstGeom prst="rect">
            <a:avLst/>
          </a:prstGeom>
          <a:noFill/>
        </p:spPr>
        <p:txBody>
          <a:bodyPr wrap="square" rtlCol="0">
            <a:spAutoFit/>
          </a:bodyPr>
          <a:lstStyle/>
          <a:p>
            <a:pPr marL="457200" indent="-457200">
              <a:lnSpc>
                <a:spcPct val="90000"/>
              </a:lnSpc>
              <a:buFont typeface="Courier New" panose="02070309020205020404" pitchFamily="49" charset="0"/>
              <a:buChar char="o"/>
            </a:pPr>
            <a:r>
              <a:rPr lang="en-GB" sz="2600" dirty="0"/>
              <a:t>Process of aligning an unreferenced dataset with one that has spatial reference information.</a:t>
            </a:r>
          </a:p>
        </p:txBody>
      </p:sp>
      <p:sp>
        <p:nvSpPr>
          <p:cNvPr id="8" name="Title 1">
            <a:extLst>
              <a:ext uri="{FF2B5EF4-FFF2-40B4-BE49-F238E27FC236}">
                <a16:creationId xmlns:a16="http://schemas.microsoft.com/office/drawing/2014/main" id="{E8B04B03-A547-49E8-B25C-E1ED416F82D3}"/>
              </a:ext>
            </a:extLst>
          </p:cNvPr>
          <p:cNvSpPr txBox="1">
            <a:spLocks/>
          </p:cNvSpPr>
          <p:nvPr/>
        </p:nvSpPr>
        <p:spPr>
          <a:xfrm>
            <a:off x="182203" y="18583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Georeferencing</a:t>
            </a:r>
          </a:p>
        </p:txBody>
      </p:sp>
      <p:cxnSp>
        <p:nvCxnSpPr>
          <p:cNvPr id="9" name="Straight Connector 8">
            <a:extLst>
              <a:ext uri="{FF2B5EF4-FFF2-40B4-BE49-F238E27FC236}">
                <a16:creationId xmlns:a16="http://schemas.microsoft.com/office/drawing/2014/main" id="{5F0CFC04-E6C9-4D74-9A79-89429FA924C7}"/>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E7F6E43F-A86D-4E9C-A3AA-4C1D8DDDF5F6}"/>
              </a:ext>
            </a:extLst>
          </p:cNvPr>
          <p:cNvSpPr>
            <a:spLocks noGrp="1"/>
          </p:cNvSpPr>
          <p:nvPr>
            <p:ph type="sldNum" sz="quarter" idx="12"/>
          </p:nvPr>
        </p:nvSpPr>
        <p:spPr/>
        <p:txBody>
          <a:bodyPr/>
          <a:lstStyle/>
          <a:p>
            <a:fld id="{127DDC20-79C9-9647-820E-6D40A3D210C3}" type="slidenum">
              <a:rPr lang="en-US" smtClean="0"/>
              <a:pPr/>
              <a:t>4</a:t>
            </a:fld>
            <a:endParaRPr lang="en-US"/>
          </a:p>
        </p:txBody>
      </p:sp>
      <p:pic>
        <p:nvPicPr>
          <p:cNvPr id="5" name="Picture 4" descr="A picture containing text, antenna&#10;&#10;Description automatically generated">
            <a:extLst>
              <a:ext uri="{FF2B5EF4-FFF2-40B4-BE49-F238E27FC236}">
                <a16:creationId xmlns:a16="http://schemas.microsoft.com/office/drawing/2014/main" id="{A3EBEF58-ED30-4DFC-9128-F9621456CF0F}"/>
              </a:ext>
            </a:extLst>
          </p:cNvPr>
          <p:cNvPicPr>
            <a:picLocks noChangeAspect="1"/>
          </p:cNvPicPr>
          <p:nvPr/>
        </p:nvPicPr>
        <p:blipFill>
          <a:blip r:embed="rId5"/>
          <a:stretch>
            <a:fillRect/>
          </a:stretch>
        </p:blipFill>
        <p:spPr>
          <a:xfrm>
            <a:off x="386544" y="2468161"/>
            <a:ext cx="3046346" cy="2022828"/>
          </a:xfrm>
          <a:prstGeom prst="rect">
            <a:avLst/>
          </a:prstGeom>
        </p:spPr>
      </p:pic>
      <p:sp>
        <p:nvSpPr>
          <p:cNvPr id="10" name="TextBox 9">
            <a:extLst>
              <a:ext uri="{FF2B5EF4-FFF2-40B4-BE49-F238E27FC236}">
                <a16:creationId xmlns:a16="http://schemas.microsoft.com/office/drawing/2014/main" id="{2DF627F4-CF84-435D-A831-55E63AC95226}"/>
              </a:ext>
            </a:extLst>
          </p:cNvPr>
          <p:cNvSpPr txBox="1"/>
          <p:nvPr/>
        </p:nvSpPr>
        <p:spPr>
          <a:xfrm>
            <a:off x="7013758" y="4439656"/>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pic>
        <p:nvPicPr>
          <p:cNvPr id="11" name="Picture 10" descr="Diagram&#10;&#10;Description automatically generated">
            <a:extLst>
              <a:ext uri="{FF2B5EF4-FFF2-40B4-BE49-F238E27FC236}">
                <a16:creationId xmlns:a16="http://schemas.microsoft.com/office/drawing/2014/main" id="{A744A0A0-B9B1-4C2B-B2AD-A6BF872F1A57}"/>
              </a:ext>
            </a:extLst>
          </p:cNvPr>
          <p:cNvPicPr>
            <a:picLocks noChangeAspect="1"/>
          </p:cNvPicPr>
          <p:nvPr/>
        </p:nvPicPr>
        <p:blipFill>
          <a:blip r:embed="rId6"/>
          <a:stretch>
            <a:fillRect/>
          </a:stretch>
        </p:blipFill>
        <p:spPr>
          <a:xfrm>
            <a:off x="4072117" y="1974751"/>
            <a:ext cx="2657785" cy="3103089"/>
          </a:xfrm>
          <a:prstGeom prst="rect">
            <a:avLst/>
          </a:prstGeom>
        </p:spPr>
      </p:pic>
      <p:sp>
        <p:nvSpPr>
          <p:cNvPr id="54" name="SMARTInkShape-230"/>
          <p:cNvSpPr/>
          <p:nvPr>
            <p:custDataLst>
              <p:tags r:id="rId1"/>
            </p:custDataLst>
          </p:nvPr>
        </p:nvSpPr>
        <p:spPr>
          <a:xfrm>
            <a:off x="2125980" y="3840480"/>
            <a:ext cx="5716" cy="1"/>
          </a:xfrm>
          <a:custGeom>
            <a:avLst/>
            <a:gdLst/>
            <a:ahLst/>
            <a:cxnLst/>
            <a:rect l="0" t="0" r="0" b="0"/>
            <a:pathLst>
              <a:path w="5716" h="1">
                <a:moveTo>
                  <a:pt x="0" y="0"/>
                </a:moveTo>
                <a:lnTo>
                  <a:pt x="0" y="0"/>
                </a:lnTo>
                <a:lnTo>
                  <a:pt x="5715" y="0"/>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5" name="SMARTInkShape-231"/>
          <p:cNvSpPr/>
          <p:nvPr>
            <p:custDataLst>
              <p:tags r:id="rId2"/>
            </p:custDataLst>
          </p:nvPr>
        </p:nvSpPr>
        <p:spPr>
          <a:xfrm>
            <a:off x="2686050" y="3771900"/>
            <a:ext cx="5716" cy="28576"/>
          </a:xfrm>
          <a:custGeom>
            <a:avLst/>
            <a:gdLst/>
            <a:ahLst/>
            <a:cxnLst/>
            <a:rect l="0" t="0" r="0" b="0"/>
            <a:pathLst>
              <a:path w="5716" h="28576">
                <a:moveTo>
                  <a:pt x="0" y="0"/>
                </a:moveTo>
                <a:lnTo>
                  <a:pt x="0" y="0"/>
                </a:lnTo>
                <a:lnTo>
                  <a:pt x="4921" y="9841"/>
                </a:lnTo>
                <a:lnTo>
                  <a:pt x="5715" y="28575"/>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010237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2305" y="1208817"/>
            <a:ext cx="7444990" cy="2725865"/>
          </a:xfrm>
        </p:spPr>
        <p:txBody>
          <a:bodyPr>
            <a:normAutofit/>
          </a:bodyPr>
          <a:lstStyle/>
          <a:p>
            <a:pPr>
              <a:buFont typeface="Courier New" panose="02070309020205020404" pitchFamily="49" charset="0"/>
              <a:buChar char="o"/>
            </a:pPr>
            <a:r>
              <a:rPr lang="en-US" sz="2400" dirty="0"/>
              <a:t>Convert paper map to digital raster data</a:t>
            </a:r>
          </a:p>
          <a:p>
            <a:pPr>
              <a:buFont typeface="Courier New" panose="02070309020205020404" pitchFamily="49" charset="0"/>
              <a:buChar char="o"/>
            </a:pPr>
            <a:r>
              <a:rPr lang="en-US" sz="2400" dirty="0"/>
              <a:t>Resolution and quality depends on the quality of original paper data and scanning settings (e.g., dots per inch (dpi))</a:t>
            </a:r>
          </a:p>
          <a:p>
            <a:pPr>
              <a:buFont typeface="Courier New" panose="02070309020205020404" pitchFamily="49" charset="0"/>
              <a:buChar char="o"/>
            </a:pPr>
            <a:r>
              <a:rPr lang="en-US" sz="2400" dirty="0"/>
              <a:t>Can be converted back to vector data via digitizing or tracing</a:t>
            </a:r>
          </a:p>
        </p:txBody>
      </p:sp>
      <p:sp>
        <p:nvSpPr>
          <p:cNvPr id="2" name="Slide Number Placeholder 1">
            <a:extLst>
              <a:ext uri="{FF2B5EF4-FFF2-40B4-BE49-F238E27FC236}">
                <a16:creationId xmlns:a16="http://schemas.microsoft.com/office/drawing/2014/main" id="{DB9C3CF2-9B4E-4007-8820-707BB22CA30A}"/>
              </a:ext>
            </a:extLst>
          </p:cNvPr>
          <p:cNvSpPr>
            <a:spLocks noGrp="1"/>
          </p:cNvSpPr>
          <p:nvPr>
            <p:ph type="sldNum" sz="quarter" idx="12"/>
          </p:nvPr>
        </p:nvSpPr>
        <p:spPr/>
        <p:txBody>
          <a:bodyPr/>
          <a:lstStyle/>
          <a:p>
            <a:fld id="{127DDC20-79C9-9647-820E-6D40A3D210C3}" type="slidenum">
              <a:rPr lang="en-US" smtClean="0"/>
              <a:pPr/>
              <a:t>5</a:t>
            </a:fld>
            <a:endParaRPr lang="en-US"/>
          </a:p>
        </p:txBody>
      </p:sp>
      <p:sp>
        <p:nvSpPr>
          <p:cNvPr id="4" name="Title 1">
            <a:extLst>
              <a:ext uri="{FF2B5EF4-FFF2-40B4-BE49-F238E27FC236}">
                <a16:creationId xmlns:a16="http://schemas.microsoft.com/office/drawing/2014/main" id="{2A2BF198-DC50-4BFF-B7F4-CEBA49842A1F}"/>
              </a:ext>
            </a:extLst>
          </p:cNvPr>
          <p:cNvSpPr txBox="1">
            <a:spLocks/>
          </p:cNvSpPr>
          <p:nvPr/>
        </p:nvSpPr>
        <p:spPr>
          <a:xfrm>
            <a:off x="293461" y="2333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Scanning</a:t>
            </a:r>
          </a:p>
        </p:txBody>
      </p:sp>
      <p:cxnSp>
        <p:nvCxnSpPr>
          <p:cNvPr id="5" name="Straight Connector 4">
            <a:extLst>
              <a:ext uri="{FF2B5EF4-FFF2-40B4-BE49-F238E27FC236}">
                <a16:creationId xmlns:a16="http://schemas.microsoft.com/office/drawing/2014/main" id="{F6151A9F-9761-47AD-9079-107D13C3FA7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8820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TextBox 6"/>
          <p:cNvSpPr txBox="1"/>
          <p:nvPr/>
        </p:nvSpPr>
        <p:spPr>
          <a:xfrm>
            <a:off x="125567" y="970086"/>
            <a:ext cx="7885984" cy="923330"/>
          </a:xfrm>
          <a:prstGeom prst="rect">
            <a:avLst/>
          </a:prstGeom>
          <a:noFill/>
        </p:spPr>
        <p:txBody>
          <a:bodyPr wrap="square" rtlCol="0">
            <a:spAutoFit/>
          </a:bodyPr>
          <a:lstStyle/>
          <a:p>
            <a:pPr marL="457200" indent="-457200">
              <a:lnSpc>
                <a:spcPct val="90000"/>
              </a:lnSpc>
              <a:buFont typeface="Courier New" panose="02070309020205020404" pitchFamily="49" charset="0"/>
              <a:buChar char="o"/>
            </a:pPr>
            <a:r>
              <a:rPr lang="en-GB" sz="2000" dirty="0"/>
              <a:t>Used to register dataset to known location</a:t>
            </a:r>
          </a:p>
          <a:p>
            <a:pPr marL="457200" indent="-457200">
              <a:lnSpc>
                <a:spcPct val="90000"/>
              </a:lnSpc>
              <a:buFont typeface="Courier New" panose="02070309020205020404" pitchFamily="49" charset="0"/>
              <a:buChar char="o"/>
            </a:pPr>
            <a:r>
              <a:rPr lang="en-GB" sz="2000" dirty="0"/>
              <a:t>Used as reference and represent the same location in the data being referenced and reference data</a:t>
            </a:r>
          </a:p>
        </p:txBody>
      </p:sp>
      <p:sp>
        <p:nvSpPr>
          <p:cNvPr id="8" name="Title 1">
            <a:extLst>
              <a:ext uri="{FF2B5EF4-FFF2-40B4-BE49-F238E27FC236}">
                <a16:creationId xmlns:a16="http://schemas.microsoft.com/office/drawing/2014/main" id="{0AB5C014-9CF1-4EA9-9A30-5706FDA9C17F}"/>
              </a:ext>
            </a:extLst>
          </p:cNvPr>
          <p:cNvSpPr txBox="1">
            <a:spLocks/>
          </p:cNvSpPr>
          <p:nvPr/>
        </p:nvSpPr>
        <p:spPr>
          <a:xfrm>
            <a:off x="218049" y="18790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Control Points</a:t>
            </a:r>
          </a:p>
        </p:txBody>
      </p:sp>
      <p:cxnSp>
        <p:nvCxnSpPr>
          <p:cNvPr id="9" name="Straight Connector 8">
            <a:extLst>
              <a:ext uri="{FF2B5EF4-FFF2-40B4-BE49-F238E27FC236}">
                <a16:creationId xmlns:a16="http://schemas.microsoft.com/office/drawing/2014/main" id="{960D16BD-CA2C-4413-8D1A-DAE4EC1BBE9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637267BD-4512-475E-B308-DA9998B49C15}"/>
              </a:ext>
            </a:extLst>
          </p:cNvPr>
          <p:cNvSpPr>
            <a:spLocks noGrp="1"/>
          </p:cNvSpPr>
          <p:nvPr>
            <p:ph type="sldNum" sz="quarter" idx="12"/>
          </p:nvPr>
        </p:nvSpPr>
        <p:spPr/>
        <p:txBody>
          <a:bodyPr/>
          <a:lstStyle/>
          <a:p>
            <a:fld id="{127DDC20-79C9-9647-820E-6D40A3D210C3}" type="slidenum">
              <a:rPr lang="en-US" smtClean="0"/>
              <a:pPr/>
              <a:t>6</a:t>
            </a:fld>
            <a:endParaRPr lang="en-US"/>
          </a:p>
        </p:txBody>
      </p:sp>
      <p:pic>
        <p:nvPicPr>
          <p:cNvPr id="4" name="Picture 3" descr="Diagram&#10;&#10;Description automatically generated">
            <a:extLst>
              <a:ext uri="{FF2B5EF4-FFF2-40B4-BE49-F238E27FC236}">
                <a16:creationId xmlns:a16="http://schemas.microsoft.com/office/drawing/2014/main" id="{A8C7CB19-892B-49FA-9807-BD8A7F7BED3D}"/>
              </a:ext>
            </a:extLst>
          </p:cNvPr>
          <p:cNvPicPr>
            <a:picLocks noChangeAspect="1"/>
          </p:cNvPicPr>
          <p:nvPr/>
        </p:nvPicPr>
        <p:blipFill>
          <a:blip r:embed="rId4"/>
          <a:stretch>
            <a:fillRect/>
          </a:stretch>
        </p:blipFill>
        <p:spPr>
          <a:xfrm>
            <a:off x="993932" y="2179946"/>
            <a:ext cx="5899081" cy="2587317"/>
          </a:xfrm>
          <a:prstGeom prst="rect">
            <a:avLst/>
          </a:prstGeom>
        </p:spPr>
      </p:pic>
      <p:sp>
        <p:nvSpPr>
          <p:cNvPr id="13" name="TextBox 12">
            <a:extLst>
              <a:ext uri="{FF2B5EF4-FFF2-40B4-BE49-F238E27FC236}">
                <a16:creationId xmlns:a16="http://schemas.microsoft.com/office/drawing/2014/main" id="{051EB918-AE8D-4F81-81F9-CB3842DFE057}"/>
              </a:ext>
            </a:extLst>
          </p:cNvPr>
          <p:cNvSpPr txBox="1"/>
          <p:nvPr/>
        </p:nvSpPr>
        <p:spPr>
          <a:xfrm>
            <a:off x="7013758" y="4439656"/>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sp>
        <p:nvSpPr>
          <p:cNvPr id="38" name="SMARTInkShape-272"/>
          <p:cNvSpPr/>
          <p:nvPr>
            <p:custDataLst>
              <p:tags r:id="rId1"/>
            </p:custDataLst>
          </p:nvPr>
        </p:nvSpPr>
        <p:spPr>
          <a:xfrm>
            <a:off x="5835015" y="4703445"/>
            <a:ext cx="11431" cy="5716"/>
          </a:xfrm>
          <a:custGeom>
            <a:avLst/>
            <a:gdLst/>
            <a:ahLst/>
            <a:cxnLst/>
            <a:rect l="0" t="0" r="0" b="0"/>
            <a:pathLst>
              <a:path w="11431" h="5716">
                <a:moveTo>
                  <a:pt x="11430" y="5715"/>
                </a:moveTo>
                <a:lnTo>
                  <a:pt x="11430" y="5715"/>
                </a:lnTo>
                <a:lnTo>
                  <a:pt x="0" y="0"/>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415298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oogle Shape;154;p19" descr="Drone image">
            <a:extLst>
              <a:ext uri="{FF2B5EF4-FFF2-40B4-BE49-F238E27FC236}">
                <a16:creationId xmlns:a16="http://schemas.microsoft.com/office/drawing/2014/main" id="{B39AB3A3-96DC-4EE1-872E-69762A23DAF5}"/>
              </a:ext>
            </a:extLst>
          </p:cNvPr>
          <p:cNvPicPr preferRelativeResize="0"/>
          <p:nvPr/>
        </p:nvPicPr>
        <p:blipFill>
          <a:blip r:embed="rId4">
            <a:alphaModFix/>
          </a:blip>
          <a:stretch>
            <a:fillRect/>
          </a:stretch>
        </p:blipFill>
        <p:spPr>
          <a:xfrm>
            <a:off x="5312034" y="1993199"/>
            <a:ext cx="2376313" cy="3074324"/>
          </a:xfrm>
          <a:prstGeom prst="rect">
            <a:avLst/>
          </a:prstGeom>
          <a:noFill/>
          <a:ln>
            <a:noFill/>
          </a:ln>
        </p:spPr>
      </p:pic>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TextBox 6"/>
          <p:cNvSpPr txBox="1"/>
          <p:nvPr/>
        </p:nvSpPr>
        <p:spPr>
          <a:xfrm>
            <a:off x="125567" y="970086"/>
            <a:ext cx="7885984" cy="923330"/>
          </a:xfrm>
          <a:prstGeom prst="rect">
            <a:avLst/>
          </a:prstGeom>
          <a:noFill/>
        </p:spPr>
        <p:txBody>
          <a:bodyPr wrap="square" rtlCol="0">
            <a:spAutoFit/>
          </a:bodyPr>
          <a:lstStyle/>
          <a:p>
            <a:pPr marL="457200" indent="-457200">
              <a:lnSpc>
                <a:spcPct val="90000"/>
              </a:lnSpc>
              <a:buFont typeface="Courier New" panose="02070309020205020404" pitchFamily="49" charset="0"/>
              <a:buChar char="o"/>
            </a:pPr>
            <a:r>
              <a:rPr lang="en-GB" sz="2000" dirty="0"/>
              <a:t>Used to register dataset to known location</a:t>
            </a:r>
          </a:p>
          <a:p>
            <a:pPr marL="457200" indent="-457200">
              <a:lnSpc>
                <a:spcPct val="90000"/>
              </a:lnSpc>
              <a:buFont typeface="Courier New" panose="02070309020205020404" pitchFamily="49" charset="0"/>
              <a:buChar char="o"/>
            </a:pPr>
            <a:r>
              <a:rPr lang="en-GB" sz="2000" dirty="0"/>
              <a:t>Used as reference and represent the same location in the data being referenced and reference data</a:t>
            </a:r>
          </a:p>
        </p:txBody>
      </p:sp>
      <p:sp>
        <p:nvSpPr>
          <p:cNvPr id="8" name="Title 1">
            <a:extLst>
              <a:ext uri="{FF2B5EF4-FFF2-40B4-BE49-F238E27FC236}">
                <a16:creationId xmlns:a16="http://schemas.microsoft.com/office/drawing/2014/main" id="{0AB5C014-9CF1-4EA9-9A30-5706FDA9C17F}"/>
              </a:ext>
            </a:extLst>
          </p:cNvPr>
          <p:cNvSpPr txBox="1">
            <a:spLocks/>
          </p:cNvSpPr>
          <p:nvPr/>
        </p:nvSpPr>
        <p:spPr>
          <a:xfrm>
            <a:off x="293461" y="15276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Control Points</a:t>
            </a:r>
          </a:p>
        </p:txBody>
      </p:sp>
      <p:cxnSp>
        <p:nvCxnSpPr>
          <p:cNvPr id="9" name="Straight Connector 8">
            <a:extLst>
              <a:ext uri="{FF2B5EF4-FFF2-40B4-BE49-F238E27FC236}">
                <a16:creationId xmlns:a16="http://schemas.microsoft.com/office/drawing/2014/main" id="{960D16BD-CA2C-4413-8D1A-DAE4EC1BBE9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637267BD-4512-475E-B308-DA9998B49C15}"/>
              </a:ext>
            </a:extLst>
          </p:cNvPr>
          <p:cNvSpPr>
            <a:spLocks noGrp="1"/>
          </p:cNvSpPr>
          <p:nvPr>
            <p:ph type="sldNum" sz="quarter" idx="12"/>
          </p:nvPr>
        </p:nvSpPr>
        <p:spPr/>
        <p:txBody>
          <a:bodyPr/>
          <a:lstStyle/>
          <a:p>
            <a:fld id="{127DDC20-79C9-9647-820E-6D40A3D210C3}" type="slidenum">
              <a:rPr lang="en-US" smtClean="0"/>
              <a:pPr/>
              <a:t>7</a:t>
            </a:fld>
            <a:endParaRPr lang="en-US"/>
          </a:p>
        </p:txBody>
      </p:sp>
      <p:sp>
        <p:nvSpPr>
          <p:cNvPr id="38" name="SMARTInkShape-272"/>
          <p:cNvSpPr/>
          <p:nvPr>
            <p:custDataLst>
              <p:tags r:id="rId1"/>
            </p:custDataLst>
          </p:nvPr>
        </p:nvSpPr>
        <p:spPr>
          <a:xfrm>
            <a:off x="5835015" y="4703445"/>
            <a:ext cx="11431" cy="5716"/>
          </a:xfrm>
          <a:custGeom>
            <a:avLst/>
            <a:gdLst/>
            <a:ahLst/>
            <a:cxnLst/>
            <a:rect l="0" t="0" r="0" b="0"/>
            <a:pathLst>
              <a:path w="11431" h="5716">
                <a:moveTo>
                  <a:pt x="11430" y="5715"/>
                </a:moveTo>
                <a:lnTo>
                  <a:pt x="11430" y="5715"/>
                </a:lnTo>
                <a:lnTo>
                  <a:pt x="0" y="0"/>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11" name="Google Shape;160;p20" descr="Drone">
            <a:extLst>
              <a:ext uri="{FF2B5EF4-FFF2-40B4-BE49-F238E27FC236}">
                <a16:creationId xmlns:a16="http://schemas.microsoft.com/office/drawing/2014/main" id="{1D87D8DC-B1EC-4DC2-A3BF-07C378C97493}"/>
              </a:ext>
            </a:extLst>
          </p:cNvPr>
          <p:cNvPicPr preferRelativeResize="0"/>
          <p:nvPr/>
        </p:nvPicPr>
        <p:blipFill rotWithShape="1">
          <a:blip r:embed="rId5">
            <a:alphaModFix/>
          </a:blip>
          <a:srcRect/>
          <a:stretch/>
        </p:blipFill>
        <p:spPr>
          <a:xfrm>
            <a:off x="2755864" y="1940592"/>
            <a:ext cx="2225268" cy="3104022"/>
          </a:xfrm>
          <a:prstGeom prst="rect">
            <a:avLst/>
          </a:prstGeom>
          <a:noFill/>
          <a:ln>
            <a:noFill/>
          </a:ln>
        </p:spPr>
      </p:pic>
      <p:pic>
        <p:nvPicPr>
          <p:cNvPr id="12" name="Google Shape;161;p20" descr="Control points">
            <a:extLst>
              <a:ext uri="{FF2B5EF4-FFF2-40B4-BE49-F238E27FC236}">
                <a16:creationId xmlns:a16="http://schemas.microsoft.com/office/drawing/2014/main" id="{2A646B00-92BD-497E-A7D3-A86E80F127AD}"/>
              </a:ext>
            </a:extLst>
          </p:cNvPr>
          <p:cNvPicPr preferRelativeResize="0"/>
          <p:nvPr/>
        </p:nvPicPr>
        <p:blipFill>
          <a:blip r:embed="rId6">
            <a:alphaModFix/>
          </a:blip>
          <a:stretch>
            <a:fillRect/>
          </a:stretch>
        </p:blipFill>
        <p:spPr>
          <a:xfrm>
            <a:off x="822519" y="1978350"/>
            <a:ext cx="1295501" cy="3104022"/>
          </a:xfrm>
          <a:prstGeom prst="rect">
            <a:avLst/>
          </a:prstGeom>
          <a:noFill/>
          <a:ln>
            <a:noFill/>
          </a:ln>
        </p:spPr>
      </p:pic>
    </p:spTree>
    <p:extLst>
      <p:ext uri="{BB962C8B-B14F-4D97-AF65-F5344CB8AC3E}">
        <p14:creationId xmlns:p14="http://schemas.microsoft.com/office/powerpoint/2010/main" val="275897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childTnLst>
                                </p:cTn>
                              </p:par>
                              <p:par>
                                <p:cTn id="13" presetID="10"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TextBox 6"/>
          <p:cNvSpPr txBox="1"/>
          <p:nvPr/>
        </p:nvSpPr>
        <p:spPr>
          <a:xfrm>
            <a:off x="125567" y="970086"/>
            <a:ext cx="7885984" cy="923330"/>
          </a:xfrm>
          <a:prstGeom prst="rect">
            <a:avLst/>
          </a:prstGeom>
          <a:noFill/>
        </p:spPr>
        <p:txBody>
          <a:bodyPr wrap="square" rtlCol="0">
            <a:spAutoFit/>
          </a:bodyPr>
          <a:lstStyle/>
          <a:p>
            <a:pPr marL="457200" indent="-457200">
              <a:lnSpc>
                <a:spcPct val="90000"/>
              </a:lnSpc>
              <a:buFont typeface="Courier New" panose="02070309020205020404" pitchFamily="49" charset="0"/>
              <a:buChar char="o"/>
            </a:pPr>
            <a:r>
              <a:rPr lang="en-GB" sz="2000" dirty="0"/>
              <a:t>Used to register dataset to known location</a:t>
            </a:r>
          </a:p>
          <a:p>
            <a:pPr marL="457200" indent="-457200">
              <a:lnSpc>
                <a:spcPct val="90000"/>
              </a:lnSpc>
              <a:buFont typeface="Courier New" panose="02070309020205020404" pitchFamily="49" charset="0"/>
              <a:buChar char="o"/>
            </a:pPr>
            <a:r>
              <a:rPr lang="en-GB" sz="2000" dirty="0"/>
              <a:t>Used as reference and represent the same location in the data being referenced in reference data</a:t>
            </a:r>
          </a:p>
        </p:txBody>
      </p:sp>
      <p:sp>
        <p:nvSpPr>
          <p:cNvPr id="8" name="Title 1">
            <a:extLst>
              <a:ext uri="{FF2B5EF4-FFF2-40B4-BE49-F238E27FC236}">
                <a16:creationId xmlns:a16="http://schemas.microsoft.com/office/drawing/2014/main" id="{0AB5C014-9CF1-4EA9-9A30-5706FDA9C17F}"/>
              </a:ext>
            </a:extLst>
          </p:cNvPr>
          <p:cNvSpPr txBox="1">
            <a:spLocks/>
          </p:cNvSpPr>
          <p:nvPr/>
        </p:nvSpPr>
        <p:spPr>
          <a:xfrm>
            <a:off x="218049" y="18362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Control Points</a:t>
            </a:r>
          </a:p>
        </p:txBody>
      </p:sp>
      <p:cxnSp>
        <p:nvCxnSpPr>
          <p:cNvPr id="9" name="Straight Connector 8">
            <a:extLst>
              <a:ext uri="{FF2B5EF4-FFF2-40B4-BE49-F238E27FC236}">
                <a16:creationId xmlns:a16="http://schemas.microsoft.com/office/drawing/2014/main" id="{960D16BD-CA2C-4413-8D1A-DAE4EC1BBE9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2" name="Picture 11" descr="Image showing georeferenced image">
            <a:extLst>
              <a:ext uri="{FF2B5EF4-FFF2-40B4-BE49-F238E27FC236}">
                <a16:creationId xmlns:a16="http://schemas.microsoft.com/office/drawing/2014/main" id="{5D7E9812-1D80-434D-8388-835D8BDBBCDD}"/>
              </a:ext>
            </a:extLst>
          </p:cNvPr>
          <p:cNvPicPr/>
          <p:nvPr/>
        </p:nvPicPr>
        <p:blipFill>
          <a:blip r:embed="rId9"/>
          <a:stretch>
            <a:fillRect/>
          </a:stretch>
        </p:blipFill>
        <p:spPr>
          <a:xfrm>
            <a:off x="4213903" y="1842875"/>
            <a:ext cx="3071989" cy="1743382"/>
          </a:xfrm>
          <a:prstGeom prst="rect">
            <a:avLst/>
          </a:prstGeom>
        </p:spPr>
      </p:pic>
      <p:pic>
        <p:nvPicPr>
          <p:cNvPr id="14" name="Picture 13" descr="Image showing control points attribute table">
            <a:extLst>
              <a:ext uri="{FF2B5EF4-FFF2-40B4-BE49-F238E27FC236}">
                <a16:creationId xmlns:a16="http://schemas.microsoft.com/office/drawing/2014/main" id="{65D243B3-8BB7-4922-8BB3-7C3A6507AA7D}"/>
              </a:ext>
            </a:extLst>
          </p:cNvPr>
          <p:cNvPicPr/>
          <p:nvPr/>
        </p:nvPicPr>
        <p:blipFill>
          <a:blip r:embed="rId10"/>
          <a:stretch>
            <a:fillRect/>
          </a:stretch>
        </p:blipFill>
        <p:spPr>
          <a:xfrm>
            <a:off x="706988" y="3662425"/>
            <a:ext cx="5996940" cy="1415415"/>
          </a:xfrm>
          <a:prstGeom prst="rect">
            <a:avLst/>
          </a:prstGeom>
        </p:spPr>
      </p:pic>
      <p:sp>
        <p:nvSpPr>
          <p:cNvPr id="2" name="Slide Number Placeholder 1">
            <a:extLst>
              <a:ext uri="{FF2B5EF4-FFF2-40B4-BE49-F238E27FC236}">
                <a16:creationId xmlns:a16="http://schemas.microsoft.com/office/drawing/2014/main" id="{637267BD-4512-475E-B308-DA9998B49C15}"/>
              </a:ext>
            </a:extLst>
          </p:cNvPr>
          <p:cNvSpPr>
            <a:spLocks noGrp="1"/>
          </p:cNvSpPr>
          <p:nvPr>
            <p:ph type="sldNum" sz="quarter" idx="12"/>
          </p:nvPr>
        </p:nvSpPr>
        <p:spPr/>
        <p:txBody>
          <a:bodyPr/>
          <a:lstStyle/>
          <a:p>
            <a:fld id="{127DDC20-79C9-9647-820E-6D40A3D210C3}" type="slidenum">
              <a:rPr lang="en-US" smtClean="0"/>
              <a:pPr/>
              <a:t>8</a:t>
            </a:fld>
            <a:endParaRPr lang="en-US"/>
          </a:p>
        </p:txBody>
      </p:sp>
      <p:pic>
        <p:nvPicPr>
          <p:cNvPr id="10" name="Picture 9" descr="Image showing Georeference menu">
            <a:extLst>
              <a:ext uri="{FF2B5EF4-FFF2-40B4-BE49-F238E27FC236}">
                <a16:creationId xmlns:a16="http://schemas.microsoft.com/office/drawing/2014/main" id="{969B7439-D714-4413-9519-EEA1881F7711}"/>
              </a:ext>
            </a:extLst>
          </p:cNvPr>
          <p:cNvPicPr>
            <a:picLocks noChangeAspect="1"/>
          </p:cNvPicPr>
          <p:nvPr/>
        </p:nvPicPr>
        <p:blipFill>
          <a:blip r:embed="rId11"/>
          <a:stretch>
            <a:fillRect/>
          </a:stretch>
        </p:blipFill>
        <p:spPr>
          <a:xfrm>
            <a:off x="469363" y="2247724"/>
            <a:ext cx="3200086" cy="324025"/>
          </a:xfrm>
          <a:prstGeom prst="rect">
            <a:avLst/>
          </a:prstGeom>
        </p:spPr>
      </p:pic>
      <p:grpSp>
        <p:nvGrpSpPr>
          <p:cNvPr id="29" name="SMARTInkShape-Group218"/>
          <p:cNvGrpSpPr/>
          <p:nvPr/>
        </p:nvGrpSpPr>
        <p:grpSpPr>
          <a:xfrm>
            <a:off x="6840855" y="3183255"/>
            <a:ext cx="160021" cy="142876"/>
            <a:chOff x="6840855" y="3183255"/>
            <a:chExt cx="160021" cy="142876"/>
          </a:xfrm>
        </p:grpSpPr>
        <p:sp>
          <p:nvSpPr>
            <p:cNvPr id="27" name="SMARTInkShape-287"/>
            <p:cNvSpPr/>
            <p:nvPr>
              <p:custDataLst>
                <p:tags r:id="rId5"/>
              </p:custDataLst>
            </p:nvPr>
          </p:nvSpPr>
          <p:spPr>
            <a:xfrm>
              <a:off x="6846570" y="3200400"/>
              <a:ext cx="154306" cy="125731"/>
            </a:xfrm>
            <a:custGeom>
              <a:avLst/>
              <a:gdLst/>
              <a:ahLst/>
              <a:cxnLst/>
              <a:rect l="0" t="0" r="0" b="0"/>
              <a:pathLst>
                <a:path w="154306" h="125731">
                  <a:moveTo>
                    <a:pt x="0" y="0"/>
                  </a:moveTo>
                  <a:lnTo>
                    <a:pt x="0" y="0"/>
                  </a:lnTo>
                  <a:lnTo>
                    <a:pt x="27172" y="25478"/>
                  </a:lnTo>
                  <a:lnTo>
                    <a:pt x="51390" y="42876"/>
                  </a:lnTo>
                  <a:lnTo>
                    <a:pt x="79448" y="68401"/>
                  </a:lnTo>
                  <a:lnTo>
                    <a:pt x="107077" y="87207"/>
                  </a:lnTo>
                  <a:lnTo>
                    <a:pt x="135545" y="108878"/>
                  </a:lnTo>
                  <a:lnTo>
                    <a:pt x="154305" y="125730"/>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8" name="SMARTInkShape-288"/>
            <p:cNvSpPr/>
            <p:nvPr>
              <p:custDataLst>
                <p:tags r:id="rId6"/>
              </p:custDataLst>
            </p:nvPr>
          </p:nvSpPr>
          <p:spPr>
            <a:xfrm>
              <a:off x="6840855" y="3183255"/>
              <a:ext cx="80010" cy="131446"/>
            </a:xfrm>
            <a:custGeom>
              <a:avLst/>
              <a:gdLst/>
              <a:ahLst/>
              <a:cxnLst/>
              <a:rect l="0" t="0" r="0" b="0"/>
              <a:pathLst>
                <a:path w="80010" h="131446">
                  <a:moveTo>
                    <a:pt x="80009" y="0"/>
                  </a:moveTo>
                  <a:lnTo>
                    <a:pt x="80009" y="0"/>
                  </a:lnTo>
                  <a:lnTo>
                    <a:pt x="75089" y="4921"/>
                  </a:lnTo>
                  <a:lnTo>
                    <a:pt x="63884" y="28543"/>
                  </a:lnTo>
                  <a:lnTo>
                    <a:pt x="49141" y="52678"/>
                  </a:lnTo>
                  <a:lnTo>
                    <a:pt x="37421" y="79171"/>
                  </a:lnTo>
                  <a:lnTo>
                    <a:pt x="23025" y="105204"/>
                  </a:lnTo>
                  <a:lnTo>
                    <a:pt x="7349" y="128992"/>
                  </a:lnTo>
                  <a:lnTo>
                    <a:pt x="6170" y="129809"/>
                  </a:lnTo>
                  <a:lnTo>
                    <a:pt x="0" y="131445"/>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grpSp>
        <p:nvGrpSpPr>
          <p:cNvPr id="32" name="SMARTInkShape-Group219"/>
          <p:cNvGrpSpPr/>
          <p:nvPr/>
        </p:nvGrpSpPr>
        <p:grpSpPr>
          <a:xfrm>
            <a:off x="6749414" y="2634615"/>
            <a:ext cx="154307" cy="137161"/>
            <a:chOff x="6749414" y="2634615"/>
            <a:chExt cx="154307" cy="137161"/>
          </a:xfrm>
        </p:grpSpPr>
        <p:sp>
          <p:nvSpPr>
            <p:cNvPr id="30" name="SMARTInkShape-289"/>
            <p:cNvSpPr/>
            <p:nvPr>
              <p:custDataLst>
                <p:tags r:id="rId3"/>
              </p:custDataLst>
            </p:nvPr>
          </p:nvSpPr>
          <p:spPr>
            <a:xfrm>
              <a:off x="6749414" y="2651760"/>
              <a:ext cx="154307" cy="114301"/>
            </a:xfrm>
            <a:custGeom>
              <a:avLst/>
              <a:gdLst/>
              <a:ahLst/>
              <a:cxnLst/>
              <a:rect l="0" t="0" r="0" b="0"/>
              <a:pathLst>
                <a:path w="154307" h="114301">
                  <a:moveTo>
                    <a:pt x="0" y="0"/>
                  </a:moveTo>
                  <a:lnTo>
                    <a:pt x="0" y="0"/>
                  </a:lnTo>
                  <a:lnTo>
                    <a:pt x="26841" y="26840"/>
                  </a:lnTo>
                  <a:lnTo>
                    <a:pt x="52391" y="51120"/>
                  </a:lnTo>
                  <a:lnTo>
                    <a:pt x="79708" y="68701"/>
                  </a:lnTo>
                  <a:lnTo>
                    <a:pt x="103678" y="85250"/>
                  </a:lnTo>
                  <a:lnTo>
                    <a:pt x="131130" y="97847"/>
                  </a:lnTo>
                  <a:lnTo>
                    <a:pt x="154306" y="114300"/>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1" name="SMARTInkShape-290"/>
            <p:cNvSpPr/>
            <p:nvPr>
              <p:custDataLst>
                <p:tags r:id="rId4"/>
              </p:custDataLst>
            </p:nvPr>
          </p:nvSpPr>
          <p:spPr>
            <a:xfrm>
              <a:off x="6749414" y="2634615"/>
              <a:ext cx="57151" cy="137161"/>
            </a:xfrm>
            <a:custGeom>
              <a:avLst/>
              <a:gdLst/>
              <a:ahLst/>
              <a:cxnLst/>
              <a:rect l="0" t="0" r="0" b="0"/>
              <a:pathLst>
                <a:path w="57151" h="137161">
                  <a:moveTo>
                    <a:pt x="57150" y="0"/>
                  </a:moveTo>
                  <a:lnTo>
                    <a:pt x="57150" y="0"/>
                  </a:lnTo>
                  <a:lnTo>
                    <a:pt x="57150" y="14762"/>
                  </a:lnTo>
                  <a:lnTo>
                    <a:pt x="48402" y="41605"/>
                  </a:lnTo>
                  <a:lnTo>
                    <a:pt x="37356" y="69465"/>
                  </a:lnTo>
                  <a:lnTo>
                    <a:pt x="27648" y="93757"/>
                  </a:lnTo>
                  <a:lnTo>
                    <a:pt x="17630" y="118805"/>
                  </a:lnTo>
                  <a:lnTo>
                    <a:pt x="0" y="137160"/>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grpSp>
        <p:nvGrpSpPr>
          <p:cNvPr id="35" name="SMARTInkShape-Group220"/>
          <p:cNvGrpSpPr/>
          <p:nvPr/>
        </p:nvGrpSpPr>
        <p:grpSpPr>
          <a:xfrm>
            <a:off x="6275070" y="2966085"/>
            <a:ext cx="148591" cy="165736"/>
            <a:chOff x="6275070" y="2966085"/>
            <a:chExt cx="148591" cy="165736"/>
          </a:xfrm>
        </p:grpSpPr>
        <p:sp>
          <p:nvSpPr>
            <p:cNvPr id="33" name="SMARTInkShape-291"/>
            <p:cNvSpPr/>
            <p:nvPr>
              <p:custDataLst>
                <p:tags r:id="rId1"/>
              </p:custDataLst>
            </p:nvPr>
          </p:nvSpPr>
          <p:spPr>
            <a:xfrm>
              <a:off x="6297930" y="2971800"/>
              <a:ext cx="125731" cy="160021"/>
            </a:xfrm>
            <a:custGeom>
              <a:avLst/>
              <a:gdLst/>
              <a:ahLst/>
              <a:cxnLst/>
              <a:rect l="0" t="0" r="0" b="0"/>
              <a:pathLst>
                <a:path w="125731" h="160021">
                  <a:moveTo>
                    <a:pt x="0" y="0"/>
                  </a:moveTo>
                  <a:lnTo>
                    <a:pt x="0" y="0"/>
                  </a:lnTo>
                  <a:lnTo>
                    <a:pt x="0" y="9841"/>
                  </a:lnTo>
                  <a:lnTo>
                    <a:pt x="4921" y="26052"/>
                  </a:lnTo>
                  <a:lnTo>
                    <a:pt x="17944" y="45888"/>
                  </a:lnTo>
                  <a:lnTo>
                    <a:pt x="42642" y="74226"/>
                  </a:lnTo>
                  <a:lnTo>
                    <a:pt x="65968" y="100187"/>
                  </a:lnTo>
                  <a:lnTo>
                    <a:pt x="91074" y="125995"/>
                  </a:lnTo>
                  <a:lnTo>
                    <a:pt x="108701" y="147542"/>
                  </a:lnTo>
                  <a:lnTo>
                    <a:pt x="125730" y="160020"/>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4" name="SMARTInkShape-292"/>
            <p:cNvSpPr/>
            <p:nvPr>
              <p:custDataLst>
                <p:tags r:id="rId2"/>
              </p:custDataLst>
            </p:nvPr>
          </p:nvSpPr>
          <p:spPr>
            <a:xfrm>
              <a:off x="6275070" y="2966085"/>
              <a:ext cx="85726" cy="137161"/>
            </a:xfrm>
            <a:custGeom>
              <a:avLst/>
              <a:gdLst/>
              <a:ahLst/>
              <a:cxnLst/>
              <a:rect l="0" t="0" r="0" b="0"/>
              <a:pathLst>
                <a:path w="85726" h="137161">
                  <a:moveTo>
                    <a:pt x="85725" y="0"/>
                  </a:moveTo>
                  <a:lnTo>
                    <a:pt x="85725" y="0"/>
                  </a:lnTo>
                  <a:lnTo>
                    <a:pt x="80804" y="4920"/>
                  </a:lnTo>
                  <a:lnTo>
                    <a:pt x="68483" y="31235"/>
                  </a:lnTo>
                  <a:lnTo>
                    <a:pt x="48249" y="59459"/>
                  </a:lnTo>
                  <a:lnTo>
                    <a:pt x="33592" y="85312"/>
                  </a:lnTo>
                  <a:lnTo>
                    <a:pt x="17368" y="102634"/>
                  </a:lnTo>
                  <a:lnTo>
                    <a:pt x="11451" y="119952"/>
                  </a:lnTo>
                  <a:lnTo>
                    <a:pt x="0" y="137160"/>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8448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TextBox 6"/>
          <p:cNvSpPr txBox="1"/>
          <p:nvPr/>
        </p:nvSpPr>
        <p:spPr>
          <a:xfrm>
            <a:off x="63126" y="1017263"/>
            <a:ext cx="6015702" cy="4404283"/>
          </a:xfrm>
          <a:prstGeom prst="rect">
            <a:avLst/>
          </a:prstGeom>
          <a:noFill/>
        </p:spPr>
        <p:txBody>
          <a:bodyPr wrap="square" rtlCol="0">
            <a:spAutoFit/>
          </a:bodyPr>
          <a:lstStyle/>
          <a:p>
            <a:pPr marL="342900" indent="-342900">
              <a:buFont typeface="Courier New" panose="02070309020205020404" pitchFamily="49" charset="0"/>
              <a:buChar char="o"/>
            </a:pPr>
            <a:r>
              <a:rPr lang="en-US" sz="2400" dirty="0"/>
              <a:t>Criteria for control points:</a:t>
            </a:r>
          </a:p>
          <a:p>
            <a:pPr marL="800100" lvl="1" indent="-342900">
              <a:buFont typeface="Wingdings" panose="05000000000000000000" pitchFamily="2" charset="2"/>
              <a:buChar char="ü"/>
            </a:pPr>
            <a:r>
              <a:rPr lang="en-US" sz="2400" dirty="0"/>
              <a:t>Spread evenly around study area</a:t>
            </a:r>
          </a:p>
          <a:p>
            <a:pPr marL="800100" lvl="1" indent="-342900">
              <a:buFont typeface="Wingdings" panose="05000000000000000000" pitchFamily="2" charset="2"/>
              <a:buChar char="ü"/>
            </a:pPr>
            <a:r>
              <a:rPr lang="en-US" sz="2400" dirty="0"/>
              <a:t>Enough points to use the algorithm of choice</a:t>
            </a:r>
          </a:p>
          <a:p>
            <a:pPr marL="800100" lvl="1" indent="-342900">
              <a:buFont typeface="Wingdings" panose="05000000000000000000" pitchFamily="2" charset="2"/>
              <a:buChar char="ü"/>
            </a:pPr>
            <a:r>
              <a:rPr lang="en-US" sz="2400" dirty="0"/>
              <a:t>Use highest accuracy dataset possible</a:t>
            </a:r>
          </a:p>
          <a:p>
            <a:pPr marL="800100" lvl="1" indent="-342900">
              <a:buFont typeface="Wingdings" panose="05000000000000000000" pitchFamily="2" charset="2"/>
              <a:buChar char="ü"/>
            </a:pPr>
            <a:r>
              <a:rPr lang="en-US" sz="2400" dirty="0"/>
              <a:t>Use locations identifiable on both datasets (known &amp; unknown)</a:t>
            </a:r>
          </a:p>
          <a:p>
            <a:pPr lvl="1"/>
            <a:r>
              <a:rPr lang="en-US" sz="2400" b="1" dirty="0">
                <a:solidFill>
                  <a:srgbClr val="E3874F"/>
                </a:solidFill>
              </a:rPr>
              <a:t>From Point: </a:t>
            </a:r>
            <a:r>
              <a:rPr lang="en-US" sz="2400" dirty="0"/>
              <a:t>location on the data being referenced</a:t>
            </a:r>
          </a:p>
          <a:p>
            <a:pPr lvl="1"/>
            <a:r>
              <a:rPr lang="en-US" sz="2400" b="1" dirty="0">
                <a:solidFill>
                  <a:srgbClr val="E3874F"/>
                </a:solidFill>
              </a:rPr>
              <a:t>To Point: </a:t>
            </a:r>
            <a:r>
              <a:rPr lang="en-US" sz="2400" dirty="0"/>
              <a:t>same location on the reference data</a:t>
            </a:r>
          </a:p>
          <a:p>
            <a:endParaRPr lang="en-US" sz="1620" dirty="0"/>
          </a:p>
        </p:txBody>
      </p:sp>
      <p:pic>
        <p:nvPicPr>
          <p:cNvPr id="8" name="Picture 7" descr="Image showing control points"/>
          <p:cNvPicPr/>
          <p:nvPr/>
        </p:nvPicPr>
        <p:blipFill>
          <a:blip r:embed="rId5"/>
          <a:stretch>
            <a:fillRect/>
          </a:stretch>
        </p:blipFill>
        <p:spPr>
          <a:xfrm>
            <a:off x="6214244" y="1474233"/>
            <a:ext cx="1696082" cy="1448272"/>
          </a:xfrm>
          <a:prstGeom prst="rect">
            <a:avLst/>
          </a:prstGeom>
        </p:spPr>
      </p:pic>
      <p:pic>
        <p:nvPicPr>
          <p:cNvPr id="9" name="Picture 8" descr="Image showing control points"/>
          <p:cNvPicPr/>
          <p:nvPr/>
        </p:nvPicPr>
        <p:blipFill>
          <a:blip r:embed="rId6"/>
          <a:stretch>
            <a:fillRect/>
          </a:stretch>
        </p:blipFill>
        <p:spPr>
          <a:xfrm>
            <a:off x="6242970" y="3120455"/>
            <a:ext cx="1667357" cy="1418690"/>
          </a:xfrm>
          <a:prstGeom prst="rect">
            <a:avLst/>
          </a:prstGeom>
        </p:spPr>
      </p:pic>
      <p:sp>
        <p:nvSpPr>
          <p:cNvPr id="10" name="Title 1">
            <a:extLst>
              <a:ext uri="{FF2B5EF4-FFF2-40B4-BE49-F238E27FC236}">
                <a16:creationId xmlns:a16="http://schemas.microsoft.com/office/drawing/2014/main" id="{58BC8BA3-F3B0-4D60-A04B-6F5ADF7A4C61}"/>
              </a:ext>
            </a:extLst>
          </p:cNvPr>
          <p:cNvSpPr txBox="1">
            <a:spLocks/>
          </p:cNvSpPr>
          <p:nvPr/>
        </p:nvSpPr>
        <p:spPr>
          <a:xfrm>
            <a:off x="285510" y="17594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Control Points</a:t>
            </a:r>
          </a:p>
        </p:txBody>
      </p:sp>
      <p:cxnSp>
        <p:nvCxnSpPr>
          <p:cNvPr id="11" name="Straight Connector 10">
            <a:extLst>
              <a:ext uri="{FF2B5EF4-FFF2-40B4-BE49-F238E27FC236}">
                <a16:creationId xmlns:a16="http://schemas.microsoft.com/office/drawing/2014/main" id="{47FD1646-5499-41F1-82A9-972364673648}"/>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1102526B-9A79-4AD6-B19F-3B4EE1BE6F34}"/>
              </a:ext>
            </a:extLst>
          </p:cNvPr>
          <p:cNvSpPr>
            <a:spLocks noGrp="1"/>
          </p:cNvSpPr>
          <p:nvPr>
            <p:ph type="sldNum" sz="quarter" idx="12"/>
          </p:nvPr>
        </p:nvSpPr>
        <p:spPr/>
        <p:txBody>
          <a:bodyPr/>
          <a:lstStyle/>
          <a:p>
            <a:fld id="{127DDC20-79C9-9647-820E-6D40A3D210C3}" type="slidenum">
              <a:rPr lang="en-US" smtClean="0"/>
              <a:pPr/>
              <a:t>9</a:t>
            </a:fld>
            <a:endParaRPr lang="en-US"/>
          </a:p>
        </p:txBody>
      </p:sp>
      <p:sp>
        <p:nvSpPr>
          <p:cNvPr id="23" name="SMARTInkShape-311"/>
          <p:cNvSpPr/>
          <p:nvPr>
            <p:custDataLst>
              <p:tags r:id="rId1"/>
            </p:custDataLst>
          </p:nvPr>
        </p:nvSpPr>
        <p:spPr>
          <a:xfrm>
            <a:off x="7195186" y="1943106"/>
            <a:ext cx="45423" cy="51406"/>
          </a:xfrm>
          <a:custGeom>
            <a:avLst/>
            <a:gdLst/>
            <a:ahLst/>
            <a:cxnLst/>
            <a:rect l="0" t="0" r="0" b="0"/>
            <a:pathLst>
              <a:path w="45423" h="51406">
                <a:moveTo>
                  <a:pt x="11428" y="5709"/>
                </a:moveTo>
                <a:lnTo>
                  <a:pt x="11428" y="5709"/>
                </a:lnTo>
                <a:lnTo>
                  <a:pt x="11428" y="22854"/>
                </a:lnTo>
                <a:lnTo>
                  <a:pt x="11428" y="17139"/>
                </a:lnTo>
                <a:lnTo>
                  <a:pt x="138" y="22784"/>
                </a:lnTo>
                <a:lnTo>
                  <a:pt x="0" y="34242"/>
                </a:lnTo>
                <a:lnTo>
                  <a:pt x="4920" y="44122"/>
                </a:lnTo>
                <a:lnTo>
                  <a:pt x="17101" y="51405"/>
                </a:lnTo>
                <a:lnTo>
                  <a:pt x="22852" y="45720"/>
                </a:lnTo>
                <a:lnTo>
                  <a:pt x="28553" y="28631"/>
                </a:lnTo>
                <a:lnTo>
                  <a:pt x="28572" y="18733"/>
                </a:lnTo>
                <a:lnTo>
                  <a:pt x="22880" y="5754"/>
                </a:lnTo>
                <a:lnTo>
                  <a:pt x="17150" y="0"/>
                </a:lnTo>
                <a:lnTo>
                  <a:pt x="5854" y="5639"/>
                </a:lnTo>
                <a:lnTo>
                  <a:pt x="69" y="16999"/>
                </a:lnTo>
                <a:lnTo>
                  <a:pt x="11191" y="39525"/>
                </a:lnTo>
                <a:lnTo>
                  <a:pt x="22846" y="45708"/>
                </a:lnTo>
                <a:lnTo>
                  <a:pt x="37620" y="35872"/>
                </a:lnTo>
                <a:lnTo>
                  <a:pt x="45422" y="23366"/>
                </a:lnTo>
                <a:lnTo>
                  <a:pt x="40772" y="13058"/>
                </a:lnTo>
                <a:lnTo>
                  <a:pt x="30230" y="6647"/>
                </a:lnTo>
                <a:lnTo>
                  <a:pt x="29043" y="6969"/>
                </a:lnTo>
                <a:lnTo>
                  <a:pt x="22859" y="11424"/>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6" name="SMARTInkShape-314"/>
          <p:cNvSpPr/>
          <p:nvPr>
            <p:custDataLst>
              <p:tags r:id="rId2"/>
            </p:custDataLst>
          </p:nvPr>
        </p:nvSpPr>
        <p:spPr>
          <a:xfrm>
            <a:off x="6875145" y="3554730"/>
            <a:ext cx="17140" cy="11431"/>
          </a:xfrm>
          <a:custGeom>
            <a:avLst/>
            <a:gdLst/>
            <a:ahLst/>
            <a:cxnLst/>
            <a:rect l="0" t="0" r="0" b="0"/>
            <a:pathLst>
              <a:path w="17140" h="11431">
                <a:moveTo>
                  <a:pt x="0" y="11430"/>
                </a:moveTo>
                <a:lnTo>
                  <a:pt x="0" y="11430"/>
                </a:lnTo>
                <a:lnTo>
                  <a:pt x="5713" y="11430"/>
                </a:lnTo>
                <a:lnTo>
                  <a:pt x="17139" y="6"/>
                </a:lnTo>
                <a:lnTo>
                  <a:pt x="11430" y="0"/>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555925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TextBox 6"/>
          <p:cNvSpPr txBox="1"/>
          <p:nvPr/>
        </p:nvSpPr>
        <p:spPr>
          <a:xfrm>
            <a:off x="152400" y="1245921"/>
            <a:ext cx="7512339" cy="2342180"/>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In order to georeferenced data, it may need to be:</a:t>
            </a:r>
          </a:p>
          <a:p>
            <a:pPr marL="914400" lvl="1" indent="-457200">
              <a:buFont typeface="Wingdings" panose="05000000000000000000" pitchFamily="2" charset="2"/>
              <a:buChar char="ü"/>
            </a:pPr>
            <a:r>
              <a:rPr lang="en-US" sz="2600" dirty="0"/>
              <a:t>Translate</a:t>
            </a:r>
          </a:p>
          <a:p>
            <a:pPr marL="914400" lvl="1" indent="-457200">
              <a:buFont typeface="Wingdings" panose="05000000000000000000" pitchFamily="2" charset="2"/>
              <a:buChar char="ü"/>
            </a:pPr>
            <a:r>
              <a:rPr lang="en-US" sz="2600" dirty="0"/>
              <a:t>Scale</a:t>
            </a:r>
          </a:p>
          <a:p>
            <a:pPr marL="914400" lvl="1" indent="-457200">
              <a:buFont typeface="Wingdings" panose="05000000000000000000" pitchFamily="2" charset="2"/>
              <a:buChar char="ü"/>
            </a:pPr>
            <a:r>
              <a:rPr lang="en-US" sz="2600" dirty="0"/>
              <a:t>Rotate</a:t>
            </a:r>
          </a:p>
          <a:p>
            <a:pPr marL="914400" lvl="1" indent="-457200">
              <a:buFont typeface="Wingdings" panose="05000000000000000000" pitchFamily="2" charset="2"/>
              <a:buChar char="ü"/>
            </a:pPr>
            <a:r>
              <a:rPr lang="en-US" sz="2600" dirty="0"/>
              <a:t>Skew</a:t>
            </a:r>
          </a:p>
          <a:p>
            <a:endParaRPr lang="en-US" sz="1620" dirty="0"/>
          </a:p>
        </p:txBody>
      </p:sp>
      <p:sp>
        <p:nvSpPr>
          <p:cNvPr id="2" name="TextBox 1"/>
          <p:cNvSpPr txBox="1"/>
          <p:nvPr/>
        </p:nvSpPr>
        <p:spPr>
          <a:xfrm>
            <a:off x="118533" y="4571762"/>
            <a:ext cx="4679101" cy="316690"/>
          </a:xfrm>
          <a:prstGeom prst="rect">
            <a:avLst/>
          </a:prstGeom>
          <a:noFill/>
        </p:spPr>
        <p:txBody>
          <a:bodyPr wrap="square" rtlCol="0">
            <a:spAutoFit/>
          </a:bodyPr>
          <a:lstStyle/>
          <a:p>
            <a:pPr>
              <a:lnSpc>
                <a:spcPct val="90000"/>
              </a:lnSpc>
            </a:pPr>
            <a:r>
              <a:rPr lang="en-US" sz="1620" dirty="0"/>
              <a:t>These transformations are applied mathematically.</a:t>
            </a:r>
          </a:p>
        </p:txBody>
      </p:sp>
      <p:pic>
        <p:nvPicPr>
          <p:cNvPr id="8" name="Picture 7" descr="Image showing transforming types"/>
          <p:cNvPicPr/>
          <p:nvPr/>
        </p:nvPicPr>
        <p:blipFill>
          <a:blip r:embed="rId3"/>
          <a:stretch>
            <a:fillRect/>
          </a:stretch>
        </p:blipFill>
        <p:spPr>
          <a:xfrm>
            <a:off x="4679101" y="1993560"/>
            <a:ext cx="2985638" cy="2435009"/>
          </a:xfrm>
          <a:prstGeom prst="rect">
            <a:avLst/>
          </a:prstGeom>
        </p:spPr>
      </p:pic>
      <p:sp>
        <p:nvSpPr>
          <p:cNvPr id="9" name="Title 1">
            <a:extLst>
              <a:ext uri="{FF2B5EF4-FFF2-40B4-BE49-F238E27FC236}">
                <a16:creationId xmlns:a16="http://schemas.microsoft.com/office/drawing/2014/main" id="{1CDC10A1-1EF3-4123-A78E-24C8C20F8636}"/>
              </a:ext>
            </a:extLst>
          </p:cNvPr>
          <p:cNvSpPr txBox="1">
            <a:spLocks/>
          </p:cNvSpPr>
          <p:nvPr/>
        </p:nvSpPr>
        <p:spPr>
          <a:xfrm>
            <a:off x="213949" y="22488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Transforming the Data</a:t>
            </a:r>
          </a:p>
        </p:txBody>
      </p:sp>
      <p:cxnSp>
        <p:nvCxnSpPr>
          <p:cNvPr id="10" name="Straight Connector 9">
            <a:extLst>
              <a:ext uri="{FF2B5EF4-FFF2-40B4-BE49-F238E27FC236}">
                <a16:creationId xmlns:a16="http://schemas.microsoft.com/office/drawing/2014/main" id="{4CF95822-6CF3-4E60-9D76-46D90DBF6024}"/>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CA9265BF-1A98-45D2-9D79-3811EEEE2AA4}"/>
              </a:ext>
            </a:extLst>
          </p:cNvPr>
          <p:cNvSpPr>
            <a:spLocks noGrp="1"/>
          </p:cNvSpPr>
          <p:nvPr>
            <p:ph type="sldNum" sz="quarter" idx="12"/>
          </p:nvPr>
        </p:nvSpPr>
        <p:spPr/>
        <p:txBody>
          <a:bodyPr/>
          <a:lstStyle/>
          <a:p>
            <a:fld id="{127DDC20-79C9-9647-820E-6D40A3D210C3}" type="slidenum">
              <a:rPr lang="en-US" smtClean="0"/>
              <a:pPr/>
              <a:t>10</a:t>
            </a:fld>
            <a:endParaRPr lang="en-US"/>
          </a:p>
        </p:txBody>
      </p:sp>
    </p:spTree>
    <p:extLst>
      <p:ext uri="{BB962C8B-B14F-4D97-AF65-F5344CB8AC3E}">
        <p14:creationId xmlns:p14="http://schemas.microsoft.com/office/powerpoint/2010/main" val="3177031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0203" y="1289622"/>
            <a:ext cx="6311445" cy="2881110"/>
          </a:xfrm>
        </p:spPr>
        <p:txBody>
          <a:bodyPr>
            <a:noAutofit/>
          </a:bodyPr>
          <a:lstStyle/>
          <a:p>
            <a:pPr marL="308701" indent="-308701">
              <a:buFont typeface="+mj-lt"/>
              <a:buAutoNum type="arabicPeriod"/>
            </a:pPr>
            <a:r>
              <a:rPr lang="en-US" sz="1800" b="1" dirty="0">
                <a:solidFill>
                  <a:srgbClr val="E3874F"/>
                </a:solidFill>
              </a:rPr>
              <a:t>Zero-Order Polynomial </a:t>
            </a:r>
            <a:r>
              <a:rPr lang="en-US" sz="1800" dirty="0"/>
              <a:t>= just translate the data (need 1 control point)</a:t>
            </a:r>
          </a:p>
          <a:p>
            <a:pPr marL="308701" indent="-308701">
              <a:buFont typeface="+mj-lt"/>
              <a:buAutoNum type="arabicPeriod"/>
            </a:pPr>
            <a:r>
              <a:rPr lang="en-US" sz="1800" b="1" dirty="0">
                <a:solidFill>
                  <a:srgbClr val="E3874F"/>
                </a:solidFill>
              </a:rPr>
              <a:t>First-Order Polynomial (Affine) </a:t>
            </a:r>
            <a:r>
              <a:rPr lang="en-US" sz="1800" dirty="0"/>
              <a:t>= translate, scale, and rotate (need 3 control points)</a:t>
            </a:r>
          </a:p>
          <a:p>
            <a:pPr marL="308701" indent="-308701">
              <a:buFont typeface="+mj-lt"/>
              <a:buAutoNum type="arabicPeriod"/>
            </a:pPr>
            <a:r>
              <a:rPr lang="en-US" sz="1800" b="1" dirty="0">
                <a:solidFill>
                  <a:srgbClr val="E3874F"/>
                </a:solidFill>
              </a:rPr>
              <a:t>Higher Order </a:t>
            </a:r>
            <a:r>
              <a:rPr lang="en-US" sz="1800" dirty="0"/>
              <a:t>= more complex distortions can be corrected</a:t>
            </a:r>
          </a:p>
          <a:p>
            <a:pPr lvl="1"/>
            <a:r>
              <a:rPr lang="en-US" sz="1800" dirty="0"/>
              <a:t>Rarely use higher than third order</a:t>
            </a:r>
          </a:p>
          <a:p>
            <a:pPr lvl="1"/>
            <a:r>
              <a:rPr lang="en-US" sz="1800" dirty="0"/>
              <a:t>Need more control points</a:t>
            </a:r>
          </a:p>
          <a:p>
            <a:pPr lvl="1"/>
            <a:r>
              <a:rPr lang="en-US" sz="1800" dirty="0"/>
              <a:t>If raster dataset must be bent or curved, use a second- or third-order transformation</a:t>
            </a:r>
          </a:p>
        </p:txBody>
      </p:sp>
      <p:sp>
        <p:nvSpPr>
          <p:cNvPr id="2" name="Slide Number Placeholder 1">
            <a:extLst>
              <a:ext uri="{FF2B5EF4-FFF2-40B4-BE49-F238E27FC236}">
                <a16:creationId xmlns:a16="http://schemas.microsoft.com/office/drawing/2014/main" id="{3C3DCD80-F686-4F4D-9C26-19794B8FF364}"/>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5" name="Picture 4" descr="Image showing tranformation method"/>
          <p:cNvPicPr/>
          <p:nvPr/>
        </p:nvPicPr>
        <p:blipFill>
          <a:blip r:embed="rId3"/>
          <a:stretch>
            <a:fillRect/>
          </a:stretch>
        </p:blipFill>
        <p:spPr>
          <a:xfrm>
            <a:off x="6627683" y="1289622"/>
            <a:ext cx="1481714" cy="2296313"/>
          </a:xfrm>
          <a:prstGeom prst="rect">
            <a:avLst/>
          </a:prstGeom>
        </p:spPr>
      </p:pic>
      <p:sp>
        <p:nvSpPr>
          <p:cNvPr id="6" name="Title 1">
            <a:extLst>
              <a:ext uri="{FF2B5EF4-FFF2-40B4-BE49-F238E27FC236}">
                <a16:creationId xmlns:a16="http://schemas.microsoft.com/office/drawing/2014/main" id="{BCE99E16-3C13-466B-AEF9-0F5550D0F6D6}"/>
              </a:ext>
            </a:extLst>
          </p:cNvPr>
          <p:cNvSpPr txBox="1">
            <a:spLocks/>
          </p:cNvSpPr>
          <p:nvPr/>
        </p:nvSpPr>
        <p:spPr>
          <a:xfrm>
            <a:off x="213949" y="24499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Transformation Method</a:t>
            </a:r>
          </a:p>
        </p:txBody>
      </p:sp>
      <p:cxnSp>
        <p:nvCxnSpPr>
          <p:cNvPr id="7" name="Straight Connector 6">
            <a:extLst>
              <a:ext uri="{FF2B5EF4-FFF2-40B4-BE49-F238E27FC236}">
                <a16:creationId xmlns:a16="http://schemas.microsoft.com/office/drawing/2014/main" id="{30094B42-DC5E-43E7-B78B-9D0FFCBCAC4F}"/>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5435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58197"/>
            <a:ext cx="7406640" cy="857250"/>
          </a:xfrm>
        </p:spPr>
        <p:txBody>
          <a:bodyPr/>
          <a:lstStyle/>
          <a:p>
            <a:r>
              <a:rPr lang="en-US" dirty="0"/>
              <a:t>First-Order Polynomial (Affine)</a:t>
            </a:r>
          </a:p>
        </p:txBody>
      </p:sp>
      <p:sp>
        <p:nvSpPr>
          <p:cNvPr id="3" name="Slide Number Placeholder 2">
            <a:extLst>
              <a:ext uri="{FF2B5EF4-FFF2-40B4-BE49-F238E27FC236}">
                <a16:creationId xmlns:a16="http://schemas.microsoft.com/office/drawing/2014/main" id="{6F22A782-B8A6-4BBC-9E92-B843DC193FF3}"/>
              </a:ext>
            </a:extLst>
          </p:cNvPr>
          <p:cNvSpPr>
            <a:spLocks noGrp="1"/>
          </p:cNvSpPr>
          <p:nvPr>
            <p:ph type="sldNum" sz="quarter" idx="12"/>
          </p:nvPr>
        </p:nvSpPr>
        <p:spPr/>
        <p:txBody>
          <a:bodyPr/>
          <a:lstStyle/>
          <a:p>
            <a:fld id="{127DDC20-79C9-9647-820E-6D40A3D210C3}" type="slidenum">
              <a:rPr lang="en-US" smtClean="0"/>
              <a:pPr/>
              <a:t>12</a:t>
            </a:fld>
            <a:endParaRPr lang="en-US"/>
          </a:p>
        </p:txBody>
      </p:sp>
      <p:sp>
        <p:nvSpPr>
          <p:cNvPr id="18" name="Text Box 18"/>
          <p:cNvSpPr txBox="1">
            <a:spLocks noChangeArrowheads="1"/>
          </p:cNvSpPr>
          <p:nvPr/>
        </p:nvSpPr>
        <p:spPr bwMode="auto">
          <a:xfrm>
            <a:off x="4599273" y="1916651"/>
            <a:ext cx="2752677" cy="2129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Arial" charset="0"/>
              </a:defRPr>
            </a:lvl1pPr>
            <a:lvl2pPr marL="742950" indent="-285750" eaLnBrk="0" hangingPunct="0">
              <a:defRPr sz="3600">
                <a:solidFill>
                  <a:schemeClr val="tx1"/>
                </a:solidFill>
                <a:latin typeface="Arial" charset="0"/>
              </a:defRPr>
            </a:lvl2pPr>
            <a:lvl3pPr marL="1143000" indent="-228600" eaLnBrk="0" hangingPunct="0">
              <a:defRPr sz="3600">
                <a:solidFill>
                  <a:schemeClr val="tx1"/>
                </a:solidFill>
                <a:latin typeface="Arial" charset="0"/>
              </a:defRPr>
            </a:lvl3pPr>
            <a:lvl4pPr marL="1600200" indent="-228600" eaLnBrk="0" hangingPunct="0">
              <a:defRPr sz="3600">
                <a:solidFill>
                  <a:schemeClr val="tx1"/>
                </a:solidFill>
                <a:latin typeface="Arial" charset="0"/>
              </a:defRPr>
            </a:lvl4pPr>
            <a:lvl5pPr marL="2057400" indent="-228600" eaLnBrk="0" hangingPunct="0">
              <a:defRPr sz="3600">
                <a:solidFill>
                  <a:schemeClr val="tx1"/>
                </a:solidFill>
                <a:latin typeface="Arial" charset="0"/>
              </a:defRPr>
            </a:lvl5pPr>
            <a:lvl6pPr marL="2514600" indent="-228600" eaLnBrk="0" fontAlgn="base" hangingPunct="0">
              <a:spcBef>
                <a:spcPct val="0"/>
              </a:spcBef>
              <a:spcAft>
                <a:spcPct val="0"/>
              </a:spcAft>
              <a:defRPr sz="3600">
                <a:solidFill>
                  <a:schemeClr val="tx1"/>
                </a:solidFill>
                <a:latin typeface="Arial" charset="0"/>
              </a:defRPr>
            </a:lvl6pPr>
            <a:lvl7pPr marL="2971800" indent="-228600" eaLnBrk="0" fontAlgn="base" hangingPunct="0">
              <a:spcBef>
                <a:spcPct val="0"/>
              </a:spcBef>
              <a:spcAft>
                <a:spcPct val="0"/>
              </a:spcAft>
              <a:defRPr sz="3600">
                <a:solidFill>
                  <a:schemeClr val="tx1"/>
                </a:solidFill>
                <a:latin typeface="Arial" charset="0"/>
              </a:defRPr>
            </a:lvl7pPr>
            <a:lvl8pPr marL="3429000" indent="-228600" eaLnBrk="0" fontAlgn="base" hangingPunct="0">
              <a:spcBef>
                <a:spcPct val="0"/>
              </a:spcBef>
              <a:spcAft>
                <a:spcPct val="0"/>
              </a:spcAft>
              <a:defRPr sz="3600">
                <a:solidFill>
                  <a:schemeClr val="tx1"/>
                </a:solidFill>
                <a:latin typeface="Arial" charset="0"/>
              </a:defRPr>
            </a:lvl8pPr>
            <a:lvl9pPr marL="3886200" indent="-228600" eaLnBrk="0" fontAlgn="base" hangingPunct="0">
              <a:spcBef>
                <a:spcPct val="0"/>
              </a:spcBef>
              <a:spcAft>
                <a:spcPct val="0"/>
              </a:spcAft>
              <a:defRPr sz="3600">
                <a:solidFill>
                  <a:schemeClr val="tx1"/>
                </a:solidFill>
                <a:latin typeface="Arial" charset="0"/>
              </a:defRPr>
            </a:lvl9pPr>
          </a:lstStyle>
          <a:p>
            <a:pPr eaLnBrk="1" hangingPunct="1"/>
            <a:r>
              <a:rPr lang="en-US" sz="1891" dirty="0"/>
              <a:t>X = A</a:t>
            </a:r>
            <a:r>
              <a:rPr lang="en-US" sz="1891" i="1" dirty="0"/>
              <a:t>x</a:t>
            </a:r>
            <a:r>
              <a:rPr lang="en-US" sz="1891" dirty="0"/>
              <a:t> + B</a:t>
            </a:r>
            <a:r>
              <a:rPr lang="en-US" sz="1891" i="1" dirty="0"/>
              <a:t>y</a:t>
            </a:r>
            <a:r>
              <a:rPr lang="en-US" sz="1891" dirty="0"/>
              <a:t> + C</a:t>
            </a:r>
          </a:p>
          <a:p>
            <a:pPr eaLnBrk="1" hangingPunct="1"/>
            <a:r>
              <a:rPr lang="en-US" sz="1891" dirty="0"/>
              <a:t>Y = </a:t>
            </a:r>
            <a:r>
              <a:rPr lang="en-US" sz="1891" dirty="0" err="1"/>
              <a:t>D</a:t>
            </a:r>
            <a:r>
              <a:rPr lang="en-US" sz="1891" i="1" dirty="0" err="1"/>
              <a:t>x</a:t>
            </a:r>
            <a:r>
              <a:rPr lang="en-US" sz="1891" dirty="0"/>
              <a:t> + </a:t>
            </a:r>
            <a:r>
              <a:rPr lang="en-US" sz="1891" dirty="0" err="1"/>
              <a:t>E</a:t>
            </a:r>
            <a:r>
              <a:rPr lang="en-US" sz="1891" i="1" dirty="0" err="1"/>
              <a:t>y</a:t>
            </a:r>
            <a:r>
              <a:rPr lang="en-US" sz="1891" dirty="0"/>
              <a:t> + F</a:t>
            </a:r>
          </a:p>
          <a:p>
            <a:pPr eaLnBrk="1" hangingPunct="1"/>
            <a:endParaRPr lang="en-US" sz="1891" dirty="0"/>
          </a:p>
          <a:p>
            <a:pPr eaLnBrk="1" hangingPunct="1"/>
            <a:r>
              <a:rPr lang="en-US" sz="1891" dirty="0"/>
              <a:t>X = new </a:t>
            </a:r>
            <a:r>
              <a:rPr lang="en-US" sz="1891" i="1" dirty="0"/>
              <a:t>x</a:t>
            </a:r>
            <a:r>
              <a:rPr lang="en-US" sz="1891" dirty="0"/>
              <a:t> coordinate</a:t>
            </a:r>
          </a:p>
          <a:p>
            <a:pPr eaLnBrk="1" hangingPunct="1"/>
            <a:r>
              <a:rPr lang="en-US" sz="1891" dirty="0"/>
              <a:t>Y = new </a:t>
            </a:r>
            <a:r>
              <a:rPr lang="en-US" sz="1891" i="1" dirty="0"/>
              <a:t>y</a:t>
            </a:r>
            <a:r>
              <a:rPr lang="en-US" sz="1891" dirty="0"/>
              <a:t> coordinate</a:t>
            </a:r>
          </a:p>
          <a:p>
            <a:pPr eaLnBrk="1" hangingPunct="1"/>
            <a:r>
              <a:rPr lang="en-US" sz="1891" dirty="0"/>
              <a:t>x = original </a:t>
            </a:r>
            <a:r>
              <a:rPr lang="en-US" sz="1891" i="1" dirty="0"/>
              <a:t>x</a:t>
            </a:r>
            <a:r>
              <a:rPr lang="en-US" sz="1891" dirty="0"/>
              <a:t> coordinate</a:t>
            </a:r>
            <a:br>
              <a:rPr lang="en-US" sz="1891" dirty="0"/>
            </a:br>
            <a:r>
              <a:rPr lang="en-US" sz="1891" dirty="0"/>
              <a:t>y = original </a:t>
            </a:r>
            <a:r>
              <a:rPr lang="en-US" sz="1891" i="1" dirty="0"/>
              <a:t>y</a:t>
            </a:r>
            <a:r>
              <a:rPr lang="en-US" sz="1891" dirty="0"/>
              <a:t> coordinate</a:t>
            </a:r>
          </a:p>
        </p:txBody>
      </p:sp>
      <p:sp>
        <p:nvSpPr>
          <p:cNvPr id="21" name="Line 5"/>
          <p:cNvSpPr>
            <a:spLocks noChangeShapeType="1"/>
          </p:cNvSpPr>
          <p:nvPr/>
        </p:nvSpPr>
        <p:spPr bwMode="auto">
          <a:xfrm flipV="1">
            <a:off x="1748174" y="1902921"/>
            <a:ext cx="0" cy="2212281"/>
          </a:xfrm>
          <a:prstGeom prst="line">
            <a:avLst/>
          </a:prstGeom>
          <a:noFill/>
          <a:ln w="1270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sz="1215"/>
          </a:p>
        </p:txBody>
      </p:sp>
      <p:sp>
        <p:nvSpPr>
          <p:cNvPr id="22" name="Line 6"/>
          <p:cNvSpPr>
            <a:spLocks noChangeShapeType="1"/>
          </p:cNvSpPr>
          <p:nvPr/>
        </p:nvSpPr>
        <p:spPr bwMode="auto">
          <a:xfrm>
            <a:off x="1748174" y="4115202"/>
            <a:ext cx="2212281" cy="0"/>
          </a:xfrm>
          <a:prstGeom prst="line">
            <a:avLst/>
          </a:prstGeom>
          <a:noFill/>
          <a:ln w="1270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sz="1215"/>
          </a:p>
        </p:txBody>
      </p:sp>
      <p:sp>
        <p:nvSpPr>
          <p:cNvPr id="23" name="Text Box 8"/>
          <p:cNvSpPr txBox="1">
            <a:spLocks noChangeArrowheads="1"/>
          </p:cNvSpPr>
          <p:nvPr/>
        </p:nvSpPr>
        <p:spPr bwMode="auto">
          <a:xfrm>
            <a:off x="2059009" y="4166651"/>
            <a:ext cx="1611339" cy="383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Arial" charset="0"/>
              </a:defRPr>
            </a:lvl1pPr>
            <a:lvl2pPr marL="742950" indent="-285750" eaLnBrk="0" hangingPunct="0">
              <a:defRPr sz="3600">
                <a:solidFill>
                  <a:schemeClr val="tx1"/>
                </a:solidFill>
                <a:latin typeface="Arial" charset="0"/>
              </a:defRPr>
            </a:lvl2pPr>
            <a:lvl3pPr marL="1143000" indent="-228600" eaLnBrk="0" hangingPunct="0">
              <a:defRPr sz="3600">
                <a:solidFill>
                  <a:schemeClr val="tx1"/>
                </a:solidFill>
                <a:latin typeface="Arial" charset="0"/>
              </a:defRPr>
            </a:lvl3pPr>
            <a:lvl4pPr marL="1600200" indent="-228600" eaLnBrk="0" hangingPunct="0">
              <a:defRPr sz="3600">
                <a:solidFill>
                  <a:schemeClr val="tx1"/>
                </a:solidFill>
                <a:latin typeface="Arial" charset="0"/>
              </a:defRPr>
            </a:lvl4pPr>
            <a:lvl5pPr marL="2057400" indent="-228600" eaLnBrk="0" hangingPunct="0">
              <a:defRPr sz="3600">
                <a:solidFill>
                  <a:schemeClr val="tx1"/>
                </a:solidFill>
                <a:latin typeface="Arial" charset="0"/>
              </a:defRPr>
            </a:lvl5pPr>
            <a:lvl6pPr marL="2514600" indent="-228600" eaLnBrk="0" fontAlgn="base" hangingPunct="0">
              <a:spcBef>
                <a:spcPct val="0"/>
              </a:spcBef>
              <a:spcAft>
                <a:spcPct val="0"/>
              </a:spcAft>
              <a:defRPr sz="3600">
                <a:solidFill>
                  <a:schemeClr val="tx1"/>
                </a:solidFill>
                <a:latin typeface="Arial" charset="0"/>
              </a:defRPr>
            </a:lvl6pPr>
            <a:lvl7pPr marL="2971800" indent="-228600" eaLnBrk="0" fontAlgn="base" hangingPunct="0">
              <a:spcBef>
                <a:spcPct val="0"/>
              </a:spcBef>
              <a:spcAft>
                <a:spcPct val="0"/>
              </a:spcAft>
              <a:defRPr sz="3600">
                <a:solidFill>
                  <a:schemeClr val="tx1"/>
                </a:solidFill>
                <a:latin typeface="Arial" charset="0"/>
              </a:defRPr>
            </a:lvl7pPr>
            <a:lvl8pPr marL="3429000" indent="-228600" eaLnBrk="0" fontAlgn="base" hangingPunct="0">
              <a:spcBef>
                <a:spcPct val="0"/>
              </a:spcBef>
              <a:spcAft>
                <a:spcPct val="0"/>
              </a:spcAft>
              <a:defRPr sz="3600">
                <a:solidFill>
                  <a:schemeClr val="tx1"/>
                </a:solidFill>
                <a:latin typeface="Arial" charset="0"/>
              </a:defRPr>
            </a:lvl8pPr>
            <a:lvl9pPr marL="3886200" indent="-228600" eaLnBrk="0" fontAlgn="base" hangingPunct="0">
              <a:spcBef>
                <a:spcPct val="0"/>
              </a:spcBef>
              <a:spcAft>
                <a:spcPct val="0"/>
              </a:spcAft>
              <a:defRPr sz="3600">
                <a:solidFill>
                  <a:schemeClr val="tx1"/>
                </a:solidFill>
                <a:latin typeface="Arial" charset="0"/>
              </a:defRPr>
            </a:lvl9pPr>
          </a:lstStyle>
          <a:p>
            <a:pPr eaLnBrk="1" hangingPunct="1"/>
            <a:r>
              <a:rPr lang="en-US" sz="1891"/>
              <a:t>Image Row #</a:t>
            </a:r>
          </a:p>
        </p:txBody>
      </p:sp>
      <p:sp>
        <p:nvSpPr>
          <p:cNvPr id="24" name="Text Box 9"/>
          <p:cNvSpPr txBox="1">
            <a:spLocks noChangeArrowheads="1"/>
          </p:cNvSpPr>
          <p:nvPr/>
        </p:nvSpPr>
        <p:spPr bwMode="auto">
          <a:xfrm rot="-5400000">
            <a:off x="286295" y="2887613"/>
            <a:ext cx="2350323" cy="383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Arial" charset="0"/>
              </a:defRPr>
            </a:lvl1pPr>
            <a:lvl2pPr marL="742950" indent="-285750" eaLnBrk="0" hangingPunct="0">
              <a:defRPr sz="3600">
                <a:solidFill>
                  <a:schemeClr val="tx1"/>
                </a:solidFill>
                <a:latin typeface="Arial" charset="0"/>
              </a:defRPr>
            </a:lvl2pPr>
            <a:lvl3pPr marL="1143000" indent="-228600" eaLnBrk="0" hangingPunct="0">
              <a:defRPr sz="3600">
                <a:solidFill>
                  <a:schemeClr val="tx1"/>
                </a:solidFill>
                <a:latin typeface="Arial" charset="0"/>
              </a:defRPr>
            </a:lvl3pPr>
            <a:lvl4pPr marL="1600200" indent="-228600" eaLnBrk="0" hangingPunct="0">
              <a:defRPr sz="3600">
                <a:solidFill>
                  <a:schemeClr val="tx1"/>
                </a:solidFill>
                <a:latin typeface="Arial" charset="0"/>
              </a:defRPr>
            </a:lvl4pPr>
            <a:lvl5pPr marL="2057400" indent="-228600" eaLnBrk="0" hangingPunct="0">
              <a:defRPr sz="3600">
                <a:solidFill>
                  <a:schemeClr val="tx1"/>
                </a:solidFill>
                <a:latin typeface="Arial" charset="0"/>
              </a:defRPr>
            </a:lvl5pPr>
            <a:lvl6pPr marL="2514600" indent="-228600" eaLnBrk="0" fontAlgn="base" hangingPunct="0">
              <a:spcBef>
                <a:spcPct val="0"/>
              </a:spcBef>
              <a:spcAft>
                <a:spcPct val="0"/>
              </a:spcAft>
              <a:defRPr sz="3600">
                <a:solidFill>
                  <a:schemeClr val="tx1"/>
                </a:solidFill>
                <a:latin typeface="Arial" charset="0"/>
              </a:defRPr>
            </a:lvl6pPr>
            <a:lvl7pPr marL="2971800" indent="-228600" eaLnBrk="0" fontAlgn="base" hangingPunct="0">
              <a:spcBef>
                <a:spcPct val="0"/>
              </a:spcBef>
              <a:spcAft>
                <a:spcPct val="0"/>
              </a:spcAft>
              <a:defRPr sz="3600">
                <a:solidFill>
                  <a:schemeClr val="tx1"/>
                </a:solidFill>
                <a:latin typeface="Arial" charset="0"/>
              </a:defRPr>
            </a:lvl7pPr>
            <a:lvl8pPr marL="3429000" indent="-228600" eaLnBrk="0" fontAlgn="base" hangingPunct="0">
              <a:spcBef>
                <a:spcPct val="0"/>
              </a:spcBef>
              <a:spcAft>
                <a:spcPct val="0"/>
              </a:spcAft>
              <a:defRPr sz="3600">
                <a:solidFill>
                  <a:schemeClr val="tx1"/>
                </a:solidFill>
                <a:latin typeface="Arial" charset="0"/>
              </a:defRPr>
            </a:lvl8pPr>
            <a:lvl9pPr marL="3886200" indent="-228600" eaLnBrk="0" fontAlgn="base" hangingPunct="0">
              <a:spcBef>
                <a:spcPct val="0"/>
              </a:spcBef>
              <a:spcAft>
                <a:spcPct val="0"/>
              </a:spcAft>
              <a:defRPr sz="3600">
                <a:solidFill>
                  <a:schemeClr val="tx1"/>
                </a:solidFill>
                <a:latin typeface="Arial" charset="0"/>
              </a:defRPr>
            </a:lvl9pPr>
          </a:lstStyle>
          <a:p>
            <a:pPr eaLnBrk="1" hangingPunct="1"/>
            <a:r>
              <a:rPr lang="en-US" sz="1891"/>
              <a:t>(Map) Northings (m)</a:t>
            </a:r>
          </a:p>
        </p:txBody>
      </p:sp>
      <p:sp>
        <p:nvSpPr>
          <p:cNvPr id="25" name="Text Box 10"/>
          <p:cNvSpPr txBox="1">
            <a:spLocks noChangeArrowheads="1"/>
          </p:cNvSpPr>
          <p:nvPr/>
        </p:nvSpPr>
        <p:spPr bwMode="auto">
          <a:xfrm>
            <a:off x="2189773" y="2807555"/>
            <a:ext cx="340158" cy="466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Arial" charset="0"/>
              </a:defRPr>
            </a:lvl1pPr>
            <a:lvl2pPr marL="742950" indent="-285750" eaLnBrk="0" hangingPunct="0">
              <a:defRPr sz="3600">
                <a:solidFill>
                  <a:schemeClr val="tx1"/>
                </a:solidFill>
                <a:latin typeface="Arial" charset="0"/>
              </a:defRPr>
            </a:lvl2pPr>
            <a:lvl3pPr marL="1143000" indent="-228600" eaLnBrk="0" hangingPunct="0">
              <a:defRPr sz="3600">
                <a:solidFill>
                  <a:schemeClr val="tx1"/>
                </a:solidFill>
                <a:latin typeface="Arial" charset="0"/>
              </a:defRPr>
            </a:lvl3pPr>
            <a:lvl4pPr marL="1600200" indent="-228600" eaLnBrk="0" hangingPunct="0">
              <a:defRPr sz="3600">
                <a:solidFill>
                  <a:schemeClr val="tx1"/>
                </a:solidFill>
                <a:latin typeface="Arial" charset="0"/>
              </a:defRPr>
            </a:lvl4pPr>
            <a:lvl5pPr marL="2057400" indent="-228600" eaLnBrk="0" hangingPunct="0">
              <a:defRPr sz="3600">
                <a:solidFill>
                  <a:schemeClr val="tx1"/>
                </a:solidFill>
                <a:latin typeface="Arial" charset="0"/>
              </a:defRPr>
            </a:lvl5pPr>
            <a:lvl6pPr marL="2514600" indent="-228600" eaLnBrk="0" fontAlgn="base" hangingPunct="0">
              <a:spcBef>
                <a:spcPct val="0"/>
              </a:spcBef>
              <a:spcAft>
                <a:spcPct val="0"/>
              </a:spcAft>
              <a:defRPr sz="3600">
                <a:solidFill>
                  <a:schemeClr val="tx1"/>
                </a:solidFill>
                <a:latin typeface="Arial" charset="0"/>
              </a:defRPr>
            </a:lvl6pPr>
            <a:lvl7pPr marL="2971800" indent="-228600" eaLnBrk="0" fontAlgn="base" hangingPunct="0">
              <a:spcBef>
                <a:spcPct val="0"/>
              </a:spcBef>
              <a:spcAft>
                <a:spcPct val="0"/>
              </a:spcAft>
              <a:defRPr sz="3600">
                <a:solidFill>
                  <a:schemeClr val="tx1"/>
                </a:solidFill>
                <a:latin typeface="Arial" charset="0"/>
              </a:defRPr>
            </a:lvl7pPr>
            <a:lvl8pPr marL="3429000" indent="-228600" eaLnBrk="0" fontAlgn="base" hangingPunct="0">
              <a:spcBef>
                <a:spcPct val="0"/>
              </a:spcBef>
              <a:spcAft>
                <a:spcPct val="0"/>
              </a:spcAft>
              <a:defRPr sz="3600">
                <a:solidFill>
                  <a:schemeClr val="tx1"/>
                </a:solidFill>
                <a:latin typeface="Arial" charset="0"/>
              </a:defRPr>
            </a:lvl8pPr>
            <a:lvl9pPr marL="3886200" indent="-228600" eaLnBrk="0" fontAlgn="base" hangingPunct="0">
              <a:spcBef>
                <a:spcPct val="0"/>
              </a:spcBef>
              <a:spcAft>
                <a:spcPct val="0"/>
              </a:spcAft>
              <a:defRPr sz="3600">
                <a:solidFill>
                  <a:schemeClr val="tx1"/>
                </a:solidFill>
                <a:latin typeface="Arial" charset="0"/>
              </a:defRPr>
            </a:lvl9pPr>
          </a:lstStyle>
          <a:p>
            <a:pPr eaLnBrk="1" hangingPunct="1"/>
            <a:r>
              <a:rPr lang="en-US" sz="2431" dirty="0"/>
              <a:t>x</a:t>
            </a:r>
          </a:p>
        </p:txBody>
      </p:sp>
      <p:sp>
        <p:nvSpPr>
          <p:cNvPr id="26" name="Text Box 11"/>
          <p:cNvSpPr txBox="1">
            <a:spLocks noChangeArrowheads="1"/>
          </p:cNvSpPr>
          <p:nvPr/>
        </p:nvSpPr>
        <p:spPr bwMode="auto">
          <a:xfrm>
            <a:off x="3218741" y="2417405"/>
            <a:ext cx="340158" cy="466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Arial" charset="0"/>
              </a:defRPr>
            </a:lvl1pPr>
            <a:lvl2pPr marL="742950" indent="-285750" eaLnBrk="0" hangingPunct="0">
              <a:defRPr sz="3600">
                <a:solidFill>
                  <a:schemeClr val="tx1"/>
                </a:solidFill>
                <a:latin typeface="Arial" charset="0"/>
              </a:defRPr>
            </a:lvl2pPr>
            <a:lvl3pPr marL="1143000" indent="-228600" eaLnBrk="0" hangingPunct="0">
              <a:defRPr sz="3600">
                <a:solidFill>
                  <a:schemeClr val="tx1"/>
                </a:solidFill>
                <a:latin typeface="Arial" charset="0"/>
              </a:defRPr>
            </a:lvl3pPr>
            <a:lvl4pPr marL="1600200" indent="-228600" eaLnBrk="0" hangingPunct="0">
              <a:defRPr sz="3600">
                <a:solidFill>
                  <a:schemeClr val="tx1"/>
                </a:solidFill>
                <a:latin typeface="Arial" charset="0"/>
              </a:defRPr>
            </a:lvl4pPr>
            <a:lvl5pPr marL="2057400" indent="-228600" eaLnBrk="0" hangingPunct="0">
              <a:defRPr sz="3600">
                <a:solidFill>
                  <a:schemeClr val="tx1"/>
                </a:solidFill>
                <a:latin typeface="Arial" charset="0"/>
              </a:defRPr>
            </a:lvl5pPr>
            <a:lvl6pPr marL="2514600" indent="-228600" eaLnBrk="0" fontAlgn="base" hangingPunct="0">
              <a:spcBef>
                <a:spcPct val="0"/>
              </a:spcBef>
              <a:spcAft>
                <a:spcPct val="0"/>
              </a:spcAft>
              <a:defRPr sz="3600">
                <a:solidFill>
                  <a:schemeClr val="tx1"/>
                </a:solidFill>
                <a:latin typeface="Arial" charset="0"/>
              </a:defRPr>
            </a:lvl6pPr>
            <a:lvl7pPr marL="2971800" indent="-228600" eaLnBrk="0" fontAlgn="base" hangingPunct="0">
              <a:spcBef>
                <a:spcPct val="0"/>
              </a:spcBef>
              <a:spcAft>
                <a:spcPct val="0"/>
              </a:spcAft>
              <a:defRPr sz="3600">
                <a:solidFill>
                  <a:schemeClr val="tx1"/>
                </a:solidFill>
                <a:latin typeface="Arial" charset="0"/>
              </a:defRPr>
            </a:lvl7pPr>
            <a:lvl8pPr marL="3429000" indent="-228600" eaLnBrk="0" fontAlgn="base" hangingPunct="0">
              <a:spcBef>
                <a:spcPct val="0"/>
              </a:spcBef>
              <a:spcAft>
                <a:spcPct val="0"/>
              </a:spcAft>
              <a:defRPr sz="3600">
                <a:solidFill>
                  <a:schemeClr val="tx1"/>
                </a:solidFill>
                <a:latin typeface="Arial" charset="0"/>
              </a:defRPr>
            </a:lvl8pPr>
            <a:lvl9pPr marL="3886200" indent="-228600" eaLnBrk="0" fontAlgn="base" hangingPunct="0">
              <a:spcBef>
                <a:spcPct val="0"/>
              </a:spcBef>
              <a:spcAft>
                <a:spcPct val="0"/>
              </a:spcAft>
              <a:defRPr sz="3600">
                <a:solidFill>
                  <a:schemeClr val="tx1"/>
                </a:solidFill>
                <a:latin typeface="Arial" charset="0"/>
              </a:defRPr>
            </a:lvl9pPr>
          </a:lstStyle>
          <a:p>
            <a:pPr eaLnBrk="1" hangingPunct="1"/>
            <a:r>
              <a:rPr lang="en-US" sz="2431"/>
              <a:t>x</a:t>
            </a:r>
          </a:p>
        </p:txBody>
      </p:sp>
      <p:sp>
        <p:nvSpPr>
          <p:cNvPr id="27" name="Text Box 12"/>
          <p:cNvSpPr txBox="1">
            <a:spLocks noChangeArrowheads="1"/>
          </p:cNvSpPr>
          <p:nvPr/>
        </p:nvSpPr>
        <p:spPr bwMode="auto">
          <a:xfrm>
            <a:off x="2108313" y="3549269"/>
            <a:ext cx="340158" cy="466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Arial" charset="0"/>
              </a:defRPr>
            </a:lvl1pPr>
            <a:lvl2pPr marL="742950" indent="-285750" eaLnBrk="0" hangingPunct="0">
              <a:defRPr sz="3600">
                <a:solidFill>
                  <a:schemeClr val="tx1"/>
                </a:solidFill>
                <a:latin typeface="Arial" charset="0"/>
              </a:defRPr>
            </a:lvl2pPr>
            <a:lvl3pPr marL="1143000" indent="-228600" eaLnBrk="0" hangingPunct="0">
              <a:defRPr sz="3600">
                <a:solidFill>
                  <a:schemeClr val="tx1"/>
                </a:solidFill>
                <a:latin typeface="Arial" charset="0"/>
              </a:defRPr>
            </a:lvl3pPr>
            <a:lvl4pPr marL="1600200" indent="-228600" eaLnBrk="0" hangingPunct="0">
              <a:defRPr sz="3600">
                <a:solidFill>
                  <a:schemeClr val="tx1"/>
                </a:solidFill>
                <a:latin typeface="Arial" charset="0"/>
              </a:defRPr>
            </a:lvl4pPr>
            <a:lvl5pPr marL="2057400" indent="-228600" eaLnBrk="0" hangingPunct="0">
              <a:defRPr sz="3600">
                <a:solidFill>
                  <a:schemeClr val="tx1"/>
                </a:solidFill>
                <a:latin typeface="Arial" charset="0"/>
              </a:defRPr>
            </a:lvl5pPr>
            <a:lvl6pPr marL="2514600" indent="-228600" eaLnBrk="0" fontAlgn="base" hangingPunct="0">
              <a:spcBef>
                <a:spcPct val="0"/>
              </a:spcBef>
              <a:spcAft>
                <a:spcPct val="0"/>
              </a:spcAft>
              <a:defRPr sz="3600">
                <a:solidFill>
                  <a:schemeClr val="tx1"/>
                </a:solidFill>
                <a:latin typeface="Arial" charset="0"/>
              </a:defRPr>
            </a:lvl6pPr>
            <a:lvl7pPr marL="2971800" indent="-228600" eaLnBrk="0" fontAlgn="base" hangingPunct="0">
              <a:spcBef>
                <a:spcPct val="0"/>
              </a:spcBef>
              <a:spcAft>
                <a:spcPct val="0"/>
              </a:spcAft>
              <a:defRPr sz="3600">
                <a:solidFill>
                  <a:schemeClr val="tx1"/>
                </a:solidFill>
                <a:latin typeface="Arial" charset="0"/>
              </a:defRPr>
            </a:lvl7pPr>
            <a:lvl8pPr marL="3429000" indent="-228600" eaLnBrk="0" fontAlgn="base" hangingPunct="0">
              <a:spcBef>
                <a:spcPct val="0"/>
              </a:spcBef>
              <a:spcAft>
                <a:spcPct val="0"/>
              </a:spcAft>
              <a:defRPr sz="3600">
                <a:solidFill>
                  <a:schemeClr val="tx1"/>
                </a:solidFill>
                <a:latin typeface="Arial" charset="0"/>
              </a:defRPr>
            </a:lvl8pPr>
            <a:lvl9pPr marL="3886200" indent="-228600" eaLnBrk="0" fontAlgn="base" hangingPunct="0">
              <a:spcBef>
                <a:spcPct val="0"/>
              </a:spcBef>
              <a:spcAft>
                <a:spcPct val="0"/>
              </a:spcAft>
              <a:defRPr sz="3600">
                <a:solidFill>
                  <a:schemeClr val="tx1"/>
                </a:solidFill>
                <a:latin typeface="Arial" charset="0"/>
              </a:defRPr>
            </a:lvl9pPr>
          </a:lstStyle>
          <a:p>
            <a:pPr eaLnBrk="1" hangingPunct="1"/>
            <a:r>
              <a:rPr lang="en-US" sz="2431"/>
              <a:t>x</a:t>
            </a:r>
          </a:p>
        </p:txBody>
      </p:sp>
      <p:sp>
        <p:nvSpPr>
          <p:cNvPr id="28" name="Text Box 13"/>
          <p:cNvSpPr txBox="1">
            <a:spLocks noChangeArrowheads="1"/>
          </p:cNvSpPr>
          <p:nvPr/>
        </p:nvSpPr>
        <p:spPr bwMode="auto">
          <a:xfrm>
            <a:off x="3137281" y="1748576"/>
            <a:ext cx="340158" cy="466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Arial" charset="0"/>
              </a:defRPr>
            </a:lvl1pPr>
            <a:lvl2pPr marL="742950" indent="-285750" eaLnBrk="0" hangingPunct="0">
              <a:defRPr sz="3600">
                <a:solidFill>
                  <a:schemeClr val="tx1"/>
                </a:solidFill>
                <a:latin typeface="Arial" charset="0"/>
              </a:defRPr>
            </a:lvl2pPr>
            <a:lvl3pPr marL="1143000" indent="-228600" eaLnBrk="0" hangingPunct="0">
              <a:defRPr sz="3600">
                <a:solidFill>
                  <a:schemeClr val="tx1"/>
                </a:solidFill>
                <a:latin typeface="Arial" charset="0"/>
              </a:defRPr>
            </a:lvl3pPr>
            <a:lvl4pPr marL="1600200" indent="-228600" eaLnBrk="0" hangingPunct="0">
              <a:defRPr sz="3600">
                <a:solidFill>
                  <a:schemeClr val="tx1"/>
                </a:solidFill>
                <a:latin typeface="Arial" charset="0"/>
              </a:defRPr>
            </a:lvl4pPr>
            <a:lvl5pPr marL="2057400" indent="-228600" eaLnBrk="0" hangingPunct="0">
              <a:defRPr sz="3600">
                <a:solidFill>
                  <a:schemeClr val="tx1"/>
                </a:solidFill>
                <a:latin typeface="Arial" charset="0"/>
              </a:defRPr>
            </a:lvl5pPr>
            <a:lvl6pPr marL="2514600" indent="-228600" eaLnBrk="0" fontAlgn="base" hangingPunct="0">
              <a:spcBef>
                <a:spcPct val="0"/>
              </a:spcBef>
              <a:spcAft>
                <a:spcPct val="0"/>
              </a:spcAft>
              <a:defRPr sz="3600">
                <a:solidFill>
                  <a:schemeClr val="tx1"/>
                </a:solidFill>
                <a:latin typeface="Arial" charset="0"/>
              </a:defRPr>
            </a:lvl6pPr>
            <a:lvl7pPr marL="2971800" indent="-228600" eaLnBrk="0" fontAlgn="base" hangingPunct="0">
              <a:spcBef>
                <a:spcPct val="0"/>
              </a:spcBef>
              <a:spcAft>
                <a:spcPct val="0"/>
              </a:spcAft>
              <a:defRPr sz="3600">
                <a:solidFill>
                  <a:schemeClr val="tx1"/>
                </a:solidFill>
                <a:latin typeface="Arial" charset="0"/>
              </a:defRPr>
            </a:lvl7pPr>
            <a:lvl8pPr marL="3429000" indent="-228600" eaLnBrk="0" fontAlgn="base" hangingPunct="0">
              <a:spcBef>
                <a:spcPct val="0"/>
              </a:spcBef>
              <a:spcAft>
                <a:spcPct val="0"/>
              </a:spcAft>
              <a:defRPr sz="3600">
                <a:solidFill>
                  <a:schemeClr val="tx1"/>
                </a:solidFill>
                <a:latin typeface="Arial" charset="0"/>
              </a:defRPr>
            </a:lvl8pPr>
            <a:lvl9pPr marL="3886200" indent="-228600" eaLnBrk="0" fontAlgn="base" hangingPunct="0">
              <a:spcBef>
                <a:spcPct val="0"/>
              </a:spcBef>
              <a:spcAft>
                <a:spcPct val="0"/>
              </a:spcAft>
              <a:defRPr sz="3600">
                <a:solidFill>
                  <a:schemeClr val="tx1"/>
                </a:solidFill>
                <a:latin typeface="Arial" charset="0"/>
              </a:defRPr>
            </a:lvl9pPr>
          </a:lstStyle>
          <a:p>
            <a:pPr eaLnBrk="1" hangingPunct="1"/>
            <a:r>
              <a:rPr lang="en-US" sz="2431"/>
              <a:t>x</a:t>
            </a:r>
          </a:p>
        </p:txBody>
      </p:sp>
      <p:sp>
        <p:nvSpPr>
          <p:cNvPr id="29" name="Line 14" descr="Regression line"/>
          <p:cNvSpPr>
            <a:spLocks noChangeShapeType="1"/>
          </p:cNvSpPr>
          <p:nvPr/>
        </p:nvSpPr>
        <p:spPr bwMode="auto">
          <a:xfrm flipV="1">
            <a:off x="2005416" y="2108714"/>
            <a:ext cx="1594900" cy="1646349"/>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sz="1215"/>
          </a:p>
        </p:txBody>
      </p:sp>
      <p:sp>
        <p:nvSpPr>
          <p:cNvPr id="30" name="Line 15"/>
          <p:cNvSpPr>
            <a:spLocks noChangeShapeType="1"/>
          </p:cNvSpPr>
          <p:nvPr/>
        </p:nvSpPr>
        <p:spPr bwMode="auto">
          <a:xfrm>
            <a:off x="2108313" y="3652166"/>
            <a:ext cx="154345" cy="154345"/>
          </a:xfrm>
          <a:prstGeom prst="line">
            <a:avLst/>
          </a:prstGeom>
          <a:noFill/>
          <a:ln w="31750">
            <a:solidFill>
              <a:srgbClr val="00FF00"/>
            </a:solidFill>
            <a:round/>
            <a:headEnd/>
            <a:tailEnd type="arrow" w="lg" len="med"/>
          </a:ln>
          <a:extLst>
            <a:ext uri="{909E8E84-426E-40DD-AFC4-6F175D3DCCD1}">
              <a14:hiddenFill xmlns:a14="http://schemas.microsoft.com/office/drawing/2010/main">
                <a:noFill/>
              </a14:hiddenFill>
            </a:ext>
          </a:extLst>
        </p:spPr>
        <p:txBody>
          <a:bodyPr/>
          <a:lstStyle/>
          <a:p>
            <a:endParaRPr lang="en-US" sz="1215"/>
          </a:p>
        </p:txBody>
      </p:sp>
      <p:sp>
        <p:nvSpPr>
          <p:cNvPr id="31" name="Line 16"/>
          <p:cNvSpPr>
            <a:spLocks noChangeShapeType="1"/>
          </p:cNvSpPr>
          <p:nvPr/>
        </p:nvSpPr>
        <p:spPr bwMode="auto">
          <a:xfrm>
            <a:off x="3291625" y="2005817"/>
            <a:ext cx="205794" cy="205794"/>
          </a:xfrm>
          <a:prstGeom prst="line">
            <a:avLst/>
          </a:prstGeom>
          <a:noFill/>
          <a:ln w="31750">
            <a:solidFill>
              <a:srgbClr val="00FF00"/>
            </a:solidFill>
            <a:round/>
            <a:headEnd type="arrow" w="lg" len="med"/>
            <a:tailEnd type="none" w="lg" len="med"/>
          </a:ln>
          <a:extLst>
            <a:ext uri="{909E8E84-426E-40DD-AFC4-6F175D3DCCD1}">
              <a14:hiddenFill xmlns:a14="http://schemas.microsoft.com/office/drawing/2010/main">
                <a:noFill/>
              </a14:hiddenFill>
            </a:ext>
          </a:extLst>
        </p:spPr>
        <p:txBody>
          <a:bodyPr/>
          <a:lstStyle/>
          <a:p>
            <a:endParaRPr lang="en-US" sz="1215"/>
          </a:p>
        </p:txBody>
      </p:sp>
      <p:sp>
        <p:nvSpPr>
          <p:cNvPr id="32" name="Text Box 17"/>
          <p:cNvSpPr txBox="1">
            <a:spLocks noChangeArrowheads="1"/>
          </p:cNvSpPr>
          <p:nvPr/>
        </p:nvSpPr>
        <p:spPr bwMode="auto">
          <a:xfrm>
            <a:off x="2622797" y="2880440"/>
            <a:ext cx="340158" cy="466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Arial" charset="0"/>
              </a:defRPr>
            </a:lvl1pPr>
            <a:lvl2pPr marL="742950" indent="-285750" eaLnBrk="0" hangingPunct="0">
              <a:defRPr sz="3600">
                <a:solidFill>
                  <a:schemeClr val="tx1"/>
                </a:solidFill>
                <a:latin typeface="Arial" charset="0"/>
              </a:defRPr>
            </a:lvl2pPr>
            <a:lvl3pPr marL="1143000" indent="-228600" eaLnBrk="0" hangingPunct="0">
              <a:defRPr sz="3600">
                <a:solidFill>
                  <a:schemeClr val="tx1"/>
                </a:solidFill>
                <a:latin typeface="Arial" charset="0"/>
              </a:defRPr>
            </a:lvl3pPr>
            <a:lvl4pPr marL="1600200" indent="-228600" eaLnBrk="0" hangingPunct="0">
              <a:defRPr sz="3600">
                <a:solidFill>
                  <a:schemeClr val="tx1"/>
                </a:solidFill>
                <a:latin typeface="Arial" charset="0"/>
              </a:defRPr>
            </a:lvl4pPr>
            <a:lvl5pPr marL="2057400" indent="-228600" eaLnBrk="0" hangingPunct="0">
              <a:defRPr sz="3600">
                <a:solidFill>
                  <a:schemeClr val="tx1"/>
                </a:solidFill>
                <a:latin typeface="Arial" charset="0"/>
              </a:defRPr>
            </a:lvl5pPr>
            <a:lvl6pPr marL="2514600" indent="-228600" eaLnBrk="0" fontAlgn="base" hangingPunct="0">
              <a:spcBef>
                <a:spcPct val="0"/>
              </a:spcBef>
              <a:spcAft>
                <a:spcPct val="0"/>
              </a:spcAft>
              <a:defRPr sz="3600">
                <a:solidFill>
                  <a:schemeClr val="tx1"/>
                </a:solidFill>
                <a:latin typeface="Arial" charset="0"/>
              </a:defRPr>
            </a:lvl6pPr>
            <a:lvl7pPr marL="2971800" indent="-228600" eaLnBrk="0" fontAlgn="base" hangingPunct="0">
              <a:spcBef>
                <a:spcPct val="0"/>
              </a:spcBef>
              <a:spcAft>
                <a:spcPct val="0"/>
              </a:spcAft>
              <a:defRPr sz="3600">
                <a:solidFill>
                  <a:schemeClr val="tx1"/>
                </a:solidFill>
                <a:latin typeface="Arial" charset="0"/>
              </a:defRPr>
            </a:lvl7pPr>
            <a:lvl8pPr marL="3429000" indent="-228600" eaLnBrk="0" fontAlgn="base" hangingPunct="0">
              <a:spcBef>
                <a:spcPct val="0"/>
              </a:spcBef>
              <a:spcAft>
                <a:spcPct val="0"/>
              </a:spcAft>
              <a:defRPr sz="3600">
                <a:solidFill>
                  <a:schemeClr val="tx1"/>
                </a:solidFill>
                <a:latin typeface="Arial" charset="0"/>
              </a:defRPr>
            </a:lvl8pPr>
            <a:lvl9pPr marL="3886200" indent="-228600" eaLnBrk="0" fontAlgn="base" hangingPunct="0">
              <a:spcBef>
                <a:spcPct val="0"/>
              </a:spcBef>
              <a:spcAft>
                <a:spcPct val="0"/>
              </a:spcAft>
              <a:defRPr sz="3600">
                <a:solidFill>
                  <a:schemeClr val="tx1"/>
                </a:solidFill>
                <a:latin typeface="Arial" charset="0"/>
              </a:defRPr>
            </a:lvl9pPr>
          </a:lstStyle>
          <a:p>
            <a:pPr eaLnBrk="1" hangingPunct="1"/>
            <a:r>
              <a:rPr lang="en-US" sz="2431"/>
              <a:t>x</a:t>
            </a:r>
          </a:p>
        </p:txBody>
      </p:sp>
      <p:sp>
        <p:nvSpPr>
          <p:cNvPr id="33" name="Line 19"/>
          <p:cNvSpPr>
            <a:spLocks noChangeShapeType="1"/>
          </p:cNvSpPr>
          <p:nvPr/>
        </p:nvSpPr>
        <p:spPr bwMode="auto">
          <a:xfrm>
            <a:off x="2365555" y="3086234"/>
            <a:ext cx="154345" cy="154345"/>
          </a:xfrm>
          <a:prstGeom prst="line">
            <a:avLst/>
          </a:prstGeom>
          <a:noFill/>
          <a:ln w="31750">
            <a:solidFill>
              <a:srgbClr val="00FF00"/>
            </a:solidFill>
            <a:round/>
            <a:headEnd type="arrow" w="lg" len="med"/>
            <a:tailEnd type="none" w="lg" len="med"/>
          </a:ln>
          <a:extLst>
            <a:ext uri="{909E8E84-426E-40DD-AFC4-6F175D3DCCD1}">
              <a14:hiddenFill xmlns:a14="http://schemas.microsoft.com/office/drawing/2010/main">
                <a:noFill/>
              </a14:hiddenFill>
            </a:ext>
          </a:extLst>
        </p:spPr>
        <p:txBody>
          <a:bodyPr/>
          <a:lstStyle/>
          <a:p>
            <a:endParaRPr lang="en-US" sz="1215"/>
          </a:p>
        </p:txBody>
      </p:sp>
      <p:sp>
        <p:nvSpPr>
          <p:cNvPr id="34" name="Line 20"/>
          <p:cNvSpPr>
            <a:spLocks noChangeShapeType="1"/>
          </p:cNvSpPr>
          <p:nvPr/>
        </p:nvSpPr>
        <p:spPr bwMode="auto">
          <a:xfrm>
            <a:off x="3188729" y="2520302"/>
            <a:ext cx="154345" cy="154345"/>
          </a:xfrm>
          <a:prstGeom prst="line">
            <a:avLst/>
          </a:prstGeom>
          <a:noFill/>
          <a:ln w="31750">
            <a:solidFill>
              <a:srgbClr val="00FF00"/>
            </a:solidFill>
            <a:round/>
            <a:headEnd/>
            <a:tailEnd type="arrow" w="lg" len="med"/>
          </a:ln>
          <a:extLst>
            <a:ext uri="{909E8E84-426E-40DD-AFC4-6F175D3DCCD1}">
              <a14:hiddenFill xmlns:a14="http://schemas.microsoft.com/office/drawing/2010/main">
                <a:noFill/>
              </a14:hiddenFill>
            </a:ext>
          </a:extLst>
        </p:spPr>
        <p:txBody>
          <a:bodyPr/>
          <a:lstStyle/>
          <a:p>
            <a:endParaRPr lang="en-US" sz="1215"/>
          </a:p>
        </p:txBody>
      </p:sp>
      <p:sp>
        <p:nvSpPr>
          <p:cNvPr id="35" name="Line 21"/>
          <p:cNvSpPr>
            <a:spLocks noChangeShapeType="1"/>
          </p:cNvSpPr>
          <p:nvPr/>
        </p:nvSpPr>
        <p:spPr bwMode="auto">
          <a:xfrm>
            <a:off x="2674245" y="3034785"/>
            <a:ext cx="102897" cy="102897"/>
          </a:xfrm>
          <a:prstGeom prst="line">
            <a:avLst/>
          </a:prstGeom>
          <a:noFill/>
          <a:ln w="31750">
            <a:solidFill>
              <a:srgbClr val="00FF00"/>
            </a:solidFill>
            <a:round/>
            <a:headEnd/>
            <a:tailEnd type="arrow" w="lg" len="med"/>
          </a:ln>
          <a:extLst>
            <a:ext uri="{909E8E84-426E-40DD-AFC4-6F175D3DCCD1}">
              <a14:hiddenFill xmlns:a14="http://schemas.microsoft.com/office/drawing/2010/main">
                <a:noFill/>
              </a14:hiddenFill>
            </a:ext>
          </a:extLst>
        </p:spPr>
        <p:txBody>
          <a:bodyPr/>
          <a:lstStyle/>
          <a:p>
            <a:endParaRPr lang="en-US" sz="1215"/>
          </a:p>
        </p:txBody>
      </p:sp>
      <p:sp>
        <p:nvSpPr>
          <p:cNvPr id="36" name="TextBox 35"/>
          <p:cNvSpPr txBox="1"/>
          <p:nvPr/>
        </p:nvSpPr>
        <p:spPr>
          <a:xfrm>
            <a:off x="6172736" y="4607663"/>
            <a:ext cx="2418075" cy="223203"/>
          </a:xfrm>
          <a:prstGeom prst="rect">
            <a:avLst/>
          </a:prstGeom>
          <a:noFill/>
        </p:spPr>
        <p:txBody>
          <a:bodyPr wrap="square" rtlCol="0">
            <a:spAutoFit/>
          </a:bodyPr>
          <a:lstStyle/>
          <a:p>
            <a:pPr>
              <a:lnSpc>
                <a:spcPct val="90000"/>
              </a:lnSpc>
            </a:pPr>
            <a:r>
              <a:rPr lang="en-US" sz="945" dirty="0"/>
              <a:t>Example by Dr. Tim Warner</a:t>
            </a:r>
          </a:p>
        </p:txBody>
      </p:sp>
      <p:sp>
        <p:nvSpPr>
          <p:cNvPr id="20" name="Title 1">
            <a:extLst>
              <a:ext uri="{FF2B5EF4-FFF2-40B4-BE49-F238E27FC236}">
                <a16:creationId xmlns:a16="http://schemas.microsoft.com/office/drawing/2014/main" id="{5BC1FF14-1D9E-419F-895B-8F698F36D982}"/>
              </a:ext>
            </a:extLst>
          </p:cNvPr>
          <p:cNvSpPr txBox="1">
            <a:spLocks/>
          </p:cNvSpPr>
          <p:nvPr/>
        </p:nvSpPr>
        <p:spPr>
          <a:xfrm>
            <a:off x="253706" y="16621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Transformation Method</a:t>
            </a:r>
          </a:p>
        </p:txBody>
      </p:sp>
      <p:cxnSp>
        <p:nvCxnSpPr>
          <p:cNvPr id="37" name="Straight Connector 36">
            <a:extLst>
              <a:ext uri="{FF2B5EF4-FFF2-40B4-BE49-F238E27FC236}">
                <a16:creationId xmlns:a16="http://schemas.microsoft.com/office/drawing/2014/main" id="{0A2A6B37-0962-4394-9486-60BBD84F8372}"/>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75000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2676" y="1365264"/>
            <a:ext cx="5402080" cy="2881110"/>
          </a:xfrm>
        </p:spPr>
        <p:txBody>
          <a:bodyPr>
            <a:normAutofit/>
          </a:bodyPr>
          <a:lstStyle/>
          <a:p>
            <a:pPr marL="308701" indent="-308701">
              <a:buFont typeface="+mj-lt"/>
              <a:buAutoNum type="arabicPeriod" startAt="4"/>
            </a:pPr>
            <a:r>
              <a:rPr lang="en-US" sz="1800" b="1" dirty="0">
                <a:solidFill>
                  <a:srgbClr val="E3874F"/>
                </a:solidFill>
              </a:rPr>
              <a:t>Adjust </a:t>
            </a:r>
            <a:r>
              <a:rPr lang="en-US" sz="1800" dirty="0"/>
              <a:t>= combines polynomial and triangular irregular network (need 3 control point)</a:t>
            </a:r>
          </a:p>
          <a:p>
            <a:pPr marL="308701" indent="-308701">
              <a:buFont typeface="+mj-lt"/>
              <a:buAutoNum type="arabicPeriod" startAt="4"/>
            </a:pPr>
            <a:r>
              <a:rPr lang="en-US" sz="1800" b="1" dirty="0">
                <a:solidFill>
                  <a:srgbClr val="E3874F"/>
                </a:solidFill>
              </a:rPr>
              <a:t>Similarity </a:t>
            </a:r>
            <a:r>
              <a:rPr lang="en-US" sz="1800" dirty="0"/>
              <a:t>= first order transformation which tries to preserve the shape of the original raster (need 3 control points)</a:t>
            </a:r>
          </a:p>
          <a:p>
            <a:pPr marL="308701" indent="-308701">
              <a:buFont typeface="+mj-lt"/>
              <a:buAutoNum type="arabicPeriod" startAt="4"/>
            </a:pPr>
            <a:r>
              <a:rPr lang="en-US" sz="1800" b="1" dirty="0">
                <a:solidFill>
                  <a:srgbClr val="E3874F"/>
                </a:solidFill>
              </a:rPr>
              <a:t>Projective </a:t>
            </a:r>
            <a:r>
              <a:rPr lang="en-US" sz="1800" dirty="0"/>
              <a:t>= commonly used for image data (need 4 control points)</a:t>
            </a:r>
          </a:p>
          <a:p>
            <a:pPr marL="308701" indent="-308701">
              <a:buFont typeface="+mj-lt"/>
              <a:buAutoNum type="arabicPeriod" startAt="4"/>
            </a:pPr>
            <a:r>
              <a:rPr lang="en-US" sz="1800" b="1" dirty="0">
                <a:solidFill>
                  <a:srgbClr val="E3874F"/>
                </a:solidFill>
              </a:rPr>
              <a:t>Spline</a:t>
            </a:r>
            <a:r>
              <a:rPr lang="en-US" sz="1800" dirty="0"/>
              <a:t> = uses rubber sheeting (need 10 control points)</a:t>
            </a:r>
          </a:p>
        </p:txBody>
      </p:sp>
      <p:sp>
        <p:nvSpPr>
          <p:cNvPr id="2" name="Slide Number Placeholder 1">
            <a:extLst>
              <a:ext uri="{FF2B5EF4-FFF2-40B4-BE49-F238E27FC236}">
                <a16:creationId xmlns:a16="http://schemas.microsoft.com/office/drawing/2014/main" id="{CD43C4C1-3A3A-4D13-81AB-ED8D3B95DAFA}"/>
              </a:ext>
            </a:extLst>
          </p:cNvPr>
          <p:cNvSpPr>
            <a:spLocks noGrp="1"/>
          </p:cNvSpPr>
          <p:nvPr>
            <p:ph type="sldNum" sz="quarter" idx="12"/>
          </p:nvPr>
        </p:nvSpPr>
        <p:spPr/>
        <p:txBody>
          <a:bodyPr/>
          <a:lstStyle/>
          <a:p>
            <a:fld id="{127DDC20-79C9-9647-820E-6D40A3D210C3}" type="slidenum">
              <a:rPr lang="en-US" smtClean="0"/>
              <a:pPr/>
              <a:t>13</a:t>
            </a:fld>
            <a:endParaRPr lang="en-US"/>
          </a:p>
        </p:txBody>
      </p:sp>
      <p:pic>
        <p:nvPicPr>
          <p:cNvPr id="4" name="Picture 3" descr="Image showing tranformation method"/>
          <p:cNvPicPr/>
          <p:nvPr/>
        </p:nvPicPr>
        <p:blipFill>
          <a:blip r:embed="rId3"/>
          <a:stretch>
            <a:fillRect/>
          </a:stretch>
        </p:blipFill>
        <p:spPr>
          <a:xfrm>
            <a:off x="6000361" y="1346573"/>
            <a:ext cx="2030456" cy="2968560"/>
          </a:xfrm>
          <a:prstGeom prst="rect">
            <a:avLst/>
          </a:prstGeom>
        </p:spPr>
      </p:pic>
      <p:sp>
        <p:nvSpPr>
          <p:cNvPr id="7" name="Title 1">
            <a:extLst>
              <a:ext uri="{FF2B5EF4-FFF2-40B4-BE49-F238E27FC236}">
                <a16:creationId xmlns:a16="http://schemas.microsoft.com/office/drawing/2014/main" id="{6B0A160B-2C5C-49F1-94D7-CE609D1758A3}"/>
              </a:ext>
            </a:extLst>
          </p:cNvPr>
          <p:cNvSpPr txBox="1">
            <a:spLocks/>
          </p:cNvSpPr>
          <p:nvPr/>
        </p:nvSpPr>
        <p:spPr>
          <a:xfrm>
            <a:off x="229852" y="16419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Transformation Method</a:t>
            </a:r>
          </a:p>
        </p:txBody>
      </p:sp>
      <p:cxnSp>
        <p:nvCxnSpPr>
          <p:cNvPr id="8" name="Straight Connector 7">
            <a:extLst>
              <a:ext uri="{FF2B5EF4-FFF2-40B4-BE49-F238E27FC236}">
                <a16:creationId xmlns:a16="http://schemas.microsoft.com/office/drawing/2014/main" id="{123FAA50-579B-4AB1-B050-6AFFFD56E7FF}"/>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3525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552E46-2016-E59D-C56F-51CD90011A67}"/>
              </a:ext>
            </a:extLst>
          </p:cNvPr>
          <p:cNvSpPr>
            <a:spLocks noGrp="1"/>
          </p:cNvSpPr>
          <p:nvPr>
            <p:ph idx="1"/>
          </p:nvPr>
        </p:nvSpPr>
        <p:spPr>
          <a:xfrm>
            <a:off x="392304" y="1071836"/>
            <a:ext cx="7444990" cy="2331321"/>
          </a:xfrm>
        </p:spPr>
        <p:txBody>
          <a:bodyPr>
            <a:noAutofit/>
          </a:bodyPr>
          <a:lstStyle/>
          <a:p>
            <a:r>
              <a:rPr lang="en-US" altLang="zh-CN" sz="2400" dirty="0"/>
              <a:t>Georeferencing the Conway Hall  </a:t>
            </a:r>
          </a:p>
          <a:p>
            <a:pPr lvl="1"/>
            <a:r>
              <a:rPr lang="en-US" altLang="zh-CN" sz="2400" dirty="0"/>
              <a:t>Make a copy of the Conway hall</a:t>
            </a:r>
          </a:p>
          <a:p>
            <a:pPr lvl="1"/>
            <a:r>
              <a:rPr lang="en-US" altLang="zh-CN" sz="2400" dirty="0"/>
              <a:t>Do the georeferencing based on the copy using auto apply</a:t>
            </a:r>
            <a:endParaRPr lang="zh-CN" altLang="en-US" sz="2400" dirty="0"/>
          </a:p>
        </p:txBody>
      </p:sp>
      <p:sp>
        <p:nvSpPr>
          <p:cNvPr id="4" name="Slide Number Placeholder 3">
            <a:extLst>
              <a:ext uri="{FF2B5EF4-FFF2-40B4-BE49-F238E27FC236}">
                <a16:creationId xmlns:a16="http://schemas.microsoft.com/office/drawing/2014/main" id="{37DA5152-E2DA-66B7-699D-DA048D95896E}"/>
              </a:ext>
            </a:extLst>
          </p:cNvPr>
          <p:cNvSpPr>
            <a:spLocks noGrp="1"/>
          </p:cNvSpPr>
          <p:nvPr>
            <p:ph type="sldNum" sz="quarter" idx="12"/>
          </p:nvPr>
        </p:nvSpPr>
        <p:spPr/>
        <p:txBody>
          <a:bodyPr/>
          <a:lstStyle/>
          <a:p>
            <a:fld id="{127DDC20-79C9-9647-820E-6D40A3D210C3}" type="slidenum">
              <a:rPr lang="en-US" smtClean="0"/>
              <a:pPr/>
              <a:t>14</a:t>
            </a:fld>
            <a:endParaRPr lang="en-US"/>
          </a:p>
        </p:txBody>
      </p:sp>
      <p:sp>
        <p:nvSpPr>
          <p:cNvPr id="5" name="Title 1">
            <a:extLst>
              <a:ext uri="{FF2B5EF4-FFF2-40B4-BE49-F238E27FC236}">
                <a16:creationId xmlns:a16="http://schemas.microsoft.com/office/drawing/2014/main" id="{61A20699-9107-8DEF-1CA0-E98D931BC246}"/>
              </a:ext>
            </a:extLst>
          </p:cNvPr>
          <p:cNvSpPr txBox="1">
            <a:spLocks/>
          </p:cNvSpPr>
          <p:nvPr/>
        </p:nvSpPr>
        <p:spPr>
          <a:xfrm>
            <a:off x="392307" y="470957"/>
            <a:ext cx="7444991" cy="515004"/>
          </a:xfrm>
          <a:prstGeom prst="rect">
            <a:avLst/>
          </a:prstGeom>
        </p:spPr>
        <p:txBody>
          <a:bodyPr vert="horz" lIns="91440" tIns="45720" rIns="91440" bIns="45720" rtlCol="0" anchor="b">
            <a:normAutofit/>
          </a:bodyPr>
          <a:lst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sz="2600" dirty="0">
                <a:solidFill>
                  <a:srgbClr val="7030A0"/>
                </a:solidFill>
              </a:rPr>
              <a:t>class activity – georeferencing</a:t>
            </a:r>
          </a:p>
        </p:txBody>
      </p:sp>
    </p:spTree>
    <p:extLst>
      <p:ext uri="{BB962C8B-B14F-4D97-AF65-F5344CB8AC3E}">
        <p14:creationId xmlns:p14="http://schemas.microsoft.com/office/powerpoint/2010/main" val="1705974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D5F16-811D-B8FD-3CA8-0FEAC62A4C8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A75B71-A12C-70C9-DCBB-8097380EE2EE}"/>
              </a:ext>
            </a:extLst>
          </p:cNvPr>
          <p:cNvSpPr>
            <a:spLocks noGrp="1"/>
          </p:cNvSpPr>
          <p:nvPr>
            <p:ph idx="1"/>
          </p:nvPr>
        </p:nvSpPr>
        <p:spPr>
          <a:xfrm>
            <a:off x="392304" y="1071837"/>
            <a:ext cx="7444990" cy="2275662"/>
          </a:xfrm>
        </p:spPr>
        <p:txBody>
          <a:bodyPr>
            <a:noAutofit/>
          </a:bodyPr>
          <a:lstStyle/>
          <a:p>
            <a:r>
              <a:rPr lang="en-US" altLang="zh-CN" sz="2400" dirty="0"/>
              <a:t>Georeferencing the Conway Hall   </a:t>
            </a:r>
          </a:p>
          <a:p>
            <a:pPr lvl="1"/>
            <a:r>
              <a:rPr lang="en-US" altLang="zh-CN" sz="2400" dirty="0"/>
              <a:t>Make a copy of the Conway hall</a:t>
            </a:r>
          </a:p>
          <a:p>
            <a:pPr lvl="1"/>
            <a:r>
              <a:rPr lang="en-US" altLang="zh-CN" sz="2400" dirty="0"/>
              <a:t>Do the georeferencing based on the copy</a:t>
            </a:r>
          </a:p>
          <a:p>
            <a:pPr lvl="1"/>
            <a:r>
              <a:rPr lang="en-US" altLang="zh-CN" sz="2400" dirty="0"/>
              <a:t>Select the transformation method</a:t>
            </a:r>
            <a:endParaRPr lang="zh-CN" altLang="en-US" sz="2400" dirty="0"/>
          </a:p>
        </p:txBody>
      </p:sp>
      <p:sp>
        <p:nvSpPr>
          <p:cNvPr id="4" name="Slide Number Placeholder 3">
            <a:extLst>
              <a:ext uri="{FF2B5EF4-FFF2-40B4-BE49-F238E27FC236}">
                <a16:creationId xmlns:a16="http://schemas.microsoft.com/office/drawing/2014/main" id="{A37A8FEE-51AF-7718-E670-A15385B0818F}"/>
              </a:ext>
            </a:extLst>
          </p:cNvPr>
          <p:cNvSpPr>
            <a:spLocks noGrp="1"/>
          </p:cNvSpPr>
          <p:nvPr>
            <p:ph type="sldNum" sz="quarter" idx="12"/>
          </p:nvPr>
        </p:nvSpPr>
        <p:spPr/>
        <p:txBody>
          <a:bodyPr/>
          <a:lstStyle/>
          <a:p>
            <a:fld id="{127DDC20-79C9-9647-820E-6D40A3D210C3}" type="slidenum">
              <a:rPr lang="en-US" smtClean="0"/>
              <a:pPr/>
              <a:t>15</a:t>
            </a:fld>
            <a:endParaRPr lang="en-US"/>
          </a:p>
        </p:txBody>
      </p:sp>
      <p:sp>
        <p:nvSpPr>
          <p:cNvPr id="5" name="Title 1">
            <a:extLst>
              <a:ext uri="{FF2B5EF4-FFF2-40B4-BE49-F238E27FC236}">
                <a16:creationId xmlns:a16="http://schemas.microsoft.com/office/drawing/2014/main" id="{86F9849D-FCFE-BE44-0368-D90131E9DCE5}"/>
              </a:ext>
            </a:extLst>
          </p:cNvPr>
          <p:cNvSpPr txBox="1">
            <a:spLocks/>
          </p:cNvSpPr>
          <p:nvPr/>
        </p:nvSpPr>
        <p:spPr>
          <a:xfrm>
            <a:off x="392307" y="470957"/>
            <a:ext cx="7444991" cy="515004"/>
          </a:xfrm>
          <a:prstGeom prst="rect">
            <a:avLst/>
          </a:prstGeom>
        </p:spPr>
        <p:txBody>
          <a:bodyPr vert="horz" lIns="91440" tIns="45720" rIns="91440" bIns="45720" rtlCol="0" anchor="b">
            <a:normAutofit/>
          </a:bodyPr>
          <a:lst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sz="2600" dirty="0">
                <a:solidFill>
                  <a:srgbClr val="7030A0"/>
                </a:solidFill>
              </a:rPr>
              <a:t>class activity – georeferencing</a:t>
            </a:r>
          </a:p>
        </p:txBody>
      </p:sp>
    </p:spTree>
    <p:extLst>
      <p:ext uri="{BB962C8B-B14F-4D97-AF65-F5344CB8AC3E}">
        <p14:creationId xmlns:p14="http://schemas.microsoft.com/office/powerpoint/2010/main" val="1290845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TextBox 6"/>
          <p:cNvSpPr txBox="1"/>
          <p:nvPr/>
        </p:nvSpPr>
        <p:spPr>
          <a:xfrm>
            <a:off x="174434" y="1150462"/>
            <a:ext cx="4939919" cy="710964"/>
          </a:xfrm>
          <a:prstGeom prst="rect">
            <a:avLst/>
          </a:prstGeom>
          <a:noFill/>
        </p:spPr>
        <p:txBody>
          <a:bodyPr wrap="square" rtlCol="0">
            <a:spAutoFit/>
          </a:bodyPr>
          <a:lstStyle/>
          <a:p>
            <a:r>
              <a:rPr lang="en-US" sz="2400" b="1" dirty="0">
                <a:solidFill>
                  <a:srgbClr val="E3874F"/>
                </a:solidFill>
              </a:rPr>
              <a:t>Root mean square error (RMSE)</a:t>
            </a:r>
            <a:endParaRPr lang="en-US" sz="1620" dirty="0"/>
          </a:p>
          <a:p>
            <a:endParaRPr lang="en-US" sz="1620" dirty="0"/>
          </a:p>
        </p:txBody>
      </p:sp>
      <p:sp>
        <p:nvSpPr>
          <p:cNvPr id="8" name="TextBox 7"/>
          <p:cNvSpPr txBox="1"/>
          <p:nvPr/>
        </p:nvSpPr>
        <p:spPr>
          <a:xfrm>
            <a:off x="192711" y="1670340"/>
            <a:ext cx="7727795" cy="1572738"/>
          </a:xfrm>
          <a:prstGeom prst="rect">
            <a:avLst/>
          </a:prstGeom>
          <a:noFill/>
        </p:spPr>
        <p:txBody>
          <a:bodyPr wrap="square" rtlCol="0">
            <a:spAutoFit/>
          </a:bodyPr>
          <a:lstStyle/>
          <a:p>
            <a:r>
              <a:rPr lang="en-US" sz="2000" dirty="0"/>
              <a:t>Measure of how well the now-referenced data matches with the source</a:t>
            </a:r>
          </a:p>
          <a:p>
            <a:endParaRPr lang="en-US" sz="2000" dirty="0"/>
          </a:p>
          <a:p>
            <a:r>
              <a:rPr lang="en-US" sz="2000" dirty="0"/>
              <a:t>Obtained by comparing the known location of the control point with the computed coordinates of the control point.</a:t>
            </a:r>
          </a:p>
          <a:p>
            <a:endParaRPr lang="en-US" sz="1620" dirty="0"/>
          </a:p>
        </p:txBody>
      </p:sp>
      <p:sp>
        <p:nvSpPr>
          <p:cNvPr id="2" name="Rectangle 1"/>
          <p:cNvSpPr/>
          <p:nvPr/>
        </p:nvSpPr>
        <p:spPr>
          <a:xfrm>
            <a:off x="3344146" y="3408318"/>
            <a:ext cx="4113728" cy="1138966"/>
          </a:xfrm>
          <a:prstGeom prst="rect">
            <a:avLst/>
          </a:prstGeom>
        </p:spPr>
        <p:txBody>
          <a:bodyPr>
            <a:spAutoFit/>
          </a:bodyPr>
          <a:lstStyle/>
          <a:p>
            <a:pPr algn="ctr">
              <a:lnSpc>
                <a:spcPct val="107000"/>
              </a:lnSpc>
              <a:spcAft>
                <a:spcPts val="540"/>
              </a:spcAft>
            </a:pPr>
            <a:r>
              <a:rPr lang="en-US" sz="1891" dirty="0" err="1">
                <a:latin typeface="Calibri" panose="020F0502020204030204" pitchFamily="34" charset="0"/>
                <a:ea typeface="Calibri" panose="020F0502020204030204" pitchFamily="34" charset="0"/>
                <a:cs typeface="Times New Roman" panose="02020603050405020304" pitchFamily="18" charset="0"/>
              </a:rPr>
              <a:t>RMSE</a:t>
            </a:r>
            <a:r>
              <a:rPr lang="en-US" sz="1891" baseline="-25000" dirty="0" err="1">
                <a:latin typeface="Calibri" panose="020F0502020204030204" pitchFamily="34" charset="0"/>
                <a:ea typeface="Calibri" panose="020F0502020204030204" pitchFamily="34" charset="0"/>
                <a:cs typeface="Times New Roman" panose="02020603050405020304" pitchFamily="18" charset="0"/>
              </a:rPr>
              <a:t>x</a:t>
            </a:r>
            <a:r>
              <a:rPr lang="en-US" sz="1891" dirty="0">
                <a:latin typeface="Calibri" panose="020F0502020204030204" pitchFamily="34" charset="0"/>
                <a:ea typeface="Calibri" panose="020F0502020204030204" pitchFamily="34" charset="0"/>
                <a:cs typeface="Times New Roman" panose="02020603050405020304" pitchFamily="18" charset="0"/>
              </a:rPr>
              <a:t> = </a:t>
            </a:r>
            <a:r>
              <a:rPr lang="en-US" sz="1891" dirty="0">
                <a:latin typeface="Arial" panose="020B0604020202020204" pitchFamily="34" charset="0"/>
                <a:ea typeface="Calibri" panose="020F0502020204030204" pitchFamily="34" charset="0"/>
                <a:cs typeface="Times New Roman" panose="02020603050405020304" pitchFamily="18" charset="0"/>
              </a:rPr>
              <a:t>√ Σ(</a:t>
            </a:r>
            <a:r>
              <a:rPr lang="en-US" sz="1891" dirty="0" err="1">
                <a:latin typeface="Arial" panose="020B0604020202020204" pitchFamily="34" charset="0"/>
                <a:ea typeface="Calibri" panose="020F0502020204030204" pitchFamily="34" charset="0"/>
                <a:cs typeface="Times New Roman" panose="02020603050405020304" pitchFamily="18" charset="0"/>
              </a:rPr>
              <a:t>x</a:t>
            </a:r>
            <a:r>
              <a:rPr lang="en-US" sz="1891" baseline="-25000" dirty="0" err="1">
                <a:latin typeface="Arial" panose="020B0604020202020204" pitchFamily="34" charset="0"/>
                <a:ea typeface="Calibri" panose="020F0502020204030204" pitchFamily="34" charset="0"/>
                <a:cs typeface="Times New Roman" panose="02020603050405020304" pitchFamily="18" charset="0"/>
              </a:rPr>
              <a:t>predicted</a:t>
            </a:r>
            <a:r>
              <a:rPr lang="en-US" sz="1891" baseline="-25000" dirty="0">
                <a:latin typeface="Arial" panose="020B0604020202020204" pitchFamily="34" charset="0"/>
                <a:ea typeface="Calibri" panose="020F0502020204030204" pitchFamily="34" charset="0"/>
                <a:cs typeface="Times New Roman" panose="02020603050405020304" pitchFamily="18" charset="0"/>
              </a:rPr>
              <a:t> </a:t>
            </a:r>
            <a:r>
              <a:rPr lang="en-US" sz="1891" dirty="0">
                <a:latin typeface="Calibri" panose="020F0502020204030204" pitchFamily="34" charset="0"/>
                <a:ea typeface="Calibri" panose="020F0502020204030204" pitchFamily="34" charset="0"/>
                <a:cs typeface="Times New Roman" panose="02020603050405020304" pitchFamily="18" charset="0"/>
              </a:rPr>
              <a:t>– </a:t>
            </a:r>
            <a:r>
              <a:rPr lang="en-US" sz="1891" dirty="0" err="1">
                <a:latin typeface="Calibri" panose="020F0502020204030204" pitchFamily="34" charset="0"/>
                <a:ea typeface="Calibri" panose="020F0502020204030204" pitchFamily="34" charset="0"/>
                <a:cs typeface="Times New Roman" panose="02020603050405020304" pitchFamily="18" charset="0"/>
              </a:rPr>
              <a:t>x</a:t>
            </a:r>
            <a:r>
              <a:rPr lang="en-US" sz="1891" baseline="-25000" dirty="0" err="1">
                <a:latin typeface="Calibri" panose="020F0502020204030204" pitchFamily="34" charset="0"/>
                <a:ea typeface="Calibri" panose="020F0502020204030204" pitchFamily="34" charset="0"/>
                <a:cs typeface="Times New Roman" panose="02020603050405020304" pitchFamily="18" charset="0"/>
              </a:rPr>
              <a:t>actual</a:t>
            </a:r>
            <a:r>
              <a:rPr lang="en-US" sz="1891" dirty="0">
                <a:latin typeface="Calibri" panose="020F0502020204030204" pitchFamily="34" charset="0"/>
                <a:ea typeface="Calibri" panose="020F0502020204030204" pitchFamily="34" charset="0"/>
                <a:cs typeface="Times New Roman" panose="02020603050405020304" pitchFamily="18" charset="0"/>
              </a:rPr>
              <a:t>)</a:t>
            </a:r>
            <a:r>
              <a:rPr lang="en-US" sz="1891" baseline="30000" dirty="0">
                <a:latin typeface="Calibri" panose="020F0502020204030204" pitchFamily="34" charset="0"/>
                <a:ea typeface="Calibri" panose="020F0502020204030204" pitchFamily="34" charset="0"/>
                <a:cs typeface="Times New Roman" panose="02020603050405020304" pitchFamily="18" charset="0"/>
              </a:rPr>
              <a:t>2</a:t>
            </a:r>
            <a:r>
              <a:rPr lang="en-US" sz="1891" dirty="0">
                <a:latin typeface="Calibri" panose="020F0502020204030204" pitchFamily="34" charset="0"/>
                <a:ea typeface="Calibri" panose="020F0502020204030204" pitchFamily="34" charset="0"/>
                <a:cs typeface="Times New Roman" panose="02020603050405020304" pitchFamily="18" charset="0"/>
              </a:rPr>
              <a:t>/n</a:t>
            </a:r>
          </a:p>
          <a:p>
            <a:pPr algn="ctr">
              <a:lnSpc>
                <a:spcPct val="107000"/>
              </a:lnSpc>
              <a:spcAft>
                <a:spcPts val="540"/>
              </a:spcAft>
            </a:pPr>
            <a:r>
              <a:rPr lang="en-US" sz="1891" dirty="0" err="1">
                <a:latin typeface="Calibri" panose="020F0502020204030204" pitchFamily="34" charset="0"/>
                <a:ea typeface="Calibri" panose="020F0502020204030204" pitchFamily="34" charset="0"/>
                <a:cs typeface="Times New Roman" panose="02020603050405020304" pitchFamily="18" charset="0"/>
              </a:rPr>
              <a:t>RMSE</a:t>
            </a:r>
            <a:r>
              <a:rPr lang="en-US" sz="1891" baseline="-25000" dirty="0" err="1">
                <a:latin typeface="Calibri" panose="020F0502020204030204" pitchFamily="34" charset="0"/>
                <a:ea typeface="Calibri" panose="020F0502020204030204" pitchFamily="34" charset="0"/>
                <a:cs typeface="Times New Roman" panose="02020603050405020304" pitchFamily="18" charset="0"/>
              </a:rPr>
              <a:t>y</a:t>
            </a:r>
            <a:r>
              <a:rPr lang="en-US" sz="1891" dirty="0">
                <a:latin typeface="Calibri" panose="020F0502020204030204" pitchFamily="34" charset="0"/>
                <a:ea typeface="Calibri" panose="020F0502020204030204" pitchFamily="34" charset="0"/>
                <a:cs typeface="Times New Roman" panose="02020603050405020304" pitchFamily="18" charset="0"/>
              </a:rPr>
              <a:t> = </a:t>
            </a:r>
            <a:r>
              <a:rPr lang="en-US" sz="1891" dirty="0">
                <a:latin typeface="Arial" panose="020B0604020202020204" pitchFamily="34" charset="0"/>
                <a:ea typeface="Calibri" panose="020F0502020204030204" pitchFamily="34" charset="0"/>
                <a:cs typeface="Times New Roman" panose="02020603050405020304" pitchFamily="18" charset="0"/>
              </a:rPr>
              <a:t>√ Σ(</a:t>
            </a:r>
            <a:r>
              <a:rPr lang="en-US" sz="1891" dirty="0" err="1">
                <a:latin typeface="Arial" panose="020B0604020202020204" pitchFamily="34" charset="0"/>
                <a:ea typeface="Calibri" panose="020F0502020204030204" pitchFamily="34" charset="0"/>
                <a:cs typeface="Times New Roman" panose="02020603050405020304" pitchFamily="18" charset="0"/>
              </a:rPr>
              <a:t>y</a:t>
            </a:r>
            <a:r>
              <a:rPr lang="en-US" sz="1891" baseline="-25000" dirty="0" err="1">
                <a:latin typeface="Arial" panose="020B0604020202020204" pitchFamily="34" charset="0"/>
                <a:ea typeface="Calibri" panose="020F0502020204030204" pitchFamily="34" charset="0"/>
                <a:cs typeface="Times New Roman" panose="02020603050405020304" pitchFamily="18" charset="0"/>
              </a:rPr>
              <a:t>predicted</a:t>
            </a:r>
            <a:r>
              <a:rPr lang="en-US" sz="1891" baseline="-25000" dirty="0">
                <a:latin typeface="Arial" panose="020B0604020202020204" pitchFamily="34" charset="0"/>
                <a:ea typeface="Calibri" panose="020F0502020204030204" pitchFamily="34" charset="0"/>
                <a:cs typeface="Times New Roman" panose="02020603050405020304" pitchFamily="18" charset="0"/>
              </a:rPr>
              <a:t> </a:t>
            </a:r>
            <a:r>
              <a:rPr lang="en-US" sz="1891" dirty="0">
                <a:latin typeface="Calibri" panose="020F0502020204030204" pitchFamily="34" charset="0"/>
                <a:ea typeface="Calibri" panose="020F0502020204030204" pitchFamily="34" charset="0"/>
                <a:cs typeface="Times New Roman" panose="02020603050405020304" pitchFamily="18" charset="0"/>
              </a:rPr>
              <a:t>– </a:t>
            </a:r>
            <a:r>
              <a:rPr lang="en-US" sz="1891" dirty="0" err="1">
                <a:latin typeface="Calibri" panose="020F0502020204030204" pitchFamily="34" charset="0"/>
                <a:ea typeface="Calibri" panose="020F0502020204030204" pitchFamily="34" charset="0"/>
                <a:cs typeface="Times New Roman" panose="02020603050405020304" pitchFamily="18" charset="0"/>
              </a:rPr>
              <a:t>y</a:t>
            </a:r>
            <a:r>
              <a:rPr lang="en-US" sz="1891" baseline="-25000" dirty="0" err="1">
                <a:latin typeface="Calibri" panose="020F0502020204030204" pitchFamily="34" charset="0"/>
                <a:ea typeface="Calibri" panose="020F0502020204030204" pitchFamily="34" charset="0"/>
                <a:cs typeface="Times New Roman" panose="02020603050405020304" pitchFamily="18" charset="0"/>
              </a:rPr>
              <a:t>actual</a:t>
            </a:r>
            <a:r>
              <a:rPr lang="en-US" sz="1891" dirty="0">
                <a:latin typeface="Calibri" panose="020F0502020204030204" pitchFamily="34" charset="0"/>
                <a:ea typeface="Calibri" panose="020F0502020204030204" pitchFamily="34" charset="0"/>
                <a:cs typeface="Times New Roman" panose="02020603050405020304" pitchFamily="18" charset="0"/>
              </a:rPr>
              <a:t>)</a:t>
            </a:r>
            <a:r>
              <a:rPr lang="en-US" sz="1891" baseline="30000" dirty="0">
                <a:latin typeface="Calibri" panose="020F0502020204030204" pitchFamily="34" charset="0"/>
                <a:ea typeface="Calibri" panose="020F0502020204030204" pitchFamily="34" charset="0"/>
                <a:cs typeface="Times New Roman" panose="02020603050405020304" pitchFamily="18" charset="0"/>
              </a:rPr>
              <a:t>2</a:t>
            </a:r>
            <a:r>
              <a:rPr lang="en-US" sz="1891" dirty="0">
                <a:latin typeface="Calibri" panose="020F0502020204030204" pitchFamily="34" charset="0"/>
                <a:ea typeface="Calibri" panose="020F0502020204030204" pitchFamily="34" charset="0"/>
                <a:cs typeface="Times New Roman" panose="02020603050405020304" pitchFamily="18" charset="0"/>
              </a:rPr>
              <a:t>/n</a:t>
            </a:r>
          </a:p>
          <a:p>
            <a:pPr algn="ctr">
              <a:lnSpc>
                <a:spcPct val="107000"/>
              </a:lnSpc>
              <a:spcAft>
                <a:spcPts val="540"/>
              </a:spcAft>
            </a:pPr>
            <a:r>
              <a:rPr lang="en-US" sz="1891" dirty="0">
                <a:latin typeface="Calibri" panose="020F0502020204030204" pitchFamily="34" charset="0"/>
                <a:ea typeface="Calibri" panose="020F0502020204030204" pitchFamily="34" charset="0"/>
                <a:cs typeface="Times New Roman" panose="02020603050405020304" pitchFamily="18" charset="0"/>
              </a:rPr>
              <a:t>RMSE = </a:t>
            </a:r>
            <a:r>
              <a:rPr lang="en-US" sz="1891" dirty="0">
                <a:latin typeface="Arial" panose="020B0604020202020204" pitchFamily="34" charset="0"/>
                <a:ea typeface="Calibri" panose="020F0502020204030204" pitchFamily="34" charset="0"/>
                <a:cs typeface="Times New Roman" panose="02020603050405020304" pitchFamily="18" charset="0"/>
              </a:rPr>
              <a:t>√ (</a:t>
            </a:r>
            <a:r>
              <a:rPr lang="en-US" sz="1891" dirty="0">
                <a:latin typeface="Calibri" panose="020F0502020204030204" pitchFamily="34" charset="0"/>
                <a:ea typeface="Calibri" panose="020F0502020204030204" pitchFamily="34" charset="0"/>
                <a:cs typeface="Times New Roman" panose="02020603050405020304" pitchFamily="18" charset="0"/>
              </a:rPr>
              <a:t>RMSE</a:t>
            </a:r>
            <a:r>
              <a:rPr lang="en-US" sz="1891" baseline="-25000" dirty="0">
                <a:latin typeface="Calibri" panose="020F0502020204030204" pitchFamily="34" charset="0"/>
                <a:ea typeface="Calibri" panose="020F0502020204030204" pitchFamily="34" charset="0"/>
                <a:cs typeface="Times New Roman" panose="02020603050405020304" pitchFamily="18" charset="0"/>
              </a:rPr>
              <a:t>x</a:t>
            </a:r>
            <a:r>
              <a:rPr lang="en-US" sz="1891" baseline="30000" dirty="0">
                <a:latin typeface="Calibri" panose="020F0502020204030204" pitchFamily="34" charset="0"/>
                <a:ea typeface="Calibri" panose="020F0502020204030204" pitchFamily="34" charset="0"/>
                <a:cs typeface="Times New Roman" panose="02020603050405020304" pitchFamily="18" charset="0"/>
              </a:rPr>
              <a:t>2</a:t>
            </a:r>
            <a:r>
              <a:rPr lang="en-US" sz="1891" dirty="0">
                <a:latin typeface="Calibri" panose="020F0502020204030204" pitchFamily="34" charset="0"/>
                <a:ea typeface="Calibri" panose="020F0502020204030204" pitchFamily="34" charset="0"/>
                <a:cs typeface="Times New Roman" panose="02020603050405020304" pitchFamily="18" charset="0"/>
              </a:rPr>
              <a:t> + RMSE</a:t>
            </a:r>
            <a:r>
              <a:rPr lang="en-US" sz="1891" baseline="-25000" dirty="0">
                <a:latin typeface="Calibri" panose="020F0502020204030204" pitchFamily="34" charset="0"/>
                <a:ea typeface="Calibri" panose="020F0502020204030204" pitchFamily="34" charset="0"/>
                <a:cs typeface="Times New Roman" panose="02020603050405020304" pitchFamily="18" charset="0"/>
              </a:rPr>
              <a:t>y</a:t>
            </a:r>
            <a:r>
              <a:rPr lang="en-US" sz="1891" baseline="30000" dirty="0">
                <a:latin typeface="Calibri" panose="020F0502020204030204" pitchFamily="34" charset="0"/>
                <a:ea typeface="Calibri" panose="020F0502020204030204" pitchFamily="34" charset="0"/>
                <a:cs typeface="Times New Roman" panose="02020603050405020304" pitchFamily="18" charset="0"/>
              </a:rPr>
              <a:t>2</a:t>
            </a:r>
            <a:r>
              <a:rPr lang="en-US" sz="1891" dirty="0">
                <a:latin typeface="Calibri" panose="020F0502020204030204" pitchFamily="34" charset="0"/>
                <a:ea typeface="Calibri" panose="020F0502020204030204" pitchFamily="34" charset="0"/>
                <a:cs typeface="Times New Roman" panose="02020603050405020304" pitchFamily="18" charset="0"/>
              </a:rPr>
              <a:t>)</a:t>
            </a:r>
          </a:p>
        </p:txBody>
      </p:sp>
      <p:sp>
        <p:nvSpPr>
          <p:cNvPr id="9" name="Title 1">
            <a:extLst>
              <a:ext uri="{FF2B5EF4-FFF2-40B4-BE49-F238E27FC236}">
                <a16:creationId xmlns:a16="http://schemas.microsoft.com/office/drawing/2014/main" id="{81636498-484B-4737-8EC8-8B69AE8B7FF7}"/>
              </a:ext>
            </a:extLst>
          </p:cNvPr>
          <p:cNvSpPr txBox="1">
            <a:spLocks/>
          </p:cNvSpPr>
          <p:nvPr/>
        </p:nvSpPr>
        <p:spPr>
          <a:xfrm>
            <a:off x="192711" y="19879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Assess the quality of georeferenced result</a:t>
            </a:r>
          </a:p>
        </p:txBody>
      </p:sp>
      <p:cxnSp>
        <p:nvCxnSpPr>
          <p:cNvPr id="10" name="Straight Connector 9">
            <a:extLst>
              <a:ext uri="{FF2B5EF4-FFF2-40B4-BE49-F238E27FC236}">
                <a16:creationId xmlns:a16="http://schemas.microsoft.com/office/drawing/2014/main" id="{F6180372-D705-4A51-A04C-B0ED08458E34}"/>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0525A1F1-277F-4258-80FF-0181C1A4CF0C}"/>
                  </a:ext>
                </a:extLst>
              </p14:cNvPr>
              <p14:cNvContentPartPr/>
              <p14:nvPr/>
            </p14:nvContentPartPr>
            <p14:xfrm>
              <a:off x="4817797" y="3392058"/>
              <a:ext cx="2127600" cy="82440"/>
            </p14:xfrm>
          </p:contentPart>
        </mc:Choice>
        <mc:Fallback xmlns="">
          <p:pic>
            <p:nvPicPr>
              <p:cNvPr id="3" name="Ink 2">
                <a:extLst>
                  <a:ext uri="{FF2B5EF4-FFF2-40B4-BE49-F238E27FC236}">
                    <a16:creationId xmlns:a16="http://schemas.microsoft.com/office/drawing/2014/main" id="{0525A1F1-277F-4258-80FF-0181C1A4CF0C}"/>
                  </a:ext>
                </a:extLst>
              </p:cNvPr>
              <p:cNvPicPr/>
              <p:nvPr/>
            </p:nvPicPr>
            <p:blipFill>
              <a:blip r:embed="rId17"/>
              <a:stretch>
                <a:fillRect/>
              </a:stretch>
            </p:blipFill>
            <p:spPr>
              <a:xfrm>
                <a:off x="4808797" y="3383418"/>
                <a:ext cx="214524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 name="Ink 4">
                <a:extLst>
                  <a:ext uri="{FF2B5EF4-FFF2-40B4-BE49-F238E27FC236}">
                    <a16:creationId xmlns:a16="http://schemas.microsoft.com/office/drawing/2014/main" id="{AC163D7E-F74D-45E1-806B-1FF13579C461}"/>
                  </a:ext>
                </a:extLst>
              </p14:cNvPr>
              <p14:cNvContentPartPr/>
              <p14:nvPr/>
            </p14:nvContentPartPr>
            <p14:xfrm>
              <a:off x="4804117" y="3804978"/>
              <a:ext cx="2230560" cy="50760"/>
            </p14:xfrm>
          </p:contentPart>
        </mc:Choice>
        <mc:Fallback xmlns="">
          <p:pic>
            <p:nvPicPr>
              <p:cNvPr id="5" name="Ink 4">
                <a:extLst>
                  <a:ext uri="{FF2B5EF4-FFF2-40B4-BE49-F238E27FC236}">
                    <a16:creationId xmlns:a16="http://schemas.microsoft.com/office/drawing/2014/main" id="{AC163D7E-F74D-45E1-806B-1FF13579C461}"/>
                  </a:ext>
                </a:extLst>
              </p:cNvPr>
              <p:cNvPicPr/>
              <p:nvPr/>
            </p:nvPicPr>
            <p:blipFill>
              <a:blip r:embed="rId19"/>
              <a:stretch>
                <a:fillRect/>
              </a:stretch>
            </p:blipFill>
            <p:spPr>
              <a:xfrm>
                <a:off x="4795117" y="3795978"/>
                <a:ext cx="224820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ABDDC318-ABA7-4E95-92FD-83691C50A995}"/>
                  </a:ext>
                </a:extLst>
              </p14:cNvPr>
              <p14:cNvContentPartPr/>
              <p14:nvPr/>
            </p14:nvContentPartPr>
            <p14:xfrm>
              <a:off x="4916437" y="4211778"/>
              <a:ext cx="2060640" cy="50760"/>
            </p14:xfrm>
          </p:contentPart>
        </mc:Choice>
        <mc:Fallback xmlns="">
          <p:pic>
            <p:nvPicPr>
              <p:cNvPr id="12" name="Ink 11">
                <a:extLst>
                  <a:ext uri="{FF2B5EF4-FFF2-40B4-BE49-F238E27FC236}">
                    <a16:creationId xmlns:a16="http://schemas.microsoft.com/office/drawing/2014/main" id="{ABDDC318-ABA7-4E95-92FD-83691C50A995}"/>
                  </a:ext>
                </a:extLst>
              </p:cNvPr>
              <p:cNvPicPr/>
              <p:nvPr/>
            </p:nvPicPr>
            <p:blipFill>
              <a:blip r:embed="rId21"/>
              <a:stretch>
                <a:fillRect/>
              </a:stretch>
            </p:blipFill>
            <p:spPr>
              <a:xfrm>
                <a:off x="4907437" y="4203138"/>
                <a:ext cx="2078280" cy="68400"/>
              </a:xfrm>
              <a:prstGeom prst="rect">
                <a:avLst/>
              </a:prstGeom>
            </p:spPr>
          </p:pic>
        </mc:Fallback>
      </mc:AlternateContent>
      <p:sp>
        <p:nvSpPr>
          <p:cNvPr id="4" name="Slide Number Placeholder 3">
            <a:extLst>
              <a:ext uri="{FF2B5EF4-FFF2-40B4-BE49-F238E27FC236}">
                <a16:creationId xmlns:a16="http://schemas.microsoft.com/office/drawing/2014/main" id="{E488F103-8783-4B4A-9679-91F76ABFF139}"/>
              </a:ext>
            </a:extLst>
          </p:cNvPr>
          <p:cNvSpPr>
            <a:spLocks noGrp="1"/>
          </p:cNvSpPr>
          <p:nvPr>
            <p:ph type="sldNum" sz="quarter" idx="12"/>
          </p:nvPr>
        </p:nvSpPr>
        <p:spPr/>
        <p:txBody>
          <a:bodyPr/>
          <a:lstStyle/>
          <a:p>
            <a:fld id="{127DDC20-79C9-9647-820E-6D40A3D210C3}" type="slidenum">
              <a:rPr lang="en-US" smtClean="0"/>
              <a:pPr/>
              <a:t>16</a:t>
            </a:fld>
            <a:endParaRPr lang="en-US"/>
          </a:p>
        </p:txBody>
      </p:sp>
      <p:pic>
        <p:nvPicPr>
          <p:cNvPr id="13" name="Picture 12" descr="Diagram&#10;&#10;Description automatically generated">
            <a:extLst>
              <a:ext uri="{FF2B5EF4-FFF2-40B4-BE49-F238E27FC236}">
                <a16:creationId xmlns:a16="http://schemas.microsoft.com/office/drawing/2014/main" id="{38327BFB-4058-4265-B4B6-1216E603B217}"/>
              </a:ext>
            </a:extLst>
          </p:cNvPr>
          <p:cNvPicPr>
            <a:picLocks noChangeAspect="1"/>
          </p:cNvPicPr>
          <p:nvPr/>
        </p:nvPicPr>
        <p:blipFill>
          <a:blip r:embed="rId22"/>
          <a:stretch>
            <a:fillRect/>
          </a:stretch>
        </p:blipFill>
        <p:spPr>
          <a:xfrm>
            <a:off x="1023579" y="3098063"/>
            <a:ext cx="1839770" cy="1944288"/>
          </a:xfrm>
          <a:prstGeom prst="rect">
            <a:avLst/>
          </a:prstGeom>
        </p:spPr>
      </p:pic>
      <p:sp>
        <p:nvSpPr>
          <p:cNvPr id="14" name="TextBox 13">
            <a:extLst>
              <a:ext uri="{FF2B5EF4-FFF2-40B4-BE49-F238E27FC236}">
                <a16:creationId xmlns:a16="http://schemas.microsoft.com/office/drawing/2014/main" id="{BBB270DE-A1E9-4B92-AE69-230638C61DB0}"/>
              </a:ext>
            </a:extLst>
          </p:cNvPr>
          <p:cNvSpPr txBox="1"/>
          <p:nvPr/>
        </p:nvSpPr>
        <p:spPr>
          <a:xfrm>
            <a:off x="57359" y="4668477"/>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sp>
        <p:nvSpPr>
          <p:cNvPr id="45" name="SMARTInkShape-501"/>
          <p:cNvSpPr/>
          <p:nvPr>
            <p:custDataLst>
              <p:tags r:id="rId1"/>
            </p:custDataLst>
          </p:nvPr>
        </p:nvSpPr>
        <p:spPr>
          <a:xfrm>
            <a:off x="1720215" y="3543300"/>
            <a:ext cx="22861" cy="1"/>
          </a:xfrm>
          <a:custGeom>
            <a:avLst/>
            <a:gdLst/>
            <a:ahLst/>
            <a:cxnLst/>
            <a:rect l="0" t="0" r="0" b="0"/>
            <a:pathLst>
              <a:path w="22861" h="1">
                <a:moveTo>
                  <a:pt x="22860" y="0"/>
                </a:moveTo>
                <a:lnTo>
                  <a:pt x="22860" y="0"/>
                </a:lnTo>
                <a:lnTo>
                  <a:pt x="0" y="0"/>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701594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graphicFrame>
        <p:nvGraphicFramePr>
          <p:cNvPr id="3" name="Table 2"/>
          <p:cNvGraphicFramePr>
            <a:graphicFrameLocks noGrp="1"/>
          </p:cNvGraphicFramePr>
          <p:nvPr/>
        </p:nvGraphicFramePr>
        <p:xfrm>
          <a:off x="410515" y="1806244"/>
          <a:ext cx="7460020" cy="2420239"/>
        </p:xfrm>
        <a:graphic>
          <a:graphicData uri="http://schemas.openxmlformats.org/drawingml/2006/table">
            <a:tbl>
              <a:tblPr firstRow="1" bandRow="1">
                <a:tableStyleId>{6E25E649-3F16-4E02-A733-19D2CDBF48F0}</a:tableStyleId>
              </a:tblPr>
              <a:tblGrid>
                <a:gridCol w="971556">
                  <a:extLst>
                    <a:ext uri="{9D8B030D-6E8A-4147-A177-3AD203B41FA5}">
                      <a16:colId xmlns:a16="http://schemas.microsoft.com/office/drawing/2014/main" val="3763154012"/>
                    </a:ext>
                  </a:extLst>
                </a:gridCol>
                <a:gridCol w="1131755">
                  <a:extLst>
                    <a:ext uri="{9D8B030D-6E8A-4147-A177-3AD203B41FA5}">
                      <a16:colId xmlns:a16="http://schemas.microsoft.com/office/drawing/2014/main" val="3920118320"/>
                    </a:ext>
                  </a:extLst>
                </a:gridCol>
                <a:gridCol w="988293">
                  <a:extLst>
                    <a:ext uri="{9D8B030D-6E8A-4147-A177-3AD203B41FA5}">
                      <a16:colId xmlns:a16="http://schemas.microsoft.com/office/drawing/2014/main" val="1971048571"/>
                    </a:ext>
                  </a:extLst>
                </a:gridCol>
                <a:gridCol w="1131755">
                  <a:extLst>
                    <a:ext uri="{9D8B030D-6E8A-4147-A177-3AD203B41FA5}">
                      <a16:colId xmlns:a16="http://schemas.microsoft.com/office/drawing/2014/main" val="847103690"/>
                    </a:ext>
                  </a:extLst>
                </a:gridCol>
                <a:gridCol w="797808">
                  <a:extLst>
                    <a:ext uri="{9D8B030D-6E8A-4147-A177-3AD203B41FA5}">
                      <a16:colId xmlns:a16="http://schemas.microsoft.com/office/drawing/2014/main" val="3645200808"/>
                    </a:ext>
                  </a:extLst>
                </a:gridCol>
                <a:gridCol w="789838">
                  <a:extLst>
                    <a:ext uri="{9D8B030D-6E8A-4147-A177-3AD203B41FA5}">
                      <a16:colId xmlns:a16="http://schemas.microsoft.com/office/drawing/2014/main" val="851700071"/>
                    </a:ext>
                  </a:extLst>
                </a:gridCol>
                <a:gridCol w="802590">
                  <a:extLst>
                    <a:ext uri="{9D8B030D-6E8A-4147-A177-3AD203B41FA5}">
                      <a16:colId xmlns:a16="http://schemas.microsoft.com/office/drawing/2014/main" val="1608598704"/>
                    </a:ext>
                  </a:extLst>
                </a:gridCol>
                <a:gridCol w="846425">
                  <a:extLst>
                    <a:ext uri="{9D8B030D-6E8A-4147-A177-3AD203B41FA5}">
                      <a16:colId xmlns:a16="http://schemas.microsoft.com/office/drawing/2014/main" val="1137947187"/>
                    </a:ext>
                  </a:extLst>
                </a:gridCol>
              </a:tblGrid>
              <a:tr h="430623">
                <a:tc>
                  <a:txBody>
                    <a:bodyPr/>
                    <a:lstStyle/>
                    <a:p>
                      <a:pPr marL="0" marR="0" algn="ctr">
                        <a:lnSpc>
                          <a:spcPct val="107000"/>
                        </a:lnSpc>
                        <a:spcBef>
                          <a:spcPts val="0"/>
                        </a:spcBef>
                        <a:spcAft>
                          <a:spcPts val="0"/>
                        </a:spcAft>
                      </a:pPr>
                      <a:r>
                        <a:rPr lang="en-US" sz="1400" dirty="0">
                          <a:effectLst/>
                        </a:rPr>
                        <a:t>Correct X</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solidFill>
                      <a:srgbClr val="E3874F"/>
                    </a:solidFill>
                  </a:tcPr>
                </a:tc>
                <a:tc>
                  <a:txBody>
                    <a:bodyPr/>
                    <a:lstStyle/>
                    <a:p>
                      <a:pPr marL="0" marR="0" algn="ctr">
                        <a:lnSpc>
                          <a:spcPct val="107000"/>
                        </a:lnSpc>
                        <a:spcBef>
                          <a:spcPts val="0"/>
                        </a:spcBef>
                        <a:spcAft>
                          <a:spcPts val="0"/>
                        </a:spcAft>
                      </a:pPr>
                      <a:r>
                        <a:rPr lang="en-US" sz="1400" dirty="0">
                          <a:effectLst/>
                        </a:rPr>
                        <a:t>Correct 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solidFill>
                      <a:srgbClr val="E3874F"/>
                    </a:solidFill>
                  </a:tcPr>
                </a:tc>
                <a:tc>
                  <a:txBody>
                    <a:bodyPr/>
                    <a:lstStyle/>
                    <a:p>
                      <a:pPr marL="0" marR="0" algn="ctr">
                        <a:lnSpc>
                          <a:spcPct val="107000"/>
                        </a:lnSpc>
                        <a:spcBef>
                          <a:spcPts val="0"/>
                        </a:spcBef>
                        <a:spcAft>
                          <a:spcPts val="0"/>
                        </a:spcAft>
                      </a:pPr>
                      <a:r>
                        <a:rPr lang="en-US" sz="1400" dirty="0">
                          <a:effectLst/>
                        </a:rPr>
                        <a:t>Predicted X</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solidFill>
                      <a:srgbClr val="E3874F"/>
                    </a:solidFill>
                  </a:tcPr>
                </a:tc>
                <a:tc>
                  <a:txBody>
                    <a:bodyPr/>
                    <a:lstStyle/>
                    <a:p>
                      <a:pPr marL="0" marR="0" algn="ctr">
                        <a:lnSpc>
                          <a:spcPct val="107000"/>
                        </a:lnSpc>
                        <a:spcBef>
                          <a:spcPts val="0"/>
                        </a:spcBef>
                        <a:spcAft>
                          <a:spcPts val="0"/>
                        </a:spcAft>
                      </a:pPr>
                      <a:r>
                        <a:rPr lang="en-US" sz="1400" dirty="0">
                          <a:effectLst/>
                        </a:rPr>
                        <a:t>Predicted 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solidFill>
                      <a:srgbClr val="E3874F"/>
                    </a:solidFill>
                  </a:tcPr>
                </a:tc>
                <a:tc>
                  <a:txBody>
                    <a:bodyPr/>
                    <a:lstStyle/>
                    <a:p>
                      <a:pPr marL="0" marR="0" algn="ctr">
                        <a:lnSpc>
                          <a:spcPct val="107000"/>
                        </a:lnSpc>
                        <a:spcBef>
                          <a:spcPts val="0"/>
                        </a:spcBef>
                        <a:spcAft>
                          <a:spcPts val="0"/>
                        </a:spcAft>
                      </a:pPr>
                      <a:r>
                        <a:rPr lang="en-US" sz="1400" dirty="0">
                          <a:effectLst/>
                        </a:rPr>
                        <a:t>X residual</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solidFill>
                      <a:srgbClr val="E3874F"/>
                    </a:solidFill>
                  </a:tcPr>
                </a:tc>
                <a:tc>
                  <a:txBody>
                    <a:bodyPr/>
                    <a:lstStyle/>
                    <a:p>
                      <a:pPr marL="0" marR="0" algn="ctr">
                        <a:lnSpc>
                          <a:spcPct val="107000"/>
                        </a:lnSpc>
                        <a:spcBef>
                          <a:spcPts val="0"/>
                        </a:spcBef>
                        <a:spcAft>
                          <a:spcPts val="0"/>
                        </a:spcAft>
                      </a:pPr>
                      <a:r>
                        <a:rPr lang="en-US" sz="1400" dirty="0">
                          <a:effectLst/>
                        </a:rPr>
                        <a:t>Y residual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solidFill>
                      <a:srgbClr val="E3874F"/>
                    </a:solidFill>
                  </a:tcPr>
                </a:tc>
                <a:tc>
                  <a:txBody>
                    <a:bodyPr/>
                    <a:lstStyle/>
                    <a:p>
                      <a:pPr marL="0" marR="0" algn="ctr">
                        <a:lnSpc>
                          <a:spcPct val="107000"/>
                        </a:lnSpc>
                        <a:spcBef>
                          <a:spcPts val="0"/>
                        </a:spcBef>
                        <a:spcAft>
                          <a:spcPts val="0"/>
                        </a:spcAft>
                      </a:pPr>
                      <a:r>
                        <a:rPr lang="en-US" sz="1400" dirty="0">
                          <a:effectLst/>
                        </a:rPr>
                        <a:t>X residual squared</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solidFill>
                      <a:srgbClr val="E3874F"/>
                    </a:solidFill>
                  </a:tcPr>
                </a:tc>
                <a:tc>
                  <a:txBody>
                    <a:bodyPr/>
                    <a:lstStyle/>
                    <a:p>
                      <a:pPr marL="0" marR="0" algn="ctr">
                        <a:lnSpc>
                          <a:spcPct val="107000"/>
                        </a:lnSpc>
                        <a:spcBef>
                          <a:spcPts val="0"/>
                        </a:spcBef>
                        <a:spcAft>
                          <a:spcPts val="0"/>
                        </a:spcAft>
                      </a:pPr>
                      <a:r>
                        <a:rPr lang="en-US" sz="1400" dirty="0">
                          <a:effectLst/>
                        </a:rPr>
                        <a:t>Y residual squared</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solidFill>
                      <a:srgbClr val="E3874F"/>
                    </a:solidFill>
                  </a:tcPr>
                </a:tc>
                <a:extLst>
                  <a:ext uri="{0D108BD9-81ED-4DB2-BD59-A6C34878D82A}">
                    <a16:rowId xmlns:a16="http://schemas.microsoft.com/office/drawing/2014/main" val="3099729894"/>
                  </a:ext>
                </a:extLst>
              </a:tr>
              <a:tr h="210424">
                <a:tc>
                  <a:txBody>
                    <a:bodyPr/>
                    <a:lstStyle/>
                    <a:p>
                      <a:pPr marL="0" marR="0" algn="ctr">
                        <a:lnSpc>
                          <a:spcPct val="107000"/>
                        </a:lnSpc>
                        <a:spcBef>
                          <a:spcPts val="0"/>
                        </a:spcBef>
                        <a:spcAft>
                          <a:spcPts val="0"/>
                        </a:spcAft>
                      </a:pPr>
                      <a:r>
                        <a:rPr lang="en-US" sz="1400" dirty="0">
                          <a:effectLst/>
                        </a:rPr>
                        <a:t>513,126.80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4,101,294.60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513,127.30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4,101,293.40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0.5000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-1.2000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0.2500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1.4400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extLst>
                  <a:ext uri="{0D108BD9-81ED-4DB2-BD59-A6C34878D82A}">
                    <a16:rowId xmlns:a16="http://schemas.microsoft.com/office/drawing/2014/main" val="2331661978"/>
                  </a:ext>
                </a:extLst>
              </a:tr>
              <a:tr h="210424">
                <a:tc>
                  <a:txBody>
                    <a:bodyPr/>
                    <a:lstStyle/>
                    <a:p>
                      <a:pPr marL="0" marR="0" algn="ctr">
                        <a:lnSpc>
                          <a:spcPct val="107000"/>
                        </a:lnSpc>
                        <a:spcBef>
                          <a:spcPts val="0"/>
                        </a:spcBef>
                        <a:spcAft>
                          <a:spcPts val="0"/>
                        </a:spcAft>
                      </a:pPr>
                      <a:r>
                        <a:rPr lang="en-US" sz="1400">
                          <a:effectLst/>
                        </a:rPr>
                        <a:t>513,123.20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4,101,303.40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513,118.10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4,101,302.10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-5.1000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-1.3000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26.0100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1.6900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extLst>
                  <a:ext uri="{0D108BD9-81ED-4DB2-BD59-A6C34878D82A}">
                    <a16:rowId xmlns:a16="http://schemas.microsoft.com/office/drawing/2014/main" val="2205883981"/>
                  </a:ext>
                </a:extLst>
              </a:tr>
              <a:tr h="210424">
                <a:tc>
                  <a:txBody>
                    <a:bodyPr/>
                    <a:lstStyle/>
                    <a:p>
                      <a:pPr marL="0" marR="0" algn="ctr">
                        <a:lnSpc>
                          <a:spcPct val="107000"/>
                        </a:lnSpc>
                        <a:spcBef>
                          <a:spcPts val="0"/>
                        </a:spcBef>
                        <a:spcAft>
                          <a:spcPts val="0"/>
                        </a:spcAft>
                      </a:pPr>
                      <a:r>
                        <a:rPr lang="en-US" sz="1400">
                          <a:effectLst/>
                        </a:rPr>
                        <a:t>513,203.80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4,101,209.10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513,203.10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4,101,207.20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-0.7000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-1.9000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0.4900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3.6100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extLst>
                  <a:ext uri="{0D108BD9-81ED-4DB2-BD59-A6C34878D82A}">
                    <a16:rowId xmlns:a16="http://schemas.microsoft.com/office/drawing/2014/main" val="1468831322"/>
                  </a:ext>
                </a:extLst>
              </a:tr>
              <a:tr h="210424">
                <a:tc>
                  <a:txBody>
                    <a:bodyPr/>
                    <a:lstStyle/>
                    <a:p>
                      <a:pPr marL="0" marR="0" algn="ctr">
                        <a:lnSpc>
                          <a:spcPct val="107000"/>
                        </a:lnSpc>
                        <a:spcBef>
                          <a:spcPts val="0"/>
                        </a:spcBef>
                        <a:spcAft>
                          <a:spcPts val="0"/>
                        </a:spcAft>
                      </a:pPr>
                      <a:r>
                        <a:rPr lang="en-US" sz="1400">
                          <a:effectLst/>
                        </a:rPr>
                        <a:t>513,182.60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4,101,377.80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513,181.60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4,101,379.90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-1.0000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2.1000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1.0000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4.4100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extLst>
                  <a:ext uri="{0D108BD9-81ED-4DB2-BD59-A6C34878D82A}">
                    <a16:rowId xmlns:a16="http://schemas.microsoft.com/office/drawing/2014/main" val="4121998686"/>
                  </a:ext>
                </a:extLst>
              </a:tr>
              <a:tr h="210424">
                <a:tc>
                  <a:txBody>
                    <a:bodyPr/>
                    <a:lstStyle/>
                    <a:p>
                      <a:pPr marL="0" marR="0" algn="ctr">
                        <a:lnSpc>
                          <a:spcPct val="107000"/>
                        </a:lnSpc>
                        <a:spcBef>
                          <a:spcPts val="0"/>
                        </a:spcBef>
                        <a:spcAft>
                          <a:spcPts val="0"/>
                        </a:spcAft>
                      </a:pPr>
                      <a:r>
                        <a:rPr lang="en-US" sz="1400">
                          <a:effectLst/>
                        </a:rPr>
                        <a:t>513,217.60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4,101,403.60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513,216.10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4,101,405.20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-1.5000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1.6000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2.2500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2.5600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extLst>
                  <a:ext uri="{0D108BD9-81ED-4DB2-BD59-A6C34878D82A}">
                    <a16:rowId xmlns:a16="http://schemas.microsoft.com/office/drawing/2014/main" val="1182188725"/>
                  </a:ext>
                </a:extLst>
              </a:tr>
              <a:tr h="210424">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dirty="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RMSE X</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2.45</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extLst>
                  <a:ext uri="{0D108BD9-81ED-4DB2-BD59-A6C34878D82A}">
                    <a16:rowId xmlns:a16="http://schemas.microsoft.com/office/drawing/2014/main" val="743215704"/>
                  </a:ext>
                </a:extLst>
              </a:tr>
              <a:tr h="210424">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dirty="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RMSE 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1.66</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extLst>
                  <a:ext uri="{0D108BD9-81ED-4DB2-BD59-A6C34878D82A}">
                    <a16:rowId xmlns:a16="http://schemas.microsoft.com/office/drawing/2014/main" val="3706026952"/>
                  </a:ext>
                </a:extLst>
              </a:tr>
              <a:tr h="210424">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dirty="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RMSE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2.96</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extLst>
                  <a:ext uri="{0D108BD9-81ED-4DB2-BD59-A6C34878D82A}">
                    <a16:rowId xmlns:a16="http://schemas.microsoft.com/office/drawing/2014/main" val="3260482305"/>
                  </a:ext>
                </a:extLst>
              </a:tr>
            </a:tbl>
          </a:graphicData>
        </a:graphic>
      </p:graphicFrame>
      <p:sp>
        <p:nvSpPr>
          <p:cNvPr id="5" name="Title 1">
            <a:extLst>
              <a:ext uri="{FF2B5EF4-FFF2-40B4-BE49-F238E27FC236}">
                <a16:creationId xmlns:a16="http://schemas.microsoft.com/office/drawing/2014/main" id="{EEAE24F3-3185-4869-8958-2F58FAFF1F35}"/>
              </a:ext>
            </a:extLst>
          </p:cNvPr>
          <p:cNvSpPr txBox="1">
            <a:spLocks/>
          </p:cNvSpPr>
          <p:nvPr/>
        </p:nvSpPr>
        <p:spPr>
          <a:xfrm>
            <a:off x="152400" y="16265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Assess the quality of georeferenced result</a:t>
            </a:r>
          </a:p>
        </p:txBody>
      </p:sp>
      <p:cxnSp>
        <p:nvCxnSpPr>
          <p:cNvPr id="7" name="Straight Connector 6">
            <a:extLst>
              <a:ext uri="{FF2B5EF4-FFF2-40B4-BE49-F238E27FC236}">
                <a16:creationId xmlns:a16="http://schemas.microsoft.com/office/drawing/2014/main" id="{46CC794D-2764-4EE3-8608-641068DB0925}"/>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F8F72C0B-C3F5-47B9-BDDB-E3C310CDB925}"/>
              </a:ext>
            </a:extLst>
          </p:cNvPr>
          <p:cNvSpPr>
            <a:spLocks noGrp="1"/>
          </p:cNvSpPr>
          <p:nvPr>
            <p:ph type="sldNum" sz="quarter" idx="12"/>
          </p:nvPr>
        </p:nvSpPr>
        <p:spPr/>
        <p:txBody>
          <a:bodyPr/>
          <a:lstStyle/>
          <a:p>
            <a:fld id="{127DDC20-79C9-9647-820E-6D40A3D210C3}" type="slidenum">
              <a:rPr lang="en-US" smtClean="0"/>
              <a:pPr/>
              <a:t>17</a:t>
            </a:fld>
            <a:endParaRPr lang="en-US"/>
          </a:p>
        </p:txBody>
      </p:sp>
    </p:spTree>
    <p:extLst>
      <p:ext uri="{BB962C8B-B14F-4D97-AF65-F5344CB8AC3E}">
        <p14:creationId xmlns:p14="http://schemas.microsoft.com/office/powerpoint/2010/main" val="2086864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6171" y="1209367"/>
            <a:ext cx="7325729" cy="2881110"/>
          </a:xfrm>
        </p:spPr>
        <p:txBody>
          <a:bodyPr>
            <a:normAutofit/>
          </a:bodyPr>
          <a:lstStyle/>
          <a:p>
            <a:pPr marL="0" lvl="1">
              <a:buFont typeface="Courier New" panose="02070309020205020404" pitchFamily="49" charset="0"/>
              <a:buChar char="o"/>
            </a:pPr>
            <a:r>
              <a:rPr lang="en-US" sz="2800" dirty="0"/>
              <a:t>Calculate </a:t>
            </a:r>
            <a:r>
              <a:rPr lang="en-US" sz="2800" dirty="0" err="1"/>
              <a:t>RMSEx</a:t>
            </a:r>
            <a:r>
              <a:rPr lang="en-US" sz="2800" dirty="0"/>
              <a:t>, </a:t>
            </a:r>
            <a:r>
              <a:rPr lang="en-US" sz="2800" dirty="0" err="1"/>
              <a:t>RMSEy</a:t>
            </a:r>
            <a:r>
              <a:rPr lang="en-US" sz="2800" dirty="0"/>
              <a:t>, and RMSE using Excel sheet</a:t>
            </a:r>
          </a:p>
        </p:txBody>
      </p:sp>
      <p:sp>
        <p:nvSpPr>
          <p:cNvPr id="2" name="Slide Number Placeholder 1">
            <a:extLst>
              <a:ext uri="{FF2B5EF4-FFF2-40B4-BE49-F238E27FC236}">
                <a16:creationId xmlns:a16="http://schemas.microsoft.com/office/drawing/2014/main" id="{67DAEF7C-5553-4681-A3F9-8E3BC1C93F2B}"/>
              </a:ext>
            </a:extLst>
          </p:cNvPr>
          <p:cNvSpPr>
            <a:spLocks noGrp="1"/>
          </p:cNvSpPr>
          <p:nvPr>
            <p:ph type="sldNum" sz="quarter" idx="12"/>
          </p:nvPr>
        </p:nvSpPr>
        <p:spPr/>
        <p:txBody>
          <a:bodyPr/>
          <a:lstStyle/>
          <a:p>
            <a:fld id="{127DDC20-79C9-9647-820E-6D40A3D210C3}" type="slidenum">
              <a:rPr lang="en-US" smtClean="0"/>
              <a:pPr/>
              <a:t>18</a:t>
            </a:fld>
            <a:endParaRPr lang="en-US"/>
          </a:p>
        </p:txBody>
      </p:sp>
      <p:sp>
        <p:nvSpPr>
          <p:cNvPr id="9" name="Title 1">
            <a:extLst>
              <a:ext uri="{FF2B5EF4-FFF2-40B4-BE49-F238E27FC236}">
                <a16:creationId xmlns:a16="http://schemas.microsoft.com/office/drawing/2014/main" id="{CB804490-0FB8-4FEC-A384-246CE13F9557}"/>
              </a:ext>
            </a:extLst>
          </p:cNvPr>
          <p:cNvSpPr txBox="1">
            <a:spLocks/>
          </p:cNvSpPr>
          <p:nvPr/>
        </p:nvSpPr>
        <p:spPr>
          <a:xfrm>
            <a:off x="256171" y="19577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Individual Activity</a:t>
            </a:r>
          </a:p>
        </p:txBody>
      </p:sp>
      <p:cxnSp>
        <p:nvCxnSpPr>
          <p:cNvPr id="10" name="Straight Connector 9">
            <a:extLst>
              <a:ext uri="{FF2B5EF4-FFF2-40B4-BE49-F238E27FC236}">
                <a16:creationId xmlns:a16="http://schemas.microsoft.com/office/drawing/2014/main" id="{77AC410F-79F4-4BA2-815A-86E9869E5ABB}"/>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5982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buFont typeface="Courier New" panose="02070309020205020404" pitchFamily="49" charset="0"/>
              <a:buChar char="o"/>
            </a:pPr>
            <a:r>
              <a:rPr lang="en-US" sz="2200" dirty="0"/>
              <a:t>The lower RMSE generally indicates a more accurate affine transformation</a:t>
            </a:r>
          </a:p>
          <a:p>
            <a:pPr>
              <a:buFont typeface="Courier New" panose="02070309020205020404" pitchFamily="49" charset="0"/>
              <a:buChar char="o"/>
            </a:pPr>
            <a:r>
              <a:rPr lang="en-US" sz="2200" dirty="0"/>
              <a:t>For imagery, we generally want the RMSE to be lower than the size of the pixel</a:t>
            </a:r>
          </a:p>
          <a:p>
            <a:pPr>
              <a:buFont typeface="Courier New" panose="02070309020205020404" pitchFamily="49" charset="0"/>
              <a:buChar char="o"/>
            </a:pPr>
            <a:r>
              <a:rPr lang="en-US" sz="2200" dirty="0"/>
              <a:t>Low RMSE can be misleading if the quality of the control points is poor</a:t>
            </a:r>
          </a:p>
          <a:p>
            <a:pPr>
              <a:buFont typeface="Courier New" panose="02070309020205020404" pitchFamily="49" charset="0"/>
              <a:buChar char="o"/>
            </a:pPr>
            <a:r>
              <a:rPr lang="en-US" sz="2200" dirty="0"/>
              <a:t>Sometimes the algorithm overfits to the control points, so the RMSE can be misleading</a:t>
            </a:r>
          </a:p>
          <a:p>
            <a:pPr>
              <a:buFont typeface="Courier New" panose="02070309020205020404" pitchFamily="49" charset="0"/>
              <a:buChar char="o"/>
            </a:pPr>
            <a:r>
              <a:rPr lang="en-US" sz="2200" dirty="0"/>
              <a:t>The RMSE is not useful when comparing among different model forms</a:t>
            </a:r>
          </a:p>
        </p:txBody>
      </p:sp>
      <p:sp>
        <p:nvSpPr>
          <p:cNvPr id="2" name="Slide Number Placeholder 1">
            <a:extLst>
              <a:ext uri="{FF2B5EF4-FFF2-40B4-BE49-F238E27FC236}">
                <a16:creationId xmlns:a16="http://schemas.microsoft.com/office/drawing/2014/main" id="{903EBDB5-AF63-4490-9F6A-E9A9BBB9311A}"/>
              </a:ext>
            </a:extLst>
          </p:cNvPr>
          <p:cNvSpPr>
            <a:spLocks noGrp="1"/>
          </p:cNvSpPr>
          <p:nvPr>
            <p:ph type="sldNum" sz="quarter" idx="12"/>
          </p:nvPr>
        </p:nvSpPr>
        <p:spPr/>
        <p:txBody>
          <a:bodyPr/>
          <a:lstStyle/>
          <a:p>
            <a:fld id="{127DDC20-79C9-9647-820E-6D40A3D210C3}" type="slidenum">
              <a:rPr lang="en-US" smtClean="0"/>
              <a:pPr/>
              <a:t>19</a:t>
            </a:fld>
            <a:endParaRPr lang="en-US"/>
          </a:p>
        </p:txBody>
      </p:sp>
      <p:sp>
        <p:nvSpPr>
          <p:cNvPr id="4" name="Title 1">
            <a:extLst>
              <a:ext uri="{FF2B5EF4-FFF2-40B4-BE49-F238E27FC236}">
                <a16:creationId xmlns:a16="http://schemas.microsoft.com/office/drawing/2014/main" id="{FA1B2026-5645-4BB4-922E-4E678E2FAE17}"/>
              </a:ext>
            </a:extLst>
          </p:cNvPr>
          <p:cNvSpPr txBox="1">
            <a:spLocks/>
          </p:cNvSpPr>
          <p:nvPr/>
        </p:nvSpPr>
        <p:spPr>
          <a:xfrm>
            <a:off x="317315" y="2333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RMSE Interpretation</a:t>
            </a:r>
          </a:p>
        </p:txBody>
      </p:sp>
      <p:cxnSp>
        <p:nvCxnSpPr>
          <p:cNvPr id="5" name="Straight Connector 4">
            <a:extLst>
              <a:ext uri="{FF2B5EF4-FFF2-40B4-BE49-F238E27FC236}">
                <a16:creationId xmlns:a16="http://schemas.microsoft.com/office/drawing/2014/main" id="{D54CCE28-22FC-45FF-8818-07BE709D58D2}"/>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6329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1B2026-5645-4BB4-922E-4E678E2FAE17}"/>
              </a:ext>
            </a:extLst>
          </p:cNvPr>
          <p:cNvSpPr txBox="1">
            <a:spLocks/>
          </p:cNvSpPr>
          <p:nvPr/>
        </p:nvSpPr>
        <p:spPr>
          <a:xfrm>
            <a:off x="212618" y="2110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RMSE Interpretation</a:t>
            </a:r>
          </a:p>
        </p:txBody>
      </p:sp>
      <p:cxnSp>
        <p:nvCxnSpPr>
          <p:cNvPr id="5" name="Straight Connector 4">
            <a:extLst>
              <a:ext uri="{FF2B5EF4-FFF2-40B4-BE49-F238E27FC236}">
                <a16:creationId xmlns:a16="http://schemas.microsoft.com/office/drawing/2014/main" id="{D54CCE28-22FC-45FF-8818-07BE709D58D2}"/>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903EBDB5-AF63-4490-9F6A-E9A9BBB9311A}"/>
              </a:ext>
            </a:extLst>
          </p:cNvPr>
          <p:cNvSpPr>
            <a:spLocks noGrp="1"/>
          </p:cNvSpPr>
          <p:nvPr>
            <p:ph type="sldNum" sz="quarter" idx="12"/>
          </p:nvPr>
        </p:nvSpPr>
        <p:spPr/>
        <p:txBody>
          <a:bodyPr/>
          <a:lstStyle/>
          <a:p>
            <a:fld id="{127DDC20-79C9-9647-820E-6D40A3D210C3}" type="slidenum">
              <a:rPr lang="en-US" smtClean="0"/>
              <a:pPr/>
              <a:t>20</a:t>
            </a:fld>
            <a:endParaRPr lang="en-US"/>
          </a:p>
        </p:txBody>
      </p:sp>
      <p:pic>
        <p:nvPicPr>
          <p:cNvPr id="9" name="Picture 8" descr="Map&#10;&#10;Description automatically generated">
            <a:extLst>
              <a:ext uri="{FF2B5EF4-FFF2-40B4-BE49-F238E27FC236}">
                <a16:creationId xmlns:a16="http://schemas.microsoft.com/office/drawing/2014/main" id="{02DE0B43-0583-4329-A208-F58708D75BE7}"/>
              </a:ext>
            </a:extLst>
          </p:cNvPr>
          <p:cNvPicPr>
            <a:picLocks noChangeAspect="1"/>
          </p:cNvPicPr>
          <p:nvPr/>
        </p:nvPicPr>
        <p:blipFill>
          <a:blip r:embed="rId3"/>
          <a:stretch>
            <a:fillRect/>
          </a:stretch>
        </p:blipFill>
        <p:spPr>
          <a:xfrm>
            <a:off x="1644437" y="1068300"/>
            <a:ext cx="5213563" cy="4035298"/>
          </a:xfrm>
          <a:prstGeom prst="rect">
            <a:avLst/>
          </a:prstGeom>
        </p:spPr>
      </p:pic>
      <p:sp>
        <p:nvSpPr>
          <p:cNvPr id="10" name="TextBox 9">
            <a:extLst>
              <a:ext uri="{FF2B5EF4-FFF2-40B4-BE49-F238E27FC236}">
                <a16:creationId xmlns:a16="http://schemas.microsoft.com/office/drawing/2014/main" id="{58123189-EB77-43A5-B415-CC6C1007DCDB}"/>
              </a:ext>
            </a:extLst>
          </p:cNvPr>
          <p:cNvSpPr txBox="1"/>
          <p:nvPr/>
        </p:nvSpPr>
        <p:spPr>
          <a:xfrm>
            <a:off x="57359" y="4668477"/>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spTree>
    <p:extLst>
      <p:ext uri="{BB962C8B-B14F-4D97-AF65-F5344CB8AC3E}">
        <p14:creationId xmlns:p14="http://schemas.microsoft.com/office/powerpoint/2010/main" val="835746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334850" y="21408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Digitizing</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334850" y="1213687"/>
            <a:ext cx="7559899" cy="2492990"/>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The process by which coordinates from a map, image, or other sources are converted into a vector layer in a GIS.</a:t>
            </a:r>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p:txBody>
      </p:sp>
      <p:pic>
        <p:nvPicPr>
          <p:cNvPr id="10" name="Picture 9" descr="Image showing digitizing">
            <a:extLst>
              <a:ext uri="{FF2B5EF4-FFF2-40B4-BE49-F238E27FC236}">
                <a16:creationId xmlns:a16="http://schemas.microsoft.com/office/drawing/2014/main" id="{2C09E13B-91BF-48EF-9AC2-855EB248EC58}"/>
              </a:ext>
            </a:extLst>
          </p:cNvPr>
          <p:cNvPicPr>
            <a:picLocks noChangeAspect="1"/>
          </p:cNvPicPr>
          <p:nvPr/>
        </p:nvPicPr>
        <p:blipFill>
          <a:blip r:embed="rId3"/>
          <a:stretch>
            <a:fillRect/>
          </a:stretch>
        </p:blipFill>
        <p:spPr>
          <a:xfrm>
            <a:off x="3182544" y="2646090"/>
            <a:ext cx="3580989" cy="2245223"/>
          </a:xfrm>
          <a:prstGeom prst="rect">
            <a:avLst/>
          </a:prstGeom>
        </p:spPr>
      </p:pic>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21</a:t>
            </a:fld>
            <a:endParaRPr lang="en-US"/>
          </a:p>
        </p:txBody>
      </p:sp>
    </p:spTree>
    <p:extLst>
      <p:ext uri="{BB962C8B-B14F-4D97-AF65-F5344CB8AC3E}">
        <p14:creationId xmlns:p14="http://schemas.microsoft.com/office/powerpoint/2010/main" val="2197135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283335" y="20762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Digitizing</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55660" y="1064871"/>
            <a:ext cx="8097740" cy="3077766"/>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Manual digitization is human-guided coordinate capture from a map or image source.</a:t>
            </a:r>
          </a:p>
          <a:p>
            <a:pPr marL="914400" lvl="1" indent="-457200">
              <a:buFont typeface="Wingdings" panose="05000000000000000000" pitchFamily="2" charset="2"/>
              <a:buChar char="ü"/>
            </a:pPr>
            <a:r>
              <a:rPr lang="en-US" sz="2400" dirty="0"/>
              <a:t>Hardcopy digitizing</a:t>
            </a:r>
          </a:p>
          <a:p>
            <a:pPr marL="1371600" lvl="2" indent="-457200">
              <a:buFont typeface="Arial" panose="020B0604020202020204" pitchFamily="34" charset="0"/>
              <a:buChar char="•"/>
            </a:pPr>
            <a:r>
              <a:rPr lang="en-US" sz="2000" dirty="0"/>
              <a:t>Human-guided coordinate capture from a paper, plastic, or other hardcopy map</a:t>
            </a:r>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22</a:t>
            </a:fld>
            <a:endParaRPr lang="en-US"/>
          </a:p>
        </p:txBody>
      </p:sp>
      <p:sp>
        <p:nvSpPr>
          <p:cNvPr id="5" name="TextBox 4">
            <a:extLst>
              <a:ext uri="{FF2B5EF4-FFF2-40B4-BE49-F238E27FC236}">
                <a16:creationId xmlns:a16="http://schemas.microsoft.com/office/drawing/2014/main" id="{7E7AACC5-427F-4E7D-9020-438D8BC70CF1}"/>
              </a:ext>
            </a:extLst>
          </p:cNvPr>
          <p:cNvSpPr txBox="1"/>
          <p:nvPr/>
        </p:nvSpPr>
        <p:spPr>
          <a:xfrm>
            <a:off x="5768622" y="4824430"/>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pic>
        <p:nvPicPr>
          <p:cNvPr id="9" name="Picture 8" descr="A picture containing text, person, indoor&#10;&#10;Description automatically generated">
            <a:extLst>
              <a:ext uri="{FF2B5EF4-FFF2-40B4-BE49-F238E27FC236}">
                <a16:creationId xmlns:a16="http://schemas.microsoft.com/office/drawing/2014/main" id="{E3E18528-1D6F-4A11-A5BD-7A28C58D3468}"/>
              </a:ext>
            </a:extLst>
          </p:cNvPr>
          <p:cNvPicPr>
            <a:picLocks noChangeAspect="1"/>
          </p:cNvPicPr>
          <p:nvPr/>
        </p:nvPicPr>
        <p:blipFill>
          <a:blip r:embed="rId3"/>
          <a:stretch>
            <a:fillRect/>
          </a:stretch>
        </p:blipFill>
        <p:spPr>
          <a:xfrm>
            <a:off x="2971054" y="2889956"/>
            <a:ext cx="2692298" cy="2196084"/>
          </a:xfrm>
          <a:prstGeom prst="rect">
            <a:avLst/>
          </a:prstGeom>
        </p:spPr>
      </p:pic>
    </p:spTree>
    <p:extLst>
      <p:ext uri="{BB962C8B-B14F-4D97-AF65-F5344CB8AC3E}">
        <p14:creationId xmlns:p14="http://schemas.microsoft.com/office/powerpoint/2010/main" val="1396792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325267" y="19717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Digitizing</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386366" y="1064871"/>
            <a:ext cx="7559899" cy="3108543"/>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Manual digitization is human-guided coordinate capture from a map or image source.</a:t>
            </a:r>
          </a:p>
          <a:p>
            <a:pPr marL="914400" lvl="1" indent="-457200">
              <a:buFont typeface="Wingdings" panose="05000000000000000000" pitchFamily="2" charset="2"/>
              <a:buChar char="ü"/>
            </a:pPr>
            <a:r>
              <a:rPr lang="en-US" sz="2400" dirty="0"/>
              <a:t>On-screen digitizing</a:t>
            </a:r>
          </a:p>
          <a:p>
            <a:pPr marL="1371600" lvl="2" indent="-457200">
              <a:buFont typeface="Arial" panose="020B0604020202020204" pitchFamily="34" charset="0"/>
              <a:buChar char="•"/>
            </a:pPr>
            <a:r>
              <a:rPr lang="en-US" sz="2000" dirty="0"/>
              <a:t>Heads-up digitizing, involves manually digitizing on a computer screen, using a digital image as a backdrop</a:t>
            </a:r>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23</a:t>
            </a:fld>
            <a:endParaRPr lang="en-US"/>
          </a:p>
        </p:txBody>
      </p:sp>
      <p:pic>
        <p:nvPicPr>
          <p:cNvPr id="4" name="Picture 3" descr="A person sitting at a desk with a computer and a monitor&#10;&#10;Description automatically generated with low confidence">
            <a:extLst>
              <a:ext uri="{FF2B5EF4-FFF2-40B4-BE49-F238E27FC236}">
                <a16:creationId xmlns:a16="http://schemas.microsoft.com/office/drawing/2014/main" id="{FED5F856-39CD-41A9-B0A2-B514A399A04E}"/>
              </a:ext>
            </a:extLst>
          </p:cNvPr>
          <p:cNvPicPr>
            <a:picLocks noChangeAspect="1"/>
          </p:cNvPicPr>
          <p:nvPr/>
        </p:nvPicPr>
        <p:blipFill>
          <a:blip r:embed="rId3"/>
          <a:stretch>
            <a:fillRect/>
          </a:stretch>
        </p:blipFill>
        <p:spPr>
          <a:xfrm>
            <a:off x="2713034" y="2937886"/>
            <a:ext cx="2861895" cy="2103221"/>
          </a:xfrm>
          <a:prstGeom prst="rect">
            <a:avLst/>
          </a:prstGeom>
        </p:spPr>
      </p:pic>
      <p:sp>
        <p:nvSpPr>
          <p:cNvPr id="5" name="TextBox 4">
            <a:extLst>
              <a:ext uri="{FF2B5EF4-FFF2-40B4-BE49-F238E27FC236}">
                <a16:creationId xmlns:a16="http://schemas.microsoft.com/office/drawing/2014/main" id="{7E7AACC5-427F-4E7D-9020-438D8BC70CF1}"/>
              </a:ext>
            </a:extLst>
          </p:cNvPr>
          <p:cNvSpPr txBox="1"/>
          <p:nvPr/>
        </p:nvSpPr>
        <p:spPr>
          <a:xfrm>
            <a:off x="5768622" y="4824430"/>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spTree>
    <p:extLst>
      <p:ext uri="{BB962C8B-B14F-4D97-AF65-F5344CB8AC3E}">
        <p14:creationId xmlns:p14="http://schemas.microsoft.com/office/powerpoint/2010/main" val="103366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C94E3-8410-E62B-96B6-58501177B74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BDFCD60-A6C3-B664-D1FC-EAFFC513E443}"/>
              </a:ext>
            </a:extLst>
          </p:cNvPr>
          <p:cNvSpPr txBox="1">
            <a:spLocks/>
          </p:cNvSpPr>
          <p:nvPr/>
        </p:nvSpPr>
        <p:spPr>
          <a:xfrm>
            <a:off x="283335" y="2393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Digitizing</a:t>
            </a:r>
          </a:p>
        </p:txBody>
      </p:sp>
      <p:cxnSp>
        <p:nvCxnSpPr>
          <p:cNvPr id="7" name="Straight Connector 6">
            <a:extLst>
              <a:ext uri="{FF2B5EF4-FFF2-40B4-BE49-F238E27FC236}">
                <a16:creationId xmlns:a16="http://schemas.microsoft.com/office/drawing/2014/main" id="{7179C099-25F3-3F72-BD19-90BEC768F548}"/>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CB8EF20F-19A2-55AF-24D1-3F268A9D34A6}"/>
              </a:ext>
            </a:extLst>
          </p:cNvPr>
          <p:cNvSpPr txBox="1"/>
          <p:nvPr/>
        </p:nvSpPr>
        <p:spPr>
          <a:xfrm>
            <a:off x="386366" y="1064871"/>
            <a:ext cx="7559899" cy="2462213"/>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Manual digitization is human-guided coordinate capture from a map or image source.</a:t>
            </a:r>
          </a:p>
          <a:p>
            <a:pPr marL="914400" lvl="1" indent="-457200">
              <a:buFont typeface="Wingdings" panose="05000000000000000000" pitchFamily="2" charset="2"/>
              <a:buChar char="ü"/>
            </a:pPr>
            <a:r>
              <a:rPr lang="en-US" sz="2400" dirty="0"/>
              <a:t>Scan digitizing</a:t>
            </a:r>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p:txBody>
      </p:sp>
      <p:sp>
        <p:nvSpPr>
          <p:cNvPr id="2" name="Slide Number Placeholder 1">
            <a:extLst>
              <a:ext uri="{FF2B5EF4-FFF2-40B4-BE49-F238E27FC236}">
                <a16:creationId xmlns:a16="http://schemas.microsoft.com/office/drawing/2014/main" id="{A8EBB368-44D0-E738-560F-9BE9A94E3648}"/>
              </a:ext>
            </a:extLst>
          </p:cNvPr>
          <p:cNvSpPr>
            <a:spLocks noGrp="1"/>
          </p:cNvSpPr>
          <p:nvPr>
            <p:ph type="sldNum" sz="quarter" idx="12"/>
          </p:nvPr>
        </p:nvSpPr>
        <p:spPr/>
        <p:txBody>
          <a:bodyPr/>
          <a:lstStyle/>
          <a:p>
            <a:fld id="{127DDC20-79C9-9647-820E-6D40A3D210C3}" type="slidenum">
              <a:rPr lang="en-US" smtClean="0"/>
              <a:pPr/>
              <a:t>24</a:t>
            </a:fld>
            <a:endParaRPr lang="en-US"/>
          </a:p>
        </p:txBody>
      </p:sp>
      <p:pic>
        <p:nvPicPr>
          <p:cNvPr id="10" name="Picture 9" descr="Image of Scanner">
            <a:extLst>
              <a:ext uri="{FF2B5EF4-FFF2-40B4-BE49-F238E27FC236}">
                <a16:creationId xmlns:a16="http://schemas.microsoft.com/office/drawing/2014/main" id="{34B98A4B-F8F0-A566-46DF-6E7C5B8900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85844" y="2445564"/>
            <a:ext cx="3712036" cy="2458621"/>
          </a:xfrm>
          <a:prstGeom prst="rect">
            <a:avLst/>
          </a:prstGeom>
        </p:spPr>
      </p:pic>
    </p:spTree>
    <p:extLst>
      <p:ext uri="{BB962C8B-B14F-4D97-AF65-F5344CB8AC3E}">
        <p14:creationId xmlns:p14="http://schemas.microsoft.com/office/powerpoint/2010/main" val="340167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283335" y="2393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Digitizing</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386366" y="1064871"/>
            <a:ext cx="7559899" cy="1569660"/>
          </a:xfrm>
          <a:prstGeom prst="rect">
            <a:avLst/>
          </a:prstGeom>
          <a:noFill/>
        </p:spPr>
        <p:txBody>
          <a:bodyPr wrap="square" rtlCol="0">
            <a:spAutoFit/>
          </a:bodyPr>
          <a:lstStyle/>
          <a:p>
            <a:pPr marL="457200" indent="-457200">
              <a:buFont typeface="Courier New" panose="02070309020205020404" pitchFamily="49" charset="0"/>
              <a:buChar char="o"/>
            </a:pPr>
            <a:r>
              <a:rPr lang="en-US" altLang="zh-CN" sz="2600" dirty="0">
                <a:hlinkClick r:id="rId3"/>
              </a:rPr>
              <a:t>Digitizing scanned maps using AI in ArcGIS Pro</a:t>
            </a:r>
            <a:endParaRPr lang="en-US" altLang="zh-CN" sz="2600" dirty="0"/>
          </a:p>
          <a:p>
            <a:pPr marL="914400" lvl="1" indent="-457200">
              <a:buFont typeface="Wingdings" panose="05000000000000000000" pitchFamily="2" charset="2"/>
              <a:buChar char="ü"/>
            </a:pPr>
            <a:r>
              <a:rPr lang="en-US" altLang="zh-CN" dirty="0">
                <a:hlinkClick r:id="rId4"/>
              </a:rPr>
              <a:t>Detect Object using Deep Learning tool</a:t>
            </a:r>
            <a:endParaRPr lang="en-US" sz="2600" dirty="0"/>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25</a:t>
            </a:fld>
            <a:endParaRPr lang="en-US"/>
          </a:p>
        </p:txBody>
      </p:sp>
      <p:pic>
        <p:nvPicPr>
          <p:cNvPr id="4" name="Picture 3">
            <a:extLst>
              <a:ext uri="{FF2B5EF4-FFF2-40B4-BE49-F238E27FC236}">
                <a16:creationId xmlns:a16="http://schemas.microsoft.com/office/drawing/2014/main" id="{00B71413-0E40-ADBF-EDBD-4B3445208A6F}"/>
              </a:ext>
            </a:extLst>
          </p:cNvPr>
          <p:cNvPicPr>
            <a:picLocks noChangeAspect="1"/>
          </p:cNvPicPr>
          <p:nvPr/>
        </p:nvPicPr>
        <p:blipFill>
          <a:blip r:embed="rId5"/>
          <a:stretch>
            <a:fillRect/>
          </a:stretch>
        </p:blipFill>
        <p:spPr>
          <a:xfrm>
            <a:off x="874644" y="1951445"/>
            <a:ext cx="6162261" cy="2221969"/>
          </a:xfrm>
          <a:prstGeom prst="rect">
            <a:avLst/>
          </a:prstGeom>
        </p:spPr>
      </p:pic>
    </p:spTree>
    <p:extLst>
      <p:ext uri="{BB962C8B-B14F-4D97-AF65-F5344CB8AC3E}">
        <p14:creationId xmlns:p14="http://schemas.microsoft.com/office/powerpoint/2010/main" val="2888690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11480" y="1200151"/>
            <a:ext cx="4542183" cy="3394472"/>
          </a:xfrm>
        </p:spPr>
        <p:txBody>
          <a:bodyPr>
            <a:noAutofit/>
          </a:bodyPr>
          <a:lstStyle/>
          <a:p>
            <a:pPr marL="308701" indent="-308701">
              <a:buFont typeface="+mj-lt"/>
              <a:buAutoNum type="arabicPeriod"/>
            </a:pPr>
            <a:r>
              <a:rPr lang="en-US" sz="1800" dirty="0"/>
              <a:t>Obtain input imagery or other reference data</a:t>
            </a:r>
          </a:p>
          <a:p>
            <a:pPr marL="308701" indent="-308701">
              <a:buFont typeface="+mj-lt"/>
              <a:buAutoNum type="arabicPeriod"/>
            </a:pPr>
            <a:r>
              <a:rPr lang="en-US" sz="1800" dirty="0"/>
              <a:t>Create a new file to edit</a:t>
            </a:r>
          </a:p>
          <a:p>
            <a:pPr lvl="1"/>
            <a:r>
              <a:rPr lang="en-US" sz="1800" dirty="0"/>
              <a:t>Define geometry (point, lines, or polygon)</a:t>
            </a:r>
          </a:p>
          <a:p>
            <a:pPr lvl="1"/>
            <a:r>
              <a:rPr lang="en-US" sz="1800" dirty="0"/>
              <a:t>Define projection</a:t>
            </a:r>
          </a:p>
          <a:p>
            <a:pPr lvl="1"/>
            <a:r>
              <a:rPr lang="en-US" sz="1800" dirty="0"/>
              <a:t>Create attribute fields</a:t>
            </a:r>
          </a:p>
          <a:p>
            <a:pPr marL="308701" indent="-308701">
              <a:buFont typeface="+mj-lt"/>
              <a:buAutoNum type="arabicPeriod"/>
            </a:pPr>
            <a:r>
              <a:rPr lang="en-US" sz="1800" dirty="0"/>
              <a:t>Digitizing</a:t>
            </a:r>
          </a:p>
          <a:p>
            <a:pPr marL="308701" indent="-308701">
              <a:buFont typeface="+mj-lt"/>
              <a:buAutoNum type="arabicPeriod"/>
            </a:pPr>
            <a:r>
              <a:rPr lang="en-US" sz="1800" dirty="0"/>
              <a:t>Edit attribute information</a:t>
            </a:r>
          </a:p>
          <a:p>
            <a:pPr marL="308701" indent="-308701">
              <a:buFont typeface="+mj-lt"/>
              <a:buAutoNum type="arabicPeriod"/>
            </a:pPr>
            <a:r>
              <a:rPr lang="en-US" sz="1800" dirty="0"/>
              <a:t>Check and validate your results</a:t>
            </a:r>
          </a:p>
        </p:txBody>
      </p:sp>
      <p:sp>
        <p:nvSpPr>
          <p:cNvPr id="2" name="Slide Number Placeholder 1">
            <a:extLst>
              <a:ext uri="{FF2B5EF4-FFF2-40B4-BE49-F238E27FC236}">
                <a16:creationId xmlns:a16="http://schemas.microsoft.com/office/drawing/2014/main" id="{7C1A49C7-FA84-46E0-8E90-8C89D6FAB3A9}"/>
              </a:ext>
            </a:extLst>
          </p:cNvPr>
          <p:cNvSpPr>
            <a:spLocks noGrp="1"/>
          </p:cNvSpPr>
          <p:nvPr>
            <p:ph type="sldNum" sz="quarter" idx="12"/>
          </p:nvPr>
        </p:nvSpPr>
        <p:spPr/>
        <p:txBody>
          <a:bodyPr/>
          <a:lstStyle/>
          <a:p>
            <a:fld id="{127DDC20-79C9-9647-820E-6D40A3D210C3}" type="slidenum">
              <a:rPr lang="en-US" smtClean="0"/>
              <a:pPr/>
              <a:t>26</a:t>
            </a:fld>
            <a:endParaRPr lang="en-US"/>
          </a:p>
        </p:txBody>
      </p:sp>
      <p:pic>
        <p:nvPicPr>
          <p:cNvPr id="8" name="Picture 7" descr="Image showing digitizing"/>
          <p:cNvPicPr/>
          <p:nvPr/>
        </p:nvPicPr>
        <p:blipFill>
          <a:blip r:embed="rId3"/>
          <a:stretch>
            <a:fillRect/>
          </a:stretch>
        </p:blipFill>
        <p:spPr>
          <a:xfrm>
            <a:off x="6761408" y="2871242"/>
            <a:ext cx="1347614" cy="1404539"/>
          </a:xfrm>
          <a:prstGeom prst="rect">
            <a:avLst/>
          </a:prstGeom>
        </p:spPr>
      </p:pic>
      <p:sp>
        <p:nvSpPr>
          <p:cNvPr id="9" name="Title 1">
            <a:extLst>
              <a:ext uri="{FF2B5EF4-FFF2-40B4-BE49-F238E27FC236}">
                <a16:creationId xmlns:a16="http://schemas.microsoft.com/office/drawing/2014/main" id="{ABF173F6-8A9B-4179-BD70-1B4C34D32D63}"/>
              </a:ext>
            </a:extLst>
          </p:cNvPr>
          <p:cNvSpPr txBox="1">
            <a:spLocks/>
          </p:cNvSpPr>
          <p:nvPr/>
        </p:nvSpPr>
        <p:spPr>
          <a:xfrm>
            <a:off x="277559" y="22786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Digitizing Steps</a:t>
            </a:r>
          </a:p>
        </p:txBody>
      </p:sp>
      <p:cxnSp>
        <p:nvCxnSpPr>
          <p:cNvPr id="10" name="Straight Connector 9">
            <a:extLst>
              <a:ext uri="{FF2B5EF4-FFF2-40B4-BE49-F238E27FC236}">
                <a16:creationId xmlns:a16="http://schemas.microsoft.com/office/drawing/2014/main" id="{B59FEFF1-EC5F-497A-8389-B009E822888B}"/>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4" name="Picture 3" descr="Image showing the location of New">
            <a:extLst>
              <a:ext uri="{FF2B5EF4-FFF2-40B4-BE49-F238E27FC236}">
                <a16:creationId xmlns:a16="http://schemas.microsoft.com/office/drawing/2014/main" id="{FCEEBB37-881E-45EB-AD23-9C5F03C43C93}"/>
              </a:ext>
            </a:extLst>
          </p:cNvPr>
          <p:cNvPicPr>
            <a:picLocks noChangeAspect="1"/>
          </p:cNvPicPr>
          <p:nvPr/>
        </p:nvPicPr>
        <p:blipFill>
          <a:blip r:embed="rId4"/>
          <a:stretch>
            <a:fillRect/>
          </a:stretch>
        </p:blipFill>
        <p:spPr>
          <a:xfrm>
            <a:off x="5770943" y="1027511"/>
            <a:ext cx="2327155" cy="1538720"/>
          </a:xfrm>
          <a:prstGeom prst="rect">
            <a:avLst/>
          </a:prstGeom>
        </p:spPr>
      </p:pic>
      <p:pic>
        <p:nvPicPr>
          <p:cNvPr id="12" name="Picture 11" descr="Image showing Create Feature Class window">
            <a:extLst>
              <a:ext uri="{FF2B5EF4-FFF2-40B4-BE49-F238E27FC236}">
                <a16:creationId xmlns:a16="http://schemas.microsoft.com/office/drawing/2014/main" id="{036D83F0-04FD-4047-BBB4-82354FAB2D2C}"/>
              </a:ext>
            </a:extLst>
          </p:cNvPr>
          <p:cNvPicPr>
            <a:picLocks noChangeAspect="1"/>
          </p:cNvPicPr>
          <p:nvPr/>
        </p:nvPicPr>
        <p:blipFill>
          <a:blip r:embed="rId5"/>
          <a:stretch>
            <a:fillRect/>
          </a:stretch>
        </p:blipFill>
        <p:spPr>
          <a:xfrm>
            <a:off x="5054602" y="2871242"/>
            <a:ext cx="1432682" cy="2010531"/>
          </a:xfrm>
          <a:prstGeom prst="rect">
            <a:avLst/>
          </a:prstGeom>
        </p:spPr>
      </p:pic>
    </p:spTree>
    <p:extLst>
      <p:ext uri="{BB962C8B-B14F-4D97-AF65-F5344CB8AC3E}">
        <p14:creationId xmlns:p14="http://schemas.microsoft.com/office/powerpoint/2010/main" val="1320443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2476" y="1380953"/>
            <a:ext cx="3412345" cy="2212946"/>
          </a:xfrm>
        </p:spPr>
        <p:txBody>
          <a:bodyPr>
            <a:normAutofit/>
          </a:bodyPr>
          <a:lstStyle/>
          <a:p>
            <a:pPr>
              <a:buFont typeface="Courier New" panose="02070309020205020404" pitchFamily="49" charset="0"/>
              <a:buChar char="o"/>
            </a:pPr>
            <a:r>
              <a:rPr lang="en-US" sz="2000" dirty="0"/>
              <a:t>Use Edit tab</a:t>
            </a:r>
          </a:p>
          <a:p>
            <a:pPr>
              <a:buFont typeface="Courier New" panose="02070309020205020404" pitchFamily="49" charset="0"/>
              <a:buChar char="o"/>
            </a:pPr>
            <a:r>
              <a:rPr lang="en-US" sz="2000" dirty="0"/>
              <a:t>Remember to consider topology</a:t>
            </a:r>
          </a:p>
          <a:p>
            <a:pPr>
              <a:buFont typeface="Courier New" panose="02070309020205020404" pitchFamily="49" charset="0"/>
              <a:buChar char="o"/>
            </a:pPr>
            <a:r>
              <a:rPr lang="en-US" sz="2000" dirty="0"/>
              <a:t>Remember to edit attributes</a:t>
            </a:r>
          </a:p>
          <a:p>
            <a:pPr>
              <a:buFont typeface="Courier New" panose="02070309020205020404" pitchFamily="49" charset="0"/>
              <a:buChar char="o"/>
            </a:pPr>
            <a:r>
              <a:rPr lang="en-US" sz="2000" dirty="0"/>
              <a:t>Save often!!!!!!!</a:t>
            </a:r>
          </a:p>
        </p:txBody>
      </p:sp>
      <p:sp>
        <p:nvSpPr>
          <p:cNvPr id="10" name="Slide Number Placeholder 9">
            <a:extLst>
              <a:ext uri="{FF2B5EF4-FFF2-40B4-BE49-F238E27FC236}">
                <a16:creationId xmlns:a16="http://schemas.microsoft.com/office/drawing/2014/main" id="{93E01AE5-1096-4C2B-86A3-16C6129116C7}"/>
              </a:ext>
            </a:extLst>
          </p:cNvPr>
          <p:cNvSpPr>
            <a:spLocks noGrp="1"/>
          </p:cNvSpPr>
          <p:nvPr>
            <p:ph type="sldNum" sz="quarter" idx="12"/>
          </p:nvPr>
        </p:nvSpPr>
        <p:spPr/>
        <p:txBody>
          <a:bodyPr/>
          <a:lstStyle/>
          <a:p>
            <a:fld id="{127DDC20-79C9-9647-820E-6D40A3D210C3}" type="slidenum">
              <a:rPr lang="en-US" smtClean="0"/>
              <a:pPr/>
              <a:t>27</a:t>
            </a:fld>
            <a:endParaRPr lang="en-US"/>
          </a:p>
        </p:txBody>
      </p:sp>
      <p:pic>
        <p:nvPicPr>
          <p:cNvPr id="4" name="Picture 3" descr="Image showing Edit menu"/>
          <p:cNvPicPr>
            <a:picLocks noChangeAspect="1"/>
          </p:cNvPicPr>
          <p:nvPr/>
        </p:nvPicPr>
        <p:blipFill>
          <a:blip r:embed="rId3"/>
          <a:stretch>
            <a:fillRect/>
          </a:stretch>
        </p:blipFill>
        <p:spPr>
          <a:xfrm>
            <a:off x="27869" y="4218099"/>
            <a:ext cx="8173864" cy="531446"/>
          </a:xfrm>
          <a:prstGeom prst="rect">
            <a:avLst/>
          </a:prstGeom>
        </p:spPr>
      </p:pic>
      <p:sp>
        <p:nvSpPr>
          <p:cNvPr id="8" name="Title 1">
            <a:extLst>
              <a:ext uri="{FF2B5EF4-FFF2-40B4-BE49-F238E27FC236}">
                <a16:creationId xmlns:a16="http://schemas.microsoft.com/office/drawing/2014/main" id="{EA878F0E-69E1-47C6-8A7A-27E9EF95E28F}"/>
              </a:ext>
            </a:extLst>
          </p:cNvPr>
          <p:cNvSpPr txBox="1">
            <a:spLocks/>
          </p:cNvSpPr>
          <p:nvPr/>
        </p:nvSpPr>
        <p:spPr>
          <a:xfrm>
            <a:off x="269608" y="22036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Digitizing in ArcGIS Pro</a:t>
            </a:r>
          </a:p>
        </p:txBody>
      </p:sp>
      <p:cxnSp>
        <p:nvCxnSpPr>
          <p:cNvPr id="9" name="Straight Connector 8">
            <a:extLst>
              <a:ext uri="{FF2B5EF4-FFF2-40B4-BE49-F238E27FC236}">
                <a16:creationId xmlns:a16="http://schemas.microsoft.com/office/drawing/2014/main" id="{5A52E41D-2C22-4A80-B343-1EE298DEE0AB}"/>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10" descr="Red box">
            <a:extLst>
              <a:ext uri="{FF2B5EF4-FFF2-40B4-BE49-F238E27FC236}">
                <a16:creationId xmlns:a16="http://schemas.microsoft.com/office/drawing/2014/main" id="{84B50D08-D472-467E-BA7B-624810E2A4ED}"/>
              </a:ext>
            </a:extLst>
          </p:cNvPr>
          <p:cNvSpPr/>
          <p:nvPr/>
        </p:nvSpPr>
        <p:spPr>
          <a:xfrm>
            <a:off x="1094874" y="4159032"/>
            <a:ext cx="733926" cy="26176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7030A0"/>
              </a:solidFill>
            </a:endParaRPr>
          </a:p>
        </p:txBody>
      </p:sp>
      <p:pic>
        <p:nvPicPr>
          <p:cNvPr id="12" name="Picture 11" descr="Image showing edit attributes">
            <a:extLst>
              <a:ext uri="{FF2B5EF4-FFF2-40B4-BE49-F238E27FC236}">
                <a16:creationId xmlns:a16="http://schemas.microsoft.com/office/drawing/2014/main" id="{59455D5F-8F0F-4C33-9BB9-9C5A0D078EFE}"/>
              </a:ext>
            </a:extLst>
          </p:cNvPr>
          <p:cNvPicPr/>
          <p:nvPr/>
        </p:nvPicPr>
        <p:blipFill>
          <a:blip r:embed="rId4"/>
          <a:stretch>
            <a:fillRect/>
          </a:stretch>
        </p:blipFill>
        <p:spPr>
          <a:xfrm>
            <a:off x="6256045" y="1204328"/>
            <a:ext cx="1155096" cy="2602905"/>
          </a:xfrm>
          <a:prstGeom prst="rect">
            <a:avLst/>
          </a:prstGeom>
        </p:spPr>
      </p:pic>
      <p:pic>
        <p:nvPicPr>
          <p:cNvPr id="13" name="Picture 12" descr="A picture containing text, automaton&#10;&#10;Description automatically generated">
            <a:extLst>
              <a:ext uri="{FF2B5EF4-FFF2-40B4-BE49-F238E27FC236}">
                <a16:creationId xmlns:a16="http://schemas.microsoft.com/office/drawing/2014/main" id="{528FBF22-9826-493D-A8C9-E90AA7979DF9}"/>
              </a:ext>
            </a:extLst>
          </p:cNvPr>
          <p:cNvPicPr/>
          <p:nvPr/>
        </p:nvPicPr>
        <p:blipFill>
          <a:blip r:embed="rId5"/>
          <a:stretch>
            <a:fillRect/>
          </a:stretch>
        </p:blipFill>
        <p:spPr>
          <a:xfrm>
            <a:off x="3934760" y="1204328"/>
            <a:ext cx="2052572" cy="2602905"/>
          </a:xfrm>
          <a:prstGeom prst="rect">
            <a:avLst/>
          </a:prstGeom>
        </p:spPr>
      </p:pic>
    </p:spTree>
    <p:extLst>
      <p:ext uri="{BB962C8B-B14F-4D97-AF65-F5344CB8AC3E}">
        <p14:creationId xmlns:p14="http://schemas.microsoft.com/office/powerpoint/2010/main" val="3249462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307619" y="2350810"/>
            <a:ext cx="6173808" cy="417635"/>
          </a:xfrm>
        </p:spPr>
        <p:txBody>
          <a:bodyPr>
            <a:normAutofit fontScale="92500" lnSpcReduction="10000"/>
          </a:bodyPr>
          <a:lstStyle/>
          <a:p>
            <a:pPr>
              <a:buFont typeface="Courier New" panose="02070309020205020404" pitchFamily="49" charset="0"/>
              <a:buChar char="o"/>
            </a:pPr>
            <a:r>
              <a:rPr lang="en-US" sz="2400" dirty="0"/>
              <a:t>Make sure to define the correct type</a:t>
            </a:r>
          </a:p>
        </p:txBody>
      </p:sp>
      <p:sp>
        <p:nvSpPr>
          <p:cNvPr id="2" name="Slide Number Placeholder 1">
            <a:extLst>
              <a:ext uri="{FF2B5EF4-FFF2-40B4-BE49-F238E27FC236}">
                <a16:creationId xmlns:a16="http://schemas.microsoft.com/office/drawing/2014/main" id="{0634FF61-BA3B-43CC-9169-040F2415554A}"/>
              </a:ext>
            </a:extLst>
          </p:cNvPr>
          <p:cNvSpPr>
            <a:spLocks noGrp="1"/>
          </p:cNvSpPr>
          <p:nvPr>
            <p:ph type="sldNum" sz="quarter" idx="12"/>
          </p:nvPr>
        </p:nvSpPr>
        <p:spPr/>
        <p:txBody>
          <a:bodyPr/>
          <a:lstStyle/>
          <a:p>
            <a:fld id="{127DDC20-79C9-9647-820E-6D40A3D210C3}" type="slidenum">
              <a:rPr lang="en-US" smtClean="0"/>
              <a:pPr/>
              <a:t>28</a:t>
            </a:fld>
            <a:endParaRPr lang="en-US"/>
          </a:p>
        </p:txBody>
      </p:sp>
      <p:graphicFrame>
        <p:nvGraphicFramePr>
          <p:cNvPr id="5" name="Content Placeholder 3"/>
          <p:cNvGraphicFramePr>
            <a:graphicFrameLocks/>
          </p:cNvGraphicFramePr>
          <p:nvPr>
            <p:custDataLst>
              <p:tags r:id="rId2"/>
            </p:custDataLst>
            <p:extLst>
              <p:ext uri="{D42A27DB-BD31-4B8C-83A1-F6EECF244321}">
                <p14:modId xmlns:p14="http://schemas.microsoft.com/office/powerpoint/2010/main" val="1712225646"/>
              </p:ext>
            </p:extLst>
          </p:nvPr>
        </p:nvGraphicFramePr>
        <p:xfrm>
          <a:off x="1199977" y="3080783"/>
          <a:ext cx="6173808" cy="1878306"/>
        </p:xfrm>
        <a:graphic>
          <a:graphicData uri="http://schemas.openxmlformats.org/drawingml/2006/table">
            <a:tbl>
              <a:tblPr firstRow="1" bandRow="1">
                <a:tableStyleId>{6E25E649-3F16-4E02-A733-19D2CDBF48F0}</a:tableStyleId>
              </a:tblPr>
              <a:tblGrid>
                <a:gridCol w="3086904">
                  <a:extLst>
                    <a:ext uri="{9D8B030D-6E8A-4147-A177-3AD203B41FA5}">
                      <a16:colId xmlns:a16="http://schemas.microsoft.com/office/drawing/2014/main" val="332536845"/>
                    </a:ext>
                  </a:extLst>
                </a:gridCol>
                <a:gridCol w="3086904">
                  <a:extLst>
                    <a:ext uri="{9D8B030D-6E8A-4147-A177-3AD203B41FA5}">
                      <a16:colId xmlns:a16="http://schemas.microsoft.com/office/drawing/2014/main" val="3240416613"/>
                    </a:ext>
                  </a:extLst>
                </a:gridCol>
              </a:tblGrid>
              <a:tr h="250382">
                <a:tc>
                  <a:txBody>
                    <a:bodyPr/>
                    <a:lstStyle/>
                    <a:p>
                      <a:r>
                        <a:rPr lang="en-US" sz="1100" dirty="0"/>
                        <a:t>Data Type</a:t>
                      </a:r>
                    </a:p>
                  </a:txBody>
                  <a:tcPr marL="61738" marR="61738" marT="30869" marB="30869">
                    <a:solidFill>
                      <a:srgbClr val="E3874F"/>
                    </a:solidFill>
                  </a:tcPr>
                </a:tc>
                <a:tc>
                  <a:txBody>
                    <a:bodyPr/>
                    <a:lstStyle/>
                    <a:p>
                      <a:endParaRPr lang="en-US" sz="1100" dirty="0"/>
                    </a:p>
                  </a:txBody>
                  <a:tcPr marL="61738" marR="61738" marT="30869" marB="30869">
                    <a:solidFill>
                      <a:srgbClr val="E3874F"/>
                    </a:solidFill>
                  </a:tcPr>
                </a:tc>
                <a:extLst>
                  <a:ext uri="{0D108BD9-81ED-4DB2-BD59-A6C34878D82A}">
                    <a16:rowId xmlns:a16="http://schemas.microsoft.com/office/drawing/2014/main" val="3465418279"/>
                  </a:ext>
                </a:extLst>
              </a:tr>
              <a:tr h="250382">
                <a:tc>
                  <a:txBody>
                    <a:bodyPr/>
                    <a:lstStyle/>
                    <a:p>
                      <a:r>
                        <a:rPr lang="en-US" sz="1100" b="1" dirty="0">
                          <a:solidFill>
                            <a:srgbClr val="E3874F"/>
                          </a:solidFill>
                        </a:rPr>
                        <a:t>Short</a:t>
                      </a:r>
                      <a:r>
                        <a:rPr lang="en-US" sz="1100" b="1" baseline="0" dirty="0">
                          <a:solidFill>
                            <a:srgbClr val="E3874F"/>
                          </a:solidFill>
                        </a:rPr>
                        <a:t> Integer</a:t>
                      </a:r>
                      <a:endParaRPr lang="en-US" sz="1100" b="1" dirty="0">
                        <a:solidFill>
                          <a:srgbClr val="E3874F"/>
                        </a:solidFill>
                      </a:endParaRPr>
                    </a:p>
                  </a:txBody>
                  <a:tcPr marL="61738" marR="61738" marT="30869" marB="30869"/>
                </a:tc>
                <a:tc>
                  <a:txBody>
                    <a:bodyPr/>
                    <a:lstStyle/>
                    <a:p>
                      <a:r>
                        <a:rPr lang="en-US" sz="1100" dirty="0"/>
                        <a:t>Integer values</a:t>
                      </a:r>
                      <a:r>
                        <a:rPr lang="en-US" sz="1100" baseline="0" dirty="0"/>
                        <a:t> between -32,768 and 32,767</a:t>
                      </a:r>
                      <a:endParaRPr lang="en-US" sz="1100" dirty="0"/>
                    </a:p>
                  </a:txBody>
                  <a:tcPr marL="61738" marR="61738" marT="30869" marB="30869"/>
                </a:tc>
                <a:extLst>
                  <a:ext uri="{0D108BD9-81ED-4DB2-BD59-A6C34878D82A}">
                    <a16:rowId xmlns:a16="http://schemas.microsoft.com/office/drawing/2014/main" val="917302846"/>
                  </a:ext>
                </a:extLst>
              </a:tr>
              <a:tr h="395124">
                <a:tc>
                  <a:txBody>
                    <a:bodyPr/>
                    <a:lstStyle/>
                    <a:p>
                      <a:r>
                        <a:rPr lang="en-US" sz="1100" b="1" dirty="0">
                          <a:solidFill>
                            <a:srgbClr val="E3874F"/>
                          </a:solidFill>
                        </a:rPr>
                        <a:t>Long Integer</a:t>
                      </a:r>
                    </a:p>
                  </a:txBody>
                  <a:tcPr marL="61738" marR="61738" marT="30869" marB="30869"/>
                </a:tc>
                <a:tc>
                  <a:txBody>
                    <a:bodyPr/>
                    <a:lstStyle/>
                    <a:p>
                      <a:r>
                        <a:rPr lang="en-US" sz="1100" dirty="0"/>
                        <a:t>Integer values between -2,147,483,648 and 2,147,483,647</a:t>
                      </a:r>
                    </a:p>
                  </a:txBody>
                  <a:tcPr marL="61738" marR="61738" marT="30869" marB="30869"/>
                </a:tc>
                <a:extLst>
                  <a:ext uri="{0D108BD9-81ED-4DB2-BD59-A6C34878D82A}">
                    <a16:rowId xmlns:a16="http://schemas.microsoft.com/office/drawing/2014/main" val="497073896"/>
                  </a:ext>
                </a:extLst>
              </a:tr>
              <a:tr h="250382">
                <a:tc>
                  <a:txBody>
                    <a:bodyPr/>
                    <a:lstStyle/>
                    <a:p>
                      <a:r>
                        <a:rPr lang="en-US" sz="1100" b="1" dirty="0">
                          <a:solidFill>
                            <a:srgbClr val="E3874F"/>
                          </a:solidFill>
                        </a:rPr>
                        <a:t>Float</a:t>
                      </a:r>
                    </a:p>
                  </a:txBody>
                  <a:tcPr marL="61738" marR="61738" marT="30869" marB="30869"/>
                </a:tc>
                <a:tc>
                  <a:txBody>
                    <a:bodyPr/>
                    <a:lstStyle/>
                    <a:p>
                      <a:r>
                        <a:rPr lang="en-US" sz="1100" dirty="0"/>
                        <a:t>Decimal values with 1-6 decimal places</a:t>
                      </a:r>
                    </a:p>
                  </a:txBody>
                  <a:tcPr marL="61738" marR="61738" marT="30869" marB="30869"/>
                </a:tc>
                <a:extLst>
                  <a:ext uri="{0D108BD9-81ED-4DB2-BD59-A6C34878D82A}">
                    <a16:rowId xmlns:a16="http://schemas.microsoft.com/office/drawing/2014/main" val="3288428188"/>
                  </a:ext>
                </a:extLst>
              </a:tr>
              <a:tr h="250382">
                <a:tc>
                  <a:txBody>
                    <a:bodyPr/>
                    <a:lstStyle/>
                    <a:p>
                      <a:r>
                        <a:rPr lang="en-US" sz="1100" b="1" dirty="0">
                          <a:solidFill>
                            <a:srgbClr val="E3874F"/>
                          </a:solidFill>
                        </a:rPr>
                        <a:t>Double</a:t>
                      </a:r>
                    </a:p>
                  </a:txBody>
                  <a:tcPr marL="61738" marR="61738" marT="30869" marB="30869"/>
                </a:tc>
                <a:tc>
                  <a:txBody>
                    <a:bodyPr/>
                    <a:lstStyle/>
                    <a:p>
                      <a:r>
                        <a:rPr lang="en-US" sz="1100" dirty="0"/>
                        <a:t>Decimal</a:t>
                      </a:r>
                      <a:r>
                        <a:rPr lang="en-US" sz="1100" baseline="0" dirty="0"/>
                        <a:t> values with more the 6 decimal places</a:t>
                      </a:r>
                      <a:endParaRPr lang="en-US" sz="1100" dirty="0"/>
                    </a:p>
                  </a:txBody>
                  <a:tcPr marL="61738" marR="61738" marT="30869" marB="30869"/>
                </a:tc>
                <a:extLst>
                  <a:ext uri="{0D108BD9-81ED-4DB2-BD59-A6C34878D82A}">
                    <a16:rowId xmlns:a16="http://schemas.microsoft.com/office/drawing/2014/main" val="3026856190"/>
                  </a:ext>
                </a:extLst>
              </a:tr>
              <a:tr h="228431">
                <a:tc>
                  <a:txBody>
                    <a:bodyPr/>
                    <a:lstStyle/>
                    <a:p>
                      <a:r>
                        <a:rPr lang="en-US" sz="1100" b="1" dirty="0">
                          <a:solidFill>
                            <a:srgbClr val="E3874F"/>
                          </a:solidFill>
                        </a:rPr>
                        <a:t>Text</a:t>
                      </a:r>
                    </a:p>
                  </a:txBody>
                  <a:tcPr marL="61738" marR="61738" marT="30869" marB="30869"/>
                </a:tc>
                <a:tc>
                  <a:txBody>
                    <a:bodyPr/>
                    <a:lstStyle/>
                    <a:p>
                      <a:r>
                        <a:rPr lang="en-US" sz="1100" dirty="0"/>
                        <a:t>Text</a:t>
                      </a:r>
                      <a:r>
                        <a:rPr lang="en-US" sz="1100" baseline="0" dirty="0"/>
                        <a:t> strings</a:t>
                      </a:r>
                      <a:endParaRPr lang="en-US" sz="1100" dirty="0"/>
                    </a:p>
                  </a:txBody>
                  <a:tcPr marL="61738" marR="61738" marT="30869" marB="30869"/>
                </a:tc>
                <a:extLst>
                  <a:ext uri="{0D108BD9-81ED-4DB2-BD59-A6C34878D82A}">
                    <a16:rowId xmlns:a16="http://schemas.microsoft.com/office/drawing/2014/main" val="1992011703"/>
                  </a:ext>
                </a:extLst>
              </a:tr>
              <a:tr h="250382">
                <a:tc>
                  <a:txBody>
                    <a:bodyPr/>
                    <a:lstStyle/>
                    <a:p>
                      <a:r>
                        <a:rPr lang="en-US" sz="1100" b="1" dirty="0">
                          <a:solidFill>
                            <a:srgbClr val="E3874F"/>
                          </a:solidFill>
                        </a:rPr>
                        <a:t>Date</a:t>
                      </a:r>
                    </a:p>
                  </a:txBody>
                  <a:tcPr marL="61738" marR="61738" marT="30869" marB="30869"/>
                </a:tc>
                <a:tc>
                  <a:txBody>
                    <a:bodyPr/>
                    <a:lstStyle/>
                    <a:p>
                      <a:r>
                        <a:rPr lang="en-US" sz="1100" dirty="0"/>
                        <a:t>Data info (mm/</a:t>
                      </a:r>
                      <a:r>
                        <a:rPr lang="en-US" sz="1100" dirty="0" err="1"/>
                        <a:t>dd</a:t>
                      </a:r>
                      <a:r>
                        <a:rPr lang="en-US" sz="1100" dirty="0"/>
                        <a:t>/</a:t>
                      </a:r>
                      <a:r>
                        <a:rPr lang="en-US" sz="1100" dirty="0" err="1"/>
                        <a:t>yyyy</a:t>
                      </a:r>
                      <a:r>
                        <a:rPr lang="en-US" sz="1100" dirty="0"/>
                        <a:t>)</a:t>
                      </a:r>
                    </a:p>
                  </a:txBody>
                  <a:tcPr marL="61738" marR="61738" marT="30869" marB="30869"/>
                </a:tc>
                <a:extLst>
                  <a:ext uri="{0D108BD9-81ED-4DB2-BD59-A6C34878D82A}">
                    <a16:rowId xmlns:a16="http://schemas.microsoft.com/office/drawing/2014/main" val="2515088809"/>
                  </a:ext>
                </a:extLst>
              </a:tr>
            </a:tbl>
          </a:graphicData>
        </a:graphic>
      </p:graphicFrame>
      <p:sp>
        <p:nvSpPr>
          <p:cNvPr id="7" name="Title 1">
            <a:extLst>
              <a:ext uri="{FF2B5EF4-FFF2-40B4-BE49-F238E27FC236}">
                <a16:creationId xmlns:a16="http://schemas.microsoft.com/office/drawing/2014/main" id="{8D051FDC-C928-4430-91DA-3587E01F4A33}"/>
              </a:ext>
            </a:extLst>
          </p:cNvPr>
          <p:cNvSpPr txBox="1">
            <a:spLocks/>
          </p:cNvSpPr>
          <p:nvPr/>
        </p:nvSpPr>
        <p:spPr>
          <a:xfrm>
            <a:off x="248281" y="17701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Adding Fields</a:t>
            </a:r>
          </a:p>
        </p:txBody>
      </p:sp>
      <p:cxnSp>
        <p:nvCxnSpPr>
          <p:cNvPr id="8" name="Straight Connector 7">
            <a:extLst>
              <a:ext uri="{FF2B5EF4-FFF2-40B4-BE49-F238E27FC236}">
                <a16:creationId xmlns:a16="http://schemas.microsoft.com/office/drawing/2014/main" id="{78F5BBE1-E258-44E0-B3CC-1B351EFFD62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9" name="Picture 8" descr="Image showing Add Field">
            <a:extLst>
              <a:ext uri="{FF2B5EF4-FFF2-40B4-BE49-F238E27FC236}">
                <a16:creationId xmlns:a16="http://schemas.microsoft.com/office/drawing/2014/main" id="{55778E80-ECFE-4126-BFF7-2BAF24FC8127}"/>
              </a:ext>
            </a:extLst>
          </p:cNvPr>
          <p:cNvPicPr/>
          <p:nvPr/>
        </p:nvPicPr>
        <p:blipFill>
          <a:blip r:embed="rId5"/>
          <a:stretch>
            <a:fillRect/>
          </a:stretch>
        </p:blipFill>
        <p:spPr>
          <a:xfrm>
            <a:off x="1183253" y="1034268"/>
            <a:ext cx="6052434" cy="1028443"/>
          </a:xfrm>
          <a:prstGeom prst="rect">
            <a:avLst/>
          </a:prstGeom>
        </p:spPr>
      </p:pic>
    </p:spTree>
    <p:extLst>
      <p:ext uri="{BB962C8B-B14F-4D97-AF65-F5344CB8AC3E}">
        <p14:creationId xmlns:p14="http://schemas.microsoft.com/office/powerpoint/2010/main" val="776986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533" y="1200151"/>
            <a:ext cx="7699587" cy="3394472"/>
          </a:xfrm>
        </p:spPr>
        <p:txBody>
          <a:bodyPr/>
          <a:lstStyle/>
          <a:p>
            <a:pPr>
              <a:buFont typeface="Courier New" panose="02070309020205020404" pitchFamily="49" charset="0"/>
              <a:buChar char="o"/>
            </a:pPr>
            <a:r>
              <a:rPr lang="en-US" dirty="0"/>
              <a:t>Use Add/Calculate Geometry Attributes Tool</a:t>
            </a:r>
          </a:p>
        </p:txBody>
      </p:sp>
      <p:sp>
        <p:nvSpPr>
          <p:cNvPr id="2" name="Slide Number Placeholder 1">
            <a:extLst>
              <a:ext uri="{FF2B5EF4-FFF2-40B4-BE49-F238E27FC236}">
                <a16:creationId xmlns:a16="http://schemas.microsoft.com/office/drawing/2014/main" id="{5DB7DF09-7AD5-42EF-92A6-84B85F8FE560}"/>
              </a:ext>
            </a:extLst>
          </p:cNvPr>
          <p:cNvSpPr>
            <a:spLocks noGrp="1"/>
          </p:cNvSpPr>
          <p:nvPr>
            <p:ph type="sldNum" sz="quarter" idx="12"/>
          </p:nvPr>
        </p:nvSpPr>
        <p:spPr/>
        <p:txBody>
          <a:bodyPr/>
          <a:lstStyle/>
          <a:p>
            <a:fld id="{127DDC20-79C9-9647-820E-6D40A3D210C3}" type="slidenum">
              <a:rPr lang="en-US" smtClean="0"/>
              <a:pPr/>
              <a:t>29</a:t>
            </a:fld>
            <a:endParaRPr lang="en-US"/>
          </a:p>
        </p:txBody>
      </p:sp>
      <p:pic>
        <p:nvPicPr>
          <p:cNvPr id="4" name="Picture 3" descr="Image showing Add Geometry Attributes"/>
          <p:cNvPicPr>
            <a:picLocks noChangeAspect="1"/>
          </p:cNvPicPr>
          <p:nvPr/>
        </p:nvPicPr>
        <p:blipFill>
          <a:blip r:embed="rId3"/>
          <a:stretch>
            <a:fillRect/>
          </a:stretch>
        </p:blipFill>
        <p:spPr>
          <a:xfrm>
            <a:off x="4121392" y="1968826"/>
            <a:ext cx="3492060" cy="2263730"/>
          </a:xfrm>
          <a:prstGeom prst="rect">
            <a:avLst/>
          </a:prstGeom>
        </p:spPr>
      </p:pic>
      <p:graphicFrame>
        <p:nvGraphicFramePr>
          <p:cNvPr id="5" name="Content Placeholder 3"/>
          <p:cNvGraphicFramePr>
            <a:graphicFrameLocks/>
          </p:cNvGraphicFramePr>
          <p:nvPr>
            <p:extLst>
              <p:ext uri="{D42A27DB-BD31-4B8C-83A1-F6EECF244321}">
                <p14:modId xmlns:p14="http://schemas.microsoft.com/office/powerpoint/2010/main" val="2268818636"/>
              </p:ext>
            </p:extLst>
          </p:nvPr>
        </p:nvGraphicFramePr>
        <p:xfrm>
          <a:off x="319268" y="1827336"/>
          <a:ext cx="3601389" cy="2546710"/>
        </p:xfrm>
        <a:graphic>
          <a:graphicData uri="http://schemas.openxmlformats.org/drawingml/2006/table">
            <a:tbl>
              <a:tblPr firstRow="1" bandRow="1">
                <a:tableStyleId>{6E25E649-3F16-4E02-A733-19D2CDBF48F0}</a:tableStyleId>
              </a:tblPr>
              <a:tblGrid>
                <a:gridCol w="1200463">
                  <a:extLst>
                    <a:ext uri="{9D8B030D-6E8A-4147-A177-3AD203B41FA5}">
                      <a16:colId xmlns:a16="http://schemas.microsoft.com/office/drawing/2014/main" val="2928220064"/>
                    </a:ext>
                  </a:extLst>
                </a:gridCol>
                <a:gridCol w="1200463">
                  <a:extLst>
                    <a:ext uri="{9D8B030D-6E8A-4147-A177-3AD203B41FA5}">
                      <a16:colId xmlns:a16="http://schemas.microsoft.com/office/drawing/2014/main" val="3542481309"/>
                    </a:ext>
                  </a:extLst>
                </a:gridCol>
                <a:gridCol w="1200463">
                  <a:extLst>
                    <a:ext uri="{9D8B030D-6E8A-4147-A177-3AD203B41FA5}">
                      <a16:colId xmlns:a16="http://schemas.microsoft.com/office/drawing/2014/main" val="1337384188"/>
                    </a:ext>
                  </a:extLst>
                </a:gridCol>
              </a:tblGrid>
              <a:tr h="250382">
                <a:tc>
                  <a:txBody>
                    <a:bodyPr/>
                    <a:lstStyle/>
                    <a:p>
                      <a:r>
                        <a:rPr lang="en-US" sz="1100" dirty="0"/>
                        <a:t>Points</a:t>
                      </a:r>
                    </a:p>
                  </a:txBody>
                  <a:tcPr marL="61738" marR="61738" marT="30869" marB="30869">
                    <a:solidFill>
                      <a:srgbClr val="E3874F"/>
                    </a:solidFill>
                  </a:tcPr>
                </a:tc>
                <a:tc>
                  <a:txBody>
                    <a:bodyPr/>
                    <a:lstStyle/>
                    <a:p>
                      <a:r>
                        <a:rPr lang="en-US" sz="1100" dirty="0"/>
                        <a:t>Lines</a:t>
                      </a:r>
                    </a:p>
                  </a:txBody>
                  <a:tcPr marL="61738" marR="61738" marT="30869" marB="30869">
                    <a:solidFill>
                      <a:srgbClr val="E3874F"/>
                    </a:solidFill>
                  </a:tcPr>
                </a:tc>
                <a:tc>
                  <a:txBody>
                    <a:bodyPr/>
                    <a:lstStyle/>
                    <a:p>
                      <a:r>
                        <a:rPr lang="en-US" sz="1100" dirty="0"/>
                        <a:t>Polygons</a:t>
                      </a:r>
                    </a:p>
                  </a:txBody>
                  <a:tcPr marL="61738" marR="61738" marT="30869" marB="30869">
                    <a:solidFill>
                      <a:srgbClr val="E3874F"/>
                    </a:solidFill>
                  </a:tcPr>
                </a:tc>
                <a:extLst>
                  <a:ext uri="{0D108BD9-81ED-4DB2-BD59-A6C34878D82A}">
                    <a16:rowId xmlns:a16="http://schemas.microsoft.com/office/drawing/2014/main" val="584739742"/>
                  </a:ext>
                </a:extLst>
              </a:tr>
              <a:tr h="250382">
                <a:tc>
                  <a:txBody>
                    <a:bodyPr/>
                    <a:lstStyle/>
                    <a:p>
                      <a:r>
                        <a:rPr lang="en-US" sz="1100" dirty="0"/>
                        <a:t>X-coordinate</a:t>
                      </a:r>
                    </a:p>
                  </a:txBody>
                  <a:tcPr marL="61738" marR="61738" marT="30869" marB="30869"/>
                </a:tc>
                <a:tc>
                  <a:txBody>
                    <a:bodyPr/>
                    <a:lstStyle/>
                    <a:p>
                      <a:r>
                        <a:rPr lang="en-US" sz="1100" dirty="0"/>
                        <a:t>Start-X</a:t>
                      </a:r>
                    </a:p>
                  </a:txBody>
                  <a:tcPr marL="61738" marR="61738" marT="30869" marB="30869"/>
                </a:tc>
                <a:tc>
                  <a:txBody>
                    <a:bodyPr/>
                    <a:lstStyle/>
                    <a:p>
                      <a:r>
                        <a:rPr lang="en-US" sz="1100" dirty="0"/>
                        <a:t>Area</a:t>
                      </a:r>
                    </a:p>
                  </a:txBody>
                  <a:tcPr marL="61738" marR="61738" marT="30869" marB="30869"/>
                </a:tc>
                <a:extLst>
                  <a:ext uri="{0D108BD9-81ED-4DB2-BD59-A6C34878D82A}">
                    <a16:rowId xmlns:a16="http://schemas.microsoft.com/office/drawing/2014/main" val="2029775200"/>
                  </a:ext>
                </a:extLst>
              </a:tr>
              <a:tr h="250382">
                <a:tc>
                  <a:txBody>
                    <a:bodyPr/>
                    <a:lstStyle/>
                    <a:p>
                      <a:r>
                        <a:rPr lang="en-US" sz="1100" dirty="0"/>
                        <a:t>Y-coordinate</a:t>
                      </a:r>
                    </a:p>
                  </a:txBody>
                  <a:tcPr marL="61738" marR="61738" marT="30869" marB="30869"/>
                </a:tc>
                <a:tc>
                  <a:txBody>
                    <a:bodyPr/>
                    <a:lstStyle/>
                    <a:p>
                      <a:r>
                        <a:rPr lang="en-US" sz="1100" dirty="0"/>
                        <a:t>Start-Y</a:t>
                      </a:r>
                    </a:p>
                  </a:txBody>
                  <a:tcPr marL="61738" marR="61738" marT="30869" marB="30869"/>
                </a:tc>
                <a:tc>
                  <a:txBody>
                    <a:bodyPr/>
                    <a:lstStyle/>
                    <a:p>
                      <a:r>
                        <a:rPr lang="en-US" sz="1100" dirty="0"/>
                        <a:t>Perimeter</a:t>
                      </a:r>
                    </a:p>
                  </a:txBody>
                  <a:tcPr marL="61738" marR="61738" marT="30869" marB="30869"/>
                </a:tc>
                <a:extLst>
                  <a:ext uri="{0D108BD9-81ED-4DB2-BD59-A6C34878D82A}">
                    <a16:rowId xmlns:a16="http://schemas.microsoft.com/office/drawing/2014/main" val="1210143157"/>
                  </a:ext>
                </a:extLst>
              </a:tr>
              <a:tr h="395124">
                <a:tc>
                  <a:txBody>
                    <a:bodyPr/>
                    <a:lstStyle/>
                    <a:p>
                      <a:r>
                        <a:rPr lang="en-US" sz="1100" dirty="0"/>
                        <a:t>Z-coordinate (if z-enabled)</a:t>
                      </a:r>
                    </a:p>
                  </a:txBody>
                  <a:tcPr marL="61738" marR="61738" marT="30869" marB="30869"/>
                </a:tc>
                <a:tc>
                  <a:txBody>
                    <a:bodyPr/>
                    <a:lstStyle/>
                    <a:p>
                      <a:r>
                        <a:rPr lang="en-US" sz="1100" dirty="0"/>
                        <a:t>End-X</a:t>
                      </a:r>
                    </a:p>
                  </a:txBody>
                  <a:tcPr marL="61738" marR="61738" marT="30869" marB="30869"/>
                </a:tc>
                <a:tc>
                  <a:txBody>
                    <a:bodyPr/>
                    <a:lstStyle/>
                    <a:p>
                      <a:r>
                        <a:rPr lang="en-US" sz="1100" dirty="0"/>
                        <a:t>Centroid</a:t>
                      </a:r>
                      <a:r>
                        <a:rPr lang="en-US" sz="1100" baseline="0" dirty="0"/>
                        <a:t>-X</a:t>
                      </a:r>
                      <a:endParaRPr lang="en-US" sz="1100" dirty="0"/>
                    </a:p>
                  </a:txBody>
                  <a:tcPr marL="61738" marR="61738" marT="30869" marB="30869"/>
                </a:tc>
                <a:extLst>
                  <a:ext uri="{0D108BD9-81ED-4DB2-BD59-A6C34878D82A}">
                    <a16:rowId xmlns:a16="http://schemas.microsoft.com/office/drawing/2014/main" val="1801068917"/>
                  </a:ext>
                </a:extLst>
              </a:tr>
              <a:tr h="395124">
                <a:tc>
                  <a:txBody>
                    <a:bodyPr/>
                    <a:lstStyle/>
                    <a:p>
                      <a:r>
                        <a:rPr lang="en-US" sz="1100" dirty="0"/>
                        <a:t>M-coordinate (if m-enabled)</a:t>
                      </a:r>
                    </a:p>
                  </a:txBody>
                  <a:tcPr marL="61738" marR="61738" marT="30869" marB="30869"/>
                </a:tc>
                <a:tc>
                  <a:txBody>
                    <a:bodyPr/>
                    <a:lstStyle/>
                    <a:p>
                      <a:r>
                        <a:rPr lang="en-US" sz="1100" dirty="0"/>
                        <a:t>End-Y</a:t>
                      </a:r>
                    </a:p>
                  </a:txBody>
                  <a:tcPr marL="61738" marR="61738" marT="30869" marB="30869"/>
                </a:tc>
                <a:tc>
                  <a:txBody>
                    <a:bodyPr/>
                    <a:lstStyle/>
                    <a:p>
                      <a:r>
                        <a:rPr lang="en-US" sz="1100" dirty="0"/>
                        <a:t>Centroid-Y</a:t>
                      </a:r>
                    </a:p>
                  </a:txBody>
                  <a:tcPr marL="61738" marR="61738" marT="30869" marB="30869"/>
                </a:tc>
                <a:extLst>
                  <a:ext uri="{0D108BD9-81ED-4DB2-BD59-A6C34878D82A}">
                    <a16:rowId xmlns:a16="http://schemas.microsoft.com/office/drawing/2014/main" val="1607823658"/>
                  </a:ext>
                </a:extLst>
              </a:tr>
              <a:tr h="250382">
                <a:tc>
                  <a:txBody>
                    <a:bodyPr/>
                    <a:lstStyle/>
                    <a:p>
                      <a:endParaRPr lang="en-US" sz="1100"/>
                    </a:p>
                  </a:txBody>
                  <a:tcPr marL="61738" marR="61738" marT="30869" marB="30869"/>
                </a:tc>
                <a:tc>
                  <a:txBody>
                    <a:bodyPr/>
                    <a:lstStyle/>
                    <a:p>
                      <a:r>
                        <a:rPr lang="en-US" sz="1100" dirty="0"/>
                        <a:t>Mid-X</a:t>
                      </a:r>
                    </a:p>
                  </a:txBody>
                  <a:tcPr marL="61738" marR="61738" marT="30869" marB="30869"/>
                </a:tc>
                <a:tc>
                  <a:txBody>
                    <a:bodyPr/>
                    <a:lstStyle/>
                    <a:p>
                      <a:endParaRPr lang="en-US" sz="1100"/>
                    </a:p>
                  </a:txBody>
                  <a:tcPr marL="61738" marR="61738" marT="30869" marB="30869"/>
                </a:tc>
                <a:extLst>
                  <a:ext uri="{0D108BD9-81ED-4DB2-BD59-A6C34878D82A}">
                    <a16:rowId xmlns:a16="http://schemas.microsoft.com/office/drawing/2014/main" val="2222794712"/>
                  </a:ext>
                </a:extLst>
              </a:tr>
              <a:tr h="250382">
                <a:tc>
                  <a:txBody>
                    <a:bodyPr/>
                    <a:lstStyle/>
                    <a:p>
                      <a:endParaRPr lang="en-US" sz="1100" dirty="0"/>
                    </a:p>
                  </a:txBody>
                  <a:tcPr marL="61738" marR="61738" marT="30869" marB="30869"/>
                </a:tc>
                <a:tc>
                  <a:txBody>
                    <a:bodyPr/>
                    <a:lstStyle/>
                    <a:p>
                      <a:r>
                        <a:rPr lang="en-US" sz="1100" dirty="0"/>
                        <a:t>Mid-Y</a:t>
                      </a:r>
                    </a:p>
                  </a:txBody>
                  <a:tcPr marL="61738" marR="61738" marT="30869" marB="30869"/>
                </a:tc>
                <a:tc>
                  <a:txBody>
                    <a:bodyPr/>
                    <a:lstStyle/>
                    <a:p>
                      <a:endParaRPr lang="en-US" sz="1100"/>
                    </a:p>
                  </a:txBody>
                  <a:tcPr marL="61738" marR="61738" marT="30869" marB="30869"/>
                </a:tc>
                <a:extLst>
                  <a:ext uri="{0D108BD9-81ED-4DB2-BD59-A6C34878D82A}">
                    <a16:rowId xmlns:a16="http://schemas.microsoft.com/office/drawing/2014/main" val="4166193178"/>
                  </a:ext>
                </a:extLst>
              </a:tr>
              <a:tr h="250382">
                <a:tc>
                  <a:txBody>
                    <a:bodyPr/>
                    <a:lstStyle/>
                    <a:p>
                      <a:endParaRPr lang="en-US" sz="1100" dirty="0"/>
                    </a:p>
                  </a:txBody>
                  <a:tcPr marL="61738" marR="61738" marT="30869" marB="30869"/>
                </a:tc>
                <a:tc>
                  <a:txBody>
                    <a:bodyPr/>
                    <a:lstStyle/>
                    <a:p>
                      <a:r>
                        <a:rPr lang="en-US" sz="1100" dirty="0"/>
                        <a:t>Length</a:t>
                      </a:r>
                    </a:p>
                  </a:txBody>
                  <a:tcPr marL="61738" marR="61738" marT="30869" marB="30869"/>
                </a:tc>
                <a:tc>
                  <a:txBody>
                    <a:bodyPr/>
                    <a:lstStyle/>
                    <a:p>
                      <a:endParaRPr lang="en-US" sz="1100" dirty="0"/>
                    </a:p>
                  </a:txBody>
                  <a:tcPr marL="61738" marR="61738" marT="30869" marB="30869"/>
                </a:tc>
                <a:extLst>
                  <a:ext uri="{0D108BD9-81ED-4DB2-BD59-A6C34878D82A}">
                    <a16:rowId xmlns:a16="http://schemas.microsoft.com/office/drawing/2014/main" val="1215381754"/>
                  </a:ext>
                </a:extLst>
              </a:tr>
              <a:tr h="250382">
                <a:tc>
                  <a:txBody>
                    <a:bodyPr/>
                    <a:lstStyle/>
                    <a:p>
                      <a:endParaRPr lang="en-US" sz="1100" dirty="0"/>
                    </a:p>
                  </a:txBody>
                  <a:tcPr marL="61738" marR="61738" marT="30869" marB="30869"/>
                </a:tc>
                <a:tc>
                  <a:txBody>
                    <a:bodyPr/>
                    <a:lstStyle/>
                    <a:p>
                      <a:r>
                        <a:rPr lang="en-US" sz="1100" dirty="0"/>
                        <a:t>Bearing</a:t>
                      </a:r>
                    </a:p>
                  </a:txBody>
                  <a:tcPr marL="61738" marR="61738" marT="30869" marB="30869"/>
                </a:tc>
                <a:tc>
                  <a:txBody>
                    <a:bodyPr/>
                    <a:lstStyle/>
                    <a:p>
                      <a:endParaRPr lang="en-US" sz="1100" dirty="0"/>
                    </a:p>
                  </a:txBody>
                  <a:tcPr marL="61738" marR="61738" marT="30869" marB="30869"/>
                </a:tc>
                <a:extLst>
                  <a:ext uri="{0D108BD9-81ED-4DB2-BD59-A6C34878D82A}">
                    <a16:rowId xmlns:a16="http://schemas.microsoft.com/office/drawing/2014/main" val="147051366"/>
                  </a:ext>
                </a:extLst>
              </a:tr>
            </a:tbl>
          </a:graphicData>
        </a:graphic>
      </p:graphicFrame>
      <p:sp>
        <p:nvSpPr>
          <p:cNvPr id="6" name="Title 1">
            <a:extLst>
              <a:ext uri="{FF2B5EF4-FFF2-40B4-BE49-F238E27FC236}">
                <a16:creationId xmlns:a16="http://schemas.microsoft.com/office/drawing/2014/main" id="{BDA4046C-FB5D-4281-BEF7-EAE15E1E1896}"/>
              </a:ext>
            </a:extLst>
          </p:cNvPr>
          <p:cNvSpPr txBox="1">
            <a:spLocks/>
          </p:cNvSpPr>
          <p:nvPr/>
        </p:nvSpPr>
        <p:spPr>
          <a:xfrm>
            <a:off x="256170" y="22786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Adding Geometric Fields</a:t>
            </a:r>
          </a:p>
        </p:txBody>
      </p:sp>
      <p:cxnSp>
        <p:nvCxnSpPr>
          <p:cNvPr id="7" name="Straight Connector 6">
            <a:extLst>
              <a:ext uri="{FF2B5EF4-FFF2-40B4-BE49-F238E27FC236}">
                <a16:creationId xmlns:a16="http://schemas.microsoft.com/office/drawing/2014/main" id="{A72A4ACD-3968-4618-AAF8-20D3362D953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958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53EBD-CC8B-BC2F-0CD9-0E06E15AE76D}"/>
              </a:ext>
            </a:extLst>
          </p:cNvPr>
          <p:cNvSpPr>
            <a:spLocks noGrp="1"/>
          </p:cNvSpPr>
          <p:nvPr>
            <p:ph type="title"/>
          </p:nvPr>
        </p:nvSpPr>
        <p:spPr>
          <a:xfrm>
            <a:off x="392307" y="470957"/>
            <a:ext cx="7444991" cy="515004"/>
          </a:xfrm>
        </p:spPr>
        <p:txBody>
          <a:bodyPr>
            <a:normAutofit/>
          </a:bodyPr>
          <a:lstStyle/>
          <a:p>
            <a:r>
              <a:rPr lang="en-US" altLang="zh-CN" sz="2600" dirty="0">
                <a:solidFill>
                  <a:srgbClr val="7030A0"/>
                </a:solidFill>
              </a:rPr>
              <a:t>class discussion – Indoor </a:t>
            </a:r>
            <a:r>
              <a:rPr lang="en-US" altLang="zh-CN" sz="2600" dirty="0" err="1">
                <a:solidFill>
                  <a:srgbClr val="7030A0"/>
                </a:solidFill>
              </a:rPr>
              <a:t>gis</a:t>
            </a:r>
            <a:endParaRPr lang="en-US" altLang="zh-CN" sz="2600" dirty="0">
              <a:solidFill>
                <a:srgbClr val="7030A0"/>
              </a:solidFill>
            </a:endParaRPr>
          </a:p>
        </p:txBody>
      </p:sp>
      <p:sp>
        <p:nvSpPr>
          <p:cNvPr id="3" name="Content Placeholder 2">
            <a:extLst>
              <a:ext uri="{FF2B5EF4-FFF2-40B4-BE49-F238E27FC236}">
                <a16:creationId xmlns:a16="http://schemas.microsoft.com/office/drawing/2014/main" id="{86F4D4F2-5B1D-4323-5828-86CF14A4764A}"/>
              </a:ext>
            </a:extLst>
          </p:cNvPr>
          <p:cNvSpPr>
            <a:spLocks noGrp="1"/>
          </p:cNvSpPr>
          <p:nvPr>
            <p:ph idx="1"/>
          </p:nvPr>
        </p:nvSpPr>
        <p:spPr>
          <a:xfrm>
            <a:off x="392308" y="985961"/>
            <a:ext cx="7444990" cy="661548"/>
          </a:xfrm>
        </p:spPr>
        <p:txBody>
          <a:bodyPr>
            <a:normAutofit/>
          </a:bodyPr>
          <a:lstStyle/>
          <a:p>
            <a:r>
              <a:rPr lang="en-US" altLang="zh-CN" sz="2000" dirty="0"/>
              <a:t>Digitizing the floor plan of UCA</a:t>
            </a:r>
            <a:endParaRPr lang="zh-CN" altLang="en-US" sz="2000" dirty="0"/>
          </a:p>
        </p:txBody>
      </p:sp>
      <p:sp>
        <p:nvSpPr>
          <p:cNvPr id="4" name="Slide Number Placeholder 3">
            <a:extLst>
              <a:ext uri="{FF2B5EF4-FFF2-40B4-BE49-F238E27FC236}">
                <a16:creationId xmlns:a16="http://schemas.microsoft.com/office/drawing/2014/main" id="{BDEDD0FA-380C-83B1-9E4D-E37D15E9EE98}"/>
              </a:ext>
            </a:extLst>
          </p:cNvPr>
          <p:cNvSpPr>
            <a:spLocks noGrp="1"/>
          </p:cNvSpPr>
          <p:nvPr>
            <p:ph type="sldNum" sz="quarter" idx="12"/>
          </p:nvPr>
        </p:nvSpPr>
        <p:spPr/>
        <p:txBody>
          <a:bodyPr/>
          <a:lstStyle/>
          <a:p>
            <a:fld id="{127DDC20-79C9-9647-820E-6D40A3D210C3}" type="slidenum">
              <a:rPr lang="en-US" smtClean="0"/>
              <a:pPr/>
              <a:t>30</a:t>
            </a:fld>
            <a:endParaRPr lang="en-US"/>
          </a:p>
        </p:txBody>
      </p:sp>
    </p:spTree>
    <p:extLst>
      <p:ext uri="{BB962C8B-B14F-4D97-AF65-F5344CB8AC3E}">
        <p14:creationId xmlns:p14="http://schemas.microsoft.com/office/powerpoint/2010/main" val="13280989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152400" y="16521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Impacts on Digitizing Accuracy/ Precision</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386366" y="1064871"/>
            <a:ext cx="7559899" cy="2062103"/>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Factors affect accuracy of digitizing</a:t>
            </a:r>
          </a:p>
          <a:p>
            <a:pPr marL="914400" lvl="1" indent="-457200">
              <a:buFont typeface="Wingdings" panose="05000000000000000000" pitchFamily="2" charset="2"/>
              <a:buChar char="ü"/>
            </a:pPr>
            <a:r>
              <a:rPr lang="en-US" sz="2400" dirty="0"/>
              <a:t>Source data errors</a:t>
            </a:r>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31</a:t>
            </a:fld>
            <a:endParaRPr lang="en-US"/>
          </a:p>
        </p:txBody>
      </p:sp>
      <p:sp>
        <p:nvSpPr>
          <p:cNvPr id="5" name="TextBox 4">
            <a:extLst>
              <a:ext uri="{FF2B5EF4-FFF2-40B4-BE49-F238E27FC236}">
                <a16:creationId xmlns:a16="http://schemas.microsoft.com/office/drawing/2014/main" id="{7E7AACC5-427F-4E7D-9020-438D8BC70CF1}"/>
              </a:ext>
            </a:extLst>
          </p:cNvPr>
          <p:cNvSpPr txBox="1"/>
          <p:nvPr/>
        </p:nvSpPr>
        <p:spPr>
          <a:xfrm>
            <a:off x="5768622" y="4824430"/>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pic>
        <p:nvPicPr>
          <p:cNvPr id="4" name="Picture 3" descr="Table&#10;&#10;Description automatically generated">
            <a:extLst>
              <a:ext uri="{FF2B5EF4-FFF2-40B4-BE49-F238E27FC236}">
                <a16:creationId xmlns:a16="http://schemas.microsoft.com/office/drawing/2014/main" id="{5D87CB0D-79BF-4695-A798-68ED9F384780}"/>
              </a:ext>
            </a:extLst>
          </p:cNvPr>
          <p:cNvPicPr>
            <a:picLocks noChangeAspect="1"/>
          </p:cNvPicPr>
          <p:nvPr/>
        </p:nvPicPr>
        <p:blipFill>
          <a:blip r:embed="rId3"/>
          <a:stretch>
            <a:fillRect/>
          </a:stretch>
        </p:blipFill>
        <p:spPr>
          <a:xfrm>
            <a:off x="4551074" y="1647777"/>
            <a:ext cx="2931001" cy="2958394"/>
          </a:xfrm>
          <a:prstGeom prst="rect">
            <a:avLst/>
          </a:prstGeom>
        </p:spPr>
      </p:pic>
      <p:sp>
        <p:nvSpPr>
          <p:cNvPr id="10" name="TextBox 9">
            <a:extLst>
              <a:ext uri="{FF2B5EF4-FFF2-40B4-BE49-F238E27FC236}">
                <a16:creationId xmlns:a16="http://schemas.microsoft.com/office/drawing/2014/main" id="{6D466E43-D173-46B5-8F81-9626D141EEEF}"/>
              </a:ext>
            </a:extLst>
          </p:cNvPr>
          <p:cNvSpPr txBox="1"/>
          <p:nvPr/>
        </p:nvSpPr>
        <p:spPr>
          <a:xfrm>
            <a:off x="274961" y="2102763"/>
            <a:ext cx="3811923" cy="646331"/>
          </a:xfrm>
          <a:prstGeom prst="rect">
            <a:avLst/>
          </a:prstGeom>
          <a:noFill/>
        </p:spPr>
        <p:txBody>
          <a:bodyPr wrap="square" rtlCol="0">
            <a:spAutoFit/>
          </a:bodyPr>
          <a:lstStyle/>
          <a:p>
            <a:r>
              <a:rPr lang="en-US" dirty="0"/>
              <a:t>The surface error caused by 1 millimeter digitizing error</a:t>
            </a:r>
          </a:p>
        </p:txBody>
      </p:sp>
    </p:spTree>
    <p:extLst>
      <p:ext uri="{BB962C8B-B14F-4D97-AF65-F5344CB8AC3E}">
        <p14:creationId xmlns:p14="http://schemas.microsoft.com/office/powerpoint/2010/main" val="4262720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283335" y="21602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Impacts on Digitizing Accuracy/ Precision</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386366" y="1064871"/>
            <a:ext cx="7559899" cy="3170099"/>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Factors affect accuracy of digitizing</a:t>
            </a:r>
          </a:p>
          <a:p>
            <a:pPr marL="914400" lvl="1" indent="-457200">
              <a:buFont typeface="Wingdings" panose="05000000000000000000" pitchFamily="2" charset="2"/>
              <a:buChar char="ü"/>
            </a:pPr>
            <a:r>
              <a:rPr lang="en-US" sz="2400" dirty="0"/>
              <a:t>Precision of equipment</a:t>
            </a:r>
          </a:p>
          <a:p>
            <a:pPr marL="914400" lvl="1" indent="-457200">
              <a:buFont typeface="Wingdings" panose="05000000000000000000" pitchFamily="2" charset="2"/>
              <a:buChar char="ü"/>
            </a:pPr>
            <a:r>
              <a:rPr lang="en-US" sz="2400" dirty="0"/>
              <a:t>The abilities and attitude of the person digitizing affects the geometric quality of manually digitized data</a:t>
            </a:r>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32</a:t>
            </a:fld>
            <a:endParaRPr lang="en-US"/>
          </a:p>
        </p:txBody>
      </p:sp>
      <p:pic>
        <p:nvPicPr>
          <p:cNvPr id="4" name="Picture 3" descr="Diagram&#10;&#10;Description automatically generated">
            <a:extLst>
              <a:ext uri="{FF2B5EF4-FFF2-40B4-BE49-F238E27FC236}">
                <a16:creationId xmlns:a16="http://schemas.microsoft.com/office/drawing/2014/main" id="{CA00911C-B61F-4729-97DA-F05513AF64FB}"/>
              </a:ext>
            </a:extLst>
          </p:cNvPr>
          <p:cNvPicPr>
            <a:picLocks noChangeAspect="1"/>
          </p:cNvPicPr>
          <p:nvPr/>
        </p:nvPicPr>
        <p:blipFill>
          <a:blip r:embed="rId3"/>
          <a:stretch>
            <a:fillRect/>
          </a:stretch>
        </p:blipFill>
        <p:spPr>
          <a:xfrm>
            <a:off x="2901245" y="2687349"/>
            <a:ext cx="2625006" cy="2216835"/>
          </a:xfrm>
          <a:prstGeom prst="rect">
            <a:avLst/>
          </a:prstGeom>
        </p:spPr>
      </p:pic>
      <p:sp>
        <p:nvSpPr>
          <p:cNvPr id="9" name="TextBox 8">
            <a:extLst>
              <a:ext uri="{FF2B5EF4-FFF2-40B4-BE49-F238E27FC236}">
                <a16:creationId xmlns:a16="http://schemas.microsoft.com/office/drawing/2014/main" id="{B3662432-C69A-456D-9C68-846425D7F2AD}"/>
              </a:ext>
            </a:extLst>
          </p:cNvPr>
          <p:cNvSpPr txBox="1"/>
          <p:nvPr/>
        </p:nvSpPr>
        <p:spPr>
          <a:xfrm>
            <a:off x="5768622" y="4767263"/>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spTree>
    <p:extLst>
      <p:ext uri="{BB962C8B-B14F-4D97-AF65-F5344CB8AC3E}">
        <p14:creationId xmlns:p14="http://schemas.microsoft.com/office/powerpoint/2010/main" val="3429064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152400" y="20762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Impacts on Digitizing Accuracy/ Precision</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277398" y="1064871"/>
            <a:ext cx="7559899" cy="2339102"/>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Factors affect accuracy of digitizing</a:t>
            </a:r>
          </a:p>
          <a:p>
            <a:pPr marL="914400" lvl="1" indent="-457200">
              <a:buFont typeface="Wingdings" panose="05000000000000000000" pitchFamily="2" charset="2"/>
              <a:buChar char="ü"/>
            </a:pPr>
            <a:r>
              <a:rPr lang="en-US" sz="2400" dirty="0"/>
              <a:t>Precision of equipment</a:t>
            </a:r>
          </a:p>
          <a:p>
            <a:pPr marL="914400" lvl="1" indent="-457200">
              <a:buFont typeface="Wingdings" panose="05000000000000000000" pitchFamily="2" charset="2"/>
              <a:buChar char="ü"/>
            </a:pPr>
            <a:r>
              <a:rPr lang="en-US" sz="2400" dirty="0"/>
              <a:t>The abilities and attitude of the person digitizing affects the geometric quality of manually digitized data</a:t>
            </a:r>
          </a:p>
          <a:p>
            <a:pPr marL="1828800" lvl="3" indent="-457200">
              <a:buFont typeface="Arial" panose="020B0604020202020204" pitchFamily="34" charset="0"/>
              <a:buChar char="•"/>
            </a:pPr>
            <a:r>
              <a:rPr lang="en-US" sz="2000" dirty="0"/>
              <a:t>Topology</a:t>
            </a:r>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33</a:t>
            </a:fld>
            <a:endParaRPr lang="en-US"/>
          </a:p>
        </p:txBody>
      </p:sp>
      <p:sp>
        <p:nvSpPr>
          <p:cNvPr id="9" name="TextBox 8">
            <a:extLst>
              <a:ext uri="{FF2B5EF4-FFF2-40B4-BE49-F238E27FC236}">
                <a16:creationId xmlns:a16="http://schemas.microsoft.com/office/drawing/2014/main" id="{B3662432-C69A-456D-9C68-846425D7F2AD}"/>
              </a:ext>
            </a:extLst>
          </p:cNvPr>
          <p:cNvSpPr txBox="1"/>
          <p:nvPr/>
        </p:nvSpPr>
        <p:spPr>
          <a:xfrm>
            <a:off x="7013758" y="4439656"/>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pic>
        <p:nvPicPr>
          <p:cNvPr id="4" name="Picture 3" descr="Image showing topology location">
            <a:extLst>
              <a:ext uri="{FF2B5EF4-FFF2-40B4-BE49-F238E27FC236}">
                <a16:creationId xmlns:a16="http://schemas.microsoft.com/office/drawing/2014/main" id="{A310E88C-DB8C-4423-B8C8-FCECF5E96BDA}"/>
              </a:ext>
            </a:extLst>
          </p:cNvPr>
          <p:cNvPicPr>
            <a:picLocks noChangeAspect="1"/>
          </p:cNvPicPr>
          <p:nvPr/>
        </p:nvPicPr>
        <p:blipFill>
          <a:blip r:embed="rId3"/>
          <a:stretch>
            <a:fillRect/>
          </a:stretch>
        </p:blipFill>
        <p:spPr>
          <a:xfrm>
            <a:off x="3384348" y="2702080"/>
            <a:ext cx="3605468" cy="1999186"/>
          </a:xfrm>
          <a:prstGeom prst="rect">
            <a:avLst/>
          </a:prstGeom>
        </p:spPr>
      </p:pic>
    </p:spTree>
    <p:extLst>
      <p:ext uri="{BB962C8B-B14F-4D97-AF65-F5344CB8AC3E}">
        <p14:creationId xmlns:p14="http://schemas.microsoft.com/office/powerpoint/2010/main" val="236774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283335" y="2183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Impacts on Digitizing Accuracy/ Precision</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386366" y="1064871"/>
            <a:ext cx="7559899" cy="2339102"/>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Factors affect accuracy of digitizing</a:t>
            </a:r>
          </a:p>
          <a:p>
            <a:pPr marL="914400" lvl="1" indent="-457200">
              <a:buFont typeface="Wingdings" panose="05000000000000000000" pitchFamily="2" charset="2"/>
              <a:buChar char="ü"/>
            </a:pPr>
            <a:r>
              <a:rPr lang="en-US" sz="2400" dirty="0"/>
              <a:t>Precision of equipment</a:t>
            </a:r>
          </a:p>
          <a:p>
            <a:pPr marL="914400" lvl="1" indent="-457200">
              <a:buFont typeface="Wingdings" panose="05000000000000000000" pitchFamily="2" charset="2"/>
              <a:buChar char="ü"/>
            </a:pPr>
            <a:r>
              <a:rPr lang="en-US" sz="2400" dirty="0"/>
              <a:t>The abilities and attitude of the person digitizing affects the geometric quality of manually digitized data</a:t>
            </a:r>
          </a:p>
          <a:p>
            <a:pPr marL="1828800" lvl="3" indent="-457200">
              <a:buFont typeface="Arial" panose="020B0604020202020204" pitchFamily="34" charset="0"/>
              <a:buChar char="•"/>
            </a:pPr>
            <a:r>
              <a:rPr lang="en-US" sz="2000" dirty="0"/>
              <a:t>Snapping</a:t>
            </a:r>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34</a:t>
            </a:fld>
            <a:endParaRPr lang="en-US"/>
          </a:p>
        </p:txBody>
      </p:sp>
      <p:sp>
        <p:nvSpPr>
          <p:cNvPr id="9" name="TextBox 8">
            <a:extLst>
              <a:ext uri="{FF2B5EF4-FFF2-40B4-BE49-F238E27FC236}">
                <a16:creationId xmlns:a16="http://schemas.microsoft.com/office/drawing/2014/main" id="{B3662432-C69A-456D-9C68-846425D7F2AD}"/>
              </a:ext>
            </a:extLst>
          </p:cNvPr>
          <p:cNvSpPr txBox="1"/>
          <p:nvPr/>
        </p:nvSpPr>
        <p:spPr>
          <a:xfrm>
            <a:off x="2683994" y="4642575"/>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pic>
        <p:nvPicPr>
          <p:cNvPr id="5" name="Picture 4" descr="Image showing snapping location">
            <a:extLst>
              <a:ext uri="{FF2B5EF4-FFF2-40B4-BE49-F238E27FC236}">
                <a16:creationId xmlns:a16="http://schemas.microsoft.com/office/drawing/2014/main" id="{E70A0F37-EF50-4748-9B09-CCB8F3CA55EE}"/>
              </a:ext>
            </a:extLst>
          </p:cNvPr>
          <p:cNvPicPr>
            <a:picLocks noChangeAspect="1"/>
          </p:cNvPicPr>
          <p:nvPr/>
        </p:nvPicPr>
        <p:blipFill>
          <a:blip r:embed="rId4"/>
          <a:stretch>
            <a:fillRect/>
          </a:stretch>
        </p:blipFill>
        <p:spPr>
          <a:xfrm>
            <a:off x="778933" y="3443211"/>
            <a:ext cx="1644811" cy="1514271"/>
          </a:xfrm>
          <a:prstGeom prst="rect">
            <a:avLst/>
          </a:prstGeom>
        </p:spPr>
      </p:pic>
      <p:pic>
        <p:nvPicPr>
          <p:cNvPr id="11" name="Picture 10" descr="Diagram&#10;&#10;Description automatically generated">
            <a:extLst>
              <a:ext uri="{FF2B5EF4-FFF2-40B4-BE49-F238E27FC236}">
                <a16:creationId xmlns:a16="http://schemas.microsoft.com/office/drawing/2014/main" id="{35B24936-65F1-42FF-A181-20FA2C8332D5}"/>
              </a:ext>
            </a:extLst>
          </p:cNvPr>
          <p:cNvPicPr>
            <a:picLocks noChangeAspect="1"/>
          </p:cNvPicPr>
          <p:nvPr/>
        </p:nvPicPr>
        <p:blipFill>
          <a:blip r:embed="rId5"/>
          <a:stretch>
            <a:fillRect/>
          </a:stretch>
        </p:blipFill>
        <p:spPr>
          <a:xfrm>
            <a:off x="3665015" y="2713832"/>
            <a:ext cx="3785652" cy="2377725"/>
          </a:xfrm>
          <a:prstGeom prst="rect">
            <a:avLst/>
          </a:prstGeom>
        </p:spPr>
      </p:pic>
      <p:sp>
        <p:nvSpPr>
          <p:cNvPr id="19" name="SMARTInkShape-175"/>
          <p:cNvSpPr/>
          <p:nvPr>
            <p:custDataLst>
              <p:tags r:id="rId1"/>
            </p:custDataLst>
          </p:nvPr>
        </p:nvSpPr>
        <p:spPr>
          <a:xfrm>
            <a:off x="4657725" y="4646295"/>
            <a:ext cx="5716" cy="5716"/>
          </a:xfrm>
          <a:custGeom>
            <a:avLst/>
            <a:gdLst/>
            <a:ahLst/>
            <a:cxnLst/>
            <a:rect l="0" t="0" r="0" b="0"/>
            <a:pathLst>
              <a:path w="5716" h="5716">
                <a:moveTo>
                  <a:pt x="0" y="0"/>
                </a:moveTo>
                <a:lnTo>
                  <a:pt x="0" y="0"/>
                </a:lnTo>
                <a:lnTo>
                  <a:pt x="5715" y="5715"/>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819439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283335" y="20762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Impacts on Digitizing Accuracy/ Precision</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386366" y="1064871"/>
            <a:ext cx="7559899" cy="2339102"/>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Factors affect accuracy of digitizing</a:t>
            </a:r>
          </a:p>
          <a:p>
            <a:pPr marL="914400" lvl="1" indent="-457200">
              <a:buFont typeface="Wingdings" panose="05000000000000000000" pitchFamily="2" charset="2"/>
              <a:buChar char="ü"/>
            </a:pPr>
            <a:r>
              <a:rPr lang="en-US" sz="2400" dirty="0"/>
              <a:t>Precision of equipment</a:t>
            </a:r>
          </a:p>
          <a:p>
            <a:pPr marL="914400" lvl="1" indent="-457200">
              <a:buFont typeface="Wingdings" panose="05000000000000000000" pitchFamily="2" charset="2"/>
              <a:buChar char="ü"/>
            </a:pPr>
            <a:r>
              <a:rPr lang="en-US" sz="2400" dirty="0"/>
              <a:t>The abilities and attitude of the person digitizing affects the geometric quality of manually digitized data</a:t>
            </a:r>
          </a:p>
          <a:p>
            <a:pPr marL="1828800" lvl="3" indent="-457200">
              <a:buFont typeface="Arial" panose="020B0604020202020204" pitchFamily="34" charset="0"/>
              <a:buChar char="•"/>
            </a:pPr>
            <a:r>
              <a:rPr lang="en-US" sz="2000" dirty="0"/>
              <a:t>Reshaping</a:t>
            </a:r>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35</a:t>
            </a:fld>
            <a:endParaRPr lang="en-US"/>
          </a:p>
        </p:txBody>
      </p:sp>
      <p:pic>
        <p:nvPicPr>
          <p:cNvPr id="4" name="Picture 3" descr="Image showing reshaping location">
            <a:extLst>
              <a:ext uri="{FF2B5EF4-FFF2-40B4-BE49-F238E27FC236}">
                <a16:creationId xmlns:a16="http://schemas.microsoft.com/office/drawing/2014/main" id="{2F8CE35C-1121-4CFA-9372-841EB49EDDAC}"/>
              </a:ext>
            </a:extLst>
          </p:cNvPr>
          <p:cNvPicPr>
            <a:picLocks noChangeAspect="1"/>
          </p:cNvPicPr>
          <p:nvPr/>
        </p:nvPicPr>
        <p:blipFill>
          <a:blip r:embed="rId3"/>
          <a:stretch>
            <a:fillRect/>
          </a:stretch>
        </p:blipFill>
        <p:spPr>
          <a:xfrm>
            <a:off x="2218166" y="3399235"/>
            <a:ext cx="4362450" cy="1504950"/>
          </a:xfrm>
          <a:prstGeom prst="rect">
            <a:avLst/>
          </a:prstGeom>
        </p:spPr>
      </p:pic>
    </p:spTree>
    <p:extLst>
      <p:ext uri="{BB962C8B-B14F-4D97-AF65-F5344CB8AC3E}">
        <p14:creationId xmlns:p14="http://schemas.microsoft.com/office/powerpoint/2010/main" val="3666322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251179" y="17090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Group Activity</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152400" y="1056316"/>
            <a:ext cx="4000920" cy="2092881"/>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Identify a characteristic feature or error in digitizing at each of the labeled letter locations in the drawing below. </a:t>
            </a:r>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36</a:t>
            </a:fld>
            <a:endParaRPr lang="en-US"/>
          </a:p>
        </p:txBody>
      </p:sp>
      <p:sp>
        <p:nvSpPr>
          <p:cNvPr id="9" name="TextBox 8">
            <a:extLst>
              <a:ext uri="{FF2B5EF4-FFF2-40B4-BE49-F238E27FC236}">
                <a16:creationId xmlns:a16="http://schemas.microsoft.com/office/drawing/2014/main" id="{0F5CCA9F-3559-4BFC-9759-DED444042DB4}"/>
              </a:ext>
            </a:extLst>
          </p:cNvPr>
          <p:cNvSpPr txBox="1"/>
          <p:nvPr/>
        </p:nvSpPr>
        <p:spPr>
          <a:xfrm>
            <a:off x="6194839" y="4744495"/>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pic>
        <p:nvPicPr>
          <p:cNvPr id="4" name="Picture 3" descr="Image showing digitizing error">
            <a:extLst>
              <a:ext uri="{FF2B5EF4-FFF2-40B4-BE49-F238E27FC236}">
                <a16:creationId xmlns:a16="http://schemas.microsoft.com/office/drawing/2014/main" id="{2D57CE61-F0CE-417C-90F4-8D9046E81F1D}"/>
              </a:ext>
            </a:extLst>
          </p:cNvPr>
          <p:cNvPicPr>
            <a:picLocks noChangeAspect="1"/>
          </p:cNvPicPr>
          <p:nvPr/>
        </p:nvPicPr>
        <p:blipFill>
          <a:blip r:embed="rId3"/>
          <a:stretch>
            <a:fillRect/>
          </a:stretch>
        </p:blipFill>
        <p:spPr>
          <a:xfrm>
            <a:off x="4289779" y="1453649"/>
            <a:ext cx="3690822" cy="3090193"/>
          </a:xfrm>
          <a:prstGeom prst="rect">
            <a:avLst/>
          </a:prstGeom>
        </p:spPr>
      </p:pic>
    </p:spTree>
    <p:extLst>
      <p:ext uri="{BB962C8B-B14F-4D97-AF65-F5344CB8AC3E}">
        <p14:creationId xmlns:p14="http://schemas.microsoft.com/office/powerpoint/2010/main" val="2966991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8.2 </a:t>
            </a:r>
            <a:br>
              <a:rPr lang="en-US" sz="4050" dirty="0">
                <a:solidFill>
                  <a:srgbClr val="FFFFFF"/>
                </a:solidFill>
              </a:rPr>
            </a:br>
            <a:r>
              <a:rPr lang="en-US" sz="4050" dirty="0">
                <a:solidFill>
                  <a:srgbClr val="FFFFFF"/>
                </a:solidFill>
              </a:rPr>
              <a:t>Lab session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2684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6"/>
            <a:ext cx="8229600" cy="462914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500F975A-F937-77A1-413D-F51FF137F9AD}"/>
              </a:ext>
            </a:extLst>
          </p:cNvPr>
          <p:cNvSpPr>
            <a:spLocks noGrp="1"/>
          </p:cNvSpPr>
          <p:nvPr>
            <p:ph type="title"/>
          </p:nvPr>
        </p:nvSpPr>
        <p:spPr>
          <a:xfrm>
            <a:off x="392417" y="865356"/>
            <a:ext cx="7444991" cy="462049"/>
          </a:xfrm>
        </p:spPr>
        <p:txBody>
          <a:bodyPr>
            <a:normAutofit/>
          </a:bodyPr>
          <a:lstStyle/>
          <a:p>
            <a:pPr algn="ctr">
              <a:spcBef>
                <a:spcPts val="0"/>
              </a:spcBef>
              <a:spcAft>
                <a:spcPts val="398"/>
              </a:spcAft>
            </a:pPr>
            <a:r>
              <a:rPr lang="en-US" sz="2160" b="1" dirty="0">
                <a:solidFill>
                  <a:schemeClr val="tx1">
                    <a:lumMod val="85000"/>
                    <a:lumOff val="15000"/>
                  </a:schemeClr>
                </a:solidFill>
                <a:latin typeface="+mn-lt"/>
                <a:ea typeface="Calibri" panose="020F0502020204030204" pitchFamily="34" charset="0"/>
                <a:cs typeface="Calibri" panose="020F0502020204030204" pitchFamily="34" charset="0"/>
              </a:rPr>
              <a:t>Lab 08: </a:t>
            </a:r>
            <a:r>
              <a:rPr lang="en-US" b="1" dirty="0"/>
              <a:t>G</a:t>
            </a:r>
            <a:r>
              <a:rPr lang="en-US" altLang="zh-CN" b="1" dirty="0"/>
              <a:t>eoreferencing and resampling</a:t>
            </a:r>
            <a:endParaRPr lang="en-US" sz="2160" dirty="0">
              <a:solidFill>
                <a:schemeClr val="tx1">
                  <a:lumMod val="85000"/>
                  <a:lumOff val="15000"/>
                </a:schemeClr>
              </a:solidFill>
              <a:latin typeface="+mn-lt"/>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graphicFrame>
        <p:nvGraphicFramePr>
          <p:cNvPr id="5" name="Content Placeholder 2">
            <a:extLst>
              <a:ext uri="{FF2B5EF4-FFF2-40B4-BE49-F238E27FC236}">
                <a16:creationId xmlns:a16="http://schemas.microsoft.com/office/drawing/2014/main" id="{F61B7E67-130C-FD82-8132-74DBD62B80A6}"/>
              </a:ext>
            </a:extLst>
          </p:cNvPr>
          <p:cNvGraphicFramePr>
            <a:graphicFrameLocks noGrp="1"/>
          </p:cNvGraphicFramePr>
          <p:nvPr>
            <p:ph idx="1"/>
            <p:extLst>
              <p:ext uri="{D42A27DB-BD31-4B8C-83A1-F6EECF244321}">
                <p14:modId xmlns:p14="http://schemas.microsoft.com/office/powerpoint/2010/main" val="2510934464"/>
              </p:ext>
            </p:extLst>
          </p:nvPr>
        </p:nvGraphicFramePr>
        <p:xfrm>
          <a:off x="392192" y="1837730"/>
          <a:ext cx="7445216" cy="2574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27850"/>
      </p:ext>
    </p:extLst>
  </p:cSld>
  <p:clrMapOvr>
    <a:overrideClrMapping bg1="dk1" tx1="lt1" bg2="dk2" tx2="lt2" accent1="accent1" accent2="accent2" accent3="accent3" accent4="accent4" accent5="accent5" accent6="accent6" hlink="hlink" folHlink="folHlink"/>
  </p:clrMapOvr>
</p:sld>
</file>

<file path=ppt/tags/tag1.xml><?xml version="1.0" encoding="utf-8"?>
<p:tagLst xmlns:a="http://schemas.openxmlformats.org/drawingml/2006/main" xmlns:r="http://schemas.openxmlformats.org/officeDocument/2006/relationships" xmlns:p="http://schemas.openxmlformats.org/presentationml/2006/main">
  <p:tag name="HIGHLIGHTER" val="false"/>
</p:tagLst>
</file>

<file path=ppt/tags/tag2.xml><?xml version="1.0" encoding="utf-8"?>
<p:tagLst xmlns:a="http://schemas.openxmlformats.org/drawingml/2006/main" xmlns:r="http://schemas.openxmlformats.org/officeDocument/2006/relationships" xmlns:p="http://schemas.openxmlformats.org/presentationml/2006/main">
  <p:tag name="HIGHLIGHTER" val="false"/>
</p:tagLst>
</file>

<file path=ppt/tags/tag3.xml><?xml version="1.0" encoding="utf-8"?>
<p:tagLst xmlns:a="http://schemas.openxmlformats.org/drawingml/2006/main" xmlns:r="http://schemas.openxmlformats.org/officeDocument/2006/relationships" xmlns:p="http://schemas.openxmlformats.org/presentationml/2006/main">
  <p:tag name="HIGHLIGHTER" val="false"/>
</p:tagLst>
</file>

<file path=ppt/tags/tag4.xml><?xml version="1.0" encoding="utf-8"?>
<p:tagLst xmlns:a="http://schemas.openxmlformats.org/drawingml/2006/main" xmlns:r="http://schemas.openxmlformats.org/officeDocument/2006/relationships" xmlns:p="http://schemas.openxmlformats.org/presentationml/2006/main">
  <p:tag name="HIGHLIGHTER" val="false"/>
</p:tagLst>
</file>

<file path=ppt/tags/tag5.xml><?xml version="1.0" encoding="utf-8"?>
<p:tagLst xmlns:a="http://schemas.openxmlformats.org/drawingml/2006/main" xmlns:r="http://schemas.openxmlformats.org/officeDocument/2006/relationships" xmlns:p="http://schemas.openxmlformats.org/presentationml/2006/main">
  <p:tag name="HIGHLIGHTER" val="false"/>
</p:tagLst>
</file>

<file path=ppt/tags/tag6.xml><?xml version="1.0" encoding="utf-8"?>
<p:tagLst xmlns:a="http://schemas.openxmlformats.org/drawingml/2006/main" xmlns:r="http://schemas.openxmlformats.org/officeDocument/2006/relationships" xmlns:p="http://schemas.openxmlformats.org/presentationml/2006/main">
  <p:tag name="HIGHLIGHTER" val="false"/>
</p:tagLst>
</file>

<file path=ppt/tags/tag7.xml><?xml version="1.0" encoding="utf-8"?>
<p:tagLst xmlns:a="http://schemas.openxmlformats.org/drawingml/2006/main" xmlns:r="http://schemas.openxmlformats.org/officeDocument/2006/relationships" xmlns:p="http://schemas.openxmlformats.org/presentationml/2006/main">
  <p:tag name="HIGHLIGHTER" val="false"/>
</p:tagLst>
</file>

<file path=ppt/tags/tag8.xml><?xml version="1.0" encoding="utf-8"?>
<p:tagLst xmlns:a="http://schemas.openxmlformats.org/drawingml/2006/main" xmlns:r="http://schemas.openxmlformats.org/officeDocument/2006/relationships" xmlns:p="http://schemas.openxmlformats.org/presentationml/2006/main">
  <p:tag name="HIGHLIGHTER" val="false"/>
</p:tagLst>
</file>

<file path=ppt/tags/tag9.xml><?xml version="1.0" encoding="utf-8"?>
<p:tagLst xmlns:a="http://schemas.openxmlformats.org/drawingml/2006/main" xmlns:r="http://schemas.openxmlformats.org/officeDocument/2006/relationships" xmlns:p="http://schemas.openxmlformats.org/presentationml/2006/main">
  <p:tag name="HIGHLIGHTER" val="false"/>
</p:tagLst>
</file>

<file path=ppt/tags/tag10.xml><?xml version="1.0" encoding="utf-8"?>
<p:tagLst xmlns:a="http://schemas.openxmlformats.org/drawingml/2006/main" xmlns:r="http://schemas.openxmlformats.org/officeDocument/2006/relationships" xmlns:p="http://schemas.openxmlformats.org/presentationml/2006/main">
  <p:tag name="HIGHLIGHTER" val="false"/>
</p:tagLst>
</file>

<file path=ppt/tags/tag11.xml><?xml version="1.0" encoding="utf-8"?>
<p:tagLst xmlns:a="http://schemas.openxmlformats.org/drawingml/2006/main" xmlns:r="http://schemas.openxmlformats.org/officeDocument/2006/relationships" xmlns:p="http://schemas.openxmlformats.org/presentationml/2006/main">
  <p:tag name="HIGHLIGHTER" val="false"/>
</p:tagLst>
</file>

<file path=ppt/tags/tag12.xml><?xml version="1.0" encoding="utf-8"?>
<p:tagLst xmlns:a="http://schemas.openxmlformats.org/drawingml/2006/main" xmlns:r="http://schemas.openxmlformats.org/officeDocument/2006/relationships" xmlns:p="http://schemas.openxmlformats.org/presentationml/2006/main">
  <p:tag name="HIGHLIGHTER" val="false"/>
</p:tagLst>
</file>

<file path=ppt/tags/tag13.xml><?xml version="1.0" encoding="utf-8"?>
<p:tagLst xmlns:a="http://schemas.openxmlformats.org/drawingml/2006/main" xmlns:r="http://schemas.openxmlformats.org/officeDocument/2006/relationships" xmlns:p="http://schemas.openxmlformats.org/presentationml/2006/main">
  <p:tag name="HIGHLIGHTER" val="false"/>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6&quot;/&gt;&lt;/TableIndex&gt;&lt;/ShapeTextInfo&gt;"/>
  <p:tag name="HTML_SHAPEINFO" val="&lt;ThreeDShapeInfo&gt;&lt;uuid val=&quot;{65CCD91D-216F-4273-8EA2-30827332E767}&quot;/&gt;&lt;isInvalidForFieldText val=&quot;0&quot;/&gt;&lt;Image&gt;&lt;filename val=&quot;C:\Users\amaxwel6\AppData\Local\Temp\CP10972185572203Session\CPTrustFolder10972185572203\PPTImport10972188411375\data\asimages\{65CCD91D-216F-4273-8EA2-30827332E767}_9.png&quot;/&gt;&lt;left val=&quot;149&quot;/&gt;&lt;top val=&quot;190&quot;/&gt;&lt;width val=&quot;971&quot;/&gt;&lt;height val=&quot;457&quot;/&gt;&lt;hasText val=&quot;1&quot;/&gt;&lt;/Image&gt;&lt;/ThreeDShape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0&quot;/&gt;&lt;/TableIndex&gt;&lt;TableIndex row=&quot;2&quot; col=&quot;1&quot;&gt;&lt;linesCount val=&quot;1&quot;/&gt;&lt;lineCharCount val=&quot;13&quot;/&gt;&lt;/TableIndex&gt;&lt;TableIndex row=&quot;2&quot; col=&quot;2&quot;&gt;&lt;linesCount val=&quot;1&quot;/&gt;&lt;lineCharCount val=&quot;41&quot;/&gt;&lt;/TableIndex&gt;&lt;TableIndex row=&quot;3&quot; col=&quot;1&quot;&gt;&lt;linesCount val=&quot;1&quot;/&gt;&lt;lineCharCount val=&quot;12&quot;/&gt;&lt;/TableIndex&gt;&lt;TableIndex row=&quot;3&quot; col=&quot;2&quot;&gt;&lt;linesCount val=&quot;2&quot;/&gt;&lt;lineCharCount val=&quot;42&quot;/&gt;&lt;lineCharCount val=&quot;13&quot;/&gt;&lt;/TableIndex&gt;&lt;TableIndex row=&quot;4&quot; col=&quot;1&quot;&gt;&lt;linesCount val=&quot;1&quot;/&gt;&lt;lineCharCount val=&quot;5&quot;/&gt;&lt;/TableIndex&gt;&lt;TableIndex row=&quot;4&quot; col=&quot;2&quot;&gt;&lt;linesCount val=&quot;1&quot;/&gt;&lt;lineCharCount val=&quot;38&quot;/&gt;&lt;/TableIndex&gt;&lt;TableIndex row=&quot;5&quot; col=&quot;1&quot;&gt;&lt;linesCount val=&quot;1&quot;/&gt;&lt;lineCharCount val=&quot;6&quot;/&gt;&lt;/TableIndex&gt;&lt;TableIndex row=&quot;5&quot; col=&quot;2&quot;&gt;&lt;linesCount val=&quot;1&quot;/&gt;&lt;lineCharCount val=&quot;45&quot;/&gt;&lt;/TableIndex&gt;&lt;TableIndex row=&quot;6&quot; col=&quot;1&quot;&gt;&lt;linesCount val=&quot;1&quot;/&gt;&lt;lineCharCount val=&quot;4&quot;/&gt;&lt;/TableIndex&gt;&lt;TableIndex row=&quot;6&quot; col=&quot;2&quot;&gt;&lt;linesCount val=&quot;1&quot;/&gt;&lt;lineCharCount val=&quot;12&quot;/&gt;&lt;/TableIndex&gt;&lt;TableIndex row=&quot;7&quot; col=&quot;1&quot;&gt;&lt;linesCount val=&quot;1&quot;/&gt;&lt;lineCharCount val=&quot;4&quot;/&gt;&lt;/TableIndex&gt;&lt;TableIndex row=&quot;7&quot; col=&quot;2&quot;&gt;&lt;linesCount val=&quot;1&quot;/&gt;&lt;lineCharCount val=&quot;22&quot;/&gt;&lt;/TableIndex&gt;&lt;/ShapeTextInfo&gt;"/>
  <p:tag name="PRESENTER_SHAPEINFO" val="&lt;ThreeDShapeInfo&gt;&lt;uuid val=&quot;{CDFF7BC7-18B8-42DC-A522-5CEF65B26C86}&quot;/&gt;&lt;isInvalidForFieldText val=&quot;0&quot;/&gt;&lt;Image&gt;&lt;filename val=&quot;C:\Users\amaxwel6\AppData\Local\Temp\CP10972185572203Session\CPTrustFolder10972185572203\PPTImport10972188411375\data\asimages\{CDFF7BC7-18B8-42DC-A522-5CEF65B26C86}_9.png&quot;/&gt;&lt;left val=&quot;287&quot;/&gt;&lt;top val=&quot;388&quot;/&gt;&lt;width val=&quot;962&quot;/&gt;&lt;height val=&quot;313&quot;/&gt;&lt;hasText val=&quot;1&quot;/&gt;&lt;/Image&gt;&lt;/ThreeDShapeInfo&gt;"/>
</p:tagLst>
</file>

<file path=ppt/tags/tag16.xml><?xml version="1.0" encoding="utf-8"?>
<p:tagLst xmlns:a="http://schemas.openxmlformats.org/drawingml/2006/main" xmlns:r="http://schemas.openxmlformats.org/officeDocument/2006/relationships" xmlns:p="http://schemas.openxmlformats.org/presentationml/2006/main">
  <p:tag name="HIGHLIGHTER" val="false"/>
</p:tagLst>
</file>

<file path=ppt/theme/theme1.xml><?xml version="1.0" encoding="utf-8"?>
<a:theme xmlns:a="http://schemas.openxmlformats.org/drawingml/2006/main" name="5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6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6.xml><?xml version="1.0" encoding="utf-8"?>
<a:theme xmlns:a="http://schemas.openxmlformats.org/drawingml/2006/main" name="7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Lecture07_GEOG2475_Tuesday</Template>
  <TotalTime>8204</TotalTime>
  <Words>3851</Words>
  <Application>Microsoft Office PowerPoint</Application>
  <PresentationFormat>Custom</PresentationFormat>
  <Paragraphs>499</Paragraphs>
  <Slides>38</Slides>
  <Notes>33</Notes>
  <HiddenSlides>0</HiddenSlides>
  <MMClips>0</MMClips>
  <ScaleCrop>false</ScaleCrop>
  <HeadingPairs>
    <vt:vector size="6" baseType="variant">
      <vt:variant>
        <vt:lpstr>Fonts Used</vt:lpstr>
      </vt:variant>
      <vt:variant>
        <vt:i4>7</vt:i4>
      </vt:variant>
      <vt:variant>
        <vt:lpstr>Theme</vt:lpstr>
      </vt:variant>
      <vt:variant>
        <vt:i4>6</vt:i4>
      </vt:variant>
      <vt:variant>
        <vt:lpstr>Slide Titles</vt:lpstr>
      </vt:variant>
      <vt:variant>
        <vt:i4>38</vt:i4>
      </vt:variant>
    </vt:vector>
  </HeadingPairs>
  <TitlesOfParts>
    <vt:vector size="51" baseType="lpstr">
      <vt:lpstr>Arial</vt:lpstr>
      <vt:lpstr>Arial Black</vt:lpstr>
      <vt:lpstr>Calibri</vt:lpstr>
      <vt:lpstr>Courier New</vt:lpstr>
      <vt:lpstr>Gill Sans MT</vt:lpstr>
      <vt:lpstr>Wingdings</vt:lpstr>
      <vt:lpstr>Wingdings 2</vt:lpstr>
      <vt:lpstr>5_DividendVTI</vt:lpstr>
      <vt:lpstr>2_DividendVTI</vt:lpstr>
      <vt:lpstr>DividendVTI</vt:lpstr>
      <vt:lpstr>1_DividendVTI</vt:lpstr>
      <vt:lpstr>6_DividendVTI</vt:lpstr>
      <vt:lpstr>7_DividendVTI</vt:lpstr>
      <vt:lpstr>Lecture 07 Digitizing,  Georeferencing, Resampling  lecture</vt:lpstr>
      <vt:lpstr>7.1  georeferencing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First-Order Polynomial (Affine)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class discussion – Indoor gis</vt:lpstr>
      <vt:lpstr>PowerPoint Presentation</vt:lpstr>
      <vt:lpstr>PowerPoint Presentation</vt:lpstr>
      <vt:lpstr>PowerPoint Presentation</vt:lpstr>
      <vt:lpstr>PowerPoint Presentation</vt:lpstr>
      <vt:lpstr>PowerPoint Presentation</vt:lpstr>
      <vt:lpstr>PowerPoint Presentation</vt:lpstr>
      <vt:lpstr>8.2  Lab session</vt:lpstr>
      <vt:lpstr>Lab 08: Georeferencing and resampling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500</cp:revision>
  <cp:lastPrinted>2020-03-26T12:59:04Z</cp:lastPrinted>
  <dcterms:created xsi:type="dcterms:W3CDTF">2020-03-24T14:51:54Z</dcterms:created>
  <dcterms:modified xsi:type="dcterms:W3CDTF">2025-10-07T15:17:50Z</dcterms:modified>
</cp:coreProperties>
</file>