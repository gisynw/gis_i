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 id="2147483709" r:id="rId5"/>
  </p:sldMasterIdLst>
  <p:notesMasterIdLst>
    <p:notesMasterId r:id="rId43"/>
  </p:notesMasterIdLst>
  <p:sldIdLst>
    <p:sldId id="914" r:id="rId6"/>
    <p:sldId id="1647" r:id="rId7"/>
    <p:sldId id="639" r:id="rId8"/>
    <p:sldId id="656" r:id="rId9"/>
    <p:sldId id="658" r:id="rId10"/>
    <p:sldId id="1648" r:id="rId11"/>
    <p:sldId id="1649" r:id="rId12"/>
    <p:sldId id="657" r:id="rId13"/>
    <p:sldId id="1650" r:id="rId14"/>
    <p:sldId id="1660" r:id="rId15"/>
    <p:sldId id="655" r:id="rId16"/>
    <p:sldId id="659" r:id="rId17"/>
    <p:sldId id="296" r:id="rId18"/>
    <p:sldId id="640" r:id="rId19"/>
    <p:sldId id="293" r:id="rId20"/>
    <p:sldId id="294" r:id="rId21"/>
    <p:sldId id="295" r:id="rId22"/>
    <p:sldId id="291" r:id="rId23"/>
    <p:sldId id="649" r:id="rId24"/>
    <p:sldId id="1651" r:id="rId25"/>
    <p:sldId id="650" r:id="rId26"/>
    <p:sldId id="277" r:id="rId27"/>
    <p:sldId id="308" r:id="rId28"/>
    <p:sldId id="261" r:id="rId29"/>
    <p:sldId id="1652" r:id="rId30"/>
    <p:sldId id="651" r:id="rId31"/>
    <p:sldId id="1661" r:id="rId32"/>
    <p:sldId id="263" r:id="rId33"/>
    <p:sldId id="641" r:id="rId34"/>
    <p:sldId id="661" r:id="rId35"/>
    <p:sldId id="663" r:id="rId36"/>
    <p:sldId id="664" r:id="rId37"/>
    <p:sldId id="312" r:id="rId38"/>
    <p:sldId id="313" r:id="rId39"/>
    <p:sldId id="314" r:id="rId40"/>
    <p:sldId id="1658" r:id="rId41"/>
    <p:sldId id="1659" r:id="rId4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41" autoAdjust="0"/>
  </p:normalViewPr>
  <p:slideViewPr>
    <p:cSldViewPr snapToGrid="0" snapToObjects="1">
      <p:cViewPr varScale="1">
        <p:scale>
          <a:sx n="123" d="100"/>
          <a:sy n="123" d="100"/>
        </p:scale>
        <p:origin x="1608"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diagrams/_rels/data1.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NOON </a:t>
          </a:r>
          <a:r>
            <a:rPr lang="en-US" sz="1800" dirty="0">
              <a:solidFill>
                <a:srgbClr val="C00000"/>
              </a:solidFill>
            </a:rPr>
            <a:t>(12:00 pm) on </a:t>
          </a:r>
          <a:r>
            <a:rPr lang="en-US" altLang="zh-CN" sz="1800" dirty="0">
              <a:solidFill>
                <a:srgbClr val="C00000"/>
              </a:solidFill>
            </a:rPr>
            <a:t>Wednesday</a:t>
          </a:r>
          <a:r>
            <a:rPr lang="en-US" sz="1800" dirty="0">
              <a:solidFill>
                <a:srgbClr val="C00000"/>
              </a:solidFill>
            </a:rPr>
            <a:t>, Sep 23,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NOON </a:t>
          </a:r>
          <a:r>
            <a:rPr lang="en-US" sz="1800" kern="1200" dirty="0">
              <a:solidFill>
                <a:srgbClr val="C00000"/>
              </a:solidFill>
            </a:rPr>
            <a:t>(12:00 pm) on </a:t>
          </a:r>
          <a:r>
            <a:rPr lang="en-US" altLang="zh-CN" sz="1800" kern="1200" dirty="0">
              <a:solidFill>
                <a:srgbClr val="C00000"/>
              </a:solidFill>
            </a:rPr>
            <a:t>Wednesday</a:t>
          </a:r>
          <a:r>
            <a:rPr lang="en-US" sz="1800" kern="1200" dirty="0">
              <a:solidFill>
                <a:srgbClr val="C00000"/>
              </a:solidFill>
            </a:rPr>
            <a:t>, Sep 23,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9/15/2026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376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3467917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874615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281820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2177642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925588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Data can be broken into two broad categories: categorical and numeric. Categorical data represent discrete categories that are either unordered (nominal) or ordered (ordinal). </a:t>
            </a:r>
          </a:p>
          <a:p>
            <a:endParaRPr lang="en-US" baseline="0" dirty="0"/>
          </a:p>
          <a:p>
            <a:r>
              <a:rPr lang="en-US" baseline="0" dirty="0"/>
              <a:t>Examples of nominal data include land cover types, soil types, or vegetation types while an example of ordinal data would be rankings such as 3rd place, 2nd place, and 1st place. </a:t>
            </a:r>
          </a:p>
          <a:p>
            <a:endParaRPr lang="en-US" baseline="0" dirty="0"/>
          </a:p>
          <a:p>
            <a:r>
              <a:rPr lang="en-US" baseline="0" dirty="0"/>
              <a:t>Numeric data represent continuous numbers or measures and can be further subdivided into interval and ratio types. </a:t>
            </a:r>
          </a:p>
          <a:p>
            <a:endParaRPr lang="en-US" baseline="0" dirty="0"/>
          </a:p>
          <a:p>
            <a:r>
              <a:rPr lang="en-US" baseline="0" dirty="0"/>
              <a:t>For both types the difference between subsequent numbers is fixed; for example, the length difference between 2 meters and 3 meters is the same as the difference between 7 meters and 8 meters. </a:t>
            </a:r>
          </a:p>
          <a:p>
            <a:endParaRPr lang="en-US" baseline="0" dirty="0"/>
          </a:p>
          <a:p>
            <a:r>
              <a:rPr lang="en-US" baseline="0" dirty="0"/>
              <a:t>However, they differ in regards to how the zero value is defined. </a:t>
            </a:r>
          </a:p>
          <a:p>
            <a:endParaRPr lang="en-US" baseline="0" dirty="0"/>
          </a:p>
          <a:p>
            <a:r>
              <a:rPr lang="en-US" baseline="0" dirty="0"/>
              <a:t>For interval data, the zero value is arbitrary whereas this value is non-arbitrary for ratio data. </a:t>
            </a:r>
          </a:p>
          <a:p>
            <a:endParaRPr lang="en-US" baseline="0" dirty="0"/>
          </a:p>
          <a:p>
            <a:r>
              <a:rPr lang="en-US" baseline="0" dirty="0"/>
              <a:t>Temperature in Fahrenheit or Celsius is an example of interval data as zero temperature on these scales do not mean “no temperature.” Further, ratios cannot be calculated for interval data because, without a fixed zero value, values that are twice as large do not indicate twice the magnitude. For example, 40° Celsius is not twice as hot as 20° Celsius. </a:t>
            </a:r>
          </a:p>
          <a:p>
            <a:endParaRPr lang="en-US" baseline="0" dirty="0"/>
          </a:p>
          <a:p>
            <a:r>
              <a:rPr lang="en-US" baseline="0" dirty="0"/>
              <a:t>Examples of ratio data include lengths, areas, and percentages since the zero value does have meaning or is non-arbitrary. For example, 0% unemployment indicates that no proportion of the working population is unemployed.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468479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923556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Ordinal</a:t>
            </a:r>
            <a:r>
              <a:rPr lang="en-US" baseline="0" dirty="0"/>
              <a:t> data represent categories with an applied order, such as ranks. </a:t>
            </a:r>
          </a:p>
          <a:p>
            <a:br>
              <a:rPr lang="en-US" baseline="0" dirty="0"/>
            </a:br>
            <a:r>
              <a:rPr lang="en-US" baseline="0" dirty="0"/>
              <a:t>Survey questions, such as Strongly Disagree to Strongly Agree, are also ordinal data since there is an implied order in the groupings.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308414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a:t>
            </a:r>
            <a:r>
              <a:rPr lang="en-US" baseline="0" dirty="0"/>
              <a:t> in Fahrenheit or Celsius and time are examples of interval data. </a:t>
            </a:r>
          </a:p>
          <a:p>
            <a:endParaRPr lang="en-US" baseline="0" dirty="0"/>
          </a:p>
          <a:p>
            <a:r>
              <a:rPr lang="en-US" baseline="0" dirty="0"/>
              <a:t>The zero value is arbitrary, and meaningful ratios cannot be calculated.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3893409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a:t>
            </a:r>
            <a:r>
              <a:rPr lang="en-US" baseline="0" dirty="0"/>
              <a:t> are examples of ratio data. </a:t>
            </a:r>
          </a:p>
          <a:p>
            <a:endParaRPr lang="en-US" baseline="0" dirty="0"/>
          </a:p>
          <a:p>
            <a:r>
              <a:rPr lang="en-US" baseline="0" dirty="0"/>
              <a:t>The zero value is not-arbitrary and meaningful ratios can be calculated.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758798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create a new field you can define the field name,</a:t>
            </a:r>
            <a:r>
              <a:rPr lang="en-US" baseline="0" dirty="0"/>
              <a:t> which must be less than 10 characters for shapefiles and geodatabases. </a:t>
            </a:r>
          </a:p>
          <a:p>
            <a:endParaRPr lang="en-US" baseline="0" dirty="0"/>
          </a:p>
          <a:p>
            <a:r>
              <a:rPr lang="en-US" baseline="0" dirty="0"/>
              <a:t>To make fields more interpretable, you can also include aliases, which provide more interpretable names or descriptions. </a:t>
            </a:r>
            <a:br>
              <a:rPr lang="en-US" baseline="0" dirty="0"/>
            </a:br>
            <a:endParaRPr lang="en-US" baseline="0" dirty="0"/>
          </a:p>
          <a:p>
            <a:r>
              <a:rPr lang="en-US" baseline="0" dirty="0"/>
              <a:t>You must also define the field type, which we will discuss next. </a:t>
            </a:r>
          </a:p>
          <a:p>
            <a:endParaRPr lang="en-US" baseline="0" dirty="0"/>
          </a:p>
          <a:p>
            <a:r>
              <a:rPr lang="en-US" baseline="0" dirty="0"/>
              <a:t>You can also make fields not visible or read only if you don’t want to allow editing. Note that the feature ID, or FID, will be defined as read only since you don’t want to edit or change this unique identifier.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123565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a new field, you will need to define the field type. </a:t>
            </a:r>
          </a:p>
          <a:p>
            <a:endParaRPr lang="en-US" baseline="0" dirty="0"/>
          </a:p>
          <a:p>
            <a:r>
              <a:rPr lang="en-US" baseline="0" dirty="0"/>
              <a:t>Short and long integer fields can only store integer or whole number values. Long integers can stored a wider range of numbers than short integers. </a:t>
            </a:r>
          </a:p>
          <a:p>
            <a:endParaRPr lang="en-US" baseline="0" dirty="0"/>
          </a:p>
          <a:p>
            <a:r>
              <a:rPr lang="en-US" baseline="0" dirty="0"/>
              <a:t>If you need to maintain decimal values, you cannot use a short or long integer. Instead, you must use a float or double type. Float fields can store up to 6 decimal places while double can store more than 6.</a:t>
            </a:r>
          </a:p>
          <a:p>
            <a:endParaRPr lang="en-US" baseline="0" dirty="0"/>
          </a:p>
          <a:p>
            <a:r>
              <a:rPr lang="en-US" baseline="0" dirty="0"/>
              <a:t>If you would like to store text or string data, you will do so in a text field. Note that numbers stored in text field will be treated like strings. They will not be treated line numbers. For example, you will not be able to perform mathematical operations on these data. </a:t>
            </a:r>
          </a:p>
          <a:p>
            <a:endParaRPr lang="en-US" baseline="0" dirty="0"/>
          </a:p>
          <a:p>
            <a:r>
              <a:rPr lang="en-US" baseline="0" dirty="0"/>
              <a:t>Date fields store dates and will treat the information as dates.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1123565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geometric measures can be calculated and stored in the attribute table for points, lines, and polygon data. </a:t>
            </a:r>
          </a:p>
          <a:p>
            <a:endParaRPr lang="en-US" dirty="0"/>
          </a:p>
          <a:p>
            <a:r>
              <a:rPr lang="en-US" dirty="0"/>
              <a:t>For point data, it is possible to store the x and y coordinate. If the feature is z-enabled, or contains elevation or height information, this value can also be calculated. If it is M-enable, the M coordinate can be calculated. M-coordinates generally relate to positions along a network. </a:t>
            </a:r>
          </a:p>
          <a:p>
            <a:endParaRPr lang="en-US" dirty="0"/>
          </a:p>
          <a:p>
            <a:r>
              <a:rPr lang="en-US" dirty="0"/>
              <a:t>For lines, you can calculate the x and y coordinates for the start, end, and middle of the line segment. You can also calculate the length and bearing. The bearing is the compass direction of the line and is defined as the direction of travel from the start to the end node. </a:t>
            </a:r>
          </a:p>
          <a:p>
            <a:endParaRPr lang="en-US" dirty="0"/>
          </a:p>
          <a:p>
            <a:r>
              <a:rPr lang="en-US" dirty="0"/>
              <a:t>For polygons, you can calculate the area and perimeter. The perimeter is the length of all the lines that make up the boundaries of the area. You can also calculate the centroid, or geometric center, coordinates. Note that centroid coordinates can sometimes be misleading. For example, for irregular or elongated shapes, the centroid may not actually occur within the polygon. For a “C” shaped feature, the centroid would occur somewhere in the middle of the “C” as oppose to within the area that makes it up. So, be careful when using centroid measures.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04939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discussed</a:t>
            </a:r>
            <a:r>
              <a:rPr lang="en-US" baseline="0" dirty="0"/>
              <a:t> table joins in a prior lecture. Here I will provide a refresher. </a:t>
            </a:r>
          </a:p>
          <a:p>
            <a:endParaRPr lang="en-US" baseline="0" dirty="0"/>
          </a:p>
          <a:p>
            <a:r>
              <a:rPr lang="en-US" baseline="0" dirty="0"/>
              <a:t>Joins can be used to associated tables with spatial layers. If a table and a vector layer share a common field, then they can be joined based on this shared attribute. This is similar to the concepts of foreign and primary keys in relational databases. </a:t>
            </a:r>
          </a:p>
          <a:p>
            <a:endParaRPr lang="en-US" baseline="0" dirty="0"/>
          </a:p>
          <a:p>
            <a:r>
              <a:rPr lang="en-US" baseline="0" dirty="0"/>
              <a:t>For example, if a layer of county boundaries contains the county name or FIPS code in its attribute table, this could be used to join a table to the features if the table also contains the name or FIPS code. Note that table joins are generally case sensitive and the shared fields must have the same data type. </a:t>
            </a:r>
          </a:p>
          <a:p>
            <a:endParaRPr lang="en-US" baseline="0" dirty="0"/>
          </a:p>
          <a:p>
            <a:r>
              <a:rPr lang="en-US" baseline="0" dirty="0"/>
              <a:t>Joins are just temporary. If you would like to permanently add the new columns to the attribute table, you will need to make a copy of the data.</a:t>
            </a:r>
          </a:p>
          <a:p>
            <a:endParaRPr lang="en-US" baseline="0" dirty="0"/>
          </a:p>
          <a:p>
            <a:r>
              <a:rPr lang="en-US" baseline="0" dirty="0"/>
              <a:t>A relate is similar to a join; however, the fields from the related table are not temporarily added to the feature attribute table. Instead, a relationship is established between the features but the data are maintained as separate files. </a:t>
            </a:r>
          </a:p>
          <a:p>
            <a:endParaRPr lang="en-US" baseline="0" dirty="0"/>
          </a:p>
          <a:p>
            <a:r>
              <a:rPr lang="en-US" baseline="0" dirty="0"/>
              <a:t>I generally prefer to use join as opposed to relate. </a:t>
            </a:r>
          </a:p>
          <a:p>
            <a:endParaRPr lang="en-US" baseline="0" dirty="0"/>
          </a:p>
          <a:p>
            <a:r>
              <a:rPr lang="en-US" baseline="0" dirty="0"/>
              <a:t>Since both of these operations are just a temporary association, they can be removed. So, if you would like to remove the joined fields from the table, you can do so without any issues.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941397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In this example, the output would be the tornado point locations with an attribute table containing the original attributes for the tornadoes and the attributes for the state in which the tornado occurred.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683297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obtain summary statistics as tables</a:t>
            </a:r>
            <a:r>
              <a:rPr lang="en-US" baseline="0" dirty="0"/>
              <a:t> and charts for attribute fields. </a:t>
            </a:r>
          </a:p>
          <a:p>
            <a:endParaRPr lang="en-US" baseline="0" dirty="0"/>
          </a:p>
          <a:p>
            <a:r>
              <a:rPr lang="en-US" baseline="0" dirty="0"/>
              <a:t>You can also obtain summaries by case or group using a categorical attribute. </a:t>
            </a:r>
          </a:p>
          <a:p>
            <a:endParaRPr lang="en-US" baseline="0" dirty="0"/>
          </a:p>
          <a:p>
            <a:r>
              <a:rPr lang="en-US" baseline="0" dirty="0"/>
              <a:t>For example, you could summarize the mean percent clay content by soil type as opposed to a single summary for all soil types.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718082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obtain summary statistics as tables</a:t>
            </a:r>
            <a:r>
              <a:rPr lang="en-US" baseline="0" dirty="0"/>
              <a:t> and charts for attribute fields. </a:t>
            </a:r>
          </a:p>
          <a:p>
            <a:endParaRPr lang="en-US" baseline="0" dirty="0"/>
          </a:p>
          <a:p>
            <a:r>
              <a:rPr lang="en-US" baseline="0" dirty="0"/>
              <a:t>You can also obtain summaries by case or group using a categorical attribute. </a:t>
            </a:r>
          </a:p>
          <a:p>
            <a:endParaRPr lang="en-US" baseline="0" dirty="0"/>
          </a:p>
          <a:p>
            <a:r>
              <a:rPr lang="en-US" baseline="0" dirty="0"/>
              <a:t>For example, you could summarize the mean percent clay content by soil type as opposed to a single summary for all soil types.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6045723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work with the tabulated data and do not need the spatial component, attribute tables can be exported for use in data analysis or statistical software packages using a variety of formats, such as text files, comma separated values (or CSV) files, and database (or </a:t>
            </a:r>
            <a:r>
              <a:rPr lang="en-US" baseline="0" dirty="0" err="1"/>
              <a:t>dBASE</a:t>
            </a:r>
            <a:r>
              <a:rPr lang="en-US" baseline="0" dirty="0"/>
              <a:t>) files.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1336628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2156419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1066350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588183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3199924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a:t>
            </a:r>
            <a:r>
              <a:rPr lang="en-US" baseline="0" dirty="0"/>
              <a:t> to query features based on spatial relationships to other map features. Such queries are not possible for tabulated data since the geometric information is necessary to perform the analysis. So, this is unique to spatial data and highlights the value of having spatial information associated with tabulated data. </a:t>
            </a:r>
          </a:p>
          <a:p>
            <a:endParaRPr lang="en-US" baseline="0" dirty="0"/>
          </a:p>
          <a:p>
            <a:r>
              <a:rPr lang="en-US" baseline="0" dirty="0"/>
              <a:t>Using select by location, features can be selected based on their spatial relationship to other features. </a:t>
            </a:r>
          </a:p>
          <a:p>
            <a:endParaRPr lang="en-US" baseline="0" dirty="0"/>
          </a:p>
          <a:p>
            <a:r>
              <a:rPr lang="en-US" baseline="0" dirty="0"/>
              <a:t>The next two slides will describe some of the available spatial relationships.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165301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some time</a:t>
            </a:r>
            <a:r>
              <a:rPr lang="en-US" baseline="0" dirty="0"/>
              <a:t> to read through the spatial relationships presented here. </a:t>
            </a:r>
          </a:p>
          <a:p>
            <a:endParaRPr lang="en-US" baseline="0" dirty="0"/>
          </a:p>
          <a:p>
            <a:r>
              <a:rPr lang="en-US" baseline="0" dirty="0"/>
              <a:t>As an example, the intersect relationship can be used if you wan to select features that intersect another set of features. For example, you could select all counties that intersect a particular highway. The county will be selected if a highway intersects it or passes through it. </a:t>
            </a:r>
          </a:p>
          <a:p>
            <a:endParaRPr lang="en-US" baseline="0" dirty="0"/>
          </a:p>
          <a:p>
            <a:r>
              <a:rPr lang="en-US" baseline="0" dirty="0"/>
              <a:t>Within can be used to select features that are within other features. For example, you could select all of the homes that occur within a certain voting district. In contrast, contains could be used to select all of the voting districts that contain certain homes.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41259471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additional</a:t>
            </a:r>
            <a:r>
              <a:rPr lang="en-US" baseline="0" dirty="0"/>
              <a:t> spatial relationships. </a:t>
            </a:r>
          </a:p>
          <a:p>
            <a:endParaRPr lang="en-US" baseline="0" dirty="0"/>
          </a:p>
          <a:p>
            <a:r>
              <a:rPr lang="en-US" baseline="0" dirty="0"/>
              <a:t>As an example, are identical to is used to find features in one layer that are identical to features in another layer. For example, if you had a polygon vector dataset of buildings representing the city in 1990 and another layer representing buildings in the city in 2010, you could use this tool to find the identical buildings, or buildings that haven’t changes. You could then reverse the selection to find all new buildings. </a:t>
            </a:r>
          </a:p>
          <a:p>
            <a:endParaRPr lang="en-US" baseline="0" dirty="0"/>
          </a:p>
          <a:p>
            <a:r>
              <a:rPr lang="en-US" baseline="0" dirty="0"/>
              <a:t>Take some time to read through these examples.</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272327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9/15/2026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876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9/15/2026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8776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9/15/2026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564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6315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406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75778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40972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9/15/2026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1683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1256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1923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9/15/2026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92129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9/15/2026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30216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9/15/2026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6638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9/15/2026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99008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20239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70194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6872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35369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9/15/2026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26487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7137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038094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9/15/2026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1662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050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9/15/2026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4383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9/15/2026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1087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372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3172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506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4293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9/15/2026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30570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75794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1502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94723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0365377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31344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9/15/2026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2137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9/15/2026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3725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3486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081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0208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11723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9/15/2026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77751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4028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43057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38412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144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9/15/2026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74235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9/15/2026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80456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154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8360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2583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2965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9/15/2026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239124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03341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94664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9/15/2026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77377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70580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9/15/2026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406637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9/15/2026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26801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9/15/2026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123156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9/15/2026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6723766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9/15/2026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2505625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fontScale="90000"/>
          </a:bodyPr>
          <a:lstStyle/>
          <a:p>
            <a:r>
              <a:rPr lang="en-US" sz="2700" dirty="0">
                <a:solidFill>
                  <a:srgbClr val="FFFFFF"/>
                </a:solidFill>
              </a:rPr>
              <a:t>WEEK 05 </a:t>
            </a:r>
            <a:br>
              <a:rPr lang="en-US" sz="2700" dirty="0">
                <a:solidFill>
                  <a:srgbClr val="FFFFFF"/>
                </a:solidFill>
              </a:rPr>
            </a:br>
            <a:r>
              <a:rPr lang="en-US" altLang="zh-CN" sz="2800" dirty="0"/>
              <a:t>attribute and </a:t>
            </a:r>
            <a:br>
              <a:rPr lang="en-US" altLang="zh-CN" sz="2800" dirty="0"/>
            </a:br>
            <a:r>
              <a:rPr lang="en-US" altLang="zh-CN" sz="2800" dirty="0"/>
              <a:t>geodatabase</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2026</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5.1 </a:t>
            </a:r>
            <a:br>
              <a:rPr lang="en-US" sz="4050" dirty="0">
                <a:solidFill>
                  <a:srgbClr val="FFFFFF"/>
                </a:solidFill>
              </a:rPr>
            </a:br>
            <a:r>
              <a:rPr lang="en-US" sz="4050" dirty="0">
                <a:solidFill>
                  <a:srgbClr val="FFFFFF"/>
                </a:solidFill>
              </a:rPr>
              <a:t>Attribute table</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20000"/>
          </a:bodyPr>
          <a:lstStyle/>
          <a:p>
            <a:pPr>
              <a:buFont typeface="Courier New" panose="02070309020205020404" pitchFamily="49" charset="0"/>
              <a:buChar char="o"/>
            </a:pPr>
            <a:r>
              <a:rPr lang="en-US" altLang="en-US" sz="2600" dirty="0"/>
              <a:t>Attribute Table</a:t>
            </a:r>
          </a:p>
          <a:p>
            <a:pPr lvl="1">
              <a:buFont typeface="Wingdings" panose="05000000000000000000" pitchFamily="2" charset="2"/>
              <a:buChar char="ü"/>
            </a:pPr>
            <a:r>
              <a:rPr lang="en-US" altLang="en-US" sz="2300" dirty="0"/>
              <a:t>Vector and Raster attribute table</a:t>
            </a:r>
          </a:p>
          <a:p>
            <a:pPr lvl="1">
              <a:buFont typeface="Wingdings" panose="05000000000000000000" pitchFamily="2" charset="2"/>
              <a:buChar char="ü"/>
            </a:pPr>
            <a:r>
              <a:rPr lang="en-US" altLang="en-US" sz="2300" dirty="0"/>
              <a:t>Data Type</a:t>
            </a:r>
          </a:p>
          <a:p>
            <a:pPr lvl="1">
              <a:buFont typeface="Wingdings" panose="05000000000000000000" pitchFamily="2" charset="2"/>
              <a:buChar char="ü"/>
            </a:pPr>
            <a:r>
              <a:rPr lang="en-US" altLang="en-US" sz="2300" dirty="0"/>
              <a:t>Editing (e.g., adding fields)</a:t>
            </a:r>
          </a:p>
          <a:p>
            <a:pPr lvl="1">
              <a:buFont typeface="Wingdings" panose="05000000000000000000" pitchFamily="2" charset="2"/>
              <a:buChar char="ü"/>
            </a:pPr>
            <a:r>
              <a:rPr lang="en-US" altLang="en-US" sz="2300" dirty="0"/>
              <a:t>Query</a:t>
            </a:r>
          </a:p>
          <a:p>
            <a:pPr marL="0" lvl="1">
              <a:buFont typeface="Courier New" panose="02070309020205020404" pitchFamily="49" charset="0"/>
              <a:buChar char="o"/>
            </a:pPr>
            <a:r>
              <a:rPr lang="en-US" altLang="en-US" sz="2400" dirty="0"/>
              <a:t>Geodatabase</a:t>
            </a:r>
            <a:endParaRPr lang="en-US" altLang="en-US" sz="2300" dirty="0"/>
          </a:p>
          <a:p>
            <a:pPr lvl="1">
              <a:buFont typeface="Wingdings" panose="05000000000000000000" pitchFamily="2" charset="2"/>
              <a:buChar char="ü"/>
            </a:pPr>
            <a:r>
              <a:rPr lang="en-US" altLang="en-US" sz="2300" dirty="0"/>
              <a:t>Relational model</a:t>
            </a:r>
          </a:p>
          <a:p>
            <a:pPr lvl="1">
              <a:buFont typeface="Wingdings" panose="05000000000000000000" pitchFamily="2" charset="2"/>
              <a:buChar char="ü"/>
            </a:pPr>
            <a:r>
              <a:rPr lang="en-US" altLang="en-US" sz="2300" dirty="0"/>
              <a:t>ESRI Geodatabase</a:t>
            </a:r>
          </a:p>
          <a:p>
            <a:pPr lvl="1">
              <a:buFont typeface="Wingdings" panose="05000000000000000000" pitchFamily="2" charset="2"/>
              <a:buChar char="ü"/>
            </a:pPr>
            <a:r>
              <a:rPr lang="en-US" altLang="en-US" sz="2300" dirty="0"/>
              <a:t>Components</a:t>
            </a:r>
          </a:p>
          <a:p>
            <a:pPr lvl="1">
              <a:buFont typeface="Wingdings" panose="05000000000000000000" pitchFamily="2" charset="2"/>
              <a:buChar char="ü"/>
            </a:pPr>
            <a:r>
              <a:rPr lang="en-US" altLang="en-US" sz="2300" dirty="0"/>
              <a:t>Editing (e.g., create new database)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8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659746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81266" y="1789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4065625"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dirty="0"/>
              <a:t>Columns = fields, items or attributes, stored for each record</a:t>
            </a:r>
          </a:p>
          <a:p>
            <a:pPr lvl="1">
              <a:buFont typeface="Wingdings" panose="05000000000000000000" pitchFamily="2" charset="2"/>
              <a:buChar char="ü"/>
            </a:pPr>
            <a:r>
              <a:rPr lang="en-US" dirty="0"/>
              <a:t>Rows = Records</a:t>
            </a:r>
          </a:p>
          <a:p>
            <a:pPr lvl="2">
              <a:buFont typeface="Arial" panose="020B0604020202020204" pitchFamily="34" charset="0"/>
              <a:buChar char="•"/>
            </a:pPr>
            <a:r>
              <a:rPr lang="en-US" dirty="0"/>
              <a:t>One record for each vector feature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4</a:t>
            </a:fld>
            <a:endParaRPr lang="en-US"/>
          </a:p>
        </p:txBody>
      </p:sp>
      <p:pic>
        <p:nvPicPr>
          <p:cNvPr id="5" name="Picture 4" descr="A picture containing diagram&#10;&#10;Description automatically generated">
            <a:extLst>
              <a:ext uri="{FF2B5EF4-FFF2-40B4-BE49-F238E27FC236}">
                <a16:creationId xmlns:a16="http://schemas.microsoft.com/office/drawing/2014/main" id="{01FCA091-FFB3-4B10-8FDD-330F0D76ADBC}"/>
              </a:ext>
            </a:extLst>
          </p:cNvPr>
          <p:cNvPicPr>
            <a:picLocks noChangeAspect="1"/>
          </p:cNvPicPr>
          <p:nvPr/>
        </p:nvPicPr>
        <p:blipFill>
          <a:blip r:embed="rId3"/>
          <a:stretch>
            <a:fillRect/>
          </a:stretch>
        </p:blipFill>
        <p:spPr>
          <a:xfrm>
            <a:off x="4184158" y="1080051"/>
            <a:ext cx="3004797" cy="4063449"/>
          </a:xfrm>
          <a:prstGeom prst="rect">
            <a:avLst/>
          </a:prstGeom>
        </p:spPr>
      </p:pic>
      <p:sp>
        <p:nvSpPr>
          <p:cNvPr id="12" name="TextBox 11">
            <a:extLst>
              <a:ext uri="{FF2B5EF4-FFF2-40B4-BE49-F238E27FC236}">
                <a16:creationId xmlns:a16="http://schemas.microsoft.com/office/drawing/2014/main" id="{A59D19FC-20B9-4E1A-A18F-721CA883E14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367469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34771" y="21973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4" y="981902"/>
            <a:ext cx="3252032"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sz="2040" dirty="0"/>
              <a:t>All shapefiles and feature classes have an attribute table.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6" name="Picture 5" descr="Diagram, engineering drawing&#10;&#10;Description automatically generated">
            <a:extLst>
              <a:ext uri="{FF2B5EF4-FFF2-40B4-BE49-F238E27FC236}">
                <a16:creationId xmlns:a16="http://schemas.microsoft.com/office/drawing/2014/main" id="{57CF5AAA-ECB2-4C79-A3A3-A9FCE8E3D159}"/>
              </a:ext>
            </a:extLst>
          </p:cNvPr>
          <p:cNvPicPr>
            <a:picLocks noChangeAspect="1"/>
          </p:cNvPicPr>
          <p:nvPr/>
        </p:nvPicPr>
        <p:blipFill>
          <a:blip r:embed="rId3"/>
          <a:stretch>
            <a:fillRect/>
          </a:stretch>
        </p:blipFill>
        <p:spPr>
          <a:xfrm>
            <a:off x="3158889" y="1052976"/>
            <a:ext cx="3882368" cy="3988131"/>
          </a:xfrm>
          <a:prstGeom prst="rect">
            <a:avLst/>
          </a:prstGeom>
        </p:spPr>
      </p:pic>
      <p:sp>
        <p:nvSpPr>
          <p:cNvPr id="10" name="TextBox 9">
            <a:extLst>
              <a:ext uri="{FF2B5EF4-FFF2-40B4-BE49-F238E27FC236}">
                <a16:creationId xmlns:a16="http://schemas.microsoft.com/office/drawing/2014/main" id="{7D8B2A45-1178-49AC-8898-E37200FE4C8D}"/>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404652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0A698-C4EF-2D1B-E317-A0D180C6570B}"/>
              </a:ext>
            </a:extLst>
          </p:cNvPr>
          <p:cNvSpPr>
            <a:spLocks noGrp="1"/>
          </p:cNvSpPr>
          <p:nvPr>
            <p:ph type="title"/>
          </p:nvPr>
        </p:nvSpPr>
        <p:spPr>
          <a:xfrm>
            <a:off x="392305" y="526617"/>
            <a:ext cx="7444991" cy="504020"/>
          </a:xfrm>
        </p:spPr>
        <p:txBody>
          <a:bodyPr/>
          <a:lstStyle/>
          <a:p>
            <a:pPr defTabSz="411480"/>
            <a:r>
              <a:rPr lang="en-US" altLang="zh-CN" sz="2600" dirty="0">
                <a:solidFill>
                  <a:srgbClr val="7030A0"/>
                </a:solidFill>
              </a:rPr>
              <a:t>FID</a:t>
            </a:r>
            <a:endParaRPr lang="zh-CN" altLang="en-US" sz="2600" dirty="0">
              <a:solidFill>
                <a:srgbClr val="7030A0"/>
              </a:solidFill>
            </a:endParaRPr>
          </a:p>
        </p:txBody>
      </p:sp>
      <p:sp>
        <p:nvSpPr>
          <p:cNvPr id="3" name="Content Placeholder 2">
            <a:extLst>
              <a:ext uri="{FF2B5EF4-FFF2-40B4-BE49-F238E27FC236}">
                <a16:creationId xmlns:a16="http://schemas.microsoft.com/office/drawing/2014/main" id="{627ADCA3-8AB4-0425-94B0-0DF505AF4E46}"/>
              </a:ext>
            </a:extLst>
          </p:cNvPr>
          <p:cNvSpPr>
            <a:spLocks noGrp="1"/>
          </p:cNvSpPr>
          <p:nvPr>
            <p:ph idx="1"/>
          </p:nvPr>
        </p:nvSpPr>
        <p:spPr>
          <a:xfrm>
            <a:off x="392307" y="1119434"/>
            <a:ext cx="7444990" cy="2034472"/>
          </a:xfrm>
        </p:spPr>
        <p:txBody>
          <a:bodyPr>
            <a:normAutofit/>
          </a:bodyPr>
          <a:lstStyle/>
          <a:p>
            <a:r>
              <a:rPr lang="en-US" altLang="zh-CN" sz="2000" dirty="0"/>
              <a:t>FID is essentially a kind of </a:t>
            </a:r>
            <a:r>
              <a:rPr lang="en-US" altLang="zh-CN" sz="2000" dirty="0" err="1"/>
              <a:t>ObjectID</a:t>
            </a:r>
            <a:r>
              <a:rPr lang="en-US" altLang="zh-CN" sz="2000" dirty="0"/>
              <a:t> (A system-managed value) that uniquely identifies a record or feature.</a:t>
            </a:r>
          </a:p>
          <a:p>
            <a:pPr>
              <a:buFont typeface="Wingdings" panose="05000000000000000000" pitchFamily="2" charset="2"/>
              <a:buChar char="Ø"/>
            </a:pPr>
            <a:r>
              <a:rPr lang="en-US" altLang="zh-CN" sz="2000" dirty="0"/>
              <a:t>FID start at </a:t>
            </a:r>
            <a:r>
              <a:rPr lang="en-US" altLang="zh-CN" sz="2000" b="1" dirty="0"/>
              <a:t>0</a:t>
            </a:r>
            <a:r>
              <a:rPr lang="en-US" altLang="zh-CN" sz="2000" dirty="0"/>
              <a:t> and increments by 1.</a:t>
            </a:r>
          </a:p>
          <a:p>
            <a:pPr lvl="1">
              <a:buFont typeface="Wingdings" panose="05000000000000000000" pitchFamily="2" charset="2"/>
              <a:buChar char="Ø"/>
            </a:pPr>
            <a:r>
              <a:rPr lang="en-US" altLang="zh-CN" sz="1865" dirty="0"/>
              <a:t>When features are deleted, FIDs are renumbered to maintain a continuous sequence (no gaps).</a:t>
            </a:r>
            <a:endParaRPr lang="zh-CN" altLang="en-US" sz="1865" dirty="0"/>
          </a:p>
        </p:txBody>
      </p:sp>
      <p:sp>
        <p:nvSpPr>
          <p:cNvPr id="4" name="Slide Number Placeholder 3">
            <a:extLst>
              <a:ext uri="{FF2B5EF4-FFF2-40B4-BE49-F238E27FC236}">
                <a16:creationId xmlns:a16="http://schemas.microsoft.com/office/drawing/2014/main" id="{863934B8-F926-966F-2E41-D8A677D14D7B}"/>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extBox 4">
            <a:extLst>
              <a:ext uri="{FF2B5EF4-FFF2-40B4-BE49-F238E27FC236}">
                <a16:creationId xmlns:a16="http://schemas.microsoft.com/office/drawing/2014/main" id="{BD95176E-23B4-65AB-43CF-C6AEEB70F94B}"/>
              </a:ext>
            </a:extLst>
          </p:cNvPr>
          <p:cNvSpPr txBox="1"/>
          <p:nvPr/>
        </p:nvSpPr>
        <p:spPr>
          <a:xfrm>
            <a:off x="712921" y="3700900"/>
            <a:ext cx="6664271" cy="646331"/>
          </a:xfrm>
          <a:prstGeom prst="rect">
            <a:avLst/>
          </a:prstGeom>
          <a:noFill/>
        </p:spPr>
        <p:txBody>
          <a:bodyPr wrap="square" rtlCol="0">
            <a:spAutoFit/>
          </a:bodyPr>
          <a:lstStyle/>
          <a:p>
            <a:r>
              <a:rPr lang="en-US" altLang="zh-CN" dirty="0"/>
              <a:t>In the attribute table of </a:t>
            </a:r>
            <a:r>
              <a:rPr lang="en-US" altLang="zh-CN" b="1" dirty="0"/>
              <a:t>Airports</a:t>
            </a:r>
            <a:r>
              <a:rPr lang="en-US" altLang="zh-CN" dirty="0"/>
              <a:t>, what is the largest FID? Does this number equal the total number of records?</a:t>
            </a:r>
            <a:endParaRPr lang="zh-CN" altLang="en-US" dirty="0"/>
          </a:p>
        </p:txBody>
      </p:sp>
      <p:sp>
        <p:nvSpPr>
          <p:cNvPr id="7" name="TextBox 6">
            <a:extLst>
              <a:ext uri="{FF2B5EF4-FFF2-40B4-BE49-F238E27FC236}">
                <a16:creationId xmlns:a16="http://schemas.microsoft.com/office/drawing/2014/main" id="{97E1AB12-B7D8-4E3D-1952-CE3F63D9A17D}"/>
              </a:ext>
            </a:extLst>
          </p:cNvPr>
          <p:cNvSpPr txBox="1"/>
          <p:nvPr/>
        </p:nvSpPr>
        <p:spPr>
          <a:xfrm>
            <a:off x="205352" y="3324153"/>
            <a:ext cx="507569" cy="523220"/>
          </a:xfrm>
          <a:prstGeom prst="rect">
            <a:avLst/>
          </a:prstGeom>
          <a:noFill/>
        </p:spPr>
        <p:txBody>
          <a:bodyPr wrap="square">
            <a:spAutoFit/>
          </a:bodyPr>
          <a:lstStyle/>
          <a:p>
            <a:r>
              <a:rPr lang="zh-CN" altLang="en-US" sz="2800" dirty="0"/>
              <a:t>🤔</a:t>
            </a:r>
          </a:p>
        </p:txBody>
      </p:sp>
    </p:spTree>
    <p:extLst>
      <p:ext uri="{BB962C8B-B14F-4D97-AF65-F5344CB8AC3E}">
        <p14:creationId xmlns:p14="http://schemas.microsoft.com/office/powerpoint/2010/main" val="242579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8F04BB-0A45-617B-84A8-2C71C29E1E68}"/>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5" name="Title 1">
            <a:extLst>
              <a:ext uri="{FF2B5EF4-FFF2-40B4-BE49-F238E27FC236}">
                <a16:creationId xmlns:a16="http://schemas.microsoft.com/office/drawing/2014/main" id="{0D462BD0-E8E6-B5E5-3DC0-83A443564904}"/>
              </a:ext>
            </a:extLst>
          </p:cNvPr>
          <p:cNvSpPr>
            <a:spLocks noGrp="1"/>
          </p:cNvSpPr>
          <p:nvPr>
            <p:ph type="title"/>
          </p:nvPr>
        </p:nvSpPr>
        <p:spPr>
          <a:xfrm>
            <a:off x="392113" y="527050"/>
            <a:ext cx="7445375" cy="495838"/>
          </a:xfrm>
        </p:spPr>
        <p:txBody>
          <a:bodyPr/>
          <a:lstStyle/>
          <a:p>
            <a:pPr defTabSz="411480"/>
            <a:r>
              <a:rPr lang="en-US" altLang="zh-CN" sz="2600" dirty="0">
                <a:solidFill>
                  <a:srgbClr val="7030A0"/>
                </a:solidFill>
              </a:rPr>
              <a:t>shape</a:t>
            </a:r>
            <a:endParaRPr lang="zh-CN" altLang="en-US" sz="2600" dirty="0">
              <a:solidFill>
                <a:srgbClr val="7030A0"/>
              </a:solidFill>
            </a:endParaRPr>
          </a:p>
        </p:txBody>
      </p:sp>
      <p:sp>
        <p:nvSpPr>
          <p:cNvPr id="6" name="Rectangle 1">
            <a:extLst>
              <a:ext uri="{FF2B5EF4-FFF2-40B4-BE49-F238E27FC236}">
                <a16:creationId xmlns:a16="http://schemas.microsoft.com/office/drawing/2014/main" id="{A6AD6860-E3ED-43FF-1F59-46261C2704B3}"/>
              </a:ext>
            </a:extLst>
          </p:cNvPr>
          <p:cNvSpPr>
            <a:spLocks noGrp="1" noChangeArrowheads="1"/>
          </p:cNvSpPr>
          <p:nvPr>
            <p:ph idx="1"/>
          </p:nvPr>
        </p:nvSpPr>
        <p:spPr bwMode="auto">
          <a:xfrm>
            <a:off x="509197" y="1134047"/>
            <a:ext cx="7211205" cy="124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fontAlgn="base">
              <a:tabLst/>
            </a:pPr>
            <a:r>
              <a:rPr lang="zh-CN" altLang="zh-CN" sz="2000" dirty="0"/>
              <a:t>A system-managed field in every spatial dataset</a:t>
            </a:r>
          </a:p>
          <a:p>
            <a:pPr marR="0" lvl="0" fontAlgn="base">
              <a:tabLst/>
            </a:pPr>
            <a:r>
              <a:rPr lang="zh-CN" altLang="zh-CN" sz="2000" dirty="0"/>
              <a:t>Stores the geometry type (Point, Line, or Polygon) of each feature</a:t>
            </a:r>
          </a:p>
          <a:p>
            <a:pPr marR="0" lvl="0" fontAlgn="base">
              <a:tabLst/>
            </a:pPr>
            <a:r>
              <a:rPr lang="zh-CN" altLang="zh-CN" sz="2000" dirty="0"/>
              <a:t>Links the attribute table to the map display</a:t>
            </a:r>
          </a:p>
        </p:txBody>
      </p:sp>
      <p:sp>
        <p:nvSpPr>
          <p:cNvPr id="8" name="TextBox 7">
            <a:extLst>
              <a:ext uri="{FF2B5EF4-FFF2-40B4-BE49-F238E27FC236}">
                <a16:creationId xmlns:a16="http://schemas.microsoft.com/office/drawing/2014/main" id="{C5FF187A-E983-28D2-EE8A-F9A5231C0613}"/>
              </a:ext>
            </a:extLst>
          </p:cNvPr>
          <p:cNvSpPr txBox="1"/>
          <p:nvPr/>
        </p:nvSpPr>
        <p:spPr>
          <a:xfrm>
            <a:off x="762981" y="3331672"/>
            <a:ext cx="6815380" cy="646331"/>
          </a:xfrm>
          <a:prstGeom prst="rect">
            <a:avLst/>
          </a:prstGeom>
          <a:noFill/>
        </p:spPr>
        <p:txBody>
          <a:bodyPr wrap="square">
            <a:spAutoFit/>
          </a:bodyPr>
          <a:lstStyle/>
          <a:p>
            <a:r>
              <a:rPr lang="en-US" altLang="zh-CN" dirty="0"/>
              <a:t>In the attribute table of </a:t>
            </a:r>
            <a:r>
              <a:rPr lang="en-US" altLang="zh-CN" b="1" dirty="0"/>
              <a:t>County and Airports</a:t>
            </a:r>
            <a:r>
              <a:rPr lang="en-US" altLang="zh-CN" dirty="0"/>
              <a:t>, what is the Shape? Do they have same shape?</a:t>
            </a:r>
          </a:p>
        </p:txBody>
      </p:sp>
      <p:sp>
        <p:nvSpPr>
          <p:cNvPr id="9" name="TextBox 8">
            <a:extLst>
              <a:ext uri="{FF2B5EF4-FFF2-40B4-BE49-F238E27FC236}">
                <a16:creationId xmlns:a16="http://schemas.microsoft.com/office/drawing/2014/main" id="{DC4903BE-2ADF-173C-91CD-A6C945CFD9D0}"/>
              </a:ext>
            </a:extLst>
          </p:cNvPr>
          <p:cNvSpPr txBox="1"/>
          <p:nvPr/>
        </p:nvSpPr>
        <p:spPr>
          <a:xfrm>
            <a:off x="255412" y="2814569"/>
            <a:ext cx="507569" cy="523220"/>
          </a:xfrm>
          <a:prstGeom prst="rect">
            <a:avLst/>
          </a:prstGeom>
          <a:noFill/>
        </p:spPr>
        <p:txBody>
          <a:bodyPr wrap="square">
            <a:spAutoFit/>
          </a:bodyPr>
          <a:lstStyle/>
          <a:p>
            <a:r>
              <a:rPr lang="zh-CN" altLang="en-US" sz="2800" dirty="0"/>
              <a:t>🤔</a:t>
            </a:r>
          </a:p>
        </p:txBody>
      </p:sp>
    </p:spTree>
    <p:extLst>
      <p:ext uri="{BB962C8B-B14F-4D97-AF65-F5344CB8AC3E}">
        <p14:creationId xmlns:p14="http://schemas.microsoft.com/office/powerpoint/2010/main" val="1476949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321264" y="2085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7085456"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dirty="0"/>
              <a:t>Relationship between features and records</a:t>
            </a:r>
          </a:p>
          <a:p>
            <a:pPr lvl="2">
              <a:buFont typeface="Arial" panose="020B0604020202020204" pitchFamily="34" charset="0"/>
              <a:buChar char="•"/>
            </a:pPr>
            <a:r>
              <a:rPr lang="en-US" dirty="0"/>
              <a:t>one-to-one</a:t>
            </a:r>
          </a:p>
          <a:p>
            <a:pPr lvl="2">
              <a:buFont typeface="Arial" panose="020B0604020202020204" pitchFamily="34" charset="0"/>
              <a:buChar char="•"/>
            </a:pPr>
            <a:r>
              <a:rPr lang="en-US" dirty="0"/>
              <a:t>many-to-one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descr="Diagram, engineering drawing&#10;&#10;Description automatically generated">
            <a:extLst>
              <a:ext uri="{FF2B5EF4-FFF2-40B4-BE49-F238E27FC236}">
                <a16:creationId xmlns:a16="http://schemas.microsoft.com/office/drawing/2014/main" id="{8B0244C6-DC5F-4C95-8FCF-8B74B2780CA5}"/>
              </a:ext>
            </a:extLst>
          </p:cNvPr>
          <p:cNvPicPr>
            <a:picLocks noChangeAspect="1"/>
          </p:cNvPicPr>
          <p:nvPr/>
        </p:nvPicPr>
        <p:blipFill rotWithShape="1">
          <a:blip r:embed="rId3"/>
          <a:srcRect b="54970"/>
          <a:stretch/>
        </p:blipFill>
        <p:spPr>
          <a:xfrm>
            <a:off x="4397206" y="2930809"/>
            <a:ext cx="3440091" cy="2160971"/>
          </a:xfrm>
          <a:prstGeom prst="rect">
            <a:avLst/>
          </a:prstGeom>
        </p:spPr>
      </p:pic>
      <p:pic>
        <p:nvPicPr>
          <p:cNvPr id="10" name="Picture 9" descr="Diagram, engineering drawing&#10;&#10;Description automatically generated">
            <a:extLst>
              <a:ext uri="{FF2B5EF4-FFF2-40B4-BE49-F238E27FC236}">
                <a16:creationId xmlns:a16="http://schemas.microsoft.com/office/drawing/2014/main" id="{3F9233CA-80D4-4B0E-9BAA-91B0CC7D7977}"/>
              </a:ext>
            </a:extLst>
          </p:cNvPr>
          <p:cNvPicPr>
            <a:picLocks noChangeAspect="1"/>
          </p:cNvPicPr>
          <p:nvPr/>
        </p:nvPicPr>
        <p:blipFill rotWithShape="1">
          <a:blip r:embed="rId3"/>
          <a:srcRect t="43986" b="9499"/>
          <a:stretch/>
        </p:blipFill>
        <p:spPr>
          <a:xfrm>
            <a:off x="520322" y="2986196"/>
            <a:ext cx="3159517" cy="2050196"/>
          </a:xfrm>
          <a:prstGeom prst="rect">
            <a:avLst/>
          </a:prstGeom>
        </p:spPr>
      </p:pic>
      <p:sp>
        <p:nvSpPr>
          <p:cNvPr id="11" name="TextBox 10">
            <a:extLst>
              <a:ext uri="{FF2B5EF4-FFF2-40B4-BE49-F238E27FC236}">
                <a16:creationId xmlns:a16="http://schemas.microsoft.com/office/drawing/2014/main" id="{9119BDF3-0E8B-4D6D-B802-1D9491AC3EA1}"/>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95205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EDB34-31E1-B209-A4F7-2FDD4785B1A7}"/>
              </a:ext>
            </a:extLst>
          </p:cNvPr>
          <p:cNvSpPr>
            <a:spLocks noGrp="1"/>
          </p:cNvSpPr>
          <p:nvPr>
            <p:ph type="title"/>
          </p:nvPr>
        </p:nvSpPr>
        <p:spPr>
          <a:xfrm>
            <a:off x="392305" y="526617"/>
            <a:ext cx="7444991" cy="511769"/>
          </a:xfrm>
        </p:spPr>
        <p:txBody>
          <a:bodyPr>
            <a:normAutofit/>
          </a:bodyPr>
          <a:lstStyle/>
          <a:p>
            <a:pPr defTabSz="411480"/>
            <a:r>
              <a:rPr lang="en-US" altLang="zh-CN" sz="2600" dirty="0">
                <a:solidFill>
                  <a:srgbClr val="7030A0"/>
                </a:solidFill>
              </a:rPr>
              <a:t>Class activity - </a:t>
            </a:r>
            <a:r>
              <a:rPr lang="en-US" altLang="zh-CN" sz="2200" dirty="0">
                <a:solidFill>
                  <a:srgbClr val="7030A0"/>
                </a:solidFill>
              </a:rPr>
              <a:t>Exploring Features and Records</a:t>
            </a:r>
            <a:endParaRPr lang="zh-CN" altLang="en-US" sz="2200" dirty="0">
              <a:solidFill>
                <a:srgbClr val="7030A0"/>
              </a:solidFill>
            </a:endParaRPr>
          </a:p>
        </p:txBody>
      </p:sp>
      <p:sp>
        <p:nvSpPr>
          <p:cNvPr id="3" name="Content Placeholder 2">
            <a:extLst>
              <a:ext uri="{FF2B5EF4-FFF2-40B4-BE49-F238E27FC236}">
                <a16:creationId xmlns:a16="http://schemas.microsoft.com/office/drawing/2014/main" id="{D6F6CECD-2922-9EE6-BC86-40B206DEEEF6}"/>
              </a:ext>
            </a:extLst>
          </p:cNvPr>
          <p:cNvSpPr>
            <a:spLocks noGrp="1"/>
          </p:cNvSpPr>
          <p:nvPr>
            <p:ph idx="1"/>
          </p:nvPr>
        </p:nvSpPr>
        <p:spPr>
          <a:xfrm>
            <a:off x="492075" y="1613540"/>
            <a:ext cx="7444990" cy="2834474"/>
          </a:xfrm>
        </p:spPr>
        <p:txBody>
          <a:bodyPr>
            <a:normAutofit/>
          </a:bodyPr>
          <a:lstStyle/>
          <a:p>
            <a:r>
              <a:rPr lang="en-US" altLang="zh-CN" sz="2000" dirty="0"/>
              <a:t>In the attribute table of </a:t>
            </a:r>
            <a:r>
              <a:rPr lang="en-US" altLang="zh-CN" sz="2000" b="1" dirty="0" err="1"/>
              <a:t>Airports_LR</a:t>
            </a:r>
            <a:r>
              <a:rPr lang="en-US" altLang="zh-CN" sz="2000" b="1" dirty="0"/>
              <a:t> and Airports</a:t>
            </a:r>
            <a:r>
              <a:rPr lang="en-US" altLang="zh-CN" sz="2000" dirty="0"/>
              <a:t>, what is the Shape? Do they have the same shape?</a:t>
            </a:r>
          </a:p>
          <a:p>
            <a:endParaRPr lang="en-US" altLang="zh-CN" sz="2000" dirty="0"/>
          </a:p>
          <a:p>
            <a:r>
              <a:rPr lang="en-US" altLang="zh-CN" sz="2000" dirty="0"/>
              <a:t>What relationship exists between features and records in </a:t>
            </a:r>
            <a:r>
              <a:rPr lang="en-US" altLang="zh-CN" sz="2000" b="1" dirty="0"/>
              <a:t>Airports and </a:t>
            </a:r>
            <a:r>
              <a:rPr lang="en-US" altLang="zh-CN" sz="2000" b="1" dirty="0" err="1"/>
              <a:t>Airports_LR</a:t>
            </a:r>
            <a:r>
              <a:rPr lang="en-US" altLang="zh-CN" sz="2000" dirty="0"/>
              <a:t>?</a:t>
            </a:r>
          </a:p>
          <a:p>
            <a:pPr lvl="1">
              <a:buFont typeface="Wingdings" panose="05000000000000000000" pitchFamily="2" charset="2"/>
              <a:buChar char="Ø"/>
            </a:pPr>
            <a:r>
              <a:rPr lang="en-US" altLang="zh-CN" sz="2000" dirty="0"/>
              <a:t>Tip: Click a row in the attribute table to see how many features are highlighted on the map</a:t>
            </a:r>
          </a:p>
          <a:p>
            <a:pPr lvl="1">
              <a:buFont typeface="Wingdings" panose="05000000000000000000" pitchFamily="2" charset="2"/>
              <a:buChar char="Ø"/>
            </a:pPr>
            <a:endParaRPr lang="en-US" altLang="zh-CN" sz="2000" dirty="0"/>
          </a:p>
        </p:txBody>
      </p:sp>
      <p:sp>
        <p:nvSpPr>
          <p:cNvPr id="4" name="Slide Number Placeholder 3">
            <a:extLst>
              <a:ext uri="{FF2B5EF4-FFF2-40B4-BE49-F238E27FC236}">
                <a16:creationId xmlns:a16="http://schemas.microsoft.com/office/drawing/2014/main" id="{758FCACB-BD5F-F2A1-6653-BB48A663D892}"/>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5" name="TextBox 4">
            <a:extLst>
              <a:ext uri="{FF2B5EF4-FFF2-40B4-BE49-F238E27FC236}">
                <a16:creationId xmlns:a16="http://schemas.microsoft.com/office/drawing/2014/main" id="{225053F5-D50F-88B0-9B70-8C637275CD5C}"/>
              </a:ext>
            </a:extLst>
          </p:cNvPr>
          <p:cNvSpPr txBox="1"/>
          <p:nvPr/>
        </p:nvSpPr>
        <p:spPr>
          <a:xfrm>
            <a:off x="-42612" y="1181448"/>
            <a:ext cx="507569" cy="523220"/>
          </a:xfrm>
          <a:prstGeom prst="rect">
            <a:avLst/>
          </a:prstGeom>
          <a:noFill/>
        </p:spPr>
        <p:txBody>
          <a:bodyPr wrap="square">
            <a:spAutoFit/>
          </a:bodyPr>
          <a:lstStyle/>
          <a:p>
            <a:r>
              <a:rPr lang="zh-CN" altLang="en-US" sz="2800" dirty="0"/>
              <a:t>🤔</a:t>
            </a:r>
          </a:p>
        </p:txBody>
      </p:sp>
    </p:spTree>
    <p:extLst>
      <p:ext uri="{BB962C8B-B14F-4D97-AF65-F5344CB8AC3E}">
        <p14:creationId xmlns:p14="http://schemas.microsoft.com/office/powerpoint/2010/main" val="269008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653C-69B2-FD20-D7C6-C9F003F250D8}"/>
              </a:ext>
            </a:extLst>
          </p:cNvPr>
          <p:cNvSpPr>
            <a:spLocks noGrp="1"/>
          </p:cNvSpPr>
          <p:nvPr>
            <p:ph type="title"/>
          </p:nvPr>
        </p:nvSpPr>
        <p:spPr>
          <a:xfrm>
            <a:off x="392305" y="526617"/>
            <a:ext cx="7444991" cy="519519"/>
          </a:xfrm>
        </p:spPr>
        <p:txBody>
          <a:bodyPr/>
          <a:lstStyle/>
          <a:p>
            <a:r>
              <a:rPr lang="en-US" altLang="zh-CN" sz="2400" dirty="0">
                <a:solidFill>
                  <a:srgbClr val="7030A0"/>
                </a:solidFill>
              </a:rPr>
              <a:t>Class activity - designing Your Own Indoor GIS</a:t>
            </a:r>
            <a:endParaRPr lang="zh-CN" altLang="en-US" sz="2400" dirty="0">
              <a:solidFill>
                <a:srgbClr val="7030A0"/>
              </a:solidFill>
            </a:endParaRPr>
          </a:p>
        </p:txBody>
      </p:sp>
      <p:sp>
        <p:nvSpPr>
          <p:cNvPr id="3" name="Content Placeholder 2">
            <a:extLst>
              <a:ext uri="{FF2B5EF4-FFF2-40B4-BE49-F238E27FC236}">
                <a16:creationId xmlns:a16="http://schemas.microsoft.com/office/drawing/2014/main" id="{0F42C4BE-4D8C-AC40-898B-21523AF3171D}"/>
              </a:ext>
            </a:extLst>
          </p:cNvPr>
          <p:cNvSpPr>
            <a:spLocks noGrp="1"/>
          </p:cNvSpPr>
          <p:nvPr>
            <p:ph idx="1"/>
          </p:nvPr>
        </p:nvSpPr>
        <p:spPr>
          <a:xfrm>
            <a:off x="392307" y="1202834"/>
            <a:ext cx="7444990" cy="2725865"/>
          </a:xfrm>
        </p:spPr>
        <p:txBody>
          <a:bodyPr>
            <a:normAutofit/>
          </a:bodyPr>
          <a:lstStyle/>
          <a:p>
            <a:r>
              <a:rPr lang="en-US" altLang="zh-CN" sz="1400" dirty="0"/>
              <a:t>Imagine you are building an Indoor GIS for a university building (e.g., library, classroom building, or student center).</a:t>
            </a:r>
          </a:p>
          <a:p>
            <a:r>
              <a:rPr lang="en-US" altLang="zh-CN" sz="1400" b="1" dirty="0"/>
              <a:t>Layers</a:t>
            </a:r>
            <a:endParaRPr lang="en-US" altLang="zh-CN" sz="1400" dirty="0"/>
          </a:p>
          <a:p>
            <a:pPr lvl="1"/>
            <a:r>
              <a:rPr lang="en-US" altLang="zh-CN" sz="1400" dirty="0"/>
              <a:t>What layers would you create (e.g., classroom)?</a:t>
            </a:r>
          </a:p>
          <a:p>
            <a:r>
              <a:rPr lang="en-US" altLang="zh-CN" sz="1400" b="1" dirty="0"/>
              <a:t>Attributes</a:t>
            </a:r>
            <a:endParaRPr lang="en-US" altLang="zh-CN" sz="1400" dirty="0"/>
          </a:p>
          <a:p>
            <a:pPr lvl="1"/>
            <a:r>
              <a:rPr lang="en-US" altLang="zh-CN" sz="1400" dirty="0"/>
              <a:t>For each layer, what attributes (fields) should be included?</a:t>
            </a:r>
          </a:p>
          <a:p>
            <a:r>
              <a:rPr lang="en-US" altLang="zh-CN" sz="1535" dirty="0"/>
              <a:t>5 minutes brainstorm</a:t>
            </a:r>
          </a:p>
          <a:p>
            <a:r>
              <a:rPr lang="en-US" altLang="zh-CN" sz="1400" dirty="0"/>
              <a:t>Each group shares the two examples: </a:t>
            </a:r>
            <a:r>
              <a:rPr lang="en-US" altLang="zh-CN" sz="1400" b="1" dirty="0"/>
              <a:t>layers + attributes + Shape</a:t>
            </a:r>
            <a:endParaRPr lang="en-US" altLang="zh-CN" sz="1400" dirty="0"/>
          </a:p>
        </p:txBody>
      </p:sp>
      <p:sp>
        <p:nvSpPr>
          <p:cNvPr id="4" name="Slide Number Placeholder 3">
            <a:extLst>
              <a:ext uri="{FF2B5EF4-FFF2-40B4-BE49-F238E27FC236}">
                <a16:creationId xmlns:a16="http://schemas.microsoft.com/office/drawing/2014/main" id="{8F4116E6-261F-D89A-BCDE-2DEE8D3E75A0}"/>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1515432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2564610" cy="2881110"/>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Raster data</a:t>
            </a:r>
          </a:p>
          <a:p>
            <a:pPr lvl="1">
              <a:buFont typeface="Wingdings" panose="05000000000000000000" pitchFamily="2" charset="2"/>
              <a:buChar char="ü"/>
            </a:pPr>
            <a:r>
              <a:rPr lang="en-US" sz="2040" dirty="0"/>
              <a:t>Some categorical raster data can have an attribute tables.</a:t>
            </a:r>
          </a:p>
          <a:p>
            <a:pPr lvl="1">
              <a:buFont typeface="Wingdings" panose="05000000000000000000" pitchFamily="2" charset="2"/>
              <a:buChar char="ü"/>
            </a:pPr>
            <a:r>
              <a:rPr lang="en-US" sz="2040" dirty="0"/>
              <a:t>Continues raster data usually does not have </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Picture 4" descr="Raster image">
            <a:extLst>
              <a:ext uri="{FF2B5EF4-FFF2-40B4-BE49-F238E27FC236}">
                <a16:creationId xmlns:a16="http://schemas.microsoft.com/office/drawing/2014/main" id="{90F5F705-4F24-4D5D-A724-F52422F33184}"/>
              </a:ext>
            </a:extLst>
          </p:cNvPr>
          <p:cNvPicPr>
            <a:picLocks noChangeAspect="1"/>
          </p:cNvPicPr>
          <p:nvPr/>
        </p:nvPicPr>
        <p:blipFill>
          <a:blip r:embed="rId3"/>
          <a:stretch>
            <a:fillRect/>
          </a:stretch>
        </p:blipFill>
        <p:spPr>
          <a:xfrm>
            <a:off x="2836259" y="1513648"/>
            <a:ext cx="2288191" cy="3357742"/>
          </a:xfrm>
          <a:prstGeom prst="rect">
            <a:avLst/>
          </a:prstGeom>
        </p:spPr>
      </p:pic>
      <p:grpSp>
        <p:nvGrpSpPr>
          <p:cNvPr id="16" name="Group 15" descr="Attribute table for raster data">
            <a:extLst>
              <a:ext uri="{FF2B5EF4-FFF2-40B4-BE49-F238E27FC236}">
                <a16:creationId xmlns:a16="http://schemas.microsoft.com/office/drawing/2014/main" id="{A909FEC2-79A0-4065-91EF-911746C08097}"/>
              </a:ext>
            </a:extLst>
          </p:cNvPr>
          <p:cNvGrpSpPr/>
          <p:nvPr/>
        </p:nvGrpSpPr>
        <p:grpSpPr>
          <a:xfrm>
            <a:off x="5277566" y="2221511"/>
            <a:ext cx="2181225" cy="2649879"/>
            <a:chOff x="4694626" y="2138363"/>
            <a:chExt cx="2181225" cy="2649879"/>
          </a:xfrm>
        </p:grpSpPr>
        <p:pic>
          <p:nvPicPr>
            <p:cNvPr id="7" name="Picture 6">
              <a:extLst>
                <a:ext uri="{FF2B5EF4-FFF2-40B4-BE49-F238E27FC236}">
                  <a16:creationId xmlns:a16="http://schemas.microsoft.com/office/drawing/2014/main" id="{5A5E9FD2-DCE3-469C-8A73-81393550F0C7}"/>
                </a:ext>
              </a:extLst>
            </p:cNvPr>
            <p:cNvPicPr>
              <a:picLocks noChangeAspect="1"/>
            </p:cNvPicPr>
            <p:nvPr/>
          </p:nvPicPr>
          <p:blipFill>
            <a:blip r:embed="rId4"/>
            <a:stretch>
              <a:fillRect/>
            </a:stretch>
          </p:blipFill>
          <p:spPr>
            <a:xfrm>
              <a:off x="4694626" y="2140292"/>
              <a:ext cx="447675" cy="2647950"/>
            </a:xfrm>
            <a:prstGeom prst="rect">
              <a:avLst/>
            </a:prstGeom>
          </p:spPr>
        </p:pic>
        <p:pic>
          <p:nvPicPr>
            <p:cNvPr id="11" name="Picture 10">
              <a:extLst>
                <a:ext uri="{FF2B5EF4-FFF2-40B4-BE49-F238E27FC236}">
                  <a16:creationId xmlns:a16="http://schemas.microsoft.com/office/drawing/2014/main" id="{9E2160E7-8882-43F1-966E-8BE5FF622F5B}"/>
                </a:ext>
              </a:extLst>
            </p:cNvPr>
            <p:cNvPicPr>
              <a:picLocks noChangeAspect="1"/>
            </p:cNvPicPr>
            <p:nvPr/>
          </p:nvPicPr>
          <p:blipFill>
            <a:blip r:embed="rId5"/>
            <a:stretch>
              <a:fillRect/>
            </a:stretch>
          </p:blipFill>
          <p:spPr>
            <a:xfrm>
              <a:off x="5142301" y="2138363"/>
              <a:ext cx="1304925" cy="2628900"/>
            </a:xfrm>
            <a:prstGeom prst="rect">
              <a:avLst/>
            </a:prstGeom>
          </p:spPr>
        </p:pic>
        <p:pic>
          <p:nvPicPr>
            <p:cNvPr id="14" name="Picture 13">
              <a:extLst>
                <a:ext uri="{FF2B5EF4-FFF2-40B4-BE49-F238E27FC236}">
                  <a16:creationId xmlns:a16="http://schemas.microsoft.com/office/drawing/2014/main" id="{7277A7D2-74A3-494B-ACB1-75207E3590EC}"/>
                </a:ext>
              </a:extLst>
            </p:cNvPr>
            <p:cNvPicPr>
              <a:picLocks noChangeAspect="1"/>
            </p:cNvPicPr>
            <p:nvPr/>
          </p:nvPicPr>
          <p:blipFill>
            <a:blip r:embed="rId6"/>
            <a:stretch>
              <a:fillRect/>
            </a:stretch>
          </p:blipFill>
          <p:spPr>
            <a:xfrm>
              <a:off x="6447226" y="2145597"/>
              <a:ext cx="428625" cy="2609850"/>
            </a:xfrm>
            <a:prstGeom prst="rect">
              <a:avLst/>
            </a:prstGeom>
          </p:spPr>
        </p:pic>
      </p:grpSp>
      <p:sp>
        <p:nvSpPr>
          <p:cNvPr id="21" name="Title 1">
            <a:extLst>
              <a:ext uri="{FF2B5EF4-FFF2-40B4-BE49-F238E27FC236}">
                <a16:creationId xmlns:a16="http://schemas.microsoft.com/office/drawing/2014/main" id="{3C5FB349-5FCF-4711-A393-B6588BCCFA56}"/>
              </a:ext>
            </a:extLst>
          </p:cNvPr>
          <p:cNvSpPr txBox="1">
            <a:spLocks/>
          </p:cNvSpPr>
          <p:nvPr/>
        </p:nvSpPr>
        <p:spPr>
          <a:xfrm>
            <a:off x="219272" y="2218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raster</a:t>
            </a:r>
          </a:p>
        </p:txBody>
      </p:sp>
    </p:spTree>
    <p:extLst>
      <p:ext uri="{BB962C8B-B14F-4D97-AF65-F5344CB8AC3E}">
        <p14:creationId xmlns:p14="http://schemas.microsoft.com/office/powerpoint/2010/main" val="15502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2" y="981902"/>
            <a:ext cx="3576137" cy="288111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Raster data</a:t>
            </a:r>
          </a:p>
          <a:p>
            <a:pPr lvl="1">
              <a:buFont typeface="Wingdings" panose="05000000000000000000" pitchFamily="2" charset="2"/>
              <a:buChar char="ü"/>
            </a:pPr>
            <a:r>
              <a:rPr lang="en-US" dirty="0"/>
              <a:t>Relationship between features and records</a:t>
            </a:r>
          </a:p>
          <a:p>
            <a:pPr lvl="2">
              <a:buFont typeface="Arial" panose="020B0604020202020204" pitchFamily="34" charset="0"/>
              <a:buChar char="•"/>
            </a:pPr>
            <a:r>
              <a:rPr lang="en-US" dirty="0"/>
              <a:t>one-to-one (produce unmanageably large attribute table)</a:t>
            </a:r>
          </a:p>
          <a:p>
            <a:pPr lvl="2">
              <a:buFont typeface="Arial" panose="020B0604020202020204" pitchFamily="34" charset="0"/>
              <a:buChar char="•"/>
            </a:pPr>
            <a:r>
              <a:rPr lang="en-US" dirty="0"/>
              <a:t>many-to-one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6" name="Picture 5" descr="A picture containing text, receipt&#10;&#10;Description automatically generated">
            <a:extLst>
              <a:ext uri="{FF2B5EF4-FFF2-40B4-BE49-F238E27FC236}">
                <a16:creationId xmlns:a16="http://schemas.microsoft.com/office/drawing/2014/main" id="{E12C9F83-DD15-4A3C-9519-6509D34A863C}"/>
              </a:ext>
            </a:extLst>
          </p:cNvPr>
          <p:cNvPicPr>
            <a:picLocks noChangeAspect="1"/>
          </p:cNvPicPr>
          <p:nvPr/>
        </p:nvPicPr>
        <p:blipFill>
          <a:blip r:embed="rId3"/>
          <a:stretch>
            <a:fillRect/>
          </a:stretch>
        </p:blipFill>
        <p:spPr>
          <a:xfrm>
            <a:off x="3837112" y="1100044"/>
            <a:ext cx="3576137" cy="3848915"/>
          </a:xfrm>
          <a:prstGeom prst="rect">
            <a:avLst/>
          </a:prstGeom>
        </p:spPr>
      </p:pic>
      <p:sp>
        <p:nvSpPr>
          <p:cNvPr id="13" name="TextBox 12">
            <a:extLst>
              <a:ext uri="{FF2B5EF4-FFF2-40B4-BE49-F238E27FC236}">
                <a16:creationId xmlns:a16="http://schemas.microsoft.com/office/drawing/2014/main" id="{7D6E6D3B-8FBF-4B32-8F88-6B4B2E1FC128}"/>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5" name="Title 1">
            <a:extLst>
              <a:ext uri="{FF2B5EF4-FFF2-40B4-BE49-F238E27FC236}">
                <a16:creationId xmlns:a16="http://schemas.microsoft.com/office/drawing/2014/main" id="{5D333F6B-156F-4B17-A338-54BCCF8FDD21}"/>
              </a:ext>
            </a:extLst>
          </p:cNvPr>
          <p:cNvSpPr txBox="1">
            <a:spLocks/>
          </p:cNvSpPr>
          <p:nvPr/>
        </p:nvSpPr>
        <p:spPr>
          <a:xfrm>
            <a:off x="281265" y="19454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raster</a:t>
            </a:r>
          </a:p>
        </p:txBody>
      </p:sp>
    </p:spTree>
    <p:extLst>
      <p:ext uri="{BB962C8B-B14F-4D97-AF65-F5344CB8AC3E}">
        <p14:creationId xmlns:p14="http://schemas.microsoft.com/office/powerpoint/2010/main" val="10409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3967" y="1704452"/>
            <a:ext cx="5659322" cy="2263730"/>
          </a:xfrm>
        </p:spPr>
        <p:txBody>
          <a:bodyPr>
            <a:normAutofit/>
          </a:bodyPr>
          <a:lstStyle/>
          <a:p>
            <a:pPr marL="0" indent="0">
              <a:buNone/>
            </a:pPr>
            <a:r>
              <a:rPr lang="en-US" b="1" dirty="0">
                <a:solidFill>
                  <a:srgbClr val="E3874F"/>
                </a:solidFill>
              </a:rPr>
              <a:t>Attributes: </a:t>
            </a:r>
            <a:r>
              <a:rPr lang="en-US" dirty="0"/>
              <a:t>non-spatial characteristics associated with spatial data</a:t>
            </a:r>
          </a:p>
          <a:p>
            <a:pPr marL="0" indent="0">
              <a:buNone/>
            </a:pPr>
            <a:r>
              <a:rPr lang="en-US" b="1" dirty="0">
                <a:solidFill>
                  <a:srgbClr val="E3874F"/>
                </a:solidFill>
              </a:rPr>
              <a:t>Nominal: </a:t>
            </a:r>
            <a:r>
              <a:rPr lang="en-US" dirty="0"/>
              <a:t>A unique identifier</a:t>
            </a:r>
          </a:p>
          <a:p>
            <a:pPr marL="0" indent="0">
              <a:buNone/>
            </a:pPr>
            <a:r>
              <a:rPr lang="en-US" b="1" dirty="0">
                <a:solidFill>
                  <a:srgbClr val="E3874F"/>
                </a:solidFill>
              </a:rPr>
              <a:t>Ordinal:</a:t>
            </a:r>
            <a:r>
              <a:rPr lang="en-US" dirty="0">
                <a:solidFill>
                  <a:srgbClr val="E3874F"/>
                </a:solidFill>
              </a:rPr>
              <a:t> </a:t>
            </a:r>
            <a:r>
              <a:rPr lang="en-US" dirty="0"/>
              <a:t>Ranked data</a:t>
            </a:r>
          </a:p>
          <a:p>
            <a:pPr marL="0" indent="0">
              <a:buNone/>
            </a:pPr>
            <a:r>
              <a:rPr lang="en-US" b="1" dirty="0">
                <a:solidFill>
                  <a:srgbClr val="E3874F"/>
                </a:solidFill>
              </a:rPr>
              <a:t>Interval: </a:t>
            </a:r>
            <a:r>
              <a:rPr lang="en-US" dirty="0"/>
              <a:t>Difference between numbers is significant, but it lacks a true, absolute zero point.</a:t>
            </a:r>
          </a:p>
          <a:p>
            <a:pPr marL="0" indent="0">
              <a:buNone/>
            </a:pPr>
            <a:r>
              <a:rPr lang="en-US" b="1" dirty="0">
                <a:solidFill>
                  <a:srgbClr val="E3874F"/>
                </a:solidFill>
              </a:rPr>
              <a:t>Ratio: </a:t>
            </a:r>
            <a:r>
              <a:rPr lang="en-US" dirty="0"/>
              <a:t>Difference between numbers is significant, and there is a fixed non-arbitrary zero value</a:t>
            </a:r>
          </a:p>
          <a:p>
            <a:pPr marL="0" indent="0">
              <a:buNone/>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E44F6A5C-49CC-4D87-821E-B7B9F887AE37}"/>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5" name="TextBox 4"/>
          <p:cNvSpPr txBox="1"/>
          <p:nvPr/>
        </p:nvSpPr>
        <p:spPr>
          <a:xfrm>
            <a:off x="359067" y="2350428"/>
            <a:ext cx="1183313" cy="316690"/>
          </a:xfrm>
          <a:prstGeom prst="rect">
            <a:avLst/>
          </a:prstGeom>
          <a:noFill/>
        </p:spPr>
        <p:txBody>
          <a:bodyPr wrap="square" rtlCol="0">
            <a:spAutoFit/>
          </a:bodyPr>
          <a:lstStyle/>
          <a:p>
            <a:pPr>
              <a:lnSpc>
                <a:spcPct val="90000"/>
              </a:lnSpc>
            </a:pPr>
            <a:r>
              <a:rPr lang="en-US" sz="1620" b="1" dirty="0">
                <a:solidFill>
                  <a:srgbClr val="E3874F"/>
                </a:solidFill>
              </a:rPr>
              <a:t>Categorical</a:t>
            </a:r>
          </a:p>
        </p:txBody>
      </p:sp>
      <p:sp>
        <p:nvSpPr>
          <p:cNvPr id="7" name="TextBox 6"/>
          <p:cNvSpPr txBox="1"/>
          <p:nvPr/>
        </p:nvSpPr>
        <p:spPr>
          <a:xfrm>
            <a:off x="513412" y="2921651"/>
            <a:ext cx="1183313" cy="316690"/>
          </a:xfrm>
          <a:prstGeom prst="rect">
            <a:avLst/>
          </a:prstGeom>
          <a:noFill/>
        </p:spPr>
        <p:txBody>
          <a:bodyPr wrap="square" rtlCol="0">
            <a:spAutoFit/>
          </a:bodyPr>
          <a:lstStyle/>
          <a:p>
            <a:pPr>
              <a:lnSpc>
                <a:spcPct val="90000"/>
              </a:lnSpc>
            </a:pPr>
            <a:r>
              <a:rPr lang="en-US" sz="1620" b="1" dirty="0">
                <a:solidFill>
                  <a:srgbClr val="E3874F"/>
                </a:solidFill>
              </a:rPr>
              <a:t>Numeric</a:t>
            </a:r>
          </a:p>
        </p:txBody>
      </p:sp>
      <p:cxnSp>
        <p:nvCxnSpPr>
          <p:cNvPr id="9" name="Elbow Connector 8"/>
          <p:cNvCxnSpPr>
            <a:stCxn id="5" idx="3"/>
          </p:cNvCxnSpPr>
          <p:nvPr/>
        </p:nvCxnSpPr>
        <p:spPr>
          <a:xfrm flipV="1">
            <a:off x="1557262" y="2063048"/>
            <a:ext cx="411587" cy="289625"/>
          </a:xfrm>
          <a:prstGeom prst="bentConnector3">
            <a:avLst>
              <a:gd name="adj1" fmla="val 50000"/>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5" idx="3"/>
          </p:cNvCxnSpPr>
          <p:nvPr/>
        </p:nvCxnSpPr>
        <p:spPr>
          <a:xfrm>
            <a:off x="1557262" y="2352673"/>
            <a:ext cx="411587" cy="332262"/>
          </a:xfrm>
          <a:prstGeom prst="bentConnector3">
            <a:avLst>
              <a:gd name="adj1" fmla="val 50000"/>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1594400" y="2835597"/>
            <a:ext cx="256671" cy="523196"/>
            <a:chOff x="2361458" y="1889612"/>
            <a:chExt cx="380154" cy="774903"/>
          </a:xfrm>
        </p:grpSpPr>
        <p:cxnSp>
          <p:nvCxnSpPr>
            <p:cNvPr id="18" name="Elbow Connector 17"/>
            <p:cNvCxnSpPr/>
            <p:nvPr/>
          </p:nvCxnSpPr>
          <p:spPr>
            <a:xfrm flipV="1">
              <a:off x="2361458" y="1889612"/>
              <a:ext cx="380154" cy="380154"/>
            </a:xfrm>
            <a:prstGeom prst="bentConnector2">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a:off x="2361458" y="2269766"/>
              <a:ext cx="380154" cy="394749"/>
            </a:xfrm>
            <a:prstGeom prst="bentConnector2">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3" name="Title 1">
            <a:extLst>
              <a:ext uri="{FF2B5EF4-FFF2-40B4-BE49-F238E27FC236}">
                <a16:creationId xmlns:a16="http://schemas.microsoft.com/office/drawing/2014/main" id="{AB38808C-032C-4E71-9323-CA9991247E0C}"/>
              </a:ext>
            </a:extLst>
          </p:cNvPr>
          <p:cNvSpPr txBox="1">
            <a:spLocks/>
          </p:cNvSpPr>
          <p:nvPr/>
        </p:nvSpPr>
        <p:spPr>
          <a:xfrm>
            <a:off x="256171" y="19900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14" name="Straight Connector 13">
            <a:extLst>
              <a:ext uri="{FF2B5EF4-FFF2-40B4-BE49-F238E27FC236}">
                <a16:creationId xmlns:a16="http://schemas.microsoft.com/office/drawing/2014/main" id="{03DE9D9F-DB4A-48D0-949B-E41986BE30C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D0FDFD92-69EA-486B-BAD1-A003CD333805}"/>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Non-Spatial Attributes in GIS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94612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75822" y="2464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Nominal Data</a:t>
            </a:r>
          </a:p>
          <a:p>
            <a:pPr>
              <a:buFont typeface="Courier New" panose="02070309020205020404" pitchFamily="49" charset="0"/>
              <a:buChar char="o"/>
            </a:pPr>
            <a:endParaRPr lang="en-US" dirty="0"/>
          </a:p>
        </p:txBody>
      </p:sp>
      <p:pic>
        <p:nvPicPr>
          <p:cNvPr id="13" name="Picture 12" descr="Land use data">
            <a:extLst>
              <a:ext uri="{FF2B5EF4-FFF2-40B4-BE49-F238E27FC236}">
                <a16:creationId xmlns:a16="http://schemas.microsoft.com/office/drawing/2014/main" id="{564585CD-5DA8-4683-ABC0-AE3DC22BA54C}"/>
              </a:ext>
            </a:extLst>
          </p:cNvPr>
          <p:cNvPicPr>
            <a:picLocks noChangeAspect="1"/>
          </p:cNvPicPr>
          <p:nvPr/>
        </p:nvPicPr>
        <p:blipFill>
          <a:blip r:embed="rId3"/>
          <a:stretch>
            <a:fillRect/>
          </a:stretch>
        </p:blipFill>
        <p:spPr>
          <a:xfrm>
            <a:off x="662725" y="1691335"/>
            <a:ext cx="3651697" cy="3291957"/>
          </a:xfrm>
          <a:prstGeom prst="rect">
            <a:avLst/>
          </a:prstGeom>
        </p:spPr>
      </p:pic>
      <p:pic>
        <p:nvPicPr>
          <p:cNvPr id="15" name="Picture 14" descr="The legend for land use data">
            <a:extLst>
              <a:ext uri="{FF2B5EF4-FFF2-40B4-BE49-F238E27FC236}">
                <a16:creationId xmlns:a16="http://schemas.microsoft.com/office/drawing/2014/main" id="{7D5C5D91-9F37-4508-B724-0FD95E949BB9}"/>
              </a:ext>
            </a:extLst>
          </p:cNvPr>
          <p:cNvPicPr>
            <a:picLocks noChangeAspect="1"/>
          </p:cNvPicPr>
          <p:nvPr/>
        </p:nvPicPr>
        <p:blipFill>
          <a:blip r:embed="rId4"/>
          <a:stretch>
            <a:fillRect/>
          </a:stretch>
        </p:blipFill>
        <p:spPr>
          <a:xfrm>
            <a:off x="4580586" y="2049592"/>
            <a:ext cx="1943100" cy="2933700"/>
          </a:xfrm>
          <a:prstGeom prst="rect">
            <a:avLst/>
          </a:prstGeom>
        </p:spPr>
      </p:pic>
      <p:pic>
        <p:nvPicPr>
          <p:cNvPr id="17" name="Picture 16" descr="The code for land use type">
            <a:extLst>
              <a:ext uri="{FF2B5EF4-FFF2-40B4-BE49-F238E27FC236}">
                <a16:creationId xmlns:a16="http://schemas.microsoft.com/office/drawing/2014/main" id="{8D7C5B9C-6EA9-45E1-A485-4EF0EF4B10E6}"/>
              </a:ext>
            </a:extLst>
          </p:cNvPr>
          <p:cNvPicPr>
            <a:picLocks noChangeAspect="1"/>
          </p:cNvPicPr>
          <p:nvPr/>
        </p:nvPicPr>
        <p:blipFill>
          <a:blip r:embed="rId5"/>
          <a:stretch>
            <a:fillRect/>
          </a:stretch>
        </p:blipFill>
        <p:spPr>
          <a:xfrm>
            <a:off x="6545276" y="2062471"/>
            <a:ext cx="426493" cy="2286000"/>
          </a:xfrm>
          <a:prstGeom prst="rect">
            <a:avLst/>
          </a:prstGeom>
        </p:spPr>
      </p:pic>
      <p:pic>
        <p:nvPicPr>
          <p:cNvPr id="19" name="Picture 18" descr="The code for land use type">
            <a:extLst>
              <a:ext uri="{FF2B5EF4-FFF2-40B4-BE49-F238E27FC236}">
                <a16:creationId xmlns:a16="http://schemas.microsoft.com/office/drawing/2014/main" id="{0DE102EC-B34C-4C92-8043-BA6A72EC1D4C}"/>
              </a:ext>
            </a:extLst>
          </p:cNvPr>
          <p:cNvPicPr>
            <a:picLocks noChangeAspect="1"/>
          </p:cNvPicPr>
          <p:nvPr/>
        </p:nvPicPr>
        <p:blipFill>
          <a:blip r:embed="rId6"/>
          <a:stretch>
            <a:fillRect/>
          </a:stretch>
        </p:blipFill>
        <p:spPr>
          <a:xfrm>
            <a:off x="6532397" y="4348471"/>
            <a:ext cx="429768" cy="587642"/>
          </a:xfrm>
          <a:prstGeom prst="rect">
            <a:avLst/>
          </a:prstGeom>
        </p:spPr>
      </p:pic>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150498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757BCA-6308-4E54-929B-89F89C4AC24E}"/>
              </a:ext>
            </a:extLst>
          </p:cNvPr>
          <p:cNvSpPr txBox="1">
            <a:spLocks/>
          </p:cNvSpPr>
          <p:nvPr/>
        </p:nvSpPr>
        <p:spPr>
          <a:xfrm>
            <a:off x="305874" y="193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6" name="Straight Connector 5">
            <a:extLst>
              <a:ext uri="{FF2B5EF4-FFF2-40B4-BE49-F238E27FC236}">
                <a16:creationId xmlns:a16="http://schemas.microsoft.com/office/drawing/2014/main" id="{C38F90C3-BD8C-438F-8A93-EFCFB721EB2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FDD7BDCC-4981-46F3-B917-8CD6172F8846}"/>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Ordinal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661F353D-7AF1-4059-B031-A3C550DE10FA}"/>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1026" name="Picture 2">
            <a:extLst>
              <a:ext uri="{FF2B5EF4-FFF2-40B4-BE49-F238E27FC236}">
                <a16:creationId xmlns:a16="http://schemas.microsoft.com/office/drawing/2014/main" id="{665C7BAE-51C5-1C7B-B050-0542CFCAC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539" y="1050968"/>
            <a:ext cx="2968693" cy="386909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1FD840-990D-9A3B-6D06-36FD8D1384B4}"/>
              </a:ext>
            </a:extLst>
          </p:cNvPr>
          <p:cNvSpPr txBox="1"/>
          <p:nvPr/>
        </p:nvSpPr>
        <p:spPr>
          <a:xfrm>
            <a:off x="152400" y="4266475"/>
            <a:ext cx="3861662" cy="769441"/>
          </a:xfrm>
          <a:prstGeom prst="rect">
            <a:avLst/>
          </a:prstGeom>
          <a:noFill/>
        </p:spPr>
        <p:txBody>
          <a:bodyPr wrap="square" rtlCol="0">
            <a:spAutoFit/>
          </a:bodyPr>
          <a:lstStyle/>
          <a:p>
            <a:r>
              <a:rPr lang="en-US" altLang="zh-CN" sz="1100" dirty="0"/>
              <a:t>Map Source: Saha, A. K., &amp; Agrawal, S. (2020). Mapping and assessment of flood risk in Prayagraj district, India: a GIS and remote sensing study. </a:t>
            </a:r>
            <a:r>
              <a:rPr lang="en-US" altLang="zh-CN" sz="1100" i="1" dirty="0"/>
              <a:t>Nanotechnology for Environmental Engineering</a:t>
            </a:r>
            <a:r>
              <a:rPr lang="en-US" altLang="zh-CN" sz="1100" dirty="0"/>
              <a:t>, </a:t>
            </a:r>
            <a:r>
              <a:rPr lang="en-US" altLang="zh-CN" sz="1100" i="1" dirty="0"/>
              <a:t>5</a:t>
            </a:r>
            <a:r>
              <a:rPr lang="en-US" altLang="zh-CN" sz="1100" dirty="0"/>
              <a:t>(2), 11.</a:t>
            </a:r>
          </a:p>
        </p:txBody>
      </p:sp>
      <p:sp>
        <p:nvSpPr>
          <p:cNvPr id="8" name="TextBox 7">
            <a:extLst>
              <a:ext uri="{FF2B5EF4-FFF2-40B4-BE49-F238E27FC236}">
                <a16:creationId xmlns:a16="http://schemas.microsoft.com/office/drawing/2014/main" id="{B58C3FBE-9359-A413-18FC-029EDA16B0C7}"/>
              </a:ext>
            </a:extLst>
          </p:cNvPr>
          <p:cNvSpPr txBox="1"/>
          <p:nvPr/>
        </p:nvSpPr>
        <p:spPr>
          <a:xfrm>
            <a:off x="416318" y="1533660"/>
            <a:ext cx="3146156" cy="923330"/>
          </a:xfrm>
          <a:prstGeom prst="rect">
            <a:avLst/>
          </a:prstGeom>
          <a:noFill/>
        </p:spPr>
        <p:txBody>
          <a:bodyPr wrap="square" rtlCol="0">
            <a:spAutoFit/>
          </a:bodyPr>
          <a:lstStyle/>
          <a:p>
            <a:r>
              <a:rPr lang="en-US" altLang="zh-CN" dirty="0"/>
              <a:t>Flood risk map produced by GIS-AHP process </a:t>
            </a:r>
          </a:p>
          <a:p>
            <a:endParaRPr lang="zh-CN" altLang="en-US" dirty="0"/>
          </a:p>
        </p:txBody>
      </p:sp>
    </p:spTree>
    <p:extLst>
      <p:ext uri="{BB962C8B-B14F-4D97-AF65-F5344CB8AC3E}">
        <p14:creationId xmlns:p14="http://schemas.microsoft.com/office/powerpoint/2010/main" val="39746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4887036"/>
            <a:ext cx="3138352" cy="230832"/>
          </a:xfrm>
          <a:prstGeom prst="rect">
            <a:avLst/>
          </a:prstGeom>
          <a:noFill/>
        </p:spPr>
        <p:txBody>
          <a:bodyPr wrap="square" rtlCol="0">
            <a:spAutoFit/>
          </a:bodyPr>
          <a:lstStyle/>
          <a:p>
            <a:pPr>
              <a:lnSpc>
                <a:spcPct val="90000"/>
              </a:lnSpc>
            </a:pPr>
            <a:r>
              <a:rPr lang="en-US" sz="1000" dirty="0">
                <a:solidFill>
                  <a:srgbClr val="7030A0"/>
                </a:solidFill>
              </a:rPr>
              <a:t>Image from the National Weather Service</a:t>
            </a:r>
          </a:p>
        </p:txBody>
      </p:sp>
      <p:sp>
        <p:nvSpPr>
          <p:cNvPr id="8" name="Title 1">
            <a:extLst>
              <a:ext uri="{FF2B5EF4-FFF2-40B4-BE49-F238E27FC236}">
                <a16:creationId xmlns:a16="http://schemas.microsoft.com/office/drawing/2014/main" id="{32074BBD-38BA-4E1B-A26C-3A2EBEA6347D}"/>
              </a:ext>
            </a:extLst>
          </p:cNvPr>
          <p:cNvSpPr txBox="1">
            <a:spLocks/>
          </p:cNvSpPr>
          <p:nvPr/>
        </p:nvSpPr>
        <p:spPr>
          <a:xfrm>
            <a:off x="234770" y="2079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9" name="Straight Connector 8">
            <a:extLst>
              <a:ext uri="{FF2B5EF4-FFF2-40B4-BE49-F238E27FC236}">
                <a16:creationId xmlns:a16="http://schemas.microsoft.com/office/drawing/2014/main" id="{89C80C41-B286-4C05-8A21-611762EF58B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31FD23D0-8B77-45B1-94AA-6948660B0C9B}"/>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Interval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4D053AC4-3971-45AC-B040-D8B42C2715CC}"/>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5" name="Picture 4" descr="Interval data example">
            <a:extLst>
              <a:ext uri="{FF2B5EF4-FFF2-40B4-BE49-F238E27FC236}">
                <a16:creationId xmlns:a16="http://schemas.microsoft.com/office/drawing/2014/main" id="{D648961F-CEE5-4CD0-8DBF-EF0C8014D5AE}"/>
              </a:ext>
            </a:extLst>
          </p:cNvPr>
          <p:cNvPicPr>
            <a:picLocks noChangeAspect="1"/>
          </p:cNvPicPr>
          <p:nvPr/>
        </p:nvPicPr>
        <p:blipFill>
          <a:blip r:embed="rId3"/>
          <a:stretch>
            <a:fillRect/>
          </a:stretch>
        </p:blipFill>
        <p:spPr>
          <a:xfrm>
            <a:off x="2116184" y="1341942"/>
            <a:ext cx="4807131" cy="3244345"/>
          </a:xfrm>
          <a:prstGeom prst="rect">
            <a:avLst/>
          </a:prstGeom>
        </p:spPr>
      </p:pic>
    </p:spTree>
    <p:extLst>
      <p:ext uri="{BB962C8B-B14F-4D97-AF65-F5344CB8AC3E}">
        <p14:creationId xmlns:p14="http://schemas.microsoft.com/office/powerpoint/2010/main" val="268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tio data example"/>
          <p:cNvPicPr>
            <a:picLocks noChangeAspect="1"/>
          </p:cNvPicPr>
          <p:nvPr/>
        </p:nvPicPr>
        <p:blipFill>
          <a:blip r:embed="rId3"/>
          <a:stretch>
            <a:fillRect/>
          </a:stretch>
        </p:blipFill>
        <p:spPr>
          <a:xfrm>
            <a:off x="2041302" y="1259976"/>
            <a:ext cx="4662354" cy="3644209"/>
          </a:xfrm>
          <a:prstGeom prst="rect">
            <a:avLst/>
          </a:prstGeom>
        </p:spPr>
      </p:pic>
      <p:sp>
        <p:nvSpPr>
          <p:cNvPr id="6" name="Title 1">
            <a:extLst>
              <a:ext uri="{FF2B5EF4-FFF2-40B4-BE49-F238E27FC236}">
                <a16:creationId xmlns:a16="http://schemas.microsoft.com/office/drawing/2014/main" id="{19B7EA40-5B88-454C-ACC5-82622199B178}"/>
              </a:ext>
            </a:extLst>
          </p:cNvPr>
          <p:cNvSpPr txBox="1">
            <a:spLocks/>
          </p:cNvSpPr>
          <p:nvPr/>
        </p:nvSpPr>
        <p:spPr>
          <a:xfrm>
            <a:off x="219272"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7" name="Straight Connector 6">
            <a:extLst>
              <a:ext uri="{FF2B5EF4-FFF2-40B4-BE49-F238E27FC236}">
                <a16:creationId xmlns:a16="http://schemas.microsoft.com/office/drawing/2014/main" id="{5F66F977-293B-4E40-B3FE-2875627BB4A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6DC6B5BE-F65E-4DA4-9AA8-2D3FA4069B32}"/>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Ratio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E7AE2C9-B304-4593-AF86-A9EC437BA524}"/>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324111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CD41FD8A-E043-4A99-849D-E4A9DE1D283E}"/>
              </a:ext>
            </a:extLst>
          </p:cNvPr>
          <p:cNvSpPr txBox="1">
            <a:spLocks/>
          </p:cNvSpPr>
          <p:nvPr/>
        </p:nvSpPr>
        <p:spPr>
          <a:xfrm>
            <a:off x="152399" y="1064985"/>
            <a:ext cx="5745481" cy="2283696"/>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Fields</a:t>
            </a:r>
          </a:p>
          <a:p>
            <a:pPr lvl="1">
              <a:buFont typeface="Wingdings" panose="05000000000000000000" pitchFamily="2" charset="2"/>
              <a:buChar char="ü"/>
            </a:pPr>
            <a:r>
              <a:rPr lang="en-US" dirty="0"/>
              <a:t>Must define field name (less than 10 characters)</a:t>
            </a:r>
          </a:p>
          <a:p>
            <a:pPr lvl="1">
              <a:buFont typeface="Wingdings" panose="05000000000000000000" pitchFamily="2" charset="2"/>
              <a:buChar char="ü"/>
            </a:pPr>
            <a:r>
              <a:rPr lang="en-US" dirty="0"/>
              <a:t>Can provide an alias</a:t>
            </a:r>
          </a:p>
          <a:p>
            <a:pPr lvl="1">
              <a:buFont typeface="Wingdings" panose="05000000000000000000" pitchFamily="2" charset="2"/>
              <a:buChar char="ü"/>
            </a:pPr>
            <a:r>
              <a:rPr lang="en-US" dirty="0"/>
              <a:t>Make sure to define the correct data type</a:t>
            </a:r>
          </a:p>
          <a:p>
            <a:pPr lvl="1">
              <a:buFont typeface="Wingdings" panose="05000000000000000000" pitchFamily="2" charset="2"/>
              <a:buChar char="ü"/>
            </a:pPr>
            <a:endParaRPr lang="en-US" dirty="0"/>
          </a:p>
          <a:p>
            <a:pPr lvl="1">
              <a:buFont typeface="Wingdings" panose="05000000000000000000" pitchFamily="2" charset="2"/>
              <a:buChar char="ü"/>
            </a:pPr>
            <a:endParaRPr lang="en-US" dirty="0"/>
          </a:p>
          <a:p>
            <a:pPr marL="0" indent="0">
              <a:buFont typeface="Arial"/>
              <a:buNone/>
            </a:pPr>
            <a:endParaRPr lang="en-US" dirty="0"/>
          </a:p>
        </p:txBody>
      </p:sp>
      <p:sp>
        <p:nvSpPr>
          <p:cNvPr id="7" name="Title 1">
            <a:extLst>
              <a:ext uri="{FF2B5EF4-FFF2-40B4-BE49-F238E27FC236}">
                <a16:creationId xmlns:a16="http://schemas.microsoft.com/office/drawing/2014/main" id="{8624D4D6-E97F-4A20-A4E9-E148B77B4707}"/>
              </a:ext>
            </a:extLst>
          </p:cNvPr>
          <p:cNvSpPr txBox="1">
            <a:spLocks/>
          </p:cNvSpPr>
          <p:nvPr/>
        </p:nvSpPr>
        <p:spPr>
          <a:xfrm>
            <a:off x="265767" y="190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121B3038-3EF0-43E4-8E3E-4D8661EF2D7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267D5725-7173-41D9-A7F4-4FE91E920562}"/>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5" name="Picture 4" descr="Image showing adding fields in attribute data">
            <a:extLst>
              <a:ext uri="{FF2B5EF4-FFF2-40B4-BE49-F238E27FC236}">
                <a16:creationId xmlns:a16="http://schemas.microsoft.com/office/drawing/2014/main" id="{D7BFA5CD-F7D9-45B7-BBDA-EEAA4225F952}"/>
              </a:ext>
            </a:extLst>
          </p:cNvPr>
          <p:cNvPicPr>
            <a:picLocks noChangeAspect="1"/>
          </p:cNvPicPr>
          <p:nvPr/>
        </p:nvPicPr>
        <p:blipFill>
          <a:blip r:embed="rId3"/>
          <a:stretch>
            <a:fillRect/>
          </a:stretch>
        </p:blipFill>
        <p:spPr>
          <a:xfrm>
            <a:off x="411480" y="3541485"/>
            <a:ext cx="6544963" cy="1617605"/>
          </a:xfrm>
          <a:prstGeom prst="rect">
            <a:avLst/>
          </a:prstGeom>
        </p:spPr>
      </p:pic>
      <p:pic>
        <p:nvPicPr>
          <p:cNvPr id="12" name="Picture 11" descr="Image showing Africa">
            <a:extLst>
              <a:ext uri="{FF2B5EF4-FFF2-40B4-BE49-F238E27FC236}">
                <a16:creationId xmlns:a16="http://schemas.microsoft.com/office/drawing/2014/main" id="{FD13B996-ED5F-410B-A57F-1C1EE58F6F84}"/>
              </a:ext>
            </a:extLst>
          </p:cNvPr>
          <p:cNvPicPr>
            <a:picLocks noChangeAspect="1"/>
          </p:cNvPicPr>
          <p:nvPr/>
        </p:nvPicPr>
        <p:blipFill>
          <a:blip r:embed="rId4"/>
          <a:stretch>
            <a:fillRect/>
          </a:stretch>
        </p:blipFill>
        <p:spPr>
          <a:xfrm>
            <a:off x="5872163" y="1008090"/>
            <a:ext cx="2205038" cy="2476500"/>
          </a:xfrm>
          <a:prstGeom prst="rect">
            <a:avLst/>
          </a:prstGeom>
        </p:spPr>
      </p:pic>
    </p:spTree>
    <p:extLst>
      <p:ext uri="{BB962C8B-B14F-4D97-AF65-F5344CB8AC3E}">
        <p14:creationId xmlns:p14="http://schemas.microsoft.com/office/powerpoint/2010/main" val="119963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custDataLst>
              <p:tags r:id="rId1"/>
            </p:custDataLst>
          </p:nvPr>
        </p:nvGraphicFramePr>
        <p:xfrm>
          <a:off x="1422445" y="3167337"/>
          <a:ext cx="6173808" cy="1878306"/>
        </p:xfrm>
        <a:graphic>
          <a:graphicData uri="http://schemas.openxmlformats.org/drawingml/2006/table">
            <a:tbl>
              <a:tblPr firstRow="1" bandRow="1">
                <a:tableStyleId>{6E25E649-3F16-4E02-A733-19D2CDBF48F0}</a:tableStyleId>
              </a:tblPr>
              <a:tblGrid>
                <a:gridCol w="3086904">
                  <a:extLst>
                    <a:ext uri="{9D8B030D-6E8A-4147-A177-3AD203B41FA5}">
                      <a16:colId xmlns:a16="http://schemas.microsoft.com/office/drawing/2014/main" val="332536845"/>
                    </a:ext>
                  </a:extLst>
                </a:gridCol>
                <a:gridCol w="3086904">
                  <a:extLst>
                    <a:ext uri="{9D8B030D-6E8A-4147-A177-3AD203B41FA5}">
                      <a16:colId xmlns:a16="http://schemas.microsoft.com/office/drawing/2014/main" val="3240416613"/>
                    </a:ext>
                  </a:extLst>
                </a:gridCol>
              </a:tblGrid>
              <a:tr h="250382">
                <a:tc>
                  <a:txBody>
                    <a:bodyPr/>
                    <a:lstStyle/>
                    <a:p>
                      <a:r>
                        <a:rPr lang="en-US" sz="1100" dirty="0"/>
                        <a:t>Data Type</a:t>
                      </a:r>
                    </a:p>
                  </a:txBody>
                  <a:tcPr marL="61738" marR="61738" marT="30869" marB="30869">
                    <a:solidFill>
                      <a:srgbClr val="E3874F"/>
                    </a:solidFill>
                  </a:tcPr>
                </a:tc>
                <a:tc>
                  <a:txBody>
                    <a:bodyPr/>
                    <a:lstStyle/>
                    <a:p>
                      <a:endParaRPr lang="en-US" sz="1100"/>
                    </a:p>
                  </a:txBody>
                  <a:tcPr marL="61738" marR="61738" marT="30869" marB="30869">
                    <a:solidFill>
                      <a:srgbClr val="E3874F"/>
                    </a:solidFill>
                  </a:tcPr>
                </a:tc>
                <a:extLst>
                  <a:ext uri="{0D108BD9-81ED-4DB2-BD59-A6C34878D82A}">
                    <a16:rowId xmlns:a16="http://schemas.microsoft.com/office/drawing/2014/main" val="3465418279"/>
                  </a:ext>
                </a:extLst>
              </a:tr>
              <a:tr h="250382">
                <a:tc>
                  <a:txBody>
                    <a:bodyPr/>
                    <a:lstStyle/>
                    <a:p>
                      <a:r>
                        <a:rPr lang="en-US" sz="1100" b="1" dirty="0">
                          <a:solidFill>
                            <a:srgbClr val="E3874F"/>
                          </a:solidFill>
                        </a:rPr>
                        <a:t>Short</a:t>
                      </a:r>
                      <a:r>
                        <a:rPr lang="en-US" sz="1100" b="1" baseline="0" dirty="0">
                          <a:solidFill>
                            <a:srgbClr val="E3874F"/>
                          </a:solidFill>
                        </a:rPr>
                        <a:t> Integer</a:t>
                      </a:r>
                      <a:endParaRPr lang="en-US" sz="1100" b="1" dirty="0">
                        <a:solidFill>
                          <a:srgbClr val="E3874F"/>
                        </a:solidFill>
                      </a:endParaRPr>
                    </a:p>
                  </a:txBody>
                  <a:tcPr marL="61738" marR="61738" marT="30869" marB="30869"/>
                </a:tc>
                <a:tc>
                  <a:txBody>
                    <a:bodyPr/>
                    <a:lstStyle/>
                    <a:p>
                      <a:r>
                        <a:rPr lang="en-US" sz="1100" dirty="0"/>
                        <a:t>Integer values</a:t>
                      </a:r>
                      <a:r>
                        <a:rPr lang="en-US" sz="1100" baseline="0" dirty="0"/>
                        <a:t> between -32,768 and 32,767</a:t>
                      </a:r>
                      <a:endParaRPr lang="en-US" sz="1100" dirty="0"/>
                    </a:p>
                  </a:txBody>
                  <a:tcPr marL="61738" marR="61738" marT="30869" marB="30869"/>
                </a:tc>
                <a:extLst>
                  <a:ext uri="{0D108BD9-81ED-4DB2-BD59-A6C34878D82A}">
                    <a16:rowId xmlns:a16="http://schemas.microsoft.com/office/drawing/2014/main" val="917302846"/>
                  </a:ext>
                </a:extLst>
              </a:tr>
              <a:tr h="395124">
                <a:tc>
                  <a:txBody>
                    <a:bodyPr/>
                    <a:lstStyle/>
                    <a:p>
                      <a:r>
                        <a:rPr lang="en-US" sz="1100" b="1" dirty="0">
                          <a:solidFill>
                            <a:srgbClr val="E3874F"/>
                          </a:solidFill>
                        </a:rPr>
                        <a:t>Long Integer</a:t>
                      </a:r>
                    </a:p>
                  </a:txBody>
                  <a:tcPr marL="61738" marR="61738" marT="30869" marB="30869"/>
                </a:tc>
                <a:tc>
                  <a:txBody>
                    <a:bodyPr/>
                    <a:lstStyle/>
                    <a:p>
                      <a:r>
                        <a:rPr lang="en-US" sz="1100" dirty="0"/>
                        <a:t>Integer values between -2,147,483,648 and 2,147,483,647</a:t>
                      </a:r>
                    </a:p>
                  </a:txBody>
                  <a:tcPr marL="61738" marR="61738" marT="30869" marB="30869"/>
                </a:tc>
                <a:extLst>
                  <a:ext uri="{0D108BD9-81ED-4DB2-BD59-A6C34878D82A}">
                    <a16:rowId xmlns:a16="http://schemas.microsoft.com/office/drawing/2014/main" val="497073896"/>
                  </a:ext>
                </a:extLst>
              </a:tr>
              <a:tr h="250382">
                <a:tc>
                  <a:txBody>
                    <a:bodyPr/>
                    <a:lstStyle/>
                    <a:p>
                      <a:r>
                        <a:rPr lang="en-US" sz="1100" b="1" dirty="0">
                          <a:solidFill>
                            <a:srgbClr val="E3874F"/>
                          </a:solidFill>
                        </a:rPr>
                        <a:t>Float</a:t>
                      </a:r>
                    </a:p>
                  </a:txBody>
                  <a:tcPr marL="61738" marR="61738" marT="30869" marB="30869"/>
                </a:tc>
                <a:tc>
                  <a:txBody>
                    <a:bodyPr/>
                    <a:lstStyle/>
                    <a:p>
                      <a:r>
                        <a:rPr lang="en-US" sz="1100" dirty="0"/>
                        <a:t>Decimal values with 1-6 decimal places</a:t>
                      </a:r>
                    </a:p>
                  </a:txBody>
                  <a:tcPr marL="61738" marR="61738" marT="30869" marB="30869"/>
                </a:tc>
                <a:extLst>
                  <a:ext uri="{0D108BD9-81ED-4DB2-BD59-A6C34878D82A}">
                    <a16:rowId xmlns:a16="http://schemas.microsoft.com/office/drawing/2014/main" val="3288428188"/>
                  </a:ext>
                </a:extLst>
              </a:tr>
              <a:tr h="250382">
                <a:tc>
                  <a:txBody>
                    <a:bodyPr/>
                    <a:lstStyle/>
                    <a:p>
                      <a:r>
                        <a:rPr lang="en-US" sz="1100" b="1" dirty="0">
                          <a:solidFill>
                            <a:srgbClr val="E3874F"/>
                          </a:solidFill>
                        </a:rPr>
                        <a:t>Double</a:t>
                      </a:r>
                    </a:p>
                  </a:txBody>
                  <a:tcPr marL="61738" marR="61738" marT="30869" marB="30869"/>
                </a:tc>
                <a:tc>
                  <a:txBody>
                    <a:bodyPr/>
                    <a:lstStyle/>
                    <a:p>
                      <a:r>
                        <a:rPr lang="en-US" sz="1100" dirty="0"/>
                        <a:t>Decimal</a:t>
                      </a:r>
                      <a:r>
                        <a:rPr lang="en-US" sz="1100" baseline="0" dirty="0"/>
                        <a:t> values with more the 6 decimal places</a:t>
                      </a:r>
                      <a:endParaRPr lang="en-US" sz="1100" dirty="0"/>
                    </a:p>
                  </a:txBody>
                  <a:tcPr marL="61738" marR="61738" marT="30869" marB="30869"/>
                </a:tc>
                <a:extLst>
                  <a:ext uri="{0D108BD9-81ED-4DB2-BD59-A6C34878D82A}">
                    <a16:rowId xmlns:a16="http://schemas.microsoft.com/office/drawing/2014/main" val="3026856190"/>
                  </a:ext>
                </a:extLst>
              </a:tr>
              <a:tr h="228431">
                <a:tc>
                  <a:txBody>
                    <a:bodyPr/>
                    <a:lstStyle/>
                    <a:p>
                      <a:r>
                        <a:rPr lang="en-US" sz="1100" b="1" dirty="0">
                          <a:solidFill>
                            <a:srgbClr val="E3874F"/>
                          </a:solidFill>
                        </a:rPr>
                        <a:t>Text</a:t>
                      </a:r>
                    </a:p>
                  </a:txBody>
                  <a:tcPr marL="61738" marR="61738" marT="30869" marB="30869"/>
                </a:tc>
                <a:tc>
                  <a:txBody>
                    <a:bodyPr/>
                    <a:lstStyle/>
                    <a:p>
                      <a:r>
                        <a:rPr lang="en-US" sz="1100" dirty="0"/>
                        <a:t>Text</a:t>
                      </a:r>
                      <a:r>
                        <a:rPr lang="en-US" sz="1100" baseline="0" dirty="0"/>
                        <a:t> strings</a:t>
                      </a:r>
                      <a:endParaRPr lang="en-US" sz="1100" dirty="0"/>
                    </a:p>
                  </a:txBody>
                  <a:tcPr marL="61738" marR="61738" marT="30869" marB="30869"/>
                </a:tc>
                <a:extLst>
                  <a:ext uri="{0D108BD9-81ED-4DB2-BD59-A6C34878D82A}">
                    <a16:rowId xmlns:a16="http://schemas.microsoft.com/office/drawing/2014/main" val="1992011703"/>
                  </a:ext>
                </a:extLst>
              </a:tr>
              <a:tr h="250382">
                <a:tc>
                  <a:txBody>
                    <a:bodyPr/>
                    <a:lstStyle/>
                    <a:p>
                      <a:r>
                        <a:rPr lang="en-US" sz="1100" b="1" dirty="0">
                          <a:solidFill>
                            <a:srgbClr val="E3874F"/>
                          </a:solidFill>
                        </a:rPr>
                        <a:t>Date</a:t>
                      </a:r>
                    </a:p>
                  </a:txBody>
                  <a:tcPr marL="61738" marR="61738" marT="30869" marB="30869"/>
                </a:tc>
                <a:tc>
                  <a:txBody>
                    <a:bodyPr/>
                    <a:lstStyle/>
                    <a:p>
                      <a:r>
                        <a:rPr lang="en-US" sz="1100" dirty="0"/>
                        <a:t>Data info (mm/</a:t>
                      </a:r>
                      <a:r>
                        <a:rPr lang="en-US" sz="1100" dirty="0" err="1"/>
                        <a:t>dd</a:t>
                      </a:r>
                      <a:r>
                        <a:rPr lang="en-US" sz="1100" dirty="0"/>
                        <a:t>/</a:t>
                      </a:r>
                      <a:r>
                        <a:rPr lang="en-US" sz="1100" dirty="0" err="1"/>
                        <a:t>yyyy</a:t>
                      </a:r>
                      <a:r>
                        <a:rPr lang="en-US" sz="1100" dirty="0"/>
                        <a:t>)</a:t>
                      </a:r>
                    </a:p>
                  </a:txBody>
                  <a:tcPr marL="61738" marR="61738" marT="30869" marB="30869"/>
                </a:tc>
                <a:extLst>
                  <a:ext uri="{0D108BD9-81ED-4DB2-BD59-A6C34878D82A}">
                    <a16:rowId xmlns:a16="http://schemas.microsoft.com/office/drawing/2014/main" val="2515088809"/>
                  </a:ext>
                </a:extLst>
              </a:tr>
            </a:tbl>
          </a:graphicData>
        </a:graphic>
      </p:graphicFrame>
      <p:sp>
        <p:nvSpPr>
          <p:cNvPr id="7" name="Title 1">
            <a:extLst>
              <a:ext uri="{FF2B5EF4-FFF2-40B4-BE49-F238E27FC236}">
                <a16:creationId xmlns:a16="http://schemas.microsoft.com/office/drawing/2014/main" id="{8624D4D6-E97F-4A20-A4E9-E148B77B4707}"/>
              </a:ext>
            </a:extLst>
          </p:cNvPr>
          <p:cNvSpPr txBox="1">
            <a:spLocks/>
          </p:cNvSpPr>
          <p:nvPr/>
        </p:nvSpPr>
        <p:spPr>
          <a:xfrm>
            <a:off x="234770" y="18723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121B3038-3EF0-43E4-8E3E-4D8661EF2D7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a16="http://schemas.microsoft.com/office/drawing/2014/main" id="{CD41FD8A-E043-4A99-849D-E4A9DE1D283E}"/>
              </a:ext>
            </a:extLst>
          </p:cNvPr>
          <p:cNvSpPr txBox="1">
            <a:spLocks/>
          </p:cNvSpPr>
          <p:nvPr/>
        </p:nvSpPr>
        <p:spPr>
          <a:xfrm>
            <a:off x="152400" y="1064985"/>
            <a:ext cx="6724918" cy="313835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Fields</a:t>
            </a:r>
          </a:p>
          <a:p>
            <a:pPr lvl="1">
              <a:buFont typeface="Wingdings" panose="05000000000000000000" pitchFamily="2" charset="2"/>
              <a:buChar char="ü"/>
            </a:pPr>
            <a:r>
              <a:rPr lang="en-US" dirty="0"/>
              <a:t>Make sure to define the correct type</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FA8B4B4-77B8-4882-BFD6-5F36AE669771}"/>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9" name="Picture 8" descr="Image showing data type in attribute table">
            <a:extLst>
              <a:ext uri="{FF2B5EF4-FFF2-40B4-BE49-F238E27FC236}">
                <a16:creationId xmlns:a16="http://schemas.microsoft.com/office/drawing/2014/main" id="{85EC482B-DF0E-426C-B6DD-2F1219EBA132}"/>
              </a:ext>
            </a:extLst>
          </p:cNvPr>
          <p:cNvPicPr>
            <a:picLocks noChangeAspect="1"/>
          </p:cNvPicPr>
          <p:nvPr/>
        </p:nvPicPr>
        <p:blipFill>
          <a:blip r:embed="rId4"/>
          <a:stretch>
            <a:fillRect/>
          </a:stretch>
        </p:blipFill>
        <p:spPr>
          <a:xfrm>
            <a:off x="951470" y="1996436"/>
            <a:ext cx="4534930" cy="1129898"/>
          </a:xfrm>
          <a:prstGeom prst="rect">
            <a:avLst/>
          </a:prstGeom>
        </p:spPr>
      </p:pic>
    </p:spTree>
    <p:extLst>
      <p:ext uri="{BB962C8B-B14F-4D97-AF65-F5344CB8AC3E}">
        <p14:creationId xmlns:p14="http://schemas.microsoft.com/office/powerpoint/2010/main" val="559368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7C654-8AA0-FE91-C7EF-20DE49091C5D}"/>
              </a:ext>
            </a:extLst>
          </p:cNvPr>
          <p:cNvSpPr>
            <a:spLocks noGrp="1"/>
          </p:cNvSpPr>
          <p:nvPr>
            <p:ph type="title"/>
          </p:nvPr>
        </p:nvSpPr>
        <p:spPr>
          <a:xfrm>
            <a:off x="392303" y="472623"/>
            <a:ext cx="7444991" cy="488522"/>
          </a:xfrm>
        </p:spPr>
        <p:txBody>
          <a:bodyPr/>
          <a:lstStyle/>
          <a:p>
            <a:pPr defTabSz="411480"/>
            <a:r>
              <a:rPr lang="en-US" altLang="zh-CN" sz="2600" dirty="0">
                <a:solidFill>
                  <a:srgbClr val="7030A0"/>
                </a:solidFill>
              </a:rPr>
              <a:t>Using Python in ArcGIS Pro</a:t>
            </a:r>
            <a:endParaRPr lang="zh-CN" altLang="en-US" sz="2600" dirty="0">
              <a:solidFill>
                <a:srgbClr val="7030A0"/>
              </a:solidFill>
            </a:endParaRPr>
          </a:p>
        </p:txBody>
      </p:sp>
      <p:sp>
        <p:nvSpPr>
          <p:cNvPr id="3" name="Content Placeholder 2">
            <a:extLst>
              <a:ext uri="{FF2B5EF4-FFF2-40B4-BE49-F238E27FC236}">
                <a16:creationId xmlns:a16="http://schemas.microsoft.com/office/drawing/2014/main" id="{4F66E65E-F55F-3A0D-A785-E5D7D0AD1C2D}"/>
              </a:ext>
            </a:extLst>
          </p:cNvPr>
          <p:cNvSpPr>
            <a:spLocks noGrp="1"/>
          </p:cNvSpPr>
          <p:nvPr>
            <p:ph idx="1"/>
          </p:nvPr>
        </p:nvSpPr>
        <p:spPr>
          <a:xfrm>
            <a:off x="392303" y="1015139"/>
            <a:ext cx="5187085" cy="3937156"/>
          </a:xfrm>
        </p:spPr>
        <p:txBody>
          <a:bodyPr>
            <a:noAutofit/>
          </a:bodyPr>
          <a:lstStyle/>
          <a:p>
            <a:pPr>
              <a:spcBef>
                <a:spcPts val="0"/>
              </a:spcBef>
              <a:spcAft>
                <a:spcPts val="0"/>
              </a:spcAft>
            </a:pPr>
            <a:r>
              <a:rPr lang="en-US" altLang="zh-CN" sz="1400" b="1" dirty="0"/>
              <a:t>Step 1: Create a New Field</a:t>
            </a:r>
          </a:p>
          <a:p>
            <a:pPr lvl="1">
              <a:spcBef>
                <a:spcPts val="0"/>
              </a:spcBef>
              <a:spcAft>
                <a:spcPts val="0"/>
              </a:spcAft>
            </a:pPr>
            <a:r>
              <a:rPr lang="en-US" altLang="zh-CN" sz="1265" dirty="0"/>
              <a:t>Open the </a:t>
            </a:r>
            <a:r>
              <a:rPr lang="en-US" altLang="zh-CN" sz="1265" b="1" dirty="0"/>
              <a:t>Attribute Table</a:t>
            </a:r>
            <a:r>
              <a:rPr lang="en-US" altLang="zh-CN" sz="1265" dirty="0"/>
              <a:t> of </a:t>
            </a:r>
            <a:r>
              <a:rPr lang="en-US" altLang="zh-CN" sz="1265" dirty="0" err="1"/>
              <a:t>Airports_AR</a:t>
            </a:r>
            <a:endParaRPr lang="en-US" altLang="zh-CN" sz="1265" dirty="0"/>
          </a:p>
          <a:p>
            <a:pPr lvl="1">
              <a:spcBef>
                <a:spcPts val="0"/>
              </a:spcBef>
              <a:spcAft>
                <a:spcPts val="0"/>
              </a:spcAft>
            </a:pPr>
            <a:r>
              <a:rPr lang="en-US" altLang="zh-CN" sz="1265" dirty="0"/>
              <a:t>On the </a:t>
            </a:r>
            <a:r>
              <a:rPr lang="en-US" altLang="zh-CN" sz="1265" b="1" dirty="0"/>
              <a:t>Table ribbon</a:t>
            </a:r>
            <a:r>
              <a:rPr lang="en-US" altLang="zh-CN" sz="1265" dirty="0"/>
              <a:t>, click </a:t>
            </a:r>
            <a:r>
              <a:rPr lang="en-US" altLang="zh-CN" sz="1265" b="1" dirty="0"/>
              <a:t>Add Field</a:t>
            </a:r>
            <a:r>
              <a:rPr lang="en-US" altLang="zh-CN" sz="1265" dirty="0"/>
              <a:t>.</a:t>
            </a:r>
          </a:p>
          <a:p>
            <a:pPr lvl="1">
              <a:spcBef>
                <a:spcPts val="0"/>
              </a:spcBef>
              <a:spcAft>
                <a:spcPts val="0"/>
              </a:spcAft>
            </a:pPr>
            <a:r>
              <a:rPr lang="en-US" altLang="zh-CN" sz="1265" dirty="0"/>
              <a:t>In the </a:t>
            </a:r>
            <a:r>
              <a:rPr lang="en-US" altLang="zh-CN" sz="1265" b="1" dirty="0"/>
              <a:t>Fields View</a:t>
            </a:r>
            <a:r>
              <a:rPr lang="en-US" altLang="zh-CN" sz="1265" dirty="0"/>
              <a:t>:</a:t>
            </a:r>
          </a:p>
          <a:p>
            <a:pPr lvl="2">
              <a:spcBef>
                <a:spcPts val="0"/>
              </a:spcBef>
              <a:spcAft>
                <a:spcPts val="0"/>
              </a:spcAft>
            </a:pPr>
            <a:r>
              <a:rPr lang="en-US" altLang="zh-CN" sz="1265" dirty="0"/>
              <a:t>Name = Count</a:t>
            </a:r>
          </a:p>
          <a:p>
            <a:pPr lvl="2">
              <a:spcBef>
                <a:spcPts val="0"/>
              </a:spcBef>
              <a:spcAft>
                <a:spcPts val="0"/>
              </a:spcAft>
            </a:pPr>
            <a:r>
              <a:rPr lang="en-US" altLang="zh-CN" sz="1265" dirty="0"/>
              <a:t>Data Type = </a:t>
            </a:r>
            <a:r>
              <a:rPr lang="en-US" altLang="zh-CN" sz="1265" b="1" dirty="0"/>
              <a:t>Long Integer</a:t>
            </a:r>
            <a:r>
              <a:rPr lang="en-US" altLang="zh-CN" sz="1265" dirty="0"/>
              <a:t> (so it can hold numeric values)</a:t>
            </a:r>
          </a:p>
          <a:p>
            <a:pPr lvl="2">
              <a:spcBef>
                <a:spcPts val="0"/>
              </a:spcBef>
              <a:spcAft>
                <a:spcPts val="0"/>
              </a:spcAft>
            </a:pPr>
            <a:r>
              <a:rPr lang="en-US" altLang="zh-CN" sz="1265" dirty="0"/>
              <a:t>Save your changes and close the Fields view.</a:t>
            </a:r>
            <a:br>
              <a:rPr lang="en-US" altLang="zh-CN" sz="1265" dirty="0"/>
            </a:br>
            <a:endParaRPr lang="en-US" altLang="zh-CN" sz="1265" dirty="0"/>
          </a:p>
          <a:p>
            <a:pPr>
              <a:spcBef>
                <a:spcPts val="0"/>
              </a:spcBef>
              <a:spcAft>
                <a:spcPts val="0"/>
              </a:spcAft>
            </a:pPr>
            <a:r>
              <a:rPr lang="en-US" altLang="zh-CN" sz="1400" b="1" dirty="0"/>
              <a:t>Step 2: Open Calculate Field</a:t>
            </a:r>
          </a:p>
          <a:p>
            <a:pPr lvl="1">
              <a:spcBef>
                <a:spcPts val="0"/>
              </a:spcBef>
              <a:spcAft>
                <a:spcPts val="0"/>
              </a:spcAft>
            </a:pPr>
            <a:r>
              <a:rPr lang="en-US" altLang="zh-CN" sz="1265" dirty="0"/>
              <a:t>In the attribute table, right-click the new </a:t>
            </a:r>
            <a:r>
              <a:rPr lang="en-US" altLang="zh-CN" sz="1265" dirty="0" err="1"/>
              <a:t>Point_Ct</a:t>
            </a:r>
            <a:r>
              <a:rPr lang="en-US" altLang="zh-CN" sz="1265" dirty="0"/>
              <a:t> field → </a:t>
            </a:r>
            <a:r>
              <a:rPr lang="en-US" altLang="zh-CN" sz="1265" b="1" dirty="0"/>
              <a:t>Calculate Field</a:t>
            </a:r>
            <a:r>
              <a:rPr lang="en-US" altLang="zh-CN" sz="1265" dirty="0"/>
              <a:t>.</a:t>
            </a:r>
          </a:p>
          <a:p>
            <a:pPr lvl="1">
              <a:spcBef>
                <a:spcPts val="0"/>
              </a:spcBef>
              <a:spcAft>
                <a:spcPts val="0"/>
              </a:spcAft>
            </a:pPr>
            <a:r>
              <a:rPr lang="en-US" altLang="zh-CN" sz="1265" dirty="0"/>
              <a:t>Set </a:t>
            </a:r>
            <a:r>
              <a:rPr lang="en-US" altLang="zh-CN" sz="1265" b="1" dirty="0"/>
              <a:t>Expression Type</a:t>
            </a:r>
            <a:r>
              <a:rPr lang="en-US" altLang="zh-CN" sz="1265" dirty="0"/>
              <a:t> to </a:t>
            </a:r>
            <a:r>
              <a:rPr lang="en-US" altLang="zh-CN" sz="1265" b="1" dirty="0"/>
              <a:t>Python</a:t>
            </a:r>
            <a:r>
              <a:rPr lang="en-US" altLang="zh-CN" sz="1265" dirty="0"/>
              <a:t>.</a:t>
            </a:r>
          </a:p>
          <a:p>
            <a:pPr marL="0" indent="0">
              <a:spcBef>
                <a:spcPts val="0"/>
              </a:spcBef>
              <a:spcAft>
                <a:spcPts val="0"/>
              </a:spcAft>
              <a:buNone/>
            </a:pPr>
            <a:br>
              <a:rPr lang="en-US" altLang="zh-CN" sz="1400" dirty="0"/>
            </a:br>
            <a:endParaRPr lang="en-US" altLang="zh-CN" sz="1400" dirty="0"/>
          </a:p>
          <a:p>
            <a:pPr>
              <a:spcBef>
                <a:spcPts val="0"/>
              </a:spcBef>
              <a:spcAft>
                <a:spcPts val="0"/>
              </a:spcAft>
            </a:pPr>
            <a:r>
              <a:rPr lang="en-US" altLang="zh-CN" sz="1400" b="1" dirty="0"/>
              <a:t>Step 3: Write the Expression</a:t>
            </a:r>
          </a:p>
          <a:p>
            <a:pPr lvl="1">
              <a:spcBef>
                <a:spcPts val="0"/>
              </a:spcBef>
              <a:spcAft>
                <a:spcPts val="0"/>
              </a:spcAft>
            </a:pPr>
            <a:r>
              <a:rPr lang="en-US" altLang="zh-CN" sz="1265" dirty="0"/>
              <a:t>In the Expression box, type:</a:t>
            </a:r>
          </a:p>
          <a:p>
            <a:pPr lvl="1">
              <a:spcBef>
                <a:spcPts val="0"/>
              </a:spcBef>
              <a:spcAft>
                <a:spcPts val="0"/>
              </a:spcAft>
            </a:pPr>
            <a:r>
              <a:rPr lang="en-US" altLang="zh-CN" sz="1265" dirty="0"/>
              <a:t>!Shape!.</a:t>
            </a:r>
            <a:r>
              <a:rPr lang="en-US" altLang="zh-CN" sz="1265" dirty="0" err="1"/>
              <a:t>pointCount</a:t>
            </a:r>
            <a:endParaRPr lang="en-US" altLang="zh-CN" sz="1265" dirty="0"/>
          </a:p>
          <a:p>
            <a:pPr>
              <a:spcBef>
                <a:spcPts val="0"/>
              </a:spcBef>
              <a:spcAft>
                <a:spcPts val="0"/>
              </a:spcAft>
            </a:pPr>
            <a:endParaRPr lang="zh-CN" altLang="en-US" sz="1400" dirty="0"/>
          </a:p>
        </p:txBody>
      </p:sp>
      <p:sp>
        <p:nvSpPr>
          <p:cNvPr id="4" name="Slide Number Placeholder 3">
            <a:extLst>
              <a:ext uri="{FF2B5EF4-FFF2-40B4-BE49-F238E27FC236}">
                <a16:creationId xmlns:a16="http://schemas.microsoft.com/office/drawing/2014/main" id="{A13A2DE1-F461-9236-6E74-F8D24DF260CE}"/>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7" name="Picture 6">
            <a:extLst>
              <a:ext uri="{FF2B5EF4-FFF2-40B4-BE49-F238E27FC236}">
                <a16:creationId xmlns:a16="http://schemas.microsoft.com/office/drawing/2014/main" id="{B1B0FFDA-BC73-24C7-D24B-1F4A545F2352}"/>
              </a:ext>
            </a:extLst>
          </p:cNvPr>
          <p:cNvPicPr>
            <a:picLocks noChangeAspect="1"/>
          </p:cNvPicPr>
          <p:nvPr/>
        </p:nvPicPr>
        <p:blipFill>
          <a:blip r:embed="rId2"/>
          <a:stretch>
            <a:fillRect/>
          </a:stretch>
        </p:blipFill>
        <p:spPr>
          <a:xfrm>
            <a:off x="5333354" y="645102"/>
            <a:ext cx="2764510" cy="4118840"/>
          </a:xfrm>
          <a:prstGeom prst="rect">
            <a:avLst/>
          </a:prstGeom>
        </p:spPr>
      </p:pic>
    </p:spTree>
    <p:extLst>
      <p:ext uri="{BB962C8B-B14F-4D97-AF65-F5344CB8AC3E}">
        <p14:creationId xmlns:p14="http://schemas.microsoft.com/office/powerpoint/2010/main" val="3082987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extLst>
              <p:ext uri="{D42A27DB-BD31-4B8C-83A1-F6EECF244321}">
                <p14:modId xmlns:p14="http://schemas.microsoft.com/office/powerpoint/2010/main" val="2431014687"/>
              </p:ext>
            </p:extLst>
          </p:nvPr>
        </p:nvGraphicFramePr>
        <p:xfrm>
          <a:off x="551511" y="2408148"/>
          <a:ext cx="3601389" cy="2546710"/>
        </p:xfrm>
        <a:graphic>
          <a:graphicData uri="http://schemas.openxmlformats.org/drawingml/2006/table">
            <a:tbl>
              <a:tblPr firstRow="1" bandRow="1">
                <a:tableStyleId>{6E25E649-3F16-4E02-A733-19D2CDBF48F0}</a:tableStyleId>
              </a:tblPr>
              <a:tblGrid>
                <a:gridCol w="1200463">
                  <a:extLst>
                    <a:ext uri="{9D8B030D-6E8A-4147-A177-3AD203B41FA5}">
                      <a16:colId xmlns:a16="http://schemas.microsoft.com/office/drawing/2014/main" val="2928220064"/>
                    </a:ext>
                  </a:extLst>
                </a:gridCol>
                <a:gridCol w="1200463">
                  <a:extLst>
                    <a:ext uri="{9D8B030D-6E8A-4147-A177-3AD203B41FA5}">
                      <a16:colId xmlns:a16="http://schemas.microsoft.com/office/drawing/2014/main" val="3542481309"/>
                    </a:ext>
                  </a:extLst>
                </a:gridCol>
                <a:gridCol w="1200463">
                  <a:extLst>
                    <a:ext uri="{9D8B030D-6E8A-4147-A177-3AD203B41FA5}">
                      <a16:colId xmlns:a16="http://schemas.microsoft.com/office/drawing/2014/main" val="1337384188"/>
                    </a:ext>
                  </a:extLst>
                </a:gridCol>
              </a:tblGrid>
              <a:tr h="250382">
                <a:tc>
                  <a:txBody>
                    <a:bodyPr/>
                    <a:lstStyle/>
                    <a:p>
                      <a:r>
                        <a:rPr lang="en-US" sz="1100" dirty="0"/>
                        <a:t>Points</a:t>
                      </a:r>
                    </a:p>
                  </a:txBody>
                  <a:tcPr marL="61738" marR="61738" marT="30869" marB="30869">
                    <a:solidFill>
                      <a:srgbClr val="E3874F"/>
                    </a:solidFill>
                  </a:tcPr>
                </a:tc>
                <a:tc>
                  <a:txBody>
                    <a:bodyPr/>
                    <a:lstStyle/>
                    <a:p>
                      <a:r>
                        <a:rPr lang="en-US" sz="1100" dirty="0"/>
                        <a:t>Lines</a:t>
                      </a:r>
                    </a:p>
                  </a:txBody>
                  <a:tcPr marL="61738" marR="61738" marT="30869" marB="30869">
                    <a:solidFill>
                      <a:srgbClr val="E3874F"/>
                    </a:solidFill>
                  </a:tcPr>
                </a:tc>
                <a:tc>
                  <a:txBody>
                    <a:bodyPr/>
                    <a:lstStyle/>
                    <a:p>
                      <a:r>
                        <a:rPr lang="en-US" sz="1100" dirty="0"/>
                        <a:t>Polygons</a:t>
                      </a:r>
                    </a:p>
                  </a:txBody>
                  <a:tcPr marL="61738" marR="61738" marT="30869" marB="30869">
                    <a:solidFill>
                      <a:srgbClr val="E3874F"/>
                    </a:solidFill>
                  </a:tcPr>
                </a:tc>
                <a:extLst>
                  <a:ext uri="{0D108BD9-81ED-4DB2-BD59-A6C34878D82A}">
                    <a16:rowId xmlns:a16="http://schemas.microsoft.com/office/drawing/2014/main" val="584739742"/>
                  </a:ext>
                </a:extLst>
              </a:tr>
              <a:tr h="250382">
                <a:tc>
                  <a:txBody>
                    <a:bodyPr/>
                    <a:lstStyle/>
                    <a:p>
                      <a:r>
                        <a:rPr lang="en-US" sz="1100" dirty="0"/>
                        <a:t>X-coordinate</a:t>
                      </a:r>
                    </a:p>
                  </a:txBody>
                  <a:tcPr marL="61738" marR="61738" marT="30869" marB="30869"/>
                </a:tc>
                <a:tc>
                  <a:txBody>
                    <a:bodyPr/>
                    <a:lstStyle/>
                    <a:p>
                      <a:r>
                        <a:rPr lang="en-US" sz="1100" dirty="0"/>
                        <a:t>Start-X</a:t>
                      </a:r>
                    </a:p>
                  </a:txBody>
                  <a:tcPr marL="61738" marR="61738" marT="30869" marB="30869"/>
                </a:tc>
                <a:tc>
                  <a:txBody>
                    <a:bodyPr/>
                    <a:lstStyle/>
                    <a:p>
                      <a:r>
                        <a:rPr lang="en-US" sz="1100" dirty="0"/>
                        <a:t>Area</a:t>
                      </a:r>
                    </a:p>
                  </a:txBody>
                  <a:tcPr marL="61738" marR="61738" marT="30869" marB="30869"/>
                </a:tc>
                <a:extLst>
                  <a:ext uri="{0D108BD9-81ED-4DB2-BD59-A6C34878D82A}">
                    <a16:rowId xmlns:a16="http://schemas.microsoft.com/office/drawing/2014/main" val="2029775200"/>
                  </a:ext>
                </a:extLst>
              </a:tr>
              <a:tr h="250382">
                <a:tc>
                  <a:txBody>
                    <a:bodyPr/>
                    <a:lstStyle/>
                    <a:p>
                      <a:r>
                        <a:rPr lang="en-US" sz="1100" dirty="0"/>
                        <a:t>Y-coordinate</a:t>
                      </a:r>
                    </a:p>
                  </a:txBody>
                  <a:tcPr marL="61738" marR="61738" marT="30869" marB="30869"/>
                </a:tc>
                <a:tc>
                  <a:txBody>
                    <a:bodyPr/>
                    <a:lstStyle/>
                    <a:p>
                      <a:r>
                        <a:rPr lang="en-US" sz="1100" dirty="0"/>
                        <a:t>Start-Y</a:t>
                      </a:r>
                    </a:p>
                  </a:txBody>
                  <a:tcPr marL="61738" marR="61738" marT="30869" marB="30869"/>
                </a:tc>
                <a:tc>
                  <a:txBody>
                    <a:bodyPr/>
                    <a:lstStyle/>
                    <a:p>
                      <a:r>
                        <a:rPr lang="en-US" sz="1100" dirty="0"/>
                        <a:t>Perimeter</a:t>
                      </a:r>
                    </a:p>
                  </a:txBody>
                  <a:tcPr marL="61738" marR="61738" marT="30869" marB="30869"/>
                </a:tc>
                <a:extLst>
                  <a:ext uri="{0D108BD9-81ED-4DB2-BD59-A6C34878D82A}">
                    <a16:rowId xmlns:a16="http://schemas.microsoft.com/office/drawing/2014/main" val="1210143157"/>
                  </a:ext>
                </a:extLst>
              </a:tr>
              <a:tr h="395124">
                <a:tc>
                  <a:txBody>
                    <a:bodyPr/>
                    <a:lstStyle/>
                    <a:p>
                      <a:r>
                        <a:rPr lang="en-US" sz="1100" dirty="0"/>
                        <a:t>Z-coordinate (if z-enabled)</a:t>
                      </a:r>
                    </a:p>
                  </a:txBody>
                  <a:tcPr marL="61738" marR="61738" marT="30869" marB="30869"/>
                </a:tc>
                <a:tc>
                  <a:txBody>
                    <a:bodyPr/>
                    <a:lstStyle/>
                    <a:p>
                      <a:r>
                        <a:rPr lang="en-US" sz="1100" dirty="0"/>
                        <a:t>End-X</a:t>
                      </a:r>
                    </a:p>
                  </a:txBody>
                  <a:tcPr marL="61738" marR="61738" marT="30869" marB="30869"/>
                </a:tc>
                <a:tc>
                  <a:txBody>
                    <a:bodyPr/>
                    <a:lstStyle/>
                    <a:p>
                      <a:r>
                        <a:rPr lang="en-US" sz="1100" dirty="0"/>
                        <a:t>Centroid</a:t>
                      </a:r>
                      <a:r>
                        <a:rPr lang="en-US" sz="1100" baseline="0" dirty="0"/>
                        <a:t>-X</a:t>
                      </a:r>
                      <a:endParaRPr lang="en-US" sz="1100" dirty="0"/>
                    </a:p>
                  </a:txBody>
                  <a:tcPr marL="61738" marR="61738" marT="30869" marB="30869"/>
                </a:tc>
                <a:extLst>
                  <a:ext uri="{0D108BD9-81ED-4DB2-BD59-A6C34878D82A}">
                    <a16:rowId xmlns:a16="http://schemas.microsoft.com/office/drawing/2014/main" val="1801068917"/>
                  </a:ext>
                </a:extLst>
              </a:tr>
              <a:tr h="395124">
                <a:tc>
                  <a:txBody>
                    <a:bodyPr/>
                    <a:lstStyle/>
                    <a:p>
                      <a:r>
                        <a:rPr lang="en-US" sz="1100" dirty="0"/>
                        <a:t>M-coordinate (if m-enabled)</a:t>
                      </a:r>
                    </a:p>
                  </a:txBody>
                  <a:tcPr marL="61738" marR="61738" marT="30869" marB="30869"/>
                </a:tc>
                <a:tc>
                  <a:txBody>
                    <a:bodyPr/>
                    <a:lstStyle/>
                    <a:p>
                      <a:r>
                        <a:rPr lang="en-US" sz="1100" dirty="0"/>
                        <a:t>End-Y</a:t>
                      </a:r>
                    </a:p>
                  </a:txBody>
                  <a:tcPr marL="61738" marR="61738" marT="30869" marB="30869"/>
                </a:tc>
                <a:tc>
                  <a:txBody>
                    <a:bodyPr/>
                    <a:lstStyle/>
                    <a:p>
                      <a:r>
                        <a:rPr lang="en-US" sz="1100" dirty="0"/>
                        <a:t>Centroid-Y</a:t>
                      </a:r>
                    </a:p>
                  </a:txBody>
                  <a:tcPr marL="61738" marR="61738" marT="30869" marB="30869"/>
                </a:tc>
                <a:extLst>
                  <a:ext uri="{0D108BD9-81ED-4DB2-BD59-A6C34878D82A}">
                    <a16:rowId xmlns:a16="http://schemas.microsoft.com/office/drawing/2014/main" val="1607823658"/>
                  </a:ext>
                </a:extLst>
              </a:tr>
              <a:tr h="250382">
                <a:tc>
                  <a:txBody>
                    <a:bodyPr/>
                    <a:lstStyle/>
                    <a:p>
                      <a:r>
                        <a:rPr lang="en-US" sz="1100" dirty="0"/>
                        <a:t>…</a:t>
                      </a:r>
                    </a:p>
                  </a:txBody>
                  <a:tcPr marL="61738" marR="61738" marT="30869" marB="30869"/>
                </a:tc>
                <a:tc>
                  <a:txBody>
                    <a:bodyPr/>
                    <a:lstStyle/>
                    <a:p>
                      <a:r>
                        <a:rPr lang="en-US" sz="1100" dirty="0"/>
                        <a:t>Mid-X</a:t>
                      </a:r>
                    </a:p>
                  </a:txBody>
                  <a:tcPr marL="61738" marR="61738" marT="30869" marB="30869"/>
                </a:tc>
                <a:tc>
                  <a:txBody>
                    <a:bodyPr/>
                    <a:lstStyle/>
                    <a:p>
                      <a:r>
                        <a:rPr lang="en-US" sz="1100" dirty="0"/>
                        <a:t>…</a:t>
                      </a:r>
                    </a:p>
                  </a:txBody>
                  <a:tcPr marL="61738" marR="61738" marT="30869" marB="30869"/>
                </a:tc>
                <a:extLst>
                  <a:ext uri="{0D108BD9-81ED-4DB2-BD59-A6C34878D82A}">
                    <a16:rowId xmlns:a16="http://schemas.microsoft.com/office/drawing/2014/main" val="2222794712"/>
                  </a:ext>
                </a:extLst>
              </a:tr>
              <a:tr h="250382">
                <a:tc>
                  <a:txBody>
                    <a:bodyPr/>
                    <a:lstStyle/>
                    <a:p>
                      <a:endParaRPr lang="en-US" sz="1100" dirty="0"/>
                    </a:p>
                  </a:txBody>
                  <a:tcPr marL="61738" marR="61738" marT="30869" marB="30869"/>
                </a:tc>
                <a:tc>
                  <a:txBody>
                    <a:bodyPr/>
                    <a:lstStyle/>
                    <a:p>
                      <a:r>
                        <a:rPr lang="en-US" sz="1100" dirty="0"/>
                        <a:t>Mid-Y</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4166193178"/>
                  </a:ext>
                </a:extLst>
              </a:tr>
              <a:tr h="250382">
                <a:tc>
                  <a:txBody>
                    <a:bodyPr/>
                    <a:lstStyle/>
                    <a:p>
                      <a:endParaRPr lang="en-US" sz="1100" dirty="0"/>
                    </a:p>
                  </a:txBody>
                  <a:tcPr marL="61738" marR="61738" marT="30869" marB="30869"/>
                </a:tc>
                <a:tc>
                  <a:txBody>
                    <a:bodyPr/>
                    <a:lstStyle/>
                    <a:p>
                      <a:r>
                        <a:rPr lang="en-US" sz="1100" dirty="0"/>
                        <a:t>Length</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215381754"/>
                  </a:ext>
                </a:extLst>
              </a:tr>
              <a:tr h="250382">
                <a:tc>
                  <a:txBody>
                    <a:bodyPr/>
                    <a:lstStyle/>
                    <a:p>
                      <a:endParaRPr lang="en-US" sz="1100" dirty="0"/>
                    </a:p>
                  </a:txBody>
                  <a:tcPr marL="61738" marR="61738" marT="30869" marB="30869"/>
                </a:tc>
                <a:tc>
                  <a:txBody>
                    <a:bodyPr/>
                    <a:lstStyle/>
                    <a:p>
                      <a:r>
                        <a:rPr lang="en-US" sz="1100" dirty="0"/>
                        <a:t>...</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47051366"/>
                  </a:ext>
                </a:extLst>
              </a:tr>
            </a:tbl>
          </a:graphicData>
        </a:graphic>
      </p:graphicFrame>
      <p:sp>
        <p:nvSpPr>
          <p:cNvPr id="6" name="Title 1">
            <a:extLst>
              <a:ext uri="{FF2B5EF4-FFF2-40B4-BE49-F238E27FC236}">
                <a16:creationId xmlns:a16="http://schemas.microsoft.com/office/drawing/2014/main" id="{C7474B5D-709F-4A76-BD5C-A827FCF4B71F}"/>
              </a:ext>
            </a:extLst>
          </p:cNvPr>
          <p:cNvSpPr txBox="1">
            <a:spLocks/>
          </p:cNvSpPr>
          <p:nvPr/>
        </p:nvSpPr>
        <p:spPr>
          <a:xfrm>
            <a:off x="256170" y="2077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7" name="Straight Connector 6">
            <a:extLst>
              <a:ext uri="{FF2B5EF4-FFF2-40B4-BE49-F238E27FC236}">
                <a16:creationId xmlns:a16="http://schemas.microsoft.com/office/drawing/2014/main" id="{CE1A58E5-CB1E-4FCD-9E81-987ECAD7687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22A1840-F771-4765-9B8A-0B34F8723AEB}"/>
              </a:ext>
            </a:extLst>
          </p:cNvPr>
          <p:cNvSpPr txBox="1">
            <a:spLocks/>
          </p:cNvSpPr>
          <p:nvPr/>
        </p:nvSpPr>
        <p:spPr>
          <a:xfrm>
            <a:off x="152400" y="1064985"/>
            <a:ext cx="4295614" cy="313835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Geometric Fields</a:t>
            </a:r>
          </a:p>
          <a:p>
            <a:pPr lvl="1">
              <a:buFont typeface="Wingdings" panose="05000000000000000000" pitchFamily="2" charset="2"/>
              <a:buChar char="ü"/>
            </a:pPr>
            <a:r>
              <a:rPr lang="en-US" dirty="0"/>
              <a:t>Use Add (Calculate) Geometry Attributes Tool</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AD26FD33-7750-4BE1-82A1-7F2857DFCE7E}"/>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8" name="Picture 7">
            <a:extLst>
              <a:ext uri="{FF2B5EF4-FFF2-40B4-BE49-F238E27FC236}">
                <a16:creationId xmlns:a16="http://schemas.microsoft.com/office/drawing/2014/main" id="{C03FBE4A-B330-D069-CCE1-A1FAD527C160}"/>
              </a:ext>
            </a:extLst>
          </p:cNvPr>
          <p:cNvPicPr>
            <a:picLocks noChangeAspect="1"/>
          </p:cNvPicPr>
          <p:nvPr/>
        </p:nvPicPr>
        <p:blipFill>
          <a:blip r:embed="rId3"/>
          <a:stretch>
            <a:fillRect/>
          </a:stretch>
        </p:blipFill>
        <p:spPr>
          <a:xfrm>
            <a:off x="4825991" y="546431"/>
            <a:ext cx="3147439" cy="4175461"/>
          </a:xfrm>
          <a:prstGeom prst="rect">
            <a:avLst/>
          </a:prstGeom>
        </p:spPr>
      </p:pic>
    </p:spTree>
    <p:extLst>
      <p:ext uri="{BB962C8B-B14F-4D97-AF65-F5344CB8AC3E}">
        <p14:creationId xmlns:p14="http://schemas.microsoft.com/office/powerpoint/2010/main" val="273545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22" y="1017263"/>
            <a:ext cx="4702129" cy="3799508"/>
          </a:xfrm>
        </p:spPr>
        <p:txBody>
          <a:bodyPr>
            <a:normAutofit/>
          </a:bodyPr>
          <a:lstStyle/>
          <a:p>
            <a:pPr>
              <a:buFont typeface="Courier New" panose="02070309020205020404" pitchFamily="49" charset="0"/>
              <a:buChar char="o"/>
            </a:pPr>
            <a:r>
              <a:rPr lang="en-US" sz="1600" dirty="0"/>
              <a:t>Joining non-spatial data and spatial data</a:t>
            </a:r>
          </a:p>
          <a:p>
            <a:pPr lvl="1">
              <a:buFont typeface="Wingdings" panose="05000000000000000000" pitchFamily="2" charset="2"/>
              <a:buChar char="ü"/>
            </a:pPr>
            <a:r>
              <a:rPr lang="en-US" sz="1600" b="1" dirty="0">
                <a:solidFill>
                  <a:srgbClr val="E3874F"/>
                </a:solidFill>
              </a:rPr>
              <a:t>Join</a:t>
            </a:r>
          </a:p>
          <a:p>
            <a:pPr lvl="2">
              <a:buFont typeface="Arial" panose="020B0604020202020204" pitchFamily="34" charset="0"/>
              <a:buChar char="•"/>
            </a:pPr>
            <a:r>
              <a:rPr lang="en-US" sz="1600" dirty="0"/>
              <a:t>Non-spatial data can be joined to spatial data as long as there is a common field between the data.</a:t>
            </a:r>
          </a:p>
          <a:p>
            <a:pPr lvl="2">
              <a:buFont typeface="Arial" panose="020B0604020202020204" pitchFamily="34" charset="0"/>
              <a:buChar char="•"/>
            </a:pPr>
            <a:r>
              <a:rPr lang="en-US" sz="1600" dirty="0"/>
              <a:t>Later, the joined fields can be used for analysis or to symbolize the features.</a:t>
            </a:r>
          </a:p>
          <a:p>
            <a:pPr lvl="2">
              <a:buFont typeface="Arial" panose="020B0604020202020204" pitchFamily="34" charset="0"/>
              <a:buChar char="•"/>
            </a:pPr>
            <a:r>
              <a:rPr lang="en-US" sz="1600" dirty="0"/>
              <a:t>Shared fields must have the same data type</a:t>
            </a:r>
          </a:p>
          <a:p>
            <a:pPr lvl="1">
              <a:buFont typeface="Wingdings" panose="05000000000000000000" pitchFamily="2" charset="2"/>
              <a:buChar char="ü"/>
            </a:pPr>
            <a:r>
              <a:rPr lang="en-US" sz="1600" b="1" dirty="0">
                <a:solidFill>
                  <a:srgbClr val="E3874F"/>
                </a:solidFill>
              </a:rPr>
              <a:t>Relate</a:t>
            </a:r>
          </a:p>
          <a:p>
            <a:pPr lvl="2">
              <a:buFont typeface="Arial" panose="020B0604020202020204" pitchFamily="34" charset="0"/>
              <a:buChar char="•"/>
            </a:pPr>
            <a:r>
              <a:rPr lang="en-US" sz="1600" dirty="0"/>
              <a:t>New fields are not added to table. However, a relationship is established.</a:t>
            </a:r>
          </a:p>
          <a:p>
            <a:pPr marL="0" indent="0">
              <a:buNone/>
            </a:pPr>
            <a:endParaRPr lang="en-US" sz="1600" dirty="0"/>
          </a:p>
        </p:txBody>
      </p:sp>
      <p:sp>
        <p:nvSpPr>
          <p:cNvPr id="2" name="Slide Number Placeholder 1">
            <a:extLst>
              <a:ext uri="{FF2B5EF4-FFF2-40B4-BE49-F238E27FC236}">
                <a16:creationId xmlns:a16="http://schemas.microsoft.com/office/drawing/2014/main" id="{BAC6704E-9AB0-40F2-8E1F-EE7804699DD8}"/>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6" name="Title 1">
            <a:extLst>
              <a:ext uri="{FF2B5EF4-FFF2-40B4-BE49-F238E27FC236}">
                <a16:creationId xmlns:a16="http://schemas.microsoft.com/office/drawing/2014/main" id="{7D3A1CF5-080F-41DA-8A02-BD72A4D6477F}"/>
              </a:ext>
            </a:extLst>
          </p:cNvPr>
          <p:cNvSpPr txBox="1">
            <a:spLocks/>
          </p:cNvSpPr>
          <p:nvPr/>
        </p:nvSpPr>
        <p:spPr>
          <a:xfrm>
            <a:off x="204722" y="19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7" name="Straight Connector 6">
            <a:extLst>
              <a:ext uri="{FF2B5EF4-FFF2-40B4-BE49-F238E27FC236}">
                <a16:creationId xmlns:a16="http://schemas.microsoft.com/office/drawing/2014/main" id="{9198CFA0-2F18-4B06-83C5-8C5F434A5D0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Image showing where is Joins and Relates">
            <a:extLst>
              <a:ext uri="{FF2B5EF4-FFF2-40B4-BE49-F238E27FC236}">
                <a16:creationId xmlns:a16="http://schemas.microsoft.com/office/drawing/2014/main" id="{9232B553-C81C-4717-B82A-639344BAA159}"/>
              </a:ext>
            </a:extLst>
          </p:cNvPr>
          <p:cNvPicPr>
            <a:picLocks noChangeAspect="1"/>
          </p:cNvPicPr>
          <p:nvPr/>
        </p:nvPicPr>
        <p:blipFill>
          <a:blip r:embed="rId3"/>
          <a:stretch>
            <a:fillRect/>
          </a:stretch>
        </p:blipFill>
        <p:spPr>
          <a:xfrm>
            <a:off x="4974795" y="1167783"/>
            <a:ext cx="3239182" cy="1521553"/>
          </a:xfrm>
          <a:prstGeom prst="rect">
            <a:avLst/>
          </a:prstGeom>
        </p:spPr>
      </p:pic>
    </p:spTree>
    <p:extLst>
      <p:ext uri="{BB962C8B-B14F-4D97-AF65-F5344CB8AC3E}">
        <p14:creationId xmlns:p14="http://schemas.microsoft.com/office/powerpoint/2010/main" val="2497581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83629"/>
            <a:ext cx="7085308" cy="857250"/>
          </a:xfrm>
        </p:spPr>
        <p:txBody>
          <a:bodyPr>
            <a:normAutofit/>
          </a:bodyPr>
          <a:lstStyle/>
          <a:p>
            <a:pPr>
              <a:buFont typeface="Courier New" panose="02070309020205020404" pitchFamily="49" charset="0"/>
              <a:buChar char="o"/>
            </a:pPr>
            <a:r>
              <a:rPr lang="en-US" sz="2000" dirty="0"/>
              <a:t>Spatial joins</a:t>
            </a:r>
          </a:p>
          <a:p>
            <a:pPr lvl="1">
              <a:buFont typeface="Wingdings" panose="05000000000000000000" pitchFamily="2" charset="2"/>
              <a:buChar char="ü"/>
            </a:pPr>
            <a:r>
              <a:rPr lang="en-US" sz="2000" dirty="0"/>
              <a:t>Joins attributes based on same columns</a:t>
            </a:r>
          </a:p>
        </p:txBody>
      </p:sp>
      <p:sp>
        <p:nvSpPr>
          <p:cNvPr id="2" name="Slide Number Placeholder 1">
            <a:extLst>
              <a:ext uri="{FF2B5EF4-FFF2-40B4-BE49-F238E27FC236}">
                <a16:creationId xmlns:a16="http://schemas.microsoft.com/office/drawing/2014/main" id="{2BEA8DBD-A8EE-479F-839C-0C0FC6B2F145}"/>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7" name="Title 1">
            <a:extLst>
              <a:ext uri="{FF2B5EF4-FFF2-40B4-BE49-F238E27FC236}">
                <a16:creationId xmlns:a16="http://schemas.microsoft.com/office/drawing/2014/main" id="{50705394-693B-4B6C-9E90-D2E61327C9D0}"/>
              </a:ext>
            </a:extLst>
          </p:cNvPr>
          <p:cNvSpPr txBox="1">
            <a:spLocks/>
          </p:cNvSpPr>
          <p:nvPr/>
        </p:nvSpPr>
        <p:spPr>
          <a:xfrm>
            <a:off x="343258" y="2538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463A111A-E8DE-4611-BD8E-F000A0E3FC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1EAA6913-4386-30A4-2AE3-06517999D2E7}"/>
              </a:ext>
            </a:extLst>
          </p:cNvPr>
          <p:cNvPicPr>
            <a:picLocks noChangeAspect="1"/>
          </p:cNvPicPr>
          <p:nvPr/>
        </p:nvPicPr>
        <p:blipFill>
          <a:blip r:embed="rId3"/>
          <a:stretch>
            <a:fillRect/>
          </a:stretch>
        </p:blipFill>
        <p:spPr>
          <a:xfrm>
            <a:off x="2738034" y="2052032"/>
            <a:ext cx="2829732" cy="2765904"/>
          </a:xfrm>
          <a:prstGeom prst="rect">
            <a:avLst/>
          </a:prstGeom>
        </p:spPr>
      </p:pic>
    </p:spTree>
    <p:extLst>
      <p:ext uri="{BB962C8B-B14F-4D97-AF65-F5344CB8AC3E}">
        <p14:creationId xmlns:p14="http://schemas.microsoft.com/office/powerpoint/2010/main" val="156053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6FB16B-E415-4AD8-99A0-883E783434EE}"/>
              </a:ext>
            </a:extLst>
          </p:cNvPr>
          <p:cNvSpPr txBox="1">
            <a:spLocks/>
          </p:cNvSpPr>
          <p:nvPr/>
        </p:nvSpPr>
        <p:spPr>
          <a:xfrm>
            <a:off x="351008" y="2014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F02466F1-09A3-4798-907C-B5040323C1D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33A14EF-5665-44E7-A5DD-8DD49330136E}"/>
              </a:ext>
            </a:extLst>
          </p:cNvPr>
          <p:cNvSpPr txBox="1">
            <a:spLocks/>
          </p:cNvSpPr>
          <p:nvPr/>
        </p:nvSpPr>
        <p:spPr>
          <a:xfrm>
            <a:off x="231671" y="1058708"/>
            <a:ext cx="5442459"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Field Statistics</a:t>
            </a:r>
          </a:p>
          <a:p>
            <a:pPr lvl="1">
              <a:buFont typeface="Wingdings" panose="05000000000000000000" pitchFamily="2" charset="2"/>
              <a:buChar char="ü"/>
            </a:pPr>
            <a:r>
              <a:rPr lang="en-US" sz="2400" dirty="0"/>
              <a:t>Statistics for numeric fields</a:t>
            </a:r>
          </a:p>
        </p:txBody>
      </p:sp>
      <p:sp>
        <p:nvSpPr>
          <p:cNvPr id="2" name="Slide Number Placeholder 1">
            <a:extLst>
              <a:ext uri="{FF2B5EF4-FFF2-40B4-BE49-F238E27FC236}">
                <a16:creationId xmlns:a16="http://schemas.microsoft.com/office/drawing/2014/main" id="{BBA2DA7F-DE9F-4A06-A64E-378FF46F393F}"/>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4" name="Picture 3">
            <a:extLst>
              <a:ext uri="{FF2B5EF4-FFF2-40B4-BE49-F238E27FC236}">
                <a16:creationId xmlns:a16="http://schemas.microsoft.com/office/drawing/2014/main" id="{0630527A-E636-5A11-BE53-5BE1673EAB3F}"/>
              </a:ext>
            </a:extLst>
          </p:cNvPr>
          <p:cNvPicPr>
            <a:picLocks noChangeAspect="1"/>
          </p:cNvPicPr>
          <p:nvPr/>
        </p:nvPicPr>
        <p:blipFill>
          <a:blip r:embed="rId3"/>
          <a:stretch>
            <a:fillRect/>
          </a:stretch>
        </p:blipFill>
        <p:spPr>
          <a:xfrm>
            <a:off x="852406" y="2125192"/>
            <a:ext cx="6369803" cy="2400142"/>
          </a:xfrm>
          <a:prstGeom prst="rect">
            <a:avLst/>
          </a:prstGeom>
        </p:spPr>
      </p:pic>
    </p:spTree>
    <p:extLst>
      <p:ext uri="{BB962C8B-B14F-4D97-AF65-F5344CB8AC3E}">
        <p14:creationId xmlns:p14="http://schemas.microsoft.com/office/powerpoint/2010/main" val="295712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6BE1-947E-CE12-D6F7-88C28F31F559}"/>
              </a:ext>
            </a:extLst>
          </p:cNvPr>
          <p:cNvSpPr>
            <a:spLocks noGrp="1"/>
          </p:cNvSpPr>
          <p:nvPr>
            <p:ph type="title"/>
          </p:nvPr>
        </p:nvSpPr>
        <p:spPr>
          <a:xfrm>
            <a:off x="392305" y="526617"/>
            <a:ext cx="7444991" cy="496271"/>
          </a:xfrm>
        </p:spPr>
        <p:txBody>
          <a:bodyPr/>
          <a:lstStyle/>
          <a:p>
            <a:pPr defTabSz="411480"/>
            <a:r>
              <a:rPr lang="en-US" altLang="zh-CN" sz="2600" dirty="0">
                <a:solidFill>
                  <a:srgbClr val="7030A0"/>
                </a:solidFill>
              </a:rPr>
              <a:t>Iin-class practice – field statistics</a:t>
            </a:r>
            <a:endParaRPr lang="zh-CN" altLang="en-US" sz="2600" dirty="0">
              <a:solidFill>
                <a:srgbClr val="7030A0"/>
              </a:solidFill>
            </a:endParaRPr>
          </a:p>
        </p:txBody>
      </p:sp>
      <p:sp>
        <p:nvSpPr>
          <p:cNvPr id="3" name="Content Placeholder 2">
            <a:extLst>
              <a:ext uri="{FF2B5EF4-FFF2-40B4-BE49-F238E27FC236}">
                <a16:creationId xmlns:a16="http://schemas.microsoft.com/office/drawing/2014/main" id="{A1146D40-D74B-799B-362F-4612783A7E93}"/>
              </a:ext>
            </a:extLst>
          </p:cNvPr>
          <p:cNvSpPr>
            <a:spLocks noGrp="1"/>
          </p:cNvSpPr>
          <p:nvPr>
            <p:ph idx="1"/>
          </p:nvPr>
        </p:nvSpPr>
        <p:spPr>
          <a:xfrm>
            <a:off x="392307" y="1127641"/>
            <a:ext cx="7444990" cy="2725865"/>
          </a:xfrm>
        </p:spPr>
        <p:txBody>
          <a:bodyPr/>
          <a:lstStyle/>
          <a:p>
            <a:pPr marL="0" indent="0">
              <a:buNone/>
            </a:pPr>
            <a:r>
              <a:rPr lang="en-US" altLang="zh-CN" sz="1800" dirty="0"/>
              <a:t>Why use it</a:t>
            </a:r>
          </a:p>
          <a:p>
            <a:pPr marL="342900" indent="-342900">
              <a:buFont typeface="+mj-lt"/>
              <a:buAutoNum type="arabicPeriod"/>
            </a:pPr>
            <a:r>
              <a:rPr lang="en-US" altLang="zh-CN" sz="1800" dirty="0"/>
              <a:t>Quickly visualize attribute data alongside maps</a:t>
            </a:r>
          </a:p>
          <a:p>
            <a:pPr marL="342900" indent="-342900">
              <a:buFont typeface="+mj-lt"/>
              <a:buAutoNum type="arabicPeriod"/>
            </a:pPr>
            <a:r>
              <a:rPr lang="en-US" altLang="zh-CN" sz="1800" dirty="0"/>
              <a:t>Simplifies explaining patterns in spatial datasets</a:t>
            </a:r>
          </a:p>
          <a:p>
            <a:pPr marL="342900" indent="-342900">
              <a:buFont typeface="+mj-lt"/>
              <a:buAutoNum type="arabicPeriod"/>
            </a:pPr>
            <a:r>
              <a:rPr lang="en-US" altLang="zh-CN" sz="1800" dirty="0"/>
              <a:t>Useful for decision-making and presentations</a:t>
            </a:r>
          </a:p>
          <a:p>
            <a:pPr marL="0" indent="0">
              <a:buNone/>
            </a:pPr>
            <a:endParaRPr lang="en-US" altLang="zh-CN" sz="1800" dirty="0"/>
          </a:p>
          <a:p>
            <a:pPr>
              <a:buFont typeface="Wingdings" panose="05000000000000000000" pitchFamily="2" charset="2"/>
              <a:buChar char="Ø"/>
            </a:pPr>
            <a:r>
              <a:rPr lang="en-US" altLang="zh-CN" sz="1600" dirty="0"/>
              <a:t>Right-click County in the </a:t>
            </a:r>
            <a:r>
              <a:rPr lang="en-US" altLang="zh-CN" sz="1600" b="1" dirty="0"/>
              <a:t>Contents pane → Create Chart → Histogram</a:t>
            </a:r>
          </a:p>
          <a:p>
            <a:pPr>
              <a:buFont typeface="Wingdings" panose="05000000000000000000" pitchFamily="2" charset="2"/>
              <a:buChar char="Ø"/>
            </a:pPr>
            <a:r>
              <a:rPr lang="en-US" altLang="zh-CN" sz="1600" dirty="0"/>
              <a:t>Configure different parameters</a:t>
            </a:r>
            <a:endParaRPr lang="zh-CN" altLang="en-US" sz="1600" dirty="0"/>
          </a:p>
        </p:txBody>
      </p:sp>
      <p:sp>
        <p:nvSpPr>
          <p:cNvPr id="4" name="Slide Number Placeholder 3">
            <a:extLst>
              <a:ext uri="{FF2B5EF4-FFF2-40B4-BE49-F238E27FC236}">
                <a16:creationId xmlns:a16="http://schemas.microsoft.com/office/drawing/2014/main" id="{AE512BC3-079B-2B6D-774B-134787CA9D50}"/>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1214393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6FB16B-E415-4AD8-99A0-883E783434EE}"/>
              </a:ext>
            </a:extLst>
          </p:cNvPr>
          <p:cNvSpPr txBox="1">
            <a:spLocks/>
          </p:cNvSpPr>
          <p:nvPr/>
        </p:nvSpPr>
        <p:spPr>
          <a:xfrm>
            <a:off x="304513" y="18317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F02466F1-09A3-4798-907C-B5040323C1D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33A14EF-5665-44E7-A5DD-8DD49330136E}"/>
              </a:ext>
            </a:extLst>
          </p:cNvPr>
          <p:cNvSpPr txBox="1">
            <a:spLocks/>
          </p:cNvSpPr>
          <p:nvPr/>
        </p:nvSpPr>
        <p:spPr>
          <a:xfrm>
            <a:off x="161928" y="1147329"/>
            <a:ext cx="5442459" cy="1134343"/>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Explore Statistics</a:t>
            </a:r>
          </a:p>
          <a:p>
            <a:pPr lvl="1">
              <a:buFont typeface="Wingdings" panose="05000000000000000000" pitchFamily="2" charset="2"/>
              <a:buChar char="ü"/>
            </a:pPr>
            <a:r>
              <a:rPr lang="en-US" sz="2400" dirty="0"/>
              <a:t>Statistics for multiple numeric fields</a:t>
            </a:r>
          </a:p>
        </p:txBody>
      </p:sp>
      <p:sp>
        <p:nvSpPr>
          <p:cNvPr id="5" name="Slide Number Placeholder 4">
            <a:extLst>
              <a:ext uri="{FF2B5EF4-FFF2-40B4-BE49-F238E27FC236}">
                <a16:creationId xmlns:a16="http://schemas.microsoft.com/office/drawing/2014/main" id="{352F45AE-E9AB-49C1-9322-ED37BAB1BA81}"/>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12" name="Picture 11">
            <a:extLst>
              <a:ext uri="{FF2B5EF4-FFF2-40B4-BE49-F238E27FC236}">
                <a16:creationId xmlns:a16="http://schemas.microsoft.com/office/drawing/2014/main" id="{09E645BA-87F3-DDFF-C0AA-7C4F9648DD2A}"/>
              </a:ext>
            </a:extLst>
          </p:cNvPr>
          <p:cNvPicPr>
            <a:picLocks noChangeAspect="1"/>
          </p:cNvPicPr>
          <p:nvPr/>
        </p:nvPicPr>
        <p:blipFill>
          <a:blip r:embed="rId3"/>
          <a:stretch>
            <a:fillRect/>
          </a:stretch>
        </p:blipFill>
        <p:spPr>
          <a:xfrm>
            <a:off x="5756500" y="1040427"/>
            <a:ext cx="2130685" cy="2495944"/>
          </a:xfrm>
          <a:prstGeom prst="rect">
            <a:avLst/>
          </a:prstGeom>
        </p:spPr>
      </p:pic>
      <p:pic>
        <p:nvPicPr>
          <p:cNvPr id="3" name="Picture 2">
            <a:extLst>
              <a:ext uri="{FF2B5EF4-FFF2-40B4-BE49-F238E27FC236}">
                <a16:creationId xmlns:a16="http://schemas.microsoft.com/office/drawing/2014/main" id="{60E73AED-FE0E-8BD3-A87A-08AA2671A16B}"/>
              </a:ext>
            </a:extLst>
          </p:cNvPr>
          <p:cNvPicPr>
            <a:picLocks noChangeAspect="1"/>
          </p:cNvPicPr>
          <p:nvPr/>
        </p:nvPicPr>
        <p:blipFill>
          <a:blip r:embed="rId4"/>
          <a:stretch>
            <a:fillRect/>
          </a:stretch>
        </p:blipFill>
        <p:spPr>
          <a:xfrm>
            <a:off x="585061" y="3771262"/>
            <a:ext cx="7059478" cy="1320518"/>
          </a:xfrm>
          <a:prstGeom prst="rect">
            <a:avLst/>
          </a:prstGeom>
        </p:spPr>
      </p:pic>
    </p:spTree>
    <p:extLst>
      <p:ext uri="{BB962C8B-B14F-4D97-AF65-F5344CB8AC3E}">
        <p14:creationId xmlns:p14="http://schemas.microsoft.com/office/powerpoint/2010/main" val="328886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854B57-7741-7939-503A-C99D0E477D35}"/>
              </a:ext>
            </a:extLst>
          </p:cNvPr>
          <p:cNvSpPr>
            <a:spLocks noGrp="1"/>
          </p:cNvSpPr>
          <p:nvPr>
            <p:ph idx="1"/>
          </p:nvPr>
        </p:nvSpPr>
        <p:spPr>
          <a:xfrm>
            <a:off x="392498" y="1481804"/>
            <a:ext cx="7444990" cy="1483497"/>
          </a:xfrm>
        </p:spPr>
        <p:txBody>
          <a:bodyPr>
            <a:noAutofit/>
          </a:bodyPr>
          <a:lstStyle/>
          <a:p>
            <a:pPr lvl="0"/>
            <a:r>
              <a:rPr lang="en-US" sz="1800" dirty="0"/>
              <a:t>Compare the minimum statistics for BIRTHS2020 and BIRTHS2025. Which field has the higher minimum value? </a:t>
            </a:r>
          </a:p>
          <a:p>
            <a:pPr lvl="0"/>
            <a:r>
              <a:rPr lang="en-US" sz="1800" dirty="0"/>
              <a:t>Compare the minimum statistics for BIRTHS2020, BIRTHS2022, and BIRTHS2025. Which field has the lowest minimum value?</a:t>
            </a:r>
          </a:p>
        </p:txBody>
      </p:sp>
      <p:sp>
        <p:nvSpPr>
          <p:cNvPr id="4" name="Slide Number Placeholder 3">
            <a:extLst>
              <a:ext uri="{FF2B5EF4-FFF2-40B4-BE49-F238E27FC236}">
                <a16:creationId xmlns:a16="http://schemas.microsoft.com/office/drawing/2014/main" id="{A8CF981F-5FAB-B106-53E3-958DEDD143A0}"/>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5" name="Title 1">
            <a:extLst>
              <a:ext uri="{FF2B5EF4-FFF2-40B4-BE49-F238E27FC236}">
                <a16:creationId xmlns:a16="http://schemas.microsoft.com/office/drawing/2014/main" id="{13920C6C-590D-4974-E108-B9A759DCC347}"/>
              </a:ext>
            </a:extLst>
          </p:cNvPr>
          <p:cNvSpPr>
            <a:spLocks noGrp="1"/>
          </p:cNvSpPr>
          <p:nvPr>
            <p:ph type="title"/>
          </p:nvPr>
        </p:nvSpPr>
        <p:spPr>
          <a:xfrm>
            <a:off x="392113" y="527050"/>
            <a:ext cx="7445375" cy="503587"/>
          </a:xfrm>
        </p:spPr>
        <p:txBody>
          <a:bodyPr/>
          <a:lstStyle/>
          <a:p>
            <a:pPr defTabSz="411480"/>
            <a:r>
              <a:rPr lang="en-US" altLang="zh-CN" sz="2600" dirty="0">
                <a:solidFill>
                  <a:srgbClr val="7030A0"/>
                </a:solidFill>
              </a:rPr>
              <a:t>Iin-class practice – EXPLORE statistics</a:t>
            </a:r>
            <a:endParaRPr lang="zh-CN" altLang="en-US" sz="2600" dirty="0">
              <a:solidFill>
                <a:srgbClr val="7030A0"/>
              </a:solidFill>
            </a:endParaRPr>
          </a:p>
        </p:txBody>
      </p:sp>
    </p:spTree>
    <p:extLst>
      <p:ext uri="{BB962C8B-B14F-4D97-AF65-F5344CB8AC3E}">
        <p14:creationId xmlns:p14="http://schemas.microsoft.com/office/powerpoint/2010/main" val="967834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395" y="1144500"/>
            <a:ext cx="4989270" cy="1815669"/>
          </a:xfrm>
        </p:spPr>
        <p:txBody>
          <a:bodyPr>
            <a:normAutofit/>
          </a:bodyPr>
          <a:lstStyle/>
          <a:p>
            <a:pPr>
              <a:buFont typeface="Courier New" panose="02070309020205020404" pitchFamily="49" charset="0"/>
              <a:buChar char="o"/>
            </a:pPr>
            <a:r>
              <a:rPr lang="en-US" sz="1800" dirty="0"/>
              <a:t>Export an Attribute Data</a:t>
            </a:r>
          </a:p>
          <a:p>
            <a:pPr lvl="1">
              <a:buFont typeface="Wingdings" panose="05000000000000000000" pitchFamily="2" charset="2"/>
              <a:buChar char="ü"/>
            </a:pPr>
            <a:r>
              <a:rPr lang="en-US" sz="1800" dirty="0"/>
              <a:t>Types include: text, comma separated values (CSV), geodatabase tables, and </a:t>
            </a:r>
            <a:r>
              <a:rPr lang="en-US" sz="1800" dirty="0" err="1"/>
              <a:t>dBASE</a:t>
            </a:r>
            <a:r>
              <a:rPr lang="en-US" sz="1800" dirty="0"/>
              <a:t> tables </a:t>
            </a:r>
          </a:p>
          <a:p>
            <a:pPr lvl="1">
              <a:buFont typeface="Wingdings" panose="05000000000000000000" pitchFamily="2" charset="2"/>
              <a:buChar char="ü"/>
            </a:pPr>
            <a:r>
              <a:rPr lang="en-US" sz="1800" dirty="0"/>
              <a:t>Can analyze </a:t>
            </a:r>
            <a:r>
              <a:rPr lang="en-US" sz="1800" dirty="0" err="1"/>
              <a:t>aspatial</a:t>
            </a:r>
            <a:r>
              <a:rPr lang="en-US" sz="1800" dirty="0"/>
              <a:t> or tabulated data outside of GIS software</a:t>
            </a:r>
          </a:p>
        </p:txBody>
      </p:sp>
      <p:sp>
        <p:nvSpPr>
          <p:cNvPr id="2" name="Slide Number Placeholder 1">
            <a:extLst>
              <a:ext uri="{FF2B5EF4-FFF2-40B4-BE49-F238E27FC236}">
                <a16:creationId xmlns:a16="http://schemas.microsoft.com/office/drawing/2014/main" id="{2D2453BE-B6C2-49F6-AC66-42E545433DF4}"/>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5" name="Picture 4" descr="Export an attribute data tool menu"/>
          <p:cNvPicPr>
            <a:picLocks noChangeAspect="1"/>
          </p:cNvPicPr>
          <p:nvPr/>
        </p:nvPicPr>
        <p:blipFill>
          <a:blip r:embed="rId3"/>
          <a:stretch>
            <a:fillRect/>
          </a:stretch>
        </p:blipFill>
        <p:spPr>
          <a:xfrm>
            <a:off x="457248" y="4327960"/>
            <a:ext cx="5852255" cy="604519"/>
          </a:xfrm>
          <a:prstGeom prst="rect">
            <a:avLst/>
          </a:prstGeom>
        </p:spPr>
      </p:pic>
      <p:pic>
        <p:nvPicPr>
          <p:cNvPr id="6" name="Picture 5" descr="attribute data in excel"/>
          <p:cNvPicPr>
            <a:picLocks noChangeAspect="1"/>
          </p:cNvPicPr>
          <p:nvPr/>
        </p:nvPicPr>
        <p:blipFill>
          <a:blip r:embed="rId4"/>
          <a:stretch>
            <a:fillRect/>
          </a:stretch>
        </p:blipFill>
        <p:spPr>
          <a:xfrm>
            <a:off x="5283974" y="1144500"/>
            <a:ext cx="2725540" cy="2746058"/>
          </a:xfrm>
          <a:prstGeom prst="rect">
            <a:avLst/>
          </a:prstGeom>
        </p:spPr>
      </p:pic>
      <p:sp>
        <p:nvSpPr>
          <p:cNvPr id="8" name="Title 1">
            <a:extLst>
              <a:ext uri="{FF2B5EF4-FFF2-40B4-BE49-F238E27FC236}">
                <a16:creationId xmlns:a16="http://schemas.microsoft.com/office/drawing/2014/main" id="{6808558B-B8C6-436E-9528-B5E0AFDAE245}"/>
              </a:ext>
            </a:extLst>
          </p:cNvPr>
          <p:cNvSpPr txBox="1">
            <a:spLocks/>
          </p:cNvSpPr>
          <p:nvPr/>
        </p:nvSpPr>
        <p:spPr>
          <a:xfrm>
            <a:off x="257395" y="1961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9" name="Straight Connector 8">
            <a:extLst>
              <a:ext uri="{FF2B5EF4-FFF2-40B4-BE49-F238E27FC236}">
                <a16:creationId xmlns:a16="http://schemas.microsoft.com/office/drawing/2014/main" id="{D500B2C6-C8CE-4A4F-B85D-C0FD6F6B238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828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3693319"/>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Logical Operators</a:t>
            </a:r>
            <a:endParaRPr lang="en-US" sz="2000" u="sng" dirty="0"/>
          </a:p>
          <a:p>
            <a:pPr>
              <a:lnSpc>
                <a:spcPct val="90000"/>
              </a:lnSpc>
            </a:pPr>
            <a:r>
              <a:rPr lang="en-US" sz="2000" dirty="0"/>
              <a:t>Equal: =</a:t>
            </a:r>
          </a:p>
          <a:p>
            <a:pPr>
              <a:lnSpc>
                <a:spcPct val="90000"/>
              </a:lnSpc>
            </a:pPr>
            <a:r>
              <a:rPr lang="en-US" sz="2000" dirty="0"/>
              <a:t>Not Equal: &lt;&gt;</a:t>
            </a:r>
          </a:p>
          <a:p>
            <a:pPr>
              <a:lnSpc>
                <a:spcPct val="90000"/>
              </a:lnSpc>
            </a:pPr>
            <a:r>
              <a:rPr lang="en-US" sz="2000" dirty="0"/>
              <a:t>Greater Than: &gt;</a:t>
            </a:r>
          </a:p>
          <a:p>
            <a:pPr>
              <a:lnSpc>
                <a:spcPct val="90000"/>
              </a:lnSpc>
            </a:pPr>
            <a:r>
              <a:rPr lang="en-US" sz="2000" dirty="0"/>
              <a:t>Greater Than or Equal To: &gt;=</a:t>
            </a:r>
          </a:p>
          <a:p>
            <a:pPr>
              <a:lnSpc>
                <a:spcPct val="90000"/>
              </a:lnSpc>
            </a:pPr>
            <a:r>
              <a:rPr lang="en-US" sz="2000" dirty="0"/>
              <a:t>Less Than: &lt;</a:t>
            </a:r>
          </a:p>
          <a:p>
            <a:pPr>
              <a:lnSpc>
                <a:spcPct val="90000"/>
              </a:lnSpc>
            </a:pPr>
            <a:r>
              <a:rPr lang="en-US" sz="2000" dirty="0"/>
              <a:t>Less Than or Equal To: &lt;=</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12" name="Picture 11" descr="Table&#10;&#10;Description automatically generated">
            <a:extLst>
              <a:ext uri="{FF2B5EF4-FFF2-40B4-BE49-F238E27FC236}">
                <a16:creationId xmlns:a16="http://schemas.microsoft.com/office/drawing/2014/main" id="{833690F3-FA65-4077-8FDE-D0B4EDEBC8B6}"/>
              </a:ext>
            </a:extLst>
          </p:cNvPr>
          <p:cNvPicPr>
            <a:picLocks noChangeAspect="1"/>
          </p:cNvPicPr>
          <p:nvPr/>
        </p:nvPicPr>
        <p:blipFill rotWithShape="1">
          <a:blip r:embed="rId3"/>
          <a:srcRect r="50000"/>
          <a:stretch/>
        </p:blipFill>
        <p:spPr>
          <a:xfrm>
            <a:off x="4870055" y="1048204"/>
            <a:ext cx="3128820" cy="2847338"/>
          </a:xfrm>
          <a:prstGeom prst="rect">
            <a:avLst/>
          </a:prstGeom>
        </p:spPr>
      </p:pic>
      <p:sp>
        <p:nvSpPr>
          <p:cNvPr id="13" name="TextBox 12">
            <a:extLst>
              <a:ext uri="{FF2B5EF4-FFF2-40B4-BE49-F238E27FC236}">
                <a16:creationId xmlns:a16="http://schemas.microsoft.com/office/drawing/2014/main" id="{C916F155-25F1-44BF-A511-5935F01B8994}"/>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0" name="Title 1">
            <a:extLst>
              <a:ext uri="{FF2B5EF4-FFF2-40B4-BE49-F238E27FC236}">
                <a16:creationId xmlns:a16="http://schemas.microsoft.com/office/drawing/2014/main" id="{A751BE4D-CE0F-4490-A88B-F436BDA9E6A7}"/>
              </a:ext>
            </a:extLst>
          </p:cNvPr>
          <p:cNvSpPr txBox="1">
            <a:spLocks/>
          </p:cNvSpPr>
          <p:nvPr/>
        </p:nvSpPr>
        <p:spPr>
          <a:xfrm>
            <a:off x="250269" y="1909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pic>
        <p:nvPicPr>
          <p:cNvPr id="5" name="Picture 4">
            <a:extLst>
              <a:ext uri="{FF2B5EF4-FFF2-40B4-BE49-F238E27FC236}">
                <a16:creationId xmlns:a16="http://schemas.microsoft.com/office/drawing/2014/main" id="{96958921-B9B4-7A83-4CA0-7D49A38902E4}"/>
              </a:ext>
            </a:extLst>
          </p:cNvPr>
          <p:cNvPicPr>
            <a:picLocks noChangeAspect="1"/>
          </p:cNvPicPr>
          <p:nvPr/>
        </p:nvPicPr>
        <p:blipFill>
          <a:blip r:embed="rId4"/>
          <a:stretch>
            <a:fillRect/>
          </a:stretch>
        </p:blipFill>
        <p:spPr>
          <a:xfrm>
            <a:off x="3465783" y="3126638"/>
            <a:ext cx="1298034" cy="1937315"/>
          </a:xfrm>
          <a:prstGeom prst="rect">
            <a:avLst/>
          </a:prstGeom>
        </p:spPr>
      </p:pic>
    </p:spTree>
    <p:extLst>
      <p:ext uri="{BB962C8B-B14F-4D97-AF65-F5344CB8AC3E}">
        <p14:creationId xmlns:p14="http://schemas.microsoft.com/office/powerpoint/2010/main" val="5745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6" name="Picture 5" descr="Table&#10;&#10;Description automatically generated">
            <a:extLst>
              <a:ext uri="{FF2B5EF4-FFF2-40B4-BE49-F238E27FC236}">
                <a16:creationId xmlns:a16="http://schemas.microsoft.com/office/drawing/2014/main" id="{3CE9F8C1-C14C-47E0-91A6-A82F188DB721}"/>
              </a:ext>
            </a:extLst>
          </p:cNvPr>
          <p:cNvPicPr>
            <a:picLocks noChangeAspect="1"/>
          </p:cNvPicPr>
          <p:nvPr/>
        </p:nvPicPr>
        <p:blipFill rotWithShape="1">
          <a:blip r:embed="rId3"/>
          <a:srcRect l="50000"/>
          <a:stretch/>
        </p:blipFill>
        <p:spPr>
          <a:xfrm>
            <a:off x="3981910" y="1428874"/>
            <a:ext cx="3449666" cy="3139320"/>
          </a:xfrm>
          <a:prstGeom prst="rect">
            <a:avLst/>
          </a:prstGeom>
        </p:spPr>
      </p:pic>
      <p:sp>
        <p:nvSpPr>
          <p:cNvPr id="13" name="TextBox 12">
            <a:extLst>
              <a:ext uri="{FF2B5EF4-FFF2-40B4-BE49-F238E27FC236}">
                <a16:creationId xmlns:a16="http://schemas.microsoft.com/office/drawing/2014/main" id="{58D400CD-D363-4D8C-A672-3BF5C52A7BF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1" name="Title 1">
            <a:extLst>
              <a:ext uri="{FF2B5EF4-FFF2-40B4-BE49-F238E27FC236}">
                <a16:creationId xmlns:a16="http://schemas.microsoft.com/office/drawing/2014/main" id="{88A9A058-6F16-4567-B389-FCA88D4C884F}"/>
              </a:ext>
            </a:extLst>
          </p:cNvPr>
          <p:cNvSpPr txBox="1">
            <a:spLocks/>
          </p:cNvSpPr>
          <p:nvPr/>
        </p:nvSpPr>
        <p:spPr>
          <a:xfrm>
            <a:off x="242519" y="20940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47749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5" name="Picture 4" descr="Table&#10;&#10;Description automatically generated">
            <a:extLst>
              <a:ext uri="{FF2B5EF4-FFF2-40B4-BE49-F238E27FC236}">
                <a16:creationId xmlns:a16="http://schemas.microsoft.com/office/drawing/2014/main" id="{6F5660FC-526C-434F-A20F-E78F6DA96575}"/>
              </a:ext>
            </a:extLst>
          </p:cNvPr>
          <p:cNvPicPr>
            <a:picLocks noChangeAspect="1"/>
          </p:cNvPicPr>
          <p:nvPr/>
        </p:nvPicPr>
        <p:blipFill rotWithShape="1">
          <a:blip r:embed="rId3"/>
          <a:srcRect r="50510"/>
          <a:stretch/>
        </p:blipFill>
        <p:spPr>
          <a:xfrm>
            <a:off x="4114800" y="1628551"/>
            <a:ext cx="3318283" cy="3020824"/>
          </a:xfrm>
          <a:prstGeom prst="rect">
            <a:avLst/>
          </a:prstGeom>
        </p:spPr>
      </p:pic>
      <p:sp>
        <p:nvSpPr>
          <p:cNvPr id="15" name="TextBox 14">
            <a:extLst>
              <a:ext uri="{FF2B5EF4-FFF2-40B4-BE49-F238E27FC236}">
                <a16:creationId xmlns:a16="http://schemas.microsoft.com/office/drawing/2014/main" id="{E1075805-BDA6-4C89-AB17-CCF6B841234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6" name="Title 1">
            <a:extLst>
              <a:ext uri="{FF2B5EF4-FFF2-40B4-BE49-F238E27FC236}">
                <a16:creationId xmlns:a16="http://schemas.microsoft.com/office/drawing/2014/main" id="{2CE9BDBE-0346-44E3-B1FA-76997FD96378}"/>
              </a:ext>
            </a:extLst>
          </p:cNvPr>
          <p:cNvSpPr txBox="1">
            <a:spLocks/>
          </p:cNvSpPr>
          <p:nvPr/>
        </p:nvSpPr>
        <p:spPr>
          <a:xfrm>
            <a:off x="234770" y="21360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3224376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7" name="Picture 6" descr="Table&#10;&#10;Description automatically generated">
            <a:extLst>
              <a:ext uri="{FF2B5EF4-FFF2-40B4-BE49-F238E27FC236}">
                <a16:creationId xmlns:a16="http://schemas.microsoft.com/office/drawing/2014/main" id="{D7698F89-1F8E-4767-8CAD-A823ABB9DB97}"/>
              </a:ext>
            </a:extLst>
          </p:cNvPr>
          <p:cNvPicPr>
            <a:picLocks noChangeAspect="1"/>
          </p:cNvPicPr>
          <p:nvPr/>
        </p:nvPicPr>
        <p:blipFill rotWithShape="1">
          <a:blip r:embed="rId3"/>
          <a:srcRect l="50765"/>
          <a:stretch/>
        </p:blipFill>
        <p:spPr>
          <a:xfrm>
            <a:off x="4357086" y="1628552"/>
            <a:ext cx="3081587" cy="2819880"/>
          </a:xfrm>
          <a:prstGeom prst="rect">
            <a:avLst/>
          </a:prstGeom>
        </p:spPr>
      </p:pic>
      <p:sp>
        <p:nvSpPr>
          <p:cNvPr id="15" name="TextBox 14">
            <a:extLst>
              <a:ext uri="{FF2B5EF4-FFF2-40B4-BE49-F238E27FC236}">
                <a16:creationId xmlns:a16="http://schemas.microsoft.com/office/drawing/2014/main" id="{6335E9D9-7A7C-4F88-9DEF-5392EBECE761}"/>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6" name="Title 1">
            <a:extLst>
              <a:ext uri="{FF2B5EF4-FFF2-40B4-BE49-F238E27FC236}">
                <a16:creationId xmlns:a16="http://schemas.microsoft.com/office/drawing/2014/main" id="{64583571-EB7C-4E5A-A557-2CD0585943D1}"/>
              </a:ext>
            </a:extLst>
          </p:cNvPr>
          <p:cNvSpPr txBox="1">
            <a:spLocks/>
          </p:cNvSpPr>
          <p:nvPr/>
        </p:nvSpPr>
        <p:spPr>
          <a:xfrm>
            <a:off x="250269" y="21242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114633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516" y="1052110"/>
            <a:ext cx="7406640" cy="883845"/>
          </a:xfrm>
        </p:spPr>
        <p:txBody>
          <a:bodyPr>
            <a:normAutofit/>
          </a:bodyPr>
          <a:lstStyle/>
          <a:p>
            <a:pPr marL="218700" lvl="1" indent="0">
              <a:buNone/>
            </a:pPr>
            <a:r>
              <a:rPr lang="en-US" altLang="zh-CN" sz="2000" dirty="0"/>
              <a:t>Select by location</a:t>
            </a:r>
            <a:endParaRPr lang="en-US" sz="2000" dirty="0"/>
          </a:p>
          <a:p>
            <a:pPr lvl="1">
              <a:buFont typeface="Wingdings" panose="05000000000000000000" pitchFamily="2" charset="2"/>
              <a:buChar char="ü"/>
            </a:pPr>
            <a:r>
              <a:rPr lang="en-US" sz="2000" dirty="0"/>
              <a:t>Select based on spatial relationships to other geographic features </a:t>
            </a:r>
          </a:p>
        </p:txBody>
      </p:sp>
      <p:sp>
        <p:nvSpPr>
          <p:cNvPr id="2" name="Slide Number Placeholder 1">
            <a:extLst>
              <a:ext uri="{FF2B5EF4-FFF2-40B4-BE49-F238E27FC236}">
                <a16:creationId xmlns:a16="http://schemas.microsoft.com/office/drawing/2014/main" id="{AEBE11E4-0244-458C-8C25-90FCE101E9F3}"/>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6" name="Title 1">
            <a:extLst>
              <a:ext uri="{FF2B5EF4-FFF2-40B4-BE49-F238E27FC236}">
                <a16:creationId xmlns:a16="http://schemas.microsoft.com/office/drawing/2014/main" id="{F68B2B78-F327-4B4F-90BA-22218E2008F5}"/>
              </a:ext>
            </a:extLst>
          </p:cNvPr>
          <p:cNvSpPr txBox="1">
            <a:spLocks/>
          </p:cNvSpPr>
          <p:nvPr/>
        </p:nvSpPr>
        <p:spPr>
          <a:xfrm>
            <a:off x="273516" y="1866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7" name="Straight Connector 6">
            <a:extLst>
              <a:ext uri="{FF2B5EF4-FFF2-40B4-BE49-F238E27FC236}">
                <a16:creationId xmlns:a16="http://schemas.microsoft.com/office/drawing/2014/main" id="{A671C9D5-8622-4211-B939-6BAE3323E5C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4">
            <a:extLst>
              <a:ext uri="{FF2B5EF4-FFF2-40B4-BE49-F238E27FC236}">
                <a16:creationId xmlns:a16="http://schemas.microsoft.com/office/drawing/2014/main" id="{60CB09CE-4969-471D-9AB3-585CB2DB4227}"/>
              </a:ext>
            </a:extLst>
          </p:cNvPr>
          <p:cNvSpPr txBox="1">
            <a:spLocks/>
          </p:cNvSpPr>
          <p:nvPr/>
        </p:nvSpPr>
        <p:spPr>
          <a:xfrm>
            <a:off x="411480" y="1200151"/>
            <a:ext cx="7406640"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endParaRPr lang="en-US" dirty="0"/>
          </a:p>
        </p:txBody>
      </p:sp>
      <p:pic>
        <p:nvPicPr>
          <p:cNvPr id="8" name="Picture 7">
            <a:extLst>
              <a:ext uri="{FF2B5EF4-FFF2-40B4-BE49-F238E27FC236}">
                <a16:creationId xmlns:a16="http://schemas.microsoft.com/office/drawing/2014/main" id="{D9D0C083-1744-7E7F-7294-4EB1C2A4401C}"/>
              </a:ext>
            </a:extLst>
          </p:cNvPr>
          <p:cNvPicPr>
            <a:picLocks noChangeAspect="1"/>
          </p:cNvPicPr>
          <p:nvPr/>
        </p:nvPicPr>
        <p:blipFill>
          <a:blip r:embed="rId3"/>
          <a:stretch>
            <a:fillRect/>
          </a:stretch>
        </p:blipFill>
        <p:spPr>
          <a:xfrm>
            <a:off x="546047" y="2161930"/>
            <a:ext cx="3121335" cy="2725749"/>
          </a:xfrm>
          <a:prstGeom prst="rect">
            <a:avLst/>
          </a:prstGeom>
        </p:spPr>
      </p:pic>
      <p:sp>
        <p:nvSpPr>
          <p:cNvPr id="4" name="TextBox 3">
            <a:extLst>
              <a:ext uri="{FF2B5EF4-FFF2-40B4-BE49-F238E27FC236}">
                <a16:creationId xmlns:a16="http://schemas.microsoft.com/office/drawing/2014/main" id="{9F3700CD-AD6C-7EFD-FBB1-FB472E2BFCA4}"/>
              </a:ext>
            </a:extLst>
          </p:cNvPr>
          <p:cNvSpPr txBox="1"/>
          <p:nvPr/>
        </p:nvSpPr>
        <p:spPr>
          <a:xfrm>
            <a:off x="3801949" y="2299667"/>
            <a:ext cx="3975316" cy="1200329"/>
          </a:xfrm>
          <a:prstGeom prst="rect">
            <a:avLst/>
          </a:prstGeom>
          <a:noFill/>
        </p:spPr>
        <p:txBody>
          <a:bodyPr wrap="square" rtlCol="0">
            <a:spAutoFit/>
          </a:bodyPr>
          <a:lstStyle/>
          <a:p>
            <a:pPr marL="342900" indent="-342900">
              <a:buAutoNum type="arabicPeriod"/>
            </a:pPr>
            <a:r>
              <a:rPr lang="en-US" dirty="0"/>
              <a:t>Select Airport within Faulkner County</a:t>
            </a:r>
          </a:p>
          <a:p>
            <a:pPr marL="342900" indent="-342900">
              <a:buAutoNum type="arabicPeriod"/>
            </a:pPr>
            <a:r>
              <a:rPr lang="en-US" dirty="0"/>
              <a:t>Select Airport within 10km of Faulkner County </a:t>
            </a:r>
          </a:p>
        </p:txBody>
      </p:sp>
    </p:spTree>
    <p:extLst>
      <p:ext uri="{BB962C8B-B14F-4D97-AF65-F5344CB8AC3E}">
        <p14:creationId xmlns:p14="http://schemas.microsoft.com/office/powerpoint/2010/main" val="137913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85205"/>
            <a:ext cx="7665811" cy="3792630"/>
          </a:xfrm>
        </p:spPr>
        <p:txBody>
          <a:bodyPr>
            <a:normAutofit fontScale="55000" lnSpcReduction="20000"/>
          </a:bodyPr>
          <a:lstStyle/>
          <a:p>
            <a:pPr>
              <a:buFont typeface="Courier New" panose="02070309020205020404" pitchFamily="49" charset="0"/>
              <a:buChar char="o"/>
            </a:pPr>
            <a:r>
              <a:rPr lang="en-US" sz="3800" dirty="0"/>
              <a:t>Select by location</a:t>
            </a:r>
          </a:p>
          <a:p>
            <a:pPr lvl="1">
              <a:buFont typeface="Wingdings" panose="05000000000000000000" pitchFamily="2" charset="2"/>
              <a:buChar char="ü"/>
            </a:pPr>
            <a:r>
              <a:rPr lang="en-US" sz="3240" b="1" dirty="0">
                <a:solidFill>
                  <a:srgbClr val="E3874F"/>
                </a:solidFill>
              </a:rPr>
              <a:t>Intersect: </a:t>
            </a:r>
            <a:r>
              <a:rPr lang="en-US" sz="3240" dirty="0"/>
              <a:t>select input features that intersect the selecting features. This is the default. </a:t>
            </a:r>
          </a:p>
          <a:p>
            <a:pPr lvl="1">
              <a:buFont typeface="Wingdings" panose="05000000000000000000" pitchFamily="2" charset="2"/>
              <a:buChar char="ü"/>
            </a:pPr>
            <a:r>
              <a:rPr lang="en-US" sz="3240" b="1" dirty="0">
                <a:solidFill>
                  <a:srgbClr val="E3874F"/>
                </a:solidFill>
              </a:rPr>
              <a:t>Within a distance: </a:t>
            </a:r>
            <a:r>
              <a:rPr lang="en-US" sz="3240" dirty="0"/>
              <a:t>select input features that are within the specified Euclidean distance of the selecting features.</a:t>
            </a:r>
          </a:p>
          <a:p>
            <a:pPr lvl="1">
              <a:buFont typeface="Wingdings" panose="05000000000000000000" pitchFamily="2" charset="2"/>
              <a:buChar char="ü"/>
            </a:pPr>
            <a:r>
              <a:rPr lang="en-US" sz="3240" b="1" dirty="0">
                <a:solidFill>
                  <a:srgbClr val="E3874F"/>
                </a:solidFill>
              </a:rPr>
              <a:t>Contains: </a:t>
            </a:r>
            <a:r>
              <a:rPr lang="en-US" sz="3240" dirty="0"/>
              <a:t>Select any input feature that contains, even partially, a selecting feature.</a:t>
            </a:r>
          </a:p>
          <a:p>
            <a:pPr lvl="1">
              <a:buFont typeface="Wingdings" panose="05000000000000000000" pitchFamily="2" charset="2"/>
              <a:buChar char="ü"/>
            </a:pPr>
            <a:r>
              <a:rPr lang="en-US" sz="3240" b="1" dirty="0">
                <a:solidFill>
                  <a:srgbClr val="E3874F"/>
                </a:solidFill>
              </a:rPr>
              <a:t>Completely contains: </a:t>
            </a:r>
            <a:r>
              <a:rPr lang="en-US" sz="3240" dirty="0"/>
              <a:t>select any input feature that completely contains a selecting feature.</a:t>
            </a:r>
          </a:p>
          <a:p>
            <a:pPr lvl="1">
              <a:buFont typeface="Wingdings" panose="05000000000000000000" pitchFamily="2" charset="2"/>
              <a:buChar char="ü"/>
            </a:pPr>
            <a:r>
              <a:rPr lang="en-US" sz="3240" b="1" dirty="0">
                <a:solidFill>
                  <a:srgbClr val="E3874F"/>
                </a:solidFill>
              </a:rPr>
              <a:t>Within: </a:t>
            </a:r>
            <a:r>
              <a:rPr lang="en-US" sz="3240" dirty="0"/>
              <a:t>select any input feature that is within, even partially, a selecting feature.</a:t>
            </a:r>
          </a:p>
          <a:p>
            <a:pPr lvl="1">
              <a:buFont typeface="Wingdings" panose="05000000000000000000" pitchFamily="2" charset="2"/>
              <a:buChar char="ü"/>
            </a:pPr>
            <a:r>
              <a:rPr lang="en-US" sz="3240" b="1" dirty="0">
                <a:solidFill>
                  <a:srgbClr val="E3874F"/>
                </a:solidFill>
              </a:rPr>
              <a:t>Completely within: </a:t>
            </a:r>
            <a:r>
              <a:rPr lang="en-US" sz="3240" dirty="0"/>
              <a:t>select any input feature that is completely within a selecting feature.</a:t>
            </a:r>
          </a:p>
          <a:p>
            <a:pPr marL="0" indent="0">
              <a:buNone/>
            </a:pPr>
            <a:endParaRPr lang="en-US" dirty="0"/>
          </a:p>
        </p:txBody>
      </p:sp>
      <p:sp>
        <p:nvSpPr>
          <p:cNvPr id="2" name="Slide Number Placeholder 1">
            <a:extLst>
              <a:ext uri="{FF2B5EF4-FFF2-40B4-BE49-F238E27FC236}">
                <a16:creationId xmlns:a16="http://schemas.microsoft.com/office/drawing/2014/main" id="{764E8EE6-15E6-4557-9A56-CA2F0A8C95D6}"/>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4" name="Title 1">
            <a:extLst>
              <a:ext uri="{FF2B5EF4-FFF2-40B4-BE49-F238E27FC236}">
                <a16:creationId xmlns:a16="http://schemas.microsoft.com/office/drawing/2014/main" id="{DB36C42A-4027-4CEC-AAA2-C5F98F89152B}"/>
              </a:ext>
            </a:extLst>
          </p:cNvPr>
          <p:cNvSpPr txBox="1">
            <a:spLocks/>
          </p:cNvSpPr>
          <p:nvPr/>
        </p:nvSpPr>
        <p:spPr>
          <a:xfrm>
            <a:off x="227021" y="21289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5" name="Straight Connector 4">
            <a:extLst>
              <a:ext uri="{FF2B5EF4-FFF2-40B4-BE49-F238E27FC236}">
                <a16:creationId xmlns:a16="http://schemas.microsoft.com/office/drawing/2014/main" id="{AC94B0DA-E687-49F1-92AC-D9C6E12519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497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170" y="1053972"/>
            <a:ext cx="7665811" cy="3766769"/>
          </a:xfrm>
        </p:spPr>
        <p:txBody>
          <a:bodyPr>
            <a:normAutofit/>
          </a:bodyPr>
          <a:lstStyle/>
          <a:p>
            <a:pPr>
              <a:buFont typeface="Courier New" panose="02070309020205020404" pitchFamily="49" charset="0"/>
              <a:buChar char="o"/>
            </a:pPr>
            <a:r>
              <a:rPr lang="en-US" sz="2800" dirty="0"/>
              <a:t>Select by location</a:t>
            </a:r>
            <a:endParaRPr lang="en-US" sz="2800" b="1" dirty="0">
              <a:solidFill>
                <a:srgbClr val="E3874F"/>
              </a:solidFill>
            </a:endParaRPr>
          </a:p>
          <a:p>
            <a:pPr lvl="1">
              <a:buFont typeface="Wingdings" panose="05000000000000000000" pitchFamily="2" charset="2"/>
              <a:buChar char="ü"/>
            </a:pPr>
            <a:r>
              <a:rPr lang="en-US" sz="1600" b="1" dirty="0">
                <a:solidFill>
                  <a:srgbClr val="E3874F"/>
                </a:solidFill>
              </a:rPr>
              <a:t>Are identical to: </a:t>
            </a:r>
            <a:r>
              <a:rPr lang="en-US" sz="1600" dirty="0"/>
              <a:t>select any input feature that has identical geometry to a selecting feature.</a:t>
            </a:r>
          </a:p>
          <a:p>
            <a:pPr lvl="1">
              <a:buFont typeface="Wingdings" panose="05000000000000000000" pitchFamily="2" charset="2"/>
              <a:buChar char="ü"/>
            </a:pPr>
            <a:r>
              <a:rPr lang="en-US" sz="1600" b="1" dirty="0">
                <a:solidFill>
                  <a:srgbClr val="E3874F"/>
                </a:solidFill>
              </a:rPr>
              <a:t>Boundary touch: </a:t>
            </a:r>
            <a:r>
              <a:rPr lang="en-US" sz="1600" dirty="0"/>
              <a:t>select any input feature that has a boundary that touches a selecting feature.</a:t>
            </a:r>
          </a:p>
          <a:p>
            <a:pPr lvl="1">
              <a:buFont typeface="Wingdings" panose="05000000000000000000" pitchFamily="2" charset="2"/>
              <a:buChar char="ü"/>
            </a:pPr>
            <a:r>
              <a:rPr lang="en-US" sz="1600" b="1" dirty="0">
                <a:solidFill>
                  <a:srgbClr val="E3874F"/>
                </a:solidFill>
              </a:rPr>
              <a:t>Share a line segment with: </a:t>
            </a:r>
            <a:r>
              <a:rPr lang="en-US" sz="1600" dirty="0"/>
              <a:t>select any input feature that shares a line segment with a selecting feature.</a:t>
            </a:r>
          </a:p>
          <a:p>
            <a:pPr lvl="1">
              <a:buFont typeface="Wingdings" panose="05000000000000000000" pitchFamily="2" charset="2"/>
              <a:buChar char="ü"/>
            </a:pPr>
            <a:r>
              <a:rPr lang="en-US" sz="1600" b="1" dirty="0">
                <a:solidFill>
                  <a:srgbClr val="E3874F"/>
                </a:solidFill>
              </a:rPr>
              <a:t>Crossed by outline of: </a:t>
            </a:r>
            <a:r>
              <a:rPr lang="en-US" sz="1600" dirty="0"/>
              <a:t>select any input feature that is crossed by the outline of a selecting feature.</a:t>
            </a:r>
          </a:p>
          <a:p>
            <a:pPr lvl="1">
              <a:buFont typeface="Wingdings" panose="05000000000000000000" pitchFamily="2" charset="2"/>
              <a:buChar char="ü"/>
            </a:pPr>
            <a:r>
              <a:rPr lang="en-US" sz="1600" b="1" dirty="0">
                <a:solidFill>
                  <a:srgbClr val="E3874F"/>
                </a:solidFill>
              </a:rPr>
              <a:t>Have their center in: </a:t>
            </a:r>
            <a:r>
              <a:rPr lang="en-US" sz="1600" dirty="0"/>
              <a:t>select any input feature that has its center in the selecting features. The center for lines is defined as the midpoint and the center for polygons is defined as the centroid.</a:t>
            </a:r>
          </a:p>
          <a:p>
            <a:pPr marL="0" indent="0">
              <a:buNone/>
            </a:pPr>
            <a:endParaRPr lang="en-US" sz="1600" dirty="0"/>
          </a:p>
        </p:txBody>
      </p:sp>
      <p:sp>
        <p:nvSpPr>
          <p:cNvPr id="2" name="Slide Number Placeholder 1">
            <a:extLst>
              <a:ext uri="{FF2B5EF4-FFF2-40B4-BE49-F238E27FC236}">
                <a16:creationId xmlns:a16="http://schemas.microsoft.com/office/drawing/2014/main" id="{5946C699-9FDE-4048-AEA0-C0E92AF7B7D7}"/>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4" name="Title 1">
            <a:extLst>
              <a:ext uri="{FF2B5EF4-FFF2-40B4-BE49-F238E27FC236}">
                <a16:creationId xmlns:a16="http://schemas.microsoft.com/office/drawing/2014/main" id="{3D91C767-C498-49C8-B13F-CF8FD4B634CD}"/>
              </a:ext>
            </a:extLst>
          </p:cNvPr>
          <p:cNvSpPr txBox="1">
            <a:spLocks/>
          </p:cNvSpPr>
          <p:nvPr/>
        </p:nvSpPr>
        <p:spPr>
          <a:xfrm>
            <a:off x="389754" y="426201"/>
            <a:ext cx="8077200" cy="496707"/>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5" name="Straight Connector 4">
            <a:extLst>
              <a:ext uri="{FF2B5EF4-FFF2-40B4-BE49-F238E27FC236}">
                <a16:creationId xmlns:a16="http://schemas.microsoft.com/office/drawing/2014/main" id="{94860F67-6DEC-4666-A5DA-B99CDAFD61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7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5.2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04: </a:t>
            </a:r>
            <a:r>
              <a:rPr lang="en-US" b="1" dirty="0"/>
              <a:t>Exploring Spatial Data</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2031662632"/>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0&quot;/&gt;&lt;/TableIndex&gt;&lt;TableIndex row=&quot;2&quot; col=&quot;1&quot;&gt;&lt;linesCount val=&quot;1&quot;/&gt;&lt;lineCharCount val=&quot;13&quot;/&gt;&lt;/TableIndex&gt;&lt;TableIndex row=&quot;2&quot; col=&quot;2&quot;&gt;&lt;linesCount val=&quot;1&quot;/&gt;&lt;lineCharCount val=&quot;41&quot;/&gt;&lt;/TableIndex&gt;&lt;TableIndex row=&quot;3&quot; col=&quot;1&quot;&gt;&lt;linesCount val=&quot;1&quot;/&gt;&lt;lineCharCount val=&quot;12&quot;/&gt;&lt;/TableIndex&gt;&lt;TableIndex row=&quot;3&quot; col=&quot;2&quot;&gt;&lt;linesCount val=&quot;2&quot;/&gt;&lt;lineCharCount val=&quot;42&quot;/&gt;&lt;lineCharCount val=&quot;13&quot;/&gt;&lt;/TableIndex&gt;&lt;TableIndex row=&quot;4&quot; col=&quot;1&quot;&gt;&lt;linesCount val=&quot;1&quot;/&gt;&lt;lineCharCount val=&quot;5&quot;/&gt;&lt;/TableIndex&gt;&lt;TableIndex row=&quot;4&quot; col=&quot;2&quot;&gt;&lt;linesCount val=&quot;1&quot;/&gt;&lt;lineCharCount val=&quot;38&quot;/&gt;&lt;/TableIndex&gt;&lt;TableIndex row=&quot;5&quot; col=&quot;1&quot;&gt;&lt;linesCount val=&quot;1&quot;/&gt;&lt;lineCharCount val=&quot;6&quot;/&gt;&lt;/TableIndex&gt;&lt;TableIndex row=&quot;5&quot; col=&quot;2&quot;&gt;&lt;linesCount val=&quot;1&quot;/&gt;&lt;lineCharCount val=&quot;45&quot;/&gt;&lt;/TableIndex&gt;&lt;TableIndex row=&quot;6&quot; col=&quot;1&quot;&gt;&lt;linesCount val=&quot;1&quot;/&gt;&lt;lineCharCount val=&quot;4&quot;/&gt;&lt;/TableIndex&gt;&lt;TableIndex row=&quot;6&quot; col=&quot;2&quot;&gt;&lt;linesCount val=&quot;1&quot;/&gt;&lt;lineCharCount val=&quot;12&quot;/&gt;&lt;/TableIndex&gt;&lt;TableIndex row=&quot;7&quot; col=&quot;1&quot;&gt;&lt;linesCount val=&quot;1&quot;/&gt;&lt;lineCharCount val=&quot;4&quot;/&gt;&lt;/TableIndex&gt;&lt;TableIndex row=&quot;7&quot; col=&quot;2&quot;&gt;&lt;linesCount val=&quot;1&quot;/&gt;&lt;lineCharCount val=&quot;22&quot;/&gt;&lt;/TableIndex&gt;&lt;/ShapeTextInfo&gt;"/>
  <p:tag name="PRESENTER_SHAPEINFO" val="&lt;ThreeDShapeInfo&gt;&lt;uuid val=&quot;{CDFF7BC7-18B8-42DC-A522-5CEF65B26C86}&quot;/&gt;&lt;isInvalidForFieldText val=&quot;0&quot;/&gt;&lt;Image&gt;&lt;filename val=&quot;C:\Users\amaxwel6\AppData\Local\Temp\CP10972185572203Session\CPTrustFolder10972185572203\PPTImport10972188411375\data\asimages\{CDFF7BC7-18B8-42DC-A522-5CEF65B26C86}_9.png&quot;/&gt;&lt;left val=&quot;287&quot;/&gt;&lt;top val=&quot;388&quot;/&gt;&lt;width val=&quot;962&quot;/&gt;&lt;height val=&quot;313&quot;/&gt;&lt;hasText val=&quot;1&quot;/&gt;&lt;/Image&gt;&lt;/ThreeDShapeInfo&gt;"/>
</p:tagLst>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Week04_GEOG2475_Tu</Template>
  <TotalTime>8049</TotalTime>
  <Words>4117</Words>
  <Application>Microsoft Office PowerPoint</Application>
  <PresentationFormat>Custom</PresentationFormat>
  <Paragraphs>460</Paragraphs>
  <Slides>37</Slides>
  <Notes>27</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37</vt:i4>
      </vt:variant>
    </vt:vector>
  </HeadingPairs>
  <TitlesOfParts>
    <vt:vector size="49" baseType="lpstr">
      <vt:lpstr>Arial</vt:lpstr>
      <vt:lpstr>Arial Black</vt:lpstr>
      <vt:lpstr>Calibri</vt:lpstr>
      <vt:lpstr>Courier New</vt:lpstr>
      <vt:lpstr>Gill Sans MT</vt:lpstr>
      <vt:lpstr>Wingdings</vt:lpstr>
      <vt:lpstr>Wingdings 2</vt:lpstr>
      <vt:lpstr>2_DividendVTI</vt:lpstr>
      <vt:lpstr>DividendVTI</vt:lpstr>
      <vt:lpstr>1_DividendVTI</vt:lpstr>
      <vt:lpstr>3_DividendVTI</vt:lpstr>
      <vt:lpstr>4_DividendVTI</vt:lpstr>
      <vt:lpstr>WEEK 05  attribute and  geodatabase  lecture</vt:lpstr>
      <vt:lpstr>5.1  Attribute table</vt:lpstr>
      <vt:lpstr>PowerPoint Presentation</vt:lpstr>
      <vt:lpstr>PowerPoint Presentation</vt:lpstr>
      <vt:lpstr>PowerPoint Presentation</vt:lpstr>
      <vt:lpstr>FID</vt:lpstr>
      <vt:lpstr>shape</vt:lpstr>
      <vt:lpstr>PowerPoint Presentation</vt:lpstr>
      <vt:lpstr>Class activity - Exploring Features and Records</vt:lpstr>
      <vt:lpstr>Class activity - designing Your Own Indoor GIS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Python in ArcGIS Pro</vt:lpstr>
      <vt:lpstr>PowerPoint Presentation</vt:lpstr>
      <vt:lpstr>PowerPoint Presentation</vt:lpstr>
      <vt:lpstr>PowerPoint Presentation</vt:lpstr>
      <vt:lpstr>PowerPoint Presentation</vt:lpstr>
      <vt:lpstr>Iin-class practice – field statistics</vt:lpstr>
      <vt:lpstr>PowerPoint Presentation</vt:lpstr>
      <vt:lpstr>Iin-class practice – EXPLORE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5.2  Lab session</vt:lpstr>
      <vt:lpstr>Lab 04: Exploring Spatial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509</cp:revision>
  <cp:lastPrinted>2020-03-26T12:59:04Z</cp:lastPrinted>
  <dcterms:created xsi:type="dcterms:W3CDTF">2020-03-24T14:51:54Z</dcterms:created>
  <dcterms:modified xsi:type="dcterms:W3CDTF">2026-09-15T15:21:36Z</dcterms:modified>
</cp:coreProperties>
</file>