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7" r:id="rId20"/>
    <p:sldId id="1659" r:id="rId21"/>
  </p:sldIdLst>
  <p:sldSz cx="8229600" cy="5143500"/>
  <p:notesSz cx="51435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0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5DC5F4-D431-4A87-93B0-BBE05B35CCB1}" type="doc">
      <dgm:prSet loTypeId="urn:microsoft.com/office/officeart/2018/5/layout/IconLeafLabelList" loCatId="icon" qsTypeId="urn:microsoft.com/office/officeart/2005/8/quickstyle/simple1#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4983E92-0B7C-43A8-8C1F-984B0DFA982E}">
      <dgm:prSet custT="1"/>
      <dgm:spPr/>
      <dgm:t>
        <a:bodyPr/>
        <a:lstStyle/>
        <a:p>
          <a:pPr>
            <a:defRPr cap="all"/>
          </a:pPr>
          <a:r>
            <a:rPr lang="en-US" sz="1800" dirty="0"/>
            <a:t>Due by NOON </a:t>
          </a:r>
          <a:r>
            <a:rPr lang="en-US" sz="1800" dirty="0">
              <a:solidFill>
                <a:srgbClr val="C00000"/>
              </a:solidFill>
            </a:rPr>
            <a:t>(12:00 pm) on </a:t>
          </a:r>
          <a:r>
            <a:rPr lang="en-US" altLang="zh-CN" sz="1800" dirty="0">
              <a:solidFill>
                <a:srgbClr val="C00000"/>
              </a:solidFill>
            </a:rPr>
            <a:t>THURSDAY</a:t>
          </a:r>
          <a:r>
            <a:rPr lang="en-US" sz="1800" dirty="0">
              <a:solidFill>
                <a:srgbClr val="C00000"/>
              </a:solidFill>
            </a:rPr>
            <a:t>, Sep 24, 2025</a:t>
          </a:r>
        </a:p>
      </dgm:t>
    </dgm:pt>
    <dgm:pt modelId="{47D3E5B5-E005-481D-9366-7FFA245A3F46}" type="parTrans" cxnId="{7E7C886D-A667-496F-8DDE-1B718561DB03}">
      <dgm:prSet/>
      <dgm:spPr/>
      <dgm:t>
        <a:bodyPr/>
        <a:lstStyle/>
        <a:p>
          <a:endParaRPr lang="en-US"/>
        </a:p>
      </dgm:t>
    </dgm:pt>
    <dgm:pt modelId="{9E0C94DC-193A-41FC-B82A-2A43E45C8107}" type="sibTrans" cxnId="{7E7C886D-A667-496F-8DDE-1B718561DB03}">
      <dgm:prSet/>
      <dgm:spPr/>
      <dgm:t>
        <a:bodyPr/>
        <a:lstStyle/>
        <a:p>
          <a:endParaRPr lang="en-US"/>
        </a:p>
      </dgm:t>
    </dgm:pt>
    <dgm:pt modelId="{A6242D37-AF81-4A91-9692-C3B78C4C080A}">
      <dgm:prSet custT="1"/>
      <dgm:spPr/>
      <dgm:t>
        <a:bodyPr/>
        <a:lstStyle/>
        <a:p>
          <a:pPr>
            <a:defRPr cap="all"/>
          </a:pPr>
          <a:r>
            <a:rPr lang="en-US" sz="1800" dirty="0"/>
            <a:t>Submit a word document only include </a:t>
          </a:r>
          <a:r>
            <a:rPr lang="en-US" sz="1800" dirty="0">
              <a:solidFill>
                <a:srgbClr val="C00000"/>
              </a:solidFill>
            </a:rPr>
            <a:t>question and answer</a:t>
          </a:r>
        </a:p>
      </dgm:t>
    </dgm:pt>
    <dgm:pt modelId="{A1582085-1655-4316-B7FE-C167B01E3451}" type="parTrans" cxnId="{0F5369C5-3BD8-41EC-82BC-B46BD7C285F5}">
      <dgm:prSet/>
      <dgm:spPr/>
      <dgm:t>
        <a:bodyPr/>
        <a:lstStyle/>
        <a:p>
          <a:endParaRPr lang="en-US"/>
        </a:p>
      </dgm:t>
    </dgm:pt>
    <dgm:pt modelId="{487527DA-4CA7-40A4-8E27-547430E84424}" type="sibTrans" cxnId="{0F5369C5-3BD8-41EC-82BC-B46BD7C285F5}">
      <dgm:prSet/>
      <dgm:spPr/>
      <dgm:t>
        <a:bodyPr/>
        <a:lstStyle/>
        <a:p>
          <a:endParaRPr lang="en-US"/>
        </a:p>
      </dgm:t>
    </dgm:pt>
    <dgm:pt modelId="{1CF3E5B1-FB46-4446-95BF-0E7408D9C151}" type="pres">
      <dgm:prSet presAssocID="{545DC5F4-D431-4A87-93B0-BBE05B35CCB1}" presName="root" presStyleCnt="0">
        <dgm:presLayoutVars>
          <dgm:dir/>
          <dgm:resizeHandles val="exact"/>
        </dgm:presLayoutVars>
      </dgm:prSet>
      <dgm:spPr/>
    </dgm:pt>
    <dgm:pt modelId="{BE3E81CB-7E93-484B-AE32-12C58B09BCE0}" type="pres">
      <dgm:prSet presAssocID="{54983E92-0B7C-43A8-8C1F-984B0DFA982E}" presName="compNode" presStyleCnt="0"/>
      <dgm:spPr/>
    </dgm:pt>
    <dgm:pt modelId="{D2D6216C-9B23-402E-A942-468E0F624F5B}" type="pres">
      <dgm:prSet presAssocID="{54983E92-0B7C-43A8-8C1F-984B0DFA982E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F943F739-4EBC-47A7-A14C-25327E72C0F2}" type="pres">
      <dgm:prSet presAssocID="{54983E92-0B7C-43A8-8C1F-984B0DFA982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3085FCD0-B526-4BA1-831E-148271EBCA71}" type="pres">
      <dgm:prSet presAssocID="{54983E92-0B7C-43A8-8C1F-984B0DFA982E}" presName="spaceRect" presStyleCnt="0"/>
      <dgm:spPr/>
    </dgm:pt>
    <dgm:pt modelId="{4E513C3D-9C85-4581-9570-C87158EE7A8E}" type="pres">
      <dgm:prSet presAssocID="{54983E92-0B7C-43A8-8C1F-984B0DFA982E}" presName="textRect" presStyleLbl="revTx" presStyleIdx="0" presStyleCnt="2" custScaleX="140708">
        <dgm:presLayoutVars>
          <dgm:chMax val="1"/>
          <dgm:chPref val="1"/>
        </dgm:presLayoutVars>
      </dgm:prSet>
      <dgm:spPr/>
    </dgm:pt>
    <dgm:pt modelId="{00D865C2-7AA1-4413-870A-557561F6A99D}" type="pres">
      <dgm:prSet presAssocID="{9E0C94DC-193A-41FC-B82A-2A43E45C8107}" presName="sibTrans" presStyleCnt="0"/>
      <dgm:spPr/>
    </dgm:pt>
    <dgm:pt modelId="{0444C821-AE95-419C-A2C2-10FD435B3E72}" type="pres">
      <dgm:prSet presAssocID="{A6242D37-AF81-4A91-9692-C3B78C4C080A}" presName="compNode" presStyleCnt="0"/>
      <dgm:spPr/>
    </dgm:pt>
    <dgm:pt modelId="{C1C41DF5-156F-4AFD-8177-5E65296E36DA}" type="pres">
      <dgm:prSet presAssocID="{A6242D37-AF81-4A91-9692-C3B78C4C080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CD05D74-D5AE-459F-A6DF-06E0D3F03A72}" type="pres">
      <dgm:prSet presAssocID="{A6242D37-AF81-4A91-9692-C3B78C4C080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AB5314E-660E-4ED1-846B-8434948EF46B}" type="pres">
      <dgm:prSet presAssocID="{A6242D37-AF81-4A91-9692-C3B78C4C080A}" presName="spaceRect" presStyleCnt="0"/>
      <dgm:spPr/>
    </dgm:pt>
    <dgm:pt modelId="{A3838D15-85D1-4048-B20D-9009920800B0}" type="pres">
      <dgm:prSet presAssocID="{A6242D37-AF81-4A91-9692-C3B78C4C080A}" presName="textRect" presStyleLbl="revTx" presStyleIdx="1" presStyleCnt="2" custScaleX="147657">
        <dgm:presLayoutVars>
          <dgm:chMax val="1"/>
          <dgm:chPref val="1"/>
        </dgm:presLayoutVars>
      </dgm:prSet>
      <dgm:spPr/>
    </dgm:pt>
  </dgm:ptLst>
  <dgm:cxnLst>
    <dgm:cxn modelId="{34AD3E24-5AE2-4091-998E-71D41F9CDB89}" type="presOf" srcId="{A6242D37-AF81-4A91-9692-C3B78C4C080A}" destId="{A3838D15-85D1-4048-B20D-9009920800B0}" srcOrd="0" destOrd="0" presId="urn:microsoft.com/office/officeart/2018/5/layout/IconLeafLabelList"/>
    <dgm:cxn modelId="{7E7C886D-A667-496F-8DDE-1B718561DB03}" srcId="{545DC5F4-D431-4A87-93B0-BBE05B35CCB1}" destId="{54983E92-0B7C-43A8-8C1F-984B0DFA982E}" srcOrd="0" destOrd="0" parTransId="{47D3E5B5-E005-481D-9366-7FFA245A3F46}" sibTransId="{9E0C94DC-193A-41FC-B82A-2A43E45C8107}"/>
    <dgm:cxn modelId="{B47C2F55-9A4B-4FFB-AA38-9C2574693CD4}" type="presOf" srcId="{54983E92-0B7C-43A8-8C1F-984B0DFA982E}" destId="{4E513C3D-9C85-4581-9570-C87158EE7A8E}" srcOrd="0" destOrd="0" presId="urn:microsoft.com/office/officeart/2018/5/layout/IconLeafLabelList"/>
    <dgm:cxn modelId="{53CEBE9C-EA76-48A8-8DF7-6953575A9C37}" type="presOf" srcId="{545DC5F4-D431-4A87-93B0-BBE05B35CCB1}" destId="{1CF3E5B1-FB46-4446-95BF-0E7408D9C151}" srcOrd="0" destOrd="0" presId="urn:microsoft.com/office/officeart/2018/5/layout/IconLeafLabelList"/>
    <dgm:cxn modelId="{0F5369C5-3BD8-41EC-82BC-B46BD7C285F5}" srcId="{545DC5F4-D431-4A87-93B0-BBE05B35CCB1}" destId="{A6242D37-AF81-4A91-9692-C3B78C4C080A}" srcOrd="1" destOrd="0" parTransId="{A1582085-1655-4316-B7FE-C167B01E3451}" sibTransId="{487527DA-4CA7-40A4-8E27-547430E84424}"/>
    <dgm:cxn modelId="{5C6FCB9C-3574-4EF1-979B-C82FE21FC231}" type="presParOf" srcId="{1CF3E5B1-FB46-4446-95BF-0E7408D9C151}" destId="{BE3E81CB-7E93-484B-AE32-12C58B09BCE0}" srcOrd="0" destOrd="0" presId="urn:microsoft.com/office/officeart/2018/5/layout/IconLeafLabelList"/>
    <dgm:cxn modelId="{3BEBC4B0-3768-4D30-9883-ED03B1BB2AA3}" type="presParOf" srcId="{BE3E81CB-7E93-484B-AE32-12C58B09BCE0}" destId="{D2D6216C-9B23-402E-A942-468E0F624F5B}" srcOrd="0" destOrd="0" presId="urn:microsoft.com/office/officeart/2018/5/layout/IconLeafLabelList"/>
    <dgm:cxn modelId="{9334B4F2-C5A7-478D-8C83-6B6B78937527}" type="presParOf" srcId="{BE3E81CB-7E93-484B-AE32-12C58B09BCE0}" destId="{F943F739-4EBC-47A7-A14C-25327E72C0F2}" srcOrd="1" destOrd="0" presId="urn:microsoft.com/office/officeart/2018/5/layout/IconLeafLabelList"/>
    <dgm:cxn modelId="{722E4463-BB96-47A5-B05B-8394250686DE}" type="presParOf" srcId="{BE3E81CB-7E93-484B-AE32-12C58B09BCE0}" destId="{3085FCD0-B526-4BA1-831E-148271EBCA71}" srcOrd="2" destOrd="0" presId="urn:microsoft.com/office/officeart/2018/5/layout/IconLeafLabelList"/>
    <dgm:cxn modelId="{4DDDB5E8-1F23-4A78-9605-45AAF5833E68}" type="presParOf" srcId="{BE3E81CB-7E93-484B-AE32-12C58B09BCE0}" destId="{4E513C3D-9C85-4581-9570-C87158EE7A8E}" srcOrd="3" destOrd="0" presId="urn:microsoft.com/office/officeart/2018/5/layout/IconLeafLabelList"/>
    <dgm:cxn modelId="{123D8173-4B78-41DB-B068-2BA15E016A23}" type="presParOf" srcId="{1CF3E5B1-FB46-4446-95BF-0E7408D9C151}" destId="{00D865C2-7AA1-4413-870A-557561F6A99D}" srcOrd="1" destOrd="0" presId="urn:microsoft.com/office/officeart/2018/5/layout/IconLeafLabelList"/>
    <dgm:cxn modelId="{E92967F1-54D1-402B-9BE3-03FB7BECA8E6}" type="presParOf" srcId="{1CF3E5B1-FB46-4446-95BF-0E7408D9C151}" destId="{0444C821-AE95-419C-A2C2-10FD435B3E72}" srcOrd="2" destOrd="0" presId="urn:microsoft.com/office/officeart/2018/5/layout/IconLeafLabelList"/>
    <dgm:cxn modelId="{6A34589F-98DC-49A5-B284-AB8B04E10F1B}" type="presParOf" srcId="{0444C821-AE95-419C-A2C2-10FD435B3E72}" destId="{C1C41DF5-156F-4AFD-8177-5E65296E36DA}" srcOrd="0" destOrd="0" presId="urn:microsoft.com/office/officeart/2018/5/layout/IconLeafLabelList"/>
    <dgm:cxn modelId="{E4BDC4E7-B33D-408F-A28A-9E646BDBCB86}" type="presParOf" srcId="{0444C821-AE95-419C-A2C2-10FD435B3E72}" destId="{BCD05D74-D5AE-459F-A6DF-06E0D3F03A72}" srcOrd="1" destOrd="0" presId="urn:microsoft.com/office/officeart/2018/5/layout/IconLeafLabelList"/>
    <dgm:cxn modelId="{3D1E9DB2-C5D6-4774-8110-C1F4D3951E71}" type="presParOf" srcId="{0444C821-AE95-419C-A2C2-10FD435B3E72}" destId="{2AB5314E-660E-4ED1-846B-8434948EF46B}" srcOrd="2" destOrd="0" presId="urn:microsoft.com/office/officeart/2018/5/layout/IconLeafLabelList"/>
    <dgm:cxn modelId="{2B9C7FC2-A255-4335-A004-2546E39B1238}" type="presParOf" srcId="{0444C821-AE95-419C-A2C2-10FD435B3E72}" destId="{A3838D15-85D1-4048-B20D-9009920800B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6216C-9B23-402E-A942-468E0F624F5B}">
      <dsp:nvSpPr>
        <dsp:cNvPr id="0" name=""/>
        <dsp:cNvSpPr/>
      </dsp:nvSpPr>
      <dsp:spPr>
        <a:xfrm>
          <a:off x="1178341" y="1535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3F739-4EBC-47A7-A14C-25327E72C0F2}">
      <dsp:nvSpPr>
        <dsp:cNvPr id="0" name=""/>
        <dsp:cNvSpPr/>
      </dsp:nvSpPr>
      <dsp:spPr>
        <a:xfrm>
          <a:off x="1470841" y="307856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13C3D-9C85-4581-9570-C87158EE7A8E}">
      <dsp:nvSpPr>
        <dsp:cNvPr id="0" name=""/>
        <dsp:cNvSpPr/>
      </dsp:nvSpPr>
      <dsp:spPr>
        <a:xfrm>
          <a:off x="281626" y="1815356"/>
          <a:ext cx="3165930" cy="74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Due by NOON </a:t>
          </a:r>
          <a:r>
            <a:rPr lang="en-US" sz="1800" kern="1200" dirty="0">
              <a:solidFill>
                <a:srgbClr val="C00000"/>
              </a:solidFill>
            </a:rPr>
            <a:t>(12:00 pm) on </a:t>
          </a:r>
          <a:r>
            <a:rPr lang="en-US" altLang="zh-CN" sz="1800" kern="1200" dirty="0">
              <a:solidFill>
                <a:srgbClr val="C00000"/>
              </a:solidFill>
            </a:rPr>
            <a:t>THURSDAY</a:t>
          </a:r>
          <a:r>
            <a:rPr lang="en-US" sz="1800" kern="1200" dirty="0">
              <a:solidFill>
                <a:srgbClr val="C00000"/>
              </a:solidFill>
            </a:rPr>
            <a:t>, Sep 24, 2025</a:t>
          </a:r>
        </a:p>
      </dsp:txBody>
      <dsp:txXfrm>
        <a:off x="281626" y="1815356"/>
        <a:ext cx="3165930" cy="743927"/>
      </dsp:txXfrm>
    </dsp:sp>
    <dsp:sp modelId="{C1C41DF5-156F-4AFD-8177-5E65296E36DA}">
      <dsp:nvSpPr>
        <dsp:cNvPr id="0" name=""/>
        <dsp:cNvSpPr/>
      </dsp:nvSpPr>
      <dsp:spPr>
        <a:xfrm>
          <a:off x="4816197" y="1535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05D74-D5AE-459F-A6DF-06E0D3F03A72}">
      <dsp:nvSpPr>
        <dsp:cNvPr id="0" name=""/>
        <dsp:cNvSpPr/>
      </dsp:nvSpPr>
      <dsp:spPr>
        <a:xfrm>
          <a:off x="5108697" y="307856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38D15-85D1-4048-B20D-9009920800B0}">
      <dsp:nvSpPr>
        <dsp:cNvPr id="0" name=""/>
        <dsp:cNvSpPr/>
      </dsp:nvSpPr>
      <dsp:spPr>
        <a:xfrm>
          <a:off x="3841306" y="1815356"/>
          <a:ext cx="3322282" cy="74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Submit a word document only include </a:t>
          </a:r>
          <a:r>
            <a:rPr lang="en-US" sz="1800" kern="1200" dirty="0">
              <a:solidFill>
                <a:srgbClr val="C00000"/>
              </a:solidFill>
            </a:rPr>
            <a:t>question and answer</a:t>
          </a:r>
        </a:p>
      </dsp:txBody>
      <dsp:txXfrm>
        <a:off x="3841306" y="1815356"/>
        <a:ext cx="3322282" cy="743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31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3152"/>
            <a:ext cx="2423160" cy="45720"/>
          </a:xfrm>
          <a:prstGeom prst="rect">
            <a:avLst/>
          </a:prstGeom>
          <a:solidFill>
            <a:srgbClr val="415057"/>
          </a:solidFill>
          <a:ln w="12700">
            <a:solidFill>
              <a:srgbClr val="415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88920" y="73152"/>
            <a:ext cx="2514600" cy="45720"/>
          </a:xfrm>
          <a:prstGeom prst="rect">
            <a:avLst/>
          </a:prstGeom>
          <a:solidFill>
            <a:srgbClr val="C28A78"/>
          </a:solidFill>
          <a:ln w="12700">
            <a:solidFill>
              <a:srgbClr val="C28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40680" y="73152"/>
            <a:ext cx="2514600" cy="45720"/>
          </a:xfrm>
          <a:prstGeom prst="rect">
            <a:avLst/>
          </a:prstGeom>
          <a:solidFill>
            <a:srgbClr val="7D878E"/>
          </a:solidFill>
          <a:ln w="12700">
            <a:solidFill>
              <a:srgbClr val="7D87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80101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482803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 2475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25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130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253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00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84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18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585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4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58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812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11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39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k05_title_bg_cropp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2296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658368"/>
            <a:ext cx="3794760" cy="3364992"/>
          </a:xfrm>
          <a:prstGeom prst="rect">
            <a:avLst/>
          </a:prstGeom>
          <a:solidFill>
            <a:srgbClr val="415057">
              <a:alpha val="90000"/>
            </a:srgbClr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58368" y="960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05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GEODATABASE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58368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INSTRUCTOR: YANAN WU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2026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182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530352"/>
            <a:ext cx="758952" cy="3355848"/>
          </a:xfrm>
          <a:prstGeom prst="rect">
            <a:avLst/>
          </a:prstGeom>
          <a:solidFill>
            <a:srgbClr val="415057"/>
          </a:solidFill>
          <a:ln w="12700">
            <a:solidFill>
              <a:srgbClr val="415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530352"/>
            <a:ext cx="6739128" cy="1847088"/>
          </a:xfrm>
          <a:prstGeom prst="rect">
            <a:avLst/>
          </a:prstGeom>
          <a:solidFill>
            <a:srgbClr val="C28A78"/>
          </a:solidFill>
          <a:ln w="12700">
            <a:solidFill>
              <a:srgbClr val="C28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3000" y="2423160"/>
            <a:ext cx="6739128" cy="1417320"/>
          </a:xfrm>
          <a:prstGeom prst="rect">
            <a:avLst/>
          </a:prstGeom>
          <a:solidFill>
            <a:srgbClr val="808A90"/>
          </a:solidFill>
          <a:ln w="12700">
            <a:solidFill>
              <a:srgbClr val="808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25880" y="10972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GEODATABASE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 OF THE GEODATABASE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geodatabase is the native ArcGIS structure for organizing, storing, editing, and managing GIS datasets.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00199"/>
            <a:ext cx="2240280" cy="1639389"/>
          </a:xfrm>
          <a:prstGeom prst="roundRect">
            <a:avLst>
              <a:gd name="adj" fmla="val 5333"/>
            </a:avLst>
          </a:prstGeom>
          <a:solidFill>
            <a:srgbClr val="E7F1F8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7335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🗂️  Stores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4088" y="205740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Feature classes, tables, raster datasets, attachments, and more.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063239" y="1600200"/>
            <a:ext cx="2155371" cy="1639388"/>
          </a:xfrm>
          <a:prstGeom prst="roundRect">
            <a:avLst>
              <a:gd name="adj" fmla="val 5333"/>
            </a:avLst>
          </a:prstGeom>
          <a:solidFill>
            <a:srgbClr val="E8F3EB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72968" y="167335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🧱  Manages 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41548" y="205740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Geometry type, spatial reference, fields, indexes, and relationships.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577840" y="1600200"/>
            <a:ext cx="2240280" cy="1639388"/>
          </a:xfrm>
          <a:prstGeom prst="roundRect">
            <a:avLst>
              <a:gd name="adj" fmla="val 5333"/>
            </a:avLst>
          </a:prstGeom>
          <a:solidFill>
            <a:srgbClr val="F6EBE3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87568" y="167335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✅  Improves quality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43016" y="205740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Domains, subtypes, topology, and rules help prevent bad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idea: a geodatabase is not just a folder. It is a data model for managing GIS information.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USE A GEODATABASE?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23337"/>
            <a:ext cx="374904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 shapefile stores one layer as several related files.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 geodatabase can store many related GIS datasets together.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It can define rules for valid attribute values.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It supports advanced GIS behavior, such as topology and relationships.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0" y="105156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6EBE3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81728" y="1124712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📁  Folder of files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81728" y="150876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.shp + .dbf + .shx + .prj + 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0" cy="411480"/>
          </a:xfrm>
          <a:prstGeom prst="line">
            <a:avLst/>
          </a:prstGeom>
          <a:noFill/>
          <a:ln w="25400">
            <a:solidFill>
              <a:srgbClr val="C28A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0" y="242316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E8F3EB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81728" y="2496312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🗄️  File geodatabase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81728" y="288036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Roads + buildings + tables + domains + attachments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GEODATABASES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E7F1F8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21208" y="107899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💻  File geodatabase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21208" y="1463040"/>
            <a:ext cx="2112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.gdb folder on a local drive or shared drive.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Best for course projects, local editing, and data organization.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71800" y="1005840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E8F3EB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81528" y="107899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 Mobile geodatabase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81528" y="1463040"/>
            <a:ext cx="2112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Single .geodatabase file based on SQLite.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Useful for portable and mobile workflows.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532120" y="1005840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F6EBE3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89596" y="1026741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🏢  Enterprise geodatabase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41848" y="1463040"/>
            <a:ext cx="2112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Stored in an enterprise DBMS; supports many users, versioning, and organization-wide editing.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3913632"/>
            <a:ext cx="7132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this class, we mainly use file geodatabases because they are easy to create and manage in ArcGIS Pro.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GEODATABASE COMPONENTS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56032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geodatabase can contain many kinds of GIS datasets and rules.</a:t>
            </a:r>
            <a:endParaRPr lang="en-US" sz="1700" dirty="0"/>
          </a:p>
        </p:txBody>
      </p:sp>
      <p:pic>
        <p:nvPicPr>
          <p:cNvPr id="4" name="Image 0" descr="/mnt/data/wk05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3643"/>
            <a:ext cx="3741299" cy="214949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A41902B-C2D0-C109-A86B-A88BAA1B5E7E}"/>
              </a:ext>
            </a:extLst>
          </p:cNvPr>
          <p:cNvGrpSpPr/>
          <p:nvPr/>
        </p:nvGrpSpPr>
        <p:grpSpPr>
          <a:xfrm>
            <a:off x="3808476" y="1490472"/>
            <a:ext cx="3995928" cy="2688336"/>
            <a:chOff x="3703320" y="1097280"/>
            <a:chExt cx="3995928" cy="2688336"/>
          </a:xfrm>
        </p:grpSpPr>
        <p:sp>
          <p:nvSpPr>
            <p:cNvPr id="5" name="Shape 2"/>
            <p:cNvSpPr/>
            <p:nvPr/>
          </p:nvSpPr>
          <p:spPr>
            <a:xfrm>
              <a:off x="3721608" y="1097280"/>
              <a:ext cx="1874520" cy="658368"/>
            </a:xfrm>
            <a:prstGeom prst="roundRect">
              <a:avLst>
                <a:gd name="adj" fmla="val 11111"/>
              </a:avLst>
            </a:prstGeom>
            <a:solidFill>
              <a:srgbClr val="E7F1F8"/>
            </a:solidFill>
            <a:ln w="9525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3813048" y="1170432"/>
              <a:ext cx="16550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030A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Feature class</a:t>
              </a:r>
              <a:endParaRPr lang="en-US" sz="11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3813048" y="1495044"/>
              <a:ext cx="1655064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04040"/>
                  </a:solidFill>
                  <a:latin typeface="Times New Roman" panose="02020603050405020304" pitchFamily="18" charset="0"/>
                  <a:ea typeface="Georgia" pitchFamily="34" charset="-122"/>
                  <a:cs typeface="Times New Roman" panose="02020603050405020304" pitchFamily="18" charset="0"/>
                </a:rPr>
                <a:t>points, lines, polygons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hape 5"/>
            <p:cNvSpPr/>
            <p:nvPr/>
          </p:nvSpPr>
          <p:spPr>
            <a:xfrm>
              <a:off x="5806440" y="1097280"/>
              <a:ext cx="1874520" cy="658368"/>
            </a:xfrm>
            <a:prstGeom prst="roundRect">
              <a:avLst>
                <a:gd name="adj" fmla="val 11111"/>
              </a:avLst>
            </a:prstGeom>
            <a:solidFill>
              <a:srgbClr val="E8F3EB"/>
            </a:solidFill>
            <a:ln w="9525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5934456" y="1170432"/>
              <a:ext cx="16550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030A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Table</a:t>
              </a:r>
              <a:endParaRPr lang="en-US" sz="11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934456" y="1495044"/>
              <a:ext cx="1655064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04040"/>
                  </a:solidFill>
                  <a:latin typeface="Times New Roman" panose="02020603050405020304" pitchFamily="18" charset="0"/>
                  <a:ea typeface="Georgia" pitchFamily="34" charset="-122"/>
                  <a:cs typeface="Times New Roman" panose="02020603050405020304" pitchFamily="18" charset="0"/>
                </a:rPr>
                <a:t>nonspatial records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3703320" y="1965960"/>
              <a:ext cx="1874520" cy="658368"/>
            </a:xfrm>
            <a:prstGeom prst="roundRect">
              <a:avLst>
                <a:gd name="adj" fmla="val 11111"/>
              </a:avLst>
            </a:prstGeom>
            <a:solidFill>
              <a:srgbClr val="F6EBE3"/>
            </a:solidFill>
            <a:ln w="9525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3813048" y="2039112"/>
              <a:ext cx="16550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030A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Raster dataset</a:t>
              </a:r>
              <a:endParaRPr lang="en-US" sz="11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3813048" y="2368296"/>
              <a:ext cx="1655064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04040"/>
                  </a:solidFill>
                  <a:latin typeface="Times New Roman" panose="02020603050405020304" pitchFamily="18" charset="0"/>
                  <a:ea typeface="Georgia" pitchFamily="34" charset="-122"/>
                  <a:cs typeface="Times New Roman" panose="02020603050405020304" pitchFamily="18" charset="0"/>
                </a:rPr>
                <a:t>grid/pixel data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Shape 11"/>
            <p:cNvSpPr/>
            <p:nvPr/>
          </p:nvSpPr>
          <p:spPr>
            <a:xfrm>
              <a:off x="5824728" y="1965960"/>
              <a:ext cx="1874520" cy="658368"/>
            </a:xfrm>
            <a:prstGeom prst="roundRect">
              <a:avLst>
                <a:gd name="adj" fmla="val 11111"/>
              </a:avLst>
            </a:prstGeom>
            <a:solidFill>
              <a:srgbClr val="F0E8F6"/>
            </a:solidFill>
            <a:ln w="9525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5916168" y="2039112"/>
              <a:ext cx="16550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030A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Domains</a:t>
              </a:r>
              <a:endParaRPr lang="en-US" sz="11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5916168" y="2368296"/>
              <a:ext cx="1655064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04040"/>
                  </a:solidFill>
                  <a:latin typeface="Times New Roman" panose="02020603050405020304" pitchFamily="18" charset="0"/>
                  <a:ea typeface="Georgia" pitchFamily="34" charset="-122"/>
                  <a:cs typeface="Times New Roman" panose="02020603050405020304" pitchFamily="18" charset="0"/>
                </a:rPr>
                <a:t>valid attribute values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Shape 14"/>
            <p:cNvSpPr/>
            <p:nvPr/>
          </p:nvSpPr>
          <p:spPr>
            <a:xfrm>
              <a:off x="3703320" y="2834640"/>
              <a:ext cx="1874520" cy="950976"/>
            </a:xfrm>
            <a:prstGeom prst="roundRect">
              <a:avLst>
                <a:gd name="adj" fmla="val 11111"/>
              </a:avLst>
            </a:prstGeom>
            <a:solidFill>
              <a:srgbClr val="FCF6DE"/>
            </a:solidFill>
            <a:ln w="9525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/>
            <p:cNvSpPr/>
            <p:nvPr/>
          </p:nvSpPr>
          <p:spPr>
            <a:xfrm>
              <a:off x="3813048" y="2907792"/>
              <a:ext cx="16550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030A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Subtypes</a:t>
              </a:r>
              <a:endParaRPr lang="en-US" sz="11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3813048" y="3291840"/>
              <a:ext cx="1655064" cy="4304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04040"/>
                  </a:solidFill>
                  <a:latin typeface="Times New Roman" panose="02020603050405020304" pitchFamily="18" charset="0"/>
                  <a:ea typeface="Georgia" pitchFamily="34" charset="-122"/>
                  <a:cs typeface="Times New Roman" panose="02020603050405020304" pitchFamily="18" charset="0"/>
                </a:rPr>
                <a:t>categories inside one feature class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Shape 17"/>
            <p:cNvSpPr/>
            <p:nvPr/>
          </p:nvSpPr>
          <p:spPr>
            <a:xfrm>
              <a:off x="5806440" y="2834640"/>
              <a:ext cx="1874520" cy="950976"/>
            </a:xfrm>
            <a:prstGeom prst="roundRect">
              <a:avLst>
                <a:gd name="adj" fmla="val 11111"/>
              </a:avLst>
            </a:prstGeom>
            <a:solidFill>
              <a:srgbClr val="E7F1F8"/>
            </a:solidFill>
            <a:ln w="9525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5916168" y="2907792"/>
              <a:ext cx="16550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030A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Topology</a:t>
              </a:r>
              <a:endParaRPr lang="en-US" sz="11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5916168" y="3291840"/>
              <a:ext cx="1655064" cy="4304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04040"/>
                  </a:solidFill>
                  <a:latin typeface="Times New Roman" panose="02020603050405020304" pitchFamily="18" charset="0"/>
                  <a:ea typeface="Georgia" pitchFamily="34" charset="-122"/>
                  <a:cs typeface="Times New Roman" panose="02020603050405020304" pitchFamily="18" charset="0"/>
                </a:rPr>
                <a:t>spatial relationship rules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Text 20"/>
          <p:cNvSpPr/>
          <p:nvPr/>
        </p:nvSpPr>
        <p:spPr>
          <a:xfrm>
            <a:off x="530352" y="4329684"/>
            <a:ext cx="69494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a geodatabase as a structured GIS workspace, not just a storage folder.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CLASSES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feature class is the main way vector data are stored in a geodatabase.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E7F1F8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" y="149047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📍  Same geometry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2376" y="1817042"/>
            <a:ext cx="1929384" cy="651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All features must be points, lines, or polygons—not mixed.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063240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E8F3EB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72968" y="149047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Same fields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91256" y="1817043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All rows share the same attribute schema.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532120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6EBE3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41848" y="149047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Spatial reference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0136" y="1817043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Coordinates are tied to a defined coordinate system.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3051483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F0E8F6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052789"/>
            <a:ext cx="5998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3364992"/>
            <a:ext cx="5998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 RoadDamage feature class stores each damaged location as one point feature with fields such as damage_type, severity, photo, and priority_score.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CLASS VS. SHAPEFILE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283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Shapefile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9080" y="914400"/>
            <a:ext cx="3611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class in geodatabase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6EBE3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648" y="149047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Traditional exchange format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" y="1874520"/>
            <a:ext cx="31638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• Multiple files must stay together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• One geometry type per layer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• Limited field names and data types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• No built-in domains or subtypes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069080" y="141732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E8F3EB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78808" y="1490472"/>
            <a:ext cx="3392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ArcGIS data management format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78808" y="1874520"/>
            <a:ext cx="33924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• Stored inside a .gdb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• One geometry type per feature class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• Better field/schema management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• Can use domains, subtypes, topology, attachments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4075611"/>
            <a:ext cx="7269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check the type of ‘Airport’ Data in geodatabase and folder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TABLES AND RASTER DATASETS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E7F1F8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📊  Tables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Tables store records that may not have geometry. They can still be related to spatial features using common IDs.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Example: maintenance history table linked to road-damage points.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34840" y="1024128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E8F3EB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44568" y="109728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🧩  Raster datasets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44568" y="1481328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 geodatabase can also store raster data such as elevation, land cover, or imagery.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Example: a DEM stored with vector roads in the same project geodatabase.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ATTRIBUTE DOMAINS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domain is a rule that limits what values can be entered in a field.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E8F3EB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" y="1490472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🔢  Coded-value domain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874520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 fixed list of allowed categories.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Road condition: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• good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• fair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• poor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F6EBE3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36008" y="1490472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📏  Range domain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6008" y="1874520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 numeric field must fall within a valid range.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Inspection score: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0 to 100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768634"/>
            <a:ext cx="69494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matters: domains prevent inconsistent entries such as “Poor,” “bad,” “damaged,” and “p00r.”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CREATE A CODED-VALUE DOMAIN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demo: create a coded-value domain to standardize </a:t>
            </a:r>
            <a:r>
              <a:rPr lang="en-US" altLang="zh-CN" sz="16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of airports</a:t>
            </a:r>
            <a:r>
              <a:rPr lang="en-US" sz="16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600" dirty="0"/>
          </a:p>
        </p:txBody>
      </p:sp>
      <p:pic>
        <p:nvPicPr>
          <p:cNvPr id="4" name="Image 0" descr="/mnt/data/wk05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48125"/>
            <a:ext cx="1874520" cy="2150071"/>
          </a:xfrm>
          <a:prstGeom prst="rect">
            <a:avLst/>
          </a:prstGeom>
        </p:spPr>
      </p:pic>
      <p:pic>
        <p:nvPicPr>
          <p:cNvPr id="5" name="Image 1" descr="/mnt/data/wk05/ppt/media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369341"/>
            <a:ext cx="2286000" cy="260551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578608" y="3192562"/>
            <a:ext cx="5166360" cy="1325880"/>
          </a:xfrm>
          <a:prstGeom prst="roundRect">
            <a:avLst>
              <a:gd name="adj" fmla="val 5517"/>
            </a:avLst>
          </a:prstGeom>
          <a:solidFill>
            <a:srgbClr val="FCF6DE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2688336" y="3265714"/>
            <a:ext cx="4946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2688336" y="3649762"/>
            <a:ext cx="4946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Right-click the geodatabase → </a:t>
            </a:r>
            <a:r>
              <a:rPr lang="en-US" sz="10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Domains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Create Locations as Text + Coded Value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Add South, North, East, West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Assign the domain to the field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Try entering an invalid value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D36CDD-7CC1-B4FE-878D-814F541EC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764" y="1348125"/>
            <a:ext cx="3118271" cy="10095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CREATE A RANGE DOMAIN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 domains are useful when the </a:t>
            </a: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answer</a:t>
            </a:r>
            <a:r>
              <a:rPr lang="en-US" sz="16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should be numeric but must stay within a reasonable range.</a:t>
            </a:r>
            <a:endParaRPr lang="en-US" sz="1600" dirty="0"/>
          </a:p>
        </p:txBody>
      </p:sp>
      <p:pic>
        <p:nvPicPr>
          <p:cNvPr id="4" name="Image 0" descr="/mnt/data/wk05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78"/>
            <a:ext cx="3840480" cy="6099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2743200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E7F1F8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9768" y="2816352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⛰️  Example: Area range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9768" y="3200400"/>
            <a:ext cx="2752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Field: Area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 values: 0–500 acres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Purpose: prevent impossible values for the airport area.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98848" y="3200400"/>
            <a:ext cx="2752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Field: SCORE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 values: 1–5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Purpose: standardize inspection rating.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D2F050B1-7AC3-DBC9-C904-1C65C492373A}"/>
              </a:ext>
            </a:extLst>
          </p:cNvPr>
          <p:cNvSpPr/>
          <p:nvPr/>
        </p:nvSpPr>
        <p:spPr>
          <a:xfrm>
            <a:off x="3401568" y="2561299"/>
            <a:ext cx="4677809" cy="1325880"/>
          </a:xfrm>
          <a:prstGeom prst="roundRect">
            <a:avLst>
              <a:gd name="adj" fmla="val 5517"/>
            </a:avLst>
          </a:prstGeom>
          <a:solidFill>
            <a:srgbClr val="FCF6DE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58C53026-3896-9AFB-444F-666C24CCF8AA}"/>
              </a:ext>
            </a:extLst>
          </p:cNvPr>
          <p:cNvSpPr/>
          <p:nvPr/>
        </p:nvSpPr>
        <p:spPr>
          <a:xfrm>
            <a:off x="3600271" y="2616490"/>
            <a:ext cx="44791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</a:t>
            </a:r>
            <a:endParaRPr lang="en-US" sz="13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3FDD9628-1FE6-29F0-8A41-1FB29DFAB30F}"/>
              </a:ext>
            </a:extLst>
          </p:cNvPr>
          <p:cNvSpPr/>
          <p:nvPr/>
        </p:nvSpPr>
        <p:spPr>
          <a:xfrm>
            <a:off x="3600271" y="3000538"/>
            <a:ext cx="4479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Right-click the geodatabase → </a:t>
            </a:r>
            <a:r>
              <a:rPr lang="en-US" sz="10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Domains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Create A</a:t>
            </a:r>
            <a:r>
              <a:rPr lang="en-US" altLang="zh-CN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</a:t>
            </a: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Double + Min and Max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Add 0 as Minimum and 500 as Maximum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Assign the domain to the field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Try entering an invalid value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E8A8C7-1C01-0161-239A-F8810A3BF802}"/>
              </a:ext>
            </a:extLst>
          </p:cNvPr>
          <p:cNvSpPr txBox="1"/>
          <p:nvPr/>
        </p:nvSpPr>
        <p:spPr>
          <a:xfrm>
            <a:off x="723356" y="4007685"/>
            <a:ext cx="67828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400" dirty="0"/>
              <a:t>Please try to enter -8, 180, and 650 in the Area field. </a:t>
            </a:r>
          </a:p>
          <a:p>
            <a:r>
              <a:rPr lang="en-US" sz="1400" dirty="0"/>
              <a:t>Which values are accepted, and which values violate the range domain? Explain what you observe.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SUBTYPES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830145"/>
            <a:ext cx="7315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Subtypes divide one feature class into meaningful groups using a coded integer field.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183337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7F1F8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" y="1906524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🛣️  One feature class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210888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Infrastructure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97480" y="2281428"/>
            <a:ext cx="457200" cy="0"/>
          </a:xfrm>
          <a:prstGeom prst="line">
            <a:avLst/>
          </a:prstGeom>
          <a:noFill/>
          <a:ln w="25400">
            <a:solidFill>
              <a:srgbClr val="C28A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37560" y="142189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E8F3EB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47288" y="1495044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Subtype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56432" y="179940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Road damage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37560" y="229057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6EBE3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47288" y="2363724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Subtype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6432" y="266808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Sidewalk issue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37560" y="315925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0E8F6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47288" y="3232404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Subtype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56432" y="353676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Sign problem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23560" y="1741932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CF6DE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33288" y="1815084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use subtypes?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33288" y="2199132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Different groups can have different default values, domains, and editing rules.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66751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Question: Should potholes, sidewalk cracks, and broken signs be separate layers or subtypes?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TOPOLOGY RULES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Topology rules help maintain correct spatial relationships between features.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7F1F8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58191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not overlap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" y="1904565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Parcel polygons should not overlap each other.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017520" y="15087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8F3EB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27248" y="158191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not have gaps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27248" y="1904565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County polygons should cover the area without slivers.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532120" y="15087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6EBE3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41848" y="158191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be covered by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41848" y="1904565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Buildings should fall inside parcel polygons.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2953512"/>
            <a:ext cx="6675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Topology does not just store shapes. It checks whether the shapes make spatial sense.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GEODATABASE DATA MANAGEMENT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good geodatabase workflow moves from storing data to designing data behavior.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205740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7F1F8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2130552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.gdb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9768" y="25146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Make a project geodatabase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45920" y="2551176"/>
            <a:ext cx="182880" cy="0"/>
          </a:xfrm>
          <a:prstGeom prst="line">
            <a:avLst/>
          </a:prstGeom>
          <a:noFill/>
          <a:ln w="25400">
            <a:solidFill>
              <a:srgbClr val="C28A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74520" y="205740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3EB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84248" y="2130552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 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84248" y="25146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Bring in shapefiles, tables, rasters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2551176"/>
            <a:ext cx="182880" cy="0"/>
          </a:xfrm>
          <a:prstGeom prst="line">
            <a:avLst/>
          </a:prstGeom>
          <a:noFill/>
          <a:ln w="25400">
            <a:solidFill>
              <a:srgbClr val="C28A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205740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6EBE3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38728" y="2130552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schema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38728" y="25146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Fields, data types, spatial reference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54880" y="2551176"/>
            <a:ext cx="182880" cy="0"/>
          </a:xfrm>
          <a:prstGeom prst="line">
            <a:avLst/>
          </a:prstGeom>
          <a:noFill/>
          <a:ln w="25400">
            <a:solidFill>
              <a:srgbClr val="C28A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83480" y="205740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0E8F6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93208" y="2130552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rules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93208" y="25146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Domains, subtypes, topology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09360" y="2551176"/>
            <a:ext cx="182880" cy="0"/>
          </a:xfrm>
          <a:prstGeom prst="line">
            <a:avLst/>
          </a:prstGeom>
          <a:noFill/>
          <a:ln w="25400">
            <a:solidFill>
              <a:srgbClr val="C28A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205740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CF6DE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47688" y="2130552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products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2514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Maps, analysis, dashboards, StoryMaps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" y="3840480"/>
            <a:ext cx="7452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connection: organize source data first, then create maps, dashboards, and StoryMaps.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DEMO: CREATE A FILE GEODATABASE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Goal: students see that a file geodatabase is created as a .gdb folder inside the project.</a:t>
            </a:r>
            <a:endParaRPr lang="en-US" sz="1600" dirty="0"/>
          </a:p>
        </p:txBody>
      </p:sp>
      <p:pic>
        <p:nvPicPr>
          <p:cNvPr id="4" name="Image 0" descr="/mnt/data/wk05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00" y="1417320"/>
            <a:ext cx="2009279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63240" y="1143000"/>
            <a:ext cx="475488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5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ArcGIS Pro and create or open a project.</a:t>
            </a:r>
            <a:endParaRPr lang="en-US" sz="145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5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Catalog pane, right-click Databases or a folder connection.</a:t>
            </a:r>
            <a:endParaRPr lang="en-US" sz="145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5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New File Geodatabase.</a:t>
            </a:r>
            <a:endParaRPr lang="en-US" sz="145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5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it: UCA_RoadDamage.gdb.</a:t>
            </a:r>
            <a:endParaRPr lang="en-US" sz="145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5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.gdb folder in File Explorer.</a:t>
            </a:r>
            <a:endParaRPr lang="en-US" sz="145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5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Reminder: do not manually edit the files inside the .gdb folder.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DEMO: IMPORT DATA INTO A GEODATABASE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Goal: move data into the geodatabase and compare old and new storage formats.</a:t>
            </a:r>
            <a:endParaRPr lang="en-US" sz="1600" dirty="0"/>
          </a:p>
        </p:txBody>
      </p:sp>
      <p:pic>
        <p:nvPicPr>
          <p:cNvPr id="4" name="Image 0" descr="/mnt/data/wk05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32" y="1371600"/>
            <a:ext cx="1830057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54680" y="1143000"/>
            <a:ext cx="46177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Right-click the target geodatabase → Import.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Feature Class(es) for vector data or Raster Dataset for raster data.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a shapefile such as roads or campus points.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output feature class clearly.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attribute table and compare fields before/after import.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4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Discuss: what changed when the shapefile became a feature class?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187952"/>
            <a:ext cx="66751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Task: 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identify the new feature class inside the geodatabase.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530352"/>
            <a:ext cx="758952" cy="3355848"/>
          </a:xfrm>
          <a:prstGeom prst="rect">
            <a:avLst/>
          </a:prstGeom>
          <a:solidFill>
            <a:srgbClr val="415057"/>
          </a:solidFill>
          <a:ln w="12700">
            <a:solidFill>
              <a:srgbClr val="415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530352"/>
            <a:ext cx="6739128" cy="1847088"/>
          </a:xfrm>
          <a:prstGeom prst="rect">
            <a:avLst/>
          </a:prstGeom>
          <a:solidFill>
            <a:srgbClr val="C28A78"/>
          </a:solidFill>
          <a:ln w="12700">
            <a:solidFill>
              <a:srgbClr val="C28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3000" y="2423160"/>
            <a:ext cx="6739128" cy="1417320"/>
          </a:xfrm>
          <a:prstGeom prst="rect">
            <a:avLst/>
          </a:prstGeom>
          <a:solidFill>
            <a:srgbClr val="808A90"/>
          </a:solidFill>
          <a:ln w="12700">
            <a:solidFill>
              <a:srgbClr val="808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25880" y="10972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SESSION</a:t>
            </a:r>
            <a:endParaRPr lang="en-US" sz="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6"/>
            <a:ext cx="8229600" cy="462914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F975A-F937-77A1-413D-F51FF137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17" y="865356"/>
            <a:ext cx="7444991" cy="462049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398"/>
              </a:spcAft>
            </a:pPr>
            <a:r>
              <a:rPr lang="en-US" sz="216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Lab 04: Spatial queries</a:t>
            </a:r>
            <a:endParaRPr lang="en-US" sz="216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1B7E67-130C-FD82-8132-74DBD62B80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4461895"/>
              </p:ext>
            </p:extLst>
          </p:nvPr>
        </p:nvGraphicFramePr>
        <p:xfrm>
          <a:off x="392192" y="1837730"/>
          <a:ext cx="7445216" cy="257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27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1302</Words>
  <Application>Microsoft Office PowerPoint</Application>
  <PresentationFormat>Custom</PresentationFormat>
  <Paragraphs>218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Georgia</vt:lpstr>
      <vt:lpstr>Gill Sans MT</vt:lpstr>
      <vt:lpstr>Times New Roman</vt:lpstr>
      <vt:lpstr>Wingdings</vt:lpstr>
      <vt:lpstr>Wingdings 2</vt:lpstr>
      <vt:lpstr>Office Theme</vt:lpstr>
      <vt:lpstr>3_DividendVTI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04: Spatial queries</vt:lpstr>
    </vt:vector>
  </TitlesOfParts>
  <Company>University of Central Arkansas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05 Geodatabase Lecture Enriched</dc:title>
  <dc:subject>Week 05 Geodatabase</dc:subject>
  <dc:creator>Yanan Wu</dc:creator>
  <cp:lastModifiedBy>Yanan Wu</cp:lastModifiedBy>
  <cp:revision>30</cp:revision>
  <dcterms:created xsi:type="dcterms:W3CDTF">2026-09-16T20:08:32Z</dcterms:created>
  <dcterms:modified xsi:type="dcterms:W3CDTF">2026-09-17T14:59:40Z</dcterms:modified>
</cp:coreProperties>
</file>