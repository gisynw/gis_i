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  <p:sldMasterId id="2147483672" r:id="rId2"/>
    <p:sldMasterId id="2147483684" r:id="rId3"/>
    <p:sldMasterId id="2147483696" r:id="rId4"/>
    <p:sldMasterId id="2147483709" r:id="rId5"/>
    <p:sldMasterId id="2147483722" r:id="rId6"/>
    <p:sldMasterId id="2147483734" r:id="rId7"/>
  </p:sldMasterIdLst>
  <p:notesMasterIdLst>
    <p:notesMasterId r:id="rId33"/>
  </p:notesMasterIdLst>
  <p:sldIdLst>
    <p:sldId id="914" r:id="rId8"/>
    <p:sldId id="1647" r:id="rId9"/>
    <p:sldId id="635" r:id="rId10"/>
    <p:sldId id="332" r:id="rId11"/>
    <p:sldId id="340" r:id="rId12"/>
    <p:sldId id="629" r:id="rId13"/>
    <p:sldId id="362" r:id="rId14"/>
    <p:sldId id="347" r:id="rId15"/>
    <p:sldId id="348" r:id="rId16"/>
    <p:sldId id="349" r:id="rId17"/>
    <p:sldId id="351" r:id="rId18"/>
    <p:sldId id="352" r:id="rId19"/>
    <p:sldId id="353" r:id="rId20"/>
    <p:sldId id="354" r:id="rId21"/>
    <p:sldId id="355" r:id="rId22"/>
    <p:sldId id="356" r:id="rId23"/>
    <p:sldId id="633" r:id="rId24"/>
    <p:sldId id="634" r:id="rId25"/>
    <p:sldId id="335" r:id="rId26"/>
    <p:sldId id="338" r:id="rId27"/>
    <p:sldId id="361" r:id="rId28"/>
    <p:sldId id="367" r:id="rId29"/>
    <p:sldId id="368" r:id="rId30"/>
    <p:sldId id="636" r:id="rId31"/>
    <p:sldId id="270" r:id="rId32"/>
  </p:sldIdLst>
  <p:sldSz cx="8229600" cy="51435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5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271" autoAdjust="0"/>
  </p:normalViewPr>
  <p:slideViewPr>
    <p:cSldViewPr snapToGrid="0" snapToObjects="1">
      <p:cViewPr varScale="1">
        <p:scale>
          <a:sx n="126" d="100"/>
          <a:sy n="126" d="100"/>
        </p:scale>
        <p:origin x="1554" y="138"/>
      </p:cViewPr>
      <p:guideLst>
        <p:guide orient="horz" pos="1620"/>
        <p:guide pos="259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34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viewProps" Target="viewProps.xml"/><Relationship Id="rId8" Type="http://schemas.openxmlformats.org/officeDocument/2006/relationships/slide" Target="slides/slide1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66C520B4-85AA-9542-8CF7-3D2DDCE6041D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696913"/>
            <a:ext cx="5578475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6507943-197E-CE46-82F0-5A323A24AE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73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07943-197E-CE46-82F0-5A323A24AE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0193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sz="1200" dirty="0"/>
          </a:p>
        </p:txBody>
      </p:sp>
    </p:spTree>
    <p:extLst>
      <p:ext uri="{BB962C8B-B14F-4D97-AF65-F5344CB8AC3E}">
        <p14:creationId xmlns:p14="http://schemas.microsoft.com/office/powerpoint/2010/main" val="724156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 0, max is 850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07943-197E-CE46-82F0-5A323A24AE7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6064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Tint or 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07943-197E-CE46-82F0-5A323A24AE7A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2835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07943-197E-CE46-82F0-5A323A24AE7A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007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C3D6C-4C04-4098-BFD3-3A35EE232A02}" type="datetime1">
              <a:rPr lang="en-US" smtClean="0"/>
              <a:t>9/25/2025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965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4FE18-0348-44C2-B6F7-2E0D6E3F701A}" type="datetime1">
              <a:rPr lang="en-US" smtClean="0"/>
              <a:t>9/25/2025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647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F0D2F-BB82-470C-9FE9-67ACBD4EA48C}" type="datetime1">
              <a:rPr lang="en-US" smtClean="0"/>
              <a:t>9/25/2025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061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A95C9-8F46-4670-8D9D-84E56B4CFD5A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928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75E7C-2B02-474E-8FA0-86410A5FC033}" type="datetime1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47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54FF1-2CCB-4C67-BF4F-DF19FC698996}" type="datetime1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712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F9D0A-F538-4910-B89C-0793149889D3}" type="datetime1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472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5CF7382D-DEC2-4064-84F2-56AF48079030}" type="datetime1">
              <a:rPr lang="en-US" smtClean="0"/>
              <a:t>9/25/2025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622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E25F9-7C58-4ADD-B4E8-3E3F2DD7C261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594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367AB-96C5-48C1-ABEF-4922F06666CC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264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F2300-F914-44F4-9F48-323AB4F049A8}" type="datetime1">
              <a:rPr lang="en-US" smtClean="0"/>
              <a:t>9/25/2025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054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AF446-C7A3-4A2D-B01C-4080BC0DDC51}" type="datetime1">
              <a:rPr lang="en-US" smtClean="0"/>
              <a:t>9/25/2025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807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A5B41-BFC4-4275-B283-99B49DA65AE7}" type="datetime1">
              <a:rPr lang="en-US" smtClean="0"/>
              <a:t>9/25/2025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631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F5041-7C46-4557-A8EF-D9C07452E04F}" type="datetime1">
              <a:rPr lang="en-US" smtClean="0"/>
              <a:t>9/25/2025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2827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F29B-8031-46B1-B8C6-0E15991220BD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3413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6BC96-89B3-4A8F-8C3A-8FECB7F0AF50}" type="datetime1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0246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F6BEE-F3E4-4F76-B56D-1C48BBD7AEA9}" type="datetime1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6091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F79E3-AE5C-4717-978E-15FC3620ACEF}" type="datetime1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3854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07B82B69-02FF-4A00-BF94-063310C8EF70}" type="datetime1">
              <a:rPr lang="en-US" smtClean="0"/>
              <a:t>9/25/2025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6279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A3C19-50BF-43F6-AD63-C05469BE5035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378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35F4A-7979-4619-A182-7748F9FBAA45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2001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A0E10-3CDB-43FE-B1B5-7D3654751138}" type="datetime1">
              <a:rPr lang="en-US" smtClean="0"/>
              <a:t>9/25/2025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3712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0FEA4-C6CA-4262-94C7-989766AA3A47}" type="datetime1">
              <a:rPr lang="en-US" smtClean="0"/>
              <a:t>9/25/2025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4248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5A5F7-BE7B-4360-B821-FCDB8E9197AC}" type="datetime1">
              <a:rPr lang="en-US" smtClean="0"/>
              <a:t>9/25/2025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5883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5D492-0F60-495A-BAAC-3C877C1D64A2}" type="datetime1">
              <a:rPr lang="en-US" smtClean="0"/>
              <a:t>9/25/2025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3430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22FED-C97B-4E3C-B05B-1278829CCA0F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5601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F91E7-DD27-45EE-9FAC-A58839C2E3FB}" type="datetime1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7216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B943-D34E-498D-BB5B-1BC0D01A4C3C}" type="datetime1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70991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88AC7-A362-47DE-B037-3A7E785BA73D}" type="datetime1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7405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1E09BAED-B7FC-4220-8037-60663F890984}" type="datetime1">
              <a:rPr lang="en-US" smtClean="0"/>
              <a:t>9/25/2025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7993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C0B96-D43B-410F-A514-3967CACDF6C4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4388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DFB46-027F-4778-8182-714012A6E051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51046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FD05A-9631-4BEE-9AA4-5575ADA850E9}" type="datetime1">
              <a:rPr lang="en-US" smtClean="0"/>
              <a:t>9/25/2025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4923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7748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1675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16335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7597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63929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33268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52320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D82884F1-FFEA-405F-9602-3DCA865EDA4E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23849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8412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73052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18044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preserve="1">
  <p:cSld name="Title and body 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280530" y="597425"/>
            <a:ext cx="766854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Arial Black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altLang="zh-CN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9917577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74332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20007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083134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76244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36475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72534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7409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D82884F1-FFEA-405F-9602-3DCA865EDA4E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54773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81606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05181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87347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preserve="1">
  <p:cSld name="Title and body 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280530" y="597425"/>
            <a:ext cx="766854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Arial Black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altLang="zh-CN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6616379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64197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74698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21431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91154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67062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18450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35475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D82884F1-FFEA-405F-9602-3DCA865EDA4E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64387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94846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22044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25453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90936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751451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57835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43403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73207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45366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98159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D82884F1-FFEA-405F-9602-3DCA865EDA4E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27244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3095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75648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13104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preserve="1">
  <p:cSld name="Title and body 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280530" y="597425"/>
            <a:ext cx="766854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Arial Black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0646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slideLayout" Target="../slideLayouts/slideLayout80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8F82ABC-BB26-4212-BE76-C6A697540B8D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8662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1ED8BDC-014F-440E-B651-A3D5A758B980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4019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234BEC2-5A9D-42E1-9C16-1E9F257755B7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0104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2641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hf sldNum="0"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4963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</p:sldLayoutIdLst>
  <p:hf sldNum="0"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7083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hf sldNum="0"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7762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  <p:sldLayoutId id="2147483746" r:id="rId12"/>
  </p:sldLayoutIdLst>
  <p:hf sldNum="0"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stbok.ucgis.org/bok-topics/statistical-mapping-enumeration-normalization-classification#:~:text=In%20Cartography%2C%20units%20by%20which,metropolitan%20areas%2C%20among%20many%20others.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gistbok.ucgis.org/bok-topics/statistical-mapping-enumeration-normalization-classification#:~:text=In%20Cartography%2C%20units%20by%20which,metropolitan%20areas%2C%20among%20many%20others.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75485B9-8EE1-447A-9C08-F7D6B532A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57176"/>
            <a:ext cx="8229599" cy="4629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 descr="A colorful background with waves&#10;&#10;Description automatically generated with medium confidence">
            <a:extLst>
              <a:ext uri="{FF2B5EF4-FFF2-40B4-BE49-F238E27FC236}">
                <a16:creationId xmlns:a16="http://schemas.microsoft.com/office/drawing/2014/main" id="{1734BD9E-DDD5-C150-8BA0-0B1B13AE06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111"/>
          <a:stretch/>
        </p:blipFill>
        <p:spPr>
          <a:xfrm>
            <a:off x="13" y="257175"/>
            <a:ext cx="8229587" cy="462914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963707F-B98C-4143-AFCF-D6B56C975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6990" y="565785"/>
            <a:ext cx="3382366" cy="617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D2DFBB-460D-4ECB-BD76-509C99DAD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018" y="662983"/>
            <a:ext cx="3381337" cy="390782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E3439C-E1CA-A039-1552-7B23AB700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060" y="785709"/>
            <a:ext cx="3871767" cy="1831185"/>
          </a:xfrm>
        </p:spPr>
        <p:txBody>
          <a:bodyPr>
            <a:normAutofit fontScale="90000"/>
          </a:bodyPr>
          <a:lstStyle/>
          <a:p>
            <a:r>
              <a:rPr lang="en-US" sz="2700" dirty="0">
                <a:solidFill>
                  <a:srgbClr val="FFFFFF"/>
                </a:solidFill>
              </a:rPr>
              <a:t>WEEK 06</a:t>
            </a:r>
            <a:br>
              <a:rPr lang="en-US" sz="2700" dirty="0">
                <a:solidFill>
                  <a:srgbClr val="FFFFFF"/>
                </a:solidFill>
              </a:rPr>
            </a:br>
            <a:r>
              <a:rPr lang="en-US" altLang="zh-CN" sz="2800" dirty="0"/>
              <a:t>Data Standardization and Classification</a:t>
            </a:r>
            <a:br>
              <a:rPr lang="en-US" sz="2700" dirty="0">
                <a:solidFill>
                  <a:srgbClr val="FFFFFF"/>
                </a:solidFill>
              </a:rPr>
            </a:br>
            <a:br>
              <a:rPr lang="en-US" sz="2700" dirty="0">
                <a:solidFill>
                  <a:srgbClr val="FFFFFF"/>
                </a:solidFill>
              </a:rPr>
            </a:br>
            <a:r>
              <a:rPr lang="en-US" sz="2700" dirty="0">
                <a:solidFill>
                  <a:srgbClr val="FFFFFF"/>
                </a:solidFill>
              </a:rPr>
              <a:t>lecture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D6AEC8-AD7D-2F2A-F638-325ACB8C9D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060" y="2798352"/>
            <a:ext cx="2916154" cy="1537292"/>
          </a:xfrm>
        </p:spPr>
        <p:txBody>
          <a:bodyPr>
            <a:noAutofit/>
          </a:bodyPr>
          <a:lstStyle/>
          <a:p>
            <a:r>
              <a:rPr lang="en-US" sz="1890" dirty="0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Instructor: Yanan Wu</a:t>
            </a:r>
          </a:p>
          <a:p>
            <a:r>
              <a:rPr lang="en-US" sz="1890" dirty="0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1890" dirty="0" err="1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fALL</a:t>
            </a:r>
            <a:r>
              <a:rPr lang="en-US" sz="1890" dirty="0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2025</a:t>
            </a:r>
          </a:p>
          <a:p>
            <a:endParaRPr lang="en-US" sz="1890" dirty="0">
              <a:solidFill>
                <a:srgbClr val="FFFFFF">
                  <a:alpha val="75000"/>
                </a:srgb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9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1301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410" y="565785"/>
            <a:ext cx="2499741" cy="6412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8449" y="563384"/>
            <a:ext cx="2499741" cy="6652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63235" y="565785"/>
            <a:ext cx="2499741" cy="6172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411" y="2340066"/>
            <a:ext cx="7626779" cy="22532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39171204-6A50-40E1-B631-84CEDFC93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7175"/>
            <a:ext cx="8229600" cy="4629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6C973F6-5187-412F-AACC-6E3FF8A6A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3999" y="592623"/>
            <a:ext cx="746661" cy="395532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11AE14F-1B7E-41E6-B579-2F71D1350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178" y="592621"/>
            <a:ext cx="6723707" cy="248269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78BAB5-C1DE-8DAD-E76F-BECA6F24C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258" y="735412"/>
            <a:ext cx="6492542" cy="2247787"/>
          </a:xfrm>
        </p:spPr>
        <p:txBody>
          <a:bodyPr vert="horz" lIns="61722" tIns="30861" rIns="61722" bIns="30861" rtlCol="0" anchor="ctr">
            <a:normAutofit/>
          </a:bodyPr>
          <a:lstStyle/>
          <a:p>
            <a:r>
              <a:rPr lang="en-US" sz="4050" dirty="0">
                <a:solidFill>
                  <a:srgbClr val="FFFFFF"/>
                </a:solidFill>
              </a:rPr>
              <a:t>6.2 </a:t>
            </a:r>
            <a:br>
              <a:rPr lang="en-US" sz="4050" dirty="0">
                <a:solidFill>
                  <a:srgbClr val="FFFFFF"/>
                </a:solidFill>
              </a:rPr>
            </a:br>
            <a:r>
              <a:rPr lang="en-US" sz="4050" dirty="0">
                <a:solidFill>
                  <a:srgbClr val="FFFFFF"/>
                </a:solidFill>
              </a:rPr>
              <a:t>CLASSIFICATION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52BB805-F7B7-4B80-A1C5-385D4DAF7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133" y="3149018"/>
            <a:ext cx="6723753" cy="1398925"/>
          </a:xfrm>
          <a:prstGeom prst="rect">
            <a:avLst/>
          </a:prstGeom>
          <a:solidFill>
            <a:srgbClr val="6C7781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9517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F91C3C4F-AFA8-48B3-AF1A-33AC2E596F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21101" y="1085160"/>
            <a:ext cx="4071139" cy="388620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/>
              <a:t>Data Classification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240" dirty="0"/>
              <a:t>Equal interval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240" dirty="0"/>
              <a:t>Quantiles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240" dirty="0"/>
              <a:t>Natural breaks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240" dirty="0"/>
              <a:t>Standard deviation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3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247135" y="389510"/>
            <a:ext cx="8077200" cy="5346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O</a:t>
            </a:r>
            <a:r>
              <a:rPr lang="en-US" altLang="zh-CN" sz="3200" dirty="0">
                <a:solidFill>
                  <a:srgbClr val="7030A0"/>
                </a:solidFill>
              </a:rPr>
              <a:t>verview</a:t>
            </a:r>
            <a:endParaRPr lang="en-US" sz="26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3405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3236B0D-77DA-40DD-A4DD-2FF3ABCF8081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2C5DB739-20F3-42ED-8F68-2C9AC3BC4128}"/>
              </a:ext>
            </a:extLst>
          </p:cNvPr>
          <p:cNvSpPr txBox="1">
            <a:spLocks/>
          </p:cNvSpPr>
          <p:nvPr/>
        </p:nvSpPr>
        <p:spPr>
          <a:xfrm>
            <a:off x="247135" y="281940"/>
            <a:ext cx="8077200" cy="7480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D</a:t>
            </a:r>
            <a:r>
              <a:rPr lang="en-US" altLang="zh-CN" sz="3200" dirty="0">
                <a:solidFill>
                  <a:srgbClr val="7030A0"/>
                </a:solidFill>
              </a:rPr>
              <a:t>ata Classification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7" name="Rectangle 1027">
            <a:extLst>
              <a:ext uri="{FF2B5EF4-FFF2-40B4-BE49-F238E27FC236}">
                <a16:creationId xmlns:a16="http://schemas.microsoft.com/office/drawing/2014/main" id="{CAD29DC8-DB08-4DBA-834A-2684963EDCBF}"/>
              </a:ext>
            </a:extLst>
          </p:cNvPr>
          <p:cNvSpPr txBox="1">
            <a:spLocks noChangeArrowheads="1"/>
          </p:cNvSpPr>
          <p:nvPr/>
        </p:nvSpPr>
        <p:spPr>
          <a:xfrm>
            <a:off x="302741" y="1029962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The act of organizing attribute values into categories, or groups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Can be qualitative or quantitative, and based on any of the four measurement scales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Nominal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Ordinal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Interval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Ratio</a:t>
            </a:r>
          </a:p>
          <a:p>
            <a:pPr marL="0" indent="0">
              <a:buNone/>
            </a:pPr>
            <a:endParaRPr lang="en-US" altLang="en-US" sz="26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6D2492-D921-4460-AB89-B3A25B176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0781A92-AFCB-4070-BEDD-2F5263365926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43248A48-84FF-4FB0-86EA-12F6D8242E95}"/>
              </a:ext>
            </a:extLst>
          </p:cNvPr>
          <p:cNvSpPr txBox="1">
            <a:spLocks/>
          </p:cNvSpPr>
          <p:nvPr/>
        </p:nvSpPr>
        <p:spPr>
          <a:xfrm>
            <a:off x="247135" y="227338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Methods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6" name="Rectangle 1027">
            <a:extLst>
              <a:ext uri="{FF2B5EF4-FFF2-40B4-BE49-F238E27FC236}">
                <a16:creationId xmlns:a16="http://schemas.microsoft.com/office/drawing/2014/main" id="{7827843E-EDC7-41DF-A3C7-8C77A42653F4}"/>
              </a:ext>
            </a:extLst>
          </p:cNvPr>
          <p:cNvSpPr txBox="1">
            <a:spLocks noChangeArrowheads="1"/>
          </p:cNvSpPr>
          <p:nvPr/>
        </p:nvSpPr>
        <p:spPr>
          <a:xfrm>
            <a:off x="302741" y="1029962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One of the most interesting aspects of thematic mapping: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One set of attribute values can yield many different maps, depending on the classification methods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The scheme you choose can strongly influence how your map is perceived.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Some of the most common schemes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2080" dirty="0"/>
              <a:t>Equal interval, quantiles, natural breaks, standard deviation, optimal breaks, maximum breaks</a:t>
            </a:r>
          </a:p>
          <a:p>
            <a:pPr marL="0" indent="0">
              <a:buNone/>
            </a:pPr>
            <a:endParaRPr lang="en-US" altLang="en-US" sz="26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9EA289-E2EB-4525-9CA1-5BFA5B727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0781A92-AFCB-4070-BEDD-2F5263365926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43248A48-84FF-4FB0-86EA-12F6D8242E95}"/>
              </a:ext>
            </a:extLst>
          </p:cNvPr>
          <p:cNvSpPr txBox="1">
            <a:spLocks/>
          </p:cNvSpPr>
          <p:nvPr/>
        </p:nvSpPr>
        <p:spPr>
          <a:xfrm>
            <a:off x="248073" y="148829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Methods</a:t>
            </a:r>
            <a:endParaRPr lang="en-US" sz="2600" dirty="0">
              <a:solidFill>
                <a:srgbClr val="7030A0"/>
              </a:solidFill>
            </a:endParaRPr>
          </a:p>
        </p:txBody>
      </p:sp>
      <p:pic>
        <p:nvPicPr>
          <p:cNvPr id="3" name="Picture 2" descr="Image of different classification methods">
            <a:extLst>
              <a:ext uri="{FF2B5EF4-FFF2-40B4-BE49-F238E27FC236}">
                <a16:creationId xmlns:a16="http://schemas.microsoft.com/office/drawing/2014/main" id="{8D440A12-0ED3-4227-AFD8-05512D04D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264712"/>
            <a:ext cx="5252930" cy="19977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432B53-2B0A-41CE-981B-C08C5E5B221B}"/>
              </a:ext>
            </a:extLst>
          </p:cNvPr>
          <p:cNvSpPr txBox="1"/>
          <p:nvPr/>
        </p:nvSpPr>
        <p:spPr>
          <a:xfrm>
            <a:off x="412595" y="1089246"/>
            <a:ext cx="7515922" cy="73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80" dirty="0"/>
              <a:t>Percent of residents over the age of 25 in Wisconsin that possess a Bachelor's degree or higher in 2016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C9B0CE-AC09-4E34-834F-5A341993D840}"/>
              </a:ext>
            </a:extLst>
          </p:cNvPr>
          <p:cNvSpPr txBox="1"/>
          <p:nvPr/>
        </p:nvSpPr>
        <p:spPr>
          <a:xfrm>
            <a:off x="118533" y="4589502"/>
            <a:ext cx="617178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https://gistbok.ucgis.org/bok-topics/statistical-mapping-enumeration-normalization-classification#:~:text=In%20Cartography%2C%20units%20by%20which,metropolitan%20areas%2C%20among%20many%20others.</a:t>
            </a:r>
            <a:endParaRPr lang="en-US" sz="1000" dirty="0">
              <a:solidFill>
                <a:srgbClr val="0070C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7013628-BA9B-495B-858D-58EDACC0409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66815"/>
          <a:stretch/>
        </p:blipFill>
        <p:spPr>
          <a:xfrm>
            <a:off x="5786330" y="2264712"/>
            <a:ext cx="1710712" cy="195587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6BA40-6B84-4020-B377-073BE3356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771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8" name="Picture 5" descr="Population map with three different classification methods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46128" y="1929655"/>
            <a:ext cx="4337344" cy="295068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F051D06-EED7-4820-A03B-D356E9617C98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349A3129-B78B-47A6-A8F9-752CF40B58DD}"/>
              </a:ext>
            </a:extLst>
          </p:cNvPr>
          <p:cNvSpPr txBox="1">
            <a:spLocks/>
          </p:cNvSpPr>
          <p:nvPr/>
        </p:nvSpPr>
        <p:spPr>
          <a:xfrm>
            <a:off x="236838" y="169104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Methods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E3546995-9822-49E9-913B-2F3569173B80}"/>
              </a:ext>
            </a:extLst>
          </p:cNvPr>
          <p:cNvSpPr txBox="1">
            <a:spLocks noChangeArrowheads="1"/>
          </p:cNvSpPr>
          <p:nvPr/>
        </p:nvSpPr>
        <p:spPr>
          <a:xfrm>
            <a:off x="313038" y="994144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US" sz="2600" dirty="0">
                <a:solidFill>
                  <a:srgbClr val="000000"/>
                </a:solidFill>
                <a:ea typeface="MS Mincho" pitchFamily="49" charset="-128"/>
              </a:rPr>
              <a:t>Animation showing population using equal interval, quantile, and natural breaks classification methods</a:t>
            </a:r>
            <a:endParaRPr lang="en-US" sz="2600" dirty="0">
              <a:solidFill>
                <a:srgbClr val="000000"/>
              </a:solidFill>
              <a:cs typeface="Times New Roman" pitchFamily="18" charset="0"/>
            </a:endParaRPr>
          </a:p>
          <a:p>
            <a:pPr marL="0" indent="0">
              <a:buNone/>
            </a:pPr>
            <a:endParaRPr lang="en-US" altLang="en-US" sz="2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0B558F-82DE-4B80-8E0A-87B34172B6FB}"/>
              </a:ext>
            </a:extLst>
          </p:cNvPr>
          <p:cNvSpPr txBox="1"/>
          <p:nvPr/>
        </p:nvSpPr>
        <p:spPr>
          <a:xfrm>
            <a:off x="512957" y="4866500"/>
            <a:ext cx="2973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 u="none" strike="noStrike" baseline="0" dirty="0">
                <a:solidFill>
                  <a:srgbClr val="0070C0"/>
                </a:solidFill>
              </a:rPr>
              <a:t> National Geospatial Technology Center of Excellence 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F34E9A-E86D-492F-85BA-9D4FFC9AD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6" descr="Image of equal interval definition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58361" y="2202061"/>
            <a:ext cx="5933241" cy="2567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49" name="Rectangle 8"/>
          <p:cNvSpPr>
            <a:spLocks noChangeArrowheads="1"/>
          </p:cNvSpPr>
          <p:nvPr/>
        </p:nvSpPr>
        <p:spPr bwMode="auto">
          <a:xfrm>
            <a:off x="1408034" y="2526745"/>
            <a:ext cx="379333" cy="1832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215"/>
          </a:p>
        </p:txBody>
      </p:sp>
      <p:sp>
        <p:nvSpPr>
          <p:cNvPr id="31750" name="Rectangle 9"/>
          <p:cNvSpPr>
            <a:spLocks noChangeArrowheads="1"/>
          </p:cNvSpPr>
          <p:nvPr/>
        </p:nvSpPr>
        <p:spPr bwMode="auto">
          <a:xfrm>
            <a:off x="1835588" y="2526745"/>
            <a:ext cx="610791" cy="1832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215"/>
          </a:p>
        </p:txBody>
      </p:sp>
      <p:sp>
        <p:nvSpPr>
          <p:cNvPr id="31751" name="Rectangle 7"/>
          <p:cNvSpPr>
            <a:spLocks noChangeArrowheads="1"/>
          </p:cNvSpPr>
          <p:nvPr/>
        </p:nvSpPr>
        <p:spPr bwMode="auto">
          <a:xfrm>
            <a:off x="1404820" y="2547105"/>
            <a:ext cx="449162" cy="196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675" b="1">
                <a:solidFill>
                  <a:srgbClr val="000000"/>
                </a:solidFill>
                <a:latin typeface="Arial" charset="0"/>
                <a:cs typeface="Arial" charset="0"/>
              </a:rPr>
              <a:t>TOWN</a:t>
            </a:r>
          </a:p>
        </p:txBody>
      </p:sp>
      <p:sp>
        <p:nvSpPr>
          <p:cNvPr id="31752" name="Rectangle 10"/>
          <p:cNvSpPr>
            <a:spLocks noChangeArrowheads="1"/>
          </p:cNvSpPr>
          <p:nvPr/>
        </p:nvSpPr>
        <p:spPr bwMode="auto">
          <a:xfrm>
            <a:off x="1795940" y="2547105"/>
            <a:ext cx="692229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675" b="1">
                <a:solidFill>
                  <a:srgbClr val="000000"/>
                </a:solidFill>
                <a:latin typeface="Arial" charset="0"/>
                <a:cs typeface="Arial" charset="0"/>
              </a:rPr>
              <a:t>POPULATION</a:t>
            </a:r>
          </a:p>
        </p:txBody>
      </p:sp>
      <p:sp>
        <p:nvSpPr>
          <p:cNvPr id="301071" name="Rectangle 15"/>
          <p:cNvSpPr>
            <a:spLocks noChangeArrowheads="1"/>
          </p:cNvSpPr>
          <p:nvPr/>
        </p:nvSpPr>
        <p:spPr bwMode="auto">
          <a:xfrm>
            <a:off x="4645224" y="3427929"/>
            <a:ext cx="2204450" cy="300082"/>
          </a:xfrm>
          <a:prstGeom prst="rect">
            <a:avLst/>
          </a:prstGeom>
          <a:solidFill>
            <a:schemeClr val="bg1"/>
          </a:solidFill>
          <a:ln w="9525">
            <a:solidFill>
              <a:srgbClr val="7030A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>
                <a:solidFill>
                  <a:srgbClr val="000000"/>
                </a:solidFill>
                <a:latin typeface="Arial" charset="0"/>
                <a:cs typeface="Arial" charset="0"/>
              </a:rPr>
              <a:t> No gaps between classes</a:t>
            </a:r>
          </a:p>
        </p:txBody>
      </p:sp>
      <p:sp>
        <p:nvSpPr>
          <p:cNvPr id="301072" name="Line 16"/>
          <p:cNvSpPr>
            <a:spLocks noChangeShapeType="1"/>
          </p:cNvSpPr>
          <p:nvPr/>
        </p:nvSpPr>
        <p:spPr bwMode="auto">
          <a:xfrm flipH="1" flipV="1">
            <a:off x="4201598" y="3356134"/>
            <a:ext cx="438269" cy="197168"/>
          </a:xfrm>
          <a:prstGeom prst="line">
            <a:avLst/>
          </a:prstGeom>
          <a:noFill/>
          <a:ln w="28575">
            <a:solidFill>
              <a:srgbClr val="7030A0"/>
            </a:solidFill>
            <a:round/>
            <a:headEnd/>
            <a:tailEnd/>
          </a:ln>
        </p:spPr>
        <p:txBody>
          <a:bodyPr/>
          <a:lstStyle/>
          <a:p>
            <a:endParaRPr lang="en-US" sz="1215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F728211-A4A3-4922-A0C6-A64CE12920DE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E3FAA335-3FCA-4FF2-870E-EB00DEC45EE1}"/>
              </a:ext>
            </a:extLst>
          </p:cNvPr>
          <p:cNvSpPr txBox="1">
            <a:spLocks/>
          </p:cNvSpPr>
          <p:nvPr/>
        </p:nvSpPr>
        <p:spPr>
          <a:xfrm>
            <a:off x="274938" y="1454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Methods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B5289ECC-3465-444A-8712-6ED52E1A1725}"/>
              </a:ext>
            </a:extLst>
          </p:cNvPr>
          <p:cNvSpPr txBox="1">
            <a:spLocks noChangeArrowheads="1"/>
          </p:cNvSpPr>
          <p:nvPr/>
        </p:nvSpPr>
        <p:spPr>
          <a:xfrm>
            <a:off x="274938" y="967791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Equal Interval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Each class occupies an equal interval along the number line, or histogram</a:t>
            </a:r>
          </a:p>
          <a:p>
            <a:pPr marL="0" indent="0">
              <a:buNone/>
            </a:pPr>
            <a:endParaRPr lang="en-US" altLang="en-US" sz="2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FFB1BC-25B5-4BE7-9314-102C75177610}"/>
              </a:ext>
            </a:extLst>
          </p:cNvPr>
          <p:cNvSpPr txBox="1"/>
          <p:nvPr/>
        </p:nvSpPr>
        <p:spPr>
          <a:xfrm>
            <a:off x="512957" y="4866500"/>
            <a:ext cx="2973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 u="none" strike="noStrike" baseline="0" dirty="0">
                <a:solidFill>
                  <a:srgbClr val="0070C0"/>
                </a:solidFill>
              </a:rPr>
              <a:t> National Geospatial Technology Center of Excellence 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E17D5E-A590-4413-A9DE-514F56A3E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071" grpId="0" animBg="1"/>
      <p:bldP spid="30107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3303410" y="3218841"/>
            <a:ext cx="1774919" cy="1546577"/>
            <a:chOff x="3287564" y="3728807"/>
            <a:chExt cx="2629511" cy="2291225"/>
          </a:xfrm>
        </p:grpSpPr>
        <p:sp>
          <p:nvSpPr>
            <p:cNvPr id="32773" name="Rectangle 6" descr="Example of equal interval "/>
            <p:cNvSpPr>
              <a:spLocks noChangeArrowheads="1"/>
            </p:cNvSpPr>
            <p:nvPr/>
          </p:nvSpPr>
          <p:spPr bwMode="auto">
            <a:xfrm>
              <a:off x="4247101" y="3728807"/>
              <a:ext cx="1669974" cy="2291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sz="189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0 – 20</a:t>
              </a:r>
            </a:p>
            <a:p>
              <a:pPr algn="l"/>
              <a:r>
                <a:rPr lang="en-US" sz="189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21 – 40</a:t>
              </a:r>
            </a:p>
            <a:p>
              <a:pPr algn="l"/>
              <a:r>
                <a:rPr lang="en-US" sz="189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41 – 60</a:t>
              </a:r>
            </a:p>
            <a:p>
              <a:pPr algn="l"/>
              <a:r>
                <a:rPr lang="en-US" sz="189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61 – 80</a:t>
              </a:r>
            </a:p>
            <a:p>
              <a:pPr algn="l"/>
              <a:r>
                <a:rPr lang="en-US" sz="189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81 – 100</a:t>
              </a:r>
              <a:endParaRPr lang="en-US" sz="1890" dirty="0"/>
            </a:p>
          </p:txBody>
        </p:sp>
        <p:pic>
          <p:nvPicPr>
            <p:cNvPr id="32774" name="Picture 7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287564" y="3777179"/>
              <a:ext cx="874641" cy="21293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21010F8-2D5E-4DC3-82F4-BB12B62B2239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D3756FEF-C64A-4934-9B58-E4FCEFEE2FED}"/>
              </a:ext>
            </a:extLst>
          </p:cNvPr>
          <p:cNvSpPr txBox="1">
            <a:spLocks/>
          </p:cNvSpPr>
          <p:nvPr/>
        </p:nvSpPr>
        <p:spPr>
          <a:xfrm>
            <a:off x="118533" y="20780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Methods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5" name="Rectangle 1027">
            <a:extLst>
              <a:ext uri="{FF2B5EF4-FFF2-40B4-BE49-F238E27FC236}">
                <a16:creationId xmlns:a16="http://schemas.microsoft.com/office/drawing/2014/main" id="{7EBC59B8-A183-4D9C-8822-9E715BCE65AD}"/>
              </a:ext>
            </a:extLst>
          </p:cNvPr>
          <p:cNvSpPr txBox="1">
            <a:spLocks noChangeArrowheads="1"/>
          </p:cNvSpPr>
          <p:nvPr/>
        </p:nvSpPr>
        <p:spPr>
          <a:xfrm>
            <a:off x="274938" y="967791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Equal Interval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Advantages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2080" dirty="0"/>
              <a:t>Can be easy to understand and interpret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2080" dirty="0"/>
              <a:t>Good for attributes that are normally represented using uniform classes: elevation, precipitation, percentages</a:t>
            </a:r>
          </a:p>
          <a:p>
            <a:pPr marL="0" indent="0">
              <a:buNone/>
            </a:pPr>
            <a:endParaRPr lang="en-US" altLang="en-US" sz="2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5F3D5D-C536-4CC8-B1F6-55BBAF7FA996}"/>
              </a:ext>
            </a:extLst>
          </p:cNvPr>
          <p:cNvSpPr txBox="1"/>
          <p:nvPr/>
        </p:nvSpPr>
        <p:spPr>
          <a:xfrm>
            <a:off x="512957" y="4866500"/>
            <a:ext cx="2973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 u="none" strike="noStrike" baseline="0" dirty="0">
                <a:solidFill>
                  <a:srgbClr val="0070C0"/>
                </a:solidFill>
              </a:rPr>
              <a:t> National Geospatial Technology Center of Excellence 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5F80C0-D959-41C5-B0C6-863DCBAD9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27">
            <a:extLst>
              <a:ext uri="{FF2B5EF4-FFF2-40B4-BE49-F238E27FC236}">
                <a16:creationId xmlns:a16="http://schemas.microsoft.com/office/drawing/2014/main" id="{47081933-B3BE-465A-B06D-B8BEBE557980}"/>
              </a:ext>
            </a:extLst>
          </p:cNvPr>
          <p:cNvSpPr txBox="1">
            <a:spLocks noChangeArrowheads="1"/>
          </p:cNvSpPr>
          <p:nvPr/>
        </p:nvSpPr>
        <p:spPr>
          <a:xfrm>
            <a:off x="274938" y="967791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Equal Interval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Disadvantages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2080" dirty="0"/>
              <a:t>Poorly considers distribution of data along a number line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2080" dirty="0"/>
              <a:t>Doesn’t works well with skewed distributions (can result in empty classes)</a:t>
            </a:r>
          </a:p>
          <a:p>
            <a:pPr marL="0" indent="0">
              <a:buNone/>
            </a:pPr>
            <a:endParaRPr lang="en-US" altLang="en-US" sz="2600" dirty="0"/>
          </a:p>
        </p:txBody>
      </p:sp>
      <p:pic>
        <p:nvPicPr>
          <p:cNvPr id="34818" name="Picture 7" descr="Image showing disadvantages of equal interval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86316" y="3170753"/>
            <a:ext cx="5333167" cy="8701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B996BE5-2850-4CB1-B5F7-17DD77FE2CA6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E1D6009A-D44C-46E3-8A5B-C5746F4DC1C9}"/>
              </a:ext>
            </a:extLst>
          </p:cNvPr>
          <p:cNvSpPr txBox="1">
            <a:spLocks/>
          </p:cNvSpPr>
          <p:nvPr/>
        </p:nvSpPr>
        <p:spPr>
          <a:xfrm>
            <a:off x="118533" y="20780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D38C98-1D9D-4BBA-AA8A-97E9B67572A7}"/>
              </a:ext>
            </a:extLst>
          </p:cNvPr>
          <p:cNvSpPr txBox="1"/>
          <p:nvPr/>
        </p:nvSpPr>
        <p:spPr>
          <a:xfrm>
            <a:off x="512957" y="4866500"/>
            <a:ext cx="2973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 u="none" strike="noStrike" baseline="0" dirty="0">
                <a:solidFill>
                  <a:srgbClr val="0070C0"/>
                </a:solidFill>
              </a:rPr>
              <a:t> National Geospatial Technology Center of Excellence 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BA1313-1E73-482B-BF8F-969F2C36B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27">
            <a:extLst>
              <a:ext uri="{FF2B5EF4-FFF2-40B4-BE49-F238E27FC236}">
                <a16:creationId xmlns:a16="http://schemas.microsoft.com/office/drawing/2014/main" id="{DE7F2320-4748-4FE4-98FB-4A2ABCFCA058}"/>
              </a:ext>
            </a:extLst>
          </p:cNvPr>
          <p:cNvSpPr txBox="1">
            <a:spLocks noChangeArrowheads="1"/>
          </p:cNvSpPr>
          <p:nvPr/>
        </p:nvSpPr>
        <p:spPr>
          <a:xfrm>
            <a:off x="274938" y="967791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Quantile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Each class contains the same (or similar) number of attribute values</a:t>
            </a:r>
          </a:p>
          <a:p>
            <a:pPr marL="0" indent="0">
              <a:buNone/>
            </a:pPr>
            <a:endParaRPr lang="en-US" altLang="en-US" sz="2600" dirty="0"/>
          </a:p>
        </p:txBody>
      </p:sp>
      <p:pic>
        <p:nvPicPr>
          <p:cNvPr id="35842" name="Picture 6" descr="Image of quantile definitio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4429" y="2199919"/>
            <a:ext cx="5945029" cy="25781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5157" name="Rectangle 5"/>
          <p:cNvSpPr>
            <a:spLocks noChangeArrowheads="1"/>
          </p:cNvSpPr>
          <p:nvPr/>
        </p:nvSpPr>
        <p:spPr bwMode="auto">
          <a:xfrm>
            <a:off x="5143500" y="2085261"/>
            <a:ext cx="1697355" cy="715581"/>
          </a:xfrm>
          <a:prstGeom prst="rect">
            <a:avLst/>
          </a:prstGeom>
          <a:solidFill>
            <a:schemeClr val="bg1"/>
          </a:solidFill>
          <a:ln w="9525">
            <a:solidFill>
              <a:srgbClr val="7030A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350" dirty="0">
                <a:solidFill>
                  <a:srgbClr val="000000"/>
                </a:solidFill>
                <a:latin typeface="Arial" charset="0"/>
                <a:cs typeface="Arial" charset="0"/>
              </a:rPr>
              <a:t>4 classes: quartiles</a:t>
            </a:r>
          </a:p>
          <a:p>
            <a:r>
              <a:rPr lang="en-US" sz="1350" dirty="0">
                <a:solidFill>
                  <a:srgbClr val="000000"/>
                </a:solidFill>
                <a:latin typeface="Arial" charset="0"/>
                <a:cs typeface="Arial" charset="0"/>
              </a:rPr>
              <a:t>5 classes: quintiles</a:t>
            </a:r>
          </a:p>
          <a:p>
            <a:r>
              <a:rPr lang="en-US" sz="1350" dirty="0">
                <a:solidFill>
                  <a:srgbClr val="000000"/>
                </a:solidFill>
                <a:latin typeface="Arial" charset="0"/>
                <a:cs typeface="Arial" charset="0"/>
              </a:rPr>
              <a:t>6 classes: sextiles</a:t>
            </a:r>
          </a:p>
        </p:txBody>
      </p:sp>
      <p:sp>
        <p:nvSpPr>
          <p:cNvPr id="35846" name="Rectangle 7"/>
          <p:cNvSpPr>
            <a:spLocks noChangeArrowheads="1"/>
          </p:cNvSpPr>
          <p:nvPr/>
        </p:nvSpPr>
        <p:spPr bwMode="auto">
          <a:xfrm>
            <a:off x="1408034" y="2526745"/>
            <a:ext cx="379333" cy="1832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215"/>
          </a:p>
        </p:txBody>
      </p:sp>
      <p:sp>
        <p:nvSpPr>
          <p:cNvPr id="35847" name="Rectangle 8"/>
          <p:cNvSpPr>
            <a:spLocks noChangeArrowheads="1"/>
          </p:cNvSpPr>
          <p:nvPr/>
        </p:nvSpPr>
        <p:spPr bwMode="auto">
          <a:xfrm>
            <a:off x="1835588" y="2526745"/>
            <a:ext cx="610791" cy="1832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215"/>
          </a:p>
        </p:txBody>
      </p:sp>
      <p:sp>
        <p:nvSpPr>
          <p:cNvPr id="35848" name="Rectangle 9"/>
          <p:cNvSpPr>
            <a:spLocks noChangeArrowheads="1"/>
          </p:cNvSpPr>
          <p:nvPr/>
        </p:nvSpPr>
        <p:spPr bwMode="auto">
          <a:xfrm>
            <a:off x="1404820" y="2547105"/>
            <a:ext cx="449162" cy="196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675" b="1">
                <a:solidFill>
                  <a:srgbClr val="000000"/>
                </a:solidFill>
                <a:latin typeface="Arial" charset="0"/>
                <a:cs typeface="Arial" charset="0"/>
              </a:rPr>
              <a:t>TOWN</a:t>
            </a:r>
          </a:p>
        </p:txBody>
      </p:sp>
      <p:sp>
        <p:nvSpPr>
          <p:cNvPr id="305163" name="Rectangle 11"/>
          <p:cNvSpPr>
            <a:spLocks noChangeArrowheads="1"/>
          </p:cNvSpPr>
          <p:nvPr/>
        </p:nvSpPr>
        <p:spPr bwMode="auto">
          <a:xfrm>
            <a:off x="4638795" y="3427929"/>
            <a:ext cx="1925527" cy="300082"/>
          </a:xfrm>
          <a:prstGeom prst="rect">
            <a:avLst/>
          </a:prstGeom>
          <a:solidFill>
            <a:schemeClr val="bg1"/>
          </a:solidFill>
          <a:ln w="9525">
            <a:solidFill>
              <a:srgbClr val="7030A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>
                <a:solidFill>
                  <a:srgbClr val="000000"/>
                </a:solidFill>
                <a:latin typeface="Arial" charset="0"/>
                <a:cs typeface="Arial" charset="0"/>
              </a:rPr>
              <a:t>Gaps between classes</a:t>
            </a:r>
          </a:p>
        </p:txBody>
      </p:sp>
      <p:sp>
        <p:nvSpPr>
          <p:cNvPr id="305164" name="Line 12"/>
          <p:cNvSpPr>
            <a:spLocks noChangeShapeType="1"/>
          </p:cNvSpPr>
          <p:nvPr/>
        </p:nvSpPr>
        <p:spPr bwMode="auto">
          <a:xfrm flipH="1" flipV="1">
            <a:off x="4201598" y="3356134"/>
            <a:ext cx="438269" cy="197168"/>
          </a:xfrm>
          <a:prstGeom prst="line">
            <a:avLst/>
          </a:prstGeom>
          <a:noFill/>
          <a:ln w="28575">
            <a:solidFill>
              <a:srgbClr val="7030A0"/>
            </a:solidFill>
            <a:round/>
            <a:headEnd/>
            <a:tailEnd/>
          </a:ln>
        </p:spPr>
        <p:txBody>
          <a:bodyPr/>
          <a:lstStyle/>
          <a:p>
            <a:endParaRPr lang="en-US" sz="1215"/>
          </a:p>
        </p:txBody>
      </p:sp>
      <p:sp>
        <p:nvSpPr>
          <p:cNvPr id="35851" name="Rectangle 10"/>
          <p:cNvSpPr>
            <a:spLocks noChangeArrowheads="1"/>
          </p:cNvSpPr>
          <p:nvPr/>
        </p:nvSpPr>
        <p:spPr bwMode="auto">
          <a:xfrm>
            <a:off x="1784153" y="2547105"/>
            <a:ext cx="692229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675" b="1">
                <a:solidFill>
                  <a:srgbClr val="000000"/>
                </a:solidFill>
                <a:latin typeface="Arial" charset="0"/>
                <a:cs typeface="Arial" charset="0"/>
              </a:rPr>
              <a:t>POPULATION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92700" y="3707524"/>
            <a:ext cx="1763049" cy="21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8BE3AE1-FE28-497B-AAA5-00F5E8ABBE9B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5C03C2CF-0CBD-48EF-B3E6-2E9CC790B51B}"/>
              </a:ext>
            </a:extLst>
          </p:cNvPr>
          <p:cNvSpPr txBox="1">
            <a:spLocks/>
          </p:cNvSpPr>
          <p:nvPr/>
        </p:nvSpPr>
        <p:spPr>
          <a:xfrm>
            <a:off x="118533" y="20780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EAA345-9E6F-411B-8E8A-F03771429704}"/>
              </a:ext>
            </a:extLst>
          </p:cNvPr>
          <p:cNvSpPr txBox="1"/>
          <p:nvPr/>
        </p:nvSpPr>
        <p:spPr>
          <a:xfrm>
            <a:off x="512957" y="4866500"/>
            <a:ext cx="2973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 u="none" strike="noStrike" baseline="0" dirty="0">
                <a:solidFill>
                  <a:srgbClr val="0070C0"/>
                </a:solidFill>
              </a:rPr>
              <a:t> National Geospatial Technology Center of Excellence 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F5CC1C-0D70-48D6-A0BB-B4AD74FC4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5157" grpId="0" animBg="1"/>
      <p:bldP spid="305163" grpId="0" animBg="1"/>
      <p:bldP spid="30516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8" name="Picture 5" descr="Example of quantil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1332" y="2755832"/>
            <a:ext cx="2441019" cy="225028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36869" name="Rectangle 7"/>
          <p:cNvSpPr>
            <a:spLocks noChangeArrowheads="1"/>
          </p:cNvSpPr>
          <p:nvPr/>
        </p:nvSpPr>
        <p:spPr bwMode="auto">
          <a:xfrm>
            <a:off x="5578555" y="3251122"/>
            <a:ext cx="1300356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>
                <a:solidFill>
                  <a:srgbClr val="000000"/>
                </a:solidFill>
                <a:latin typeface="Arial" charset="0"/>
                <a:cs typeface="Arial" charset="0"/>
              </a:rPr>
              <a:t>≈13 Counties </a:t>
            </a:r>
          </a:p>
          <a:p>
            <a:r>
              <a:rPr lang="en-US" sz="1350">
                <a:solidFill>
                  <a:srgbClr val="000000"/>
                </a:solidFill>
                <a:latin typeface="Arial" charset="0"/>
                <a:cs typeface="Arial" charset="0"/>
              </a:rPr>
              <a:t>        per Class</a:t>
            </a:r>
          </a:p>
        </p:txBody>
      </p:sp>
      <p:grpSp>
        <p:nvGrpSpPr>
          <p:cNvPr id="36870" name="Group 9"/>
          <p:cNvGrpSpPr>
            <a:grpSpLocks/>
          </p:cNvGrpSpPr>
          <p:nvPr/>
        </p:nvGrpSpPr>
        <p:grpSpPr bwMode="auto">
          <a:xfrm>
            <a:off x="4536999" y="3151468"/>
            <a:ext cx="1107996" cy="507921"/>
            <a:chOff x="2899" y="2701"/>
            <a:chExt cx="1034" cy="474"/>
          </a:xfrm>
        </p:grpSpPr>
        <p:sp>
          <p:nvSpPr>
            <p:cNvPr id="36871" name="Rectangle 6"/>
            <p:cNvSpPr>
              <a:spLocks noChangeArrowheads="1"/>
            </p:cNvSpPr>
            <p:nvPr/>
          </p:nvSpPr>
          <p:spPr bwMode="auto">
            <a:xfrm>
              <a:off x="2899" y="2701"/>
              <a:ext cx="1034" cy="4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350">
                  <a:solidFill>
                    <a:srgbClr val="000000"/>
                  </a:solidFill>
                  <a:latin typeface="Arial" charset="0"/>
                  <a:cs typeface="Arial" charset="0"/>
                </a:rPr>
                <a:t>67 Counties</a:t>
              </a:r>
            </a:p>
            <a:p>
              <a:r>
                <a:rPr lang="en-US" sz="1350">
                  <a:solidFill>
                    <a:srgbClr val="000000"/>
                  </a:solidFill>
                  <a:latin typeface="Arial" charset="0"/>
                  <a:cs typeface="Arial" charset="0"/>
                </a:rPr>
                <a:t>5 Classes</a:t>
              </a:r>
            </a:p>
          </p:txBody>
        </p:sp>
        <p:sp>
          <p:nvSpPr>
            <p:cNvPr id="36872" name="Line 8"/>
            <p:cNvSpPr>
              <a:spLocks noChangeShapeType="1"/>
            </p:cNvSpPr>
            <p:nvPr/>
          </p:nvSpPr>
          <p:spPr bwMode="auto">
            <a:xfrm>
              <a:off x="2934" y="2927"/>
              <a:ext cx="8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215"/>
            </a:p>
          </p:txBody>
        </p:sp>
      </p:grpSp>
      <p:sp>
        <p:nvSpPr>
          <p:cNvPr id="3" name="Rectangle 1027">
            <a:extLst>
              <a:ext uri="{FF2B5EF4-FFF2-40B4-BE49-F238E27FC236}">
                <a16:creationId xmlns:a16="http://schemas.microsoft.com/office/drawing/2014/main" id="{295B2B03-B056-4D71-B6AF-5E3FAF086266}"/>
              </a:ext>
            </a:extLst>
          </p:cNvPr>
          <p:cNvSpPr txBox="1">
            <a:spLocks noChangeArrowheads="1"/>
          </p:cNvSpPr>
          <p:nvPr/>
        </p:nvSpPr>
        <p:spPr>
          <a:xfrm>
            <a:off x="274938" y="967791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Quantile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Advantages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2080" dirty="0"/>
              <a:t>Ensures that a choropleth map will have the same number of darkest polygons as lightest</a:t>
            </a:r>
          </a:p>
          <a:p>
            <a:pPr marL="0" indent="0">
              <a:buNone/>
            </a:pPr>
            <a:endParaRPr lang="en-US" altLang="en-US" sz="26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66EC80D-7041-4430-AA9D-DF1209603A8E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D7118CC8-54CF-4797-90DD-95FFEDFD8970}"/>
              </a:ext>
            </a:extLst>
          </p:cNvPr>
          <p:cNvSpPr txBox="1">
            <a:spLocks/>
          </p:cNvSpPr>
          <p:nvPr/>
        </p:nvSpPr>
        <p:spPr>
          <a:xfrm>
            <a:off x="118533" y="20780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1327A4-BF1E-4DC5-9929-EE23226B3162}"/>
              </a:ext>
            </a:extLst>
          </p:cNvPr>
          <p:cNvSpPr txBox="1"/>
          <p:nvPr/>
        </p:nvSpPr>
        <p:spPr>
          <a:xfrm>
            <a:off x="4482170" y="4762929"/>
            <a:ext cx="2973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 u="none" strike="noStrike" baseline="0" dirty="0">
                <a:solidFill>
                  <a:srgbClr val="0070C0"/>
                </a:solidFill>
              </a:rPr>
              <a:t> National Geospatial Technology Center of Excellence 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0A1489-5EEB-404A-BA4A-37758A7C4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10" descr="Image showing disadvantage of quantil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83638" y="3194158"/>
            <a:ext cx="5338524" cy="981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1027">
            <a:extLst>
              <a:ext uri="{FF2B5EF4-FFF2-40B4-BE49-F238E27FC236}">
                <a16:creationId xmlns:a16="http://schemas.microsoft.com/office/drawing/2014/main" id="{156A006C-F209-47CA-8BF7-E7BE7C29F1AC}"/>
              </a:ext>
            </a:extLst>
          </p:cNvPr>
          <p:cNvSpPr txBox="1">
            <a:spLocks noChangeArrowheads="1"/>
          </p:cNvSpPr>
          <p:nvPr/>
        </p:nvSpPr>
        <p:spPr>
          <a:xfrm>
            <a:off x="274938" y="967791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Quantile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Disadvantages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2080" dirty="0"/>
              <a:t>Poorly considers distribution of data along a number line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2080" dirty="0"/>
              <a:t>Doesn’t works well with skewed distributions (one or two classes can occupy the majority of the range)</a:t>
            </a:r>
          </a:p>
          <a:p>
            <a:pPr marL="0" indent="0">
              <a:buNone/>
            </a:pPr>
            <a:endParaRPr lang="en-US" altLang="en-US" sz="26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442030B-0629-4A1E-9F87-A36BFBCE7B1B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05F982EC-15E1-4C36-BF01-4DC31CB3700A}"/>
              </a:ext>
            </a:extLst>
          </p:cNvPr>
          <p:cNvSpPr txBox="1">
            <a:spLocks/>
          </p:cNvSpPr>
          <p:nvPr/>
        </p:nvSpPr>
        <p:spPr>
          <a:xfrm>
            <a:off x="118533" y="20780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E0CFDA-BF47-422B-9F86-48F4C2BB09BC}"/>
              </a:ext>
            </a:extLst>
          </p:cNvPr>
          <p:cNvSpPr txBox="1"/>
          <p:nvPr/>
        </p:nvSpPr>
        <p:spPr>
          <a:xfrm>
            <a:off x="4482170" y="4762929"/>
            <a:ext cx="2973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 u="none" strike="noStrike" baseline="0" dirty="0">
                <a:solidFill>
                  <a:srgbClr val="0070C0"/>
                </a:solidFill>
              </a:rPr>
              <a:t> National Geospatial Technology Center of Excellence 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1CB8B9-A85D-4BF3-ADE1-E99B653DB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8" descr="Image showing natural breaks definition 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6572" y="2193489"/>
            <a:ext cx="5950387" cy="2580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8233" name="Rectangle 9"/>
          <p:cNvSpPr>
            <a:spLocks noChangeArrowheads="1"/>
          </p:cNvSpPr>
          <p:nvPr/>
        </p:nvSpPr>
        <p:spPr bwMode="auto">
          <a:xfrm>
            <a:off x="5337453" y="2468880"/>
            <a:ext cx="1345883" cy="507831"/>
          </a:xfrm>
          <a:prstGeom prst="rect">
            <a:avLst/>
          </a:prstGeom>
          <a:solidFill>
            <a:schemeClr val="bg1"/>
          </a:solidFill>
          <a:ln w="9525">
            <a:solidFill>
              <a:srgbClr val="7030A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350">
                <a:solidFill>
                  <a:srgbClr val="000000"/>
                </a:solidFill>
                <a:latin typeface="Arial" charset="0"/>
                <a:cs typeface="Arial" charset="0"/>
              </a:rPr>
              <a:t>More subjective</a:t>
            </a:r>
          </a:p>
        </p:txBody>
      </p:sp>
      <p:sp>
        <p:nvSpPr>
          <p:cNvPr id="39942" name="Rectangle 10"/>
          <p:cNvSpPr>
            <a:spLocks noChangeArrowheads="1"/>
          </p:cNvSpPr>
          <p:nvPr/>
        </p:nvSpPr>
        <p:spPr bwMode="auto">
          <a:xfrm>
            <a:off x="1408034" y="2526745"/>
            <a:ext cx="379333" cy="1832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215"/>
          </a:p>
        </p:txBody>
      </p:sp>
      <p:sp>
        <p:nvSpPr>
          <p:cNvPr id="39943" name="Rectangle 11"/>
          <p:cNvSpPr>
            <a:spLocks noChangeArrowheads="1"/>
          </p:cNvSpPr>
          <p:nvPr/>
        </p:nvSpPr>
        <p:spPr bwMode="auto">
          <a:xfrm>
            <a:off x="1835588" y="2526745"/>
            <a:ext cx="610791" cy="1832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215"/>
          </a:p>
        </p:txBody>
      </p:sp>
      <p:sp>
        <p:nvSpPr>
          <p:cNvPr id="39944" name="Rectangle 12"/>
          <p:cNvSpPr>
            <a:spLocks noChangeArrowheads="1"/>
          </p:cNvSpPr>
          <p:nvPr/>
        </p:nvSpPr>
        <p:spPr bwMode="auto">
          <a:xfrm>
            <a:off x="1404820" y="2547105"/>
            <a:ext cx="449162" cy="196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675" b="1">
                <a:solidFill>
                  <a:srgbClr val="000000"/>
                </a:solidFill>
                <a:latin typeface="Arial" charset="0"/>
                <a:cs typeface="Arial" charset="0"/>
              </a:rPr>
              <a:t>TOWN</a:t>
            </a:r>
          </a:p>
        </p:txBody>
      </p:sp>
      <p:sp>
        <p:nvSpPr>
          <p:cNvPr id="308238" name="Rectangle 14"/>
          <p:cNvSpPr>
            <a:spLocks noChangeArrowheads="1"/>
          </p:cNvSpPr>
          <p:nvPr/>
        </p:nvSpPr>
        <p:spPr bwMode="auto">
          <a:xfrm>
            <a:off x="4638795" y="3427929"/>
            <a:ext cx="1925527" cy="300082"/>
          </a:xfrm>
          <a:prstGeom prst="rect">
            <a:avLst/>
          </a:prstGeom>
          <a:solidFill>
            <a:schemeClr val="bg1"/>
          </a:solidFill>
          <a:ln w="9525">
            <a:solidFill>
              <a:srgbClr val="7030A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>
                <a:solidFill>
                  <a:srgbClr val="000000"/>
                </a:solidFill>
                <a:latin typeface="Arial" charset="0"/>
                <a:cs typeface="Arial" charset="0"/>
              </a:rPr>
              <a:t>Gaps between classes</a:t>
            </a:r>
          </a:p>
        </p:txBody>
      </p:sp>
      <p:sp>
        <p:nvSpPr>
          <p:cNvPr id="308239" name="Line 15"/>
          <p:cNvSpPr>
            <a:spLocks noChangeShapeType="1"/>
          </p:cNvSpPr>
          <p:nvPr/>
        </p:nvSpPr>
        <p:spPr bwMode="auto">
          <a:xfrm flipH="1" flipV="1">
            <a:off x="4201598" y="3356134"/>
            <a:ext cx="438269" cy="197168"/>
          </a:xfrm>
          <a:prstGeom prst="line">
            <a:avLst/>
          </a:prstGeom>
          <a:noFill/>
          <a:ln w="28575">
            <a:solidFill>
              <a:srgbClr val="7030A0"/>
            </a:solidFill>
            <a:round/>
            <a:headEnd/>
            <a:tailEnd/>
          </a:ln>
        </p:spPr>
        <p:txBody>
          <a:bodyPr/>
          <a:lstStyle/>
          <a:p>
            <a:endParaRPr lang="en-US" sz="1215"/>
          </a:p>
        </p:txBody>
      </p:sp>
      <p:sp>
        <p:nvSpPr>
          <p:cNvPr id="39947" name="Rectangle 10"/>
          <p:cNvSpPr>
            <a:spLocks noChangeArrowheads="1"/>
          </p:cNvSpPr>
          <p:nvPr/>
        </p:nvSpPr>
        <p:spPr bwMode="auto">
          <a:xfrm>
            <a:off x="1784153" y="2547105"/>
            <a:ext cx="692229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675" b="1">
                <a:solidFill>
                  <a:srgbClr val="000000"/>
                </a:solidFill>
                <a:latin typeface="Arial" charset="0"/>
                <a:cs typeface="Arial" charset="0"/>
              </a:rPr>
              <a:t>POPULATION</a:t>
            </a:r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FA2C51F8-2C5F-4AF3-9A6F-F44BAFC8BAAB}"/>
              </a:ext>
            </a:extLst>
          </p:cNvPr>
          <p:cNvSpPr txBox="1">
            <a:spLocks noChangeArrowheads="1"/>
          </p:cNvSpPr>
          <p:nvPr/>
        </p:nvSpPr>
        <p:spPr>
          <a:xfrm>
            <a:off x="274938" y="967791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Natural Breaks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Each class contains clusters of attribute values, and ‘natural’ breaks between</a:t>
            </a:r>
          </a:p>
          <a:p>
            <a:pPr marL="0" indent="0">
              <a:buNone/>
            </a:pPr>
            <a:endParaRPr lang="en-US" altLang="en-US" sz="26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DA9B694-6D09-48EF-AFF3-13A2FB92CF7B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397ED816-A418-4260-AE7C-CAE9FA02322E}"/>
              </a:ext>
            </a:extLst>
          </p:cNvPr>
          <p:cNvSpPr txBox="1">
            <a:spLocks/>
          </p:cNvSpPr>
          <p:nvPr/>
        </p:nvSpPr>
        <p:spPr>
          <a:xfrm>
            <a:off x="118533" y="20780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0B132C-3D85-4D0A-ADB3-9EEA8D7951B9}"/>
              </a:ext>
            </a:extLst>
          </p:cNvPr>
          <p:cNvSpPr txBox="1"/>
          <p:nvPr/>
        </p:nvSpPr>
        <p:spPr>
          <a:xfrm>
            <a:off x="4482170" y="4762929"/>
            <a:ext cx="2973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 u="none" strike="noStrike" baseline="0" dirty="0">
                <a:solidFill>
                  <a:srgbClr val="0070C0"/>
                </a:solidFill>
              </a:rPr>
              <a:t> National Geospatial Technology Center of Excellence 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A9BD77-BA01-4D3E-B382-1009907A0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233" grpId="0" animBg="1"/>
      <p:bldP spid="308238" grpId="0" animBg="1"/>
      <p:bldP spid="30823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8" name="Picture 8" descr="Image showing disadvantage of natural break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5538" y="3463290"/>
            <a:ext cx="5343882" cy="788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1027">
            <a:extLst>
              <a:ext uri="{FF2B5EF4-FFF2-40B4-BE49-F238E27FC236}">
                <a16:creationId xmlns:a16="http://schemas.microsoft.com/office/drawing/2014/main" id="{997C7970-A68F-4F02-9AE0-173DF7D2A96B}"/>
              </a:ext>
            </a:extLst>
          </p:cNvPr>
          <p:cNvSpPr txBox="1">
            <a:spLocks noChangeArrowheads="1"/>
          </p:cNvSpPr>
          <p:nvPr/>
        </p:nvSpPr>
        <p:spPr>
          <a:xfrm>
            <a:off x="274938" y="967791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Natural Breaks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Advantages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2080" dirty="0"/>
              <a:t>Considers distribution of data along a number line (very good), each classification is ‘custom tailored’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2080" dirty="0"/>
              <a:t>Works well with skewed data distributions</a:t>
            </a:r>
          </a:p>
          <a:p>
            <a:pPr marL="0" indent="0">
              <a:buNone/>
            </a:pPr>
            <a:endParaRPr lang="en-US" altLang="en-US" sz="26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481056B-4503-49B6-BE64-4455347997AE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E7C1B09B-9F27-4A44-B41E-76081CF3B5E1}"/>
              </a:ext>
            </a:extLst>
          </p:cNvPr>
          <p:cNvSpPr txBox="1">
            <a:spLocks/>
          </p:cNvSpPr>
          <p:nvPr/>
        </p:nvSpPr>
        <p:spPr>
          <a:xfrm>
            <a:off x="118533" y="20780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B4CB03-953A-4921-80B3-6D6BCF05DD2E}"/>
              </a:ext>
            </a:extLst>
          </p:cNvPr>
          <p:cNvSpPr txBox="1"/>
          <p:nvPr/>
        </p:nvSpPr>
        <p:spPr>
          <a:xfrm>
            <a:off x="4482170" y="4762929"/>
            <a:ext cx="2973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 u="none" strike="noStrike" baseline="0" dirty="0">
                <a:solidFill>
                  <a:srgbClr val="0070C0"/>
                </a:solidFill>
              </a:rPr>
              <a:t> National Geospatial Technology Center of Excellence 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77C973-62EE-4B93-95A6-E2860B728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27">
            <a:extLst>
              <a:ext uri="{FF2B5EF4-FFF2-40B4-BE49-F238E27FC236}">
                <a16:creationId xmlns:a16="http://schemas.microsoft.com/office/drawing/2014/main" id="{A48EA635-90E4-480E-BC95-BAFBA66EA411}"/>
              </a:ext>
            </a:extLst>
          </p:cNvPr>
          <p:cNvSpPr txBox="1">
            <a:spLocks noChangeArrowheads="1"/>
          </p:cNvSpPr>
          <p:nvPr/>
        </p:nvSpPr>
        <p:spPr>
          <a:xfrm>
            <a:off x="274938" y="967791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Natural Breaks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Disadvantages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2080" dirty="0"/>
              <a:t>Subjective, and results will differ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2080" dirty="0"/>
              <a:t>More difficult to compare with other maps</a:t>
            </a:r>
          </a:p>
          <a:p>
            <a:pPr marL="0" indent="0">
              <a:buNone/>
            </a:pPr>
            <a:endParaRPr lang="en-US" altLang="en-US" sz="26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A9FE99-9E06-4C67-A6EF-3766AAEBF209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36F99068-EA4A-4927-BF07-A694C774283F}"/>
              </a:ext>
            </a:extLst>
          </p:cNvPr>
          <p:cNvSpPr txBox="1">
            <a:spLocks/>
          </p:cNvSpPr>
          <p:nvPr/>
        </p:nvSpPr>
        <p:spPr>
          <a:xfrm>
            <a:off x="118533" y="20780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A83901-F00E-4DD1-A2E4-288893FBE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27">
            <a:extLst>
              <a:ext uri="{FF2B5EF4-FFF2-40B4-BE49-F238E27FC236}">
                <a16:creationId xmlns:a16="http://schemas.microsoft.com/office/drawing/2014/main" id="{FA2C51F8-2C5F-4AF3-9A6F-F44BAFC8BAAB}"/>
              </a:ext>
            </a:extLst>
          </p:cNvPr>
          <p:cNvSpPr txBox="1">
            <a:spLocks noChangeArrowheads="1"/>
          </p:cNvSpPr>
          <p:nvPr/>
        </p:nvSpPr>
        <p:spPr>
          <a:xfrm>
            <a:off x="274938" y="967791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Mean- Standard Deviation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Each class is determined by the standard deviation from the mean</a:t>
            </a:r>
          </a:p>
          <a:p>
            <a:pPr marL="0" indent="0">
              <a:buNone/>
            </a:pPr>
            <a:endParaRPr lang="en-US" altLang="en-US" sz="2600" dirty="0"/>
          </a:p>
        </p:txBody>
      </p:sp>
      <p:sp>
        <p:nvSpPr>
          <p:cNvPr id="39942" name="Rectangle 10"/>
          <p:cNvSpPr>
            <a:spLocks noChangeArrowheads="1"/>
          </p:cNvSpPr>
          <p:nvPr/>
        </p:nvSpPr>
        <p:spPr bwMode="auto">
          <a:xfrm>
            <a:off x="1408034" y="2526745"/>
            <a:ext cx="379333" cy="1832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215"/>
          </a:p>
        </p:txBody>
      </p:sp>
      <p:sp>
        <p:nvSpPr>
          <p:cNvPr id="39943" name="Rectangle 11"/>
          <p:cNvSpPr>
            <a:spLocks noChangeArrowheads="1"/>
          </p:cNvSpPr>
          <p:nvPr/>
        </p:nvSpPr>
        <p:spPr bwMode="auto">
          <a:xfrm>
            <a:off x="1835588" y="2526745"/>
            <a:ext cx="610791" cy="1832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215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DA9B694-6D09-48EF-AFF3-13A2FB92CF7B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397ED816-A418-4260-AE7C-CAE9FA02322E}"/>
              </a:ext>
            </a:extLst>
          </p:cNvPr>
          <p:cNvSpPr txBox="1">
            <a:spLocks/>
          </p:cNvSpPr>
          <p:nvPr/>
        </p:nvSpPr>
        <p:spPr>
          <a:xfrm>
            <a:off x="118533" y="20780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0B132C-3D85-4D0A-ADB3-9EEA8D7951B9}"/>
              </a:ext>
            </a:extLst>
          </p:cNvPr>
          <p:cNvSpPr txBox="1"/>
          <p:nvPr/>
        </p:nvSpPr>
        <p:spPr>
          <a:xfrm>
            <a:off x="879200" y="4621872"/>
            <a:ext cx="679809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https://gistbok.ucgis.org/bok-topics/statistical-mapping-enumeration-normalization-classification#:~:text=In%20Cartography%2C%20units%20by%20which,metropolitan%20areas%2C%20among%20many%20others.</a:t>
            </a:r>
            <a:endParaRPr lang="en-US" sz="1000" dirty="0">
              <a:solidFill>
                <a:srgbClr val="0070C0"/>
              </a:solidFill>
            </a:endParaRPr>
          </a:p>
        </p:txBody>
      </p:sp>
      <p:pic>
        <p:nvPicPr>
          <p:cNvPr id="4" name="Picture 3" descr="Image showing mean-standard deviation">
            <a:extLst>
              <a:ext uri="{FF2B5EF4-FFF2-40B4-BE49-F238E27FC236}">
                <a16:creationId xmlns:a16="http://schemas.microsoft.com/office/drawing/2014/main" id="{E262C2D2-E1BC-4A40-961C-2354B6D78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866" y="2754863"/>
            <a:ext cx="6530765" cy="164896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25D708-8679-4BA8-9194-522FC867B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5259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7">
            <a:extLst>
              <a:ext uri="{FF2B5EF4-FFF2-40B4-BE49-F238E27FC236}">
                <a16:creationId xmlns:a16="http://schemas.microsoft.com/office/drawing/2014/main" id="{997C7970-A68F-4F02-9AE0-173DF7D2A96B}"/>
              </a:ext>
            </a:extLst>
          </p:cNvPr>
          <p:cNvSpPr txBox="1">
            <a:spLocks noChangeArrowheads="1"/>
          </p:cNvSpPr>
          <p:nvPr/>
        </p:nvSpPr>
        <p:spPr>
          <a:xfrm>
            <a:off x="274938" y="967791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Mean- Standard Deviation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Advantages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2080" dirty="0"/>
              <a:t>Works well with normally distributed datasets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Disadvantages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2080" dirty="0"/>
              <a:t>Does not work well with skewed or non-normally  distributed data</a:t>
            </a:r>
          </a:p>
          <a:p>
            <a:pPr marL="822960" lvl="2" indent="0">
              <a:buNone/>
            </a:pPr>
            <a:endParaRPr lang="en-US" altLang="en-US" sz="2080" dirty="0"/>
          </a:p>
          <a:p>
            <a:pPr marL="0" indent="0">
              <a:buNone/>
            </a:pPr>
            <a:endParaRPr lang="en-US" altLang="en-US" sz="26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481056B-4503-49B6-BE64-4455347997AE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E7C1B09B-9F27-4A44-B41E-76081CF3B5E1}"/>
              </a:ext>
            </a:extLst>
          </p:cNvPr>
          <p:cNvSpPr txBox="1">
            <a:spLocks/>
          </p:cNvSpPr>
          <p:nvPr/>
        </p:nvSpPr>
        <p:spPr>
          <a:xfrm>
            <a:off x="118533" y="20780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365561-8A4E-4C5E-8AD5-A30A23027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4677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27">
            <a:extLst>
              <a:ext uri="{FF2B5EF4-FFF2-40B4-BE49-F238E27FC236}">
                <a16:creationId xmlns:a16="http://schemas.microsoft.com/office/drawing/2014/main" id="{6FDDA3E3-B05D-4EE3-956C-441AC806BE59}"/>
              </a:ext>
            </a:extLst>
          </p:cNvPr>
          <p:cNvSpPr txBox="1">
            <a:spLocks noChangeArrowheads="1"/>
          </p:cNvSpPr>
          <p:nvPr/>
        </p:nvSpPr>
        <p:spPr>
          <a:xfrm>
            <a:off x="274938" y="967791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There is no ‘best’ method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Certain methods are not well suited to particular situations</a:t>
            </a:r>
          </a:p>
          <a:p>
            <a:pPr marL="822960" lvl="2" indent="0">
              <a:buNone/>
            </a:pPr>
            <a:endParaRPr lang="en-US" altLang="en-US" sz="2080" dirty="0"/>
          </a:p>
          <a:p>
            <a:pPr marL="0" indent="0">
              <a:buNone/>
            </a:pPr>
            <a:endParaRPr lang="en-US" altLang="en-US" sz="2600" dirty="0"/>
          </a:p>
        </p:txBody>
      </p:sp>
      <p:pic>
        <p:nvPicPr>
          <p:cNvPr id="27650" name="Picture 7" descr="Image showing population maps with natural breaks and equal interval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02843" y="1988832"/>
            <a:ext cx="3500114" cy="2841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CFEDB5-0D7C-4E68-9C15-0A35324A2218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07BC5DB1-6C92-45B7-83C3-B75481198B60}"/>
              </a:ext>
            </a:extLst>
          </p:cNvPr>
          <p:cNvSpPr txBox="1">
            <a:spLocks/>
          </p:cNvSpPr>
          <p:nvPr/>
        </p:nvSpPr>
        <p:spPr>
          <a:xfrm>
            <a:off x="118533" y="20780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326AD0-120B-4967-9325-746E97AF3AF5}"/>
              </a:ext>
            </a:extLst>
          </p:cNvPr>
          <p:cNvSpPr txBox="1"/>
          <p:nvPr/>
        </p:nvSpPr>
        <p:spPr>
          <a:xfrm>
            <a:off x="4114800" y="4897279"/>
            <a:ext cx="2973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 u="none" strike="noStrike" baseline="0" dirty="0">
                <a:solidFill>
                  <a:srgbClr val="0070C0"/>
                </a:solidFill>
              </a:rPr>
              <a:t> National Geospatial Technology Center of Excellence 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E1AC24-44C3-4AA7-9CBB-E3FD015C4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7" name="Rectangle 14"/>
          <p:cNvSpPr>
            <a:spLocks noChangeArrowheads="1"/>
          </p:cNvSpPr>
          <p:nvPr/>
        </p:nvSpPr>
        <p:spPr bwMode="auto">
          <a:xfrm>
            <a:off x="2973587" y="2880360"/>
            <a:ext cx="215384" cy="1264444"/>
          </a:xfrm>
          <a:prstGeom prst="rect">
            <a:avLst/>
          </a:prstGeom>
          <a:solidFill>
            <a:srgbClr val="FFFF87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215"/>
          </a:p>
        </p:txBody>
      </p:sp>
      <p:sp>
        <p:nvSpPr>
          <p:cNvPr id="28678" name="Rectangle 15"/>
          <p:cNvSpPr>
            <a:spLocks noChangeArrowheads="1"/>
          </p:cNvSpPr>
          <p:nvPr/>
        </p:nvSpPr>
        <p:spPr bwMode="auto">
          <a:xfrm>
            <a:off x="4774883" y="2880360"/>
            <a:ext cx="215384" cy="1264444"/>
          </a:xfrm>
          <a:prstGeom prst="rect">
            <a:avLst/>
          </a:prstGeom>
          <a:solidFill>
            <a:srgbClr val="FFFF87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215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DD98549-CC34-4073-A166-21746FA5E241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6F1D8F86-219E-436E-9778-1D1C5D954175}"/>
              </a:ext>
            </a:extLst>
          </p:cNvPr>
          <p:cNvSpPr txBox="1">
            <a:spLocks/>
          </p:cNvSpPr>
          <p:nvPr/>
        </p:nvSpPr>
        <p:spPr>
          <a:xfrm>
            <a:off x="118533" y="20780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5" name="Rectangle 1027">
            <a:extLst>
              <a:ext uri="{FF2B5EF4-FFF2-40B4-BE49-F238E27FC236}">
                <a16:creationId xmlns:a16="http://schemas.microsoft.com/office/drawing/2014/main" id="{23283C22-200B-41C5-AF54-E0D5A3CF5B22}"/>
              </a:ext>
            </a:extLst>
          </p:cNvPr>
          <p:cNvSpPr txBox="1">
            <a:spLocks noChangeArrowheads="1"/>
          </p:cNvSpPr>
          <p:nvPr/>
        </p:nvSpPr>
        <p:spPr>
          <a:xfrm>
            <a:off x="274938" y="967791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How many classes should you use?</a:t>
            </a:r>
          </a:p>
          <a:p>
            <a:pPr marL="0" indent="0">
              <a:buNone/>
            </a:pPr>
            <a:endParaRPr lang="en-US" sz="2400" dirty="0">
              <a:solidFill>
                <a:srgbClr val="000000"/>
              </a:solidFill>
              <a:ea typeface="MS Mincho" pitchFamily="49" charset="-128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ea typeface="MS Mincho" pitchFamily="49" charset="-128"/>
              </a:rPr>
              <a:t>Animation showing agricultural sales using 2, 4, and 6 classes</a:t>
            </a:r>
            <a:endParaRPr lang="en-US" sz="2400" dirty="0">
              <a:solidFill>
                <a:srgbClr val="000000"/>
              </a:solidFill>
              <a:cs typeface="Times New Roman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endParaRPr lang="en-US" sz="2600" dirty="0"/>
          </a:p>
          <a:p>
            <a:pPr marL="822960" lvl="2" indent="0">
              <a:buNone/>
            </a:pPr>
            <a:endParaRPr lang="en-US" altLang="en-US" sz="2080" dirty="0"/>
          </a:p>
          <a:p>
            <a:pPr marL="0" indent="0">
              <a:buNone/>
            </a:pPr>
            <a:endParaRPr lang="en-US" altLang="en-US" sz="2600" dirty="0"/>
          </a:p>
        </p:txBody>
      </p:sp>
      <p:pic>
        <p:nvPicPr>
          <p:cNvPr id="8" name="Picture 6" descr="Image showing class number">
            <a:extLst>
              <a:ext uri="{FF2B5EF4-FFF2-40B4-BE49-F238E27FC236}">
                <a16:creationId xmlns:a16="http://schemas.microsoft.com/office/drawing/2014/main" id="{FB54DD59-0B88-4596-801A-1E0DD9C61D5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3587" y="2571750"/>
            <a:ext cx="3588662" cy="24431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7C158F8-122D-414C-A2FD-EE81B879AC71}"/>
              </a:ext>
            </a:extLst>
          </p:cNvPr>
          <p:cNvSpPr txBox="1"/>
          <p:nvPr/>
        </p:nvSpPr>
        <p:spPr>
          <a:xfrm>
            <a:off x="437" y="4652650"/>
            <a:ext cx="2973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 u="none" strike="noStrike" baseline="0" dirty="0">
                <a:solidFill>
                  <a:srgbClr val="0070C0"/>
                </a:solidFill>
              </a:rPr>
              <a:t> National Geospatial Technology Center of Excellence 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0CD7E6-9287-4BA0-A0AD-1037738EB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027">
            <a:extLst>
              <a:ext uri="{FF2B5EF4-FFF2-40B4-BE49-F238E27FC236}">
                <a16:creationId xmlns:a16="http://schemas.microsoft.com/office/drawing/2014/main" id="{2878BA25-D64A-4E72-BB10-FC9F85588678}"/>
              </a:ext>
            </a:extLst>
          </p:cNvPr>
          <p:cNvSpPr txBox="1">
            <a:spLocks noChangeArrowheads="1"/>
          </p:cNvSpPr>
          <p:nvPr/>
        </p:nvSpPr>
        <p:spPr>
          <a:xfrm>
            <a:off x="274938" y="967791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How many classes should you use?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240" dirty="0"/>
              <a:t>Anywhere between 3 to 7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240" dirty="0"/>
              <a:t>5 is probably optimal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240" dirty="0"/>
              <a:t>An odd # has a ‘middle’ class</a:t>
            </a:r>
          </a:p>
          <a:p>
            <a:pPr marL="0" indent="0">
              <a:buNone/>
            </a:pPr>
            <a:endParaRPr lang="en-US" sz="2600" dirty="0"/>
          </a:p>
          <a:p>
            <a:pPr marL="822960" lvl="2" indent="0">
              <a:buNone/>
            </a:pPr>
            <a:endParaRPr lang="en-US" altLang="en-US" sz="2080" dirty="0"/>
          </a:p>
          <a:p>
            <a:pPr marL="0" indent="0">
              <a:buNone/>
            </a:pPr>
            <a:endParaRPr lang="en-US" altLang="en-US" sz="2600" dirty="0"/>
          </a:p>
        </p:txBody>
      </p:sp>
      <p:sp>
        <p:nvSpPr>
          <p:cNvPr id="29700" name="Rectangle 5"/>
          <p:cNvSpPr>
            <a:spLocks noChangeArrowheads="1"/>
          </p:cNvSpPr>
          <p:nvPr/>
        </p:nvSpPr>
        <p:spPr bwMode="auto">
          <a:xfrm>
            <a:off x="2973587" y="2880360"/>
            <a:ext cx="215384" cy="1264444"/>
          </a:xfrm>
          <a:prstGeom prst="rect">
            <a:avLst/>
          </a:prstGeom>
          <a:solidFill>
            <a:srgbClr val="FFFF87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215"/>
          </a:p>
        </p:txBody>
      </p:sp>
      <p:sp>
        <p:nvSpPr>
          <p:cNvPr id="29701" name="Rectangle 6"/>
          <p:cNvSpPr>
            <a:spLocks noChangeArrowheads="1"/>
          </p:cNvSpPr>
          <p:nvPr/>
        </p:nvSpPr>
        <p:spPr bwMode="auto">
          <a:xfrm>
            <a:off x="4774883" y="2880360"/>
            <a:ext cx="215384" cy="1264444"/>
          </a:xfrm>
          <a:prstGeom prst="rect">
            <a:avLst/>
          </a:prstGeom>
          <a:solidFill>
            <a:srgbClr val="FFFF87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215"/>
          </a:p>
        </p:txBody>
      </p:sp>
      <p:pic>
        <p:nvPicPr>
          <p:cNvPr id="2" name="Picture 18" descr="Image showing different number of classes">
            <a:extLst>
              <a:ext uri="{FF2B5EF4-FFF2-40B4-BE49-F238E27FC236}">
                <a16:creationId xmlns:a16="http://schemas.microsoft.com/office/drawing/2014/main" id="{E4E2CA7E-FDFE-4C49-8BE0-60546AC69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30284" y="2689492"/>
            <a:ext cx="4749165" cy="22427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A57576B-F496-40A1-8F36-87F3C49DACCE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56EC2A6A-5B5D-4E13-A645-DD15477F7868}"/>
              </a:ext>
            </a:extLst>
          </p:cNvPr>
          <p:cNvSpPr txBox="1">
            <a:spLocks/>
          </p:cNvSpPr>
          <p:nvPr/>
        </p:nvSpPr>
        <p:spPr>
          <a:xfrm>
            <a:off x="118533" y="51317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0" name="Rectangle 16">
            <a:extLst>
              <a:ext uri="{FF2B5EF4-FFF2-40B4-BE49-F238E27FC236}">
                <a16:creationId xmlns:a16="http://schemas.microsoft.com/office/drawing/2014/main" id="{77816151-DBC8-4323-962B-6BD5B9A587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843" y="3303050"/>
            <a:ext cx="2388220" cy="1015663"/>
          </a:xfrm>
          <a:prstGeom prst="rect">
            <a:avLst/>
          </a:prstGeom>
          <a:solidFill>
            <a:schemeClr val="bg1"/>
          </a:solidFill>
          <a:ln w="9525">
            <a:solidFill>
              <a:srgbClr val="7030A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Arial" charset="0"/>
                <a:cs typeface="Arial" charset="0"/>
              </a:rPr>
              <a:t>Difficult to differentiate large numbers of tints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7A1B06-DDDB-4C4A-9638-4038B801E3A2}"/>
              </a:ext>
            </a:extLst>
          </p:cNvPr>
          <p:cNvSpPr txBox="1"/>
          <p:nvPr/>
        </p:nvSpPr>
        <p:spPr>
          <a:xfrm>
            <a:off x="4326166" y="4897279"/>
            <a:ext cx="2973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 u="none" strike="noStrike" baseline="0" dirty="0">
                <a:solidFill>
                  <a:srgbClr val="0070C0"/>
                </a:solidFill>
              </a:rPr>
              <a:t> National Geospatial Technology Center of Excellence 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FEAA6E-E90F-4CD3-A508-668BA72A6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6E6A0BF-C213-4D97-B46F-328F8A1789A4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D4E32A56-FB7B-4ABB-BCA9-011644F0E2FB}"/>
              </a:ext>
            </a:extLst>
          </p:cNvPr>
          <p:cNvSpPr txBox="1">
            <a:spLocks/>
          </p:cNvSpPr>
          <p:nvPr/>
        </p:nvSpPr>
        <p:spPr>
          <a:xfrm>
            <a:off x="118533" y="40166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EA1F31F6-4F05-459F-A950-8C33BD9756AC}"/>
              </a:ext>
            </a:extLst>
          </p:cNvPr>
          <p:cNvSpPr txBox="1">
            <a:spLocks noChangeArrowheads="1"/>
          </p:cNvSpPr>
          <p:nvPr/>
        </p:nvSpPr>
        <p:spPr>
          <a:xfrm>
            <a:off x="274938" y="967791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Classification for map comparison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240" dirty="0"/>
              <a:t>Use the same method for all maps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240" dirty="0"/>
              <a:t>Equal interval with identical break values often works best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240" dirty="0"/>
              <a:t>By definition, natural breaks will result in different classification on different maps, making comparison difficult</a:t>
            </a:r>
          </a:p>
          <a:p>
            <a:pPr marL="0" indent="0">
              <a:buNone/>
            </a:pPr>
            <a:endParaRPr lang="en-US" sz="2600" dirty="0"/>
          </a:p>
          <a:p>
            <a:pPr marL="822960" lvl="2" indent="0">
              <a:buNone/>
            </a:pPr>
            <a:endParaRPr lang="en-US" altLang="en-US" sz="2080" dirty="0"/>
          </a:p>
          <a:p>
            <a:pPr marL="0" indent="0">
              <a:buNone/>
            </a:pPr>
            <a:endParaRPr lang="en-US" altLang="en-US" sz="26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112471-E301-4D70-8EE2-18A1BCA2D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74EFB13-141B-4D44-9B88-21A094673BC6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59DDD8E4-2B2C-473C-A354-1DD19EA21CBC}"/>
              </a:ext>
            </a:extLst>
          </p:cNvPr>
          <p:cNvSpPr txBox="1">
            <a:spLocks/>
          </p:cNvSpPr>
          <p:nvPr/>
        </p:nvSpPr>
        <p:spPr>
          <a:xfrm>
            <a:off x="118533" y="40166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Group Activity 5-1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980F79-72F9-47E6-9AD8-31ECBBDF41D8}"/>
              </a:ext>
            </a:extLst>
          </p:cNvPr>
          <p:cNvSpPr txBox="1"/>
          <p:nvPr/>
        </p:nvSpPr>
        <p:spPr>
          <a:xfrm>
            <a:off x="209880" y="1002854"/>
            <a:ext cx="780984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400" dirty="0"/>
              <a:t> Compare two population density maps and discuss with your peers: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400" dirty="0"/>
              <a:t>Describe the spatial pattern of African-American population density? How about Hispanic?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400" dirty="0"/>
              <a:t>Are there any places with both high African-American  and Hispanic population density?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400" dirty="0"/>
              <a:t>Are there any places with high African-American population density but low Hispanic population density? How about vice versa</a:t>
            </a:r>
            <a:r>
              <a:rPr lang="zh-CN" altLang="en-US" sz="2400" dirty="0"/>
              <a:t>？</a:t>
            </a:r>
            <a:endParaRPr lang="en-US" sz="24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400" dirty="0"/>
              <a:t>W</a:t>
            </a:r>
            <a:r>
              <a:rPr lang="en-US" altLang="zh-CN" sz="2400" dirty="0"/>
              <a:t>hich population density is relatively higher in this region?</a:t>
            </a:r>
            <a:endParaRPr lang="en-US" sz="2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28E658-8DF4-4AA9-A77C-E6BD2128C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4" descr="Houston density same range AA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444328"/>
            <a:ext cx="3731305" cy="2797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74EFB13-141B-4D44-9B88-21A094673BC6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59DDD8E4-2B2C-473C-A354-1DD19EA21CBC}"/>
              </a:ext>
            </a:extLst>
          </p:cNvPr>
          <p:cNvSpPr txBox="1">
            <a:spLocks/>
          </p:cNvSpPr>
          <p:nvPr/>
        </p:nvSpPr>
        <p:spPr>
          <a:xfrm>
            <a:off x="118533" y="40166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Group Activity</a:t>
            </a:r>
          </a:p>
        </p:txBody>
      </p:sp>
      <p:pic>
        <p:nvPicPr>
          <p:cNvPr id="2" name="Picture 2" descr="Houston density same range.jpg">
            <a:extLst>
              <a:ext uri="{FF2B5EF4-FFF2-40B4-BE49-F238E27FC236}">
                <a16:creationId xmlns:a16="http://schemas.microsoft.com/office/drawing/2014/main" id="{B5386DA9-BC1F-4260-87FD-F51B7FD36D5D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52900" y="1444328"/>
            <a:ext cx="3732481" cy="2798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02A039-7849-44AD-9EDE-316B42DA68A9}"/>
              </a:ext>
            </a:extLst>
          </p:cNvPr>
          <p:cNvSpPr txBox="1"/>
          <p:nvPr/>
        </p:nvSpPr>
        <p:spPr>
          <a:xfrm>
            <a:off x="152400" y="4762929"/>
            <a:ext cx="2973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 u="none" strike="noStrike" baseline="0" dirty="0">
                <a:solidFill>
                  <a:srgbClr val="0070C0"/>
                </a:solidFill>
              </a:rPr>
              <a:t> National Geospatial Technology Center of Excellence 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ACEB30-9AB7-4B61-AA52-145C22ABC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9296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71305" y="1325254"/>
            <a:ext cx="3286989" cy="830997"/>
          </a:xfrm>
          <a:prstGeom prst="rect">
            <a:avLst/>
          </a:prstGeom>
          <a:noFill/>
        </p:spPr>
        <p:txBody>
          <a:bodyPr wrap="none" lIns="82296" tIns="41148" rIns="82296" bIns="41148">
            <a:spAutoFit/>
          </a:bodyPr>
          <a:lstStyle/>
          <a:p>
            <a:pPr algn="ctr"/>
            <a:r>
              <a:rPr lang="en-US" sz="4860" b="1" spc="180" dirty="0">
                <a:ln w="29210">
                  <a:solidFill>
                    <a:schemeClr val="accent3">
                      <a:tint val="10000"/>
                    </a:schemeClr>
                  </a:solidFill>
                </a:ln>
                <a:solidFill>
                  <a:srgbClr val="008000">
                    <a:alpha val="50000"/>
                  </a:srgbClr>
                </a:solidFill>
                <a:effectLst>
                  <a:innerShdw blurRad="50800" dist="50800" dir="8100000">
                    <a:srgbClr val="7D7D7D">
                      <a:alpha val="73000"/>
                    </a:srgbClr>
                  </a:innerShdw>
                </a:effectLst>
              </a:rPr>
              <a:t>Thank you!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3C9EAE-E5B7-4784-94CD-D062E1781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DE135F-68C6-4911-85BA-92ABB3F9F85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52400" y="4275667"/>
            <a:ext cx="5915025" cy="75819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ADF13BC-3A5F-4415-94E6-85FAF42998C9}"/>
              </a:ext>
            </a:extLst>
          </p:cNvPr>
          <p:cNvCxnSpPr/>
          <p:nvPr/>
        </p:nvCxnSpPr>
        <p:spPr>
          <a:xfrm>
            <a:off x="152400" y="4182575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5223018"/>
      </p:ext>
    </p:extLst>
  </p:cSld>
  <p:clrMapOvr>
    <a:masterClrMapping/>
  </p:clrMapOvr>
</p:sld>
</file>

<file path=ppt/theme/theme1.xml><?xml version="1.0" encoding="utf-8"?>
<a:theme xmlns:a="http://schemas.openxmlformats.org/drawingml/2006/main" name="3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2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 name="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4.xml><?xml version="1.0" encoding="utf-8"?>
<a:theme xmlns:a="http://schemas.openxmlformats.org/drawingml/2006/main" name="1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5.xml><?xml version="1.0" encoding="utf-8"?>
<a:theme xmlns:a="http://schemas.openxmlformats.org/drawingml/2006/main" name="4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6.xml><?xml version="1.0" encoding="utf-8"?>
<a:theme xmlns:a="http://schemas.openxmlformats.org/drawingml/2006/main" name="5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7.xml><?xml version="1.0" encoding="utf-8"?>
<a:theme xmlns:a="http://schemas.openxmlformats.org/drawingml/2006/main" name="6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Week05_GEOG2475_TU</Template>
  <TotalTime>6886</TotalTime>
  <Words>854</Words>
  <Application>Microsoft Office PowerPoint</Application>
  <PresentationFormat>Custom</PresentationFormat>
  <Paragraphs>171</Paragraphs>
  <Slides>25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25</vt:i4>
      </vt:variant>
    </vt:vector>
  </HeadingPairs>
  <TitlesOfParts>
    <vt:vector size="40" baseType="lpstr">
      <vt:lpstr>MS Mincho</vt:lpstr>
      <vt:lpstr>Arial</vt:lpstr>
      <vt:lpstr>Arial Black</vt:lpstr>
      <vt:lpstr>Calibri</vt:lpstr>
      <vt:lpstr>Courier New</vt:lpstr>
      <vt:lpstr>Times New Roman</vt:lpstr>
      <vt:lpstr>Wingdings</vt:lpstr>
      <vt:lpstr>Wingdings 2</vt:lpstr>
      <vt:lpstr>3_DividendVTI</vt:lpstr>
      <vt:lpstr>2_DividendVTI</vt:lpstr>
      <vt:lpstr>DividendVTI</vt:lpstr>
      <vt:lpstr>1_DividendVTI</vt:lpstr>
      <vt:lpstr>4_DividendVTI</vt:lpstr>
      <vt:lpstr>5_DividendVTI</vt:lpstr>
      <vt:lpstr>6_DividendVTI</vt:lpstr>
      <vt:lpstr>WEEK 06 Data Standardization and Classification  lecture</vt:lpstr>
      <vt:lpstr>6.2  CLASSIFICATION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Geographic Field Techniques</dc:title>
  <dc:creator>Yaqian He</dc:creator>
  <cp:lastModifiedBy>Yanan Wu</cp:lastModifiedBy>
  <cp:revision>261</cp:revision>
  <dcterms:created xsi:type="dcterms:W3CDTF">2020-07-26T21:20:11Z</dcterms:created>
  <dcterms:modified xsi:type="dcterms:W3CDTF">2025-09-25T15:00:05Z</dcterms:modified>
</cp:coreProperties>
</file>