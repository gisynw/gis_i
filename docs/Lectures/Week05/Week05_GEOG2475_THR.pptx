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7" r:id="rId4"/>
    <p:sldMasterId id="2147483709" r:id="rId5"/>
  </p:sldMasterIdLst>
  <p:notesMasterIdLst>
    <p:notesMasterId r:id="rId59"/>
  </p:notesMasterIdLst>
  <p:sldIdLst>
    <p:sldId id="914" r:id="rId6"/>
    <p:sldId id="1647" r:id="rId7"/>
    <p:sldId id="639" r:id="rId8"/>
    <p:sldId id="656" r:id="rId9"/>
    <p:sldId id="658" r:id="rId10"/>
    <p:sldId id="657" r:id="rId11"/>
    <p:sldId id="655" r:id="rId12"/>
    <p:sldId id="659" r:id="rId13"/>
    <p:sldId id="296" r:id="rId14"/>
    <p:sldId id="640" r:id="rId15"/>
    <p:sldId id="293" r:id="rId16"/>
    <p:sldId id="294" r:id="rId17"/>
    <p:sldId id="295" r:id="rId18"/>
    <p:sldId id="636" r:id="rId19"/>
    <p:sldId id="291" r:id="rId20"/>
    <p:sldId id="649" r:id="rId21"/>
    <p:sldId id="650" r:id="rId22"/>
    <p:sldId id="277" r:id="rId23"/>
    <p:sldId id="308" r:id="rId24"/>
    <p:sldId id="261" r:id="rId25"/>
    <p:sldId id="651" r:id="rId26"/>
    <p:sldId id="652" r:id="rId27"/>
    <p:sldId id="263" r:id="rId28"/>
    <p:sldId id="641" r:id="rId29"/>
    <p:sldId id="662" r:id="rId30"/>
    <p:sldId id="661" r:id="rId31"/>
    <p:sldId id="663" r:id="rId32"/>
    <p:sldId id="664" r:id="rId33"/>
    <p:sldId id="312" r:id="rId34"/>
    <p:sldId id="313" r:id="rId35"/>
    <p:sldId id="314" r:id="rId36"/>
    <p:sldId id="287" r:id="rId37"/>
    <p:sldId id="274" r:id="rId38"/>
    <p:sldId id="665" r:id="rId39"/>
    <p:sldId id="666" r:id="rId40"/>
    <p:sldId id="667" r:id="rId41"/>
    <p:sldId id="299" r:id="rId42"/>
    <p:sldId id="654" r:id="rId43"/>
    <p:sldId id="668" r:id="rId44"/>
    <p:sldId id="673" r:id="rId45"/>
    <p:sldId id="669" r:id="rId46"/>
    <p:sldId id="670" r:id="rId47"/>
    <p:sldId id="671" r:id="rId48"/>
    <p:sldId id="674" r:id="rId49"/>
    <p:sldId id="672" r:id="rId50"/>
    <p:sldId id="267" r:id="rId51"/>
    <p:sldId id="646" r:id="rId52"/>
    <p:sldId id="297" r:id="rId53"/>
    <p:sldId id="290" r:id="rId54"/>
    <p:sldId id="647" r:id="rId55"/>
    <p:sldId id="289" r:id="rId56"/>
    <p:sldId id="645" r:id="rId57"/>
    <p:sldId id="270" r:id="rId58"/>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241" autoAdjust="0"/>
  </p:normalViewPr>
  <p:slideViewPr>
    <p:cSldViewPr snapToGrid="0" snapToObjects="1">
      <p:cViewPr varScale="1">
        <p:scale>
          <a:sx n="123" d="100"/>
          <a:sy n="123" d="100"/>
        </p:scale>
        <p:origin x="1608" y="96"/>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slide" Target="slides/slide42.xml"/><Relationship Id="rId50" Type="http://schemas.openxmlformats.org/officeDocument/2006/relationships/slide" Target="slides/slide45.xml"/><Relationship Id="rId55" Type="http://schemas.openxmlformats.org/officeDocument/2006/relationships/slide" Target="slides/slide50.xml"/><Relationship Id="rId63"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5" Type="http://schemas.openxmlformats.org/officeDocument/2006/relationships/slideMaster" Target="slideMasters/slideMaster5.xml"/><Relationship Id="rId61" Type="http://schemas.openxmlformats.org/officeDocument/2006/relationships/viewProps" Target="viewProps.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notesMaster" Target="notesMasters/notesMaster1.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9/14/2025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33764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3467917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28746152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22818208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21776423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9255883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Data can be broken into two broad categories: categorical and numeric. Categorical data represent discrete categories that are either unordered (nominal) or ordered (ordinal). </a:t>
            </a:r>
          </a:p>
          <a:p>
            <a:endParaRPr lang="en-US" baseline="0" dirty="0"/>
          </a:p>
          <a:p>
            <a:r>
              <a:rPr lang="en-US" baseline="0" dirty="0"/>
              <a:t>Examples of nominal data include land cover types, soil types, or vegetation types while an example of ordinal data would be rankings such as 3rd place, 2nd place, and 1st place. </a:t>
            </a:r>
          </a:p>
          <a:p>
            <a:endParaRPr lang="en-US" baseline="0" dirty="0"/>
          </a:p>
          <a:p>
            <a:r>
              <a:rPr lang="en-US" baseline="0" dirty="0"/>
              <a:t>Numeric data represent continuous numbers or measures and can be further subdivided into interval and ratio types. </a:t>
            </a:r>
          </a:p>
          <a:p>
            <a:endParaRPr lang="en-US" baseline="0" dirty="0"/>
          </a:p>
          <a:p>
            <a:r>
              <a:rPr lang="en-US" baseline="0" dirty="0"/>
              <a:t>For both types the difference between subsequent numbers is fixed; for example, the length difference between 2 meters and 3 meters is the same as the difference between 7 meters and 8 meters. </a:t>
            </a:r>
          </a:p>
          <a:p>
            <a:endParaRPr lang="en-US" baseline="0" dirty="0"/>
          </a:p>
          <a:p>
            <a:r>
              <a:rPr lang="en-US" baseline="0" dirty="0"/>
              <a:t>However, they differ in regards to how the zero value is defined. </a:t>
            </a:r>
          </a:p>
          <a:p>
            <a:endParaRPr lang="en-US" baseline="0" dirty="0"/>
          </a:p>
          <a:p>
            <a:r>
              <a:rPr lang="en-US" baseline="0" dirty="0"/>
              <a:t>For interval data, the zero value is arbitrary whereas this value is non-arbitrary for ratio data. </a:t>
            </a:r>
          </a:p>
          <a:p>
            <a:endParaRPr lang="en-US" baseline="0" dirty="0"/>
          </a:p>
          <a:p>
            <a:r>
              <a:rPr lang="en-US" baseline="0" dirty="0"/>
              <a:t>Temperature in Fahrenheit or Celsius is an example of interval data as zero temperature on these scales do not mean “no temperature.” Further, ratios cannot be calculated for interval data because, without a fixed zero value, values that are twice as large do not indicate twice the magnitude. For example, 40° Celsius is not twice as hot as 20° Celsius. </a:t>
            </a:r>
          </a:p>
          <a:p>
            <a:endParaRPr lang="en-US" baseline="0" dirty="0"/>
          </a:p>
          <a:p>
            <a:r>
              <a:rPr lang="en-US" baseline="0" dirty="0"/>
              <a:t>Examples of ratio data include lengths, areas, and percentages since the zero value does have meaning or is non-arbitrary. For example, 0% unemployment indicates that no proportion of the working population is unemployed.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9</a:t>
            </a:fld>
            <a:endParaRPr lang="en-US"/>
          </a:p>
        </p:txBody>
      </p:sp>
    </p:spTree>
    <p:extLst>
      <p:ext uri="{BB962C8B-B14F-4D97-AF65-F5344CB8AC3E}">
        <p14:creationId xmlns:p14="http://schemas.microsoft.com/office/powerpoint/2010/main" val="34684794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923556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Ordinal</a:t>
            </a:r>
            <a:r>
              <a:rPr lang="en-US" baseline="0" dirty="0"/>
              <a:t> data represent categories with an applied order, such as ranks. </a:t>
            </a:r>
          </a:p>
          <a:p>
            <a:br>
              <a:rPr lang="en-US" baseline="0" dirty="0"/>
            </a:br>
            <a:r>
              <a:rPr lang="en-US" baseline="0" dirty="0"/>
              <a:t>Survey questions, such as Strongly Disagree to Strongly Agree, are also ordinal data since there is an implied order in the groupings.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11</a:t>
            </a:fld>
            <a:endParaRPr lang="en-US"/>
          </a:p>
        </p:txBody>
      </p:sp>
    </p:spTree>
    <p:extLst>
      <p:ext uri="{BB962C8B-B14F-4D97-AF65-F5344CB8AC3E}">
        <p14:creationId xmlns:p14="http://schemas.microsoft.com/office/powerpoint/2010/main" val="3084147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a:t>
            </a:r>
            <a:r>
              <a:rPr lang="en-US" baseline="0" dirty="0"/>
              <a:t> in Fahrenheit or Celsius and time are examples of interval data. </a:t>
            </a:r>
          </a:p>
          <a:p>
            <a:endParaRPr lang="en-US" baseline="0" dirty="0"/>
          </a:p>
          <a:p>
            <a:r>
              <a:rPr lang="en-US" baseline="0" dirty="0"/>
              <a:t>The zero value is arbitrary, and meaningful ratios cannot be calculated.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38934090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Percentages</a:t>
            </a:r>
            <a:r>
              <a:rPr lang="en-US" baseline="0" dirty="0"/>
              <a:t> are examples of ratio data. </a:t>
            </a:r>
          </a:p>
          <a:p>
            <a:endParaRPr lang="en-US" baseline="0" dirty="0"/>
          </a:p>
          <a:p>
            <a:r>
              <a:rPr lang="en-US" baseline="0" dirty="0"/>
              <a:t>The zero value is not-arbitrary and meaningful ratios can be calculated.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13</a:t>
            </a:fld>
            <a:endParaRPr lang="en-US"/>
          </a:p>
        </p:txBody>
      </p:sp>
    </p:spTree>
    <p:extLst>
      <p:ext uri="{BB962C8B-B14F-4D97-AF65-F5344CB8AC3E}">
        <p14:creationId xmlns:p14="http://schemas.microsoft.com/office/powerpoint/2010/main" val="7587984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4C4F53"/>
                </a:solidFill>
                <a:effectLst/>
                <a:latin typeface="Lora"/>
              </a:rPr>
              <a:t>Nominal</a:t>
            </a:r>
          </a:p>
        </p:txBody>
      </p:sp>
      <p:sp>
        <p:nvSpPr>
          <p:cNvPr id="4" name="Slide Number Placeholder 3"/>
          <p:cNvSpPr>
            <a:spLocks noGrp="1"/>
          </p:cNvSpPr>
          <p:nvPr>
            <p:ph type="sldNum" sz="quarter" idx="5"/>
          </p:nvPr>
        </p:nvSpPr>
        <p:spPr/>
        <p:txBody>
          <a:bodyPr/>
          <a:lstStyle/>
          <a:p>
            <a:fld id="{56507943-197E-CE46-82F0-5A323A24AE7A}" type="slidenum">
              <a:rPr lang="en-US" smtClean="0"/>
              <a:pPr/>
              <a:t>14</a:t>
            </a:fld>
            <a:endParaRPr lang="en-US"/>
          </a:p>
        </p:txBody>
      </p:sp>
    </p:spTree>
    <p:extLst>
      <p:ext uri="{BB962C8B-B14F-4D97-AF65-F5344CB8AC3E}">
        <p14:creationId xmlns:p14="http://schemas.microsoft.com/office/powerpoint/2010/main" val="41621781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create a new field you can define the field name,</a:t>
            </a:r>
            <a:r>
              <a:rPr lang="en-US" baseline="0" dirty="0"/>
              <a:t> which must be less than 10 characters for shapefiles and geodatabases. </a:t>
            </a:r>
          </a:p>
          <a:p>
            <a:endParaRPr lang="en-US" baseline="0" dirty="0"/>
          </a:p>
          <a:p>
            <a:r>
              <a:rPr lang="en-US" baseline="0" dirty="0"/>
              <a:t>To make fields more interpretable, you can also include aliases, which provide more interpretable names or descriptions. </a:t>
            </a:r>
            <a:br>
              <a:rPr lang="en-US" baseline="0" dirty="0"/>
            </a:br>
            <a:endParaRPr lang="en-US" baseline="0" dirty="0"/>
          </a:p>
          <a:p>
            <a:r>
              <a:rPr lang="en-US" baseline="0" dirty="0"/>
              <a:t>You must also define the field type, which we will discuss next. </a:t>
            </a:r>
          </a:p>
          <a:p>
            <a:endParaRPr lang="en-US" baseline="0" dirty="0"/>
          </a:p>
          <a:p>
            <a:r>
              <a:rPr lang="en-US" baseline="0" dirty="0"/>
              <a:t>You can also make fields not visible or read only if you don’t want to allow editing. Note that the feature ID, or FID, will be defined as read only since you don’t want to edit or change this unique identifier.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11235656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a:t>
            </a:r>
            <a:r>
              <a:rPr lang="en-US" baseline="0" dirty="0"/>
              <a:t> a new field, you will need to define the field type. </a:t>
            </a:r>
          </a:p>
          <a:p>
            <a:endParaRPr lang="en-US" baseline="0" dirty="0"/>
          </a:p>
          <a:p>
            <a:r>
              <a:rPr lang="en-US" baseline="0" dirty="0"/>
              <a:t>Short and long integer fields can only store integer or whole number values. Long integers can stored a wider range of numbers than short integers. </a:t>
            </a:r>
          </a:p>
          <a:p>
            <a:endParaRPr lang="en-US" baseline="0" dirty="0"/>
          </a:p>
          <a:p>
            <a:r>
              <a:rPr lang="en-US" baseline="0" dirty="0"/>
              <a:t>If you need to maintain decimal values, you cannot use a short or long integer. Instead, you must use a float or double type. Float fields can store up to 6 decimal places while double can store more than 6.</a:t>
            </a:r>
          </a:p>
          <a:p>
            <a:endParaRPr lang="en-US" baseline="0" dirty="0"/>
          </a:p>
          <a:p>
            <a:r>
              <a:rPr lang="en-US" baseline="0" dirty="0"/>
              <a:t>If you would like to store text or string data, you will do so in a text field. Note that numbers stored in text field will be treated like strings. They will not be treated line numbers. For example, you will not be able to perform mathematical operations on these data. </a:t>
            </a:r>
          </a:p>
          <a:p>
            <a:endParaRPr lang="en-US" baseline="0" dirty="0"/>
          </a:p>
          <a:p>
            <a:r>
              <a:rPr lang="en-US" baseline="0" dirty="0"/>
              <a:t>Date fields store dates and will treat the information as dates.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11235656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geometric measures can be calculated and stored in the attribute table for points, lines, and polygon data. </a:t>
            </a:r>
          </a:p>
          <a:p>
            <a:endParaRPr lang="en-US" dirty="0"/>
          </a:p>
          <a:p>
            <a:r>
              <a:rPr lang="en-US" dirty="0"/>
              <a:t>For point data, it is possible to store the x and y coordinate. If the feature is z-enabled, or contains elevation or height information, this value can also be calculated. If it is M-enable, the M coordinate can be calculated. M-coordinates generally relate to positions along a network. </a:t>
            </a:r>
          </a:p>
          <a:p>
            <a:endParaRPr lang="en-US" dirty="0"/>
          </a:p>
          <a:p>
            <a:r>
              <a:rPr lang="en-US" dirty="0"/>
              <a:t>For lines, you can calculate the x and y coordinates for the start, end, and middle of the line segment. You can also calculate the length and bearing. The bearing is the compass direction of the line and is defined as the direction of travel from the start to the end node. </a:t>
            </a:r>
          </a:p>
          <a:p>
            <a:endParaRPr lang="en-US" dirty="0"/>
          </a:p>
          <a:p>
            <a:r>
              <a:rPr lang="en-US" dirty="0"/>
              <a:t>For polygons, you can calculate the area and perimeter. The perimeter is the length of all the lines that make up the boundaries of the area. You can also calculate the centroid, or geometric center, coordinates. Note that centroid coordinates can sometimes be misleading. For example, for irregular or elongated shapes, the centroid may not actually occur within the polygon. For a “C” shaped feature, the centroid would occur somewhere in the middle of the “C” as oppose to within the area that makes it up. So, be careful when using centroid measures.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1049399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discussed</a:t>
            </a:r>
            <a:r>
              <a:rPr lang="en-US" baseline="0" dirty="0"/>
              <a:t> table joins in a prior lecture. Here I will provide a refresher. </a:t>
            </a:r>
          </a:p>
          <a:p>
            <a:endParaRPr lang="en-US" baseline="0" dirty="0"/>
          </a:p>
          <a:p>
            <a:r>
              <a:rPr lang="en-US" baseline="0" dirty="0"/>
              <a:t>Joins can be used to associated tables with spatial layers. If a table and a vector layer share a common field, then they can be joined based on this shared attribute. This is similar to the concepts of foreign and primary keys in relational databases. </a:t>
            </a:r>
          </a:p>
          <a:p>
            <a:endParaRPr lang="en-US" baseline="0" dirty="0"/>
          </a:p>
          <a:p>
            <a:r>
              <a:rPr lang="en-US" baseline="0" dirty="0"/>
              <a:t>For example, if a layer of county boundaries contains the county name or FIPS code in its attribute table, this could be used to join a table to the features if the table also contains the name or FIPS code. Note that table joins are generally case sensitive and the shared fields must have the same data type. </a:t>
            </a:r>
          </a:p>
          <a:p>
            <a:endParaRPr lang="en-US" baseline="0" dirty="0"/>
          </a:p>
          <a:p>
            <a:r>
              <a:rPr lang="en-US" baseline="0" dirty="0"/>
              <a:t>Joins are just temporary. If you would like to permanently add the new columns to the attribute table, you will need to make a copy of the data.</a:t>
            </a:r>
          </a:p>
          <a:p>
            <a:endParaRPr lang="en-US" baseline="0" dirty="0"/>
          </a:p>
          <a:p>
            <a:r>
              <a:rPr lang="en-US" baseline="0" dirty="0"/>
              <a:t>A relate is similar to a join; however, the fields from the related table are not temporarily added to the feature attribute table. Instead, a relationship is established between the features but the data are maintained as separate files. </a:t>
            </a:r>
          </a:p>
          <a:p>
            <a:endParaRPr lang="en-US" baseline="0" dirty="0"/>
          </a:p>
          <a:p>
            <a:r>
              <a:rPr lang="en-US" baseline="0" dirty="0"/>
              <a:t>I generally prefer to use join as opposed to relate. </a:t>
            </a:r>
          </a:p>
          <a:p>
            <a:endParaRPr lang="en-US" baseline="0" dirty="0"/>
          </a:p>
          <a:p>
            <a:r>
              <a:rPr lang="en-US" baseline="0" dirty="0"/>
              <a:t>Since both of these operations are just a temporary association, they can be removed. So, if you would like to remove the joined fields from the table, you can do so without any issues.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9413970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In this example, the output would be the tornado point locations with an attribute table containing the original attributes for the tornadoes and the attributes for the state in which the tornado occurred.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36832975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possible to obtain summary statistics as tables</a:t>
            </a:r>
            <a:r>
              <a:rPr lang="en-US" baseline="0" dirty="0"/>
              <a:t> and charts for attribute fields. </a:t>
            </a:r>
          </a:p>
          <a:p>
            <a:endParaRPr lang="en-US" baseline="0" dirty="0"/>
          </a:p>
          <a:p>
            <a:r>
              <a:rPr lang="en-US" baseline="0" dirty="0"/>
              <a:t>You can also obtain summaries by case or group using a categorical attribute. </a:t>
            </a:r>
          </a:p>
          <a:p>
            <a:endParaRPr lang="en-US" baseline="0" dirty="0"/>
          </a:p>
          <a:p>
            <a:r>
              <a:rPr lang="en-US" baseline="0" dirty="0"/>
              <a:t>For example, you could summarize the mean percent clay content by soil type as opposed to a single summary for all soil types.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20</a:t>
            </a:fld>
            <a:endParaRPr lang="en-US"/>
          </a:p>
        </p:txBody>
      </p:sp>
    </p:spTree>
    <p:extLst>
      <p:ext uri="{BB962C8B-B14F-4D97-AF65-F5344CB8AC3E}">
        <p14:creationId xmlns:p14="http://schemas.microsoft.com/office/powerpoint/2010/main" val="37180822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possible to obtain summary statistics as tables</a:t>
            </a:r>
            <a:r>
              <a:rPr lang="en-US" baseline="0" dirty="0"/>
              <a:t> and charts for attribute fields. </a:t>
            </a:r>
          </a:p>
          <a:p>
            <a:endParaRPr lang="en-US" baseline="0" dirty="0"/>
          </a:p>
          <a:p>
            <a:r>
              <a:rPr lang="en-US" baseline="0" dirty="0"/>
              <a:t>You can also obtain summaries by case or group using a categorical attribute. </a:t>
            </a:r>
          </a:p>
          <a:p>
            <a:endParaRPr lang="en-US" baseline="0" dirty="0"/>
          </a:p>
          <a:p>
            <a:r>
              <a:rPr lang="en-US" baseline="0" dirty="0"/>
              <a:t>For example, you could summarize the mean percent clay content by soil type as opposed to a single summary for all soil types.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16045723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possible to obtain summary statistics as tables</a:t>
            </a:r>
            <a:r>
              <a:rPr lang="en-US" baseline="0" dirty="0"/>
              <a:t> and charts for attribute fields. </a:t>
            </a:r>
          </a:p>
          <a:p>
            <a:endParaRPr lang="en-US" baseline="0" dirty="0"/>
          </a:p>
          <a:p>
            <a:r>
              <a:rPr lang="en-US" baseline="0" dirty="0"/>
              <a:t>You can also obtain summaries by case or group using a categorical attribute. </a:t>
            </a:r>
          </a:p>
          <a:p>
            <a:endParaRPr lang="en-US" baseline="0" dirty="0"/>
          </a:p>
          <a:p>
            <a:r>
              <a:rPr lang="en-US" baseline="0" dirty="0"/>
              <a:t>For example, you could summarize the mean percent clay content by soil type as opposed to a single summary for all soil types.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344029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a:t>
            </a:r>
            <a:r>
              <a:rPr lang="en-US" baseline="0" dirty="0"/>
              <a:t> you would like to work with the tabulated data and do not need the spatial component, attribute tables can be exported for use in data analysis or statistical software packages using a variety of formats, such as text files, comma separated values (or CSV) files, and database (or </a:t>
            </a:r>
            <a:r>
              <a:rPr lang="en-US" baseline="0" dirty="0" err="1"/>
              <a:t>dBASE</a:t>
            </a:r>
            <a:r>
              <a:rPr lang="en-US" baseline="0" dirty="0"/>
              <a:t>) files.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13366280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21564191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25</a:t>
            </a:fld>
            <a:endParaRPr lang="en-US"/>
          </a:p>
        </p:txBody>
      </p:sp>
    </p:spTree>
    <p:extLst>
      <p:ext uri="{BB962C8B-B14F-4D97-AF65-F5344CB8AC3E}">
        <p14:creationId xmlns:p14="http://schemas.microsoft.com/office/powerpoint/2010/main" val="35205029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10663503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58818343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31999244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also possible</a:t>
            </a:r>
            <a:r>
              <a:rPr lang="en-US" baseline="0" dirty="0"/>
              <a:t> to query features based on spatial relationships to other map features. Such queries are not possible for tabulated data since the geometric information is necessary to perform the analysis. So, this is unique to spatial data and highlights the value of having spatial information associated with tabulated data. </a:t>
            </a:r>
          </a:p>
          <a:p>
            <a:endParaRPr lang="en-US" baseline="0" dirty="0"/>
          </a:p>
          <a:p>
            <a:r>
              <a:rPr lang="en-US" baseline="0" dirty="0"/>
              <a:t>Using select by location, features can be selected based on their spatial relationship to other features. </a:t>
            </a:r>
          </a:p>
          <a:p>
            <a:endParaRPr lang="en-US" baseline="0" dirty="0"/>
          </a:p>
          <a:p>
            <a:r>
              <a:rPr lang="en-US" baseline="0" dirty="0"/>
              <a:t>The next two slides will describe some of the available spatial relationships.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3165301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some time</a:t>
            </a:r>
            <a:r>
              <a:rPr lang="en-US" baseline="0" dirty="0"/>
              <a:t> to read through the spatial relationships presented here. </a:t>
            </a:r>
          </a:p>
          <a:p>
            <a:endParaRPr lang="en-US" baseline="0" dirty="0"/>
          </a:p>
          <a:p>
            <a:r>
              <a:rPr lang="en-US" baseline="0" dirty="0"/>
              <a:t>As an example, the intersect relationship can be used if you wan to select features that intersect another set of features. For example, you could select all counties that intersect a particular highway. The county will be selected if a highway intersects it or passes through it. </a:t>
            </a:r>
          </a:p>
          <a:p>
            <a:endParaRPr lang="en-US" baseline="0" dirty="0"/>
          </a:p>
          <a:p>
            <a:r>
              <a:rPr lang="en-US" baseline="0" dirty="0"/>
              <a:t>Within can be used to select features that are within other features. For example, you could select all of the homes that occur within a certain voting district. In contrast, contains could be used to select all of the voting districts that contain certain homes.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41259471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additional</a:t>
            </a:r>
            <a:r>
              <a:rPr lang="en-US" baseline="0" dirty="0"/>
              <a:t> spatial relationships. </a:t>
            </a:r>
          </a:p>
          <a:p>
            <a:endParaRPr lang="en-US" baseline="0" dirty="0"/>
          </a:p>
          <a:p>
            <a:r>
              <a:rPr lang="en-US" baseline="0" dirty="0"/>
              <a:t>As an example, are identical to is used to find features in one layer that are identical to features in another layer. For example, if you had a polygon vector dataset of buildings representing the city in 1990 and another layer representing buildings in the city in 2010, you could use this tool to find the identical buildings, or buildings that haven’t changes. You could then reverse the selection to find all new buildings. </a:t>
            </a:r>
          </a:p>
          <a:p>
            <a:endParaRPr lang="en-US" baseline="0" dirty="0"/>
          </a:p>
          <a:p>
            <a:r>
              <a:rPr lang="en-US" baseline="0" dirty="0"/>
              <a:t>Take some time to read through these examples.</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2723275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10798235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 many empty cells. Redundant information. Edit email of Paul Smith, needs to edit all of other records.</a:t>
            </a:r>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13540691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than storying</a:t>
            </a:r>
            <a:r>
              <a:rPr lang="en-US" baseline="0" dirty="0"/>
              <a:t> your data in flat files or separate files, the information can be stored in a database structure.</a:t>
            </a:r>
          </a:p>
          <a:p>
            <a:endParaRPr lang="en-US" baseline="0" dirty="0"/>
          </a:p>
          <a:p>
            <a:r>
              <a:rPr lang="en-US" baseline="0" dirty="0"/>
              <a:t>Databases offer many benefits, including the ability to organize and manage your data, make use of database management systems, use Structured Query Language (SQL) for data manipulation and querying, model topological relationships on-the-fly and between layers, define domains and subtypes, and migrate data to an enterprise database.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25961389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a:t>
            </a:r>
            <a:r>
              <a:rPr lang="en-US" baseline="0" dirty="0"/>
              <a:t> benefit of geodatabases is the ability to relate data layers and tables. </a:t>
            </a:r>
          </a:p>
          <a:p>
            <a:endParaRPr lang="en-US" baseline="0" dirty="0"/>
          </a:p>
          <a:p>
            <a:r>
              <a:rPr lang="en-US" baseline="0" dirty="0"/>
              <a:t>For example, you can make associations using primary and foreign keys. </a:t>
            </a:r>
          </a:p>
          <a:p>
            <a:endParaRPr lang="en-US" baseline="0" dirty="0"/>
          </a:p>
          <a:p>
            <a:r>
              <a:rPr lang="en-US" baseline="0" dirty="0"/>
              <a:t>For example, if a database contained vector features representing counties and tables of information for each county, the county name could be used as a foreign key to join the table to the vector features using the county name in table associated with each map feature. </a:t>
            </a:r>
          </a:p>
          <a:p>
            <a:endParaRPr lang="en-US" baseline="0" dirty="0"/>
          </a:p>
          <a:p>
            <a:r>
              <a:rPr lang="en-US" baseline="0" dirty="0"/>
              <a:t>Even though the layers are now associated, each data layer or table can be prepared, maintained, and edited separately.</a:t>
            </a:r>
          </a:p>
          <a:p>
            <a:endParaRPr lang="en-US" baseline="0" dirty="0"/>
          </a:p>
          <a:p>
            <a:r>
              <a:rPr lang="en-US" baseline="0" dirty="0"/>
              <a:t>This is the relational model in action. Databases allow for multiples datasets to be stored separately but associated within the database. </a:t>
            </a:r>
          </a:p>
          <a:p>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331895267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37</a:t>
            </a:fld>
            <a:endParaRPr lang="en-US"/>
          </a:p>
        </p:txBody>
      </p:sp>
    </p:spTree>
    <p:extLst>
      <p:ext uri="{BB962C8B-B14F-4D97-AF65-F5344CB8AC3E}">
        <p14:creationId xmlns:p14="http://schemas.microsoft.com/office/powerpoint/2010/main" val="39417089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38</a:t>
            </a:fld>
            <a:endParaRPr lang="en-US"/>
          </a:p>
        </p:txBody>
      </p:sp>
    </p:spTree>
    <p:extLst>
      <p:ext uri="{BB962C8B-B14F-4D97-AF65-F5344CB8AC3E}">
        <p14:creationId xmlns:p14="http://schemas.microsoft.com/office/powerpoint/2010/main" val="32236714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39</a:t>
            </a:fld>
            <a:endParaRPr lang="en-US"/>
          </a:p>
        </p:txBody>
      </p:sp>
    </p:spTree>
    <p:extLst>
      <p:ext uri="{BB962C8B-B14F-4D97-AF65-F5344CB8AC3E}">
        <p14:creationId xmlns:p14="http://schemas.microsoft.com/office/powerpoint/2010/main" val="20913760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SFIPs and </a:t>
            </a:r>
            <a:r>
              <a:rPr lang="en-US" dirty="0" err="1"/>
              <a:t>FIPs</a:t>
            </a:r>
            <a:r>
              <a:rPr lang="en-US" dirty="0"/>
              <a:t> codes</a:t>
            </a:r>
          </a:p>
          <a:p>
            <a:r>
              <a:rPr lang="en-US" b="0" i="0" dirty="0">
                <a:solidFill>
                  <a:srgbClr val="202124"/>
                </a:solidFill>
                <a:effectLst/>
                <a:latin typeface="Roboto" panose="02000000000000000000" pitchFamily="2" charset="0"/>
              </a:rPr>
              <a:t>Federal Information Processing Standards (FIPS)</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40</a:t>
            </a:fld>
            <a:endParaRPr lang="en-US"/>
          </a:p>
        </p:txBody>
      </p:sp>
    </p:spTree>
    <p:extLst>
      <p:ext uri="{BB962C8B-B14F-4D97-AF65-F5344CB8AC3E}">
        <p14:creationId xmlns:p14="http://schemas.microsoft.com/office/powerpoint/2010/main" val="294511919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a:t>
            </a:r>
            <a:r>
              <a:rPr lang="en-US" baseline="0" dirty="0"/>
              <a:t> types of relationships are available. Note that many of these types are not available when using joins and relates outside of a database, such as joining a table to a </a:t>
            </a:r>
            <a:r>
              <a:rPr lang="en-US" baseline="0" dirty="0" err="1"/>
              <a:t>shapefile</a:t>
            </a:r>
            <a:r>
              <a:rPr lang="en-US" baseline="0" dirty="0"/>
              <a: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41</a:t>
            </a:fld>
            <a:endParaRPr lang="en-US"/>
          </a:p>
        </p:txBody>
      </p:sp>
    </p:spTree>
    <p:extLst>
      <p:ext uri="{BB962C8B-B14F-4D97-AF65-F5344CB8AC3E}">
        <p14:creationId xmlns:p14="http://schemas.microsoft.com/office/powerpoint/2010/main" val="11811089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42</a:t>
            </a:fld>
            <a:endParaRPr lang="en-US"/>
          </a:p>
        </p:txBody>
      </p:sp>
    </p:spTree>
    <p:extLst>
      <p:ext uri="{BB962C8B-B14F-4D97-AF65-F5344CB8AC3E}">
        <p14:creationId xmlns:p14="http://schemas.microsoft.com/office/powerpoint/2010/main" val="398807275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43</a:t>
            </a:fld>
            <a:endParaRPr lang="en-US"/>
          </a:p>
        </p:txBody>
      </p:sp>
    </p:spTree>
    <p:extLst>
      <p:ext uri="{BB962C8B-B14F-4D97-AF65-F5344CB8AC3E}">
        <p14:creationId xmlns:p14="http://schemas.microsoft.com/office/powerpoint/2010/main" val="22130284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 one of the benefits</a:t>
            </a:r>
            <a:r>
              <a:rPr lang="en-US" baseline="0" dirty="0"/>
              <a:t> of using a geodatabase is the ability to relate tables and data using primary and foreign keys.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44</a:t>
            </a:fld>
            <a:endParaRPr lang="en-US"/>
          </a:p>
        </p:txBody>
      </p:sp>
    </p:spTree>
    <p:extLst>
      <p:ext uri="{BB962C8B-B14F-4D97-AF65-F5344CB8AC3E}">
        <p14:creationId xmlns:p14="http://schemas.microsoft.com/office/powerpoint/2010/main" val="5498740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45</a:t>
            </a:fld>
            <a:endParaRPr lang="en-US"/>
          </a:p>
        </p:txBody>
      </p:sp>
    </p:spTree>
    <p:extLst>
      <p:ext uri="{BB962C8B-B14F-4D97-AF65-F5344CB8AC3E}">
        <p14:creationId xmlns:p14="http://schemas.microsoft.com/office/powerpoint/2010/main" val="22688827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ESRI offers three</a:t>
            </a:r>
            <a:r>
              <a:rPr lang="en-US" baseline="0" dirty="0"/>
              <a:t> types of relational databases. </a:t>
            </a:r>
          </a:p>
          <a:p>
            <a:endParaRPr lang="en-US" baseline="0" dirty="0"/>
          </a:p>
          <a:p>
            <a:r>
              <a:rPr lang="en-US" baseline="0" dirty="0"/>
              <a:t>Personal and File geodatabases are designed to receive edits from only one user at a time. However, multiple users can access the data at once. These databases are generally hosted  or stored on a local machine as opposed to on a server using an enterprise database management system. </a:t>
            </a:r>
          </a:p>
          <a:p>
            <a:endParaRPr lang="en-US" baseline="0" dirty="0"/>
          </a:p>
          <a:p>
            <a:r>
              <a:rPr lang="en-US" baseline="0" dirty="0"/>
              <a:t>Enterprise geodatabases are meant to be stored on a server using a database management system and allow for multiple editors and users at once. </a:t>
            </a:r>
          </a:p>
          <a:p>
            <a:endParaRPr lang="en-US" baseline="0" dirty="0"/>
          </a:p>
          <a:p>
            <a:r>
              <a:rPr lang="en-US" b="0" i="0" dirty="0">
                <a:solidFill>
                  <a:srgbClr val="000000"/>
                </a:solidFill>
                <a:effectLst/>
                <a:latin typeface="Verdana" panose="020B0604030504040204" pitchFamily="34" charset="0"/>
              </a:rPr>
              <a:t>provides an editing environment that supports concurrent multiuser editing without creating multiple copies of the data. This editing environment is called versioning.</a:t>
            </a:r>
            <a:r>
              <a:rPr lang="en-US" b="0" i="0" baseline="0" dirty="0">
                <a:solidFill>
                  <a:srgbClr val="000000"/>
                </a:solidFill>
                <a:effectLst/>
                <a:latin typeface="Verdana" panose="020B0604030504040204" pitchFamily="34" charset="0"/>
              </a:rPr>
              <a:t> </a:t>
            </a:r>
            <a:r>
              <a:rPr lang="en-US" b="0" i="0" dirty="0">
                <a:solidFill>
                  <a:srgbClr val="000000"/>
                </a:solidFill>
                <a:effectLst/>
                <a:latin typeface="Verdana" panose="020B0604030504040204" pitchFamily="34" charset="0"/>
              </a:rPr>
              <a:t>an alternative, independent, persistent view of the database that does not involve creating a copy of the data</a:t>
            </a:r>
          </a:p>
          <a:p>
            <a:endParaRPr lang="en-US" b="0" i="0" baseline="0" dirty="0">
              <a:solidFill>
                <a:srgbClr val="000000"/>
              </a:solidFill>
              <a:effectLst/>
              <a:latin typeface="Verdana" panose="020B0604030504040204" pitchFamily="34" charset="0"/>
            </a:endParaRPr>
          </a:p>
          <a:p>
            <a:r>
              <a:rPr lang="en-US" baseline="0" dirty="0"/>
              <a:t>Note that personal geodatabase are being phased out. They are no longer supported in ArcGIS Pro but can be used in ArcMap. </a:t>
            </a:r>
          </a:p>
          <a:p>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46</a:t>
            </a:fld>
            <a:endParaRPr lang="en-US"/>
          </a:p>
        </p:txBody>
      </p:sp>
    </p:spTree>
    <p:extLst>
      <p:ext uri="{BB962C8B-B14F-4D97-AF65-F5344CB8AC3E}">
        <p14:creationId xmlns:p14="http://schemas.microsoft.com/office/powerpoint/2010/main" val="9778367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variety</a:t>
            </a:r>
            <a:r>
              <a:rPr lang="en-US" baseline="0" dirty="0"/>
              <a:t> of different features can be stored in a geodatabase. Some of these features will be described in subsequent slides.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47</a:t>
            </a:fld>
            <a:endParaRPr lang="en-US"/>
          </a:p>
        </p:txBody>
      </p:sp>
    </p:spTree>
    <p:extLst>
      <p:ext uri="{BB962C8B-B14F-4D97-AF65-F5344CB8AC3E}">
        <p14:creationId xmlns:p14="http://schemas.microsoft.com/office/powerpoint/2010/main" val="24774658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a:t>
            </a:r>
            <a:r>
              <a:rPr lang="en-US" baseline="0" dirty="0"/>
              <a:t> a geodatabase, vector data are stored as feature classes. </a:t>
            </a:r>
          </a:p>
          <a:p>
            <a:endParaRPr lang="en-US" baseline="0" dirty="0"/>
          </a:p>
          <a:p>
            <a:r>
              <a:rPr lang="en-US" baseline="0" dirty="0"/>
              <a:t>All features inside of a feature class must share the same geometry (points, lines, or polygons).</a:t>
            </a:r>
          </a:p>
          <a:p>
            <a:endParaRPr lang="en-US" baseline="0" dirty="0"/>
          </a:p>
          <a:p>
            <a:r>
              <a:rPr lang="en-US" baseline="0" dirty="0"/>
              <a:t>A spatial reference must be applied to a feature class. </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This is an object-based model since the geometry and attribute data are stored in the same file. In a feature class, the geometry is stored as a column in a table as a binary large object or BLOB.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gdb</a:t>
            </a:r>
            <a:endParaRPr lang="en-US" dirty="0"/>
          </a:p>
          <a:p>
            <a:pPr marL="0" marR="0" indent="0" algn="l" defTabSz="914400" rtl="0" eaLnBrk="1" fontAlgn="auto" latinLnBrk="0" hangingPunct="1">
              <a:lnSpc>
                <a:spcPct val="100000"/>
              </a:lnSpc>
              <a:spcBef>
                <a:spcPts val="0"/>
              </a:spcBef>
              <a:spcAft>
                <a:spcPts val="0"/>
              </a:spcAft>
              <a:buClrTx/>
              <a:buSzTx/>
              <a:buFontTx/>
              <a:buNone/>
              <a:tabLst/>
              <a:defRPr/>
            </a:pPr>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48</a:t>
            </a:fld>
            <a:endParaRPr lang="en-US"/>
          </a:p>
        </p:txBody>
      </p:sp>
    </p:spTree>
    <p:extLst>
      <p:ext uri="{BB962C8B-B14F-4D97-AF65-F5344CB8AC3E}">
        <p14:creationId xmlns:p14="http://schemas.microsoft.com/office/powerpoint/2010/main" val="105888749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datasets</a:t>
            </a:r>
            <a:r>
              <a:rPr lang="en-US" baseline="0" dirty="0"/>
              <a:t> are collections of feature classes that have the same spatial reference. </a:t>
            </a:r>
          </a:p>
          <a:p>
            <a:endParaRPr lang="en-US" baseline="0" dirty="0"/>
          </a:p>
          <a:p>
            <a:r>
              <a:rPr lang="en-US" baseline="0" dirty="0"/>
              <a:t>You can think of feature datasets as subfolders within the database. </a:t>
            </a:r>
          </a:p>
          <a:p>
            <a:endParaRPr lang="en-US" baseline="0" dirty="0"/>
          </a:p>
          <a:p>
            <a:r>
              <a:rPr lang="en-US" baseline="0" dirty="0"/>
              <a:t>They can be used to organize your data. For example, if you have a geodatabase of utility data for a city, you could organize the electrical, water, and communication data into separate feature datasets. </a:t>
            </a:r>
          </a:p>
          <a:p>
            <a:endParaRPr lang="en-US" baseline="0" dirty="0"/>
          </a:p>
          <a:p>
            <a:r>
              <a:rPr lang="en-US" baseline="0" dirty="0"/>
              <a:t>You can also use feature datasets to control data access and editing privileges. For example, you could allow all utility workers access to data, but only those working on the with the electrical utilities could edit data in the feature dataset containing the electrical utility information. </a:t>
            </a:r>
          </a:p>
          <a:p>
            <a:endParaRPr lang="en-US" baseline="0" dirty="0"/>
          </a:p>
          <a:p>
            <a:r>
              <a:rPr lang="en-US" baseline="0" dirty="0"/>
              <a:t>Sometimes feature datasets are required. Examples include when you want to build or define topological relationships between layers, created network datasets, or create terrain datasets. </a:t>
            </a:r>
          </a:p>
          <a:p>
            <a:endParaRPr lang="en-US" baseline="0" dirty="0"/>
          </a:p>
          <a:p>
            <a:r>
              <a:rPr lang="en-US" baseline="0" dirty="0"/>
              <a:t>All data in the feature dataset must have the same spatial reference. </a:t>
            </a:r>
          </a:p>
          <a:p>
            <a:endParaRPr lang="en-US" baseline="0" dirty="0"/>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4D4D4D"/>
                </a:solidFill>
                <a:effectLst/>
                <a:latin typeface="Lucida Grande"/>
              </a:rPr>
              <a:t>Common feature classes that act as data sources for terrains include the following: </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4D4D4D"/>
                </a:solidFill>
                <a:effectLst/>
                <a:latin typeface="Lucida Grande"/>
              </a:rPr>
              <a:t>Multipoint feature classes of 3D mass points created from a data source such as lidar or sonar</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4D4D4D"/>
                </a:solidFill>
                <a:effectLst/>
                <a:latin typeface="Lucida Grande"/>
              </a:rPr>
              <a:t>3D point and line feature classes created on photogrammetric workstations using stereo imagery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4D4D4D"/>
                </a:solidFill>
                <a:effectLst/>
                <a:latin typeface="Lucida Grande"/>
              </a:rPr>
              <a:t>Study area boundaries used to define the bounds of the terrain dataset</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4D4D4D"/>
              </a:solidFill>
              <a:effectLst/>
              <a:latin typeface="Lucida Grande"/>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4D4D4D"/>
              </a:solidFill>
              <a:effectLst/>
              <a:latin typeface="Lucida Grande"/>
            </a:endParaRPr>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49</a:t>
            </a:fld>
            <a:endParaRPr lang="en-US"/>
          </a:p>
        </p:txBody>
      </p:sp>
    </p:spTree>
    <p:extLst>
      <p:ext uri="{BB962C8B-B14F-4D97-AF65-F5344CB8AC3E}">
        <p14:creationId xmlns:p14="http://schemas.microsoft.com/office/powerpoint/2010/main" val="415143284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Domains are defined at the database level and can be applied to multiple features stored in the database. </a:t>
            </a:r>
          </a:p>
          <a:p>
            <a:endParaRPr lang="en-US" baseline="0" dirty="0"/>
          </a:p>
          <a:p>
            <a:r>
              <a:rPr lang="en-US" baseline="0" dirty="0"/>
              <a:t>They are used to define allowed values or entries to a field. </a:t>
            </a:r>
          </a:p>
          <a:p>
            <a:endParaRPr lang="en-US" baseline="0" dirty="0"/>
          </a:p>
          <a:p>
            <a:r>
              <a:rPr lang="en-US" baseline="0" dirty="0"/>
              <a:t>For example, if a field is meant to store a rating, you may only want the user to be able to enter between 0 and 5 stars. </a:t>
            </a:r>
          </a:p>
          <a:p>
            <a:endParaRPr lang="en-US" baseline="0" dirty="0"/>
          </a:p>
          <a:p>
            <a:r>
              <a:rPr lang="en-US" baseline="0" dirty="0"/>
              <a:t>Domains can also be used to define allowed categories. For example, a field of movie genres should only be able to store genres from a predefined list. </a:t>
            </a:r>
          </a:p>
          <a:p>
            <a:endParaRPr lang="en-US" baseline="0" dirty="0"/>
          </a:p>
          <a:p>
            <a:r>
              <a:rPr lang="en-US" baseline="0" dirty="0"/>
              <a:t>Coded values are generally used to set up allowed discrete entries or categories. A numeric code will be assigned to each category. For example, if you want to create a field that will store rock types for a geologic field collection, then you could associate a numeric code to each allowed rock type. </a:t>
            </a:r>
          </a:p>
          <a:p>
            <a:endParaRPr lang="en-US" baseline="0" dirty="0"/>
          </a:p>
          <a:p>
            <a:r>
              <a:rPr lang="en-US" baseline="0" dirty="0"/>
              <a:t>Ranged values are generally used when you want the user to be able to enter a number, but only within a defined range. For example, if a field is meant to store a percentage, then you would want the user to only be able to enter values between 0 and 100. </a:t>
            </a:r>
          </a:p>
          <a:p>
            <a:endParaRPr lang="en-US" baseline="0" dirty="0"/>
          </a:p>
          <a:p>
            <a:r>
              <a:rPr lang="en-US" baseline="0" dirty="0"/>
              <a:t>In the provide examples, coded values are being used to define the level of difficulty of a trail whereas ranged values are being used to specify the range of values allowed in a rating column. </a:t>
            </a:r>
          </a:p>
          <a:p>
            <a:endParaRPr lang="en-US" baseline="0" dirty="0"/>
          </a:p>
          <a:p>
            <a:r>
              <a:rPr lang="en-US" baseline="0" dirty="0"/>
              <a:t>Creating domains can be very useful. This will force the user to only enter valid data into a field.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50</a:t>
            </a:fld>
            <a:endParaRPr lang="en-US"/>
          </a:p>
        </p:txBody>
      </p:sp>
    </p:spTree>
    <p:extLst>
      <p:ext uri="{BB962C8B-B14F-4D97-AF65-F5344CB8AC3E}">
        <p14:creationId xmlns:p14="http://schemas.microsoft.com/office/powerpoint/2010/main" val="204649470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Subtypes</a:t>
            </a:r>
            <a:r>
              <a:rPr lang="en-US" baseline="0" dirty="0"/>
              <a:t> represent of features in a feature class or table that share the same attribute and are used to categorize data using coded values. </a:t>
            </a:r>
          </a:p>
          <a:p>
            <a:endParaRPr lang="en-US" baseline="0" dirty="0"/>
          </a:p>
          <a:p>
            <a:r>
              <a:rPr lang="en-US" baseline="0" dirty="0"/>
              <a:t>For example, in a layer that contains land parcels, subtypes could be defined relative to how the parcel is zoned (for example, public, commercial, or residential).</a:t>
            </a:r>
          </a:p>
          <a:p>
            <a:endParaRPr lang="en-US" baseline="0" dirty="0"/>
          </a:p>
          <a:p>
            <a:r>
              <a:rPr lang="en-US" baseline="0" dirty="0"/>
              <a:t>In the provided example, trails are being grouped into three subtypes as trail, motorized, and water.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51</a:t>
            </a:fld>
            <a:endParaRPr lang="en-US"/>
          </a:p>
        </p:txBody>
      </p:sp>
    </p:spTree>
    <p:extLst>
      <p:ext uri="{BB962C8B-B14F-4D97-AF65-F5344CB8AC3E}">
        <p14:creationId xmlns:p14="http://schemas.microsoft.com/office/powerpoint/2010/main" val="17446990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t>
            </a:r>
            <a:r>
              <a:rPr lang="en-US" baseline="0" dirty="0"/>
              <a:t> new file geodatabase can be created using ArcGIS Pro or </a:t>
            </a:r>
            <a:r>
              <a:rPr lang="en-US" baseline="0" dirty="0" err="1"/>
              <a:t>ArcCatalog</a:t>
            </a:r>
            <a:r>
              <a:rPr lang="en-US" baseline="0" dirty="0"/>
              <a:t>.</a:t>
            </a:r>
          </a:p>
          <a:p>
            <a:endParaRPr lang="en-US" baseline="0" dirty="0"/>
          </a:p>
          <a:p>
            <a:r>
              <a:rPr lang="en-US" baseline="0" dirty="0"/>
              <a:t>Once a database is created, you can create new empty feature classes within it or import data layers, such as </a:t>
            </a:r>
            <a:r>
              <a:rPr lang="en-US" baseline="0" dirty="0" err="1"/>
              <a:t>shapefiles</a:t>
            </a:r>
            <a:r>
              <a:rPr lang="en-US" baseline="0" dirty="0"/>
              <a:t>, tables, and raster grids. </a:t>
            </a:r>
          </a:p>
        </p:txBody>
      </p:sp>
      <p:sp>
        <p:nvSpPr>
          <p:cNvPr id="4" name="Slide Number Placeholder 3"/>
          <p:cNvSpPr>
            <a:spLocks noGrp="1"/>
          </p:cNvSpPr>
          <p:nvPr>
            <p:ph type="sldNum" sz="quarter" idx="10"/>
          </p:nvPr>
        </p:nvSpPr>
        <p:spPr/>
        <p:txBody>
          <a:bodyPr/>
          <a:lstStyle/>
          <a:p>
            <a:fld id="{01F2A70B-78F2-4DCF-B53B-C990D2FAFB8A}" type="slidenum">
              <a:rPr lang="en-US" smtClean="0"/>
              <a:t>52</a:t>
            </a:fld>
            <a:endParaRPr lang="en-US"/>
          </a:p>
        </p:txBody>
      </p:sp>
    </p:spTree>
    <p:extLst>
      <p:ext uri="{BB962C8B-B14F-4D97-AF65-F5344CB8AC3E}">
        <p14:creationId xmlns:p14="http://schemas.microsoft.com/office/powerpoint/2010/main" val="91793904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53</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7B6AF446-C7A3-4A2D-B01C-4080BC0DDC51}" type="datetime1">
              <a:rPr lang="en-US" smtClean="0"/>
              <a:t>9/14/2025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587636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E77A5B41-BFC4-4275-B283-99B49DA65AE7}" type="datetime1">
              <a:rPr lang="en-US" smtClean="0"/>
              <a:t>9/14/2025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87760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FC9F5041-7C46-4557-A8EF-D9C07452E04F}" type="datetime1">
              <a:rPr lang="en-US" smtClean="0"/>
              <a:t>9/14/2025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564141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9165F29B-8031-46B1-B8C6-0E15991220BD}" type="datetime1">
              <a:rPr lang="en-US" smtClean="0"/>
              <a:t>9/14/2025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63155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EA26BC96-89B3-4A8F-8C3A-8FECB7F0AF50}" type="datetime1">
              <a:rPr lang="en-US" smtClean="0"/>
              <a:t>9/14/2025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340678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979F6BEE-F3E4-4F76-B56D-1C48BBD7AEA9}" type="datetime1">
              <a:rPr lang="en-US" smtClean="0"/>
              <a:t>9/14/2025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757782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EBF79E3-AE5C-4717-978E-15FC3620ACEF}" type="datetime1">
              <a:rPr lang="en-US" smtClean="0"/>
              <a:t>9/14/2025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40972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07B82B69-02FF-4A00-BF94-063310C8EF70}" type="datetime1">
              <a:rPr lang="en-US" smtClean="0"/>
              <a:t>9/14/2025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91683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8C7A3C19-50BF-43F6-AD63-C05469BE5035}" type="datetime1">
              <a:rPr lang="en-US" smtClean="0"/>
              <a:t>9/14/2025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125690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FED35F4A-7979-4619-A182-7748F9FBAA45}" type="datetime1">
              <a:rPr lang="en-US" smtClean="0"/>
              <a:t>9/14/2025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192349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4E8A0E10-3CDB-43FE-B1B5-7D3654751138}" type="datetime1">
              <a:rPr lang="en-US" smtClean="0"/>
              <a:t>9/14/2025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921292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9/14/2025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302169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9/14/2025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866386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9/14/2025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99008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20239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9/14/2025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701947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9/14/2025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168720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9/14/2025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3536917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9/14/2025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264874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471376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038094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9/14/2025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416621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9/14/2025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110506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9/14/2025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243830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9/14/2025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810877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63727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9/14/2025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31722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9/14/2025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65061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9/14/2025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42931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9/14/2025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63057035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9/14/2025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7757943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1150279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9/14/2025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947237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20365377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9/14/2025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4313440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9/14/2025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213772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9/14/2025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2372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9/14/2025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3348641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9/14/2025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4750811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9/14/2025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8502085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9/14/2025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7117236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9/14/2025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577751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9/14/2025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2940284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143057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9/14/2025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1384124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9/14/2025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91447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9/14/2025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9742359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9/14/2025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580456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161549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9/14/2025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3836089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9/14/2025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25831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9/14/2025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129656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9/14/2025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02391240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9/14/2025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203341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7946646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9/14/2025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8773776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705807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5.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61ED8BDC-014F-440E-B651-A3D5A758B980}" type="datetime1">
              <a:rPr lang="en-US" smtClean="0"/>
              <a:t>9/14/2025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0406637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9/14/2025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6268017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9/14/2025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21231563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9/14/2025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767237668"/>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9/14/2025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325056259"/>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t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5.tif"/><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5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1" y="740565"/>
            <a:ext cx="3871767" cy="1831185"/>
          </a:xfrm>
        </p:spPr>
        <p:txBody>
          <a:bodyPr>
            <a:normAutofit/>
          </a:bodyPr>
          <a:lstStyle/>
          <a:p>
            <a:r>
              <a:rPr lang="en-US" sz="2700" dirty="0">
                <a:solidFill>
                  <a:srgbClr val="FFFFFF"/>
                </a:solidFill>
              </a:rPr>
              <a:t>WEEK 05 </a:t>
            </a:r>
            <a:br>
              <a:rPr lang="en-US" sz="2700" dirty="0">
                <a:solidFill>
                  <a:srgbClr val="FFFFFF"/>
                </a:solidFill>
              </a:rPr>
            </a:br>
            <a:r>
              <a:rPr lang="en-US" sz="2800" dirty="0"/>
              <a:t>Geospatial Data</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4.1 </a:t>
            </a:r>
            <a:br>
              <a:rPr lang="en-US" sz="4050" dirty="0">
                <a:solidFill>
                  <a:srgbClr val="FFFFFF"/>
                </a:solidFill>
              </a:rPr>
            </a:br>
            <a:r>
              <a:rPr lang="en-US" sz="4050" dirty="0">
                <a:solidFill>
                  <a:srgbClr val="FFFFFF"/>
                </a:solidFill>
              </a:rPr>
              <a:t>Attribute table</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1" y="1029962"/>
            <a:ext cx="7679724" cy="3886200"/>
          </a:xfrm>
        </p:spPr>
        <p:txBody>
          <a:bodyPr>
            <a:normAutofit fontScale="92500" lnSpcReduction="20000"/>
          </a:bodyPr>
          <a:lstStyle/>
          <a:p>
            <a:pPr>
              <a:buFont typeface="Courier New" panose="02070309020205020404" pitchFamily="49" charset="0"/>
              <a:buChar char="o"/>
            </a:pPr>
            <a:r>
              <a:rPr lang="en-US" altLang="en-US" sz="2600" dirty="0"/>
              <a:t>Attribute Table</a:t>
            </a:r>
          </a:p>
          <a:p>
            <a:pPr lvl="1">
              <a:buFont typeface="Wingdings" panose="05000000000000000000" pitchFamily="2" charset="2"/>
              <a:buChar char="ü"/>
            </a:pPr>
            <a:r>
              <a:rPr lang="en-US" altLang="en-US" sz="2300" dirty="0"/>
              <a:t>Vector and Raster attribute table</a:t>
            </a:r>
          </a:p>
          <a:p>
            <a:pPr lvl="1">
              <a:buFont typeface="Wingdings" panose="05000000000000000000" pitchFamily="2" charset="2"/>
              <a:buChar char="ü"/>
            </a:pPr>
            <a:r>
              <a:rPr lang="en-US" altLang="en-US" sz="2300" dirty="0"/>
              <a:t>Data Type</a:t>
            </a:r>
          </a:p>
          <a:p>
            <a:pPr lvl="1">
              <a:buFont typeface="Wingdings" panose="05000000000000000000" pitchFamily="2" charset="2"/>
              <a:buChar char="ü"/>
            </a:pPr>
            <a:r>
              <a:rPr lang="en-US" altLang="en-US" sz="2300" dirty="0"/>
              <a:t>Editing (e.g., adding fields)</a:t>
            </a:r>
          </a:p>
          <a:p>
            <a:pPr lvl="1">
              <a:buFont typeface="Wingdings" panose="05000000000000000000" pitchFamily="2" charset="2"/>
              <a:buChar char="ü"/>
            </a:pPr>
            <a:r>
              <a:rPr lang="en-US" altLang="en-US" sz="2300" dirty="0"/>
              <a:t>Query</a:t>
            </a:r>
          </a:p>
          <a:p>
            <a:pPr marL="0" lvl="1">
              <a:buFont typeface="Courier New" panose="02070309020205020404" pitchFamily="49" charset="0"/>
              <a:buChar char="o"/>
            </a:pPr>
            <a:r>
              <a:rPr lang="en-US" altLang="en-US" sz="2400" dirty="0"/>
              <a:t>Geodatabase</a:t>
            </a:r>
            <a:endParaRPr lang="en-US" altLang="en-US" sz="2300" dirty="0"/>
          </a:p>
          <a:p>
            <a:pPr lvl="1">
              <a:buFont typeface="Wingdings" panose="05000000000000000000" pitchFamily="2" charset="2"/>
              <a:buChar char="ü"/>
            </a:pPr>
            <a:r>
              <a:rPr lang="en-US" altLang="en-US" sz="2300" dirty="0"/>
              <a:t>Relational model</a:t>
            </a:r>
          </a:p>
          <a:p>
            <a:pPr lvl="1">
              <a:buFont typeface="Wingdings" panose="05000000000000000000" pitchFamily="2" charset="2"/>
              <a:buChar char="ü"/>
            </a:pPr>
            <a:r>
              <a:rPr lang="en-US" altLang="en-US" sz="2300" dirty="0"/>
              <a:t>ESRI Geodatabase</a:t>
            </a:r>
          </a:p>
          <a:p>
            <a:pPr lvl="1">
              <a:buFont typeface="Wingdings" panose="05000000000000000000" pitchFamily="2" charset="2"/>
              <a:buChar char="ü"/>
            </a:pPr>
            <a:r>
              <a:rPr lang="en-US" altLang="en-US" sz="2300" dirty="0"/>
              <a:t>Components</a:t>
            </a:r>
          </a:p>
          <a:p>
            <a:pPr lvl="1">
              <a:buFont typeface="Wingdings" panose="05000000000000000000" pitchFamily="2" charset="2"/>
              <a:buChar char="ü"/>
            </a:pPr>
            <a:r>
              <a:rPr lang="en-US" altLang="en-US" sz="2300" dirty="0"/>
              <a:t>Editing (e.g., create new database)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7135" y="1818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36597469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81266" y="17892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4065625"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dirty="0"/>
              <a:t>Columns = fields, items or attributes, stored for each record</a:t>
            </a:r>
          </a:p>
          <a:p>
            <a:pPr lvl="1">
              <a:buFont typeface="Wingdings" panose="05000000000000000000" pitchFamily="2" charset="2"/>
              <a:buChar char="ü"/>
            </a:pPr>
            <a:r>
              <a:rPr lang="en-US" dirty="0"/>
              <a:t>Rows = Records</a:t>
            </a:r>
          </a:p>
          <a:p>
            <a:pPr lvl="2">
              <a:buFont typeface="Arial" panose="020B0604020202020204" pitchFamily="34" charset="0"/>
              <a:buChar char="•"/>
            </a:pPr>
            <a:r>
              <a:rPr lang="en-US" dirty="0"/>
              <a:t>One record for each vector feature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4</a:t>
            </a:fld>
            <a:endParaRPr lang="en-US"/>
          </a:p>
        </p:txBody>
      </p:sp>
      <p:pic>
        <p:nvPicPr>
          <p:cNvPr id="5" name="Picture 4" descr="A picture containing diagram&#10;&#10;Description automatically generated">
            <a:extLst>
              <a:ext uri="{FF2B5EF4-FFF2-40B4-BE49-F238E27FC236}">
                <a16:creationId xmlns:a16="http://schemas.microsoft.com/office/drawing/2014/main" id="{01FCA091-FFB3-4B10-8FDD-330F0D76ADBC}"/>
              </a:ext>
            </a:extLst>
          </p:cNvPr>
          <p:cNvPicPr>
            <a:picLocks noChangeAspect="1"/>
          </p:cNvPicPr>
          <p:nvPr/>
        </p:nvPicPr>
        <p:blipFill>
          <a:blip r:embed="rId3"/>
          <a:stretch>
            <a:fillRect/>
          </a:stretch>
        </p:blipFill>
        <p:spPr>
          <a:xfrm>
            <a:off x="4184158" y="1080051"/>
            <a:ext cx="3004797" cy="4063449"/>
          </a:xfrm>
          <a:prstGeom prst="rect">
            <a:avLst/>
          </a:prstGeom>
        </p:spPr>
      </p:pic>
      <p:sp>
        <p:nvSpPr>
          <p:cNvPr id="12" name="TextBox 11">
            <a:extLst>
              <a:ext uri="{FF2B5EF4-FFF2-40B4-BE49-F238E27FC236}">
                <a16:creationId xmlns:a16="http://schemas.microsoft.com/office/drawing/2014/main" id="{A59D19FC-20B9-4E1A-A18F-721CA883E14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3674699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34771" y="21973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4" y="981902"/>
            <a:ext cx="3252032"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sz="2040" dirty="0"/>
              <a:t>All shapefiles and feature classes have an attribute table.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5</a:t>
            </a:fld>
            <a:endParaRPr lang="en-US"/>
          </a:p>
        </p:txBody>
      </p:sp>
      <p:pic>
        <p:nvPicPr>
          <p:cNvPr id="6" name="Picture 5" descr="Diagram, engineering drawing&#10;&#10;Description automatically generated">
            <a:extLst>
              <a:ext uri="{FF2B5EF4-FFF2-40B4-BE49-F238E27FC236}">
                <a16:creationId xmlns:a16="http://schemas.microsoft.com/office/drawing/2014/main" id="{57CF5AAA-ECB2-4C79-A3A3-A9FCE8E3D159}"/>
              </a:ext>
            </a:extLst>
          </p:cNvPr>
          <p:cNvPicPr>
            <a:picLocks noChangeAspect="1"/>
          </p:cNvPicPr>
          <p:nvPr/>
        </p:nvPicPr>
        <p:blipFill>
          <a:blip r:embed="rId3"/>
          <a:stretch>
            <a:fillRect/>
          </a:stretch>
        </p:blipFill>
        <p:spPr>
          <a:xfrm>
            <a:off x="3158889" y="1052976"/>
            <a:ext cx="3882368" cy="3988131"/>
          </a:xfrm>
          <a:prstGeom prst="rect">
            <a:avLst/>
          </a:prstGeom>
        </p:spPr>
      </p:pic>
      <p:sp>
        <p:nvSpPr>
          <p:cNvPr id="10" name="TextBox 9">
            <a:extLst>
              <a:ext uri="{FF2B5EF4-FFF2-40B4-BE49-F238E27FC236}">
                <a16:creationId xmlns:a16="http://schemas.microsoft.com/office/drawing/2014/main" id="{7D8B2A45-1178-49AC-8898-E37200FE4C8D}"/>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4" name="TextBox 3">
            <a:extLst>
              <a:ext uri="{FF2B5EF4-FFF2-40B4-BE49-F238E27FC236}">
                <a16:creationId xmlns:a16="http://schemas.microsoft.com/office/drawing/2014/main" id="{5F1CBE2C-7213-C05F-B272-332F696E2037}"/>
              </a:ext>
            </a:extLst>
          </p:cNvPr>
          <p:cNvSpPr txBox="1"/>
          <p:nvPr/>
        </p:nvSpPr>
        <p:spPr>
          <a:xfrm>
            <a:off x="585218" y="2917747"/>
            <a:ext cx="1206250" cy="369332"/>
          </a:xfrm>
          <a:prstGeom prst="rect">
            <a:avLst/>
          </a:prstGeom>
          <a:noFill/>
        </p:spPr>
        <p:txBody>
          <a:bodyPr wrap="square" rtlCol="0">
            <a:spAutoFit/>
          </a:bodyPr>
          <a:lstStyle/>
          <a:p>
            <a:r>
              <a:rPr lang="en-US" altLang="zh-CN" dirty="0">
                <a:solidFill>
                  <a:srgbClr val="FF0000"/>
                </a:solidFill>
              </a:rPr>
              <a:t>ID?</a:t>
            </a:r>
            <a:endParaRPr lang="zh-CN" altLang="en-US" dirty="0">
              <a:solidFill>
                <a:srgbClr val="FF0000"/>
              </a:solidFill>
            </a:endParaRPr>
          </a:p>
        </p:txBody>
      </p:sp>
    </p:spTree>
    <p:extLst>
      <p:ext uri="{BB962C8B-B14F-4D97-AF65-F5344CB8AC3E}">
        <p14:creationId xmlns:p14="http://schemas.microsoft.com/office/powerpoint/2010/main" val="4046528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321264" y="2085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7085456"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dirty="0"/>
              <a:t>Relationship between features and records</a:t>
            </a:r>
          </a:p>
          <a:p>
            <a:pPr lvl="2">
              <a:buFont typeface="Arial" panose="020B0604020202020204" pitchFamily="34" charset="0"/>
              <a:buChar char="•"/>
            </a:pPr>
            <a:r>
              <a:rPr lang="en-US" dirty="0"/>
              <a:t>one-to-one</a:t>
            </a:r>
          </a:p>
          <a:p>
            <a:pPr lvl="2">
              <a:buFont typeface="Arial" panose="020B0604020202020204" pitchFamily="34" charset="0"/>
              <a:buChar char="•"/>
            </a:pPr>
            <a:r>
              <a:rPr lang="en-US" dirty="0"/>
              <a:t>many-to-one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6</a:t>
            </a:fld>
            <a:endParaRPr lang="en-US"/>
          </a:p>
        </p:txBody>
      </p:sp>
      <p:pic>
        <p:nvPicPr>
          <p:cNvPr id="6" name="Picture 5" descr="Diagram, engineering drawing&#10;&#10;Description automatically generated">
            <a:extLst>
              <a:ext uri="{FF2B5EF4-FFF2-40B4-BE49-F238E27FC236}">
                <a16:creationId xmlns:a16="http://schemas.microsoft.com/office/drawing/2014/main" id="{8B0244C6-DC5F-4C95-8FCF-8B74B2780CA5}"/>
              </a:ext>
            </a:extLst>
          </p:cNvPr>
          <p:cNvPicPr>
            <a:picLocks noChangeAspect="1"/>
          </p:cNvPicPr>
          <p:nvPr/>
        </p:nvPicPr>
        <p:blipFill rotWithShape="1">
          <a:blip r:embed="rId3"/>
          <a:srcRect b="54970"/>
          <a:stretch/>
        </p:blipFill>
        <p:spPr>
          <a:xfrm>
            <a:off x="321264" y="2782526"/>
            <a:ext cx="3440091" cy="2160971"/>
          </a:xfrm>
          <a:prstGeom prst="rect">
            <a:avLst/>
          </a:prstGeom>
        </p:spPr>
      </p:pic>
      <p:pic>
        <p:nvPicPr>
          <p:cNvPr id="10" name="Picture 9" descr="Diagram, engineering drawing&#10;&#10;Description automatically generated">
            <a:extLst>
              <a:ext uri="{FF2B5EF4-FFF2-40B4-BE49-F238E27FC236}">
                <a16:creationId xmlns:a16="http://schemas.microsoft.com/office/drawing/2014/main" id="{3F9233CA-80D4-4B0E-9BAA-91B0CC7D7977}"/>
              </a:ext>
            </a:extLst>
          </p:cNvPr>
          <p:cNvPicPr>
            <a:picLocks noChangeAspect="1"/>
          </p:cNvPicPr>
          <p:nvPr/>
        </p:nvPicPr>
        <p:blipFill rotWithShape="1">
          <a:blip r:embed="rId3"/>
          <a:srcRect t="43986" b="9499"/>
          <a:stretch/>
        </p:blipFill>
        <p:spPr>
          <a:xfrm>
            <a:off x="4186030" y="2782526"/>
            <a:ext cx="3159517" cy="2050196"/>
          </a:xfrm>
          <a:prstGeom prst="rect">
            <a:avLst/>
          </a:prstGeom>
        </p:spPr>
      </p:pic>
      <p:sp>
        <p:nvSpPr>
          <p:cNvPr id="11" name="TextBox 10">
            <a:extLst>
              <a:ext uri="{FF2B5EF4-FFF2-40B4-BE49-F238E27FC236}">
                <a16:creationId xmlns:a16="http://schemas.microsoft.com/office/drawing/2014/main" id="{9119BDF3-0E8B-4D6D-B802-1D9491AC3EA1}"/>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9520579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2564610" cy="2881110"/>
          </a:xfrm>
          <a:prstGeom prst="rect">
            <a:avLst/>
          </a:prstGeom>
        </p:spPr>
        <p:txBody>
          <a:bodyPr vert="horz" lIns="91440" tIns="45720" rIns="91440" bIns="45720" rtlCol="0">
            <a:normAutofit fontScale="925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Raster data</a:t>
            </a:r>
          </a:p>
          <a:p>
            <a:pPr lvl="1">
              <a:buFont typeface="Wingdings" panose="05000000000000000000" pitchFamily="2" charset="2"/>
              <a:buChar char="ü"/>
            </a:pPr>
            <a:r>
              <a:rPr lang="en-US" sz="2040" dirty="0"/>
              <a:t>Some categorical raster data can have an attribute tables.</a:t>
            </a:r>
          </a:p>
          <a:p>
            <a:pPr lvl="1">
              <a:buFont typeface="Wingdings" panose="05000000000000000000" pitchFamily="2" charset="2"/>
              <a:buChar char="ü"/>
            </a:pPr>
            <a:r>
              <a:rPr lang="en-US" sz="2040" dirty="0"/>
              <a:t>Continues raster data usually does not have </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7</a:t>
            </a:fld>
            <a:endParaRPr lang="en-US"/>
          </a:p>
        </p:txBody>
      </p:sp>
      <p:pic>
        <p:nvPicPr>
          <p:cNvPr id="5" name="Picture 4" descr="Raster image">
            <a:extLst>
              <a:ext uri="{FF2B5EF4-FFF2-40B4-BE49-F238E27FC236}">
                <a16:creationId xmlns:a16="http://schemas.microsoft.com/office/drawing/2014/main" id="{90F5F705-4F24-4D5D-A724-F52422F33184}"/>
              </a:ext>
            </a:extLst>
          </p:cNvPr>
          <p:cNvPicPr>
            <a:picLocks noChangeAspect="1"/>
          </p:cNvPicPr>
          <p:nvPr/>
        </p:nvPicPr>
        <p:blipFill>
          <a:blip r:embed="rId3"/>
          <a:stretch>
            <a:fillRect/>
          </a:stretch>
        </p:blipFill>
        <p:spPr>
          <a:xfrm>
            <a:off x="2836259" y="1513648"/>
            <a:ext cx="2288191" cy="3357742"/>
          </a:xfrm>
          <a:prstGeom prst="rect">
            <a:avLst/>
          </a:prstGeom>
        </p:spPr>
      </p:pic>
      <p:grpSp>
        <p:nvGrpSpPr>
          <p:cNvPr id="16" name="Group 15" descr="Attribute table for raster data">
            <a:extLst>
              <a:ext uri="{FF2B5EF4-FFF2-40B4-BE49-F238E27FC236}">
                <a16:creationId xmlns:a16="http://schemas.microsoft.com/office/drawing/2014/main" id="{A909FEC2-79A0-4065-91EF-911746C08097}"/>
              </a:ext>
            </a:extLst>
          </p:cNvPr>
          <p:cNvGrpSpPr/>
          <p:nvPr/>
        </p:nvGrpSpPr>
        <p:grpSpPr>
          <a:xfrm>
            <a:off x="5277566" y="2221511"/>
            <a:ext cx="2181225" cy="2649879"/>
            <a:chOff x="4694626" y="2138363"/>
            <a:chExt cx="2181225" cy="2649879"/>
          </a:xfrm>
        </p:grpSpPr>
        <p:pic>
          <p:nvPicPr>
            <p:cNvPr id="7" name="Picture 6">
              <a:extLst>
                <a:ext uri="{FF2B5EF4-FFF2-40B4-BE49-F238E27FC236}">
                  <a16:creationId xmlns:a16="http://schemas.microsoft.com/office/drawing/2014/main" id="{5A5E9FD2-DCE3-469C-8A73-81393550F0C7}"/>
                </a:ext>
              </a:extLst>
            </p:cNvPr>
            <p:cNvPicPr>
              <a:picLocks noChangeAspect="1"/>
            </p:cNvPicPr>
            <p:nvPr/>
          </p:nvPicPr>
          <p:blipFill>
            <a:blip r:embed="rId4"/>
            <a:stretch>
              <a:fillRect/>
            </a:stretch>
          </p:blipFill>
          <p:spPr>
            <a:xfrm>
              <a:off x="4694626" y="2140292"/>
              <a:ext cx="447675" cy="2647950"/>
            </a:xfrm>
            <a:prstGeom prst="rect">
              <a:avLst/>
            </a:prstGeom>
          </p:spPr>
        </p:pic>
        <p:pic>
          <p:nvPicPr>
            <p:cNvPr id="11" name="Picture 10">
              <a:extLst>
                <a:ext uri="{FF2B5EF4-FFF2-40B4-BE49-F238E27FC236}">
                  <a16:creationId xmlns:a16="http://schemas.microsoft.com/office/drawing/2014/main" id="{9E2160E7-8882-43F1-966E-8BE5FF622F5B}"/>
                </a:ext>
              </a:extLst>
            </p:cNvPr>
            <p:cNvPicPr>
              <a:picLocks noChangeAspect="1"/>
            </p:cNvPicPr>
            <p:nvPr/>
          </p:nvPicPr>
          <p:blipFill>
            <a:blip r:embed="rId5"/>
            <a:stretch>
              <a:fillRect/>
            </a:stretch>
          </p:blipFill>
          <p:spPr>
            <a:xfrm>
              <a:off x="5142301" y="2138363"/>
              <a:ext cx="1304925" cy="2628900"/>
            </a:xfrm>
            <a:prstGeom prst="rect">
              <a:avLst/>
            </a:prstGeom>
          </p:spPr>
        </p:pic>
        <p:pic>
          <p:nvPicPr>
            <p:cNvPr id="14" name="Picture 13">
              <a:extLst>
                <a:ext uri="{FF2B5EF4-FFF2-40B4-BE49-F238E27FC236}">
                  <a16:creationId xmlns:a16="http://schemas.microsoft.com/office/drawing/2014/main" id="{7277A7D2-74A3-494B-ACB1-75207E3590EC}"/>
                </a:ext>
              </a:extLst>
            </p:cNvPr>
            <p:cNvPicPr>
              <a:picLocks noChangeAspect="1"/>
            </p:cNvPicPr>
            <p:nvPr/>
          </p:nvPicPr>
          <p:blipFill>
            <a:blip r:embed="rId6"/>
            <a:stretch>
              <a:fillRect/>
            </a:stretch>
          </p:blipFill>
          <p:spPr>
            <a:xfrm>
              <a:off x="6447226" y="2145597"/>
              <a:ext cx="428625" cy="2609850"/>
            </a:xfrm>
            <a:prstGeom prst="rect">
              <a:avLst/>
            </a:prstGeom>
          </p:spPr>
        </p:pic>
      </p:grpSp>
      <p:sp>
        <p:nvSpPr>
          <p:cNvPr id="21" name="Title 1">
            <a:extLst>
              <a:ext uri="{FF2B5EF4-FFF2-40B4-BE49-F238E27FC236}">
                <a16:creationId xmlns:a16="http://schemas.microsoft.com/office/drawing/2014/main" id="{3C5FB349-5FCF-4711-A393-B6588BCCFA56}"/>
              </a:ext>
            </a:extLst>
          </p:cNvPr>
          <p:cNvSpPr txBox="1">
            <a:spLocks/>
          </p:cNvSpPr>
          <p:nvPr/>
        </p:nvSpPr>
        <p:spPr>
          <a:xfrm>
            <a:off x="219272" y="22186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raster</a:t>
            </a:r>
          </a:p>
        </p:txBody>
      </p:sp>
    </p:spTree>
    <p:extLst>
      <p:ext uri="{BB962C8B-B14F-4D97-AF65-F5344CB8AC3E}">
        <p14:creationId xmlns:p14="http://schemas.microsoft.com/office/powerpoint/2010/main" val="15502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2" y="981902"/>
            <a:ext cx="3576137" cy="288111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Raster data</a:t>
            </a:r>
          </a:p>
          <a:p>
            <a:pPr lvl="1">
              <a:buFont typeface="Wingdings" panose="05000000000000000000" pitchFamily="2" charset="2"/>
              <a:buChar char="ü"/>
            </a:pPr>
            <a:r>
              <a:rPr lang="en-US" dirty="0"/>
              <a:t>Relationship between features and records</a:t>
            </a:r>
          </a:p>
          <a:p>
            <a:pPr lvl="2">
              <a:buFont typeface="Arial" panose="020B0604020202020204" pitchFamily="34" charset="0"/>
              <a:buChar char="•"/>
            </a:pPr>
            <a:r>
              <a:rPr lang="en-US" dirty="0"/>
              <a:t>one-to-one (produce unmanageably large attribute table)</a:t>
            </a:r>
          </a:p>
          <a:p>
            <a:pPr lvl="2">
              <a:buFont typeface="Arial" panose="020B0604020202020204" pitchFamily="34" charset="0"/>
              <a:buChar char="•"/>
            </a:pPr>
            <a:r>
              <a:rPr lang="en-US" dirty="0"/>
              <a:t>many-to-one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8</a:t>
            </a:fld>
            <a:endParaRPr lang="en-US"/>
          </a:p>
        </p:txBody>
      </p:sp>
      <p:pic>
        <p:nvPicPr>
          <p:cNvPr id="6" name="Picture 5" descr="A picture containing text, receipt&#10;&#10;Description automatically generated">
            <a:extLst>
              <a:ext uri="{FF2B5EF4-FFF2-40B4-BE49-F238E27FC236}">
                <a16:creationId xmlns:a16="http://schemas.microsoft.com/office/drawing/2014/main" id="{E12C9F83-DD15-4A3C-9519-6509D34A863C}"/>
              </a:ext>
            </a:extLst>
          </p:cNvPr>
          <p:cNvPicPr>
            <a:picLocks noChangeAspect="1"/>
          </p:cNvPicPr>
          <p:nvPr/>
        </p:nvPicPr>
        <p:blipFill>
          <a:blip r:embed="rId3"/>
          <a:stretch>
            <a:fillRect/>
          </a:stretch>
        </p:blipFill>
        <p:spPr>
          <a:xfrm>
            <a:off x="3837112" y="1100044"/>
            <a:ext cx="3576137" cy="3848915"/>
          </a:xfrm>
          <a:prstGeom prst="rect">
            <a:avLst/>
          </a:prstGeom>
        </p:spPr>
      </p:pic>
      <p:sp>
        <p:nvSpPr>
          <p:cNvPr id="13" name="TextBox 12">
            <a:extLst>
              <a:ext uri="{FF2B5EF4-FFF2-40B4-BE49-F238E27FC236}">
                <a16:creationId xmlns:a16="http://schemas.microsoft.com/office/drawing/2014/main" id="{7D6E6D3B-8FBF-4B32-8F88-6B4B2E1FC128}"/>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5" name="Title 1">
            <a:extLst>
              <a:ext uri="{FF2B5EF4-FFF2-40B4-BE49-F238E27FC236}">
                <a16:creationId xmlns:a16="http://schemas.microsoft.com/office/drawing/2014/main" id="{5D333F6B-156F-4B17-A338-54BCCF8FDD21}"/>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raster</a:t>
            </a:r>
          </a:p>
        </p:txBody>
      </p:sp>
    </p:spTree>
    <p:extLst>
      <p:ext uri="{BB962C8B-B14F-4D97-AF65-F5344CB8AC3E}">
        <p14:creationId xmlns:p14="http://schemas.microsoft.com/office/powerpoint/2010/main" val="104092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53967" y="1704452"/>
            <a:ext cx="5659322" cy="2263730"/>
          </a:xfrm>
        </p:spPr>
        <p:txBody>
          <a:bodyPr>
            <a:normAutofit/>
          </a:bodyPr>
          <a:lstStyle/>
          <a:p>
            <a:pPr marL="0" indent="0">
              <a:buNone/>
            </a:pPr>
            <a:r>
              <a:rPr lang="en-US" b="1" dirty="0">
                <a:solidFill>
                  <a:srgbClr val="E3874F"/>
                </a:solidFill>
              </a:rPr>
              <a:t>Attributes: </a:t>
            </a:r>
            <a:r>
              <a:rPr lang="en-US" dirty="0"/>
              <a:t>non-spatial characteristics associated with spatial data</a:t>
            </a:r>
          </a:p>
          <a:p>
            <a:pPr marL="0" indent="0">
              <a:buNone/>
            </a:pPr>
            <a:r>
              <a:rPr lang="en-US" b="1" dirty="0">
                <a:solidFill>
                  <a:srgbClr val="E3874F"/>
                </a:solidFill>
              </a:rPr>
              <a:t>Nominal: </a:t>
            </a:r>
            <a:r>
              <a:rPr lang="en-US" dirty="0"/>
              <a:t>A unique identifier</a:t>
            </a:r>
          </a:p>
          <a:p>
            <a:pPr marL="0" indent="0">
              <a:buNone/>
            </a:pPr>
            <a:r>
              <a:rPr lang="en-US" b="1" dirty="0">
                <a:solidFill>
                  <a:srgbClr val="E3874F"/>
                </a:solidFill>
              </a:rPr>
              <a:t>Ordinal:</a:t>
            </a:r>
            <a:r>
              <a:rPr lang="en-US" dirty="0">
                <a:solidFill>
                  <a:srgbClr val="E3874F"/>
                </a:solidFill>
              </a:rPr>
              <a:t> </a:t>
            </a:r>
            <a:r>
              <a:rPr lang="en-US" dirty="0"/>
              <a:t>Ranked data</a:t>
            </a:r>
          </a:p>
          <a:p>
            <a:pPr marL="0" indent="0">
              <a:buNone/>
            </a:pPr>
            <a:r>
              <a:rPr lang="en-US" b="1" dirty="0">
                <a:solidFill>
                  <a:srgbClr val="E3874F"/>
                </a:solidFill>
              </a:rPr>
              <a:t>Interval: </a:t>
            </a:r>
            <a:r>
              <a:rPr lang="en-US" dirty="0"/>
              <a:t>Difference between numbers is significant, but it lacks a true, absolute zero point.</a:t>
            </a:r>
          </a:p>
          <a:p>
            <a:pPr marL="0" indent="0">
              <a:buNone/>
            </a:pPr>
            <a:r>
              <a:rPr lang="en-US" b="1" dirty="0">
                <a:solidFill>
                  <a:srgbClr val="E3874F"/>
                </a:solidFill>
              </a:rPr>
              <a:t>Ratio: </a:t>
            </a:r>
            <a:r>
              <a:rPr lang="en-US" dirty="0"/>
              <a:t>Difference between numbers is significant, and there is a fixed non-arbitrary zero value</a:t>
            </a:r>
          </a:p>
          <a:p>
            <a:pPr marL="0" indent="0">
              <a:buNone/>
            </a:pPr>
            <a:endParaRPr lang="en-US" dirty="0"/>
          </a:p>
          <a:p>
            <a:pPr marL="0" indent="0">
              <a:buNone/>
            </a:pPr>
            <a:endParaRPr lang="en-US" dirty="0"/>
          </a:p>
        </p:txBody>
      </p:sp>
      <p:sp>
        <p:nvSpPr>
          <p:cNvPr id="2" name="Slide Number Placeholder 1">
            <a:extLst>
              <a:ext uri="{FF2B5EF4-FFF2-40B4-BE49-F238E27FC236}">
                <a16:creationId xmlns:a16="http://schemas.microsoft.com/office/drawing/2014/main" id="{E44F6A5C-49CC-4D87-821E-B7B9F887AE37}"/>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5" name="TextBox 4"/>
          <p:cNvSpPr txBox="1"/>
          <p:nvPr/>
        </p:nvSpPr>
        <p:spPr>
          <a:xfrm>
            <a:off x="256171" y="2338613"/>
            <a:ext cx="1183313" cy="316690"/>
          </a:xfrm>
          <a:prstGeom prst="rect">
            <a:avLst/>
          </a:prstGeom>
          <a:noFill/>
        </p:spPr>
        <p:txBody>
          <a:bodyPr wrap="square" rtlCol="0">
            <a:spAutoFit/>
          </a:bodyPr>
          <a:lstStyle/>
          <a:p>
            <a:pPr>
              <a:lnSpc>
                <a:spcPct val="90000"/>
              </a:lnSpc>
            </a:pPr>
            <a:r>
              <a:rPr lang="en-US" sz="1620" b="1" dirty="0">
                <a:solidFill>
                  <a:srgbClr val="E3874F"/>
                </a:solidFill>
              </a:rPr>
              <a:t>Categorical</a:t>
            </a:r>
          </a:p>
        </p:txBody>
      </p:sp>
      <p:sp>
        <p:nvSpPr>
          <p:cNvPr id="7" name="TextBox 6"/>
          <p:cNvSpPr txBox="1"/>
          <p:nvPr/>
        </p:nvSpPr>
        <p:spPr>
          <a:xfrm>
            <a:off x="513412" y="2953811"/>
            <a:ext cx="1183313" cy="316690"/>
          </a:xfrm>
          <a:prstGeom prst="rect">
            <a:avLst/>
          </a:prstGeom>
          <a:noFill/>
        </p:spPr>
        <p:txBody>
          <a:bodyPr wrap="square" rtlCol="0">
            <a:spAutoFit/>
          </a:bodyPr>
          <a:lstStyle/>
          <a:p>
            <a:pPr>
              <a:lnSpc>
                <a:spcPct val="90000"/>
              </a:lnSpc>
            </a:pPr>
            <a:r>
              <a:rPr lang="en-US" sz="1620" b="1" dirty="0">
                <a:solidFill>
                  <a:srgbClr val="E3874F"/>
                </a:solidFill>
              </a:rPr>
              <a:t>Numeric</a:t>
            </a:r>
          </a:p>
        </p:txBody>
      </p:sp>
      <p:grpSp>
        <p:nvGrpSpPr>
          <p:cNvPr id="16" name="Group 15"/>
          <p:cNvGrpSpPr/>
          <p:nvPr/>
        </p:nvGrpSpPr>
        <p:grpSpPr>
          <a:xfrm>
            <a:off x="1454366" y="2257682"/>
            <a:ext cx="411587" cy="415436"/>
            <a:chOff x="1902567" y="2915914"/>
            <a:chExt cx="609600" cy="774902"/>
          </a:xfrm>
        </p:grpSpPr>
        <p:cxnSp>
          <p:nvCxnSpPr>
            <p:cNvPr id="9" name="Elbow Connector 8"/>
            <p:cNvCxnSpPr>
              <a:stCxn id="5" idx="3"/>
            </p:cNvCxnSpPr>
            <p:nvPr/>
          </p:nvCxnSpPr>
          <p:spPr>
            <a:xfrm flipV="1">
              <a:off x="1902567" y="2915914"/>
              <a:ext cx="609600" cy="360887"/>
            </a:xfrm>
            <a:prstGeom prst="bentConnector3">
              <a:avLst>
                <a:gd name="adj1" fmla="val 50000"/>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0" name="Elbow Connector 9"/>
            <p:cNvCxnSpPr>
              <a:stCxn id="5" idx="3"/>
            </p:cNvCxnSpPr>
            <p:nvPr/>
          </p:nvCxnSpPr>
          <p:spPr>
            <a:xfrm>
              <a:off x="1902567" y="3276801"/>
              <a:ext cx="609600" cy="414015"/>
            </a:xfrm>
            <a:prstGeom prst="bentConnector3">
              <a:avLst>
                <a:gd name="adj1" fmla="val 50000"/>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1594400" y="2835597"/>
            <a:ext cx="256671" cy="523196"/>
            <a:chOff x="2361458" y="1889612"/>
            <a:chExt cx="380154" cy="774903"/>
          </a:xfrm>
        </p:grpSpPr>
        <p:cxnSp>
          <p:nvCxnSpPr>
            <p:cNvPr id="18" name="Elbow Connector 17"/>
            <p:cNvCxnSpPr/>
            <p:nvPr/>
          </p:nvCxnSpPr>
          <p:spPr>
            <a:xfrm flipV="1">
              <a:off x="2361458" y="1889612"/>
              <a:ext cx="380154" cy="380154"/>
            </a:xfrm>
            <a:prstGeom prst="bentConnector2">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a:off x="2361458" y="2269766"/>
              <a:ext cx="380154" cy="394749"/>
            </a:xfrm>
            <a:prstGeom prst="bentConnector2">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grpSp>
      <p:sp>
        <p:nvSpPr>
          <p:cNvPr id="13" name="Title 1">
            <a:extLst>
              <a:ext uri="{FF2B5EF4-FFF2-40B4-BE49-F238E27FC236}">
                <a16:creationId xmlns:a16="http://schemas.microsoft.com/office/drawing/2014/main" id="{AB38808C-032C-4E71-9323-CA9991247E0C}"/>
              </a:ext>
            </a:extLst>
          </p:cNvPr>
          <p:cNvSpPr txBox="1">
            <a:spLocks/>
          </p:cNvSpPr>
          <p:nvPr/>
        </p:nvSpPr>
        <p:spPr>
          <a:xfrm>
            <a:off x="256171" y="19900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14" name="Straight Connector 13">
            <a:extLst>
              <a:ext uri="{FF2B5EF4-FFF2-40B4-BE49-F238E27FC236}">
                <a16:creationId xmlns:a16="http://schemas.microsoft.com/office/drawing/2014/main" id="{03DE9D9F-DB4A-48D0-949B-E41986BE30C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2">
            <a:extLst>
              <a:ext uri="{FF2B5EF4-FFF2-40B4-BE49-F238E27FC236}">
                <a16:creationId xmlns:a16="http://schemas.microsoft.com/office/drawing/2014/main" id="{D0FDFD92-69EA-486B-BAD1-A003CD333805}"/>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Non-Spatial Attributes in GIS</a:t>
            </a:r>
          </a:p>
          <a:p>
            <a:pPr>
              <a:buFont typeface="Courier New" panose="02070309020205020404" pitchFamily="49" charset="0"/>
              <a:buChar char="o"/>
            </a:pPr>
            <a:endParaRPr lang="en-US" dirty="0"/>
          </a:p>
        </p:txBody>
      </p:sp>
    </p:spTree>
    <p:extLst>
      <p:ext uri="{BB962C8B-B14F-4D97-AF65-F5344CB8AC3E}">
        <p14:creationId xmlns:p14="http://schemas.microsoft.com/office/powerpoint/2010/main" val="946122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75822" y="2464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Nominal Data</a:t>
            </a:r>
          </a:p>
          <a:p>
            <a:pPr>
              <a:buFont typeface="Courier New" panose="02070309020205020404" pitchFamily="49" charset="0"/>
              <a:buChar char="o"/>
            </a:pPr>
            <a:endParaRPr lang="en-US" dirty="0"/>
          </a:p>
        </p:txBody>
      </p:sp>
      <p:pic>
        <p:nvPicPr>
          <p:cNvPr id="13" name="Picture 12" descr="Land use data">
            <a:extLst>
              <a:ext uri="{FF2B5EF4-FFF2-40B4-BE49-F238E27FC236}">
                <a16:creationId xmlns:a16="http://schemas.microsoft.com/office/drawing/2014/main" id="{564585CD-5DA8-4683-ABC0-AE3DC22BA54C}"/>
              </a:ext>
            </a:extLst>
          </p:cNvPr>
          <p:cNvPicPr>
            <a:picLocks noChangeAspect="1"/>
          </p:cNvPicPr>
          <p:nvPr/>
        </p:nvPicPr>
        <p:blipFill>
          <a:blip r:embed="rId3"/>
          <a:stretch>
            <a:fillRect/>
          </a:stretch>
        </p:blipFill>
        <p:spPr>
          <a:xfrm>
            <a:off x="662725" y="1691335"/>
            <a:ext cx="3651697" cy="3291957"/>
          </a:xfrm>
          <a:prstGeom prst="rect">
            <a:avLst/>
          </a:prstGeom>
        </p:spPr>
      </p:pic>
      <p:pic>
        <p:nvPicPr>
          <p:cNvPr id="15" name="Picture 14" descr="The legend for land use data">
            <a:extLst>
              <a:ext uri="{FF2B5EF4-FFF2-40B4-BE49-F238E27FC236}">
                <a16:creationId xmlns:a16="http://schemas.microsoft.com/office/drawing/2014/main" id="{7D5C5D91-9F37-4508-B724-0FD95E949BB9}"/>
              </a:ext>
            </a:extLst>
          </p:cNvPr>
          <p:cNvPicPr>
            <a:picLocks noChangeAspect="1"/>
          </p:cNvPicPr>
          <p:nvPr/>
        </p:nvPicPr>
        <p:blipFill>
          <a:blip r:embed="rId4"/>
          <a:stretch>
            <a:fillRect/>
          </a:stretch>
        </p:blipFill>
        <p:spPr>
          <a:xfrm>
            <a:off x="4580586" y="2049592"/>
            <a:ext cx="1943100" cy="2933700"/>
          </a:xfrm>
          <a:prstGeom prst="rect">
            <a:avLst/>
          </a:prstGeom>
        </p:spPr>
      </p:pic>
      <p:pic>
        <p:nvPicPr>
          <p:cNvPr id="17" name="Picture 16" descr="The code for land use type">
            <a:extLst>
              <a:ext uri="{FF2B5EF4-FFF2-40B4-BE49-F238E27FC236}">
                <a16:creationId xmlns:a16="http://schemas.microsoft.com/office/drawing/2014/main" id="{8D7C5B9C-6EA9-45E1-A485-4EF0EF4B10E6}"/>
              </a:ext>
            </a:extLst>
          </p:cNvPr>
          <p:cNvPicPr>
            <a:picLocks noChangeAspect="1"/>
          </p:cNvPicPr>
          <p:nvPr/>
        </p:nvPicPr>
        <p:blipFill>
          <a:blip r:embed="rId5"/>
          <a:stretch>
            <a:fillRect/>
          </a:stretch>
        </p:blipFill>
        <p:spPr>
          <a:xfrm>
            <a:off x="6545276" y="2062471"/>
            <a:ext cx="426493" cy="2286000"/>
          </a:xfrm>
          <a:prstGeom prst="rect">
            <a:avLst/>
          </a:prstGeom>
        </p:spPr>
      </p:pic>
      <p:pic>
        <p:nvPicPr>
          <p:cNvPr id="19" name="Picture 18" descr="The code for land use type">
            <a:extLst>
              <a:ext uri="{FF2B5EF4-FFF2-40B4-BE49-F238E27FC236}">
                <a16:creationId xmlns:a16="http://schemas.microsoft.com/office/drawing/2014/main" id="{0DE102EC-B34C-4C92-8043-BA6A72EC1D4C}"/>
              </a:ext>
            </a:extLst>
          </p:cNvPr>
          <p:cNvPicPr>
            <a:picLocks noChangeAspect="1"/>
          </p:cNvPicPr>
          <p:nvPr/>
        </p:nvPicPr>
        <p:blipFill>
          <a:blip r:embed="rId6"/>
          <a:stretch>
            <a:fillRect/>
          </a:stretch>
        </p:blipFill>
        <p:spPr>
          <a:xfrm>
            <a:off x="6532397" y="4348471"/>
            <a:ext cx="429768" cy="587642"/>
          </a:xfrm>
          <a:prstGeom prst="rect">
            <a:avLst/>
          </a:prstGeom>
        </p:spPr>
      </p:pic>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15049841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E757BCA-6308-4E54-929B-89F89C4AC24E}"/>
              </a:ext>
            </a:extLst>
          </p:cNvPr>
          <p:cNvSpPr txBox="1">
            <a:spLocks/>
          </p:cNvSpPr>
          <p:nvPr/>
        </p:nvSpPr>
        <p:spPr>
          <a:xfrm>
            <a:off x="305874" y="19371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6" name="Straight Connector 5">
            <a:extLst>
              <a:ext uri="{FF2B5EF4-FFF2-40B4-BE49-F238E27FC236}">
                <a16:creationId xmlns:a16="http://schemas.microsoft.com/office/drawing/2014/main" id="{C38F90C3-BD8C-438F-8A93-EFCFB721EB2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Content Placeholder 2">
            <a:extLst>
              <a:ext uri="{FF2B5EF4-FFF2-40B4-BE49-F238E27FC236}">
                <a16:creationId xmlns:a16="http://schemas.microsoft.com/office/drawing/2014/main" id="{FDD7BDCC-4981-46F3-B917-8CD6172F8846}"/>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Ordinal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661F353D-7AF1-4059-B031-A3C550DE10FA}"/>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1026" name="Picture 2">
            <a:extLst>
              <a:ext uri="{FF2B5EF4-FFF2-40B4-BE49-F238E27FC236}">
                <a16:creationId xmlns:a16="http://schemas.microsoft.com/office/drawing/2014/main" id="{665C7BAE-51C5-1C7B-B050-0542CFCAC4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15539" y="1050968"/>
            <a:ext cx="2968693" cy="386909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91FD840-990D-9A3B-6D06-36FD8D1384B4}"/>
              </a:ext>
            </a:extLst>
          </p:cNvPr>
          <p:cNvSpPr txBox="1"/>
          <p:nvPr/>
        </p:nvSpPr>
        <p:spPr>
          <a:xfrm>
            <a:off x="152400" y="4266475"/>
            <a:ext cx="3861662" cy="769441"/>
          </a:xfrm>
          <a:prstGeom prst="rect">
            <a:avLst/>
          </a:prstGeom>
          <a:noFill/>
        </p:spPr>
        <p:txBody>
          <a:bodyPr wrap="square" rtlCol="0">
            <a:spAutoFit/>
          </a:bodyPr>
          <a:lstStyle/>
          <a:p>
            <a:r>
              <a:rPr lang="en-US" altLang="zh-CN" sz="1100" dirty="0"/>
              <a:t>Map Source: Saha, A. K., &amp; Agrawal, S. (2020). Mapping and assessment of flood risk in Prayagraj district, India: a GIS and remote sensing study. </a:t>
            </a:r>
            <a:r>
              <a:rPr lang="en-US" altLang="zh-CN" sz="1100" i="1" dirty="0"/>
              <a:t>Nanotechnology for Environmental Engineering</a:t>
            </a:r>
            <a:r>
              <a:rPr lang="en-US" altLang="zh-CN" sz="1100" dirty="0"/>
              <a:t>, </a:t>
            </a:r>
            <a:r>
              <a:rPr lang="en-US" altLang="zh-CN" sz="1100" i="1" dirty="0"/>
              <a:t>5</a:t>
            </a:r>
            <a:r>
              <a:rPr lang="en-US" altLang="zh-CN" sz="1100" dirty="0"/>
              <a:t>(2), 11.</a:t>
            </a:r>
          </a:p>
        </p:txBody>
      </p:sp>
      <p:sp>
        <p:nvSpPr>
          <p:cNvPr id="8" name="TextBox 7">
            <a:extLst>
              <a:ext uri="{FF2B5EF4-FFF2-40B4-BE49-F238E27FC236}">
                <a16:creationId xmlns:a16="http://schemas.microsoft.com/office/drawing/2014/main" id="{B58C3FBE-9359-A413-18FC-029EDA16B0C7}"/>
              </a:ext>
            </a:extLst>
          </p:cNvPr>
          <p:cNvSpPr txBox="1"/>
          <p:nvPr/>
        </p:nvSpPr>
        <p:spPr>
          <a:xfrm>
            <a:off x="416318" y="1533660"/>
            <a:ext cx="3146156" cy="923330"/>
          </a:xfrm>
          <a:prstGeom prst="rect">
            <a:avLst/>
          </a:prstGeom>
          <a:noFill/>
        </p:spPr>
        <p:txBody>
          <a:bodyPr wrap="square" rtlCol="0">
            <a:spAutoFit/>
          </a:bodyPr>
          <a:lstStyle/>
          <a:p>
            <a:r>
              <a:rPr lang="en-US" altLang="zh-CN" dirty="0"/>
              <a:t>Flood risk map produced by GIS-AHP process </a:t>
            </a:r>
          </a:p>
          <a:p>
            <a:endParaRPr lang="zh-CN" altLang="en-US" dirty="0"/>
          </a:p>
        </p:txBody>
      </p:sp>
    </p:spTree>
    <p:extLst>
      <p:ext uri="{BB962C8B-B14F-4D97-AF65-F5344CB8AC3E}">
        <p14:creationId xmlns:p14="http://schemas.microsoft.com/office/powerpoint/2010/main" val="397462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4887036"/>
            <a:ext cx="3138352" cy="230832"/>
          </a:xfrm>
          <a:prstGeom prst="rect">
            <a:avLst/>
          </a:prstGeom>
          <a:noFill/>
        </p:spPr>
        <p:txBody>
          <a:bodyPr wrap="square" rtlCol="0">
            <a:spAutoFit/>
          </a:bodyPr>
          <a:lstStyle/>
          <a:p>
            <a:pPr>
              <a:lnSpc>
                <a:spcPct val="90000"/>
              </a:lnSpc>
            </a:pPr>
            <a:r>
              <a:rPr lang="en-US" sz="1000" dirty="0">
                <a:solidFill>
                  <a:srgbClr val="7030A0"/>
                </a:solidFill>
              </a:rPr>
              <a:t>Image from the National Weather Service</a:t>
            </a:r>
          </a:p>
        </p:txBody>
      </p:sp>
      <p:sp>
        <p:nvSpPr>
          <p:cNvPr id="8" name="Title 1">
            <a:extLst>
              <a:ext uri="{FF2B5EF4-FFF2-40B4-BE49-F238E27FC236}">
                <a16:creationId xmlns:a16="http://schemas.microsoft.com/office/drawing/2014/main" id="{32074BBD-38BA-4E1B-A26C-3A2EBEA6347D}"/>
              </a:ext>
            </a:extLst>
          </p:cNvPr>
          <p:cNvSpPr txBox="1">
            <a:spLocks/>
          </p:cNvSpPr>
          <p:nvPr/>
        </p:nvSpPr>
        <p:spPr>
          <a:xfrm>
            <a:off x="234770" y="20795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9" name="Straight Connector 8">
            <a:extLst>
              <a:ext uri="{FF2B5EF4-FFF2-40B4-BE49-F238E27FC236}">
                <a16:creationId xmlns:a16="http://schemas.microsoft.com/office/drawing/2014/main" id="{89C80C41-B286-4C05-8A21-611762EF58B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31FD23D0-8B77-45B1-94AA-6948660B0C9B}"/>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Interval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4D053AC4-3971-45AC-B040-D8B42C2715CC}"/>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5" name="Picture 4" descr="Interval data example">
            <a:extLst>
              <a:ext uri="{FF2B5EF4-FFF2-40B4-BE49-F238E27FC236}">
                <a16:creationId xmlns:a16="http://schemas.microsoft.com/office/drawing/2014/main" id="{D648961F-CEE5-4CD0-8DBF-EF0C8014D5AE}"/>
              </a:ext>
            </a:extLst>
          </p:cNvPr>
          <p:cNvPicPr>
            <a:picLocks noChangeAspect="1"/>
          </p:cNvPicPr>
          <p:nvPr/>
        </p:nvPicPr>
        <p:blipFill>
          <a:blip r:embed="rId3"/>
          <a:stretch>
            <a:fillRect/>
          </a:stretch>
        </p:blipFill>
        <p:spPr>
          <a:xfrm>
            <a:off x="2116184" y="1341942"/>
            <a:ext cx="4807131" cy="3244345"/>
          </a:xfrm>
          <a:prstGeom prst="rect">
            <a:avLst/>
          </a:prstGeom>
        </p:spPr>
      </p:pic>
    </p:spTree>
    <p:extLst>
      <p:ext uri="{BB962C8B-B14F-4D97-AF65-F5344CB8AC3E}">
        <p14:creationId xmlns:p14="http://schemas.microsoft.com/office/powerpoint/2010/main" val="2683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Ratio data example"/>
          <p:cNvPicPr>
            <a:picLocks noChangeAspect="1"/>
          </p:cNvPicPr>
          <p:nvPr/>
        </p:nvPicPr>
        <p:blipFill>
          <a:blip r:embed="rId3"/>
          <a:stretch>
            <a:fillRect/>
          </a:stretch>
        </p:blipFill>
        <p:spPr>
          <a:xfrm>
            <a:off x="2041302" y="1259976"/>
            <a:ext cx="4662354" cy="3644209"/>
          </a:xfrm>
          <a:prstGeom prst="rect">
            <a:avLst/>
          </a:prstGeom>
        </p:spPr>
      </p:pic>
      <p:sp>
        <p:nvSpPr>
          <p:cNvPr id="6" name="Title 1">
            <a:extLst>
              <a:ext uri="{FF2B5EF4-FFF2-40B4-BE49-F238E27FC236}">
                <a16:creationId xmlns:a16="http://schemas.microsoft.com/office/drawing/2014/main" id="{19B7EA40-5B88-454C-ACC5-82622199B178}"/>
              </a:ext>
            </a:extLst>
          </p:cNvPr>
          <p:cNvSpPr txBox="1">
            <a:spLocks/>
          </p:cNvSpPr>
          <p:nvPr/>
        </p:nvSpPr>
        <p:spPr>
          <a:xfrm>
            <a:off x="219272" y="23931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7" name="Straight Connector 6">
            <a:extLst>
              <a:ext uri="{FF2B5EF4-FFF2-40B4-BE49-F238E27FC236}">
                <a16:creationId xmlns:a16="http://schemas.microsoft.com/office/drawing/2014/main" id="{5F66F977-293B-4E40-B3FE-2875627BB4A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6DC6B5BE-F65E-4DA4-9AA8-2D3FA4069B32}"/>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Ratio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EE7AE2C9-B304-4593-AF86-A9EC437BA524}"/>
              </a:ext>
            </a:extLst>
          </p:cNvPr>
          <p:cNvSpPr>
            <a:spLocks noGrp="1"/>
          </p:cNvSpPr>
          <p:nvPr>
            <p:ph type="sldNum" sz="quarter" idx="12"/>
          </p:nvPr>
        </p:nvSpPr>
        <p:spPr/>
        <p:txBody>
          <a:bodyPr/>
          <a:lstStyle/>
          <a:p>
            <a:fld id="{127DDC20-79C9-9647-820E-6D40A3D210C3}" type="slidenum">
              <a:rPr lang="en-US" smtClean="0"/>
              <a:pPr/>
              <a:t>13</a:t>
            </a:fld>
            <a:endParaRPr lang="en-US"/>
          </a:p>
        </p:txBody>
      </p:sp>
    </p:spTree>
    <p:extLst>
      <p:ext uri="{BB962C8B-B14F-4D97-AF65-F5344CB8AC3E}">
        <p14:creationId xmlns:p14="http://schemas.microsoft.com/office/powerpoint/2010/main" val="3241112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6" name="Straight Connector 205">
            <a:extLst>
              <a:ext uri="{FF2B5EF4-FFF2-40B4-BE49-F238E27FC236}">
                <a16:creationId xmlns:a16="http://schemas.microsoft.com/office/drawing/2014/main" id="{C84ABE3C-3321-41C8-BEFE-82892E4FC6F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07" name="Title 1">
            <a:extLst>
              <a:ext uri="{FF2B5EF4-FFF2-40B4-BE49-F238E27FC236}">
                <a16:creationId xmlns:a16="http://schemas.microsoft.com/office/drawing/2014/main" id="{B4D84788-E75A-4C70-95E2-39FD7E6F3F20}"/>
              </a:ext>
            </a:extLst>
          </p:cNvPr>
          <p:cNvSpPr txBox="1">
            <a:spLocks/>
          </p:cNvSpPr>
          <p:nvPr/>
        </p:nvSpPr>
        <p:spPr>
          <a:xfrm>
            <a:off x="219272" y="21198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Data type</a:t>
            </a:r>
            <a:endParaRPr lang="en-US" sz="2600" dirty="0">
              <a:solidFill>
                <a:srgbClr val="7030A0"/>
              </a:solidFill>
            </a:endParaRPr>
          </a:p>
        </p:txBody>
      </p:sp>
      <p:sp>
        <p:nvSpPr>
          <p:cNvPr id="9" name="Rectangle 1027">
            <a:extLst>
              <a:ext uri="{FF2B5EF4-FFF2-40B4-BE49-F238E27FC236}">
                <a16:creationId xmlns:a16="http://schemas.microsoft.com/office/drawing/2014/main" id="{8EABA79F-BEF8-4034-B775-AE5CB7100679}"/>
              </a:ext>
            </a:extLst>
          </p:cNvPr>
          <p:cNvSpPr txBox="1">
            <a:spLocks noChangeArrowheads="1"/>
          </p:cNvSpPr>
          <p:nvPr/>
        </p:nvSpPr>
        <p:spPr>
          <a:xfrm>
            <a:off x="274935" y="1020360"/>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600" dirty="0"/>
              <a:t>What category does it belong?</a:t>
            </a:r>
          </a:p>
          <a:p>
            <a:pPr lvl="1">
              <a:buFont typeface="Wingdings" panose="05000000000000000000" pitchFamily="2" charset="2"/>
              <a:buChar char="ü"/>
            </a:pPr>
            <a:r>
              <a:rPr lang="en-US" altLang="en-US" sz="2440" dirty="0"/>
              <a:t>Zip code</a:t>
            </a:r>
          </a:p>
          <a:p>
            <a:pPr lvl="1">
              <a:buFont typeface="Wingdings" panose="05000000000000000000" pitchFamily="2" charset="2"/>
              <a:buChar char="ü"/>
            </a:pPr>
            <a:r>
              <a:rPr lang="en-US" altLang="en-US" sz="2440" dirty="0"/>
              <a:t>Education level   </a:t>
            </a:r>
          </a:p>
          <a:p>
            <a:pPr lvl="1">
              <a:buFont typeface="Wingdings" panose="05000000000000000000" pitchFamily="2" charset="2"/>
              <a:buChar char="ü"/>
            </a:pPr>
            <a:r>
              <a:rPr lang="en-US" altLang="en-US" sz="2440" dirty="0"/>
              <a:t>Water flow rate</a:t>
            </a:r>
          </a:p>
          <a:p>
            <a:pPr lvl="1">
              <a:buFont typeface="Wingdings" panose="05000000000000000000" pitchFamily="2" charset="2"/>
              <a:buChar char="ü"/>
            </a:pPr>
            <a:r>
              <a:rPr lang="en-US" altLang="en-US" sz="2440" dirty="0"/>
              <a:t>Credit score</a:t>
            </a:r>
          </a:p>
          <a:p>
            <a:pPr marL="0" indent="0">
              <a:buNone/>
            </a:pPr>
            <a:endParaRPr lang="en-US" altLang="en-US" sz="2600" dirty="0"/>
          </a:p>
        </p:txBody>
      </p:sp>
      <p:sp>
        <p:nvSpPr>
          <p:cNvPr id="2" name="Slide Number Placeholder 1">
            <a:extLst>
              <a:ext uri="{FF2B5EF4-FFF2-40B4-BE49-F238E27FC236}">
                <a16:creationId xmlns:a16="http://schemas.microsoft.com/office/drawing/2014/main" id="{5F8F3905-792A-456B-B505-85329E002983}"/>
              </a:ext>
            </a:extLst>
          </p:cNvPr>
          <p:cNvSpPr>
            <a:spLocks noGrp="1"/>
          </p:cNvSpPr>
          <p:nvPr>
            <p:ph type="sldNum" sz="quarter" idx="12"/>
          </p:nvPr>
        </p:nvSpPr>
        <p:spPr/>
        <p:txBody>
          <a:bodyPr/>
          <a:lstStyle/>
          <a:p>
            <a:fld id="{127DDC20-79C9-9647-820E-6D40A3D210C3}" type="slidenum">
              <a:rPr lang="en-US" smtClean="0"/>
              <a:pPr/>
              <a:t>14</a:t>
            </a:fld>
            <a:endParaRPr lang="en-US"/>
          </a:p>
        </p:txBody>
      </p:sp>
    </p:spTree>
    <p:extLst>
      <p:ext uri="{BB962C8B-B14F-4D97-AF65-F5344CB8AC3E}">
        <p14:creationId xmlns:p14="http://schemas.microsoft.com/office/powerpoint/2010/main" val="35859927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2">
            <a:extLst>
              <a:ext uri="{FF2B5EF4-FFF2-40B4-BE49-F238E27FC236}">
                <a16:creationId xmlns:a16="http://schemas.microsoft.com/office/drawing/2014/main" id="{CD41FD8A-E043-4A99-849D-E4A9DE1D283E}"/>
              </a:ext>
            </a:extLst>
          </p:cNvPr>
          <p:cNvSpPr txBox="1">
            <a:spLocks/>
          </p:cNvSpPr>
          <p:nvPr/>
        </p:nvSpPr>
        <p:spPr>
          <a:xfrm>
            <a:off x="152399" y="1064985"/>
            <a:ext cx="5745481" cy="2283696"/>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Fields</a:t>
            </a:r>
          </a:p>
          <a:p>
            <a:pPr lvl="1">
              <a:buFont typeface="Wingdings" panose="05000000000000000000" pitchFamily="2" charset="2"/>
              <a:buChar char="ü"/>
            </a:pPr>
            <a:r>
              <a:rPr lang="en-US" dirty="0"/>
              <a:t>Must define field name (less than 10 characters)</a:t>
            </a:r>
          </a:p>
          <a:p>
            <a:pPr lvl="1">
              <a:buFont typeface="Wingdings" panose="05000000000000000000" pitchFamily="2" charset="2"/>
              <a:buChar char="ü"/>
            </a:pPr>
            <a:r>
              <a:rPr lang="en-US" dirty="0"/>
              <a:t>Can provide an alias</a:t>
            </a:r>
          </a:p>
          <a:p>
            <a:pPr lvl="1">
              <a:buFont typeface="Wingdings" panose="05000000000000000000" pitchFamily="2" charset="2"/>
              <a:buChar char="ü"/>
            </a:pPr>
            <a:r>
              <a:rPr lang="en-US" dirty="0"/>
              <a:t>Make sure to define the correct data type</a:t>
            </a:r>
          </a:p>
          <a:p>
            <a:pPr lvl="1">
              <a:buFont typeface="Wingdings" panose="05000000000000000000" pitchFamily="2" charset="2"/>
              <a:buChar char="ü"/>
            </a:pPr>
            <a:endParaRPr lang="en-US" dirty="0"/>
          </a:p>
          <a:p>
            <a:pPr lvl="1">
              <a:buFont typeface="Wingdings" panose="05000000000000000000" pitchFamily="2" charset="2"/>
              <a:buChar char="ü"/>
            </a:pPr>
            <a:endParaRPr lang="en-US" dirty="0"/>
          </a:p>
          <a:p>
            <a:pPr marL="0" indent="0">
              <a:buFont typeface="Arial"/>
              <a:buNone/>
            </a:pPr>
            <a:endParaRPr lang="en-US" dirty="0"/>
          </a:p>
        </p:txBody>
      </p:sp>
      <p:sp>
        <p:nvSpPr>
          <p:cNvPr id="7" name="Title 1">
            <a:extLst>
              <a:ext uri="{FF2B5EF4-FFF2-40B4-BE49-F238E27FC236}">
                <a16:creationId xmlns:a16="http://schemas.microsoft.com/office/drawing/2014/main" id="{8624D4D6-E97F-4A20-A4E9-E148B77B4707}"/>
              </a:ext>
            </a:extLst>
          </p:cNvPr>
          <p:cNvSpPr txBox="1">
            <a:spLocks/>
          </p:cNvSpPr>
          <p:nvPr/>
        </p:nvSpPr>
        <p:spPr>
          <a:xfrm>
            <a:off x="265767" y="19034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121B3038-3EF0-43E4-8E3E-4D8661EF2D7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267D5725-7173-41D9-A7F4-4FE91E920562}"/>
              </a:ext>
            </a:extLst>
          </p:cNvPr>
          <p:cNvSpPr>
            <a:spLocks noGrp="1"/>
          </p:cNvSpPr>
          <p:nvPr>
            <p:ph type="sldNum" sz="quarter" idx="12"/>
          </p:nvPr>
        </p:nvSpPr>
        <p:spPr/>
        <p:txBody>
          <a:bodyPr/>
          <a:lstStyle/>
          <a:p>
            <a:fld id="{127DDC20-79C9-9647-820E-6D40A3D210C3}" type="slidenum">
              <a:rPr lang="en-US" smtClean="0"/>
              <a:pPr/>
              <a:t>15</a:t>
            </a:fld>
            <a:endParaRPr lang="en-US"/>
          </a:p>
        </p:txBody>
      </p:sp>
      <p:pic>
        <p:nvPicPr>
          <p:cNvPr id="5" name="Picture 4" descr="Image showing adding fields in attribute data">
            <a:extLst>
              <a:ext uri="{FF2B5EF4-FFF2-40B4-BE49-F238E27FC236}">
                <a16:creationId xmlns:a16="http://schemas.microsoft.com/office/drawing/2014/main" id="{D7BFA5CD-F7D9-45B7-BBDA-EEAA4225F952}"/>
              </a:ext>
            </a:extLst>
          </p:cNvPr>
          <p:cNvPicPr>
            <a:picLocks noChangeAspect="1"/>
          </p:cNvPicPr>
          <p:nvPr/>
        </p:nvPicPr>
        <p:blipFill>
          <a:blip r:embed="rId3"/>
          <a:stretch>
            <a:fillRect/>
          </a:stretch>
        </p:blipFill>
        <p:spPr>
          <a:xfrm>
            <a:off x="411480" y="3541485"/>
            <a:ext cx="6544963" cy="1617605"/>
          </a:xfrm>
          <a:prstGeom prst="rect">
            <a:avLst/>
          </a:prstGeom>
        </p:spPr>
      </p:pic>
      <p:pic>
        <p:nvPicPr>
          <p:cNvPr id="12" name="Picture 11" descr="Image showing Africa">
            <a:extLst>
              <a:ext uri="{FF2B5EF4-FFF2-40B4-BE49-F238E27FC236}">
                <a16:creationId xmlns:a16="http://schemas.microsoft.com/office/drawing/2014/main" id="{FD13B996-ED5F-410B-A57F-1C1EE58F6F84}"/>
              </a:ext>
            </a:extLst>
          </p:cNvPr>
          <p:cNvPicPr>
            <a:picLocks noChangeAspect="1"/>
          </p:cNvPicPr>
          <p:nvPr/>
        </p:nvPicPr>
        <p:blipFill>
          <a:blip r:embed="rId4"/>
          <a:stretch>
            <a:fillRect/>
          </a:stretch>
        </p:blipFill>
        <p:spPr>
          <a:xfrm>
            <a:off x="5872163" y="1008090"/>
            <a:ext cx="2205038" cy="2476500"/>
          </a:xfrm>
          <a:prstGeom prst="rect">
            <a:avLst/>
          </a:prstGeom>
        </p:spPr>
      </p:pic>
    </p:spTree>
    <p:extLst>
      <p:ext uri="{BB962C8B-B14F-4D97-AF65-F5344CB8AC3E}">
        <p14:creationId xmlns:p14="http://schemas.microsoft.com/office/powerpoint/2010/main" val="1199635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3"/>
          <p:cNvGraphicFramePr>
            <a:graphicFrameLocks/>
          </p:cNvGraphicFramePr>
          <p:nvPr>
            <p:custDataLst>
              <p:tags r:id="rId1"/>
            </p:custDataLst>
          </p:nvPr>
        </p:nvGraphicFramePr>
        <p:xfrm>
          <a:off x="1422445" y="3167337"/>
          <a:ext cx="6173808" cy="1878306"/>
        </p:xfrm>
        <a:graphic>
          <a:graphicData uri="http://schemas.openxmlformats.org/drawingml/2006/table">
            <a:tbl>
              <a:tblPr firstRow="1" bandRow="1">
                <a:tableStyleId>{6E25E649-3F16-4E02-A733-19D2CDBF48F0}</a:tableStyleId>
              </a:tblPr>
              <a:tblGrid>
                <a:gridCol w="3086904">
                  <a:extLst>
                    <a:ext uri="{9D8B030D-6E8A-4147-A177-3AD203B41FA5}">
                      <a16:colId xmlns:a16="http://schemas.microsoft.com/office/drawing/2014/main" val="332536845"/>
                    </a:ext>
                  </a:extLst>
                </a:gridCol>
                <a:gridCol w="3086904">
                  <a:extLst>
                    <a:ext uri="{9D8B030D-6E8A-4147-A177-3AD203B41FA5}">
                      <a16:colId xmlns:a16="http://schemas.microsoft.com/office/drawing/2014/main" val="3240416613"/>
                    </a:ext>
                  </a:extLst>
                </a:gridCol>
              </a:tblGrid>
              <a:tr h="250382">
                <a:tc>
                  <a:txBody>
                    <a:bodyPr/>
                    <a:lstStyle/>
                    <a:p>
                      <a:r>
                        <a:rPr lang="en-US" sz="1100" dirty="0"/>
                        <a:t>Data Type</a:t>
                      </a:r>
                    </a:p>
                  </a:txBody>
                  <a:tcPr marL="61738" marR="61738" marT="30869" marB="30869">
                    <a:solidFill>
                      <a:srgbClr val="E3874F"/>
                    </a:solidFill>
                  </a:tcPr>
                </a:tc>
                <a:tc>
                  <a:txBody>
                    <a:bodyPr/>
                    <a:lstStyle/>
                    <a:p>
                      <a:endParaRPr lang="en-US" sz="1100"/>
                    </a:p>
                  </a:txBody>
                  <a:tcPr marL="61738" marR="61738" marT="30869" marB="30869">
                    <a:solidFill>
                      <a:srgbClr val="E3874F"/>
                    </a:solidFill>
                  </a:tcPr>
                </a:tc>
                <a:extLst>
                  <a:ext uri="{0D108BD9-81ED-4DB2-BD59-A6C34878D82A}">
                    <a16:rowId xmlns:a16="http://schemas.microsoft.com/office/drawing/2014/main" val="3465418279"/>
                  </a:ext>
                </a:extLst>
              </a:tr>
              <a:tr h="250382">
                <a:tc>
                  <a:txBody>
                    <a:bodyPr/>
                    <a:lstStyle/>
                    <a:p>
                      <a:r>
                        <a:rPr lang="en-US" sz="1100" b="1" dirty="0">
                          <a:solidFill>
                            <a:srgbClr val="E3874F"/>
                          </a:solidFill>
                        </a:rPr>
                        <a:t>Short</a:t>
                      </a:r>
                      <a:r>
                        <a:rPr lang="en-US" sz="1100" b="1" baseline="0" dirty="0">
                          <a:solidFill>
                            <a:srgbClr val="E3874F"/>
                          </a:solidFill>
                        </a:rPr>
                        <a:t> Integer</a:t>
                      </a:r>
                      <a:endParaRPr lang="en-US" sz="1100" b="1" dirty="0">
                        <a:solidFill>
                          <a:srgbClr val="E3874F"/>
                        </a:solidFill>
                      </a:endParaRPr>
                    </a:p>
                  </a:txBody>
                  <a:tcPr marL="61738" marR="61738" marT="30869" marB="30869"/>
                </a:tc>
                <a:tc>
                  <a:txBody>
                    <a:bodyPr/>
                    <a:lstStyle/>
                    <a:p>
                      <a:r>
                        <a:rPr lang="en-US" sz="1100" dirty="0"/>
                        <a:t>Integer values</a:t>
                      </a:r>
                      <a:r>
                        <a:rPr lang="en-US" sz="1100" baseline="0" dirty="0"/>
                        <a:t> between -32,768 and 32,767</a:t>
                      </a:r>
                      <a:endParaRPr lang="en-US" sz="1100" dirty="0"/>
                    </a:p>
                  </a:txBody>
                  <a:tcPr marL="61738" marR="61738" marT="30869" marB="30869"/>
                </a:tc>
                <a:extLst>
                  <a:ext uri="{0D108BD9-81ED-4DB2-BD59-A6C34878D82A}">
                    <a16:rowId xmlns:a16="http://schemas.microsoft.com/office/drawing/2014/main" val="917302846"/>
                  </a:ext>
                </a:extLst>
              </a:tr>
              <a:tr h="395124">
                <a:tc>
                  <a:txBody>
                    <a:bodyPr/>
                    <a:lstStyle/>
                    <a:p>
                      <a:r>
                        <a:rPr lang="en-US" sz="1100" b="1" dirty="0">
                          <a:solidFill>
                            <a:srgbClr val="E3874F"/>
                          </a:solidFill>
                        </a:rPr>
                        <a:t>Long Integer</a:t>
                      </a:r>
                    </a:p>
                  </a:txBody>
                  <a:tcPr marL="61738" marR="61738" marT="30869" marB="30869"/>
                </a:tc>
                <a:tc>
                  <a:txBody>
                    <a:bodyPr/>
                    <a:lstStyle/>
                    <a:p>
                      <a:r>
                        <a:rPr lang="en-US" sz="1100" dirty="0"/>
                        <a:t>Integer values between -2,147,483,648 and 2,147,483,647</a:t>
                      </a:r>
                    </a:p>
                  </a:txBody>
                  <a:tcPr marL="61738" marR="61738" marT="30869" marB="30869"/>
                </a:tc>
                <a:extLst>
                  <a:ext uri="{0D108BD9-81ED-4DB2-BD59-A6C34878D82A}">
                    <a16:rowId xmlns:a16="http://schemas.microsoft.com/office/drawing/2014/main" val="497073896"/>
                  </a:ext>
                </a:extLst>
              </a:tr>
              <a:tr h="250382">
                <a:tc>
                  <a:txBody>
                    <a:bodyPr/>
                    <a:lstStyle/>
                    <a:p>
                      <a:r>
                        <a:rPr lang="en-US" sz="1100" b="1" dirty="0">
                          <a:solidFill>
                            <a:srgbClr val="E3874F"/>
                          </a:solidFill>
                        </a:rPr>
                        <a:t>Float</a:t>
                      </a:r>
                    </a:p>
                  </a:txBody>
                  <a:tcPr marL="61738" marR="61738" marT="30869" marB="30869"/>
                </a:tc>
                <a:tc>
                  <a:txBody>
                    <a:bodyPr/>
                    <a:lstStyle/>
                    <a:p>
                      <a:r>
                        <a:rPr lang="en-US" sz="1100" dirty="0"/>
                        <a:t>Decimal values with 1-6 decimal places</a:t>
                      </a:r>
                    </a:p>
                  </a:txBody>
                  <a:tcPr marL="61738" marR="61738" marT="30869" marB="30869"/>
                </a:tc>
                <a:extLst>
                  <a:ext uri="{0D108BD9-81ED-4DB2-BD59-A6C34878D82A}">
                    <a16:rowId xmlns:a16="http://schemas.microsoft.com/office/drawing/2014/main" val="3288428188"/>
                  </a:ext>
                </a:extLst>
              </a:tr>
              <a:tr h="250382">
                <a:tc>
                  <a:txBody>
                    <a:bodyPr/>
                    <a:lstStyle/>
                    <a:p>
                      <a:r>
                        <a:rPr lang="en-US" sz="1100" b="1" dirty="0">
                          <a:solidFill>
                            <a:srgbClr val="E3874F"/>
                          </a:solidFill>
                        </a:rPr>
                        <a:t>Double</a:t>
                      </a:r>
                    </a:p>
                  </a:txBody>
                  <a:tcPr marL="61738" marR="61738" marT="30869" marB="30869"/>
                </a:tc>
                <a:tc>
                  <a:txBody>
                    <a:bodyPr/>
                    <a:lstStyle/>
                    <a:p>
                      <a:r>
                        <a:rPr lang="en-US" sz="1100" dirty="0"/>
                        <a:t>Decimal</a:t>
                      </a:r>
                      <a:r>
                        <a:rPr lang="en-US" sz="1100" baseline="0" dirty="0"/>
                        <a:t> values with more the 6 decimal places</a:t>
                      </a:r>
                      <a:endParaRPr lang="en-US" sz="1100" dirty="0"/>
                    </a:p>
                  </a:txBody>
                  <a:tcPr marL="61738" marR="61738" marT="30869" marB="30869"/>
                </a:tc>
                <a:extLst>
                  <a:ext uri="{0D108BD9-81ED-4DB2-BD59-A6C34878D82A}">
                    <a16:rowId xmlns:a16="http://schemas.microsoft.com/office/drawing/2014/main" val="3026856190"/>
                  </a:ext>
                </a:extLst>
              </a:tr>
              <a:tr h="228431">
                <a:tc>
                  <a:txBody>
                    <a:bodyPr/>
                    <a:lstStyle/>
                    <a:p>
                      <a:r>
                        <a:rPr lang="en-US" sz="1100" b="1" dirty="0">
                          <a:solidFill>
                            <a:srgbClr val="E3874F"/>
                          </a:solidFill>
                        </a:rPr>
                        <a:t>Text</a:t>
                      </a:r>
                    </a:p>
                  </a:txBody>
                  <a:tcPr marL="61738" marR="61738" marT="30869" marB="30869"/>
                </a:tc>
                <a:tc>
                  <a:txBody>
                    <a:bodyPr/>
                    <a:lstStyle/>
                    <a:p>
                      <a:r>
                        <a:rPr lang="en-US" sz="1100" dirty="0"/>
                        <a:t>Text</a:t>
                      </a:r>
                      <a:r>
                        <a:rPr lang="en-US" sz="1100" baseline="0" dirty="0"/>
                        <a:t> strings</a:t>
                      </a:r>
                      <a:endParaRPr lang="en-US" sz="1100" dirty="0"/>
                    </a:p>
                  </a:txBody>
                  <a:tcPr marL="61738" marR="61738" marT="30869" marB="30869"/>
                </a:tc>
                <a:extLst>
                  <a:ext uri="{0D108BD9-81ED-4DB2-BD59-A6C34878D82A}">
                    <a16:rowId xmlns:a16="http://schemas.microsoft.com/office/drawing/2014/main" val="1992011703"/>
                  </a:ext>
                </a:extLst>
              </a:tr>
              <a:tr h="250382">
                <a:tc>
                  <a:txBody>
                    <a:bodyPr/>
                    <a:lstStyle/>
                    <a:p>
                      <a:r>
                        <a:rPr lang="en-US" sz="1100" b="1" dirty="0">
                          <a:solidFill>
                            <a:srgbClr val="E3874F"/>
                          </a:solidFill>
                        </a:rPr>
                        <a:t>Date</a:t>
                      </a:r>
                    </a:p>
                  </a:txBody>
                  <a:tcPr marL="61738" marR="61738" marT="30869" marB="30869"/>
                </a:tc>
                <a:tc>
                  <a:txBody>
                    <a:bodyPr/>
                    <a:lstStyle/>
                    <a:p>
                      <a:r>
                        <a:rPr lang="en-US" sz="1100" dirty="0"/>
                        <a:t>Data info (mm/</a:t>
                      </a:r>
                      <a:r>
                        <a:rPr lang="en-US" sz="1100" dirty="0" err="1"/>
                        <a:t>dd</a:t>
                      </a:r>
                      <a:r>
                        <a:rPr lang="en-US" sz="1100" dirty="0"/>
                        <a:t>/</a:t>
                      </a:r>
                      <a:r>
                        <a:rPr lang="en-US" sz="1100" dirty="0" err="1"/>
                        <a:t>yyyy</a:t>
                      </a:r>
                      <a:r>
                        <a:rPr lang="en-US" sz="1100" dirty="0"/>
                        <a:t>)</a:t>
                      </a:r>
                    </a:p>
                  </a:txBody>
                  <a:tcPr marL="61738" marR="61738" marT="30869" marB="30869"/>
                </a:tc>
                <a:extLst>
                  <a:ext uri="{0D108BD9-81ED-4DB2-BD59-A6C34878D82A}">
                    <a16:rowId xmlns:a16="http://schemas.microsoft.com/office/drawing/2014/main" val="2515088809"/>
                  </a:ext>
                </a:extLst>
              </a:tr>
            </a:tbl>
          </a:graphicData>
        </a:graphic>
      </p:graphicFrame>
      <p:sp>
        <p:nvSpPr>
          <p:cNvPr id="7" name="Title 1">
            <a:extLst>
              <a:ext uri="{FF2B5EF4-FFF2-40B4-BE49-F238E27FC236}">
                <a16:creationId xmlns:a16="http://schemas.microsoft.com/office/drawing/2014/main" id="{8624D4D6-E97F-4A20-A4E9-E148B77B4707}"/>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121B3038-3EF0-43E4-8E3E-4D8661EF2D7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Content Placeholder 2">
            <a:extLst>
              <a:ext uri="{FF2B5EF4-FFF2-40B4-BE49-F238E27FC236}">
                <a16:creationId xmlns:a16="http://schemas.microsoft.com/office/drawing/2014/main" id="{CD41FD8A-E043-4A99-849D-E4A9DE1D283E}"/>
              </a:ext>
            </a:extLst>
          </p:cNvPr>
          <p:cNvSpPr txBox="1">
            <a:spLocks/>
          </p:cNvSpPr>
          <p:nvPr/>
        </p:nvSpPr>
        <p:spPr>
          <a:xfrm>
            <a:off x="152400" y="1064985"/>
            <a:ext cx="6724918" cy="313835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Fields</a:t>
            </a:r>
          </a:p>
          <a:p>
            <a:pPr lvl="1">
              <a:buFont typeface="Wingdings" panose="05000000000000000000" pitchFamily="2" charset="2"/>
              <a:buChar char="ü"/>
            </a:pPr>
            <a:r>
              <a:rPr lang="en-US" dirty="0"/>
              <a:t>Make sure to define the correct type</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4FA8B4B4-77B8-4882-BFD6-5F36AE669771}"/>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9" name="Picture 8" descr="Image showing data type in attribute table">
            <a:extLst>
              <a:ext uri="{FF2B5EF4-FFF2-40B4-BE49-F238E27FC236}">
                <a16:creationId xmlns:a16="http://schemas.microsoft.com/office/drawing/2014/main" id="{85EC482B-DF0E-426C-B6DD-2F1219EBA132}"/>
              </a:ext>
            </a:extLst>
          </p:cNvPr>
          <p:cNvPicPr>
            <a:picLocks noChangeAspect="1"/>
          </p:cNvPicPr>
          <p:nvPr/>
        </p:nvPicPr>
        <p:blipFill>
          <a:blip r:embed="rId4"/>
          <a:stretch>
            <a:fillRect/>
          </a:stretch>
        </p:blipFill>
        <p:spPr>
          <a:xfrm>
            <a:off x="951470" y="1996436"/>
            <a:ext cx="4534930" cy="1129898"/>
          </a:xfrm>
          <a:prstGeom prst="rect">
            <a:avLst/>
          </a:prstGeom>
        </p:spPr>
      </p:pic>
    </p:spTree>
    <p:extLst>
      <p:ext uri="{BB962C8B-B14F-4D97-AF65-F5344CB8AC3E}">
        <p14:creationId xmlns:p14="http://schemas.microsoft.com/office/powerpoint/2010/main" val="5593686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dd geometry attributes"/>
          <p:cNvPicPr>
            <a:picLocks noChangeAspect="1"/>
          </p:cNvPicPr>
          <p:nvPr/>
        </p:nvPicPr>
        <p:blipFill>
          <a:blip r:embed="rId3"/>
          <a:stretch>
            <a:fillRect/>
          </a:stretch>
        </p:blipFill>
        <p:spPr>
          <a:xfrm>
            <a:off x="4121391" y="2057266"/>
            <a:ext cx="3492060" cy="2263730"/>
          </a:xfrm>
          <a:prstGeom prst="rect">
            <a:avLst/>
          </a:prstGeom>
        </p:spPr>
      </p:pic>
      <p:graphicFrame>
        <p:nvGraphicFramePr>
          <p:cNvPr id="5" name="Content Placeholder 3"/>
          <p:cNvGraphicFramePr>
            <a:graphicFrameLocks/>
          </p:cNvGraphicFramePr>
          <p:nvPr>
            <p:extLst>
              <p:ext uri="{D42A27DB-BD31-4B8C-83A1-F6EECF244321}">
                <p14:modId xmlns:p14="http://schemas.microsoft.com/office/powerpoint/2010/main" val="3951904364"/>
              </p:ext>
            </p:extLst>
          </p:nvPr>
        </p:nvGraphicFramePr>
        <p:xfrm>
          <a:off x="256170" y="2062739"/>
          <a:ext cx="3601389" cy="2546710"/>
        </p:xfrm>
        <a:graphic>
          <a:graphicData uri="http://schemas.openxmlformats.org/drawingml/2006/table">
            <a:tbl>
              <a:tblPr firstRow="1" bandRow="1">
                <a:tableStyleId>{6E25E649-3F16-4E02-A733-19D2CDBF48F0}</a:tableStyleId>
              </a:tblPr>
              <a:tblGrid>
                <a:gridCol w="1200463">
                  <a:extLst>
                    <a:ext uri="{9D8B030D-6E8A-4147-A177-3AD203B41FA5}">
                      <a16:colId xmlns:a16="http://schemas.microsoft.com/office/drawing/2014/main" val="2928220064"/>
                    </a:ext>
                  </a:extLst>
                </a:gridCol>
                <a:gridCol w="1200463">
                  <a:extLst>
                    <a:ext uri="{9D8B030D-6E8A-4147-A177-3AD203B41FA5}">
                      <a16:colId xmlns:a16="http://schemas.microsoft.com/office/drawing/2014/main" val="3542481309"/>
                    </a:ext>
                  </a:extLst>
                </a:gridCol>
                <a:gridCol w="1200463">
                  <a:extLst>
                    <a:ext uri="{9D8B030D-6E8A-4147-A177-3AD203B41FA5}">
                      <a16:colId xmlns:a16="http://schemas.microsoft.com/office/drawing/2014/main" val="1337384188"/>
                    </a:ext>
                  </a:extLst>
                </a:gridCol>
              </a:tblGrid>
              <a:tr h="250382">
                <a:tc>
                  <a:txBody>
                    <a:bodyPr/>
                    <a:lstStyle/>
                    <a:p>
                      <a:r>
                        <a:rPr lang="en-US" sz="1100" dirty="0"/>
                        <a:t>Points</a:t>
                      </a:r>
                    </a:p>
                  </a:txBody>
                  <a:tcPr marL="61738" marR="61738" marT="30869" marB="30869">
                    <a:solidFill>
                      <a:srgbClr val="E3874F"/>
                    </a:solidFill>
                  </a:tcPr>
                </a:tc>
                <a:tc>
                  <a:txBody>
                    <a:bodyPr/>
                    <a:lstStyle/>
                    <a:p>
                      <a:r>
                        <a:rPr lang="en-US" sz="1100" dirty="0"/>
                        <a:t>Lines</a:t>
                      </a:r>
                    </a:p>
                  </a:txBody>
                  <a:tcPr marL="61738" marR="61738" marT="30869" marB="30869">
                    <a:solidFill>
                      <a:srgbClr val="E3874F"/>
                    </a:solidFill>
                  </a:tcPr>
                </a:tc>
                <a:tc>
                  <a:txBody>
                    <a:bodyPr/>
                    <a:lstStyle/>
                    <a:p>
                      <a:r>
                        <a:rPr lang="en-US" sz="1100" dirty="0"/>
                        <a:t>Polygons</a:t>
                      </a:r>
                    </a:p>
                  </a:txBody>
                  <a:tcPr marL="61738" marR="61738" marT="30869" marB="30869">
                    <a:solidFill>
                      <a:srgbClr val="E3874F"/>
                    </a:solidFill>
                  </a:tcPr>
                </a:tc>
                <a:extLst>
                  <a:ext uri="{0D108BD9-81ED-4DB2-BD59-A6C34878D82A}">
                    <a16:rowId xmlns:a16="http://schemas.microsoft.com/office/drawing/2014/main" val="584739742"/>
                  </a:ext>
                </a:extLst>
              </a:tr>
              <a:tr h="250382">
                <a:tc>
                  <a:txBody>
                    <a:bodyPr/>
                    <a:lstStyle/>
                    <a:p>
                      <a:r>
                        <a:rPr lang="en-US" sz="1100" dirty="0"/>
                        <a:t>X-coordinate</a:t>
                      </a:r>
                    </a:p>
                  </a:txBody>
                  <a:tcPr marL="61738" marR="61738" marT="30869" marB="30869"/>
                </a:tc>
                <a:tc>
                  <a:txBody>
                    <a:bodyPr/>
                    <a:lstStyle/>
                    <a:p>
                      <a:r>
                        <a:rPr lang="en-US" sz="1100" dirty="0"/>
                        <a:t>Start-X</a:t>
                      </a:r>
                    </a:p>
                  </a:txBody>
                  <a:tcPr marL="61738" marR="61738" marT="30869" marB="30869"/>
                </a:tc>
                <a:tc>
                  <a:txBody>
                    <a:bodyPr/>
                    <a:lstStyle/>
                    <a:p>
                      <a:r>
                        <a:rPr lang="en-US" sz="1100" dirty="0"/>
                        <a:t>Area</a:t>
                      </a:r>
                    </a:p>
                  </a:txBody>
                  <a:tcPr marL="61738" marR="61738" marT="30869" marB="30869"/>
                </a:tc>
                <a:extLst>
                  <a:ext uri="{0D108BD9-81ED-4DB2-BD59-A6C34878D82A}">
                    <a16:rowId xmlns:a16="http://schemas.microsoft.com/office/drawing/2014/main" val="2029775200"/>
                  </a:ext>
                </a:extLst>
              </a:tr>
              <a:tr h="250382">
                <a:tc>
                  <a:txBody>
                    <a:bodyPr/>
                    <a:lstStyle/>
                    <a:p>
                      <a:r>
                        <a:rPr lang="en-US" sz="1100" dirty="0"/>
                        <a:t>Y-coordinate</a:t>
                      </a:r>
                    </a:p>
                  </a:txBody>
                  <a:tcPr marL="61738" marR="61738" marT="30869" marB="30869"/>
                </a:tc>
                <a:tc>
                  <a:txBody>
                    <a:bodyPr/>
                    <a:lstStyle/>
                    <a:p>
                      <a:r>
                        <a:rPr lang="en-US" sz="1100" dirty="0"/>
                        <a:t>Start-Y</a:t>
                      </a:r>
                    </a:p>
                  </a:txBody>
                  <a:tcPr marL="61738" marR="61738" marT="30869" marB="30869"/>
                </a:tc>
                <a:tc>
                  <a:txBody>
                    <a:bodyPr/>
                    <a:lstStyle/>
                    <a:p>
                      <a:r>
                        <a:rPr lang="en-US" sz="1100" dirty="0"/>
                        <a:t>Perimeter</a:t>
                      </a:r>
                    </a:p>
                  </a:txBody>
                  <a:tcPr marL="61738" marR="61738" marT="30869" marB="30869"/>
                </a:tc>
                <a:extLst>
                  <a:ext uri="{0D108BD9-81ED-4DB2-BD59-A6C34878D82A}">
                    <a16:rowId xmlns:a16="http://schemas.microsoft.com/office/drawing/2014/main" val="1210143157"/>
                  </a:ext>
                </a:extLst>
              </a:tr>
              <a:tr h="395124">
                <a:tc>
                  <a:txBody>
                    <a:bodyPr/>
                    <a:lstStyle/>
                    <a:p>
                      <a:r>
                        <a:rPr lang="en-US" sz="1100" dirty="0"/>
                        <a:t>Z-coordinate (if z-enabled)</a:t>
                      </a:r>
                    </a:p>
                  </a:txBody>
                  <a:tcPr marL="61738" marR="61738" marT="30869" marB="30869"/>
                </a:tc>
                <a:tc>
                  <a:txBody>
                    <a:bodyPr/>
                    <a:lstStyle/>
                    <a:p>
                      <a:r>
                        <a:rPr lang="en-US" sz="1100" dirty="0"/>
                        <a:t>End-X</a:t>
                      </a:r>
                    </a:p>
                  </a:txBody>
                  <a:tcPr marL="61738" marR="61738" marT="30869" marB="30869"/>
                </a:tc>
                <a:tc>
                  <a:txBody>
                    <a:bodyPr/>
                    <a:lstStyle/>
                    <a:p>
                      <a:r>
                        <a:rPr lang="en-US" sz="1100" dirty="0"/>
                        <a:t>Centroid</a:t>
                      </a:r>
                      <a:r>
                        <a:rPr lang="en-US" sz="1100" baseline="0" dirty="0"/>
                        <a:t>-X</a:t>
                      </a:r>
                      <a:endParaRPr lang="en-US" sz="1100" dirty="0"/>
                    </a:p>
                  </a:txBody>
                  <a:tcPr marL="61738" marR="61738" marT="30869" marB="30869"/>
                </a:tc>
                <a:extLst>
                  <a:ext uri="{0D108BD9-81ED-4DB2-BD59-A6C34878D82A}">
                    <a16:rowId xmlns:a16="http://schemas.microsoft.com/office/drawing/2014/main" val="1801068917"/>
                  </a:ext>
                </a:extLst>
              </a:tr>
              <a:tr h="395124">
                <a:tc>
                  <a:txBody>
                    <a:bodyPr/>
                    <a:lstStyle/>
                    <a:p>
                      <a:r>
                        <a:rPr lang="en-US" sz="1100" dirty="0"/>
                        <a:t>M-coordinate (if m-enabled)</a:t>
                      </a:r>
                    </a:p>
                  </a:txBody>
                  <a:tcPr marL="61738" marR="61738" marT="30869" marB="30869"/>
                </a:tc>
                <a:tc>
                  <a:txBody>
                    <a:bodyPr/>
                    <a:lstStyle/>
                    <a:p>
                      <a:r>
                        <a:rPr lang="en-US" sz="1100" dirty="0"/>
                        <a:t>End-Y</a:t>
                      </a:r>
                    </a:p>
                  </a:txBody>
                  <a:tcPr marL="61738" marR="61738" marT="30869" marB="30869"/>
                </a:tc>
                <a:tc>
                  <a:txBody>
                    <a:bodyPr/>
                    <a:lstStyle/>
                    <a:p>
                      <a:r>
                        <a:rPr lang="en-US" sz="1100" dirty="0"/>
                        <a:t>Centroid-Y</a:t>
                      </a:r>
                    </a:p>
                  </a:txBody>
                  <a:tcPr marL="61738" marR="61738" marT="30869" marB="30869"/>
                </a:tc>
                <a:extLst>
                  <a:ext uri="{0D108BD9-81ED-4DB2-BD59-A6C34878D82A}">
                    <a16:rowId xmlns:a16="http://schemas.microsoft.com/office/drawing/2014/main" val="1607823658"/>
                  </a:ext>
                </a:extLst>
              </a:tr>
              <a:tr h="250382">
                <a:tc>
                  <a:txBody>
                    <a:bodyPr/>
                    <a:lstStyle/>
                    <a:p>
                      <a:r>
                        <a:rPr lang="en-US" sz="1100" dirty="0"/>
                        <a:t>…</a:t>
                      </a:r>
                    </a:p>
                  </a:txBody>
                  <a:tcPr marL="61738" marR="61738" marT="30869" marB="30869"/>
                </a:tc>
                <a:tc>
                  <a:txBody>
                    <a:bodyPr/>
                    <a:lstStyle/>
                    <a:p>
                      <a:r>
                        <a:rPr lang="en-US" sz="1100" dirty="0"/>
                        <a:t>Mid-X</a:t>
                      </a:r>
                    </a:p>
                  </a:txBody>
                  <a:tcPr marL="61738" marR="61738" marT="30869" marB="30869"/>
                </a:tc>
                <a:tc>
                  <a:txBody>
                    <a:bodyPr/>
                    <a:lstStyle/>
                    <a:p>
                      <a:r>
                        <a:rPr lang="en-US" sz="1100" dirty="0"/>
                        <a:t>…</a:t>
                      </a:r>
                    </a:p>
                  </a:txBody>
                  <a:tcPr marL="61738" marR="61738" marT="30869" marB="30869"/>
                </a:tc>
                <a:extLst>
                  <a:ext uri="{0D108BD9-81ED-4DB2-BD59-A6C34878D82A}">
                    <a16:rowId xmlns:a16="http://schemas.microsoft.com/office/drawing/2014/main" val="2222794712"/>
                  </a:ext>
                </a:extLst>
              </a:tr>
              <a:tr h="250382">
                <a:tc>
                  <a:txBody>
                    <a:bodyPr/>
                    <a:lstStyle/>
                    <a:p>
                      <a:endParaRPr lang="en-US" sz="1100" dirty="0"/>
                    </a:p>
                  </a:txBody>
                  <a:tcPr marL="61738" marR="61738" marT="30869" marB="30869"/>
                </a:tc>
                <a:tc>
                  <a:txBody>
                    <a:bodyPr/>
                    <a:lstStyle/>
                    <a:p>
                      <a:r>
                        <a:rPr lang="en-US" sz="1100" dirty="0"/>
                        <a:t>Mid-Y</a:t>
                      </a:r>
                    </a:p>
                  </a:txBody>
                  <a:tcPr marL="61738" marR="61738" marT="30869" marB="30869"/>
                </a:tc>
                <a:tc>
                  <a:txBody>
                    <a:bodyPr/>
                    <a:lstStyle/>
                    <a:p>
                      <a:endParaRPr lang="en-US" sz="1100"/>
                    </a:p>
                  </a:txBody>
                  <a:tcPr marL="61738" marR="61738" marT="30869" marB="30869"/>
                </a:tc>
                <a:extLst>
                  <a:ext uri="{0D108BD9-81ED-4DB2-BD59-A6C34878D82A}">
                    <a16:rowId xmlns:a16="http://schemas.microsoft.com/office/drawing/2014/main" val="4166193178"/>
                  </a:ext>
                </a:extLst>
              </a:tr>
              <a:tr h="250382">
                <a:tc>
                  <a:txBody>
                    <a:bodyPr/>
                    <a:lstStyle/>
                    <a:p>
                      <a:endParaRPr lang="en-US" sz="1100" dirty="0"/>
                    </a:p>
                  </a:txBody>
                  <a:tcPr marL="61738" marR="61738" marT="30869" marB="30869"/>
                </a:tc>
                <a:tc>
                  <a:txBody>
                    <a:bodyPr/>
                    <a:lstStyle/>
                    <a:p>
                      <a:r>
                        <a:rPr lang="en-US" sz="1100" dirty="0"/>
                        <a:t>Length</a:t>
                      </a:r>
                    </a:p>
                  </a:txBody>
                  <a:tcPr marL="61738" marR="61738" marT="30869" marB="30869"/>
                </a:tc>
                <a:tc>
                  <a:txBody>
                    <a:bodyPr/>
                    <a:lstStyle/>
                    <a:p>
                      <a:endParaRPr lang="en-US" sz="1100" dirty="0"/>
                    </a:p>
                  </a:txBody>
                  <a:tcPr marL="61738" marR="61738" marT="30869" marB="30869"/>
                </a:tc>
                <a:extLst>
                  <a:ext uri="{0D108BD9-81ED-4DB2-BD59-A6C34878D82A}">
                    <a16:rowId xmlns:a16="http://schemas.microsoft.com/office/drawing/2014/main" val="1215381754"/>
                  </a:ext>
                </a:extLst>
              </a:tr>
              <a:tr h="250382">
                <a:tc>
                  <a:txBody>
                    <a:bodyPr/>
                    <a:lstStyle/>
                    <a:p>
                      <a:endParaRPr lang="en-US" sz="1100" dirty="0"/>
                    </a:p>
                  </a:txBody>
                  <a:tcPr marL="61738" marR="61738" marT="30869" marB="30869"/>
                </a:tc>
                <a:tc>
                  <a:txBody>
                    <a:bodyPr/>
                    <a:lstStyle/>
                    <a:p>
                      <a:r>
                        <a:rPr lang="en-US" sz="1100" dirty="0"/>
                        <a:t>...</a:t>
                      </a:r>
                    </a:p>
                  </a:txBody>
                  <a:tcPr marL="61738" marR="61738" marT="30869" marB="30869"/>
                </a:tc>
                <a:tc>
                  <a:txBody>
                    <a:bodyPr/>
                    <a:lstStyle/>
                    <a:p>
                      <a:endParaRPr lang="en-US" sz="1100" dirty="0"/>
                    </a:p>
                  </a:txBody>
                  <a:tcPr marL="61738" marR="61738" marT="30869" marB="30869"/>
                </a:tc>
                <a:extLst>
                  <a:ext uri="{0D108BD9-81ED-4DB2-BD59-A6C34878D82A}">
                    <a16:rowId xmlns:a16="http://schemas.microsoft.com/office/drawing/2014/main" val="147051366"/>
                  </a:ext>
                </a:extLst>
              </a:tr>
            </a:tbl>
          </a:graphicData>
        </a:graphic>
      </p:graphicFrame>
      <p:sp>
        <p:nvSpPr>
          <p:cNvPr id="6" name="Title 1">
            <a:extLst>
              <a:ext uri="{FF2B5EF4-FFF2-40B4-BE49-F238E27FC236}">
                <a16:creationId xmlns:a16="http://schemas.microsoft.com/office/drawing/2014/main" id="{C7474B5D-709F-4A76-BD5C-A827FCF4B71F}"/>
              </a:ext>
            </a:extLst>
          </p:cNvPr>
          <p:cNvSpPr txBox="1">
            <a:spLocks/>
          </p:cNvSpPr>
          <p:nvPr/>
        </p:nvSpPr>
        <p:spPr>
          <a:xfrm>
            <a:off x="256170" y="20773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7" name="Straight Connector 6">
            <a:extLst>
              <a:ext uri="{FF2B5EF4-FFF2-40B4-BE49-F238E27FC236}">
                <a16:creationId xmlns:a16="http://schemas.microsoft.com/office/drawing/2014/main" id="{CE1A58E5-CB1E-4FCD-9E81-987ECAD7687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22A1840-F771-4765-9B8A-0B34F8723AEB}"/>
              </a:ext>
            </a:extLst>
          </p:cNvPr>
          <p:cNvSpPr txBox="1">
            <a:spLocks/>
          </p:cNvSpPr>
          <p:nvPr/>
        </p:nvSpPr>
        <p:spPr>
          <a:xfrm>
            <a:off x="152400" y="1064985"/>
            <a:ext cx="7665720" cy="313835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Geometric Fields</a:t>
            </a:r>
          </a:p>
          <a:p>
            <a:pPr lvl="1">
              <a:buFont typeface="Wingdings" panose="05000000000000000000" pitchFamily="2" charset="2"/>
              <a:buChar char="ü"/>
            </a:pPr>
            <a:r>
              <a:rPr lang="en-US" dirty="0"/>
              <a:t>Use Add (Calculate) Geometry Attributes Tool</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AD26FD33-7750-4BE1-82A1-7F2857DFCE7E}"/>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2735458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4722" y="1017263"/>
            <a:ext cx="4702129" cy="3799508"/>
          </a:xfrm>
        </p:spPr>
        <p:txBody>
          <a:bodyPr>
            <a:normAutofit/>
          </a:bodyPr>
          <a:lstStyle/>
          <a:p>
            <a:pPr>
              <a:buFont typeface="Courier New" panose="02070309020205020404" pitchFamily="49" charset="0"/>
              <a:buChar char="o"/>
            </a:pPr>
            <a:r>
              <a:rPr lang="en-US" dirty="0"/>
              <a:t>Joining non-spatial data and spatial data</a:t>
            </a:r>
          </a:p>
          <a:p>
            <a:pPr lvl="1">
              <a:buFont typeface="Wingdings" panose="05000000000000000000" pitchFamily="2" charset="2"/>
              <a:buChar char="ü"/>
            </a:pPr>
            <a:r>
              <a:rPr lang="en-US" b="1" dirty="0">
                <a:solidFill>
                  <a:srgbClr val="E3874F"/>
                </a:solidFill>
              </a:rPr>
              <a:t>Join</a:t>
            </a:r>
          </a:p>
          <a:p>
            <a:pPr lvl="2">
              <a:buFont typeface="Arial" panose="020B0604020202020204" pitchFamily="34" charset="0"/>
              <a:buChar char="•"/>
            </a:pPr>
            <a:r>
              <a:rPr lang="en-US" dirty="0"/>
              <a:t>Non-spatial data can be joined to spatial data as long as there is a common field between the data.</a:t>
            </a:r>
          </a:p>
          <a:p>
            <a:pPr lvl="2">
              <a:buFont typeface="Arial" panose="020B0604020202020204" pitchFamily="34" charset="0"/>
              <a:buChar char="•"/>
            </a:pPr>
            <a:r>
              <a:rPr lang="en-US" dirty="0"/>
              <a:t>Later, the joined fields can be used for analysis or to symbolize the features.</a:t>
            </a:r>
          </a:p>
          <a:p>
            <a:pPr lvl="2">
              <a:buFont typeface="Arial" panose="020B0604020202020204" pitchFamily="34" charset="0"/>
              <a:buChar char="•"/>
            </a:pPr>
            <a:r>
              <a:rPr lang="en-US" dirty="0"/>
              <a:t>Shared fields must have the same data type</a:t>
            </a:r>
          </a:p>
          <a:p>
            <a:pPr lvl="1">
              <a:buFont typeface="Wingdings" panose="05000000000000000000" pitchFamily="2" charset="2"/>
              <a:buChar char="ü"/>
            </a:pPr>
            <a:r>
              <a:rPr lang="en-US" b="1" dirty="0">
                <a:solidFill>
                  <a:srgbClr val="E3874F"/>
                </a:solidFill>
              </a:rPr>
              <a:t>Relate</a:t>
            </a:r>
          </a:p>
          <a:p>
            <a:pPr lvl="2">
              <a:buFont typeface="Arial" panose="020B0604020202020204" pitchFamily="34" charset="0"/>
              <a:buChar char="•"/>
            </a:pPr>
            <a:r>
              <a:rPr lang="en-US" dirty="0"/>
              <a:t>New fields are not added to table. However, a relationship is established.</a:t>
            </a:r>
          </a:p>
          <a:p>
            <a:pPr marL="0" indent="0">
              <a:buNone/>
            </a:pPr>
            <a:endParaRPr lang="en-US" dirty="0"/>
          </a:p>
        </p:txBody>
      </p:sp>
      <p:sp>
        <p:nvSpPr>
          <p:cNvPr id="2" name="Slide Number Placeholder 1">
            <a:extLst>
              <a:ext uri="{FF2B5EF4-FFF2-40B4-BE49-F238E27FC236}">
                <a16:creationId xmlns:a16="http://schemas.microsoft.com/office/drawing/2014/main" id="{BAC6704E-9AB0-40F2-8E1F-EE7804699DD8}"/>
              </a:ext>
            </a:extLst>
          </p:cNvPr>
          <p:cNvSpPr>
            <a:spLocks noGrp="1"/>
          </p:cNvSpPr>
          <p:nvPr>
            <p:ph type="sldNum" sz="quarter" idx="12"/>
          </p:nvPr>
        </p:nvSpPr>
        <p:spPr/>
        <p:txBody>
          <a:bodyPr/>
          <a:lstStyle/>
          <a:p>
            <a:fld id="{127DDC20-79C9-9647-820E-6D40A3D210C3}" type="slidenum">
              <a:rPr lang="en-US" smtClean="0"/>
              <a:pPr/>
              <a:t>18</a:t>
            </a:fld>
            <a:endParaRPr lang="en-US"/>
          </a:p>
        </p:txBody>
      </p:sp>
      <p:sp>
        <p:nvSpPr>
          <p:cNvPr id="6" name="Title 1">
            <a:extLst>
              <a:ext uri="{FF2B5EF4-FFF2-40B4-BE49-F238E27FC236}">
                <a16:creationId xmlns:a16="http://schemas.microsoft.com/office/drawing/2014/main" id="{7D3A1CF5-080F-41DA-8A02-BD72A4D6477F}"/>
              </a:ext>
            </a:extLst>
          </p:cNvPr>
          <p:cNvSpPr txBox="1">
            <a:spLocks/>
          </p:cNvSpPr>
          <p:nvPr/>
        </p:nvSpPr>
        <p:spPr>
          <a:xfrm>
            <a:off x="204722" y="19952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7" name="Straight Connector 6">
            <a:extLst>
              <a:ext uri="{FF2B5EF4-FFF2-40B4-BE49-F238E27FC236}">
                <a16:creationId xmlns:a16="http://schemas.microsoft.com/office/drawing/2014/main" id="{9198CFA0-2F18-4B06-83C5-8C5F434A5D0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8" name="Picture 7" descr="Image showing where is Joins and Relates">
            <a:extLst>
              <a:ext uri="{FF2B5EF4-FFF2-40B4-BE49-F238E27FC236}">
                <a16:creationId xmlns:a16="http://schemas.microsoft.com/office/drawing/2014/main" id="{9232B553-C81C-4717-B82A-639344BAA159}"/>
              </a:ext>
            </a:extLst>
          </p:cNvPr>
          <p:cNvPicPr>
            <a:picLocks noChangeAspect="1"/>
          </p:cNvPicPr>
          <p:nvPr/>
        </p:nvPicPr>
        <p:blipFill>
          <a:blip r:embed="rId3"/>
          <a:stretch>
            <a:fillRect/>
          </a:stretch>
        </p:blipFill>
        <p:spPr>
          <a:xfrm>
            <a:off x="4785696" y="2120929"/>
            <a:ext cx="3239182" cy="1521553"/>
          </a:xfrm>
          <a:prstGeom prst="rect">
            <a:avLst/>
          </a:prstGeom>
        </p:spPr>
      </p:pic>
    </p:spTree>
    <p:extLst>
      <p:ext uri="{BB962C8B-B14F-4D97-AF65-F5344CB8AC3E}">
        <p14:creationId xmlns:p14="http://schemas.microsoft.com/office/powerpoint/2010/main" val="2497581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61928" y="1147329"/>
            <a:ext cx="5442459" cy="3394472"/>
          </a:xfrm>
        </p:spPr>
        <p:txBody>
          <a:bodyPr/>
          <a:lstStyle/>
          <a:p>
            <a:pPr>
              <a:buFont typeface="Courier New" panose="02070309020205020404" pitchFamily="49" charset="0"/>
              <a:buChar char="o"/>
            </a:pPr>
            <a:r>
              <a:rPr lang="en-US" sz="2800" dirty="0"/>
              <a:t>Spatial joins</a:t>
            </a:r>
          </a:p>
          <a:p>
            <a:pPr lvl="1">
              <a:buFont typeface="Wingdings" panose="05000000000000000000" pitchFamily="2" charset="2"/>
              <a:buChar char="ü"/>
            </a:pPr>
            <a:r>
              <a:rPr lang="en-US" sz="2200" dirty="0"/>
              <a:t>Joins attributes based on spatial relationships</a:t>
            </a:r>
          </a:p>
        </p:txBody>
      </p:sp>
      <p:sp>
        <p:nvSpPr>
          <p:cNvPr id="2" name="Slide Number Placeholder 1">
            <a:extLst>
              <a:ext uri="{FF2B5EF4-FFF2-40B4-BE49-F238E27FC236}">
                <a16:creationId xmlns:a16="http://schemas.microsoft.com/office/drawing/2014/main" id="{2BEA8DBD-A8EE-479F-839C-0C0FC6B2F145}"/>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152400" y="2281057"/>
            <a:ext cx="2989411" cy="2056065"/>
          </a:xfrm>
          <a:prstGeom prst="rect">
            <a:avLst/>
          </a:prstGeom>
        </p:spPr>
      </p:pic>
      <p:pic>
        <p:nvPicPr>
          <p:cNvPr id="5" name="Picture 4" descr="Spatial Join"/>
          <p:cNvPicPr>
            <a:picLocks noChangeAspect="1"/>
          </p:cNvPicPr>
          <p:nvPr/>
        </p:nvPicPr>
        <p:blipFill>
          <a:blip r:embed="rId4"/>
          <a:stretch>
            <a:fillRect/>
          </a:stretch>
        </p:blipFill>
        <p:spPr>
          <a:xfrm>
            <a:off x="5811724" y="1766573"/>
            <a:ext cx="2053025" cy="3324853"/>
          </a:xfrm>
          <a:prstGeom prst="rect">
            <a:avLst/>
          </a:prstGeom>
        </p:spPr>
      </p:pic>
      <p:pic>
        <p:nvPicPr>
          <p:cNvPr id="6" name="Picture 5" descr="Attribute table after spatial join"/>
          <p:cNvPicPr>
            <a:picLocks noChangeAspect="1"/>
          </p:cNvPicPr>
          <p:nvPr/>
        </p:nvPicPr>
        <p:blipFill>
          <a:blip r:embed="rId5"/>
          <a:stretch>
            <a:fillRect/>
          </a:stretch>
        </p:blipFill>
        <p:spPr>
          <a:xfrm>
            <a:off x="2930614" y="3428999"/>
            <a:ext cx="2664245" cy="1485572"/>
          </a:xfrm>
          <a:prstGeom prst="rect">
            <a:avLst/>
          </a:prstGeom>
        </p:spPr>
      </p:pic>
      <p:sp>
        <p:nvSpPr>
          <p:cNvPr id="7" name="Title 1">
            <a:extLst>
              <a:ext uri="{FF2B5EF4-FFF2-40B4-BE49-F238E27FC236}">
                <a16:creationId xmlns:a16="http://schemas.microsoft.com/office/drawing/2014/main" id="{50705394-693B-4B6C-9E90-D2E61327C9D0}"/>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463A111A-E8DE-4611-BD8E-F000A0E3FC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60532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statistics for POP2000"/>
          <p:cNvPicPr>
            <a:picLocks noChangeAspect="1"/>
          </p:cNvPicPr>
          <p:nvPr/>
        </p:nvPicPr>
        <p:blipFill>
          <a:blip r:embed="rId3"/>
          <a:stretch>
            <a:fillRect/>
          </a:stretch>
        </p:blipFill>
        <p:spPr>
          <a:xfrm>
            <a:off x="1634161" y="2226623"/>
            <a:ext cx="4707713" cy="2315178"/>
          </a:xfrm>
          <a:prstGeom prst="rect">
            <a:avLst/>
          </a:prstGeom>
        </p:spPr>
      </p:pic>
      <p:sp>
        <p:nvSpPr>
          <p:cNvPr id="7" name="Title 1">
            <a:extLst>
              <a:ext uri="{FF2B5EF4-FFF2-40B4-BE49-F238E27FC236}">
                <a16:creationId xmlns:a16="http://schemas.microsoft.com/office/drawing/2014/main" id="{676FB16B-E415-4AD8-99A0-883E783434EE}"/>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F02466F1-09A3-4798-907C-B5040323C1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33A14EF-5665-44E7-A5DD-8DD49330136E}"/>
              </a:ext>
            </a:extLst>
          </p:cNvPr>
          <p:cNvSpPr txBox="1">
            <a:spLocks/>
          </p:cNvSpPr>
          <p:nvPr/>
        </p:nvSpPr>
        <p:spPr>
          <a:xfrm>
            <a:off x="161928" y="1147329"/>
            <a:ext cx="5442459"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Field Statistics</a:t>
            </a:r>
          </a:p>
          <a:p>
            <a:pPr lvl="1">
              <a:buFont typeface="Wingdings" panose="05000000000000000000" pitchFamily="2" charset="2"/>
              <a:buChar char="ü"/>
            </a:pPr>
            <a:r>
              <a:rPr lang="en-US" sz="2400" dirty="0"/>
              <a:t>Statistics for numeric fields</a:t>
            </a:r>
          </a:p>
        </p:txBody>
      </p:sp>
      <p:sp>
        <p:nvSpPr>
          <p:cNvPr id="2" name="Slide Number Placeholder 1">
            <a:extLst>
              <a:ext uri="{FF2B5EF4-FFF2-40B4-BE49-F238E27FC236}">
                <a16:creationId xmlns:a16="http://schemas.microsoft.com/office/drawing/2014/main" id="{BBA2DA7F-DE9F-4A06-A64E-378FF46F393F}"/>
              </a:ext>
            </a:extLst>
          </p:cNvPr>
          <p:cNvSpPr>
            <a:spLocks noGrp="1"/>
          </p:cNvSpPr>
          <p:nvPr>
            <p:ph type="sldNum" sz="quarter" idx="12"/>
          </p:nvPr>
        </p:nvSpPr>
        <p:spPr/>
        <p:txBody>
          <a:bodyPr/>
          <a:lstStyle/>
          <a:p>
            <a:fld id="{127DDC20-79C9-9647-820E-6D40A3D210C3}" type="slidenum">
              <a:rPr lang="en-US" smtClean="0"/>
              <a:pPr/>
              <a:t>20</a:t>
            </a:fld>
            <a:endParaRPr lang="en-US"/>
          </a:p>
        </p:txBody>
      </p:sp>
    </p:spTree>
    <p:extLst>
      <p:ext uri="{BB962C8B-B14F-4D97-AF65-F5344CB8AC3E}">
        <p14:creationId xmlns:p14="http://schemas.microsoft.com/office/powerpoint/2010/main" val="2957120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76FB16B-E415-4AD8-99A0-883E783434EE}"/>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F02466F1-09A3-4798-907C-B5040323C1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33A14EF-5665-44E7-A5DD-8DD49330136E}"/>
              </a:ext>
            </a:extLst>
          </p:cNvPr>
          <p:cNvSpPr txBox="1">
            <a:spLocks/>
          </p:cNvSpPr>
          <p:nvPr/>
        </p:nvSpPr>
        <p:spPr>
          <a:xfrm>
            <a:off x="161928" y="1147329"/>
            <a:ext cx="5442459"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Field Summary Statistics</a:t>
            </a:r>
          </a:p>
          <a:p>
            <a:pPr lvl="1">
              <a:buFont typeface="Wingdings" panose="05000000000000000000" pitchFamily="2" charset="2"/>
              <a:buChar char="ü"/>
            </a:pPr>
            <a:r>
              <a:rPr lang="en-US" sz="2400" dirty="0"/>
              <a:t>Statistics for numeric fields</a:t>
            </a:r>
          </a:p>
        </p:txBody>
      </p:sp>
      <p:pic>
        <p:nvPicPr>
          <p:cNvPr id="2" name="Picture 1" descr="Summary Statistics">
            <a:extLst>
              <a:ext uri="{FF2B5EF4-FFF2-40B4-BE49-F238E27FC236}">
                <a16:creationId xmlns:a16="http://schemas.microsoft.com/office/drawing/2014/main" id="{72414AF9-1BA5-41D9-A1C6-5CD3E0A3D22E}"/>
              </a:ext>
            </a:extLst>
          </p:cNvPr>
          <p:cNvPicPr>
            <a:picLocks noChangeAspect="1"/>
          </p:cNvPicPr>
          <p:nvPr/>
        </p:nvPicPr>
        <p:blipFill>
          <a:blip r:embed="rId3"/>
          <a:stretch>
            <a:fillRect/>
          </a:stretch>
        </p:blipFill>
        <p:spPr>
          <a:xfrm>
            <a:off x="564861" y="2571750"/>
            <a:ext cx="2771782" cy="2437368"/>
          </a:xfrm>
          <a:prstGeom prst="rect">
            <a:avLst/>
          </a:prstGeom>
        </p:spPr>
      </p:pic>
      <p:pic>
        <p:nvPicPr>
          <p:cNvPr id="3" name="Picture 2" descr="Attribute table after summary statistics">
            <a:extLst>
              <a:ext uri="{FF2B5EF4-FFF2-40B4-BE49-F238E27FC236}">
                <a16:creationId xmlns:a16="http://schemas.microsoft.com/office/drawing/2014/main" id="{B01D96C3-1048-451C-9056-1DB0C7FCE972}"/>
              </a:ext>
            </a:extLst>
          </p:cNvPr>
          <p:cNvPicPr>
            <a:picLocks noChangeAspect="1"/>
          </p:cNvPicPr>
          <p:nvPr/>
        </p:nvPicPr>
        <p:blipFill>
          <a:blip r:embed="rId4"/>
          <a:stretch>
            <a:fillRect/>
          </a:stretch>
        </p:blipFill>
        <p:spPr>
          <a:xfrm>
            <a:off x="4063352" y="2468853"/>
            <a:ext cx="3228387" cy="1813556"/>
          </a:xfrm>
          <a:prstGeom prst="rect">
            <a:avLst/>
          </a:prstGeom>
        </p:spPr>
      </p:pic>
      <p:sp>
        <p:nvSpPr>
          <p:cNvPr id="4" name="Rectangle: Rounded Corners 3">
            <a:extLst>
              <a:ext uri="{FF2B5EF4-FFF2-40B4-BE49-F238E27FC236}">
                <a16:creationId xmlns:a16="http://schemas.microsoft.com/office/drawing/2014/main" id="{B2077764-E717-477C-A434-12244AF2B56B}"/>
              </a:ext>
            </a:extLst>
          </p:cNvPr>
          <p:cNvSpPr/>
          <p:nvPr/>
        </p:nvSpPr>
        <p:spPr>
          <a:xfrm>
            <a:off x="808264" y="4541801"/>
            <a:ext cx="824593" cy="177242"/>
          </a:xfrm>
          <a:prstGeom prst="round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5" name="Slide Number Placeholder 4">
            <a:extLst>
              <a:ext uri="{FF2B5EF4-FFF2-40B4-BE49-F238E27FC236}">
                <a16:creationId xmlns:a16="http://schemas.microsoft.com/office/drawing/2014/main" id="{352F45AE-E9AB-49C1-9322-ED37BAB1BA81}"/>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3288866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76FB16B-E415-4AD8-99A0-883E783434EE}"/>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F02466F1-09A3-4798-907C-B5040323C1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33A14EF-5665-44E7-A5DD-8DD49330136E}"/>
              </a:ext>
            </a:extLst>
          </p:cNvPr>
          <p:cNvSpPr txBox="1">
            <a:spLocks/>
          </p:cNvSpPr>
          <p:nvPr/>
        </p:nvSpPr>
        <p:spPr>
          <a:xfrm>
            <a:off x="161928" y="1147329"/>
            <a:ext cx="5442459"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Field Summary Statistics</a:t>
            </a:r>
          </a:p>
          <a:p>
            <a:pPr lvl="1">
              <a:buFont typeface="Wingdings" panose="05000000000000000000" pitchFamily="2" charset="2"/>
              <a:buChar char="ü"/>
            </a:pPr>
            <a:r>
              <a:rPr lang="en-US" dirty="0"/>
              <a:t>Statistics for numeric fields</a:t>
            </a:r>
          </a:p>
        </p:txBody>
      </p:sp>
      <p:sp>
        <p:nvSpPr>
          <p:cNvPr id="4" name="Text Box 7">
            <a:extLst>
              <a:ext uri="{FF2B5EF4-FFF2-40B4-BE49-F238E27FC236}">
                <a16:creationId xmlns:a16="http://schemas.microsoft.com/office/drawing/2014/main" id="{08B6BF20-7646-4E1E-8BCD-A3B8700F4237}"/>
              </a:ext>
            </a:extLst>
          </p:cNvPr>
          <p:cNvSpPr txBox="1">
            <a:spLocks noChangeArrowheads="1"/>
          </p:cNvSpPr>
          <p:nvPr/>
        </p:nvSpPr>
        <p:spPr bwMode="auto">
          <a:xfrm>
            <a:off x="3398619" y="3120245"/>
            <a:ext cx="1637309" cy="436724"/>
          </a:xfrm>
          <a:prstGeom prst="rect">
            <a:avLst/>
          </a:prstGeom>
          <a:noFill/>
          <a:ln w="9525">
            <a:noFill/>
            <a:miter lim="800000"/>
            <a:headEnd/>
            <a:tailEnd/>
          </a:ln>
        </p:spPr>
        <p:txBody>
          <a:bodyPr wrap="none" lIns="62167" tIns="31084" rIns="62167" bIns="31084">
            <a:spAutoFit/>
          </a:bodyPr>
          <a:lstStyle/>
          <a:p>
            <a:pPr algn="ctr"/>
            <a:r>
              <a:rPr lang="en-US" sz="1215" dirty="0"/>
              <a:t>Tornadoes</a:t>
            </a:r>
            <a:br>
              <a:rPr lang="en-US" sz="1215" dirty="0"/>
            </a:br>
            <a:r>
              <a:rPr lang="en-US" sz="1215" dirty="0"/>
              <a:t>by Fujita scale (severity)</a:t>
            </a:r>
          </a:p>
        </p:txBody>
      </p:sp>
      <p:pic>
        <p:nvPicPr>
          <p:cNvPr id="5" name="Picture 4">
            <a:extLst>
              <a:ext uri="{FF2B5EF4-FFF2-40B4-BE49-F238E27FC236}">
                <a16:creationId xmlns:a16="http://schemas.microsoft.com/office/drawing/2014/main" id="{EFA26D14-4A5F-4B17-A275-729F48601D7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25080" y="2322638"/>
            <a:ext cx="3636904" cy="2501400"/>
          </a:xfrm>
          <a:prstGeom prst="rect">
            <a:avLst/>
          </a:prstGeom>
        </p:spPr>
      </p:pic>
      <p:pic>
        <p:nvPicPr>
          <p:cNvPr id="6" name="Picture 5" descr="Legend of F_SCALE">
            <a:extLst>
              <a:ext uri="{FF2B5EF4-FFF2-40B4-BE49-F238E27FC236}">
                <a16:creationId xmlns:a16="http://schemas.microsoft.com/office/drawing/2014/main" id="{2D94C19D-F494-4633-8105-0296988295E5}"/>
              </a:ext>
            </a:extLst>
          </p:cNvPr>
          <p:cNvPicPr>
            <a:picLocks noChangeAspect="1"/>
          </p:cNvPicPr>
          <p:nvPr/>
        </p:nvPicPr>
        <p:blipFill>
          <a:blip r:embed="rId4"/>
          <a:stretch>
            <a:fillRect/>
          </a:stretch>
        </p:blipFill>
        <p:spPr>
          <a:xfrm>
            <a:off x="3956816" y="3578153"/>
            <a:ext cx="520915" cy="836036"/>
          </a:xfrm>
          <a:prstGeom prst="rect">
            <a:avLst/>
          </a:prstGeom>
        </p:spPr>
      </p:pic>
      <p:pic>
        <p:nvPicPr>
          <p:cNvPr id="14" name="Picture 13" descr="Summary Statistics">
            <a:extLst>
              <a:ext uri="{FF2B5EF4-FFF2-40B4-BE49-F238E27FC236}">
                <a16:creationId xmlns:a16="http://schemas.microsoft.com/office/drawing/2014/main" id="{247682C7-7010-4CB1-9174-77A04FA506C3}"/>
              </a:ext>
            </a:extLst>
          </p:cNvPr>
          <p:cNvPicPr>
            <a:picLocks noChangeAspect="1"/>
          </p:cNvPicPr>
          <p:nvPr/>
        </p:nvPicPr>
        <p:blipFill>
          <a:blip r:embed="rId5"/>
          <a:stretch>
            <a:fillRect/>
          </a:stretch>
        </p:blipFill>
        <p:spPr>
          <a:xfrm>
            <a:off x="5290814" y="1100152"/>
            <a:ext cx="2763856" cy="2403913"/>
          </a:xfrm>
          <a:prstGeom prst="rect">
            <a:avLst/>
          </a:prstGeom>
        </p:spPr>
      </p:pic>
      <p:pic>
        <p:nvPicPr>
          <p:cNvPr id="16" name="Picture 15" descr="Attribute table after summary statistics">
            <a:extLst>
              <a:ext uri="{FF2B5EF4-FFF2-40B4-BE49-F238E27FC236}">
                <a16:creationId xmlns:a16="http://schemas.microsoft.com/office/drawing/2014/main" id="{B6ED3957-ACFD-4AB2-86AB-71DBF244C65C}"/>
              </a:ext>
            </a:extLst>
          </p:cNvPr>
          <p:cNvPicPr>
            <a:picLocks noChangeAspect="1"/>
          </p:cNvPicPr>
          <p:nvPr/>
        </p:nvPicPr>
        <p:blipFill>
          <a:blip r:embed="rId6"/>
          <a:stretch>
            <a:fillRect/>
          </a:stretch>
        </p:blipFill>
        <p:spPr>
          <a:xfrm>
            <a:off x="5267132" y="3556032"/>
            <a:ext cx="2800539" cy="1527567"/>
          </a:xfrm>
          <a:prstGeom prst="rect">
            <a:avLst/>
          </a:prstGeom>
        </p:spPr>
      </p:pic>
      <p:sp>
        <p:nvSpPr>
          <p:cNvPr id="2" name="Slide Number Placeholder 1">
            <a:extLst>
              <a:ext uri="{FF2B5EF4-FFF2-40B4-BE49-F238E27FC236}">
                <a16:creationId xmlns:a16="http://schemas.microsoft.com/office/drawing/2014/main" id="{F77D527F-F63F-4613-9C10-13AE2764D167}"/>
              </a:ext>
            </a:extLst>
          </p:cNvPr>
          <p:cNvSpPr>
            <a:spLocks noGrp="1"/>
          </p:cNvSpPr>
          <p:nvPr>
            <p:ph type="sldNum" sz="quarter" idx="12"/>
          </p:nvPr>
        </p:nvSpPr>
        <p:spPr/>
        <p:txBody>
          <a:bodyPr/>
          <a:lstStyle/>
          <a:p>
            <a:fld id="{127DDC20-79C9-9647-820E-6D40A3D210C3}" type="slidenum">
              <a:rPr lang="en-US" smtClean="0"/>
              <a:pPr/>
              <a:t>22</a:t>
            </a:fld>
            <a:endParaRPr lang="en-US"/>
          </a:p>
        </p:txBody>
      </p:sp>
    </p:spTree>
    <p:extLst>
      <p:ext uri="{BB962C8B-B14F-4D97-AF65-F5344CB8AC3E}">
        <p14:creationId xmlns:p14="http://schemas.microsoft.com/office/powerpoint/2010/main" val="2936360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7395" y="1152256"/>
            <a:ext cx="4989270" cy="2531101"/>
          </a:xfrm>
        </p:spPr>
        <p:txBody>
          <a:bodyPr>
            <a:normAutofit/>
          </a:bodyPr>
          <a:lstStyle/>
          <a:p>
            <a:pPr>
              <a:buFont typeface="Courier New" panose="02070309020205020404" pitchFamily="49" charset="0"/>
              <a:buChar char="o"/>
            </a:pPr>
            <a:r>
              <a:rPr lang="en-US" dirty="0"/>
              <a:t>Export an Attribute Data</a:t>
            </a:r>
          </a:p>
          <a:p>
            <a:pPr lvl="1">
              <a:buFont typeface="Wingdings" panose="05000000000000000000" pitchFamily="2" charset="2"/>
              <a:buChar char="ü"/>
            </a:pPr>
            <a:r>
              <a:rPr lang="en-US" dirty="0"/>
              <a:t>Types include: text, comma separated values (CSV), geodatabase tables, and </a:t>
            </a:r>
            <a:r>
              <a:rPr lang="en-US" dirty="0" err="1"/>
              <a:t>dBASE</a:t>
            </a:r>
            <a:r>
              <a:rPr lang="en-US" dirty="0"/>
              <a:t> tables </a:t>
            </a:r>
          </a:p>
          <a:p>
            <a:pPr lvl="1">
              <a:buFont typeface="Wingdings" panose="05000000000000000000" pitchFamily="2" charset="2"/>
              <a:buChar char="ü"/>
            </a:pPr>
            <a:r>
              <a:rPr lang="en-US" dirty="0"/>
              <a:t>Can analyze </a:t>
            </a:r>
            <a:r>
              <a:rPr lang="en-US" dirty="0" err="1"/>
              <a:t>aspatial</a:t>
            </a:r>
            <a:r>
              <a:rPr lang="en-US" dirty="0"/>
              <a:t> or tabulated data outside of GIS software</a:t>
            </a:r>
          </a:p>
        </p:txBody>
      </p:sp>
      <p:sp>
        <p:nvSpPr>
          <p:cNvPr id="2" name="Slide Number Placeholder 1">
            <a:extLst>
              <a:ext uri="{FF2B5EF4-FFF2-40B4-BE49-F238E27FC236}">
                <a16:creationId xmlns:a16="http://schemas.microsoft.com/office/drawing/2014/main" id="{2D2453BE-B6C2-49F6-AC66-42E545433DF4}"/>
              </a:ext>
            </a:extLst>
          </p:cNvPr>
          <p:cNvSpPr>
            <a:spLocks noGrp="1"/>
          </p:cNvSpPr>
          <p:nvPr>
            <p:ph type="sldNum" sz="quarter" idx="12"/>
          </p:nvPr>
        </p:nvSpPr>
        <p:spPr/>
        <p:txBody>
          <a:bodyPr/>
          <a:lstStyle/>
          <a:p>
            <a:fld id="{127DDC20-79C9-9647-820E-6D40A3D210C3}" type="slidenum">
              <a:rPr lang="en-US" smtClean="0"/>
              <a:pPr/>
              <a:t>23</a:t>
            </a:fld>
            <a:endParaRPr lang="en-US"/>
          </a:p>
        </p:txBody>
      </p:sp>
      <p:pic>
        <p:nvPicPr>
          <p:cNvPr id="5" name="Picture 4" descr="Export an attribute data tool menu"/>
          <p:cNvPicPr>
            <a:picLocks noChangeAspect="1"/>
          </p:cNvPicPr>
          <p:nvPr/>
        </p:nvPicPr>
        <p:blipFill>
          <a:blip r:embed="rId3"/>
          <a:stretch>
            <a:fillRect/>
          </a:stretch>
        </p:blipFill>
        <p:spPr>
          <a:xfrm>
            <a:off x="457248" y="4327960"/>
            <a:ext cx="5852255" cy="604519"/>
          </a:xfrm>
          <a:prstGeom prst="rect">
            <a:avLst/>
          </a:prstGeom>
        </p:spPr>
      </p:pic>
      <p:pic>
        <p:nvPicPr>
          <p:cNvPr id="6" name="Picture 5" descr="attribute data in excel"/>
          <p:cNvPicPr>
            <a:picLocks noChangeAspect="1"/>
          </p:cNvPicPr>
          <p:nvPr/>
        </p:nvPicPr>
        <p:blipFill>
          <a:blip r:embed="rId4"/>
          <a:stretch>
            <a:fillRect/>
          </a:stretch>
        </p:blipFill>
        <p:spPr>
          <a:xfrm>
            <a:off x="5283974" y="1144500"/>
            <a:ext cx="2725540" cy="2746058"/>
          </a:xfrm>
          <a:prstGeom prst="rect">
            <a:avLst/>
          </a:prstGeom>
        </p:spPr>
      </p:pic>
      <p:sp>
        <p:nvSpPr>
          <p:cNvPr id="8" name="Title 1">
            <a:extLst>
              <a:ext uri="{FF2B5EF4-FFF2-40B4-BE49-F238E27FC236}">
                <a16:creationId xmlns:a16="http://schemas.microsoft.com/office/drawing/2014/main" id="{6808558B-B8C6-436E-9528-B5E0AFDAE245}"/>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9" name="Straight Connector 8">
            <a:extLst>
              <a:ext uri="{FF2B5EF4-FFF2-40B4-BE49-F238E27FC236}">
                <a16:creationId xmlns:a16="http://schemas.microsoft.com/office/drawing/2014/main" id="{D500B2C6-C8CE-4A4F-B85D-C0FD6F6B238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8284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3693319"/>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Logical Operators</a:t>
            </a:r>
            <a:endParaRPr lang="en-US" sz="2000" u="sng" dirty="0"/>
          </a:p>
          <a:p>
            <a:pPr>
              <a:lnSpc>
                <a:spcPct val="90000"/>
              </a:lnSpc>
            </a:pPr>
            <a:r>
              <a:rPr lang="en-US" sz="2000" dirty="0"/>
              <a:t>Equal: =</a:t>
            </a:r>
          </a:p>
          <a:p>
            <a:pPr>
              <a:lnSpc>
                <a:spcPct val="90000"/>
              </a:lnSpc>
            </a:pPr>
            <a:r>
              <a:rPr lang="en-US" sz="2000" dirty="0"/>
              <a:t>Not Equal: &lt;&gt;</a:t>
            </a:r>
          </a:p>
          <a:p>
            <a:pPr>
              <a:lnSpc>
                <a:spcPct val="90000"/>
              </a:lnSpc>
            </a:pPr>
            <a:r>
              <a:rPr lang="en-US" sz="2000" dirty="0"/>
              <a:t>Greater Than: &gt;</a:t>
            </a:r>
          </a:p>
          <a:p>
            <a:pPr>
              <a:lnSpc>
                <a:spcPct val="90000"/>
              </a:lnSpc>
            </a:pPr>
            <a:r>
              <a:rPr lang="en-US" sz="2000" dirty="0"/>
              <a:t>Greater Than or Equal To: &gt;=</a:t>
            </a:r>
          </a:p>
          <a:p>
            <a:pPr>
              <a:lnSpc>
                <a:spcPct val="90000"/>
              </a:lnSpc>
            </a:pPr>
            <a:r>
              <a:rPr lang="en-US" sz="2000" dirty="0"/>
              <a:t>Less Than: &lt;</a:t>
            </a:r>
          </a:p>
          <a:p>
            <a:pPr>
              <a:lnSpc>
                <a:spcPct val="90000"/>
              </a:lnSpc>
            </a:pPr>
            <a:r>
              <a:rPr lang="en-US" sz="2000" dirty="0"/>
              <a:t>Less Than or Equal To: &lt;=</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24</a:t>
            </a:fld>
            <a:endParaRPr lang="en-US"/>
          </a:p>
        </p:txBody>
      </p:sp>
      <p:pic>
        <p:nvPicPr>
          <p:cNvPr id="12" name="Picture 11" descr="Table&#10;&#10;Description automatically generated">
            <a:extLst>
              <a:ext uri="{FF2B5EF4-FFF2-40B4-BE49-F238E27FC236}">
                <a16:creationId xmlns:a16="http://schemas.microsoft.com/office/drawing/2014/main" id="{833690F3-FA65-4077-8FDE-D0B4EDEBC8B6}"/>
              </a:ext>
            </a:extLst>
          </p:cNvPr>
          <p:cNvPicPr>
            <a:picLocks noChangeAspect="1"/>
          </p:cNvPicPr>
          <p:nvPr/>
        </p:nvPicPr>
        <p:blipFill rotWithShape="1">
          <a:blip r:embed="rId3"/>
          <a:srcRect r="50000"/>
          <a:stretch/>
        </p:blipFill>
        <p:spPr>
          <a:xfrm>
            <a:off x="3947098" y="2038290"/>
            <a:ext cx="3128820" cy="2847338"/>
          </a:xfrm>
          <a:prstGeom prst="rect">
            <a:avLst/>
          </a:prstGeom>
        </p:spPr>
      </p:pic>
      <p:sp>
        <p:nvSpPr>
          <p:cNvPr id="13" name="TextBox 12">
            <a:extLst>
              <a:ext uri="{FF2B5EF4-FFF2-40B4-BE49-F238E27FC236}">
                <a16:creationId xmlns:a16="http://schemas.microsoft.com/office/drawing/2014/main" id="{C916F155-25F1-44BF-A511-5935F01B8994}"/>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0" name="Title 1">
            <a:extLst>
              <a:ext uri="{FF2B5EF4-FFF2-40B4-BE49-F238E27FC236}">
                <a16:creationId xmlns:a16="http://schemas.microsoft.com/office/drawing/2014/main" id="{A751BE4D-CE0F-4490-A88B-F436BDA9E6A7}"/>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57452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3693319"/>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Logical Operators</a:t>
            </a:r>
            <a:endParaRPr lang="en-US" sz="2000" u="sng" dirty="0"/>
          </a:p>
          <a:p>
            <a:pPr>
              <a:lnSpc>
                <a:spcPct val="90000"/>
              </a:lnSpc>
            </a:pPr>
            <a:r>
              <a:rPr lang="en-US" sz="2000" dirty="0"/>
              <a:t>Equal: =</a:t>
            </a:r>
          </a:p>
          <a:p>
            <a:pPr>
              <a:lnSpc>
                <a:spcPct val="90000"/>
              </a:lnSpc>
            </a:pPr>
            <a:r>
              <a:rPr lang="en-US" sz="2000" dirty="0"/>
              <a:t>Not Equal: &lt;&gt;</a:t>
            </a:r>
          </a:p>
          <a:p>
            <a:pPr>
              <a:lnSpc>
                <a:spcPct val="90000"/>
              </a:lnSpc>
            </a:pPr>
            <a:r>
              <a:rPr lang="en-US" sz="2000" dirty="0"/>
              <a:t>Greater Than: &gt;</a:t>
            </a:r>
          </a:p>
          <a:p>
            <a:pPr>
              <a:lnSpc>
                <a:spcPct val="90000"/>
              </a:lnSpc>
            </a:pPr>
            <a:r>
              <a:rPr lang="en-US" sz="2000" dirty="0"/>
              <a:t>Greater Than or Equal To: &gt;=</a:t>
            </a:r>
          </a:p>
          <a:p>
            <a:pPr>
              <a:lnSpc>
                <a:spcPct val="90000"/>
              </a:lnSpc>
            </a:pPr>
            <a:r>
              <a:rPr lang="en-US" sz="2000" dirty="0"/>
              <a:t>Less Than: &lt;</a:t>
            </a:r>
          </a:p>
          <a:p>
            <a:pPr>
              <a:lnSpc>
                <a:spcPct val="90000"/>
              </a:lnSpc>
            </a:pPr>
            <a:r>
              <a:rPr lang="en-US" sz="2000" dirty="0"/>
              <a:t>Less Than or Equal To: &lt;=</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25</a:t>
            </a:fld>
            <a:endParaRPr lang="en-US"/>
          </a:p>
        </p:txBody>
      </p:sp>
      <p:pic>
        <p:nvPicPr>
          <p:cNvPr id="12" name="Picture 11" descr="Table&#10;&#10;Description automatically generated">
            <a:extLst>
              <a:ext uri="{FF2B5EF4-FFF2-40B4-BE49-F238E27FC236}">
                <a16:creationId xmlns:a16="http://schemas.microsoft.com/office/drawing/2014/main" id="{833690F3-FA65-4077-8FDE-D0B4EDEBC8B6}"/>
              </a:ext>
            </a:extLst>
          </p:cNvPr>
          <p:cNvPicPr>
            <a:picLocks noChangeAspect="1"/>
          </p:cNvPicPr>
          <p:nvPr/>
        </p:nvPicPr>
        <p:blipFill rotWithShape="1">
          <a:blip r:embed="rId3"/>
          <a:srcRect r="50000"/>
          <a:stretch/>
        </p:blipFill>
        <p:spPr>
          <a:xfrm>
            <a:off x="3947098" y="2038290"/>
            <a:ext cx="3128820" cy="2847338"/>
          </a:xfrm>
          <a:prstGeom prst="rect">
            <a:avLst/>
          </a:prstGeom>
        </p:spPr>
      </p:pic>
      <p:sp>
        <p:nvSpPr>
          <p:cNvPr id="3" name="TextBox 2">
            <a:extLst>
              <a:ext uri="{FF2B5EF4-FFF2-40B4-BE49-F238E27FC236}">
                <a16:creationId xmlns:a16="http://schemas.microsoft.com/office/drawing/2014/main" id="{5F9C1120-9027-4ABE-9968-6F97524F9E13}"/>
              </a:ext>
            </a:extLst>
          </p:cNvPr>
          <p:cNvSpPr txBox="1"/>
          <p:nvPr/>
        </p:nvSpPr>
        <p:spPr>
          <a:xfrm>
            <a:off x="6067169" y="2113005"/>
            <a:ext cx="2086232" cy="369332"/>
          </a:xfrm>
          <a:prstGeom prst="rect">
            <a:avLst/>
          </a:prstGeom>
          <a:noFill/>
        </p:spPr>
        <p:txBody>
          <a:bodyPr wrap="square" rtlCol="0">
            <a:spAutoFit/>
          </a:bodyPr>
          <a:lstStyle/>
          <a:p>
            <a:r>
              <a:rPr lang="en-US" dirty="0" err="1">
                <a:solidFill>
                  <a:schemeClr val="accent4">
                    <a:lumMod val="75000"/>
                  </a:schemeClr>
                </a:solidFill>
              </a:rPr>
              <a:t>Landuse</a:t>
            </a:r>
            <a:r>
              <a:rPr lang="en-US" dirty="0">
                <a:solidFill>
                  <a:schemeClr val="accent4">
                    <a:lumMod val="75000"/>
                  </a:schemeClr>
                </a:solidFill>
              </a:rPr>
              <a:t> = Urban?</a:t>
            </a:r>
          </a:p>
        </p:txBody>
      </p:sp>
      <p:sp>
        <p:nvSpPr>
          <p:cNvPr id="5" name="Rectangle 4" descr="Rectangle box">
            <a:extLst>
              <a:ext uri="{FF2B5EF4-FFF2-40B4-BE49-F238E27FC236}">
                <a16:creationId xmlns:a16="http://schemas.microsoft.com/office/drawing/2014/main" id="{D7337BAA-6980-4C5A-86B5-797CD8C378BF}"/>
              </a:ext>
            </a:extLst>
          </p:cNvPr>
          <p:cNvSpPr/>
          <p:nvPr/>
        </p:nvSpPr>
        <p:spPr>
          <a:xfrm>
            <a:off x="3840391" y="2989472"/>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descr="Rectangle box">
            <a:extLst>
              <a:ext uri="{FF2B5EF4-FFF2-40B4-BE49-F238E27FC236}">
                <a16:creationId xmlns:a16="http://schemas.microsoft.com/office/drawing/2014/main" id="{724314E0-5C75-4DBB-B4C3-044D6FABA50C}"/>
              </a:ext>
            </a:extLst>
          </p:cNvPr>
          <p:cNvSpPr/>
          <p:nvPr/>
        </p:nvSpPr>
        <p:spPr>
          <a:xfrm>
            <a:off x="3830054" y="3988748"/>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descr="Rectangle box">
            <a:extLst>
              <a:ext uri="{FF2B5EF4-FFF2-40B4-BE49-F238E27FC236}">
                <a16:creationId xmlns:a16="http://schemas.microsoft.com/office/drawing/2014/main" id="{E0328C50-7BC8-4800-9FF5-D59C566B6B07}"/>
              </a:ext>
            </a:extLst>
          </p:cNvPr>
          <p:cNvSpPr/>
          <p:nvPr/>
        </p:nvSpPr>
        <p:spPr>
          <a:xfrm>
            <a:off x="3855109" y="4533305"/>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6B8516A-A611-4A1C-BE3A-6648A236CD05}"/>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F6B89F32-244B-4A84-AC51-83C1DECA37C5}"/>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158393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13" grpId="0" animBg="1"/>
      <p:bldP spid="1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26</a:t>
            </a:fld>
            <a:endParaRPr lang="en-US"/>
          </a:p>
        </p:txBody>
      </p:sp>
      <p:pic>
        <p:nvPicPr>
          <p:cNvPr id="6" name="Picture 5" descr="Table&#10;&#10;Description automatically generated">
            <a:extLst>
              <a:ext uri="{FF2B5EF4-FFF2-40B4-BE49-F238E27FC236}">
                <a16:creationId xmlns:a16="http://schemas.microsoft.com/office/drawing/2014/main" id="{3CE9F8C1-C14C-47E0-91A6-A82F188DB721}"/>
              </a:ext>
            </a:extLst>
          </p:cNvPr>
          <p:cNvPicPr>
            <a:picLocks noChangeAspect="1"/>
          </p:cNvPicPr>
          <p:nvPr/>
        </p:nvPicPr>
        <p:blipFill rotWithShape="1">
          <a:blip r:embed="rId3"/>
          <a:srcRect l="50000"/>
          <a:stretch/>
        </p:blipFill>
        <p:spPr>
          <a:xfrm>
            <a:off x="3981910" y="1428874"/>
            <a:ext cx="3449666" cy="3139320"/>
          </a:xfrm>
          <a:prstGeom prst="rect">
            <a:avLst/>
          </a:prstGeom>
        </p:spPr>
      </p:pic>
      <p:sp>
        <p:nvSpPr>
          <p:cNvPr id="7" name="TextBox 6">
            <a:extLst>
              <a:ext uri="{FF2B5EF4-FFF2-40B4-BE49-F238E27FC236}">
                <a16:creationId xmlns:a16="http://schemas.microsoft.com/office/drawing/2014/main" id="{FD322D96-2EF4-4FC7-934A-2F5857AA7944}"/>
              </a:ext>
            </a:extLst>
          </p:cNvPr>
          <p:cNvSpPr txBox="1"/>
          <p:nvPr/>
        </p:nvSpPr>
        <p:spPr>
          <a:xfrm>
            <a:off x="5733535" y="1105708"/>
            <a:ext cx="2419865" cy="646331"/>
          </a:xfrm>
          <a:prstGeom prst="rect">
            <a:avLst/>
          </a:prstGeom>
          <a:noFill/>
        </p:spPr>
        <p:txBody>
          <a:bodyPr wrap="square" rtlCol="0">
            <a:spAutoFit/>
          </a:bodyPr>
          <a:lstStyle/>
          <a:p>
            <a:r>
              <a:rPr lang="en-US" dirty="0">
                <a:solidFill>
                  <a:schemeClr val="accent4">
                    <a:lumMod val="75000"/>
                  </a:schemeClr>
                </a:solidFill>
              </a:rPr>
              <a:t>(</a:t>
            </a:r>
            <a:r>
              <a:rPr lang="en-US" dirty="0" err="1">
                <a:solidFill>
                  <a:schemeClr val="accent4">
                    <a:lumMod val="75000"/>
                  </a:schemeClr>
                </a:solidFill>
              </a:rPr>
              <a:t>Landuse</a:t>
            </a:r>
            <a:r>
              <a:rPr lang="en-US" dirty="0">
                <a:solidFill>
                  <a:schemeClr val="accent4">
                    <a:lumMod val="75000"/>
                  </a:schemeClr>
                </a:solidFill>
              </a:rPr>
              <a:t> = Urban) AND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10" name="Rectangle 9" descr="Rectangle box">
            <a:extLst>
              <a:ext uri="{FF2B5EF4-FFF2-40B4-BE49-F238E27FC236}">
                <a16:creationId xmlns:a16="http://schemas.microsoft.com/office/drawing/2014/main" id="{3B6A24A8-A8E1-4C57-8A3D-938FA6BF99C9}"/>
              </a:ext>
            </a:extLst>
          </p:cNvPr>
          <p:cNvSpPr/>
          <p:nvPr/>
        </p:nvSpPr>
        <p:spPr>
          <a:xfrm>
            <a:off x="3981910" y="4226011"/>
            <a:ext cx="3605139" cy="342183"/>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8D400CD-D363-4D8C-A672-3BF5C52A7BF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1" name="Title 1">
            <a:extLst>
              <a:ext uri="{FF2B5EF4-FFF2-40B4-BE49-F238E27FC236}">
                <a16:creationId xmlns:a16="http://schemas.microsoft.com/office/drawing/2014/main" id="{88A9A058-6F16-4567-B389-FCA88D4C884F}"/>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477492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27</a:t>
            </a:fld>
            <a:endParaRPr lang="en-US"/>
          </a:p>
        </p:txBody>
      </p:sp>
      <p:pic>
        <p:nvPicPr>
          <p:cNvPr id="5" name="Picture 4" descr="Table&#10;&#10;Description automatically generated">
            <a:extLst>
              <a:ext uri="{FF2B5EF4-FFF2-40B4-BE49-F238E27FC236}">
                <a16:creationId xmlns:a16="http://schemas.microsoft.com/office/drawing/2014/main" id="{6F5660FC-526C-434F-A20F-E78F6DA96575}"/>
              </a:ext>
            </a:extLst>
          </p:cNvPr>
          <p:cNvPicPr>
            <a:picLocks noChangeAspect="1"/>
          </p:cNvPicPr>
          <p:nvPr/>
        </p:nvPicPr>
        <p:blipFill rotWithShape="1">
          <a:blip r:embed="rId3"/>
          <a:srcRect r="50510"/>
          <a:stretch/>
        </p:blipFill>
        <p:spPr>
          <a:xfrm>
            <a:off x="4114800" y="1628551"/>
            <a:ext cx="3318283" cy="3020824"/>
          </a:xfrm>
          <a:prstGeom prst="rect">
            <a:avLst/>
          </a:prstGeom>
        </p:spPr>
      </p:pic>
      <p:sp>
        <p:nvSpPr>
          <p:cNvPr id="10" name="TextBox 9">
            <a:extLst>
              <a:ext uri="{FF2B5EF4-FFF2-40B4-BE49-F238E27FC236}">
                <a16:creationId xmlns:a16="http://schemas.microsoft.com/office/drawing/2014/main" id="{43FDB22A-641E-4C7E-BB37-59F95DA5F7B6}"/>
              </a:ext>
            </a:extLst>
          </p:cNvPr>
          <p:cNvSpPr txBox="1"/>
          <p:nvPr/>
        </p:nvSpPr>
        <p:spPr>
          <a:xfrm>
            <a:off x="5733535" y="1105708"/>
            <a:ext cx="2419865" cy="646331"/>
          </a:xfrm>
          <a:prstGeom prst="rect">
            <a:avLst/>
          </a:prstGeom>
          <a:noFill/>
        </p:spPr>
        <p:txBody>
          <a:bodyPr wrap="square" rtlCol="0">
            <a:spAutoFit/>
          </a:bodyPr>
          <a:lstStyle/>
          <a:p>
            <a:r>
              <a:rPr lang="en-US" dirty="0">
                <a:solidFill>
                  <a:schemeClr val="accent4">
                    <a:lumMod val="75000"/>
                  </a:schemeClr>
                </a:solidFill>
              </a:rPr>
              <a:t>(</a:t>
            </a:r>
            <a:r>
              <a:rPr lang="en-US" dirty="0" err="1">
                <a:solidFill>
                  <a:schemeClr val="accent4">
                    <a:lumMod val="75000"/>
                  </a:schemeClr>
                </a:solidFill>
              </a:rPr>
              <a:t>Landuse</a:t>
            </a:r>
            <a:r>
              <a:rPr lang="en-US" dirty="0">
                <a:solidFill>
                  <a:schemeClr val="accent4">
                    <a:lumMod val="75000"/>
                  </a:schemeClr>
                </a:solidFill>
              </a:rPr>
              <a:t> = Urban) OR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7" name="Rectangle 6" descr="Rectangle box">
            <a:extLst>
              <a:ext uri="{FF2B5EF4-FFF2-40B4-BE49-F238E27FC236}">
                <a16:creationId xmlns:a16="http://schemas.microsoft.com/office/drawing/2014/main" id="{8D1E3156-044A-4CF5-9E17-A8B415976D63}"/>
              </a:ext>
            </a:extLst>
          </p:cNvPr>
          <p:cNvSpPr/>
          <p:nvPr/>
        </p:nvSpPr>
        <p:spPr>
          <a:xfrm>
            <a:off x="3991232" y="2670524"/>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1" name="Rectangle 10" descr="Rectangle box">
            <a:extLst>
              <a:ext uri="{FF2B5EF4-FFF2-40B4-BE49-F238E27FC236}">
                <a16:creationId xmlns:a16="http://schemas.microsoft.com/office/drawing/2014/main" id="{9F1A0161-35BE-4B82-A957-D87DF39D823E}"/>
              </a:ext>
            </a:extLst>
          </p:cNvPr>
          <p:cNvSpPr/>
          <p:nvPr/>
        </p:nvSpPr>
        <p:spPr>
          <a:xfrm>
            <a:off x="4040658" y="3779766"/>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2" name="Rectangle 11" descr="Rectangle box">
            <a:extLst>
              <a:ext uri="{FF2B5EF4-FFF2-40B4-BE49-F238E27FC236}">
                <a16:creationId xmlns:a16="http://schemas.microsoft.com/office/drawing/2014/main" id="{7AC2D419-5EE5-415B-B085-92ED3CF26B03}"/>
              </a:ext>
            </a:extLst>
          </p:cNvPr>
          <p:cNvSpPr/>
          <p:nvPr/>
        </p:nvSpPr>
        <p:spPr>
          <a:xfrm>
            <a:off x="4040658" y="4349127"/>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3" name="Rectangle 12" descr="Rectangle box">
            <a:extLst>
              <a:ext uri="{FF2B5EF4-FFF2-40B4-BE49-F238E27FC236}">
                <a16:creationId xmlns:a16="http://schemas.microsoft.com/office/drawing/2014/main" id="{610A4656-6041-4970-8531-326A061992D4}"/>
              </a:ext>
            </a:extLst>
          </p:cNvPr>
          <p:cNvSpPr/>
          <p:nvPr/>
        </p:nvSpPr>
        <p:spPr>
          <a:xfrm>
            <a:off x="3991231" y="2947989"/>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4" name="Rectangle 13" descr="Rectangle box">
            <a:extLst>
              <a:ext uri="{FF2B5EF4-FFF2-40B4-BE49-F238E27FC236}">
                <a16:creationId xmlns:a16="http://schemas.microsoft.com/office/drawing/2014/main" id="{0C5D9E5D-856E-4B2D-B629-1766847B7B0F}"/>
              </a:ext>
            </a:extLst>
          </p:cNvPr>
          <p:cNvSpPr/>
          <p:nvPr/>
        </p:nvSpPr>
        <p:spPr>
          <a:xfrm>
            <a:off x="4053014" y="3488868"/>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5" name="TextBox 14">
            <a:extLst>
              <a:ext uri="{FF2B5EF4-FFF2-40B4-BE49-F238E27FC236}">
                <a16:creationId xmlns:a16="http://schemas.microsoft.com/office/drawing/2014/main" id="{E1075805-BDA6-4C89-AB17-CCF6B841234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2CE9BDBE-0346-44E3-B1FA-76997FD96378}"/>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3224376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animBg="1"/>
      <p:bldP spid="11" grpId="0" animBg="1"/>
      <p:bldP spid="12" grpId="0" animBg="1"/>
      <p:bldP spid="13" grpId="0" animBg="1"/>
      <p:bldP spid="1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28</a:t>
            </a:fld>
            <a:endParaRPr lang="en-US"/>
          </a:p>
        </p:txBody>
      </p:sp>
      <p:pic>
        <p:nvPicPr>
          <p:cNvPr id="7" name="Picture 6" descr="Table&#10;&#10;Description automatically generated">
            <a:extLst>
              <a:ext uri="{FF2B5EF4-FFF2-40B4-BE49-F238E27FC236}">
                <a16:creationId xmlns:a16="http://schemas.microsoft.com/office/drawing/2014/main" id="{D7698F89-1F8E-4767-8CAD-A823ABB9DB97}"/>
              </a:ext>
            </a:extLst>
          </p:cNvPr>
          <p:cNvPicPr>
            <a:picLocks noChangeAspect="1"/>
          </p:cNvPicPr>
          <p:nvPr/>
        </p:nvPicPr>
        <p:blipFill rotWithShape="1">
          <a:blip r:embed="rId3"/>
          <a:srcRect l="50765"/>
          <a:stretch/>
        </p:blipFill>
        <p:spPr>
          <a:xfrm>
            <a:off x="4357086" y="1628552"/>
            <a:ext cx="3081587" cy="2819880"/>
          </a:xfrm>
          <a:prstGeom prst="rect">
            <a:avLst/>
          </a:prstGeom>
        </p:spPr>
      </p:pic>
      <p:sp>
        <p:nvSpPr>
          <p:cNvPr id="10" name="TextBox 9">
            <a:extLst>
              <a:ext uri="{FF2B5EF4-FFF2-40B4-BE49-F238E27FC236}">
                <a16:creationId xmlns:a16="http://schemas.microsoft.com/office/drawing/2014/main" id="{0FA214C0-BC84-47E7-AEEA-BF52801FEB1A}"/>
              </a:ext>
            </a:extLst>
          </p:cNvPr>
          <p:cNvSpPr txBox="1"/>
          <p:nvPr/>
        </p:nvSpPr>
        <p:spPr>
          <a:xfrm>
            <a:off x="5511115" y="1105708"/>
            <a:ext cx="2642286" cy="369332"/>
          </a:xfrm>
          <a:prstGeom prst="rect">
            <a:avLst/>
          </a:prstGeom>
          <a:noFill/>
        </p:spPr>
        <p:txBody>
          <a:bodyPr wrap="square" rtlCol="0">
            <a:spAutoFit/>
          </a:bodyPr>
          <a:lstStyle/>
          <a:p>
            <a:r>
              <a:rPr lang="en-US" dirty="0">
                <a:solidFill>
                  <a:schemeClr val="accent4">
                    <a:lumMod val="75000"/>
                  </a:schemeClr>
                </a:solidFill>
              </a:rPr>
              <a:t>NOT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11" name="Rectangle 10" descr="Rectangle box">
            <a:extLst>
              <a:ext uri="{FF2B5EF4-FFF2-40B4-BE49-F238E27FC236}">
                <a16:creationId xmlns:a16="http://schemas.microsoft.com/office/drawing/2014/main" id="{A81FEC20-5D69-4DAA-A5FB-997D25C9C36B}"/>
              </a:ext>
            </a:extLst>
          </p:cNvPr>
          <p:cNvSpPr/>
          <p:nvPr/>
        </p:nvSpPr>
        <p:spPr>
          <a:xfrm>
            <a:off x="4191000" y="2559393"/>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ectangle 11" descr="Rectangle box">
            <a:extLst>
              <a:ext uri="{FF2B5EF4-FFF2-40B4-BE49-F238E27FC236}">
                <a16:creationId xmlns:a16="http://schemas.microsoft.com/office/drawing/2014/main" id="{35E8D242-D012-4CD4-9669-7D3781847E62}"/>
              </a:ext>
            </a:extLst>
          </p:cNvPr>
          <p:cNvSpPr/>
          <p:nvPr/>
        </p:nvSpPr>
        <p:spPr>
          <a:xfrm>
            <a:off x="4189970" y="3088200"/>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descr="Rectangle box">
            <a:extLst>
              <a:ext uri="{FF2B5EF4-FFF2-40B4-BE49-F238E27FC236}">
                <a16:creationId xmlns:a16="http://schemas.microsoft.com/office/drawing/2014/main" id="{27023768-D068-49E0-8683-879C599008CA}"/>
              </a:ext>
            </a:extLst>
          </p:cNvPr>
          <p:cNvSpPr/>
          <p:nvPr/>
        </p:nvSpPr>
        <p:spPr>
          <a:xfrm>
            <a:off x="4197495" y="3623997"/>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descr="Rectangle box">
            <a:extLst>
              <a:ext uri="{FF2B5EF4-FFF2-40B4-BE49-F238E27FC236}">
                <a16:creationId xmlns:a16="http://schemas.microsoft.com/office/drawing/2014/main" id="{7D3C19E1-0E7A-4E54-8B1A-01246700FE91}"/>
              </a:ext>
            </a:extLst>
          </p:cNvPr>
          <p:cNvSpPr/>
          <p:nvPr/>
        </p:nvSpPr>
        <p:spPr>
          <a:xfrm>
            <a:off x="4202327" y="3894864"/>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335E9D9-7A7C-4F88-9DEF-5392EBECE761}"/>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64583571-EB7C-4E5A-A557-2CD0585943D1}"/>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1146335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P spid="12" grpId="0" animBg="1"/>
      <p:bldP spid="13" grpId="0" animBg="1"/>
      <p:bldP spid="1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710830"/>
            <a:ext cx="4522093" cy="2881110"/>
          </a:xfrm>
        </p:spPr>
        <p:txBody>
          <a:bodyPr>
            <a:normAutofit/>
          </a:bodyPr>
          <a:lstStyle/>
          <a:p>
            <a:pPr lvl="1">
              <a:buFont typeface="Wingdings" panose="05000000000000000000" pitchFamily="2" charset="2"/>
              <a:buChar char="ü"/>
            </a:pPr>
            <a:r>
              <a:rPr lang="en-US" sz="2400" dirty="0"/>
              <a:t>Select based on spatial relationships to other geographic features </a:t>
            </a:r>
          </a:p>
        </p:txBody>
      </p:sp>
      <p:sp>
        <p:nvSpPr>
          <p:cNvPr id="2" name="Slide Number Placeholder 1">
            <a:extLst>
              <a:ext uri="{FF2B5EF4-FFF2-40B4-BE49-F238E27FC236}">
                <a16:creationId xmlns:a16="http://schemas.microsoft.com/office/drawing/2014/main" id="{AEBE11E4-0244-458C-8C25-90FCE101E9F3}"/>
              </a:ext>
            </a:extLst>
          </p:cNvPr>
          <p:cNvSpPr>
            <a:spLocks noGrp="1"/>
          </p:cNvSpPr>
          <p:nvPr>
            <p:ph type="sldNum" sz="quarter" idx="12"/>
          </p:nvPr>
        </p:nvSpPr>
        <p:spPr/>
        <p:txBody>
          <a:bodyPr/>
          <a:lstStyle/>
          <a:p>
            <a:fld id="{127DDC20-79C9-9647-820E-6D40A3D210C3}" type="slidenum">
              <a:rPr lang="en-US" smtClean="0"/>
              <a:pPr/>
              <a:t>29</a:t>
            </a:fld>
            <a:endParaRPr lang="en-US"/>
          </a:p>
        </p:txBody>
      </p:sp>
      <p:pic>
        <p:nvPicPr>
          <p:cNvPr id="4" name="Picture 3" descr="Select Layer By Location"/>
          <p:cNvPicPr>
            <a:picLocks noChangeAspect="1"/>
          </p:cNvPicPr>
          <p:nvPr/>
        </p:nvPicPr>
        <p:blipFill rotWithShape="1">
          <a:blip r:embed="rId3"/>
          <a:srcRect l="1079" r="1"/>
          <a:stretch/>
        </p:blipFill>
        <p:spPr>
          <a:xfrm>
            <a:off x="4680733" y="1800024"/>
            <a:ext cx="3193553" cy="2113552"/>
          </a:xfrm>
          <a:prstGeom prst="rect">
            <a:avLst/>
          </a:prstGeom>
        </p:spPr>
      </p:pic>
      <p:sp>
        <p:nvSpPr>
          <p:cNvPr id="6" name="Title 1">
            <a:extLst>
              <a:ext uri="{FF2B5EF4-FFF2-40B4-BE49-F238E27FC236}">
                <a16:creationId xmlns:a16="http://schemas.microsoft.com/office/drawing/2014/main" id="{F68B2B78-F327-4B4F-90BA-22218E2008F5}"/>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7" name="Straight Connector 6">
            <a:extLst>
              <a:ext uri="{FF2B5EF4-FFF2-40B4-BE49-F238E27FC236}">
                <a16:creationId xmlns:a16="http://schemas.microsoft.com/office/drawing/2014/main" id="{A671C9D5-8622-4211-B939-6BAE3323E5C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4">
            <a:extLst>
              <a:ext uri="{FF2B5EF4-FFF2-40B4-BE49-F238E27FC236}">
                <a16:creationId xmlns:a16="http://schemas.microsoft.com/office/drawing/2014/main" id="{60CB09CE-4969-471D-9AB3-585CB2DB4227}"/>
              </a:ext>
            </a:extLst>
          </p:cNvPr>
          <p:cNvSpPr txBox="1">
            <a:spLocks/>
          </p:cNvSpPr>
          <p:nvPr/>
        </p:nvSpPr>
        <p:spPr>
          <a:xfrm>
            <a:off x="411480" y="1200151"/>
            <a:ext cx="7406640"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Select by location</a:t>
            </a:r>
          </a:p>
        </p:txBody>
      </p:sp>
      <p:pic>
        <p:nvPicPr>
          <p:cNvPr id="13" name="Picture 12" descr="Query example">
            <a:extLst>
              <a:ext uri="{FF2B5EF4-FFF2-40B4-BE49-F238E27FC236}">
                <a16:creationId xmlns:a16="http://schemas.microsoft.com/office/drawing/2014/main" id="{45A3BF38-C529-4EDA-A42F-E1693BA5A0E2}"/>
              </a:ext>
            </a:extLst>
          </p:cNvPr>
          <p:cNvPicPr>
            <a:picLocks noChangeAspect="1"/>
          </p:cNvPicPr>
          <p:nvPr/>
        </p:nvPicPr>
        <p:blipFill>
          <a:blip r:embed="rId4"/>
          <a:stretch>
            <a:fillRect/>
          </a:stretch>
        </p:blipFill>
        <p:spPr>
          <a:xfrm>
            <a:off x="1378669" y="2880544"/>
            <a:ext cx="2420599" cy="2197296"/>
          </a:xfrm>
          <a:prstGeom prst="rect">
            <a:avLst/>
          </a:prstGeom>
        </p:spPr>
      </p:pic>
    </p:spTree>
    <p:extLst>
      <p:ext uri="{BB962C8B-B14F-4D97-AF65-F5344CB8AC3E}">
        <p14:creationId xmlns:p14="http://schemas.microsoft.com/office/powerpoint/2010/main" val="1379131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285205"/>
            <a:ext cx="7665811" cy="3792630"/>
          </a:xfrm>
        </p:spPr>
        <p:txBody>
          <a:bodyPr>
            <a:normAutofit fontScale="55000" lnSpcReduction="20000"/>
          </a:bodyPr>
          <a:lstStyle/>
          <a:p>
            <a:pPr>
              <a:buFont typeface="Courier New" panose="02070309020205020404" pitchFamily="49" charset="0"/>
              <a:buChar char="o"/>
            </a:pPr>
            <a:r>
              <a:rPr lang="en-US" sz="3800" dirty="0"/>
              <a:t>Select by location</a:t>
            </a:r>
          </a:p>
          <a:p>
            <a:pPr lvl="1">
              <a:buFont typeface="Wingdings" panose="05000000000000000000" pitchFamily="2" charset="2"/>
              <a:buChar char="ü"/>
            </a:pPr>
            <a:r>
              <a:rPr lang="en-US" sz="3240" b="1" dirty="0">
                <a:solidFill>
                  <a:srgbClr val="E3874F"/>
                </a:solidFill>
              </a:rPr>
              <a:t>Intersect: </a:t>
            </a:r>
            <a:r>
              <a:rPr lang="en-US" sz="3240" dirty="0"/>
              <a:t>select input features that intersect the selecting features. This is the default. </a:t>
            </a:r>
          </a:p>
          <a:p>
            <a:pPr lvl="1">
              <a:buFont typeface="Wingdings" panose="05000000000000000000" pitchFamily="2" charset="2"/>
              <a:buChar char="ü"/>
            </a:pPr>
            <a:r>
              <a:rPr lang="en-US" sz="3240" b="1" dirty="0">
                <a:solidFill>
                  <a:srgbClr val="E3874F"/>
                </a:solidFill>
              </a:rPr>
              <a:t>Within a distance: </a:t>
            </a:r>
            <a:r>
              <a:rPr lang="en-US" sz="3240" dirty="0"/>
              <a:t>select input features that are within the specified Euclidean distance of the selecting features.</a:t>
            </a:r>
          </a:p>
          <a:p>
            <a:pPr lvl="1">
              <a:buFont typeface="Wingdings" panose="05000000000000000000" pitchFamily="2" charset="2"/>
              <a:buChar char="ü"/>
            </a:pPr>
            <a:r>
              <a:rPr lang="en-US" sz="3240" b="1" dirty="0">
                <a:solidFill>
                  <a:srgbClr val="E3874F"/>
                </a:solidFill>
              </a:rPr>
              <a:t>Contains: </a:t>
            </a:r>
            <a:r>
              <a:rPr lang="en-US" sz="3240" dirty="0"/>
              <a:t>Select any input feature that contains, even partially, a selecting feature.</a:t>
            </a:r>
          </a:p>
          <a:p>
            <a:pPr lvl="1">
              <a:buFont typeface="Wingdings" panose="05000000000000000000" pitchFamily="2" charset="2"/>
              <a:buChar char="ü"/>
            </a:pPr>
            <a:r>
              <a:rPr lang="en-US" sz="3240" b="1" dirty="0">
                <a:solidFill>
                  <a:srgbClr val="E3874F"/>
                </a:solidFill>
              </a:rPr>
              <a:t>Completely contains: </a:t>
            </a:r>
            <a:r>
              <a:rPr lang="en-US" sz="3240" dirty="0"/>
              <a:t>select any input feature that completely contains a selecting feature.</a:t>
            </a:r>
          </a:p>
          <a:p>
            <a:pPr lvl="1">
              <a:buFont typeface="Wingdings" panose="05000000000000000000" pitchFamily="2" charset="2"/>
              <a:buChar char="ü"/>
            </a:pPr>
            <a:r>
              <a:rPr lang="en-US" sz="3240" b="1" dirty="0">
                <a:solidFill>
                  <a:srgbClr val="E3874F"/>
                </a:solidFill>
              </a:rPr>
              <a:t>Within: </a:t>
            </a:r>
            <a:r>
              <a:rPr lang="en-US" sz="3240" dirty="0"/>
              <a:t>select any input feature that is within, even partially, a selecting feature.</a:t>
            </a:r>
          </a:p>
          <a:p>
            <a:pPr lvl="1">
              <a:buFont typeface="Wingdings" panose="05000000000000000000" pitchFamily="2" charset="2"/>
              <a:buChar char="ü"/>
            </a:pPr>
            <a:r>
              <a:rPr lang="en-US" sz="3240" b="1" dirty="0">
                <a:solidFill>
                  <a:srgbClr val="E3874F"/>
                </a:solidFill>
              </a:rPr>
              <a:t>Completely within: </a:t>
            </a:r>
            <a:r>
              <a:rPr lang="en-US" sz="3240" dirty="0"/>
              <a:t>select any input feature that is completely within a selecting feature.</a:t>
            </a:r>
          </a:p>
          <a:p>
            <a:pPr marL="0" indent="0">
              <a:buNone/>
            </a:pPr>
            <a:endParaRPr lang="en-US" dirty="0"/>
          </a:p>
        </p:txBody>
      </p:sp>
      <p:sp>
        <p:nvSpPr>
          <p:cNvPr id="2" name="Slide Number Placeholder 1">
            <a:extLst>
              <a:ext uri="{FF2B5EF4-FFF2-40B4-BE49-F238E27FC236}">
                <a16:creationId xmlns:a16="http://schemas.microsoft.com/office/drawing/2014/main" id="{764E8EE6-15E6-4557-9A56-CA2F0A8C95D6}"/>
              </a:ext>
            </a:extLst>
          </p:cNvPr>
          <p:cNvSpPr>
            <a:spLocks noGrp="1"/>
          </p:cNvSpPr>
          <p:nvPr>
            <p:ph type="sldNum" sz="quarter" idx="12"/>
          </p:nvPr>
        </p:nvSpPr>
        <p:spPr/>
        <p:txBody>
          <a:bodyPr/>
          <a:lstStyle/>
          <a:p>
            <a:fld id="{127DDC20-79C9-9647-820E-6D40A3D210C3}" type="slidenum">
              <a:rPr lang="en-US" smtClean="0"/>
              <a:pPr/>
              <a:t>30</a:t>
            </a:fld>
            <a:endParaRPr lang="en-US"/>
          </a:p>
        </p:txBody>
      </p:sp>
      <p:sp>
        <p:nvSpPr>
          <p:cNvPr id="4" name="Title 1">
            <a:extLst>
              <a:ext uri="{FF2B5EF4-FFF2-40B4-BE49-F238E27FC236}">
                <a16:creationId xmlns:a16="http://schemas.microsoft.com/office/drawing/2014/main" id="{DB36C42A-4027-4CEC-AAA2-C5F98F89152B}"/>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5" name="Straight Connector 4">
            <a:extLst>
              <a:ext uri="{FF2B5EF4-FFF2-40B4-BE49-F238E27FC236}">
                <a16:creationId xmlns:a16="http://schemas.microsoft.com/office/drawing/2014/main" id="{AC94B0DA-E687-49F1-92AC-D9C6E12519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4979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6170" y="1171982"/>
            <a:ext cx="7665811" cy="3612050"/>
          </a:xfrm>
        </p:spPr>
        <p:txBody>
          <a:bodyPr>
            <a:normAutofit/>
          </a:bodyPr>
          <a:lstStyle/>
          <a:p>
            <a:pPr>
              <a:buFont typeface="Courier New" panose="02070309020205020404" pitchFamily="49" charset="0"/>
              <a:buChar char="o"/>
            </a:pPr>
            <a:r>
              <a:rPr lang="en-US" sz="3200" dirty="0"/>
              <a:t>Select by location</a:t>
            </a:r>
            <a:endParaRPr lang="en-US" b="1" dirty="0">
              <a:solidFill>
                <a:srgbClr val="E3874F"/>
              </a:solidFill>
            </a:endParaRPr>
          </a:p>
          <a:p>
            <a:pPr lvl="1">
              <a:buFont typeface="Wingdings" panose="05000000000000000000" pitchFamily="2" charset="2"/>
              <a:buChar char="ü"/>
            </a:pPr>
            <a:r>
              <a:rPr lang="en-US" b="1" dirty="0">
                <a:solidFill>
                  <a:srgbClr val="E3874F"/>
                </a:solidFill>
              </a:rPr>
              <a:t>Are identical to: </a:t>
            </a:r>
            <a:r>
              <a:rPr lang="en-US" dirty="0"/>
              <a:t>select any input feature that has identical geometry to a selecting feature.</a:t>
            </a:r>
          </a:p>
          <a:p>
            <a:pPr lvl="1">
              <a:buFont typeface="Wingdings" panose="05000000000000000000" pitchFamily="2" charset="2"/>
              <a:buChar char="ü"/>
            </a:pPr>
            <a:r>
              <a:rPr lang="en-US" b="1" dirty="0">
                <a:solidFill>
                  <a:srgbClr val="E3874F"/>
                </a:solidFill>
              </a:rPr>
              <a:t>Boundary touch: </a:t>
            </a:r>
            <a:r>
              <a:rPr lang="en-US" dirty="0"/>
              <a:t>select any input feature that has a boundary that touches a selecting feature.</a:t>
            </a:r>
          </a:p>
          <a:p>
            <a:pPr lvl="1">
              <a:buFont typeface="Wingdings" panose="05000000000000000000" pitchFamily="2" charset="2"/>
              <a:buChar char="ü"/>
            </a:pPr>
            <a:r>
              <a:rPr lang="en-US" b="1" dirty="0">
                <a:solidFill>
                  <a:srgbClr val="E3874F"/>
                </a:solidFill>
              </a:rPr>
              <a:t>Share a line segment with: </a:t>
            </a:r>
            <a:r>
              <a:rPr lang="en-US" dirty="0"/>
              <a:t>select any input feature that shares a line segment with a selecting feature.</a:t>
            </a:r>
          </a:p>
          <a:p>
            <a:pPr lvl="1">
              <a:buFont typeface="Wingdings" panose="05000000000000000000" pitchFamily="2" charset="2"/>
              <a:buChar char="ü"/>
            </a:pPr>
            <a:r>
              <a:rPr lang="en-US" b="1" dirty="0">
                <a:solidFill>
                  <a:srgbClr val="E3874F"/>
                </a:solidFill>
              </a:rPr>
              <a:t>Crossed by outline of: </a:t>
            </a:r>
            <a:r>
              <a:rPr lang="en-US" dirty="0"/>
              <a:t>select any input feature that is crossed by the outline of a selecting feature.</a:t>
            </a:r>
          </a:p>
          <a:p>
            <a:pPr lvl="1">
              <a:buFont typeface="Wingdings" panose="05000000000000000000" pitchFamily="2" charset="2"/>
              <a:buChar char="ü"/>
            </a:pPr>
            <a:r>
              <a:rPr lang="en-US" b="1" dirty="0">
                <a:solidFill>
                  <a:srgbClr val="E3874F"/>
                </a:solidFill>
              </a:rPr>
              <a:t>Have their center in: </a:t>
            </a:r>
            <a:r>
              <a:rPr lang="en-US" dirty="0"/>
              <a:t>select any input feature that has its center in the selecting features. The center for lines is defined as the midpoint and the center for polygons is defined as the centroid.</a:t>
            </a:r>
          </a:p>
          <a:p>
            <a:pPr marL="0" indent="0">
              <a:buNone/>
            </a:pPr>
            <a:endParaRPr lang="en-US" dirty="0"/>
          </a:p>
        </p:txBody>
      </p:sp>
      <p:sp>
        <p:nvSpPr>
          <p:cNvPr id="2" name="Slide Number Placeholder 1">
            <a:extLst>
              <a:ext uri="{FF2B5EF4-FFF2-40B4-BE49-F238E27FC236}">
                <a16:creationId xmlns:a16="http://schemas.microsoft.com/office/drawing/2014/main" id="{5946C699-9FDE-4048-AEA0-C0E92AF7B7D7}"/>
              </a:ext>
            </a:extLst>
          </p:cNvPr>
          <p:cNvSpPr>
            <a:spLocks noGrp="1"/>
          </p:cNvSpPr>
          <p:nvPr>
            <p:ph type="sldNum" sz="quarter" idx="12"/>
          </p:nvPr>
        </p:nvSpPr>
        <p:spPr/>
        <p:txBody>
          <a:bodyPr/>
          <a:lstStyle/>
          <a:p>
            <a:fld id="{127DDC20-79C9-9647-820E-6D40A3D210C3}" type="slidenum">
              <a:rPr lang="en-US" smtClean="0"/>
              <a:pPr/>
              <a:t>31</a:t>
            </a:fld>
            <a:endParaRPr lang="en-US"/>
          </a:p>
        </p:txBody>
      </p:sp>
      <p:sp>
        <p:nvSpPr>
          <p:cNvPr id="4" name="Title 1">
            <a:extLst>
              <a:ext uri="{FF2B5EF4-FFF2-40B4-BE49-F238E27FC236}">
                <a16:creationId xmlns:a16="http://schemas.microsoft.com/office/drawing/2014/main" id="{3D91C767-C498-49C8-B13F-CF8FD4B634CD}"/>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5" name="Straight Connector 4">
            <a:extLst>
              <a:ext uri="{FF2B5EF4-FFF2-40B4-BE49-F238E27FC236}">
                <a16:creationId xmlns:a16="http://schemas.microsoft.com/office/drawing/2014/main" id="{94860F67-6DEC-4666-A5DA-B99CDAFD619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70976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4F4DEDE-90C6-4A95-BFE6-002269B6C44C}"/>
              </a:ext>
            </a:extLst>
          </p:cNvPr>
          <p:cNvSpPr>
            <a:spLocks noGrp="1"/>
          </p:cNvSpPr>
          <p:nvPr>
            <p:ph type="sldNum" sz="quarter" idx="12"/>
          </p:nvPr>
        </p:nvSpPr>
        <p:spPr/>
        <p:txBody>
          <a:bodyPr/>
          <a:lstStyle/>
          <a:p>
            <a:fld id="{127DDC20-79C9-9647-820E-6D40A3D210C3}" type="slidenum">
              <a:rPr lang="en-US" smtClean="0"/>
              <a:pPr/>
              <a:t>32</a:t>
            </a:fld>
            <a:endParaRPr lang="en-US"/>
          </a:p>
        </p:txBody>
      </p:sp>
      <p:sp>
        <p:nvSpPr>
          <p:cNvPr id="33" name="Title 1">
            <a:extLst>
              <a:ext uri="{FF2B5EF4-FFF2-40B4-BE49-F238E27FC236}">
                <a16:creationId xmlns:a16="http://schemas.microsoft.com/office/drawing/2014/main" id="{77905174-BC72-476A-B79D-62220D4AF021}"/>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a:solidFill>
                  <a:srgbClr val="7030A0"/>
                </a:solidFill>
              </a:rPr>
              <a:t>Group Activity 4-1</a:t>
            </a:r>
            <a:endParaRPr lang="en-US" sz="3200" dirty="0">
              <a:solidFill>
                <a:srgbClr val="7030A0"/>
              </a:solidFill>
            </a:endParaRPr>
          </a:p>
        </p:txBody>
      </p:sp>
      <p:cxnSp>
        <p:nvCxnSpPr>
          <p:cNvPr id="34" name="Straight Connector 33">
            <a:extLst>
              <a:ext uri="{FF2B5EF4-FFF2-40B4-BE49-F238E27FC236}">
                <a16:creationId xmlns:a16="http://schemas.microsoft.com/office/drawing/2014/main" id="{47402090-6243-4EF4-9B6F-40BC77BE9F7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5" name="Content Placeholder 2">
            <a:extLst>
              <a:ext uri="{FF2B5EF4-FFF2-40B4-BE49-F238E27FC236}">
                <a16:creationId xmlns:a16="http://schemas.microsoft.com/office/drawing/2014/main" id="{1FD5AE8E-22B7-4901-AD79-D02436588A83}"/>
              </a:ext>
            </a:extLst>
          </p:cNvPr>
          <p:cNvSpPr txBox="1">
            <a:spLocks/>
          </p:cNvSpPr>
          <p:nvPr/>
        </p:nvSpPr>
        <p:spPr>
          <a:xfrm>
            <a:off x="140005" y="1093641"/>
            <a:ext cx="8055728" cy="2881110"/>
          </a:xfrm>
          <a:prstGeom prst="rect">
            <a:avLst/>
          </a:prstGeom>
        </p:spPr>
        <p:txBody>
          <a:bodyPr vert="horz" lIns="91440" tIns="45720" rIns="91440" bIns="45720" rtlCol="0">
            <a:normAutofit fontScale="850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Discuss attribute tables with your peers:</a:t>
            </a:r>
          </a:p>
          <a:p>
            <a:pPr lvl="1">
              <a:buFont typeface="Wingdings" panose="05000000000000000000" pitchFamily="2" charset="2"/>
              <a:buChar char="ü"/>
            </a:pPr>
            <a:r>
              <a:rPr lang="en-US" dirty="0"/>
              <a:t>How many fields in vector and raster attribute tables, respectively?</a:t>
            </a:r>
          </a:p>
          <a:p>
            <a:pPr lvl="1">
              <a:buFont typeface="Wingdings" panose="05000000000000000000" pitchFamily="2" charset="2"/>
              <a:buChar char="ü"/>
            </a:pPr>
            <a:r>
              <a:rPr lang="en-US" dirty="0"/>
              <a:t>Can you get the area for Faulkner county?</a:t>
            </a:r>
          </a:p>
          <a:p>
            <a:pPr lvl="1">
              <a:buFont typeface="Wingdings" panose="05000000000000000000" pitchFamily="2" charset="2"/>
              <a:buChar char="ü"/>
            </a:pPr>
            <a:r>
              <a:rPr lang="en-US" dirty="0"/>
              <a:t>How many pixels are designated as irrigated areas? Where are they located? How about non-irrigated areas? (Hint, 0 means non-irrigated and 1 means irrigated)</a:t>
            </a:r>
          </a:p>
          <a:p>
            <a:pPr lvl="1">
              <a:buFont typeface="Wingdings" panose="05000000000000000000" pitchFamily="2" charset="2"/>
              <a:buChar char="ü"/>
            </a:pPr>
            <a:r>
              <a:rPr lang="en-US" dirty="0"/>
              <a:t>What are </a:t>
            </a:r>
            <a:r>
              <a:rPr lang="en-US" altLang="zh-CN" dirty="0"/>
              <a:t>the </a:t>
            </a:r>
            <a:r>
              <a:rPr lang="en-US" dirty="0"/>
              <a:t>differences between attribute tables for vector and raster data?</a:t>
            </a:r>
          </a:p>
          <a:p>
            <a:pPr lvl="1">
              <a:buFont typeface="Wingdings" panose="05000000000000000000" pitchFamily="2" charset="2"/>
              <a:buChar char="ü"/>
            </a:pPr>
            <a:endParaRPr lang="en-US" dirty="0"/>
          </a:p>
          <a:p>
            <a:pPr>
              <a:buFont typeface="Courier New" panose="02070309020205020404" pitchFamily="49" charset="0"/>
              <a:buChar char="o"/>
            </a:pPr>
            <a:endParaRPr lang="en-US" dirty="0"/>
          </a:p>
        </p:txBody>
      </p:sp>
    </p:spTree>
    <p:extLst>
      <p:ext uri="{BB962C8B-B14F-4D97-AF65-F5344CB8AC3E}">
        <p14:creationId xmlns:p14="http://schemas.microsoft.com/office/powerpoint/2010/main" val="16698776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dirty="0"/>
              <a:t>Geodatabase</a:t>
            </a:r>
          </a:p>
        </p:txBody>
      </p:sp>
      <p:pic>
        <p:nvPicPr>
          <p:cNvPr id="6" name="Picture 5" descr="geodatabase example"/>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1502" y="3339955"/>
            <a:ext cx="6646595" cy="1279233"/>
          </a:xfrm>
          <a:prstGeom prst="rect">
            <a:avLst/>
          </a:prstGeom>
        </p:spPr>
      </p:pic>
    </p:spTree>
    <p:extLst>
      <p:ext uri="{BB962C8B-B14F-4D97-AF65-F5344CB8AC3E}">
        <p14:creationId xmlns:p14="http://schemas.microsoft.com/office/powerpoint/2010/main" val="15146286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334AB37-E214-4679-A62B-2ABD107163B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Why use a Geodatabase?</a:t>
            </a:r>
          </a:p>
        </p:txBody>
      </p:sp>
      <p:cxnSp>
        <p:nvCxnSpPr>
          <p:cNvPr id="5" name="Straight Connector 4">
            <a:extLst>
              <a:ext uri="{FF2B5EF4-FFF2-40B4-BE49-F238E27FC236}">
                <a16:creationId xmlns:a16="http://schemas.microsoft.com/office/drawing/2014/main" id="{9F22BD7B-E0D1-4E4B-9495-88B4A9C859A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6ACC1455-EC42-4681-9B94-6EBA05F2CAC2}"/>
              </a:ext>
            </a:extLst>
          </p:cNvPr>
          <p:cNvSpPr>
            <a:spLocks noGrp="1"/>
          </p:cNvSpPr>
          <p:nvPr>
            <p:ph type="sldNum" sz="quarter" idx="12"/>
          </p:nvPr>
        </p:nvSpPr>
        <p:spPr/>
        <p:txBody>
          <a:bodyPr/>
          <a:lstStyle/>
          <a:p>
            <a:fld id="{127DDC20-79C9-9647-820E-6D40A3D210C3}" type="slidenum">
              <a:rPr lang="en-US" smtClean="0"/>
              <a:pPr/>
              <a:t>34</a:t>
            </a:fld>
            <a:endParaRPr lang="en-US"/>
          </a:p>
        </p:txBody>
      </p:sp>
      <p:pic>
        <p:nvPicPr>
          <p:cNvPr id="9" name="Picture 8" descr="Table&#10;&#10;Description automatically generated">
            <a:extLst>
              <a:ext uri="{FF2B5EF4-FFF2-40B4-BE49-F238E27FC236}">
                <a16:creationId xmlns:a16="http://schemas.microsoft.com/office/drawing/2014/main" id="{1F9FF7B3-2692-4063-8A21-87636B93E526}"/>
              </a:ext>
            </a:extLst>
          </p:cNvPr>
          <p:cNvPicPr>
            <a:picLocks noChangeAspect="1"/>
          </p:cNvPicPr>
          <p:nvPr/>
        </p:nvPicPr>
        <p:blipFill>
          <a:blip r:embed="rId3"/>
          <a:stretch>
            <a:fillRect/>
          </a:stretch>
        </p:blipFill>
        <p:spPr>
          <a:xfrm>
            <a:off x="291234" y="1551682"/>
            <a:ext cx="7647132" cy="2895565"/>
          </a:xfrm>
          <a:prstGeom prst="rect">
            <a:avLst/>
          </a:prstGeom>
        </p:spPr>
      </p:pic>
      <p:sp>
        <p:nvSpPr>
          <p:cNvPr id="10" name="TextBox 9">
            <a:extLst>
              <a:ext uri="{FF2B5EF4-FFF2-40B4-BE49-F238E27FC236}">
                <a16:creationId xmlns:a16="http://schemas.microsoft.com/office/drawing/2014/main" id="{FCCD5BC8-60FD-49B6-9FDF-DB5CF10FA941}"/>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2154184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200150"/>
            <a:ext cx="4378884" cy="3686885"/>
          </a:xfrm>
        </p:spPr>
        <p:txBody>
          <a:bodyPr>
            <a:normAutofit/>
          </a:bodyPr>
          <a:lstStyle/>
          <a:p>
            <a:pPr>
              <a:buFont typeface="Courier New" panose="02070309020205020404" pitchFamily="49" charset="0"/>
              <a:buChar char="o"/>
            </a:pPr>
            <a:r>
              <a:rPr lang="en-US" dirty="0"/>
              <a:t>Database, adding structure to data files, can</a:t>
            </a:r>
          </a:p>
          <a:p>
            <a:pPr lvl="1">
              <a:buFont typeface="Wingdings" panose="05000000000000000000" pitchFamily="2" charset="2"/>
              <a:buChar char="ü"/>
            </a:pPr>
            <a:r>
              <a:rPr lang="en-US" dirty="0"/>
              <a:t>Provide data independence</a:t>
            </a:r>
          </a:p>
          <a:p>
            <a:pPr lvl="1">
              <a:buFont typeface="Wingdings" panose="05000000000000000000" pitchFamily="2" charset="2"/>
              <a:buChar char="ü"/>
            </a:pPr>
            <a:r>
              <a:rPr lang="en-US" dirty="0"/>
              <a:t>Multiple user viewers</a:t>
            </a:r>
          </a:p>
          <a:p>
            <a:pPr lvl="1">
              <a:buFont typeface="Wingdings" panose="05000000000000000000" pitchFamily="2" charset="2"/>
              <a:buChar char="ü"/>
            </a:pPr>
            <a:r>
              <a:rPr lang="en-US" dirty="0"/>
              <a:t>Centralized control and maintenance of important data</a:t>
            </a:r>
          </a:p>
          <a:p>
            <a:pPr lvl="1">
              <a:buFont typeface="Wingdings" panose="05000000000000000000" pitchFamily="2" charset="2"/>
              <a:buChar char="ü"/>
            </a:pPr>
            <a:r>
              <a:rPr lang="en-US" dirty="0"/>
              <a:t>Organize and manage data</a:t>
            </a:r>
          </a:p>
          <a:p>
            <a:pPr lvl="1">
              <a:buFont typeface="Wingdings" panose="05000000000000000000" pitchFamily="2" charset="2"/>
              <a:buChar char="ü"/>
            </a:pPr>
            <a:r>
              <a:rPr lang="en-US" dirty="0"/>
              <a:t>Make use of structured query language (SQL)</a:t>
            </a:r>
          </a:p>
          <a:p>
            <a:pPr lvl="1">
              <a:buFont typeface="Wingdings" panose="05000000000000000000" pitchFamily="2" charset="2"/>
              <a:buChar char="ü"/>
            </a:pPr>
            <a:r>
              <a:rPr lang="en-US" dirty="0"/>
              <a:t>On-the-fly topology</a:t>
            </a:r>
          </a:p>
          <a:p>
            <a:pPr lvl="1">
              <a:buFont typeface="Wingdings" panose="05000000000000000000" pitchFamily="2" charset="2"/>
              <a:buChar char="ü"/>
            </a:pPr>
            <a:r>
              <a:rPr lang="en-US" dirty="0"/>
              <a:t>Topology between features</a:t>
            </a:r>
          </a:p>
          <a:p>
            <a:pPr lvl="1">
              <a:buFont typeface="Wingdings" panose="05000000000000000000" pitchFamily="2" charset="2"/>
              <a:buChar char="ü"/>
            </a:pPr>
            <a:r>
              <a:rPr lang="en-US" dirty="0"/>
              <a:t>Use domains and subtypes</a:t>
            </a:r>
          </a:p>
          <a:p>
            <a:pPr lvl="1">
              <a:buFont typeface="Wingdings" panose="05000000000000000000" pitchFamily="2" charset="2"/>
              <a:buChar char="ü"/>
            </a:pPr>
            <a:r>
              <a:rPr lang="en-US" dirty="0"/>
              <a:t>Migrate to an enterprise database</a:t>
            </a:r>
          </a:p>
          <a:p>
            <a:pPr lvl="1">
              <a:buFont typeface="Wingdings" panose="05000000000000000000" pitchFamily="2" charset="2"/>
              <a:buChar char="ü"/>
            </a:pPr>
            <a:endParaRPr lang="en-US" dirty="0"/>
          </a:p>
        </p:txBody>
      </p:sp>
      <p:sp>
        <p:nvSpPr>
          <p:cNvPr id="2" name="Slide Number Placeholder 1">
            <a:extLst>
              <a:ext uri="{FF2B5EF4-FFF2-40B4-BE49-F238E27FC236}">
                <a16:creationId xmlns:a16="http://schemas.microsoft.com/office/drawing/2014/main" id="{6ACC1455-EC42-4681-9B94-6EBA05F2CAC2}"/>
              </a:ext>
            </a:extLst>
          </p:cNvPr>
          <p:cNvSpPr>
            <a:spLocks noGrp="1"/>
          </p:cNvSpPr>
          <p:nvPr>
            <p:ph type="sldNum" sz="quarter" idx="12"/>
          </p:nvPr>
        </p:nvSpPr>
        <p:spPr/>
        <p:txBody>
          <a:bodyPr/>
          <a:lstStyle/>
          <a:p>
            <a:fld id="{127DDC20-79C9-9647-820E-6D40A3D210C3}" type="slidenum">
              <a:rPr lang="en-US" smtClean="0"/>
              <a:pPr/>
              <a:t>35</a:t>
            </a:fld>
            <a:endParaRPr lang="en-US"/>
          </a:p>
        </p:txBody>
      </p:sp>
      <p:sp>
        <p:nvSpPr>
          <p:cNvPr id="4" name="Title 1">
            <a:extLst>
              <a:ext uri="{FF2B5EF4-FFF2-40B4-BE49-F238E27FC236}">
                <a16:creationId xmlns:a16="http://schemas.microsoft.com/office/drawing/2014/main" id="{7334AB37-E214-4679-A62B-2ABD107163B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Why use a Geodatabase?</a:t>
            </a:r>
          </a:p>
        </p:txBody>
      </p:sp>
      <p:cxnSp>
        <p:nvCxnSpPr>
          <p:cNvPr id="5" name="Straight Connector 4">
            <a:extLst>
              <a:ext uri="{FF2B5EF4-FFF2-40B4-BE49-F238E27FC236}">
                <a16:creationId xmlns:a16="http://schemas.microsoft.com/office/drawing/2014/main" id="{9F22BD7B-E0D1-4E4B-9495-88B4A9C859A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7" name="Picture 6" descr="Diagram&#10;&#10;Description automatically generated">
            <a:extLst>
              <a:ext uri="{FF2B5EF4-FFF2-40B4-BE49-F238E27FC236}">
                <a16:creationId xmlns:a16="http://schemas.microsoft.com/office/drawing/2014/main" id="{E62C199D-B4F5-40A9-8889-8364AFB962F9}"/>
              </a:ext>
            </a:extLst>
          </p:cNvPr>
          <p:cNvPicPr>
            <a:picLocks noChangeAspect="1"/>
          </p:cNvPicPr>
          <p:nvPr/>
        </p:nvPicPr>
        <p:blipFill>
          <a:blip r:embed="rId3"/>
          <a:stretch>
            <a:fillRect/>
          </a:stretch>
        </p:blipFill>
        <p:spPr>
          <a:xfrm>
            <a:off x="4790364" y="1200151"/>
            <a:ext cx="2811439" cy="3575544"/>
          </a:xfrm>
          <a:prstGeom prst="rect">
            <a:avLst/>
          </a:prstGeom>
        </p:spPr>
      </p:pic>
      <p:sp>
        <p:nvSpPr>
          <p:cNvPr id="8" name="TextBox 7">
            <a:extLst>
              <a:ext uri="{FF2B5EF4-FFF2-40B4-BE49-F238E27FC236}">
                <a16:creationId xmlns:a16="http://schemas.microsoft.com/office/drawing/2014/main" id="{FFB7C14E-5FC1-4EF8-AEE3-F40AD4B013E4}"/>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4695102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200151"/>
            <a:ext cx="2918574" cy="3394472"/>
          </a:xfrm>
        </p:spPr>
        <p:txBody>
          <a:bodyPr>
            <a:normAutofit/>
          </a:bodyPr>
          <a:lstStyle/>
          <a:p>
            <a:pPr>
              <a:buFont typeface="Courier New" panose="02070309020205020404" pitchFamily="49" charset="0"/>
              <a:buChar char="o"/>
            </a:pPr>
            <a:r>
              <a:rPr lang="en-US" dirty="0"/>
              <a:t>Collection of interrelated tables in digital format</a:t>
            </a:r>
          </a:p>
          <a:p>
            <a:pPr>
              <a:buFont typeface="Courier New" panose="02070309020205020404" pitchFamily="49" charset="0"/>
              <a:buChar char="o"/>
            </a:pPr>
            <a:r>
              <a:rPr lang="en-US" dirty="0"/>
              <a:t>Table is also called relation</a:t>
            </a:r>
          </a:p>
          <a:p>
            <a:pPr>
              <a:buFont typeface="Courier New" panose="02070309020205020404" pitchFamily="49" charset="0"/>
              <a:buChar char="o"/>
            </a:pPr>
            <a:r>
              <a:rPr lang="en-US" dirty="0"/>
              <a:t>Tables are connected via keys</a:t>
            </a:r>
          </a:p>
          <a:p>
            <a:pPr>
              <a:buFont typeface="Courier New" panose="02070309020205020404" pitchFamily="49" charset="0"/>
              <a:buChar char="o"/>
            </a:pPr>
            <a:r>
              <a:rPr lang="en-US" dirty="0"/>
              <a:t>Each table can be prepared, maintained, and edited separately</a:t>
            </a:r>
          </a:p>
          <a:p>
            <a:pPr>
              <a:buFont typeface="Courier New" panose="02070309020205020404" pitchFamily="49" charset="0"/>
              <a:buChar char="o"/>
            </a:pPr>
            <a:endParaRPr lang="en-US"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9A66D2F3-005F-47F4-ACA7-55745FB2BBD3}"/>
              </a:ext>
            </a:extLst>
          </p:cNvPr>
          <p:cNvSpPr>
            <a:spLocks noGrp="1"/>
          </p:cNvSpPr>
          <p:nvPr>
            <p:ph type="sldNum" sz="quarter" idx="12"/>
          </p:nvPr>
        </p:nvSpPr>
        <p:spPr/>
        <p:txBody>
          <a:bodyPr/>
          <a:lstStyle/>
          <a:p>
            <a:fld id="{127DDC20-79C9-9647-820E-6D40A3D210C3}" type="slidenum">
              <a:rPr lang="en-US" smtClean="0"/>
              <a:pPr/>
              <a:t>36</a:t>
            </a:fld>
            <a:endParaRPr lang="en-US"/>
          </a:p>
        </p:txBody>
      </p:sp>
      <p:sp>
        <p:nvSpPr>
          <p:cNvPr id="4" name="Title 1">
            <a:extLst>
              <a:ext uri="{FF2B5EF4-FFF2-40B4-BE49-F238E27FC236}">
                <a16:creationId xmlns:a16="http://schemas.microsoft.com/office/drawing/2014/main" id="{47943962-1E8A-4FFB-B0C8-D4230A7D3509}"/>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Relational database</a:t>
            </a:r>
          </a:p>
        </p:txBody>
      </p:sp>
      <p:cxnSp>
        <p:nvCxnSpPr>
          <p:cNvPr id="5" name="Straight Connector 4">
            <a:extLst>
              <a:ext uri="{FF2B5EF4-FFF2-40B4-BE49-F238E27FC236}">
                <a16:creationId xmlns:a16="http://schemas.microsoft.com/office/drawing/2014/main" id="{478B96DE-695C-4816-9BD2-B926F3AF282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7" name="Picture 6" descr="A picture containing text, receipt&#10;&#10;Description automatically generated">
            <a:extLst>
              <a:ext uri="{FF2B5EF4-FFF2-40B4-BE49-F238E27FC236}">
                <a16:creationId xmlns:a16="http://schemas.microsoft.com/office/drawing/2014/main" id="{8DAC6A1A-4020-4E32-97B7-406F738335DF}"/>
              </a:ext>
            </a:extLst>
          </p:cNvPr>
          <p:cNvPicPr>
            <a:picLocks noChangeAspect="1"/>
          </p:cNvPicPr>
          <p:nvPr/>
        </p:nvPicPr>
        <p:blipFill>
          <a:blip r:embed="rId3"/>
          <a:stretch>
            <a:fillRect/>
          </a:stretch>
        </p:blipFill>
        <p:spPr>
          <a:xfrm>
            <a:off x="3233596" y="1227713"/>
            <a:ext cx="4777310" cy="3281924"/>
          </a:xfrm>
          <a:prstGeom prst="rect">
            <a:avLst/>
          </a:prstGeom>
        </p:spPr>
      </p:pic>
      <p:sp>
        <p:nvSpPr>
          <p:cNvPr id="8" name="TextBox 7">
            <a:extLst>
              <a:ext uri="{FF2B5EF4-FFF2-40B4-BE49-F238E27FC236}">
                <a16:creationId xmlns:a16="http://schemas.microsoft.com/office/drawing/2014/main" id="{5C9AD1CB-30C1-4556-AA95-5A01A010CCD7}"/>
              </a:ext>
            </a:extLst>
          </p:cNvPr>
          <p:cNvSpPr txBox="1"/>
          <p:nvPr/>
        </p:nvSpPr>
        <p:spPr>
          <a:xfrm>
            <a:off x="3330054" y="4594623"/>
            <a:ext cx="3016155" cy="369332"/>
          </a:xfrm>
          <a:prstGeom prst="rect">
            <a:avLst/>
          </a:prstGeom>
          <a:noFill/>
        </p:spPr>
        <p:txBody>
          <a:bodyPr wrap="square" rtlCol="0">
            <a:spAutoFit/>
          </a:bodyPr>
          <a:lstStyle/>
          <a:p>
            <a:r>
              <a:rPr lang="en-US" dirty="0">
                <a:solidFill>
                  <a:schemeClr val="accent4">
                    <a:lumMod val="75000"/>
                  </a:schemeClr>
                </a:solidFill>
              </a:rPr>
              <a:t>Forest-ID is a key!</a:t>
            </a:r>
          </a:p>
        </p:txBody>
      </p:sp>
      <p:sp>
        <p:nvSpPr>
          <p:cNvPr id="9" name="TextBox 8">
            <a:extLst>
              <a:ext uri="{FF2B5EF4-FFF2-40B4-BE49-F238E27FC236}">
                <a16:creationId xmlns:a16="http://schemas.microsoft.com/office/drawing/2014/main" id="{2AFDF7D3-6318-4450-BCBE-80AA934EB3AB}"/>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3962932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a:buFont typeface="Courier New" panose="02070309020205020404" pitchFamily="49" charset="0"/>
              <a:buChar char="o"/>
            </a:pPr>
            <a:r>
              <a:rPr lang="en-US" b="1" dirty="0">
                <a:solidFill>
                  <a:srgbClr val="E3874F"/>
                </a:solidFill>
              </a:rPr>
              <a:t>Primary Key: </a:t>
            </a:r>
            <a:r>
              <a:rPr lang="en-US" dirty="0"/>
              <a:t>one or more attributes whose values can uniquely identify a record in a </a:t>
            </a:r>
            <a:r>
              <a:rPr lang="en-US" b="1" dirty="0"/>
              <a:t>source</a:t>
            </a:r>
            <a:r>
              <a:rPr lang="en-US" dirty="0"/>
              <a:t> table</a:t>
            </a:r>
          </a:p>
          <a:p>
            <a:pPr>
              <a:buFont typeface="Courier New" panose="02070309020205020404" pitchFamily="49" charset="0"/>
              <a:buChar char="o"/>
            </a:pPr>
            <a:r>
              <a:rPr lang="en-US" b="1" dirty="0">
                <a:solidFill>
                  <a:srgbClr val="E3874F"/>
                </a:solidFill>
              </a:rPr>
              <a:t>Foreign Key: </a:t>
            </a:r>
            <a:r>
              <a:rPr lang="en-US" dirty="0"/>
              <a:t>one or more attributes that refer to a primary key in a </a:t>
            </a:r>
            <a:r>
              <a:rPr lang="en-US" b="1" dirty="0"/>
              <a:t>target</a:t>
            </a:r>
            <a:r>
              <a:rPr lang="en-US" dirty="0"/>
              <a:t> table</a:t>
            </a:r>
          </a:p>
        </p:txBody>
      </p:sp>
      <p:sp>
        <p:nvSpPr>
          <p:cNvPr id="2" name="Slide Number Placeholder 1">
            <a:extLst>
              <a:ext uri="{FF2B5EF4-FFF2-40B4-BE49-F238E27FC236}">
                <a16:creationId xmlns:a16="http://schemas.microsoft.com/office/drawing/2014/main" id="{9A66D2F3-005F-47F4-ACA7-55745FB2BBD3}"/>
              </a:ext>
            </a:extLst>
          </p:cNvPr>
          <p:cNvSpPr>
            <a:spLocks noGrp="1"/>
          </p:cNvSpPr>
          <p:nvPr>
            <p:ph type="sldNum" sz="quarter" idx="12"/>
          </p:nvPr>
        </p:nvSpPr>
        <p:spPr/>
        <p:txBody>
          <a:bodyPr/>
          <a:lstStyle/>
          <a:p>
            <a:fld id="{127DDC20-79C9-9647-820E-6D40A3D210C3}" type="slidenum">
              <a:rPr lang="en-US" smtClean="0"/>
              <a:pPr/>
              <a:t>37</a:t>
            </a:fld>
            <a:endParaRPr lang="en-US"/>
          </a:p>
        </p:txBody>
      </p:sp>
      <p:sp>
        <p:nvSpPr>
          <p:cNvPr id="4" name="Title 1">
            <a:extLst>
              <a:ext uri="{FF2B5EF4-FFF2-40B4-BE49-F238E27FC236}">
                <a16:creationId xmlns:a16="http://schemas.microsoft.com/office/drawing/2014/main" id="{47943962-1E8A-4FFB-B0C8-D4230A7D3509}"/>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Relational database</a:t>
            </a:r>
          </a:p>
        </p:txBody>
      </p:sp>
      <p:cxnSp>
        <p:nvCxnSpPr>
          <p:cNvPr id="5" name="Straight Connector 4">
            <a:extLst>
              <a:ext uri="{FF2B5EF4-FFF2-40B4-BE49-F238E27FC236}">
                <a16:creationId xmlns:a16="http://schemas.microsoft.com/office/drawing/2014/main" id="{478B96DE-695C-4816-9BD2-B926F3AF282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685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7943962-1E8A-4FFB-B0C8-D4230A7D3509}"/>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Relational database</a:t>
            </a:r>
          </a:p>
        </p:txBody>
      </p:sp>
      <p:cxnSp>
        <p:nvCxnSpPr>
          <p:cNvPr id="5" name="Straight Connector 4">
            <a:extLst>
              <a:ext uri="{FF2B5EF4-FFF2-40B4-BE49-F238E27FC236}">
                <a16:creationId xmlns:a16="http://schemas.microsoft.com/office/drawing/2014/main" id="{478B96DE-695C-4816-9BD2-B926F3AF282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descr="FOREIGN KEY in SQL Server: How to create with Example">
            <a:extLst>
              <a:ext uri="{FF2B5EF4-FFF2-40B4-BE49-F238E27FC236}">
                <a16:creationId xmlns:a16="http://schemas.microsoft.com/office/drawing/2014/main" id="{E6252142-DF4B-4452-84A0-5376E9A7AC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7879" y="1447017"/>
            <a:ext cx="5992585" cy="318818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3DB9A8AE-3703-41BA-8635-DE1270CADA74}"/>
              </a:ext>
            </a:extLst>
          </p:cNvPr>
          <p:cNvSpPr txBox="1"/>
          <p:nvPr/>
        </p:nvSpPr>
        <p:spPr>
          <a:xfrm>
            <a:off x="253093" y="4826727"/>
            <a:ext cx="4114800" cy="246221"/>
          </a:xfrm>
          <a:prstGeom prst="rect">
            <a:avLst/>
          </a:prstGeom>
          <a:noFill/>
        </p:spPr>
        <p:txBody>
          <a:bodyPr wrap="square">
            <a:spAutoFit/>
          </a:bodyPr>
          <a:lstStyle/>
          <a:p>
            <a:r>
              <a:rPr lang="en-US" sz="1000" dirty="0">
                <a:solidFill>
                  <a:srgbClr val="7030A0"/>
                </a:solidFill>
              </a:rPr>
              <a:t>https://www.guru99.com/sql-server-foreign-key.html</a:t>
            </a:r>
          </a:p>
        </p:txBody>
      </p:sp>
      <p:sp>
        <p:nvSpPr>
          <p:cNvPr id="10" name="TextBox 9">
            <a:extLst>
              <a:ext uri="{FF2B5EF4-FFF2-40B4-BE49-F238E27FC236}">
                <a16:creationId xmlns:a16="http://schemas.microsoft.com/office/drawing/2014/main" id="{F8896EF9-ECE4-4DF4-B15F-FF73249DB80C}"/>
              </a:ext>
            </a:extLst>
          </p:cNvPr>
          <p:cNvSpPr txBox="1"/>
          <p:nvPr/>
        </p:nvSpPr>
        <p:spPr>
          <a:xfrm>
            <a:off x="644979" y="4074342"/>
            <a:ext cx="1273628" cy="369332"/>
          </a:xfrm>
          <a:prstGeom prst="rect">
            <a:avLst/>
          </a:prstGeom>
          <a:solidFill>
            <a:schemeClr val="bg1"/>
          </a:solidFill>
        </p:spPr>
        <p:txBody>
          <a:bodyPr wrap="square" rtlCol="0">
            <a:spAutoFit/>
          </a:bodyPr>
          <a:lstStyle/>
          <a:p>
            <a:endParaRPr lang="en-US" dirty="0"/>
          </a:p>
        </p:txBody>
      </p:sp>
      <p:sp>
        <p:nvSpPr>
          <p:cNvPr id="2" name="Slide Number Placeholder 1">
            <a:extLst>
              <a:ext uri="{FF2B5EF4-FFF2-40B4-BE49-F238E27FC236}">
                <a16:creationId xmlns:a16="http://schemas.microsoft.com/office/drawing/2014/main" id="{88E58559-34DE-4E74-96E4-BE54A780FE07}"/>
              </a:ext>
            </a:extLst>
          </p:cNvPr>
          <p:cNvSpPr>
            <a:spLocks noGrp="1"/>
          </p:cNvSpPr>
          <p:nvPr>
            <p:ph type="sldNum" sz="quarter" idx="12"/>
          </p:nvPr>
        </p:nvSpPr>
        <p:spPr/>
        <p:txBody>
          <a:bodyPr/>
          <a:lstStyle/>
          <a:p>
            <a:fld id="{127DDC20-79C9-9647-820E-6D40A3D210C3}" type="slidenum">
              <a:rPr lang="en-US" smtClean="0"/>
              <a:pPr/>
              <a:t>38</a:t>
            </a:fld>
            <a:endParaRPr lang="en-US"/>
          </a:p>
        </p:txBody>
      </p:sp>
    </p:spTree>
    <p:extLst>
      <p:ext uri="{BB962C8B-B14F-4D97-AF65-F5344CB8AC3E}">
        <p14:creationId xmlns:p14="http://schemas.microsoft.com/office/powerpoint/2010/main" val="4288279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7943962-1E8A-4FFB-B0C8-D4230A7D3509}"/>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Relational database</a:t>
            </a:r>
          </a:p>
        </p:txBody>
      </p:sp>
      <p:cxnSp>
        <p:nvCxnSpPr>
          <p:cNvPr id="5" name="Straight Connector 4">
            <a:extLst>
              <a:ext uri="{FF2B5EF4-FFF2-40B4-BE49-F238E27FC236}">
                <a16:creationId xmlns:a16="http://schemas.microsoft.com/office/drawing/2014/main" id="{478B96DE-695C-4816-9BD2-B926F3AF282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8896EF9-ECE4-4DF4-B15F-FF73249DB80C}"/>
              </a:ext>
            </a:extLst>
          </p:cNvPr>
          <p:cNvSpPr txBox="1"/>
          <p:nvPr/>
        </p:nvSpPr>
        <p:spPr>
          <a:xfrm>
            <a:off x="644979" y="4074342"/>
            <a:ext cx="1273628" cy="369332"/>
          </a:xfrm>
          <a:prstGeom prst="rect">
            <a:avLst/>
          </a:prstGeom>
          <a:solidFill>
            <a:schemeClr val="bg1"/>
          </a:solidFill>
        </p:spPr>
        <p:txBody>
          <a:bodyPr wrap="square" rtlCol="0">
            <a:spAutoFit/>
          </a:bodyPr>
          <a:lstStyle/>
          <a:p>
            <a:endParaRPr lang="en-US" dirty="0"/>
          </a:p>
        </p:txBody>
      </p:sp>
      <p:sp>
        <p:nvSpPr>
          <p:cNvPr id="2" name="Slide Number Placeholder 1">
            <a:extLst>
              <a:ext uri="{FF2B5EF4-FFF2-40B4-BE49-F238E27FC236}">
                <a16:creationId xmlns:a16="http://schemas.microsoft.com/office/drawing/2014/main" id="{88E58559-34DE-4E74-96E4-BE54A780FE07}"/>
              </a:ext>
            </a:extLst>
          </p:cNvPr>
          <p:cNvSpPr>
            <a:spLocks noGrp="1"/>
          </p:cNvSpPr>
          <p:nvPr>
            <p:ph type="sldNum" sz="quarter" idx="12"/>
          </p:nvPr>
        </p:nvSpPr>
        <p:spPr/>
        <p:txBody>
          <a:bodyPr/>
          <a:lstStyle/>
          <a:p>
            <a:fld id="{127DDC20-79C9-9647-820E-6D40A3D210C3}" type="slidenum">
              <a:rPr lang="en-US" smtClean="0"/>
              <a:pPr/>
              <a:t>39</a:t>
            </a:fld>
            <a:endParaRPr lang="en-US"/>
          </a:p>
        </p:txBody>
      </p:sp>
      <p:pic>
        <p:nvPicPr>
          <p:cNvPr id="6" name="Picture 5" descr="Diagram&#10;&#10;Description automatically generated">
            <a:extLst>
              <a:ext uri="{FF2B5EF4-FFF2-40B4-BE49-F238E27FC236}">
                <a16:creationId xmlns:a16="http://schemas.microsoft.com/office/drawing/2014/main" id="{7E12CC9B-D003-4BCC-BC48-3E5916F9AADA}"/>
              </a:ext>
            </a:extLst>
          </p:cNvPr>
          <p:cNvPicPr>
            <a:picLocks noChangeAspect="1"/>
          </p:cNvPicPr>
          <p:nvPr/>
        </p:nvPicPr>
        <p:blipFill>
          <a:blip r:embed="rId3"/>
          <a:stretch>
            <a:fillRect/>
          </a:stretch>
        </p:blipFill>
        <p:spPr>
          <a:xfrm>
            <a:off x="666750" y="1148679"/>
            <a:ext cx="6972300" cy="3678048"/>
          </a:xfrm>
          <a:prstGeom prst="rect">
            <a:avLst/>
          </a:prstGeom>
        </p:spPr>
      </p:pic>
      <p:sp>
        <p:nvSpPr>
          <p:cNvPr id="11" name="TextBox 10">
            <a:extLst>
              <a:ext uri="{FF2B5EF4-FFF2-40B4-BE49-F238E27FC236}">
                <a16:creationId xmlns:a16="http://schemas.microsoft.com/office/drawing/2014/main" id="{7C4E24D3-5051-43FA-8CDA-43A1AA583F44}"/>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5427740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C2B7241-8B4C-4FA9-AE00-2D45DE46A56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Relational database</a:t>
            </a:r>
          </a:p>
        </p:txBody>
      </p:sp>
      <p:cxnSp>
        <p:nvCxnSpPr>
          <p:cNvPr id="5" name="Straight Connector 4">
            <a:extLst>
              <a:ext uri="{FF2B5EF4-FFF2-40B4-BE49-F238E27FC236}">
                <a16:creationId xmlns:a16="http://schemas.microsoft.com/office/drawing/2014/main" id="{8D1B0C5B-14AC-4DD4-A883-B26E175CB4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C987FFD4-FF1A-4257-8FD4-27082C33E773}"/>
              </a:ext>
            </a:extLst>
          </p:cNvPr>
          <p:cNvSpPr>
            <a:spLocks noGrp="1"/>
          </p:cNvSpPr>
          <p:nvPr>
            <p:ph type="sldNum" sz="quarter" idx="12"/>
          </p:nvPr>
        </p:nvSpPr>
        <p:spPr/>
        <p:txBody>
          <a:bodyPr/>
          <a:lstStyle/>
          <a:p>
            <a:fld id="{127DDC20-79C9-9647-820E-6D40A3D210C3}" type="slidenum">
              <a:rPr lang="en-US" smtClean="0"/>
              <a:pPr/>
              <a:t>40</a:t>
            </a:fld>
            <a:endParaRPr lang="en-US"/>
          </a:p>
        </p:txBody>
      </p:sp>
      <p:sp>
        <p:nvSpPr>
          <p:cNvPr id="7" name="TextBox 6">
            <a:extLst>
              <a:ext uri="{FF2B5EF4-FFF2-40B4-BE49-F238E27FC236}">
                <a16:creationId xmlns:a16="http://schemas.microsoft.com/office/drawing/2014/main" id="{ED303D85-AA6F-49BC-813C-CD19B17E33D3}"/>
              </a:ext>
            </a:extLst>
          </p:cNvPr>
          <p:cNvSpPr txBox="1"/>
          <p:nvPr/>
        </p:nvSpPr>
        <p:spPr>
          <a:xfrm>
            <a:off x="584200" y="1193800"/>
            <a:ext cx="6902450" cy="830997"/>
          </a:xfrm>
          <a:prstGeom prst="rect">
            <a:avLst/>
          </a:prstGeom>
          <a:noFill/>
        </p:spPr>
        <p:txBody>
          <a:bodyPr wrap="square" rtlCol="0">
            <a:spAutoFit/>
          </a:bodyPr>
          <a:lstStyle/>
          <a:p>
            <a:pPr marL="285750" indent="-285750">
              <a:buFont typeface="Courier New" panose="02070309020205020404" pitchFamily="49" charset="0"/>
              <a:buChar char="o"/>
            </a:pPr>
            <a:r>
              <a:rPr lang="en-US" sz="2400" dirty="0"/>
              <a:t>Concatenated keys</a:t>
            </a:r>
          </a:p>
          <a:p>
            <a:pPr marL="800100" lvl="1" indent="-342900">
              <a:buFont typeface="Wingdings" panose="05000000000000000000" pitchFamily="2" charset="2"/>
              <a:buChar char="ü"/>
            </a:pPr>
            <a:r>
              <a:rPr lang="en-US" sz="2400" dirty="0"/>
              <a:t>Multiple columns are used together as a key</a:t>
            </a:r>
          </a:p>
        </p:txBody>
      </p:sp>
      <p:pic>
        <p:nvPicPr>
          <p:cNvPr id="6" name="Picture 5" descr="Diagram&#10;&#10;Description automatically generated">
            <a:extLst>
              <a:ext uri="{FF2B5EF4-FFF2-40B4-BE49-F238E27FC236}">
                <a16:creationId xmlns:a16="http://schemas.microsoft.com/office/drawing/2014/main" id="{1CCCBFF8-EF01-43F0-8BC0-D78FB743BE4C}"/>
              </a:ext>
            </a:extLst>
          </p:cNvPr>
          <p:cNvPicPr>
            <a:picLocks noChangeAspect="1"/>
          </p:cNvPicPr>
          <p:nvPr/>
        </p:nvPicPr>
        <p:blipFill>
          <a:blip r:embed="rId3"/>
          <a:stretch>
            <a:fillRect/>
          </a:stretch>
        </p:blipFill>
        <p:spPr>
          <a:xfrm>
            <a:off x="1788861" y="2024797"/>
            <a:ext cx="4493128" cy="2962652"/>
          </a:xfrm>
          <a:prstGeom prst="rect">
            <a:avLst/>
          </a:prstGeom>
        </p:spPr>
      </p:pic>
      <p:sp>
        <p:nvSpPr>
          <p:cNvPr id="9" name="TextBox 8">
            <a:extLst>
              <a:ext uri="{FF2B5EF4-FFF2-40B4-BE49-F238E27FC236}">
                <a16:creationId xmlns:a16="http://schemas.microsoft.com/office/drawing/2014/main" id="{1F4C0012-BED6-46B2-A720-D97FF83781E7}"/>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8" name="TextBox 7">
            <a:extLst>
              <a:ext uri="{FF2B5EF4-FFF2-40B4-BE49-F238E27FC236}">
                <a16:creationId xmlns:a16="http://schemas.microsoft.com/office/drawing/2014/main" id="{663B09C3-71B7-1E1C-8F31-93593B11724F}"/>
              </a:ext>
            </a:extLst>
          </p:cNvPr>
          <p:cNvSpPr txBox="1"/>
          <p:nvPr/>
        </p:nvSpPr>
        <p:spPr>
          <a:xfrm>
            <a:off x="6309360" y="2172881"/>
            <a:ext cx="1844040" cy="369332"/>
          </a:xfrm>
          <a:prstGeom prst="rect">
            <a:avLst/>
          </a:prstGeom>
          <a:noFill/>
        </p:spPr>
        <p:txBody>
          <a:bodyPr wrap="square">
            <a:spAutoFit/>
          </a:bodyPr>
          <a:lstStyle/>
          <a:p>
            <a:r>
              <a:rPr lang="en-US" sz="900" b="0" i="0" dirty="0">
                <a:effectLst/>
                <a:latin typeface="Roboto" panose="02000000000000000000" pitchFamily="2" charset="0"/>
              </a:rPr>
              <a:t>Federal Information Processing Standards (FIPS)</a:t>
            </a:r>
            <a:endParaRPr lang="en-US" sz="900" dirty="0"/>
          </a:p>
        </p:txBody>
      </p:sp>
    </p:spTree>
    <p:extLst>
      <p:ext uri="{BB962C8B-B14F-4D97-AF65-F5344CB8AC3E}">
        <p14:creationId xmlns:p14="http://schemas.microsoft.com/office/powerpoint/2010/main" val="9920456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8449" y="1204621"/>
            <a:ext cx="7406640" cy="3394472"/>
          </a:xfrm>
        </p:spPr>
        <p:txBody>
          <a:bodyPr>
            <a:normAutofit/>
          </a:bodyPr>
          <a:lstStyle/>
          <a:p>
            <a:pPr>
              <a:buFont typeface="Courier New" panose="02070309020205020404" pitchFamily="49" charset="0"/>
              <a:buChar char="o"/>
            </a:pPr>
            <a:r>
              <a:rPr lang="en-US" dirty="0"/>
              <a:t>Types of Relationships</a:t>
            </a:r>
          </a:p>
          <a:p>
            <a:pPr lvl="1">
              <a:buFont typeface="Wingdings" panose="05000000000000000000" pitchFamily="2" charset="2"/>
              <a:buChar char="ü"/>
            </a:pPr>
            <a:r>
              <a:rPr lang="en-US" b="1" dirty="0">
                <a:solidFill>
                  <a:srgbClr val="E3874F"/>
                </a:solidFill>
              </a:rPr>
              <a:t>One-to-One: </a:t>
            </a:r>
            <a:r>
              <a:rPr lang="en-US" dirty="0"/>
              <a:t>one record in Table 1 is related to 1 record in Table 2</a:t>
            </a:r>
          </a:p>
          <a:p>
            <a:pPr lvl="1">
              <a:buFont typeface="Wingdings" panose="05000000000000000000" pitchFamily="2" charset="2"/>
              <a:buChar char="ü"/>
            </a:pPr>
            <a:r>
              <a:rPr lang="en-US" b="1" dirty="0">
                <a:solidFill>
                  <a:srgbClr val="E3874F"/>
                </a:solidFill>
              </a:rPr>
              <a:t>One-to-Many: </a:t>
            </a:r>
            <a:r>
              <a:rPr lang="en-US" dirty="0"/>
              <a:t>one record in Table 1  is related to many records in Table 2</a:t>
            </a:r>
          </a:p>
          <a:p>
            <a:pPr lvl="1">
              <a:buFont typeface="Wingdings" panose="05000000000000000000" pitchFamily="2" charset="2"/>
              <a:buChar char="ü"/>
            </a:pPr>
            <a:r>
              <a:rPr lang="en-US" b="1" dirty="0">
                <a:solidFill>
                  <a:srgbClr val="E3874F"/>
                </a:solidFill>
              </a:rPr>
              <a:t>Many-to-One: </a:t>
            </a:r>
            <a:r>
              <a:rPr lang="en-US" dirty="0"/>
              <a:t>multiple record in Table 1 is related to the same record in Table 2</a:t>
            </a:r>
          </a:p>
          <a:p>
            <a:pPr lvl="1">
              <a:buFont typeface="Wingdings" panose="05000000000000000000" pitchFamily="2" charset="2"/>
              <a:buChar char="ü"/>
            </a:pPr>
            <a:r>
              <a:rPr lang="en-US" b="1" dirty="0">
                <a:solidFill>
                  <a:srgbClr val="E3874F"/>
                </a:solidFill>
              </a:rPr>
              <a:t>Many-to-Many: </a:t>
            </a:r>
            <a:r>
              <a:rPr lang="en-US" dirty="0"/>
              <a:t>multiple records in Table 1 is related to multiple records in Table 2</a:t>
            </a:r>
          </a:p>
          <a:p>
            <a:endParaRPr lang="en-US" dirty="0"/>
          </a:p>
        </p:txBody>
      </p:sp>
      <p:sp>
        <p:nvSpPr>
          <p:cNvPr id="2" name="Slide Number Placeholder 1">
            <a:extLst>
              <a:ext uri="{FF2B5EF4-FFF2-40B4-BE49-F238E27FC236}">
                <a16:creationId xmlns:a16="http://schemas.microsoft.com/office/drawing/2014/main" id="{C987FFD4-FF1A-4257-8FD4-27082C33E773}"/>
              </a:ext>
            </a:extLst>
          </p:cNvPr>
          <p:cNvSpPr>
            <a:spLocks noGrp="1"/>
          </p:cNvSpPr>
          <p:nvPr>
            <p:ph type="sldNum" sz="quarter" idx="12"/>
          </p:nvPr>
        </p:nvSpPr>
        <p:spPr/>
        <p:txBody>
          <a:bodyPr/>
          <a:lstStyle/>
          <a:p>
            <a:fld id="{127DDC20-79C9-9647-820E-6D40A3D210C3}" type="slidenum">
              <a:rPr lang="en-US" smtClean="0"/>
              <a:pPr/>
              <a:t>41</a:t>
            </a:fld>
            <a:endParaRPr lang="en-US"/>
          </a:p>
        </p:txBody>
      </p:sp>
      <p:sp>
        <p:nvSpPr>
          <p:cNvPr id="4" name="Title 1">
            <a:extLst>
              <a:ext uri="{FF2B5EF4-FFF2-40B4-BE49-F238E27FC236}">
                <a16:creationId xmlns:a16="http://schemas.microsoft.com/office/drawing/2014/main" id="{3C2B7241-8B4C-4FA9-AE00-2D45DE46A56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Relationship Class</a:t>
            </a:r>
          </a:p>
        </p:txBody>
      </p:sp>
      <p:cxnSp>
        <p:nvCxnSpPr>
          <p:cNvPr id="5" name="Straight Connector 4">
            <a:extLst>
              <a:ext uri="{FF2B5EF4-FFF2-40B4-BE49-F238E27FC236}">
                <a16:creationId xmlns:a16="http://schemas.microsoft.com/office/drawing/2014/main" id="{8D1B0C5B-14AC-4DD4-A883-B26E175CB4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253128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C2B7241-8B4C-4FA9-AE00-2D45DE46A56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Relationship Class</a:t>
            </a:r>
          </a:p>
        </p:txBody>
      </p:sp>
      <p:cxnSp>
        <p:nvCxnSpPr>
          <p:cNvPr id="5" name="Straight Connector 4">
            <a:extLst>
              <a:ext uri="{FF2B5EF4-FFF2-40B4-BE49-F238E27FC236}">
                <a16:creationId xmlns:a16="http://schemas.microsoft.com/office/drawing/2014/main" id="{8D1B0C5B-14AC-4DD4-A883-B26E175CB4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C987FFD4-FF1A-4257-8FD4-27082C33E773}"/>
              </a:ext>
            </a:extLst>
          </p:cNvPr>
          <p:cNvSpPr>
            <a:spLocks noGrp="1"/>
          </p:cNvSpPr>
          <p:nvPr>
            <p:ph type="sldNum" sz="quarter" idx="12"/>
          </p:nvPr>
        </p:nvSpPr>
        <p:spPr/>
        <p:txBody>
          <a:bodyPr/>
          <a:lstStyle/>
          <a:p>
            <a:fld id="{127DDC20-79C9-9647-820E-6D40A3D210C3}" type="slidenum">
              <a:rPr lang="en-US" smtClean="0"/>
              <a:pPr/>
              <a:t>42</a:t>
            </a:fld>
            <a:endParaRPr lang="en-US"/>
          </a:p>
        </p:txBody>
      </p:sp>
      <p:pic>
        <p:nvPicPr>
          <p:cNvPr id="9" name="Picture 8" descr="Table&#10;&#10;Description automatically generated with low confidence">
            <a:extLst>
              <a:ext uri="{FF2B5EF4-FFF2-40B4-BE49-F238E27FC236}">
                <a16:creationId xmlns:a16="http://schemas.microsoft.com/office/drawing/2014/main" id="{27F60265-5080-4E0C-9C64-CB20C7322F3D}"/>
              </a:ext>
            </a:extLst>
          </p:cNvPr>
          <p:cNvPicPr>
            <a:picLocks noChangeAspect="1"/>
          </p:cNvPicPr>
          <p:nvPr/>
        </p:nvPicPr>
        <p:blipFill>
          <a:blip r:embed="rId3"/>
          <a:stretch>
            <a:fillRect/>
          </a:stretch>
        </p:blipFill>
        <p:spPr>
          <a:xfrm>
            <a:off x="807884" y="2127037"/>
            <a:ext cx="6868867" cy="2593049"/>
          </a:xfrm>
          <a:prstGeom prst="rect">
            <a:avLst/>
          </a:prstGeom>
        </p:spPr>
      </p:pic>
      <p:sp>
        <p:nvSpPr>
          <p:cNvPr id="10" name="TextBox 9">
            <a:extLst>
              <a:ext uri="{FF2B5EF4-FFF2-40B4-BE49-F238E27FC236}">
                <a16:creationId xmlns:a16="http://schemas.microsoft.com/office/drawing/2014/main" id="{FF734CDE-9FD6-401D-ACC8-2644A2AACDA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1" name="TextBox 10">
            <a:extLst>
              <a:ext uri="{FF2B5EF4-FFF2-40B4-BE49-F238E27FC236}">
                <a16:creationId xmlns:a16="http://schemas.microsoft.com/office/drawing/2014/main" id="{96C3E839-2475-4AE5-8591-59253E590260}"/>
              </a:ext>
            </a:extLst>
          </p:cNvPr>
          <p:cNvSpPr txBox="1"/>
          <p:nvPr/>
        </p:nvSpPr>
        <p:spPr>
          <a:xfrm>
            <a:off x="584200" y="1193800"/>
            <a:ext cx="6902450" cy="461665"/>
          </a:xfrm>
          <a:prstGeom prst="rect">
            <a:avLst/>
          </a:prstGeom>
          <a:noFill/>
        </p:spPr>
        <p:txBody>
          <a:bodyPr wrap="square" rtlCol="0">
            <a:spAutoFit/>
          </a:bodyPr>
          <a:lstStyle/>
          <a:p>
            <a:pPr marL="285750" indent="-285750">
              <a:buFont typeface="Courier New" panose="02070309020205020404" pitchFamily="49" charset="0"/>
              <a:buChar char="o"/>
            </a:pPr>
            <a:r>
              <a:rPr lang="en-US" sz="2400" dirty="0"/>
              <a:t>One-to-one and One-to-many</a:t>
            </a:r>
          </a:p>
        </p:txBody>
      </p:sp>
    </p:spTree>
    <p:extLst>
      <p:ext uri="{BB962C8B-B14F-4D97-AF65-F5344CB8AC3E}">
        <p14:creationId xmlns:p14="http://schemas.microsoft.com/office/powerpoint/2010/main" val="2946029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C2B7241-8B4C-4FA9-AE00-2D45DE46A56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Relationship Class</a:t>
            </a:r>
          </a:p>
        </p:txBody>
      </p:sp>
      <p:cxnSp>
        <p:nvCxnSpPr>
          <p:cNvPr id="5" name="Straight Connector 4">
            <a:extLst>
              <a:ext uri="{FF2B5EF4-FFF2-40B4-BE49-F238E27FC236}">
                <a16:creationId xmlns:a16="http://schemas.microsoft.com/office/drawing/2014/main" id="{8D1B0C5B-14AC-4DD4-A883-B26E175CB4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C987FFD4-FF1A-4257-8FD4-27082C33E773}"/>
              </a:ext>
            </a:extLst>
          </p:cNvPr>
          <p:cNvSpPr>
            <a:spLocks noGrp="1"/>
          </p:cNvSpPr>
          <p:nvPr>
            <p:ph type="sldNum" sz="quarter" idx="12"/>
          </p:nvPr>
        </p:nvSpPr>
        <p:spPr/>
        <p:txBody>
          <a:bodyPr/>
          <a:lstStyle/>
          <a:p>
            <a:fld id="{127DDC20-79C9-9647-820E-6D40A3D210C3}" type="slidenum">
              <a:rPr lang="en-US" smtClean="0"/>
              <a:pPr/>
              <a:t>43</a:t>
            </a:fld>
            <a:endParaRPr lang="en-US"/>
          </a:p>
        </p:txBody>
      </p:sp>
      <p:pic>
        <p:nvPicPr>
          <p:cNvPr id="6" name="Picture 5" descr="Table&#10;&#10;Description automatically generated">
            <a:extLst>
              <a:ext uri="{FF2B5EF4-FFF2-40B4-BE49-F238E27FC236}">
                <a16:creationId xmlns:a16="http://schemas.microsoft.com/office/drawing/2014/main" id="{C87C11CE-E984-4587-A4AE-40E802179684}"/>
              </a:ext>
            </a:extLst>
          </p:cNvPr>
          <p:cNvPicPr>
            <a:picLocks noChangeAspect="1"/>
          </p:cNvPicPr>
          <p:nvPr/>
        </p:nvPicPr>
        <p:blipFill>
          <a:blip r:embed="rId3"/>
          <a:stretch>
            <a:fillRect/>
          </a:stretch>
        </p:blipFill>
        <p:spPr>
          <a:xfrm>
            <a:off x="1266825" y="2420653"/>
            <a:ext cx="5695950" cy="2499353"/>
          </a:xfrm>
          <a:prstGeom prst="rect">
            <a:avLst/>
          </a:prstGeom>
        </p:spPr>
      </p:pic>
      <p:sp>
        <p:nvSpPr>
          <p:cNvPr id="7" name="TextBox 6">
            <a:extLst>
              <a:ext uri="{FF2B5EF4-FFF2-40B4-BE49-F238E27FC236}">
                <a16:creationId xmlns:a16="http://schemas.microsoft.com/office/drawing/2014/main" id="{ED303D85-AA6F-49BC-813C-CD19B17E33D3}"/>
              </a:ext>
            </a:extLst>
          </p:cNvPr>
          <p:cNvSpPr txBox="1"/>
          <p:nvPr/>
        </p:nvSpPr>
        <p:spPr>
          <a:xfrm>
            <a:off x="584200" y="1193800"/>
            <a:ext cx="6902450" cy="1200329"/>
          </a:xfrm>
          <a:prstGeom prst="rect">
            <a:avLst/>
          </a:prstGeom>
          <a:noFill/>
        </p:spPr>
        <p:txBody>
          <a:bodyPr wrap="square" rtlCol="0">
            <a:spAutoFit/>
          </a:bodyPr>
          <a:lstStyle/>
          <a:p>
            <a:pPr marL="285750" indent="-285750">
              <a:buFont typeface="Courier New" panose="02070309020205020404" pitchFamily="49" charset="0"/>
              <a:buChar char="o"/>
            </a:pPr>
            <a:r>
              <a:rPr lang="en-US" sz="2400" dirty="0"/>
              <a:t>Many-to-one and many-to-many may raise problem</a:t>
            </a:r>
          </a:p>
          <a:p>
            <a:pPr marL="285750" indent="-285750">
              <a:buFont typeface="Courier New" panose="02070309020205020404" pitchFamily="49" charset="0"/>
              <a:buChar char="o"/>
            </a:pPr>
            <a:r>
              <a:rPr lang="en-US" sz="2400" dirty="0"/>
              <a:t>These kinds of join may be avoided, unless some constrains specified</a:t>
            </a:r>
          </a:p>
        </p:txBody>
      </p:sp>
      <p:sp>
        <p:nvSpPr>
          <p:cNvPr id="10" name="TextBox 9">
            <a:extLst>
              <a:ext uri="{FF2B5EF4-FFF2-40B4-BE49-F238E27FC236}">
                <a16:creationId xmlns:a16="http://schemas.microsoft.com/office/drawing/2014/main" id="{D4E190DB-5A79-4A21-8523-6B9519E896D5}"/>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980611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30950" y="1276742"/>
            <a:ext cx="3985450" cy="2881110"/>
          </a:xfrm>
        </p:spPr>
        <p:txBody>
          <a:bodyPr>
            <a:normAutofit/>
          </a:bodyPr>
          <a:lstStyle/>
          <a:p>
            <a:pPr>
              <a:buFont typeface="Courier New" panose="02070309020205020404" pitchFamily="49" charset="0"/>
              <a:buChar char="o"/>
            </a:pPr>
            <a:r>
              <a:rPr lang="en-US" dirty="0"/>
              <a:t>Establishes a relationship between features in a geodatabase</a:t>
            </a:r>
          </a:p>
          <a:p>
            <a:pPr>
              <a:buFont typeface="Courier New" panose="02070309020205020404" pitchFamily="49" charset="0"/>
              <a:buChar char="o"/>
            </a:pPr>
            <a:r>
              <a:rPr lang="en-US" dirty="0"/>
              <a:t>Define relationship using </a:t>
            </a:r>
            <a:r>
              <a:rPr lang="en-US" b="1" dirty="0">
                <a:solidFill>
                  <a:srgbClr val="E3874F"/>
                </a:solidFill>
              </a:rPr>
              <a:t>primary</a:t>
            </a:r>
            <a:r>
              <a:rPr lang="en-US" dirty="0"/>
              <a:t> and </a:t>
            </a:r>
            <a:r>
              <a:rPr lang="en-US" b="1" dirty="0">
                <a:solidFill>
                  <a:srgbClr val="E3874F"/>
                </a:solidFill>
              </a:rPr>
              <a:t>foreign keys</a:t>
            </a:r>
          </a:p>
        </p:txBody>
      </p:sp>
      <p:sp>
        <p:nvSpPr>
          <p:cNvPr id="2" name="Slide Number Placeholder 1">
            <a:extLst>
              <a:ext uri="{FF2B5EF4-FFF2-40B4-BE49-F238E27FC236}">
                <a16:creationId xmlns:a16="http://schemas.microsoft.com/office/drawing/2014/main" id="{252D5397-52AB-468B-B077-D3AD6A6C4A42}"/>
              </a:ext>
            </a:extLst>
          </p:cNvPr>
          <p:cNvSpPr>
            <a:spLocks noGrp="1"/>
          </p:cNvSpPr>
          <p:nvPr>
            <p:ph type="sldNum" sz="quarter" idx="12"/>
          </p:nvPr>
        </p:nvSpPr>
        <p:spPr/>
        <p:txBody>
          <a:bodyPr/>
          <a:lstStyle/>
          <a:p>
            <a:fld id="{127DDC20-79C9-9647-820E-6D40A3D210C3}" type="slidenum">
              <a:rPr lang="en-US" smtClean="0"/>
              <a:pPr/>
              <a:t>44</a:t>
            </a:fld>
            <a:endParaRPr lang="en-US"/>
          </a:p>
        </p:txBody>
      </p:sp>
      <p:sp>
        <p:nvSpPr>
          <p:cNvPr id="7" name="Title 1">
            <a:extLst>
              <a:ext uri="{FF2B5EF4-FFF2-40B4-BE49-F238E27FC236}">
                <a16:creationId xmlns:a16="http://schemas.microsoft.com/office/drawing/2014/main" id="{313066DC-1D69-4B0C-AE98-E091DFCDA83B}"/>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Relationship Class</a:t>
            </a:r>
          </a:p>
        </p:txBody>
      </p:sp>
      <p:cxnSp>
        <p:nvCxnSpPr>
          <p:cNvPr id="8" name="Straight Connector 7">
            <a:extLst>
              <a:ext uri="{FF2B5EF4-FFF2-40B4-BE49-F238E27FC236}">
                <a16:creationId xmlns:a16="http://schemas.microsoft.com/office/drawing/2014/main" id="{684B2A58-0574-4690-A291-9B72EEDEB94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9" name="Picture 8" descr="Create relationship class">
            <a:extLst>
              <a:ext uri="{FF2B5EF4-FFF2-40B4-BE49-F238E27FC236}">
                <a16:creationId xmlns:a16="http://schemas.microsoft.com/office/drawing/2014/main" id="{F43E7515-662B-4211-843A-2F7AD7737438}"/>
              </a:ext>
            </a:extLst>
          </p:cNvPr>
          <p:cNvPicPr>
            <a:picLocks noChangeAspect="1"/>
          </p:cNvPicPr>
          <p:nvPr/>
        </p:nvPicPr>
        <p:blipFill>
          <a:blip r:embed="rId3"/>
          <a:stretch>
            <a:fillRect/>
          </a:stretch>
        </p:blipFill>
        <p:spPr>
          <a:xfrm>
            <a:off x="4532105" y="1183086"/>
            <a:ext cx="2183400" cy="3721099"/>
          </a:xfrm>
          <a:prstGeom prst="rect">
            <a:avLst/>
          </a:prstGeom>
        </p:spPr>
      </p:pic>
    </p:spTree>
    <p:extLst>
      <p:ext uri="{BB962C8B-B14F-4D97-AF65-F5344CB8AC3E}">
        <p14:creationId xmlns:p14="http://schemas.microsoft.com/office/powerpoint/2010/main" val="25386878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C2B7241-8B4C-4FA9-AE00-2D45DE46A56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Relationship Class</a:t>
            </a:r>
          </a:p>
        </p:txBody>
      </p:sp>
      <p:cxnSp>
        <p:nvCxnSpPr>
          <p:cNvPr id="5" name="Straight Connector 4">
            <a:extLst>
              <a:ext uri="{FF2B5EF4-FFF2-40B4-BE49-F238E27FC236}">
                <a16:creationId xmlns:a16="http://schemas.microsoft.com/office/drawing/2014/main" id="{8D1B0C5B-14AC-4DD4-A883-B26E175CB4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C987FFD4-FF1A-4257-8FD4-27082C33E773}"/>
              </a:ext>
            </a:extLst>
          </p:cNvPr>
          <p:cNvSpPr>
            <a:spLocks noGrp="1"/>
          </p:cNvSpPr>
          <p:nvPr>
            <p:ph type="sldNum" sz="quarter" idx="12"/>
          </p:nvPr>
        </p:nvSpPr>
        <p:spPr/>
        <p:txBody>
          <a:bodyPr/>
          <a:lstStyle/>
          <a:p>
            <a:fld id="{127DDC20-79C9-9647-820E-6D40A3D210C3}" type="slidenum">
              <a:rPr lang="en-US" smtClean="0"/>
              <a:pPr/>
              <a:t>45</a:t>
            </a:fld>
            <a:endParaRPr lang="en-US"/>
          </a:p>
        </p:txBody>
      </p:sp>
      <p:sp>
        <p:nvSpPr>
          <p:cNvPr id="7" name="TextBox 6">
            <a:extLst>
              <a:ext uri="{FF2B5EF4-FFF2-40B4-BE49-F238E27FC236}">
                <a16:creationId xmlns:a16="http://schemas.microsoft.com/office/drawing/2014/main" id="{ED303D85-AA6F-49BC-813C-CD19B17E33D3}"/>
              </a:ext>
            </a:extLst>
          </p:cNvPr>
          <p:cNvSpPr txBox="1"/>
          <p:nvPr/>
        </p:nvSpPr>
        <p:spPr>
          <a:xfrm>
            <a:off x="584200" y="1193800"/>
            <a:ext cx="6902450" cy="461665"/>
          </a:xfrm>
          <a:prstGeom prst="rect">
            <a:avLst/>
          </a:prstGeom>
          <a:noFill/>
        </p:spPr>
        <p:txBody>
          <a:bodyPr wrap="square" rtlCol="0">
            <a:spAutoFit/>
          </a:bodyPr>
          <a:lstStyle/>
          <a:p>
            <a:pPr marL="285750" indent="-285750">
              <a:buFont typeface="Courier New" panose="02070309020205020404" pitchFamily="49" charset="0"/>
              <a:buChar char="o"/>
            </a:pPr>
            <a:r>
              <a:rPr lang="en-US" sz="2400" dirty="0"/>
              <a:t>Multi-table join</a:t>
            </a:r>
          </a:p>
        </p:txBody>
      </p:sp>
      <p:pic>
        <p:nvPicPr>
          <p:cNvPr id="8" name="Picture 7" descr="Table&#10;&#10;Description automatically generated">
            <a:extLst>
              <a:ext uri="{FF2B5EF4-FFF2-40B4-BE49-F238E27FC236}">
                <a16:creationId xmlns:a16="http://schemas.microsoft.com/office/drawing/2014/main" id="{04CE1130-DCAB-48D4-81BD-BD8A7B6A9870}"/>
              </a:ext>
            </a:extLst>
          </p:cNvPr>
          <p:cNvPicPr>
            <a:picLocks noChangeAspect="1"/>
          </p:cNvPicPr>
          <p:nvPr/>
        </p:nvPicPr>
        <p:blipFill>
          <a:blip r:embed="rId3"/>
          <a:stretch>
            <a:fillRect/>
          </a:stretch>
        </p:blipFill>
        <p:spPr>
          <a:xfrm>
            <a:off x="1792986" y="1663923"/>
            <a:ext cx="4948428" cy="3377184"/>
          </a:xfrm>
          <a:prstGeom prst="rect">
            <a:avLst/>
          </a:prstGeom>
        </p:spPr>
      </p:pic>
      <p:sp>
        <p:nvSpPr>
          <p:cNvPr id="9" name="TextBox 8">
            <a:extLst>
              <a:ext uri="{FF2B5EF4-FFF2-40B4-BE49-F238E27FC236}">
                <a16:creationId xmlns:a16="http://schemas.microsoft.com/office/drawing/2014/main" id="{D8FC2C2B-7CD6-4E0D-BB58-3DC8AD3B64C3}"/>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491707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6879" y="1292304"/>
            <a:ext cx="7690901" cy="3474959"/>
          </a:xfrm>
        </p:spPr>
        <p:txBody>
          <a:bodyPr>
            <a:normAutofit/>
          </a:bodyPr>
          <a:lstStyle/>
          <a:p>
            <a:pPr>
              <a:buFont typeface="Courier New" panose="02070309020205020404" pitchFamily="49" charset="0"/>
              <a:buChar char="o"/>
            </a:pPr>
            <a:r>
              <a:rPr lang="en-US" b="1" dirty="0">
                <a:solidFill>
                  <a:srgbClr val="E3874F"/>
                </a:solidFill>
              </a:rPr>
              <a:t>Personal and File geodatabases </a:t>
            </a:r>
          </a:p>
          <a:p>
            <a:pPr lvl="1">
              <a:buFont typeface="Wingdings" panose="05000000000000000000" pitchFamily="2" charset="2"/>
              <a:buChar char="ü"/>
            </a:pPr>
            <a:r>
              <a:rPr lang="en-US" dirty="0"/>
              <a:t>Edited by a single user and do not support versioning</a:t>
            </a:r>
          </a:p>
          <a:p>
            <a:pPr lvl="1">
              <a:buFont typeface="Wingdings" panose="05000000000000000000" pitchFamily="2" charset="2"/>
              <a:buChar char="ü"/>
            </a:pPr>
            <a:r>
              <a:rPr lang="en-US" dirty="0"/>
              <a:t>Usually hosted and used on a local machine</a:t>
            </a:r>
          </a:p>
          <a:p>
            <a:pPr lvl="1">
              <a:buFont typeface="Wingdings" panose="05000000000000000000" pitchFamily="2" charset="2"/>
              <a:buChar char="ü"/>
            </a:pPr>
            <a:r>
              <a:rPr lang="en-US" dirty="0"/>
              <a:t>Personal geodatabase is only available on ArcMap, but not ArcGIS Pro</a:t>
            </a:r>
          </a:p>
          <a:p>
            <a:pPr>
              <a:buFont typeface="Courier New" panose="02070309020205020404" pitchFamily="49" charset="0"/>
              <a:buChar char="o"/>
            </a:pPr>
            <a:r>
              <a:rPr lang="en-US" b="1" dirty="0">
                <a:solidFill>
                  <a:srgbClr val="E3874F"/>
                </a:solidFill>
              </a:rPr>
              <a:t>Enterprise geodatabase</a:t>
            </a:r>
          </a:p>
          <a:p>
            <a:pPr lvl="1">
              <a:buFont typeface="Wingdings" panose="05000000000000000000" pitchFamily="2" charset="2"/>
              <a:buChar char="ü"/>
            </a:pPr>
            <a:r>
              <a:rPr lang="en-US" dirty="0"/>
              <a:t>Edited by multiple users and supports versioning</a:t>
            </a:r>
          </a:p>
          <a:p>
            <a:pPr lvl="1">
              <a:buFont typeface="Wingdings" panose="05000000000000000000" pitchFamily="2" charset="2"/>
              <a:buChar char="ü"/>
            </a:pPr>
            <a:r>
              <a:rPr lang="en-US" dirty="0"/>
              <a:t>Host locally or in an enterprise database system (Oracle, Microsoft SQL Server, IBM DB2, Informix, PostgreSQL)</a:t>
            </a:r>
          </a:p>
          <a:p>
            <a:pPr lvl="1">
              <a:buFont typeface="Wingdings" panose="05000000000000000000" pitchFamily="2" charset="2"/>
              <a:buChar char="ü"/>
            </a:pPr>
            <a:r>
              <a:rPr lang="en-US" dirty="0"/>
              <a:t>Using database management system</a:t>
            </a:r>
          </a:p>
        </p:txBody>
      </p:sp>
      <p:sp>
        <p:nvSpPr>
          <p:cNvPr id="2" name="Slide Number Placeholder 1">
            <a:extLst>
              <a:ext uri="{FF2B5EF4-FFF2-40B4-BE49-F238E27FC236}">
                <a16:creationId xmlns:a16="http://schemas.microsoft.com/office/drawing/2014/main" id="{687FD680-D66B-4C8C-833E-168B1573FAA6}"/>
              </a:ext>
            </a:extLst>
          </p:cNvPr>
          <p:cNvSpPr>
            <a:spLocks noGrp="1"/>
          </p:cNvSpPr>
          <p:nvPr>
            <p:ph type="sldNum" sz="quarter" idx="12"/>
          </p:nvPr>
        </p:nvSpPr>
        <p:spPr/>
        <p:txBody>
          <a:bodyPr/>
          <a:lstStyle/>
          <a:p>
            <a:fld id="{127DDC20-79C9-9647-820E-6D40A3D210C3}" type="slidenum">
              <a:rPr lang="en-US" smtClean="0"/>
              <a:pPr/>
              <a:t>46</a:t>
            </a:fld>
            <a:endParaRPr lang="en-US"/>
          </a:p>
        </p:txBody>
      </p:sp>
      <p:sp>
        <p:nvSpPr>
          <p:cNvPr id="4" name="Title 1">
            <a:extLst>
              <a:ext uri="{FF2B5EF4-FFF2-40B4-BE49-F238E27FC236}">
                <a16:creationId xmlns:a16="http://schemas.microsoft.com/office/drawing/2014/main" id="{B9031CA7-30AF-4EB6-9FC5-8C427D2DBFB3}"/>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ESRI Geodatabase</a:t>
            </a:r>
          </a:p>
        </p:txBody>
      </p:sp>
      <p:cxnSp>
        <p:nvCxnSpPr>
          <p:cNvPr id="5" name="Straight Connector 4">
            <a:extLst>
              <a:ext uri="{FF2B5EF4-FFF2-40B4-BE49-F238E27FC236}">
                <a16:creationId xmlns:a16="http://schemas.microsoft.com/office/drawing/2014/main" id="{FB07F9C2-ED0F-4C52-B318-EF41516706A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08016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numCol="2">
            <a:normAutofit/>
          </a:bodyPr>
          <a:lstStyle/>
          <a:p>
            <a:r>
              <a:rPr lang="en-US" dirty="0"/>
              <a:t>Feature classes</a:t>
            </a:r>
          </a:p>
          <a:p>
            <a:r>
              <a:rPr lang="en-US" dirty="0"/>
              <a:t>Feature dataset</a:t>
            </a:r>
          </a:p>
          <a:p>
            <a:r>
              <a:rPr lang="en-US" dirty="0"/>
              <a:t>Relationship class</a:t>
            </a:r>
          </a:p>
          <a:p>
            <a:r>
              <a:rPr lang="en-US" dirty="0"/>
              <a:t>Raster dataset</a:t>
            </a:r>
          </a:p>
          <a:p>
            <a:r>
              <a:rPr lang="en-US" dirty="0"/>
              <a:t>Tables</a:t>
            </a:r>
          </a:p>
          <a:p>
            <a:r>
              <a:rPr lang="en-US" dirty="0"/>
              <a:t>Toolboxes</a:t>
            </a:r>
          </a:p>
          <a:p>
            <a:r>
              <a:rPr lang="en-US" dirty="0"/>
              <a:t>Attachments</a:t>
            </a:r>
          </a:p>
          <a:p>
            <a:r>
              <a:rPr lang="en-US" dirty="0"/>
              <a:t>Geometric network</a:t>
            </a:r>
          </a:p>
          <a:p>
            <a:r>
              <a:rPr lang="en-US" dirty="0"/>
              <a:t>Network dataset</a:t>
            </a:r>
          </a:p>
          <a:p>
            <a:r>
              <a:rPr lang="en-US" dirty="0"/>
              <a:t>Terrain</a:t>
            </a:r>
          </a:p>
          <a:p>
            <a:r>
              <a:rPr lang="en-US" dirty="0"/>
              <a:t>Topology</a:t>
            </a:r>
          </a:p>
          <a:p>
            <a:r>
              <a:rPr lang="en-US" dirty="0"/>
              <a:t>…</a:t>
            </a:r>
          </a:p>
          <a:p>
            <a:endParaRPr lang="en-US" dirty="0"/>
          </a:p>
          <a:p>
            <a:pPr marL="0" indent="0">
              <a:buNone/>
            </a:pPr>
            <a:endParaRPr lang="en-US" dirty="0"/>
          </a:p>
        </p:txBody>
      </p:sp>
      <p:sp>
        <p:nvSpPr>
          <p:cNvPr id="2" name="Slide Number Placeholder 1">
            <a:extLst>
              <a:ext uri="{FF2B5EF4-FFF2-40B4-BE49-F238E27FC236}">
                <a16:creationId xmlns:a16="http://schemas.microsoft.com/office/drawing/2014/main" id="{6BCD553A-74DB-4C73-BF91-3A7500F99346}"/>
              </a:ext>
            </a:extLst>
          </p:cNvPr>
          <p:cNvSpPr>
            <a:spLocks noGrp="1"/>
          </p:cNvSpPr>
          <p:nvPr>
            <p:ph type="sldNum" sz="quarter" idx="12"/>
          </p:nvPr>
        </p:nvSpPr>
        <p:spPr/>
        <p:txBody>
          <a:bodyPr/>
          <a:lstStyle/>
          <a:p>
            <a:fld id="{127DDC20-79C9-9647-820E-6D40A3D210C3}" type="slidenum">
              <a:rPr lang="en-US" smtClean="0"/>
              <a:pPr/>
              <a:t>47</a:t>
            </a:fld>
            <a:endParaRPr lang="en-US"/>
          </a:p>
        </p:txBody>
      </p:sp>
      <p:sp>
        <p:nvSpPr>
          <p:cNvPr id="4" name="Title 1">
            <a:extLst>
              <a:ext uri="{FF2B5EF4-FFF2-40B4-BE49-F238E27FC236}">
                <a16:creationId xmlns:a16="http://schemas.microsoft.com/office/drawing/2014/main" id="{5A3826E7-0258-4B1C-B8C3-FDC321AAB06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Geodatabase Components</a:t>
            </a:r>
          </a:p>
        </p:txBody>
      </p:sp>
      <p:cxnSp>
        <p:nvCxnSpPr>
          <p:cNvPr id="5" name="Straight Connector 4">
            <a:extLst>
              <a:ext uri="{FF2B5EF4-FFF2-40B4-BE49-F238E27FC236}">
                <a16:creationId xmlns:a16="http://schemas.microsoft.com/office/drawing/2014/main" id="{AF24EBE0-E6F6-48EE-AE38-E3ACACC71AC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51572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751" y="1141408"/>
            <a:ext cx="6069813" cy="2881110"/>
          </a:xfrm>
        </p:spPr>
        <p:txBody>
          <a:bodyPr/>
          <a:lstStyle/>
          <a:p>
            <a:pPr>
              <a:buFont typeface="Courier New" panose="02070309020205020404" pitchFamily="49" charset="0"/>
              <a:buChar char="o"/>
            </a:pPr>
            <a:r>
              <a:rPr lang="en-US" dirty="0"/>
              <a:t>Feature Class</a:t>
            </a:r>
          </a:p>
          <a:p>
            <a:pPr lvl="1">
              <a:buFont typeface="Wingdings" panose="05000000000000000000" pitchFamily="2" charset="2"/>
              <a:buChar char="ü"/>
            </a:pPr>
            <a:r>
              <a:rPr lang="en-US" dirty="0"/>
              <a:t>Collection of features that share the same geometry (points, lines, or polygons) and spatial reference</a:t>
            </a:r>
          </a:p>
        </p:txBody>
      </p:sp>
      <p:sp>
        <p:nvSpPr>
          <p:cNvPr id="2" name="Slide Number Placeholder 1">
            <a:extLst>
              <a:ext uri="{FF2B5EF4-FFF2-40B4-BE49-F238E27FC236}">
                <a16:creationId xmlns:a16="http://schemas.microsoft.com/office/drawing/2014/main" id="{C5801804-1F8D-4800-9146-E84BB05AF957}"/>
              </a:ext>
            </a:extLst>
          </p:cNvPr>
          <p:cNvSpPr>
            <a:spLocks noGrp="1"/>
          </p:cNvSpPr>
          <p:nvPr>
            <p:ph type="sldNum" sz="quarter" idx="12"/>
          </p:nvPr>
        </p:nvSpPr>
        <p:spPr/>
        <p:txBody>
          <a:bodyPr/>
          <a:lstStyle/>
          <a:p>
            <a:fld id="{127DDC20-79C9-9647-820E-6D40A3D210C3}" type="slidenum">
              <a:rPr lang="en-US" smtClean="0"/>
              <a:pPr/>
              <a:t>48</a:t>
            </a:fld>
            <a:endParaRPr lang="en-US"/>
          </a:p>
        </p:txBody>
      </p:sp>
      <p:grpSp>
        <p:nvGrpSpPr>
          <p:cNvPr id="4" name="Group 3" descr="geodatabase structure example"/>
          <p:cNvGrpSpPr/>
          <p:nvPr/>
        </p:nvGrpSpPr>
        <p:grpSpPr>
          <a:xfrm>
            <a:off x="4989422" y="1411424"/>
            <a:ext cx="3035479" cy="3115365"/>
            <a:chOff x="7389810" y="1710446"/>
            <a:chExt cx="4495835" cy="4614154"/>
          </a:xfrm>
        </p:grpSpPr>
        <p:sp>
          <p:nvSpPr>
            <p:cNvPr id="5" name="Rectangle 4"/>
            <p:cNvSpPr/>
            <p:nvPr/>
          </p:nvSpPr>
          <p:spPr>
            <a:xfrm>
              <a:off x="7389810" y="1710446"/>
              <a:ext cx="3505200" cy="914400"/>
            </a:xfrm>
            <a:prstGeom prst="rect">
              <a:avLst/>
            </a:prstGeom>
            <a:solidFill>
              <a:srgbClr val="E3874F"/>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Geodatabase</a:t>
              </a:r>
            </a:p>
          </p:txBody>
        </p:sp>
        <p:sp>
          <p:nvSpPr>
            <p:cNvPr id="6" name="Rectangle 5"/>
            <p:cNvSpPr/>
            <p:nvPr/>
          </p:nvSpPr>
          <p:spPr>
            <a:xfrm>
              <a:off x="7618412" y="5791200"/>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7" name="Rectangle 6"/>
            <p:cNvSpPr/>
            <p:nvPr/>
          </p:nvSpPr>
          <p:spPr>
            <a:xfrm>
              <a:off x="9752012" y="3960373"/>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8" name="Rectangle 7"/>
            <p:cNvSpPr/>
            <p:nvPr/>
          </p:nvSpPr>
          <p:spPr>
            <a:xfrm>
              <a:off x="9752045" y="4795735"/>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9" name="Rectangle 8" descr="Geodatabase example"/>
            <p:cNvSpPr/>
            <p:nvPr/>
          </p:nvSpPr>
          <p:spPr>
            <a:xfrm>
              <a:off x="9294812" y="2949913"/>
              <a:ext cx="2057400" cy="708498"/>
            </a:xfrm>
            <a:prstGeom prst="rect">
              <a:avLst/>
            </a:prstGeom>
            <a:solidFill>
              <a:srgbClr val="E3874F"/>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Dataset</a:t>
              </a:r>
            </a:p>
          </p:txBody>
        </p:sp>
        <p:cxnSp>
          <p:nvCxnSpPr>
            <p:cNvPr id="10" name="Straight Connector 9"/>
            <p:cNvCxnSpPr>
              <a:endCxn id="6" idx="0"/>
            </p:cNvCxnSpPr>
            <p:nvPr/>
          </p:nvCxnSpPr>
          <p:spPr>
            <a:xfrm>
              <a:off x="8685212" y="2624846"/>
              <a:ext cx="0" cy="3166354"/>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9" idx="1"/>
            </p:cNvCxnSpPr>
            <p:nvPr/>
          </p:nvCxnSpPr>
          <p:spPr>
            <a:xfrm flipH="1">
              <a:off x="8685212" y="3304162"/>
              <a:ext cx="6096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9371012" y="3658411"/>
              <a:ext cx="0" cy="1404024"/>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7" idx="1"/>
            </p:cNvCxnSpPr>
            <p:nvPr/>
          </p:nvCxnSpPr>
          <p:spPr>
            <a:xfrm flipH="1">
              <a:off x="9371012" y="4227073"/>
              <a:ext cx="3810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8" idx="1"/>
            </p:cNvCxnSpPr>
            <p:nvPr/>
          </p:nvCxnSpPr>
          <p:spPr>
            <a:xfrm flipH="1">
              <a:off x="9371012" y="5062435"/>
              <a:ext cx="381033"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grpSp>
      <p:sp>
        <p:nvSpPr>
          <p:cNvPr id="17" name="Title 1">
            <a:extLst>
              <a:ext uri="{FF2B5EF4-FFF2-40B4-BE49-F238E27FC236}">
                <a16:creationId xmlns:a16="http://schemas.microsoft.com/office/drawing/2014/main" id="{5A1BBF52-B432-4C5A-BDE1-75CC0A47BF0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Geodatabase Components</a:t>
            </a:r>
          </a:p>
        </p:txBody>
      </p:sp>
      <p:cxnSp>
        <p:nvCxnSpPr>
          <p:cNvPr id="18" name="Straight Connector 17">
            <a:extLst>
              <a:ext uri="{FF2B5EF4-FFF2-40B4-BE49-F238E27FC236}">
                <a16:creationId xmlns:a16="http://schemas.microsoft.com/office/drawing/2014/main" id="{740CBCEF-092C-4FD2-96E2-4C95BDAF976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20" name="Picture 19" descr="Create features in geodatabase">
            <a:extLst>
              <a:ext uri="{FF2B5EF4-FFF2-40B4-BE49-F238E27FC236}">
                <a16:creationId xmlns:a16="http://schemas.microsoft.com/office/drawing/2014/main" id="{4414C3D1-9A4F-4078-AC7F-62CC986A20EC}"/>
              </a:ext>
            </a:extLst>
          </p:cNvPr>
          <p:cNvPicPr>
            <a:picLocks noChangeAspect="1"/>
          </p:cNvPicPr>
          <p:nvPr/>
        </p:nvPicPr>
        <p:blipFill>
          <a:blip r:embed="rId3"/>
          <a:stretch>
            <a:fillRect/>
          </a:stretch>
        </p:blipFill>
        <p:spPr>
          <a:xfrm>
            <a:off x="2639983" y="2912966"/>
            <a:ext cx="1731972" cy="2128141"/>
          </a:xfrm>
          <a:prstGeom prst="rect">
            <a:avLst/>
          </a:prstGeom>
        </p:spPr>
      </p:pic>
      <p:pic>
        <p:nvPicPr>
          <p:cNvPr id="22" name="Picture 21" descr="Geodatabase example">
            <a:extLst>
              <a:ext uri="{FF2B5EF4-FFF2-40B4-BE49-F238E27FC236}">
                <a16:creationId xmlns:a16="http://schemas.microsoft.com/office/drawing/2014/main" id="{15D26849-7332-41CD-8785-7794D52EB4F5}"/>
              </a:ext>
            </a:extLst>
          </p:cNvPr>
          <p:cNvPicPr>
            <a:picLocks noChangeAspect="1"/>
          </p:cNvPicPr>
          <p:nvPr/>
        </p:nvPicPr>
        <p:blipFill>
          <a:blip r:embed="rId4"/>
          <a:stretch>
            <a:fillRect/>
          </a:stretch>
        </p:blipFill>
        <p:spPr>
          <a:xfrm>
            <a:off x="747595" y="2912966"/>
            <a:ext cx="1645627" cy="2137846"/>
          </a:xfrm>
          <a:prstGeom prst="rect">
            <a:avLst/>
          </a:prstGeom>
        </p:spPr>
      </p:pic>
    </p:spTree>
    <p:extLst>
      <p:ext uri="{BB962C8B-B14F-4D97-AF65-F5344CB8AC3E}">
        <p14:creationId xmlns:p14="http://schemas.microsoft.com/office/powerpoint/2010/main" val="225627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8533" y="1017263"/>
            <a:ext cx="4433576" cy="3458078"/>
          </a:xfrm>
        </p:spPr>
        <p:txBody>
          <a:bodyPr>
            <a:normAutofit/>
          </a:bodyPr>
          <a:lstStyle/>
          <a:p>
            <a:pPr>
              <a:buFont typeface="Courier New" panose="02070309020205020404" pitchFamily="49" charset="0"/>
              <a:buChar char="o"/>
            </a:pPr>
            <a:r>
              <a:rPr lang="en-US" dirty="0"/>
              <a:t>Feature Datasets</a:t>
            </a:r>
          </a:p>
          <a:p>
            <a:pPr lvl="1">
              <a:buFont typeface="Wingdings" panose="05000000000000000000" pitchFamily="2" charset="2"/>
              <a:buChar char="ü"/>
            </a:pPr>
            <a:r>
              <a:rPr lang="en-US" dirty="0"/>
              <a:t>Collection of feature classes that have the same spatial reference</a:t>
            </a:r>
          </a:p>
          <a:p>
            <a:pPr lvl="1">
              <a:buFont typeface="Wingdings" panose="05000000000000000000" pitchFamily="2" charset="2"/>
              <a:buChar char="ü"/>
            </a:pPr>
            <a:r>
              <a:rPr lang="en-US" dirty="0"/>
              <a:t>Can be used to organize the data</a:t>
            </a:r>
          </a:p>
          <a:p>
            <a:pPr lvl="1">
              <a:buFont typeface="Wingdings" panose="05000000000000000000" pitchFamily="2" charset="2"/>
              <a:buChar char="ü"/>
            </a:pPr>
            <a:r>
              <a:rPr lang="en-US" dirty="0"/>
              <a:t>Can control data access and editing privileges</a:t>
            </a:r>
          </a:p>
          <a:p>
            <a:pPr lvl="1">
              <a:buFont typeface="Wingdings" panose="05000000000000000000" pitchFamily="2" charset="2"/>
              <a:buChar char="ü"/>
            </a:pPr>
            <a:r>
              <a:rPr lang="en-US" dirty="0"/>
              <a:t>Can organize data for sharing</a:t>
            </a:r>
          </a:p>
          <a:p>
            <a:pPr lvl="1">
              <a:buFont typeface="Wingdings" panose="05000000000000000000" pitchFamily="2" charset="2"/>
              <a:buChar char="ü"/>
            </a:pPr>
            <a:r>
              <a:rPr lang="en-US" dirty="0"/>
              <a:t>May be necessary</a:t>
            </a:r>
          </a:p>
          <a:p>
            <a:pPr lvl="2"/>
            <a:r>
              <a:rPr lang="en-US" dirty="0"/>
              <a:t>Build topology between features</a:t>
            </a:r>
          </a:p>
          <a:p>
            <a:pPr lvl="2"/>
            <a:r>
              <a:rPr lang="en-US" dirty="0"/>
              <a:t>Create a network dataset</a:t>
            </a:r>
          </a:p>
          <a:p>
            <a:pPr lvl="2"/>
            <a:r>
              <a:rPr lang="en-US" dirty="0"/>
              <a:t>Create a terrain dataset</a:t>
            </a:r>
          </a:p>
          <a:p>
            <a:pPr lvl="1">
              <a:buFont typeface="Wingdings" panose="05000000000000000000" pitchFamily="2" charset="2"/>
              <a:buChar char="ü"/>
            </a:pPr>
            <a:r>
              <a:rPr lang="en-US" dirty="0"/>
              <a:t>Must define spatial reference upfront</a:t>
            </a:r>
          </a:p>
        </p:txBody>
      </p:sp>
      <p:sp>
        <p:nvSpPr>
          <p:cNvPr id="2" name="Slide Number Placeholder 1">
            <a:extLst>
              <a:ext uri="{FF2B5EF4-FFF2-40B4-BE49-F238E27FC236}">
                <a16:creationId xmlns:a16="http://schemas.microsoft.com/office/drawing/2014/main" id="{CEAE9BBA-075E-4570-BD21-ECB21B9E343C}"/>
              </a:ext>
            </a:extLst>
          </p:cNvPr>
          <p:cNvSpPr>
            <a:spLocks noGrp="1"/>
          </p:cNvSpPr>
          <p:nvPr>
            <p:ph type="sldNum" sz="quarter" idx="12"/>
          </p:nvPr>
        </p:nvSpPr>
        <p:spPr/>
        <p:txBody>
          <a:bodyPr/>
          <a:lstStyle/>
          <a:p>
            <a:fld id="{127DDC20-79C9-9647-820E-6D40A3D210C3}" type="slidenum">
              <a:rPr lang="en-US" smtClean="0"/>
              <a:pPr/>
              <a:t>49</a:t>
            </a:fld>
            <a:endParaRPr lang="en-US"/>
          </a:p>
        </p:txBody>
      </p:sp>
      <p:grpSp>
        <p:nvGrpSpPr>
          <p:cNvPr id="4" name="Group 3" descr="geodatabase structure example"/>
          <p:cNvGrpSpPr/>
          <p:nvPr/>
        </p:nvGrpSpPr>
        <p:grpSpPr>
          <a:xfrm>
            <a:off x="4989422" y="1411424"/>
            <a:ext cx="3035479" cy="3115365"/>
            <a:chOff x="7389810" y="1710446"/>
            <a:chExt cx="4495835" cy="4614154"/>
          </a:xfrm>
        </p:grpSpPr>
        <p:sp>
          <p:nvSpPr>
            <p:cNvPr id="5" name="Rectangle 4"/>
            <p:cNvSpPr/>
            <p:nvPr/>
          </p:nvSpPr>
          <p:spPr>
            <a:xfrm>
              <a:off x="7389810" y="1710446"/>
              <a:ext cx="3505200" cy="914400"/>
            </a:xfrm>
            <a:prstGeom prst="rect">
              <a:avLst/>
            </a:prstGeom>
            <a:solidFill>
              <a:srgbClr val="E3874F"/>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Geodatabase</a:t>
              </a:r>
            </a:p>
          </p:txBody>
        </p:sp>
        <p:sp>
          <p:nvSpPr>
            <p:cNvPr id="6" name="Rectangle 5"/>
            <p:cNvSpPr/>
            <p:nvPr/>
          </p:nvSpPr>
          <p:spPr>
            <a:xfrm>
              <a:off x="7618412" y="5791200"/>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7" name="Rectangle 6"/>
            <p:cNvSpPr/>
            <p:nvPr/>
          </p:nvSpPr>
          <p:spPr>
            <a:xfrm>
              <a:off x="9752012" y="3960373"/>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8" name="Rectangle 7"/>
            <p:cNvSpPr/>
            <p:nvPr/>
          </p:nvSpPr>
          <p:spPr>
            <a:xfrm>
              <a:off x="9752045" y="4795735"/>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9" name="Rectangle 8"/>
            <p:cNvSpPr/>
            <p:nvPr/>
          </p:nvSpPr>
          <p:spPr>
            <a:xfrm>
              <a:off x="9294812" y="2949913"/>
              <a:ext cx="2057400" cy="708498"/>
            </a:xfrm>
            <a:prstGeom prst="rect">
              <a:avLst/>
            </a:prstGeom>
            <a:solidFill>
              <a:srgbClr val="E3874F"/>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Dataset</a:t>
              </a:r>
            </a:p>
          </p:txBody>
        </p:sp>
        <p:cxnSp>
          <p:nvCxnSpPr>
            <p:cNvPr id="10" name="Straight Connector 9"/>
            <p:cNvCxnSpPr>
              <a:endCxn id="6" idx="0"/>
            </p:cNvCxnSpPr>
            <p:nvPr/>
          </p:nvCxnSpPr>
          <p:spPr>
            <a:xfrm>
              <a:off x="8685212" y="2624846"/>
              <a:ext cx="0" cy="3166354"/>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9" idx="1"/>
            </p:cNvCxnSpPr>
            <p:nvPr/>
          </p:nvCxnSpPr>
          <p:spPr>
            <a:xfrm flipH="1">
              <a:off x="8685212" y="3304162"/>
              <a:ext cx="6096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9371012" y="3658411"/>
              <a:ext cx="0" cy="1404024"/>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7" idx="1"/>
            </p:cNvCxnSpPr>
            <p:nvPr/>
          </p:nvCxnSpPr>
          <p:spPr>
            <a:xfrm flipH="1">
              <a:off x="9371012" y="4227073"/>
              <a:ext cx="3810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8" idx="1"/>
            </p:cNvCxnSpPr>
            <p:nvPr/>
          </p:nvCxnSpPr>
          <p:spPr>
            <a:xfrm flipH="1">
              <a:off x="9371012" y="5062435"/>
              <a:ext cx="381033"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grpSp>
      <p:sp>
        <p:nvSpPr>
          <p:cNvPr id="15" name="Title 1">
            <a:extLst>
              <a:ext uri="{FF2B5EF4-FFF2-40B4-BE49-F238E27FC236}">
                <a16:creationId xmlns:a16="http://schemas.microsoft.com/office/drawing/2014/main" id="{B02EE77B-F631-4BE7-A3B9-7E188139DEE5}"/>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Geodatabase Components</a:t>
            </a:r>
          </a:p>
        </p:txBody>
      </p:sp>
      <p:cxnSp>
        <p:nvCxnSpPr>
          <p:cNvPr id="16" name="Straight Connector 15">
            <a:extLst>
              <a:ext uri="{FF2B5EF4-FFF2-40B4-BE49-F238E27FC236}">
                <a16:creationId xmlns:a16="http://schemas.microsoft.com/office/drawing/2014/main" id="{FBE09819-C03E-418C-8ED8-5EC03BA1078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55572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165976"/>
            <a:ext cx="7454900" cy="2515754"/>
          </a:xfrm>
        </p:spPr>
        <p:txBody>
          <a:bodyPr>
            <a:normAutofit/>
          </a:bodyPr>
          <a:lstStyle/>
          <a:p>
            <a:pPr>
              <a:buFont typeface="Courier New" panose="02070309020205020404" pitchFamily="49" charset="0"/>
              <a:buChar char="o"/>
            </a:pPr>
            <a:r>
              <a:rPr lang="en-US" dirty="0"/>
              <a:t>Domains</a:t>
            </a:r>
          </a:p>
          <a:p>
            <a:pPr lvl="1">
              <a:buFont typeface="Wingdings" panose="05000000000000000000" pitchFamily="2" charset="2"/>
              <a:buChar char="ü"/>
            </a:pPr>
            <a:r>
              <a:rPr lang="en-US" dirty="0"/>
              <a:t>A property of a geodatabase shared by the individual datasets</a:t>
            </a:r>
          </a:p>
          <a:p>
            <a:pPr lvl="1">
              <a:buFont typeface="Wingdings" panose="05000000000000000000" pitchFamily="2" charset="2"/>
              <a:buChar char="ü"/>
            </a:pPr>
            <a:r>
              <a:rPr lang="en-US" dirty="0"/>
              <a:t>Created at the geodatabase level</a:t>
            </a:r>
          </a:p>
          <a:p>
            <a:pPr lvl="1">
              <a:buFont typeface="Wingdings" panose="05000000000000000000" pitchFamily="2" charset="2"/>
              <a:buChar char="ü"/>
            </a:pPr>
            <a:r>
              <a:rPr lang="en-US" dirty="0"/>
              <a:t>Can be used to specify allowed values or entries to a field</a:t>
            </a:r>
          </a:p>
          <a:p>
            <a:pPr lvl="1">
              <a:buFont typeface="Wingdings" panose="05000000000000000000" pitchFamily="2" charset="2"/>
              <a:buChar char="ü"/>
            </a:pPr>
            <a:r>
              <a:rPr lang="en-US" b="1" dirty="0">
                <a:solidFill>
                  <a:srgbClr val="E3874F"/>
                </a:solidFill>
              </a:rPr>
              <a:t>Coded Values: </a:t>
            </a:r>
            <a:r>
              <a:rPr lang="en-US" dirty="0"/>
              <a:t>discrete values that represent allowed entries</a:t>
            </a:r>
          </a:p>
          <a:p>
            <a:pPr lvl="1">
              <a:buFont typeface="Wingdings" panose="05000000000000000000" pitchFamily="2" charset="2"/>
              <a:buChar char="ü"/>
            </a:pPr>
            <a:r>
              <a:rPr lang="en-US" b="1" dirty="0">
                <a:solidFill>
                  <a:srgbClr val="E3874F"/>
                </a:solidFill>
              </a:rPr>
              <a:t>Ranged Values: </a:t>
            </a:r>
            <a:r>
              <a:rPr lang="en-US" dirty="0"/>
              <a:t>stipulates that values can only be entered within a given range</a:t>
            </a:r>
          </a:p>
          <a:p>
            <a:endParaRPr lang="en-US" dirty="0"/>
          </a:p>
        </p:txBody>
      </p:sp>
      <p:sp>
        <p:nvSpPr>
          <p:cNvPr id="2" name="Slide Number Placeholder 1">
            <a:extLst>
              <a:ext uri="{FF2B5EF4-FFF2-40B4-BE49-F238E27FC236}">
                <a16:creationId xmlns:a16="http://schemas.microsoft.com/office/drawing/2014/main" id="{FB9E1447-62EF-457D-AB0D-38CE907D6CE1}"/>
              </a:ext>
            </a:extLst>
          </p:cNvPr>
          <p:cNvSpPr>
            <a:spLocks noGrp="1"/>
          </p:cNvSpPr>
          <p:nvPr>
            <p:ph type="sldNum" sz="quarter" idx="12"/>
          </p:nvPr>
        </p:nvSpPr>
        <p:spPr/>
        <p:txBody>
          <a:bodyPr/>
          <a:lstStyle/>
          <a:p>
            <a:fld id="{127DDC20-79C9-9647-820E-6D40A3D210C3}" type="slidenum">
              <a:rPr lang="en-US" smtClean="0"/>
              <a:pPr/>
              <a:t>50</a:t>
            </a:fld>
            <a:endParaRPr lang="en-US"/>
          </a:p>
        </p:txBody>
      </p:sp>
      <p:sp>
        <p:nvSpPr>
          <p:cNvPr id="7" name="Title 1">
            <a:extLst>
              <a:ext uri="{FF2B5EF4-FFF2-40B4-BE49-F238E27FC236}">
                <a16:creationId xmlns:a16="http://schemas.microsoft.com/office/drawing/2014/main" id="{09BFAB46-1A4B-48EA-9DA5-C8163B27630B}"/>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Geodatabase Components</a:t>
            </a:r>
          </a:p>
        </p:txBody>
      </p:sp>
      <p:cxnSp>
        <p:nvCxnSpPr>
          <p:cNvPr id="8" name="Straight Connector 7">
            <a:extLst>
              <a:ext uri="{FF2B5EF4-FFF2-40B4-BE49-F238E27FC236}">
                <a16:creationId xmlns:a16="http://schemas.microsoft.com/office/drawing/2014/main" id="{3C00FDDD-878E-4456-90F8-8F120964C7A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example of domain">
            <a:extLst>
              <a:ext uri="{FF2B5EF4-FFF2-40B4-BE49-F238E27FC236}">
                <a16:creationId xmlns:a16="http://schemas.microsoft.com/office/drawing/2014/main" id="{B74C0188-1F3A-4CE9-B472-5BFCB09346B3}"/>
              </a:ext>
            </a:extLst>
          </p:cNvPr>
          <p:cNvPicPr>
            <a:picLocks noChangeAspect="1"/>
          </p:cNvPicPr>
          <p:nvPr/>
        </p:nvPicPr>
        <p:blipFill>
          <a:blip r:embed="rId3"/>
          <a:stretch>
            <a:fillRect/>
          </a:stretch>
        </p:blipFill>
        <p:spPr>
          <a:xfrm>
            <a:off x="839301" y="3801504"/>
            <a:ext cx="6081098" cy="965759"/>
          </a:xfrm>
          <a:prstGeom prst="rect">
            <a:avLst/>
          </a:prstGeom>
        </p:spPr>
      </p:pic>
    </p:spTree>
    <p:extLst>
      <p:ext uri="{BB962C8B-B14F-4D97-AF65-F5344CB8AC3E}">
        <p14:creationId xmlns:p14="http://schemas.microsoft.com/office/powerpoint/2010/main" val="1930003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6171" y="1199666"/>
            <a:ext cx="3858629" cy="2881110"/>
          </a:xfrm>
        </p:spPr>
        <p:txBody>
          <a:bodyPr>
            <a:normAutofit/>
          </a:bodyPr>
          <a:lstStyle/>
          <a:p>
            <a:pPr>
              <a:buFont typeface="Courier New" panose="02070309020205020404" pitchFamily="49" charset="0"/>
              <a:buChar char="o"/>
            </a:pPr>
            <a:r>
              <a:rPr lang="en-US" dirty="0"/>
              <a:t>Subtypes</a:t>
            </a:r>
          </a:p>
          <a:p>
            <a:pPr lvl="1">
              <a:buFont typeface="Wingdings" panose="05000000000000000000" pitchFamily="2" charset="2"/>
              <a:buChar char="ü"/>
            </a:pPr>
            <a:r>
              <a:rPr lang="en-US" dirty="0"/>
              <a:t>Subsets of features in a feature class or table that share the same attribute</a:t>
            </a:r>
          </a:p>
          <a:p>
            <a:pPr lvl="1">
              <a:buFont typeface="Wingdings" panose="05000000000000000000" pitchFamily="2" charset="2"/>
              <a:buChar char="ü"/>
            </a:pPr>
            <a:r>
              <a:rPr lang="en-US" dirty="0"/>
              <a:t>Used to categorize data</a:t>
            </a:r>
          </a:p>
          <a:p>
            <a:pPr lvl="1">
              <a:buFont typeface="Wingdings" panose="05000000000000000000" pitchFamily="2" charset="2"/>
              <a:buChar char="ü"/>
            </a:pPr>
            <a:r>
              <a:rPr lang="en-US" dirty="0"/>
              <a:t>Use coded values</a:t>
            </a:r>
          </a:p>
          <a:p>
            <a:pPr marL="0" indent="0">
              <a:buNone/>
            </a:pPr>
            <a:endParaRPr lang="en-US" dirty="0"/>
          </a:p>
        </p:txBody>
      </p:sp>
      <p:sp>
        <p:nvSpPr>
          <p:cNvPr id="2" name="Slide Number Placeholder 1">
            <a:extLst>
              <a:ext uri="{FF2B5EF4-FFF2-40B4-BE49-F238E27FC236}">
                <a16:creationId xmlns:a16="http://schemas.microsoft.com/office/drawing/2014/main" id="{D5A02A69-F2B9-4D10-AAFD-56F4222CF199}"/>
              </a:ext>
            </a:extLst>
          </p:cNvPr>
          <p:cNvSpPr>
            <a:spLocks noGrp="1"/>
          </p:cNvSpPr>
          <p:nvPr>
            <p:ph type="sldNum" sz="quarter" idx="12"/>
          </p:nvPr>
        </p:nvSpPr>
        <p:spPr/>
        <p:txBody>
          <a:bodyPr/>
          <a:lstStyle/>
          <a:p>
            <a:fld id="{127DDC20-79C9-9647-820E-6D40A3D210C3}" type="slidenum">
              <a:rPr lang="en-US" smtClean="0"/>
              <a:pPr/>
              <a:t>51</a:t>
            </a:fld>
            <a:endParaRPr lang="en-US"/>
          </a:p>
        </p:txBody>
      </p:sp>
      <p:pic>
        <p:nvPicPr>
          <p:cNvPr id="4" name="Picture 3" descr="example of subtypes"/>
          <p:cNvPicPr/>
          <p:nvPr/>
        </p:nvPicPr>
        <p:blipFill>
          <a:blip r:embed="rId3"/>
          <a:stretch>
            <a:fillRect/>
          </a:stretch>
        </p:blipFill>
        <p:spPr>
          <a:xfrm>
            <a:off x="4667384" y="1199718"/>
            <a:ext cx="2399639" cy="3031091"/>
          </a:xfrm>
          <a:prstGeom prst="rect">
            <a:avLst/>
          </a:prstGeom>
        </p:spPr>
      </p:pic>
      <p:sp>
        <p:nvSpPr>
          <p:cNvPr id="5" name="Title 1">
            <a:extLst>
              <a:ext uri="{FF2B5EF4-FFF2-40B4-BE49-F238E27FC236}">
                <a16:creationId xmlns:a16="http://schemas.microsoft.com/office/drawing/2014/main" id="{7FF023A4-CBCD-4ED2-B73C-A4C183AF0C53}"/>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Geodatabase Components</a:t>
            </a:r>
          </a:p>
        </p:txBody>
      </p:sp>
      <p:cxnSp>
        <p:nvCxnSpPr>
          <p:cNvPr id="6" name="Straight Connector 5">
            <a:extLst>
              <a:ext uri="{FF2B5EF4-FFF2-40B4-BE49-F238E27FC236}">
                <a16:creationId xmlns:a16="http://schemas.microsoft.com/office/drawing/2014/main" id="{D260EBD6-FE5B-46D3-A0EA-8DE37019192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82256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0108" y="1131195"/>
            <a:ext cx="5094813" cy="2881110"/>
          </a:xfrm>
        </p:spPr>
        <p:txBody>
          <a:bodyPr>
            <a:normAutofit/>
          </a:bodyPr>
          <a:lstStyle/>
          <a:p>
            <a:pPr>
              <a:buFont typeface="Courier New" panose="02070309020205020404" pitchFamily="49" charset="0"/>
              <a:buChar char="o"/>
            </a:pPr>
            <a:r>
              <a:rPr lang="en-US" dirty="0"/>
              <a:t>Use ArcGIS Pro or ArcCatalog </a:t>
            </a:r>
          </a:p>
          <a:p>
            <a:pPr>
              <a:buFont typeface="Courier New" panose="02070309020205020404" pitchFamily="49" charset="0"/>
              <a:buChar char="o"/>
            </a:pPr>
            <a:r>
              <a:rPr lang="en-US" dirty="0"/>
              <a:t>Can import data into the geodatabase</a:t>
            </a:r>
          </a:p>
          <a:p>
            <a:pPr>
              <a:buFont typeface="Courier New" panose="02070309020205020404" pitchFamily="49" charset="0"/>
              <a:buChar char="o"/>
            </a:pPr>
            <a:r>
              <a:rPr lang="en-US" dirty="0"/>
              <a:t>Can also create new features</a:t>
            </a:r>
          </a:p>
        </p:txBody>
      </p:sp>
      <p:sp>
        <p:nvSpPr>
          <p:cNvPr id="2" name="Slide Number Placeholder 1">
            <a:extLst>
              <a:ext uri="{FF2B5EF4-FFF2-40B4-BE49-F238E27FC236}">
                <a16:creationId xmlns:a16="http://schemas.microsoft.com/office/drawing/2014/main" id="{DFA588FF-3558-4EEF-BAC8-B3B20E8D8254}"/>
              </a:ext>
            </a:extLst>
          </p:cNvPr>
          <p:cNvSpPr>
            <a:spLocks noGrp="1"/>
          </p:cNvSpPr>
          <p:nvPr>
            <p:ph type="sldNum" sz="quarter" idx="12"/>
          </p:nvPr>
        </p:nvSpPr>
        <p:spPr/>
        <p:txBody>
          <a:bodyPr/>
          <a:lstStyle/>
          <a:p>
            <a:fld id="{127DDC20-79C9-9647-820E-6D40A3D210C3}" type="slidenum">
              <a:rPr lang="en-US" smtClean="0"/>
              <a:pPr/>
              <a:t>52</a:t>
            </a:fld>
            <a:endParaRPr lang="en-US"/>
          </a:p>
        </p:txBody>
      </p:sp>
      <p:sp>
        <p:nvSpPr>
          <p:cNvPr id="10" name="Title 1">
            <a:extLst>
              <a:ext uri="{FF2B5EF4-FFF2-40B4-BE49-F238E27FC236}">
                <a16:creationId xmlns:a16="http://schemas.microsoft.com/office/drawing/2014/main" id="{1D8F38C8-0FB7-411A-A345-CBBF78B3D8D7}"/>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Creating a New Geodatabase</a:t>
            </a:r>
          </a:p>
        </p:txBody>
      </p:sp>
      <p:cxnSp>
        <p:nvCxnSpPr>
          <p:cNvPr id="11" name="Straight Connector 10">
            <a:extLst>
              <a:ext uri="{FF2B5EF4-FFF2-40B4-BE49-F238E27FC236}">
                <a16:creationId xmlns:a16="http://schemas.microsoft.com/office/drawing/2014/main" id="{7D357B34-4E30-4D4D-A24E-D1545B731D1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5" name="Picture 14">
            <a:extLst>
              <a:ext uri="{FF2B5EF4-FFF2-40B4-BE49-F238E27FC236}">
                <a16:creationId xmlns:a16="http://schemas.microsoft.com/office/drawing/2014/main" id="{938219CE-8012-4108-AB0C-48FA0B1CF517}"/>
              </a:ext>
            </a:extLst>
          </p:cNvPr>
          <p:cNvPicPr/>
          <p:nvPr/>
        </p:nvPicPr>
        <p:blipFill>
          <a:blip r:embed="rId3"/>
          <a:stretch>
            <a:fillRect/>
          </a:stretch>
        </p:blipFill>
        <p:spPr>
          <a:xfrm>
            <a:off x="787743" y="3252153"/>
            <a:ext cx="2458361" cy="1698693"/>
          </a:xfrm>
          <a:prstGeom prst="rect">
            <a:avLst/>
          </a:prstGeom>
        </p:spPr>
      </p:pic>
      <p:pic>
        <p:nvPicPr>
          <p:cNvPr id="6" name="Picture 5">
            <a:extLst>
              <a:ext uri="{FF2B5EF4-FFF2-40B4-BE49-F238E27FC236}">
                <a16:creationId xmlns:a16="http://schemas.microsoft.com/office/drawing/2014/main" id="{C7A18CD0-B640-4E9E-86FC-E3CA9A3C4824}"/>
              </a:ext>
            </a:extLst>
          </p:cNvPr>
          <p:cNvPicPr>
            <a:picLocks noChangeAspect="1"/>
          </p:cNvPicPr>
          <p:nvPr/>
        </p:nvPicPr>
        <p:blipFill>
          <a:blip r:embed="rId4"/>
          <a:stretch>
            <a:fillRect/>
          </a:stretch>
        </p:blipFill>
        <p:spPr>
          <a:xfrm>
            <a:off x="4361748" y="3273276"/>
            <a:ext cx="2944135" cy="1677570"/>
          </a:xfrm>
          <a:prstGeom prst="rect">
            <a:avLst/>
          </a:prstGeom>
        </p:spPr>
      </p:pic>
      <p:pic>
        <p:nvPicPr>
          <p:cNvPr id="8" name="Picture 7">
            <a:extLst>
              <a:ext uri="{FF2B5EF4-FFF2-40B4-BE49-F238E27FC236}">
                <a16:creationId xmlns:a16="http://schemas.microsoft.com/office/drawing/2014/main" id="{CDD8E3B6-F207-49D5-9B14-A07E16AAA430}"/>
              </a:ext>
            </a:extLst>
          </p:cNvPr>
          <p:cNvPicPr>
            <a:picLocks noChangeAspect="1"/>
          </p:cNvPicPr>
          <p:nvPr/>
        </p:nvPicPr>
        <p:blipFill>
          <a:blip r:embed="rId5"/>
          <a:stretch>
            <a:fillRect/>
          </a:stretch>
        </p:blipFill>
        <p:spPr>
          <a:xfrm>
            <a:off x="6291262" y="1825687"/>
            <a:ext cx="447675" cy="695325"/>
          </a:xfrm>
          <a:prstGeom prst="rect">
            <a:avLst/>
          </a:prstGeom>
        </p:spPr>
      </p:pic>
    </p:spTree>
    <p:extLst>
      <p:ext uri="{BB962C8B-B14F-4D97-AF65-F5344CB8AC3E}">
        <p14:creationId xmlns:p14="http://schemas.microsoft.com/office/powerpoint/2010/main" val="4208292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53</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9&quot;/&gt;&lt;/TableIndex&gt;&lt;TableIndex row=&quot;1&quot; col=&quot;2&quot;&gt;&lt;linesCount val=&quot;0&quot;/&gt;&lt;/TableIndex&gt;&lt;TableIndex row=&quot;2&quot; col=&quot;1&quot;&gt;&lt;linesCount val=&quot;1&quot;/&gt;&lt;lineCharCount val=&quot;13&quot;/&gt;&lt;/TableIndex&gt;&lt;TableIndex row=&quot;2&quot; col=&quot;2&quot;&gt;&lt;linesCount val=&quot;1&quot;/&gt;&lt;lineCharCount val=&quot;41&quot;/&gt;&lt;/TableIndex&gt;&lt;TableIndex row=&quot;3&quot; col=&quot;1&quot;&gt;&lt;linesCount val=&quot;1&quot;/&gt;&lt;lineCharCount val=&quot;12&quot;/&gt;&lt;/TableIndex&gt;&lt;TableIndex row=&quot;3&quot; col=&quot;2&quot;&gt;&lt;linesCount val=&quot;2&quot;/&gt;&lt;lineCharCount val=&quot;42&quot;/&gt;&lt;lineCharCount val=&quot;13&quot;/&gt;&lt;/TableIndex&gt;&lt;TableIndex row=&quot;4&quot; col=&quot;1&quot;&gt;&lt;linesCount val=&quot;1&quot;/&gt;&lt;lineCharCount val=&quot;5&quot;/&gt;&lt;/TableIndex&gt;&lt;TableIndex row=&quot;4&quot; col=&quot;2&quot;&gt;&lt;linesCount val=&quot;1&quot;/&gt;&lt;lineCharCount val=&quot;38&quot;/&gt;&lt;/TableIndex&gt;&lt;TableIndex row=&quot;5&quot; col=&quot;1&quot;&gt;&lt;linesCount val=&quot;1&quot;/&gt;&lt;lineCharCount val=&quot;6&quot;/&gt;&lt;/TableIndex&gt;&lt;TableIndex row=&quot;5&quot; col=&quot;2&quot;&gt;&lt;linesCount val=&quot;1&quot;/&gt;&lt;lineCharCount val=&quot;45&quot;/&gt;&lt;/TableIndex&gt;&lt;TableIndex row=&quot;6&quot; col=&quot;1&quot;&gt;&lt;linesCount val=&quot;1&quot;/&gt;&lt;lineCharCount val=&quot;4&quot;/&gt;&lt;/TableIndex&gt;&lt;TableIndex row=&quot;6&quot; col=&quot;2&quot;&gt;&lt;linesCount val=&quot;1&quot;/&gt;&lt;lineCharCount val=&quot;12&quot;/&gt;&lt;/TableIndex&gt;&lt;TableIndex row=&quot;7&quot; col=&quot;1&quot;&gt;&lt;linesCount val=&quot;1&quot;/&gt;&lt;lineCharCount val=&quot;4&quot;/&gt;&lt;/TableIndex&gt;&lt;TableIndex row=&quot;7&quot; col=&quot;2&quot;&gt;&lt;linesCount val=&quot;1&quot;/&gt;&lt;lineCharCount val=&quot;22&quot;/&gt;&lt;/TableIndex&gt;&lt;/ShapeTextInfo&gt;"/>
  <p:tag name="PRESENTER_SHAPEINFO" val="&lt;ThreeDShapeInfo&gt;&lt;uuid val=&quot;{CDFF7BC7-18B8-42DC-A522-5CEF65B26C86}&quot;/&gt;&lt;isInvalidForFieldText val=&quot;0&quot;/&gt;&lt;Image&gt;&lt;filename val=&quot;C:\Users\amaxwel6\AppData\Local\Temp\CP10972185572203Session\CPTrustFolder10972185572203\PPTImport10972188411375\data\asimages\{CDFF7BC7-18B8-42DC-A522-5CEF65B26C86}_9.png&quot;/&gt;&lt;left val=&quot;287&quot;/&gt;&lt;top val=&quot;388&quot;/&gt;&lt;width val=&quot;962&quot;/&gt;&lt;height val=&quot;313&quot;/&gt;&lt;hasText val=&quot;1&quot;/&gt;&lt;/Image&gt;&lt;/ThreeDShapeInfo&gt;"/>
</p:tagLst>
</file>

<file path=ppt/theme/theme1.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3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4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Week04_GEOG2475_Tu</Template>
  <TotalTime>7661</TotalTime>
  <Words>5701</Words>
  <Application>Microsoft Office PowerPoint</Application>
  <PresentationFormat>Custom</PresentationFormat>
  <Paragraphs>688</Paragraphs>
  <Slides>53</Slides>
  <Notes>51</Notes>
  <HiddenSlides>0</HiddenSlides>
  <MMClips>0</MMClips>
  <ScaleCrop>false</ScaleCrop>
  <HeadingPairs>
    <vt:vector size="6" baseType="variant">
      <vt:variant>
        <vt:lpstr>Fonts Used</vt:lpstr>
      </vt:variant>
      <vt:variant>
        <vt:i4>10</vt:i4>
      </vt:variant>
      <vt:variant>
        <vt:lpstr>Theme</vt:lpstr>
      </vt:variant>
      <vt:variant>
        <vt:i4>5</vt:i4>
      </vt:variant>
      <vt:variant>
        <vt:lpstr>Slide Titles</vt:lpstr>
      </vt:variant>
      <vt:variant>
        <vt:i4>53</vt:i4>
      </vt:variant>
    </vt:vector>
  </HeadingPairs>
  <TitlesOfParts>
    <vt:vector size="68" baseType="lpstr">
      <vt:lpstr>Lucida Grande</vt:lpstr>
      <vt:lpstr>Arial</vt:lpstr>
      <vt:lpstr>Arial Black</vt:lpstr>
      <vt:lpstr>Calibri</vt:lpstr>
      <vt:lpstr>Courier New</vt:lpstr>
      <vt:lpstr>Lora</vt:lpstr>
      <vt:lpstr>Roboto</vt:lpstr>
      <vt:lpstr>Verdana</vt:lpstr>
      <vt:lpstr>Wingdings</vt:lpstr>
      <vt:lpstr>Wingdings 2</vt:lpstr>
      <vt:lpstr>2_DividendVTI</vt:lpstr>
      <vt:lpstr>DividendVTI</vt:lpstr>
      <vt:lpstr>1_DividendVTI</vt:lpstr>
      <vt:lpstr>3_DividendVTI</vt:lpstr>
      <vt:lpstr>4_DividendVTI</vt:lpstr>
      <vt:lpstr>WEEK 05  Geospatial Data  lecture</vt:lpstr>
      <vt:lpstr>4.1  Attribute table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Geodatabase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456</cp:revision>
  <cp:lastPrinted>2020-03-26T12:59:04Z</cp:lastPrinted>
  <dcterms:created xsi:type="dcterms:W3CDTF">2020-03-24T14:51:54Z</dcterms:created>
  <dcterms:modified xsi:type="dcterms:W3CDTF">2025-09-14T17:57:04Z</dcterms:modified>
</cp:coreProperties>
</file>