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 id="2147483709" r:id="rId5"/>
  </p:sldMasterIdLst>
  <p:notesMasterIdLst>
    <p:notesMasterId r:id="rId23"/>
  </p:notesMasterIdLst>
  <p:sldIdLst>
    <p:sldId id="914" r:id="rId6"/>
    <p:sldId id="1647" r:id="rId7"/>
    <p:sldId id="1648" r:id="rId8"/>
    <p:sldId id="267" r:id="rId9"/>
    <p:sldId id="646" r:id="rId10"/>
    <p:sldId id="297" r:id="rId11"/>
    <p:sldId id="290" r:id="rId12"/>
    <p:sldId id="647" r:id="rId13"/>
    <p:sldId id="289" r:id="rId14"/>
    <p:sldId id="1649" r:id="rId15"/>
    <p:sldId id="645" r:id="rId16"/>
    <p:sldId id="1650" r:id="rId17"/>
    <p:sldId id="1651" r:id="rId18"/>
    <p:sldId id="1652" r:id="rId19"/>
    <p:sldId id="1653" r:id="rId20"/>
    <p:sldId id="1658" r:id="rId21"/>
    <p:sldId id="1659" r:id="rId22"/>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41" autoAdjust="0"/>
  </p:normalViewPr>
  <p:slideViewPr>
    <p:cSldViewPr snapToGrid="0" snapToObjects="1">
      <p:cViewPr varScale="1">
        <p:scale>
          <a:sx n="123" d="100"/>
          <a:sy n="123" d="100"/>
        </p:scale>
        <p:origin x="1608"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a:t>
          </a:r>
          <a:r>
            <a:rPr lang="en-US" sz="1800">
              <a:solidFill>
                <a:srgbClr val="C00000"/>
              </a:solidFill>
            </a:rPr>
            <a:t>Sep 22, </a:t>
          </a:r>
          <a:r>
            <a:rPr lang="en-US" sz="1800" dirty="0">
              <a:solidFill>
                <a:srgbClr val="C00000"/>
              </a:solidFill>
            </a:rPr>
            <a:t>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a:t>
          </a:r>
          <a:r>
            <a:rPr lang="en-US" sz="1800" kern="1200">
              <a:solidFill>
                <a:srgbClr val="C00000"/>
              </a:solidFill>
            </a:rPr>
            <a:t>Sep 22, </a:t>
          </a:r>
          <a:r>
            <a:rPr lang="en-US" sz="1800" kern="1200" dirty="0">
              <a:solidFill>
                <a:srgbClr val="C00000"/>
              </a:solidFill>
            </a:rPr>
            <a:t>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9/17/2025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ESRI offers three</a:t>
            </a:r>
            <a:r>
              <a:rPr lang="en-US" baseline="0" dirty="0"/>
              <a:t> types of relational databases. </a:t>
            </a:r>
          </a:p>
          <a:p>
            <a:endParaRPr lang="en-US" baseline="0" dirty="0"/>
          </a:p>
          <a:p>
            <a:r>
              <a:rPr lang="en-US" baseline="0" dirty="0"/>
              <a:t>Personal and File geodatabases are designed to receive edits from only one user at a time. However, multiple users can access the data at once. These databases are generally hosted  or stored on a local machine as opposed to on a server using an enterprise database management system. </a:t>
            </a:r>
          </a:p>
          <a:p>
            <a:endParaRPr lang="en-US" baseline="0" dirty="0"/>
          </a:p>
          <a:p>
            <a:r>
              <a:rPr lang="en-US" baseline="0" dirty="0"/>
              <a:t>Enterprise geodatabases are meant to be stored on a server using a database management system and allow for multiple editors and users at once. </a:t>
            </a:r>
          </a:p>
          <a:p>
            <a:endParaRPr lang="en-US" baseline="0" dirty="0"/>
          </a:p>
          <a:p>
            <a:r>
              <a:rPr lang="en-US" b="0" i="0" dirty="0">
                <a:solidFill>
                  <a:srgbClr val="000000"/>
                </a:solidFill>
                <a:effectLst/>
                <a:latin typeface="Verdana" panose="020B0604030504040204" pitchFamily="34" charset="0"/>
              </a:rPr>
              <a:t>provides an editing environment that supports concurrent multiuser editing without creating multiple copies of the data. This editing environment is called versioning.</a:t>
            </a:r>
            <a:r>
              <a:rPr lang="en-US" b="0" i="0" baseline="0" dirty="0">
                <a:solidFill>
                  <a:srgbClr val="000000"/>
                </a:solidFill>
                <a:effectLst/>
                <a:latin typeface="Verdana" panose="020B0604030504040204" pitchFamily="34" charset="0"/>
              </a:rPr>
              <a:t> </a:t>
            </a:r>
            <a:r>
              <a:rPr lang="en-US" b="0" i="0" dirty="0">
                <a:solidFill>
                  <a:srgbClr val="000000"/>
                </a:solidFill>
                <a:effectLst/>
                <a:latin typeface="Verdana" panose="020B0604030504040204" pitchFamily="34" charset="0"/>
              </a:rPr>
              <a:t>an alternative, independent, persistent view of the database that does not involve creating a copy of the data</a:t>
            </a:r>
          </a:p>
          <a:p>
            <a:endParaRPr lang="en-US" b="0" i="0" baseline="0" dirty="0">
              <a:solidFill>
                <a:srgbClr val="000000"/>
              </a:solidFill>
              <a:effectLst/>
              <a:latin typeface="Verdana" panose="020B0604030504040204" pitchFamily="34" charset="0"/>
            </a:endParaRPr>
          </a:p>
          <a:p>
            <a:r>
              <a:rPr lang="en-US" baseline="0" dirty="0"/>
              <a:t>Note that personal geodatabase are being phased out. They are no longer supported in ArcGIS Pro but can be used in ArcMap. </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977836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variety</a:t>
            </a:r>
            <a:r>
              <a:rPr lang="en-US" baseline="0" dirty="0"/>
              <a:t> of different features can be stored in a geodatabase. Some of these features will be described in subsequent slides.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2477465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a:t>
            </a:r>
            <a:r>
              <a:rPr lang="en-US" baseline="0" dirty="0"/>
              <a:t> a geodatabase, vector data are stored as feature classes. </a:t>
            </a:r>
          </a:p>
          <a:p>
            <a:endParaRPr lang="en-US" baseline="0" dirty="0"/>
          </a:p>
          <a:p>
            <a:r>
              <a:rPr lang="en-US" baseline="0" dirty="0"/>
              <a:t>All features inside of a feature class must share the same geometry (points, lines, or polygons).</a:t>
            </a:r>
          </a:p>
          <a:p>
            <a:endParaRPr lang="en-US" baseline="0" dirty="0"/>
          </a:p>
          <a:p>
            <a:r>
              <a:rPr lang="en-US" baseline="0" dirty="0"/>
              <a:t>A spatial reference must be applied to a feature class.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This is an object-based model since the geometry and attribute data are stored in the same file. In a feature class, the geometry is stored as a column in a table as a binary large object or BLOB.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gdb</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058887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datasets</a:t>
            </a:r>
            <a:r>
              <a:rPr lang="en-US" baseline="0" dirty="0"/>
              <a:t> are collections of feature classes that have the same spatial reference. </a:t>
            </a:r>
          </a:p>
          <a:p>
            <a:endParaRPr lang="en-US" baseline="0" dirty="0"/>
          </a:p>
          <a:p>
            <a:r>
              <a:rPr lang="en-US" baseline="0" dirty="0"/>
              <a:t>You can think of feature datasets as subfolders within the database. </a:t>
            </a:r>
          </a:p>
          <a:p>
            <a:endParaRPr lang="en-US" baseline="0" dirty="0"/>
          </a:p>
          <a:p>
            <a:r>
              <a:rPr lang="en-US" baseline="0" dirty="0"/>
              <a:t>They can be used to organize your data. For example, if you have a geodatabase of utility data for a city, you could organize the electrical, water, and communication data into separate feature datasets. </a:t>
            </a:r>
          </a:p>
          <a:p>
            <a:endParaRPr lang="en-US" baseline="0" dirty="0"/>
          </a:p>
          <a:p>
            <a:r>
              <a:rPr lang="en-US" baseline="0" dirty="0"/>
              <a:t>You can also use feature datasets to control data access and editing privileges. For example, you could allow all utility workers access to data, but only those working on the with the electrical utilities could edit data in the feature dataset containing the electrical utility information. </a:t>
            </a:r>
          </a:p>
          <a:p>
            <a:endParaRPr lang="en-US" baseline="0" dirty="0"/>
          </a:p>
          <a:p>
            <a:r>
              <a:rPr lang="en-US" baseline="0" dirty="0"/>
              <a:t>Sometimes feature datasets are required. Examples include when you want to build or define topological relationships between layers, created network datasets, or create terrain datasets. </a:t>
            </a:r>
          </a:p>
          <a:p>
            <a:endParaRPr lang="en-US" baseline="0" dirty="0"/>
          </a:p>
          <a:p>
            <a:r>
              <a:rPr lang="en-US" baseline="0" dirty="0"/>
              <a:t>All data in the feature dataset must have the same spatial reference. </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4D4D4D"/>
                </a:solidFill>
                <a:effectLst/>
                <a:latin typeface="Lucida Grande"/>
              </a:rPr>
              <a:t>Common feature classes that act as data sources for terrains include the following: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4D4D4D"/>
                </a:solidFill>
                <a:effectLst/>
                <a:latin typeface="Lucida Grande"/>
              </a:rPr>
              <a:t>Multipoint feature classes of 3D mass points created from a data source such as lidar or sonar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4D4D4D"/>
                </a:solidFill>
                <a:effectLst/>
                <a:latin typeface="Lucida Grande"/>
              </a:rPr>
              <a:t>3D point and line feature classes created on photogrammetric workstations using stereo imagery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4D4D4D"/>
                </a:solidFill>
                <a:effectLst/>
                <a:latin typeface="Lucida Grande"/>
              </a:rPr>
              <a:t>Study area boundaries used to define the bounds of the terrain dataset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4D4D4D"/>
              </a:solidFill>
              <a:effectLst/>
              <a:latin typeface="Lucida Grande"/>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4D4D4D"/>
              </a:solidFill>
              <a:effectLst/>
              <a:latin typeface="Lucida Grande"/>
            </a:endParaRP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4151432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Domains are defined at the database level and can be applied to multiple features stored in the database. </a:t>
            </a:r>
          </a:p>
          <a:p>
            <a:endParaRPr lang="en-US" baseline="0" dirty="0"/>
          </a:p>
          <a:p>
            <a:r>
              <a:rPr lang="en-US" baseline="0" dirty="0"/>
              <a:t>They are used to define allowed values or entries to a field. </a:t>
            </a:r>
          </a:p>
          <a:p>
            <a:endParaRPr lang="en-US" baseline="0" dirty="0"/>
          </a:p>
          <a:p>
            <a:r>
              <a:rPr lang="en-US" baseline="0" dirty="0"/>
              <a:t>For example, if a field is meant to store a rating, you may only want the user to be able to enter between 0 and 5 stars. </a:t>
            </a:r>
          </a:p>
          <a:p>
            <a:endParaRPr lang="en-US" baseline="0" dirty="0"/>
          </a:p>
          <a:p>
            <a:r>
              <a:rPr lang="en-US" baseline="0" dirty="0"/>
              <a:t>Domains can also be used to define allowed categories. For example, a field of movie genres should only be able to store genres from a predefined list. </a:t>
            </a:r>
          </a:p>
          <a:p>
            <a:endParaRPr lang="en-US" baseline="0" dirty="0"/>
          </a:p>
          <a:p>
            <a:r>
              <a:rPr lang="en-US" baseline="0" dirty="0"/>
              <a:t>Coded values are generally used to set up allowed discrete entries or categories. A numeric code will be assigned to each category. For example, if you want to create a field that will store rock types for a geologic field collection, then you could associate a numeric code to each allowed rock type. </a:t>
            </a:r>
          </a:p>
          <a:p>
            <a:endParaRPr lang="en-US" baseline="0" dirty="0"/>
          </a:p>
          <a:p>
            <a:r>
              <a:rPr lang="en-US" baseline="0" dirty="0"/>
              <a:t>Ranged values are generally used when you want the user to be able to enter a number, but only within a defined range. For example, if a field is meant to store a percentage, then you would want the user to only be able to enter values between 0 and 100. </a:t>
            </a:r>
          </a:p>
          <a:p>
            <a:endParaRPr lang="en-US" baseline="0" dirty="0"/>
          </a:p>
          <a:p>
            <a:r>
              <a:rPr lang="en-US" baseline="0" dirty="0"/>
              <a:t>In the provide examples, coded values are being used to define the level of difficulty of a trail whereas ranged values are being used to specify the range of values allowed in a rating column. </a:t>
            </a:r>
          </a:p>
          <a:p>
            <a:endParaRPr lang="en-US" baseline="0" dirty="0"/>
          </a:p>
          <a:p>
            <a:r>
              <a:rPr lang="en-US" baseline="0" dirty="0"/>
              <a:t>Creating domains can be very useful. This will force the user to only enter valid data into a field.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046494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Subtypes</a:t>
            </a:r>
            <a:r>
              <a:rPr lang="en-US" baseline="0" dirty="0"/>
              <a:t> represent of features in a feature class or table that share the same attribute and are used to categorize data using coded values. </a:t>
            </a:r>
          </a:p>
          <a:p>
            <a:endParaRPr lang="en-US" baseline="0" dirty="0"/>
          </a:p>
          <a:p>
            <a:r>
              <a:rPr lang="en-US" baseline="0" dirty="0"/>
              <a:t>For example, in a layer that contains land parcels, subtypes could be defined relative to how the parcel is zoned (for example, public, commercial, or residential).</a:t>
            </a:r>
          </a:p>
          <a:p>
            <a:endParaRPr lang="en-US" baseline="0" dirty="0"/>
          </a:p>
          <a:p>
            <a:r>
              <a:rPr lang="en-US" baseline="0" dirty="0"/>
              <a:t>In the provided example, trails are being grouped into three subtypes as trail, motorized, and water.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744699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r>
              <a:rPr lang="en-US" baseline="0" dirty="0"/>
              <a:t> new file geodatabase can be created using ArcGIS Pro or </a:t>
            </a:r>
            <a:r>
              <a:rPr lang="en-US" baseline="0" dirty="0" err="1"/>
              <a:t>ArcCatalog</a:t>
            </a:r>
            <a:r>
              <a:rPr lang="en-US" baseline="0" dirty="0"/>
              <a:t>.</a:t>
            </a:r>
          </a:p>
          <a:p>
            <a:endParaRPr lang="en-US" baseline="0" dirty="0"/>
          </a:p>
          <a:p>
            <a:r>
              <a:rPr lang="en-US" baseline="0" dirty="0"/>
              <a:t>Once a database is created, you can create new empty feature classes within it or import data layers, such as </a:t>
            </a:r>
            <a:r>
              <a:rPr lang="en-US" baseline="0" dirty="0" err="1"/>
              <a:t>shapefiles</a:t>
            </a:r>
            <a:r>
              <a:rPr lang="en-US" baseline="0" dirty="0"/>
              <a:t>, tables, and raster grids. </a:t>
            </a:r>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917939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B6AF446-C7A3-4A2D-B01C-4080BC0DDC51}" type="datetime1">
              <a:rPr lang="en-US" smtClean="0"/>
              <a:t>9/17/2025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58763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E77A5B41-BFC4-4275-B283-99B49DA65AE7}" type="datetime1">
              <a:rPr lang="en-US" smtClean="0"/>
              <a:t>9/17/2025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87760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FC9F5041-7C46-4557-A8EF-D9C07452E04F}" type="datetime1">
              <a:rPr lang="en-US" smtClean="0"/>
              <a:t>9/17/2025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564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9165F29B-8031-46B1-B8C6-0E15991220BD}" type="datetime1">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6315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A26BC96-89B3-4A8F-8C3A-8FECB7F0AF50}" type="datetime1">
              <a:rPr lang="en-US" smtClean="0"/>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4067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979F6BEE-F3E4-4F76-B56D-1C48BBD7AEA9}" type="datetime1">
              <a:rPr lang="en-US" smtClean="0"/>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75778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F79E3-AE5C-4717-978E-15FC3620ACEF}" type="datetime1">
              <a:rPr lang="en-US" smtClean="0"/>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40972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07B82B69-02FF-4A00-BF94-063310C8EF70}" type="datetime1">
              <a:rPr lang="en-US" smtClean="0"/>
              <a:t>9/17/2025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1683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C7A3C19-50BF-43F6-AD63-C05469BE5035}" type="datetime1">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1256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ED35F4A-7979-4619-A182-7748F9FBAA45}" type="datetime1">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19234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E8A0E10-3CDB-43FE-B1B5-7D3654751138}" type="datetime1">
              <a:rPr lang="en-US" smtClean="0"/>
              <a:t>9/17/2025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92129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9/17/2025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30216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9/17/2025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6638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9/17/2025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99008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20239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70194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6872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35369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9/17/2025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264874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7137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038094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9/17/2025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41662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10506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4383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1087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372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3172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506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42931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305703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75794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1502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94723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0365377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31344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2137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3725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334864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75081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0208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11723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77751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4028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43057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38412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1447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74235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80456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6154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8360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2583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2965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239124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03341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94664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877377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70580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61ED8BDC-014F-440E-B651-A3D5A758B980}" type="datetime1">
              <a:rPr lang="en-US" smtClean="0"/>
              <a:t>9/17/2025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06637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9/17/2025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26801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123156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6723766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2505625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3" Type="http://schemas.openxmlformats.org/officeDocument/2006/relationships/hyperlink" Target="https://pro.arcgis.com/en/pro-app/latest/help/data/geodatabases/overview/types-of-geodatabases.ht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05 </a:t>
            </a:r>
            <a:br>
              <a:rPr lang="en-US" sz="2700" dirty="0">
                <a:solidFill>
                  <a:srgbClr val="FFFFFF"/>
                </a:solidFill>
              </a:rPr>
            </a:br>
            <a:r>
              <a:rPr lang="en-US" sz="2800" dirty="0"/>
              <a:t>geodatabase</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5.1 </a:t>
            </a:r>
            <a:br>
              <a:rPr lang="en-US" sz="4050" dirty="0">
                <a:solidFill>
                  <a:srgbClr val="FFFFFF"/>
                </a:solidFill>
              </a:rPr>
            </a:br>
            <a:r>
              <a:rPr lang="en-US" sz="4050" dirty="0">
                <a:solidFill>
                  <a:srgbClr val="FFFFFF"/>
                </a:solidFill>
              </a:rPr>
              <a:t>geodatabase</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048C-7F9E-B553-1035-9432E2DD4D8A}"/>
              </a:ext>
            </a:extLst>
          </p:cNvPr>
          <p:cNvSpPr>
            <a:spLocks noGrp="1"/>
          </p:cNvSpPr>
          <p:nvPr>
            <p:ph type="title"/>
          </p:nvPr>
        </p:nvSpPr>
        <p:spPr>
          <a:xfrm>
            <a:off x="392305" y="495902"/>
            <a:ext cx="7444991" cy="403281"/>
          </a:xfrm>
        </p:spPr>
        <p:txBody>
          <a:bodyPr/>
          <a:lstStyle/>
          <a:p>
            <a:r>
              <a:rPr lang="en-US" altLang="zh-CN" dirty="0"/>
              <a:t>Fundamentals of the geodatabase</a:t>
            </a:r>
            <a:endParaRPr lang="zh-CN" altLang="en-US" dirty="0"/>
          </a:p>
        </p:txBody>
      </p:sp>
      <p:sp>
        <p:nvSpPr>
          <p:cNvPr id="3" name="Content Placeholder 2">
            <a:extLst>
              <a:ext uri="{FF2B5EF4-FFF2-40B4-BE49-F238E27FC236}">
                <a16:creationId xmlns:a16="http://schemas.microsoft.com/office/drawing/2014/main" id="{E9192B32-5464-2AFB-6214-BFBFA5016C85}"/>
              </a:ext>
            </a:extLst>
          </p:cNvPr>
          <p:cNvSpPr>
            <a:spLocks noGrp="1"/>
          </p:cNvSpPr>
          <p:nvPr>
            <p:ph idx="1"/>
          </p:nvPr>
        </p:nvSpPr>
        <p:spPr>
          <a:xfrm>
            <a:off x="462048" y="1018240"/>
            <a:ext cx="7444990" cy="491606"/>
          </a:xfrm>
        </p:spPr>
        <p:txBody>
          <a:bodyPr>
            <a:normAutofit/>
          </a:bodyPr>
          <a:lstStyle/>
          <a:p>
            <a:r>
              <a:rPr lang="en-US" altLang="zh-CN" sz="1400" dirty="0"/>
              <a:t>The geodatabase is a collection of geographic datasets of various types.</a:t>
            </a:r>
            <a:endParaRPr lang="zh-CN" altLang="en-US" sz="1400" dirty="0"/>
          </a:p>
        </p:txBody>
      </p:sp>
      <p:pic>
        <p:nvPicPr>
          <p:cNvPr id="5" name="Picture 4">
            <a:extLst>
              <a:ext uri="{FF2B5EF4-FFF2-40B4-BE49-F238E27FC236}">
                <a16:creationId xmlns:a16="http://schemas.microsoft.com/office/drawing/2014/main" id="{5607B2CF-03C4-B712-7728-83901618C6C6}"/>
              </a:ext>
            </a:extLst>
          </p:cNvPr>
          <p:cNvPicPr>
            <a:picLocks noChangeAspect="1"/>
          </p:cNvPicPr>
          <p:nvPr/>
        </p:nvPicPr>
        <p:blipFill>
          <a:blip r:embed="rId2"/>
          <a:stretch>
            <a:fillRect/>
          </a:stretch>
        </p:blipFill>
        <p:spPr>
          <a:xfrm>
            <a:off x="1123627" y="1628903"/>
            <a:ext cx="5835112" cy="3352453"/>
          </a:xfrm>
          <a:prstGeom prst="rect">
            <a:avLst/>
          </a:prstGeom>
        </p:spPr>
      </p:pic>
    </p:spTree>
    <p:extLst>
      <p:ext uri="{BB962C8B-B14F-4D97-AF65-F5344CB8AC3E}">
        <p14:creationId xmlns:p14="http://schemas.microsoft.com/office/powerpoint/2010/main" val="892665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7449" y="1260494"/>
            <a:ext cx="7690901" cy="3013659"/>
          </a:xfrm>
        </p:spPr>
        <p:txBody>
          <a:bodyPr>
            <a:normAutofit fontScale="92500" lnSpcReduction="10000"/>
          </a:bodyPr>
          <a:lstStyle/>
          <a:p>
            <a:pPr>
              <a:buFont typeface="Courier New" panose="02070309020205020404" pitchFamily="49" charset="0"/>
              <a:buChar char="o"/>
            </a:pPr>
            <a:r>
              <a:rPr lang="en-US" sz="1800" b="1" dirty="0">
                <a:solidFill>
                  <a:srgbClr val="E3874F"/>
                </a:solidFill>
              </a:rPr>
              <a:t>File geodatabases </a:t>
            </a:r>
          </a:p>
          <a:p>
            <a:pPr lvl="1">
              <a:buFont typeface="Wingdings" panose="05000000000000000000" pitchFamily="2" charset="2"/>
              <a:buChar char="ü"/>
            </a:pPr>
            <a:r>
              <a:rPr lang="en-US" altLang="zh-CN" sz="1600" dirty="0"/>
              <a:t>A file geodatabase is stored as multiple files in a folder with a </a:t>
            </a:r>
            <a:r>
              <a:rPr lang="en-US" altLang="zh-CN" sz="1600" b="1" dirty="0"/>
              <a:t>.</a:t>
            </a:r>
            <a:r>
              <a:rPr lang="en-US" altLang="zh-CN" sz="1600" b="1" dirty="0" err="1"/>
              <a:t>gdb</a:t>
            </a:r>
            <a:r>
              <a:rPr lang="en-US" altLang="zh-CN" sz="1600" b="1" dirty="0"/>
              <a:t> </a:t>
            </a:r>
            <a:r>
              <a:rPr lang="en-US" altLang="zh-CN" sz="1600" dirty="0"/>
              <a:t>extension. </a:t>
            </a:r>
          </a:p>
          <a:p>
            <a:pPr lvl="1">
              <a:buFont typeface="Wingdings" panose="05000000000000000000" pitchFamily="2" charset="2"/>
              <a:buChar char="ü"/>
            </a:pPr>
            <a:r>
              <a:rPr lang="en-US" altLang="zh-CN" sz="1600" dirty="0"/>
              <a:t>Each dataset is contained in a single file. </a:t>
            </a:r>
          </a:p>
          <a:p>
            <a:pPr lvl="1">
              <a:buFont typeface="Wingdings" panose="05000000000000000000" pitchFamily="2" charset="2"/>
              <a:buChar char="ü"/>
            </a:pPr>
            <a:r>
              <a:rPr lang="en-US" altLang="zh-CN" sz="1600" dirty="0"/>
              <a:t>By default, files can grow to 1 TB, but this can be changed to 4 or 256 TB using a configuration keyword.</a:t>
            </a:r>
          </a:p>
          <a:p>
            <a:pPr>
              <a:buFont typeface="Wingdings" panose="05000000000000000000" pitchFamily="2" charset="2"/>
              <a:buChar char="ü"/>
            </a:pPr>
            <a:r>
              <a:rPr lang="en-US" sz="1900" b="1" dirty="0">
                <a:solidFill>
                  <a:srgbClr val="E3874F"/>
                </a:solidFill>
              </a:rPr>
              <a:t>Enterprise geodatabase</a:t>
            </a:r>
          </a:p>
          <a:p>
            <a:pPr lvl="1">
              <a:buFont typeface="Wingdings" panose="05000000000000000000" pitchFamily="2" charset="2"/>
              <a:buChar char="ü"/>
            </a:pPr>
            <a:r>
              <a:rPr lang="en-US" sz="1600" dirty="0"/>
              <a:t>Edited by multiple users and supports versioning.</a:t>
            </a:r>
          </a:p>
          <a:p>
            <a:pPr lvl="1">
              <a:buFont typeface="Wingdings" panose="05000000000000000000" pitchFamily="2" charset="2"/>
              <a:buChar char="ü"/>
            </a:pPr>
            <a:r>
              <a:rPr lang="en-US" altLang="zh-CN" sz="1600" dirty="0"/>
              <a:t>hey can be virtually unlimited in size and number of users.</a:t>
            </a:r>
            <a:endParaRPr lang="en-US" sz="1600" dirty="0"/>
          </a:p>
          <a:p>
            <a:pPr lvl="1">
              <a:buFont typeface="Wingdings" panose="05000000000000000000" pitchFamily="2" charset="2"/>
              <a:buChar char="ü"/>
            </a:pPr>
            <a:r>
              <a:rPr lang="en-US" sz="1600" dirty="0"/>
              <a:t>Host locally or in an enterprise database system (Oracle, Microsoft SQL Server, IBM DB2, Informix, PostgreSQL).</a:t>
            </a:r>
          </a:p>
        </p:txBody>
      </p:sp>
      <p:sp>
        <p:nvSpPr>
          <p:cNvPr id="2" name="Slide Number Placeholder 1">
            <a:extLst>
              <a:ext uri="{FF2B5EF4-FFF2-40B4-BE49-F238E27FC236}">
                <a16:creationId xmlns:a16="http://schemas.microsoft.com/office/drawing/2014/main" id="{687FD680-D66B-4C8C-833E-168B1573FAA6}"/>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4" name="Title 1">
            <a:extLst>
              <a:ext uri="{FF2B5EF4-FFF2-40B4-BE49-F238E27FC236}">
                <a16:creationId xmlns:a16="http://schemas.microsoft.com/office/drawing/2014/main" id="{B9031CA7-30AF-4EB6-9FC5-8C427D2DBFB3}"/>
              </a:ext>
            </a:extLst>
          </p:cNvPr>
          <p:cNvSpPr txBox="1">
            <a:spLocks/>
          </p:cNvSpPr>
          <p:nvPr/>
        </p:nvSpPr>
        <p:spPr>
          <a:xfrm>
            <a:off x="227021" y="2051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ESRI Geodatabase</a:t>
            </a:r>
          </a:p>
        </p:txBody>
      </p:sp>
      <p:cxnSp>
        <p:nvCxnSpPr>
          <p:cNvPr id="5" name="Straight Connector 4">
            <a:extLst>
              <a:ext uri="{FF2B5EF4-FFF2-40B4-BE49-F238E27FC236}">
                <a16:creationId xmlns:a16="http://schemas.microsoft.com/office/drawing/2014/main" id="{FB07F9C2-ED0F-4C52-B318-EF41516706A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A0FDDA9-8241-3E8D-9C64-4DB10174F3BA}"/>
              </a:ext>
            </a:extLst>
          </p:cNvPr>
          <p:cNvSpPr txBox="1"/>
          <p:nvPr/>
        </p:nvSpPr>
        <p:spPr>
          <a:xfrm>
            <a:off x="720671" y="4472252"/>
            <a:ext cx="4355024" cy="369332"/>
          </a:xfrm>
          <a:prstGeom prst="rect">
            <a:avLst/>
          </a:prstGeom>
          <a:noFill/>
        </p:spPr>
        <p:txBody>
          <a:bodyPr wrap="square" rtlCol="0">
            <a:spAutoFit/>
          </a:bodyPr>
          <a:lstStyle/>
          <a:p>
            <a:r>
              <a:rPr lang="en-US" altLang="zh-CN" dirty="0">
                <a:hlinkClick r:id="rId3"/>
              </a:rPr>
              <a:t>Comparing types of geodatabases</a:t>
            </a:r>
            <a:endParaRPr lang="zh-CN" altLang="en-US" dirty="0"/>
          </a:p>
        </p:txBody>
      </p:sp>
    </p:spTree>
    <p:extLst>
      <p:ext uri="{BB962C8B-B14F-4D97-AF65-F5344CB8AC3E}">
        <p14:creationId xmlns:p14="http://schemas.microsoft.com/office/powerpoint/2010/main" val="110801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8410" y="1061312"/>
            <a:ext cx="7444990" cy="3665399"/>
          </a:xfrm>
        </p:spPr>
        <p:txBody>
          <a:bodyPr numCol="2">
            <a:noAutofit/>
          </a:bodyPr>
          <a:lstStyle/>
          <a:p>
            <a:r>
              <a:rPr lang="en-US" sz="2400" dirty="0"/>
              <a:t>Feature classes</a:t>
            </a:r>
          </a:p>
          <a:p>
            <a:r>
              <a:rPr lang="en-US" sz="2400" dirty="0"/>
              <a:t>Feature dataset</a:t>
            </a:r>
          </a:p>
          <a:p>
            <a:r>
              <a:rPr lang="en-US" sz="2400" dirty="0"/>
              <a:t>Relationship class</a:t>
            </a:r>
          </a:p>
          <a:p>
            <a:r>
              <a:rPr lang="en-US" sz="2400" dirty="0"/>
              <a:t>Raster </a:t>
            </a:r>
            <a:r>
              <a:rPr lang="en-US" sz="2400" dirty="0" err="1"/>
              <a:t>dataaset</a:t>
            </a:r>
            <a:endParaRPr lang="en-US" sz="2400" dirty="0"/>
          </a:p>
          <a:p>
            <a:r>
              <a:rPr lang="en-US" sz="2400" dirty="0"/>
              <a:t>Tables</a:t>
            </a:r>
          </a:p>
          <a:p>
            <a:r>
              <a:rPr lang="en-US" sz="2400" dirty="0"/>
              <a:t>Toolboxes</a:t>
            </a:r>
          </a:p>
          <a:p>
            <a:r>
              <a:rPr lang="en-US" sz="2400" dirty="0"/>
              <a:t>Attachments</a:t>
            </a:r>
          </a:p>
          <a:p>
            <a:r>
              <a:rPr lang="en-US" sz="2400" dirty="0"/>
              <a:t>Geometric network</a:t>
            </a:r>
          </a:p>
          <a:p>
            <a:r>
              <a:rPr lang="en-US" sz="2400" dirty="0"/>
              <a:t>Network dataset</a:t>
            </a:r>
          </a:p>
          <a:p>
            <a:r>
              <a:rPr lang="en-US" sz="2400" dirty="0"/>
              <a:t>Terrain</a:t>
            </a:r>
          </a:p>
          <a:p>
            <a:r>
              <a:rPr lang="en-US" sz="2400" dirty="0"/>
              <a:t>Topology</a:t>
            </a:r>
          </a:p>
          <a:p>
            <a:r>
              <a:rPr lang="en-US" sz="2400" dirty="0"/>
              <a:t>…</a:t>
            </a:r>
          </a:p>
          <a:p>
            <a:endParaRPr lang="en-US" sz="2400" dirty="0"/>
          </a:p>
          <a:p>
            <a:pPr marL="0" indent="0">
              <a:buNone/>
            </a:pPr>
            <a:endParaRPr lang="en-US" sz="2400" dirty="0"/>
          </a:p>
        </p:txBody>
      </p:sp>
      <p:sp>
        <p:nvSpPr>
          <p:cNvPr id="2" name="Slide Number Placeholder 1">
            <a:extLst>
              <a:ext uri="{FF2B5EF4-FFF2-40B4-BE49-F238E27FC236}">
                <a16:creationId xmlns:a16="http://schemas.microsoft.com/office/drawing/2014/main" id="{6BCD553A-74DB-4C73-BF91-3A7500F99346}"/>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4" name="Title 1">
            <a:extLst>
              <a:ext uri="{FF2B5EF4-FFF2-40B4-BE49-F238E27FC236}">
                <a16:creationId xmlns:a16="http://schemas.microsoft.com/office/drawing/2014/main" id="{5A3826E7-0258-4B1C-B8C3-FDC321AAB064}"/>
              </a:ext>
            </a:extLst>
          </p:cNvPr>
          <p:cNvSpPr txBox="1">
            <a:spLocks/>
          </p:cNvSpPr>
          <p:nvPr/>
        </p:nvSpPr>
        <p:spPr>
          <a:xfrm>
            <a:off x="258018" y="488194"/>
            <a:ext cx="8077200" cy="419215"/>
          </a:xfrm>
          <a:prstGeom prst="rect">
            <a:avLst/>
          </a:prstGeom>
        </p:spPr>
        <p:txBody>
          <a:bodyPr vert="horz" lIns="91440" tIns="45720" rIns="91440" bIns="4572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Geodatabase Components</a:t>
            </a:r>
          </a:p>
        </p:txBody>
      </p:sp>
      <p:cxnSp>
        <p:nvCxnSpPr>
          <p:cNvPr id="5" name="Straight Connector 4">
            <a:extLst>
              <a:ext uri="{FF2B5EF4-FFF2-40B4-BE49-F238E27FC236}">
                <a16:creationId xmlns:a16="http://schemas.microsoft.com/office/drawing/2014/main" id="{AF24EBE0-E6F6-48EE-AE38-E3ACACC71AC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157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51" y="1141408"/>
            <a:ext cx="7999150" cy="795879"/>
          </a:xfrm>
        </p:spPr>
        <p:txBody>
          <a:bodyPr>
            <a:noAutofit/>
          </a:bodyPr>
          <a:lstStyle/>
          <a:p>
            <a:pPr>
              <a:buFont typeface="Courier New" panose="02070309020205020404" pitchFamily="49" charset="0"/>
              <a:buChar char="o"/>
            </a:pPr>
            <a:r>
              <a:rPr lang="en-US" sz="1800" dirty="0"/>
              <a:t>Feature Class</a:t>
            </a:r>
          </a:p>
          <a:p>
            <a:pPr lvl="1">
              <a:buFont typeface="Wingdings" panose="05000000000000000000" pitchFamily="2" charset="2"/>
              <a:buChar char="ü"/>
            </a:pPr>
            <a:r>
              <a:rPr lang="en-US" sz="1800" dirty="0"/>
              <a:t>Collection of features that share the same geometry (points, lines, or polygons) and spatial reference</a:t>
            </a:r>
          </a:p>
        </p:txBody>
      </p:sp>
      <p:sp>
        <p:nvSpPr>
          <p:cNvPr id="2" name="Slide Number Placeholder 1">
            <a:extLst>
              <a:ext uri="{FF2B5EF4-FFF2-40B4-BE49-F238E27FC236}">
                <a16:creationId xmlns:a16="http://schemas.microsoft.com/office/drawing/2014/main" id="{C5801804-1F8D-4800-9146-E84BB05AF957}"/>
              </a:ext>
            </a:extLst>
          </p:cNvPr>
          <p:cNvSpPr>
            <a:spLocks noGrp="1"/>
          </p:cNvSpPr>
          <p:nvPr>
            <p:ph type="sldNum" sz="quarter" idx="12"/>
          </p:nvPr>
        </p:nvSpPr>
        <p:spPr/>
        <p:txBody>
          <a:bodyPr/>
          <a:lstStyle/>
          <a:p>
            <a:fld id="{127DDC20-79C9-9647-820E-6D40A3D210C3}" type="slidenum">
              <a:rPr lang="en-US" smtClean="0"/>
              <a:pPr/>
              <a:t>6</a:t>
            </a:fld>
            <a:endParaRPr lang="en-US"/>
          </a:p>
        </p:txBody>
      </p:sp>
      <p:grpSp>
        <p:nvGrpSpPr>
          <p:cNvPr id="4" name="Group 3" descr="geodatabase structure example"/>
          <p:cNvGrpSpPr/>
          <p:nvPr/>
        </p:nvGrpSpPr>
        <p:grpSpPr>
          <a:xfrm>
            <a:off x="5066606" y="1925742"/>
            <a:ext cx="3035479" cy="3115365"/>
            <a:chOff x="7389810" y="1710446"/>
            <a:chExt cx="4495835" cy="4614154"/>
          </a:xfrm>
        </p:grpSpPr>
        <p:sp>
          <p:nvSpPr>
            <p:cNvPr id="5" name="Rectangle 4"/>
            <p:cNvSpPr/>
            <p:nvPr/>
          </p:nvSpPr>
          <p:spPr>
            <a:xfrm>
              <a:off x="7389810" y="1710446"/>
              <a:ext cx="3505200" cy="914400"/>
            </a:xfrm>
            <a:prstGeom prst="rect">
              <a:avLst/>
            </a:prstGeom>
            <a:solidFill>
              <a:srgbClr val="E3874F"/>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Geodatabase</a:t>
              </a:r>
            </a:p>
          </p:txBody>
        </p:sp>
        <p:sp>
          <p:nvSpPr>
            <p:cNvPr id="6" name="Rectangle 5"/>
            <p:cNvSpPr/>
            <p:nvPr/>
          </p:nvSpPr>
          <p:spPr>
            <a:xfrm>
              <a:off x="7618412" y="5791200"/>
              <a:ext cx="2133600" cy="533400"/>
            </a:xfrm>
            <a:prstGeom prst="rect">
              <a:avLst/>
            </a:prstGeom>
            <a:solidFill>
              <a:schemeClr val="tx2"/>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Class</a:t>
              </a:r>
            </a:p>
          </p:txBody>
        </p:sp>
        <p:sp>
          <p:nvSpPr>
            <p:cNvPr id="7" name="Rectangle 6"/>
            <p:cNvSpPr/>
            <p:nvPr/>
          </p:nvSpPr>
          <p:spPr>
            <a:xfrm>
              <a:off x="9752012" y="3960373"/>
              <a:ext cx="2133600" cy="533400"/>
            </a:xfrm>
            <a:prstGeom prst="rect">
              <a:avLst/>
            </a:prstGeom>
            <a:solidFill>
              <a:schemeClr val="tx2"/>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Class</a:t>
              </a:r>
            </a:p>
          </p:txBody>
        </p:sp>
        <p:sp>
          <p:nvSpPr>
            <p:cNvPr id="8" name="Rectangle 7"/>
            <p:cNvSpPr/>
            <p:nvPr/>
          </p:nvSpPr>
          <p:spPr>
            <a:xfrm>
              <a:off x="9752045" y="4795735"/>
              <a:ext cx="2133600" cy="533400"/>
            </a:xfrm>
            <a:prstGeom prst="rect">
              <a:avLst/>
            </a:prstGeom>
            <a:solidFill>
              <a:schemeClr val="tx2"/>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Class</a:t>
              </a:r>
            </a:p>
          </p:txBody>
        </p:sp>
        <p:sp>
          <p:nvSpPr>
            <p:cNvPr id="9" name="Rectangle 8" descr="Geodatabase example"/>
            <p:cNvSpPr/>
            <p:nvPr/>
          </p:nvSpPr>
          <p:spPr>
            <a:xfrm>
              <a:off x="9294812" y="2949913"/>
              <a:ext cx="2057400" cy="708498"/>
            </a:xfrm>
            <a:prstGeom prst="rect">
              <a:avLst/>
            </a:prstGeom>
            <a:solidFill>
              <a:srgbClr val="E3874F"/>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Dataset</a:t>
              </a:r>
            </a:p>
          </p:txBody>
        </p:sp>
        <p:cxnSp>
          <p:nvCxnSpPr>
            <p:cNvPr id="10" name="Straight Connector 9"/>
            <p:cNvCxnSpPr>
              <a:endCxn id="6" idx="0"/>
            </p:cNvCxnSpPr>
            <p:nvPr/>
          </p:nvCxnSpPr>
          <p:spPr>
            <a:xfrm>
              <a:off x="8685212" y="2624846"/>
              <a:ext cx="0" cy="3166354"/>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9" idx="1"/>
            </p:cNvCxnSpPr>
            <p:nvPr/>
          </p:nvCxnSpPr>
          <p:spPr>
            <a:xfrm flipH="1">
              <a:off x="8685212" y="3304162"/>
              <a:ext cx="6096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371012" y="3658411"/>
              <a:ext cx="0" cy="1404024"/>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1"/>
            </p:cNvCxnSpPr>
            <p:nvPr/>
          </p:nvCxnSpPr>
          <p:spPr>
            <a:xfrm flipH="1">
              <a:off x="9371012" y="4227073"/>
              <a:ext cx="3810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1"/>
            </p:cNvCxnSpPr>
            <p:nvPr/>
          </p:nvCxnSpPr>
          <p:spPr>
            <a:xfrm flipH="1">
              <a:off x="9371012" y="5062435"/>
              <a:ext cx="381033"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7" name="Title 1">
            <a:extLst>
              <a:ext uri="{FF2B5EF4-FFF2-40B4-BE49-F238E27FC236}">
                <a16:creationId xmlns:a16="http://schemas.microsoft.com/office/drawing/2014/main" id="{5A1BBF52-B432-4C5A-BDE1-75CC0A47BF04}"/>
              </a:ext>
            </a:extLst>
          </p:cNvPr>
          <p:cNvSpPr txBox="1">
            <a:spLocks/>
          </p:cNvSpPr>
          <p:nvPr/>
        </p:nvSpPr>
        <p:spPr>
          <a:xfrm>
            <a:off x="152400" y="19133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Geodatabase Components</a:t>
            </a:r>
          </a:p>
        </p:txBody>
      </p:sp>
      <p:cxnSp>
        <p:nvCxnSpPr>
          <p:cNvPr id="18" name="Straight Connector 17">
            <a:extLst>
              <a:ext uri="{FF2B5EF4-FFF2-40B4-BE49-F238E27FC236}">
                <a16:creationId xmlns:a16="http://schemas.microsoft.com/office/drawing/2014/main" id="{740CBCEF-092C-4FD2-96E2-4C95BDAF97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0" name="Picture 19" descr="Create features in geodatabase">
            <a:extLst>
              <a:ext uri="{FF2B5EF4-FFF2-40B4-BE49-F238E27FC236}">
                <a16:creationId xmlns:a16="http://schemas.microsoft.com/office/drawing/2014/main" id="{4414C3D1-9A4F-4078-AC7F-62CC986A20EC}"/>
              </a:ext>
            </a:extLst>
          </p:cNvPr>
          <p:cNvPicPr>
            <a:picLocks noChangeAspect="1"/>
          </p:cNvPicPr>
          <p:nvPr/>
        </p:nvPicPr>
        <p:blipFill>
          <a:blip r:embed="rId3"/>
          <a:stretch>
            <a:fillRect/>
          </a:stretch>
        </p:blipFill>
        <p:spPr>
          <a:xfrm>
            <a:off x="2340015" y="2234431"/>
            <a:ext cx="1903437" cy="2338827"/>
          </a:xfrm>
          <a:prstGeom prst="rect">
            <a:avLst/>
          </a:prstGeom>
        </p:spPr>
      </p:pic>
      <p:pic>
        <p:nvPicPr>
          <p:cNvPr id="22" name="Picture 21" descr="Geodatabase example">
            <a:extLst>
              <a:ext uri="{FF2B5EF4-FFF2-40B4-BE49-F238E27FC236}">
                <a16:creationId xmlns:a16="http://schemas.microsoft.com/office/drawing/2014/main" id="{15D26849-7332-41CD-8785-7794D52EB4F5}"/>
              </a:ext>
            </a:extLst>
          </p:cNvPr>
          <p:cNvPicPr>
            <a:picLocks noChangeAspect="1"/>
          </p:cNvPicPr>
          <p:nvPr/>
        </p:nvPicPr>
        <p:blipFill>
          <a:blip r:embed="rId4"/>
          <a:stretch>
            <a:fillRect/>
          </a:stretch>
        </p:blipFill>
        <p:spPr>
          <a:xfrm>
            <a:off x="369042" y="2234431"/>
            <a:ext cx="1800334" cy="2338827"/>
          </a:xfrm>
          <a:prstGeom prst="rect">
            <a:avLst/>
          </a:prstGeom>
        </p:spPr>
      </p:pic>
    </p:spTree>
    <p:extLst>
      <p:ext uri="{BB962C8B-B14F-4D97-AF65-F5344CB8AC3E}">
        <p14:creationId xmlns:p14="http://schemas.microsoft.com/office/powerpoint/2010/main" val="225627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017263"/>
            <a:ext cx="4433576" cy="2601590"/>
          </a:xfrm>
        </p:spPr>
        <p:txBody>
          <a:bodyPr>
            <a:normAutofit/>
          </a:bodyPr>
          <a:lstStyle/>
          <a:p>
            <a:pPr>
              <a:buFont typeface="Courier New" panose="02070309020205020404" pitchFamily="49" charset="0"/>
              <a:buChar char="o"/>
            </a:pPr>
            <a:r>
              <a:rPr lang="en-US" dirty="0"/>
              <a:t>Feature Datasets</a:t>
            </a:r>
          </a:p>
          <a:p>
            <a:pPr lvl="1">
              <a:buFont typeface="Wingdings" panose="05000000000000000000" pitchFamily="2" charset="2"/>
              <a:buChar char="ü"/>
            </a:pPr>
            <a:r>
              <a:rPr lang="en-US" dirty="0"/>
              <a:t>Collection of feature classes that have the same spatial reference</a:t>
            </a:r>
          </a:p>
          <a:p>
            <a:pPr lvl="1">
              <a:buFont typeface="Wingdings" panose="05000000000000000000" pitchFamily="2" charset="2"/>
              <a:buChar char="ü"/>
            </a:pPr>
            <a:r>
              <a:rPr lang="en-US" dirty="0"/>
              <a:t>Can be used to organize the data</a:t>
            </a:r>
          </a:p>
          <a:p>
            <a:pPr lvl="1">
              <a:buFont typeface="Wingdings" panose="05000000000000000000" pitchFamily="2" charset="2"/>
              <a:buChar char="ü"/>
            </a:pPr>
            <a:r>
              <a:rPr lang="en-US" dirty="0"/>
              <a:t>Can control data access and editing privileges</a:t>
            </a:r>
          </a:p>
          <a:p>
            <a:pPr lvl="1">
              <a:buFont typeface="Wingdings" panose="05000000000000000000" pitchFamily="2" charset="2"/>
              <a:buChar char="ü"/>
            </a:pPr>
            <a:r>
              <a:rPr lang="en-US" dirty="0"/>
              <a:t>Can organize data for sharing</a:t>
            </a:r>
          </a:p>
          <a:p>
            <a:pPr lvl="1">
              <a:buFont typeface="Wingdings" panose="05000000000000000000" pitchFamily="2" charset="2"/>
              <a:buChar char="ü"/>
            </a:pPr>
            <a:r>
              <a:rPr lang="en-US" dirty="0"/>
              <a:t>May be necessary</a:t>
            </a:r>
          </a:p>
          <a:p>
            <a:pPr lvl="2"/>
            <a:r>
              <a:rPr lang="en-US" dirty="0"/>
              <a:t>Build topology between features</a:t>
            </a:r>
          </a:p>
          <a:p>
            <a:pPr lvl="2"/>
            <a:r>
              <a:rPr lang="en-US" dirty="0"/>
              <a:t>Create a network dataset</a:t>
            </a:r>
          </a:p>
          <a:p>
            <a:pPr lvl="2"/>
            <a:r>
              <a:rPr lang="en-US" dirty="0"/>
              <a:t>Create a terrain dataset</a:t>
            </a:r>
          </a:p>
          <a:p>
            <a:pPr lvl="1">
              <a:buFont typeface="Wingdings" panose="05000000000000000000" pitchFamily="2" charset="2"/>
              <a:buChar char="ü"/>
            </a:pPr>
            <a:r>
              <a:rPr lang="en-US" dirty="0"/>
              <a:t>Must define spatial reference upfront</a:t>
            </a:r>
          </a:p>
        </p:txBody>
      </p:sp>
      <p:sp>
        <p:nvSpPr>
          <p:cNvPr id="2" name="Slide Number Placeholder 1">
            <a:extLst>
              <a:ext uri="{FF2B5EF4-FFF2-40B4-BE49-F238E27FC236}">
                <a16:creationId xmlns:a16="http://schemas.microsoft.com/office/drawing/2014/main" id="{CEAE9BBA-075E-4570-BD21-ECB21B9E343C}"/>
              </a:ext>
            </a:extLst>
          </p:cNvPr>
          <p:cNvSpPr>
            <a:spLocks noGrp="1"/>
          </p:cNvSpPr>
          <p:nvPr>
            <p:ph type="sldNum" sz="quarter" idx="12"/>
          </p:nvPr>
        </p:nvSpPr>
        <p:spPr/>
        <p:txBody>
          <a:bodyPr/>
          <a:lstStyle/>
          <a:p>
            <a:fld id="{127DDC20-79C9-9647-820E-6D40A3D210C3}" type="slidenum">
              <a:rPr lang="en-US" smtClean="0"/>
              <a:pPr/>
              <a:t>7</a:t>
            </a:fld>
            <a:endParaRPr lang="en-US"/>
          </a:p>
        </p:txBody>
      </p:sp>
      <p:grpSp>
        <p:nvGrpSpPr>
          <p:cNvPr id="4" name="Group 3" descr="geodatabase structure example"/>
          <p:cNvGrpSpPr/>
          <p:nvPr/>
        </p:nvGrpSpPr>
        <p:grpSpPr>
          <a:xfrm>
            <a:off x="4989422" y="1411424"/>
            <a:ext cx="3035479" cy="3115365"/>
            <a:chOff x="7389810" y="1710446"/>
            <a:chExt cx="4495835" cy="4614154"/>
          </a:xfrm>
        </p:grpSpPr>
        <p:sp>
          <p:nvSpPr>
            <p:cNvPr id="5" name="Rectangle 4"/>
            <p:cNvSpPr/>
            <p:nvPr/>
          </p:nvSpPr>
          <p:spPr>
            <a:xfrm>
              <a:off x="7389810" y="1710446"/>
              <a:ext cx="3505200" cy="914400"/>
            </a:xfrm>
            <a:prstGeom prst="rect">
              <a:avLst/>
            </a:prstGeom>
            <a:solidFill>
              <a:srgbClr val="E3874F"/>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Geodatabase</a:t>
              </a:r>
            </a:p>
          </p:txBody>
        </p:sp>
        <p:sp>
          <p:nvSpPr>
            <p:cNvPr id="6" name="Rectangle 5"/>
            <p:cNvSpPr/>
            <p:nvPr/>
          </p:nvSpPr>
          <p:spPr>
            <a:xfrm>
              <a:off x="7618412" y="5791200"/>
              <a:ext cx="2133600" cy="533400"/>
            </a:xfrm>
            <a:prstGeom prst="rect">
              <a:avLst/>
            </a:prstGeom>
            <a:solidFill>
              <a:schemeClr val="tx2"/>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Class</a:t>
              </a:r>
            </a:p>
          </p:txBody>
        </p:sp>
        <p:sp>
          <p:nvSpPr>
            <p:cNvPr id="7" name="Rectangle 6"/>
            <p:cNvSpPr/>
            <p:nvPr/>
          </p:nvSpPr>
          <p:spPr>
            <a:xfrm>
              <a:off x="9752012" y="3960373"/>
              <a:ext cx="2133600" cy="533400"/>
            </a:xfrm>
            <a:prstGeom prst="rect">
              <a:avLst/>
            </a:prstGeom>
            <a:solidFill>
              <a:schemeClr val="tx2"/>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Class</a:t>
              </a:r>
            </a:p>
          </p:txBody>
        </p:sp>
        <p:sp>
          <p:nvSpPr>
            <p:cNvPr id="8" name="Rectangle 7"/>
            <p:cNvSpPr/>
            <p:nvPr/>
          </p:nvSpPr>
          <p:spPr>
            <a:xfrm>
              <a:off x="9752045" y="4795735"/>
              <a:ext cx="2133600" cy="533400"/>
            </a:xfrm>
            <a:prstGeom prst="rect">
              <a:avLst/>
            </a:prstGeom>
            <a:solidFill>
              <a:schemeClr val="tx2"/>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Class</a:t>
              </a:r>
            </a:p>
          </p:txBody>
        </p:sp>
        <p:sp>
          <p:nvSpPr>
            <p:cNvPr id="9" name="Rectangle 8"/>
            <p:cNvSpPr/>
            <p:nvPr/>
          </p:nvSpPr>
          <p:spPr>
            <a:xfrm>
              <a:off x="9294812" y="2949913"/>
              <a:ext cx="2057400" cy="708498"/>
            </a:xfrm>
            <a:prstGeom prst="rect">
              <a:avLst/>
            </a:prstGeom>
            <a:solidFill>
              <a:srgbClr val="E3874F"/>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5" dirty="0"/>
                <a:t>Feature Dataset</a:t>
              </a:r>
            </a:p>
          </p:txBody>
        </p:sp>
        <p:cxnSp>
          <p:nvCxnSpPr>
            <p:cNvPr id="10" name="Straight Connector 9"/>
            <p:cNvCxnSpPr>
              <a:endCxn id="6" idx="0"/>
            </p:cNvCxnSpPr>
            <p:nvPr/>
          </p:nvCxnSpPr>
          <p:spPr>
            <a:xfrm>
              <a:off x="8685212" y="2624846"/>
              <a:ext cx="0" cy="3166354"/>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9" idx="1"/>
            </p:cNvCxnSpPr>
            <p:nvPr/>
          </p:nvCxnSpPr>
          <p:spPr>
            <a:xfrm flipH="1">
              <a:off x="8685212" y="3304162"/>
              <a:ext cx="6096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371012" y="3658411"/>
              <a:ext cx="0" cy="1404024"/>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1"/>
            </p:cNvCxnSpPr>
            <p:nvPr/>
          </p:nvCxnSpPr>
          <p:spPr>
            <a:xfrm flipH="1">
              <a:off x="9371012" y="4227073"/>
              <a:ext cx="3810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1"/>
            </p:cNvCxnSpPr>
            <p:nvPr/>
          </p:nvCxnSpPr>
          <p:spPr>
            <a:xfrm flipH="1">
              <a:off x="9371012" y="5062435"/>
              <a:ext cx="381033"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5" name="Title 1">
            <a:extLst>
              <a:ext uri="{FF2B5EF4-FFF2-40B4-BE49-F238E27FC236}">
                <a16:creationId xmlns:a16="http://schemas.microsoft.com/office/drawing/2014/main" id="{B02EE77B-F631-4BE7-A3B9-7E188139DEE5}"/>
              </a:ext>
            </a:extLst>
          </p:cNvPr>
          <p:cNvSpPr txBox="1">
            <a:spLocks/>
          </p:cNvSpPr>
          <p:nvPr/>
        </p:nvSpPr>
        <p:spPr>
          <a:xfrm>
            <a:off x="211523" y="2149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Geodatabase Components</a:t>
            </a:r>
          </a:p>
        </p:txBody>
      </p:sp>
      <p:cxnSp>
        <p:nvCxnSpPr>
          <p:cNvPr id="16" name="Straight Connector 15">
            <a:extLst>
              <a:ext uri="{FF2B5EF4-FFF2-40B4-BE49-F238E27FC236}">
                <a16:creationId xmlns:a16="http://schemas.microsoft.com/office/drawing/2014/main" id="{FBE09819-C03E-418C-8ED8-5EC03BA1078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557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89312"/>
            <a:ext cx="7454900" cy="1880054"/>
          </a:xfrm>
        </p:spPr>
        <p:txBody>
          <a:bodyPr>
            <a:normAutofit lnSpcReduction="10000"/>
          </a:bodyPr>
          <a:lstStyle/>
          <a:p>
            <a:pPr>
              <a:buFont typeface="Courier New" panose="02070309020205020404" pitchFamily="49" charset="0"/>
              <a:buChar char="o"/>
            </a:pPr>
            <a:r>
              <a:rPr lang="en-US" sz="1600" dirty="0"/>
              <a:t>Domains</a:t>
            </a:r>
          </a:p>
          <a:p>
            <a:pPr lvl="1">
              <a:buFont typeface="Wingdings" panose="05000000000000000000" pitchFamily="2" charset="2"/>
              <a:buChar char="ü"/>
            </a:pPr>
            <a:r>
              <a:rPr lang="en-US" altLang="zh-CN" sz="1600" dirty="0">
                <a:solidFill>
                  <a:schemeClr val="tx1"/>
                </a:solidFill>
              </a:rPr>
              <a:t>Attribute domains are rules that describe the available values of a field type. </a:t>
            </a:r>
          </a:p>
          <a:p>
            <a:pPr lvl="1">
              <a:buFont typeface="Wingdings" panose="05000000000000000000" pitchFamily="2" charset="2"/>
              <a:buChar char="ü"/>
            </a:pPr>
            <a:r>
              <a:rPr lang="en-US" altLang="zh-CN" sz="1600" dirty="0">
                <a:solidFill>
                  <a:schemeClr val="tx1"/>
                </a:solidFill>
              </a:rPr>
              <a:t>They are used to constrain the values allowed in any particular attribute for a table or feature class.</a:t>
            </a:r>
          </a:p>
          <a:p>
            <a:pPr lvl="1">
              <a:buFont typeface="Wingdings" panose="05000000000000000000" pitchFamily="2" charset="2"/>
              <a:buChar char="ü"/>
            </a:pPr>
            <a:r>
              <a:rPr lang="en-US" sz="1600" b="1" dirty="0">
                <a:solidFill>
                  <a:srgbClr val="E3874F"/>
                </a:solidFill>
              </a:rPr>
              <a:t>Coded Values: </a:t>
            </a:r>
            <a:r>
              <a:rPr lang="en-US" sz="1600" dirty="0"/>
              <a:t>discrete values that represent allowed entries</a:t>
            </a:r>
          </a:p>
          <a:p>
            <a:pPr lvl="1">
              <a:buFont typeface="Wingdings" panose="05000000000000000000" pitchFamily="2" charset="2"/>
              <a:buChar char="ü"/>
            </a:pPr>
            <a:r>
              <a:rPr lang="en-US" sz="1600" b="1" dirty="0">
                <a:solidFill>
                  <a:srgbClr val="E3874F"/>
                </a:solidFill>
              </a:rPr>
              <a:t>Ranged Values: </a:t>
            </a:r>
            <a:r>
              <a:rPr lang="en-US" sz="1600" dirty="0"/>
              <a:t>stipulates that values can only be entered within a given range</a:t>
            </a:r>
          </a:p>
          <a:p>
            <a:endParaRPr lang="en-US" dirty="0"/>
          </a:p>
        </p:txBody>
      </p:sp>
      <p:sp>
        <p:nvSpPr>
          <p:cNvPr id="2" name="Slide Number Placeholder 1">
            <a:extLst>
              <a:ext uri="{FF2B5EF4-FFF2-40B4-BE49-F238E27FC236}">
                <a16:creationId xmlns:a16="http://schemas.microsoft.com/office/drawing/2014/main" id="{FB9E1447-62EF-457D-AB0D-38CE907D6CE1}"/>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7" name="Title 1">
            <a:extLst>
              <a:ext uri="{FF2B5EF4-FFF2-40B4-BE49-F238E27FC236}">
                <a16:creationId xmlns:a16="http://schemas.microsoft.com/office/drawing/2014/main" id="{09BFAB46-1A4B-48EA-9DA5-C8163B27630B}"/>
              </a:ext>
            </a:extLst>
          </p:cNvPr>
          <p:cNvSpPr txBox="1">
            <a:spLocks/>
          </p:cNvSpPr>
          <p:nvPr/>
        </p:nvSpPr>
        <p:spPr>
          <a:xfrm>
            <a:off x="234771" y="2284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Geodatabase Components</a:t>
            </a:r>
          </a:p>
        </p:txBody>
      </p:sp>
      <p:cxnSp>
        <p:nvCxnSpPr>
          <p:cNvPr id="8" name="Straight Connector 7">
            <a:extLst>
              <a:ext uri="{FF2B5EF4-FFF2-40B4-BE49-F238E27FC236}">
                <a16:creationId xmlns:a16="http://schemas.microsoft.com/office/drawing/2014/main" id="{3C00FDDD-878E-4456-90F8-8F120964C7A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example of domain">
            <a:extLst>
              <a:ext uri="{FF2B5EF4-FFF2-40B4-BE49-F238E27FC236}">
                <a16:creationId xmlns:a16="http://schemas.microsoft.com/office/drawing/2014/main" id="{B74C0188-1F3A-4CE9-B472-5BFCB09346B3}"/>
              </a:ext>
            </a:extLst>
          </p:cNvPr>
          <p:cNvPicPr>
            <a:picLocks noChangeAspect="1"/>
          </p:cNvPicPr>
          <p:nvPr/>
        </p:nvPicPr>
        <p:blipFill>
          <a:blip r:embed="rId3"/>
          <a:stretch>
            <a:fillRect/>
          </a:stretch>
        </p:blipFill>
        <p:spPr>
          <a:xfrm>
            <a:off x="787735" y="3161652"/>
            <a:ext cx="6654130" cy="1056764"/>
          </a:xfrm>
          <a:prstGeom prst="rect">
            <a:avLst/>
          </a:prstGeom>
        </p:spPr>
      </p:pic>
    </p:spTree>
    <p:extLst>
      <p:ext uri="{BB962C8B-B14F-4D97-AF65-F5344CB8AC3E}">
        <p14:creationId xmlns:p14="http://schemas.microsoft.com/office/powerpoint/2010/main" val="193000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172" y="1199666"/>
            <a:ext cx="4509558" cy="2116971"/>
          </a:xfrm>
        </p:spPr>
        <p:txBody>
          <a:bodyPr>
            <a:normAutofit/>
          </a:bodyPr>
          <a:lstStyle/>
          <a:p>
            <a:pPr marL="457200" indent="-457200">
              <a:buFont typeface="+mj-lt"/>
              <a:buAutoNum type="arabicPeriod"/>
            </a:pPr>
            <a:r>
              <a:rPr lang="en-US" sz="2000" dirty="0"/>
              <a:t>Create a Domain for the </a:t>
            </a:r>
            <a:r>
              <a:rPr lang="en-US" sz="2000" dirty="0" err="1"/>
              <a:t>AttributeDomainExercise.gdb</a:t>
            </a:r>
            <a:r>
              <a:rPr lang="en-US" sz="2000" dirty="0"/>
              <a:t>.</a:t>
            </a:r>
          </a:p>
          <a:p>
            <a:pPr marL="675900" lvl="1" indent="-457200">
              <a:buFont typeface="+mj-lt"/>
              <a:buAutoNum type="alphaLcPeriod"/>
            </a:pPr>
            <a:r>
              <a:rPr lang="en-US" altLang="zh-CN" sz="2000" dirty="0"/>
              <a:t>right-click on the geodatabase and select </a:t>
            </a:r>
            <a:r>
              <a:rPr lang="en-US" altLang="zh-CN" sz="2000" b="1" dirty="0"/>
              <a:t>Domains</a:t>
            </a:r>
          </a:p>
          <a:p>
            <a:pPr marL="675900" lvl="1" indent="-457200">
              <a:buFont typeface="+mj-lt"/>
              <a:buAutoNum type="alphaLcPeriod"/>
            </a:pPr>
            <a:endParaRPr lang="en-US" sz="1865" dirty="0"/>
          </a:p>
        </p:txBody>
      </p:sp>
      <p:sp>
        <p:nvSpPr>
          <p:cNvPr id="2" name="Slide Number Placeholder 1">
            <a:extLst>
              <a:ext uri="{FF2B5EF4-FFF2-40B4-BE49-F238E27FC236}">
                <a16:creationId xmlns:a16="http://schemas.microsoft.com/office/drawing/2014/main" id="{D5A02A69-F2B9-4D10-AAFD-56F4222CF199}"/>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5" name="Title 1">
            <a:extLst>
              <a:ext uri="{FF2B5EF4-FFF2-40B4-BE49-F238E27FC236}">
                <a16:creationId xmlns:a16="http://schemas.microsoft.com/office/drawing/2014/main" id="{7FF023A4-CBCD-4ED2-B73C-A4C183AF0C53}"/>
              </a:ext>
            </a:extLst>
          </p:cNvPr>
          <p:cNvSpPr txBox="1">
            <a:spLocks/>
          </p:cNvSpPr>
          <p:nvPr/>
        </p:nvSpPr>
        <p:spPr>
          <a:xfrm>
            <a:off x="256171" y="20547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 Class – Attribute Domains</a:t>
            </a:r>
          </a:p>
        </p:txBody>
      </p:sp>
      <p:cxnSp>
        <p:nvCxnSpPr>
          <p:cNvPr id="6" name="Straight Connector 5">
            <a:extLst>
              <a:ext uri="{FF2B5EF4-FFF2-40B4-BE49-F238E27FC236}">
                <a16:creationId xmlns:a16="http://schemas.microsoft.com/office/drawing/2014/main" id="{D260EBD6-FE5B-46D3-A0EA-8DE37019192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DC74FB3E-6D31-FE63-E198-9EEA0A95BF2E}"/>
              </a:ext>
            </a:extLst>
          </p:cNvPr>
          <p:cNvPicPr>
            <a:picLocks noChangeAspect="1"/>
          </p:cNvPicPr>
          <p:nvPr/>
        </p:nvPicPr>
        <p:blipFill>
          <a:blip r:embed="rId3"/>
          <a:stretch>
            <a:fillRect/>
          </a:stretch>
        </p:blipFill>
        <p:spPr>
          <a:xfrm>
            <a:off x="4922202" y="1789130"/>
            <a:ext cx="2559873" cy="2936169"/>
          </a:xfrm>
          <a:prstGeom prst="rect">
            <a:avLst/>
          </a:prstGeom>
        </p:spPr>
      </p:pic>
    </p:spTree>
    <p:extLst>
      <p:ext uri="{BB962C8B-B14F-4D97-AF65-F5344CB8AC3E}">
        <p14:creationId xmlns:p14="http://schemas.microsoft.com/office/powerpoint/2010/main" val="188225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AF1C2-5421-88AE-ECF2-D7470E03A2C1}"/>
              </a:ext>
            </a:extLst>
          </p:cNvPr>
          <p:cNvSpPr>
            <a:spLocks noGrp="1"/>
          </p:cNvSpPr>
          <p:nvPr>
            <p:ph type="title"/>
          </p:nvPr>
        </p:nvSpPr>
        <p:spPr>
          <a:xfrm>
            <a:off x="392305" y="526617"/>
            <a:ext cx="7444991" cy="465275"/>
          </a:xfrm>
        </p:spPr>
        <p:txBody>
          <a:bodyPr/>
          <a:lstStyle/>
          <a:p>
            <a:r>
              <a:rPr lang="en-US" altLang="zh-CN" sz="2000" dirty="0">
                <a:solidFill>
                  <a:srgbClr val="7030A0"/>
                </a:solidFill>
              </a:rPr>
              <a:t>In Class – Attribute Domains</a:t>
            </a:r>
            <a:endParaRPr lang="zh-CN" altLang="en-US" dirty="0"/>
          </a:p>
        </p:txBody>
      </p:sp>
      <p:sp>
        <p:nvSpPr>
          <p:cNvPr id="4" name="Slide Number Placeholder 3">
            <a:extLst>
              <a:ext uri="{FF2B5EF4-FFF2-40B4-BE49-F238E27FC236}">
                <a16:creationId xmlns:a16="http://schemas.microsoft.com/office/drawing/2014/main" id="{61FE2C40-A7B6-DF86-0B2A-E67D246FE945}"/>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5" name="Content Placeholder 2">
            <a:extLst>
              <a:ext uri="{FF2B5EF4-FFF2-40B4-BE49-F238E27FC236}">
                <a16:creationId xmlns:a16="http://schemas.microsoft.com/office/drawing/2014/main" id="{48D69B86-D36B-E817-2ACF-05009EF4BD9F}"/>
              </a:ext>
            </a:extLst>
          </p:cNvPr>
          <p:cNvSpPr txBox="1">
            <a:spLocks/>
          </p:cNvSpPr>
          <p:nvPr/>
        </p:nvSpPr>
        <p:spPr>
          <a:xfrm>
            <a:off x="310415" y="1106281"/>
            <a:ext cx="7640216" cy="1070176"/>
          </a:xfrm>
          <a:prstGeom prst="rect">
            <a:avLst/>
          </a:prstGeom>
        </p:spPr>
        <p:txBody>
          <a:bodyPr vert="horz" lIns="91440" tIns="45720" rIns="91440" bIns="45720" rtlCol="0" anchor="ctr">
            <a:normAutofit/>
          </a:bodyPr>
          <a:lst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a:lstStyle>
          <a:p>
            <a:pPr marL="0" indent="0">
              <a:buNone/>
            </a:pPr>
            <a:r>
              <a:rPr lang="en-US" altLang="zh-CN" sz="2000" dirty="0"/>
              <a:t>2. Define the Domain name, description, field type, Domain type, code and Description</a:t>
            </a:r>
          </a:p>
        </p:txBody>
      </p:sp>
      <p:pic>
        <p:nvPicPr>
          <p:cNvPr id="7" name="Picture 6">
            <a:extLst>
              <a:ext uri="{FF2B5EF4-FFF2-40B4-BE49-F238E27FC236}">
                <a16:creationId xmlns:a16="http://schemas.microsoft.com/office/drawing/2014/main" id="{62C0A496-5E9C-EEAC-8D41-968E8B3CEF1C}"/>
              </a:ext>
            </a:extLst>
          </p:cNvPr>
          <p:cNvPicPr>
            <a:picLocks noChangeAspect="1"/>
          </p:cNvPicPr>
          <p:nvPr/>
        </p:nvPicPr>
        <p:blipFill>
          <a:blip r:embed="rId2"/>
          <a:stretch>
            <a:fillRect/>
          </a:stretch>
        </p:blipFill>
        <p:spPr>
          <a:xfrm>
            <a:off x="197081" y="2246269"/>
            <a:ext cx="7893034" cy="870807"/>
          </a:xfrm>
          <a:prstGeom prst="rect">
            <a:avLst/>
          </a:prstGeom>
        </p:spPr>
      </p:pic>
      <p:pic>
        <p:nvPicPr>
          <p:cNvPr id="9" name="Picture 8">
            <a:extLst>
              <a:ext uri="{FF2B5EF4-FFF2-40B4-BE49-F238E27FC236}">
                <a16:creationId xmlns:a16="http://schemas.microsoft.com/office/drawing/2014/main" id="{2FA204D1-A778-8172-442C-E291C6CD2B7B}"/>
              </a:ext>
            </a:extLst>
          </p:cNvPr>
          <p:cNvPicPr>
            <a:picLocks noChangeAspect="1"/>
          </p:cNvPicPr>
          <p:nvPr/>
        </p:nvPicPr>
        <p:blipFill>
          <a:blip r:embed="rId3"/>
          <a:stretch>
            <a:fillRect/>
          </a:stretch>
        </p:blipFill>
        <p:spPr>
          <a:xfrm>
            <a:off x="139484" y="3279841"/>
            <a:ext cx="7950631" cy="707019"/>
          </a:xfrm>
          <a:prstGeom prst="rect">
            <a:avLst/>
          </a:prstGeom>
        </p:spPr>
      </p:pic>
    </p:spTree>
    <p:extLst>
      <p:ext uri="{BB962C8B-B14F-4D97-AF65-F5344CB8AC3E}">
        <p14:creationId xmlns:p14="http://schemas.microsoft.com/office/powerpoint/2010/main" val="226625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A588FF-3558-4EEF-BAC8-B3B20E8D8254}"/>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10" name="Title 1">
            <a:extLst>
              <a:ext uri="{FF2B5EF4-FFF2-40B4-BE49-F238E27FC236}">
                <a16:creationId xmlns:a16="http://schemas.microsoft.com/office/drawing/2014/main" id="{1D8F38C8-0FB7-411A-A345-CBBF78B3D8D7}"/>
              </a:ext>
            </a:extLst>
          </p:cNvPr>
          <p:cNvSpPr txBox="1">
            <a:spLocks/>
          </p:cNvSpPr>
          <p:nvPr/>
        </p:nvSpPr>
        <p:spPr>
          <a:xfrm>
            <a:off x="152400" y="317715"/>
            <a:ext cx="8077200" cy="605195"/>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altLang="zh-CN" sz="2800" dirty="0">
                <a:solidFill>
                  <a:srgbClr val="7030A0"/>
                </a:solidFill>
              </a:rPr>
              <a:t>In Class – Attribute Domains</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7D357B34-4E30-4D4D-A24E-D1545B731D1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D883DFA-3E79-6EAB-3CF5-A1D533C0BC03}"/>
              </a:ext>
            </a:extLst>
          </p:cNvPr>
          <p:cNvSpPr txBox="1"/>
          <p:nvPr/>
        </p:nvSpPr>
        <p:spPr>
          <a:xfrm>
            <a:off x="352586" y="1175970"/>
            <a:ext cx="7800814" cy="977191"/>
          </a:xfrm>
          <a:prstGeom prst="rect">
            <a:avLst/>
          </a:prstGeom>
          <a:noFill/>
        </p:spPr>
        <p:txBody>
          <a:bodyPr wrap="square">
            <a:spAutoFit/>
          </a:bodyPr>
          <a:lstStyle/>
          <a:p>
            <a:pPr algn="l" fontAlgn="base">
              <a:lnSpc>
                <a:spcPts val="1500"/>
              </a:lnSpc>
              <a:spcAft>
                <a:spcPts val="375"/>
              </a:spcAft>
              <a:buFont typeface="+mj-lt"/>
              <a:buAutoNum type="arabicPeriod"/>
            </a:pPr>
            <a:r>
              <a:rPr lang="en-US" altLang="zh-CN" dirty="0">
                <a:solidFill>
                  <a:schemeClr val="tx1">
                    <a:lumMod val="75000"/>
                    <a:lumOff val="25000"/>
                  </a:schemeClr>
                </a:solidFill>
              </a:rPr>
              <a:t> Right-click on the Benchmarks feature class, and select Design &gt; Fields.</a:t>
            </a:r>
          </a:p>
          <a:p>
            <a:pPr algn="l" fontAlgn="base">
              <a:lnSpc>
                <a:spcPts val="1500"/>
              </a:lnSpc>
              <a:spcAft>
                <a:spcPts val="375"/>
              </a:spcAft>
              <a:buFont typeface="+mj-lt"/>
              <a:buAutoNum type="arabicPeriod"/>
            </a:pPr>
            <a:r>
              <a:rPr lang="en-US" altLang="zh-CN" dirty="0">
                <a:solidFill>
                  <a:schemeClr val="tx1">
                    <a:lumMod val="75000"/>
                    <a:lumOff val="25000"/>
                  </a:schemeClr>
                </a:solidFill>
              </a:rPr>
              <a:t> In the row for the ELEVATION field, access the dropdown list under the Domain heading and select the </a:t>
            </a:r>
            <a:r>
              <a:rPr lang="en-US" altLang="zh-CN" dirty="0" err="1">
                <a:solidFill>
                  <a:schemeClr val="tx1">
                    <a:lumMod val="75000"/>
                    <a:lumOff val="25000"/>
                  </a:schemeClr>
                </a:solidFill>
              </a:rPr>
              <a:t>ElevationRange</a:t>
            </a:r>
            <a:r>
              <a:rPr lang="en-US" altLang="zh-CN" dirty="0">
                <a:solidFill>
                  <a:schemeClr val="tx1">
                    <a:lumMod val="75000"/>
                    <a:lumOff val="25000"/>
                  </a:schemeClr>
                </a:solidFill>
              </a:rPr>
              <a:t> domain you just created.</a:t>
            </a:r>
          </a:p>
          <a:p>
            <a:pPr algn="l" fontAlgn="base">
              <a:lnSpc>
                <a:spcPts val="1500"/>
              </a:lnSpc>
              <a:spcAft>
                <a:spcPts val="375"/>
              </a:spcAft>
              <a:buFont typeface="+mj-lt"/>
              <a:buAutoNum type="arabicPeriod"/>
            </a:pPr>
            <a:r>
              <a:rPr lang="en-US" altLang="zh-CN" dirty="0">
                <a:solidFill>
                  <a:schemeClr val="tx1">
                    <a:lumMod val="75000"/>
                    <a:lumOff val="25000"/>
                  </a:schemeClr>
                </a:solidFill>
              </a:rPr>
              <a:t>Click the save button. </a:t>
            </a:r>
          </a:p>
        </p:txBody>
      </p:sp>
      <p:pic>
        <p:nvPicPr>
          <p:cNvPr id="13" name="Picture 12">
            <a:extLst>
              <a:ext uri="{FF2B5EF4-FFF2-40B4-BE49-F238E27FC236}">
                <a16:creationId xmlns:a16="http://schemas.microsoft.com/office/drawing/2014/main" id="{2DA0C23C-AA66-ECAD-FCE5-04874751509E}"/>
              </a:ext>
            </a:extLst>
          </p:cNvPr>
          <p:cNvPicPr>
            <a:picLocks noChangeAspect="1"/>
          </p:cNvPicPr>
          <p:nvPr/>
        </p:nvPicPr>
        <p:blipFill>
          <a:blip r:embed="rId3"/>
          <a:stretch>
            <a:fillRect/>
          </a:stretch>
        </p:blipFill>
        <p:spPr>
          <a:xfrm>
            <a:off x="867905" y="2408898"/>
            <a:ext cx="5997844" cy="2545960"/>
          </a:xfrm>
          <a:prstGeom prst="rect">
            <a:avLst/>
          </a:prstGeom>
        </p:spPr>
      </p:pic>
    </p:spTree>
    <p:extLst>
      <p:ext uri="{BB962C8B-B14F-4D97-AF65-F5344CB8AC3E}">
        <p14:creationId xmlns:p14="http://schemas.microsoft.com/office/powerpoint/2010/main" val="4208292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8DE5-B04C-2FCC-F2E7-3576A6AE0E81}"/>
              </a:ext>
            </a:extLst>
          </p:cNvPr>
          <p:cNvSpPr>
            <a:spLocks noGrp="1"/>
          </p:cNvSpPr>
          <p:nvPr>
            <p:ph type="title"/>
          </p:nvPr>
        </p:nvSpPr>
        <p:spPr>
          <a:xfrm>
            <a:off x="392304" y="542937"/>
            <a:ext cx="7444991" cy="472760"/>
          </a:xfrm>
        </p:spPr>
        <p:txBody>
          <a:bodyPr/>
          <a:lstStyle/>
          <a:p>
            <a:r>
              <a:rPr lang="en-US" altLang="zh-CN" sz="2000" dirty="0">
                <a:solidFill>
                  <a:srgbClr val="7030A0"/>
                </a:solidFill>
              </a:rPr>
              <a:t>In Class – Attribute Domains</a:t>
            </a:r>
          </a:p>
        </p:txBody>
      </p:sp>
      <p:sp>
        <p:nvSpPr>
          <p:cNvPr id="3" name="Content Placeholder 2">
            <a:extLst>
              <a:ext uri="{FF2B5EF4-FFF2-40B4-BE49-F238E27FC236}">
                <a16:creationId xmlns:a16="http://schemas.microsoft.com/office/drawing/2014/main" id="{FD61E4CB-EC1A-D65D-D902-F542D3386ED1}"/>
              </a:ext>
            </a:extLst>
          </p:cNvPr>
          <p:cNvSpPr>
            <a:spLocks noGrp="1"/>
          </p:cNvSpPr>
          <p:nvPr>
            <p:ph idx="1"/>
          </p:nvPr>
        </p:nvSpPr>
        <p:spPr>
          <a:xfrm>
            <a:off x="392307" y="1144396"/>
            <a:ext cx="7444990" cy="1009867"/>
          </a:xfrm>
        </p:spPr>
        <p:txBody>
          <a:bodyPr>
            <a:noAutofit/>
          </a:bodyPr>
          <a:lstStyle/>
          <a:p>
            <a:r>
              <a:rPr lang="en-US" altLang="zh-CN" sz="1800" dirty="0"/>
              <a:t>Now perform the same operation to assign the </a:t>
            </a:r>
            <a:r>
              <a:rPr lang="en-US" altLang="zh-CN" sz="1800" b="1" dirty="0" err="1"/>
              <a:t>BenchSpotElev</a:t>
            </a:r>
            <a:r>
              <a:rPr lang="en-US" altLang="zh-CN" sz="1800" b="1" dirty="0"/>
              <a:t> </a:t>
            </a:r>
            <a:r>
              <a:rPr lang="en-US" altLang="zh-CN" sz="1800" dirty="0"/>
              <a:t>domain to the </a:t>
            </a:r>
            <a:r>
              <a:rPr lang="en-US" altLang="zh-CN" sz="1800" b="1" dirty="0"/>
              <a:t>BENCHSPOT</a:t>
            </a:r>
            <a:r>
              <a:rPr lang="en-US" altLang="zh-CN" sz="1800" dirty="0"/>
              <a:t> field</a:t>
            </a:r>
          </a:p>
          <a:p>
            <a:r>
              <a:rPr lang="en-US" altLang="zh-CN" sz="1800" dirty="0"/>
              <a:t>Click the </a:t>
            </a:r>
            <a:r>
              <a:rPr lang="en-US" altLang="zh-CN" sz="1800" b="1" dirty="0"/>
              <a:t>Save</a:t>
            </a:r>
            <a:r>
              <a:rPr lang="en-US" altLang="zh-CN" sz="1800" dirty="0"/>
              <a:t> button.</a:t>
            </a:r>
            <a:endParaRPr lang="zh-CN" altLang="en-US" sz="1800" dirty="0"/>
          </a:p>
        </p:txBody>
      </p:sp>
      <p:sp>
        <p:nvSpPr>
          <p:cNvPr id="4" name="Slide Number Placeholder 3">
            <a:extLst>
              <a:ext uri="{FF2B5EF4-FFF2-40B4-BE49-F238E27FC236}">
                <a16:creationId xmlns:a16="http://schemas.microsoft.com/office/drawing/2014/main" id="{771AF19D-E39F-D361-B442-3E5645C0821C}"/>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6" name="Picture 5">
            <a:extLst>
              <a:ext uri="{FF2B5EF4-FFF2-40B4-BE49-F238E27FC236}">
                <a16:creationId xmlns:a16="http://schemas.microsoft.com/office/drawing/2014/main" id="{2688B79A-A5E2-8DE8-770A-5D0D7E639EC5}"/>
              </a:ext>
            </a:extLst>
          </p:cNvPr>
          <p:cNvPicPr>
            <a:picLocks noChangeAspect="1"/>
          </p:cNvPicPr>
          <p:nvPr/>
        </p:nvPicPr>
        <p:blipFill>
          <a:blip r:embed="rId2"/>
          <a:stretch>
            <a:fillRect/>
          </a:stretch>
        </p:blipFill>
        <p:spPr>
          <a:xfrm>
            <a:off x="1030635" y="2419019"/>
            <a:ext cx="6075336" cy="2535839"/>
          </a:xfrm>
          <a:prstGeom prst="rect">
            <a:avLst/>
          </a:prstGeom>
        </p:spPr>
      </p:pic>
    </p:spTree>
    <p:extLst>
      <p:ext uri="{BB962C8B-B14F-4D97-AF65-F5344CB8AC3E}">
        <p14:creationId xmlns:p14="http://schemas.microsoft.com/office/powerpoint/2010/main" val="4093596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42CBB-4798-A32A-2DAA-9B157B68EFF7}"/>
              </a:ext>
            </a:extLst>
          </p:cNvPr>
          <p:cNvSpPr>
            <a:spLocks noGrp="1"/>
          </p:cNvSpPr>
          <p:nvPr>
            <p:ph type="title"/>
          </p:nvPr>
        </p:nvSpPr>
        <p:spPr>
          <a:xfrm>
            <a:off x="392306" y="526617"/>
            <a:ext cx="3257546" cy="426529"/>
          </a:xfrm>
        </p:spPr>
        <p:txBody>
          <a:bodyPr/>
          <a:lstStyle/>
          <a:p>
            <a:r>
              <a:rPr lang="en-US" altLang="zh-CN" sz="1800" dirty="0">
                <a:solidFill>
                  <a:srgbClr val="7030A0"/>
                </a:solidFill>
              </a:rPr>
              <a:t>In Class – Attribute Domains</a:t>
            </a:r>
            <a:endParaRPr lang="zh-CN" altLang="en-US" dirty="0"/>
          </a:p>
        </p:txBody>
      </p:sp>
      <p:sp>
        <p:nvSpPr>
          <p:cNvPr id="3" name="Content Placeholder 2">
            <a:extLst>
              <a:ext uri="{FF2B5EF4-FFF2-40B4-BE49-F238E27FC236}">
                <a16:creationId xmlns:a16="http://schemas.microsoft.com/office/drawing/2014/main" id="{62A3F907-B7AB-8E7B-F7F0-62ADF09919F4}"/>
              </a:ext>
            </a:extLst>
          </p:cNvPr>
          <p:cNvSpPr>
            <a:spLocks noGrp="1"/>
          </p:cNvSpPr>
          <p:nvPr>
            <p:ph idx="1"/>
          </p:nvPr>
        </p:nvSpPr>
        <p:spPr>
          <a:xfrm>
            <a:off x="392305" y="1123628"/>
            <a:ext cx="3257547" cy="937647"/>
          </a:xfrm>
        </p:spPr>
        <p:txBody>
          <a:bodyPr>
            <a:noAutofit/>
          </a:bodyPr>
          <a:lstStyle/>
          <a:p>
            <a:pPr fontAlgn="base"/>
            <a:r>
              <a:rPr lang="en-US" altLang="zh-CN" sz="1600" dirty="0"/>
              <a:t>Right click Benchmarks – Selection – Select All</a:t>
            </a:r>
          </a:p>
        </p:txBody>
      </p:sp>
      <p:sp>
        <p:nvSpPr>
          <p:cNvPr id="4" name="Slide Number Placeholder 3">
            <a:extLst>
              <a:ext uri="{FF2B5EF4-FFF2-40B4-BE49-F238E27FC236}">
                <a16:creationId xmlns:a16="http://schemas.microsoft.com/office/drawing/2014/main" id="{997344A8-3BE1-F7C6-5046-72EA1AFA1CFB}"/>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6" name="Picture 5">
            <a:extLst>
              <a:ext uri="{FF2B5EF4-FFF2-40B4-BE49-F238E27FC236}">
                <a16:creationId xmlns:a16="http://schemas.microsoft.com/office/drawing/2014/main" id="{B9F04963-FBE1-4C04-3D50-D40301C9384B}"/>
              </a:ext>
            </a:extLst>
          </p:cNvPr>
          <p:cNvPicPr>
            <a:picLocks noChangeAspect="1"/>
          </p:cNvPicPr>
          <p:nvPr/>
        </p:nvPicPr>
        <p:blipFill>
          <a:blip r:embed="rId2"/>
          <a:stretch>
            <a:fillRect/>
          </a:stretch>
        </p:blipFill>
        <p:spPr>
          <a:xfrm>
            <a:off x="3649852" y="829158"/>
            <a:ext cx="4145247" cy="4180081"/>
          </a:xfrm>
          <a:prstGeom prst="rect">
            <a:avLst/>
          </a:prstGeom>
        </p:spPr>
      </p:pic>
    </p:spTree>
    <p:extLst>
      <p:ext uri="{BB962C8B-B14F-4D97-AF65-F5344CB8AC3E}">
        <p14:creationId xmlns:p14="http://schemas.microsoft.com/office/powerpoint/2010/main" val="331303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9FC9-5ED3-AAC1-49AF-075E5ACDAB48}"/>
              </a:ext>
            </a:extLst>
          </p:cNvPr>
          <p:cNvSpPr>
            <a:spLocks noGrp="1"/>
          </p:cNvSpPr>
          <p:nvPr>
            <p:ph type="title"/>
          </p:nvPr>
        </p:nvSpPr>
        <p:spPr>
          <a:xfrm>
            <a:off x="483350" y="497449"/>
            <a:ext cx="7444991" cy="387520"/>
          </a:xfrm>
        </p:spPr>
        <p:txBody>
          <a:bodyPr>
            <a:normAutofit fontScale="90000"/>
          </a:bodyPr>
          <a:lstStyle/>
          <a:p>
            <a:r>
              <a:rPr lang="en-US" altLang="zh-CN" sz="2000" dirty="0">
                <a:solidFill>
                  <a:srgbClr val="7030A0"/>
                </a:solidFill>
              </a:rPr>
              <a:t>In Class – Attribute Domains</a:t>
            </a:r>
            <a:endParaRPr lang="zh-CN" altLang="en-US" dirty="0"/>
          </a:p>
        </p:txBody>
      </p:sp>
      <p:sp>
        <p:nvSpPr>
          <p:cNvPr id="3" name="Content Placeholder 2">
            <a:extLst>
              <a:ext uri="{FF2B5EF4-FFF2-40B4-BE49-F238E27FC236}">
                <a16:creationId xmlns:a16="http://schemas.microsoft.com/office/drawing/2014/main" id="{CCE46BC0-9EF9-A043-5221-C6497103AB43}"/>
              </a:ext>
            </a:extLst>
          </p:cNvPr>
          <p:cNvSpPr>
            <a:spLocks noGrp="1"/>
          </p:cNvSpPr>
          <p:nvPr>
            <p:ph idx="1"/>
          </p:nvPr>
        </p:nvSpPr>
        <p:spPr>
          <a:xfrm>
            <a:off x="483350" y="884969"/>
            <a:ext cx="7444990" cy="874089"/>
          </a:xfrm>
        </p:spPr>
        <p:txBody>
          <a:bodyPr/>
          <a:lstStyle/>
          <a:p>
            <a:r>
              <a:rPr lang="en-US" altLang="zh-CN" sz="1400" dirty="0"/>
              <a:t>Under the </a:t>
            </a:r>
            <a:r>
              <a:rPr lang="en-US" altLang="zh-CN" sz="1400" b="1" dirty="0"/>
              <a:t>Edit</a:t>
            </a:r>
            <a:r>
              <a:rPr lang="en-US" altLang="zh-CN" sz="1400" dirty="0"/>
              <a:t> tab, click the </a:t>
            </a:r>
            <a:r>
              <a:rPr lang="en-US" altLang="zh-CN" sz="1400" b="1" dirty="0"/>
              <a:t>Attributes</a:t>
            </a:r>
            <a:r>
              <a:rPr lang="en-US" altLang="zh-CN" sz="1400" dirty="0"/>
              <a:t> button. This will open a panel in which all of the benchmark features are listed by their ID value in the top of the panel and the full set of attributes for the currently highlighted feature is listed in the bottom of the panel.</a:t>
            </a:r>
          </a:p>
        </p:txBody>
      </p:sp>
      <p:sp>
        <p:nvSpPr>
          <p:cNvPr id="4" name="Slide Number Placeholder 3">
            <a:extLst>
              <a:ext uri="{FF2B5EF4-FFF2-40B4-BE49-F238E27FC236}">
                <a16:creationId xmlns:a16="http://schemas.microsoft.com/office/drawing/2014/main" id="{180F229A-DA80-7B1A-738A-62FEE265E1B2}"/>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6" name="Picture 5">
            <a:extLst>
              <a:ext uri="{FF2B5EF4-FFF2-40B4-BE49-F238E27FC236}">
                <a16:creationId xmlns:a16="http://schemas.microsoft.com/office/drawing/2014/main" id="{B0DD66BC-ABF3-177F-F45B-311AB2BDF788}"/>
              </a:ext>
            </a:extLst>
          </p:cNvPr>
          <p:cNvPicPr>
            <a:picLocks noChangeAspect="1"/>
          </p:cNvPicPr>
          <p:nvPr/>
        </p:nvPicPr>
        <p:blipFill>
          <a:blip r:embed="rId2"/>
          <a:stretch>
            <a:fillRect/>
          </a:stretch>
        </p:blipFill>
        <p:spPr>
          <a:xfrm>
            <a:off x="401010" y="1787716"/>
            <a:ext cx="7353946" cy="1568068"/>
          </a:xfrm>
          <a:prstGeom prst="rect">
            <a:avLst/>
          </a:prstGeom>
        </p:spPr>
      </p:pic>
    </p:spTree>
    <p:extLst>
      <p:ext uri="{BB962C8B-B14F-4D97-AF65-F5344CB8AC3E}">
        <p14:creationId xmlns:p14="http://schemas.microsoft.com/office/powerpoint/2010/main" val="1925486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B0BAA-D1D0-D413-E82A-A48BEA2EDB6E}"/>
              </a:ext>
            </a:extLst>
          </p:cNvPr>
          <p:cNvSpPr>
            <a:spLocks noGrp="1"/>
          </p:cNvSpPr>
          <p:nvPr>
            <p:ph type="title"/>
          </p:nvPr>
        </p:nvSpPr>
        <p:spPr>
          <a:xfrm>
            <a:off x="392305" y="526617"/>
            <a:ext cx="7444991" cy="387783"/>
          </a:xfrm>
        </p:spPr>
        <p:txBody>
          <a:bodyPr/>
          <a:lstStyle/>
          <a:p>
            <a:r>
              <a:rPr lang="en-US" altLang="zh-CN" sz="1800" dirty="0">
                <a:solidFill>
                  <a:srgbClr val="7030A0"/>
                </a:solidFill>
              </a:rPr>
              <a:t>In Class – Attribute Domains</a:t>
            </a:r>
            <a:endParaRPr lang="zh-CN" altLang="en-US" dirty="0"/>
          </a:p>
        </p:txBody>
      </p:sp>
      <p:pic>
        <p:nvPicPr>
          <p:cNvPr id="6" name="Content Placeholder 5">
            <a:extLst>
              <a:ext uri="{FF2B5EF4-FFF2-40B4-BE49-F238E27FC236}">
                <a16:creationId xmlns:a16="http://schemas.microsoft.com/office/drawing/2014/main" id="{13DFE992-8488-A93B-D82C-8D33AB6B1017}"/>
              </a:ext>
            </a:extLst>
          </p:cNvPr>
          <p:cNvPicPr>
            <a:picLocks noGrp="1" noChangeAspect="1"/>
          </p:cNvPicPr>
          <p:nvPr>
            <p:ph idx="1"/>
          </p:nvPr>
        </p:nvPicPr>
        <p:blipFill>
          <a:blip r:embed="rId2"/>
          <a:stretch>
            <a:fillRect/>
          </a:stretch>
        </p:blipFill>
        <p:spPr>
          <a:xfrm>
            <a:off x="2891273" y="1024730"/>
            <a:ext cx="2788856" cy="3991195"/>
          </a:xfrm>
          <a:prstGeom prst="rect">
            <a:avLst/>
          </a:prstGeom>
        </p:spPr>
      </p:pic>
      <p:sp>
        <p:nvSpPr>
          <p:cNvPr id="4" name="Slide Number Placeholder 3">
            <a:extLst>
              <a:ext uri="{FF2B5EF4-FFF2-40B4-BE49-F238E27FC236}">
                <a16:creationId xmlns:a16="http://schemas.microsoft.com/office/drawing/2014/main" id="{666450CD-68CF-2CD6-760B-03365C25D683}"/>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2333621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5.2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Lab 03: </a:t>
            </a:r>
            <a:r>
              <a:rPr lang="en-US" b="1" dirty="0"/>
              <a:t>Exploring Spatial Data</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156809483"/>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Week04_GEOG2475_Tu</Template>
  <TotalTime>7716</TotalTime>
  <Words>1418</Words>
  <Application>Microsoft Office PowerPoint</Application>
  <PresentationFormat>Custom</PresentationFormat>
  <Paragraphs>160</Paragraphs>
  <Slides>17</Slides>
  <Notes>8</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17</vt:i4>
      </vt:variant>
    </vt:vector>
  </HeadingPairs>
  <TitlesOfParts>
    <vt:vector size="30" baseType="lpstr">
      <vt:lpstr>Lucida Grande</vt:lpstr>
      <vt:lpstr>Arial Black</vt:lpstr>
      <vt:lpstr>Calibri</vt:lpstr>
      <vt:lpstr>Courier New</vt:lpstr>
      <vt:lpstr>Gill Sans MT</vt:lpstr>
      <vt:lpstr>Verdana</vt:lpstr>
      <vt:lpstr>Wingdings</vt:lpstr>
      <vt:lpstr>Wingdings 2</vt:lpstr>
      <vt:lpstr>2_DividendVTI</vt:lpstr>
      <vt:lpstr>DividendVTI</vt:lpstr>
      <vt:lpstr>1_DividendVTI</vt:lpstr>
      <vt:lpstr>3_DividendVTI</vt:lpstr>
      <vt:lpstr>4_DividendVTI</vt:lpstr>
      <vt:lpstr>WEEK 05  geodatabase  lecture</vt:lpstr>
      <vt:lpstr>5.1  geodatabase</vt:lpstr>
      <vt:lpstr>Fundamentals of the geodatabase</vt:lpstr>
      <vt:lpstr>PowerPoint Presentation</vt:lpstr>
      <vt:lpstr>PowerPoint Presentation</vt:lpstr>
      <vt:lpstr>PowerPoint Presentation</vt:lpstr>
      <vt:lpstr>PowerPoint Presentation</vt:lpstr>
      <vt:lpstr>PowerPoint Presentation</vt:lpstr>
      <vt:lpstr>PowerPoint Presentation</vt:lpstr>
      <vt:lpstr>In Class – Attribute Domains</vt:lpstr>
      <vt:lpstr>PowerPoint Presentation</vt:lpstr>
      <vt:lpstr>In Class – Attribute Domains</vt:lpstr>
      <vt:lpstr>In Class – Attribute Domains</vt:lpstr>
      <vt:lpstr>In Class – Attribute Domains</vt:lpstr>
      <vt:lpstr>In Class – Attribute Domains</vt:lpstr>
      <vt:lpstr>5.2  Lab session</vt:lpstr>
      <vt:lpstr>Lab 03: Exploring Spatial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472</cp:revision>
  <cp:lastPrinted>2020-03-26T12:59:04Z</cp:lastPrinted>
  <dcterms:created xsi:type="dcterms:W3CDTF">2020-03-24T14:51:54Z</dcterms:created>
  <dcterms:modified xsi:type="dcterms:W3CDTF">2025-09-17T17:08:35Z</dcterms:modified>
</cp:coreProperties>
</file>