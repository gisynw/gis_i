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2" r:id="rId2"/>
    <p:sldMasterId id="2147483684" r:id="rId3"/>
    <p:sldMasterId id="2147483697" r:id="rId4"/>
    <p:sldMasterId id="2147483709" r:id="rId5"/>
  </p:sldMasterIdLst>
  <p:notesMasterIdLst>
    <p:notesMasterId r:id="rId61"/>
  </p:notesMasterIdLst>
  <p:sldIdLst>
    <p:sldId id="914" r:id="rId6"/>
    <p:sldId id="1647" r:id="rId7"/>
    <p:sldId id="650" r:id="rId8"/>
    <p:sldId id="442" r:id="rId9"/>
    <p:sldId id="445" r:id="rId10"/>
    <p:sldId id="544" r:id="rId11"/>
    <p:sldId id="444" r:id="rId12"/>
    <p:sldId id="438" r:id="rId13"/>
    <p:sldId id="439" r:id="rId14"/>
    <p:sldId id="450" r:id="rId15"/>
    <p:sldId id="652" r:id="rId16"/>
    <p:sldId id="454" r:id="rId17"/>
    <p:sldId id="545" r:id="rId18"/>
    <p:sldId id="456" r:id="rId19"/>
    <p:sldId id="457" r:id="rId20"/>
    <p:sldId id="1648" r:id="rId21"/>
    <p:sldId id="459" r:id="rId22"/>
    <p:sldId id="460" r:id="rId23"/>
    <p:sldId id="461" r:id="rId24"/>
    <p:sldId id="546" r:id="rId25"/>
    <p:sldId id="463" r:id="rId26"/>
    <p:sldId id="464" r:id="rId27"/>
    <p:sldId id="466" r:id="rId28"/>
    <p:sldId id="465" r:id="rId29"/>
    <p:sldId id="1649" r:id="rId30"/>
    <p:sldId id="469" r:id="rId31"/>
    <p:sldId id="509" r:id="rId32"/>
    <p:sldId id="547" r:id="rId33"/>
    <p:sldId id="549" r:id="rId34"/>
    <p:sldId id="471" r:id="rId35"/>
    <p:sldId id="1650" r:id="rId36"/>
    <p:sldId id="476" r:id="rId37"/>
    <p:sldId id="477" r:id="rId38"/>
    <p:sldId id="497" r:id="rId39"/>
    <p:sldId id="479" r:id="rId40"/>
    <p:sldId id="651" r:id="rId41"/>
    <p:sldId id="554" r:id="rId42"/>
    <p:sldId id="555" r:id="rId43"/>
    <p:sldId id="653" r:id="rId44"/>
    <p:sldId id="1651" r:id="rId45"/>
    <p:sldId id="485" r:id="rId46"/>
    <p:sldId id="557" r:id="rId47"/>
    <p:sldId id="486" r:id="rId48"/>
    <p:sldId id="489" r:id="rId49"/>
    <p:sldId id="496" r:id="rId50"/>
    <p:sldId id="499" r:id="rId51"/>
    <p:sldId id="491" r:id="rId52"/>
    <p:sldId id="501" r:id="rId53"/>
    <p:sldId id="503" r:id="rId54"/>
    <p:sldId id="504" r:id="rId55"/>
    <p:sldId id="506" r:id="rId56"/>
    <p:sldId id="494" r:id="rId57"/>
    <p:sldId id="512" r:id="rId58"/>
    <p:sldId id="487" r:id="rId59"/>
    <p:sldId id="270" r:id="rId60"/>
  </p:sldIdLst>
  <p:sldSz cx="8229600" cy="51435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84" autoAdjust="0"/>
  </p:normalViewPr>
  <p:slideViewPr>
    <p:cSldViewPr snapToGrid="0" snapToObjects="1">
      <p:cViewPr varScale="1">
        <p:scale>
          <a:sx n="128" d="100"/>
          <a:sy n="128" d="100"/>
        </p:scale>
        <p:origin x="1500" y="108"/>
      </p:cViewPr>
      <p:guideLst>
        <p:guide orient="horz" pos="1620"/>
        <p:guide pos="259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63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5" Type="http://schemas.openxmlformats.org/officeDocument/2006/relationships/slideMaster" Target="slideMasters/slideMaster5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theme" Target="theme/theme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6C520B4-85AA-9542-8CF7-3D2DDCE6041D}" type="datetimeFigureOut">
              <a:rPr lang="en-US" smtClean="0"/>
              <a:pPr/>
              <a:t>9/29/2025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6507943-197E-CE46-82F0-5A323A24AE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73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507943-197E-CE46-82F0-5A323A24A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01935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0293708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00000"/>
                </a:solidFill>
              </a:rPr>
              <a:t>A noisy, inefficient communicator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00000"/>
                </a:solidFill>
              </a:rPr>
              <a:t>A simple, efficient communicator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solidFill>
                <a:srgbClr val="00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6081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44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Iraq, Turkmenistan, Afghanistan, </a:t>
            </a:r>
            <a:r>
              <a:rPr lang="en-US" dirty="0" err="1"/>
              <a:t>Pr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1119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Don’t include the word “Map” in a title!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542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07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0FD2F-556E-43A6-BD1A-AE05D71D5ACE}" type="datetime1">
              <a:rPr lang="en-US" smtClean="0"/>
              <a:t>9/29/2025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85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A2D96-DD5E-4EE6-BA39-19B5C56AF1F2}" type="datetime1">
              <a:rPr lang="en-US" smtClean="0"/>
              <a:t>9/29/2025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57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D4BC3-0B93-4E0B-AE53-3E432262C0E4}" type="datetime1">
              <a:rPr lang="en-US" smtClean="0"/>
              <a:t>9/29/2025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99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A080-6A29-4A4D-90B1-4C73660CABD5}" type="datetime1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89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F1D62-0785-460A-9888-5F5908AD45F7}" type="datetime1">
              <a:rPr lang="en-US" smtClean="0"/>
              <a:t>9/29/2025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12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3F5A6-4790-4338-AC59-416730A16F3C}" type="datetime1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741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331C8-E8D8-438B-B699-9ACE625F3A09}" type="datetime1">
              <a:rPr lang="en-US" smtClean="0"/>
              <a:t>9/29/2025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482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610C12D3-F429-42CB-9467-4C3AFEEA173C}" type="datetime1">
              <a:rPr lang="en-US" smtClean="0"/>
              <a:t>9/29/2025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257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F426E-E29E-4D2E-B32D-412D98F7FC2F}" type="datetime1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62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15864-78C5-4237-8A12-0D1FD4E5F0BD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320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BBA17-EAD5-43A8-9481-F99B1E8564DB}" type="datetime1">
              <a:rPr lang="en-US" smtClean="0"/>
              <a:t>9/29/2025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436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0FEA4-C6CA-4262-94C7-989766AA3A47}" type="datetime1">
              <a:rPr lang="en-US" smtClean="0"/>
              <a:t>9/29/2025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37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5A5F7-BE7B-4360-B821-FCDB8E9197AC}" type="datetime1">
              <a:rPr lang="en-US" smtClean="0"/>
              <a:t>9/29/2025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228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D492-0F60-495A-BAAC-3C877C1D64A2}" type="datetime1">
              <a:rPr lang="en-US" smtClean="0"/>
              <a:t>9/29/2025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738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22FED-C97B-4E3C-B05B-1278829CCA0F}" type="datetime1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4344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F91E7-DD27-45EE-9FAC-A58839C2E3FB}" type="datetime1">
              <a:rPr lang="en-US" smtClean="0"/>
              <a:t>9/29/2025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628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DB943-D34E-498D-BB5B-1BC0D01A4C3C}" type="datetime1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2847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88AC7-A362-47DE-B037-3A7E785BA73D}" type="datetime1">
              <a:rPr lang="en-US" smtClean="0"/>
              <a:t>9/29/2025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1836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1E09BAED-B7FC-4220-8037-60663F890984}" type="datetime1">
              <a:rPr lang="en-US" smtClean="0"/>
              <a:t>9/29/2025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847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C0B96-D43B-410F-A514-3967CACDF6C4}" type="datetime1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889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DFB46-027F-4778-8182-714012A6E051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397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FD05A-9631-4BEE-9AA4-5575ADA850E9}" type="datetime1">
              <a:rPr lang="en-US" smtClean="0"/>
              <a:t>9/29/2025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05847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4539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5490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1585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171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1888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85214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889299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0763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55765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606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7414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zh-CN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194581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03313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32872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80707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14803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65884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90169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24447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601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5967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84268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30335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1408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7934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1676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2040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85770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77219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579081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19357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00933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76872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89623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33470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E7733A4-5D18-4D09-8F94-45F71EE3C7C2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8438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234BEC2-5A9D-42E1-9C16-1E9F257755B7}" type="datetime1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9496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9368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1796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0670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5485B9-8EE1-447A-9C08-F7D6B532A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57176"/>
            <a:ext cx="8229599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 descr="A colorful background with waves&#10;&#10;Description automatically generated with medium confidence">
            <a:extLst>
              <a:ext uri="{FF2B5EF4-FFF2-40B4-BE49-F238E27FC236}">
                <a16:creationId xmlns:a16="http://schemas.microsoft.com/office/drawing/2014/main" id="{1734BD9E-DDD5-C150-8BA0-0B1B13AE0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1"/>
          <a:stretch/>
        </p:blipFill>
        <p:spPr>
          <a:xfrm>
            <a:off x="13" y="257175"/>
            <a:ext cx="8229587" cy="462914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63707F-B98C-4143-AFCF-D6B56C975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990" y="565785"/>
            <a:ext cx="3382366" cy="617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D2DFBB-460D-4ECB-BD76-509C99DAD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018" y="662983"/>
            <a:ext cx="3381337" cy="39078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3439C-E1CA-A039-1552-7B23AB70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060" y="785709"/>
            <a:ext cx="3871767" cy="1831185"/>
          </a:xfrm>
        </p:spPr>
        <p:txBody>
          <a:bodyPr>
            <a:normAutofit/>
          </a:bodyPr>
          <a:lstStyle/>
          <a:p>
            <a:r>
              <a:rPr lang="en-US" altLang="zh-CN" sz="2800" dirty="0"/>
              <a:t>Lecture 07 </a:t>
            </a:r>
            <a:br>
              <a:rPr lang="en-US" altLang="zh-CN" sz="2800" dirty="0"/>
            </a:br>
            <a:r>
              <a:rPr lang="en-US" altLang="zh-CN" sz="2800" dirty="0"/>
              <a:t>Map Elements</a:t>
            </a:r>
            <a:br>
              <a:rPr lang="en-US" altLang="zh-CN" sz="2800" dirty="0"/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>
                <a:solidFill>
                  <a:srgbClr val="FFFFFF"/>
                </a:solidFill>
              </a:rPr>
              <a:t>lecture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6AEC8-AD7D-2F2A-F638-325ACB8C9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060" y="2798352"/>
            <a:ext cx="2916154" cy="1537292"/>
          </a:xfrm>
        </p:spPr>
        <p:txBody>
          <a:bodyPr>
            <a:noAutofit/>
          </a:bodyPr>
          <a:lstStyle/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Instructor: Yanan Wu</a:t>
            </a:r>
          </a:p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890" dirty="0" err="1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fALL</a:t>
            </a:r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2025</a:t>
            </a:r>
          </a:p>
          <a:p>
            <a:endParaRPr lang="en-US" sz="1890" dirty="0">
              <a:solidFill>
                <a:srgbClr val="FFFFFF">
                  <a:alpha val="75000"/>
                </a:srgb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9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130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CF4EB5C-ED25-4675-8255-2F5B12CFF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0" y="565785"/>
            <a:ext cx="2499741" cy="641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14EC6E-A557-42A2-BCDC-3ABFFC5E5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8449" y="563384"/>
            <a:ext cx="2499741" cy="6652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5482C9-EB42-4BFE-95BF-7FD661F0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3235" y="565785"/>
            <a:ext cx="2499741" cy="617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539E646-A625-4A26-86ED-BD90EDD32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1" y="2340066"/>
            <a:ext cx="7626779" cy="22532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7175"/>
            <a:ext cx="8229600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3999" y="592623"/>
            <a:ext cx="746661" cy="395532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78" y="592621"/>
            <a:ext cx="6723707" cy="24826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8BAB5-C1DE-8DAD-E76F-BECA6F24C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8258" y="735412"/>
            <a:ext cx="6492542" cy="2247787"/>
          </a:xfrm>
        </p:spPr>
        <p:txBody>
          <a:bodyPr vert="horz" lIns="61722" tIns="30861" rIns="61722" bIns="30861" rtlCol="0" anchor="ctr">
            <a:normAutofit/>
          </a:bodyPr>
          <a:lstStyle/>
          <a:p>
            <a:r>
              <a:rPr lang="en-US" sz="4050" dirty="0">
                <a:solidFill>
                  <a:srgbClr val="FFFFFF"/>
                </a:solidFill>
              </a:rPr>
              <a:t>7.1 </a:t>
            </a:r>
            <a:br>
              <a:rPr lang="en-US" sz="4050" dirty="0">
                <a:solidFill>
                  <a:srgbClr val="FFFFFF"/>
                </a:solidFill>
              </a:rPr>
            </a:br>
            <a:r>
              <a:rPr lang="en-US" sz="4050" dirty="0">
                <a:solidFill>
                  <a:srgbClr val="FFFFFF"/>
                </a:solidFill>
              </a:rPr>
              <a:t>MAP ELEMENTS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33" y="3149018"/>
            <a:ext cx="6723753" cy="1398925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951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2741" y="1029962"/>
            <a:ext cx="7679724" cy="3886200"/>
          </a:xfrm>
        </p:spPr>
        <p:txBody>
          <a:bodyPr>
            <a:normAutofit lnSpcReduction="10000"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sz="2600" dirty="0"/>
              <a:t>Map Elements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440" dirty="0">
                <a:solidFill>
                  <a:srgbClr val="000000"/>
                </a:solidFill>
              </a:rPr>
              <a:t>F</a:t>
            </a:r>
            <a:r>
              <a:rPr lang="en-US" sz="2200" dirty="0">
                <a:solidFill>
                  <a:srgbClr val="000000"/>
                </a:solidFill>
              </a:rPr>
              <a:t>rame Line and Neat Line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rgbClr val="000000"/>
                </a:solidFill>
              </a:rPr>
              <a:t>Mapped Area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rgbClr val="000000"/>
                </a:solidFill>
              </a:rPr>
              <a:t>Inset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rgbClr val="000000"/>
                </a:solidFill>
              </a:rPr>
              <a:t>Title and Subtitle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/>
              <a:t>Legend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/>
              <a:t>Data Source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/>
              <a:t>Scale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200" dirty="0"/>
              <a:t>Orientation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208474" y="17271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Overview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6139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>
          <a:xfrm>
            <a:off x="337093" y="922911"/>
            <a:ext cx="3957589" cy="1767824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The building blocks of </a:t>
            </a:r>
            <a:r>
              <a:rPr lang="en-US" sz="1800" i="1" dirty="0"/>
              <a:t>Cartographic Communication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All maps are created from a common set of map elements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E963D4-3A98-45ED-B54D-5E680AB81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221" name="Rectangle 5"/>
          <p:cNvSpPr>
            <a:spLocks noChangeArrowheads="1"/>
          </p:cNvSpPr>
          <p:nvPr/>
        </p:nvSpPr>
        <p:spPr bwMode="auto">
          <a:xfrm>
            <a:off x="69939" y="4897279"/>
            <a:ext cx="644728" cy="24622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00" dirty="0" err="1">
                <a:solidFill>
                  <a:srgbClr val="7030A0"/>
                </a:solidFill>
              </a:rPr>
              <a:t>GeoTech</a:t>
            </a:r>
            <a:endParaRPr lang="en-US" sz="1000" dirty="0">
              <a:solidFill>
                <a:srgbClr val="7030A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1C90064-EC61-4936-81F1-D1A4764C2906}"/>
              </a:ext>
            </a:extLst>
          </p:cNvPr>
          <p:cNvSpPr txBox="1">
            <a:spLocks/>
          </p:cNvSpPr>
          <p:nvPr/>
        </p:nvSpPr>
        <p:spPr>
          <a:xfrm>
            <a:off x="230959" y="18736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 Elements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68461E0-CACD-4A20-BCB6-AADDF52384AC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Sample map of South America, with the different map elements labeled.">
            <a:extLst>
              <a:ext uri="{FF2B5EF4-FFF2-40B4-BE49-F238E27FC236}">
                <a16:creationId xmlns:a16="http://schemas.microsoft.com/office/drawing/2014/main" id="{261753A6-9EB8-7807-CB29-30348A23E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5686" y="1015113"/>
            <a:ext cx="2921611" cy="4076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1005649"/>
            <a:ext cx="7788442" cy="3951361"/>
          </a:xfrm>
        </p:spPr>
        <p:txBody>
          <a:bodyPr>
            <a:normAutofit lnSpcReduction="10000"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>
                <a:solidFill>
                  <a:srgbClr val="000000"/>
                </a:solidFill>
              </a:rPr>
              <a:t>Available Space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900" dirty="0"/>
              <a:t>Areas on a page or screen that can be used to place map elements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900" dirty="0"/>
              <a:t>“White Space”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The cartographer constantly evaluates the relationship between map elements and available space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900" dirty="0"/>
              <a:t>Map elements are usually </a:t>
            </a:r>
            <a:r>
              <a:rPr lang="en-US" sz="1900" i="1" dirty="0"/>
              <a:t>visually centered </a:t>
            </a:r>
            <a:r>
              <a:rPr lang="en-US" sz="1900" dirty="0"/>
              <a:t>within appropriate areas of available space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>
                <a:solidFill>
                  <a:srgbClr val="000000"/>
                </a:solidFill>
              </a:rPr>
              <a:t>It is the cartographer’s job to make all decisions regarding map elements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Which to include, and which to omit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How to implement them in the most appropriate manner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EA90F4-CC29-4B32-8358-AFE7A71E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9B1EC4B-3BEA-4E1B-9681-9E6C8722E143}"/>
              </a:ext>
            </a:extLst>
          </p:cNvPr>
          <p:cNvSpPr txBox="1">
            <a:spLocks/>
          </p:cNvSpPr>
          <p:nvPr/>
        </p:nvSpPr>
        <p:spPr>
          <a:xfrm>
            <a:off x="152400" y="18649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 Elements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8925C9-148D-43E0-8D2C-1FD325DE4E24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431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Map with elem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059" y="1155415"/>
            <a:ext cx="2537849" cy="3189357"/>
          </a:xfrm>
          <a:prstGeom prst="rect">
            <a:avLst/>
          </a:prstGeom>
        </p:spPr>
      </p:pic>
      <p:pic>
        <p:nvPicPr>
          <p:cNvPr id="2" name="Picture 1" descr="Map with eleme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3030" y="1155415"/>
            <a:ext cx="2525765" cy="31886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935AEE5-6193-47F9-BAB9-FB3F627C7F5C}"/>
              </a:ext>
            </a:extLst>
          </p:cNvPr>
          <p:cNvSpPr txBox="1">
            <a:spLocks/>
          </p:cNvSpPr>
          <p:nvPr/>
        </p:nvSpPr>
        <p:spPr>
          <a:xfrm>
            <a:off x="214430" y="18191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 Elements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03287F7-8994-477D-9FAD-D17D4F823720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D7A37AF-67E9-4E2D-8501-F4FE1F453639}"/>
              </a:ext>
            </a:extLst>
          </p:cNvPr>
          <p:cNvSpPr txBox="1"/>
          <p:nvPr/>
        </p:nvSpPr>
        <p:spPr>
          <a:xfrm>
            <a:off x="81216" y="1925419"/>
            <a:ext cx="1311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Which one is better?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DEDF0D-6CAA-471E-99E0-A8F746777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0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288759" y="1028700"/>
            <a:ext cx="3331366" cy="3741896"/>
          </a:xfrm>
        </p:spPr>
        <p:txBody>
          <a:bodyPr>
            <a:normAutofit/>
          </a:bodyPr>
          <a:lstStyle/>
          <a:p>
            <a:pPr marL="411480" indent="-411480">
              <a:buFontTx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Frame Line and Neat Line</a:t>
            </a:r>
          </a:p>
          <a:p>
            <a:pPr marL="411480" indent="-411480">
              <a:buFontTx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Mapped Area</a:t>
            </a:r>
          </a:p>
          <a:p>
            <a:pPr marL="411480" indent="-411480">
              <a:buFontTx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Inset</a:t>
            </a:r>
          </a:p>
          <a:p>
            <a:pPr marL="411480" indent="-411480">
              <a:buFontTx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Title and Subtitle</a:t>
            </a:r>
          </a:p>
          <a:p>
            <a:pPr marL="411480" indent="-411480">
              <a:buFontTx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Legend</a:t>
            </a:r>
          </a:p>
          <a:p>
            <a:pPr marL="411480" indent="-411480">
              <a:buFontTx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Data Source</a:t>
            </a:r>
          </a:p>
          <a:p>
            <a:pPr marL="411480" indent="-411480">
              <a:buFontTx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Scale</a:t>
            </a:r>
          </a:p>
          <a:p>
            <a:pPr marL="411480" indent="-411480">
              <a:buFontTx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Orientation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0896C0-6726-46E6-8CD1-C1742E44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487428" name="Text Box 4"/>
          <p:cNvSpPr txBox="1">
            <a:spLocks noChangeArrowheads="1"/>
          </p:cNvSpPr>
          <p:nvPr/>
        </p:nvSpPr>
        <p:spPr bwMode="auto">
          <a:xfrm>
            <a:off x="5156359" y="2149555"/>
            <a:ext cx="2784477" cy="30008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350" b="1"/>
              <a:t>Decrease in size</a:t>
            </a:r>
            <a:r>
              <a:rPr lang="en-US" sz="1350"/>
              <a:t> from top to bottom</a:t>
            </a:r>
          </a:p>
        </p:txBody>
      </p:sp>
      <p:sp>
        <p:nvSpPr>
          <p:cNvPr id="487429" name="Text Box 5"/>
          <p:cNvSpPr txBox="1">
            <a:spLocks noChangeArrowheads="1"/>
          </p:cNvSpPr>
          <p:nvPr/>
        </p:nvSpPr>
        <p:spPr bwMode="auto">
          <a:xfrm>
            <a:off x="5084565" y="2760346"/>
            <a:ext cx="2784473" cy="5078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350" b="1" dirty="0"/>
              <a:t>Listed in the recommended order</a:t>
            </a:r>
            <a:r>
              <a:rPr lang="en-US" sz="1350" dirty="0"/>
              <a:t> of placement: larger first, smaller last</a:t>
            </a:r>
          </a:p>
        </p:txBody>
      </p:sp>
      <p:sp>
        <p:nvSpPr>
          <p:cNvPr id="487430" name="Line 6"/>
          <p:cNvSpPr>
            <a:spLocks noChangeShapeType="1"/>
          </p:cNvSpPr>
          <p:nvPr/>
        </p:nvSpPr>
        <p:spPr bwMode="auto">
          <a:xfrm>
            <a:off x="4878824" y="1683425"/>
            <a:ext cx="0" cy="228885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  <p:txBody>
          <a:bodyPr>
            <a:spAutoFit/>
          </a:bodyPr>
          <a:lstStyle/>
          <a:p>
            <a:endParaRPr lang="en-US" sz="1215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2F6B6A-6CC5-42A1-93C6-42BCC6AB0E57}"/>
              </a:ext>
            </a:extLst>
          </p:cNvPr>
          <p:cNvSpPr txBox="1">
            <a:spLocks/>
          </p:cNvSpPr>
          <p:nvPr/>
        </p:nvSpPr>
        <p:spPr>
          <a:xfrm>
            <a:off x="288759" y="219404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 Elements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6769C9-39F6-4A1C-A03C-9981BA34A8C7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7428" grpId="0"/>
      <p:bldP spid="487429" grpId="0"/>
      <p:bldP spid="4874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>
          <a:xfrm>
            <a:off x="264695" y="1028700"/>
            <a:ext cx="7555831" cy="374189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Alignment and centering of map features is a common task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Can be performed through “visual approximation”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Features </a:t>
            </a:r>
            <a:r>
              <a:rPr lang="en-US" sz="2000" i="1" dirty="0"/>
              <a:t>look</a:t>
            </a:r>
            <a:r>
              <a:rPr lang="en-US" sz="2000" dirty="0"/>
              <a:t> properly aligned or centered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Can also be performed through precise measurement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Features are</a:t>
            </a:r>
            <a:r>
              <a:rPr lang="en-US" sz="2000" i="1" dirty="0"/>
              <a:t> exactly</a:t>
            </a:r>
            <a:r>
              <a:rPr lang="en-US" sz="2000" dirty="0"/>
              <a:t> aligned or centered, using software controls</a:t>
            </a:r>
          </a:p>
          <a:p>
            <a:pPr lvl="1" indent="-360045"/>
            <a:endParaRPr lang="en-US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E8DC01-A59D-43AE-9E89-102E249C9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CCCEB4B-5960-41E0-A47C-C578B32FD7F5}"/>
              </a:ext>
            </a:extLst>
          </p:cNvPr>
          <p:cNvSpPr txBox="1">
            <a:spLocks/>
          </p:cNvSpPr>
          <p:nvPr/>
        </p:nvSpPr>
        <p:spPr>
          <a:xfrm>
            <a:off x="264695" y="147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Alignment and Centering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11A85E-E2AD-433B-B29C-C756CF26BEE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2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88343" y="922910"/>
            <a:ext cx="7852914" cy="763483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It is important to understand the terminology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Horizontal and vertical are often confused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7C5557-414D-47C6-B5D3-69E51215D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301" y="1909382"/>
            <a:ext cx="3421499" cy="25363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780184" y="4445771"/>
            <a:ext cx="3247732" cy="5078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350" b="1" dirty="0"/>
              <a:t>Horizontal</a:t>
            </a:r>
            <a:r>
              <a:rPr lang="en-US" sz="1350" dirty="0"/>
              <a:t> </a:t>
            </a:r>
          </a:p>
          <a:p>
            <a:r>
              <a:rPr lang="en-US" sz="1350" dirty="0"/>
              <a:t>(Side-to-Side) Alignment and Centering</a:t>
            </a:r>
          </a:p>
        </p:txBody>
      </p: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53820" y="1909382"/>
            <a:ext cx="3659564" cy="25363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4549181" y="4528503"/>
            <a:ext cx="3364203" cy="5078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350" b="1" dirty="0"/>
              <a:t>Vertical</a:t>
            </a:r>
          </a:p>
          <a:p>
            <a:r>
              <a:rPr lang="en-US" sz="1350" dirty="0"/>
              <a:t>(Top-to-Bottom) Alignment and Centering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B37870-A894-43E6-AC18-6078CA1C8AF7}"/>
              </a:ext>
            </a:extLst>
          </p:cNvPr>
          <p:cNvSpPr txBox="1">
            <a:spLocks/>
          </p:cNvSpPr>
          <p:nvPr/>
        </p:nvSpPr>
        <p:spPr>
          <a:xfrm>
            <a:off x="215220" y="18989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Alignment and Centering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5083E7-C5CC-4EBE-B2D8-FEB7BA2E3518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242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170815" y="975748"/>
            <a:ext cx="4232602" cy="374189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400" dirty="0"/>
              <a:t>Help to organize the map’s contents, and define its extent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400" dirty="0"/>
              <a:t>Frame Line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400" dirty="0"/>
              <a:t>Encloses all other map elements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400" dirty="0"/>
              <a:t>Should be the first map element placed, because it occupies the most area, and defines the initial available space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400" dirty="0"/>
              <a:t>Neat Line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400" dirty="0"/>
              <a:t>Is used to crop (limit the extent of) the mapped area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400" dirty="0"/>
              <a:t>Separate elements to provide an organized look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0D684B9-D27C-45E8-B427-50E6DD0DE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EB1C785-64AC-458B-8DF1-5ACCB9E1452D}"/>
              </a:ext>
            </a:extLst>
          </p:cNvPr>
          <p:cNvSpPr txBox="1">
            <a:spLocks/>
          </p:cNvSpPr>
          <p:nvPr/>
        </p:nvSpPr>
        <p:spPr>
          <a:xfrm>
            <a:off x="265055" y="16884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Frame line and neat 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A15535-6D03-4962-87D9-84B5EA762CB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C420B9C-D073-2BA9-BBB1-41E88FF53B00}"/>
              </a:ext>
            </a:extLst>
          </p:cNvPr>
          <p:cNvGrpSpPr/>
          <p:nvPr/>
        </p:nvGrpSpPr>
        <p:grpSpPr>
          <a:xfrm>
            <a:off x="4477657" y="1663512"/>
            <a:ext cx="3790357" cy="2880738"/>
            <a:chOff x="4551898" y="1909733"/>
            <a:chExt cx="3790357" cy="2880738"/>
          </a:xfrm>
        </p:grpSpPr>
        <p:sp>
          <p:nvSpPr>
            <p:cNvPr id="9" name="Rectangle 7" descr="Red box"/>
            <p:cNvSpPr>
              <a:spLocks noChangeArrowheads="1"/>
            </p:cNvSpPr>
            <p:nvPr/>
          </p:nvSpPr>
          <p:spPr bwMode="auto">
            <a:xfrm>
              <a:off x="4551898" y="1909733"/>
              <a:ext cx="3439708" cy="2538566"/>
            </a:xfrm>
            <a:prstGeom prst="rect">
              <a:avLst/>
            </a:prstGeom>
            <a:noFill/>
            <a:ln w="2540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215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1A68F8F-5A53-0767-B16B-CEE4C833E8FD}"/>
                </a:ext>
              </a:extLst>
            </p:cNvPr>
            <p:cNvGrpSpPr/>
            <p:nvPr/>
          </p:nvGrpSpPr>
          <p:grpSpPr>
            <a:xfrm>
              <a:off x="4551898" y="1909733"/>
              <a:ext cx="3790357" cy="2880738"/>
              <a:chOff x="4551898" y="1909733"/>
              <a:chExt cx="3790357" cy="2880738"/>
            </a:xfrm>
          </p:grpSpPr>
          <p:pic>
            <p:nvPicPr>
              <p:cNvPr id="4" name="Picture 5" descr="Map showing frame and neat lines"/>
              <p:cNvPicPr preferRelativeResize="0">
                <a:picLocks noChangeAspect="1" noChangeArrowheads="1"/>
              </p:cNvPicPr>
              <p:nvPr/>
            </p:nvPicPr>
            <p:blipFill>
              <a:blip r:embed="rId2" cstate="print"/>
              <a:srcRect/>
              <a:stretch>
                <a:fillRect/>
              </a:stretch>
            </p:blipFill>
            <p:spPr bwMode="auto">
              <a:xfrm>
                <a:off x="4551898" y="1909733"/>
                <a:ext cx="3439708" cy="253856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sp>
            <p:nvSpPr>
              <p:cNvPr id="5" name="Rectangle 6" descr="Red box"/>
              <p:cNvSpPr>
                <a:spLocks noChangeArrowheads="1"/>
              </p:cNvSpPr>
              <p:nvPr/>
            </p:nvSpPr>
            <p:spPr bwMode="auto">
              <a:xfrm>
                <a:off x="4639105" y="2146826"/>
                <a:ext cx="2342126" cy="2221831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1215"/>
              </a:p>
            </p:txBody>
          </p:sp>
          <p:sp>
            <p:nvSpPr>
              <p:cNvPr id="6" name="Text Box 8" descr="Red box"/>
              <p:cNvSpPr txBox="1">
                <a:spLocks noChangeArrowheads="1"/>
              </p:cNvSpPr>
              <p:nvPr/>
            </p:nvSpPr>
            <p:spPr bwMode="auto">
              <a:xfrm>
                <a:off x="7274219" y="2146826"/>
                <a:ext cx="1068036" cy="300082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1350" dirty="0"/>
                  <a:t>Frame Line</a:t>
                </a:r>
              </a:p>
            </p:txBody>
          </p:sp>
          <p:sp>
            <p:nvSpPr>
              <p:cNvPr id="7" name="Text Box 9" descr="Red box"/>
              <p:cNvSpPr txBox="1">
                <a:spLocks noChangeArrowheads="1"/>
              </p:cNvSpPr>
              <p:nvPr/>
            </p:nvSpPr>
            <p:spPr bwMode="auto">
              <a:xfrm>
                <a:off x="6271752" y="2251905"/>
                <a:ext cx="949543" cy="300082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1350" dirty="0"/>
                  <a:t>Neat Line</a:t>
                </a:r>
              </a:p>
            </p:txBody>
          </p:sp>
          <p:sp>
            <p:nvSpPr>
              <p:cNvPr id="8" name="Rectangle 5">
                <a:extLst>
                  <a:ext uri="{FF2B5EF4-FFF2-40B4-BE49-F238E27FC236}">
                    <a16:creationId xmlns:a16="http://schemas.microsoft.com/office/drawing/2014/main" id="{D1D0D3E2-C99A-4475-AB73-3E02DA7613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46523" y="4544250"/>
                <a:ext cx="644728" cy="24622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000" dirty="0" err="1">
                    <a:solidFill>
                      <a:srgbClr val="7030A0"/>
                    </a:solidFill>
                  </a:rPr>
                  <a:t>GeoTech</a:t>
                </a:r>
                <a:endParaRPr lang="en-US" sz="1000" dirty="0">
                  <a:solidFill>
                    <a:srgbClr val="7030A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943337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268383" y="1154538"/>
            <a:ext cx="4232602" cy="2599402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200" dirty="0"/>
              <a:t>Help to organize the map’s contents, and define its extent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200" dirty="0"/>
              <a:t>Frame Line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200" dirty="0"/>
              <a:t>Encloses all other map elements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200" dirty="0"/>
              <a:t>Should be the first map element placed, because it occupies the most area, and defines the initial available space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200" dirty="0"/>
              <a:t>Neat Line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200" dirty="0"/>
              <a:t>Is used to crop (limit the extent of) the mapped area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200" dirty="0"/>
              <a:t>Separate elements to provide an organized look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3CAD56-E69F-4E8C-8D49-6251D17BE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EB1C785-64AC-458B-8DF1-5ACCB9E1452D}"/>
              </a:ext>
            </a:extLst>
          </p:cNvPr>
          <p:cNvSpPr txBox="1">
            <a:spLocks/>
          </p:cNvSpPr>
          <p:nvPr/>
        </p:nvSpPr>
        <p:spPr>
          <a:xfrm>
            <a:off x="268383" y="217561"/>
            <a:ext cx="3846417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Frame line and neat 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A15535-6D03-4962-87D9-84B5EA762CB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5">
            <a:extLst>
              <a:ext uri="{FF2B5EF4-FFF2-40B4-BE49-F238E27FC236}">
                <a16:creationId xmlns:a16="http://schemas.microsoft.com/office/drawing/2014/main" id="{D1D0D3E2-C99A-4475-AB73-3E02DA761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6523" y="4544250"/>
            <a:ext cx="974947" cy="24622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Peterson, 2021</a:t>
            </a:r>
          </a:p>
        </p:txBody>
      </p:sp>
      <p:pic>
        <p:nvPicPr>
          <p:cNvPr id="3" name="Picture 2" descr="Map showing neat line">
            <a:extLst>
              <a:ext uri="{FF2B5EF4-FFF2-40B4-BE49-F238E27FC236}">
                <a16:creationId xmlns:a16="http://schemas.microsoft.com/office/drawing/2014/main" id="{4C373596-6023-4C8B-8ECA-32EAE7B11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300" y="1628260"/>
            <a:ext cx="3831300" cy="270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07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7906530" cy="857247"/>
          </a:xfrm>
        </p:spPr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A Frame Line should be used in most situations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A Neat Line is used when the mapped area needs to be cropped or elements need to be separated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4558F6-7454-4E23-8D89-FD5F52FBD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21508" name="Picture 4" descr="Map showing frame line and neat lin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03860" y="2522458"/>
            <a:ext cx="3632597" cy="22202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E1459F7-E9B6-4B21-9FEB-6F0C4E5EBE4F}"/>
              </a:ext>
            </a:extLst>
          </p:cNvPr>
          <p:cNvSpPr txBox="1">
            <a:spLocks/>
          </p:cNvSpPr>
          <p:nvPr/>
        </p:nvSpPr>
        <p:spPr>
          <a:xfrm>
            <a:off x="275930" y="18736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Frame line and neat line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310C62-70BC-4979-B6C6-80FC527B5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5">
            <a:extLst>
              <a:ext uri="{FF2B5EF4-FFF2-40B4-BE49-F238E27FC236}">
                <a16:creationId xmlns:a16="http://schemas.microsoft.com/office/drawing/2014/main" id="{364EC64D-5C7C-4899-AD2F-109E57298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496" y="4854197"/>
            <a:ext cx="644728" cy="24622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00" dirty="0" err="1">
                <a:solidFill>
                  <a:srgbClr val="7030A0"/>
                </a:solidFill>
              </a:rPr>
              <a:t>GeoTech</a:t>
            </a:r>
            <a:endParaRPr lang="en-US" sz="1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6160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177577" y="1004324"/>
            <a:ext cx="8195288" cy="857248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In certain cases, a frame line can also act as a neat line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Enclosing all map elements </a:t>
            </a:r>
            <a:r>
              <a:rPr lang="en-US" sz="1800" i="1" dirty="0"/>
              <a:t>and</a:t>
            </a:r>
            <a:r>
              <a:rPr lang="en-US" sz="1800" dirty="0"/>
              <a:t> cropping the mapped area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BCBCF-C2C6-4463-8D58-D70D752FB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22532" name="Picture 4" descr="Map showing frame line"/>
          <p:cNvPicPr>
            <a:picLocks noChangeAspect="1" noChangeArrowheads="1"/>
          </p:cNvPicPr>
          <p:nvPr/>
        </p:nvPicPr>
        <p:blipFill>
          <a:blip r:embed="rId2" cstate="print"/>
          <a:srcRect r="49843"/>
          <a:stretch>
            <a:fillRect/>
          </a:stretch>
        </p:blipFill>
        <p:spPr bwMode="auto">
          <a:xfrm>
            <a:off x="2773975" y="1804687"/>
            <a:ext cx="3207100" cy="3143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46A7A900-F871-4871-ABA5-B11BD858ADA0}"/>
              </a:ext>
            </a:extLst>
          </p:cNvPr>
          <p:cNvSpPr txBox="1">
            <a:spLocks/>
          </p:cNvSpPr>
          <p:nvPr/>
        </p:nvSpPr>
        <p:spPr>
          <a:xfrm>
            <a:off x="236621" y="19485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Frame line and neat 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D4F348-AD14-4DC0-8C0E-B0CF52AFABCC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5">
            <a:extLst>
              <a:ext uri="{FF2B5EF4-FFF2-40B4-BE49-F238E27FC236}">
                <a16:creationId xmlns:a16="http://schemas.microsoft.com/office/drawing/2014/main" id="{F4FAA256-BCE8-41A3-872B-C48925129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1048" y="4702422"/>
            <a:ext cx="644728" cy="24622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00" dirty="0" err="1">
                <a:solidFill>
                  <a:srgbClr val="7030A0"/>
                </a:solidFill>
              </a:rPr>
              <a:t>GeoTech</a:t>
            </a:r>
            <a:endParaRPr lang="en-US" sz="1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952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8001000" cy="2164205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The style of these lines should be subtle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A single, thin, black line should be used in most cases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Slightly thicker lines are appropriate when working with large wall maps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These lines should focus attention on what is within them, not on themselves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679DA3-F34E-47DD-B6EE-85209D895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8E4AA78-73E0-4954-93B0-C224D1FA80C9}"/>
              </a:ext>
            </a:extLst>
          </p:cNvPr>
          <p:cNvSpPr txBox="1">
            <a:spLocks/>
          </p:cNvSpPr>
          <p:nvPr/>
        </p:nvSpPr>
        <p:spPr>
          <a:xfrm>
            <a:off x="245949" y="202352"/>
            <a:ext cx="3868851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Frame line and neat line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17990A5-4771-46CB-821A-64E41A7FC189}"/>
              </a:ext>
            </a:extLst>
          </p:cNvPr>
          <p:cNvCxnSpPr/>
          <p:nvPr/>
        </p:nvCxnSpPr>
        <p:spPr>
          <a:xfrm>
            <a:off x="1143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3021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9" name="Picture 4" descr="Image showing frame lin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75165" y="1702343"/>
            <a:ext cx="5763935" cy="28342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D5EF137-32DA-4EB6-91FF-B9114DC727F6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600" dirty="0">
              <a:solidFill>
                <a:srgbClr val="7030A0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CAF9FDD-6F99-43D3-8C78-137E336762C4}"/>
              </a:ext>
            </a:extLst>
          </p:cNvPr>
          <p:cNvCxnSpPr/>
          <p:nvPr/>
        </p:nvCxnSpPr>
        <p:spPr>
          <a:xfrm>
            <a:off x="1143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B96974D-5030-4D22-8874-5B944D0010B1}"/>
              </a:ext>
            </a:extLst>
          </p:cNvPr>
          <p:cNvSpPr txBox="1"/>
          <p:nvPr/>
        </p:nvSpPr>
        <p:spPr>
          <a:xfrm>
            <a:off x="1275165" y="1048756"/>
            <a:ext cx="5547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Which one is better?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1B99C1-141E-4A37-B5E3-66F6143DC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B49716E-0E97-FBD1-3D83-45170DDFCCB0}"/>
              </a:ext>
            </a:extLst>
          </p:cNvPr>
          <p:cNvSpPr txBox="1">
            <a:spLocks/>
          </p:cNvSpPr>
          <p:nvPr/>
        </p:nvSpPr>
        <p:spPr>
          <a:xfrm>
            <a:off x="260939" y="16892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Discussion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8003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61D41-C70B-955D-19C9-6098B4498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7" y="1026177"/>
            <a:ext cx="7444990" cy="857251"/>
          </a:xfrm>
        </p:spPr>
        <p:txBody>
          <a:bodyPr>
            <a:normAutofit/>
          </a:bodyPr>
          <a:lstStyle/>
          <a:p>
            <a:r>
              <a:rPr lang="en-US" altLang="zh-CN" sz="1800" dirty="0"/>
              <a:t>Download Lecture 7 data from Blackboard</a:t>
            </a:r>
            <a:endParaRPr lang="zh-CN" alt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F0A9C-6CFA-D35A-56D5-28537AD84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88667FC-38E8-0771-AD06-3B60D52BA9BB}"/>
              </a:ext>
            </a:extLst>
          </p:cNvPr>
          <p:cNvSpPr txBox="1">
            <a:spLocks/>
          </p:cNvSpPr>
          <p:nvPr/>
        </p:nvSpPr>
        <p:spPr>
          <a:xfrm>
            <a:off x="260939" y="16892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E</a:t>
            </a:r>
            <a:r>
              <a:rPr lang="en-US" altLang="zh-CN" sz="3200" dirty="0">
                <a:solidFill>
                  <a:srgbClr val="7030A0"/>
                </a:solidFill>
              </a:rPr>
              <a:t>xplore Frame Line in ArcGIS Pro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72114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7996767" cy="374189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The region of Earth being represented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Consists of Thematic Symbols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Thematic Symbols directly represent the map’s theme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Are visually dominant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Can also include base Information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Base Information provides a geographic frame of reference for the theme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Is subdued 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9DD81B-0686-4D6E-AF2E-85B619F2B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1848CF-C44E-4C4B-939A-49F71462C5AD}"/>
              </a:ext>
            </a:extLst>
          </p:cNvPr>
          <p:cNvSpPr txBox="1">
            <a:spLocks/>
          </p:cNvSpPr>
          <p:nvPr/>
        </p:nvSpPr>
        <p:spPr>
          <a:xfrm>
            <a:off x="208474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Mapped area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483E7D2-4B71-4D81-935D-A5CB168DF181}"/>
              </a:ext>
            </a:extLst>
          </p:cNvPr>
          <p:cNvCxnSpPr/>
          <p:nvPr/>
        </p:nvCxnSpPr>
        <p:spPr>
          <a:xfrm>
            <a:off x="1143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9467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DC1FCA-B231-4A3B-AB96-F56DFB4C4BC4}"/>
              </a:ext>
            </a:extLst>
          </p:cNvPr>
          <p:cNvSpPr txBox="1">
            <a:spLocks/>
          </p:cNvSpPr>
          <p:nvPr/>
        </p:nvSpPr>
        <p:spPr>
          <a:xfrm>
            <a:off x="238454" y="17093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Mapped area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667EB54-24AE-42B3-AEDA-FD2B08AE441C}"/>
              </a:ext>
            </a:extLst>
          </p:cNvPr>
          <p:cNvCxnSpPr/>
          <p:nvPr/>
        </p:nvCxnSpPr>
        <p:spPr>
          <a:xfrm>
            <a:off x="1143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2" descr="Image showing mapped area">
            <a:extLst>
              <a:ext uri="{FF2B5EF4-FFF2-40B4-BE49-F238E27FC236}">
                <a16:creationId xmlns:a16="http://schemas.microsoft.com/office/drawing/2014/main" id="{2901AD50-380C-4296-983E-1286365C6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057" y="1057738"/>
            <a:ext cx="3024225" cy="391482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Text Box 6">
            <a:extLst>
              <a:ext uri="{FF2B5EF4-FFF2-40B4-BE49-F238E27FC236}">
                <a16:creationId xmlns:a16="http://schemas.microsoft.com/office/drawing/2014/main" id="{503597B5-D6DF-46F4-B822-A5F14FA14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8319" y="2011810"/>
            <a:ext cx="1959887" cy="5078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350" b="1" dirty="0"/>
              <a:t>Thematic Symbols</a:t>
            </a:r>
            <a:r>
              <a:rPr lang="en-US" sz="1350" dirty="0"/>
              <a:t>: Shaded Polygons</a:t>
            </a:r>
          </a:p>
        </p:txBody>
      </p:sp>
      <p:sp>
        <p:nvSpPr>
          <p:cNvPr id="8" name="Text Box 7">
            <a:extLst>
              <a:ext uri="{FF2B5EF4-FFF2-40B4-BE49-F238E27FC236}">
                <a16:creationId xmlns:a16="http://schemas.microsoft.com/office/drawing/2014/main" id="{61527959-F9C1-4D42-BC8B-996379387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8319" y="3329055"/>
            <a:ext cx="1959887" cy="71558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350" b="1" dirty="0"/>
              <a:t>Base Information</a:t>
            </a:r>
            <a:r>
              <a:rPr lang="en-US" sz="1350" dirty="0"/>
              <a:t>:</a:t>
            </a:r>
          </a:p>
          <a:p>
            <a:r>
              <a:rPr lang="en-US" sz="1350" dirty="0"/>
              <a:t>Railroads and</a:t>
            </a:r>
          </a:p>
          <a:p>
            <a:r>
              <a:rPr lang="en-US" sz="1350" dirty="0"/>
              <a:t>City Label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2256D5-BCAE-428F-B853-5DCF0C10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60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1713" y="1080743"/>
            <a:ext cx="7581354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11480" indent="-411480">
              <a:buFont typeface="Courier New" panose="02070309020205020404" pitchFamily="49" charset="0"/>
              <a:buChar char="o"/>
            </a:pPr>
            <a:r>
              <a:rPr lang="en-US" sz="2400" dirty="0"/>
              <a:t>There are two varieties of mapped area, distinguished by how they represent the geographic region of interest</a:t>
            </a:r>
          </a:p>
          <a:p>
            <a:pPr marL="411480" indent="-411480">
              <a:buFont typeface="Courier New" panose="02070309020205020404" pitchFamily="49" charset="0"/>
              <a:buChar char="o"/>
            </a:pPr>
            <a:endParaRPr lang="en-US" sz="2400" dirty="0"/>
          </a:p>
          <a:p>
            <a:pPr marL="668655" lvl="1" indent="-360045">
              <a:buFont typeface="Wingdings" panose="05000000000000000000" pitchFamily="2" charset="2"/>
              <a:buChar char="ü"/>
            </a:pPr>
            <a:r>
              <a:rPr lang="en-US" sz="2000" dirty="0"/>
              <a:t>Floating</a:t>
            </a:r>
          </a:p>
          <a:p>
            <a:pPr marL="668655" lvl="1" indent="-360045">
              <a:buFont typeface="Wingdings" panose="05000000000000000000" pitchFamily="2" charset="2"/>
              <a:buChar char="ü"/>
            </a:pPr>
            <a:r>
              <a:rPr lang="en-US" sz="2000" dirty="0"/>
              <a:t>Cropped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0FFC1F3-BD87-492E-A93B-999D9D75763E}"/>
              </a:ext>
            </a:extLst>
          </p:cNvPr>
          <p:cNvSpPr txBox="1">
            <a:spLocks/>
          </p:cNvSpPr>
          <p:nvPr/>
        </p:nvSpPr>
        <p:spPr>
          <a:xfrm>
            <a:off x="238454" y="22349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Mapped area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1F38D9-47F9-4ABF-9F25-7957C8C1B9AB}"/>
              </a:ext>
            </a:extLst>
          </p:cNvPr>
          <p:cNvCxnSpPr/>
          <p:nvPr/>
        </p:nvCxnSpPr>
        <p:spPr>
          <a:xfrm>
            <a:off x="1143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FAC16E-A05D-4699-BE46-307D7894A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467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114300" y="1192648"/>
            <a:ext cx="5267169" cy="374189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Floating Mapped Area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Region of interest is disconnected from neighboring regions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Produces available space that often eases the placement of other map elements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Removes the region from its geographic context, possibly confusing the map user   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43E960-ECF6-4863-9CBE-479A5A2C0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6" name="Picture 2" descr="Map showing mapped are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45739" y="1421400"/>
            <a:ext cx="2537213" cy="328439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7F76349-4F8F-4A13-B842-DADA7742A6A3}"/>
              </a:ext>
            </a:extLst>
          </p:cNvPr>
          <p:cNvSpPr txBox="1">
            <a:spLocks/>
          </p:cNvSpPr>
          <p:nvPr/>
        </p:nvSpPr>
        <p:spPr>
          <a:xfrm>
            <a:off x="238454" y="20053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Mapped area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22C4FA-8846-4474-84AF-94BD4135FE4F}"/>
              </a:ext>
            </a:extLst>
          </p:cNvPr>
          <p:cNvCxnSpPr/>
          <p:nvPr/>
        </p:nvCxnSpPr>
        <p:spPr>
          <a:xfrm>
            <a:off x="1143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386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2" name="Rectangle 3"/>
          <p:cNvSpPr>
            <a:spLocks noGrp="1" noChangeArrowheads="1"/>
          </p:cNvSpPr>
          <p:nvPr>
            <p:ph idx="1"/>
          </p:nvPr>
        </p:nvSpPr>
        <p:spPr>
          <a:xfrm>
            <a:off x="114301" y="1076823"/>
            <a:ext cx="4686299" cy="374189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Cropped Mapped Area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Represents the region of interest within its geographic context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More realistic, less abstract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Can make the placement of other map elements more difficult due to a lack of available space </a:t>
            </a:r>
          </a:p>
          <a:p>
            <a:pPr lvl="1" indent="-360045"/>
            <a:endParaRPr lang="en-US" sz="1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96407D-0B60-47E4-B00C-49842BD7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32770" name="Picture 5" descr="Map showing cropped mapped area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83777" y="1617027"/>
            <a:ext cx="3331522" cy="2449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80AF2C8-022F-4718-8BF6-5D3D0C7578B9}"/>
              </a:ext>
            </a:extLst>
          </p:cNvPr>
          <p:cNvSpPr txBox="1">
            <a:spLocks/>
          </p:cNvSpPr>
          <p:nvPr/>
        </p:nvSpPr>
        <p:spPr>
          <a:xfrm>
            <a:off x="275929" y="14793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Mapped area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681A35-000E-4D7A-BE3F-276EB514F01C}"/>
              </a:ext>
            </a:extLst>
          </p:cNvPr>
          <p:cNvCxnSpPr/>
          <p:nvPr/>
        </p:nvCxnSpPr>
        <p:spPr>
          <a:xfrm>
            <a:off x="1143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E6B56E-0066-44E0-9400-1F44C0DAAC50}"/>
              </a:ext>
            </a:extLst>
          </p:cNvPr>
          <p:cNvSpPr txBox="1"/>
          <p:nvPr/>
        </p:nvSpPr>
        <p:spPr>
          <a:xfrm>
            <a:off x="5185458" y="4433104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Demonstration!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3E2FDE-16D1-B3D8-760F-5A94781DDB0F}"/>
              </a:ext>
            </a:extLst>
          </p:cNvPr>
          <p:cNvSpPr txBox="1"/>
          <p:nvPr/>
        </p:nvSpPr>
        <p:spPr>
          <a:xfrm>
            <a:off x="4783777" y="2841851"/>
            <a:ext cx="6172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Iraq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277CE4-1608-9C30-83E3-0531BA04D5E7}"/>
              </a:ext>
            </a:extLst>
          </p:cNvPr>
          <p:cNvSpPr txBox="1"/>
          <p:nvPr/>
        </p:nvSpPr>
        <p:spPr>
          <a:xfrm>
            <a:off x="6209817" y="1923335"/>
            <a:ext cx="14264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Turkmenistan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6A6551-1406-11F3-A4C3-E538A7AC71CA}"/>
              </a:ext>
            </a:extLst>
          </p:cNvPr>
          <p:cNvSpPr txBox="1"/>
          <p:nvPr/>
        </p:nvSpPr>
        <p:spPr>
          <a:xfrm rot="5400000">
            <a:off x="6580298" y="2836690"/>
            <a:ext cx="8016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Afghanistan</a:t>
            </a:r>
          </a:p>
        </p:txBody>
      </p:sp>
    </p:spTree>
    <p:extLst>
      <p:ext uri="{BB962C8B-B14F-4D97-AF65-F5344CB8AC3E}">
        <p14:creationId xmlns:p14="http://schemas.microsoft.com/office/powerpoint/2010/main" val="1787666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4"/>
          <p:cNvSpPr>
            <a:spLocks noGrp="1" noChangeArrowheads="1"/>
          </p:cNvSpPr>
          <p:nvPr>
            <p:ph idx="1"/>
          </p:nvPr>
        </p:nvSpPr>
        <p:spPr>
          <a:xfrm>
            <a:off x="433137" y="1028700"/>
            <a:ext cx="7158789" cy="3063615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Make the mapped area as large as possible within the available space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Without being “too close” to the frame line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While leaving ample room for the remaining map elements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Maximum area is important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The mapped area—thematic symbols in particular—is instrumental in communicating the map’s information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7FBDEC-4C0E-4C69-98E1-360EEA365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804A70-412B-465F-A67F-93DA0A3257BE}"/>
              </a:ext>
            </a:extLst>
          </p:cNvPr>
          <p:cNvSpPr txBox="1">
            <a:spLocks/>
          </p:cNvSpPr>
          <p:nvPr/>
        </p:nvSpPr>
        <p:spPr>
          <a:xfrm>
            <a:off x="253445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Mapped area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0CEDBF-D14D-4E75-BC57-47FC52679247}"/>
              </a:ext>
            </a:extLst>
          </p:cNvPr>
          <p:cNvCxnSpPr/>
          <p:nvPr/>
        </p:nvCxnSpPr>
        <p:spPr>
          <a:xfrm>
            <a:off x="1143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15256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7810278" cy="2111737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Try to visually center the mapped area both horizontally (side-to-side) and vertically (top-to-bottom)</a:t>
            </a:r>
          </a:p>
          <a:p>
            <a:pPr marL="1125855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Within the available space, as defined by the frame line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This will not always result in an appropriate placement</a:t>
            </a:r>
          </a:p>
          <a:p>
            <a:pPr marL="1125855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But should be tried first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0698EC-F136-41CF-85B0-AE8698C65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D8EE55-1A6D-4B38-AC2C-4E5F3F4600AB}"/>
              </a:ext>
            </a:extLst>
          </p:cNvPr>
          <p:cNvSpPr txBox="1">
            <a:spLocks/>
          </p:cNvSpPr>
          <p:nvPr/>
        </p:nvSpPr>
        <p:spPr>
          <a:xfrm>
            <a:off x="238454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Mapped area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6BD1A7A-C089-41E9-BD0F-3756CD3A3050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03452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p showing locations of mapped area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56" y="1189619"/>
            <a:ext cx="3915626" cy="1962019"/>
          </a:xfrm>
          <a:prstGeom prst="rect">
            <a:avLst/>
          </a:prstGeom>
        </p:spPr>
      </p:pic>
      <p:sp>
        <p:nvSpPr>
          <p:cNvPr id="35844" name="Text Box 7"/>
          <p:cNvSpPr txBox="1">
            <a:spLocks noChangeArrowheads="1"/>
          </p:cNvSpPr>
          <p:nvPr/>
        </p:nvSpPr>
        <p:spPr bwMode="auto">
          <a:xfrm>
            <a:off x="56412" y="3200302"/>
            <a:ext cx="30861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Appropriately Sized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2592293" y="3218667"/>
            <a:ext cx="110043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Too Small</a:t>
            </a:r>
          </a:p>
        </p:txBody>
      </p:sp>
      <p:pic>
        <p:nvPicPr>
          <p:cNvPr id="7" name="Picture 6" descr="Map showing locations of mapped area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244" y="1189619"/>
            <a:ext cx="3915626" cy="1962019"/>
          </a:xfrm>
          <a:prstGeom prst="rect">
            <a:avLst/>
          </a:prstGeom>
        </p:spPr>
      </p:pic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4754581" y="3218667"/>
            <a:ext cx="110043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Too Large</a:t>
            </a:r>
          </a:p>
        </p:txBody>
      </p:sp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6056057" y="3234927"/>
            <a:ext cx="1957813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dirty="0"/>
              <a:t>Too Small and Off Center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68892-97B1-4A69-B234-BF10F80544BF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600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3E13F1-202B-4385-A04D-E7154C74077A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6FD22E-A2A7-431C-9C18-EA4EB8CD6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359D098-A441-A60E-E6CF-D6EFD3C1E2E9}"/>
              </a:ext>
            </a:extLst>
          </p:cNvPr>
          <p:cNvSpPr txBox="1">
            <a:spLocks/>
          </p:cNvSpPr>
          <p:nvPr/>
        </p:nvSpPr>
        <p:spPr>
          <a:xfrm>
            <a:off x="118533" y="698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816C11B-32BE-EFF8-9FC2-25B3C7526F0B}"/>
              </a:ext>
            </a:extLst>
          </p:cNvPr>
          <p:cNvSpPr txBox="1">
            <a:spLocks/>
          </p:cNvSpPr>
          <p:nvPr/>
        </p:nvSpPr>
        <p:spPr>
          <a:xfrm>
            <a:off x="59644" y="110111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Discussion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226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4" grpId="0"/>
      <p:bldP spid="6" grpId="0"/>
      <p:bldP spid="8" grpId="0"/>
      <p:bldP spid="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5EAD8-C38C-EA8C-7670-687C10DC5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605140"/>
          </a:xfrm>
        </p:spPr>
        <p:txBody>
          <a:bodyPr/>
          <a:lstStyle/>
          <a:p>
            <a:pPr defTabSz="411480"/>
            <a:r>
              <a:rPr lang="en-US" altLang="zh-CN" sz="3200" dirty="0">
                <a:solidFill>
                  <a:srgbClr val="7030A0"/>
                </a:solidFill>
              </a:rPr>
              <a:t>Explore mapped area </a:t>
            </a:r>
            <a:endParaRPr lang="zh-CN" altLang="en-US" sz="3200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A1E5D-534F-6A8F-9D23-4DE40E2C4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7" y="1268469"/>
            <a:ext cx="7444990" cy="1234890"/>
          </a:xfrm>
        </p:spPr>
        <p:txBody>
          <a:bodyPr/>
          <a:lstStyle/>
          <a:p>
            <a:pPr marL="668655" lvl="1" indent="-360045">
              <a:buFont typeface="Wingdings" panose="05000000000000000000" pitchFamily="2" charset="2"/>
              <a:buChar char="ü"/>
            </a:pPr>
            <a:r>
              <a:rPr lang="en-US" altLang="zh-CN" sz="2000" dirty="0"/>
              <a:t>Floating or Cropped </a:t>
            </a:r>
          </a:p>
          <a:p>
            <a:pPr marL="668655" lvl="1" indent="-360045">
              <a:buFont typeface="Wingdings" panose="05000000000000000000" pitchFamily="2" charset="2"/>
              <a:buChar char="ü"/>
            </a:pPr>
            <a:r>
              <a:rPr lang="en-US" altLang="zh-CN" sz="2000" dirty="0"/>
              <a:t>Align to center of the page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272D0-D763-ECBA-D61C-43BFFA94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293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7341046" cy="1543049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A smaller map included within the context of a larger map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Can serve several purposes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In the world of ArcGIS, the inset is usually a separate data frame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4DCA95-7743-4DA0-8AFC-4004473DD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39940" name="Picture 5" descr="Map showing data fram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45178" y="3114813"/>
            <a:ext cx="2562106" cy="198560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C404135-9F2D-4F8B-9A9C-3FF3B3705519}"/>
              </a:ext>
            </a:extLst>
          </p:cNvPr>
          <p:cNvSpPr txBox="1">
            <a:spLocks/>
          </p:cNvSpPr>
          <p:nvPr/>
        </p:nvSpPr>
        <p:spPr>
          <a:xfrm>
            <a:off x="290920" y="18736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Inset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57B0F5F-F474-44BE-A88B-872E0D92B549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p showing inset map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682" y="1125855"/>
            <a:ext cx="4812780" cy="36949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85712" y="1066703"/>
            <a:ext cx="3026970" cy="1688507"/>
          </a:xfrm>
        </p:spPr>
        <p:txBody>
          <a:bodyPr>
            <a:noAutofit/>
          </a:bodyPr>
          <a:lstStyle/>
          <a:p>
            <a:pPr marL="342900" indent="-342900" algn="l" eaLnBrk="1" hangingPunct="1">
              <a:buFont typeface="Courier New" panose="02070309020205020404" pitchFamily="49" charset="0"/>
              <a:buChar char="o"/>
            </a:pPr>
            <a:r>
              <a:rPr lang="en-US" sz="2430" dirty="0"/>
              <a:t>Features not in the correct geographic location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137FD-41D9-4731-B81E-B3861AB1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58085" name="Oval 5" descr="Red circle"/>
          <p:cNvSpPr>
            <a:spLocks noChangeArrowheads="1"/>
          </p:cNvSpPr>
          <p:nvPr/>
        </p:nvSpPr>
        <p:spPr bwMode="auto">
          <a:xfrm>
            <a:off x="3182726" y="3603706"/>
            <a:ext cx="1366242" cy="1276231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558086" name="Oval 6" descr="Red circle"/>
          <p:cNvSpPr>
            <a:spLocks noChangeArrowheads="1"/>
          </p:cNvSpPr>
          <p:nvPr/>
        </p:nvSpPr>
        <p:spPr bwMode="auto">
          <a:xfrm>
            <a:off x="4416096" y="4045188"/>
            <a:ext cx="940832" cy="878681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FBA9A39-DD93-4D9A-8E88-0B5C3D79856D}"/>
              </a:ext>
            </a:extLst>
          </p:cNvPr>
          <p:cNvSpPr txBox="1">
            <a:spLocks/>
          </p:cNvSpPr>
          <p:nvPr/>
        </p:nvSpPr>
        <p:spPr>
          <a:xfrm>
            <a:off x="283425" y="165521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Inset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517909-E77D-4F7C-B828-D427240DD83A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8085" grpId="0" animBg="1"/>
      <p:bldP spid="55808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3"/>
          <p:cNvSpPr>
            <a:spLocks noGrp="1" noChangeArrowheads="1"/>
          </p:cNvSpPr>
          <p:nvPr>
            <p:ph idx="1"/>
          </p:nvPr>
        </p:nvSpPr>
        <p:spPr>
          <a:xfrm>
            <a:off x="1" y="938103"/>
            <a:ext cx="8001000" cy="728882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Can be used to show the primary mapped area in relation to a larger, more recognizable area (a locator map)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EC66FD-A2AF-464E-9B18-44D87E943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43012" name="Picture 4" descr="Map showing inset map"/>
          <p:cNvPicPr>
            <a:picLocks noChangeAspect="1" noChangeArrowheads="1"/>
          </p:cNvPicPr>
          <p:nvPr/>
        </p:nvPicPr>
        <p:blipFill>
          <a:blip r:embed="rId2" cstate="print"/>
          <a:srcRect r="51628"/>
          <a:stretch>
            <a:fillRect/>
          </a:stretch>
        </p:blipFill>
        <p:spPr bwMode="auto">
          <a:xfrm>
            <a:off x="2592502" y="1757582"/>
            <a:ext cx="2365934" cy="30938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3013" name="Text Box 5"/>
          <p:cNvSpPr txBox="1">
            <a:spLocks noChangeArrowheads="1"/>
          </p:cNvSpPr>
          <p:nvPr/>
        </p:nvSpPr>
        <p:spPr bwMode="auto">
          <a:xfrm>
            <a:off x="5083492" y="4589899"/>
            <a:ext cx="262874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Shows Relative Location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503174-4FE4-4595-989A-6D181ED22B91}"/>
              </a:ext>
            </a:extLst>
          </p:cNvPr>
          <p:cNvSpPr txBox="1">
            <a:spLocks/>
          </p:cNvSpPr>
          <p:nvPr/>
        </p:nvSpPr>
        <p:spPr>
          <a:xfrm>
            <a:off x="358376" y="16970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Inset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3010A6F-5F16-4792-9D9A-261959451E3A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8001000" cy="64633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Can be used to enlarge important or congested areas (a zoom, or blow-up map)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A44B9F-3AF1-4B1C-807E-2EFF53DC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44036" name="Text Box 5"/>
          <p:cNvSpPr txBox="1">
            <a:spLocks noChangeArrowheads="1"/>
          </p:cNvSpPr>
          <p:nvPr/>
        </p:nvSpPr>
        <p:spPr bwMode="auto">
          <a:xfrm>
            <a:off x="4658002" y="3126594"/>
            <a:ext cx="317929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Shows Enlargement of an Area</a:t>
            </a:r>
          </a:p>
        </p:txBody>
      </p:sp>
      <p:grpSp>
        <p:nvGrpSpPr>
          <p:cNvPr id="44037" name="Group 7" descr="Map showing inset map"/>
          <p:cNvGrpSpPr>
            <a:grpSpLocks/>
          </p:cNvGrpSpPr>
          <p:nvPr/>
        </p:nvGrpSpPr>
        <p:grpSpPr bwMode="auto">
          <a:xfrm>
            <a:off x="1711299" y="1734176"/>
            <a:ext cx="2865094" cy="3267385"/>
            <a:chOff x="3065463" y="2770188"/>
            <a:chExt cx="2947987" cy="3852862"/>
          </a:xfrm>
        </p:grpSpPr>
        <p:pic>
          <p:nvPicPr>
            <p:cNvPr id="44038" name="Picture 4"/>
            <p:cNvPicPr>
              <a:picLocks noChangeAspect="1" noChangeArrowheads="1"/>
            </p:cNvPicPr>
            <p:nvPr/>
          </p:nvPicPr>
          <p:blipFill>
            <a:blip r:embed="rId2" cstate="print"/>
            <a:srcRect l="51500" r="102"/>
            <a:stretch>
              <a:fillRect/>
            </a:stretch>
          </p:blipFill>
          <p:spPr bwMode="auto">
            <a:xfrm>
              <a:off x="3065463" y="2770188"/>
              <a:ext cx="2947987" cy="3852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44039" name="Picture 7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094131" y="2825270"/>
              <a:ext cx="309896" cy="350588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37B72747-AACF-4630-9452-DEEED7FB74F7}"/>
              </a:ext>
            </a:extLst>
          </p:cNvPr>
          <p:cNvSpPr txBox="1">
            <a:spLocks/>
          </p:cNvSpPr>
          <p:nvPr/>
        </p:nvSpPr>
        <p:spPr>
          <a:xfrm>
            <a:off x="290920" y="19485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Inset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948FA30-454E-4173-A665-B3928D962439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3"/>
          <p:cNvSpPr>
            <a:spLocks noGrp="1" noChangeArrowheads="1"/>
          </p:cNvSpPr>
          <p:nvPr>
            <p:ph idx="1"/>
          </p:nvPr>
        </p:nvSpPr>
        <p:spPr>
          <a:xfrm>
            <a:off x="97744" y="942335"/>
            <a:ext cx="7822018" cy="853005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Can be used to show topics that are related to the map’s theme, or different dates of a common theme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72FC1-9DAC-4E75-A52B-CF0BB158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45060" name="Picture 4" descr="Map showing inset map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3982" y="1909655"/>
            <a:ext cx="3854608" cy="31821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159446" y="3368087"/>
            <a:ext cx="3070154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 dirty="0"/>
              <a:t>Shows Related Themes or Dates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CABD497-227D-4F1C-8AD4-4BB345925C13}"/>
              </a:ext>
            </a:extLst>
          </p:cNvPr>
          <p:cNvSpPr txBox="1">
            <a:spLocks/>
          </p:cNvSpPr>
          <p:nvPr/>
        </p:nvSpPr>
        <p:spPr>
          <a:xfrm>
            <a:off x="309838" y="23716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Inset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FD9511C-50FD-47E9-B296-151B83374AA9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54B0B-1B2B-68B9-CA26-94AAB5BC1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5" y="1313439"/>
            <a:ext cx="7444990" cy="1152444"/>
          </a:xfrm>
        </p:spPr>
        <p:txBody>
          <a:bodyPr/>
          <a:lstStyle/>
          <a:p>
            <a:r>
              <a:rPr lang="en-US" altLang="zh-CN" dirty="0"/>
              <a:t>Create a new map </a:t>
            </a:r>
          </a:p>
          <a:p>
            <a:r>
              <a:rPr lang="en-US" altLang="zh-CN" dirty="0"/>
              <a:t>Include the State map in the new Map</a:t>
            </a:r>
          </a:p>
          <a:p>
            <a:r>
              <a:rPr lang="en-US" altLang="zh-CN" dirty="0"/>
              <a:t>Insert the State map as an inset map to show the relative location of Arkansas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F9BA6-80BE-FBD2-E311-4441455C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26931D8-6551-C737-2A12-2854B12C32D8}"/>
              </a:ext>
            </a:extLst>
          </p:cNvPr>
          <p:cNvSpPr txBox="1">
            <a:spLocks/>
          </p:cNvSpPr>
          <p:nvPr/>
        </p:nvSpPr>
        <p:spPr>
          <a:xfrm>
            <a:off x="392305" y="526617"/>
            <a:ext cx="7444991" cy="6051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30861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89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defTabSz="411480"/>
            <a:r>
              <a:rPr lang="en-US" altLang="zh-CN" sz="3200" dirty="0">
                <a:solidFill>
                  <a:srgbClr val="7030A0"/>
                </a:solidFill>
              </a:rPr>
              <a:t>Explore inset map in </a:t>
            </a:r>
            <a:r>
              <a:rPr lang="en-US" altLang="zh-CN" sz="3200" dirty="0" err="1">
                <a:solidFill>
                  <a:srgbClr val="7030A0"/>
                </a:solidFill>
              </a:rPr>
              <a:t>arcgis</a:t>
            </a:r>
            <a:r>
              <a:rPr lang="en-US" altLang="zh-CN" sz="3200" dirty="0">
                <a:solidFill>
                  <a:srgbClr val="7030A0"/>
                </a:solidFill>
              </a:rPr>
              <a:t> pro</a:t>
            </a:r>
            <a:endParaRPr lang="zh-CN" altLang="en-US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75017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1" name="Rectangle 3"/>
          <p:cNvSpPr>
            <a:spLocks noGrp="1" noChangeArrowheads="1"/>
          </p:cNvSpPr>
          <p:nvPr>
            <p:ph idx="1"/>
          </p:nvPr>
        </p:nvSpPr>
        <p:spPr>
          <a:xfrm>
            <a:off x="276726" y="1028700"/>
            <a:ext cx="7822017" cy="2613908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The title and subtitle tell the map user what the map is about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Most thematic maps require a title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A title is sometimes omitted when a map is used as a figure in a written document, assuming that the title is clearly expressed in the figure caption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A well-crafted title can draw attention to a map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7875D-A43F-4EBF-AFDB-873253B2C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D31F3B9-0D40-4EC4-A10B-83DD74E02A6E}"/>
              </a:ext>
            </a:extLst>
          </p:cNvPr>
          <p:cNvSpPr txBox="1">
            <a:spLocks/>
          </p:cNvSpPr>
          <p:nvPr/>
        </p:nvSpPr>
        <p:spPr>
          <a:xfrm>
            <a:off x="215969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Title and Subtitle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4E6B52A-61DB-426D-90C5-6B442F66C88D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54" name="Picture 4" descr="Map showing title"/>
          <p:cNvPicPr preferRelativeResize="0"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27704" y="1052274"/>
            <a:ext cx="4979551" cy="3660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22246" name="Oval 6" descr="Red circle"/>
          <p:cNvSpPr>
            <a:spLocks noChangeArrowheads="1"/>
          </p:cNvSpPr>
          <p:nvPr/>
        </p:nvSpPr>
        <p:spPr bwMode="auto">
          <a:xfrm>
            <a:off x="2734629" y="991196"/>
            <a:ext cx="2699266" cy="490776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94F6D9B-E409-4462-ADE8-FFEA74E1E721}"/>
              </a:ext>
            </a:extLst>
          </p:cNvPr>
          <p:cNvSpPr txBox="1">
            <a:spLocks/>
          </p:cNvSpPr>
          <p:nvPr/>
        </p:nvSpPr>
        <p:spPr>
          <a:xfrm>
            <a:off x="275929" y="195024"/>
            <a:ext cx="100573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200F7A7-3862-4CBB-A454-54B14E4DC980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7CDB24-B92B-420F-A94E-75A3BB6D0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4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>
          <a:xfrm>
            <a:off x="343974" y="1010931"/>
            <a:ext cx="4737629" cy="374189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The Title of a thematic map is a succinct description of the map’s theme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600" dirty="0"/>
              <a:t>General reference maps typically employ the geographic region as the title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Unnecessary words should be omitted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600" dirty="0"/>
              <a:t>But avoid cryptic abbreviations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8D387E-8241-4215-8BD8-E69099C9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34</a:t>
            </a:fld>
            <a:endParaRPr lang="en-US"/>
          </a:p>
        </p:txBody>
      </p:sp>
      <p:pic>
        <p:nvPicPr>
          <p:cNvPr id="5" name="Picture 8" descr="Image showing title"/>
          <p:cNvPicPr>
            <a:picLocks noChangeAspect="1" noChangeArrowheads="1"/>
          </p:cNvPicPr>
          <p:nvPr/>
        </p:nvPicPr>
        <p:blipFill>
          <a:blip r:embed="rId3" cstate="print"/>
          <a:srcRect l="15105" t="1636" r="14639" b="65562"/>
          <a:stretch>
            <a:fillRect/>
          </a:stretch>
        </p:blipFill>
        <p:spPr bwMode="auto">
          <a:xfrm>
            <a:off x="5350863" y="1281374"/>
            <a:ext cx="2586752" cy="109620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pic>
        <p:nvPicPr>
          <p:cNvPr id="6" name="Picture 10" descr="Image showing title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49148" y="3060560"/>
            <a:ext cx="3146585" cy="162729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7" name="Text Box 11"/>
          <p:cNvSpPr txBox="1">
            <a:spLocks noChangeArrowheads="1"/>
          </p:cNvSpPr>
          <p:nvPr/>
        </p:nvSpPr>
        <p:spPr bwMode="auto">
          <a:xfrm>
            <a:off x="5606716" y="2465837"/>
            <a:ext cx="19533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Appropriate Titles</a:t>
            </a:r>
          </a:p>
        </p:txBody>
      </p:sp>
      <p:sp>
        <p:nvSpPr>
          <p:cNvPr id="8" name="Text Box 12"/>
          <p:cNvSpPr txBox="1">
            <a:spLocks noChangeArrowheads="1"/>
          </p:cNvSpPr>
          <p:nvPr/>
        </p:nvSpPr>
        <p:spPr bwMode="auto">
          <a:xfrm>
            <a:off x="5572850" y="4716808"/>
            <a:ext cx="23308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Inappropriate Titles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7C8B20B-6112-4776-90EF-A6A3D0FD1368}"/>
              </a:ext>
            </a:extLst>
          </p:cNvPr>
          <p:cNvSpPr txBox="1">
            <a:spLocks/>
          </p:cNvSpPr>
          <p:nvPr/>
        </p:nvSpPr>
        <p:spPr>
          <a:xfrm>
            <a:off x="343974" y="18458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Title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7EC9C58-9BCA-44CE-B251-0D75B105E716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906780"/>
            <a:ext cx="7806268" cy="2226162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The subtitle, if employed, is used to further explain title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The geographic region and date are common components of the subtitle but is often omitted (when it is easily identifiable) 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dirty="0"/>
              <a:t>The subtitle should be horizontally centered below the title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1800" dirty="0"/>
              <a:t>The style of the Title and Subtitle should be plain</a:t>
            </a:r>
          </a:p>
          <a:p>
            <a:pPr marL="411480" indent="-411480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C71E82-7583-4F79-AE49-B1DABC89B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29462B7-A495-4CAA-B007-3F4A85165AE4}"/>
              </a:ext>
            </a:extLst>
          </p:cNvPr>
          <p:cNvSpPr txBox="1">
            <a:spLocks/>
          </p:cNvSpPr>
          <p:nvPr/>
        </p:nvSpPr>
        <p:spPr>
          <a:xfrm>
            <a:off x="223464" y="20797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Title with Subtitle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5BDE92-44DC-496D-9C3C-CE78AFB53890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Image showing 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67563" y="1360273"/>
            <a:ext cx="4060257" cy="2682978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29462B7-A495-4CAA-B007-3F4A85165AE4}"/>
              </a:ext>
            </a:extLst>
          </p:cNvPr>
          <p:cNvSpPr txBox="1">
            <a:spLocks/>
          </p:cNvSpPr>
          <p:nvPr/>
        </p:nvSpPr>
        <p:spPr>
          <a:xfrm>
            <a:off x="290920" y="17799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Title with Subtitle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5BDE92-44DC-496D-9C3C-CE78AFB53890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4729CB-A480-4867-A7BE-14882A75F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8197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Image showing title 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4692" y="1818782"/>
            <a:ext cx="4056208" cy="30940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>
          <a:xfrm>
            <a:off x="97744" y="957484"/>
            <a:ext cx="8000999" cy="800098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Use a subtle mask behind the title and subtitle </a:t>
            </a:r>
            <a:r>
              <a:rPr lang="en-US" sz="1800" i="1" dirty="0"/>
              <a:t>only</a:t>
            </a:r>
            <a:r>
              <a:rPr lang="en-US" sz="1800" dirty="0"/>
              <a:t> if it is necessary to cover the underlying mapped area to improve legibility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3060CB-C993-43E7-8D3E-B3EB2FC2E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94C1703-83DC-46F3-868B-540D5CFC2B3D}"/>
              </a:ext>
            </a:extLst>
          </p:cNvPr>
          <p:cNvSpPr txBox="1">
            <a:spLocks/>
          </p:cNvSpPr>
          <p:nvPr/>
        </p:nvSpPr>
        <p:spPr>
          <a:xfrm>
            <a:off x="268434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Title with Subtitle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7537838-2518-457F-83EF-9F124EA514F1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204538" y="1255822"/>
            <a:ext cx="7894206" cy="263185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If possible, place the title at top-center,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The title should normally be the largest type on a thematic map – subtitle smaller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Both the title and subtitle should be short and to the point (limited to one line each)</a:t>
            </a:r>
          </a:p>
          <a:p>
            <a:pPr marL="681514" lvl="1" indent="-411480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5840E2-98F2-4745-AF55-E0374045A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180E56-CCF6-4951-AD75-7B43C93F6126}"/>
              </a:ext>
            </a:extLst>
          </p:cNvPr>
          <p:cNvSpPr txBox="1">
            <a:spLocks/>
          </p:cNvSpPr>
          <p:nvPr/>
        </p:nvSpPr>
        <p:spPr>
          <a:xfrm>
            <a:off x="204538" y="146009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Title with Subtitle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1D5279-6BE9-4D79-B098-ACC84DCEEF42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29462B7-A495-4CAA-B007-3F4A85165AE4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600" dirty="0">
              <a:solidFill>
                <a:srgbClr val="7030A0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5BDE92-44DC-496D-9C3C-CE78AFB53890}"/>
              </a:ext>
            </a:extLst>
          </p:cNvPr>
          <p:cNvCxnSpPr/>
          <p:nvPr/>
        </p:nvCxnSpPr>
        <p:spPr>
          <a:xfrm>
            <a:off x="97744" y="900332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94CF86-5402-4D14-8DBA-9363AED1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39</a:t>
            </a:fld>
            <a:endParaRPr lang="en-US"/>
          </a:p>
        </p:txBody>
      </p:sp>
      <p:pic>
        <p:nvPicPr>
          <p:cNvPr id="4" name="Picture 3" descr="Image showing title location">
            <a:extLst>
              <a:ext uri="{FF2B5EF4-FFF2-40B4-BE49-F238E27FC236}">
                <a16:creationId xmlns:a16="http://schemas.microsoft.com/office/drawing/2014/main" id="{1D05451D-2CC5-D092-43E7-D1FAF7AD4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231" y="1372102"/>
            <a:ext cx="6736516" cy="292151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DBBE736-FE93-1F5E-6C96-F31F123F6257}"/>
              </a:ext>
            </a:extLst>
          </p:cNvPr>
          <p:cNvSpPr txBox="1">
            <a:spLocks/>
          </p:cNvSpPr>
          <p:nvPr/>
        </p:nvSpPr>
        <p:spPr>
          <a:xfrm>
            <a:off x="238455" y="12606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Discussion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16085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800E6-E63A-BDEB-346A-A3706444D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E52E-6332-411A-EEB3-7D9ACB786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5" y="1313439"/>
            <a:ext cx="7444990" cy="605140"/>
          </a:xfrm>
        </p:spPr>
        <p:txBody>
          <a:bodyPr>
            <a:normAutofit/>
          </a:bodyPr>
          <a:lstStyle/>
          <a:p>
            <a:r>
              <a:rPr lang="en-US" altLang="zh-CN" sz="1800" dirty="0"/>
              <a:t>Title: Total Population in Arkansas, 2010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CBC31-24CB-53BD-42B5-2B33B6AA7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557C2E8-0432-7D67-1F48-C2CCB124F597}"/>
              </a:ext>
            </a:extLst>
          </p:cNvPr>
          <p:cNvSpPr txBox="1">
            <a:spLocks/>
          </p:cNvSpPr>
          <p:nvPr/>
        </p:nvSpPr>
        <p:spPr>
          <a:xfrm>
            <a:off x="392305" y="526617"/>
            <a:ext cx="7444991" cy="6051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30861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89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defTabSz="411480"/>
            <a:r>
              <a:rPr lang="en-US" altLang="zh-CN" sz="3200" dirty="0">
                <a:solidFill>
                  <a:srgbClr val="7030A0"/>
                </a:solidFill>
              </a:rPr>
              <a:t>Explore title in ArcGIS Pro</a:t>
            </a:r>
            <a:endParaRPr lang="zh-CN" altLang="en-US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4392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960120"/>
            <a:ext cx="5067863" cy="374189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Defines the symbols found on a map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On a thematic map, thematic symbols are defined, in addition to symbols for base information that are not self-explanatory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Legends for general reference maps often define all symbols found on the map—even if self-explanatory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7DF29E-12A4-4AC0-82DF-1CBE83F6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41</a:t>
            </a:fld>
            <a:endParaRPr lang="en-US"/>
          </a:p>
        </p:txBody>
      </p:sp>
      <p:pic>
        <p:nvPicPr>
          <p:cNvPr id="5" name="Picture 5" descr="Image showing legend"/>
          <p:cNvPicPr preferRelativeResize="0"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4686" y="1871413"/>
            <a:ext cx="3048714" cy="2241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6" descr="Red circle"/>
          <p:cNvSpPr>
            <a:spLocks noChangeArrowheads="1"/>
          </p:cNvSpPr>
          <p:nvPr/>
        </p:nvSpPr>
        <p:spPr bwMode="auto">
          <a:xfrm>
            <a:off x="7086362" y="2165607"/>
            <a:ext cx="1143238" cy="1128952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D18346E-DA0E-431E-BAEF-42DBDAD3872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796BFA1A-A1FB-49A0-8102-60E5A4E068D9}"/>
              </a:ext>
            </a:extLst>
          </p:cNvPr>
          <p:cNvSpPr txBox="1">
            <a:spLocks/>
          </p:cNvSpPr>
          <p:nvPr/>
        </p:nvSpPr>
        <p:spPr>
          <a:xfrm>
            <a:off x="283425" y="17878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 t="20832" r="11942"/>
          <a:stretch>
            <a:fillRect/>
          </a:stretch>
        </p:blipFill>
        <p:spPr bwMode="auto">
          <a:xfrm>
            <a:off x="1191578" y="987547"/>
            <a:ext cx="5846445" cy="387766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FC3465-AE5E-40AD-B413-E75385D409BC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7FB43CB0-60B4-45D7-B361-A9517BBABC86}"/>
              </a:ext>
            </a:extLst>
          </p:cNvPr>
          <p:cNvSpPr txBox="1">
            <a:spLocks/>
          </p:cNvSpPr>
          <p:nvPr/>
        </p:nvSpPr>
        <p:spPr>
          <a:xfrm>
            <a:off x="260939" y="13029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5DCFC8-8418-456D-A982-F3DF9DCE4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3" name="Rectangle 3"/>
          <p:cNvSpPr>
            <a:spLocks noGrp="1" noChangeArrowheads="1"/>
          </p:cNvSpPr>
          <p:nvPr>
            <p:ph idx="1"/>
          </p:nvPr>
        </p:nvSpPr>
        <p:spPr>
          <a:xfrm>
            <a:off x="264695" y="1171107"/>
            <a:ext cx="7471610" cy="2568939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The style of the legend should be clear and straightforward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Use a subtle mask around the legend only if necessary to improve legibility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Symbols in the legend should be </a:t>
            </a:r>
            <a:r>
              <a:rPr lang="en-US" sz="1800" i="1" dirty="0"/>
              <a:t>identical</a:t>
            </a:r>
            <a:r>
              <a:rPr lang="en-US" sz="1800" dirty="0"/>
              <a:t> to those on the mapped area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This includes color and orientation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Don’t include the word “Legend”!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B47C73-BE05-4538-94D7-E9C881A32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43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EA9B43E-379E-413C-BA2B-9EFC7E680DF0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AB652CB0-DBDF-4415-8C05-417C64B3B3CF}"/>
              </a:ext>
            </a:extLst>
          </p:cNvPr>
          <p:cNvSpPr txBox="1">
            <a:spLocks/>
          </p:cNvSpPr>
          <p:nvPr/>
        </p:nvSpPr>
        <p:spPr>
          <a:xfrm>
            <a:off x="264695" y="11855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90" name="Picture 6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28501" y="1484194"/>
            <a:ext cx="3529132" cy="1194611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3492" name="Rectangle 3"/>
          <p:cNvSpPr>
            <a:spLocks noGrp="1" noChangeArrowheads="1"/>
          </p:cNvSpPr>
          <p:nvPr>
            <p:ph idx="1"/>
          </p:nvPr>
        </p:nvSpPr>
        <p:spPr>
          <a:xfrm>
            <a:off x="13905" y="1150032"/>
            <a:ext cx="4505629" cy="374189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Representative symbols should be placed on the left and defined to the right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Symbols should be vertically centered with their definitions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Textual definitions and definitions consisting of individual numbers should be horizontally aligned to left</a:t>
            </a:r>
          </a:p>
          <a:p>
            <a:pPr marL="0" indent="0">
              <a:buNone/>
            </a:pPr>
            <a:r>
              <a:rPr lang="en-US" sz="1600" dirty="0"/>
              <a:t> </a:t>
            </a:r>
          </a:p>
          <a:p>
            <a:pPr marL="411480" indent="-411480"/>
            <a:endParaRPr lang="en-US"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6BFF7E-7482-463B-A12E-08FEC3593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44</a:t>
            </a:fld>
            <a:endParaRPr lang="en-US"/>
          </a:p>
        </p:txBody>
      </p:sp>
      <p:pic>
        <p:nvPicPr>
          <p:cNvPr id="6" name="Picture 5" descr="Image showing legend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03452" y="3183804"/>
            <a:ext cx="2939844" cy="147248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1116FAE-883E-403E-8D82-753DB3137BCE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01294233-E71F-4F80-9149-D92C046025C8}"/>
              </a:ext>
            </a:extLst>
          </p:cNvPr>
          <p:cNvSpPr txBox="1">
            <a:spLocks/>
          </p:cNvSpPr>
          <p:nvPr/>
        </p:nvSpPr>
        <p:spPr>
          <a:xfrm>
            <a:off x="238454" y="14093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3" name="Rectangle 3"/>
          <p:cNvSpPr>
            <a:spLocks noGrp="1" noChangeArrowheads="1"/>
          </p:cNvSpPr>
          <p:nvPr>
            <p:ph idx="1"/>
          </p:nvPr>
        </p:nvSpPr>
        <p:spPr>
          <a:xfrm>
            <a:off x="156633" y="1046747"/>
            <a:ext cx="6820496" cy="107436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Definitions containing numbers of 1,000 or greater should incorporate commas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Decimal numbers smaller than one should incorporate a leading zero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7E71E2-67F7-40D2-9223-15DB2C1EC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45</a:t>
            </a:fld>
            <a:endParaRPr lang="en-US"/>
          </a:p>
        </p:txBody>
      </p:sp>
      <p:pic>
        <p:nvPicPr>
          <p:cNvPr id="66564" name="Picture 5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 l="41603" t="1944" b="3889"/>
          <a:stretch>
            <a:fillRect/>
          </a:stretch>
        </p:blipFill>
        <p:spPr bwMode="auto">
          <a:xfrm>
            <a:off x="2624256" y="2445174"/>
            <a:ext cx="2981087" cy="1453039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D0669DF-DAF6-413D-906B-0553EA34BCCD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D1339C9D-10EF-4E53-8E34-82C99D705219}"/>
              </a:ext>
            </a:extLst>
          </p:cNvPr>
          <p:cNvSpPr txBox="1">
            <a:spLocks/>
          </p:cNvSpPr>
          <p:nvPr/>
        </p:nvSpPr>
        <p:spPr>
          <a:xfrm>
            <a:off x="305910" y="14010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10" name="Picture 6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5370" y="2754578"/>
            <a:ext cx="2780638" cy="1712586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>
          <a:xfrm>
            <a:off x="156633" y="1028700"/>
            <a:ext cx="7900580" cy="1279785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The legend can be oriented horizontally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Definitions are horizontally centered below the symbols they represent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Symbols are vertically aligned to bottom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EEBFB6-C245-42D2-B874-E3C623FB2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46</a:t>
            </a:fld>
            <a:endParaRPr lang="en-US"/>
          </a:p>
        </p:txBody>
      </p:sp>
      <p:pic>
        <p:nvPicPr>
          <p:cNvPr id="68613" name="Picture 7" descr="Image showing legend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00992" y="3258351"/>
            <a:ext cx="3043238" cy="609719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8CCAB68-036C-4F42-A28B-F999DA048F01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26E59CB-23F7-48FA-AEF8-C3B0ED74D066}"/>
              </a:ext>
            </a:extLst>
          </p:cNvPr>
          <p:cNvSpPr txBox="1">
            <a:spLocks/>
          </p:cNvSpPr>
          <p:nvPr/>
        </p:nvSpPr>
        <p:spPr>
          <a:xfrm>
            <a:off x="260939" y="18874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981584"/>
            <a:ext cx="5328881" cy="3560436"/>
          </a:xfrm>
        </p:spPr>
        <p:txBody>
          <a:bodyPr>
            <a:normAutofit/>
          </a:bodyPr>
          <a:lstStyle/>
          <a:p>
            <a:pPr marL="651510" lvl="1" indent="-342900">
              <a:buFont typeface="Wingdings" panose="05000000000000000000" pitchFamily="2" charset="2"/>
              <a:buChar char="ü"/>
            </a:pPr>
            <a:r>
              <a:rPr lang="en-US" sz="2000" dirty="0"/>
              <a:t>Legend rectangles should be connected when representing the magnitude of an attribute</a:t>
            </a:r>
          </a:p>
          <a:p>
            <a:pPr marL="833760" lvl="2" indent="-342900">
              <a:buFont typeface="Wingdings" panose="05000000000000000000" pitchFamily="2" charset="2"/>
              <a:buChar char="ü"/>
            </a:pPr>
            <a:r>
              <a:rPr lang="en-US" altLang="zh-CN" sz="2000" dirty="0"/>
              <a:t>Areal symbols on the mapped area are usually connected</a:t>
            </a:r>
          </a:p>
          <a:p>
            <a:pPr marL="833760" lvl="2" indent="-342900">
              <a:buFont typeface="Wingdings" panose="05000000000000000000" pitchFamily="2" charset="2"/>
              <a:buChar char="ü"/>
            </a:pPr>
            <a:r>
              <a:rPr lang="en-US" altLang="zh-CN" sz="2000" dirty="0"/>
              <a:t>Connected rectangles help to emphasize the idea that a continuum of values is being represented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39351-ECBF-404E-B29E-06BF2F6C9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47</a:t>
            </a:fld>
            <a:endParaRPr lang="en-US"/>
          </a:p>
        </p:txBody>
      </p:sp>
      <p:pic>
        <p:nvPicPr>
          <p:cNvPr id="69636" name="Picture 7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91589" y="998811"/>
            <a:ext cx="1809869" cy="2048533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9637" name="Rectangle 8"/>
          <p:cNvSpPr>
            <a:spLocks noChangeArrowheads="1"/>
          </p:cNvSpPr>
          <p:nvPr/>
        </p:nvSpPr>
        <p:spPr bwMode="auto">
          <a:xfrm>
            <a:off x="118533" y="2514200"/>
            <a:ext cx="4848504" cy="2622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51510" lvl="1" indent="-342900">
              <a:spcBef>
                <a:spcPct val="20000"/>
              </a:spcBef>
              <a:buFont typeface="Wingdings" panose="05000000000000000000" pitchFamily="2" charset="2"/>
              <a:buChar char="ü"/>
            </a:pPr>
            <a:endParaRPr lang="en-US" sz="189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301286-5225-459F-9F24-894AB108BA96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A14D2C85-F1D7-4D3B-B998-DD693B888C9C}"/>
              </a:ext>
            </a:extLst>
          </p:cNvPr>
          <p:cNvSpPr txBox="1">
            <a:spLocks/>
          </p:cNvSpPr>
          <p:nvPr/>
        </p:nvSpPr>
        <p:spPr>
          <a:xfrm>
            <a:off x="268434" y="15661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  <p:pic>
        <p:nvPicPr>
          <p:cNvPr id="2" name="Picture 6" descr="Image showing legend">
            <a:extLst>
              <a:ext uri="{FF2B5EF4-FFF2-40B4-BE49-F238E27FC236}">
                <a16:creationId xmlns:a16="http://schemas.microsoft.com/office/drawing/2014/main" id="{E3C05D30-213E-4E9B-A742-1BD1E3B48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49413" y="3147678"/>
            <a:ext cx="2212776" cy="1603058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3" name="Text Box 8">
            <a:extLst>
              <a:ext uri="{FF2B5EF4-FFF2-40B4-BE49-F238E27FC236}">
                <a16:creationId xmlns:a16="http://schemas.microsoft.com/office/drawing/2014/main" id="{20236B7E-0A95-41BF-9746-4FAEDFADA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4319" y="4701029"/>
            <a:ext cx="1809869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 dirty="0"/>
              <a:t>Inappropriate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82" name="Picture 9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19061" y="2625033"/>
            <a:ext cx="2256675" cy="202299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1684" name="Rectangle 3"/>
          <p:cNvSpPr>
            <a:spLocks noGrp="1" noChangeArrowheads="1"/>
          </p:cNvSpPr>
          <p:nvPr>
            <p:ph idx="1"/>
          </p:nvPr>
        </p:nvSpPr>
        <p:spPr>
          <a:xfrm>
            <a:off x="283425" y="949794"/>
            <a:ext cx="7818759" cy="1754146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Areal symbols can be represented by irregular, amorphous polygons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Irregular polygons can look more natural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Most appropriate for qualitative categories of areal data (separated)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4FA5F0-95B4-485D-AFA2-0964CE6E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1686" name="Text Box 7"/>
          <p:cNvSpPr txBox="1">
            <a:spLocks noChangeArrowheads="1"/>
          </p:cNvSpPr>
          <p:nvPr/>
        </p:nvSpPr>
        <p:spPr bwMode="auto">
          <a:xfrm>
            <a:off x="3485876" y="4894556"/>
            <a:ext cx="1276476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 dirty="0"/>
              <a:t>Appropriate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6EB584D-7D21-442A-93AA-707FC66A5049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DE24D3F-2C00-42FC-B9A5-321AB8EEB78B}"/>
              </a:ext>
            </a:extLst>
          </p:cNvPr>
          <p:cNvSpPr txBox="1">
            <a:spLocks/>
          </p:cNvSpPr>
          <p:nvPr/>
        </p:nvSpPr>
        <p:spPr>
          <a:xfrm>
            <a:off x="223464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8077200" cy="1662032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A legend heading is often included to further explain the map’s theme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The unit of measure (for quantitative data) and enumeration unit are common components of the legend heading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FD4842-2764-4488-90E6-95AE2E212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49</a:t>
            </a:fld>
            <a:endParaRPr lang="en-US"/>
          </a:p>
        </p:txBody>
      </p:sp>
      <p:pic>
        <p:nvPicPr>
          <p:cNvPr id="73732" name="Picture 6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21727" y="2943480"/>
            <a:ext cx="2406754" cy="1662032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pic>
        <p:nvPicPr>
          <p:cNvPr id="73733" name="Picture 7" descr="Image showing legend"/>
          <p:cNvPicPr>
            <a:picLocks noChangeAspect="1" noChangeArrowheads="1"/>
          </p:cNvPicPr>
          <p:nvPr/>
        </p:nvPicPr>
        <p:blipFill>
          <a:blip r:embed="rId3" cstate="print"/>
          <a:srcRect t="20718" r="44923"/>
          <a:stretch>
            <a:fillRect/>
          </a:stretch>
        </p:blipFill>
        <p:spPr bwMode="auto">
          <a:xfrm>
            <a:off x="4389481" y="2943480"/>
            <a:ext cx="2295498" cy="1658842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6DF2C8-9907-49C7-9540-BAE86864F406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7F4996DC-BFCC-4052-B4F4-28CFDB4CA9DF}"/>
              </a:ext>
            </a:extLst>
          </p:cNvPr>
          <p:cNvSpPr txBox="1">
            <a:spLocks/>
          </p:cNvSpPr>
          <p:nvPr/>
        </p:nvSpPr>
        <p:spPr>
          <a:xfrm>
            <a:off x="283425" y="16625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754" name="Picture 9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84746" y="2924073"/>
            <a:ext cx="3392933" cy="1460550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4756" name="Rectangle 3"/>
          <p:cNvSpPr>
            <a:spLocks noGrp="1" noChangeArrowheads="1"/>
          </p:cNvSpPr>
          <p:nvPr>
            <p:ph idx="1"/>
          </p:nvPr>
        </p:nvSpPr>
        <p:spPr>
          <a:xfrm>
            <a:off x="156633" y="1028700"/>
            <a:ext cx="8001000" cy="1624559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The legend heading should be placed above the legend, and be horizontally centered with it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Multiple lines of type can be horizontally centered (center justified)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Horizontal centering creates a self-balancing group of objects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70F1E0-F5D8-4D46-B6EC-E5E912C8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74757" name="Picture 8" descr="Image showing legend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05010" y="2848263"/>
            <a:ext cx="2080203" cy="1707258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6A7E2AD-4604-432B-8399-08EE5ECDB1FD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10FC9A40-F584-439D-BE3E-D3E134064BC2}"/>
              </a:ext>
            </a:extLst>
          </p:cNvPr>
          <p:cNvSpPr txBox="1">
            <a:spLocks/>
          </p:cNvSpPr>
          <p:nvPr/>
        </p:nvSpPr>
        <p:spPr>
          <a:xfrm>
            <a:off x="245950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3" name="Text Box 7">
            <a:extLst>
              <a:ext uri="{FF2B5EF4-FFF2-40B4-BE49-F238E27FC236}">
                <a16:creationId xmlns:a16="http://schemas.microsoft.com/office/drawing/2014/main" id="{FE4E13E1-AF2B-4D27-94F1-38B33B4190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4273" y="4667895"/>
            <a:ext cx="1276476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 dirty="0"/>
              <a:t>Appropriate</a:t>
            </a:r>
          </a:p>
        </p:txBody>
      </p:sp>
      <p:sp>
        <p:nvSpPr>
          <p:cNvPr id="4" name="Text Box 8">
            <a:extLst>
              <a:ext uri="{FF2B5EF4-FFF2-40B4-BE49-F238E27FC236}">
                <a16:creationId xmlns:a16="http://schemas.microsoft.com/office/drawing/2014/main" id="{D04B6C56-2B50-4FEE-8AC2-49F6023116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3548" y="4674395"/>
            <a:ext cx="1809869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 dirty="0"/>
              <a:t>Inappropriate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3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8001000" cy="567751"/>
          </a:xfrm>
        </p:spPr>
        <p:txBody>
          <a:bodyPr>
            <a:normAutofit/>
          </a:bodyPr>
          <a:lstStyle/>
          <a:p>
            <a:pPr marL="411480" indent="-411480"/>
            <a:r>
              <a:rPr lang="en-US" sz="1800" dirty="0"/>
              <a:t>Legend symbols are often organized into groups, according to a certain logic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41FC52-0D59-4CF3-989B-B45C05EC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76804" name="Picture 5" descr="Image showing legend"/>
          <p:cNvPicPr>
            <a:picLocks noChangeAspect="1" noChangeArrowheads="1"/>
          </p:cNvPicPr>
          <p:nvPr/>
        </p:nvPicPr>
        <p:blipFill rotWithShape="1">
          <a:blip r:embed="rId2" cstate="print"/>
          <a:srcRect l="1" r="-10294"/>
          <a:stretch/>
        </p:blipFill>
        <p:spPr bwMode="auto">
          <a:xfrm>
            <a:off x="1853052" y="1596451"/>
            <a:ext cx="5273801" cy="31182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CEF042-935F-4E74-8E9A-D05EADD1B47D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0164F540-31F8-40C4-AB68-491CAA2CB81D}"/>
              </a:ext>
            </a:extLst>
          </p:cNvPr>
          <p:cNvSpPr txBox="1">
            <a:spLocks/>
          </p:cNvSpPr>
          <p:nvPr/>
        </p:nvSpPr>
        <p:spPr>
          <a:xfrm>
            <a:off x="305911" y="14778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Image showing mapped are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269106" y="2477724"/>
            <a:ext cx="2627488" cy="200420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pic>
        <p:nvPicPr>
          <p:cNvPr id="8" name="Picture 2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50812" y="2477724"/>
            <a:ext cx="2627488" cy="200420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7827" name="Rectangle 6"/>
          <p:cNvSpPr>
            <a:spLocks noGrp="1" noChangeArrowheads="1"/>
          </p:cNvSpPr>
          <p:nvPr>
            <p:ph idx="1"/>
          </p:nvPr>
        </p:nvSpPr>
        <p:spPr>
          <a:xfrm>
            <a:off x="118533" y="930403"/>
            <a:ext cx="7726056" cy="1227319"/>
          </a:xfrm>
          <a:noFill/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The legend should be large enough to be useful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But should not occupy vast areas of space, or challenge thematic symbols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6AAA2A-BA45-455F-9173-3CAFA155F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77830" name="Text Box 9"/>
          <p:cNvSpPr txBox="1">
            <a:spLocks noChangeArrowheads="1"/>
          </p:cNvSpPr>
          <p:nvPr/>
        </p:nvSpPr>
        <p:spPr bwMode="auto">
          <a:xfrm>
            <a:off x="4290537" y="4483418"/>
            <a:ext cx="2608183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/>
              <a:t>Too Large</a:t>
            </a:r>
          </a:p>
        </p:txBody>
      </p:sp>
      <p:sp>
        <p:nvSpPr>
          <p:cNvPr id="77831" name="Text Box 10"/>
          <p:cNvSpPr txBox="1">
            <a:spLocks noChangeArrowheads="1"/>
          </p:cNvSpPr>
          <p:nvPr/>
        </p:nvSpPr>
        <p:spPr bwMode="auto">
          <a:xfrm>
            <a:off x="1350812" y="4483418"/>
            <a:ext cx="1213402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 dirty="0"/>
              <a:t>Too Small</a:t>
            </a:r>
          </a:p>
        </p:txBody>
      </p:sp>
      <p:pic>
        <p:nvPicPr>
          <p:cNvPr id="3074" name="Picture 2" descr="Image showing legend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74179" y="3301194"/>
            <a:ext cx="700556" cy="115831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6D1341-36F3-47C3-8387-C3151D217D6C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92FFD906-D14F-4CFB-A753-05EB0E8B0BD1}"/>
              </a:ext>
            </a:extLst>
          </p:cNvPr>
          <p:cNvSpPr txBox="1">
            <a:spLocks/>
          </p:cNvSpPr>
          <p:nvPr/>
        </p:nvSpPr>
        <p:spPr>
          <a:xfrm>
            <a:off x="251937" y="18177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7461" y="1885945"/>
            <a:ext cx="1959292" cy="254579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9876" name="Rectangle 5"/>
          <p:cNvSpPr>
            <a:spLocks noGrp="1" noChangeArrowheads="1"/>
          </p:cNvSpPr>
          <p:nvPr>
            <p:ph idx="1"/>
          </p:nvPr>
        </p:nvSpPr>
        <p:spPr>
          <a:xfrm>
            <a:off x="156633" y="1028700"/>
            <a:ext cx="8001000" cy="751456"/>
          </a:xfrm>
          <a:noFill/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If possible, the legend should be visually centered within a larger portion of available space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28F931-6170-42B5-B47E-9A23F20AF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53</a:t>
            </a:fld>
            <a:endParaRPr lang="en-US"/>
          </a:p>
        </p:txBody>
      </p:sp>
      <p:pic>
        <p:nvPicPr>
          <p:cNvPr id="79877" name="Picture 6" descr="Image showing legend"/>
          <p:cNvPicPr preferRelativeResize="0"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80817" y="2270641"/>
            <a:ext cx="3166467" cy="2327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D7540AE-0F47-4AB5-A83C-C483E856ADF9}"/>
              </a:ext>
            </a:extLst>
          </p:cNvPr>
          <p:cNvCxnSpPr/>
          <p:nvPr/>
        </p:nvCxnSpPr>
        <p:spPr>
          <a:xfrm>
            <a:off x="156633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148D082D-97F5-4085-9AE0-EDFD3BFBD326}"/>
              </a:ext>
            </a:extLst>
          </p:cNvPr>
          <p:cNvSpPr txBox="1">
            <a:spLocks/>
          </p:cNvSpPr>
          <p:nvPr/>
        </p:nvSpPr>
        <p:spPr>
          <a:xfrm>
            <a:off x="245949" y="18124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Legend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466" name="Picture 13" descr="Image showing legen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38756" y="1939323"/>
            <a:ext cx="3391540" cy="2715689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pic>
        <p:nvPicPr>
          <p:cNvPr id="62467" name="Picture 11" descr="Image showing legend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9205" y="1940392"/>
            <a:ext cx="3388810" cy="2715691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30A3CD-AE25-49D5-9B03-C4A461892BD4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A4932C5-933F-4F89-960F-42B83185A5E6}"/>
              </a:ext>
            </a:extLst>
          </p:cNvPr>
          <p:cNvSpPr txBox="1">
            <a:spLocks/>
          </p:cNvSpPr>
          <p:nvPr/>
        </p:nvSpPr>
        <p:spPr>
          <a:xfrm>
            <a:off x="300156" y="17834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Discussion 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0E8162-3E8F-4C5E-BE43-98B8FEC9450A}"/>
              </a:ext>
            </a:extLst>
          </p:cNvPr>
          <p:cNvSpPr txBox="1"/>
          <p:nvPr/>
        </p:nvSpPr>
        <p:spPr>
          <a:xfrm>
            <a:off x="1458397" y="1198516"/>
            <a:ext cx="481484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Which one is better? And Why?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D4B1C7-AE06-4AD4-B6C0-F53C89F9C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7408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71305" y="1325254"/>
            <a:ext cx="3286989" cy="830997"/>
          </a:xfrm>
          <a:prstGeom prst="rect">
            <a:avLst/>
          </a:prstGeom>
          <a:noFill/>
        </p:spPr>
        <p:txBody>
          <a:bodyPr wrap="none" lIns="82296" tIns="41148" rIns="82296" bIns="41148">
            <a:spAutoFit/>
          </a:bodyPr>
          <a:lstStyle/>
          <a:p>
            <a:pPr algn="ctr"/>
            <a:r>
              <a:rPr lang="en-US" sz="4860" b="1" spc="180" dirty="0">
                <a:ln w="29210">
                  <a:solidFill>
                    <a:schemeClr val="accent3">
                      <a:tint val="10000"/>
                    </a:schemeClr>
                  </a:solidFill>
                </a:ln>
                <a:solidFill>
                  <a:srgbClr val="008000">
                    <a:alpha val="50000"/>
                  </a:srgbClr>
                </a:solidFill>
                <a:effectLst>
                  <a:innerShdw blurRad="50800" dist="50800" dir="8100000">
                    <a:srgbClr val="7D7D7D">
                      <a:alpha val="73000"/>
                    </a:srgbClr>
                  </a:innerShdw>
                </a:effectLst>
              </a:rPr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C9EAE-E5B7-4784-94CD-D062E17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DE135F-68C6-4911-85BA-92ABB3F9F85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DF13BC-3A5F-4415-94E6-85FAF42998C9}"/>
              </a:ext>
            </a:extLst>
          </p:cNvPr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23018"/>
      </p:ext>
    </p:extLst>
  </p:cSld>
  <p:clrMapOvr>
    <a:masterClrMapping/>
  </p:clrMapOvr>
</p:sld>
</file>

<file path=ppt/theme/theme1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4.xml><?xml version="1.0" encoding="utf-8"?>
<a:theme xmlns:a="http://schemas.openxmlformats.org/drawingml/2006/main" name="5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5.xml><?xml version="1.0" encoding="utf-8"?>
<a:theme xmlns:a="http://schemas.openxmlformats.org/drawingml/2006/main" name="6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Week04_GEOG2475_Tu</Template>
  <TotalTime>10704</TotalTime>
  <Words>1667</Words>
  <Application>Microsoft Office PowerPoint</Application>
  <PresentationFormat>Custom</PresentationFormat>
  <Paragraphs>310</Paragraphs>
  <Slides>55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55</vt:i4>
      </vt:variant>
    </vt:vector>
  </HeadingPairs>
  <TitlesOfParts>
    <vt:vector size="65" baseType="lpstr">
      <vt:lpstr>Arial Black</vt:lpstr>
      <vt:lpstr>Calibri</vt:lpstr>
      <vt:lpstr>Courier New</vt:lpstr>
      <vt:lpstr>Wingdings</vt:lpstr>
      <vt:lpstr>Wingdings 2</vt:lpstr>
      <vt:lpstr>2_DividendVTI</vt:lpstr>
      <vt:lpstr>DividendVTI</vt:lpstr>
      <vt:lpstr>1_DividendVTI</vt:lpstr>
      <vt:lpstr>5_DividendVTI</vt:lpstr>
      <vt:lpstr>6_DividendVTI</vt:lpstr>
      <vt:lpstr>Lecture 07  Map Elements  lecture</vt:lpstr>
      <vt:lpstr>7.1  MAP ELEMENTS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Explore mapped area </vt:lpstr>
      <vt:lpstr>PowerPoint Presentation</vt:lpstr>
      <vt:lpstr>Features not in the correct geographic location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Geographic Field Techniques</dc:title>
  <dc:creator>Yaqian He</dc:creator>
  <cp:lastModifiedBy>Yanan Wu</cp:lastModifiedBy>
  <cp:revision>431</cp:revision>
  <dcterms:created xsi:type="dcterms:W3CDTF">2020-07-26T21:20:11Z</dcterms:created>
  <dcterms:modified xsi:type="dcterms:W3CDTF">2025-09-29T19:25:25Z</dcterms:modified>
</cp:coreProperties>
</file>