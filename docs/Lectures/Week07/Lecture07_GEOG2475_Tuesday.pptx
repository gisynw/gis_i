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 id="2147483709" r:id="rId5"/>
  </p:sldMasterIdLst>
  <p:notesMasterIdLst>
    <p:notesMasterId r:id="rId60"/>
  </p:notesMasterIdLst>
  <p:sldIdLst>
    <p:sldId id="914" r:id="rId6"/>
    <p:sldId id="1647" r:id="rId7"/>
    <p:sldId id="650" r:id="rId8"/>
    <p:sldId id="442" r:id="rId9"/>
    <p:sldId id="445" r:id="rId10"/>
    <p:sldId id="544" r:id="rId11"/>
    <p:sldId id="444" r:id="rId12"/>
    <p:sldId id="438" r:id="rId13"/>
    <p:sldId id="439" r:id="rId14"/>
    <p:sldId id="450" r:id="rId15"/>
    <p:sldId id="454" r:id="rId16"/>
    <p:sldId id="545" r:id="rId17"/>
    <p:sldId id="456" r:id="rId18"/>
    <p:sldId id="457" r:id="rId19"/>
    <p:sldId id="1648" r:id="rId20"/>
    <p:sldId id="459" r:id="rId21"/>
    <p:sldId id="460" r:id="rId22"/>
    <p:sldId id="461" r:id="rId23"/>
    <p:sldId id="546" r:id="rId24"/>
    <p:sldId id="463" r:id="rId25"/>
    <p:sldId id="464" r:id="rId26"/>
    <p:sldId id="466" r:id="rId27"/>
    <p:sldId id="465" r:id="rId28"/>
    <p:sldId id="1649" r:id="rId29"/>
    <p:sldId id="469" r:id="rId30"/>
    <p:sldId id="509" r:id="rId31"/>
    <p:sldId id="547" r:id="rId32"/>
    <p:sldId id="549" r:id="rId33"/>
    <p:sldId id="471" r:id="rId34"/>
    <p:sldId id="1650" r:id="rId35"/>
    <p:sldId id="476" r:id="rId36"/>
    <p:sldId id="477" r:id="rId37"/>
    <p:sldId id="497" r:id="rId38"/>
    <p:sldId id="479" r:id="rId39"/>
    <p:sldId id="651" r:id="rId40"/>
    <p:sldId id="554" r:id="rId41"/>
    <p:sldId id="555" r:id="rId42"/>
    <p:sldId id="653" r:id="rId43"/>
    <p:sldId id="1651" r:id="rId44"/>
    <p:sldId id="486" r:id="rId45"/>
    <p:sldId id="557" r:id="rId46"/>
    <p:sldId id="489" r:id="rId47"/>
    <p:sldId id="496" r:id="rId48"/>
    <p:sldId id="499" r:id="rId49"/>
    <p:sldId id="491" r:id="rId50"/>
    <p:sldId id="501" r:id="rId51"/>
    <p:sldId id="503" r:id="rId52"/>
    <p:sldId id="504" r:id="rId53"/>
    <p:sldId id="506" r:id="rId54"/>
    <p:sldId id="494" r:id="rId55"/>
    <p:sldId id="512" r:id="rId56"/>
    <p:sldId id="487" r:id="rId57"/>
    <p:sldId id="1658" r:id="rId58"/>
    <p:sldId id="1659" r:id="rId59"/>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84" autoAdjust="0"/>
  </p:normalViewPr>
  <p:slideViewPr>
    <p:cSldViewPr snapToGrid="0" snapToObjects="1">
      <p:cViewPr varScale="1">
        <p:scale>
          <a:sx n="79" d="100"/>
          <a:sy n="79" d="100"/>
        </p:scale>
        <p:origin x="1368" y="84"/>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4" Type="http://schemas.openxmlformats.org/officeDocument/2006/relationships/image" Target="../media/image4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4" Type="http://schemas.openxmlformats.org/officeDocument/2006/relationships/image" Target="../media/image4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OCT 06,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OCT 06,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9/29/2025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029370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noisy, inefficient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000000"/>
                </a:solidFill>
              </a:rPr>
              <a:t>A simple, efficient communicator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0000"/>
              </a:solidFill>
            </a:endParaRP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6</a:t>
            </a:fld>
            <a:endParaRPr lang="en-US"/>
          </a:p>
        </p:txBody>
      </p:sp>
    </p:spTree>
    <p:extLst>
      <p:ext uri="{BB962C8B-B14F-4D97-AF65-F5344CB8AC3E}">
        <p14:creationId xmlns:p14="http://schemas.microsoft.com/office/powerpoint/2010/main" val="3802608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14</a:t>
            </a:fld>
            <a:endParaRPr lang="en-US"/>
          </a:p>
        </p:txBody>
      </p:sp>
    </p:spTree>
    <p:extLst>
      <p:ext uri="{BB962C8B-B14F-4D97-AF65-F5344CB8AC3E}">
        <p14:creationId xmlns:p14="http://schemas.microsoft.com/office/powerpoint/2010/main" val="1027244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Iraq, Turkmenistan, Afghanistan, </a:t>
            </a:r>
            <a:r>
              <a:rPr lang="en-US" dirty="0" err="1"/>
              <a:t>Pr</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20</a:t>
            </a:fld>
            <a:endParaRPr lang="en-US"/>
          </a:p>
        </p:txBody>
      </p:sp>
    </p:spTree>
    <p:extLst>
      <p:ext uri="{BB962C8B-B14F-4D97-AF65-F5344CB8AC3E}">
        <p14:creationId xmlns:p14="http://schemas.microsoft.com/office/powerpoint/2010/main" val="2467111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27</a:t>
            </a:fld>
            <a:endParaRPr lang="en-US"/>
          </a:p>
        </p:txBody>
      </p:sp>
    </p:spTree>
    <p:extLst>
      <p:ext uri="{BB962C8B-B14F-4D97-AF65-F5344CB8AC3E}">
        <p14:creationId xmlns:p14="http://schemas.microsoft.com/office/powerpoint/2010/main" val="3305968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Don’t include the word “Map” in a title!</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33</a:t>
            </a:fld>
            <a:endParaRPr lang="en-US"/>
          </a:p>
        </p:txBody>
      </p:sp>
    </p:spTree>
    <p:extLst>
      <p:ext uri="{BB962C8B-B14F-4D97-AF65-F5344CB8AC3E}">
        <p14:creationId xmlns:p14="http://schemas.microsoft.com/office/powerpoint/2010/main" val="2500542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a:t>
            </a:r>
          </a:p>
        </p:txBody>
      </p:sp>
      <p:sp>
        <p:nvSpPr>
          <p:cNvPr id="4" name="Slide Number Placeholder 3"/>
          <p:cNvSpPr>
            <a:spLocks noGrp="1"/>
          </p:cNvSpPr>
          <p:nvPr>
            <p:ph type="sldNum" sz="quarter" idx="5"/>
          </p:nvPr>
        </p:nvSpPr>
        <p:spPr/>
        <p:txBody>
          <a:bodyPr/>
          <a:lstStyle/>
          <a:p>
            <a:fld id="{56507943-197E-CE46-82F0-5A323A24AE7A}" type="slidenum">
              <a:rPr lang="en-US" smtClean="0"/>
              <a:pPr/>
              <a:t>40</a:t>
            </a:fld>
            <a:endParaRPr lang="en-US"/>
          </a:p>
        </p:txBody>
      </p:sp>
    </p:spTree>
    <p:extLst>
      <p:ext uri="{BB962C8B-B14F-4D97-AF65-F5344CB8AC3E}">
        <p14:creationId xmlns:p14="http://schemas.microsoft.com/office/powerpoint/2010/main" val="25837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9123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9/29/2025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47857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9/29/2025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9857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9/29/2025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83799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66689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33512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54741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69482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9/29/2025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27257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2162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3532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9/29/2025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02436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9/29/2025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08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9/29/2025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59322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9/29/2025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73738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88434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69628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132847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57183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9/29/2025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849847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12788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098397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9/29/2025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05058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4453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2254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131585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171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729188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48521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8892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04076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15576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76606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447414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1194581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30331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783287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08070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31480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546588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59016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24447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93601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35967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84268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863033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91408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60793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721676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982040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78577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277219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5579081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711935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00093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67687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68962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433470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9/29/2025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6584389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9/29/2025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8394965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73936817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57179669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9/29/2025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71067046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mgimond.github.io/Spatial/good-map-making-tips.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a:bodyPr>
          <a:lstStyle/>
          <a:p>
            <a:r>
              <a:rPr lang="en-US" altLang="zh-CN" sz="2800" dirty="0"/>
              <a:t>Lecture 07 </a:t>
            </a:r>
            <a:br>
              <a:rPr lang="en-US" altLang="zh-CN" sz="2800" dirty="0"/>
            </a:br>
            <a:r>
              <a:rPr lang="en-US" altLang="zh-CN" sz="2800" dirty="0"/>
              <a:t>Map Elements</a:t>
            </a: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dirty="0">
                <a:solidFill>
                  <a:srgbClr val="FFFFFF"/>
                </a:solidFill>
              </a:rPr>
            </a:br>
            <a:r>
              <a:rPr lang="en-US" sz="4050" dirty="0">
                <a:solidFill>
                  <a:srgbClr val="FFFFFF"/>
                </a:solidFill>
              </a:rPr>
              <a:t>MAP ELEMENTS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92500" lnSpcReduction="10000"/>
          </a:bodyPr>
          <a:lstStyle/>
          <a:p>
            <a:pPr>
              <a:buFont typeface="Courier New" panose="02070309020205020404" pitchFamily="49" charset="0"/>
              <a:buChar char="o"/>
            </a:pPr>
            <a:r>
              <a:rPr lang="en-US" altLang="en-US" sz="2600" dirty="0"/>
              <a:t>Map Elements</a:t>
            </a:r>
          </a:p>
          <a:p>
            <a:pPr lvl="1">
              <a:buFont typeface="Wingdings" panose="05000000000000000000" pitchFamily="2" charset="2"/>
              <a:buChar char="ü"/>
            </a:pPr>
            <a:r>
              <a:rPr lang="en-US" sz="2440" dirty="0">
                <a:solidFill>
                  <a:srgbClr val="000000"/>
                </a:solidFill>
              </a:rPr>
              <a:t>F</a:t>
            </a:r>
            <a:r>
              <a:rPr lang="en-US" sz="2200" dirty="0">
                <a:solidFill>
                  <a:srgbClr val="000000"/>
                </a:solidFill>
              </a:rPr>
              <a:t>rame Line and Neat Line</a:t>
            </a:r>
          </a:p>
          <a:p>
            <a:pPr lvl="1">
              <a:buFont typeface="Wingdings" panose="05000000000000000000" pitchFamily="2" charset="2"/>
              <a:buChar char="ü"/>
            </a:pPr>
            <a:r>
              <a:rPr lang="en-US" sz="2200" dirty="0">
                <a:solidFill>
                  <a:srgbClr val="000000"/>
                </a:solidFill>
              </a:rPr>
              <a:t>Mapped Area</a:t>
            </a:r>
          </a:p>
          <a:p>
            <a:pPr lvl="1">
              <a:buFont typeface="Wingdings" panose="05000000000000000000" pitchFamily="2" charset="2"/>
              <a:buChar char="ü"/>
            </a:pPr>
            <a:r>
              <a:rPr lang="en-US" sz="2200" dirty="0">
                <a:solidFill>
                  <a:srgbClr val="000000"/>
                </a:solidFill>
              </a:rPr>
              <a:t>Inset</a:t>
            </a:r>
          </a:p>
          <a:p>
            <a:pPr lvl="1">
              <a:buFont typeface="Wingdings" panose="05000000000000000000" pitchFamily="2" charset="2"/>
              <a:buChar char="ü"/>
            </a:pPr>
            <a:r>
              <a:rPr lang="en-US" sz="2200" dirty="0">
                <a:solidFill>
                  <a:srgbClr val="000000"/>
                </a:solidFill>
              </a:rPr>
              <a:t>Title and Subtitle</a:t>
            </a:r>
          </a:p>
          <a:p>
            <a:pPr lvl="1">
              <a:lnSpc>
                <a:spcPct val="110000"/>
              </a:lnSpc>
              <a:buFont typeface="Wingdings" panose="05000000000000000000" pitchFamily="2" charset="2"/>
              <a:buChar char="ü"/>
            </a:pPr>
            <a:r>
              <a:rPr lang="en-US" sz="2200" dirty="0">
                <a:solidFill>
                  <a:srgbClr val="000000"/>
                </a:solidFill>
              </a:rPr>
              <a:t>Legend</a:t>
            </a:r>
          </a:p>
          <a:p>
            <a:pPr lvl="1">
              <a:lnSpc>
                <a:spcPct val="110000"/>
              </a:lnSpc>
              <a:buFont typeface="Wingdings" panose="05000000000000000000" pitchFamily="2" charset="2"/>
              <a:buChar char="ü"/>
            </a:pPr>
            <a:r>
              <a:rPr lang="en-US" sz="2200" dirty="0">
                <a:solidFill>
                  <a:srgbClr val="000000"/>
                </a:solidFill>
              </a:rPr>
              <a:t>Data Source</a:t>
            </a:r>
          </a:p>
          <a:p>
            <a:pPr lvl="1">
              <a:lnSpc>
                <a:spcPct val="110000"/>
              </a:lnSpc>
              <a:buFont typeface="Wingdings" panose="05000000000000000000" pitchFamily="2" charset="2"/>
              <a:buChar char="ü"/>
            </a:pPr>
            <a:r>
              <a:rPr lang="en-US" sz="2200" dirty="0">
                <a:solidFill>
                  <a:srgbClr val="000000"/>
                </a:solidFill>
              </a:rPr>
              <a:t>Scale</a:t>
            </a:r>
          </a:p>
          <a:p>
            <a:pPr lvl="1">
              <a:lnSpc>
                <a:spcPct val="110000"/>
              </a:lnSpc>
              <a:buFont typeface="Wingdings" panose="05000000000000000000" pitchFamily="2" charset="2"/>
              <a:buChar char="ü"/>
            </a:pPr>
            <a:r>
              <a:rPr lang="en-US" sz="2200" dirty="0">
                <a:solidFill>
                  <a:srgbClr val="000000"/>
                </a:solidFill>
              </a:rPr>
              <a:t>Orientation</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08474"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556139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337093" y="922911"/>
            <a:ext cx="3957589" cy="1767824"/>
          </a:xfrm>
        </p:spPr>
        <p:txBody>
          <a:bodyPr>
            <a:normAutofit/>
          </a:bodyPr>
          <a:lstStyle/>
          <a:p>
            <a:pPr>
              <a:buFont typeface="Courier New" panose="02070309020205020404" pitchFamily="49" charset="0"/>
              <a:buChar char="o"/>
            </a:pPr>
            <a:r>
              <a:rPr lang="en-US" sz="1800" dirty="0"/>
              <a:t>The building blocks of </a:t>
            </a:r>
            <a:r>
              <a:rPr lang="en-US" sz="1800" i="1" dirty="0"/>
              <a:t>Cartographic Communication</a:t>
            </a:r>
          </a:p>
          <a:p>
            <a:pPr>
              <a:buFont typeface="Courier New" panose="02070309020205020404" pitchFamily="49" charset="0"/>
              <a:buChar char="o"/>
            </a:pPr>
            <a:r>
              <a:rPr lang="en-US" sz="1800" dirty="0"/>
              <a:t>All maps are created from a common set of map elements</a:t>
            </a:r>
          </a:p>
        </p:txBody>
      </p:sp>
      <p:sp>
        <p:nvSpPr>
          <p:cNvPr id="2" name="Slide Number Placeholder 1">
            <a:extLst>
              <a:ext uri="{FF2B5EF4-FFF2-40B4-BE49-F238E27FC236}">
                <a16:creationId xmlns:a16="http://schemas.microsoft.com/office/drawing/2014/main" id="{B8E963D4-3A98-45ED-B54D-5E680AB81E37}"/>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9221" name="Rectangle 5"/>
          <p:cNvSpPr>
            <a:spLocks noChangeArrowheads="1"/>
          </p:cNvSpPr>
          <p:nvPr/>
        </p:nvSpPr>
        <p:spPr bwMode="auto">
          <a:xfrm>
            <a:off x="69939" y="4897279"/>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sp>
        <p:nvSpPr>
          <p:cNvPr id="6" name="Title 1">
            <a:extLst>
              <a:ext uri="{FF2B5EF4-FFF2-40B4-BE49-F238E27FC236}">
                <a16:creationId xmlns:a16="http://schemas.microsoft.com/office/drawing/2014/main" id="{61C90064-EC61-4936-81F1-D1A4764C2906}"/>
              </a:ext>
            </a:extLst>
          </p:cNvPr>
          <p:cNvSpPr txBox="1">
            <a:spLocks/>
          </p:cNvSpPr>
          <p:nvPr/>
        </p:nvSpPr>
        <p:spPr>
          <a:xfrm>
            <a:off x="230959" y="187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7" name="Straight Connector 6">
            <a:extLst>
              <a:ext uri="{FF2B5EF4-FFF2-40B4-BE49-F238E27FC236}">
                <a16:creationId xmlns:a16="http://schemas.microsoft.com/office/drawing/2014/main" id="{C68461E0-CACD-4A20-BCB6-AADDF52384A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descr="Sample map of South America, with the different map elements labeled.">
            <a:extLst>
              <a:ext uri="{FF2B5EF4-FFF2-40B4-BE49-F238E27FC236}">
                <a16:creationId xmlns:a16="http://schemas.microsoft.com/office/drawing/2014/main" id="{261753A6-9EB8-7807-CB29-30348A23EB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5686" y="1015113"/>
            <a:ext cx="2921611" cy="407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52400" y="1005649"/>
            <a:ext cx="7788442" cy="3951361"/>
          </a:xfrm>
        </p:spPr>
        <p:txBody>
          <a:bodyPr>
            <a:normAutofit lnSpcReduction="10000"/>
          </a:bodyPr>
          <a:lstStyle/>
          <a:p>
            <a:pPr>
              <a:buFont typeface="Courier New" panose="02070309020205020404" pitchFamily="49" charset="0"/>
              <a:buChar char="o"/>
            </a:pPr>
            <a:r>
              <a:rPr lang="en-US" sz="2000" dirty="0">
                <a:solidFill>
                  <a:srgbClr val="000000"/>
                </a:solidFill>
              </a:rPr>
              <a:t>Available Space</a:t>
            </a:r>
          </a:p>
          <a:p>
            <a:pPr marL="765810" lvl="1" indent="-457200">
              <a:buFont typeface="Wingdings" panose="05000000000000000000" pitchFamily="2" charset="2"/>
              <a:buChar char="ü"/>
            </a:pPr>
            <a:r>
              <a:rPr lang="en-US" sz="1900" dirty="0"/>
              <a:t>Areas on a page or screen that can be used to place map elements </a:t>
            </a:r>
          </a:p>
          <a:p>
            <a:pPr marL="765810" lvl="1" indent="-457200">
              <a:buFont typeface="Wingdings" panose="05000000000000000000" pitchFamily="2" charset="2"/>
              <a:buChar char="ü"/>
            </a:pPr>
            <a:r>
              <a:rPr lang="en-US" sz="1900" dirty="0"/>
              <a:t>“White Space”</a:t>
            </a:r>
          </a:p>
          <a:p>
            <a:pPr>
              <a:buFont typeface="Courier New" panose="02070309020205020404" pitchFamily="49" charset="0"/>
              <a:buChar char="o"/>
            </a:pPr>
            <a:r>
              <a:rPr lang="en-US" sz="2000" dirty="0"/>
              <a:t>The cartographer constantly evaluates the relationship between map elements and available space</a:t>
            </a:r>
          </a:p>
          <a:p>
            <a:pPr marL="765810" lvl="1" indent="-457200">
              <a:buFont typeface="Wingdings" panose="05000000000000000000" pitchFamily="2" charset="2"/>
              <a:buChar char="ü"/>
            </a:pPr>
            <a:r>
              <a:rPr lang="en-US" sz="1900" dirty="0"/>
              <a:t>Map elements are usually </a:t>
            </a:r>
            <a:r>
              <a:rPr lang="en-US" sz="1900" i="1" dirty="0"/>
              <a:t>visually centered </a:t>
            </a:r>
            <a:r>
              <a:rPr lang="en-US" sz="1900" dirty="0"/>
              <a:t>within appropriate areas of available space</a:t>
            </a:r>
          </a:p>
          <a:p>
            <a:pPr>
              <a:buFont typeface="Courier New" panose="02070309020205020404" pitchFamily="49" charset="0"/>
              <a:buChar char="o"/>
            </a:pPr>
            <a:r>
              <a:rPr lang="en-US" sz="2000" dirty="0">
                <a:solidFill>
                  <a:srgbClr val="000000"/>
                </a:solidFill>
              </a:rPr>
              <a:t>It is the cartographer’s job to make all decisions regarding map elements</a:t>
            </a:r>
          </a:p>
          <a:p>
            <a:pPr marL="765810" lvl="1" indent="-457200">
              <a:buFont typeface="Wingdings" panose="05000000000000000000" pitchFamily="2" charset="2"/>
              <a:buChar char="ü"/>
            </a:pPr>
            <a:r>
              <a:rPr lang="en-US" sz="1800" dirty="0"/>
              <a:t>Which to include, and which to omit</a:t>
            </a:r>
          </a:p>
          <a:p>
            <a:pPr marL="765810" lvl="1" indent="-457200">
              <a:buFont typeface="Wingdings" panose="05000000000000000000" pitchFamily="2" charset="2"/>
              <a:buChar char="ü"/>
            </a:pPr>
            <a:r>
              <a:rPr lang="en-US" sz="1800" dirty="0"/>
              <a:t>How to implement them in the most appropriate manner</a:t>
            </a:r>
          </a:p>
        </p:txBody>
      </p:sp>
      <p:sp>
        <p:nvSpPr>
          <p:cNvPr id="2" name="Slide Number Placeholder 1">
            <a:extLst>
              <a:ext uri="{FF2B5EF4-FFF2-40B4-BE49-F238E27FC236}">
                <a16:creationId xmlns:a16="http://schemas.microsoft.com/office/drawing/2014/main" id="{84EA90F4-CC29-4B32-8358-AFE7A71E20E9}"/>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3" name="Title 1">
            <a:extLst>
              <a:ext uri="{FF2B5EF4-FFF2-40B4-BE49-F238E27FC236}">
                <a16:creationId xmlns:a16="http://schemas.microsoft.com/office/drawing/2014/main" id="{39B1EC4B-3BEA-4E1B-9681-9E6C8722E143}"/>
              </a:ext>
            </a:extLst>
          </p:cNvPr>
          <p:cNvSpPr txBox="1">
            <a:spLocks/>
          </p:cNvSpPr>
          <p:nvPr/>
        </p:nvSpPr>
        <p:spPr>
          <a:xfrm>
            <a:off x="152400" y="1864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4" name="Straight Connector 3">
            <a:extLst>
              <a:ext uri="{FF2B5EF4-FFF2-40B4-BE49-F238E27FC236}">
                <a16:creationId xmlns:a16="http://schemas.microsoft.com/office/drawing/2014/main" id="{C68925C9-148D-43E0-8D2C-1FD325DE4E2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4318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ap with elements"/>
          <p:cNvPicPr>
            <a:picLocks noChangeAspect="1"/>
          </p:cNvPicPr>
          <p:nvPr/>
        </p:nvPicPr>
        <p:blipFill>
          <a:blip r:embed="rId3"/>
          <a:stretch>
            <a:fillRect/>
          </a:stretch>
        </p:blipFill>
        <p:spPr>
          <a:xfrm>
            <a:off x="1226059" y="1155415"/>
            <a:ext cx="2537849" cy="3189357"/>
          </a:xfrm>
          <a:prstGeom prst="rect">
            <a:avLst/>
          </a:prstGeom>
        </p:spPr>
      </p:pic>
      <p:pic>
        <p:nvPicPr>
          <p:cNvPr id="2" name="Picture 1" descr="Map with elements"/>
          <p:cNvPicPr>
            <a:picLocks noChangeAspect="1"/>
          </p:cNvPicPr>
          <p:nvPr/>
        </p:nvPicPr>
        <p:blipFill>
          <a:blip r:embed="rId4"/>
          <a:stretch>
            <a:fillRect/>
          </a:stretch>
        </p:blipFill>
        <p:spPr>
          <a:xfrm>
            <a:off x="4253030" y="1155415"/>
            <a:ext cx="2525765" cy="3188635"/>
          </a:xfrm>
          <a:prstGeom prst="rect">
            <a:avLst/>
          </a:prstGeom>
          <a:ln>
            <a:solidFill>
              <a:schemeClr val="tx1"/>
            </a:solidFill>
          </a:ln>
        </p:spPr>
      </p:pic>
      <p:sp>
        <p:nvSpPr>
          <p:cNvPr id="7" name="Title 1">
            <a:extLst>
              <a:ext uri="{FF2B5EF4-FFF2-40B4-BE49-F238E27FC236}">
                <a16:creationId xmlns:a16="http://schemas.microsoft.com/office/drawing/2014/main" id="{5935AEE5-6193-47F9-BAB9-FB3F627C7F5C}"/>
              </a:ext>
            </a:extLst>
          </p:cNvPr>
          <p:cNvSpPr txBox="1">
            <a:spLocks/>
          </p:cNvSpPr>
          <p:nvPr/>
        </p:nvSpPr>
        <p:spPr>
          <a:xfrm>
            <a:off x="214430" y="1819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8" name="Straight Connector 7">
            <a:extLst>
              <a:ext uri="{FF2B5EF4-FFF2-40B4-BE49-F238E27FC236}">
                <a16:creationId xmlns:a16="http://schemas.microsoft.com/office/drawing/2014/main" id="{E03287F7-8994-477D-9FAD-D17D4F823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D7A37AF-67E9-4E2D-8501-F4FE1F453639}"/>
              </a:ext>
            </a:extLst>
          </p:cNvPr>
          <p:cNvSpPr txBox="1"/>
          <p:nvPr/>
        </p:nvSpPr>
        <p:spPr>
          <a:xfrm>
            <a:off x="81216" y="1925419"/>
            <a:ext cx="1311442" cy="646331"/>
          </a:xfrm>
          <a:prstGeom prst="rect">
            <a:avLst/>
          </a:prstGeom>
          <a:noFill/>
        </p:spPr>
        <p:txBody>
          <a:bodyPr wrap="square" rtlCol="0">
            <a:spAutoFit/>
          </a:bodyPr>
          <a:lstStyle/>
          <a:p>
            <a:r>
              <a:rPr lang="en-US" dirty="0">
                <a:solidFill>
                  <a:srgbClr val="FF0000"/>
                </a:solidFill>
              </a:rPr>
              <a:t>Which one is better?</a:t>
            </a:r>
          </a:p>
        </p:txBody>
      </p:sp>
      <p:sp>
        <p:nvSpPr>
          <p:cNvPr id="5" name="Slide Number Placeholder 4">
            <a:extLst>
              <a:ext uri="{FF2B5EF4-FFF2-40B4-BE49-F238E27FC236}">
                <a16:creationId xmlns:a16="http://schemas.microsoft.com/office/drawing/2014/main" id="{0BDEDF0D-6CAA-471E-99E0-A8F7467775D0}"/>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4290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288759" y="1028700"/>
            <a:ext cx="3331366" cy="3741896"/>
          </a:xfrm>
        </p:spPr>
        <p:txBody>
          <a:bodyPr>
            <a:normAutofit/>
          </a:bodyPr>
          <a:lstStyle/>
          <a:p>
            <a:pPr marL="411480" indent="-411480">
              <a:buFontTx/>
              <a:buAutoNum type="arabicPeriod"/>
            </a:pPr>
            <a:r>
              <a:rPr lang="en-US" sz="1800" dirty="0">
                <a:solidFill>
                  <a:srgbClr val="000000"/>
                </a:solidFill>
              </a:rPr>
              <a:t>Frame Line and Neat Line</a:t>
            </a:r>
          </a:p>
          <a:p>
            <a:pPr marL="411480" indent="-411480">
              <a:buFontTx/>
              <a:buAutoNum type="arabicPeriod"/>
            </a:pPr>
            <a:r>
              <a:rPr lang="en-US" sz="1800" dirty="0">
                <a:solidFill>
                  <a:srgbClr val="000000"/>
                </a:solidFill>
              </a:rPr>
              <a:t>Mapped Area</a:t>
            </a:r>
          </a:p>
          <a:p>
            <a:pPr marL="411480" indent="-411480">
              <a:buFontTx/>
              <a:buAutoNum type="arabicPeriod"/>
            </a:pPr>
            <a:r>
              <a:rPr lang="en-US" sz="1800" dirty="0">
                <a:solidFill>
                  <a:srgbClr val="000000"/>
                </a:solidFill>
              </a:rPr>
              <a:t>Inset</a:t>
            </a:r>
          </a:p>
          <a:p>
            <a:pPr marL="411480" indent="-411480">
              <a:buFontTx/>
              <a:buAutoNum type="arabicPeriod"/>
            </a:pPr>
            <a:r>
              <a:rPr lang="en-US" sz="1800" dirty="0">
                <a:solidFill>
                  <a:srgbClr val="000000"/>
                </a:solidFill>
              </a:rPr>
              <a:t>Title and Subtitle</a:t>
            </a:r>
          </a:p>
          <a:p>
            <a:pPr marL="411480" indent="-411480">
              <a:buFontTx/>
              <a:buAutoNum type="arabicPeriod"/>
            </a:pPr>
            <a:r>
              <a:rPr lang="en-US" sz="1800" dirty="0">
                <a:solidFill>
                  <a:srgbClr val="000000"/>
                </a:solidFill>
              </a:rPr>
              <a:t>Legend</a:t>
            </a:r>
          </a:p>
          <a:p>
            <a:pPr marL="411480" indent="-411480">
              <a:buFontTx/>
              <a:buAutoNum type="arabicPeriod"/>
            </a:pPr>
            <a:r>
              <a:rPr lang="en-US" sz="1800" dirty="0">
                <a:solidFill>
                  <a:srgbClr val="000000"/>
                </a:solidFill>
              </a:rPr>
              <a:t>Data Source</a:t>
            </a:r>
          </a:p>
          <a:p>
            <a:pPr marL="411480" indent="-411480">
              <a:buFontTx/>
              <a:buAutoNum type="arabicPeriod"/>
            </a:pPr>
            <a:r>
              <a:rPr lang="en-US" sz="1800" dirty="0">
                <a:solidFill>
                  <a:srgbClr val="000000"/>
                </a:solidFill>
              </a:rPr>
              <a:t>Scale</a:t>
            </a:r>
          </a:p>
          <a:p>
            <a:pPr marL="411480" indent="-411480">
              <a:buFontTx/>
              <a:buAutoNum type="arabicPeriod"/>
            </a:pPr>
            <a:r>
              <a:rPr lang="en-US" sz="1800" dirty="0">
                <a:solidFill>
                  <a:srgbClr val="000000"/>
                </a:solidFill>
              </a:rPr>
              <a:t>Orientation</a:t>
            </a:r>
          </a:p>
        </p:txBody>
      </p:sp>
      <p:sp>
        <p:nvSpPr>
          <p:cNvPr id="2" name="Slide Number Placeholder 1">
            <a:extLst>
              <a:ext uri="{FF2B5EF4-FFF2-40B4-BE49-F238E27FC236}">
                <a16:creationId xmlns:a16="http://schemas.microsoft.com/office/drawing/2014/main" id="{4D0896C0-6726-46E6-8CD1-C1742E44D802}"/>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487428" name="Text Box 4"/>
          <p:cNvSpPr txBox="1">
            <a:spLocks noChangeArrowheads="1"/>
          </p:cNvSpPr>
          <p:nvPr/>
        </p:nvSpPr>
        <p:spPr bwMode="auto">
          <a:xfrm>
            <a:off x="5156359" y="2149555"/>
            <a:ext cx="2784477" cy="300082"/>
          </a:xfrm>
          <a:prstGeom prst="rect">
            <a:avLst/>
          </a:prstGeom>
          <a:noFill/>
          <a:ln w="9525" algn="ctr">
            <a:noFill/>
            <a:miter lim="800000"/>
            <a:headEnd/>
            <a:tailEnd/>
          </a:ln>
        </p:spPr>
        <p:txBody>
          <a:bodyPr wrap="square">
            <a:spAutoFit/>
          </a:bodyPr>
          <a:lstStyle/>
          <a:p>
            <a:r>
              <a:rPr lang="en-US" sz="1350" b="1"/>
              <a:t>Decrease in size</a:t>
            </a:r>
            <a:r>
              <a:rPr lang="en-US" sz="1350"/>
              <a:t> from top to bottom</a:t>
            </a:r>
          </a:p>
        </p:txBody>
      </p:sp>
      <p:sp>
        <p:nvSpPr>
          <p:cNvPr id="487429" name="Text Box 5"/>
          <p:cNvSpPr txBox="1">
            <a:spLocks noChangeArrowheads="1"/>
          </p:cNvSpPr>
          <p:nvPr/>
        </p:nvSpPr>
        <p:spPr bwMode="auto">
          <a:xfrm>
            <a:off x="5084565" y="2760346"/>
            <a:ext cx="2784473" cy="507831"/>
          </a:xfrm>
          <a:prstGeom prst="rect">
            <a:avLst/>
          </a:prstGeom>
          <a:noFill/>
          <a:ln w="9525" algn="ctr">
            <a:noFill/>
            <a:miter lim="800000"/>
            <a:headEnd/>
            <a:tailEnd/>
          </a:ln>
        </p:spPr>
        <p:txBody>
          <a:bodyPr wrap="square">
            <a:spAutoFit/>
          </a:bodyPr>
          <a:lstStyle/>
          <a:p>
            <a:r>
              <a:rPr lang="en-US" sz="1350" b="1" dirty="0"/>
              <a:t>Listed in the recommended order</a:t>
            </a:r>
            <a:r>
              <a:rPr lang="en-US" sz="1350" dirty="0"/>
              <a:t> of placement: larger first, smaller last</a:t>
            </a:r>
          </a:p>
        </p:txBody>
      </p:sp>
      <p:sp>
        <p:nvSpPr>
          <p:cNvPr id="487430" name="Line 6"/>
          <p:cNvSpPr>
            <a:spLocks noChangeShapeType="1"/>
          </p:cNvSpPr>
          <p:nvPr/>
        </p:nvSpPr>
        <p:spPr bwMode="auto">
          <a:xfrm>
            <a:off x="4878824" y="1683425"/>
            <a:ext cx="0" cy="2288858"/>
          </a:xfrm>
          <a:prstGeom prst="line">
            <a:avLst/>
          </a:prstGeom>
          <a:noFill/>
          <a:ln w="28575">
            <a:solidFill>
              <a:schemeClr val="tx1"/>
            </a:solidFill>
            <a:round/>
            <a:headEnd/>
            <a:tailEnd type="triangle" w="lg" len="lg"/>
          </a:ln>
        </p:spPr>
        <p:txBody>
          <a:bodyPr>
            <a:spAutoFit/>
          </a:bodyPr>
          <a:lstStyle/>
          <a:p>
            <a:endParaRPr lang="en-US" sz="1215"/>
          </a:p>
        </p:txBody>
      </p:sp>
      <p:sp>
        <p:nvSpPr>
          <p:cNvPr id="7" name="Title 1">
            <a:extLst>
              <a:ext uri="{FF2B5EF4-FFF2-40B4-BE49-F238E27FC236}">
                <a16:creationId xmlns:a16="http://schemas.microsoft.com/office/drawing/2014/main" id="{692F6B6A-6CC5-42A1-93C6-42BCC6AB0E57}"/>
              </a:ext>
            </a:extLst>
          </p:cNvPr>
          <p:cNvSpPr txBox="1">
            <a:spLocks/>
          </p:cNvSpPr>
          <p:nvPr/>
        </p:nvSpPr>
        <p:spPr>
          <a:xfrm>
            <a:off x="288759" y="21940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 Elements</a:t>
            </a:r>
          </a:p>
        </p:txBody>
      </p:sp>
      <p:cxnSp>
        <p:nvCxnSpPr>
          <p:cNvPr id="8" name="Straight Connector 7">
            <a:extLst>
              <a:ext uri="{FF2B5EF4-FFF2-40B4-BE49-F238E27FC236}">
                <a16:creationId xmlns:a16="http://schemas.microsoft.com/office/drawing/2014/main" id="{946769C9-39F6-4A1C-A03C-9981BA34A8C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74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74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74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28" grpId="0"/>
      <p:bldP spid="487429" grpId="0"/>
      <p:bldP spid="4874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264695" y="1028700"/>
            <a:ext cx="7555831" cy="3741896"/>
          </a:xfrm>
        </p:spPr>
        <p:txBody>
          <a:bodyPr>
            <a:normAutofit/>
          </a:bodyPr>
          <a:lstStyle/>
          <a:p>
            <a:pPr>
              <a:buFont typeface="Courier New" panose="02070309020205020404" pitchFamily="49" charset="0"/>
              <a:buChar char="o"/>
            </a:pPr>
            <a:r>
              <a:rPr lang="en-US" sz="2000" dirty="0"/>
              <a:t>Alignment and centering of map features is a common task</a:t>
            </a:r>
          </a:p>
          <a:p>
            <a:pPr>
              <a:buFont typeface="Courier New" panose="02070309020205020404" pitchFamily="49" charset="0"/>
              <a:buChar char="o"/>
            </a:pPr>
            <a:r>
              <a:rPr lang="en-US" sz="2000" dirty="0"/>
              <a:t>Can be performed through “visual approximation”</a:t>
            </a:r>
          </a:p>
          <a:p>
            <a:pPr marL="765810" lvl="1" indent="-457200">
              <a:buFont typeface="Wingdings" panose="05000000000000000000" pitchFamily="2" charset="2"/>
              <a:buChar char="ü"/>
            </a:pPr>
            <a:r>
              <a:rPr lang="en-US" sz="2000" dirty="0"/>
              <a:t>Features </a:t>
            </a:r>
            <a:r>
              <a:rPr lang="en-US" sz="2000" i="1" dirty="0"/>
              <a:t>look</a:t>
            </a:r>
            <a:r>
              <a:rPr lang="en-US" sz="2000" dirty="0"/>
              <a:t> properly aligned or centered</a:t>
            </a:r>
          </a:p>
          <a:p>
            <a:pPr>
              <a:buFont typeface="Courier New" panose="02070309020205020404" pitchFamily="49" charset="0"/>
              <a:buChar char="o"/>
            </a:pPr>
            <a:r>
              <a:rPr lang="en-US" sz="2000" dirty="0"/>
              <a:t>Can also be performed through precise measurement</a:t>
            </a:r>
          </a:p>
          <a:p>
            <a:pPr marL="765810" lvl="1" indent="-457200">
              <a:buFont typeface="Wingdings" panose="05000000000000000000" pitchFamily="2" charset="2"/>
              <a:buChar char="ü"/>
            </a:pPr>
            <a:r>
              <a:rPr lang="en-US" sz="2000" dirty="0"/>
              <a:t>Features are</a:t>
            </a:r>
            <a:r>
              <a:rPr lang="en-US" sz="2000" i="1" dirty="0"/>
              <a:t> exactly</a:t>
            </a:r>
            <a:r>
              <a:rPr lang="en-US" sz="2000" dirty="0"/>
              <a:t> aligned or centered, using software controls</a:t>
            </a:r>
          </a:p>
          <a:p>
            <a:pPr lvl="1" indent="-360045"/>
            <a:endParaRPr lang="en-US" sz="2000" dirty="0"/>
          </a:p>
        </p:txBody>
      </p:sp>
      <p:sp>
        <p:nvSpPr>
          <p:cNvPr id="2" name="Slide Number Placeholder 1">
            <a:extLst>
              <a:ext uri="{FF2B5EF4-FFF2-40B4-BE49-F238E27FC236}">
                <a16:creationId xmlns:a16="http://schemas.microsoft.com/office/drawing/2014/main" id="{DBE8DC01-A59D-43AE-9E89-102E249C9F1A}"/>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4" name="Title 1">
            <a:extLst>
              <a:ext uri="{FF2B5EF4-FFF2-40B4-BE49-F238E27FC236}">
                <a16:creationId xmlns:a16="http://schemas.microsoft.com/office/drawing/2014/main" id="{4CCCEB4B-5960-41E0-A47C-C578B32FD7F5}"/>
              </a:ext>
            </a:extLst>
          </p:cNvPr>
          <p:cNvSpPr txBox="1">
            <a:spLocks/>
          </p:cNvSpPr>
          <p:nvPr/>
        </p:nvSpPr>
        <p:spPr>
          <a:xfrm>
            <a:off x="264695" y="14778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Alignment and Centering</a:t>
            </a:r>
          </a:p>
        </p:txBody>
      </p:sp>
      <p:cxnSp>
        <p:nvCxnSpPr>
          <p:cNvPr id="5" name="Straight Connector 4">
            <a:extLst>
              <a:ext uri="{FF2B5EF4-FFF2-40B4-BE49-F238E27FC236}">
                <a16:creationId xmlns:a16="http://schemas.microsoft.com/office/drawing/2014/main" id="{2411A85E-E2AD-433B-B29C-C756CF26BEE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92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188343" y="922910"/>
            <a:ext cx="7852914" cy="763483"/>
          </a:xfrm>
        </p:spPr>
        <p:txBody>
          <a:bodyPr>
            <a:noAutofit/>
          </a:bodyPr>
          <a:lstStyle/>
          <a:p>
            <a:pPr>
              <a:buFont typeface="Courier New" panose="02070309020205020404" pitchFamily="49" charset="0"/>
              <a:buChar char="o"/>
            </a:pPr>
            <a:r>
              <a:rPr lang="en-US" sz="2000" dirty="0"/>
              <a:t>It is important to understand the terminology</a:t>
            </a:r>
          </a:p>
          <a:p>
            <a:pPr marL="765810" lvl="1" indent="-457200">
              <a:buFont typeface="Wingdings" panose="05000000000000000000" pitchFamily="2" charset="2"/>
              <a:buChar char="ü"/>
            </a:pPr>
            <a:r>
              <a:rPr lang="en-US" sz="2000" dirty="0"/>
              <a:t>Horizontal and vertical are often confused</a:t>
            </a:r>
          </a:p>
        </p:txBody>
      </p:sp>
      <p:sp>
        <p:nvSpPr>
          <p:cNvPr id="2" name="Slide Number Placeholder 1">
            <a:extLst>
              <a:ext uri="{FF2B5EF4-FFF2-40B4-BE49-F238E27FC236}">
                <a16:creationId xmlns:a16="http://schemas.microsoft.com/office/drawing/2014/main" id="{E27C5557-414D-47C6-B5D3-69E51215D1CA}"/>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5124" name="Picture 4"/>
          <p:cNvPicPr>
            <a:picLocks noChangeAspect="1" noChangeArrowheads="1"/>
          </p:cNvPicPr>
          <p:nvPr/>
        </p:nvPicPr>
        <p:blipFill>
          <a:blip r:embed="rId2" cstate="print"/>
          <a:srcRect/>
          <a:stretch>
            <a:fillRect/>
          </a:stretch>
        </p:blipFill>
        <p:spPr bwMode="auto">
          <a:xfrm>
            <a:off x="693301" y="1909382"/>
            <a:ext cx="3421499" cy="2536389"/>
          </a:xfrm>
          <a:prstGeom prst="rect">
            <a:avLst/>
          </a:prstGeom>
          <a:noFill/>
          <a:ln w="9525">
            <a:noFill/>
            <a:miter lim="800000"/>
            <a:headEnd/>
            <a:tailEnd/>
          </a:ln>
        </p:spPr>
      </p:pic>
      <p:sp>
        <p:nvSpPr>
          <p:cNvPr id="5125" name="Text Box 6"/>
          <p:cNvSpPr txBox="1">
            <a:spLocks noChangeArrowheads="1"/>
          </p:cNvSpPr>
          <p:nvPr/>
        </p:nvSpPr>
        <p:spPr bwMode="auto">
          <a:xfrm>
            <a:off x="780184" y="4445771"/>
            <a:ext cx="3247732" cy="507831"/>
          </a:xfrm>
          <a:prstGeom prst="rect">
            <a:avLst/>
          </a:prstGeom>
          <a:noFill/>
          <a:ln w="9525" algn="ctr">
            <a:noFill/>
            <a:miter lim="800000"/>
            <a:headEnd/>
            <a:tailEnd/>
          </a:ln>
        </p:spPr>
        <p:txBody>
          <a:bodyPr wrap="square">
            <a:spAutoFit/>
          </a:bodyPr>
          <a:lstStyle/>
          <a:p>
            <a:r>
              <a:rPr lang="en-US" sz="1350" b="1" dirty="0"/>
              <a:t>Horizontal</a:t>
            </a:r>
            <a:r>
              <a:rPr lang="en-US" sz="1350" dirty="0"/>
              <a:t> </a:t>
            </a:r>
          </a:p>
          <a:p>
            <a:r>
              <a:rPr lang="en-US" sz="1350" dirty="0"/>
              <a:t>(Side-to-Side) Alignment and Centering</a:t>
            </a:r>
          </a:p>
        </p:txBody>
      </p:sp>
      <p:pic>
        <p:nvPicPr>
          <p:cNvPr id="7" name="Picture 6"/>
          <p:cNvPicPr>
            <a:picLocks noChangeAspect="1" noChangeArrowheads="1"/>
          </p:cNvPicPr>
          <p:nvPr/>
        </p:nvPicPr>
        <p:blipFill>
          <a:blip r:embed="rId3" cstate="print"/>
          <a:srcRect/>
          <a:stretch>
            <a:fillRect/>
          </a:stretch>
        </p:blipFill>
        <p:spPr bwMode="auto">
          <a:xfrm>
            <a:off x="4253820" y="1909382"/>
            <a:ext cx="3659564" cy="2536389"/>
          </a:xfrm>
          <a:prstGeom prst="rect">
            <a:avLst/>
          </a:prstGeom>
          <a:noFill/>
          <a:ln w="9525">
            <a:noFill/>
            <a:miter lim="800000"/>
            <a:headEnd/>
            <a:tailEnd/>
          </a:ln>
        </p:spPr>
      </p:pic>
      <p:sp>
        <p:nvSpPr>
          <p:cNvPr id="8" name="Text Box 7"/>
          <p:cNvSpPr txBox="1">
            <a:spLocks noChangeArrowheads="1"/>
          </p:cNvSpPr>
          <p:nvPr/>
        </p:nvSpPr>
        <p:spPr bwMode="auto">
          <a:xfrm>
            <a:off x="4549181" y="4528503"/>
            <a:ext cx="3364203" cy="507831"/>
          </a:xfrm>
          <a:prstGeom prst="rect">
            <a:avLst/>
          </a:prstGeom>
          <a:noFill/>
          <a:ln w="9525" algn="ctr">
            <a:noFill/>
            <a:miter lim="800000"/>
            <a:headEnd/>
            <a:tailEnd/>
          </a:ln>
        </p:spPr>
        <p:txBody>
          <a:bodyPr wrap="square">
            <a:spAutoFit/>
          </a:bodyPr>
          <a:lstStyle/>
          <a:p>
            <a:r>
              <a:rPr lang="en-US" sz="1350" b="1" dirty="0"/>
              <a:t>Vertical</a:t>
            </a:r>
          </a:p>
          <a:p>
            <a:r>
              <a:rPr lang="en-US" sz="1350" dirty="0"/>
              <a:t>(Top-to-Bottom) Alignment and Centering</a:t>
            </a:r>
          </a:p>
        </p:txBody>
      </p:sp>
      <p:sp>
        <p:nvSpPr>
          <p:cNvPr id="9" name="Title 1">
            <a:extLst>
              <a:ext uri="{FF2B5EF4-FFF2-40B4-BE49-F238E27FC236}">
                <a16:creationId xmlns:a16="http://schemas.microsoft.com/office/drawing/2014/main" id="{21B37870-A894-43E6-AC18-6078CA1C8AF7}"/>
              </a:ext>
            </a:extLst>
          </p:cNvPr>
          <p:cNvSpPr txBox="1">
            <a:spLocks/>
          </p:cNvSpPr>
          <p:nvPr/>
        </p:nvSpPr>
        <p:spPr>
          <a:xfrm>
            <a:off x="215220" y="18989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Alignment and Centering</a:t>
            </a:r>
          </a:p>
        </p:txBody>
      </p:sp>
      <p:cxnSp>
        <p:nvCxnSpPr>
          <p:cNvPr id="10" name="Straight Connector 9">
            <a:extLst>
              <a:ext uri="{FF2B5EF4-FFF2-40B4-BE49-F238E27FC236}">
                <a16:creationId xmlns:a16="http://schemas.microsoft.com/office/drawing/2014/main" id="{DA5083E7-C5CC-4EBE-B2D8-FEB7BA2E351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0242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170815" y="975748"/>
            <a:ext cx="4232602" cy="3741896"/>
          </a:xfrm>
        </p:spPr>
        <p:txBody>
          <a:bodyPr>
            <a:normAutofit/>
          </a:bodyPr>
          <a:lstStyle/>
          <a:p>
            <a:pPr>
              <a:buFont typeface="Courier New" panose="02070309020205020404" pitchFamily="49" charset="0"/>
              <a:buChar char="o"/>
            </a:pPr>
            <a:r>
              <a:rPr lang="en-US" sz="1400" dirty="0"/>
              <a:t>Help to organize the map’s contents, and define its extent</a:t>
            </a:r>
          </a:p>
          <a:p>
            <a:pPr>
              <a:buFont typeface="Courier New" panose="02070309020205020404" pitchFamily="49" charset="0"/>
              <a:buChar char="o"/>
            </a:pPr>
            <a:r>
              <a:rPr lang="en-US" sz="1400" dirty="0"/>
              <a:t>Frame Line</a:t>
            </a:r>
          </a:p>
          <a:p>
            <a:pPr marL="765810" lvl="1" indent="-457200">
              <a:buFont typeface="Wingdings" panose="05000000000000000000" pitchFamily="2" charset="2"/>
              <a:buChar char="ü"/>
            </a:pPr>
            <a:r>
              <a:rPr lang="en-US" sz="1400" dirty="0"/>
              <a:t>Encloses all other map elements </a:t>
            </a:r>
          </a:p>
          <a:p>
            <a:pPr marL="765810" lvl="1" indent="-457200">
              <a:buFont typeface="Wingdings" panose="05000000000000000000" pitchFamily="2" charset="2"/>
              <a:buChar char="ü"/>
            </a:pPr>
            <a:r>
              <a:rPr lang="en-US" sz="1400" dirty="0"/>
              <a:t>Should be the first map element placed, because it occupies the most area, and defines the initial available space</a:t>
            </a:r>
          </a:p>
          <a:p>
            <a:pPr>
              <a:buFont typeface="Courier New" panose="02070309020205020404" pitchFamily="49" charset="0"/>
              <a:buChar char="o"/>
            </a:pPr>
            <a:r>
              <a:rPr lang="en-US" sz="1400" dirty="0"/>
              <a:t>Neat Line</a:t>
            </a:r>
          </a:p>
          <a:p>
            <a:pPr marL="765810" lvl="1" indent="-457200">
              <a:buFont typeface="Wingdings" panose="05000000000000000000" pitchFamily="2" charset="2"/>
              <a:buChar char="ü"/>
            </a:pPr>
            <a:r>
              <a:rPr lang="en-US" sz="1400" dirty="0"/>
              <a:t>Is used to crop (limit the extent of) the mapped area</a:t>
            </a:r>
          </a:p>
          <a:p>
            <a:pPr marL="765810" lvl="1" indent="-457200">
              <a:buFont typeface="Wingdings" panose="05000000000000000000" pitchFamily="2" charset="2"/>
              <a:buChar char="ü"/>
            </a:pPr>
            <a:r>
              <a:rPr lang="en-US" sz="1400" dirty="0"/>
              <a:t>Separate elements to provide an organized look</a:t>
            </a:r>
          </a:p>
        </p:txBody>
      </p:sp>
      <p:sp>
        <p:nvSpPr>
          <p:cNvPr id="2" name="Slide Number Placeholder 1">
            <a:extLst>
              <a:ext uri="{FF2B5EF4-FFF2-40B4-BE49-F238E27FC236}">
                <a16:creationId xmlns:a16="http://schemas.microsoft.com/office/drawing/2014/main" id="{60D684B9-D27C-45E8-B427-50E6DD0DEA01}"/>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10" name="Title 1">
            <a:extLst>
              <a:ext uri="{FF2B5EF4-FFF2-40B4-BE49-F238E27FC236}">
                <a16:creationId xmlns:a16="http://schemas.microsoft.com/office/drawing/2014/main" id="{4EB1C785-64AC-458B-8DF1-5ACCB9E1452D}"/>
              </a:ext>
            </a:extLst>
          </p:cNvPr>
          <p:cNvSpPr txBox="1">
            <a:spLocks/>
          </p:cNvSpPr>
          <p:nvPr/>
        </p:nvSpPr>
        <p:spPr>
          <a:xfrm>
            <a:off x="265055" y="1688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11" name="Straight Connector 10">
            <a:extLst>
              <a:ext uri="{FF2B5EF4-FFF2-40B4-BE49-F238E27FC236}">
                <a16:creationId xmlns:a16="http://schemas.microsoft.com/office/drawing/2014/main" id="{71A15535-6D03-4962-87D9-84B5EA762CB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AC420B9C-D073-2BA9-BBB1-41E88FF53B00}"/>
              </a:ext>
            </a:extLst>
          </p:cNvPr>
          <p:cNvGrpSpPr/>
          <p:nvPr/>
        </p:nvGrpSpPr>
        <p:grpSpPr>
          <a:xfrm>
            <a:off x="4477657" y="1663512"/>
            <a:ext cx="3790357" cy="2880738"/>
            <a:chOff x="4551898" y="1909733"/>
            <a:chExt cx="3790357" cy="2880738"/>
          </a:xfrm>
        </p:grpSpPr>
        <p:sp>
          <p:nvSpPr>
            <p:cNvPr id="9" name="Rectangle 7" descr="Red box"/>
            <p:cNvSpPr>
              <a:spLocks noChangeArrowheads="1"/>
            </p:cNvSpPr>
            <p:nvPr/>
          </p:nvSpPr>
          <p:spPr bwMode="auto">
            <a:xfrm>
              <a:off x="4551898" y="1909733"/>
              <a:ext cx="3439708" cy="2538566"/>
            </a:xfrm>
            <a:prstGeom prst="rect">
              <a:avLst/>
            </a:prstGeom>
            <a:noFill/>
            <a:ln w="25400">
              <a:solidFill>
                <a:srgbClr val="FF0000"/>
              </a:solidFill>
              <a:miter lim="800000"/>
              <a:headEnd/>
              <a:tailEnd/>
            </a:ln>
          </p:spPr>
          <p:txBody>
            <a:bodyPr wrap="none" anchor="ctr"/>
            <a:lstStyle/>
            <a:p>
              <a:endParaRPr lang="en-US" sz="1215"/>
            </a:p>
          </p:txBody>
        </p:sp>
        <p:grpSp>
          <p:nvGrpSpPr>
            <p:cNvPr id="3" name="Group 2">
              <a:extLst>
                <a:ext uri="{FF2B5EF4-FFF2-40B4-BE49-F238E27FC236}">
                  <a16:creationId xmlns:a16="http://schemas.microsoft.com/office/drawing/2014/main" id="{D1A68F8F-5A53-0767-B16B-CEE4C833E8FD}"/>
                </a:ext>
              </a:extLst>
            </p:cNvPr>
            <p:cNvGrpSpPr/>
            <p:nvPr/>
          </p:nvGrpSpPr>
          <p:grpSpPr>
            <a:xfrm>
              <a:off x="4551898" y="1909733"/>
              <a:ext cx="3790357" cy="2880738"/>
              <a:chOff x="4551898" y="1909733"/>
              <a:chExt cx="3790357" cy="2880738"/>
            </a:xfrm>
          </p:grpSpPr>
          <p:pic>
            <p:nvPicPr>
              <p:cNvPr id="4" name="Picture 5" descr="Map showing frame and neat lines"/>
              <p:cNvPicPr preferRelativeResize="0">
                <a:picLocks noChangeAspect="1" noChangeArrowheads="1"/>
              </p:cNvPicPr>
              <p:nvPr/>
            </p:nvPicPr>
            <p:blipFill>
              <a:blip r:embed="rId2" cstate="print"/>
              <a:srcRect/>
              <a:stretch>
                <a:fillRect/>
              </a:stretch>
            </p:blipFill>
            <p:spPr bwMode="auto">
              <a:xfrm>
                <a:off x="4551898" y="1909733"/>
                <a:ext cx="3439708" cy="2538566"/>
              </a:xfrm>
              <a:prstGeom prst="rect">
                <a:avLst/>
              </a:prstGeom>
              <a:noFill/>
              <a:ln w="9525">
                <a:noFill/>
                <a:miter lim="800000"/>
                <a:headEnd/>
                <a:tailEnd/>
              </a:ln>
            </p:spPr>
          </p:pic>
          <p:sp>
            <p:nvSpPr>
              <p:cNvPr id="5" name="Rectangle 6" descr="Red box"/>
              <p:cNvSpPr>
                <a:spLocks noChangeArrowheads="1"/>
              </p:cNvSpPr>
              <p:nvPr/>
            </p:nvSpPr>
            <p:spPr bwMode="auto">
              <a:xfrm>
                <a:off x="4639105" y="2146826"/>
                <a:ext cx="2342126" cy="2221831"/>
              </a:xfrm>
              <a:prstGeom prst="rect">
                <a:avLst/>
              </a:prstGeom>
              <a:noFill/>
              <a:ln w="25400">
                <a:solidFill>
                  <a:srgbClr val="FF0000"/>
                </a:solidFill>
                <a:miter lim="800000"/>
                <a:headEnd/>
                <a:tailEnd/>
              </a:ln>
            </p:spPr>
            <p:txBody>
              <a:bodyPr wrap="none" anchor="ctr"/>
              <a:lstStyle/>
              <a:p>
                <a:endParaRPr lang="en-US" sz="1215"/>
              </a:p>
            </p:txBody>
          </p:sp>
          <p:sp>
            <p:nvSpPr>
              <p:cNvPr id="6" name="Text Box 8" descr="Red box"/>
              <p:cNvSpPr txBox="1">
                <a:spLocks noChangeArrowheads="1"/>
              </p:cNvSpPr>
              <p:nvPr/>
            </p:nvSpPr>
            <p:spPr bwMode="auto">
              <a:xfrm>
                <a:off x="7274219" y="2146826"/>
                <a:ext cx="1068036" cy="300082"/>
              </a:xfrm>
              <a:prstGeom prst="rect">
                <a:avLst/>
              </a:prstGeom>
              <a:solidFill>
                <a:schemeClr val="bg1"/>
              </a:solidFill>
              <a:ln w="9525" algn="ctr">
                <a:solidFill>
                  <a:srgbClr val="FF0000"/>
                </a:solidFill>
                <a:miter lim="800000"/>
                <a:headEnd/>
                <a:tailEnd/>
              </a:ln>
            </p:spPr>
            <p:txBody>
              <a:bodyPr wrap="square">
                <a:spAutoFit/>
              </a:bodyPr>
              <a:lstStyle/>
              <a:p>
                <a:r>
                  <a:rPr lang="en-US" sz="1350" dirty="0"/>
                  <a:t>Frame Line</a:t>
                </a:r>
              </a:p>
            </p:txBody>
          </p:sp>
          <p:sp>
            <p:nvSpPr>
              <p:cNvPr id="7" name="Text Box 9" descr="Red box"/>
              <p:cNvSpPr txBox="1">
                <a:spLocks noChangeArrowheads="1"/>
              </p:cNvSpPr>
              <p:nvPr/>
            </p:nvSpPr>
            <p:spPr bwMode="auto">
              <a:xfrm>
                <a:off x="6271752" y="2251905"/>
                <a:ext cx="949543" cy="300082"/>
              </a:xfrm>
              <a:prstGeom prst="rect">
                <a:avLst/>
              </a:prstGeom>
              <a:solidFill>
                <a:schemeClr val="bg1"/>
              </a:solidFill>
              <a:ln w="9525" algn="ctr">
                <a:solidFill>
                  <a:srgbClr val="FF0000"/>
                </a:solidFill>
                <a:miter lim="800000"/>
                <a:headEnd/>
                <a:tailEnd/>
              </a:ln>
            </p:spPr>
            <p:txBody>
              <a:bodyPr wrap="square">
                <a:spAutoFit/>
              </a:bodyPr>
              <a:lstStyle/>
              <a:p>
                <a:r>
                  <a:rPr lang="en-US" sz="1350" dirty="0"/>
                  <a:t>Neat Line</a:t>
                </a:r>
              </a:p>
            </p:txBody>
          </p:sp>
          <p:sp>
            <p:nvSpPr>
              <p:cNvPr id="8" name="Rectangle 5">
                <a:extLst>
                  <a:ext uri="{FF2B5EF4-FFF2-40B4-BE49-F238E27FC236}">
                    <a16:creationId xmlns:a16="http://schemas.microsoft.com/office/drawing/2014/main" id="{D1D0D3E2-C99A-4475-AB73-3E02DA761393}"/>
                  </a:ext>
                </a:extLst>
              </p:cNvPr>
              <p:cNvSpPr>
                <a:spLocks noChangeArrowheads="1"/>
              </p:cNvSpPr>
              <p:nvPr/>
            </p:nvSpPr>
            <p:spPr bwMode="auto">
              <a:xfrm>
                <a:off x="6746523" y="4544250"/>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grpSp>
      </p:grpSp>
    </p:spTree>
    <p:extLst>
      <p:ext uri="{BB962C8B-B14F-4D97-AF65-F5344CB8AC3E}">
        <p14:creationId xmlns:p14="http://schemas.microsoft.com/office/powerpoint/2010/main" val="1094333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18533" y="1028700"/>
            <a:ext cx="7906530" cy="857247"/>
          </a:xfrm>
        </p:spPr>
        <p:txBody>
          <a:bodyPr>
            <a:noAutofit/>
          </a:bodyPr>
          <a:lstStyle/>
          <a:p>
            <a:pPr>
              <a:buFont typeface="Courier New" panose="02070309020205020404" pitchFamily="49" charset="0"/>
              <a:buChar char="o"/>
            </a:pPr>
            <a:r>
              <a:rPr lang="en-US" sz="1600" dirty="0"/>
              <a:t>A Frame Line should be used in most situations</a:t>
            </a:r>
          </a:p>
          <a:p>
            <a:pPr>
              <a:buFont typeface="Courier New" panose="02070309020205020404" pitchFamily="49" charset="0"/>
              <a:buChar char="o"/>
            </a:pPr>
            <a:r>
              <a:rPr lang="en-US" sz="1600" dirty="0"/>
              <a:t>A Neat Line is used when the mapped area needs to be cropped or elements need to be separated</a:t>
            </a:r>
          </a:p>
        </p:txBody>
      </p:sp>
      <p:sp>
        <p:nvSpPr>
          <p:cNvPr id="3" name="Slide Number Placeholder 2">
            <a:extLst>
              <a:ext uri="{FF2B5EF4-FFF2-40B4-BE49-F238E27FC236}">
                <a16:creationId xmlns:a16="http://schemas.microsoft.com/office/drawing/2014/main" id="{884558F6-7454-4E23-8D89-FD5F52FBD172}"/>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21508" name="Picture 4" descr="Map showing frame line and neat line"/>
          <p:cNvPicPr>
            <a:picLocks noChangeAspect="1" noChangeArrowheads="1"/>
          </p:cNvPicPr>
          <p:nvPr/>
        </p:nvPicPr>
        <p:blipFill>
          <a:blip r:embed="rId2" cstate="print"/>
          <a:srcRect/>
          <a:stretch>
            <a:fillRect/>
          </a:stretch>
        </p:blipFill>
        <p:spPr bwMode="auto">
          <a:xfrm>
            <a:off x="2068377" y="2019981"/>
            <a:ext cx="4417767" cy="2700181"/>
          </a:xfrm>
          <a:prstGeom prst="rect">
            <a:avLst/>
          </a:prstGeom>
          <a:noFill/>
          <a:ln w="9525">
            <a:noFill/>
            <a:miter lim="800000"/>
            <a:headEnd/>
            <a:tailEnd/>
          </a:ln>
        </p:spPr>
      </p:pic>
      <p:sp>
        <p:nvSpPr>
          <p:cNvPr id="4" name="Title 1">
            <a:extLst>
              <a:ext uri="{FF2B5EF4-FFF2-40B4-BE49-F238E27FC236}">
                <a16:creationId xmlns:a16="http://schemas.microsoft.com/office/drawing/2014/main" id="{8E1459F7-E9B6-4B21-9FEB-6F0C4E5EBE4F}"/>
              </a:ext>
            </a:extLst>
          </p:cNvPr>
          <p:cNvSpPr txBox="1">
            <a:spLocks/>
          </p:cNvSpPr>
          <p:nvPr/>
        </p:nvSpPr>
        <p:spPr>
          <a:xfrm>
            <a:off x="275930" y="187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5" name="Straight Connector 4">
            <a:extLst>
              <a:ext uri="{FF2B5EF4-FFF2-40B4-BE49-F238E27FC236}">
                <a16:creationId xmlns:a16="http://schemas.microsoft.com/office/drawing/2014/main" id="{76310C62-70BC-4979-B6C6-80FC527B536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Rectangle 5">
            <a:extLst>
              <a:ext uri="{FF2B5EF4-FFF2-40B4-BE49-F238E27FC236}">
                <a16:creationId xmlns:a16="http://schemas.microsoft.com/office/drawing/2014/main" id="{364EC64D-5C7C-4899-AD2F-109E57298D03}"/>
              </a:ext>
            </a:extLst>
          </p:cNvPr>
          <p:cNvSpPr>
            <a:spLocks noChangeArrowheads="1"/>
          </p:cNvSpPr>
          <p:nvPr/>
        </p:nvSpPr>
        <p:spPr bwMode="auto">
          <a:xfrm>
            <a:off x="1981496" y="4854197"/>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spTree>
    <p:extLst>
      <p:ext uri="{BB962C8B-B14F-4D97-AF65-F5344CB8AC3E}">
        <p14:creationId xmlns:p14="http://schemas.microsoft.com/office/powerpoint/2010/main" val="3286160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177577" y="1004324"/>
            <a:ext cx="8195288" cy="857248"/>
          </a:xfrm>
        </p:spPr>
        <p:txBody>
          <a:bodyPr>
            <a:normAutofit/>
          </a:bodyPr>
          <a:lstStyle/>
          <a:p>
            <a:pPr>
              <a:buFont typeface="Courier New" panose="02070309020205020404" pitchFamily="49" charset="0"/>
              <a:buChar char="o"/>
            </a:pPr>
            <a:r>
              <a:rPr lang="en-US" sz="1800" dirty="0"/>
              <a:t>In certain cases, a frame line can also act as a neat line</a:t>
            </a:r>
          </a:p>
          <a:p>
            <a:pPr marL="765810" lvl="1" indent="-457200">
              <a:buFont typeface="Wingdings" panose="05000000000000000000" pitchFamily="2" charset="2"/>
              <a:buChar char="ü"/>
            </a:pPr>
            <a:r>
              <a:rPr lang="en-US" sz="1800" dirty="0"/>
              <a:t>Enclosing all map elements </a:t>
            </a:r>
            <a:r>
              <a:rPr lang="en-US" sz="1800" i="1" dirty="0"/>
              <a:t>and</a:t>
            </a:r>
            <a:r>
              <a:rPr lang="en-US" sz="1800" dirty="0"/>
              <a:t> cropping the mapped area </a:t>
            </a:r>
          </a:p>
        </p:txBody>
      </p:sp>
      <p:sp>
        <p:nvSpPr>
          <p:cNvPr id="2" name="Slide Number Placeholder 1">
            <a:extLst>
              <a:ext uri="{FF2B5EF4-FFF2-40B4-BE49-F238E27FC236}">
                <a16:creationId xmlns:a16="http://schemas.microsoft.com/office/drawing/2014/main" id="{9E9BCBCF-C2C6-4463-8D58-D70D752FB70C}"/>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22532" name="Picture 4" descr="Map showing frame line"/>
          <p:cNvPicPr>
            <a:picLocks noChangeAspect="1" noChangeArrowheads="1"/>
          </p:cNvPicPr>
          <p:nvPr/>
        </p:nvPicPr>
        <p:blipFill>
          <a:blip r:embed="rId2" cstate="print"/>
          <a:srcRect r="49843"/>
          <a:stretch>
            <a:fillRect/>
          </a:stretch>
        </p:blipFill>
        <p:spPr bwMode="auto">
          <a:xfrm>
            <a:off x="2773975" y="1804687"/>
            <a:ext cx="3207100" cy="3143956"/>
          </a:xfrm>
          <a:prstGeom prst="rect">
            <a:avLst/>
          </a:prstGeom>
          <a:noFill/>
          <a:ln w="9525">
            <a:noFill/>
            <a:miter lim="800000"/>
            <a:headEnd/>
            <a:tailEnd/>
          </a:ln>
        </p:spPr>
      </p:pic>
      <p:sp>
        <p:nvSpPr>
          <p:cNvPr id="5" name="Title 1">
            <a:extLst>
              <a:ext uri="{FF2B5EF4-FFF2-40B4-BE49-F238E27FC236}">
                <a16:creationId xmlns:a16="http://schemas.microsoft.com/office/drawing/2014/main" id="{46A7A900-F871-4871-ABA5-B11BD858ADA0}"/>
              </a:ext>
            </a:extLst>
          </p:cNvPr>
          <p:cNvSpPr txBox="1">
            <a:spLocks/>
          </p:cNvSpPr>
          <p:nvPr/>
        </p:nvSpPr>
        <p:spPr>
          <a:xfrm>
            <a:off x="236621" y="1948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6" name="Straight Connector 5">
            <a:extLst>
              <a:ext uri="{FF2B5EF4-FFF2-40B4-BE49-F238E27FC236}">
                <a16:creationId xmlns:a16="http://schemas.microsoft.com/office/drawing/2014/main" id="{4ED4F348-AD14-4DC0-8C0E-B0CF52AFABC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Rectangle 5">
            <a:extLst>
              <a:ext uri="{FF2B5EF4-FFF2-40B4-BE49-F238E27FC236}">
                <a16:creationId xmlns:a16="http://schemas.microsoft.com/office/drawing/2014/main" id="{F4FAA256-BCE8-41A3-872B-C48925129EAB}"/>
              </a:ext>
            </a:extLst>
          </p:cNvPr>
          <p:cNvSpPr>
            <a:spLocks noChangeArrowheads="1"/>
          </p:cNvSpPr>
          <p:nvPr/>
        </p:nvSpPr>
        <p:spPr bwMode="auto">
          <a:xfrm>
            <a:off x="831048" y="4702422"/>
            <a:ext cx="644728" cy="246221"/>
          </a:xfrm>
          <a:prstGeom prst="rect">
            <a:avLst/>
          </a:prstGeom>
          <a:noFill/>
          <a:ln w="9525" algn="ctr">
            <a:noFill/>
            <a:miter lim="800000"/>
            <a:headEnd/>
            <a:tailEnd/>
          </a:ln>
        </p:spPr>
        <p:txBody>
          <a:bodyPr wrap="none">
            <a:spAutoFit/>
          </a:bodyPr>
          <a:lstStyle/>
          <a:p>
            <a:r>
              <a:rPr lang="en-US" sz="1000" dirty="0" err="1">
                <a:solidFill>
                  <a:srgbClr val="7030A0"/>
                </a:solidFill>
              </a:rPr>
              <a:t>GeoTech</a:t>
            </a:r>
            <a:endParaRPr lang="en-US" sz="1000" dirty="0">
              <a:solidFill>
                <a:srgbClr val="7030A0"/>
              </a:solidFill>
            </a:endParaRPr>
          </a:p>
        </p:txBody>
      </p:sp>
    </p:spTree>
    <p:extLst>
      <p:ext uri="{BB962C8B-B14F-4D97-AF65-F5344CB8AC3E}">
        <p14:creationId xmlns:p14="http://schemas.microsoft.com/office/powerpoint/2010/main" val="1432952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118533" y="1028700"/>
            <a:ext cx="8001000" cy="2164205"/>
          </a:xfrm>
        </p:spPr>
        <p:txBody>
          <a:bodyPr>
            <a:normAutofit/>
          </a:bodyPr>
          <a:lstStyle/>
          <a:p>
            <a:pPr>
              <a:buFont typeface="Courier New" panose="02070309020205020404" pitchFamily="49" charset="0"/>
              <a:buChar char="o"/>
            </a:pPr>
            <a:r>
              <a:rPr lang="en-US" sz="1800" dirty="0"/>
              <a:t>The style of these lines should be subtle</a:t>
            </a:r>
          </a:p>
          <a:p>
            <a:pPr marL="765810" lvl="1" indent="-457200">
              <a:buFont typeface="Wingdings" panose="05000000000000000000" pitchFamily="2" charset="2"/>
              <a:buChar char="ü"/>
            </a:pPr>
            <a:r>
              <a:rPr lang="en-US" sz="1800" dirty="0"/>
              <a:t>A single, thin, black line should be used in most cases</a:t>
            </a:r>
          </a:p>
          <a:p>
            <a:pPr marL="765810" lvl="1" indent="-457200">
              <a:buFont typeface="Wingdings" panose="05000000000000000000" pitchFamily="2" charset="2"/>
              <a:buChar char="ü"/>
            </a:pPr>
            <a:r>
              <a:rPr lang="en-US" sz="1800" dirty="0"/>
              <a:t>Slightly thicker lines are appropriate when working with large wall maps</a:t>
            </a:r>
          </a:p>
          <a:p>
            <a:pPr marL="765810" lvl="1" indent="-457200">
              <a:buFont typeface="Wingdings" panose="05000000000000000000" pitchFamily="2" charset="2"/>
              <a:buChar char="ü"/>
            </a:pPr>
            <a:r>
              <a:rPr lang="en-US" sz="1800" dirty="0"/>
              <a:t>These lines should focus attention on what is within them, not on themselves</a:t>
            </a:r>
          </a:p>
        </p:txBody>
      </p:sp>
      <p:sp>
        <p:nvSpPr>
          <p:cNvPr id="2" name="Slide Number Placeholder 1">
            <a:extLst>
              <a:ext uri="{FF2B5EF4-FFF2-40B4-BE49-F238E27FC236}">
                <a16:creationId xmlns:a16="http://schemas.microsoft.com/office/drawing/2014/main" id="{41679DA3-F34E-47DD-B6EE-85209D895C41}"/>
              </a:ext>
            </a:extLst>
          </p:cNvPr>
          <p:cNvSpPr>
            <a:spLocks noGrp="1"/>
          </p:cNvSpPr>
          <p:nvPr>
            <p:ph type="sldNum" sz="quarter" idx="12"/>
          </p:nvPr>
        </p:nvSpPr>
        <p:spPr/>
        <p:txBody>
          <a:bodyPr/>
          <a:lstStyle/>
          <a:p>
            <a:fld id="{127DDC20-79C9-9647-820E-6D40A3D210C3}" type="slidenum">
              <a:rPr lang="en-US" smtClean="0"/>
              <a:pPr/>
              <a:t>13</a:t>
            </a:fld>
            <a:endParaRPr lang="en-US"/>
          </a:p>
        </p:txBody>
      </p:sp>
      <p:sp>
        <p:nvSpPr>
          <p:cNvPr id="4" name="Title 1">
            <a:extLst>
              <a:ext uri="{FF2B5EF4-FFF2-40B4-BE49-F238E27FC236}">
                <a16:creationId xmlns:a16="http://schemas.microsoft.com/office/drawing/2014/main" id="{28E4AA78-73E0-4954-93B0-C224D1FA80C9}"/>
              </a:ext>
            </a:extLst>
          </p:cNvPr>
          <p:cNvSpPr txBox="1">
            <a:spLocks/>
          </p:cNvSpPr>
          <p:nvPr/>
        </p:nvSpPr>
        <p:spPr>
          <a:xfrm>
            <a:off x="245949" y="202352"/>
            <a:ext cx="3868851"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Frame line and neat line</a:t>
            </a:r>
          </a:p>
        </p:txBody>
      </p:sp>
      <p:cxnSp>
        <p:nvCxnSpPr>
          <p:cNvPr id="5" name="Straight Connector 4">
            <a:extLst>
              <a:ext uri="{FF2B5EF4-FFF2-40B4-BE49-F238E27FC236}">
                <a16:creationId xmlns:a16="http://schemas.microsoft.com/office/drawing/2014/main" id="{F17990A5-4771-46CB-821A-64E41A7FC189}"/>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3021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4" descr="Image showing frame line"/>
          <p:cNvPicPr>
            <a:picLocks noChangeAspect="1" noChangeArrowheads="1"/>
          </p:cNvPicPr>
          <p:nvPr/>
        </p:nvPicPr>
        <p:blipFill>
          <a:blip r:embed="rId3" cstate="print"/>
          <a:srcRect/>
          <a:stretch>
            <a:fillRect/>
          </a:stretch>
        </p:blipFill>
        <p:spPr bwMode="auto">
          <a:xfrm>
            <a:off x="1275165" y="1702343"/>
            <a:ext cx="5763935" cy="2834282"/>
          </a:xfrm>
          <a:prstGeom prst="rect">
            <a:avLst/>
          </a:prstGeom>
          <a:noFill/>
          <a:ln w="9525">
            <a:noFill/>
            <a:miter lim="800000"/>
            <a:headEnd/>
            <a:tailEnd/>
          </a:ln>
        </p:spPr>
      </p:pic>
      <p:sp>
        <p:nvSpPr>
          <p:cNvPr id="5" name="Title 1">
            <a:extLst>
              <a:ext uri="{FF2B5EF4-FFF2-40B4-BE49-F238E27FC236}">
                <a16:creationId xmlns:a16="http://schemas.microsoft.com/office/drawing/2014/main" id="{3D5EF137-32DA-4EB6-91FF-B9114DC727F6}"/>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6" name="Straight Connector 5">
            <a:extLst>
              <a:ext uri="{FF2B5EF4-FFF2-40B4-BE49-F238E27FC236}">
                <a16:creationId xmlns:a16="http://schemas.microsoft.com/office/drawing/2014/main" id="{6CAF9FDD-6F99-43D3-8C78-137E336762C4}"/>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B96974D-5030-4D22-8874-5B944D0010B1}"/>
              </a:ext>
            </a:extLst>
          </p:cNvPr>
          <p:cNvSpPr txBox="1"/>
          <p:nvPr/>
        </p:nvSpPr>
        <p:spPr>
          <a:xfrm>
            <a:off x="1275165" y="1048756"/>
            <a:ext cx="5547184" cy="523220"/>
          </a:xfrm>
          <a:prstGeom prst="rect">
            <a:avLst/>
          </a:prstGeom>
          <a:noFill/>
        </p:spPr>
        <p:txBody>
          <a:bodyPr wrap="square" rtlCol="0">
            <a:spAutoFit/>
          </a:bodyPr>
          <a:lstStyle/>
          <a:p>
            <a:pPr algn="ctr"/>
            <a:r>
              <a:rPr lang="en-US" sz="2800" dirty="0"/>
              <a:t>Which one is better?</a:t>
            </a:r>
          </a:p>
        </p:txBody>
      </p:sp>
      <p:sp>
        <p:nvSpPr>
          <p:cNvPr id="2" name="Slide Number Placeholder 1">
            <a:extLst>
              <a:ext uri="{FF2B5EF4-FFF2-40B4-BE49-F238E27FC236}">
                <a16:creationId xmlns:a16="http://schemas.microsoft.com/office/drawing/2014/main" id="{BD1B99C1-141E-4A37-B5E3-66F6143DCFE7}"/>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3" name="Title 1">
            <a:extLst>
              <a:ext uri="{FF2B5EF4-FFF2-40B4-BE49-F238E27FC236}">
                <a16:creationId xmlns:a16="http://schemas.microsoft.com/office/drawing/2014/main" id="{6B49716E-0E97-FBD1-3D83-45170DDFCCB0}"/>
              </a:ext>
            </a:extLst>
          </p:cNvPr>
          <p:cNvSpPr txBox="1">
            <a:spLocks/>
          </p:cNvSpPr>
          <p:nvPr/>
        </p:nvSpPr>
        <p:spPr>
          <a:xfrm>
            <a:off x="260939" y="1689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Tree>
    <p:extLst>
      <p:ext uri="{BB962C8B-B14F-4D97-AF65-F5344CB8AC3E}">
        <p14:creationId xmlns:p14="http://schemas.microsoft.com/office/powerpoint/2010/main" val="3808003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061D41-C70B-955D-19C9-6098B449855A}"/>
              </a:ext>
            </a:extLst>
          </p:cNvPr>
          <p:cNvSpPr>
            <a:spLocks noGrp="1"/>
          </p:cNvSpPr>
          <p:nvPr>
            <p:ph idx="1"/>
          </p:nvPr>
        </p:nvSpPr>
        <p:spPr>
          <a:xfrm>
            <a:off x="392307" y="1026177"/>
            <a:ext cx="7444990" cy="857251"/>
          </a:xfrm>
        </p:spPr>
        <p:txBody>
          <a:bodyPr>
            <a:normAutofit/>
          </a:bodyPr>
          <a:lstStyle/>
          <a:p>
            <a:r>
              <a:rPr lang="en-US" altLang="zh-CN" sz="1800" dirty="0"/>
              <a:t>Download Lecture 7 data from Blackboard</a:t>
            </a:r>
            <a:endParaRPr lang="zh-CN" altLang="en-US" sz="1800" dirty="0"/>
          </a:p>
        </p:txBody>
      </p:sp>
      <p:sp>
        <p:nvSpPr>
          <p:cNvPr id="4" name="Slide Number Placeholder 3">
            <a:extLst>
              <a:ext uri="{FF2B5EF4-FFF2-40B4-BE49-F238E27FC236}">
                <a16:creationId xmlns:a16="http://schemas.microsoft.com/office/drawing/2014/main" id="{7DCF0A9C-6CFA-D35A-56D5-28537AD841F2}"/>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5" name="Title 1">
            <a:extLst>
              <a:ext uri="{FF2B5EF4-FFF2-40B4-BE49-F238E27FC236}">
                <a16:creationId xmlns:a16="http://schemas.microsoft.com/office/drawing/2014/main" id="{088667FC-38E8-0771-AD06-3B60D52BA9BB}"/>
              </a:ext>
            </a:extLst>
          </p:cNvPr>
          <p:cNvSpPr txBox="1">
            <a:spLocks/>
          </p:cNvSpPr>
          <p:nvPr/>
        </p:nvSpPr>
        <p:spPr>
          <a:xfrm>
            <a:off x="260939" y="1689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a:t>
            </a:r>
            <a:r>
              <a:rPr lang="en-US" altLang="zh-CN" sz="3200" dirty="0">
                <a:solidFill>
                  <a:srgbClr val="7030A0"/>
                </a:solidFill>
              </a:rPr>
              <a:t>xplore Frame Line in ArcGIS Pro</a:t>
            </a:r>
            <a:endParaRPr lang="en-US" sz="2600" dirty="0">
              <a:solidFill>
                <a:srgbClr val="7030A0"/>
              </a:solidFill>
            </a:endParaRPr>
          </a:p>
        </p:txBody>
      </p:sp>
    </p:spTree>
    <p:extLst>
      <p:ext uri="{BB962C8B-B14F-4D97-AF65-F5344CB8AC3E}">
        <p14:creationId xmlns:p14="http://schemas.microsoft.com/office/powerpoint/2010/main" val="2997211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118533" y="1028700"/>
            <a:ext cx="7996767" cy="3741896"/>
          </a:xfrm>
        </p:spPr>
        <p:txBody>
          <a:bodyPr>
            <a:normAutofit/>
          </a:bodyPr>
          <a:lstStyle/>
          <a:p>
            <a:pPr>
              <a:buFont typeface="Courier New" panose="02070309020205020404" pitchFamily="49" charset="0"/>
              <a:buChar char="o"/>
            </a:pPr>
            <a:r>
              <a:rPr lang="en-US" sz="2000" dirty="0"/>
              <a:t>The region of Earth being represented</a:t>
            </a:r>
          </a:p>
          <a:p>
            <a:pPr>
              <a:buFont typeface="Courier New" panose="02070309020205020404" pitchFamily="49" charset="0"/>
              <a:buChar char="o"/>
            </a:pPr>
            <a:r>
              <a:rPr lang="en-US" sz="2000" dirty="0"/>
              <a:t>Consists of Thematic Symbols</a:t>
            </a:r>
          </a:p>
          <a:p>
            <a:pPr marL="765810" lvl="1" indent="-457200">
              <a:buFont typeface="Wingdings" panose="05000000000000000000" pitchFamily="2" charset="2"/>
              <a:buChar char="ü"/>
            </a:pPr>
            <a:r>
              <a:rPr lang="en-US" sz="2000" dirty="0"/>
              <a:t>Thematic Symbols directly represent the map’s theme</a:t>
            </a:r>
          </a:p>
          <a:p>
            <a:pPr marL="765810" lvl="1" indent="-457200">
              <a:buFont typeface="Wingdings" panose="05000000000000000000" pitchFamily="2" charset="2"/>
              <a:buChar char="ü"/>
            </a:pPr>
            <a:r>
              <a:rPr lang="en-US" sz="2000" dirty="0"/>
              <a:t>Are visually dominant</a:t>
            </a:r>
          </a:p>
          <a:p>
            <a:pPr>
              <a:buFont typeface="Courier New" panose="02070309020205020404" pitchFamily="49" charset="0"/>
              <a:buChar char="o"/>
            </a:pPr>
            <a:r>
              <a:rPr lang="en-US" sz="2000" dirty="0"/>
              <a:t>Can also include base Information</a:t>
            </a:r>
          </a:p>
          <a:p>
            <a:pPr marL="765810" lvl="1" indent="-457200">
              <a:buFont typeface="Wingdings" panose="05000000000000000000" pitchFamily="2" charset="2"/>
              <a:buChar char="ü"/>
            </a:pPr>
            <a:r>
              <a:rPr lang="en-US" sz="2000" dirty="0"/>
              <a:t>Base Information provides a geographic frame of reference for the theme</a:t>
            </a:r>
          </a:p>
          <a:p>
            <a:pPr marL="765810" lvl="1" indent="-457200">
              <a:buFont typeface="Wingdings" panose="05000000000000000000" pitchFamily="2" charset="2"/>
              <a:buChar char="ü"/>
            </a:pPr>
            <a:r>
              <a:rPr lang="en-US" sz="2000" dirty="0"/>
              <a:t>Is subdued  </a:t>
            </a:r>
          </a:p>
        </p:txBody>
      </p:sp>
      <p:sp>
        <p:nvSpPr>
          <p:cNvPr id="2" name="Slide Number Placeholder 1">
            <a:extLst>
              <a:ext uri="{FF2B5EF4-FFF2-40B4-BE49-F238E27FC236}">
                <a16:creationId xmlns:a16="http://schemas.microsoft.com/office/drawing/2014/main" id="{BC9DD81B-0686-4D6E-AF2E-85B619F2B790}"/>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4" name="Title 1">
            <a:extLst>
              <a:ext uri="{FF2B5EF4-FFF2-40B4-BE49-F238E27FC236}">
                <a16:creationId xmlns:a16="http://schemas.microsoft.com/office/drawing/2014/main" id="{431848CF-C44E-4C4B-939A-49F71462C5AD}"/>
              </a:ext>
            </a:extLst>
          </p:cNvPr>
          <p:cNvSpPr txBox="1">
            <a:spLocks/>
          </p:cNvSpPr>
          <p:nvPr/>
        </p:nvSpPr>
        <p:spPr>
          <a:xfrm>
            <a:off x="208474"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6483E7D2-4B71-4D81-935D-A5CB168DF181}"/>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9467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DDC1FCA-B231-4A3B-AB96-F56DFB4C4BC4}"/>
              </a:ext>
            </a:extLst>
          </p:cNvPr>
          <p:cNvSpPr txBox="1">
            <a:spLocks/>
          </p:cNvSpPr>
          <p:nvPr/>
        </p:nvSpPr>
        <p:spPr>
          <a:xfrm>
            <a:off x="238454" y="1709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1667EB54-24AE-42B3-AEDA-FD2B08AE441C}"/>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6" name="Picture 2" descr="Image showing mapped area">
            <a:extLst>
              <a:ext uri="{FF2B5EF4-FFF2-40B4-BE49-F238E27FC236}">
                <a16:creationId xmlns:a16="http://schemas.microsoft.com/office/drawing/2014/main" id="{2901AD50-380C-4296-983E-1286365C665F}"/>
              </a:ext>
            </a:extLst>
          </p:cNvPr>
          <p:cNvPicPr>
            <a:picLocks noChangeAspect="1" noChangeArrowheads="1"/>
          </p:cNvPicPr>
          <p:nvPr/>
        </p:nvPicPr>
        <p:blipFill>
          <a:blip r:embed="rId2" cstate="print"/>
          <a:srcRect/>
          <a:stretch>
            <a:fillRect/>
          </a:stretch>
        </p:blipFill>
        <p:spPr bwMode="auto">
          <a:xfrm>
            <a:off x="827057" y="1057738"/>
            <a:ext cx="3024225" cy="3914824"/>
          </a:xfrm>
          <a:prstGeom prst="rect">
            <a:avLst/>
          </a:prstGeom>
          <a:noFill/>
          <a:ln w="9525">
            <a:solidFill>
              <a:schemeClr val="tx1"/>
            </a:solidFill>
            <a:miter lim="800000"/>
            <a:headEnd/>
            <a:tailEnd/>
          </a:ln>
        </p:spPr>
      </p:pic>
      <p:sp>
        <p:nvSpPr>
          <p:cNvPr id="7" name="Text Box 6">
            <a:extLst>
              <a:ext uri="{FF2B5EF4-FFF2-40B4-BE49-F238E27FC236}">
                <a16:creationId xmlns:a16="http://schemas.microsoft.com/office/drawing/2014/main" id="{503597B5-D6DF-46F4-B822-A5F14FA1444F}"/>
              </a:ext>
            </a:extLst>
          </p:cNvPr>
          <p:cNvSpPr txBox="1">
            <a:spLocks noChangeArrowheads="1"/>
          </p:cNvSpPr>
          <p:nvPr/>
        </p:nvSpPr>
        <p:spPr bwMode="auto">
          <a:xfrm>
            <a:off x="4277054" y="1987556"/>
            <a:ext cx="3180721" cy="707886"/>
          </a:xfrm>
          <a:prstGeom prst="rect">
            <a:avLst/>
          </a:prstGeom>
          <a:noFill/>
          <a:ln w="9525" algn="ctr">
            <a:noFill/>
            <a:miter lim="800000"/>
            <a:headEnd/>
            <a:tailEnd/>
          </a:ln>
        </p:spPr>
        <p:txBody>
          <a:bodyPr wrap="square">
            <a:spAutoFit/>
          </a:bodyPr>
          <a:lstStyle/>
          <a:p>
            <a:r>
              <a:rPr lang="en-US" sz="2000" b="1" dirty="0"/>
              <a:t>Thematic Symbols</a:t>
            </a:r>
            <a:r>
              <a:rPr lang="en-US" sz="2000" dirty="0"/>
              <a:t>: Shaded Polygons</a:t>
            </a:r>
          </a:p>
        </p:txBody>
      </p:sp>
      <p:sp>
        <p:nvSpPr>
          <p:cNvPr id="8" name="Text Box 7">
            <a:extLst>
              <a:ext uri="{FF2B5EF4-FFF2-40B4-BE49-F238E27FC236}">
                <a16:creationId xmlns:a16="http://schemas.microsoft.com/office/drawing/2014/main" id="{61527959-F9C1-4D42-BC8B-996379387865}"/>
              </a:ext>
            </a:extLst>
          </p:cNvPr>
          <p:cNvSpPr txBox="1">
            <a:spLocks noChangeArrowheads="1"/>
          </p:cNvSpPr>
          <p:nvPr/>
        </p:nvSpPr>
        <p:spPr bwMode="auto">
          <a:xfrm>
            <a:off x="4277054" y="3046044"/>
            <a:ext cx="3736981" cy="1015663"/>
          </a:xfrm>
          <a:prstGeom prst="rect">
            <a:avLst/>
          </a:prstGeom>
          <a:noFill/>
          <a:ln w="9525" algn="ctr">
            <a:noFill/>
            <a:miter lim="800000"/>
            <a:headEnd/>
            <a:tailEnd/>
          </a:ln>
        </p:spPr>
        <p:txBody>
          <a:bodyPr wrap="square">
            <a:spAutoFit/>
          </a:bodyPr>
          <a:lstStyle/>
          <a:p>
            <a:r>
              <a:rPr lang="en-US" sz="2000" b="1" dirty="0"/>
              <a:t>Base Information</a:t>
            </a:r>
            <a:r>
              <a:rPr lang="en-US" sz="2000" dirty="0"/>
              <a:t>:</a:t>
            </a:r>
          </a:p>
          <a:p>
            <a:r>
              <a:rPr lang="en-US" sz="2000" dirty="0"/>
              <a:t>Railroads and</a:t>
            </a:r>
          </a:p>
          <a:p>
            <a:r>
              <a:rPr lang="en-US" sz="2000" dirty="0"/>
              <a:t>City Label</a:t>
            </a:r>
          </a:p>
        </p:txBody>
      </p:sp>
      <p:sp>
        <p:nvSpPr>
          <p:cNvPr id="2" name="Slide Number Placeholder 1">
            <a:extLst>
              <a:ext uri="{FF2B5EF4-FFF2-40B4-BE49-F238E27FC236}">
                <a16:creationId xmlns:a16="http://schemas.microsoft.com/office/drawing/2014/main" id="{612256D5-BCAE-428F-B853-5DCF0C109584}"/>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229126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713" y="1080743"/>
            <a:ext cx="7581354" cy="1815882"/>
          </a:xfrm>
          <a:prstGeom prst="rect">
            <a:avLst/>
          </a:prstGeom>
        </p:spPr>
        <p:txBody>
          <a:bodyPr wrap="square">
            <a:spAutoFit/>
          </a:bodyPr>
          <a:lstStyle/>
          <a:p>
            <a:pPr marL="411480" indent="-411480">
              <a:buFont typeface="Courier New" panose="02070309020205020404" pitchFamily="49" charset="0"/>
              <a:buChar char="o"/>
            </a:pPr>
            <a:r>
              <a:rPr lang="en-US" sz="2400" dirty="0"/>
              <a:t>There are two varieties of mapped area, distinguished by how they represent the geographic region of interest</a:t>
            </a:r>
          </a:p>
          <a:p>
            <a:pPr marL="411480" indent="-411480">
              <a:buFont typeface="Courier New" panose="02070309020205020404" pitchFamily="49" charset="0"/>
              <a:buChar char="o"/>
            </a:pPr>
            <a:endParaRPr lang="en-US" sz="2400" dirty="0"/>
          </a:p>
          <a:p>
            <a:pPr marL="668655" lvl="1" indent="-360045">
              <a:buFont typeface="Wingdings" panose="05000000000000000000" pitchFamily="2" charset="2"/>
              <a:buChar char="ü"/>
            </a:pPr>
            <a:r>
              <a:rPr lang="en-US" sz="2000" dirty="0"/>
              <a:t>Floating</a:t>
            </a:r>
          </a:p>
          <a:p>
            <a:pPr marL="668655" lvl="1" indent="-360045">
              <a:buFont typeface="Wingdings" panose="05000000000000000000" pitchFamily="2" charset="2"/>
              <a:buChar char="ü"/>
            </a:pPr>
            <a:r>
              <a:rPr lang="en-US" sz="2000" dirty="0"/>
              <a:t>Cropped </a:t>
            </a:r>
          </a:p>
        </p:txBody>
      </p:sp>
      <p:sp>
        <p:nvSpPr>
          <p:cNvPr id="7" name="Title 1">
            <a:extLst>
              <a:ext uri="{FF2B5EF4-FFF2-40B4-BE49-F238E27FC236}">
                <a16:creationId xmlns:a16="http://schemas.microsoft.com/office/drawing/2014/main" id="{E0FFC1F3-BD87-492E-A93B-999D9D75763E}"/>
              </a:ext>
            </a:extLst>
          </p:cNvPr>
          <p:cNvSpPr txBox="1">
            <a:spLocks/>
          </p:cNvSpPr>
          <p:nvPr/>
        </p:nvSpPr>
        <p:spPr>
          <a:xfrm>
            <a:off x="238454" y="22349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8" name="Straight Connector 7">
            <a:extLst>
              <a:ext uri="{FF2B5EF4-FFF2-40B4-BE49-F238E27FC236}">
                <a16:creationId xmlns:a16="http://schemas.microsoft.com/office/drawing/2014/main" id="{2E1F38D9-47F9-4ABF-9F25-7957C8C1B9AB}"/>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09FAC16E-A05D-4699-BE46-307D7894A6B4}"/>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2007467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114300" y="963896"/>
            <a:ext cx="5267169" cy="3741896"/>
          </a:xfrm>
        </p:spPr>
        <p:txBody>
          <a:bodyPr>
            <a:normAutofit/>
          </a:bodyPr>
          <a:lstStyle/>
          <a:p>
            <a:pPr>
              <a:buFont typeface="Courier New" panose="02070309020205020404" pitchFamily="49" charset="0"/>
              <a:buChar char="o"/>
            </a:pPr>
            <a:r>
              <a:rPr lang="en-US" sz="1800" dirty="0"/>
              <a:t>Floating Mapped Area</a:t>
            </a:r>
          </a:p>
          <a:p>
            <a:pPr marL="765810" lvl="1" indent="-457200">
              <a:buFont typeface="Wingdings" panose="05000000000000000000" pitchFamily="2" charset="2"/>
              <a:buChar char="ü"/>
            </a:pPr>
            <a:r>
              <a:rPr lang="en-US" sz="1800" dirty="0"/>
              <a:t>Region of interest is disconnected from neighboring regions </a:t>
            </a:r>
          </a:p>
          <a:p>
            <a:pPr marL="765810" lvl="1" indent="-457200">
              <a:buFont typeface="Wingdings" panose="05000000000000000000" pitchFamily="2" charset="2"/>
              <a:buChar char="ü"/>
            </a:pPr>
            <a:r>
              <a:rPr lang="en-US" sz="1800" dirty="0"/>
              <a:t>Produces available space that often eases the placement of other map elements</a:t>
            </a:r>
          </a:p>
          <a:p>
            <a:pPr marL="765810" lvl="1" indent="-457200">
              <a:buFont typeface="Wingdings" panose="05000000000000000000" pitchFamily="2" charset="2"/>
              <a:buChar char="ü"/>
            </a:pPr>
            <a:r>
              <a:rPr lang="en-US" sz="1800" dirty="0"/>
              <a:t>Removes the region from its geographic context, possibly confusing the map user    </a:t>
            </a:r>
          </a:p>
        </p:txBody>
      </p:sp>
      <p:sp>
        <p:nvSpPr>
          <p:cNvPr id="2" name="Slide Number Placeholder 1">
            <a:extLst>
              <a:ext uri="{FF2B5EF4-FFF2-40B4-BE49-F238E27FC236}">
                <a16:creationId xmlns:a16="http://schemas.microsoft.com/office/drawing/2014/main" id="{0F43E960-ECF6-4863-9CBE-479A5A2C0609}"/>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6" name="Picture 2" descr="Map showing mapped area"/>
          <p:cNvPicPr>
            <a:picLocks noChangeAspect="1" noChangeArrowheads="1"/>
          </p:cNvPicPr>
          <p:nvPr/>
        </p:nvPicPr>
        <p:blipFill>
          <a:blip r:embed="rId2" cstate="print"/>
          <a:srcRect/>
          <a:stretch>
            <a:fillRect/>
          </a:stretch>
        </p:blipFill>
        <p:spPr bwMode="auto">
          <a:xfrm>
            <a:off x="5367769" y="1192648"/>
            <a:ext cx="2537213" cy="3284392"/>
          </a:xfrm>
          <a:prstGeom prst="rect">
            <a:avLst/>
          </a:prstGeom>
          <a:noFill/>
          <a:ln w="9525">
            <a:solidFill>
              <a:schemeClr val="tx1"/>
            </a:solidFill>
            <a:miter lim="800000"/>
            <a:headEnd/>
            <a:tailEnd/>
          </a:ln>
        </p:spPr>
      </p:pic>
      <p:sp>
        <p:nvSpPr>
          <p:cNvPr id="7" name="Title 1">
            <a:extLst>
              <a:ext uri="{FF2B5EF4-FFF2-40B4-BE49-F238E27FC236}">
                <a16:creationId xmlns:a16="http://schemas.microsoft.com/office/drawing/2014/main" id="{27F76349-4F8F-4A13-B842-DADA7742A6A3}"/>
              </a:ext>
            </a:extLst>
          </p:cNvPr>
          <p:cNvSpPr txBox="1">
            <a:spLocks/>
          </p:cNvSpPr>
          <p:nvPr/>
        </p:nvSpPr>
        <p:spPr>
          <a:xfrm>
            <a:off x="238454" y="2005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8" name="Straight Connector 7">
            <a:extLst>
              <a:ext uri="{FF2B5EF4-FFF2-40B4-BE49-F238E27FC236}">
                <a16:creationId xmlns:a16="http://schemas.microsoft.com/office/drawing/2014/main" id="{0B22C4FA-8846-4474-84AF-94BD4135FE4F}"/>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238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idx="1"/>
          </p:nvPr>
        </p:nvSpPr>
        <p:spPr>
          <a:xfrm>
            <a:off x="114301" y="1076823"/>
            <a:ext cx="4686299" cy="3741896"/>
          </a:xfrm>
        </p:spPr>
        <p:txBody>
          <a:bodyPr>
            <a:normAutofit/>
          </a:bodyPr>
          <a:lstStyle/>
          <a:p>
            <a:pPr>
              <a:buFont typeface="Courier New" panose="02070309020205020404" pitchFamily="49" charset="0"/>
              <a:buChar char="o"/>
            </a:pPr>
            <a:r>
              <a:rPr lang="en-US" sz="1800" dirty="0"/>
              <a:t>Cropped Mapped Area</a:t>
            </a:r>
          </a:p>
          <a:p>
            <a:pPr marL="765810" lvl="1" indent="-457200">
              <a:buFont typeface="Wingdings" panose="05000000000000000000" pitchFamily="2" charset="2"/>
              <a:buChar char="ü"/>
            </a:pPr>
            <a:r>
              <a:rPr lang="en-US" sz="1800" dirty="0"/>
              <a:t>Represents the region of interest within its geographic context </a:t>
            </a:r>
          </a:p>
          <a:p>
            <a:pPr marL="765810" lvl="1" indent="-457200">
              <a:buFont typeface="Wingdings" panose="05000000000000000000" pitchFamily="2" charset="2"/>
              <a:buChar char="ü"/>
            </a:pPr>
            <a:r>
              <a:rPr lang="en-US" sz="1800" dirty="0"/>
              <a:t>More realistic, less abstract</a:t>
            </a:r>
          </a:p>
          <a:p>
            <a:pPr marL="765810" lvl="1" indent="-457200">
              <a:buFont typeface="Wingdings" panose="05000000000000000000" pitchFamily="2" charset="2"/>
              <a:buChar char="ü"/>
            </a:pPr>
            <a:r>
              <a:rPr lang="en-US" sz="1800" dirty="0"/>
              <a:t>Can make the placement of other map elements more difficult due to a lack of available space </a:t>
            </a:r>
          </a:p>
          <a:p>
            <a:pPr lvl="1" indent="-360045"/>
            <a:endParaRPr lang="en-US" sz="1800" dirty="0"/>
          </a:p>
        </p:txBody>
      </p:sp>
      <p:sp>
        <p:nvSpPr>
          <p:cNvPr id="3" name="Slide Number Placeholder 2">
            <a:extLst>
              <a:ext uri="{FF2B5EF4-FFF2-40B4-BE49-F238E27FC236}">
                <a16:creationId xmlns:a16="http://schemas.microsoft.com/office/drawing/2014/main" id="{C396407D-0B60-47E4-B00C-49842BD7C1BB}"/>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32770" name="Picture 5" descr="Map showing cropped mapped area"/>
          <p:cNvPicPr preferRelativeResize="0">
            <a:picLocks noChangeAspect="1" noChangeArrowheads="1"/>
          </p:cNvPicPr>
          <p:nvPr/>
        </p:nvPicPr>
        <p:blipFill>
          <a:blip r:embed="rId3" cstate="print"/>
          <a:srcRect/>
          <a:stretch>
            <a:fillRect/>
          </a:stretch>
        </p:blipFill>
        <p:spPr bwMode="auto">
          <a:xfrm>
            <a:off x="4783777" y="1617027"/>
            <a:ext cx="3331522" cy="2449649"/>
          </a:xfrm>
          <a:prstGeom prst="rect">
            <a:avLst/>
          </a:prstGeom>
          <a:noFill/>
          <a:ln w="9525">
            <a:noFill/>
            <a:miter lim="800000"/>
            <a:headEnd/>
            <a:tailEnd/>
          </a:ln>
        </p:spPr>
      </p:pic>
      <p:sp>
        <p:nvSpPr>
          <p:cNvPr id="5" name="Title 1">
            <a:extLst>
              <a:ext uri="{FF2B5EF4-FFF2-40B4-BE49-F238E27FC236}">
                <a16:creationId xmlns:a16="http://schemas.microsoft.com/office/drawing/2014/main" id="{080AF2C8-022F-4718-8BF6-5D3D0C7578B9}"/>
              </a:ext>
            </a:extLst>
          </p:cNvPr>
          <p:cNvSpPr txBox="1">
            <a:spLocks/>
          </p:cNvSpPr>
          <p:nvPr/>
        </p:nvSpPr>
        <p:spPr>
          <a:xfrm>
            <a:off x="275929" y="1479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6" name="Straight Connector 5">
            <a:extLst>
              <a:ext uri="{FF2B5EF4-FFF2-40B4-BE49-F238E27FC236}">
                <a16:creationId xmlns:a16="http://schemas.microsoft.com/office/drawing/2014/main" id="{24681A35-000E-4D7A-BE3F-276EB514F01C}"/>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C5E6B56E-0066-44E0-9400-1F44C0DAAC50}"/>
              </a:ext>
            </a:extLst>
          </p:cNvPr>
          <p:cNvSpPr txBox="1"/>
          <p:nvPr/>
        </p:nvSpPr>
        <p:spPr>
          <a:xfrm>
            <a:off x="5185458" y="4433104"/>
            <a:ext cx="2048719" cy="369332"/>
          </a:xfrm>
          <a:prstGeom prst="rect">
            <a:avLst/>
          </a:prstGeom>
          <a:noFill/>
        </p:spPr>
        <p:txBody>
          <a:bodyPr wrap="square" rtlCol="0">
            <a:spAutoFit/>
          </a:bodyPr>
          <a:lstStyle/>
          <a:p>
            <a:r>
              <a:rPr lang="en-US" dirty="0">
                <a:solidFill>
                  <a:srgbClr val="FF0000"/>
                </a:solidFill>
              </a:rPr>
              <a:t>Demonstration!</a:t>
            </a:r>
          </a:p>
        </p:txBody>
      </p:sp>
      <p:sp>
        <p:nvSpPr>
          <p:cNvPr id="7" name="TextBox 6">
            <a:extLst>
              <a:ext uri="{FF2B5EF4-FFF2-40B4-BE49-F238E27FC236}">
                <a16:creationId xmlns:a16="http://schemas.microsoft.com/office/drawing/2014/main" id="{043E2FDE-16D1-B3D8-760F-5A94781DDB0F}"/>
              </a:ext>
            </a:extLst>
          </p:cNvPr>
          <p:cNvSpPr txBox="1"/>
          <p:nvPr/>
        </p:nvSpPr>
        <p:spPr>
          <a:xfrm>
            <a:off x="4783777" y="2841851"/>
            <a:ext cx="617279" cy="246221"/>
          </a:xfrm>
          <a:prstGeom prst="rect">
            <a:avLst/>
          </a:prstGeom>
          <a:noFill/>
        </p:spPr>
        <p:txBody>
          <a:bodyPr wrap="square">
            <a:spAutoFit/>
          </a:bodyPr>
          <a:lstStyle/>
          <a:p>
            <a:r>
              <a:rPr lang="en-US" sz="1000" dirty="0"/>
              <a:t>Iraq</a:t>
            </a:r>
          </a:p>
        </p:txBody>
      </p:sp>
      <p:sp>
        <p:nvSpPr>
          <p:cNvPr id="9" name="TextBox 8">
            <a:extLst>
              <a:ext uri="{FF2B5EF4-FFF2-40B4-BE49-F238E27FC236}">
                <a16:creationId xmlns:a16="http://schemas.microsoft.com/office/drawing/2014/main" id="{3A277CE4-1608-9C30-83E3-0531BA04D5E7}"/>
              </a:ext>
            </a:extLst>
          </p:cNvPr>
          <p:cNvSpPr txBox="1"/>
          <p:nvPr/>
        </p:nvSpPr>
        <p:spPr>
          <a:xfrm>
            <a:off x="6209817" y="1923335"/>
            <a:ext cx="1426464" cy="246221"/>
          </a:xfrm>
          <a:prstGeom prst="rect">
            <a:avLst/>
          </a:prstGeom>
          <a:noFill/>
        </p:spPr>
        <p:txBody>
          <a:bodyPr wrap="square">
            <a:spAutoFit/>
          </a:bodyPr>
          <a:lstStyle/>
          <a:p>
            <a:r>
              <a:rPr lang="en-US" sz="1000" dirty="0"/>
              <a:t>Turkmenistan</a:t>
            </a:r>
          </a:p>
        </p:txBody>
      </p:sp>
      <p:sp>
        <p:nvSpPr>
          <p:cNvPr id="11" name="TextBox 10">
            <a:extLst>
              <a:ext uri="{FF2B5EF4-FFF2-40B4-BE49-F238E27FC236}">
                <a16:creationId xmlns:a16="http://schemas.microsoft.com/office/drawing/2014/main" id="{E46A6551-1406-11F3-A4C3-E538A7AC71CA}"/>
              </a:ext>
            </a:extLst>
          </p:cNvPr>
          <p:cNvSpPr txBox="1"/>
          <p:nvPr/>
        </p:nvSpPr>
        <p:spPr>
          <a:xfrm rot="5400000">
            <a:off x="6580298" y="2836690"/>
            <a:ext cx="801624" cy="246221"/>
          </a:xfrm>
          <a:prstGeom prst="rect">
            <a:avLst/>
          </a:prstGeom>
          <a:noFill/>
        </p:spPr>
        <p:txBody>
          <a:bodyPr wrap="square">
            <a:spAutoFit/>
          </a:bodyPr>
          <a:lstStyle/>
          <a:p>
            <a:r>
              <a:rPr lang="en-US" sz="1000" dirty="0"/>
              <a:t>Afghanistan</a:t>
            </a:r>
          </a:p>
        </p:txBody>
      </p:sp>
    </p:spTree>
    <p:extLst>
      <p:ext uri="{BB962C8B-B14F-4D97-AF65-F5344CB8AC3E}">
        <p14:creationId xmlns:p14="http://schemas.microsoft.com/office/powerpoint/2010/main" val="1787666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4"/>
          <p:cNvSpPr>
            <a:spLocks noGrp="1" noChangeArrowheads="1"/>
          </p:cNvSpPr>
          <p:nvPr>
            <p:ph idx="1"/>
          </p:nvPr>
        </p:nvSpPr>
        <p:spPr>
          <a:xfrm>
            <a:off x="433137" y="1028700"/>
            <a:ext cx="7158789" cy="3063615"/>
          </a:xfrm>
        </p:spPr>
        <p:txBody>
          <a:bodyPr>
            <a:normAutofit/>
          </a:bodyPr>
          <a:lstStyle/>
          <a:p>
            <a:pPr>
              <a:buFont typeface="Courier New" panose="02070309020205020404" pitchFamily="49" charset="0"/>
              <a:buChar char="o"/>
            </a:pPr>
            <a:r>
              <a:rPr lang="en-US" sz="2000" dirty="0"/>
              <a:t>Make the mapped area as large as possible within the available space </a:t>
            </a:r>
          </a:p>
          <a:p>
            <a:pPr marL="765810" lvl="1" indent="-457200">
              <a:buFont typeface="Wingdings" panose="05000000000000000000" pitchFamily="2" charset="2"/>
              <a:buChar char="ü"/>
            </a:pPr>
            <a:r>
              <a:rPr lang="en-US" sz="2000" dirty="0"/>
              <a:t>Without being “too close” to the frame line</a:t>
            </a:r>
          </a:p>
          <a:p>
            <a:pPr marL="765810" lvl="1" indent="-457200">
              <a:buFont typeface="Wingdings" panose="05000000000000000000" pitchFamily="2" charset="2"/>
              <a:buChar char="ü"/>
            </a:pPr>
            <a:r>
              <a:rPr lang="en-US" sz="2000" dirty="0"/>
              <a:t>While leaving ample room for the remaining map elements </a:t>
            </a:r>
          </a:p>
          <a:p>
            <a:pPr>
              <a:buFont typeface="Courier New" panose="02070309020205020404" pitchFamily="49" charset="0"/>
              <a:buChar char="o"/>
            </a:pPr>
            <a:r>
              <a:rPr lang="en-US" sz="2000" dirty="0"/>
              <a:t>Maximum area is important</a:t>
            </a:r>
          </a:p>
          <a:p>
            <a:pPr marL="765810" lvl="1" indent="-457200">
              <a:buFont typeface="Wingdings" panose="05000000000000000000" pitchFamily="2" charset="2"/>
              <a:buChar char="ü"/>
            </a:pPr>
            <a:r>
              <a:rPr lang="en-US" sz="2000" dirty="0"/>
              <a:t>The mapped area—thematic symbols in particular—is instrumental in communicating the map’s information </a:t>
            </a:r>
          </a:p>
        </p:txBody>
      </p:sp>
      <p:sp>
        <p:nvSpPr>
          <p:cNvPr id="2" name="Slide Number Placeholder 1">
            <a:extLst>
              <a:ext uri="{FF2B5EF4-FFF2-40B4-BE49-F238E27FC236}">
                <a16:creationId xmlns:a16="http://schemas.microsoft.com/office/drawing/2014/main" id="{477FBDEC-4C0E-4C69-98E1-360EEA3659BC}"/>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4" name="Title 1">
            <a:extLst>
              <a:ext uri="{FF2B5EF4-FFF2-40B4-BE49-F238E27FC236}">
                <a16:creationId xmlns:a16="http://schemas.microsoft.com/office/drawing/2014/main" id="{86804A70-412B-465F-A67F-93DA0A3257BE}"/>
              </a:ext>
            </a:extLst>
          </p:cNvPr>
          <p:cNvSpPr txBox="1">
            <a:spLocks/>
          </p:cNvSpPr>
          <p:nvPr/>
        </p:nvSpPr>
        <p:spPr>
          <a:xfrm>
            <a:off x="253445"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FB0CEDBF-D14D-4E75-BC57-47FC52679247}"/>
              </a:ext>
            </a:extLst>
          </p:cNvPr>
          <p:cNvCxnSpPr/>
          <p:nvPr/>
        </p:nvCxnSpPr>
        <p:spPr>
          <a:xfrm>
            <a:off x="1143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1525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118533" y="1028700"/>
            <a:ext cx="7810278" cy="2111737"/>
          </a:xfrm>
        </p:spPr>
        <p:txBody>
          <a:bodyPr>
            <a:normAutofit/>
          </a:bodyPr>
          <a:lstStyle/>
          <a:p>
            <a:pPr>
              <a:buFont typeface="Courier New" panose="02070309020205020404" pitchFamily="49" charset="0"/>
              <a:buChar char="o"/>
            </a:pPr>
            <a:r>
              <a:rPr lang="en-US" sz="2000" dirty="0"/>
              <a:t>Try to visually center the mapped area both horizontally (side-to-side) and vertically (top-to-bottom)</a:t>
            </a:r>
          </a:p>
          <a:p>
            <a:pPr marL="1125855" lvl="2" indent="-457200">
              <a:buFont typeface="Wingdings" panose="05000000000000000000" pitchFamily="2" charset="2"/>
              <a:buChar char="ü"/>
            </a:pPr>
            <a:r>
              <a:rPr lang="en-US" sz="2000" dirty="0"/>
              <a:t>Within the available space, as defined by the frame line </a:t>
            </a:r>
          </a:p>
          <a:p>
            <a:pPr>
              <a:buFont typeface="Courier New" panose="02070309020205020404" pitchFamily="49" charset="0"/>
              <a:buChar char="o"/>
            </a:pPr>
            <a:r>
              <a:rPr lang="en-US" sz="2000" dirty="0"/>
              <a:t>This will not always result in an appropriate placement</a:t>
            </a:r>
          </a:p>
          <a:p>
            <a:pPr marL="1125855" lvl="2" indent="-457200">
              <a:buFont typeface="Wingdings" panose="05000000000000000000" pitchFamily="2" charset="2"/>
              <a:buChar char="ü"/>
            </a:pPr>
            <a:r>
              <a:rPr lang="en-US" sz="2000" dirty="0"/>
              <a:t>But should be tried first</a:t>
            </a:r>
          </a:p>
        </p:txBody>
      </p:sp>
      <p:sp>
        <p:nvSpPr>
          <p:cNvPr id="2" name="Slide Number Placeholder 1">
            <a:extLst>
              <a:ext uri="{FF2B5EF4-FFF2-40B4-BE49-F238E27FC236}">
                <a16:creationId xmlns:a16="http://schemas.microsoft.com/office/drawing/2014/main" id="{100698EC-F136-41CF-85B0-AE8698C65D43}"/>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4" name="Title 1">
            <a:extLst>
              <a:ext uri="{FF2B5EF4-FFF2-40B4-BE49-F238E27FC236}">
                <a16:creationId xmlns:a16="http://schemas.microsoft.com/office/drawing/2014/main" id="{AAD8EE55-1A6D-4B38-AC2C-4E5F3F4600AB}"/>
              </a:ext>
            </a:extLst>
          </p:cNvPr>
          <p:cNvSpPr txBox="1">
            <a:spLocks/>
          </p:cNvSpPr>
          <p:nvPr/>
        </p:nvSpPr>
        <p:spPr>
          <a:xfrm>
            <a:off x="238454"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Mapped area</a:t>
            </a:r>
          </a:p>
        </p:txBody>
      </p:sp>
      <p:cxnSp>
        <p:nvCxnSpPr>
          <p:cNvPr id="5" name="Straight Connector 4">
            <a:extLst>
              <a:ext uri="{FF2B5EF4-FFF2-40B4-BE49-F238E27FC236}">
                <a16:creationId xmlns:a16="http://schemas.microsoft.com/office/drawing/2014/main" id="{96BD1A7A-C089-41E9-BD0F-3756CD3A305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0345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 showing locations of mapped are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656" y="1189619"/>
            <a:ext cx="3915626" cy="1962019"/>
          </a:xfrm>
          <a:prstGeom prst="rect">
            <a:avLst/>
          </a:prstGeom>
        </p:spPr>
      </p:pic>
      <p:sp>
        <p:nvSpPr>
          <p:cNvPr id="35844" name="Text Box 7"/>
          <p:cNvSpPr txBox="1">
            <a:spLocks noChangeArrowheads="1"/>
          </p:cNvSpPr>
          <p:nvPr/>
        </p:nvSpPr>
        <p:spPr bwMode="auto">
          <a:xfrm>
            <a:off x="56412" y="3200302"/>
            <a:ext cx="3086100" cy="369332"/>
          </a:xfrm>
          <a:prstGeom prst="rect">
            <a:avLst/>
          </a:prstGeom>
          <a:noFill/>
          <a:ln w="9525">
            <a:noFill/>
            <a:miter lim="800000"/>
            <a:headEnd/>
            <a:tailEnd/>
          </a:ln>
        </p:spPr>
        <p:txBody>
          <a:bodyPr wrap="square">
            <a:spAutoFit/>
          </a:bodyPr>
          <a:lstStyle/>
          <a:p>
            <a:pPr>
              <a:spcBef>
                <a:spcPct val="50000"/>
              </a:spcBef>
            </a:pPr>
            <a:r>
              <a:rPr lang="en-US" dirty="0"/>
              <a:t>Appropriately Sized</a:t>
            </a:r>
          </a:p>
        </p:txBody>
      </p:sp>
      <p:sp>
        <p:nvSpPr>
          <p:cNvPr id="6" name="Text Box 7"/>
          <p:cNvSpPr txBox="1">
            <a:spLocks noChangeArrowheads="1"/>
          </p:cNvSpPr>
          <p:nvPr/>
        </p:nvSpPr>
        <p:spPr bwMode="auto">
          <a:xfrm>
            <a:off x="2592293" y="3218667"/>
            <a:ext cx="1100437" cy="369332"/>
          </a:xfrm>
          <a:prstGeom prst="rect">
            <a:avLst/>
          </a:prstGeom>
          <a:noFill/>
          <a:ln w="9525">
            <a:noFill/>
            <a:miter lim="800000"/>
            <a:headEnd/>
            <a:tailEnd/>
          </a:ln>
        </p:spPr>
        <p:txBody>
          <a:bodyPr wrap="square">
            <a:spAutoFit/>
          </a:bodyPr>
          <a:lstStyle/>
          <a:p>
            <a:pPr>
              <a:spcBef>
                <a:spcPct val="50000"/>
              </a:spcBef>
            </a:pPr>
            <a:r>
              <a:rPr lang="en-US" dirty="0"/>
              <a:t>Too Small</a:t>
            </a:r>
          </a:p>
        </p:txBody>
      </p:sp>
      <p:pic>
        <p:nvPicPr>
          <p:cNvPr id="7" name="Picture 6" descr="Map showing locations of mapped area"/>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8244" y="1189619"/>
            <a:ext cx="3915626" cy="1962019"/>
          </a:xfrm>
          <a:prstGeom prst="rect">
            <a:avLst/>
          </a:prstGeom>
        </p:spPr>
      </p:pic>
      <p:sp>
        <p:nvSpPr>
          <p:cNvPr id="8" name="Text Box 7"/>
          <p:cNvSpPr txBox="1">
            <a:spLocks noChangeArrowheads="1"/>
          </p:cNvSpPr>
          <p:nvPr/>
        </p:nvSpPr>
        <p:spPr bwMode="auto">
          <a:xfrm>
            <a:off x="4754581" y="3218667"/>
            <a:ext cx="1100436" cy="369332"/>
          </a:xfrm>
          <a:prstGeom prst="rect">
            <a:avLst/>
          </a:prstGeom>
          <a:noFill/>
          <a:ln w="9525">
            <a:noFill/>
            <a:miter lim="800000"/>
            <a:headEnd/>
            <a:tailEnd/>
          </a:ln>
        </p:spPr>
        <p:txBody>
          <a:bodyPr wrap="square">
            <a:spAutoFit/>
          </a:bodyPr>
          <a:lstStyle/>
          <a:p>
            <a:pPr>
              <a:spcBef>
                <a:spcPct val="50000"/>
              </a:spcBef>
            </a:pPr>
            <a:r>
              <a:rPr lang="en-US" dirty="0"/>
              <a:t>Too Large</a:t>
            </a:r>
          </a:p>
        </p:txBody>
      </p:sp>
      <p:sp>
        <p:nvSpPr>
          <p:cNvPr id="9" name="Text Box 7"/>
          <p:cNvSpPr txBox="1">
            <a:spLocks noChangeArrowheads="1"/>
          </p:cNvSpPr>
          <p:nvPr/>
        </p:nvSpPr>
        <p:spPr bwMode="auto">
          <a:xfrm>
            <a:off x="6056057" y="3234927"/>
            <a:ext cx="1957813" cy="646331"/>
          </a:xfrm>
          <a:prstGeom prst="rect">
            <a:avLst/>
          </a:prstGeom>
          <a:noFill/>
          <a:ln w="9525">
            <a:noFill/>
            <a:miter lim="800000"/>
            <a:headEnd/>
            <a:tailEnd/>
          </a:ln>
        </p:spPr>
        <p:txBody>
          <a:bodyPr wrap="square">
            <a:spAutoFit/>
          </a:bodyPr>
          <a:lstStyle/>
          <a:p>
            <a:pPr algn="ctr">
              <a:spcBef>
                <a:spcPct val="50000"/>
              </a:spcBef>
            </a:pPr>
            <a:r>
              <a:rPr lang="en-US" dirty="0"/>
              <a:t>Too Small and Off Center</a:t>
            </a:r>
          </a:p>
        </p:txBody>
      </p:sp>
      <p:sp>
        <p:nvSpPr>
          <p:cNvPr id="11" name="Title 1">
            <a:extLst>
              <a:ext uri="{FF2B5EF4-FFF2-40B4-BE49-F238E27FC236}">
                <a16:creationId xmlns:a16="http://schemas.microsoft.com/office/drawing/2014/main" id="{2F968892-97B1-4A69-B234-BF10F80544BF}"/>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12" name="Straight Connector 11">
            <a:extLst>
              <a:ext uri="{FF2B5EF4-FFF2-40B4-BE49-F238E27FC236}">
                <a16:creationId xmlns:a16="http://schemas.microsoft.com/office/drawing/2014/main" id="{2F3E13F1-202B-4385-A04D-E7154C74077A}"/>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806FD22E-A2A7-431C-9C18-EA4EB8CD6D4E}"/>
              </a:ext>
            </a:extLst>
          </p:cNvPr>
          <p:cNvSpPr>
            <a:spLocks noGrp="1"/>
          </p:cNvSpPr>
          <p:nvPr>
            <p:ph type="sldNum" sz="quarter" idx="12"/>
          </p:nvPr>
        </p:nvSpPr>
        <p:spPr/>
        <p:txBody>
          <a:bodyPr/>
          <a:lstStyle/>
          <a:p>
            <a:fld id="{127DDC20-79C9-9647-820E-6D40A3D210C3}" type="slidenum">
              <a:rPr lang="en-US" smtClean="0"/>
              <a:pPr/>
              <a:t>23</a:t>
            </a:fld>
            <a:endParaRPr lang="en-US"/>
          </a:p>
        </p:txBody>
      </p:sp>
      <p:sp>
        <p:nvSpPr>
          <p:cNvPr id="4" name="Title 1">
            <a:extLst>
              <a:ext uri="{FF2B5EF4-FFF2-40B4-BE49-F238E27FC236}">
                <a16:creationId xmlns:a16="http://schemas.microsoft.com/office/drawing/2014/main" id="{6359D098-A441-A60E-E6CF-D6EFD3C1E2E9}"/>
              </a:ext>
            </a:extLst>
          </p:cNvPr>
          <p:cNvSpPr txBox="1">
            <a:spLocks/>
          </p:cNvSpPr>
          <p:nvPr/>
        </p:nvSpPr>
        <p:spPr>
          <a:xfrm>
            <a:off x="118533" y="69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sp>
        <p:nvSpPr>
          <p:cNvPr id="5" name="Title 1">
            <a:extLst>
              <a:ext uri="{FF2B5EF4-FFF2-40B4-BE49-F238E27FC236}">
                <a16:creationId xmlns:a16="http://schemas.microsoft.com/office/drawing/2014/main" id="{2816C11B-32BE-EFF8-9FC2-25B3C7526F0B}"/>
              </a:ext>
            </a:extLst>
          </p:cNvPr>
          <p:cNvSpPr txBox="1">
            <a:spLocks/>
          </p:cNvSpPr>
          <p:nvPr/>
        </p:nvSpPr>
        <p:spPr>
          <a:xfrm>
            <a:off x="59644" y="1101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Tree>
    <p:extLst>
      <p:ext uri="{BB962C8B-B14F-4D97-AF65-F5344CB8AC3E}">
        <p14:creationId xmlns:p14="http://schemas.microsoft.com/office/powerpoint/2010/main" val="355522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6" grpId="0"/>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5EAD8-C38C-EA8C-7670-687C10DC5D94}"/>
              </a:ext>
            </a:extLst>
          </p:cNvPr>
          <p:cNvSpPr>
            <a:spLocks noGrp="1"/>
          </p:cNvSpPr>
          <p:nvPr>
            <p:ph type="title"/>
          </p:nvPr>
        </p:nvSpPr>
        <p:spPr>
          <a:xfrm>
            <a:off x="392305" y="526617"/>
            <a:ext cx="7444991" cy="605140"/>
          </a:xfrm>
        </p:spPr>
        <p:txBody>
          <a:bodyPr/>
          <a:lstStyle/>
          <a:p>
            <a:pPr defTabSz="411480"/>
            <a:r>
              <a:rPr lang="en-US" altLang="zh-CN" sz="3200" dirty="0">
                <a:solidFill>
                  <a:srgbClr val="7030A0"/>
                </a:solidFill>
              </a:rPr>
              <a:t>Explore mapped area </a:t>
            </a:r>
            <a:endParaRPr lang="zh-CN" altLang="en-US" sz="3200" dirty="0">
              <a:solidFill>
                <a:srgbClr val="7030A0"/>
              </a:solidFill>
            </a:endParaRPr>
          </a:p>
        </p:txBody>
      </p:sp>
      <p:sp>
        <p:nvSpPr>
          <p:cNvPr id="3" name="Content Placeholder 2">
            <a:extLst>
              <a:ext uri="{FF2B5EF4-FFF2-40B4-BE49-F238E27FC236}">
                <a16:creationId xmlns:a16="http://schemas.microsoft.com/office/drawing/2014/main" id="{C6DA1E5D-534F-6A8F-9D23-4DE40E2C49FA}"/>
              </a:ext>
            </a:extLst>
          </p:cNvPr>
          <p:cNvSpPr>
            <a:spLocks noGrp="1"/>
          </p:cNvSpPr>
          <p:nvPr>
            <p:ph idx="1"/>
          </p:nvPr>
        </p:nvSpPr>
        <p:spPr>
          <a:xfrm>
            <a:off x="392307" y="1268469"/>
            <a:ext cx="7444990" cy="1234890"/>
          </a:xfrm>
        </p:spPr>
        <p:txBody>
          <a:bodyPr/>
          <a:lstStyle/>
          <a:p>
            <a:pPr marL="668655" lvl="1" indent="-360045">
              <a:buFont typeface="Wingdings" panose="05000000000000000000" pitchFamily="2" charset="2"/>
              <a:buChar char="ü"/>
            </a:pPr>
            <a:r>
              <a:rPr lang="en-US" altLang="zh-CN" sz="2000" dirty="0"/>
              <a:t>Floating or Cropped </a:t>
            </a:r>
          </a:p>
          <a:p>
            <a:pPr marL="668655" lvl="1" indent="-360045">
              <a:buFont typeface="Wingdings" panose="05000000000000000000" pitchFamily="2" charset="2"/>
              <a:buChar char="ü"/>
            </a:pPr>
            <a:r>
              <a:rPr lang="en-US" altLang="zh-CN" sz="2000" dirty="0"/>
              <a:t>Align to center of the page</a:t>
            </a:r>
          </a:p>
        </p:txBody>
      </p:sp>
      <p:sp>
        <p:nvSpPr>
          <p:cNvPr id="4" name="Slide Number Placeholder 3">
            <a:extLst>
              <a:ext uri="{FF2B5EF4-FFF2-40B4-BE49-F238E27FC236}">
                <a16:creationId xmlns:a16="http://schemas.microsoft.com/office/drawing/2014/main" id="{959272D0-D763-ECBA-D61C-43BFFA9468A5}"/>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100729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118533" y="1028700"/>
            <a:ext cx="7341046" cy="1543049"/>
          </a:xfrm>
        </p:spPr>
        <p:txBody>
          <a:bodyPr>
            <a:normAutofit/>
          </a:bodyPr>
          <a:lstStyle/>
          <a:p>
            <a:pPr>
              <a:buFont typeface="Courier New" panose="02070309020205020404" pitchFamily="49" charset="0"/>
              <a:buChar char="o"/>
            </a:pPr>
            <a:r>
              <a:rPr lang="en-US" sz="1800" dirty="0"/>
              <a:t>A smaller map included within the context of a larger map</a:t>
            </a:r>
          </a:p>
          <a:p>
            <a:pPr marL="765810" lvl="1" indent="-457200">
              <a:buFont typeface="Wingdings" panose="05000000000000000000" pitchFamily="2" charset="2"/>
              <a:buChar char="ü"/>
            </a:pPr>
            <a:r>
              <a:rPr lang="en-US" sz="1800" dirty="0"/>
              <a:t>Can serve several purposes</a:t>
            </a:r>
          </a:p>
          <a:p>
            <a:pPr marL="765810" lvl="1" indent="-457200">
              <a:buFont typeface="Wingdings" panose="05000000000000000000" pitchFamily="2" charset="2"/>
              <a:buChar char="ü"/>
            </a:pPr>
            <a:r>
              <a:rPr lang="en-US" sz="1800" dirty="0"/>
              <a:t>In the world of ArcGIS, the inset is usually a separate data frame</a:t>
            </a:r>
          </a:p>
        </p:txBody>
      </p:sp>
      <p:sp>
        <p:nvSpPr>
          <p:cNvPr id="2" name="Slide Number Placeholder 1">
            <a:extLst>
              <a:ext uri="{FF2B5EF4-FFF2-40B4-BE49-F238E27FC236}">
                <a16:creationId xmlns:a16="http://schemas.microsoft.com/office/drawing/2014/main" id="{DB4DCA95-7743-4DA0-8AFC-4004473DD2D8}"/>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39940" name="Picture 5" descr="Map showing data frame"/>
          <p:cNvPicPr>
            <a:picLocks noChangeAspect="1" noChangeArrowheads="1"/>
          </p:cNvPicPr>
          <p:nvPr/>
        </p:nvPicPr>
        <p:blipFill>
          <a:blip r:embed="rId2" cstate="print"/>
          <a:srcRect/>
          <a:stretch>
            <a:fillRect/>
          </a:stretch>
        </p:blipFill>
        <p:spPr bwMode="auto">
          <a:xfrm>
            <a:off x="3745178" y="3114813"/>
            <a:ext cx="2562106" cy="1985605"/>
          </a:xfrm>
          <a:prstGeom prst="rect">
            <a:avLst/>
          </a:prstGeom>
          <a:noFill/>
          <a:ln w="9525" algn="ctr">
            <a:noFill/>
            <a:miter lim="800000"/>
            <a:headEnd/>
            <a:tailEnd/>
          </a:ln>
        </p:spPr>
      </p:pic>
      <p:sp>
        <p:nvSpPr>
          <p:cNvPr id="5" name="Title 1">
            <a:extLst>
              <a:ext uri="{FF2B5EF4-FFF2-40B4-BE49-F238E27FC236}">
                <a16:creationId xmlns:a16="http://schemas.microsoft.com/office/drawing/2014/main" id="{AC404135-9F2D-4F8B-9A9C-3FF3B3705519}"/>
              </a:ext>
            </a:extLst>
          </p:cNvPr>
          <p:cNvSpPr txBox="1">
            <a:spLocks/>
          </p:cNvSpPr>
          <p:nvPr/>
        </p:nvSpPr>
        <p:spPr>
          <a:xfrm>
            <a:off x="290920" y="187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6" name="Straight Connector 5">
            <a:extLst>
              <a:ext uri="{FF2B5EF4-FFF2-40B4-BE49-F238E27FC236}">
                <a16:creationId xmlns:a16="http://schemas.microsoft.com/office/drawing/2014/main" id="{B57B0F5F-F474-44BE-A88B-872E0D92B549}"/>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 showing inset maps"/>
          <p:cNvPicPr>
            <a:picLocks noChangeAspect="1"/>
          </p:cNvPicPr>
          <p:nvPr/>
        </p:nvPicPr>
        <p:blipFill>
          <a:blip r:embed="rId2"/>
          <a:stretch>
            <a:fillRect/>
          </a:stretch>
        </p:blipFill>
        <p:spPr>
          <a:xfrm>
            <a:off x="3112682" y="1125855"/>
            <a:ext cx="4812780" cy="3694930"/>
          </a:xfrm>
          <a:prstGeom prst="rect">
            <a:avLst/>
          </a:prstGeom>
          <a:ln>
            <a:solidFill>
              <a:schemeClr val="tx1"/>
            </a:solidFill>
          </a:ln>
        </p:spPr>
      </p:pic>
      <p:sp>
        <p:nvSpPr>
          <p:cNvPr id="41986" name="Rectangle 2"/>
          <p:cNvSpPr>
            <a:spLocks noGrp="1" noChangeArrowheads="1"/>
          </p:cNvSpPr>
          <p:nvPr>
            <p:ph type="title"/>
          </p:nvPr>
        </p:nvSpPr>
        <p:spPr>
          <a:xfrm>
            <a:off x="85712" y="1066703"/>
            <a:ext cx="3026970" cy="1688507"/>
          </a:xfrm>
        </p:spPr>
        <p:txBody>
          <a:bodyPr>
            <a:noAutofit/>
          </a:bodyPr>
          <a:lstStyle/>
          <a:p>
            <a:pPr marL="342900" indent="-342900" algn="l" eaLnBrk="1" hangingPunct="1">
              <a:buFont typeface="Courier New" panose="02070309020205020404" pitchFamily="49" charset="0"/>
              <a:buChar char="o"/>
            </a:pPr>
            <a:r>
              <a:rPr lang="en-US" sz="2430" dirty="0"/>
              <a:t>Features not in the correct geographic location</a:t>
            </a:r>
          </a:p>
        </p:txBody>
      </p:sp>
      <p:sp>
        <p:nvSpPr>
          <p:cNvPr id="3" name="Slide Number Placeholder 2">
            <a:extLst>
              <a:ext uri="{FF2B5EF4-FFF2-40B4-BE49-F238E27FC236}">
                <a16:creationId xmlns:a16="http://schemas.microsoft.com/office/drawing/2014/main" id="{B58137FD-41D9-4731-B81E-B3861AB1D8B2}"/>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558085" name="Oval 5" descr="Red circle"/>
          <p:cNvSpPr>
            <a:spLocks noChangeArrowheads="1"/>
          </p:cNvSpPr>
          <p:nvPr/>
        </p:nvSpPr>
        <p:spPr bwMode="auto">
          <a:xfrm>
            <a:off x="3182726" y="3603706"/>
            <a:ext cx="1366242" cy="1276231"/>
          </a:xfrm>
          <a:prstGeom prst="ellipse">
            <a:avLst/>
          </a:prstGeom>
          <a:noFill/>
          <a:ln w="25400">
            <a:solidFill>
              <a:srgbClr val="FF0000"/>
            </a:solidFill>
            <a:round/>
            <a:headEnd/>
            <a:tailEnd/>
          </a:ln>
        </p:spPr>
        <p:txBody>
          <a:bodyPr wrap="none" anchor="ctr"/>
          <a:lstStyle/>
          <a:p>
            <a:endParaRPr lang="en-US" sz="1215"/>
          </a:p>
        </p:txBody>
      </p:sp>
      <p:sp>
        <p:nvSpPr>
          <p:cNvPr id="558086" name="Oval 6" descr="Red circle"/>
          <p:cNvSpPr>
            <a:spLocks noChangeArrowheads="1"/>
          </p:cNvSpPr>
          <p:nvPr/>
        </p:nvSpPr>
        <p:spPr bwMode="auto">
          <a:xfrm>
            <a:off x="4416096" y="4045188"/>
            <a:ext cx="940832" cy="878681"/>
          </a:xfrm>
          <a:prstGeom prst="ellipse">
            <a:avLst/>
          </a:prstGeom>
          <a:noFill/>
          <a:ln w="25400">
            <a:solidFill>
              <a:srgbClr val="FF0000"/>
            </a:solidFill>
            <a:round/>
            <a:headEnd/>
            <a:tailEnd/>
          </a:ln>
        </p:spPr>
        <p:txBody>
          <a:bodyPr wrap="none" anchor="ctr"/>
          <a:lstStyle/>
          <a:p>
            <a:endParaRPr lang="en-US" sz="1215"/>
          </a:p>
        </p:txBody>
      </p:sp>
      <p:sp>
        <p:nvSpPr>
          <p:cNvPr id="8" name="Title 1">
            <a:extLst>
              <a:ext uri="{FF2B5EF4-FFF2-40B4-BE49-F238E27FC236}">
                <a16:creationId xmlns:a16="http://schemas.microsoft.com/office/drawing/2014/main" id="{6FBA9A39-DD93-4D9A-8E88-0B5C3D79856D}"/>
              </a:ext>
            </a:extLst>
          </p:cNvPr>
          <p:cNvSpPr txBox="1">
            <a:spLocks/>
          </p:cNvSpPr>
          <p:nvPr/>
        </p:nvSpPr>
        <p:spPr>
          <a:xfrm>
            <a:off x="283425" y="1655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9" name="Straight Connector 8">
            <a:extLst>
              <a:ext uri="{FF2B5EF4-FFF2-40B4-BE49-F238E27FC236}">
                <a16:creationId xmlns:a16="http://schemas.microsoft.com/office/drawing/2014/main" id="{3F517909-E77D-4F7C-B828-D427240DD83A}"/>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80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8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5" grpId="0" animBg="1"/>
      <p:bldP spid="55808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1" y="938103"/>
            <a:ext cx="8001000" cy="728882"/>
          </a:xfrm>
        </p:spPr>
        <p:txBody>
          <a:bodyPr>
            <a:normAutofit/>
          </a:bodyPr>
          <a:lstStyle/>
          <a:p>
            <a:pPr>
              <a:buFont typeface="Courier New" panose="02070309020205020404" pitchFamily="49" charset="0"/>
              <a:buChar char="o"/>
            </a:pPr>
            <a:r>
              <a:rPr lang="en-US" sz="1800" dirty="0"/>
              <a:t>Can be used to show the primary mapped area in relation to a larger, more recognizable area (a locator map)</a:t>
            </a:r>
          </a:p>
        </p:txBody>
      </p:sp>
      <p:sp>
        <p:nvSpPr>
          <p:cNvPr id="2" name="Slide Number Placeholder 1">
            <a:extLst>
              <a:ext uri="{FF2B5EF4-FFF2-40B4-BE49-F238E27FC236}">
                <a16:creationId xmlns:a16="http://schemas.microsoft.com/office/drawing/2014/main" id="{43EC66FD-A2AF-464E-9B18-44D87E94373B}"/>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43013" name="Text Box 5"/>
          <p:cNvSpPr txBox="1">
            <a:spLocks noChangeArrowheads="1"/>
          </p:cNvSpPr>
          <p:nvPr/>
        </p:nvSpPr>
        <p:spPr bwMode="auto">
          <a:xfrm>
            <a:off x="5083492" y="4589899"/>
            <a:ext cx="2628749" cy="369332"/>
          </a:xfrm>
          <a:prstGeom prst="rect">
            <a:avLst/>
          </a:prstGeom>
          <a:noFill/>
          <a:ln w="9525">
            <a:noFill/>
            <a:miter lim="800000"/>
            <a:headEnd/>
            <a:tailEnd/>
          </a:ln>
        </p:spPr>
        <p:txBody>
          <a:bodyPr wrap="square">
            <a:spAutoFit/>
          </a:bodyPr>
          <a:lstStyle/>
          <a:p>
            <a:pPr>
              <a:spcBef>
                <a:spcPct val="50000"/>
              </a:spcBef>
            </a:pPr>
            <a:r>
              <a:rPr lang="en-US" dirty="0"/>
              <a:t>Shows Relative Location</a:t>
            </a:r>
          </a:p>
        </p:txBody>
      </p:sp>
      <p:sp>
        <p:nvSpPr>
          <p:cNvPr id="6" name="Title 1">
            <a:extLst>
              <a:ext uri="{FF2B5EF4-FFF2-40B4-BE49-F238E27FC236}">
                <a16:creationId xmlns:a16="http://schemas.microsoft.com/office/drawing/2014/main" id="{46503174-4FE4-4595-989A-6D181ED22B91}"/>
              </a:ext>
            </a:extLst>
          </p:cNvPr>
          <p:cNvSpPr txBox="1">
            <a:spLocks/>
          </p:cNvSpPr>
          <p:nvPr/>
        </p:nvSpPr>
        <p:spPr>
          <a:xfrm>
            <a:off x="358376" y="1697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7" name="Straight Connector 6">
            <a:extLst>
              <a:ext uri="{FF2B5EF4-FFF2-40B4-BE49-F238E27FC236}">
                <a16:creationId xmlns:a16="http://schemas.microsoft.com/office/drawing/2014/main" id="{43010A6F-5F16-4792-9D9A-261959451E3A}"/>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DCEBE077-B5BE-F9AD-9575-7B3B5DEC1591}"/>
              </a:ext>
            </a:extLst>
          </p:cNvPr>
          <p:cNvPicPr>
            <a:picLocks noChangeAspect="1"/>
          </p:cNvPicPr>
          <p:nvPr/>
        </p:nvPicPr>
        <p:blipFill>
          <a:blip r:embed="rId3"/>
          <a:stretch>
            <a:fillRect/>
          </a:stretch>
        </p:blipFill>
        <p:spPr>
          <a:xfrm>
            <a:off x="517358" y="1645091"/>
            <a:ext cx="4176561" cy="32360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118533" y="1028700"/>
            <a:ext cx="8001000" cy="646330"/>
          </a:xfrm>
        </p:spPr>
        <p:txBody>
          <a:bodyPr>
            <a:normAutofit/>
          </a:bodyPr>
          <a:lstStyle/>
          <a:p>
            <a:pPr>
              <a:buFont typeface="Courier New" panose="02070309020205020404" pitchFamily="49" charset="0"/>
              <a:buChar char="o"/>
            </a:pPr>
            <a:r>
              <a:rPr lang="en-US" sz="1800" dirty="0"/>
              <a:t>Can be used to enlarge important or congested areas (a zoom, or blow-up map)</a:t>
            </a:r>
          </a:p>
        </p:txBody>
      </p:sp>
      <p:sp>
        <p:nvSpPr>
          <p:cNvPr id="2" name="Slide Number Placeholder 1">
            <a:extLst>
              <a:ext uri="{FF2B5EF4-FFF2-40B4-BE49-F238E27FC236}">
                <a16:creationId xmlns:a16="http://schemas.microsoft.com/office/drawing/2014/main" id="{F2A44B9F-3AF1-4B1C-807E-2EFF53DCCF5F}"/>
              </a:ext>
            </a:extLst>
          </p:cNvPr>
          <p:cNvSpPr>
            <a:spLocks noGrp="1"/>
          </p:cNvSpPr>
          <p:nvPr>
            <p:ph type="sldNum" sz="quarter" idx="12"/>
          </p:nvPr>
        </p:nvSpPr>
        <p:spPr/>
        <p:txBody>
          <a:bodyPr/>
          <a:lstStyle/>
          <a:p>
            <a:fld id="{127DDC20-79C9-9647-820E-6D40A3D210C3}" type="slidenum">
              <a:rPr lang="en-US" smtClean="0"/>
              <a:pPr/>
              <a:t>28</a:t>
            </a:fld>
            <a:endParaRPr lang="en-US"/>
          </a:p>
        </p:txBody>
      </p:sp>
      <p:sp>
        <p:nvSpPr>
          <p:cNvPr id="44036" name="Text Box 5"/>
          <p:cNvSpPr txBox="1">
            <a:spLocks noChangeArrowheads="1"/>
          </p:cNvSpPr>
          <p:nvPr/>
        </p:nvSpPr>
        <p:spPr bwMode="auto">
          <a:xfrm>
            <a:off x="4658002" y="3126594"/>
            <a:ext cx="3179295" cy="369332"/>
          </a:xfrm>
          <a:prstGeom prst="rect">
            <a:avLst/>
          </a:prstGeom>
          <a:noFill/>
          <a:ln w="9525">
            <a:noFill/>
            <a:miter lim="800000"/>
            <a:headEnd/>
            <a:tailEnd/>
          </a:ln>
        </p:spPr>
        <p:txBody>
          <a:bodyPr wrap="square">
            <a:spAutoFit/>
          </a:bodyPr>
          <a:lstStyle/>
          <a:p>
            <a:pPr>
              <a:spcBef>
                <a:spcPct val="50000"/>
              </a:spcBef>
            </a:pPr>
            <a:r>
              <a:rPr lang="en-US" dirty="0"/>
              <a:t>Shows Enlargement of an Area</a:t>
            </a:r>
          </a:p>
        </p:txBody>
      </p:sp>
      <p:grpSp>
        <p:nvGrpSpPr>
          <p:cNvPr id="44037" name="Group 7" descr="Map showing inset map"/>
          <p:cNvGrpSpPr>
            <a:grpSpLocks/>
          </p:cNvGrpSpPr>
          <p:nvPr/>
        </p:nvGrpSpPr>
        <p:grpSpPr bwMode="auto">
          <a:xfrm>
            <a:off x="1711299" y="1734176"/>
            <a:ext cx="2865094" cy="3267385"/>
            <a:chOff x="3065463" y="2770188"/>
            <a:chExt cx="2947987" cy="3852862"/>
          </a:xfrm>
        </p:grpSpPr>
        <p:pic>
          <p:nvPicPr>
            <p:cNvPr id="44038" name="Picture 4"/>
            <p:cNvPicPr>
              <a:picLocks noChangeAspect="1" noChangeArrowheads="1"/>
            </p:cNvPicPr>
            <p:nvPr/>
          </p:nvPicPr>
          <p:blipFill>
            <a:blip r:embed="rId2" cstate="print"/>
            <a:srcRect l="51500" r="102"/>
            <a:stretch>
              <a:fillRect/>
            </a:stretch>
          </p:blipFill>
          <p:spPr bwMode="auto">
            <a:xfrm>
              <a:off x="3065463" y="2770188"/>
              <a:ext cx="2947987" cy="3852862"/>
            </a:xfrm>
            <a:prstGeom prst="rect">
              <a:avLst/>
            </a:prstGeom>
            <a:noFill/>
            <a:ln w="9525">
              <a:noFill/>
              <a:miter lim="800000"/>
              <a:headEnd/>
              <a:tailEnd/>
            </a:ln>
          </p:spPr>
        </p:pic>
        <p:pic>
          <p:nvPicPr>
            <p:cNvPr id="44039" name="Picture 7"/>
            <p:cNvPicPr>
              <a:picLocks noChangeAspect="1" noChangeArrowheads="1"/>
            </p:cNvPicPr>
            <p:nvPr/>
          </p:nvPicPr>
          <p:blipFill>
            <a:blip r:embed="rId3" cstate="print"/>
            <a:srcRect/>
            <a:stretch>
              <a:fillRect/>
            </a:stretch>
          </p:blipFill>
          <p:spPr bwMode="auto">
            <a:xfrm>
              <a:off x="3094131" y="2825270"/>
              <a:ext cx="309896" cy="350588"/>
            </a:xfrm>
            <a:prstGeom prst="rect">
              <a:avLst/>
            </a:prstGeom>
            <a:noFill/>
            <a:ln w="9525" algn="ctr">
              <a:noFill/>
              <a:miter lim="800000"/>
              <a:headEnd/>
              <a:tailEnd/>
            </a:ln>
          </p:spPr>
        </p:pic>
      </p:grpSp>
      <p:sp>
        <p:nvSpPr>
          <p:cNvPr id="7" name="Title 1">
            <a:extLst>
              <a:ext uri="{FF2B5EF4-FFF2-40B4-BE49-F238E27FC236}">
                <a16:creationId xmlns:a16="http://schemas.microsoft.com/office/drawing/2014/main" id="{37B72747-AACF-4630-9452-DEEED7FB74F7}"/>
              </a:ext>
            </a:extLst>
          </p:cNvPr>
          <p:cNvSpPr txBox="1">
            <a:spLocks/>
          </p:cNvSpPr>
          <p:nvPr/>
        </p:nvSpPr>
        <p:spPr>
          <a:xfrm>
            <a:off x="290920" y="1948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8" name="Straight Connector 7">
            <a:extLst>
              <a:ext uri="{FF2B5EF4-FFF2-40B4-BE49-F238E27FC236}">
                <a16:creationId xmlns:a16="http://schemas.microsoft.com/office/drawing/2014/main" id="{C948FA30-454E-4173-A665-B3928D962439}"/>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97744" y="942335"/>
            <a:ext cx="7822018" cy="853005"/>
          </a:xfrm>
        </p:spPr>
        <p:txBody>
          <a:bodyPr>
            <a:noAutofit/>
          </a:bodyPr>
          <a:lstStyle/>
          <a:p>
            <a:pPr>
              <a:buFont typeface="Courier New" panose="02070309020205020404" pitchFamily="49" charset="0"/>
              <a:buChar char="o"/>
            </a:pPr>
            <a:r>
              <a:rPr lang="en-US" sz="2000" dirty="0"/>
              <a:t>Can be used to show topics that are related to the map’s theme, or different dates of a common theme </a:t>
            </a:r>
          </a:p>
        </p:txBody>
      </p:sp>
      <p:sp>
        <p:nvSpPr>
          <p:cNvPr id="2" name="Slide Number Placeholder 1">
            <a:extLst>
              <a:ext uri="{FF2B5EF4-FFF2-40B4-BE49-F238E27FC236}">
                <a16:creationId xmlns:a16="http://schemas.microsoft.com/office/drawing/2014/main" id="{22272FC1-9DAC-4E75-A52B-CF0BB1588671}"/>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45060" name="Picture 4" descr="Map showing inset map"/>
          <p:cNvPicPr>
            <a:picLocks noChangeAspect="1" noChangeArrowheads="1"/>
          </p:cNvPicPr>
          <p:nvPr/>
        </p:nvPicPr>
        <p:blipFill>
          <a:blip r:embed="rId2" cstate="print"/>
          <a:srcRect/>
          <a:stretch>
            <a:fillRect/>
          </a:stretch>
        </p:blipFill>
        <p:spPr bwMode="auto">
          <a:xfrm>
            <a:off x="1173982" y="1909655"/>
            <a:ext cx="3854608" cy="3182125"/>
          </a:xfrm>
          <a:prstGeom prst="rect">
            <a:avLst/>
          </a:prstGeom>
          <a:noFill/>
          <a:ln w="9525" algn="ctr">
            <a:noFill/>
            <a:miter lim="800000"/>
            <a:headEnd/>
            <a:tailEnd/>
          </a:ln>
        </p:spPr>
      </p:pic>
      <p:sp>
        <p:nvSpPr>
          <p:cNvPr id="45061" name="Text Box 5"/>
          <p:cNvSpPr txBox="1">
            <a:spLocks noChangeArrowheads="1"/>
          </p:cNvSpPr>
          <p:nvPr/>
        </p:nvSpPr>
        <p:spPr bwMode="auto">
          <a:xfrm>
            <a:off x="5159446" y="3368087"/>
            <a:ext cx="3070154" cy="300082"/>
          </a:xfrm>
          <a:prstGeom prst="rect">
            <a:avLst/>
          </a:prstGeom>
          <a:noFill/>
          <a:ln w="9525">
            <a:noFill/>
            <a:miter lim="800000"/>
            <a:headEnd/>
            <a:tailEnd/>
          </a:ln>
        </p:spPr>
        <p:txBody>
          <a:bodyPr wrap="square">
            <a:spAutoFit/>
          </a:bodyPr>
          <a:lstStyle/>
          <a:p>
            <a:pPr>
              <a:spcBef>
                <a:spcPct val="50000"/>
              </a:spcBef>
            </a:pPr>
            <a:r>
              <a:rPr lang="en-US" sz="1350" dirty="0"/>
              <a:t>Shows Related Themes or Dates</a:t>
            </a:r>
          </a:p>
        </p:txBody>
      </p:sp>
      <p:sp>
        <p:nvSpPr>
          <p:cNvPr id="5" name="Title 1">
            <a:extLst>
              <a:ext uri="{FF2B5EF4-FFF2-40B4-BE49-F238E27FC236}">
                <a16:creationId xmlns:a16="http://schemas.microsoft.com/office/drawing/2014/main" id="{BCABD497-227D-4F1C-8AD4-4BB345925C13}"/>
              </a:ext>
            </a:extLst>
          </p:cNvPr>
          <p:cNvSpPr txBox="1">
            <a:spLocks/>
          </p:cNvSpPr>
          <p:nvPr/>
        </p:nvSpPr>
        <p:spPr>
          <a:xfrm>
            <a:off x="309838" y="2371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Inset</a:t>
            </a:r>
          </a:p>
        </p:txBody>
      </p:sp>
      <p:cxnSp>
        <p:nvCxnSpPr>
          <p:cNvPr id="6" name="Straight Connector 5">
            <a:extLst>
              <a:ext uri="{FF2B5EF4-FFF2-40B4-BE49-F238E27FC236}">
                <a16:creationId xmlns:a16="http://schemas.microsoft.com/office/drawing/2014/main" id="{6FD9511C-50FD-47E9-B296-151B83374AA9}"/>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A54B0B-1B2B-68B9-CA26-94AAB5BC1FCB}"/>
              </a:ext>
            </a:extLst>
          </p:cNvPr>
          <p:cNvSpPr>
            <a:spLocks noGrp="1"/>
          </p:cNvSpPr>
          <p:nvPr>
            <p:ph idx="1"/>
          </p:nvPr>
        </p:nvSpPr>
        <p:spPr>
          <a:xfrm>
            <a:off x="392305" y="1313438"/>
            <a:ext cx="7444990" cy="1697985"/>
          </a:xfrm>
        </p:spPr>
        <p:txBody>
          <a:bodyPr>
            <a:noAutofit/>
          </a:bodyPr>
          <a:lstStyle/>
          <a:p>
            <a:r>
              <a:rPr lang="en-US" altLang="zh-CN" sz="1800" dirty="0"/>
              <a:t>Create a new map </a:t>
            </a:r>
          </a:p>
          <a:p>
            <a:r>
              <a:rPr lang="en-US" altLang="zh-CN" sz="1800" dirty="0"/>
              <a:t>Include the State map in the new Map</a:t>
            </a:r>
          </a:p>
          <a:p>
            <a:r>
              <a:rPr lang="en-US" altLang="zh-CN" sz="1800" dirty="0"/>
              <a:t>Insert the State map as an inset map to show the relative location of Arkansas</a:t>
            </a:r>
          </a:p>
        </p:txBody>
      </p:sp>
      <p:sp>
        <p:nvSpPr>
          <p:cNvPr id="4" name="Slide Number Placeholder 3">
            <a:extLst>
              <a:ext uri="{FF2B5EF4-FFF2-40B4-BE49-F238E27FC236}">
                <a16:creationId xmlns:a16="http://schemas.microsoft.com/office/drawing/2014/main" id="{DC4F9BA6-80BE-FBD2-E311-4441455C1FBD}"/>
              </a:ext>
            </a:extLst>
          </p:cNvPr>
          <p:cNvSpPr>
            <a:spLocks noGrp="1"/>
          </p:cNvSpPr>
          <p:nvPr>
            <p:ph type="sldNum" sz="quarter" idx="12"/>
          </p:nvPr>
        </p:nvSpPr>
        <p:spPr/>
        <p:txBody>
          <a:bodyPr/>
          <a:lstStyle/>
          <a:p>
            <a:fld id="{127DDC20-79C9-9647-820E-6D40A3D210C3}" type="slidenum">
              <a:rPr lang="en-US" smtClean="0"/>
              <a:pPr/>
              <a:t>30</a:t>
            </a:fld>
            <a:endParaRPr lang="en-US"/>
          </a:p>
        </p:txBody>
      </p:sp>
      <p:sp>
        <p:nvSpPr>
          <p:cNvPr id="5" name="Title 1">
            <a:extLst>
              <a:ext uri="{FF2B5EF4-FFF2-40B4-BE49-F238E27FC236}">
                <a16:creationId xmlns:a16="http://schemas.microsoft.com/office/drawing/2014/main" id="{B26931D8-6551-C737-2A12-2854B12C32D8}"/>
              </a:ext>
            </a:extLst>
          </p:cNvPr>
          <p:cNvSpPr txBox="1">
            <a:spLocks/>
          </p:cNvSpPr>
          <p:nvPr/>
        </p:nvSpPr>
        <p:spPr>
          <a:xfrm>
            <a:off x="392305" y="526617"/>
            <a:ext cx="7444991" cy="605140"/>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411480"/>
            <a:r>
              <a:rPr lang="en-US" altLang="zh-CN" sz="3200" dirty="0">
                <a:solidFill>
                  <a:srgbClr val="7030A0"/>
                </a:solidFill>
              </a:rPr>
              <a:t>Explore inset map in </a:t>
            </a:r>
            <a:r>
              <a:rPr lang="en-US" altLang="zh-CN" sz="3200" dirty="0" err="1">
                <a:solidFill>
                  <a:srgbClr val="7030A0"/>
                </a:solidFill>
              </a:rPr>
              <a:t>arcgis</a:t>
            </a:r>
            <a:r>
              <a:rPr lang="en-US" altLang="zh-CN" sz="3200" dirty="0">
                <a:solidFill>
                  <a:srgbClr val="7030A0"/>
                </a:solidFill>
              </a:rPr>
              <a:t> pro</a:t>
            </a:r>
            <a:endParaRPr lang="zh-CN" altLang="en-US" sz="3200" dirty="0">
              <a:solidFill>
                <a:srgbClr val="7030A0"/>
              </a:solidFill>
            </a:endParaRPr>
          </a:p>
        </p:txBody>
      </p:sp>
    </p:spTree>
    <p:extLst>
      <p:ext uri="{BB962C8B-B14F-4D97-AF65-F5344CB8AC3E}">
        <p14:creationId xmlns:p14="http://schemas.microsoft.com/office/powerpoint/2010/main" val="1387501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276726" y="1028700"/>
            <a:ext cx="7822017" cy="2613908"/>
          </a:xfrm>
        </p:spPr>
        <p:txBody>
          <a:bodyPr>
            <a:normAutofit/>
          </a:bodyPr>
          <a:lstStyle/>
          <a:p>
            <a:pPr>
              <a:buFont typeface="Courier New" panose="02070309020205020404" pitchFamily="49" charset="0"/>
              <a:buChar char="o"/>
            </a:pPr>
            <a:r>
              <a:rPr lang="en-US" sz="2000" dirty="0"/>
              <a:t>The title and subtitle tell the map user what the map is about</a:t>
            </a:r>
          </a:p>
          <a:p>
            <a:pPr>
              <a:buFont typeface="Courier New" panose="02070309020205020404" pitchFamily="49" charset="0"/>
              <a:buChar char="o"/>
            </a:pPr>
            <a:r>
              <a:rPr lang="en-US" sz="2000" dirty="0"/>
              <a:t>Most thematic maps require a title</a:t>
            </a:r>
          </a:p>
          <a:p>
            <a:pPr marL="765810" lvl="1" indent="-457200">
              <a:buFont typeface="Wingdings" panose="05000000000000000000" pitchFamily="2" charset="2"/>
              <a:buChar char="ü"/>
            </a:pPr>
            <a:r>
              <a:rPr lang="en-US" sz="2000" dirty="0"/>
              <a:t>A title is sometimes omitted when a map is used as a figure in a written document, assuming that the title is clearly expressed in the figure caption </a:t>
            </a:r>
          </a:p>
          <a:p>
            <a:pPr marL="765810" lvl="1" indent="-457200">
              <a:buFont typeface="Wingdings" panose="05000000000000000000" pitchFamily="2" charset="2"/>
              <a:buChar char="ü"/>
            </a:pPr>
            <a:r>
              <a:rPr lang="en-US" sz="2000" dirty="0"/>
              <a:t>A well-crafted title can draw attention to a map</a:t>
            </a:r>
          </a:p>
        </p:txBody>
      </p:sp>
      <p:sp>
        <p:nvSpPr>
          <p:cNvPr id="2" name="Slide Number Placeholder 1">
            <a:extLst>
              <a:ext uri="{FF2B5EF4-FFF2-40B4-BE49-F238E27FC236}">
                <a16:creationId xmlns:a16="http://schemas.microsoft.com/office/drawing/2014/main" id="{A377875D-A43F-4EBF-AFDB-873253B2C454}"/>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4" name="Title 1">
            <a:extLst>
              <a:ext uri="{FF2B5EF4-FFF2-40B4-BE49-F238E27FC236}">
                <a16:creationId xmlns:a16="http://schemas.microsoft.com/office/drawing/2014/main" id="{0D31F3B9-0D40-4EC4-A10B-83DD74E02A6E}"/>
              </a:ext>
            </a:extLst>
          </p:cNvPr>
          <p:cNvSpPr txBox="1">
            <a:spLocks/>
          </p:cNvSpPr>
          <p:nvPr/>
        </p:nvSpPr>
        <p:spPr>
          <a:xfrm>
            <a:off x="215969"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and Subtitle</a:t>
            </a:r>
          </a:p>
        </p:txBody>
      </p:sp>
      <p:cxnSp>
        <p:nvCxnSpPr>
          <p:cNvPr id="5" name="Straight Connector 4">
            <a:extLst>
              <a:ext uri="{FF2B5EF4-FFF2-40B4-BE49-F238E27FC236}">
                <a16:creationId xmlns:a16="http://schemas.microsoft.com/office/drawing/2014/main" id="{84E6B52A-61DB-426D-90C5-6B442F66C88D}"/>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94F6D9B-E409-4462-ADE8-FFEA74E1E721}"/>
              </a:ext>
            </a:extLst>
          </p:cNvPr>
          <p:cNvSpPr txBox="1">
            <a:spLocks/>
          </p:cNvSpPr>
          <p:nvPr/>
        </p:nvSpPr>
        <p:spPr>
          <a:xfrm>
            <a:off x="275929" y="195024"/>
            <a:ext cx="100573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a:t>
            </a:r>
          </a:p>
        </p:txBody>
      </p:sp>
      <p:cxnSp>
        <p:nvCxnSpPr>
          <p:cNvPr id="6" name="Straight Connector 5">
            <a:extLst>
              <a:ext uri="{FF2B5EF4-FFF2-40B4-BE49-F238E27FC236}">
                <a16:creationId xmlns:a16="http://schemas.microsoft.com/office/drawing/2014/main" id="{3200F7A7-3862-4CBB-A454-54B14E4DC98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97CDB24-B92B-420F-A94E-75A3BB6D07D6}"/>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1026" name="Picture 2" descr="Map elements. Note that not all elements are needed, nor are they appropriate in some cases. Can you identify at least one element that does not belong in the map (hint, note the orientation of the longitudinal lines; are they parallel to one another? What implication does this have on the North direction and the placement of the North arrow? src. Esri)">
            <a:hlinkClick r:id="rId2"/>
            <a:extLst>
              <a:ext uri="{FF2B5EF4-FFF2-40B4-BE49-F238E27FC236}">
                <a16:creationId xmlns:a16="http://schemas.microsoft.com/office/drawing/2014/main" id="{E5EE512F-F455-67EF-3A75-EBC8C5FB7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221" y="1052274"/>
            <a:ext cx="7083450" cy="39176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343974" y="1010931"/>
            <a:ext cx="4737629" cy="3741896"/>
          </a:xfrm>
        </p:spPr>
        <p:txBody>
          <a:bodyPr>
            <a:normAutofit/>
          </a:bodyPr>
          <a:lstStyle/>
          <a:p>
            <a:pPr>
              <a:buFont typeface="Courier New" panose="02070309020205020404" pitchFamily="49" charset="0"/>
              <a:buChar char="o"/>
            </a:pPr>
            <a:r>
              <a:rPr lang="en-US" sz="1600" dirty="0"/>
              <a:t>The Title of a thematic map is a succinct description of the map’s theme</a:t>
            </a:r>
          </a:p>
          <a:p>
            <a:pPr marL="765810" lvl="1" indent="-457200">
              <a:buFont typeface="Wingdings" panose="05000000000000000000" pitchFamily="2" charset="2"/>
              <a:buChar char="ü"/>
            </a:pPr>
            <a:r>
              <a:rPr lang="en-US" sz="1600" dirty="0"/>
              <a:t>General reference maps typically employ the geographic region as the title </a:t>
            </a:r>
          </a:p>
          <a:p>
            <a:pPr>
              <a:buFont typeface="Courier New" panose="02070309020205020404" pitchFamily="49" charset="0"/>
              <a:buChar char="o"/>
            </a:pPr>
            <a:r>
              <a:rPr lang="en-US" sz="1600" dirty="0"/>
              <a:t>Unnecessary words should be omitted</a:t>
            </a:r>
          </a:p>
          <a:p>
            <a:pPr marL="765810" lvl="1" indent="-457200">
              <a:buFont typeface="Wingdings" panose="05000000000000000000" pitchFamily="2" charset="2"/>
              <a:buChar char="ü"/>
            </a:pPr>
            <a:r>
              <a:rPr lang="en-US" sz="1600" dirty="0"/>
              <a:t>But avoid cryptic abbreviations</a:t>
            </a:r>
          </a:p>
        </p:txBody>
      </p:sp>
      <p:sp>
        <p:nvSpPr>
          <p:cNvPr id="2" name="Slide Number Placeholder 1">
            <a:extLst>
              <a:ext uri="{FF2B5EF4-FFF2-40B4-BE49-F238E27FC236}">
                <a16:creationId xmlns:a16="http://schemas.microsoft.com/office/drawing/2014/main" id="{248D387E-8241-4215-8BD8-E69099C96930}"/>
              </a:ext>
            </a:extLst>
          </p:cNvPr>
          <p:cNvSpPr>
            <a:spLocks noGrp="1"/>
          </p:cNvSpPr>
          <p:nvPr>
            <p:ph type="sldNum" sz="quarter" idx="12"/>
          </p:nvPr>
        </p:nvSpPr>
        <p:spPr/>
        <p:txBody>
          <a:bodyPr/>
          <a:lstStyle/>
          <a:p>
            <a:fld id="{127DDC20-79C9-9647-820E-6D40A3D210C3}" type="slidenum">
              <a:rPr lang="en-US" smtClean="0"/>
              <a:pPr/>
              <a:t>33</a:t>
            </a:fld>
            <a:endParaRPr lang="en-US"/>
          </a:p>
        </p:txBody>
      </p:sp>
      <p:pic>
        <p:nvPicPr>
          <p:cNvPr id="5" name="Picture 8" descr="Image showing title"/>
          <p:cNvPicPr>
            <a:picLocks noChangeAspect="1" noChangeArrowheads="1"/>
          </p:cNvPicPr>
          <p:nvPr/>
        </p:nvPicPr>
        <p:blipFill>
          <a:blip r:embed="rId3" cstate="print"/>
          <a:srcRect l="15105" t="1636" r="14639" b="65562"/>
          <a:stretch>
            <a:fillRect/>
          </a:stretch>
        </p:blipFill>
        <p:spPr bwMode="auto">
          <a:xfrm>
            <a:off x="5350863" y="1281374"/>
            <a:ext cx="2586752" cy="1096208"/>
          </a:xfrm>
          <a:prstGeom prst="rect">
            <a:avLst/>
          </a:prstGeom>
          <a:noFill/>
          <a:ln w="9525">
            <a:solidFill>
              <a:schemeClr val="tx1"/>
            </a:solidFill>
            <a:miter lim="800000"/>
            <a:headEnd/>
            <a:tailEnd/>
          </a:ln>
        </p:spPr>
      </p:pic>
      <p:pic>
        <p:nvPicPr>
          <p:cNvPr id="6" name="Picture 10" descr="Image showing title"/>
          <p:cNvPicPr>
            <a:picLocks noChangeAspect="1" noChangeArrowheads="1"/>
          </p:cNvPicPr>
          <p:nvPr/>
        </p:nvPicPr>
        <p:blipFill>
          <a:blip r:embed="rId4" cstate="print"/>
          <a:srcRect/>
          <a:stretch>
            <a:fillRect/>
          </a:stretch>
        </p:blipFill>
        <p:spPr bwMode="auto">
          <a:xfrm>
            <a:off x="5049148" y="3060560"/>
            <a:ext cx="3146585" cy="1627291"/>
          </a:xfrm>
          <a:prstGeom prst="rect">
            <a:avLst/>
          </a:prstGeom>
          <a:noFill/>
          <a:ln w="9525" algn="ctr">
            <a:noFill/>
            <a:miter lim="800000"/>
            <a:headEnd/>
            <a:tailEnd/>
          </a:ln>
        </p:spPr>
      </p:pic>
      <p:sp>
        <p:nvSpPr>
          <p:cNvPr id="7" name="Text Box 11"/>
          <p:cNvSpPr txBox="1">
            <a:spLocks noChangeArrowheads="1"/>
          </p:cNvSpPr>
          <p:nvPr/>
        </p:nvSpPr>
        <p:spPr bwMode="auto">
          <a:xfrm>
            <a:off x="5606716" y="2465837"/>
            <a:ext cx="1953355" cy="369332"/>
          </a:xfrm>
          <a:prstGeom prst="rect">
            <a:avLst/>
          </a:prstGeom>
          <a:noFill/>
          <a:ln w="9525">
            <a:noFill/>
            <a:miter lim="800000"/>
            <a:headEnd/>
            <a:tailEnd/>
          </a:ln>
        </p:spPr>
        <p:txBody>
          <a:bodyPr wrap="square">
            <a:spAutoFit/>
          </a:bodyPr>
          <a:lstStyle/>
          <a:p>
            <a:pPr>
              <a:spcBef>
                <a:spcPct val="50000"/>
              </a:spcBef>
            </a:pPr>
            <a:r>
              <a:rPr lang="en-US" dirty="0"/>
              <a:t>Appropriate Titles</a:t>
            </a:r>
          </a:p>
        </p:txBody>
      </p:sp>
      <p:sp>
        <p:nvSpPr>
          <p:cNvPr id="8" name="Text Box 12"/>
          <p:cNvSpPr txBox="1">
            <a:spLocks noChangeArrowheads="1"/>
          </p:cNvSpPr>
          <p:nvPr/>
        </p:nvSpPr>
        <p:spPr bwMode="auto">
          <a:xfrm>
            <a:off x="5572850" y="4716808"/>
            <a:ext cx="2330898" cy="369332"/>
          </a:xfrm>
          <a:prstGeom prst="rect">
            <a:avLst/>
          </a:prstGeom>
          <a:noFill/>
          <a:ln w="9525">
            <a:noFill/>
            <a:miter lim="800000"/>
            <a:headEnd/>
            <a:tailEnd/>
          </a:ln>
        </p:spPr>
        <p:txBody>
          <a:bodyPr wrap="square">
            <a:spAutoFit/>
          </a:bodyPr>
          <a:lstStyle/>
          <a:p>
            <a:pPr>
              <a:spcBef>
                <a:spcPct val="50000"/>
              </a:spcBef>
            </a:pPr>
            <a:r>
              <a:rPr lang="en-US" dirty="0"/>
              <a:t>Inappropriate Titles</a:t>
            </a:r>
          </a:p>
        </p:txBody>
      </p:sp>
      <p:sp>
        <p:nvSpPr>
          <p:cNvPr id="9" name="Title 1">
            <a:extLst>
              <a:ext uri="{FF2B5EF4-FFF2-40B4-BE49-F238E27FC236}">
                <a16:creationId xmlns:a16="http://schemas.microsoft.com/office/drawing/2014/main" id="{67C8B20B-6112-4776-90EF-A6A3D0FD1368}"/>
              </a:ext>
            </a:extLst>
          </p:cNvPr>
          <p:cNvSpPr txBox="1">
            <a:spLocks/>
          </p:cNvSpPr>
          <p:nvPr/>
        </p:nvSpPr>
        <p:spPr>
          <a:xfrm>
            <a:off x="343974" y="1845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a:t>
            </a:r>
          </a:p>
        </p:txBody>
      </p:sp>
      <p:cxnSp>
        <p:nvCxnSpPr>
          <p:cNvPr id="10" name="Straight Connector 9">
            <a:extLst>
              <a:ext uri="{FF2B5EF4-FFF2-40B4-BE49-F238E27FC236}">
                <a16:creationId xmlns:a16="http://schemas.microsoft.com/office/drawing/2014/main" id="{07EC9C58-9BCA-44CE-B251-0D75B105E716}"/>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118533" y="906780"/>
            <a:ext cx="7806268" cy="2226162"/>
          </a:xfrm>
        </p:spPr>
        <p:txBody>
          <a:bodyPr>
            <a:normAutofit/>
          </a:bodyPr>
          <a:lstStyle/>
          <a:p>
            <a:pPr>
              <a:buFont typeface="Courier New" panose="02070309020205020404" pitchFamily="49" charset="0"/>
              <a:buChar char="o"/>
            </a:pPr>
            <a:r>
              <a:rPr lang="en-US" sz="1800" dirty="0"/>
              <a:t>The subtitle, if employed, is used to further explain title</a:t>
            </a:r>
          </a:p>
          <a:p>
            <a:pPr marL="765810" lvl="1" indent="-457200">
              <a:buFont typeface="Wingdings" panose="05000000000000000000" pitchFamily="2" charset="2"/>
              <a:buChar char="ü"/>
            </a:pPr>
            <a:r>
              <a:rPr lang="en-US" sz="1800" dirty="0"/>
              <a:t>The geographic region and date are common components of the subtitle but is often omitted (when it is easily identifiable) </a:t>
            </a:r>
          </a:p>
          <a:p>
            <a:pPr lvl="1">
              <a:buFont typeface="Wingdings" panose="05000000000000000000" pitchFamily="2" charset="2"/>
              <a:buChar char="ü"/>
            </a:pPr>
            <a:r>
              <a:rPr lang="en-US" sz="1800" dirty="0"/>
              <a:t>The subtitle should be horizontally centered below the title</a:t>
            </a:r>
          </a:p>
          <a:p>
            <a:pPr lvl="1">
              <a:buFont typeface="Wingdings" panose="05000000000000000000" pitchFamily="2" charset="2"/>
              <a:buChar char="ü"/>
            </a:pPr>
            <a:r>
              <a:rPr lang="en-US" sz="1800" dirty="0"/>
              <a:t>The style of the Title and Subtitle should be plain</a:t>
            </a:r>
          </a:p>
          <a:p>
            <a:pPr marL="411480" indent="-411480"/>
            <a:endParaRPr lang="en-US" dirty="0"/>
          </a:p>
        </p:txBody>
      </p:sp>
      <p:sp>
        <p:nvSpPr>
          <p:cNvPr id="2" name="Slide Number Placeholder 1">
            <a:extLst>
              <a:ext uri="{FF2B5EF4-FFF2-40B4-BE49-F238E27FC236}">
                <a16:creationId xmlns:a16="http://schemas.microsoft.com/office/drawing/2014/main" id="{54C71E82-7583-4F79-AE49-B1DABC89BCD3}"/>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5" name="Title 1">
            <a:extLst>
              <a:ext uri="{FF2B5EF4-FFF2-40B4-BE49-F238E27FC236}">
                <a16:creationId xmlns:a16="http://schemas.microsoft.com/office/drawing/2014/main" id="{C29462B7-A495-4CAA-B007-3F4A85165AE4}"/>
              </a:ext>
            </a:extLst>
          </p:cNvPr>
          <p:cNvSpPr txBox="1">
            <a:spLocks/>
          </p:cNvSpPr>
          <p:nvPr/>
        </p:nvSpPr>
        <p:spPr>
          <a:xfrm>
            <a:off x="223464" y="2079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6" name="Straight Connector 5">
            <a:extLst>
              <a:ext uri="{FF2B5EF4-FFF2-40B4-BE49-F238E27FC236}">
                <a16:creationId xmlns:a16="http://schemas.microsoft.com/office/drawing/2014/main" id="{0B5BDE92-44DC-496D-9C3C-CE78AFB5389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Image showing title"/>
          <p:cNvPicPr>
            <a:picLocks noChangeAspect="1" noChangeArrowheads="1"/>
          </p:cNvPicPr>
          <p:nvPr/>
        </p:nvPicPr>
        <p:blipFill>
          <a:blip r:embed="rId2" cstate="print"/>
          <a:srcRect/>
          <a:stretch>
            <a:fillRect/>
          </a:stretch>
        </p:blipFill>
        <p:spPr bwMode="auto">
          <a:xfrm>
            <a:off x="1967563" y="1360273"/>
            <a:ext cx="4060257" cy="2682978"/>
          </a:xfrm>
          <a:prstGeom prst="rect">
            <a:avLst/>
          </a:prstGeom>
          <a:noFill/>
          <a:ln w="9525" algn="ctr">
            <a:solidFill>
              <a:schemeClr val="tx1"/>
            </a:solidFill>
            <a:miter lim="800000"/>
            <a:headEnd/>
            <a:tailEnd/>
          </a:ln>
        </p:spPr>
      </p:pic>
      <p:sp>
        <p:nvSpPr>
          <p:cNvPr id="5" name="Title 1">
            <a:extLst>
              <a:ext uri="{FF2B5EF4-FFF2-40B4-BE49-F238E27FC236}">
                <a16:creationId xmlns:a16="http://schemas.microsoft.com/office/drawing/2014/main" id="{C29462B7-A495-4CAA-B007-3F4A85165AE4}"/>
              </a:ext>
            </a:extLst>
          </p:cNvPr>
          <p:cNvSpPr txBox="1">
            <a:spLocks/>
          </p:cNvSpPr>
          <p:nvPr/>
        </p:nvSpPr>
        <p:spPr>
          <a:xfrm>
            <a:off x="290920" y="17799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6" name="Straight Connector 5">
            <a:extLst>
              <a:ext uri="{FF2B5EF4-FFF2-40B4-BE49-F238E27FC236}">
                <a16:creationId xmlns:a16="http://schemas.microsoft.com/office/drawing/2014/main" id="{0B5BDE92-44DC-496D-9C3C-CE78AFB5389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C4729CB-A480-4867-A7BE-14882A75FBC3}"/>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1211819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showing title "/>
          <p:cNvPicPr>
            <a:picLocks noChangeAspect="1" noChangeArrowheads="1"/>
          </p:cNvPicPr>
          <p:nvPr/>
        </p:nvPicPr>
        <p:blipFill>
          <a:blip r:embed="rId2" cstate="print"/>
          <a:srcRect/>
          <a:stretch>
            <a:fillRect/>
          </a:stretch>
        </p:blipFill>
        <p:spPr bwMode="auto">
          <a:xfrm>
            <a:off x="2194692" y="1818782"/>
            <a:ext cx="4056208" cy="3094012"/>
          </a:xfrm>
          <a:prstGeom prst="rect">
            <a:avLst/>
          </a:prstGeom>
          <a:noFill/>
          <a:ln w="9525">
            <a:solidFill>
              <a:schemeClr val="tx1"/>
            </a:solidFill>
            <a:miter lim="800000"/>
            <a:headEnd/>
            <a:tailEnd/>
          </a:ln>
        </p:spPr>
      </p:pic>
      <p:sp>
        <p:nvSpPr>
          <p:cNvPr id="54275" name="Rectangle 3"/>
          <p:cNvSpPr>
            <a:spLocks noGrp="1" noChangeArrowheads="1"/>
          </p:cNvSpPr>
          <p:nvPr>
            <p:ph idx="1"/>
          </p:nvPr>
        </p:nvSpPr>
        <p:spPr>
          <a:xfrm>
            <a:off x="97744" y="957484"/>
            <a:ext cx="8000999" cy="800098"/>
          </a:xfrm>
        </p:spPr>
        <p:txBody>
          <a:bodyPr>
            <a:normAutofit/>
          </a:bodyPr>
          <a:lstStyle/>
          <a:p>
            <a:pPr>
              <a:buFont typeface="Courier New" panose="02070309020205020404" pitchFamily="49" charset="0"/>
              <a:buChar char="o"/>
            </a:pPr>
            <a:r>
              <a:rPr lang="en-US" sz="1800" dirty="0"/>
              <a:t>Use a subtle mask behind the title and subtitle </a:t>
            </a:r>
            <a:r>
              <a:rPr lang="en-US" sz="1800" i="1" dirty="0"/>
              <a:t>only</a:t>
            </a:r>
            <a:r>
              <a:rPr lang="en-US" sz="1800" dirty="0"/>
              <a:t> if it is necessary to cover the underlying mapped area to improve legibility </a:t>
            </a:r>
          </a:p>
        </p:txBody>
      </p:sp>
      <p:sp>
        <p:nvSpPr>
          <p:cNvPr id="2" name="Slide Number Placeholder 1">
            <a:extLst>
              <a:ext uri="{FF2B5EF4-FFF2-40B4-BE49-F238E27FC236}">
                <a16:creationId xmlns:a16="http://schemas.microsoft.com/office/drawing/2014/main" id="{233060CB-C993-43E7-8D3E-B3EB2FC2EDD7}"/>
              </a:ext>
            </a:extLst>
          </p:cNvPr>
          <p:cNvSpPr>
            <a:spLocks noGrp="1"/>
          </p:cNvSpPr>
          <p:nvPr>
            <p:ph type="sldNum" sz="quarter" idx="12"/>
          </p:nvPr>
        </p:nvSpPr>
        <p:spPr/>
        <p:txBody>
          <a:bodyPr/>
          <a:lstStyle/>
          <a:p>
            <a:fld id="{127DDC20-79C9-9647-820E-6D40A3D210C3}" type="slidenum">
              <a:rPr lang="en-US" smtClean="0"/>
              <a:pPr/>
              <a:t>36</a:t>
            </a:fld>
            <a:endParaRPr lang="en-US"/>
          </a:p>
        </p:txBody>
      </p:sp>
      <p:sp>
        <p:nvSpPr>
          <p:cNvPr id="5" name="Title 1">
            <a:extLst>
              <a:ext uri="{FF2B5EF4-FFF2-40B4-BE49-F238E27FC236}">
                <a16:creationId xmlns:a16="http://schemas.microsoft.com/office/drawing/2014/main" id="{794C1703-83DC-46F3-868B-540D5CFC2B3D}"/>
              </a:ext>
            </a:extLst>
          </p:cNvPr>
          <p:cNvSpPr txBox="1">
            <a:spLocks/>
          </p:cNvSpPr>
          <p:nvPr/>
        </p:nvSpPr>
        <p:spPr>
          <a:xfrm>
            <a:off x="268434"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6" name="Straight Connector 5">
            <a:extLst>
              <a:ext uri="{FF2B5EF4-FFF2-40B4-BE49-F238E27FC236}">
                <a16:creationId xmlns:a16="http://schemas.microsoft.com/office/drawing/2014/main" id="{97537838-2518-457F-83EF-9F124EA514F1}"/>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204538" y="1255822"/>
            <a:ext cx="7894206" cy="2631856"/>
          </a:xfrm>
        </p:spPr>
        <p:txBody>
          <a:bodyPr>
            <a:normAutofit/>
          </a:bodyPr>
          <a:lstStyle/>
          <a:p>
            <a:pPr>
              <a:buFont typeface="Courier New" panose="02070309020205020404" pitchFamily="49" charset="0"/>
              <a:buChar char="o"/>
            </a:pPr>
            <a:r>
              <a:rPr lang="en-US" sz="2400" dirty="0"/>
              <a:t>If possible, place the title at top-center, </a:t>
            </a:r>
          </a:p>
          <a:p>
            <a:pPr>
              <a:buFont typeface="Courier New" panose="02070309020205020404" pitchFamily="49" charset="0"/>
              <a:buChar char="o"/>
            </a:pPr>
            <a:r>
              <a:rPr lang="en-US" sz="2400" dirty="0"/>
              <a:t>The title should normally be the largest type on a thematic map – subtitle smaller</a:t>
            </a:r>
          </a:p>
          <a:p>
            <a:pPr>
              <a:buFont typeface="Courier New" panose="02070309020205020404" pitchFamily="49" charset="0"/>
              <a:buChar char="o"/>
            </a:pPr>
            <a:r>
              <a:rPr lang="en-US" sz="2400" dirty="0"/>
              <a:t>Both the title and subtitle should be short and to the point (limited to one line each)</a:t>
            </a:r>
          </a:p>
          <a:p>
            <a:pPr marL="681514" lvl="1" indent="-411480"/>
            <a:endParaRPr lang="en-US" dirty="0"/>
          </a:p>
        </p:txBody>
      </p:sp>
      <p:sp>
        <p:nvSpPr>
          <p:cNvPr id="3" name="Slide Number Placeholder 2">
            <a:extLst>
              <a:ext uri="{FF2B5EF4-FFF2-40B4-BE49-F238E27FC236}">
                <a16:creationId xmlns:a16="http://schemas.microsoft.com/office/drawing/2014/main" id="{075840E2-98F2-4745-AF55-E0374045A5C7}"/>
              </a:ext>
            </a:extLst>
          </p:cNvPr>
          <p:cNvSpPr>
            <a:spLocks noGrp="1"/>
          </p:cNvSpPr>
          <p:nvPr>
            <p:ph type="sldNum" sz="quarter" idx="12"/>
          </p:nvPr>
        </p:nvSpPr>
        <p:spPr/>
        <p:txBody>
          <a:bodyPr/>
          <a:lstStyle/>
          <a:p>
            <a:fld id="{127DDC20-79C9-9647-820E-6D40A3D210C3}" type="slidenum">
              <a:rPr lang="en-US" smtClean="0"/>
              <a:pPr/>
              <a:t>37</a:t>
            </a:fld>
            <a:endParaRPr lang="en-US"/>
          </a:p>
        </p:txBody>
      </p:sp>
      <p:sp>
        <p:nvSpPr>
          <p:cNvPr id="4" name="Title 1">
            <a:extLst>
              <a:ext uri="{FF2B5EF4-FFF2-40B4-BE49-F238E27FC236}">
                <a16:creationId xmlns:a16="http://schemas.microsoft.com/office/drawing/2014/main" id="{CA180E56-CCF6-4951-AD75-7B43C93F6126}"/>
              </a:ext>
            </a:extLst>
          </p:cNvPr>
          <p:cNvSpPr txBox="1">
            <a:spLocks/>
          </p:cNvSpPr>
          <p:nvPr/>
        </p:nvSpPr>
        <p:spPr>
          <a:xfrm>
            <a:off x="204538" y="14600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Title with Subtitle</a:t>
            </a:r>
          </a:p>
        </p:txBody>
      </p:sp>
      <p:cxnSp>
        <p:nvCxnSpPr>
          <p:cNvPr id="5" name="Straight Connector 4">
            <a:extLst>
              <a:ext uri="{FF2B5EF4-FFF2-40B4-BE49-F238E27FC236}">
                <a16:creationId xmlns:a16="http://schemas.microsoft.com/office/drawing/2014/main" id="{E71D5279-6BE9-4D79-B098-ACC84DCEEF42}"/>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29462B7-A495-4CAA-B007-3F4A85165AE4}"/>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endParaRPr lang="en-US" sz="2600" dirty="0">
              <a:solidFill>
                <a:srgbClr val="7030A0"/>
              </a:solidFill>
            </a:endParaRPr>
          </a:p>
        </p:txBody>
      </p:sp>
      <p:cxnSp>
        <p:nvCxnSpPr>
          <p:cNvPr id="6" name="Straight Connector 5">
            <a:extLst>
              <a:ext uri="{FF2B5EF4-FFF2-40B4-BE49-F238E27FC236}">
                <a16:creationId xmlns:a16="http://schemas.microsoft.com/office/drawing/2014/main" id="{0B5BDE92-44DC-496D-9C3C-CE78AFB53890}"/>
              </a:ext>
            </a:extLst>
          </p:cNvPr>
          <p:cNvCxnSpPr/>
          <p:nvPr/>
        </p:nvCxnSpPr>
        <p:spPr>
          <a:xfrm>
            <a:off x="97744" y="900332"/>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F94CF86-5402-4D14-8DBA-9363AED1AFE4}"/>
              </a:ext>
            </a:extLst>
          </p:cNvPr>
          <p:cNvSpPr>
            <a:spLocks noGrp="1"/>
          </p:cNvSpPr>
          <p:nvPr>
            <p:ph type="sldNum" sz="quarter" idx="12"/>
          </p:nvPr>
        </p:nvSpPr>
        <p:spPr/>
        <p:txBody>
          <a:bodyPr/>
          <a:lstStyle/>
          <a:p>
            <a:fld id="{127DDC20-79C9-9647-820E-6D40A3D210C3}" type="slidenum">
              <a:rPr lang="en-US" smtClean="0"/>
              <a:pPr/>
              <a:t>38</a:t>
            </a:fld>
            <a:endParaRPr lang="en-US"/>
          </a:p>
        </p:txBody>
      </p:sp>
      <p:pic>
        <p:nvPicPr>
          <p:cNvPr id="4" name="Picture 3" descr="Image showing title location">
            <a:extLst>
              <a:ext uri="{FF2B5EF4-FFF2-40B4-BE49-F238E27FC236}">
                <a16:creationId xmlns:a16="http://schemas.microsoft.com/office/drawing/2014/main" id="{1D05451D-2CC5-D092-43E7-D1FAF7AD4048}"/>
              </a:ext>
            </a:extLst>
          </p:cNvPr>
          <p:cNvPicPr>
            <a:picLocks noChangeAspect="1"/>
          </p:cNvPicPr>
          <p:nvPr/>
        </p:nvPicPr>
        <p:blipFill>
          <a:blip r:embed="rId2"/>
          <a:stretch>
            <a:fillRect/>
          </a:stretch>
        </p:blipFill>
        <p:spPr>
          <a:xfrm>
            <a:off x="628231" y="1372102"/>
            <a:ext cx="6736516" cy="2921511"/>
          </a:xfrm>
          <a:prstGeom prst="rect">
            <a:avLst/>
          </a:prstGeom>
        </p:spPr>
      </p:pic>
      <p:sp>
        <p:nvSpPr>
          <p:cNvPr id="3" name="Title 1">
            <a:extLst>
              <a:ext uri="{FF2B5EF4-FFF2-40B4-BE49-F238E27FC236}">
                <a16:creationId xmlns:a16="http://schemas.microsoft.com/office/drawing/2014/main" id="{3DBBE736-FE93-1F5E-6C96-F31F123F6257}"/>
              </a:ext>
            </a:extLst>
          </p:cNvPr>
          <p:cNvSpPr txBox="1">
            <a:spLocks/>
          </p:cNvSpPr>
          <p:nvPr/>
        </p:nvSpPr>
        <p:spPr>
          <a:xfrm>
            <a:off x="238455" y="12606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a:t>
            </a:r>
            <a:endParaRPr lang="en-US" sz="2600" dirty="0">
              <a:solidFill>
                <a:srgbClr val="7030A0"/>
              </a:solidFill>
            </a:endParaRPr>
          </a:p>
        </p:txBody>
      </p:sp>
    </p:spTree>
    <p:extLst>
      <p:ext uri="{BB962C8B-B14F-4D97-AF65-F5344CB8AC3E}">
        <p14:creationId xmlns:p14="http://schemas.microsoft.com/office/powerpoint/2010/main" val="1351608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800E6-E63A-BDEB-346A-A3706444D9B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D2E52E-6332-411A-EEB3-7D9ACB786A37}"/>
              </a:ext>
            </a:extLst>
          </p:cNvPr>
          <p:cNvSpPr>
            <a:spLocks noGrp="1"/>
          </p:cNvSpPr>
          <p:nvPr>
            <p:ph idx="1"/>
          </p:nvPr>
        </p:nvSpPr>
        <p:spPr>
          <a:xfrm>
            <a:off x="392305" y="1313439"/>
            <a:ext cx="7444990" cy="605140"/>
          </a:xfrm>
        </p:spPr>
        <p:txBody>
          <a:bodyPr>
            <a:normAutofit/>
          </a:bodyPr>
          <a:lstStyle/>
          <a:p>
            <a:r>
              <a:rPr lang="en-US" altLang="zh-CN" sz="1800" dirty="0"/>
              <a:t>Title: Total Population in Arkansas, 2010</a:t>
            </a:r>
          </a:p>
        </p:txBody>
      </p:sp>
      <p:sp>
        <p:nvSpPr>
          <p:cNvPr id="4" name="Slide Number Placeholder 3">
            <a:extLst>
              <a:ext uri="{FF2B5EF4-FFF2-40B4-BE49-F238E27FC236}">
                <a16:creationId xmlns:a16="http://schemas.microsoft.com/office/drawing/2014/main" id="{9AFCBC31-24CB-53BD-42B5-2B33B6AA787A}"/>
              </a:ext>
            </a:extLst>
          </p:cNvPr>
          <p:cNvSpPr>
            <a:spLocks noGrp="1"/>
          </p:cNvSpPr>
          <p:nvPr>
            <p:ph type="sldNum" sz="quarter" idx="12"/>
          </p:nvPr>
        </p:nvSpPr>
        <p:spPr/>
        <p:txBody>
          <a:bodyPr/>
          <a:lstStyle/>
          <a:p>
            <a:fld id="{127DDC20-79C9-9647-820E-6D40A3D210C3}" type="slidenum">
              <a:rPr lang="en-US" smtClean="0"/>
              <a:pPr/>
              <a:t>39</a:t>
            </a:fld>
            <a:endParaRPr lang="en-US"/>
          </a:p>
        </p:txBody>
      </p:sp>
      <p:sp>
        <p:nvSpPr>
          <p:cNvPr id="5" name="Title 1">
            <a:extLst>
              <a:ext uri="{FF2B5EF4-FFF2-40B4-BE49-F238E27FC236}">
                <a16:creationId xmlns:a16="http://schemas.microsoft.com/office/drawing/2014/main" id="{9557C2E8-0432-7D67-1F48-C2CCB124F597}"/>
              </a:ext>
            </a:extLst>
          </p:cNvPr>
          <p:cNvSpPr txBox="1">
            <a:spLocks/>
          </p:cNvSpPr>
          <p:nvPr/>
        </p:nvSpPr>
        <p:spPr>
          <a:xfrm>
            <a:off x="392305" y="526617"/>
            <a:ext cx="7444991" cy="605140"/>
          </a:xfrm>
          <a:prstGeom prst="rect">
            <a:avLst/>
          </a:prstGeom>
        </p:spPr>
        <p:txBody>
          <a:bodyPr vert="horz" lIns="91440" tIns="45720" rIns="91440" bIns="45720" rtlCol="0" anchor="b">
            <a:norm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411480"/>
            <a:r>
              <a:rPr lang="en-US" altLang="zh-CN" sz="3200" dirty="0">
                <a:solidFill>
                  <a:srgbClr val="7030A0"/>
                </a:solidFill>
              </a:rPr>
              <a:t>Explore title in ArcGIS Pro</a:t>
            </a:r>
            <a:endParaRPr lang="zh-CN" altLang="en-US" sz="3200" dirty="0">
              <a:solidFill>
                <a:srgbClr val="7030A0"/>
              </a:solidFill>
            </a:endParaRPr>
          </a:p>
        </p:txBody>
      </p:sp>
    </p:spTree>
    <p:extLst>
      <p:ext uri="{BB962C8B-B14F-4D97-AF65-F5344CB8AC3E}">
        <p14:creationId xmlns:p14="http://schemas.microsoft.com/office/powerpoint/2010/main" val="2694439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a:xfrm>
            <a:off x="264695" y="1171107"/>
            <a:ext cx="7471610" cy="2568939"/>
          </a:xfrm>
        </p:spPr>
        <p:txBody>
          <a:bodyPr>
            <a:normAutofit/>
          </a:bodyPr>
          <a:lstStyle/>
          <a:p>
            <a:pPr>
              <a:buFont typeface="Courier New" panose="02070309020205020404" pitchFamily="49" charset="0"/>
              <a:buChar char="o"/>
            </a:pPr>
            <a:r>
              <a:rPr lang="en-US" sz="1800" dirty="0"/>
              <a:t>The style of the legend should be clear and straightforward</a:t>
            </a:r>
          </a:p>
          <a:p>
            <a:pPr marL="765810" lvl="1" indent="-457200">
              <a:buFont typeface="Wingdings" panose="05000000000000000000" pitchFamily="2" charset="2"/>
              <a:buChar char="ü"/>
            </a:pPr>
            <a:r>
              <a:rPr lang="en-US" sz="1800" dirty="0"/>
              <a:t>Use a subtle mask around the legend only if necessary to improve legibility</a:t>
            </a:r>
          </a:p>
          <a:p>
            <a:pPr>
              <a:buFont typeface="Courier New" panose="02070309020205020404" pitchFamily="49" charset="0"/>
              <a:buChar char="o"/>
            </a:pPr>
            <a:r>
              <a:rPr lang="en-US" sz="1800" dirty="0"/>
              <a:t>Symbols in the legend should be </a:t>
            </a:r>
            <a:r>
              <a:rPr lang="en-US" sz="1800" i="1" dirty="0"/>
              <a:t>identical</a:t>
            </a:r>
            <a:r>
              <a:rPr lang="en-US" sz="1800" dirty="0"/>
              <a:t> to those on the mapped area</a:t>
            </a:r>
          </a:p>
          <a:p>
            <a:pPr marL="765810" lvl="1" indent="-457200">
              <a:buFont typeface="Wingdings" panose="05000000000000000000" pitchFamily="2" charset="2"/>
              <a:buChar char="ü"/>
            </a:pPr>
            <a:r>
              <a:rPr lang="en-US" sz="1800" dirty="0"/>
              <a:t>This includes color and orientation</a:t>
            </a:r>
          </a:p>
          <a:p>
            <a:pPr>
              <a:buFont typeface="Courier New" panose="02070309020205020404" pitchFamily="49" charset="0"/>
              <a:buChar char="o"/>
            </a:pPr>
            <a:r>
              <a:rPr lang="en-US" sz="1800" dirty="0"/>
              <a:t>Don’t include the word “Legend”!</a:t>
            </a:r>
          </a:p>
        </p:txBody>
      </p:sp>
      <p:sp>
        <p:nvSpPr>
          <p:cNvPr id="2" name="Slide Number Placeholder 1">
            <a:extLst>
              <a:ext uri="{FF2B5EF4-FFF2-40B4-BE49-F238E27FC236}">
                <a16:creationId xmlns:a16="http://schemas.microsoft.com/office/drawing/2014/main" id="{0FB47C73-BE05-4538-94D7-E9C881A32586}"/>
              </a:ext>
            </a:extLst>
          </p:cNvPr>
          <p:cNvSpPr>
            <a:spLocks noGrp="1"/>
          </p:cNvSpPr>
          <p:nvPr>
            <p:ph type="sldNum" sz="quarter" idx="12"/>
          </p:nvPr>
        </p:nvSpPr>
        <p:spPr/>
        <p:txBody>
          <a:bodyPr/>
          <a:lstStyle/>
          <a:p>
            <a:fld id="{127DDC20-79C9-9647-820E-6D40A3D210C3}" type="slidenum">
              <a:rPr lang="en-US" smtClean="0"/>
              <a:pPr/>
              <a:t>40</a:t>
            </a:fld>
            <a:endParaRPr lang="en-US"/>
          </a:p>
        </p:txBody>
      </p:sp>
      <p:cxnSp>
        <p:nvCxnSpPr>
          <p:cNvPr id="3" name="Straight Connector 2">
            <a:extLst>
              <a:ext uri="{FF2B5EF4-FFF2-40B4-BE49-F238E27FC236}">
                <a16:creationId xmlns:a16="http://schemas.microsoft.com/office/drawing/2014/main" id="{AEA9B43E-379E-413C-BA2B-9EFC7E680DF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AB652CB0-DBDF-4415-8C05-417C64B3B3CF}"/>
              </a:ext>
            </a:extLst>
          </p:cNvPr>
          <p:cNvSpPr txBox="1">
            <a:spLocks/>
          </p:cNvSpPr>
          <p:nvPr/>
        </p:nvSpPr>
        <p:spPr>
          <a:xfrm>
            <a:off x="264695" y="11855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showing legend"/>
          <p:cNvPicPr>
            <a:picLocks noChangeAspect="1" noChangeArrowheads="1"/>
          </p:cNvPicPr>
          <p:nvPr/>
        </p:nvPicPr>
        <p:blipFill>
          <a:blip r:embed="rId2" cstate="print"/>
          <a:srcRect t="20832" r="11942"/>
          <a:stretch>
            <a:fillRect/>
          </a:stretch>
        </p:blipFill>
        <p:spPr bwMode="auto">
          <a:xfrm>
            <a:off x="1191578" y="987547"/>
            <a:ext cx="5846445" cy="3877667"/>
          </a:xfrm>
          <a:prstGeom prst="rect">
            <a:avLst/>
          </a:prstGeom>
          <a:noFill/>
          <a:ln w="9525">
            <a:solidFill>
              <a:schemeClr val="tx1"/>
            </a:solidFill>
            <a:miter lim="800000"/>
            <a:headEnd/>
            <a:tailEnd/>
          </a:ln>
        </p:spPr>
      </p:pic>
      <p:cxnSp>
        <p:nvCxnSpPr>
          <p:cNvPr id="4" name="Straight Connector 3">
            <a:extLst>
              <a:ext uri="{FF2B5EF4-FFF2-40B4-BE49-F238E27FC236}">
                <a16:creationId xmlns:a16="http://schemas.microsoft.com/office/drawing/2014/main" id="{90FC3465-AE5E-40AD-B413-E75385D409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7FB43CB0-60B4-45D7-B361-A9517BBABC86}"/>
              </a:ext>
            </a:extLst>
          </p:cNvPr>
          <p:cNvSpPr txBox="1">
            <a:spLocks/>
          </p:cNvSpPr>
          <p:nvPr/>
        </p:nvSpPr>
        <p:spPr>
          <a:xfrm>
            <a:off x="260939" y="13029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2" name="Slide Number Placeholder 1">
            <a:extLst>
              <a:ext uri="{FF2B5EF4-FFF2-40B4-BE49-F238E27FC236}">
                <a16:creationId xmlns:a16="http://schemas.microsoft.com/office/drawing/2014/main" id="{445DCFC8-8418-456D-A982-F3DF9DCE470B}"/>
              </a:ext>
            </a:extLst>
          </p:cNvPr>
          <p:cNvSpPr>
            <a:spLocks noGrp="1"/>
          </p:cNvSpPr>
          <p:nvPr>
            <p:ph type="sldNum" sz="quarter" idx="12"/>
          </p:nvPr>
        </p:nvSpPr>
        <p:spPr/>
        <p:txBody>
          <a:bodyPr/>
          <a:lstStyle/>
          <a:p>
            <a:fld id="{127DDC20-79C9-9647-820E-6D40A3D210C3}"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6" descr="Image showing legend"/>
          <p:cNvPicPr>
            <a:picLocks noChangeAspect="1" noChangeArrowheads="1"/>
          </p:cNvPicPr>
          <p:nvPr/>
        </p:nvPicPr>
        <p:blipFill>
          <a:blip r:embed="rId2" cstate="print"/>
          <a:srcRect/>
          <a:stretch>
            <a:fillRect/>
          </a:stretch>
        </p:blipFill>
        <p:spPr bwMode="auto">
          <a:xfrm>
            <a:off x="4628501" y="1484194"/>
            <a:ext cx="3529132" cy="1194611"/>
          </a:xfrm>
          <a:prstGeom prst="rect">
            <a:avLst/>
          </a:prstGeom>
          <a:noFill/>
          <a:ln w="9525" algn="ctr">
            <a:solidFill>
              <a:schemeClr val="tx1"/>
            </a:solidFill>
            <a:miter lim="800000"/>
            <a:headEnd/>
            <a:tailEnd/>
          </a:ln>
        </p:spPr>
      </p:pic>
      <p:sp>
        <p:nvSpPr>
          <p:cNvPr id="63492" name="Rectangle 3"/>
          <p:cNvSpPr>
            <a:spLocks noGrp="1" noChangeArrowheads="1"/>
          </p:cNvSpPr>
          <p:nvPr>
            <p:ph idx="1"/>
          </p:nvPr>
        </p:nvSpPr>
        <p:spPr>
          <a:xfrm>
            <a:off x="13905" y="1150032"/>
            <a:ext cx="4505629" cy="3741896"/>
          </a:xfrm>
        </p:spPr>
        <p:txBody>
          <a:bodyPr>
            <a:normAutofit/>
          </a:bodyPr>
          <a:lstStyle/>
          <a:p>
            <a:pPr>
              <a:buFont typeface="Courier New" panose="02070309020205020404" pitchFamily="49" charset="0"/>
              <a:buChar char="o"/>
            </a:pPr>
            <a:r>
              <a:rPr lang="en-US" sz="1600" dirty="0"/>
              <a:t>Representative symbols should be placed on the left and defined to the right</a:t>
            </a:r>
          </a:p>
          <a:p>
            <a:pPr>
              <a:buFont typeface="Courier New" panose="02070309020205020404" pitchFamily="49" charset="0"/>
              <a:buChar char="o"/>
            </a:pPr>
            <a:r>
              <a:rPr lang="en-US" sz="1600" dirty="0"/>
              <a:t>Symbols should be vertically centered with their definitions </a:t>
            </a:r>
          </a:p>
          <a:p>
            <a:pPr>
              <a:buFont typeface="Courier New" panose="02070309020205020404" pitchFamily="49" charset="0"/>
              <a:buChar char="o"/>
            </a:pPr>
            <a:r>
              <a:rPr lang="en-US" sz="1600" dirty="0"/>
              <a:t>Textual definitions and definitions consisting of individual numbers should be horizontally aligned to left</a:t>
            </a:r>
          </a:p>
          <a:p>
            <a:pPr marL="0" indent="0">
              <a:buNone/>
            </a:pPr>
            <a:r>
              <a:rPr lang="en-US" sz="1600" dirty="0"/>
              <a:t> </a:t>
            </a:r>
          </a:p>
          <a:p>
            <a:pPr marL="411480" indent="-411480"/>
            <a:endParaRPr lang="en-US" sz="1600" dirty="0"/>
          </a:p>
        </p:txBody>
      </p:sp>
      <p:sp>
        <p:nvSpPr>
          <p:cNvPr id="2" name="Slide Number Placeholder 1">
            <a:extLst>
              <a:ext uri="{FF2B5EF4-FFF2-40B4-BE49-F238E27FC236}">
                <a16:creationId xmlns:a16="http://schemas.microsoft.com/office/drawing/2014/main" id="{706BFF7E-7482-463B-A12E-08FEC3593452}"/>
              </a:ext>
            </a:extLst>
          </p:cNvPr>
          <p:cNvSpPr>
            <a:spLocks noGrp="1"/>
          </p:cNvSpPr>
          <p:nvPr>
            <p:ph type="sldNum" sz="quarter" idx="12"/>
          </p:nvPr>
        </p:nvSpPr>
        <p:spPr/>
        <p:txBody>
          <a:bodyPr/>
          <a:lstStyle/>
          <a:p>
            <a:fld id="{127DDC20-79C9-9647-820E-6D40A3D210C3}" type="slidenum">
              <a:rPr lang="en-US" smtClean="0"/>
              <a:pPr/>
              <a:t>42</a:t>
            </a:fld>
            <a:endParaRPr lang="en-US"/>
          </a:p>
        </p:txBody>
      </p:sp>
      <p:pic>
        <p:nvPicPr>
          <p:cNvPr id="6" name="Picture 5" descr="Image showing legend"/>
          <p:cNvPicPr>
            <a:picLocks noChangeAspect="1" noChangeArrowheads="1"/>
          </p:cNvPicPr>
          <p:nvPr/>
        </p:nvPicPr>
        <p:blipFill>
          <a:blip r:embed="rId3" cstate="print"/>
          <a:srcRect/>
          <a:stretch>
            <a:fillRect/>
          </a:stretch>
        </p:blipFill>
        <p:spPr bwMode="auto">
          <a:xfrm>
            <a:off x="4703452" y="3183804"/>
            <a:ext cx="2939844" cy="1472489"/>
          </a:xfrm>
          <a:prstGeom prst="rect">
            <a:avLst/>
          </a:prstGeom>
          <a:noFill/>
          <a:ln w="9525">
            <a:solidFill>
              <a:schemeClr val="tx1"/>
            </a:solidFill>
            <a:miter lim="800000"/>
            <a:headEnd/>
            <a:tailEnd/>
          </a:ln>
        </p:spPr>
      </p:pic>
      <p:cxnSp>
        <p:nvCxnSpPr>
          <p:cNvPr id="5" name="Straight Connector 4">
            <a:extLst>
              <a:ext uri="{FF2B5EF4-FFF2-40B4-BE49-F238E27FC236}">
                <a16:creationId xmlns:a16="http://schemas.microsoft.com/office/drawing/2014/main" id="{21116FAE-883E-403E-8D82-753DB3137BCE}"/>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1294233-E71F-4F80-9149-D92C046025C8}"/>
              </a:ext>
            </a:extLst>
          </p:cNvPr>
          <p:cNvSpPr txBox="1">
            <a:spLocks/>
          </p:cNvSpPr>
          <p:nvPr/>
        </p:nvSpPr>
        <p:spPr>
          <a:xfrm>
            <a:off x="238454" y="1409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1"/>
          </p:nvPr>
        </p:nvSpPr>
        <p:spPr>
          <a:xfrm>
            <a:off x="156632" y="1046747"/>
            <a:ext cx="8000999" cy="1074360"/>
          </a:xfrm>
        </p:spPr>
        <p:txBody>
          <a:bodyPr>
            <a:normAutofit/>
          </a:bodyPr>
          <a:lstStyle/>
          <a:p>
            <a:pPr>
              <a:buFont typeface="Courier New" panose="02070309020205020404" pitchFamily="49" charset="0"/>
              <a:buChar char="o"/>
            </a:pPr>
            <a:r>
              <a:rPr lang="en-US" sz="1800" dirty="0"/>
              <a:t>Definitions containing numbers of 1,000 or greater should incorporate commas</a:t>
            </a:r>
          </a:p>
          <a:p>
            <a:pPr>
              <a:buFont typeface="Courier New" panose="02070309020205020404" pitchFamily="49" charset="0"/>
              <a:buChar char="o"/>
            </a:pPr>
            <a:r>
              <a:rPr lang="en-US" sz="1800" dirty="0"/>
              <a:t>Decimal numbers smaller than one should incorporate a leading zero </a:t>
            </a:r>
          </a:p>
        </p:txBody>
      </p:sp>
      <p:sp>
        <p:nvSpPr>
          <p:cNvPr id="2" name="Slide Number Placeholder 1">
            <a:extLst>
              <a:ext uri="{FF2B5EF4-FFF2-40B4-BE49-F238E27FC236}">
                <a16:creationId xmlns:a16="http://schemas.microsoft.com/office/drawing/2014/main" id="{857E71E2-67F7-40D2-9223-15DB2C1ECE43}"/>
              </a:ext>
            </a:extLst>
          </p:cNvPr>
          <p:cNvSpPr>
            <a:spLocks noGrp="1"/>
          </p:cNvSpPr>
          <p:nvPr>
            <p:ph type="sldNum" sz="quarter" idx="12"/>
          </p:nvPr>
        </p:nvSpPr>
        <p:spPr/>
        <p:txBody>
          <a:bodyPr/>
          <a:lstStyle/>
          <a:p>
            <a:fld id="{127DDC20-79C9-9647-820E-6D40A3D210C3}" type="slidenum">
              <a:rPr lang="en-US" smtClean="0"/>
              <a:pPr/>
              <a:t>43</a:t>
            </a:fld>
            <a:endParaRPr lang="en-US"/>
          </a:p>
        </p:txBody>
      </p:sp>
      <p:pic>
        <p:nvPicPr>
          <p:cNvPr id="66564" name="Picture 5" descr="Image showing legend"/>
          <p:cNvPicPr>
            <a:picLocks noChangeAspect="1" noChangeArrowheads="1"/>
          </p:cNvPicPr>
          <p:nvPr/>
        </p:nvPicPr>
        <p:blipFill>
          <a:blip r:embed="rId2" cstate="print"/>
          <a:srcRect l="41603" t="1944" b="3889"/>
          <a:stretch>
            <a:fillRect/>
          </a:stretch>
        </p:blipFill>
        <p:spPr bwMode="auto">
          <a:xfrm>
            <a:off x="2624256" y="2445174"/>
            <a:ext cx="2981087" cy="1453039"/>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8D0669DF-DAF6-413D-906B-0553EA34BCCD}"/>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D1339C9D-10EF-4E53-8E34-82C99D705219}"/>
              </a:ext>
            </a:extLst>
          </p:cNvPr>
          <p:cNvSpPr txBox="1">
            <a:spLocks/>
          </p:cNvSpPr>
          <p:nvPr/>
        </p:nvSpPr>
        <p:spPr>
          <a:xfrm>
            <a:off x="305910" y="1401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6" descr="Image showing legend"/>
          <p:cNvPicPr>
            <a:picLocks noChangeAspect="1" noChangeArrowheads="1"/>
          </p:cNvPicPr>
          <p:nvPr/>
        </p:nvPicPr>
        <p:blipFill>
          <a:blip r:embed="rId2" cstate="print"/>
          <a:srcRect/>
          <a:stretch>
            <a:fillRect/>
          </a:stretch>
        </p:blipFill>
        <p:spPr bwMode="auto">
          <a:xfrm>
            <a:off x="785370" y="2754578"/>
            <a:ext cx="2780638" cy="1712586"/>
          </a:xfrm>
          <a:prstGeom prst="rect">
            <a:avLst/>
          </a:prstGeom>
          <a:noFill/>
          <a:ln w="9525" algn="ctr">
            <a:solidFill>
              <a:schemeClr val="tx1"/>
            </a:solidFill>
            <a:miter lim="800000"/>
            <a:headEnd/>
            <a:tailEnd/>
          </a:ln>
        </p:spPr>
      </p:pic>
      <p:sp>
        <p:nvSpPr>
          <p:cNvPr id="68612" name="Rectangle 3"/>
          <p:cNvSpPr>
            <a:spLocks noGrp="1" noChangeArrowheads="1"/>
          </p:cNvSpPr>
          <p:nvPr>
            <p:ph idx="1"/>
          </p:nvPr>
        </p:nvSpPr>
        <p:spPr>
          <a:xfrm>
            <a:off x="156633" y="1028700"/>
            <a:ext cx="7900580" cy="1279785"/>
          </a:xfrm>
        </p:spPr>
        <p:txBody>
          <a:bodyPr>
            <a:noAutofit/>
          </a:bodyPr>
          <a:lstStyle/>
          <a:p>
            <a:pPr>
              <a:buFont typeface="Courier New" panose="02070309020205020404" pitchFamily="49" charset="0"/>
              <a:buChar char="o"/>
            </a:pPr>
            <a:r>
              <a:rPr lang="en-US" sz="1800" dirty="0"/>
              <a:t>The legend can be oriented horizontally</a:t>
            </a:r>
          </a:p>
          <a:p>
            <a:pPr marL="765810" lvl="1" indent="-457200">
              <a:buFont typeface="Wingdings" panose="05000000000000000000" pitchFamily="2" charset="2"/>
              <a:buChar char="ü"/>
            </a:pPr>
            <a:r>
              <a:rPr lang="en-US" sz="1800" dirty="0"/>
              <a:t>Definitions are horizontally centered below the symbols they represent</a:t>
            </a:r>
          </a:p>
          <a:p>
            <a:pPr marL="765810" lvl="1" indent="-457200">
              <a:buFont typeface="Wingdings" panose="05000000000000000000" pitchFamily="2" charset="2"/>
              <a:buChar char="ü"/>
            </a:pPr>
            <a:r>
              <a:rPr lang="en-US" sz="1800" dirty="0"/>
              <a:t>Symbols are vertically aligned to bottom </a:t>
            </a:r>
          </a:p>
        </p:txBody>
      </p:sp>
      <p:sp>
        <p:nvSpPr>
          <p:cNvPr id="2" name="Slide Number Placeholder 1">
            <a:extLst>
              <a:ext uri="{FF2B5EF4-FFF2-40B4-BE49-F238E27FC236}">
                <a16:creationId xmlns:a16="http://schemas.microsoft.com/office/drawing/2014/main" id="{90EEBFB6-C245-42D2-B874-E3C623FB2F29}"/>
              </a:ext>
            </a:extLst>
          </p:cNvPr>
          <p:cNvSpPr>
            <a:spLocks noGrp="1"/>
          </p:cNvSpPr>
          <p:nvPr>
            <p:ph type="sldNum" sz="quarter" idx="12"/>
          </p:nvPr>
        </p:nvSpPr>
        <p:spPr/>
        <p:txBody>
          <a:bodyPr/>
          <a:lstStyle/>
          <a:p>
            <a:fld id="{127DDC20-79C9-9647-820E-6D40A3D210C3}" type="slidenum">
              <a:rPr lang="en-US" smtClean="0"/>
              <a:pPr/>
              <a:t>44</a:t>
            </a:fld>
            <a:endParaRPr lang="en-US"/>
          </a:p>
        </p:txBody>
      </p:sp>
      <p:pic>
        <p:nvPicPr>
          <p:cNvPr id="68613" name="Picture 7" descr="Image showing legend"/>
          <p:cNvPicPr>
            <a:picLocks noChangeAspect="1" noChangeArrowheads="1"/>
          </p:cNvPicPr>
          <p:nvPr/>
        </p:nvPicPr>
        <p:blipFill>
          <a:blip r:embed="rId3" cstate="print"/>
          <a:srcRect/>
          <a:stretch>
            <a:fillRect/>
          </a:stretch>
        </p:blipFill>
        <p:spPr bwMode="auto">
          <a:xfrm>
            <a:off x="4400992" y="3258351"/>
            <a:ext cx="3043238" cy="609719"/>
          </a:xfrm>
          <a:prstGeom prst="rect">
            <a:avLst/>
          </a:prstGeom>
          <a:noFill/>
          <a:ln w="9525" algn="ctr">
            <a:solidFill>
              <a:schemeClr val="tx1"/>
            </a:solidFill>
            <a:miter lim="800000"/>
            <a:headEnd/>
            <a:tailEnd/>
          </a:ln>
        </p:spPr>
      </p:pic>
      <p:cxnSp>
        <p:nvCxnSpPr>
          <p:cNvPr id="6" name="Straight Connector 5">
            <a:extLst>
              <a:ext uri="{FF2B5EF4-FFF2-40B4-BE49-F238E27FC236}">
                <a16:creationId xmlns:a16="http://schemas.microsoft.com/office/drawing/2014/main" id="{08CCAB68-036C-4F42-A28B-F999DA048F01}"/>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26E59CB-23F7-48FA-AEF8-C3B0ED74D066}"/>
              </a:ext>
            </a:extLst>
          </p:cNvPr>
          <p:cNvSpPr txBox="1">
            <a:spLocks/>
          </p:cNvSpPr>
          <p:nvPr/>
        </p:nvSpPr>
        <p:spPr>
          <a:xfrm>
            <a:off x="260939" y="1887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118533" y="981584"/>
            <a:ext cx="5328881" cy="3560436"/>
          </a:xfrm>
        </p:spPr>
        <p:txBody>
          <a:bodyPr>
            <a:normAutofit/>
          </a:bodyPr>
          <a:lstStyle/>
          <a:p>
            <a:pPr marL="651510" lvl="1" indent="-342900">
              <a:buFont typeface="Wingdings" panose="05000000000000000000" pitchFamily="2" charset="2"/>
              <a:buChar char="ü"/>
            </a:pPr>
            <a:r>
              <a:rPr lang="en-US" sz="2000" dirty="0"/>
              <a:t>Legend rectangles should be connected when representing the magnitude of an attribute</a:t>
            </a:r>
          </a:p>
          <a:p>
            <a:pPr marL="833760" lvl="2" indent="-342900">
              <a:buFont typeface="Wingdings" panose="05000000000000000000" pitchFamily="2" charset="2"/>
              <a:buChar char="ü"/>
            </a:pPr>
            <a:r>
              <a:rPr lang="en-US" altLang="zh-CN" sz="2000" dirty="0"/>
              <a:t>Areal symbols on the mapped area are usually connected</a:t>
            </a:r>
          </a:p>
          <a:p>
            <a:pPr marL="833760" lvl="2" indent="-342900">
              <a:buFont typeface="Wingdings" panose="05000000000000000000" pitchFamily="2" charset="2"/>
              <a:buChar char="ü"/>
            </a:pPr>
            <a:r>
              <a:rPr lang="en-US" altLang="zh-CN" sz="2000" dirty="0"/>
              <a:t>Connected rectangles help to emphasize the idea that a continuum of values is being represented</a:t>
            </a:r>
          </a:p>
          <a:p>
            <a:pPr>
              <a:buFont typeface="Courier New" panose="02070309020205020404" pitchFamily="49" charset="0"/>
              <a:buChar char="o"/>
            </a:pPr>
            <a:endParaRPr lang="en-US" dirty="0"/>
          </a:p>
        </p:txBody>
      </p:sp>
      <p:sp>
        <p:nvSpPr>
          <p:cNvPr id="4" name="Slide Number Placeholder 3">
            <a:extLst>
              <a:ext uri="{FF2B5EF4-FFF2-40B4-BE49-F238E27FC236}">
                <a16:creationId xmlns:a16="http://schemas.microsoft.com/office/drawing/2014/main" id="{2C839351-ECBF-404E-B29E-06BF2F6C9454}"/>
              </a:ext>
            </a:extLst>
          </p:cNvPr>
          <p:cNvSpPr>
            <a:spLocks noGrp="1"/>
          </p:cNvSpPr>
          <p:nvPr>
            <p:ph type="sldNum" sz="quarter" idx="12"/>
          </p:nvPr>
        </p:nvSpPr>
        <p:spPr/>
        <p:txBody>
          <a:bodyPr/>
          <a:lstStyle/>
          <a:p>
            <a:fld id="{127DDC20-79C9-9647-820E-6D40A3D210C3}" type="slidenum">
              <a:rPr lang="en-US" smtClean="0"/>
              <a:pPr/>
              <a:t>45</a:t>
            </a:fld>
            <a:endParaRPr lang="en-US"/>
          </a:p>
        </p:txBody>
      </p:sp>
      <p:pic>
        <p:nvPicPr>
          <p:cNvPr id="69636" name="Picture 7" descr="Image showing legend"/>
          <p:cNvPicPr>
            <a:picLocks noChangeAspect="1" noChangeArrowheads="1"/>
          </p:cNvPicPr>
          <p:nvPr/>
        </p:nvPicPr>
        <p:blipFill>
          <a:blip r:embed="rId2" cstate="print"/>
          <a:srcRect/>
          <a:stretch>
            <a:fillRect/>
          </a:stretch>
        </p:blipFill>
        <p:spPr bwMode="auto">
          <a:xfrm>
            <a:off x="5991589" y="998811"/>
            <a:ext cx="1809869" cy="2048533"/>
          </a:xfrm>
          <a:prstGeom prst="rect">
            <a:avLst/>
          </a:prstGeom>
          <a:noFill/>
          <a:ln w="9525" algn="ctr">
            <a:solidFill>
              <a:schemeClr val="tx1"/>
            </a:solidFill>
            <a:miter lim="800000"/>
            <a:headEnd/>
            <a:tailEnd/>
          </a:ln>
        </p:spPr>
      </p:pic>
      <p:sp>
        <p:nvSpPr>
          <p:cNvPr id="69637" name="Rectangle 8"/>
          <p:cNvSpPr>
            <a:spLocks noChangeArrowheads="1"/>
          </p:cNvSpPr>
          <p:nvPr/>
        </p:nvSpPr>
        <p:spPr bwMode="auto">
          <a:xfrm>
            <a:off x="118533" y="2514200"/>
            <a:ext cx="4848504" cy="2622113"/>
          </a:xfrm>
          <a:prstGeom prst="rect">
            <a:avLst/>
          </a:prstGeom>
          <a:noFill/>
          <a:ln w="9525">
            <a:noFill/>
            <a:miter lim="800000"/>
            <a:headEnd/>
            <a:tailEnd/>
          </a:ln>
        </p:spPr>
        <p:txBody>
          <a:bodyPr/>
          <a:lstStyle/>
          <a:p>
            <a:pPr marL="651510" lvl="1" indent="-342900">
              <a:spcBef>
                <a:spcPct val="20000"/>
              </a:spcBef>
              <a:buFont typeface="Wingdings" panose="05000000000000000000" pitchFamily="2" charset="2"/>
              <a:buChar char="ü"/>
            </a:pPr>
            <a:endParaRPr lang="en-US" sz="1890" dirty="0"/>
          </a:p>
        </p:txBody>
      </p:sp>
      <p:cxnSp>
        <p:nvCxnSpPr>
          <p:cNvPr id="5" name="Straight Connector 4">
            <a:extLst>
              <a:ext uri="{FF2B5EF4-FFF2-40B4-BE49-F238E27FC236}">
                <a16:creationId xmlns:a16="http://schemas.microsoft.com/office/drawing/2014/main" id="{55301286-5225-459F-9F24-894AB108BA96}"/>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A14D2C85-F1D7-4D3B-B998-DD693B888C9C}"/>
              </a:ext>
            </a:extLst>
          </p:cNvPr>
          <p:cNvSpPr txBox="1">
            <a:spLocks/>
          </p:cNvSpPr>
          <p:nvPr/>
        </p:nvSpPr>
        <p:spPr>
          <a:xfrm>
            <a:off x="268434" y="15661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pic>
        <p:nvPicPr>
          <p:cNvPr id="2" name="Picture 6" descr="Image showing legend">
            <a:extLst>
              <a:ext uri="{FF2B5EF4-FFF2-40B4-BE49-F238E27FC236}">
                <a16:creationId xmlns:a16="http://schemas.microsoft.com/office/drawing/2014/main" id="{E3C05D30-213E-4E9B-A742-1BD1E3B489BC}"/>
              </a:ext>
            </a:extLst>
          </p:cNvPr>
          <p:cNvPicPr>
            <a:picLocks noChangeAspect="1" noChangeArrowheads="1"/>
          </p:cNvPicPr>
          <p:nvPr/>
        </p:nvPicPr>
        <p:blipFill>
          <a:blip r:embed="rId3" cstate="print"/>
          <a:srcRect/>
          <a:stretch>
            <a:fillRect/>
          </a:stretch>
        </p:blipFill>
        <p:spPr bwMode="auto">
          <a:xfrm>
            <a:off x="5749413" y="3147678"/>
            <a:ext cx="2212776" cy="1603058"/>
          </a:xfrm>
          <a:prstGeom prst="rect">
            <a:avLst/>
          </a:prstGeom>
          <a:noFill/>
          <a:ln w="9525" algn="ctr">
            <a:solidFill>
              <a:schemeClr val="tx1"/>
            </a:solidFill>
            <a:miter lim="800000"/>
            <a:headEnd/>
            <a:tailEnd/>
          </a:ln>
        </p:spPr>
      </p:pic>
      <p:sp>
        <p:nvSpPr>
          <p:cNvPr id="3" name="Text Box 8">
            <a:extLst>
              <a:ext uri="{FF2B5EF4-FFF2-40B4-BE49-F238E27FC236}">
                <a16:creationId xmlns:a16="http://schemas.microsoft.com/office/drawing/2014/main" id="{20236B7E-0A95-41BF-9746-4FAEDFADA170}"/>
              </a:ext>
            </a:extLst>
          </p:cNvPr>
          <p:cNvSpPr txBox="1">
            <a:spLocks noChangeArrowheads="1"/>
          </p:cNvSpPr>
          <p:nvPr/>
        </p:nvSpPr>
        <p:spPr bwMode="auto">
          <a:xfrm>
            <a:off x="6454319" y="4701029"/>
            <a:ext cx="1809869" cy="300082"/>
          </a:xfrm>
          <a:prstGeom prst="rect">
            <a:avLst/>
          </a:prstGeom>
          <a:noFill/>
          <a:ln w="9525">
            <a:noFill/>
            <a:miter lim="800000"/>
            <a:headEnd/>
            <a:tailEnd/>
          </a:ln>
        </p:spPr>
        <p:txBody>
          <a:bodyPr>
            <a:spAutoFit/>
          </a:bodyPr>
          <a:lstStyle/>
          <a:p>
            <a:pPr>
              <a:spcBef>
                <a:spcPct val="50000"/>
              </a:spcBef>
            </a:pPr>
            <a:r>
              <a:rPr lang="en-US" sz="1350" dirty="0"/>
              <a:t>Inappropriate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9" descr="Image showing legend"/>
          <p:cNvPicPr>
            <a:picLocks noChangeAspect="1" noChangeArrowheads="1"/>
          </p:cNvPicPr>
          <p:nvPr/>
        </p:nvPicPr>
        <p:blipFill>
          <a:blip r:embed="rId2" cstate="print"/>
          <a:srcRect/>
          <a:stretch>
            <a:fillRect/>
          </a:stretch>
        </p:blipFill>
        <p:spPr bwMode="auto">
          <a:xfrm>
            <a:off x="3119061" y="2625033"/>
            <a:ext cx="2256675" cy="2022993"/>
          </a:xfrm>
          <a:prstGeom prst="rect">
            <a:avLst/>
          </a:prstGeom>
          <a:noFill/>
          <a:ln w="9525">
            <a:solidFill>
              <a:schemeClr val="tx1"/>
            </a:solidFill>
            <a:miter lim="800000"/>
            <a:headEnd/>
            <a:tailEnd/>
          </a:ln>
        </p:spPr>
      </p:pic>
      <p:sp>
        <p:nvSpPr>
          <p:cNvPr id="71684" name="Rectangle 3"/>
          <p:cNvSpPr>
            <a:spLocks noGrp="1" noChangeArrowheads="1"/>
          </p:cNvSpPr>
          <p:nvPr>
            <p:ph idx="1"/>
          </p:nvPr>
        </p:nvSpPr>
        <p:spPr>
          <a:xfrm>
            <a:off x="283425" y="949794"/>
            <a:ext cx="7818759" cy="1754146"/>
          </a:xfrm>
        </p:spPr>
        <p:txBody>
          <a:bodyPr>
            <a:noAutofit/>
          </a:bodyPr>
          <a:lstStyle/>
          <a:p>
            <a:pPr>
              <a:buFont typeface="Courier New" panose="02070309020205020404" pitchFamily="49" charset="0"/>
              <a:buChar char="o"/>
            </a:pPr>
            <a:r>
              <a:rPr lang="en-US" sz="1800" dirty="0"/>
              <a:t>Areal symbols can be represented by irregular, amorphous polygons</a:t>
            </a:r>
          </a:p>
          <a:p>
            <a:pPr marL="765810" lvl="1" indent="-457200">
              <a:buFont typeface="Wingdings" panose="05000000000000000000" pitchFamily="2" charset="2"/>
              <a:buChar char="ü"/>
            </a:pPr>
            <a:r>
              <a:rPr lang="en-US" sz="1800" dirty="0"/>
              <a:t>Irregular polygons can look more natural </a:t>
            </a:r>
          </a:p>
          <a:p>
            <a:pPr marL="765810" lvl="1" indent="-457200">
              <a:buFont typeface="Wingdings" panose="05000000000000000000" pitchFamily="2" charset="2"/>
              <a:buChar char="ü"/>
            </a:pPr>
            <a:r>
              <a:rPr lang="en-US" sz="1800" dirty="0"/>
              <a:t>Most appropriate for qualitative categories of areal data (separated)</a:t>
            </a:r>
          </a:p>
        </p:txBody>
      </p:sp>
      <p:sp>
        <p:nvSpPr>
          <p:cNvPr id="2" name="Slide Number Placeholder 1">
            <a:extLst>
              <a:ext uri="{FF2B5EF4-FFF2-40B4-BE49-F238E27FC236}">
                <a16:creationId xmlns:a16="http://schemas.microsoft.com/office/drawing/2014/main" id="{104FA5F0-95B4-485D-AFA2-0964CE6E4032}"/>
              </a:ext>
            </a:extLst>
          </p:cNvPr>
          <p:cNvSpPr>
            <a:spLocks noGrp="1"/>
          </p:cNvSpPr>
          <p:nvPr>
            <p:ph type="sldNum" sz="quarter" idx="12"/>
          </p:nvPr>
        </p:nvSpPr>
        <p:spPr/>
        <p:txBody>
          <a:bodyPr/>
          <a:lstStyle/>
          <a:p>
            <a:fld id="{127DDC20-79C9-9647-820E-6D40A3D210C3}" type="slidenum">
              <a:rPr lang="en-US" smtClean="0"/>
              <a:pPr/>
              <a:t>46</a:t>
            </a:fld>
            <a:endParaRPr lang="en-US"/>
          </a:p>
        </p:txBody>
      </p:sp>
      <p:sp>
        <p:nvSpPr>
          <p:cNvPr id="71686" name="Text Box 7"/>
          <p:cNvSpPr txBox="1">
            <a:spLocks noChangeArrowheads="1"/>
          </p:cNvSpPr>
          <p:nvPr/>
        </p:nvSpPr>
        <p:spPr bwMode="auto">
          <a:xfrm>
            <a:off x="3485876" y="4894556"/>
            <a:ext cx="1276476" cy="300082"/>
          </a:xfrm>
          <a:prstGeom prst="rect">
            <a:avLst/>
          </a:prstGeom>
          <a:noFill/>
          <a:ln w="9525">
            <a:noFill/>
            <a:miter lim="800000"/>
            <a:headEnd/>
            <a:tailEnd/>
          </a:ln>
        </p:spPr>
        <p:txBody>
          <a:bodyPr wrap="square">
            <a:spAutoFit/>
          </a:bodyPr>
          <a:lstStyle/>
          <a:p>
            <a:pPr>
              <a:spcBef>
                <a:spcPct val="50000"/>
              </a:spcBef>
            </a:pPr>
            <a:r>
              <a:rPr lang="en-US" sz="1350" dirty="0"/>
              <a:t>Appropriate</a:t>
            </a:r>
          </a:p>
        </p:txBody>
      </p:sp>
      <p:cxnSp>
        <p:nvCxnSpPr>
          <p:cNvPr id="7" name="Straight Connector 6">
            <a:extLst>
              <a:ext uri="{FF2B5EF4-FFF2-40B4-BE49-F238E27FC236}">
                <a16:creationId xmlns:a16="http://schemas.microsoft.com/office/drawing/2014/main" id="{56EB584D-7D21-442A-93AA-707FC66A5049}"/>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0DE24D3F-2C00-42FC-B9A5-321AB8EEB78B}"/>
              </a:ext>
            </a:extLst>
          </p:cNvPr>
          <p:cNvSpPr txBox="1">
            <a:spLocks/>
          </p:cNvSpPr>
          <p:nvPr/>
        </p:nvSpPr>
        <p:spPr>
          <a:xfrm>
            <a:off x="223464"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noChangeArrowheads="1"/>
          </p:cNvSpPr>
          <p:nvPr>
            <p:ph idx="1"/>
          </p:nvPr>
        </p:nvSpPr>
        <p:spPr>
          <a:xfrm>
            <a:off x="118533" y="1028700"/>
            <a:ext cx="8077200" cy="1662032"/>
          </a:xfrm>
        </p:spPr>
        <p:txBody>
          <a:bodyPr>
            <a:normAutofit/>
          </a:bodyPr>
          <a:lstStyle/>
          <a:p>
            <a:pPr>
              <a:buFont typeface="Courier New" panose="02070309020205020404" pitchFamily="49" charset="0"/>
              <a:buChar char="o"/>
            </a:pPr>
            <a:r>
              <a:rPr lang="en-US" sz="1800" dirty="0"/>
              <a:t>A legend heading is often included to further explain the map’s theme</a:t>
            </a:r>
          </a:p>
          <a:p>
            <a:pPr marL="765810" lvl="1" indent="-457200">
              <a:buFont typeface="Wingdings" panose="05000000000000000000" pitchFamily="2" charset="2"/>
              <a:buChar char="ü"/>
            </a:pPr>
            <a:r>
              <a:rPr lang="en-US" sz="1800" dirty="0"/>
              <a:t>The unit of measure (for quantitative data) and enumeration unit are common components of the legend heading </a:t>
            </a:r>
          </a:p>
        </p:txBody>
      </p:sp>
      <p:sp>
        <p:nvSpPr>
          <p:cNvPr id="2" name="Slide Number Placeholder 1">
            <a:extLst>
              <a:ext uri="{FF2B5EF4-FFF2-40B4-BE49-F238E27FC236}">
                <a16:creationId xmlns:a16="http://schemas.microsoft.com/office/drawing/2014/main" id="{31FD4842-2764-4488-90E6-95AE2E2125B2}"/>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73732" name="Picture 6" descr="Image showing legend"/>
          <p:cNvPicPr>
            <a:picLocks noChangeAspect="1" noChangeArrowheads="1"/>
          </p:cNvPicPr>
          <p:nvPr/>
        </p:nvPicPr>
        <p:blipFill>
          <a:blip r:embed="rId2" cstate="print"/>
          <a:srcRect/>
          <a:stretch>
            <a:fillRect/>
          </a:stretch>
        </p:blipFill>
        <p:spPr bwMode="auto">
          <a:xfrm>
            <a:off x="1221727" y="2943480"/>
            <a:ext cx="2406754" cy="1662032"/>
          </a:xfrm>
          <a:prstGeom prst="rect">
            <a:avLst/>
          </a:prstGeom>
          <a:noFill/>
          <a:ln w="9525" algn="ctr">
            <a:solidFill>
              <a:schemeClr val="tx1"/>
            </a:solidFill>
            <a:miter lim="800000"/>
            <a:headEnd/>
            <a:tailEnd/>
          </a:ln>
        </p:spPr>
      </p:pic>
      <p:pic>
        <p:nvPicPr>
          <p:cNvPr id="73733" name="Picture 7" descr="Image showing legend"/>
          <p:cNvPicPr>
            <a:picLocks noChangeAspect="1" noChangeArrowheads="1"/>
          </p:cNvPicPr>
          <p:nvPr/>
        </p:nvPicPr>
        <p:blipFill>
          <a:blip r:embed="rId3" cstate="print"/>
          <a:srcRect t="20718" r="44923"/>
          <a:stretch>
            <a:fillRect/>
          </a:stretch>
        </p:blipFill>
        <p:spPr bwMode="auto">
          <a:xfrm>
            <a:off x="4389481" y="2943480"/>
            <a:ext cx="2295498" cy="1658842"/>
          </a:xfrm>
          <a:prstGeom prst="rect">
            <a:avLst/>
          </a:prstGeom>
          <a:noFill/>
          <a:ln w="9525" algn="ctr">
            <a:solidFill>
              <a:schemeClr val="tx1"/>
            </a:solidFill>
            <a:miter lim="800000"/>
            <a:headEnd/>
            <a:tailEnd/>
          </a:ln>
        </p:spPr>
      </p:pic>
      <p:cxnSp>
        <p:nvCxnSpPr>
          <p:cNvPr id="6" name="Straight Connector 5">
            <a:extLst>
              <a:ext uri="{FF2B5EF4-FFF2-40B4-BE49-F238E27FC236}">
                <a16:creationId xmlns:a16="http://schemas.microsoft.com/office/drawing/2014/main" id="{4E6DF2C8-9907-49C7-9540-BAE86864F406}"/>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7F4996DC-BFCC-4052-B4F4-28CFDB4CA9DF}"/>
              </a:ext>
            </a:extLst>
          </p:cNvPr>
          <p:cNvSpPr txBox="1">
            <a:spLocks/>
          </p:cNvSpPr>
          <p:nvPr/>
        </p:nvSpPr>
        <p:spPr>
          <a:xfrm>
            <a:off x="283425" y="1662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9" descr="Image showing legend"/>
          <p:cNvPicPr>
            <a:picLocks noChangeAspect="1" noChangeArrowheads="1"/>
          </p:cNvPicPr>
          <p:nvPr/>
        </p:nvPicPr>
        <p:blipFill>
          <a:blip r:embed="rId2" cstate="print"/>
          <a:srcRect/>
          <a:stretch>
            <a:fillRect/>
          </a:stretch>
        </p:blipFill>
        <p:spPr bwMode="auto">
          <a:xfrm>
            <a:off x="3984746" y="2924073"/>
            <a:ext cx="3392933" cy="1460550"/>
          </a:xfrm>
          <a:prstGeom prst="rect">
            <a:avLst/>
          </a:prstGeom>
          <a:noFill/>
          <a:ln w="9525" algn="ctr">
            <a:solidFill>
              <a:schemeClr val="tx1"/>
            </a:solidFill>
            <a:miter lim="800000"/>
            <a:headEnd/>
            <a:tailEnd/>
          </a:ln>
        </p:spPr>
      </p:pic>
      <p:sp>
        <p:nvSpPr>
          <p:cNvPr id="74756" name="Rectangle 3"/>
          <p:cNvSpPr>
            <a:spLocks noGrp="1" noChangeArrowheads="1"/>
          </p:cNvSpPr>
          <p:nvPr>
            <p:ph idx="1"/>
          </p:nvPr>
        </p:nvSpPr>
        <p:spPr>
          <a:xfrm>
            <a:off x="156633" y="1028700"/>
            <a:ext cx="8001000" cy="1624559"/>
          </a:xfrm>
        </p:spPr>
        <p:txBody>
          <a:bodyPr>
            <a:noAutofit/>
          </a:bodyPr>
          <a:lstStyle/>
          <a:p>
            <a:pPr>
              <a:buFont typeface="Courier New" panose="02070309020205020404" pitchFamily="49" charset="0"/>
              <a:buChar char="o"/>
            </a:pPr>
            <a:r>
              <a:rPr lang="en-US" sz="1800" dirty="0"/>
              <a:t>The legend heading should be placed above the legend, and be horizontally centered with it</a:t>
            </a:r>
          </a:p>
          <a:p>
            <a:pPr marL="765810" lvl="1" indent="-457200">
              <a:buFont typeface="Wingdings" panose="05000000000000000000" pitchFamily="2" charset="2"/>
              <a:buChar char="ü"/>
            </a:pPr>
            <a:r>
              <a:rPr lang="en-US" sz="1800" dirty="0"/>
              <a:t>Multiple lines of type can be horizontally centered (center justified) </a:t>
            </a:r>
          </a:p>
          <a:p>
            <a:pPr marL="765810" lvl="1" indent="-457200">
              <a:buFont typeface="Wingdings" panose="05000000000000000000" pitchFamily="2" charset="2"/>
              <a:buChar char="ü"/>
            </a:pPr>
            <a:r>
              <a:rPr lang="en-US" sz="1800" dirty="0"/>
              <a:t>Horizontal centering creates a self-balancing group of objects</a:t>
            </a:r>
          </a:p>
        </p:txBody>
      </p:sp>
      <p:sp>
        <p:nvSpPr>
          <p:cNvPr id="2" name="Slide Number Placeholder 1">
            <a:extLst>
              <a:ext uri="{FF2B5EF4-FFF2-40B4-BE49-F238E27FC236}">
                <a16:creationId xmlns:a16="http://schemas.microsoft.com/office/drawing/2014/main" id="{FD70F1E0-F5D8-4D46-B6EC-E5E912C80226}"/>
              </a:ext>
            </a:extLst>
          </p:cNvPr>
          <p:cNvSpPr>
            <a:spLocks noGrp="1"/>
          </p:cNvSpPr>
          <p:nvPr>
            <p:ph type="sldNum" sz="quarter" idx="12"/>
          </p:nvPr>
        </p:nvSpPr>
        <p:spPr/>
        <p:txBody>
          <a:bodyPr/>
          <a:lstStyle/>
          <a:p>
            <a:fld id="{127DDC20-79C9-9647-820E-6D40A3D210C3}" type="slidenum">
              <a:rPr lang="en-US" smtClean="0"/>
              <a:pPr/>
              <a:t>48</a:t>
            </a:fld>
            <a:endParaRPr lang="en-US"/>
          </a:p>
        </p:txBody>
      </p:sp>
      <p:pic>
        <p:nvPicPr>
          <p:cNvPr id="74757" name="Picture 8" descr="Image showing legend"/>
          <p:cNvPicPr>
            <a:picLocks noChangeAspect="1" noChangeArrowheads="1"/>
          </p:cNvPicPr>
          <p:nvPr/>
        </p:nvPicPr>
        <p:blipFill>
          <a:blip r:embed="rId3" cstate="print"/>
          <a:srcRect/>
          <a:stretch>
            <a:fillRect/>
          </a:stretch>
        </p:blipFill>
        <p:spPr bwMode="auto">
          <a:xfrm>
            <a:off x="1405010" y="2848263"/>
            <a:ext cx="2080203" cy="1707258"/>
          </a:xfrm>
          <a:prstGeom prst="rect">
            <a:avLst/>
          </a:prstGeom>
          <a:noFill/>
          <a:ln w="9525" algn="ctr">
            <a:solidFill>
              <a:schemeClr val="tx1"/>
            </a:solidFill>
            <a:miter lim="800000"/>
            <a:headEnd/>
            <a:tailEnd/>
          </a:ln>
        </p:spPr>
      </p:pic>
      <p:cxnSp>
        <p:nvCxnSpPr>
          <p:cNvPr id="5" name="Straight Connector 4">
            <a:extLst>
              <a:ext uri="{FF2B5EF4-FFF2-40B4-BE49-F238E27FC236}">
                <a16:creationId xmlns:a16="http://schemas.microsoft.com/office/drawing/2014/main" id="{C6A7E2AD-4604-432B-8399-08EE5ECDB1FD}"/>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10FC9A40-F584-439D-BE3E-D3E134064BC2}"/>
              </a:ext>
            </a:extLst>
          </p:cNvPr>
          <p:cNvSpPr txBox="1">
            <a:spLocks/>
          </p:cNvSpPr>
          <p:nvPr/>
        </p:nvSpPr>
        <p:spPr>
          <a:xfrm>
            <a:off x="245950" y="171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
        <p:nvSpPr>
          <p:cNvPr id="3" name="Text Box 7">
            <a:extLst>
              <a:ext uri="{FF2B5EF4-FFF2-40B4-BE49-F238E27FC236}">
                <a16:creationId xmlns:a16="http://schemas.microsoft.com/office/drawing/2014/main" id="{FE4E13E1-AF2B-4D27-94F1-38B33B419072}"/>
              </a:ext>
            </a:extLst>
          </p:cNvPr>
          <p:cNvSpPr txBox="1">
            <a:spLocks noChangeArrowheads="1"/>
          </p:cNvSpPr>
          <p:nvPr/>
        </p:nvSpPr>
        <p:spPr bwMode="auto">
          <a:xfrm>
            <a:off x="1934273" y="4667895"/>
            <a:ext cx="1276476" cy="300082"/>
          </a:xfrm>
          <a:prstGeom prst="rect">
            <a:avLst/>
          </a:prstGeom>
          <a:noFill/>
          <a:ln w="9525">
            <a:noFill/>
            <a:miter lim="800000"/>
            <a:headEnd/>
            <a:tailEnd/>
          </a:ln>
        </p:spPr>
        <p:txBody>
          <a:bodyPr wrap="square">
            <a:spAutoFit/>
          </a:bodyPr>
          <a:lstStyle/>
          <a:p>
            <a:pPr>
              <a:spcBef>
                <a:spcPct val="50000"/>
              </a:spcBef>
            </a:pPr>
            <a:r>
              <a:rPr lang="en-US" sz="1350" dirty="0"/>
              <a:t>Appropriate</a:t>
            </a:r>
          </a:p>
        </p:txBody>
      </p:sp>
      <p:sp>
        <p:nvSpPr>
          <p:cNvPr id="4" name="Text Box 8">
            <a:extLst>
              <a:ext uri="{FF2B5EF4-FFF2-40B4-BE49-F238E27FC236}">
                <a16:creationId xmlns:a16="http://schemas.microsoft.com/office/drawing/2014/main" id="{D04B6C56-2B50-4FEE-8AC2-49F602311609}"/>
              </a:ext>
            </a:extLst>
          </p:cNvPr>
          <p:cNvSpPr txBox="1">
            <a:spLocks noChangeArrowheads="1"/>
          </p:cNvSpPr>
          <p:nvPr/>
        </p:nvSpPr>
        <p:spPr bwMode="auto">
          <a:xfrm>
            <a:off x="5153548" y="4674395"/>
            <a:ext cx="1809869" cy="300082"/>
          </a:xfrm>
          <a:prstGeom prst="rect">
            <a:avLst/>
          </a:prstGeom>
          <a:noFill/>
          <a:ln w="9525">
            <a:noFill/>
            <a:miter lim="800000"/>
            <a:headEnd/>
            <a:tailEnd/>
          </a:ln>
        </p:spPr>
        <p:txBody>
          <a:bodyPr>
            <a:spAutoFit/>
          </a:bodyPr>
          <a:lstStyle/>
          <a:p>
            <a:pPr>
              <a:spcBef>
                <a:spcPct val="50000"/>
              </a:spcBef>
            </a:pPr>
            <a:r>
              <a:rPr lang="en-US" sz="1350" dirty="0"/>
              <a:t>Inappropriate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1"/>
          </p:nvPr>
        </p:nvSpPr>
        <p:spPr>
          <a:xfrm>
            <a:off x="118533" y="1028700"/>
            <a:ext cx="8001000" cy="567751"/>
          </a:xfrm>
        </p:spPr>
        <p:txBody>
          <a:bodyPr>
            <a:normAutofit/>
          </a:bodyPr>
          <a:lstStyle/>
          <a:p>
            <a:pPr marL="411480" indent="-411480"/>
            <a:r>
              <a:rPr lang="en-US" sz="1800" dirty="0"/>
              <a:t>Legend symbols are often organized into groups, according to a certain logic </a:t>
            </a:r>
          </a:p>
        </p:txBody>
      </p:sp>
      <p:sp>
        <p:nvSpPr>
          <p:cNvPr id="2" name="Slide Number Placeholder 1">
            <a:extLst>
              <a:ext uri="{FF2B5EF4-FFF2-40B4-BE49-F238E27FC236}">
                <a16:creationId xmlns:a16="http://schemas.microsoft.com/office/drawing/2014/main" id="{C541FC52-0D59-4CF3-989B-B45C05EC3BC6}"/>
              </a:ext>
            </a:extLst>
          </p:cNvPr>
          <p:cNvSpPr>
            <a:spLocks noGrp="1"/>
          </p:cNvSpPr>
          <p:nvPr>
            <p:ph type="sldNum" sz="quarter" idx="12"/>
          </p:nvPr>
        </p:nvSpPr>
        <p:spPr/>
        <p:txBody>
          <a:bodyPr/>
          <a:lstStyle/>
          <a:p>
            <a:fld id="{127DDC20-79C9-9647-820E-6D40A3D210C3}" type="slidenum">
              <a:rPr lang="en-US" smtClean="0"/>
              <a:pPr/>
              <a:t>49</a:t>
            </a:fld>
            <a:endParaRPr lang="en-US"/>
          </a:p>
        </p:txBody>
      </p:sp>
      <p:pic>
        <p:nvPicPr>
          <p:cNvPr id="76804" name="Picture 5" descr="Image showing legend"/>
          <p:cNvPicPr>
            <a:picLocks noChangeAspect="1" noChangeArrowheads="1"/>
          </p:cNvPicPr>
          <p:nvPr/>
        </p:nvPicPr>
        <p:blipFill rotWithShape="1">
          <a:blip r:embed="rId2" cstate="print"/>
          <a:srcRect l="1" r="-10294"/>
          <a:stretch/>
        </p:blipFill>
        <p:spPr bwMode="auto">
          <a:xfrm>
            <a:off x="1853052" y="1596451"/>
            <a:ext cx="5273801" cy="3118247"/>
          </a:xfrm>
          <a:prstGeom prst="rect">
            <a:avLst/>
          </a:prstGeom>
          <a:noFill/>
          <a:ln w="9525">
            <a:noFill/>
            <a:miter lim="800000"/>
            <a:headEnd/>
            <a:tailEnd/>
          </a:ln>
        </p:spPr>
      </p:pic>
      <p:cxnSp>
        <p:nvCxnSpPr>
          <p:cNvPr id="5" name="Straight Connector 4">
            <a:extLst>
              <a:ext uri="{FF2B5EF4-FFF2-40B4-BE49-F238E27FC236}">
                <a16:creationId xmlns:a16="http://schemas.microsoft.com/office/drawing/2014/main" id="{E0CEF042-935F-4E74-8E9A-D05EADD1B47D}"/>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0164F540-31F8-40C4-AB68-491CAA2CB81D}"/>
              </a:ext>
            </a:extLst>
          </p:cNvPr>
          <p:cNvSpPr txBox="1">
            <a:spLocks/>
          </p:cNvSpPr>
          <p:nvPr/>
        </p:nvSpPr>
        <p:spPr>
          <a:xfrm>
            <a:off x="305911" y="14778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Image showing mapped area"/>
          <p:cNvPicPr>
            <a:picLocks noChangeAspect="1" noChangeArrowheads="1"/>
          </p:cNvPicPr>
          <p:nvPr/>
        </p:nvPicPr>
        <p:blipFill>
          <a:blip r:embed="rId2" cstate="print"/>
          <a:srcRect/>
          <a:stretch>
            <a:fillRect/>
          </a:stretch>
        </p:blipFill>
        <p:spPr bwMode="auto">
          <a:xfrm>
            <a:off x="4269106" y="2477724"/>
            <a:ext cx="2627488" cy="2004207"/>
          </a:xfrm>
          <a:prstGeom prst="rect">
            <a:avLst/>
          </a:prstGeom>
          <a:noFill/>
          <a:ln w="9525">
            <a:solidFill>
              <a:schemeClr val="tx1"/>
            </a:solidFill>
            <a:miter lim="800000"/>
            <a:headEnd/>
            <a:tailEnd/>
          </a:ln>
        </p:spPr>
      </p:pic>
      <p:pic>
        <p:nvPicPr>
          <p:cNvPr id="8" name="Picture 2" descr="Image showing legend"/>
          <p:cNvPicPr>
            <a:picLocks noChangeAspect="1" noChangeArrowheads="1"/>
          </p:cNvPicPr>
          <p:nvPr/>
        </p:nvPicPr>
        <p:blipFill>
          <a:blip r:embed="rId2" cstate="print"/>
          <a:srcRect/>
          <a:stretch>
            <a:fillRect/>
          </a:stretch>
        </p:blipFill>
        <p:spPr bwMode="auto">
          <a:xfrm>
            <a:off x="1350812" y="2477724"/>
            <a:ext cx="2627488" cy="2004207"/>
          </a:xfrm>
          <a:prstGeom prst="rect">
            <a:avLst/>
          </a:prstGeom>
          <a:noFill/>
          <a:ln w="9525">
            <a:solidFill>
              <a:schemeClr val="tx1"/>
            </a:solidFill>
            <a:miter lim="800000"/>
            <a:headEnd/>
            <a:tailEnd/>
          </a:ln>
        </p:spPr>
      </p:pic>
      <p:sp>
        <p:nvSpPr>
          <p:cNvPr id="77827" name="Rectangle 6"/>
          <p:cNvSpPr>
            <a:spLocks noGrp="1" noChangeArrowheads="1"/>
          </p:cNvSpPr>
          <p:nvPr>
            <p:ph idx="1"/>
          </p:nvPr>
        </p:nvSpPr>
        <p:spPr>
          <a:xfrm>
            <a:off x="118533" y="930403"/>
            <a:ext cx="7726056" cy="1227319"/>
          </a:xfrm>
          <a:noFill/>
        </p:spPr>
        <p:txBody>
          <a:bodyPr>
            <a:noAutofit/>
          </a:bodyPr>
          <a:lstStyle/>
          <a:p>
            <a:pPr>
              <a:buFont typeface="Courier New" panose="02070309020205020404" pitchFamily="49" charset="0"/>
              <a:buChar char="o"/>
            </a:pPr>
            <a:r>
              <a:rPr lang="en-US" sz="1800" dirty="0"/>
              <a:t>The legend should be large enough to be useful</a:t>
            </a:r>
          </a:p>
          <a:p>
            <a:pPr marL="765810" lvl="1" indent="-457200">
              <a:buFont typeface="Wingdings" panose="05000000000000000000" pitchFamily="2" charset="2"/>
              <a:buChar char="ü"/>
            </a:pPr>
            <a:r>
              <a:rPr lang="en-US" sz="1800" dirty="0"/>
              <a:t>But should not occupy vast areas of space, or challenge thematic symbols</a:t>
            </a:r>
          </a:p>
        </p:txBody>
      </p:sp>
      <p:sp>
        <p:nvSpPr>
          <p:cNvPr id="2" name="Slide Number Placeholder 1">
            <a:extLst>
              <a:ext uri="{FF2B5EF4-FFF2-40B4-BE49-F238E27FC236}">
                <a16:creationId xmlns:a16="http://schemas.microsoft.com/office/drawing/2014/main" id="{5B6AAA2A-BA45-455F-9173-3CAFA155F02F}"/>
              </a:ext>
            </a:extLst>
          </p:cNvPr>
          <p:cNvSpPr>
            <a:spLocks noGrp="1"/>
          </p:cNvSpPr>
          <p:nvPr>
            <p:ph type="sldNum" sz="quarter" idx="12"/>
          </p:nvPr>
        </p:nvSpPr>
        <p:spPr/>
        <p:txBody>
          <a:bodyPr/>
          <a:lstStyle/>
          <a:p>
            <a:fld id="{127DDC20-79C9-9647-820E-6D40A3D210C3}" type="slidenum">
              <a:rPr lang="en-US" smtClean="0"/>
              <a:pPr/>
              <a:t>50</a:t>
            </a:fld>
            <a:endParaRPr lang="en-US"/>
          </a:p>
        </p:txBody>
      </p:sp>
      <p:sp>
        <p:nvSpPr>
          <p:cNvPr id="77830" name="Text Box 9"/>
          <p:cNvSpPr txBox="1">
            <a:spLocks noChangeArrowheads="1"/>
          </p:cNvSpPr>
          <p:nvPr/>
        </p:nvSpPr>
        <p:spPr bwMode="auto">
          <a:xfrm>
            <a:off x="4290537" y="4483418"/>
            <a:ext cx="2608183" cy="300082"/>
          </a:xfrm>
          <a:prstGeom prst="rect">
            <a:avLst/>
          </a:prstGeom>
          <a:noFill/>
          <a:ln w="9525">
            <a:noFill/>
            <a:miter lim="800000"/>
            <a:headEnd/>
            <a:tailEnd/>
          </a:ln>
        </p:spPr>
        <p:txBody>
          <a:bodyPr>
            <a:spAutoFit/>
          </a:bodyPr>
          <a:lstStyle/>
          <a:p>
            <a:pPr>
              <a:spcBef>
                <a:spcPct val="50000"/>
              </a:spcBef>
            </a:pPr>
            <a:r>
              <a:rPr lang="en-US" sz="1350"/>
              <a:t>Too Large</a:t>
            </a:r>
          </a:p>
        </p:txBody>
      </p:sp>
      <p:sp>
        <p:nvSpPr>
          <p:cNvPr id="77831" name="Text Box 10"/>
          <p:cNvSpPr txBox="1">
            <a:spLocks noChangeArrowheads="1"/>
          </p:cNvSpPr>
          <p:nvPr/>
        </p:nvSpPr>
        <p:spPr bwMode="auto">
          <a:xfrm>
            <a:off x="1350812" y="4483418"/>
            <a:ext cx="1213402" cy="300082"/>
          </a:xfrm>
          <a:prstGeom prst="rect">
            <a:avLst/>
          </a:prstGeom>
          <a:noFill/>
          <a:ln w="9525">
            <a:noFill/>
            <a:miter lim="800000"/>
            <a:headEnd/>
            <a:tailEnd/>
          </a:ln>
        </p:spPr>
        <p:txBody>
          <a:bodyPr wrap="square">
            <a:spAutoFit/>
          </a:bodyPr>
          <a:lstStyle/>
          <a:p>
            <a:pPr>
              <a:spcBef>
                <a:spcPct val="50000"/>
              </a:spcBef>
            </a:pPr>
            <a:r>
              <a:rPr lang="en-US" sz="1350" dirty="0"/>
              <a:t>Too Small</a:t>
            </a:r>
          </a:p>
        </p:txBody>
      </p:sp>
      <p:pic>
        <p:nvPicPr>
          <p:cNvPr id="3074" name="Picture 2" descr="Image showing legend"/>
          <p:cNvPicPr>
            <a:picLocks noChangeAspect="1" noChangeArrowheads="1"/>
          </p:cNvPicPr>
          <p:nvPr/>
        </p:nvPicPr>
        <p:blipFill>
          <a:blip r:embed="rId3" cstate="print"/>
          <a:srcRect/>
          <a:stretch>
            <a:fillRect/>
          </a:stretch>
        </p:blipFill>
        <p:spPr bwMode="auto">
          <a:xfrm>
            <a:off x="6174179" y="3301194"/>
            <a:ext cx="700556" cy="1158319"/>
          </a:xfrm>
          <a:prstGeom prst="rect">
            <a:avLst/>
          </a:prstGeom>
          <a:noFill/>
          <a:ln w="9525">
            <a:solidFill>
              <a:schemeClr val="tx1"/>
            </a:solidFill>
            <a:miter lim="800000"/>
            <a:headEnd/>
            <a:tailEnd/>
          </a:ln>
        </p:spPr>
      </p:pic>
      <p:cxnSp>
        <p:nvCxnSpPr>
          <p:cNvPr id="10" name="Straight Connector 9">
            <a:extLst>
              <a:ext uri="{FF2B5EF4-FFF2-40B4-BE49-F238E27FC236}">
                <a16:creationId xmlns:a16="http://schemas.microsoft.com/office/drawing/2014/main" id="{606D1341-36F3-47C3-8387-C3151D217D6C}"/>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2FFD906-D14F-4CFB-A753-05EB0E8B0BD1}"/>
              </a:ext>
            </a:extLst>
          </p:cNvPr>
          <p:cNvSpPr txBox="1">
            <a:spLocks/>
          </p:cNvSpPr>
          <p:nvPr/>
        </p:nvSpPr>
        <p:spPr>
          <a:xfrm>
            <a:off x="251937" y="18177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showing legend"/>
          <p:cNvPicPr>
            <a:picLocks noChangeAspect="1" noChangeArrowheads="1"/>
          </p:cNvPicPr>
          <p:nvPr/>
        </p:nvPicPr>
        <p:blipFill>
          <a:blip r:embed="rId2" cstate="print"/>
          <a:srcRect/>
          <a:stretch>
            <a:fillRect/>
          </a:stretch>
        </p:blipFill>
        <p:spPr bwMode="auto">
          <a:xfrm>
            <a:off x="857461" y="1885945"/>
            <a:ext cx="1959292" cy="2545791"/>
          </a:xfrm>
          <a:prstGeom prst="rect">
            <a:avLst/>
          </a:prstGeom>
          <a:noFill/>
          <a:ln w="9525">
            <a:solidFill>
              <a:schemeClr val="tx1"/>
            </a:solidFill>
            <a:miter lim="800000"/>
            <a:headEnd/>
            <a:tailEnd/>
          </a:ln>
        </p:spPr>
      </p:pic>
      <p:sp>
        <p:nvSpPr>
          <p:cNvPr id="79876" name="Rectangle 5"/>
          <p:cNvSpPr>
            <a:spLocks noGrp="1" noChangeArrowheads="1"/>
          </p:cNvSpPr>
          <p:nvPr>
            <p:ph idx="1"/>
          </p:nvPr>
        </p:nvSpPr>
        <p:spPr>
          <a:xfrm>
            <a:off x="156633" y="1028700"/>
            <a:ext cx="8001000" cy="751456"/>
          </a:xfrm>
          <a:noFill/>
        </p:spPr>
        <p:txBody>
          <a:bodyPr>
            <a:normAutofit/>
          </a:bodyPr>
          <a:lstStyle/>
          <a:p>
            <a:pPr>
              <a:buFont typeface="Courier New" panose="02070309020205020404" pitchFamily="49" charset="0"/>
              <a:buChar char="o"/>
            </a:pPr>
            <a:r>
              <a:rPr lang="en-US" sz="1600" dirty="0"/>
              <a:t>If possible, the legend should be visually centered within a larger portion of available space </a:t>
            </a:r>
          </a:p>
        </p:txBody>
      </p:sp>
      <p:sp>
        <p:nvSpPr>
          <p:cNvPr id="2" name="Slide Number Placeholder 1">
            <a:extLst>
              <a:ext uri="{FF2B5EF4-FFF2-40B4-BE49-F238E27FC236}">
                <a16:creationId xmlns:a16="http://schemas.microsoft.com/office/drawing/2014/main" id="{C428F931-6170-42B5-B47E-9A23F20AF735}"/>
              </a:ext>
            </a:extLst>
          </p:cNvPr>
          <p:cNvSpPr>
            <a:spLocks noGrp="1"/>
          </p:cNvSpPr>
          <p:nvPr>
            <p:ph type="sldNum" sz="quarter" idx="12"/>
          </p:nvPr>
        </p:nvSpPr>
        <p:spPr/>
        <p:txBody>
          <a:bodyPr/>
          <a:lstStyle/>
          <a:p>
            <a:fld id="{127DDC20-79C9-9647-820E-6D40A3D210C3}" type="slidenum">
              <a:rPr lang="en-US" smtClean="0"/>
              <a:pPr/>
              <a:t>51</a:t>
            </a:fld>
            <a:endParaRPr lang="en-US"/>
          </a:p>
        </p:txBody>
      </p:sp>
      <p:pic>
        <p:nvPicPr>
          <p:cNvPr id="79877" name="Picture 6" descr="Image showing legend"/>
          <p:cNvPicPr preferRelativeResize="0">
            <a:picLocks noChangeAspect="1" noChangeArrowheads="1"/>
          </p:cNvPicPr>
          <p:nvPr/>
        </p:nvPicPr>
        <p:blipFill>
          <a:blip r:embed="rId3" cstate="print"/>
          <a:srcRect/>
          <a:stretch>
            <a:fillRect/>
          </a:stretch>
        </p:blipFill>
        <p:spPr bwMode="auto">
          <a:xfrm>
            <a:off x="3680817" y="2270641"/>
            <a:ext cx="3166467" cy="2327434"/>
          </a:xfrm>
          <a:prstGeom prst="rect">
            <a:avLst/>
          </a:prstGeom>
          <a:noFill/>
          <a:ln w="9525">
            <a:noFill/>
            <a:miter lim="800000"/>
            <a:headEnd/>
            <a:tailEnd/>
          </a:ln>
        </p:spPr>
      </p:pic>
      <p:cxnSp>
        <p:nvCxnSpPr>
          <p:cNvPr id="8" name="Straight Connector 7">
            <a:extLst>
              <a:ext uri="{FF2B5EF4-FFF2-40B4-BE49-F238E27FC236}">
                <a16:creationId xmlns:a16="http://schemas.microsoft.com/office/drawing/2014/main" id="{1D7540AE-0F47-4AB5-A83C-C483E856ADF9}"/>
              </a:ext>
            </a:extLst>
          </p:cNvPr>
          <p:cNvCxnSpPr/>
          <p:nvPr/>
        </p:nvCxnSpPr>
        <p:spPr>
          <a:xfrm>
            <a:off x="156633"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148D082D-97F5-4085-9AE0-EDFD3BFBD326}"/>
              </a:ext>
            </a:extLst>
          </p:cNvPr>
          <p:cNvSpPr txBox="1">
            <a:spLocks/>
          </p:cNvSpPr>
          <p:nvPr/>
        </p:nvSpPr>
        <p:spPr>
          <a:xfrm>
            <a:off x="245949" y="1812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Legend</a:t>
            </a:r>
            <a:endParaRPr lang="en-US" sz="2600" i="1" dirty="0">
              <a:solidFill>
                <a:srgbClr val="7030A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3" descr="Image showing legend"/>
          <p:cNvPicPr>
            <a:picLocks noChangeAspect="1" noChangeArrowheads="1"/>
          </p:cNvPicPr>
          <p:nvPr/>
        </p:nvPicPr>
        <p:blipFill>
          <a:blip r:embed="rId2" cstate="print"/>
          <a:srcRect/>
          <a:stretch>
            <a:fillRect/>
          </a:stretch>
        </p:blipFill>
        <p:spPr bwMode="auto">
          <a:xfrm>
            <a:off x="4338756" y="1939323"/>
            <a:ext cx="3391540" cy="2715689"/>
          </a:xfrm>
          <a:prstGeom prst="rect">
            <a:avLst/>
          </a:prstGeom>
          <a:noFill/>
          <a:ln w="9525" algn="ctr">
            <a:solidFill>
              <a:schemeClr val="tx1"/>
            </a:solidFill>
            <a:miter lim="800000"/>
            <a:headEnd/>
            <a:tailEnd/>
          </a:ln>
        </p:spPr>
      </p:pic>
      <p:pic>
        <p:nvPicPr>
          <p:cNvPr id="62467" name="Picture 11" descr="Image showing legend"/>
          <p:cNvPicPr>
            <a:picLocks noChangeAspect="1" noChangeArrowheads="1"/>
          </p:cNvPicPr>
          <p:nvPr/>
        </p:nvPicPr>
        <p:blipFill>
          <a:blip r:embed="rId3" cstate="print"/>
          <a:srcRect/>
          <a:stretch>
            <a:fillRect/>
          </a:stretch>
        </p:blipFill>
        <p:spPr bwMode="auto">
          <a:xfrm>
            <a:off x="729205" y="1940392"/>
            <a:ext cx="3388810" cy="2715691"/>
          </a:xfrm>
          <a:prstGeom prst="rect">
            <a:avLst/>
          </a:prstGeom>
          <a:noFill/>
          <a:ln w="9525" algn="ctr">
            <a:solidFill>
              <a:schemeClr val="tx1"/>
            </a:solidFill>
            <a:miter lim="800000"/>
            <a:headEnd/>
            <a:tailEnd/>
          </a:ln>
        </p:spPr>
      </p:pic>
      <p:cxnSp>
        <p:nvCxnSpPr>
          <p:cNvPr id="7" name="Straight Connector 6">
            <a:extLst>
              <a:ext uri="{FF2B5EF4-FFF2-40B4-BE49-F238E27FC236}">
                <a16:creationId xmlns:a16="http://schemas.microsoft.com/office/drawing/2014/main" id="{B730A3CD-AE25-49D5-9B03-C4A461892BD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5A4932C5-933F-4F89-960F-42B83185A5E6}"/>
              </a:ext>
            </a:extLst>
          </p:cNvPr>
          <p:cNvSpPr txBox="1">
            <a:spLocks/>
          </p:cNvSpPr>
          <p:nvPr/>
        </p:nvSpPr>
        <p:spPr>
          <a:xfrm>
            <a:off x="300156" y="1783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Discussion </a:t>
            </a:r>
            <a:endParaRPr lang="en-US" sz="2600" i="1" dirty="0">
              <a:solidFill>
                <a:srgbClr val="7030A0"/>
              </a:solidFill>
            </a:endParaRPr>
          </a:p>
        </p:txBody>
      </p:sp>
      <p:sp>
        <p:nvSpPr>
          <p:cNvPr id="2" name="TextBox 1">
            <a:extLst>
              <a:ext uri="{FF2B5EF4-FFF2-40B4-BE49-F238E27FC236}">
                <a16:creationId xmlns:a16="http://schemas.microsoft.com/office/drawing/2014/main" id="{070E8162-3E8F-4C5E-BE43-98B8FEC9450A}"/>
              </a:ext>
            </a:extLst>
          </p:cNvPr>
          <p:cNvSpPr txBox="1"/>
          <p:nvPr/>
        </p:nvSpPr>
        <p:spPr>
          <a:xfrm>
            <a:off x="1458397" y="1198516"/>
            <a:ext cx="4814840" cy="492443"/>
          </a:xfrm>
          <a:prstGeom prst="rect">
            <a:avLst/>
          </a:prstGeom>
          <a:noFill/>
        </p:spPr>
        <p:txBody>
          <a:bodyPr wrap="square" rtlCol="0">
            <a:spAutoFit/>
          </a:bodyPr>
          <a:lstStyle/>
          <a:p>
            <a:r>
              <a:rPr lang="en-US" sz="2600" dirty="0"/>
              <a:t>Which one is better? And Why?</a:t>
            </a:r>
          </a:p>
        </p:txBody>
      </p:sp>
      <p:sp>
        <p:nvSpPr>
          <p:cNvPr id="3" name="Slide Number Placeholder 2">
            <a:extLst>
              <a:ext uri="{FF2B5EF4-FFF2-40B4-BE49-F238E27FC236}">
                <a16:creationId xmlns:a16="http://schemas.microsoft.com/office/drawing/2014/main" id="{27D4B1C7-AE06-4AD4-B6C0-F53C89F9C727}"/>
              </a:ext>
            </a:extLst>
          </p:cNvPr>
          <p:cNvSpPr>
            <a:spLocks noGrp="1"/>
          </p:cNvSpPr>
          <p:nvPr>
            <p:ph type="sldNum" sz="quarter" idx="12"/>
          </p:nvPr>
        </p:nvSpPr>
        <p:spPr/>
        <p:txBody>
          <a:bodyPr/>
          <a:lstStyle/>
          <a:p>
            <a:fld id="{127DDC20-79C9-9647-820E-6D40A3D210C3}" type="slidenum">
              <a:rPr lang="en-US" smtClean="0"/>
              <a:pPr/>
              <a:t>52</a:t>
            </a:fld>
            <a:endParaRPr lang="en-US"/>
          </a:p>
        </p:txBody>
      </p:sp>
    </p:spTree>
    <p:extLst>
      <p:ext uri="{BB962C8B-B14F-4D97-AF65-F5344CB8AC3E}">
        <p14:creationId xmlns:p14="http://schemas.microsoft.com/office/powerpoint/2010/main" val="3791740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05: </a:t>
            </a:r>
            <a:r>
              <a:rPr lang="en-US" b="1" dirty="0"/>
              <a:t>standardization and classification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2353494979"/>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Week04_GEOG2475_Tu</Template>
  <TotalTime>10733</TotalTime>
  <Words>1580</Words>
  <Application>Microsoft Office PowerPoint</Application>
  <PresentationFormat>Custom</PresentationFormat>
  <Paragraphs>298</Paragraphs>
  <Slides>54</Slides>
  <Notes>9</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54</vt:i4>
      </vt:variant>
    </vt:vector>
  </HeadingPairs>
  <TitlesOfParts>
    <vt:vector size="66" baseType="lpstr">
      <vt:lpstr>Arial</vt:lpstr>
      <vt:lpstr>Arial Black</vt:lpstr>
      <vt:lpstr>Calibri</vt:lpstr>
      <vt:lpstr>Courier New</vt:lpstr>
      <vt:lpstr>Gill Sans MT</vt:lpstr>
      <vt:lpstr>Wingdings</vt:lpstr>
      <vt:lpstr>Wingdings 2</vt:lpstr>
      <vt:lpstr>2_DividendVTI</vt:lpstr>
      <vt:lpstr>DividendVTI</vt:lpstr>
      <vt:lpstr>1_DividendVTI</vt:lpstr>
      <vt:lpstr>5_DividendVTI</vt:lpstr>
      <vt:lpstr>6_DividendVTI</vt:lpstr>
      <vt:lpstr>Lecture 07  Map Elements  lecture</vt:lpstr>
      <vt:lpstr>7.1  MAP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Explore mapped area </vt:lpstr>
      <vt:lpstr>PowerPoint Presentation</vt:lpstr>
      <vt:lpstr>Features not in the correct geographic location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7.2  Lab session</vt:lpstr>
      <vt:lpstr>Lab 05: standardization and classification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436</cp:revision>
  <dcterms:created xsi:type="dcterms:W3CDTF">2020-07-26T21:20:11Z</dcterms:created>
  <dcterms:modified xsi:type="dcterms:W3CDTF">2025-09-30T03:49:58Z</dcterms:modified>
</cp:coreProperties>
</file>