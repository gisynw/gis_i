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4.xml" ContentType="application/vnd.openxmlformats-officedocument.theme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  <p:sldMasterId id="2147483672" r:id="rId2"/>
    <p:sldMasterId id="2147483684" r:id="rId3"/>
    <p:sldMasterId id="2147483697" r:id="rId4"/>
    <p:sldMasterId id="2147483709" r:id="rId5"/>
  </p:sldMasterIdLst>
  <p:notesMasterIdLst>
    <p:notesMasterId r:id="rId33"/>
  </p:notesMasterIdLst>
  <p:sldIdLst>
    <p:sldId id="914" r:id="rId6"/>
    <p:sldId id="1647" r:id="rId7"/>
    <p:sldId id="514" r:id="rId8"/>
    <p:sldId id="516" r:id="rId9"/>
    <p:sldId id="654" r:id="rId10"/>
    <p:sldId id="518" r:id="rId11"/>
    <p:sldId id="520" r:id="rId12"/>
    <p:sldId id="521" r:id="rId13"/>
    <p:sldId id="523" r:id="rId14"/>
    <p:sldId id="655" r:id="rId15"/>
    <p:sldId id="524" r:id="rId16"/>
    <p:sldId id="526" r:id="rId17"/>
    <p:sldId id="556" r:id="rId18"/>
    <p:sldId id="656" r:id="rId19"/>
    <p:sldId id="666" r:id="rId20"/>
    <p:sldId id="1648" r:id="rId21"/>
    <p:sldId id="533" r:id="rId22"/>
    <p:sldId id="535" r:id="rId23"/>
    <p:sldId id="537" r:id="rId24"/>
    <p:sldId id="539" r:id="rId25"/>
    <p:sldId id="536" r:id="rId26"/>
    <p:sldId id="541" r:id="rId27"/>
    <p:sldId id="667" r:id="rId28"/>
    <p:sldId id="540" r:id="rId29"/>
    <p:sldId id="665" r:id="rId30"/>
    <p:sldId id="553" r:id="rId31"/>
    <p:sldId id="270" r:id="rId32"/>
  </p:sldIdLst>
  <p:sldSz cx="8229600" cy="51435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59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384" autoAdjust="0"/>
  </p:normalViewPr>
  <p:slideViewPr>
    <p:cSldViewPr snapToGrid="0" snapToObjects="1">
      <p:cViewPr varScale="1">
        <p:scale>
          <a:sx n="79" d="100"/>
          <a:sy n="79" d="100"/>
        </p:scale>
        <p:origin x="1368" y="84"/>
      </p:cViewPr>
      <p:guideLst>
        <p:guide orient="horz" pos="1620"/>
        <p:guide pos="2592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21" Type="http://schemas.openxmlformats.org/officeDocument/2006/relationships/slide" Target="slides/slide16.xml"/><Relationship Id="rId34" Type="http://schemas.openxmlformats.org/officeDocument/2006/relationships/presProps" Target="pres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theme" Target="theme/theme1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viewProps" Target="viewProps.xml"/><Relationship Id="rId8" Type="http://schemas.openxmlformats.org/officeDocument/2006/relationships/slide" Target="slides/slide3.xml"/><Relationship Id="rId3" Type="http://schemas.openxmlformats.org/officeDocument/2006/relationships/slideMaster" Target="slideMasters/slideMaster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66C520B4-85AA-9542-8CF7-3D2DDCE6041D}" type="datetimeFigureOut">
              <a:rPr lang="en-US" smtClean="0"/>
              <a:pPr/>
              <a:t>10/1/2025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5963" y="696913"/>
            <a:ext cx="5578475" cy="3486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56507943-197E-CE46-82F0-5A323A24AE7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736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6507943-197E-CE46-82F0-5A323A24AE7A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801935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larger scale: greater detail and smaller area</a:t>
            </a:r>
          </a:p>
          <a:p>
            <a:r>
              <a:rPr lang="en-US" dirty="0"/>
              <a:t>Smaller scale: less detail and larger area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10949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view, it will not change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0747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aseline="0" dirty="0"/>
              <a:t>Miller Cylindrical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02702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507943-197E-CE46-82F0-5A323A24A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60076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A0FD2F-556E-43A6-BD1A-AE05D71D5ACE}" type="datetime1">
              <a:rPr lang="en-US" smtClean="0"/>
              <a:t>10/1/2025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8576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CA2D96-DD5E-4EE6-BA39-19B5C56AF1F2}" type="datetime1">
              <a:rPr lang="en-US" smtClean="0"/>
              <a:t>10/1/2025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8572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2D4BC3-0B93-4E0B-AE53-3E432262C0E4}" type="datetime1">
              <a:rPr lang="en-US" smtClean="0"/>
              <a:t>10/1/2025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7992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EA080-6A29-4A4D-90B1-4C73660CABD5}" type="datetime1">
              <a:rPr lang="en-US" smtClean="0"/>
              <a:t>10/1/2025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6893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FF1D62-0785-460A-9888-5F5908AD45F7}" type="datetime1">
              <a:rPr lang="en-US" smtClean="0"/>
              <a:t>10/1/2025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5129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03F5A6-4790-4338-AC59-416730A16F3C}" type="datetime1">
              <a:rPr lang="en-US" smtClean="0"/>
              <a:t>10/1/2025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47417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F331C8-E8D8-438B-B699-9ACE625F3A09}" type="datetime1">
              <a:rPr lang="en-US" smtClean="0"/>
              <a:t>10/1/2025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482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610C12D3-F429-42CB-9467-4C3AFEEA173C}" type="datetime1">
              <a:rPr lang="en-US" smtClean="0"/>
              <a:t>10/1/2025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72571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3F426E-E29E-4D2E-B32D-412D98F7FC2F}" type="datetime1">
              <a:rPr lang="en-US" smtClean="0"/>
              <a:t>10/1/2025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625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F15864-78C5-4237-8A12-0D1FD4E5F0BD}" type="datetime1">
              <a:rPr lang="en-US" smtClean="0"/>
              <a:t>10/1/2025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53202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9BBA17-EAD5-43A8-9481-F99B1E8564DB}" type="datetime1">
              <a:rPr lang="en-US" smtClean="0"/>
              <a:t>10/1/2025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4365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0FEA4-C6CA-4262-94C7-989766AA3A47}" type="datetime1">
              <a:rPr lang="en-US" smtClean="0"/>
              <a:t>10/1/2025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8537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5A5F7-BE7B-4360-B821-FCDB8E9197AC}" type="datetime1">
              <a:rPr lang="en-US" smtClean="0"/>
              <a:t>10/1/2025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32284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5D492-0F60-495A-BAAC-3C877C1D64A2}" type="datetime1">
              <a:rPr lang="en-US" smtClean="0"/>
              <a:t>10/1/2025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37380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22FED-C97B-4E3C-B05B-1278829CCA0F}" type="datetime1">
              <a:rPr lang="en-US" smtClean="0"/>
              <a:t>10/1/2025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43444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BF91E7-DD27-45EE-9FAC-A58839C2E3FB}" type="datetime1">
              <a:rPr lang="en-US" smtClean="0"/>
              <a:t>10/1/2025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62880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0DB943-D34E-498D-BB5B-1BC0D01A4C3C}" type="datetime1">
              <a:rPr lang="en-US" smtClean="0"/>
              <a:t>10/1/2025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28472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F88AC7-A362-47DE-B037-3A7E785BA73D}" type="datetime1">
              <a:rPr lang="en-US" smtClean="0"/>
              <a:t>10/1/2025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18365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1E09BAED-B7FC-4220-8037-60663F890984}" type="datetime1">
              <a:rPr lang="en-US" smtClean="0"/>
              <a:t>10/1/2025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9847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3C0B96-D43B-410F-A514-3967CACDF6C4}" type="datetime1">
              <a:rPr lang="en-US" smtClean="0"/>
              <a:t>10/1/2025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78896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3DFB46-027F-4778-8182-714012A6E051}" type="datetime1">
              <a:rPr lang="en-US" smtClean="0"/>
              <a:t>10/1/2025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983972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FD05A-9631-4BEE-9AA4-5575ADA850E9}" type="datetime1">
              <a:rPr lang="en-US" smtClean="0"/>
              <a:t>10/1/2025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05847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44539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254906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3158564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17139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18883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485214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889299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D82884F1-FFEA-405F-9602-3DCA865EDA4E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407636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1557652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766061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474148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preserve="1">
  <p:cSld name="Title and body 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280530" y="597425"/>
            <a:ext cx="766854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Arial Black"/>
              <a:buNone/>
              <a:defRPr>
                <a:latin typeface="Arial Black"/>
                <a:ea typeface="Arial Black"/>
                <a:cs typeface="Arial Black"/>
                <a:sym typeface="Arial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altLang="zh-CN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1194581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03313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832872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080707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14803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465884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5901690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244478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D82884F1-FFEA-405F-9602-3DCA865EDA4E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60160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359678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842688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6303352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1411" y="2314323"/>
            <a:ext cx="7626779" cy="250361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92304" y="765324"/>
            <a:ext cx="7420646" cy="1106260"/>
          </a:xfrm>
          <a:effectLst/>
        </p:spPr>
        <p:txBody>
          <a:bodyPr anchor="b">
            <a:normAutofit/>
          </a:bodyPr>
          <a:lstStyle>
            <a:lvl1pPr>
              <a:defRPr sz="243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92306" y="1871584"/>
            <a:ext cx="7420644" cy="442741"/>
          </a:xfrm>
        </p:spPr>
        <p:txBody>
          <a:bodyPr anchor="t">
            <a:normAutofit/>
          </a:bodyPr>
          <a:lstStyle>
            <a:lvl1pPr marL="0" indent="0" algn="l">
              <a:buNone/>
              <a:defRPr sz="1080" cap="all">
                <a:solidFill>
                  <a:schemeClr val="accent1"/>
                </a:solidFill>
              </a:defRPr>
            </a:lvl1pPr>
            <a:lvl2pPr marL="3086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17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258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344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51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602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688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FA0ACE7-29A8-47D3-A7D9-257B711D8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EC604B9-52E9-4810-8359-47206518D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98A89F-CA25-400F-B05A-AECBF2517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914084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89154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2305" y="1755648"/>
            <a:ext cx="7444990" cy="27258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770E6237-3456-439F-802D-3BA93FC7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DD82B9-B8EE-4375-B6FF-88FA6ABB15D9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356D3B5-6063-4A89-B88F-9D3043916F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2B78BF7-69D3-4CE0-A631-50EFD41EE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6079349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302276" y="3856481"/>
            <a:ext cx="7621331" cy="944120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6" y="1795463"/>
            <a:ext cx="7444990" cy="1610600"/>
          </a:xfrm>
        </p:spPr>
        <p:txBody>
          <a:bodyPr anchor="b">
            <a:normAutofit/>
          </a:bodyPr>
          <a:lstStyle>
            <a:lvl1pPr algn="l">
              <a:defRPr sz="2430" b="0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3406063"/>
            <a:ext cx="7444990" cy="450417"/>
          </a:xfrm>
        </p:spPr>
        <p:txBody>
          <a:bodyPr anchor="t">
            <a:normAutofit/>
          </a:bodyPr>
          <a:lstStyle>
            <a:lvl1pPr marL="0" indent="0" algn="l">
              <a:buNone/>
              <a:defRPr sz="1215" cap="all">
                <a:solidFill>
                  <a:schemeClr val="accent1"/>
                </a:solidFill>
              </a:defRPr>
            </a:lvl1pPr>
            <a:lvl2pPr marL="308610" indent="0">
              <a:buNone/>
              <a:defRPr sz="1215">
                <a:solidFill>
                  <a:schemeClr val="tx1">
                    <a:tint val="75000"/>
                  </a:schemeClr>
                </a:solidFill>
              </a:defRPr>
            </a:lvl2pPr>
            <a:lvl3pPr marL="617220" indent="0">
              <a:buNone/>
              <a:defRPr sz="1080">
                <a:solidFill>
                  <a:schemeClr val="tx1">
                    <a:tint val="75000"/>
                  </a:schemeClr>
                </a:solidFill>
              </a:defRPr>
            </a:lvl3pPr>
            <a:lvl4pPr marL="92583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4pPr>
            <a:lvl5pPr marL="123444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5pPr>
            <a:lvl6pPr marL="154305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6pPr>
            <a:lvl7pPr marL="185166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7pPr>
            <a:lvl8pPr marL="216027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8pPr>
            <a:lvl9pPr marL="2468880" indent="0">
              <a:buNone/>
              <a:defRPr sz="94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1582016-5696-4A93-887F-BBB3B9002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97495-0637-405E-AE64-5CC7506D51F5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7CFCD5-1192-4E18-8A8F-29E153B44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39A109E-5018-4794-92B3-FD5E5BCD9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21676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92305" y="1671003"/>
            <a:ext cx="3506468" cy="272478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30827" y="1671003"/>
            <a:ext cx="3506469" cy="2724785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FD690-9426-415D-8B65-26881E07B2D4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820401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392305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4" y="1688168"/>
            <a:ext cx="3506469" cy="418338"/>
          </a:xfrm>
        </p:spPr>
        <p:txBody>
          <a:bodyPr anchor="ctr">
            <a:noAutofit/>
          </a:bodyPr>
          <a:lstStyle>
            <a:lvl1pPr marL="0" indent="0">
              <a:buNone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2306" y="2194540"/>
            <a:ext cx="3506467" cy="22012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30826" y="1688169"/>
            <a:ext cx="3506470" cy="415030"/>
          </a:xfrm>
        </p:spPr>
        <p:txBody>
          <a:bodyPr anchor="ctr">
            <a:noAutofit/>
          </a:bodyPr>
          <a:lstStyle>
            <a:lvl1pPr marL="0" marR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 sz="135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08610" indent="0">
              <a:buNone/>
              <a:defRPr sz="1350" b="1"/>
            </a:lvl2pPr>
            <a:lvl3pPr marL="617220" indent="0">
              <a:buNone/>
              <a:defRPr sz="1215" b="1"/>
            </a:lvl3pPr>
            <a:lvl4pPr marL="925830" indent="0">
              <a:buNone/>
              <a:defRPr sz="1080" b="1"/>
            </a:lvl4pPr>
            <a:lvl5pPr marL="1234440" indent="0">
              <a:buNone/>
              <a:defRPr sz="1080" b="1"/>
            </a:lvl5pPr>
            <a:lvl6pPr marL="1543050" indent="0">
              <a:buNone/>
              <a:defRPr sz="1080" b="1"/>
            </a:lvl6pPr>
            <a:lvl7pPr marL="1851660" indent="0">
              <a:buNone/>
              <a:defRPr sz="1080" b="1"/>
            </a:lvl7pPr>
            <a:lvl8pPr marL="2160270" indent="0">
              <a:buNone/>
              <a:defRPr sz="1080" b="1"/>
            </a:lvl8pPr>
            <a:lvl9pPr marL="2468880" indent="0">
              <a:buNone/>
              <a:defRPr sz="1080" b="1"/>
            </a:lvl9pPr>
          </a:lstStyle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405"/>
              </a:spcAft>
              <a:buClr>
                <a:schemeClr val="accent1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30826" y="2194540"/>
            <a:ext cx="3506470" cy="220124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C4989A-474C-40DE-95B9-011C28B71673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7857701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388728" y="547244"/>
            <a:ext cx="7444991" cy="74124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D54-5B5E-4A04-93D3-5772E3CE3818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7721970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DE50D6-574B-40AF-946F-D52A04ADE379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5790817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302277" y="450901"/>
            <a:ext cx="2485838" cy="436160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8304" y="700088"/>
            <a:ext cx="2046500" cy="129181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8127" y="884872"/>
            <a:ext cx="4489419" cy="3493662"/>
          </a:xfrm>
        </p:spPr>
        <p:txBody>
          <a:bodyPr anchor="ctr">
            <a:normAutofit/>
          </a:bodyPr>
          <a:lstStyle>
            <a:lvl1pPr>
              <a:defRPr sz="1350">
                <a:solidFill>
                  <a:schemeClr val="tx2"/>
                </a:solidFill>
              </a:defRPr>
            </a:lvl1pPr>
            <a:lvl2pPr>
              <a:defRPr sz="1215">
                <a:solidFill>
                  <a:schemeClr val="tx2"/>
                </a:solidFill>
              </a:defRPr>
            </a:lvl2pPr>
            <a:lvl3pPr>
              <a:defRPr sz="1080">
                <a:solidFill>
                  <a:schemeClr val="tx2"/>
                </a:solidFill>
              </a:defRPr>
            </a:lvl3pPr>
            <a:lvl4pPr>
              <a:defRPr sz="945">
                <a:solidFill>
                  <a:schemeClr val="tx2"/>
                </a:solidFill>
              </a:defRPr>
            </a:lvl4pPr>
            <a:lvl5pPr>
              <a:defRPr sz="945">
                <a:solidFill>
                  <a:schemeClr val="tx2"/>
                </a:solidFill>
              </a:defRPr>
            </a:lvl5pPr>
            <a:lvl6pPr>
              <a:defRPr sz="945">
                <a:solidFill>
                  <a:schemeClr val="tx2"/>
                </a:solidFill>
              </a:defRPr>
            </a:lvl6pPr>
            <a:lvl7pPr>
              <a:defRPr sz="945">
                <a:solidFill>
                  <a:schemeClr val="tx2"/>
                </a:solidFill>
              </a:defRPr>
            </a:lvl7pPr>
            <a:lvl8pPr>
              <a:defRPr sz="945">
                <a:solidFill>
                  <a:schemeClr val="tx2"/>
                </a:solidFill>
              </a:defRPr>
            </a:lvl8pPr>
            <a:lvl9pPr>
              <a:defRPr sz="945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8304" y="2127491"/>
            <a:ext cx="2046500" cy="2251044"/>
          </a:xfrm>
        </p:spPr>
        <p:txBody>
          <a:bodyPr anchor="t">
            <a:normAutofit/>
          </a:bodyPr>
          <a:lstStyle>
            <a:lvl1pPr marL="0" indent="0" algn="l">
              <a:buNone/>
              <a:defRPr sz="1080">
                <a:solidFill>
                  <a:srgbClr val="FFFFFF"/>
                </a:solidFill>
              </a:defRPr>
            </a:lvl1pPr>
            <a:lvl2pPr marL="308610" indent="0">
              <a:buNone/>
              <a:defRPr sz="743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0B919CC2-2A65-446F-B538-9E624903544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134017" y="4842687"/>
            <a:ext cx="1920239" cy="273844"/>
          </a:xfrm>
        </p:spPr>
        <p:txBody>
          <a:bodyPr/>
          <a:lstStyle/>
          <a:p>
            <a:fld id="{D82884F1-FFEA-405F-9602-3DCA865EDA4E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B72412AE-119E-4982-8B24-63365EFCA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92304" y="4839443"/>
            <a:ext cx="466911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7FC4BB19-6AD1-45CF-9F99-00B10989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126853" y="4842687"/>
            <a:ext cx="710444" cy="273844"/>
          </a:xfrm>
        </p:spPr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119357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2305" y="3520042"/>
            <a:ext cx="7444991" cy="425054"/>
          </a:xfrm>
        </p:spPr>
        <p:txBody>
          <a:bodyPr anchor="b">
            <a:normAutofit/>
          </a:bodyPr>
          <a:lstStyle>
            <a:lvl1pPr algn="l">
              <a:defRPr sz="162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02277" y="481013"/>
            <a:ext cx="7621330" cy="2738437"/>
          </a:xfrm>
        </p:spPr>
        <p:txBody>
          <a:bodyPr anchor="t">
            <a:normAutofit/>
          </a:bodyPr>
          <a:lstStyle>
            <a:lvl1pPr marL="0" indent="0" algn="ctr">
              <a:buNone/>
              <a:defRPr sz="1080"/>
            </a:lvl1pPr>
            <a:lvl2pPr marL="308610" indent="0">
              <a:buNone/>
              <a:defRPr sz="1080"/>
            </a:lvl2pPr>
            <a:lvl3pPr marL="617220" indent="0">
              <a:buNone/>
              <a:defRPr sz="1080"/>
            </a:lvl3pPr>
            <a:lvl4pPr marL="925830" indent="0">
              <a:buNone/>
              <a:defRPr sz="1080"/>
            </a:lvl4pPr>
            <a:lvl5pPr marL="1234440" indent="0">
              <a:buNone/>
              <a:defRPr sz="1080"/>
            </a:lvl5pPr>
            <a:lvl6pPr marL="1543050" indent="0">
              <a:buNone/>
              <a:defRPr sz="1080"/>
            </a:lvl6pPr>
            <a:lvl7pPr marL="1851660" indent="0">
              <a:buNone/>
              <a:defRPr sz="1080"/>
            </a:lvl7pPr>
            <a:lvl8pPr marL="2160270" indent="0">
              <a:buNone/>
              <a:defRPr sz="1080"/>
            </a:lvl8pPr>
            <a:lvl9pPr marL="2468880" indent="0">
              <a:buNone/>
              <a:defRPr sz="108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92305" y="3945095"/>
            <a:ext cx="7444991" cy="748611"/>
          </a:xfrm>
        </p:spPr>
        <p:txBody>
          <a:bodyPr anchor="t">
            <a:normAutofit/>
          </a:bodyPr>
          <a:lstStyle>
            <a:lvl1pPr marL="0" indent="0">
              <a:buNone/>
              <a:defRPr sz="1080"/>
            </a:lvl1pPr>
            <a:lvl2pPr marL="308610" indent="0">
              <a:buNone/>
              <a:defRPr sz="810"/>
            </a:lvl2pPr>
            <a:lvl3pPr marL="617220" indent="0">
              <a:buNone/>
              <a:defRPr sz="675"/>
            </a:lvl3pPr>
            <a:lvl4pPr marL="925830" indent="0">
              <a:buNone/>
              <a:defRPr sz="608"/>
            </a:lvl4pPr>
            <a:lvl5pPr marL="1234440" indent="0">
              <a:buNone/>
              <a:defRPr sz="608"/>
            </a:lvl5pPr>
            <a:lvl6pPr marL="1543050" indent="0">
              <a:buNone/>
              <a:defRPr sz="608"/>
            </a:lvl6pPr>
            <a:lvl7pPr marL="1851660" indent="0">
              <a:buNone/>
              <a:defRPr sz="608"/>
            </a:lvl7pPr>
            <a:lvl8pPr marL="2160270" indent="0">
              <a:buNone/>
              <a:defRPr sz="608"/>
            </a:lvl8pPr>
            <a:lvl9pPr marL="2468880" indent="0">
              <a:buNone/>
              <a:defRPr sz="60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18DB4A-8810-4A10-AD5C-D5E2C667F5B3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000933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392305" y="526617"/>
            <a:ext cx="7444991" cy="7603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D4963-E985-44C4-B8C4-FDD613B7C2F8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676872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5439252" y="449794"/>
            <a:ext cx="2488938" cy="436271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37835" y="647700"/>
            <a:ext cx="2108835" cy="3605495"/>
          </a:xfrm>
        </p:spPr>
        <p:txBody>
          <a:bodyPr vert="eaVert" anchor="ctr"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23073" y="647700"/>
            <a:ext cx="4834097" cy="3605495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423B97-A5D4-47B9-8861-73B3707A04CF}"/>
              </a:ext>
            </a:extLst>
          </p:cNvPr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EC0421-37B4-4481-A10D-69FDF5EC7909}"/>
              </a:ext>
            </a:extLst>
          </p:cNvPr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7265B5-9F97-4F1E-99E9-74F7B7E62337}"/>
              </a:ext>
            </a:extLst>
          </p:cNvPr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5C74A470-3BD3-4F33-80E5-67E6E87FC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91B17-9318-49DB-B28B-6E5994AE9581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9A3A30BA-DB50-4D7D-BCDE-17D20FB35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FF9E58-C0B2-436B-A21C-DB45A00D6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689623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preserve="1">
  <p:cSld name="Title and body 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280530" y="597425"/>
            <a:ext cx="766854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Arial Black"/>
              <a:buNone/>
              <a:defRPr>
                <a:latin typeface="Arial Black"/>
                <a:ea typeface="Arial Black"/>
                <a:cs typeface="Arial Black"/>
                <a:sym typeface="Arial Black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334703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slideLayout" Target="../slideLayouts/slideLayout34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2.xml"/><Relationship Id="rId3" Type="http://schemas.openxmlformats.org/officeDocument/2006/relationships/slideLayout" Target="../slideLayouts/slideLayout37.xml"/><Relationship Id="rId7" Type="http://schemas.openxmlformats.org/officeDocument/2006/relationships/slideLayout" Target="../slideLayouts/slideLayout41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6.xml"/><Relationship Id="rId1" Type="http://schemas.openxmlformats.org/officeDocument/2006/relationships/slideLayout" Target="../slideLayouts/slideLayout35.xml"/><Relationship Id="rId6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5.xml"/><Relationship Id="rId5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44.xml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3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48.xml"/><Relationship Id="rId7" Type="http://schemas.openxmlformats.org/officeDocument/2006/relationships/slideLayout" Target="../slideLayouts/slideLayout52.xml"/><Relationship Id="rId12" Type="http://schemas.openxmlformats.org/officeDocument/2006/relationships/slideLayout" Target="../slideLayouts/slideLayout57.xml"/><Relationship Id="rId2" Type="http://schemas.openxmlformats.org/officeDocument/2006/relationships/slideLayout" Target="../slideLayouts/slideLayout47.xml"/><Relationship Id="rId1" Type="http://schemas.openxmlformats.org/officeDocument/2006/relationships/slideLayout" Target="../slideLayouts/slideLayout46.xml"/><Relationship Id="rId6" Type="http://schemas.openxmlformats.org/officeDocument/2006/relationships/slideLayout" Target="../slideLayouts/slideLayout51.xml"/><Relationship Id="rId11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0.xml"/><Relationship Id="rId10" Type="http://schemas.openxmlformats.org/officeDocument/2006/relationships/slideLayout" Target="../slideLayouts/slideLayout55.xml"/><Relationship Id="rId4" Type="http://schemas.openxmlformats.org/officeDocument/2006/relationships/slideLayout" Target="../slideLayouts/slideLayout49.xml"/><Relationship Id="rId9" Type="http://schemas.openxmlformats.org/officeDocument/2006/relationships/slideLayout" Target="../slideLayouts/slideLayout5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E7733A4-5D18-4D09-8F94-45F71EE3C7C2}" type="datetime1">
              <a:rPr lang="en-US" smtClean="0"/>
              <a:t>10/1/2025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58438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8234BEC2-5A9D-42E1-9C16-1E9F257755B7}" type="datetime1">
              <a:rPr lang="en-US" smtClean="0"/>
              <a:t>10/1/2025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127DDC20-79C9-9647-820E-6D40A3D210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39496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9368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  <p:sldLayoutId id="2147483696" r:id="rId12"/>
  </p:sldLayoutIdLst>
  <p:hf sldNum="0"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1796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</p:sldLayoutIdLst>
  <p:hf sldNum="0"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92305" y="528843"/>
            <a:ext cx="7444991" cy="8921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305" y="1752002"/>
            <a:ext cx="7444991" cy="27390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34017" y="4817936"/>
            <a:ext cx="192023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ED291B17-9318-49DB-B28B-6E5994AE9581}" type="datetime1">
              <a:rPr lang="en-US" smtClean="0"/>
              <a:t>10/1/2025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92304" y="4817936"/>
            <a:ext cx="4669117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08" cap="all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26853" y="4817936"/>
            <a:ext cx="710444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08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301410" y="342900"/>
            <a:ext cx="2499741" cy="71248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0" name="Rectangle 9"/>
          <p:cNvSpPr/>
          <p:nvPr/>
        </p:nvSpPr>
        <p:spPr>
          <a:xfrm>
            <a:off x="5428449" y="340232"/>
            <a:ext cx="2499741" cy="73916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  <p:sp>
        <p:nvSpPr>
          <p:cNvPr id="11" name="Rectangle 10"/>
          <p:cNvSpPr/>
          <p:nvPr/>
        </p:nvSpPr>
        <p:spPr>
          <a:xfrm>
            <a:off x="2863235" y="342900"/>
            <a:ext cx="2499741" cy="685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10670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</p:sldLayoutIdLst>
  <p:hf sldNum="0" hdr="0" ftr="0" dt="0"/>
  <p:txStyles>
    <p:titleStyle>
      <a:lvl1pPr algn="l" defTabSz="308610" rtl="0" eaLnBrk="1" latinLnBrk="0" hangingPunct="1">
        <a:lnSpc>
          <a:spcPct val="100000"/>
        </a:lnSpc>
        <a:spcBef>
          <a:spcPct val="0"/>
        </a:spcBef>
        <a:buNone/>
        <a:defRPr sz="1890" b="0" kern="1200" cap="all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065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21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25250" indent="-2065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10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07500" indent="-1822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945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38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081350" indent="-157950" algn="l" defTabSz="308610" rtl="0" eaLnBrk="1" latinLnBrk="0" hangingPunct="1">
        <a:lnSpc>
          <a:spcPct val="100000"/>
        </a:lnSpc>
        <a:spcBef>
          <a:spcPct val="20000"/>
        </a:spcBef>
        <a:spcAft>
          <a:spcPts val="405"/>
        </a:spcAft>
        <a:buClr>
          <a:schemeClr val="accent1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282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6pPr>
      <a:lvl7pPr marL="1485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7pPr>
      <a:lvl8pPr marL="16875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8pPr>
      <a:lvl9pPr marL="1890000" indent="-154305" algn="l" defTabSz="308610" rtl="0" eaLnBrk="1" latinLnBrk="0" hangingPunct="1">
        <a:spcBef>
          <a:spcPct val="20000"/>
        </a:spcBef>
        <a:spcAft>
          <a:spcPts val="405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81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1pPr>
      <a:lvl2pPr marL="30861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2pPr>
      <a:lvl3pPr marL="61722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3pPr>
      <a:lvl4pPr marL="92583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4pPr>
      <a:lvl5pPr marL="123444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5pPr>
      <a:lvl6pPr marL="154305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6pPr>
      <a:lvl7pPr marL="185166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7pPr>
      <a:lvl8pPr marL="216027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algn="l" defTabSz="308610" rtl="0" eaLnBrk="1" latinLnBrk="0" hangingPunct="1">
        <a:defRPr sz="12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875485B9-8EE1-447A-9C08-F7D6B532A8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257176"/>
            <a:ext cx="8229599" cy="46291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pic>
        <p:nvPicPr>
          <p:cNvPr id="4" name="Picture 3" descr="A colorful background with waves&#10;&#10;Description automatically generated with medium confidence">
            <a:extLst>
              <a:ext uri="{FF2B5EF4-FFF2-40B4-BE49-F238E27FC236}">
                <a16:creationId xmlns:a16="http://schemas.microsoft.com/office/drawing/2014/main" id="{1734BD9E-DDD5-C150-8BA0-0B1B13AE06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1111"/>
          <a:stretch/>
        </p:blipFill>
        <p:spPr>
          <a:xfrm>
            <a:off x="13" y="257175"/>
            <a:ext cx="8229587" cy="462914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963707F-B98C-4143-AFCF-D6B56C975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6990" y="565785"/>
            <a:ext cx="3382366" cy="61722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D2DFBB-460D-4ECB-BD76-509C99DAD6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8018" y="662983"/>
            <a:ext cx="3381337" cy="390782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DE3439C-E1CA-A039-1552-7B23AB7007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5060" y="785709"/>
            <a:ext cx="3871767" cy="1831185"/>
          </a:xfrm>
        </p:spPr>
        <p:txBody>
          <a:bodyPr>
            <a:normAutofit/>
          </a:bodyPr>
          <a:lstStyle/>
          <a:p>
            <a:r>
              <a:rPr lang="en-US" altLang="zh-CN" sz="2800" dirty="0"/>
              <a:t>Lecture 07 </a:t>
            </a:r>
            <a:br>
              <a:rPr lang="en-US" altLang="zh-CN" sz="2800" dirty="0"/>
            </a:br>
            <a:r>
              <a:rPr lang="en-US" altLang="zh-CN" sz="2800" dirty="0"/>
              <a:t>Map Elements</a:t>
            </a:r>
            <a:br>
              <a:rPr lang="en-US" altLang="zh-CN" sz="2800" dirty="0"/>
            </a:br>
            <a:br>
              <a:rPr lang="en-US" sz="2700" dirty="0">
                <a:solidFill>
                  <a:srgbClr val="FFFFFF"/>
                </a:solidFill>
              </a:rPr>
            </a:br>
            <a:r>
              <a:rPr lang="en-US" sz="2700" dirty="0">
                <a:solidFill>
                  <a:srgbClr val="FFFFFF"/>
                </a:solidFill>
              </a:rPr>
              <a:t>lecture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D6AEC8-AD7D-2F2A-F638-325ACB8C9D6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5060" y="2798352"/>
            <a:ext cx="2916154" cy="1537292"/>
          </a:xfrm>
        </p:spPr>
        <p:txBody>
          <a:bodyPr>
            <a:noAutofit/>
          </a:bodyPr>
          <a:lstStyle/>
          <a:p>
            <a:r>
              <a:rPr lang="en-US" sz="1890" dirty="0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Instructor: Yanan Wu</a:t>
            </a:r>
          </a:p>
          <a:p>
            <a:r>
              <a:rPr lang="en-US" sz="1890" dirty="0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</a:p>
          <a:p>
            <a:r>
              <a:rPr lang="en-US" sz="1890" dirty="0" err="1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fALL</a:t>
            </a:r>
            <a:r>
              <a:rPr lang="en-US" sz="1890" dirty="0">
                <a:solidFill>
                  <a:srgbClr val="FFFFFF">
                    <a:alpha val="75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2025</a:t>
            </a:r>
          </a:p>
          <a:p>
            <a:endParaRPr lang="en-US" sz="1890" dirty="0">
              <a:solidFill>
                <a:srgbClr val="FFFFFF">
                  <a:alpha val="75000"/>
                </a:srgb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89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1301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DCF4EB5C-ED25-4675-8255-2F5B12CFFC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1410" y="565785"/>
            <a:ext cx="2499741" cy="64123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14EC6E-A557-42A2-BCDC-3ABFFC5E5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28449" y="563384"/>
            <a:ext cx="2499741" cy="66524"/>
          </a:xfrm>
          <a:prstGeom prst="rect">
            <a:avLst/>
          </a:prstGeom>
          <a:solidFill>
            <a:srgbClr val="969F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05482C9-EB42-4BFE-95BF-7FD661F076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863235" y="565785"/>
            <a:ext cx="2499741" cy="6172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539E646-A625-4A26-86ED-BD90EDD329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1411" y="2340066"/>
            <a:ext cx="7626779" cy="225325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39171204-6A50-40E1-B631-84CEDFC939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7175"/>
            <a:ext cx="8229600" cy="46291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6C973F6-5187-412F-AACC-6E3FF8A6A1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3999" y="592623"/>
            <a:ext cx="746661" cy="3955321"/>
          </a:xfrm>
          <a:prstGeom prst="rect">
            <a:avLst/>
          </a:prstGeom>
          <a:solidFill>
            <a:srgbClr val="465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11AE14F-1B7E-41E6-B579-2F71D13503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178" y="592621"/>
            <a:ext cx="6723707" cy="2482699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78BAB5-C1DE-8DAD-E76F-BECA6F24C1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8258" y="735412"/>
            <a:ext cx="6492542" cy="2247787"/>
          </a:xfrm>
        </p:spPr>
        <p:txBody>
          <a:bodyPr vert="horz" lIns="61722" tIns="30861" rIns="61722" bIns="30861" rtlCol="0" anchor="ctr">
            <a:normAutofit/>
          </a:bodyPr>
          <a:lstStyle/>
          <a:p>
            <a:r>
              <a:rPr lang="en-US" sz="4050" dirty="0">
                <a:solidFill>
                  <a:srgbClr val="FFFFFF"/>
                </a:solidFill>
              </a:rPr>
              <a:t>7.1 </a:t>
            </a:r>
            <a:br>
              <a:rPr lang="en-US" sz="4050" dirty="0">
                <a:solidFill>
                  <a:srgbClr val="FFFFFF"/>
                </a:solidFill>
              </a:rPr>
            </a:br>
            <a:r>
              <a:rPr lang="en-US" sz="4050" dirty="0">
                <a:solidFill>
                  <a:srgbClr val="FFFFFF"/>
                </a:solidFill>
              </a:rPr>
              <a:t>MAP ELEMENTS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52BB805-F7B7-4B80-A1C5-385D4DAF74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56133" y="3149018"/>
            <a:ext cx="6723753" cy="1398925"/>
          </a:xfrm>
          <a:prstGeom prst="rect">
            <a:avLst/>
          </a:prstGeom>
          <a:solidFill>
            <a:srgbClr val="6C7781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30861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15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39517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23" name="Rectangle 3"/>
          <p:cNvSpPr>
            <a:spLocks noGrp="1" noChangeArrowheads="1"/>
          </p:cNvSpPr>
          <p:nvPr>
            <p:ph idx="1"/>
          </p:nvPr>
        </p:nvSpPr>
        <p:spPr>
          <a:xfrm>
            <a:off x="76200" y="876300"/>
            <a:ext cx="8077200" cy="2399049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000" dirty="0"/>
              <a:t>Allows the map user to determine where data were obtained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Sources of base information are normally omitted from thematic maps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000" dirty="0"/>
              <a:t>Should be formatted similar to a standard bibliographic reference, but is often more concise and less formal 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413EBF-9B5B-45E1-B6EC-28D2CD8E0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3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C8B6E33-BB32-407B-B3A2-4DB83E80B91D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1">
            <a:extLst>
              <a:ext uri="{FF2B5EF4-FFF2-40B4-BE49-F238E27FC236}">
                <a16:creationId xmlns:a16="http://schemas.microsoft.com/office/drawing/2014/main" id="{6D9AF380-D92B-4FD3-A5AF-A2B8A746E2D9}"/>
              </a:ext>
            </a:extLst>
          </p:cNvPr>
          <p:cNvSpPr txBox="1">
            <a:spLocks/>
          </p:cNvSpPr>
          <p:nvPr/>
        </p:nvSpPr>
        <p:spPr>
          <a:xfrm>
            <a:off x="238454" y="164384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D</a:t>
            </a:r>
            <a:r>
              <a:rPr lang="en-US" altLang="zh-CN" sz="3200" dirty="0">
                <a:solidFill>
                  <a:srgbClr val="7030A0"/>
                </a:solidFill>
              </a:rPr>
              <a:t>ata source</a:t>
            </a:r>
            <a:endParaRPr lang="en-US" sz="2600" i="1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71" name="Rectangle 3"/>
          <p:cNvSpPr>
            <a:spLocks noGrp="1" noChangeArrowheads="1"/>
          </p:cNvSpPr>
          <p:nvPr>
            <p:ph idx="1"/>
          </p:nvPr>
        </p:nvSpPr>
        <p:spPr>
          <a:xfrm>
            <a:off x="152400" y="1014070"/>
            <a:ext cx="8001000" cy="3741896"/>
          </a:xfrm>
        </p:spPr>
        <p:txBody>
          <a:bodyPr>
            <a:normAutofit fontScale="92500"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400" dirty="0"/>
              <a:t>The words “Data Source:” or “Source:” should be included to avoid ambiguity</a:t>
            </a:r>
          </a:p>
          <a:p>
            <a:pPr marL="594360" lvl="1" indent="-285750">
              <a:buFont typeface="Wingdings" panose="05000000000000000000" pitchFamily="2" charset="2"/>
              <a:buChar char="ü"/>
            </a:pPr>
            <a:r>
              <a:rPr lang="en-US" sz="2200" dirty="0"/>
              <a:t>The data source indicates where data came from, not map authorship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400" dirty="0"/>
              <a:t>A separate block of type can be used to indicate map authorship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400" dirty="0"/>
              <a:t>The style of the data source should be plain and subtle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400" dirty="0"/>
              <a:t>Publication names should be </a:t>
            </a:r>
            <a:r>
              <a:rPr lang="en-US" sz="2400" i="1" dirty="0"/>
              <a:t>italicized</a:t>
            </a:r>
            <a:r>
              <a:rPr lang="en-US" sz="2400" dirty="0"/>
              <a:t>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400" dirty="0"/>
              <a:t>Multiple lines of type should be horizontally centered (center aligned) </a:t>
            </a:r>
          </a:p>
          <a:p>
            <a:pPr marL="308610" lvl="1" indent="0">
              <a:buNone/>
            </a:pP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84C556-2BF8-4CCA-9244-3DA9407E3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4</a:t>
            </a:fld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A3BAF26-21BD-4526-AD1E-92E0A256B648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FFF1CC0-0ABD-4FA5-8B7F-599AC402B1EA}"/>
              </a:ext>
            </a:extLst>
          </p:cNvPr>
          <p:cNvSpPr txBox="1">
            <a:spLocks/>
          </p:cNvSpPr>
          <p:nvPr/>
        </p:nvSpPr>
        <p:spPr>
          <a:xfrm>
            <a:off x="152400" y="166618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D</a:t>
            </a:r>
            <a:r>
              <a:rPr lang="en-US" altLang="zh-CN" sz="3200" dirty="0">
                <a:solidFill>
                  <a:srgbClr val="7030A0"/>
                </a:solidFill>
              </a:rPr>
              <a:t>ata source</a:t>
            </a:r>
            <a:endParaRPr lang="en-US" sz="2600" i="1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972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33323" y="1748494"/>
            <a:ext cx="5681088" cy="2112551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A3BAF26-21BD-4526-AD1E-92E0A256B648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9FFF1CC0-0ABD-4FA5-8B7F-599AC402B1EA}"/>
              </a:ext>
            </a:extLst>
          </p:cNvPr>
          <p:cNvSpPr txBox="1">
            <a:spLocks/>
          </p:cNvSpPr>
          <p:nvPr/>
        </p:nvSpPr>
        <p:spPr>
          <a:xfrm>
            <a:off x="230959" y="201859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D</a:t>
            </a:r>
            <a:r>
              <a:rPr lang="en-US" altLang="zh-CN" sz="3200" dirty="0">
                <a:solidFill>
                  <a:srgbClr val="7030A0"/>
                </a:solidFill>
              </a:rPr>
              <a:t>ata source</a:t>
            </a:r>
            <a:endParaRPr lang="en-US" sz="2600" i="1" dirty="0">
              <a:solidFill>
                <a:srgbClr val="7030A0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3829A4E-2266-4CA3-B4F6-610212483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6626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19" name="Rectangle 3"/>
          <p:cNvSpPr>
            <a:spLocks noGrp="1" noChangeArrowheads="1"/>
          </p:cNvSpPr>
          <p:nvPr>
            <p:ph idx="1"/>
          </p:nvPr>
        </p:nvSpPr>
        <p:spPr>
          <a:xfrm>
            <a:off x="288758" y="985840"/>
            <a:ext cx="7700209" cy="1543050"/>
          </a:xfrm>
        </p:spPr>
        <p:txBody>
          <a:bodyPr>
            <a:no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1600" dirty="0"/>
              <a:t>The data source should be among the smallest type on a map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600" dirty="0"/>
              <a:t>Its purpose is to inform the curious, not to attract attention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1600" dirty="0"/>
              <a:t>Center it below the legend</a:t>
            </a:r>
          </a:p>
          <a:p>
            <a:pPr marL="727234" lvl="1" indent="-457200">
              <a:buFont typeface="Wingdings" panose="05000000000000000000" pitchFamily="2" charset="2"/>
              <a:buChar char="ü"/>
            </a:pPr>
            <a:r>
              <a:rPr lang="en-US" sz="1600" dirty="0"/>
              <a:t>Or tuck it into a lower corner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320318-7D3E-4E4F-A5D3-78DC6ACE4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86020" name="Picture 5" descr="Image showing data sourc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22614" y="2940222"/>
            <a:ext cx="2396014" cy="2157056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pic>
        <p:nvPicPr>
          <p:cNvPr id="2" name="Picture 1" descr="Image showing data sourc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7903" y="3440243"/>
            <a:ext cx="3109455" cy="982478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9EE5423-F840-4562-AE03-FE11EB9F6852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F708B0C1-5640-41C0-B7C3-D0DDA7FEA272}"/>
              </a:ext>
            </a:extLst>
          </p:cNvPr>
          <p:cNvSpPr txBox="1">
            <a:spLocks/>
          </p:cNvSpPr>
          <p:nvPr/>
        </p:nvSpPr>
        <p:spPr>
          <a:xfrm>
            <a:off x="288758" y="12859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D</a:t>
            </a:r>
            <a:r>
              <a:rPr lang="en-US" altLang="zh-CN" sz="3200" dirty="0">
                <a:solidFill>
                  <a:srgbClr val="7030A0"/>
                </a:solidFill>
              </a:rPr>
              <a:t>ata source</a:t>
            </a:r>
            <a:endParaRPr lang="en-US" sz="2600" i="1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67" name="Rectangle 3"/>
          <p:cNvSpPr>
            <a:spLocks noGrp="1" noChangeArrowheads="1"/>
          </p:cNvSpPr>
          <p:nvPr>
            <p:ph idx="1"/>
          </p:nvPr>
        </p:nvSpPr>
        <p:spPr>
          <a:xfrm>
            <a:off x="118533" y="1028700"/>
            <a:ext cx="7870435" cy="2628895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000" dirty="0"/>
              <a:t>Indicates the amount of reduction that has taken place on a map, or allows the map user to measure distances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000" dirty="0"/>
              <a:t>Can take three forms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Representative Fraction (1:24,000) 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Verbal Scale (“One Inch to the Mile”)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Bar Scale or Scale Bar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F76C17A-4AB0-4AA1-8D36-17A705D01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7</a:t>
            </a:fld>
            <a:endParaRPr lang="en-US"/>
          </a:p>
        </p:txBody>
      </p:sp>
      <p:pic>
        <p:nvPicPr>
          <p:cNvPr id="88068" name="Picture 4" descr="Image showing scale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028025" y="3121254"/>
            <a:ext cx="1454050" cy="1833604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F99F1A8-A99C-4BCA-881F-493B6793DD01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2326BF4C-D5A6-4D87-9299-C75E7ABC924E}"/>
              </a:ext>
            </a:extLst>
          </p:cNvPr>
          <p:cNvSpPr txBox="1">
            <a:spLocks/>
          </p:cNvSpPr>
          <p:nvPr/>
        </p:nvSpPr>
        <p:spPr>
          <a:xfrm>
            <a:off x="260940" y="17145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Scale</a:t>
            </a:r>
            <a:endParaRPr lang="en-US" sz="2600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091" name="Picture 3" descr="Image showing scale"/>
          <p:cNvPicPr preferRelativeResize="0"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27704" y="1052274"/>
            <a:ext cx="4979551" cy="36604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70372" name="Oval 4" descr="Red circle"/>
          <p:cNvSpPr>
            <a:spLocks noChangeArrowheads="1"/>
          </p:cNvSpPr>
          <p:nvPr/>
        </p:nvSpPr>
        <p:spPr bwMode="auto">
          <a:xfrm>
            <a:off x="5109211" y="4319470"/>
            <a:ext cx="1446609" cy="383619"/>
          </a:xfrm>
          <a:prstGeom prst="ellips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</p:spPr>
        <p:txBody>
          <a:bodyPr wrap="none" anchor="ctr"/>
          <a:lstStyle/>
          <a:p>
            <a:endParaRPr lang="en-US" sz="1215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4F623BC-4BFB-4E54-B05D-FD0D42473E59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F08ED228-176A-466B-8C92-BE95ED0CEFE5}"/>
              </a:ext>
            </a:extLst>
          </p:cNvPr>
          <p:cNvSpPr txBox="1">
            <a:spLocks/>
          </p:cNvSpPr>
          <p:nvPr/>
        </p:nvSpPr>
        <p:spPr>
          <a:xfrm>
            <a:off x="268434" y="185381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Scale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FE1996B-A2AE-4F32-A897-B41C902027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0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037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39" name="Rectangle 3"/>
          <p:cNvSpPr>
            <a:spLocks noGrp="1" noChangeArrowheads="1"/>
          </p:cNvSpPr>
          <p:nvPr>
            <p:ph idx="1"/>
          </p:nvPr>
        </p:nvSpPr>
        <p:spPr>
          <a:xfrm>
            <a:off x="118533" y="957714"/>
            <a:ext cx="7818120" cy="3202056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400" dirty="0"/>
              <a:t>The bar scale is preferred format for inclusion on a thematic map 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400" dirty="0"/>
              <a:t>Resembles a ruler 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400" dirty="0"/>
              <a:t>Remains true when a map is enlarged or reduced (representative fractions and verbal scales don’t)</a:t>
            </a:r>
          </a:p>
          <a:p>
            <a:pPr marL="727226" lvl="1" indent="-457200">
              <a:buFont typeface="Wingdings" panose="05000000000000000000" pitchFamily="2" charset="2"/>
              <a:buChar char="ü"/>
            </a:pPr>
            <a:r>
              <a:rPr lang="en-US" sz="2400" dirty="0"/>
              <a:t>Include if distance information can enhance the map user’s understanding of the theme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184035-05D3-4200-B06D-E79D6205E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9</a:t>
            </a:fld>
            <a:endParaRPr lang="en-US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2C320FB-BD2A-4B6D-9598-423246954E4A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5B1F549D-29E0-4CE6-B74B-5D3B67FBA063}"/>
              </a:ext>
            </a:extLst>
          </p:cNvPr>
          <p:cNvSpPr txBox="1">
            <a:spLocks/>
          </p:cNvSpPr>
          <p:nvPr/>
        </p:nvSpPr>
        <p:spPr>
          <a:xfrm>
            <a:off x="292947" y="200006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Scale</a:t>
            </a:r>
            <a:endParaRPr lang="en-US" sz="2600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2C320FB-BD2A-4B6D-9598-423246954E4A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5B1F549D-29E0-4CE6-B74B-5D3B67FBA063}"/>
              </a:ext>
            </a:extLst>
          </p:cNvPr>
          <p:cNvSpPr txBox="1">
            <a:spLocks/>
          </p:cNvSpPr>
          <p:nvPr/>
        </p:nvSpPr>
        <p:spPr>
          <a:xfrm>
            <a:off x="235518" y="173613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Scale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FBE3332-4ED6-4335-8129-744FAC4673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10</a:t>
            </a:fld>
            <a:endParaRPr lang="en-US"/>
          </a:p>
        </p:txBody>
      </p:sp>
      <p:pic>
        <p:nvPicPr>
          <p:cNvPr id="1026" name="Picture 2" descr="Information 15 00107 g006">
            <a:extLst>
              <a:ext uri="{FF2B5EF4-FFF2-40B4-BE49-F238E27FC236}">
                <a16:creationId xmlns:a16="http://schemas.microsoft.com/office/drawing/2014/main" id="{7CB9B25E-18DF-7DFC-54B5-94EDEFCE63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8727" y="1030863"/>
            <a:ext cx="5416888" cy="39653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16293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3" name="Rectangle 3"/>
          <p:cNvSpPr>
            <a:spLocks noGrp="1" noChangeArrowheads="1"/>
          </p:cNvSpPr>
          <p:nvPr>
            <p:ph idx="1"/>
          </p:nvPr>
        </p:nvSpPr>
        <p:spPr>
          <a:xfrm>
            <a:off x="236278" y="1000978"/>
            <a:ext cx="7917122" cy="974981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000" dirty="0"/>
              <a:t>Use caution when employing bar scales on smaller scale maps</a:t>
            </a:r>
          </a:p>
          <a:p>
            <a:pPr marL="1125855" lvl="2" indent="-457200">
              <a:buFont typeface="Wingdings" panose="05000000000000000000" pitchFamily="2" charset="2"/>
              <a:buChar char="ü"/>
            </a:pPr>
            <a:r>
              <a:rPr lang="en-US" sz="2000" dirty="0"/>
              <a:t>Scale is only accurate along standard lines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D8EF2E5-5D69-4F16-897E-BDC7A050E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11</a:t>
            </a:fld>
            <a:endParaRPr lang="en-US"/>
          </a:p>
        </p:txBody>
      </p:sp>
      <p:pic>
        <p:nvPicPr>
          <p:cNvPr id="92164" name="Picture 5" descr="Image showing scale"/>
          <p:cNvPicPr>
            <a:picLocks noChangeAspect="1" noChangeArrowheads="1"/>
          </p:cNvPicPr>
          <p:nvPr/>
        </p:nvPicPr>
        <p:blipFill>
          <a:blip r:embed="rId3" cstate="print"/>
          <a:srcRect t="6451" b="16319"/>
          <a:stretch>
            <a:fillRect/>
          </a:stretch>
        </p:blipFill>
        <p:spPr bwMode="auto">
          <a:xfrm>
            <a:off x="2008596" y="2364484"/>
            <a:ext cx="4602066" cy="2610500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92165" name="Text Box 6"/>
          <p:cNvSpPr txBox="1">
            <a:spLocks noChangeArrowheads="1"/>
          </p:cNvSpPr>
          <p:nvPr/>
        </p:nvSpPr>
        <p:spPr bwMode="auto">
          <a:xfrm>
            <a:off x="432150" y="1976852"/>
            <a:ext cx="3525253" cy="300082"/>
          </a:xfrm>
          <a:prstGeom prst="rect">
            <a:avLst/>
          </a:prstGeom>
          <a:solidFill>
            <a:schemeClr val="bg1"/>
          </a:solidFill>
          <a:ln w="9525" algn="ctr">
            <a:solidFill>
              <a:srgbClr val="FF0000"/>
            </a:solidFill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lang="en-US" sz="1350" dirty="0"/>
              <a:t>Scale is accurate only along the standard line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102BB30-A513-4913-A493-0AE4D17EC639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itle 1">
            <a:extLst>
              <a:ext uri="{FF2B5EF4-FFF2-40B4-BE49-F238E27FC236}">
                <a16:creationId xmlns:a16="http://schemas.microsoft.com/office/drawing/2014/main" id="{44A66D0F-FD62-4D62-A1D7-F96AC05B44AE}"/>
              </a:ext>
            </a:extLst>
          </p:cNvPr>
          <p:cNvSpPr txBox="1">
            <a:spLocks/>
          </p:cNvSpPr>
          <p:nvPr/>
        </p:nvSpPr>
        <p:spPr>
          <a:xfrm>
            <a:off x="236278" y="168516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Scale</a:t>
            </a:r>
            <a:endParaRPr lang="en-US" sz="2600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11" name="Rectangle 3"/>
          <p:cNvSpPr>
            <a:spLocks noGrp="1" noChangeArrowheads="1"/>
          </p:cNvSpPr>
          <p:nvPr>
            <p:ph idx="1"/>
          </p:nvPr>
        </p:nvSpPr>
        <p:spPr>
          <a:xfrm>
            <a:off x="33867" y="1003558"/>
            <a:ext cx="8077200" cy="3043882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The maximum distance value should always be round and easy to work with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2600" dirty="0"/>
              <a:t>Incorporate a unit of measure that is appropriate for the intended audience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Incorporate both miles and kilometers if necessary 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Choose a unit of measure that is appropriate for the maximum value</a:t>
            </a:r>
          </a:p>
          <a:p>
            <a:pPr lvl="1" indent="-360045"/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4044809-C523-4428-B06D-7BC522F53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12</a:t>
            </a:fld>
            <a:endParaRPr lang="en-US"/>
          </a:p>
        </p:txBody>
      </p:sp>
      <p:pic>
        <p:nvPicPr>
          <p:cNvPr id="94212" name="Picture 6" descr="Image showing scal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7884" y="3760981"/>
            <a:ext cx="2173129" cy="596860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pic>
        <p:nvPicPr>
          <p:cNvPr id="94213" name="Picture 10" descr="Image showing scale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650209" y="4512815"/>
            <a:ext cx="3335774" cy="591503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grpSp>
        <p:nvGrpSpPr>
          <p:cNvPr id="94214" name="Group 12" descr="Image showing scale"/>
          <p:cNvGrpSpPr>
            <a:grpSpLocks/>
          </p:cNvGrpSpPr>
          <p:nvPr/>
        </p:nvGrpSpPr>
        <p:grpSpPr bwMode="auto">
          <a:xfrm>
            <a:off x="2615029" y="3738294"/>
            <a:ext cx="3722608" cy="618292"/>
            <a:chOff x="1053" y="2822"/>
            <a:chExt cx="3474" cy="577"/>
          </a:xfrm>
        </p:grpSpPr>
        <p:pic>
          <p:nvPicPr>
            <p:cNvPr id="94215" name="Picture 8"/>
            <p:cNvPicPr>
              <a:picLocks noChangeAspect="1" noChangeArrowheads="1"/>
            </p:cNvPicPr>
            <p:nvPr/>
          </p:nvPicPr>
          <p:blipFill>
            <a:blip r:embed="rId4" cstate="print"/>
            <a:srcRect r="2866"/>
            <a:stretch>
              <a:fillRect/>
            </a:stretch>
          </p:blipFill>
          <p:spPr bwMode="auto">
            <a:xfrm>
              <a:off x="1053" y="2822"/>
              <a:ext cx="3458" cy="577"/>
            </a:xfrm>
            <a:prstGeom prst="rect">
              <a:avLst/>
            </a:prstGeom>
            <a:noFill/>
            <a:ln w="9525" algn="ctr">
              <a:solidFill>
                <a:schemeClr val="tx1"/>
              </a:solidFill>
              <a:miter lim="800000"/>
              <a:headEnd/>
              <a:tailEnd/>
            </a:ln>
          </p:spPr>
        </p:pic>
        <p:sp>
          <p:nvSpPr>
            <p:cNvPr id="94216" name="Rectangle 11"/>
            <p:cNvSpPr>
              <a:spLocks noChangeArrowheads="1"/>
            </p:cNvSpPr>
            <p:nvPr/>
          </p:nvSpPr>
          <p:spPr bwMode="auto">
            <a:xfrm>
              <a:off x="4355" y="2951"/>
              <a:ext cx="172" cy="261"/>
            </a:xfrm>
            <a:prstGeom prst="rect">
              <a:avLst/>
            </a:prstGeom>
            <a:solidFill>
              <a:schemeClr val="bg1"/>
            </a:solidFill>
            <a:ln w="9525" algn="ctr">
              <a:noFill/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 sz="1215"/>
            </a:p>
          </p:txBody>
        </p:sp>
      </p:grp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E29180A-36BA-4E43-98B2-CC03623A4B7D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1">
            <a:extLst>
              <a:ext uri="{FF2B5EF4-FFF2-40B4-BE49-F238E27FC236}">
                <a16:creationId xmlns:a16="http://schemas.microsoft.com/office/drawing/2014/main" id="{B08AF1DA-6E76-4CC4-981F-A206239C865C}"/>
              </a:ext>
            </a:extLst>
          </p:cNvPr>
          <p:cNvSpPr txBox="1">
            <a:spLocks/>
          </p:cNvSpPr>
          <p:nvPr/>
        </p:nvSpPr>
        <p:spPr>
          <a:xfrm>
            <a:off x="237884" y="156106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Scale</a:t>
            </a:r>
            <a:endParaRPr lang="en-US" sz="2600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3" name="Rectangle 3"/>
          <p:cNvSpPr>
            <a:spLocks noGrp="1" noChangeArrowheads="1"/>
          </p:cNvSpPr>
          <p:nvPr>
            <p:ph idx="1"/>
          </p:nvPr>
        </p:nvSpPr>
        <p:spPr>
          <a:xfrm>
            <a:off x="161535" y="922910"/>
            <a:ext cx="7906530" cy="2880990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000" dirty="0"/>
              <a:t>The style of the bar scale should be simple and subtle; it should not attract attention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Bulky and complex designs should be avoided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Line weights should be thin and type should be among the smallest on a map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Avoid the use of bold and italic type styles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A0C38B-1D13-420D-B7B4-DEFB2F948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13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53C7D2-E673-4F0B-BC5D-966FD27C3E10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DB846AD2-ABA7-41FC-8500-DFD9254A2CEC}"/>
              </a:ext>
            </a:extLst>
          </p:cNvPr>
          <p:cNvSpPr txBox="1">
            <a:spLocks/>
          </p:cNvSpPr>
          <p:nvPr/>
        </p:nvSpPr>
        <p:spPr>
          <a:xfrm>
            <a:off x="170670" y="162396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Scale</a:t>
            </a:r>
            <a:endParaRPr lang="en-US" sz="2600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 descr="Image showing scal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533111" y="1870098"/>
            <a:ext cx="2827200" cy="1102360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pic>
        <p:nvPicPr>
          <p:cNvPr id="6" name="Picture 6" descr="Image showing scale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33111" y="3186147"/>
            <a:ext cx="2827200" cy="1519260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7" name="Text Box 7"/>
          <p:cNvSpPr txBox="1">
            <a:spLocks noChangeArrowheads="1"/>
          </p:cNvSpPr>
          <p:nvPr/>
        </p:nvSpPr>
        <p:spPr bwMode="auto">
          <a:xfrm>
            <a:off x="5581711" y="2247879"/>
            <a:ext cx="1545142" cy="300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350" dirty="0"/>
              <a:t>Poorly Designed</a:t>
            </a:r>
          </a:p>
        </p:txBody>
      </p:sp>
      <p:sp>
        <p:nvSpPr>
          <p:cNvPr id="8" name="Text Box 8"/>
          <p:cNvSpPr txBox="1">
            <a:spLocks noChangeArrowheads="1"/>
          </p:cNvSpPr>
          <p:nvPr/>
        </p:nvSpPr>
        <p:spPr bwMode="auto">
          <a:xfrm>
            <a:off x="5669787" y="3626302"/>
            <a:ext cx="1545141" cy="3000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350" dirty="0"/>
              <a:t>Well Designed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53C7D2-E673-4F0B-BC5D-966FD27C3E10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DB846AD2-ABA7-41FC-8500-DFD9254A2CEC}"/>
              </a:ext>
            </a:extLst>
          </p:cNvPr>
          <p:cNvSpPr txBox="1">
            <a:spLocks/>
          </p:cNvSpPr>
          <p:nvPr/>
        </p:nvSpPr>
        <p:spPr>
          <a:xfrm>
            <a:off x="152400" y="145648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Discussion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5AA9ED1-190D-4313-9A86-4E4B0C8E1F06}"/>
              </a:ext>
            </a:extLst>
          </p:cNvPr>
          <p:cNvSpPr txBox="1"/>
          <p:nvPr/>
        </p:nvSpPr>
        <p:spPr>
          <a:xfrm>
            <a:off x="1476412" y="1133189"/>
            <a:ext cx="567114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Which group is better? And Why?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7CDF850-DF0D-43B0-BE28-2E695A8BC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4387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453C7D2-E673-4F0B-BC5D-966FD27C3E10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DB846AD2-ABA7-41FC-8500-DFD9254A2CEC}"/>
              </a:ext>
            </a:extLst>
          </p:cNvPr>
          <p:cNvSpPr txBox="1">
            <a:spLocks/>
          </p:cNvSpPr>
          <p:nvPr/>
        </p:nvSpPr>
        <p:spPr>
          <a:xfrm>
            <a:off x="310896" y="120918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Scale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7CDF850-DF0D-43B0-BE28-2E695A8BC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15</a:t>
            </a:fld>
            <a:endParaRPr lang="en-US"/>
          </a:p>
        </p:txBody>
      </p:sp>
      <p:pic>
        <p:nvPicPr>
          <p:cNvPr id="11" name="Picture 10" descr="Image showing scale">
            <a:extLst>
              <a:ext uri="{FF2B5EF4-FFF2-40B4-BE49-F238E27FC236}">
                <a16:creationId xmlns:a16="http://schemas.microsoft.com/office/drawing/2014/main" id="{11C361CE-5153-4D51-AC75-3353FD4AA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847" y="2457529"/>
            <a:ext cx="5962214" cy="173724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2B40AEA-B1F8-4234-B92A-5ED951D05E30}"/>
              </a:ext>
            </a:extLst>
          </p:cNvPr>
          <p:cNvSpPr txBox="1"/>
          <p:nvPr/>
        </p:nvSpPr>
        <p:spPr>
          <a:xfrm>
            <a:off x="310896" y="1132529"/>
            <a:ext cx="676046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dirty="0"/>
              <a:t>The compact form is more modern, the linear form is classic.</a:t>
            </a:r>
          </a:p>
        </p:txBody>
      </p:sp>
      <p:sp>
        <p:nvSpPr>
          <p:cNvPr id="14" name="Rectangle 5">
            <a:extLst>
              <a:ext uri="{FF2B5EF4-FFF2-40B4-BE49-F238E27FC236}">
                <a16:creationId xmlns:a16="http://schemas.microsoft.com/office/drawing/2014/main" id="{4204CCBE-E302-473B-9FF5-B2B33FDDD1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9049" y="4434618"/>
            <a:ext cx="974947" cy="24622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000" dirty="0">
                <a:solidFill>
                  <a:srgbClr val="7030A0"/>
                </a:solidFill>
              </a:rPr>
              <a:t>Peterson, 2021</a:t>
            </a:r>
          </a:p>
        </p:txBody>
      </p:sp>
    </p:spTree>
    <p:extLst>
      <p:ext uri="{BB962C8B-B14F-4D97-AF65-F5344CB8AC3E}">
        <p14:creationId xmlns:p14="http://schemas.microsoft.com/office/powerpoint/2010/main" val="2522603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546651-FD7B-4AE3-1E90-4BFCCE95FA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0896" y="978168"/>
            <a:ext cx="7444990" cy="597408"/>
          </a:xfrm>
        </p:spPr>
        <p:txBody>
          <a:bodyPr>
            <a:normAutofit/>
          </a:bodyPr>
          <a:lstStyle/>
          <a:p>
            <a:r>
              <a:rPr lang="en-US" altLang="zh-CN" sz="2400" dirty="0"/>
              <a:t>Explore Scale in ArcGIS Pro</a:t>
            </a:r>
            <a:endParaRPr lang="zh-CN" alt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3507B-B38F-EB06-3C57-6F5287F46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25723FA5-4FB2-F35F-5A4B-37235F724902}"/>
              </a:ext>
            </a:extLst>
          </p:cNvPr>
          <p:cNvSpPr txBox="1">
            <a:spLocks/>
          </p:cNvSpPr>
          <p:nvPr/>
        </p:nvSpPr>
        <p:spPr>
          <a:xfrm>
            <a:off x="310896" y="120918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Scale</a:t>
            </a:r>
            <a:endParaRPr lang="en-US" sz="26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298474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9" name="Rectangle 3"/>
          <p:cNvSpPr>
            <a:spLocks noGrp="1" noChangeArrowheads="1"/>
          </p:cNvSpPr>
          <p:nvPr>
            <p:ph idx="1"/>
          </p:nvPr>
        </p:nvSpPr>
        <p:spPr>
          <a:xfrm>
            <a:off x="229883" y="1002892"/>
            <a:ext cx="7769833" cy="1795163"/>
          </a:xfrm>
        </p:spPr>
        <p:txBody>
          <a:bodyPr>
            <a:no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1800" dirty="0"/>
              <a:t>The indication of north on a map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sz="1800" dirty="0"/>
              <a:t>Orientation can be indicated by a 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North Arrow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dirty="0"/>
              <a:t>Graticule (a system of grid lines, normally representing longitude and latitude)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C9DA414-9F56-4B34-AB97-967FEE794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17</a:t>
            </a:fld>
            <a:endParaRPr lang="en-US"/>
          </a:p>
        </p:txBody>
      </p:sp>
      <p:pic>
        <p:nvPicPr>
          <p:cNvPr id="101380" name="Picture 4" descr="Image north arrow"/>
          <p:cNvPicPr>
            <a:picLocks noChangeAspect="1" noChangeArrowheads="1"/>
          </p:cNvPicPr>
          <p:nvPr/>
        </p:nvPicPr>
        <p:blipFill>
          <a:blip r:embed="rId2" cstate="print"/>
          <a:srcRect t="43307"/>
          <a:stretch>
            <a:fillRect/>
          </a:stretch>
        </p:blipFill>
        <p:spPr bwMode="auto">
          <a:xfrm>
            <a:off x="755610" y="2894529"/>
            <a:ext cx="2995882" cy="2115623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FC04BC5-0C8E-4D54-8121-733EF7DAE27E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6E0DB97C-737D-46F0-B786-40C88C6FF285}"/>
              </a:ext>
            </a:extLst>
          </p:cNvPr>
          <p:cNvSpPr txBox="1">
            <a:spLocks/>
          </p:cNvSpPr>
          <p:nvPr/>
        </p:nvSpPr>
        <p:spPr>
          <a:xfrm>
            <a:off x="264695" y="153262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Orientation</a:t>
            </a:r>
            <a:endParaRPr lang="en-US" sz="2600" dirty="0">
              <a:solidFill>
                <a:srgbClr val="7030A0"/>
              </a:solidFill>
            </a:endParaRPr>
          </a:p>
        </p:txBody>
      </p:sp>
      <p:pic>
        <p:nvPicPr>
          <p:cNvPr id="2" name="Picture 5" descr="image showing graticule">
            <a:extLst>
              <a:ext uri="{FF2B5EF4-FFF2-40B4-BE49-F238E27FC236}">
                <a16:creationId xmlns:a16="http://schemas.microsoft.com/office/drawing/2014/main" id="{38458325-8C7D-4D95-8795-CBE3D70F05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 t="6451" b="16319"/>
          <a:stretch>
            <a:fillRect/>
          </a:stretch>
        </p:blipFill>
        <p:spPr bwMode="auto">
          <a:xfrm>
            <a:off x="3968495" y="2894529"/>
            <a:ext cx="3694538" cy="2095709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7" name="Rectangle 3"/>
          <p:cNvSpPr>
            <a:spLocks noGrp="1" noChangeArrowheads="1"/>
          </p:cNvSpPr>
          <p:nvPr>
            <p:ph idx="1"/>
          </p:nvPr>
        </p:nvSpPr>
        <p:spPr>
          <a:xfrm>
            <a:off x="152400" y="950058"/>
            <a:ext cx="8001000" cy="1660204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000" dirty="0"/>
              <a:t>A north arrow is </a:t>
            </a:r>
            <a:r>
              <a:rPr lang="en-US" sz="2000" i="1" dirty="0"/>
              <a:t>not required </a:t>
            </a:r>
            <a:r>
              <a:rPr lang="en-US" sz="2000" dirty="0"/>
              <a:t>on </a:t>
            </a:r>
            <a:r>
              <a:rPr lang="en-US" sz="2000" i="1" dirty="0"/>
              <a:t>every</a:t>
            </a:r>
            <a:r>
              <a:rPr lang="en-US" sz="2000" dirty="0"/>
              <a:t> </a:t>
            </a:r>
            <a:r>
              <a:rPr lang="en-US" sz="2000" i="1" dirty="0"/>
              <a:t>map!</a:t>
            </a:r>
            <a:endParaRPr lang="en-US" sz="2000" dirty="0"/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The orientation of maps with north at the top is a long-standing tradition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It is assumed that “north is at the top” of most modern maps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A26050B-0F09-4AAB-9635-AA143F2B6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18</a:t>
            </a:fld>
            <a:endParaRPr lang="en-US"/>
          </a:p>
        </p:txBody>
      </p:sp>
      <p:pic>
        <p:nvPicPr>
          <p:cNvPr id="4" name="Picture 3" descr="Image showing map"/>
          <p:cNvPicPr preferRelativeResize="0"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62349" y="2637409"/>
            <a:ext cx="3304902" cy="24294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CE201F0-833C-49A0-946A-0C4D0EB22CFE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0B114705-C7B4-48CF-9EE1-1B9F18DEC45B}"/>
              </a:ext>
            </a:extLst>
          </p:cNvPr>
          <p:cNvSpPr txBox="1">
            <a:spLocks/>
          </p:cNvSpPr>
          <p:nvPr/>
        </p:nvSpPr>
        <p:spPr>
          <a:xfrm>
            <a:off x="275168" y="184738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Orientation</a:t>
            </a:r>
            <a:endParaRPr lang="en-US" sz="2600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1" name="Rectangle 3"/>
          <p:cNvSpPr>
            <a:spLocks noGrp="1" noChangeArrowheads="1"/>
          </p:cNvSpPr>
          <p:nvPr>
            <p:ph idx="1"/>
          </p:nvPr>
        </p:nvSpPr>
        <p:spPr>
          <a:xfrm>
            <a:off x="118533" y="922907"/>
            <a:ext cx="7870614" cy="1129282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000" dirty="0"/>
              <a:t>Include an indication of orientation if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The map is </a:t>
            </a:r>
            <a:r>
              <a:rPr lang="en-US" sz="2000" i="1" dirty="0"/>
              <a:t>not</a:t>
            </a:r>
            <a:r>
              <a:rPr lang="en-US" sz="2000" dirty="0"/>
              <a:t> oriented with geographic or “true” north at the top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335CE27-3B5A-4E49-88A9-85E7529FA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19</a:t>
            </a:fld>
            <a:endParaRPr lang="en-US"/>
          </a:p>
        </p:txBody>
      </p:sp>
      <p:pic>
        <p:nvPicPr>
          <p:cNvPr id="104452" name="Picture 4" descr="Image showing north arrow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18928" y="2052189"/>
            <a:ext cx="6191743" cy="2554165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268EBF0-8402-40DC-936B-2C76407507E0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DF8E4202-E36F-4F6C-8DF9-AF284F37FDBA}"/>
              </a:ext>
            </a:extLst>
          </p:cNvPr>
          <p:cNvSpPr txBox="1">
            <a:spLocks/>
          </p:cNvSpPr>
          <p:nvPr/>
        </p:nvSpPr>
        <p:spPr>
          <a:xfrm>
            <a:off x="240453" y="17145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Orientation</a:t>
            </a:r>
            <a:endParaRPr lang="en-US" sz="2600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9" name="Rectangle 4"/>
          <p:cNvSpPr>
            <a:spLocks noGrp="1" noChangeArrowheads="1"/>
          </p:cNvSpPr>
          <p:nvPr>
            <p:ph idx="1"/>
          </p:nvPr>
        </p:nvSpPr>
        <p:spPr>
          <a:xfrm>
            <a:off x="0" y="1028700"/>
            <a:ext cx="8077200" cy="1299972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000" dirty="0"/>
              <a:t>Include an indication of orientation if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Geographic features are oriented in a manner that might confuse the map user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1772D49-202B-410D-9143-C6CD7390D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20</a:t>
            </a:fld>
            <a:endParaRPr lang="en-US"/>
          </a:p>
        </p:txBody>
      </p:sp>
      <p:pic>
        <p:nvPicPr>
          <p:cNvPr id="106500" name="Picture 5" descr="Image showing north arrow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264325" y="2434461"/>
            <a:ext cx="5777150" cy="2383475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EDC45D47-D9A4-425E-98E6-7A8DF523C3DA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itle 1">
            <a:extLst>
              <a:ext uri="{FF2B5EF4-FFF2-40B4-BE49-F238E27FC236}">
                <a16:creationId xmlns:a16="http://schemas.microsoft.com/office/drawing/2014/main" id="{C7AC46E4-4C2B-435A-A5F0-6BC6436863E1}"/>
              </a:ext>
            </a:extLst>
          </p:cNvPr>
          <p:cNvSpPr txBox="1">
            <a:spLocks/>
          </p:cNvSpPr>
          <p:nvPr/>
        </p:nvSpPr>
        <p:spPr>
          <a:xfrm>
            <a:off x="289221" y="183675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Orientation</a:t>
            </a:r>
            <a:endParaRPr lang="en-US" sz="2600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3" name="Rectangle 3"/>
          <p:cNvSpPr>
            <a:spLocks noGrp="1" noChangeArrowheads="1"/>
          </p:cNvSpPr>
          <p:nvPr>
            <p:ph idx="1"/>
          </p:nvPr>
        </p:nvSpPr>
        <p:spPr>
          <a:xfrm>
            <a:off x="152400" y="1004237"/>
            <a:ext cx="8119532" cy="1775540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000" dirty="0"/>
              <a:t>A graticule indicates direction through the orientation of grid lines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Typically meridians that run north–south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The graticule can also provide positional information, such as latitude and longitude 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99C320A-A619-44DE-BE54-77BF6DE99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21</a:t>
            </a:fld>
            <a:endParaRPr lang="en-US"/>
          </a:p>
        </p:txBody>
      </p:sp>
      <p:pic>
        <p:nvPicPr>
          <p:cNvPr id="107524" name="Picture 6" descr="Image showing north arrow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25818" y="2779777"/>
            <a:ext cx="5109094" cy="2104643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12DB62C-9360-4AA9-A343-48B4125FB8A2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itle 1">
            <a:extLst>
              <a:ext uri="{FF2B5EF4-FFF2-40B4-BE49-F238E27FC236}">
                <a16:creationId xmlns:a16="http://schemas.microsoft.com/office/drawing/2014/main" id="{D8FAA60D-9ABF-4EF0-8A7F-015F34F11C64}"/>
              </a:ext>
            </a:extLst>
          </p:cNvPr>
          <p:cNvSpPr txBox="1">
            <a:spLocks/>
          </p:cNvSpPr>
          <p:nvPr/>
        </p:nvSpPr>
        <p:spPr>
          <a:xfrm>
            <a:off x="194732" y="146986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Orientation</a:t>
            </a:r>
            <a:endParaRPr lang="en-US" sz="2600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7" name="Rectangle 3"/>
          <p:cNvSpPr>
            <a:spLocks noGrp="1" noChangeArrowheads="1"/>
          </p:cNvSpPr>
          <p:nvPr>
            <p:ph idx="1"/>
          </p:nvPr>
        </p:nvSpPr>
        <p:spPr>
          <a:xfrm>
            <a:off x="152401" y="1028701"/>
            <a:ext cx="8043332" cy="1177016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2000" dirty="0"/>
              <a:t>Use caution when using north arrows on smaller scale map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2000" dirty="0"/>
              <a:t>The direction of north can differ greatly in the maps with azimuthal and conic projection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59CE1A-39DF-405B-A7F4-3CD746ED7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22</a:t>
            </a:fld>
            <a:endParaRPr lang="en-US"/>
          </a:p>
        </p:txBody>
      </p:sp>
      <p:pic>
        <p:nvPicPr>
          <p:cNvPr id="10854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39288" y="2637891"/>
            <a:ext cx="5433893" cy="2238494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grpSp>
        <p:nvGrpSpPr>
          <p:cNvPr id="2" name="Group 8" descr="north arrrow"/>
          <p:cNvGrpSpPr>
            <a:grpSpLocks/>
          </p:cNvGrpSpPr>
          <p:nvPr/>
        </p:nvGrpSpPr>
        <p:grpSpPr bwMode="auto">
          <a:xfrm>
            <a:off x="4105669" y="3806966"/>
            <a:ext cx="319325" cy="829389"/>
            <a:chOff x="5345" y="836"/>
            <a:chExt cx="298" cy="774"/>
          </a:xfrm>
        </p:grpSpPr>
        <p:sp>
          <p:nvSpPr>
            <p:cNvPr id="108554" name="Rectangle 7"/>
            <p:cNvSpPr>
              <a:spLocks noChangeArrowheads="1"/>
            </p:cNvSpPr>
            <p:nvPr/>
          </p:nvSpPr>
          <p:spPr bwMode="auto">
            <a:xfrm>
              <a:off x="5419" y="1132"/>
              <a:ext cx="172" cy="2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 sz="1215"/>
            </a:p>
          </p:txBody>
        </p:sp>
        <p:sp>
          <p:nvSpPr>
            <p:cNvPr id="108555" name="Line 5"/>
            <p:cNvSpPr>
              <a:spLocks noChangeShapeType="1"/>
            </p:cNvSpPr>
            <p:nvPr/>
          </p:nvSpPr>
          <p:spPr bwMode="auto">
            <a:xfrm flipV="1">
              <a:off x="5472" y="1124"/>
              <a:ext cx="0" cy="48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</p:spPr>
          <p:txBody>
            <a:bodyPr>
              <a:spAutoFit/>
            </a:bodyPr>
            <a:lstStyle/>
            <a:p>
              <a:endParaRPr lang="en-US" sz="1215"/>
            </a:p>
          </p:txBody>
        </p:sp>
        <p:sp>
          <p:nvSpPr>
            <p:cNvPr id="108556" name="Rectangle 6"/>
            <p:cNvSpPr>
              <a:spLocks noChangeArrowheads="1"/>
            </p:cNvSpPr>
            <p:nvPr/>
          </p:nvSpPr>
          <p:spPr bwMode="auto">
            <a:xfrm>
              <a:off x="5345" y="836"/>
              <a:ext cx="298" cy="319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20"/>
                <a:t>N</a:t>
              </a:r>
            </a:p>
          </p:txBody>
        </p:sp>
      </p:grpSp>
      <p:grpSp>
        <p:nvGrpSpPr>
          <p:cNvPr id="3" name="Group 9" descr="north arrow"/>
          <p:cNvGrpSpPr>
            <a:grpSpLocks/>
          </p:cNvGrpSpPr>
          <p:nvPr/>
        </p:nvGrpSpPr>
        <p:grpSpPr bwMode="auto">
          <a:xfrm rot="-960000">
            <a:off x="6252266" y="2976567"/>
            <a:ext cx="319326" cy="846534"/>
            <a:chOff x="5324" y="820"/>
            <a:chExt cx="298" cy="790"/>
          </a:xfrm>
        </p:grpSpPr>
        <p:sp>
          <p:nvSpPr>
            <p:cNvPr id="108551" name="Rectangle 10"/>
            <p:cNvSpPr>
              <a:spLocks noChangeArrowheads="1"/>
            </p:cNvSpPr>
            <p:nvPr/>
          </p:nvSpPr>
          <p:spPr bwMode="auto">
            <a:xfrm>
              <a:off x="5391" y="1132"/>
              <a:ext cx="172" cy="2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 sz="1215"/>
            </a:p>
          </p:txBody>
        </p:sp>
        <p:sp>
          <p:nvSpPr>
            <p:cNvPr id="108552" name="Line 11"/>
            <p:cNvSpPr>
              <a:spLocks noChangeShapeType="1"/>
            </p:cNvSpPr>
            <p:nvPr/>
          </p:nvSpPr>
          <p:spPr bwMode="auto">
            <a:xfrm flipV="1">
              <a:off x="5472" y="1124"/>
              <a:ext cx="0" cy="48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</p:spPr>
          <p:txBody>
            <a:bodyPr>
              <a:spAutoFit/>
            </a:bodyPr>
            <a:lstStyle/>
            <a:p>
              <a:endParaRPr lang="en-US" sz="1215"/>
            </a:p>
          </p:txBody>
        </p:sp>
        <p:sp>
          <p:nvSpPr>
            <p:cNvPr id="108553" name="Rectangle 12"/>
            <p:cNvSpPr>
              <a:spLocks noChangeArrowheads="1"/>
            </p:cNvSpPr>
            <p:nvPr/>
          </p:nvSpPr>
          <p:spPr bwMode="auto">
            <a:xfrm>
              <a:off x="5324" y="820"/>
              <a:ext cx="298" cy="319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20"/>
                <a:t>N</a:t>
              </a:r>
            </a:p>
          </p:txBody>
        </p:sp>
      </p:grpSp>
      <p:grpSp>
        <p:nvGrpSpPr>
          <p:cNvPr id="13" name="Group 9" descr="north arrow"/>
          <p:cNvGrpSpPr>
            <a:grpSpLocks/>
          </p:cNvGrpSpPr>
          <p:nvPr/>
        </p:nvGrpSpPr>
        <p:grpSpPr bwMode="auto">
          <a:xfrm rot="900000">
            <a:off x="1946750" y="2967826"/>
            <a:ext cx="319326" cy="846534"/>
            <a:chOff x="5324" y="820"/>
            <a:chExt cx="298" cy="790"/>
          </a:xfrm>
        </p:grpSpPr>
        <p:sp>
          <p:nvSpPr>
            <p:cNvPr id="14" name="Rectangle 10"/>
            <p:cNvSpPr>
              <a:spLocks noChangeArrowheads="1"/>
            </p:cNvSpPr>
            <p:nvPr/>
          </p:nvSpPr>
          <p:spPr bwMode="auto">
            <a:xfrm>
              <a:off x="5391" y="1132"/>
              <a:ext cx="172" cy="261"/>
            </a:xfrm>
            <a:prstGeom prst="rect">
              <a:avLst/>
            </a:prstGeom>
            <a:solidFill>
              <a:schemeClr val="bg1"/>
            </a:solidFill>
            <a:ln w="9525" algn="ctr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>
              <a:spAutoFit/>
            </a:bodyPr>
            <a:lstStyle/>
            <a:p>
              <a:endParaRPr lang="en-US" sz="1215"/>
            </a:p>
          </p:txBody>
        </p:sp>
        <p:sp>
          <p:nvSpPr>
            <p:cNvPr id="15" name="Line 11"/>
            <p:cNvSpPr>
              <a:spLocks noChangeShapeType="1"/>
            </p:cNvSpPr>
            <p:nvPr/>
          </p:nvSpPr>
          <p:spPr bwMode="auto">
            <a:xfrm flipV="1">
              <a:off x="5472" y="1124"/>
              <a:ext cx="0" cy="48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 type="triangle" w="lg" len="lg"/>
            </a:ln>
          </p:spPr>
          <p:txBody>
            <a:bodyPr>
              <a:spAutoFit/>
            </a:bodyPr>
            <a:lstStyle/>
            <a:p>
              <a:endParaRPr lang="en-US" sz="1215"/>
            </a:p>
          </p:txBody>
        </p:sp>
        <p:sp>
          <p:nvSpPr>
            <p:cNvPr id="16" name="Rectangle 12"/>
            <p:cNvSpPr>
              <a:spLocks noChangeArrowheads="1"/>
            </p:cNvSpPr>
            <p:nvPr/>
          </p:nvSpPr>
          <p:spPr bwMode="auto">
            <a:xfrm>
              <a:off x="5324" y="820"/>
              <a:ext cx="298" cy="319"/>
            </a:xfrm>
            <a:prstGeom prst="rect">
              <a:avLst/>
            </a:prstGeom>
            <a:noFill/>
            <a:ln w="9525" algn="ctr">
              <a:noFill/>
              <a:miter lim="800000"/>
              <a:headEnd/>
              <a:tailEnd/>
            </a:ln>
          </p:spPr>
          <p:txBody>
            <a:bodyPr wrap="none">
              <a:spAutoFit/>
            </a:bodyPr>
            <a:lstStyle/>
            <a:p>
              <a:r>
                <a:rPr lang="en-US" sz="1620"/>
                <a:t>N</a:t>
              </a:r>
            </a:p>
          </p:txBody>
        </p: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6ABBE66-6937-43C6-B8DB-A54BB3FB986B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itle 1">
            <a:extLst>
              <a:ext uri="{FF2B5EF4-FFF2-40B4-BE49-F238E27FC236}">
                <a16:creationId xmlns:a16="http://schemas.microsoft.com/office/drawing/2014/main" id="{83D1248C-6660-4A8F-BAE8-7050C81FF3A9}"/>
              </a:ext>
            </a:extLst>
          </p:cNvPr>
          <p:cNvSpPr txBox="1">
            <a:spLocks/>
          </p:cNvSpPr>
          <p:nvPr/>
        </p:nvSpPr>
        <p:spPr>
          <a:xfrm>
            <a:off x="238518" y="162131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Orientation</a:t>
            </a:r>
            <a:endParaRPr lang="en-US" sz="2600" dirty="0">
              <a:solidFill>
                <a:srgbClr val="7030A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7" name="Rectangle 3"/>
          <p:cNvSpPr>
            <a:spLocks noGrp="1" noChangeArrowheads="1"/>
          </p:cNvSpPr>
          <p:nvPr>
            <p:ph idx="1"/>
          </p:nvPr>
        </p:nvSpPr>
        <p:spPr>
          <a:xfrm>
            <a:off x="152400" y="1028700"/>
            <a:ext cx="7808975" cy="934211"/>
          </a:xfrm>
        </p:spPr>
        <p:txBody>
          <a:bodyPr>
            <a:norm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1800" dirty="0">
                <a:solidFill>
                  <a:schemeClr val="tx1"/>
                </a:solidFill>
              </a:rPr>
              <a:t>Use caution when using north arrows on smaller scale maps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800" b="0" i="0" dirty="0">
                <a:solidFill>
                  <a:schemeClr val="tx1"/>
                </a:solidFill>
                <a:effectLst/>
                <a:latin typeface="TimesLTStd-Roman"/>
              </a:rPr>
              <a:t> Place the graticules beneath land masses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59CE1A-39DF-405B-A7F4-3CD746ED7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23</a:t>
            </a:fld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6ABBE66-6937-43C6-B8DB-A54BB3FB986B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itle 1">
            <a:extLst>
              <a:ext uri="{FF2B5EF4-FFF2-40B4-BE49-F238E27FC236}">
                <a16:creationId xmlns:a16="http://schemas.microsoft.com/office/drawing/2014/main" id="{83D1248C-6660-4A8F-BAE8-7050C81FF3A9}"/>
              </a:ext>
            </a:extLst>
          </p:cNvPr>
          <p:cNvSpPr txBox="1">
            <a:spLocks/>
          </p:cNvSpPr>
          <p:nvPr/>
        </p:nvSpPr>
        <p:spPr>
          <a:xfrm>
            <a:off x="268225" y="230746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Orientation</a:t>
            </a:r>
            <a:endParaRPr lang="en-US" sz="2600" dirty="0">
              <a:solidFill>
                <a:srgbClr val="7030A0"/>
              </a:solidFill>
            </a:endParaRPr>
          </a:p>
        </p:txBody>
      </p:sp>
      <p:pic>
        <p:nvPicPr>
          <p:cNvPr id="6" name="Picture 5" descr="image showing graticules">
            <a:extLst>
              <a:ext uri="{FF2B5EF4-FFF2-40B4-BE49-F238E27FC236}">
                <a16:creationId xmlns:a16="http://schemas.microsoft.com/office/drawing/2014/main" id="{9A499126-A638-4173-9BBA-E6A1E23AE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1785732"/>
            <a:ext cx="3291840" cy="3189950"/>
          </a:xfrm>
          <a:prstGeom prst="rect">
            <a:avLst/>
          </a:prstGeom>
        </p:spPr>
      </p:pic>
      <p:sp>
        <p:nvSpPr>
          <p:cNvPr id="21" name="Rectangle 5">
            <a:extLst>
              <a:ext uri="{FF2B5EF4-FFF2-40B4-BE49-F238E27FC236}">
                <a16:creationId xmlns:a16="http://schemas.microsoft.com/office/drawing/2014/main" id="{FE26A2F9-0A8E-4562-88F7-58C72DBB04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59049" y="4789643"/>
            <a:ext cx="974947" cy="246221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lang="en-US" sz="1000" dirty="0">
                <a:solidFill>
                  <a:srgbClr val="7030A0"/>
                </a:solidFill>
              </a:rPr>
              <a:t>Peterson, 2021</a:t>
            </a:r>
          </a:p>
        </p:txBody>
      </p:sp>
    </p:spTree>
    <p:extLst>
      <p:ext uri="{BB962C8B-B14F-4D97-AF65-F5344CB8AC3E}">
        <p14:creationId xmlns:p14="http://schemas.microsoft.com/office/powerpoint/2010/main" val="12028331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1" name="Rectangle 3"/>
          <p:cNvSpPr>
            <a:spLocks noGrp="1" noChangeArrowheads="1"/>
          </p:cNvSpPr>
          <p:nvPr>
            <p:ph idx="1"/>
          </p:nvPr>
        </p:nvSpPr>
        <p:spPr>
          <a:xfrm>
            <a:off x="118533" y="1077767"/>
            <a:ext cx="7216140" cy="1958039"/>
          </a:xfrm>
        </p:spPr>
        <p:txBody>
          <a:bodyPr>
            <a:noAutofit/>
          </a:bodyPr>
          <a:lstStyle/>
          <a:p>
            <a:pPr>
              <a:buFont typeface="Courier New" panose="02070309020205020404" pitchFamily="49" charset="0"/>
              <a:buChar char="o"/>
            </a:pPr>
            <a:r>
              <a:rPr lang="en-US" sz="1600" dirty="0"/>
              <a:t>The style of the north arrow and graticule should be simple and subtle; they should not attract attention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600" dirty="0"/>
              <a:t>Bulky and complex designs should be avoided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600" dirty="0"/>
              <a:t>Line weights should be thin and type should be among the smallest on a map</a:t>
            </a:r>
          </a:p>
          <a:p>
            <a:pPr marL="765810" lvl="1" indent="-457200">
              <a:buFont typeface="Wingdings" panose="05000000000000000000" pitchFamily="2" charset="2"/>
              <a:buChar char="ü"/>
            </a:pPr>
            <a:r>
              <a:rPr lang="en-US" sz="1600" dirty="0"/>
              <a:t>Only north should be indicated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A9C1FAA-6EE6-452A-AB02-7D22C365C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24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BBC47F8-FF19-4F97-B299-C3544DD779F2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67A8B44B-DB9B-42C8-A32E-31646D7A7C66}"/>
              </a:ext>
            </a:extLst>
          </p:cNvPr>
          <p:cNvSpPr txBox="1">
            <a:spLocks/>
          </p:cNvSpPr>
          <p:nvPr/>
        </p:nvSpPr>
        <p:spPr>
          <a:xfrm>
            <a:off x="386757" y="143090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Orientation</a:t>
            </a:r>
            <a:endParaRPr lang="en-US" sz="2600" dirty="0">
              <a:solidFill>
                <a:srgbClr val="7030A0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 descr="Image showing north arrow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55238" y="1763190"/>
            <a:ext cx="2522687" cy="1333154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pic>
        <p:nvPicPr>
          <p:cNvPr id="6" name="Picture 6" descr="Image showing north arrow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155238" y="3299024"/>
            <a:ext cx="2522687" cy="1353004"/>
          </a:xfrm>
          <a:prstGeom prst="rect">
            <a:avLst/>
          </a:prstGeom>
          <a:noFill/>
          <a:ln w="9525" algn="ctr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7" name="Text Box 7"/>
          <p:cNvSpPr txBox="1">
            <a:spLocks noChangeArrowheads="1"/>
          </p:cNvSpPr>
          <p:nvPr/>
        </p:nvSpPr>
        <p:spPr bwMode="auto">
          <a:xfrm>
            <a:off x="5032527" y="2292876"/>
            <a:ext cx="2094326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dirty="0"/>
              <a:t>Poorly Designed</a:t>
            </a:r>
          </a:p>
        </p:txBody>
      </p:sp>
      <p:sp>
        <p:nvSpPr>
          <p:cNvPr id="8" name="Text Box 8"/>
          <p:cNvSpPr txBox="1">
            <a:spLocks noChangeArrowheads="1"/>
          </p:cNvSpPr>
          <p:nvPr/>
        </p:nvSpPr>
        <p:spPr bwMode="auto">
          <a:xfrm>
            <a:off x="5032527" y="3825485"/>
            <a:ext cx="1701073" cy="400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2000" dirty="0"/>
              <a:t>Well Designed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BBC47F8-FF19-4F97-B299-C3544DD779F2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itle 1">
            <a:extLst>
              <a:ext uri="{FF2B5EF4-FFF2-40B4-BE49-F238E27FC236}">
                <a16:creationId xmlns:a16="http://schemas.microsoft.com/office/drawing/2014/main" id="{67A8B44B-DB9B-42C8-A32E-31646D7A7C66}"/>
              </a:ext>
            </a:extLst>
          </p:cNvPr>
          <p:cNvSpPr txBox="1">
            <a:spLocks/>
          </p:cNvSpPr>
          <p:nvPr/>
        </p:nvSpPr>
        <p:spPr>
          <a:xfrm>
            <a:off x="345288" y="186597"/>
            <a:ext cx="80772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11480" rtl="0" eaLnBrk="1" latinLnBrk="0" hangingPunct="1">
              <a:spcBef>
                <a:spcPct val="0"/>
              </a:spcBef>
              <a:buNone/>
              <a:defRPr sz="396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3200" dirty="0">
                <a:solidFill>
                  <a:srgbClr val="7030A0"/>
                </a:solidFill>
              </a:rPr>
              <a:t>Discussion</a:t>
            </a:r>
            <a:endParaRPr lang="en-US" sz="2600" dirty="0">
              <a:solidFill>
                <a:srgbClr val="7030A0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F89F82D-B266-461E-A63E-7C012ED57F9B}"/>
              </a:ext>
            </a:extLst>
          </p:cNvPr>
          <p:cNvSpPr txBox="1"/>
          <p:nvPr/>
        </p:nvSpPr>
        <p:spPr>
          <a:xfrm>
            <a:off x="1319389" y="1080356"/>
            <a:ext cx="54142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Which group is better? And Why?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F2466ED-368D-4DE3-9297-901CA4AE0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6599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Rectangle 2"/>
          <p:cNvSpPr>
            <a:spLocks noGrp="1" noChangeArrowheads="1"/>
          </p:cNvSpPr>
          <p:nvPr>
            <p:ph type="title"/>
          </p:nvPr>
        </p:nvSpPr>
        <p:spPr>
          <a:xfrm>
            <a:off x="152400" y="182000"/>
            <a:ext cx="8422104" cy="771525"/>
          </a:xfrm>
        </p:spPr>
        <p:txBody>
          <a:bodyPr>
            <a:noAutofit/>
          </a:bodyPr>
          <a:lstStyle/>
          <a:p>
            <a:pPr eaLnBrk="1" hangingPunct="1"/>
            <a:r>
              <a:rPr lang="en-US" sz="2800" dirty="0">
                <a:solidFill>
                  <a:srgbClr val="7030A0"/>
                </a:solidFill>
              </a:rPr>
              <a:t>RELATIVE TYPE SIZES FOR CERTAIN MAP ELEMENTS</a:t>
            </a:r>
          </a:p>
        </p:txBody>
      </p:sp>
      <p:sp>
        <p:nvSpPr>
          <p:cNvPr id="101379" name="Rectangle 3"/>
          <p:cNvSpPr>
            <a:spLocks noGrp="1" noChangeArrowheads="1"/>
          </p:cNvSpPr>
          <p:nvPr>
            <p:ph idx="1"/>
          </p:nvPr>
        </p:nvSpPr>
        <p:spPr>
          <a:xfrm>
            <a:off x="141464" y="1113188"/>
            <a:ext cx="5328881" cy="3741896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 Sizes should decrease as follows</a:t>
            </a:r>
          </a:p>
          <a:p>
            <a:pPr marL="408105" lvl="1" indent="-342900">
              <a:buFont typeface="Wingdings" panose="05000000000000000000" pitchFamily="2" charset="2"/>
              <a:buChar char="ü"/>
            </a:pPr>
            <a:r>
              <a:rPr lang="en-US" sz="2400" dirty="0">
                <a:solidFill>
                  <a:schemeClr val="tx1"/>
                </a:solidFill>
              </a:rPr>
              <a:t>Title</a:t>
            </a:r>
          </a:p>
          <a:p>
            <a:pPr marL="408105" lvl="1" indent="-342900">
              <a:buFont typeface="Wingdings" panose="05000000000000000000" pitchFamily="2" charset="2"/>
              <a:buChar char="ü"/>
            </a:pPr>
            <a:r>
              <a:rPr lang="en-US" sz="2400" dirty="0">
                <a:solidFill>
                  <a:schemeClr val="tx1"/>
                </a:solidFill>
              </a:rPr>
              <a:t>Subtitle</a:t>
            </a:r>
          </a:p>
          <a:p>
            <a:pPr marL="408105" lvl="1" indent="-342900">
              <a:buFont typeface="Wingdings" panose="05000000000000000000" pitchFamily="2" charset="2"/>
              <a:buChar char="ü"/>
            </a:pPr>
            <a:r>
              <a:rPr lang="en-US" sz="2400" dirty="0">
                <a:solidFill>
                  <a:schemeClr val="tx1"/>
                </a:solidFill>
              </a:rPr>
              <a:t>Legend Heading</a:t>
            </a:r>
          </a:p>
          <a:p>
            <a:pPr marL="408105" lvl="1" indent="-342900">
              <a:buFont typeface="Wingdings" panose="05000000000000000000" pitchFamily="2" charset="2"/>
              <a:buChar char="ü"/>
            </a:pPr>
            <a:r>
              <a:rPr lang="en-US" sz="2400" dirty="0">
                <a:solidFill>
                  <a:schemeClr val="tx1"/>
                </a:solidFill>
              </a:rPr>
              <a:t>Legend Definitions</a:t>
            </a:r>
          </a:p>
          <a:p>
            <a:pPr marL="408105" lvl="1" indent="-342900">
              <a:buFont typeface="Wingdings" panose="05000000000000000000" pitchFamily="2" charset="2"/>
              <a:buChar char="ü"/>
            </a:pPr>
            <a:r>
              <a:rPr lang="en-US" sz="2400" dirty="0">
                <a:solidFill>
                  <a:schemeClr val="tx1"/>
                </a:solidFill>
              </a:rPr>
              <a:t>Source, scale,</a:t>
            </a:r>
            <a:br>
              <a:rPr lang="en-US" sz="2400" dirty="0">
                <a:solidFill>
                  <a:schemeClr val="tx1"/>
                </a:solidFill>
              </a:rPr>
            </a:br>
            <a:r>
              <a:rPr lang="en-US" sz="2400" dirty="0">
                <a:solidFill>
                  <a:schemeClr val="tx1"/>
                </a:solidFill>
              </a:rPr>
              <a:t>north arrow</a:t>
            </a:r>
          </a:p>
          <a:p>
            <a:pPr marL="411480" indent="-411480"/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CD85AA-BCCF-47AC-AEB3-E32898BE7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1026" name="Picture 2" descr="Image showing type siz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73561" y="1276495"/>
            <a:ext cx="2314575" cy="321847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Rectangle 5"/>
          <p:cNvSpPr/>
          <p:nvPr/>
        </p:nvSpPr>
        <p:spPr bwMode="auto">
          <a:xfrm>
            <a:off x="4791369" y="1580638"/>
            <a:ext cx="136501" cy="249299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1722" tIns="30861" rIns="61722" bIns="30861" numCol="1" rtlCol="0" anchor="t" anchorCtr="0" compatLnSpc="1">
            <a:prstTxWarp prst="textNoShape">
              <a:avLst/>
            </a:prstTxWarp>
            <a:spAutoFit/>
          </a:bodyPr>
          <a:lstStyle/>
          <a:p>
            <a:endParaRPr lang="en-US" sz="1215"/>
          </a:p>
        </p:txBody>
      </p:sp>
      <p:sp>
        <p:nvSpPr>
          <p:cNvPr id="7" name="Rectangle 6"/>
          <p:cNvSpPr/>
          <p:nvPr/>
        </p:nvSpPr>
        <p:spPr bwMode="auto">
          <a:xfrm>
            <a:off x="4783456" y="1954530"/>
            <a:ext cx="136501" cy="249299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1722" tIns="30861" rIns="61722" bIns="30861" numCol="1" rtlCol="0" anchor="t" anchorCtr="0" compatLnSpc="1">
            <a:prstTxWarp prst="textNoShape">
              <a:avLst/>
            </a:prstTxWarp>
            <a:spAutoFit/>
          </a:bodyPr>
          <a:lstStyle/>
          <a:p>
            <a:endParaRPr lang="en-US" sz="1215"/>
          </a:p>
        </p:txBody>
      </p:sp>
      <p:sp>
        <p:nvSpPr>
          <p:cNvPr id="8" name="Rectangle 7"/>
          <p:cNvSpPr/>
          <p:nvPr/>
        </p:nvSpPr>
        <p:spPr bwMode="auto">
          <a:xfrm>
            <a:off x="4783456" y="2314575"/>
            <a:ext cx="136501" cy="249299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1722" tIns="30861" rIns="61722" bIns="30861" numCol="1" rtlCol="0" anchor="t" anchorCtr="0" compatLnSpc="1">
            <a:prstTxWarp prst="textNoShape">
              <a:avLst/>
            </a:prstTxWarp>
            <a:spAutoFit/>
          </a:bodyPr>
          <a:lstStyle/>
          <a:p>
            <a:endParaRPr lang="en-US" sz="1215"/>
          </a:p>
        </p:txBody>
      </p:sp>
      <p:sp>
        <p:nvSpPr>
          <p:cNvPr id="9" name="Rectangle 8"/>
          <p:cNvSpPr/>
          <p:nvPr/>
        </p:nvSpPr>
        <p:spPr bwMode="auto">
          <a:xfrm>
            <a:off x="4783456" y="2777490"/>
            <a:ext cx="136501" cy="249299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1722" tIns="30861" rIns="61722" bIns="30861" numCol="1" rtlCol="0" anchor="t" anchorCtr="0" compatLnSpc="1">
            <a:prstTxWarp prst="textNoShape">
              <a:avLst/>
            </a:prstTxWarp>
            <a:spAutoFit/>
          </a:bodyPr>
          <a:lstStyle/>
          <a:p>
            <a:endParaRPr lang="en-US" sz="1215"/>
          </a:p>
        </p:txBody>
      </p:sp>
      <p:sp>
        <p:nvSpPr>
          <p:cNvPr id="10" name="Rectangle 9"/>
          <p:cNvSpPr/>
          <p:nvPr/>
        </p:nvSpPr>
        <p:spPr bwMode="auto">
          <a:xfrm>
            <a:off x="4783456" y="3394710"/>
            <a:ext cx="136501" cy="249299"/>
          </a:xfrm>
          <a:prstGeom prst="rect">
            <a:avLst/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61722" tIns="30861" rIns="61722" bIns="30861" numCol="1" rtlCol="0" anchor="t" anchorCtr="0" compatLnSpc="1">
            <a:prstTxWarp prst="textNoShape">
              <a:avLst/>
            </a:prstTxWarp>
            <a:spAutoFit/>
          </a:bodyPr>
          <a:lstStyle/>
          <a:p>
            <a:endParaRPr lang="en-US" sz="1215"/>
          </a:p>
        </p:txBody>
      </p:sp>
      <p:sp>
        <p:nvSpPr>
          <p:cNvPr id="2" name="Rectangle 1"/>
          <p:cNvSpPr/>
          <p:nvPr/>
        </p:nvSpPr>
        <p:spPr>
          <a:xfrm>
            <a:off x="2062936" y="4605711"/>
            <a:ext cx="5018133" cy="3831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890" b="1" dirty="0"/>
              <a:t>Use the same type family for ALL map elements!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6A15DC6-084A-4D47-92AD-A57C45B0D8F4}"/>
              </a:ext>
            </a:extLst>
          </p:cNvPr>
          <p:cNvCxnSpPr/>
          <p:nvPr/>
        </p:nvCxnSpPr>
        <p:spPr>
          <a:xfrm>
            <a:off x="152400" y="922910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2471305" y="1325254"/>
            <a:ext cx="3286989" cy="830997"/>
          </a:xfrm>
          <a:prstGeom prst="rect">
            <a:avLst/>
          </a:prstGeom>
          <a:noFill/>
        </p:spPr>
        <p:txBody>
          <a:bodyPr wrap="none" lIns="82296" tIns="41148" rIns="82296" bIns="41148">
            <a:spAutoFit/>
          </a:bodyPr>
          <a:lstStyle/>
          <a:p>
            <a:pPr algn="ctr"/>
            <a:r>
              <a:rPr lang="en-US" sz="4860" b="1" spc="180" dirty="0">
                <a:ln w="29210">
                  <a:solidFill>
                    <a:schemeClr val="accent3">
                      <a:tint val="10000"/>
                    </a:schemeClr>
                  </a:solidFill>
                </a:ln>
                <a:solidFill>
                  <a:srgbClr val="008000">
                    <a:alpha val="50000"/>
                  </a:srgbClr>
                </a:solidFill>
                <a:effectLst>
                  <a:innerShdw blurRad="50800" dist="50800" dir="8100000">
                    <a:srgbClr val="7D7D7D">
                      <a:alpha val="73000"/>
                    </a:srgbClr>
                  </a:innerShdw>
                </a:effectLst>
              </a:rPr>
              <a:t>Thank you!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3C9EAE-E5B7-4784-94CD-D062E1781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7DDC20-79C9-9647-820E-6D40A3D210C3}" type="slidenum">
              <a:rPr lang="en-US" smtClean="0"/>
              <a:pPr/>
              <a:t>27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2DE135F-68C6-4911-85BA-92ABB3F9F85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52400" y="4275667"/>
            <a:ext cx="5915025" cy="758190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ADF13BC-3A5F-4415-94E6-85FAF42998C9}"/>
              </a:ext>
            </a:extLst>
          </p:cNvPr>
          <p:cNvCxnSpPr/>
          <p:nvPr/>
        </p:nvCxnSpPr>
        <p:spPr>
          <a:xfrm>
            <a:off x="152400" y="4182575"/>
            <a:ext cx="8001000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5223018"/>
      </p:ext>
    </p:extLst>
  </p:cSld>
  <p:clrMapOvr>
    <a:masterClrMapping/>
  </p:clrMapOvr>
</p:sld>
</file>

<file path=ppt/theme/theme1.xml><?xml version="1.0" encoding="utf-8"?>
<a:theme xmlns:a="http://schemas.openxmlformats.org/drawingml/2006/main" name="2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2.xml><?xml version="1.0" encoding="utf-8"?>
<a:theme xmlns:a="http://schemas.openxmlformats.org/drawingml/2006/main" name="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3.xml><?xml version="1.0" encoding="utf-8"?>
<a:theme xmlns:a="http://schemas.openxmlformats.org/drawingml/2006/main" name="1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1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4.xml><?xml version="1.0" encoding="utf-8"?>
<a:theme xmlns:a="http://schemas.openxmlformats.org/drawingml/2006/main" name="5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2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5.xml><?xml version="1.0" encoding="utf-8"?>
<a:theme xmlns:a="http://schemas.openxmlformats.org/drawingml/2006/main" name="6_DividendVTI">
  <a:themeElements>
    <a:clrScheme name="AnalogousFromLightSeed_2SEEDS">
      <a:dk1>
        <a:srgbClr val="000000"/>
      </a:dk1>
      <a:lt1>
        <a:srgbClr val="FFFFFF"/>
      </a:lt1>
      <a:dk2>
        <a:srgbClr val="22363C"/>
      </a:dk2>
      <a:lt2>
        <a:srgbClr val="E2E6E8"/>
      </a:lt2>
      <a:accent1>
        <a:srgbClr val="C18C78"/>
      </a:accent1>
      <a:accent2>
        <a:srgbClr val="CC9099"/>
      </a:accent2>
      <a:accent3>
        <a:srgbClr val="B19F77"/>
      </a:accent3>
      <a:accent4>
        <a:srgbClr val="6DAFA2"/>
      </a:accent4>
      <a:accent5>
        <a:srgbClr val="70ACBC"/>
      </a:accent5>
      <a:accent6>
        <a:srgbClr val="7893C1"/>
      </a:accent6>
      <a:hlink>
        <a:srgbClr val="5E8A9B"/>
      </a:hlink>
      <a:folHlink>
        <a:srgbClr val="7F7F7F"/>
      </a:folHlink>
    </a:clrScheme>
    <a:fontScheme name="Custom 1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VTI" id="{97558BDE-0B66-457C-BB6F-7B1B22DAA9B8}" vid="{F53508A3-AC60-448A-AF37-934D5F1A0D5E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Week04_GEOG2475_Tu</Template>
  <TotalTime>11080</TotalTime>
  <Words>764</Words>
  <Application>Microsoft Office PowerPoint</Application>
  <PresentationFormat>Custom</PresentationFormat>
  <Paragraphs>139</Paragraphs>
  <Slides>27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27</vt:i4>
      </vt:variant>
    </vt:vector>
  </HeadingPairs>
  <TitlesOfParts>
    <vt:vector size="38" baseType="lpstr">
      <vt:lpstr>TimesLTStd-Roman</vt:lpstr>
      <vt:lpstr>Arial Black</vt:lpstr>
      <vt:lpstr>Calibri</vt:lpstr>
      <vt:lpstr>Courier New</vt:lpstr>
      <vt:lpstr>Wingdings</vt:lpstr>
      <vt:lpstr>Wingdings 2</vt:lpstr>
      <vt:lpstr>2_DividendVTI</vt:lpstr>
      <vt:lpstr>DividendVTI</vt:lpstr>
      <vt:lpstr>1_DividendVTI</vt:lpstr>
      <vt:lpstr>5_DividendVTI</vt:lpstr>
      <vt:lpstr>6_DividendVTI</vt:lpstr>
      <vt:lpstr>Lecture 07  Map Elements  lecture</vt:lpstr>
      <vt:lpstr>7.1  MAP ELEMENTS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RELATIVE TYPE SIZES FOR CERTAIN MAP ELEMENTS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Geographic Field Techniques</dc:title>
  <dc:creator>Yaqian He</dc:creator>
  <cp:lastModifiedBy>Yanan Wu</cp:lastModifiedBy>
  <cp:revision>442</cp:revision>
  <dcterms:created xsi:type="dcterms:W3CDTF">2020-07-26T21:20:11Z</dcterms:created>
  <dcterms:modified xsi:type="dcterms:W3CDTF">2025-10-02T03:34:32Z</dcterms:modified>
</cp:coreProperties>
</file>