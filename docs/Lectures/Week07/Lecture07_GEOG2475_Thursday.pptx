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7" r:id="rId4"/>
    <p:sldMasterId id="2147483709" r:id="rId5"/>
  </p:sldMasterIdLst>
  <p:notesMasterIdLst>
    <p:notesMasterId r:id="rId36"/>
  </p:notesMasterIdLst>
  <p:sldIdLst>
    <p:sldId id="914" r:id="rId6"/>
    <p:sldId id="1647" r:id="rId7"/>
    <p:sldId id="514" r:id="rId8"/>
    <p:sldId id="516" r:id="rId9"/>
    <p:sldId id="654" r:id="rId10"/>
    <p:sldId id="518" r:id="rId11"/>
    <p:sldId id="520" r:id="rId12"/>
    <p:sldId id="521" r:id="rId13"/>
    <p:sldId id="523" r:id="rId14"/>
    <p:sldId id="655" r:id="rId15"/>
    <p:sldId id="524" r:id="rId16"/>
    <p:sldId id="526" r:id="rId17"/>
    <p:sldId id="527" r:id="rId18"/>
    <p:sldId id="556" r:id="rId19"/>
    <p:sldId id="656" r:id="rId20"/>
    <p:sldId id="666" r:id="rId21"/>
    <p:sldId id="1648" r:id="rId22"/>
    <p:sldId id="533" r:id="rId23"/>
    <p:sldId id="535" r:id="rId24"/>
    <p:sldId id="537" r:id="rId25"/>
    <p:sldId id="538" r:id="rId26"/>
    <p:sldId id="539" r:id="rId27"/>
    <p:sldId id="536" r:id="rId28"/>
    <p:sldId id="541" r:id="rId29"/>
    <p:sldId id="667" r:id="rId30"/>
    <p:sldId id="540" r:id="rId31"/>
    <p:sldId id="665" r:id="rId32"/>
    <p:sldId id="553" r:id="rId33"/>
    <p:sldId id="668" r:id="rId34"/>
    <p:sldId id="270" r:id="rId35"/>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84" autoAdjust="0"/>
  </p:normalViewPr>
  <p:slideViewPr>
    <p:cSldViewPr snapToGrid="0" snapToObjects="1">
      <p:cViewPr varScale="1">
        <p:scale>
          <a:sx n="128" d="100"/>
          <a:sy n="128" d="100"/>
        </p:scale>
        <p:origin x="1500" y="108"/>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10/1/2025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larger scale: greater detail and smaller area</a:t>
            </a:r>
          </a:p>
          <a:p>
            <a:r>
              <a:rPr lang="en-US" dirty="0"/>
              <a:t>Smaller scale: less detail and larger area</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7</a:t>
            </a:fld>
            <a:endParaRPr lang="en-US"/>
          </a:p>
        </p:txBody>
      </p:sp>
    </p:spTree>
    <p:extLst>
      <p:ext uri="{BB962C8B-B14F-4D97-AF65-F5344CB8AC3E}">
        <p14:creationId xmlns:p14="http://schemas.microsoft.com/office/powerpoint/2010/main" val="2401094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view, it will not change</a:t>
            </a:r>
          </a:p>
        </p:txBody>
      </p:sp>
      <p:sp>
        <p:nvSpPr>
          <p:cNvPr id="4" name="Slide Number Placeholder 3"/>
          <p:cNvSpPr>
            <a:spLocks noGrp="1"/>
          </p:cNvSpPr>
          <p:nvPr>
            <p:ph type="sldNum" sz="quarter" idx="5"/>
          </p:nvPr>
        </p:nvSpPr>
        <p:spPr/>
        <p:txBody>
          <a:bodyPr/>
          <a:lstStyle/>
          <a:p>
            <a:fld id="{56507943-197E-CE46-82F0-5A323A24AE7A}" type="slidenum">
              <a:rPr lang="en-US" smtClean="0"/>
              <a:pPr/>
              <a:t>9</a:t>
            </a:fld>
            <a:endParaRPr lang="en-US"/>
          </a:p>
        </p:txBody>
      </p:sp>
    </p:spTree>
    <p:extLst>
      <p:ext uri="{BB962C8B-B14F-4D97-AF65-F5344CB8AC3E}">
        <p14:creationId xmlns:p14="http://schemas.microsoft.com/office/powerpoint/2010/main" val="581074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Miller Cylindrical</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11</a:t>
            </a:fld>
            <a:endParaRPr lang="en-US"/>
          </a:p>
        </p:txBody>
      </p:sp>
    </p:spTree>
    <p:extLst>
      <p:ext uri="{BB962C8B-B14F-4D97-AF65-F5344CB8AC3E}">
        <p14:creationId xmlns:p14="http://schemas.microsoft.com/office/powerpoint/2010/main" val="3119027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dirty="0">
                <a:solidFill>
                  <a:srgbClr val="4C4C4C"/>
                </a:solidFill>
                <a:effectLst/>
                <a:latin typeface="Avenir Next W01"/>
              </a:rPr>
              <a:t>An extension scale which shows finer subdivisions of the scale bar allows for smaller distance measurements.</a:t>
            </a:r>
          </a:p>
          <a:p>
            <a:r>
              <a:rPr lang="en-US" b="0" i="0" dirty="0">
                <a:solidFill>
                  <a:srgbClr val="4C4C4C"/>
                </a:solidFill>
                <a:effectLst/>
                <a:latin typeface="Avenir Next W01"/>
              </a:rPr>
              <a:t>If you have decided to use a scale bar and you have more than one mapped area (e.g., the coterminous U.S., Alaska and Hawaii), each mapped area requires its own scale bar if they are shown at different scales.</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13</a:t>
            </a:fld>
            <a:endParaRPr lang="en-US"/>
          </a:p>
        </p:txBody>
      </p:sp>
    </p:spTree>
    <p:extLst>
      <p:ext uri="{BB962C8B-B14F-4D97-AF65-F5344CB8AC3E}">
        <p14:creationId xmlns:p14="http://schemas.microsoft.com/office/powerpoint/2010/main" val="1306626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rPr>
              <a:t>A noisy, inefficient communicator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rPr>
              <a:t>A simple, efficient communicator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endParaRP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29</a:t>
            </a:fld>
            <a:endParaRPr lang="en-US"/>
          </a:p>
        </p:txBody>
      </p:sp>
    </p:spTree>
    <p:extLst>
      <p:ext uri="{BB962C8B-B14F-4D97-AF65-F5344CB8AC3E}">
        <p14:creationId xmlns:p14="http://schemas.microsoft.com/office/powerpoint/2010/main" val="3802608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30</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10/1/2025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47857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10/1/2025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59857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10/1/2025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83799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66689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33512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54741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69482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10/1/2025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27257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2162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35320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10/1/2025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02436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10/1/2025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08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10/1/2025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59322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10/1/2025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737380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88434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696288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132847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57183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10/1/2025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849847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127889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098397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10/1/2025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05058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74453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2254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131585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171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729188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48521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88929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040763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15576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676606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447414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1194581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330331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783287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508070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10/1/2025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31480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546588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59016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24447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93601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635967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842688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863033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91408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607934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721676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982040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78577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277219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5579081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711935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100093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67687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7689623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433470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10/1/2025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6584389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10/1/2025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8394965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7393681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57179669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71067046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871767" cy="1831185"/>
          </a:xfrm>
        </p:spPr>
        <p:txBody>
          <a:bodyPr>
            <a:normAutofit/>
          </a:bodyPr>
          <a:lstStyle/>
          <a:p>
            <a:r>
              <a:rPr lang="en-US" altLang="zh-CN" sz="2800" dirty="0"/>
              <a:t>Lecture 07 </a:t>
            </a:r>
            <a:br>
              <a:rPr lang="en-US" altLang="zh-CN" sz="2800" dirty="0"/>
            </a:br>
            <a:r>
              <a:rPr lang="en-US" altLang="zh-CN" sz="2800" dirty="0"/>
              <a:t>Map Elements</a:t>
            </a: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7.1 </a:t>
            </a:r>
            <a:br>
              <a:rPr lang="en-US" sz="4050" dirty="0">
                <a:solidFill>
                  <a:srgbClr val="FFFFFF"/>
                </a:solidFill>
              </a:rPr>
            </a:br>
            <a:r>
              <a:rPr lang="en-US" sz="4050" dirty="0">
                <a:solidFill>
                  <a:srgbClr val="FFFFFF"/>
                </a:solidFill>
              </a:rPr>
              <a:t>MAP ELEMENTS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idx="1"/>
          </p:nvPr>
        </p:nvSpPr>
        <p:spPr>
          <a:xfrm>
            <a:off x="76200" y="876300"/>
            <a:ext cx="8077200" cy="2399049"/>
          </a:xfrm>
        </p:spPr>
        <p:txBody>
          <a:bodyPr>
            <a:normAutofit/>
          </a:bodyPr>
          <a:lstStyle/>
          <a:p>
            <a:pPr>
              <a:buFont typeface="Courier New" panose="02070309020205020404" pitchFamily="49" charset="0"/>
              <a:buChar char="o"/>
            </a:pPr>
            <a:r>
              <a:rPr lang="en-US" sz="2000" dirty="0"/>
              <a:t>Allows the map user to determine where data were obtained</a:t>
            </a:r>
          </a:p>
          <a:p>
            <a:pPr marL="765810" lvl="1" indent="-457200">
              <a:buFont typeface="Wingdings" panose="05000000000000000000" pitchFamily="2" charset="2"/>
              <a:buChar char="ü"/>
            </a:pPr>
            <a:r>
              <a:rPr lang="en-US" sz="2000" dirty="0"/>
              <a:t>Sources of base information are normally omitted from thematic maps </a:t>
            </a:r>
          </a:p>
          <a:p>
            <a:pPr>
              <a:buFont typeface="Courier New" panose="02070309020205020404" pitchFamily="49" charset="0"/>
              <a:buChar char="o"/>
            </a:pPr>
            <a:r>
              <a:rPr lang="en-US" sz="2000" dirty="0"/>
              <a:t>Should be formatted similar to a standard bibliographic reference, but is often more concise and less formal  </a:t>
            </a:r>
          </a:p>
        </p:txBody>
      </p:sp>
      <p:sp>
        <p:nvSpPr>
          <p:cNvPr id="2" name="Slide Number Placeholder 1">
            <a:extLst>
              <a:ext uri="{FF2B5EF4-FFF2-40B4-BE49-F238E27FC236}">
                <a16:creationId xmlns:a16="http://schemas.microsoft.com/office/drawing/2014/main" id="{F4413EBF-9B5B-45E1-B6EC-28D2CD8E0310}"/>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6" name="Straight Connector 5">
            <a:extLst>
              <a:ext uri="{FF2B5EF4-FFF2-40B4-BE49-F238E27FC236}">
                <a16:creationId xmlns:a16="http://schemas.microsoft.com/office/drawing/2014/main" id="{DC8B6E33-BB32-407B-B3A2-4DB83E80B91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6D9AF380-D92B-4FD3-A5AF-A2B8A746E2D9}"/>
              </a:ext>
            </a:extLst>
          </p:cNvPr>
          <p:cNvSpPr txBox="1">
            <a:spLocks/>
          </p:cNvSpPr>
          <p:nvPr/>
        </p:nvSpPr>
        <p:spPr>
          <a:xfrm>
            <a:off x="238454" y="1643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
            </a:r>
            <a:r>
              <a:rPr lang="en-US" altLang="zh-CN" sz="3200" dirty="0">
                <a:solidFill>
                  <a:srgbClr val="7030A0"/>
                </a:solidFill>
              </a:rPr>
              <a:t>ata source</a:t>
            </a:r>
            <a:endParaRPr lang="en-US" sz="2600" i="1" dirty="0">
              <a:solidFill>
                <a:srgbClr val="7030A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idx="1"/>
          </p:nvPr>
        </p:nvSpPr>
        <p:spPr>
          <a:xfrm>
            <a:off x="152400" y="1014070"/>
            <a:ext cx="8001000" cy="3741896"/>
          </a:xfrm>
        </p:spPr>
        <p:txBody>
          <a:bodyPr>
            <a:normAutofit fontScale="92500"/>
          </a:bodyPr>
          <a:lstStyle/>
          <a:p>
            <a:pPr>
              <a:buFont typeface="Courier New" panose="02070309020205020404" pitchFamily="49" charset="0"/>
              <a:buChar char="o"/>
            </a:pPr>
            <a:r>
              <a:rPr lang="en-US" sz="2400" dirty="0"/>
              <a:t>The words “Data Source:” or “Source:” should be included to avoid ambiguity</a:t>
            </a:r>
          </a:p>
          <a:p>
            <a:pPr marL="594360" lvl="1" indent="-285750">
              <a:buFont typeface="Wingdings" panose="05000000000000000000" pitchFamily="2" charset="2"/>
              <a:buChar char="ü"/>
            </a:pPr>
            <a:r>
              <a:rPr lang="en-US" sz="2200" dirty="0"/>
              <a:t>The data source indicates where data came from, not map authorship</a:t>
            </a:r>
          </a:p>
          <a:p>
            <a:pPr>
              <a:buFont typeface="Courier New" panose="02070309020205020404" pitchFamily="49" charset="0"/>
              <a:buChar char="o"/>
            </a:pPr>
            <a:r>
              <a:rPr lang="en-US" sz="2400" dirty="0"/>
              <a:t>A separate block of type can be used to indicate map authorship</a:t>
            </a:r>
          </a:p>
          <a:p>
            <a:pPr>
              <a:buFont typeface="Courier New" panose="02070309020205020404" pitchFamily="49" charset="0"/>
              <a:buChar char="o"/>
            </a:pPr>
            <a:r>
              <a:rPr lang="en-US" sz="2400" dirty="0"/>
              <a:t>The style of the data source should be plain and subtle</a:t>
            </a:r>
          </a:p>
          <a:p>
            <a:pPr>
              <a:buFont typeface="Courier New" panose="02070309020205020404" pitchFamily="49" charset="0"/>
              <a:buChar char="o"/>
            </a:pPr>
            <a:r>
              <a:rPr lang="en-US" sz="2400" dirty="0"/>
              <a:t>Publication names should be </a:t>
            </a:r>
            <a:r>
              <a:rPr lang="en-US" sz="2400" i="1" dirty="0"/>
              <a:t>italicized</a:t>
            </a:r>
            <a:r>
              <a:rPr lang="en-US" sz="2400" dirty="0"/>
              <a:t> </a:t>
            </a:r>
          </a:p>
          <a:p>
            <a:pPr>
              <a:buFont typeface="Courier New" panose="02070309020205020404" pitchFamily="49" charset="0"/>
              <a:buChar char="o"/>
            </a:pPr>
            <a:r>
              <a:rPr lang="en-US" sz="2400" dirty="0"/>
              <a:t>Multiple lines of type should be horizontally centered (center aligned) </a:t>
            </a:r>
          </a:p>
          <a:p>
            <a:pPr marL="308610" lvl="1" indent="0">
              <a:buNone/>
            </a:pPr>
            <a:endParaRPr lang="en-US" dirty="0"/>
          </a:p>
        </p:txBody>
      </p:sp>
      <p:sp>
        <p:nvSpPr>
          <p:cNvPr id="2" name="Slide Number Placeholder 1">
            <a:extLst>
              <a:ext uri="{FF2B5EF4-FFF2-40B4-BE49-F238E27FC236}">
                <a16:creationId xmlns:a16="http://schemas.microsoft.com/office/drawing/2014/main" id="{F484C556-2BF8-4CCA-9244-3DA9407E3F9A}"/>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4" name="Straight Connector 3">
            <a:extLst>
              <a:ext uri="{FF2B5EF4-FFF2-40B4-BE49-F238E27FC236}">
                <a16:creationId xmlns:a16="http://schemas.microsoft.com/office/drawing/2014/main" id="{5A3BAF26-21BD-4526-AD1E-92E0A256B64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FFF1CC0-0ABD-4FA5-8B7F-599AC402B1EA}"/>
              </a:ext>
            </a:extLst>
          </p:cNvPr>
          <p:cNvSpPr txBox="1">
            <a:spLocks/>
          </p:cNvSpPr>
          <p:nvPr/>
        </p:nvSpPr>
        <p:spPr>
          <a:xfrm>
            <a:off x="152400" y="1666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
            </a:r>
            <a:r>
              <a:rPr lang="en-US" altLang="zh-CN" sz="3200" dirty="0">
                <a:solidFill>
                  <a:srgbClr val="7030A0"/>
                </a:solidFill>
              </a:rPr>
              <a:t>ata source</a:t>
            </a:r>
            <a:endParaRPr lang="en-US" sz="2600" i="1" dirty="0">
              <a:solidFill>
                <a:srgbClr val="7030A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2" name="Picture 5"/>
          <p:cNvPicPr>
            <a:picLocks noChangeAspect="1" noChangeArrowheads="1"/>
          </p:cNvPicPr>
          <p:nvPr/>
        </p:nvPicPr>
        <p:blipFill>
          <a:blip r:embed="rId2" cstate="print"/>
          <a:srcRect/>
          <a:stretch>
            <a:fillRect/>
          </a:stretch>
        </p:blipFill>
        <p:spPr bwMode="auto">
          <a:xfrm>
            <a:off x="1333323" y="1748494"/>
            <a:ext cx="5681088" cy="2112551"/>
          </a:xfrm>
          <a:prstGeom prst="rect">
            <a:avLst/>
          </a:prstGeom>
          <a:noFill/>
          <a:ln w="9525" algn="ctr">
            <a:solidFill>
              <a:schemeClr val="tx1"/>
            </a:solidFill>
            <a:miter lim="800000"/>
            <a:headEnd/>
            <a:tailEnd/>
          </a:ln>
        </p:spPr>
      </p:pic>
      <p:cxnSp>
        <p:nvCxnSpPr>
          <p:cNvPr id="4" name="Straight Connector 3">
            <a:extLst>
              <a:ext uri="{FF2B5EF4-FFF2-40B4-BE49-F238E27FC236}">
                <a16:creationId xmlns:a16="http://schemas.microsoft.com/office/drawing/2014/main" id="{5A3BAF26-21BD-4526-AD1E-92E0A256B64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FFF1CC0-0ABD-4FA5-8B7F-599AC402B1EA}"/>
              </a:ext>
            </a:extLst>
          </p:cNvPr>
          <p:cNvSpPr txBox="1">
            <a:spLocks/>
          </p:cNvSpPr>
          <p:nvPr/>
        </p:nvSpPr>
        <p:spPr>
          <a:xfrm>
            <a:off x="230959" y="2018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
            </a:r>
            <a:r>
              <a:rPr lang="en-US" altLang="zh-CN" sz="3200" dirty="0">
                <a:solidFill>
                  <a:srgbClr val="7030A0"/>
                </a:solidFill>
              </a:rPr>
              <a:t>ata source</a:t>
            </a:r>
            <a:endParaRPr lang="en-US" sz="2600" i="1" dirty="0">
              <a:solidFill>
                <a:srgbClr val="7030A0"/>
              </a:solidFill>
            </a:endParaRPr>
          </a:p>
        </p:txBody>
      </p:sp>
      <p:sp>
        <p:nvSpPr>
          <p:cNvPr id="3" name="Slide Number Placeholder 2">
            <a:extLst>
              <a:ext uri="{FF2B5EF4-FFF2-40B4-BE49-F238E27FC236}">
                <a16:creationId xmlns:a16="http://schemas.microsoft.com/office/drawing/2014/main" id="{03829A4E-2266-4CA3-B4F6-6102124837E0}"/>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3390662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idx="1"/>
          </p:nvPr>
        </p:nvSpPr>
        <p:spPr>
          <a:xfrm>
            <a:off x="288758" y="985840"/>
            <a:ext cx="7700209" cy="1543050"/>
          </a:xfrm>
        </p:spPr>
        <p:txBody>
          <a:bodyPr>
            <a:noAutofit/>
          </a:bodyPr>
          <a:lstStyle/>
          <a:p>
            <a:pPr>
              <a:buFont typeface="Courier New" panose="02070309020205020404" pitchFamily="49" charset="0"/>
              <a:buChar char="o"/>
            </a:pPr>
            <a:r>
              <a:rPr lang="en-US" sz="1600" dirty="0"/>
              <a:t>The data source should be among the smallest type on a map</a:t>
            </a:r>
          </a:p>
          <a:p>
            <a:pPr marL="765810" lvl="1" indent="-457200">
              <a:buFont typeface="Wingdings" panose="05000000000000000000" pitchFamily="2" charset="2"/>
              <a:buChar char="ü"/>
            </a:pPr>
            <a:r>
              <a:rPr lang="en-US" sz="1600" dirty="0"/>
              <a:t>Its purpose is to inform the curious, not to attract attention</a:t>
            </a:r>
          </a:p>
          <a:p>
            <a:pPr>
              <a:buFont typeface="Courier New" panose="02070309020205020404" pitchFamily="49" charset="0"/>
              <a:buChar char="o"/>
            </a:pPr>
            <a:r>
              <a:rPr lang="en-US" sz="1600" dirty="0"/>
              <a:t>Center it below the legend</a:t>
            </a:r>
          </a:p>
          <a:p>
            <a:pPr marL="727234" lvl="1" indent="-457200">
              <a:buFont typeface="Wingdings" panose="05000000000000000000" pitchFamily="2" charset="2"/>
              <a:buChar char="ü"/>
            </a:pPr>
            <a:r>
              <a:rPr lang="en-US" sz="1600" dirty="0"/>
              <a:t>Or tuck it into a lower corner</a:t>
            </a:r>
          </a:p>
        </p:txBody>
      </p:sp>
      <p:sp>
        <p:nvSpPr>
          <p:cNvPr id="3" name="Slide Number Placeholder 2">
            <a:extLst>
              <a:ext uri="{FF2B5EF4-FFF2-40B4-BE49-F238E27FC236}">
                <a16:creationId xmlns:a16="http://schemas.microsoft.com/office/drawing/2014/main" id="{C4320318-7D3E-4E4F-A5D3-78DC6ACE4F61}"/>
              </a:ext>
            </a:extLst>
          </p:cNvPr>
          <p:cNvSpPr>
            <a:spLocks noGrp="1"/>
          </p:cNvSpPr>
          <p:nvPr>
            <p:ph type="sldNum" sz="quarter" idx="12"/>
          </p:nvPr>
        </p:nvSpPr>
        <p:spPr/>
        <p:txBody>
          <a:bodyPr/>
          <a:lstStyle/>
          <a:p>
            <a:fld id="{127DDC20-79C9-9647-820E-6D40A3D210C3}" type="slidenum">
              <a:rPr lang="en-US" smtClean="0"/>
              <a:pPr/>
              <a:t>6</a:t>
            </a:fld>
            <a:endParaRPr lang="en-US"/>
          </a:p>
        </p:txBody>
      </p:sp>
      <p:pic>
        <p:nvPicPr>
          <p:cNvPr id="86020" name="Picture 5" descr="Image showing data source"/>
          <p:cNvPicPr>
            <a:picLocks noChangeAspect="1" noChangeArrowheads="1"/>
          </p:cNvPicPr>
          <p:nvPr/>
        </p:nvPicPr>
        <p:blipFill>
          <a:blip r:embed="rId2" cstate="print"/>
          <a:srcRect/>
          <a:stretch>
            <a:fillRect/>
          </a:stretch>
        </p:blipFill>
        <p:spPr bwMode="auto">
          <a:xfrm>
            <a:off x="5522614" y="2940222"/>
            <a:ext cx="2396014" cy="2157056"/>
          </a:xfrm>
          <a:prstGeom prst="rect">
            <a:avLst/>
          </a:prstGeom>
          <a:noFill/>
          <a:ln w="9525" algn="ctr">
            <a:solidFill>
              <a:schemeClr val="tx1"/>
            </a:solidFill>
            <a:miter lim="800000"/>
            <a:headEnd/>
            <a:tailEnd/>
          </a:ln>
        </p:spPr>
      </p:pic>
      <p:pic>
        <p:nvPicPr>
          <p:cNvPr id="2" name="Picture 1" descr="Image showing data source"/>
          <p:cNvPicPr>
            <a:picLocks noChangeAspect="1"/>
          </p:cNvPicPr>
          <p:nvPr/>
        </p:nvPicPr>
        <p:blipFill>
          <a:blip r:embed="rId3"/>
          <a:stretch>
            <a:fillRect/>
          </a:stretch>
        </p:blipFill>
        <p:spPr>
          <a:xfrm>
            <a:off x="1217903" y="3440243"/>
            <a:ext cx="3109455" cy="982478"/>
          </a:xfrm>
          <a:prstGeom prst="rect">
            <a:avLst/>
          </a:prstGeom>
        </p:spPr>
      </p:pic>
      <p:cxnSp>
        <p:nvCxnSpPr>
          <p:cNvPr id="8" name="Straight Connector 7">
            <a:extLst>
              <a:ext uri="{FF2B5EF4-FFF2-40B4-BE49-F238E27FC236}">
                <a16:creationId xmlns:a16="http://schemas.microsoft.com/office/drawing/2014/main" id="{29EE5423-F840-4562-AE03-FE11EB9F685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F708B0C1-5640-41C0-B7C3-D0DDA7FEA272}"/>
              </a:ext>
            </a:extLst>
          </p:cNvPr>
          <p:cNvSpPr txBox="1">
            <a:spLocks/>
          </p:cNvSpPr>
          <p:nvPr/>
        </p:nvSpPr>
        <p:spPr>
          <a:xfrm>
            <a:off x="288758" y="1285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
            </a:r>
            <a:r>
              <a:rPr lang="en-US" altLang="zh-CN" sz="3200" dirty="0">
                <a:solidFill>
                  <a:srgbClr val="7030A0"/>
                </a:solidFill>
              </a:rPr>
              <a:t>ata source</a:t>
            </a:r>
            <a:endParaRPr lang="en-US" sz="2600" i="1" dirty="0">
              <a:solidFill>
                <a:srgbClr val="7030A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idx="1"/>
          </p:nvPr>
        </p:nvSpPr>
        <p:spPr>
          <a:xfrm>
            <a:off x="118533" y="1028700"/>
            <a:ext cx="7870435" cy="2628895"/>
          </a:xfrm>
        </p:spPr>
        <p:txBody>
          <a:bodyPr>
            <a:normAutofit/>
          </a:bodyPr>
          <a:lstStyle/>
          <a:p>
            <a:pPr>
              <a:buFont typeface="Courier New" panose="02070309020205020404" pitchFamily="49" charset="0"/>
              <a:buChar char="o"/>
            </a:pPr>
            <a:r>
              <a:rPr lang="en-US" sz="2000" dirty="0"/>
              <a:t>Indicates the amount of reduction that has taken place on a map, or allows the map user to measure distances</a:t>
            </a:r>
          </a:p>
          <a:p>
            <a:pPr>
              <a:buFont typeface="Courier New" panose="02070309020205020404" pitchFamily="49" charset="0"/>
              <a:buChar char="o"/>
            </a:pPr>
            <a:r>
              <a:rPr lang="en-US" sz="2000" dirty="0"/>
              <a:t>Can take three forms</a:t>
            </a:r>
          </a:p>
          <a:p>
            <a:pPr marL="765810" lvl="1" indent="-457200">
              <a:buFont typeface="Wingdings" panose="05000000000000000000" pitchFamily="2" charset="2"/>
              <a:buChar char="ü"/>
            </a:pPr>
            <a:r>
              <a:rPr lang="en-US" sz="2000" dirty="0"/>
              <a:t>Representative Fraction (1:24,000) </a:t>
            </a:r>
          </a:p>
          <a:p>
            <a:pPr marL="765810" lvl="1" indent="-457200">
              <a:buFont typeface="Wingdings" panose="05000000000000000000" pitchFamily="2" charset="2"/>
              <a:buChar char="ü"/>
            </a:pPr>
            <a:r>
              <a:rPr lang="en-US" sz="2000" dirty="0"/>
              <a:t>Verbal Scale (“One Inch to the Mile”)</a:t>
            </a:r>
          </a:p>
          <a:p>
            <a:pPr marL="765810" lvl="1" indent="-457200">
              <a:buFont typeface="Wingdings" panose="05000000000000000000" pitchFamily="2" charset="2"/>
              <a:buChar char="ü"/>
            </a:pPr>
            <a:r>
              <a:rPr lang="en-US" sz="2000" dirty="0"/>
              <a:t>Bar Scale or Scale Bar</a:t>
            </a:r>
          </a:p>
        </p:txBody>
      </p:sp>
      <p:sp>
        <p:nvSpPr>
          <p:cNvPr id="2" name="Slide Number Placeholder 1">
            <a:extLst>
              <a:ext uri="{FF2B5EF4-FFF2-40B4-BE49-F238E27FC236}">
                <a16:creationId xmlns:a16="http://schemas.microsoft.com/office/drawing/2014/main" id="{7F76C17A-4AB0-4AA1-8D36-17A705D01208}"/>
              </a:ext>
            </a:extLst>
          </p:cNvPr>
          <p:cNvSpPr>
            <a:spLocks noGrp="1"/>
          </p:cNvSpPr>
          <p:nvPr>
            <p:ph type="sldNum" sz="quarter" idx="12"/>
          </p:nvPr>
        </p:nvSpPr>
        <p:spPr/>
        <p:txBody>
          <a:bodyPr/>
          <a:lstStyle/>
          <a:p>
            <a:fld id="{127DDC20-79C9-9647-820E-6D40A3D210C3}" type="slidenum">
              <a:rPr lang="en-US" smtClean="0"/>
              <a:pPr/>
              <a:t>7</a:t>
            </a:fld>
            <a:endParaRPr lang="en-US"/>
          </a:p>
        </p:txBody>
      </p:sp>
      <p:pic>
        <p:nvPicPr>
          <p:cNvPr id="88068" name="Picture 4" descr="Image showing scale"/>
          <p:cNvPicPr>
            <a:picLocks noChangeAspect="1" noChangeArrowheads="1"/>
          </p:cNvPicPr>
          <p:nvPr/>
        </p:nvPicPr>
        <p:blipFill>
          <a:blip r:embed="rId3" cstate="print"/>
          <a:srcRect/>
          <a:stretch>
            <a:fillRect/>
          </a:stretch>
        </p:blipFill>
        <p:spPr bwMode="auto">
          <a:xfrm>
            <a:off x="6028025" y="3121254"/>
            <a:ext cx="1454050" cy="1833604"/>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9F99F1A8-A99C-4BCA-881F-493B6793DD0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2326BF4C-D5A6-4D87-9299-C75E7ABC924E}"/>
              </a:ext>
            </a:extLst>
          </p:cNvPr>
          <p:cNvSpPr txBox="1">
            <a:spLocks/>
          </p:cNvSpPr>
          <p:nvPr/>
        </p:nvSpPr>
        <p:spPr>
          <a:xfrm>
            <a:off x="260940" y="171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1" name="Picture 3" descr="Image showing scale"/>
          <p:cNvPicPr preferRelativeResize="0">
            <a:picLocks noChangeAspect="1" noChangeArrowheads="1"/>
          </p:cNvPicPr>
          <p:nvPr/>
        </p:nvPicPr>
        <p:blipFill>
          <a:blip r:embed="rId2" cstate="print"/>
          <a:srcRect/>
          <a:stretch>
            <a:fillRect/>
          </a:stretch>
        </p:blipFill>
        <p:spPr bwMode="auto">
          <a:xfrm>
            <a:off x="1627704" y="1052274"/>
            <a:ext cx="4979551" cy="3660458"/>
          </a:xfrm>
          <a:prstGeom prst="rect">
            <a:avLst/>
          </a:prstGeom>
          <a:noFill/>
          <a:ln w="9525">
            <a:noFill/>
            <a:miter lim="800000"/>
            <a:headEnd/>
            <a:tailEnd/>
          </a:ln>
        </p:spPr>
      </p:pic>
      <p:sp>
        <p:nvSpPr>
          <p:cNvPr id="570372" name="Oval 4" descr="Red circle"/>
          <p:cNvSpPr>
            <a:spLocks noChangeArrowheads="1"/>
          </p:cNvSpPr>
          <p:nvPr/>
        </p:nvSpPr>
        <p:spPr bwMode="auto">
          <a:xfrm>
            <a:off x="5109211" y="4319470"/>
            <a:ext cx="1446609" cy="383619"/>
          </a:xfrm>
          <a:prstGeom prst="ellipse">
            <a:avLst/>
          </a:prstGeom>
          <a:noFill/>
          <a:ln w="25400">
            <a:solidFill>
              <a:srgbClr val="FF0000"/>
            </a:solidFill>
            <a:round/>
            <a:headEnd/>
            <a:tailEnd/>
          </a:ln>
        </p:spPr>
        <p:txBody>
          <a:bodyPr wrap="none" anchor="ctr"/>
          <a:lstStyle/>
          <a:p>
            <a:endParaRPr lang="en-US" sz="1215"/>
          </a:p>
        </p:txBody>
      </p:sp>
      <p:cxnSp>
        <p:nvCxnSpPr>
          <p:cNvPr id="5" name="Straight Connector 4">
            <a:extLst>
              <a:ext uri="{FF2B5EF4-FFF2-40B4-BE49-F238E27FC236}">
                <a16:creationId xmlns:a16="http://schemas.microsoft.com/office/drawing/2014/main" id="{E4F623BC-4BFB-4E54-B05D-FD0D42473E5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F08ED228-176A-466B-8C92-BE95ED0CEFE5}"/>
              </a:ext>
            </a:extLst>
          </p:cNvPr>
          <p:cNvSpPr txBox="1">
            <a:spLocks/>
          </p:cNvSpPr>
          <p:nvPr/>
        </p:nvSpPr>
        <p:spPr>
          <a:xfrm>
            <a:off x="268434" y="1853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2FE1996B-A2AE-4F32-A897-B41C90202714}"/>
              </a:ext>
            </a:extLst>
          </p:cNvPr>
          <p:cNvSpPr>
            <a:spLocks noGrp="1"/>
          </p:cNvSpPr>
          <p:nvPr>
            <p:ph type="sldNum" sz="quarter" idx="12"/>
          </p:nvPr>
        </p:nvSpPr>
        <p:spPr/>
        <p:txBody>
          <a:bodyPr/>
          <a:lstStyle/>
          <a:p>
            <a:fld id="{127DDC20-79C9-9647-820E-6D40A3D210C3}"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0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Grp="1" noChangeArrowheads="1"/>
          </p:cNvSpPr>
          <p:nvPr>
            <p:ph idx="1"/>
          </p:nvPr>
        </p:nvSpPr>
        <p:spPr>
          <a:xfrm>
            <a:off x="118533" y="957714"/>
            <a:ext cx="7818120" cy="3202056"/>
          </a:xfrm>
        </p:spPr>
        <p:txBody>
          <a:bodyPr>
            <a:normAutofit/>
          </a:bodyPr>
          <a:lstStyle/>
          <a:p>
            <a:pPr>
              <a:buFont typeface="Courier New" panose="02070309020205020404" pitchFamily="49" charset="0"/>
              <a:buChar char="o"/>
            </a:pPr>
            <a:r>
              <a:rPr lang="en-US" sz="2400" dirty="0"/>
              <a:t>The bar scale is preferred format for inclusion on a thematic map </a:t>
            </a:r>
          </a:p>
          <a:p>
            <a:pPr marL="765810" lvl="1" indent="-457200">
              <a:buFont typeface="Wingdings" panose="05000000000000000000" pitchFamily="2" charset="2"/>
              <a:buChar char="ü"/>
            </a:pPr>
            <a:r>
              <a:rPr lang="en-US" sz="2400" dirty="0"/>
              <a:t>Resembles a ruler </a:t>
            </a:r>
          </a:p>
          <a:p>
            <a:pPr marL="765810" lvl="1" indent="-457200">
              <a:buFont typeface="Wingdings" panose="05000000000000000000" pitchFamily="2" charset="2"/>
              <a:buChar char="ü"/>
            </a:pPr>
            <a:r>
              <a:rPr lang="en-US" sz="2400" dirty="0"/>
              <a:t>Remains true when a map is enlarged or reduced (representative fractions and verbal scales don’t)</a:t>
            </a:r>
          </a:p>
          <a:p>
            <a:pPr marL="727226" lvl="1" indent="-457200">
              <a:buFont typeface="Wingdings" panose="05000000000000000000" pitchFamily="2" charset="2"/>
              <a:buChar char="ü"/>
            </a:pPr>
            <a:r>
              <a:rPr lang="en-US" sz="2400" dirty="0"/>
              <a:t>Include if distance information can enhance the map user’s understanding of the theme</a:t>
            </a:r>
          </a:p>
        </p:txBody>
      </p:sp>
      <p:sp>
        <p:nvSpPr>
          <p:cNvPr id="2" name="Slide Number Placeholder 1">
            <a:extLst>
              <a:ext uri="{FF2B5EF4-FFF2-40B4-BE49-F238E27FC236}">
                <a16:creationId xmlns:a16="http://schemas.microsoft.com/office/drawing/2014/main" id="{04184035-05D3-4200-B06D-E79D6205E47B}"/>
              </a:ext>
            </a:extLst>
          </p:cNvPr>
          <p:cNvSpPr>
            <a:spLocks noGrp="1"/>
          </p:cNvSpPr>
          <p:nvPr>
            <p:ph type="sldNum" sz="quarter" idx="12"/>
          </p:nvPr>
        </p:nvSpPr>
        <p:spPr/>
        <p:txBody>
          <a:bodyPr/>
          <a:lstStyle/>
          <a:p>
            <a:fld id="{127DDC20-79C9-9647-820E-6D40A3D210C3}" type="slidenum">
              <a:rPr lang="en-US" smtClean="0"/>
              <a:pPr/>
              <a:t>9</a:t>
            </a:fld>
            <a:endParaRPr lang="en-US"/>
          </a:p>
        </p:txBody>
      </p:sp>
      <p:cxnSp>
        <p:nvCxnSpPr>
          <p:cNvPr id="5" name="Straight Connector 4">
            <a:extLst>
              <a:ext uri="{FF2B5EF4-FFF2-40B4-BE49-F238E27FC236}">
                <a16:creationId xmlns:a16="http://schemas.microsoft.com/office/drawing/2014/main" id="{F2C320FB-BD2A-4B6D-9598-423246954E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5B1F549D-29E0-4CE6-B74B-5D3B67FBA063}"/>
              </a:ext>
            </a:extLst>
          </p:cNvPr>
          <p:cNvSpPr txBox="1">
            <a:spLocks/>
          </p:cNvSpPr>
          <p:nvPr/>
        </p:nvSpPr>
        <p:spPr>
          <a:xfrm>
            <a:off x="292947" y="2000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2C320FB-BD2A-4B6D-9598-423246954E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5B1F549D-29E0-4CE6-B74B-5D3B67FBA063}"/>
              </a:ext>
            </a:extLst>
          </p:cNvPr>
          <p:cNvSpPr txBox="1">
            <a:spLocks/>
          </p:cNvSpPr>
          <p:nvPr/>
        </p:nvSpPr>
        <p:spPr>
          <a:xfrm>
            <a:off x="235518" y="1736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8FBE3332-4ED6-4335-8129-744FAC46739A}"/>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1026" name="Picture 2" descr="Information 15 00107 g006">
            <a:extLst>
              <a:ext uri="{FF2B5EF4-FFF2-40B4-BE49-F238E27FC236}">
                <a16:creationId xmlns:a16="http://schemas.microsoft.com/office/drawing/2014/main" id="{7CB9B25E-18DF-7DFC-54B5-94EDEFCE63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8727" y="1030863"/>
            <a:ext cx="5416888" cy="3965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1629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idx="1"/>
          </p:nvPr>
        </p:nvSpPr>
        <p:spPr>
          <a:xfrm>
            <a:off x="236278" y="1000978"/>
            <a:ext cx="7917122" cy="974981"/>
          </a:xfrm>
        </p:spPr>
        <p:txBody>
          <a:bodyPr>
            <a:normAutofit/>
          </a:bodyPr>
          <a:lstStyle/>
          <a:p>
            <a:pPr>
              <a:buFont typeface="Courier New" panose="02070309020205020404" pitchFamily="49" charset="0"/>
              <a:buChar char="o"/>
            </a:pPr>
            <a:r>
              <a:rPr lang="en-US" sz="2000" dirty="0"/>
              <a:t>Use caution when employing bar scales on smaller scale maps</a:t>
            </a:r>
          </a:p>
          <a:p>
            <a:pPr marL="1125855" lvl="2" indent="-457200">
              <a:buFont typeface="Wingdings" panose="05000000000000000000" pitchFamily="2" charset="2"/>
              <a:buChar char="ü"/>
            </a:pPr>
            <a:r>
              <a:rPr lang="en-US" sz="2000" dirty="0"/>
              <a:t>Scale is only accurate along standard lines</a:t>
            </a:r>
          </a:p>
        </p:txBody>
      </p:sp>
      <p:sp>
        <p:nvSpPr>
          <p:cNvPr id="2" name="Slide Number Placeholder 1">
            <a:extLst>
              <a:ext uri="{FF2B5EF4-FFF2-40B4-BE49-F238E27FC236}">
                <a16:creationId xmlns:a16="http://schemas.microsoft.com/office/drawing/2014/main" id="{7D8EF2E5-5D69-4F16-897E-BDC7A050E3E0}"/>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92164" name="Picture 5" descr="Image showing scale"/>
          <p:cNvPicPr>
            <a:picLocks noChangeAspect="1" noChangeArrowheads="1"/>
          </p:cNvPicPr>
          <p:nvPr/>
        </p:nvPicPr>
        <p:blipFill>
          <a:blip r:embed="rId3" cstate="print"/>
          <a:srcRect t="6451" b="16319"/>
          <a:stretch>
            <a:fillRect/>
          </a:stretch>
        </p:blipFill>
        <p:spPr bwMode="auto">
          <a:xfrm>
            <a:off x="2008596" y="2364484"/>
            <a:ext cx="4602066" cy="2610500"/>
          </a:xfrm>
          <a:prstGeom prst="rect">
            <a:avLst/>
          </a:prstGeom>
          <a:noFill/>
          <a:ln w="9525" algn="ctr">
            <a:solidFill>
              <a:schemeClr val="tx1"/>
            </a:solidFill>
            <a:miter lim="800000"/>
            <a:headEnd/>
            <a:tailEnd/>
          </a:ln>
        </p:spPr>
      </p:pic>
      <p:sp>
        <p:nvSpPr>
          <p:cNvPr id="92165" name="Text Box 6"/>
          <p:cNvSpPr txBox="1">
            <a:spLocks noChangeArrowheads="1"/>
          </p:cNvSpPr>
          <p:nvPr/>
        </p:nvSpPr>
        <p:spPr bwMode="auto">
          <a:xfrm>
            <a:off x="432150" y="1976852"/>
            <a:ext cx="3525253" cy="300082"/>
          </a:xfrm>
          <a:prstGeom prst="rect">
            <a:avLst/>
          </a:prstGeom>
          <a:solidFill>
            <a:schemeClr val="bg1"/>
          </a:solidFill>
          <a:ln w="9525" algn="ctr">
            <a:solidFill>
              <a:srgbClr val="FF0000"/>
            </a:solidFill>
            <a:miter lim="800000"/>
            <a:headEnd/>
            <a:tailEnd/>
          </a:ln>
        </p:spPr>
        <p:txBody>
          <a:bodyPr wrap="square">
            <a:spAutoFit/>
          </a:bodyPr>
          <a:lstStyle/>
          <a:p>
            <a:r>
              <a:rPr lang="en-US" sz="1350" dirty="0"/>
              <a:t>Scale is accurate only along the standard line</a:t>
            </a:r>
          </a:p>
        </p:txBody>
      </p:sp>
      <p:cxnSp>
        <p:nvCxnSpPr>
          <p:cNvPr id="10" name="Straight Connector 9">
            <a:extLst>
              <a:ext uri="{FF2B5EF4-FFF2-40B4-BE49-F238E27FC236}">
                <a16:creationId xmlns:a16="http://schemas.microsoft.com/office/drawing/2014/main" id="{A102BB30-A513-4913-A493-0AE4D17EC63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44A66D0F-FD62-4D62-A1D7-F96AC05B44AE}"/>
              </a:ext>
            </a:extLst>
          </p:cNvPr>
          <p:cNvSpPr txBox="1">
            <a:spLocks/>
          </p:cNvSpPr>
          <p:nvPr/>
        </p:nvSpPr>
        <p:spPr>
          <a:xfrm>
            <a:off x="236278" y="16851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p:cNvSpPr>
            <a:spLocks noGrp="1" noChangeArrowheads="1"/>
          </p:cNvSpPr>
          <p:nvPr>
            <p:ph idx="1"/>
          </p:nvPr>
        </p:nvSpPr>
        <p:spPr>
          <a:xfrm>
            <a:off x="33867" y="1003558"/>
            <a:ext cx="8077200" cy="3043882"/>
          </a:xfrm>
        </p:spPr>
        <p:txBody>
          <a:bodyPr>
            <a:normAutofit/>
          </a:bodyPr>
          <a:lstStyle/>
          <a:p>
            <a:pPr>
              <a:buFont typeface="Courier New" panose="02070309020205020404" pitchFamily="49" charset="0"/>
              <a:buChar char="o"/>
            </a:pPr>
            <a:r>
              <a:rPr lang="en-US" sz="2600" dirty="0"/>
              <a:t>The maximum distance value should always be round and easy to work with</a:t>
            </a:r>
          </a:p>
          <a:p>
            <a:pPr>
              <a:buFont typeface="Courier New" panose="02070309020205020404" pitchFamily="49" charset="0"/>
              <a:buChar char="o"/>
            </a:pPr>
            <a:r>
              <a:rPr lang="en-US" sz="2600" dirty="0"/>
              <a:t>Incorporate a unit of measure that is appropriate for the intended audience</a:t>
            </a:r>
          </a:p>
          <a:p>
            <a:pPr marL="765810" lvl="1" indent="-457200">
              <a:buFont typeface="Wingdings" panose="05000000000000000000" pitchFamily="2" charset="2"/>
              <a:buChar char="ü"/>
            </a:pPr>
            <a:r>
              <a:rPr lang="en-US" sz="2000" dirty="0"/>
              <a:t>Incorporate both miles and kilometers if necessary </a:t>
            </a:r>
          </a:p>
          <a:p>
            <a:pPr marL="765810" lvl="1" indent="-457200">
              <a:buFont typeface="Wingdings" panose="05000000000000000000" pitchFamily="2" charset="2"/>
              <a:buChar char="ü"/>
            </a:pPr>
            <a:r>
              <a:rPr lang="en-US" sz="2000" dirty="0"/>
              <a:t>Choose a unit of measure that is appropriate for the maximum value</a:t>
            </a:r>
          </a:p>
          <a:p>
            <a:pPr lvl="1" indent="-360045"/>
            <a:endParaRPr lang="en-US" dirty="0"/>
          </a:p>
        </p:txBody>
      </p:sp>
      <p:sp>
        <p:nvSpPr>
          <p:cNvPr id="2" name="Slide Number Placeholder 1">
            <a:extLst>
              <a:ext uri="{FF2B5EF4-FFF2-40B4-BE49-F238E27FC236}">
                <a16:creationId xmlns:a16="http://schemas.microsoft.com/office/drawing/2014/main" id="{84044809-C523-4428-B06D-7BC522F53BC1}"/>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94212" name="Picture 6" descr="Image showing scale"/>
          <p:cNvPicPr>
            <a:picLocks noChangeAspect="1" noChangeArrowheads="1"/>
          </p:cNvPicPr>
          <p:nvPr/>
        </p:nvPicPr>
        <p:blipFill>
          <a:blip r:embed="rId2" cstate="print"/>
          <a:srcRect/>
          <a:stretch>
            <a:fillRect/>
          </a:stretch>
        </p:blipFill>
        <p:spPr bwMode="auto">
          <a:xfrm>
            <a:off x="237884" y="3760981"/>
            <a:ext cx="2173129" cy="596860"/>
          </a:xfrm>
          <a:prstGeom prst="rect">
            <a:avLst/>
          </a:prstGeom>
          <a:noFill/>
          <a:ln w="9525" algn="ctr">
            <a:solidFill>
              <a:schemeClr val="tx1"/>
            </a:solidFill>
            <a:miter lim="800000"/>
            <a:headEnd/>
            <a:tailEnd/>
          </a:ln>
        </p:spPr>
      </p:pic>
      <p:pic>
        <p:nvPicPr>
          <p:cNvPr id="94213" name="Picture 10" descr="Image showing scale"/>
          <p:cNvPicPr>
            <a:picLocks noChangeAspect="1" noChangeArrowheads="1"/>
          </p:cNvPicPr>
          <p:nvPr/>
        </p:nvPicPr>
        <p:blipFill>
          <a:blip r:embed="rId3" cstate="print"/>
          <a:srcRect/>
          <a:stretch>
            <a:fillRect/>
          </a:stretch>
        </p:blipFill>
        <p:spPr bwMode="auto">
          <a:xfrm>
            <a:off x="3650209" y="4512815"/>
            <a:ext cx="3335774" cy="591503"/>
          </a:xfrm>
          <a:prstGeom prst="rect">
            <a:avLst/>
          </a:prstGeom>
          <a:noFill/>
          <a:ln w="9525" algn="ctr">
            <a:solidFill>
              <a:schemeClr val="tx1"/>
            </a:solidFill>
            <a:miter lim="800000"/>
            <a:headEnd/>
            <a:tailEnd/>
          </a:ln>
        </p:spPr>
      </p:pic>
      <p:grpSp>
        <p:nvGrpSpPr>
          <p:cNvPr id="94214" name="Group 12" descr="Image showing scale"/>
          <p:cNvGrpSpPr>
            <a:grpSpLocks/>
          </p:cNvGrpSpPr>
          <p:nvPr/>
        </p:nvGrpSpPr>
        <p:grpSpPr bwMode="auto">
          <a:xfrm>
            <a:off x="2615029" y="3738294"/>
            <a:ext cx="3722608" cy="618292"/>
            <a:chOff x="1053" y="2822"/>
            <a:chExt cx="3474" cy="577"/>
          </a:xfrm>
        </p:grpSpPr>
        <p:pic>
          <p:nvPicPr>
            <p:cNvPr id="94215" name="Picture 8"/>
            <p:cNvPicPr>
              <a:picLocks noChangeAspect="1" noChangeArrowheads="1"/>
            </p:cNvPicPr>
            <p:nvPr/>
          </p:nvPicPr>
          <p:blipFill>
            <a:blip r:embed="rId4" cstate="print"/>
            <a:srcRect r="2866"/>
            <a:stretch>
              <a:fillRect/>
            </a:stretch>
          </p:blipFill>
          <p:spPr bwMode="auto">
            <a:xfrm>
              <a:off x="1053" y="2822"/>
              <a:ext cx="3458" cy="577"/>
            </a:xfrm>
            <a:prstGeom prst="rect">
              <a:avLst/>
            </a:prstGeom>
            <a:noFill/>
            <a:ln w="9525" algn="ctr">
              <a:solidFill>
                <a:schemeClr val="tx1"/>
              </a:solidFill>
              <a:miter lim="800000"/>
              <a:headEnd/>
              <a:tailEnd/>
            </a:ln>
          </p:spPr>
        </p:pic>
        <p:sp>
          <p:nvSpPr>
            <p:cNvPr id="94216" name="Rectangle 11"/>
            <p:cNvSpPr>
              <a:spLocks noChangeArrowheads="1"/>
            </p:cNvSpPr>
            <p:nvPr/>
          </p:nvSpPr>
          <p:spPr bwMode="auto">
            <a:xfrm>
              <a:off x="4355" y="2951"/>
              <a:ext cx="172" cy="261"/>
            </a:xfrm>
            <a:prstGeom prst="rect">
              <a:avLst/>
            </a:prstGeom>
            <a:solidFill>
              <a:schemeClr val="bg1"/>
            </a:solidFill>
            <a:ln w="9525" algn="ctr">
              <a:noFill/>
              <a:miter lim="800000"/>
              <a:headEnd/>
              <a:tailEnd/>
            </a:ln>
          </p:spPr>
          <p:txBody>
            <a:bodyPr wrap="none" anchor="ctr">
              <a:spAutoFit/>
            </a:bodyPr>
            <a:lstStyle/>
            <a:p>
              <a:endParaRPr lang="en-US" sz="1215"/>
            </a:p>
          </p:txBody>
        </p:sp>
      </p:grpSp>
      <p:cxnSp>
        <p:nvCxnSpPr>
          <p:cNvPr id="8" name="Straight Connector 7">
            <a:extLst>
              <a:ext uri="{FF2B5EF4-FFF2-40B4-BE49-F238E27FC236}">
                <a16:creationId xmlns:a16="http://schemas.microsoft.com/office/drawing/2014/main" id="{EE29180A-36BA-4E43-98B2-CC03623A4B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B08AF1DA-6E76-4CC4-981F-A206239C865C}"/>
              </a:ext>
            </a:extLst>
          </p:cNvPr>
          <p:cNvSpPr txBox="1">
            <a:spLocks/>
          </p:cNvSpPr>
          <p:nvPr/>
        </p:nvSpPr>
        <p:spPr>
          <a:xfrm>
            <a:off x="237884" y="1561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idx="1"/>
          </p:nvPr>
        </p:nvSpPr>
        <p:spPr>
          <a:xfrm>
            <a:off x="252663" y="1028700"/>
            <a:ext cx="7565457" cy="2433636"/>
          </a:xfrm>
        </p:spPr>
        <p:txBody>
          <a:bodyPr>
            <a:normAutofit/>
          </a:bodyPr>
          <a:lstStyle/>
          <a:p>
            <a:pPr>
              <a:buFont typeface="Courier New" panose="02070309020205020404" pitchFamily="49" charset="0"/>
              <a:buChar char="o"/>
            </a:pPr>
            <a:r>
              <a:rPr lang="en-US" dirty="0"/>
              <a:t>Don’t use an “extension scale” unless the map user requires it</a:t>
            </a:r>
          </a:p>
          <a:p>
            <a:pPr marL="765810" lvl="1" indent="-457200">
              <a:buFont typeface="Wingdings" panose="05000000000000000000" pitchFamily="2" charset="2"/>
              <a:buChar char="ü"/>
            </a:pPr>
            <a:r>
              <a:rPr lang="en-US" sz="2500" dirty="0"/>
              <a:t>Shows finer subdivisions of the scale bar allows for smaller distance measurements</a:t>
            </a:r>
          </a:p>
          <a:p>
            <a:pPr marL="765810" lvl="1" indent="-457200">
              <a:buFont typeface="Wingdings" panose="05000000000000000000" pitchFamily="2" charset="2"/>
              <a:buChar char="ü"/>
            </a:pPr>
            <a:r>
              <a:rPr lang="en-US" dirty="0"/>
              <a:t>The extension scale can be useful when employing a specific method of map measurement, but it can also be a source of confusion</a:t>
            </a:r>
          </a:p>
        </p:txBody>
      </p:sp>
      <p:sp>
        <p:nvSpPr>
          <p:cNvPr id="3" name="Slide Number Placeholder 2">
            <a:extLst>
              <a:ext uri="{FF2B5EF4-FFF2-40B4-BE49-F238E27FC236}">
                <a16:creationId xmlns:a16="http://schemas.microsoft.com/office/drawing/2014/main" id="{6C0C2230-506C-4457-81EC-2D715FB999D4}"/>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96260" name="Picture 9" descr="Image showing scale"/>
          <p:cNvPicPr>
            <a:picLocks noChangeAspect="1" noChangeArrowheads="1"/>
          </p:cNvPicPr>
          <p:nvPr/>
        </p:nvPicPr>
        <p:blipFill>
          <a:blip r:embed="rId3" cstate="print"/>
          <a:srcRect/>
          <a:stretch>
            <a:fillRect/>
          </a:stretch>
        </p:blipFill>
        <p:spPr bwMode="auto">
          <a:xfrm>
            <a:off x="1316951" y="3661529"/>
            <a:ext cx="5503545" cy="906542"/>
          </a:xfrm>
          <a:prstGeom prst="rect">
            <a:avLst/>
          </a:prstGeom>
          <a:noFill/>
          <a:ln w="9525" algn="ctr">
            <a:solidFill>
              <a:schemeClr val="tx1"/>
            </a:solidFill>
            <a:miter lim="800000"/>
            <a:headEnd/>
            <a:tailEnd/>
          </a:ln>
        </p:spPr>
      </p:pic>
      <p:sp>
        <p:nvSpPr>
          <p:cNvPr id="2" name="Rectangle 1"/>
          <p:cNvSpPr/>
          <p:nvPr/>
        </p:nvSpPr>
        <p:spPr>
          <a:xfrm>
            <a:off x="1767143" y="4620155"/>
            <a:ext cx="4928785" cy="279307"/>
          </a:xfrm>
          <a:prstGeom prst="rect">
            <a:avLst/>
          </a:prstGeom>
        </p:spPr>
        <p:txBody>
          <a:bodyPr wrap="none">
            <a:spAutoFit/>
          </a:bodyPr>
          <a:lstStyle/>
          <a:p>
            <a:r>
              <a:rPr lang="en-US" sz="1215" dirty="0"/>
              <a:t>And the “checkerboard” serves no purpose, other than to attract attention.</a:t>
            </a:r>
          </a:p>
        </p:txBody>
      </p:sp>
      <p:cxnSp>
        <p:nvCxnSpPr>
          <p:cNvPr id="6" name="Straight Connector 5">
            <a:extLst>
              <a:ext uri="{FF2B5EF4-FFF2-40B4-BE49-F238E27FC236}">
                <a16:creationId xmlns:a16="http://schemas.microsoft.com/office/drawing/2014/main" id="{D61EA20C-904A-42E1-8861-AC788B1D445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0A25F008-83DE-4C8C-A8D5-AAAAA91B326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p:cNvSpPr>
            <a:spLocks noGrp="1" noChangeArrowheads="1"/>
          </p:cNvSpPr>
          <p:nvPr>
            <p:ph idx="1"/>
          </p:nvPr>
        </p:nvSpPr>
        <p:spPr>
          <a:xfrm>
            <a:off x="161535" y="922910"/>
            <a:ext cx="7906530" cy="3741896"/>
          </a:xfrm>
        </p:spPr>
        <p:txBody>
          <a:bodyPr>
            <a:normAutofit/>
          </a:bodyPr>
          <a:lstStyle/>
          <a:p>
            <a:pPr>
              <a:buFont typeface="Courier New" panose="02070309020205020404" pitchFamily="49" charset="0"/>
              <a:buChar char="o"/>
            </a:pPr>
            <a:r>
              <a:rPr lang="en-US" sz="2000" dirty="0"/>
              <a:t>The style of the bar scale should be simple and subtle; it should not attract attention</a:t>
            </a:r>
          </a:p>
          <a:p>
            <a:pPr marL="765810" lvl="1" indent="-457200">
              <a:buFont typeface="Wingdings" panose="05000000000000000000" pitchFamily="2" charset="2"/>
              <a:buChar char="ü"/>
            </a:pPr>
            <a:r>
              <a:rPr lang="en-US" sz="2000" dirty="0"/>
              <a:t>Bulky and complex designs should be avoided</a:t>
            </a:r>
          </a:p>
          <a:p>
            <a:pPr marL="765810" lvl="1" indent="-457200">
              <a:buFont typeface="Wingdings" panose="05000000000000000000" pitchFamily="2" charset="2"/>
              <a:buChar char="ü"/>
            </a:pPr>
            <a:r>
              <a:rPr lang="en-US" sz="2000" dirty="0"/>
              <a:t>Line weights should be thin and type should be among the smallest on a map</a:t>
            </a:r>
          </a:p>
          <a:p>
            <a:pPr marL="765810" lvl="1" indent="-457200">
              <a:buFont typeface="Wingdings" panose="05000000000000000000" pitchFamily="2" charset="2"/>
              <a:buChar char="ü"/>
            </a:pPr>
            <a:r>
              <a:rPr lang="en-US" sz="2000" dirty="0"/>
              <a:t>Avoid the use of bold and italic type styles </a:t>
            </a:r>
          </a:p>
        </p:txBody>
      </p:sp>
      <p:sp>
        <p:nvSpPr>
          <p:cNvPr id="2" name="Slide Number Placeholder 1">
            <a:extLst>
              <a:ext uri="{FF2B5EF4-FFF2-40B4-BE49-F238E27FC236}">
                <a16:creationId xmlns:a16="http://schemas.microsoft.com/office/drawing/2014/main" id="{80A0C38B-1D13-420D-B7B4-DEFB2F948EB6}"/>
              </a:ext>
            </a:extLst>
          </p:cNvPr>
          <p:cNvSpPr>
            <a:spLocks noGrp="1"/>
          </p:cNvSpPr>
          <p:nvPr>
            <p:ph type="sldNum" sz="quarter" idx="12"/>
          </p:nvPr>
        </p:nvSpPr>
        <p:spPr/>
        <p:txBody>
          <a:bodyPr/>
          <a:lstStyle/>
          <a:p>
            <a:fld id="{127DDC20-79C9-9647-820E-6D40A3D210C3}" type="slidenum">
              <a:rPr lang="en-US" smtClean="0"/>
              <a:pPr/>
              <a:t>14</a:t>
            </a:fld>
            <a:endParaRPr lang="en-US"/>
          </a:p>
        </p:txBody>
      </p:sp>
      <p:cxnSp>
        <p:nvCxnSpPr>
          <p:cNvPr id="9" name="Straight Connector 8">
            <a:extLst>
              <a:ext uri="{FF2B5EF4-FFF2-40B4-BE49-F238E27FC236}">
                <a16:creationId xmlns:a16="http://schemas.microsoft.com/office/drawing/2014/main" id="{1453C7D2-E673-4F0B-BC5D-966FD27C3E1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DB846AD2-ABA7-41FC-8500-DFD9254A2CEC}"/>
              </a:ext>
            </a:extLst>
          </p:cNvPr>
          <p:cNvSpPr txBox="1">
            <a:spLocks/>
          </p:cNvSpPr>
          <p:nvPr/>
        </p:nvSpPr>
        <p:spPr>
          <a:xfrm>
            <a:off x="170670" y="16239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Image showing scale"/>
          <p:cNvPicPr>
            <a:picLocks noChangeAspect="1" noChangeArrowheads="1"/>
          </p:cNvPicPr>
          <p:nvPr/>
        </p:nvPicPr>
        <p:blipFill>
          <a:blip r:embed="rId2" cstate="print"/>
          <a:srcRect/>
          <a:stretch>
            <a:fillRect/>
          </a:stretch>
        </p:blipFill>
        <p:spPr bwMode="auto">
          <a:xfrm>
            <a:off x="2533111" y="1870098"/>
            <a:ext cx="2827200" cy="1102360"/>
          </a:xfrm>
          <a:prstGeom prst="rect">
            <a:avLst/>
          </a:prstGeom>
          <a:noFill/>
          <a:ln w="9525" algn="ctr">
            <a:solidFill>
              <a:schemeClr val="tx1"/>
            </a:solidFill>
            <a:miter lim="800000"/>
            <a:headEnd/>
            <a:tailEnd/>
          </a:ln>
        </p:spPr>
      </p:pic>
      <p:pic>
        <p:nvPicPr>
          <p:cNvPr id="6" name="Picture 6" descr="Image showing scale"/>
          <p:cNvPicPr>
            <a:picLocks noChangeAspect="1" noChangeArrowheads="1"/>
          </p:cNvPicPr>
          <p:nvPr/>
        </p:nvPicPr>
        <p:blipFill>
          <a:blip r:embed="rId3" cstate="print"/>
          <a:srcRect/>
          <a:stretch>
            <a:fillRect/>
          </a:stretch>
        </p:blipFill>
        <p:spPr bwMode="auto">
          <a:xfrm>
            <a:off x="2533111" y="3186147"/>
            <a:ext cx="2827200" cy="1519260"/>
          </a:xfrm>
          <a:prstGeom prst="rect">
            <a:avLst/>
          </a:prstGeom>
          <a:noFill/>
          <a:ln w="9525" algn="ctr">
            <a:solidFill>
              <a:schemeClr val="tx1"/>
            </a:solidFill>
            <a:miter lim="800000"/>
            <a:headEnd/>
            <a:tailEnd/>
          </a:ln>
        </p:spPr>
      </p:pic>
      <p:sp>
        <p:nvSpPr>
          <p:cNvPr id="7" name="Text Box 7"/>
          <p:cNvSpPr txBox="1">
            <a:spLocks noChangeArrowheads="1"/>
          </p:cNvSpPr>
          <p:nvPr/>
        </p:nvSpPr>
        <p:spPr bwMode="auto">
          <a:xfrm>
            <a:off x="5581711" y="2247879"/>
            <a:ext cx="1545142" cy="300082"/>
          </a:xfrm>
          <a:prstGeom prst="rect">
            <a:avLst/>
          </a:prstGeom>
          <a:noFill/>
          <a:ln w="9525">
            <a:noFill/>
            <a:miter lim="800000"/>
            <a:headEnd/>
            <a:tailEnd/>
          </a:ln>
        </p:spPr>
        <p:txBody>
          <a:bodyPr wrap="square">
            <a:spAutoFit/>
          </a:bodyPr>
          <a:lstStyle/>
          <a:p>
            <a:pPr>
              <a:spcBef>
                <a:spcPct val="50000"/>
              </a:spcBef>
            </a:pPr>
            <a:r>
              <a:rPr lang="en-US" sz="1350" dirty="0"/>
              <a:t>Poorly Designed</a:t>
            </a:r>
          </a:p>
        </p:txBody>
      </p:sp>
      <p:sp>
        <p:nvSpPr>
          <p:cNvPr id="8" name="Text Box 8"/>
          <p:cNvSpPr txBox="1">
            <a:spLocks noChangeArrowheads="1"/>
          </p:cNvSpPr>
          <p:nvPr/>
        </p:nvSpPr>
        <p:spPr bwMode="auto">
          <a:xfrm>
            <a:off x="5669787" y="3626302"/>
            <a:ext cx="1545141" cy="300082"/>
          </a:xfrm>
          <a:prstGeom prst="rect">
            <a:avLst/>
          </a:prstGeom>
          <a:noFill/>
          <a:ln w="9525">
            <a:noFill/>
            <a:miter lim="800000"/>
            <a:headEnd/>
            <a:tailEnd/>
          </a:ln>
        </p:spPr>
        <p:txBody>
          <a:bodyPr wrap="square">
            <a:spAutoFit/>
          </a:bodyPr>
          <a:lstStyle/>
          <a:p>
            <a:pPr>
              <a:spcBef>
                <a:spcPct val="50000"/>
              </a:spcBef>
            </a:pPr>
            <a:r>
              <a:rPr lang="en-US" sz="1350" dirty="0"/>
              <a:t>Well Designed</a:t>
            </a:r>
          </a:p>
        </p:txBody>
      </p:sp>
      <p:cxnSp>
        <p:nvCxnSpPr>
          <p:cNvPr id="9" name="Straight Connector 8">
            <a:extLst>
              <a:ext uri="{FF2B5EF4-FFF2-40B4-BE49-F238E27FC236}">
                <a16:creationId xmlns:a16="http://schemas.microsoft.com/office/drawing/2014/main" id="{1453C7D2-E673-4F0B-BC5D-966FD27C3E1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DB846AD2-ABA7-41FC-8500-DFD9254A2CEC}"/>
              </a:ext>
            </a:extLst>
          </p:cNvPr>
          <p:cNvSpPr txBox="1">
            <a:spLocks/>
          </p:cNvSpPr>
          <p:nvPr/>
        </p:nvSpPr>
        <p:spPr>
          <a:xfrm>
            <a:off x="152400" y="14564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
        <p:nvSpPr>
          <p:cNvPr id="2" name="TextBox 1">
            <a:extLst>
              <a:ext uri="{FF2B5EF4-FFF2-40B4-BE49-F238E27FC236}">
                <a16:creationId xmlns:a16="http://schemas.microsoft.com/office/drawing/2014/main" id="{D5AA9ED1-190D-4313-9A86-4E4B0C8E1F06}"/>
              </a:ext>
            </a:extLst>
          </p:cNvPr>
          <p:cNvSpPr txBox="1"/>
          <p:nvPr/>
        </p:nvSpPr>
        <p:spPr>
          <a:xfrm>
            <a:off x="1476412" y="1133189"/>
            <a:ext cx="5671148" cy="523220"/>
          </a:xfrm>
          <a:prstGeom prst="rect">
            <a:avLst/>
          </a:prstGeom>
          <a:noFill/>
        </p:spPr>
        <p:txBody>
          <a:bodyPr wrap="square" rtlCol="0">
            <a:spAutoFit/>
          </a:bodyPr>
          <a:lstStyle/>
          <a:p>
            <a:r>
              <a:rPr lang="en-US" sz="2800" dirty="0"/>
              <a:t>Which group is better? And Why?</a:t>
            </a:r>
          </a:p>
        </p:txBody>
      </p:sp>
      <p:sp>
        <p:nvSpPr>
          <p:cNvPr id="3" name="Slide Number Placeholder 2">
            <a:extLst>
              <a:ext uri="{FF2B5EF4-FFF2-40B4-BE49-F238E27FC236}">
                <a16:creationId xmlns:a16="http://schemas.microsoft.com/office/drawing/2014/main" id="{E7CDF850-DF0D-43B0-BE28-2E695A8BC233}"/>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3574387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453C7D2-E673-4F0B-BC5D-966FD27C3E1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DB846AD2-ABA7-41FC-8500-DFD9254A2CEC}"/>
              </a:ext>
            </a:extLst>
          </p:cNvPr>
          <p:cNvSpPr txBox="1">
            <a:spLocks/>
          </p:cNvSpPr>
          <p:nvPr/>
        </p:nvSpPr>
        <p:spPr>
          <a:xfrm>
            <a:off x="310896" y="1209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7CDF850-DF0D-43B0-BE28-2E695A8BC233}"/>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11" name="Picture 10" descr="Image showing scale">
            <a:extLst>
              <a:ext uri="{FF2B5EF4-FFF2-40B4-BE49-F238E27FC236}">
                <a16:creationId xmlns:a16="http://schemas.microsoft.com/office/drawing/2014/main" id="{11C361CE-5153-4D51-AC75-3353FD4AABEB}"/>
              </a:ext>
            </a:extLst>
          </p:cNvPr>
          <p:cNvPicPr>
            <a:picLocks noChangeAspect="1"/>
          </p:cNvPicPr>
          <p:nvPr/>
        </p:nvPicPr>
        <p:blipFill>
          <a:blip r:embed="rId2"/>
          <a:stretch>
            <a:fillRect/>
          </a:stretch>
        </p:blipFill>
        <p:spPr>
          <a:xfrm>
            <a:off x="981847" y="2457529"/>
            <a:ext cx="5962214" cy="1737242"/>
          </a:xfrm>
          <a:prstGeom prst="rect">
            <a:avLst/>
          </a:prstGeom>
        </p:spPr>
      </p:pic>
      <p:sp>
        <p:nvSpPr>
          <p:cNvPr id="13" name="TextBox 12">
            <a:extLst>
              <a:ext uri="{FF2B5EF4-FFF2-40B4-BE49-F238E27FC236}">
                <a16:creationId xmlns:a16="http://schemas.microsoft.com/office/drawing/2014/main" id="{42B40AEA-B1F8-4234-B92A-5ED951D05E30}"/>
              </a:ext>
            </a:extLst>
          </p:cNvPr>
          <p:cNvSpPr txBox="1"/>
          <p:nvPr/>
        </p:nvSpPr>
        <p:spPr>
          <a:xfrm>
            <a:off x="310896" y="1132529"/>
            <a:ext cx="6760464" cy="954107"/>
          </a:xfrm>
          <a:prstGeom prst="rect">
            <a:avLst/>
          </a:prstGeom>
          <a:noFill/>
        </p:spPr>
        <p:txBody>
          <a:bodyPr wrap="square">
            <a:spAutoFit/>
          </a:bodyPr>
          <a:lstStyle/>
          <a:p>
            <a:r>
              <a:rPr lang="en-US" sz="2800" dirty="0"/>
              <a:t>The compact form is more modern, the linear form is classic.</a:t>
            </a:r>
          </a:p>
        </p:txBody>
      </p:sp>
      <p:sp>
        <p:nvSpPr>
          <p:cNvPr id="14" name="Rectangle 5">
            <a:extLst>
              <a:ext uri="{FF2B5EF4-FFF2-40B4-BE49-F238E27FC236}">
                <a16:creationId xmlns:a16="http://schemas.microsoft.com/office/drawing/2014/main" id="{4204CCBE-E302-473B-9FF5-B2B33FDDD1F2}"/>
              </a:ext>
            </a:extLst>
          </p:cNvPr>
          <p:cNvSpPr>
            <a:spLocks noChangeArrowheads="1"/>
          </p:cNvSpPr>
          <p:nvPr/>
        </p:nvSpPr>
        <p:spPr bwMode="auto">
          <a:xfrm>
            <a:off x="6259049" y="4434618"/>
            <a:ext cx="974947" cy="246221"/>
          </a:xfrm>
          <a:prstGeom prst="rect">
            <a:avLst/>
          </a:prstGeom>
          <a:noFill/>
          <a:ln w="9525" algn="ctr">
            <a:noFill/>
            <a:miter lim="800000"/>
            <a:headEnd/>
            <a:tailEnd/>
          </a:ln>
        </p:spPr>
        <p:txBody>
          <a:bodyPr wrap="none">
            <a:spAutoFit/>
          </a:bodyPr>
          <a:lstStyle/>
          <a:p>
            <a:r>
              <a:rPr lang="en-US" sz="1000" dirty="0">
                <a:solidFill>
                  <a:srgbClr val="7030A0"/>
                </a:solidFill>
              </a:rPr>
              <a:t>Peterson, 2021</a:t>
            </a:r>
          </a:p>
        </p:txBody>
      </p:sp>
    </p:spTree>
    <p:extLst>
      <p:ext uri="{BB962C8B-B14F-4D97-AF65-F5344CB8AC3E}">
        <p14:creationId xmlns:p14="http://schemas.microsoft.com/office/powerpoint/2010/main" val="252260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546651-FD7B-4AE3-1E90-4BFCCE95FAAB}"/>
              </a:ext>
            </a:extLst>
          </p:cNvPr>
          <p:cNvSpPr>
            <a:spLocks noGrp="1"/>
          </p:cNvSpPr>
          <p:nvPr>
            <p:ph idx="1"/>
          </p:nvPr>
        </p:nvSpPr>
        <p:spPr/>
        <p:txBody>
          <a:bodyPr/>
          <a:lstStyle/>
          <a:p>
            <a:r>
              <a:rPr lang="en-US" altLang="zh-CN" dirty="0"/>
              <a:t>Explore S</a:t>
            </a:r>
            <a:endParaRPr lang="zh-CN" altLang="en-US" dirty="0"/>
          </a:p>
        </p:txBody>
      </p:sp>
      <p:sp>
        <p:nvSpPr>
          <p:cNvPr id="4" name="Slide Number Placeholder 3">
            <a:extLst>
              <a:ext uri="{FF2B5EF4-FFF2-40B4-BE49-F238E27FC236}">
                <a16:creationId xmlns:a16="http://schemas.microsoft.com/office/drawing/2014/main" id="{A9F3507B-B38F-EB06-3C57-6F5287F46E03}"/>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5" name="Title 1">
            <a:extLst>
              <a:ext uri="{FF2B5EF4-FFF2-40B4-BE49-F238E27FC236}">
                <a16:creationId xmlns:a16="http://schemas.microsoft.com/office/drawing/2014/main" id="{25723FA5-4FB2-F35F-5A4B-37235F724902}"/>
              </a:ext>
            </a:extLst>
          </p:cNvPr>
          <p:cNvSpPr txBox="1">
            <a:spLocks/>
          </p:cNvSpPr>
          <p:nvPr/>
        </p:nvSpPr>
        <p:spPr>
          <a:xfrm>
            <a:off x="310896" y="1209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Tree>
    <p:extLst>
      <p:ext uri="{BB962C8B-B14F-4D97-AF65-F5344CB8AC3E}">
        <p14:creationId xmlns:p14="http://schemas.microsoft.com/office/powerpoint/2010/main" val="3929847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3"/>
          <p:cNvSpPr>
            <a:spLocks noGrp="1" noChangeArrowheads="1"/>
          </p:cNvSpPr>
          <p:nvPr>
            <p:ph idx="1"/>
          </p:nvPr>
        </p:nvSpPr>
        <p:spPr>
          <a:xfrm>
            <a:off x="264695" y="1028700"/>
            <a:ext cx="7483642" cy="3741896"/>
          </a:xfrm>
        </p:spPr>
        <p:txBody>
          <a:bodyPr/>
          <a:lstStyle/>
          <a:p>
            <a:pPr>
              <a:buFont typeface="Courier New" panose="02070309020205020404" pitchFamily="49" charset="0"/>
              <a:buChar char="o"/>
            </a:pPr>
            <a:r>
              <a:rPr lang="en-US" dirty="0"/>
              <a:t>The indication of north on a map</a:t>
            </a:r>
          </a:p>
          <a:p>
            <a:pPr>
              <a:buFont typeface="Courier New" panose="02070309020205020404" pitchFamily="49" charset="0"/>
              <a:buChar char="o"/>
            </a:pPr>
            <a:r>
              <a:rPr lang="en-US" dirty="0"/>
              <a:t>Orientation can be indicated by a </a:t>
            </a:r>
          </a:p>
          <a:p>
            <a:pPr marL="765810" lvl="1" indent="-457200">
              <a:buFont typeface="Wingdings" panose="05000000000000000000" pitchFamily="2" charset="2"/>
              <a:buChar char="ü"/>
            </a:pPr>
            <a:r>
              <a:rPr lang="en-US" dirty="0"/>
              <a:t>North Arrow</a:t>
            </a:r>
          </a:p>
          <a:p>
            <a:pPr marL="765810" lvl="1" indent="-457200">
              <a:buFont typeface="Wingdings" panose="05000000000000000000" pitchFamily="2" charset="2"/>
              <a:buChar char="ü"/>
            </a:pPr>
            <a:r>
              <a:rPr lang="en-US" dirty="0"/>
              <a:t>Graticule (a system of grid lines, normally representing longitude and latitude) </a:t>
            </a:r>
          </a:p>
          <a:p>
            <a:pPr marL="411480" indent="-411480"/>
            <a:endParaRPr lang="en-US" dirty="0"/>
          </a:p>
        </p:txBody>
      </p:sp>
      <p:sp>
        <p:nvSpPr>
          <p:cNvPr id="3" name="Slide Number Placeholder 2">
            <a:extLst>
              <a:ext uri="{FF2B5EF4-FFF2-40B4-BE49-F238E27FC236}">
                <a16:creationId xmlns:a16="http://schemas.microsoft.com/office/drawing/2014/main" id="{1C9DA414-9F56-4B34-AB97-967FEE794762}"/>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101380" name="Picture 4" descr="Image north arrow"/>
          <p:cNvPicPr>
            <a:picLocks noChangeAspect="1" noChangeArrowheads="1"/>
          </p:cNvPicPr>
          <p:nvPr/>
        </p:nvPicPr>
        <p:blipFill>
          <a:blip r:embed="rId2" cstate="print"/>
          <a:srcRect t="43307"/>
          <a:stretch>
            <a:fillRect/>
          </a:stretch>
        </p:blipFill>
        <p:spPr bwMode="auto">
          <a:xfrm>
            <a:off x="946103" y="3339376"/>
            <a:ext cx="2567464" cy="1813084"/>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4FC04BC5-0C8E-4D54-8121-733EF7DAE27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E0DB97C-737D-46F0-B786-40C88C6FF285}"/>
              </a:ext>
            </a:extLst>
          </p:cNvPr>
          <p:cNvSpPr txBox="1">
            <a:spLocks/>
          </p:cNvSpPr>
          <p:nvPr/>
        </p:nvSpPr>
        <p:spPr>
          <a:xfrm>
            <a:off x="264695" y="1532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pic>
        <p:nvPicPr>
          <p:cNvPr id="2" name="Picture 5" descr="image showing graticule">
            <a:extLst>
              <a:ext uri="{FF2B5EF4-FFF2-40B4-BE49-F238E27FC236}">
                <a16:creationId xmlns:a16="http://schemas.microsoft.com/office/drawing/2014/main" id="{38458325-8C7D-4D95-8795-CBE3D70F05FB}"/>
              </a:ext>
            </a:extLst>
          </p:cNvPr>
          <p:cNvPicPr>
            <a:picLocks noChangeAspect="1" noChangeArrowheads="1"/>
          </p:cNvPicPr>
          <p:nvPr/>
        </p:nvPicPr>
        <p:blipFill>
          <a:blip r:embed="rId3" cstate="print"/>
          <a:srcRect t="6451" b="16319"/>
          <a:stretch>
            <a:fillRect/>
          </a:stretch>
        </p:blipFill>
        <p:spPr bwMode="auto">
          <a:xfrm>
            <a:off x="4194975" y="3357297"/>
            <a:ext cx="3164704" cy="1795163"/>
          </a:xfrm>
          <a:prstGeom prst="rect">
            <a:avLst/>
          </a:prstGeom>
          <a:noFill/>
          <a:ln w="9525" algn="ctr">
            <a:solidFill>
              <a:schemeClr val="tx1"/>
            </a:solid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p:cNvSpPr>
            <a:spLocks noGrp="1" noChangeArrowheads="1"/>
          </p:cNvSpPr>
          <p:nvPr>
            <p:ph idx="1"/>
          </p:nvPr>
        </p:nvSpPr>
        <p:spPr>
          <a:xfrm>
            <a:off x="152400" y="1009843"/>
            <a:ext cx="8001000" cy="3741896"/>
          </a:xfrm>
        </p:spPr>
        <p:txBody>
          <a:bodyPr/>
          <a:lstStyle/>
          <a:p>
            <a:pPr>
              <a:buFont typeface="Courier New" panose="02070309020205020404" pitchFamily="49" charset="0"/>
              <a:buChar char="o"/>
            </a:pPr>
            <a:r>
              <a:rPr lang="en-US" dirty="0"/>
              <a:t>A north arrow is </a:t>
            </a:r>
            <a:r>
              <a:rPr lang="en-US" i="1" dirty="0"/>
              <a:t>not required </a:t>
            </a:r>
            <a:r>
              <a:rPr lang="en-US" dirty="0"/>
              <a:t>on </a:t>
            </a:r>
            <a:r>
              <a:rPr lang="en-US" i="1" dirty="0"/>
              <a:t>every</a:t>
            </a:r>
            <a:r>
              <a:rPr lang="en-US" dirty="0"/>
              <a:t> </a:t>
            </a:r>
            <a:r>
              <a:rPr lang="en-US" i="1" dirty="0"/>
              <a:t>map!</a:t>
            </a:r>
            <a:endParaRPr lang="en-US" dirty="0"/>
          </a:p>
          <a:p>
            <a:pPr marL="765810" lvl="1" indent="-457200">
              <a:buFont typeface="Wingdings" panose="05000000000000000000" pitchFamily="2" charset="2"/>
              <a:buChar char="ü"/>
            </a:pPr>
            <a:r>
              <a:rPr lang="en-US" dirty="0"/>
              <a:t>The orientation of maps with north at the top is a long-standing tradition</a:t>
            </a:r>
          </a:p>
          <a:p>
            <a:pPr marL="765810" lvl="1" indent="-457200">
              <a:buFont typeface="Wingdings" panose="05000000000000000000" pitchFamily="2" charset="2"/>
              <a:buChar char="ü"/>
            </a:pPr>
            <a:r>
              <a:rPr lang="en-US" dirty="0"/>
              <a:t>It is assumed that “north is at the top” of most modern maps </a:t>
            </a:r>
          </a:p>
        </p:txBody>
      </p:sp>
      <p:sp>
        <p:nvSpPr>
          <p:cNvPr id="2" name="Slide Number Placeholder 1">
            <a:extLst>
              <a:ext uri="{FF2B5EF4-FFF2-40B4-BE49-F238E27FC236}">
                <a16:creationId xmlns:a16="http://schemas.microsoft.com/office/drawing/2014/main" id="{8A26050B-0F09-4AAB-9635-AA143F2B632D}"/>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4" name="Picture 3" descr="Image showing map"/>
          <p:cNvPicPr preferRelativeResize="0">
            <a:picLocks noChangeAspect="1" noChangeArrowheads="1"/>
          </p:cNvPicPr>
          <p:nvPr/>
        </p:nvPicPr>
        <p:blipFill>
          <a:blip r:embed="rId2" cstate="print"/>
          <a:srcRect/>
          <a:stretch>
            <a:fillRect/>
          </a:stretch>
        </p:blipFill>
        <p:spPr bwMode="auto">
          <a:xfrm>
            <a:off x="2876442" y="2880791"/>
            <a:ext cx="2874653" cy="2113152"/>
          </a:xfrm>
          <a:prstGeom prst="rect">
            <a:avLst/>
          </a:prstGeom>
          <a:noFill/>
          <a:ln w="9525">
            <a:noFill/>
            <a:miter lim="800000"/>
            <a:headEnd/>
            <a:tailEnd/>
          </a:ln>
        </p:spPr>
      </p:pic>
      <p:cxnSp>
        <p:nvCxnSpPr>
          <p:cNvPr id="7" name="Straight Connector 6">
            <a:extLst>
              <a:ext uri="{FF2B5EF4-FFF2-40B4-BE49-F238E27FC236}">
                <a16:creationId xmlns:a16="http://schemas.microsoft.com/office/drawing/2014/main" id="{ECE201F0-833C-49A0-946A-0C4D0EB22CF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0B114705-C7B4-48CF-9EE1-1B9F18DEC45B}"/>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p:cNvSpPr>
            <a:spLocks noGrp="1" noChangeArrowheads="1"/>
          </p:cNvSpPr>
          <p:nvPr>
            <p:ph idx="1"/>
          </p:nvPr>
        </p:nvSpPr>
        <p:spPr>
          <a:xfrm>
            <a:off x="118533" y="1028700"/>
            <a:ext cx="6701963" cy="3741896"/>
          </a:xfrm>
        </p:spPr>
        <p:txBody>
          <a:bodyPr/>
          <a:lstStyle/>
          <a:p>
            <a:pPr>
              <a:buFont typeface="Courier New" panose="02070309020205020404" pitchFamily="49" charset="0"/>
              <a:buChar char="o"/>
            </a:pPr>
            <a:r>
              <a:rPr lang="en-US" dirty="0"/>
              <a:t>Include an indication of orientation if</a:t>
            </a:r>
          </a:p>
          <a:p>
            <a:pPr marL="765810" lvl="1" indent="-457200">
              <a:buFont typeface="Wingdings" panose="05000000000000000000" pitchFamily="2" charset="2"/>
              <a:buChar char="ü"/>
            </a:pPr>
            <a:r>
              <a:rPr lang="en-US" dirty="0"/>
              <a:t>The map is </a:t>
            </a:r>
            <a:r>
              <a:rPr lang="en-US" i="1" dirty="0"/>
              <a:t>not</a:t>
            </a:r>
            <a:r>
              <a:rPr lang="en-US" dirty="0"/>
              <a:t> oriented with geographic or “true” north at the top </a:t>
            </a:r>
          </a:p>
        </p:txBody>
      </p:sp>
      <p:sp>
        <p:nvSpPr>
          <p:cNvPr id="2" name="Slide Number Placeholder 1">
            <a:extLst>
              <a:ext uri="{FF2B5EF4-FFF2-40B4-BE49-F238E27FC236}">
                <a16:creationId xmlns:a16="http://schemas.microsoft.com/office/drawing/2014/main" id="{3335CE27-3B5A-4E49-88A9-85E7529FABA6}"/>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104452" name="Picture 4" descr="Image showing north arrow"/>
          <p:cNvPicPr>
            <a:picLocks noChangeAspect="1" noChangeArrowheads="1"/>
          </p:cNvPicPr>
          <p:nvPr/>
        </p:nvPicPr>
        <p:blipFill>
          <a:blip r:embed="rId2" cstate="print"/>
          <a:srcRect/>
          <a:stretch>
            <a:fillRect/>
          </a:stretch>
        </p:blipFill>
        <p:spPr bwMode="auto">
          <a:xfrm>
            <a:off x="1778794" y="2899648"/>
            <a:ext cx="4642009" cy="1914882"/>
          </a:xfrm>
          <a:prstGeom prst="rect">
            <a:avLst/>
          </a:prstGeom>
          <a:noFill/>
          <a:ln w="9525" algn="ctr">
            <a:solidFill>
              <a:schemeClr val="tx1"/>
            </a:solidFill>
            <a:miter lim="800000"/>
            <a:headEnd/>
            <a:tailEnd/>
          </a:ln>
        </p:spPr>
      </p:pic>
      <p:cxnSp>
        <p:nvCxnSpPr>
          <p:cNvPr id="9" name="Straight Connector 8">
            <a:extLst>
              <a:ext uri="{FF2B5EF4-FFF2-40B4-BE49-F238E27FC236}">
                <a16:creationId xmlns:a16="http://schemas.microsoft.com/office/drawing/2014/main" id="{5268EBF0-8402-40DC-936B-2C76407507E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DF8E4202-E36F-4F6C-8DF9-AF284F37FDBA}"/>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p:cNvSpPr>
            <a:spLocks noGrp="1" noChangeArrowheads="1"/>
          </p:cNvSpPr>
          <p:nvPr>
            <p:ph idx="1"/>
          </p:nvPr>
        </p:nvSpPr>
        <p:spPr>
          <a:xfrm>
            <a:off x="76200" y="869908"/>
            <a:ext cx="7876674" cy="3741896"/>
          </a:xfrm>
        </p:spPr>
        <p:txBody>
          <a:bodyPr/>
          <a:lstStyle/>
          <a:p>
            <a:pPr>
              <a:buFont typeface="Courier New" panose="02070309020205020404" pitchFamily="49" charset="0"/>
              <a:buChar char="o"/>
            </a:pPr>
            <a:r>
              <a:rPr lang="en-US" dirty="0"/>
              <a:t>Include an indication of orientation if</a:t>
            </a:r>
          </a:p>
          <a:p>
            <a:pPr marL="765810" lvl="1" indent="-457200">
              <a:buFont typeface="Wingdings" panose="05000000000000000000" pitchFamily="2" charset="2"/>
              <a:buChar char="ü"/>
            </a:pPr>
            <a:r>
              <a:rPr lang="en-US" dirty="0"/>
              <a:t>The map is intended for use in navigation, surveying, orienteering, etc. </a:t>
            </a:r>
          </a:p>
        </p:txBody>
      </p:sp>
      <p:sp>
        <p:nvSpPr>
          <p:cNvPr id="2" name="Slide Number Placeholder 1">
            <a:extLst>
              <a:ext uri="{FF2B5EF4-FFF2-40B4-BE49-F238E27FC236}">
                <a16:creationId xmlns:a16="http://schemas.microsoft.com/office/drawing/2014/main" id="{EF8F552F-6A33-4ABF-A550-E28E9371F70E}"/>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105476" name="Picture 6" descr="Image showing north arrow"/>
          <p:cNvPicPr>
            <a:picLocks noChangeAspect="1" noChangeArrowheads="1"/>
          </p:cNvPicPr>
          <p:nvPr/>
        </p:nvPicPr>
        <p:blipFill>
          <a:blip r:embed="rId2" cstate="print"/>
          <a:srcRect/>
          <a:stretch>
            <a:fillRect/>
          </a:stretch>
        </p:blipFill>
        <p:spPr bwMode="auto">
          <a:xfrm>
            <a:off x="1332271" y="2246617"/>
            <a:ext cx="5364532" cy="2806422"/>
          </a:xfrm>
          <a:prstGeom prst="rect">
            <a:avLst/>
          </a:prstGeom>
          <a:noFill/>
          <a:ln w="9525">
            <a:solidFill>
              <a:schemeClr val="tx1"/>
            </a:solidFill>
            <a:miter lim="800000"/>
            <a:headEnd/>
            <a:tailEnd/>
          </a:ln>
        </p:spPr>
      </p:pic>
      <p:cxnSp>
        <p:nvCxnSpPr>
          <p:cNvPr id="4" name="Straight Connector 3">
            <a:extLst>
              <a:ext uri="{FF2B5EF4-FFF2-40B4-BE49-F238E27FC236}">
                <a16:creationId xmlns:a16="http://schemas.microsoft.com/office/drawing/2014/main" id="{03EE6621-3FA1-47CF-B9BD-3174DD1282D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2AC22B7-0723-4ACE-B108-1A4F1C619968}"/>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4"/>
          <p:cNvSpPr>
            <a:spLocks noGrp="1" noChangeArrowheads="1"/>
          </p:cNvSpPr>
          <p:nvPr>
            <p:ph idx="1"/>
          </p:nvPr>
        </p:nvSpPr>
        <p:spPr>
          <a:xfrm>
            <a:off x="0" y="1028700"/>
            <a:ext cx="7603957" cy="3741896"/>
          </a:xfrm>
        </p:spPr>
        <p:txBody>
          <a:bodyPr/>
          <a:lstStyle/>
          <a:p>
            <a:pPr>
              <a:buFont typeface="Courier New" panose="02070309020205020404" pitchFamily="49" charset="0"/>
              <a:buChar char="o"/>
            </a:pPr>
            <a:r>
              <a:rPr lang="en-US" dirty="0"/>
              <a:t>Include an indication of orientation if</a:t>
            </a:r>
          </a:p>
          <a:p>
            <a:pPr marL="765810" lvl="1" indent="-457200">
              <a:buFont typeface="Wingdings" panose="05000000000000000000" pitchFamily="2" charset="2"/>
              <a:buChar char="ü"/>
            </a:pPr>
            <a:r>
              <a:rPr lang="en-US" dirty="0"/>
              <a:t>Geographic features are oriented in a manner that might confuse the map user </a:t>
            </a:r>
          </a:p>
        </p:txBody>
      </p:sp>
      <p:sp>
        <p:nvSpPr>
          <p:cNvPr id="2" name="Slide Number Placeholder 1">
            <a:extLst>
              <a:ext uri="{FF2B5EF4-FFF2-40B4-BE49-F238E27FC236}">
                <a16:creationId xmlns:a16="http://schemas.microsoft.com/office/drawing/2014/main" id="{61772D49-202B-410D-9143-C6CD7390D4A7}"/>
              </a:ext>
            </a:extLst>
          </p:cNvPr>
          <p:cNvSpPr>
            <a:spLocks noGrp="1"/>
          </p:cNvSpPr>
          <p:nvPr>
            <p:ph type="sldNum" sz="quarter" idx="12"/>
          </p:nvPr>
        </p:nvSpPr>
        <p:spPr/>
        <p:txBody>
          <a:bodyPr/>
          <a:lstStyle/>
          <a:p>
            <a:fld id="{127DDC20-79C9-9647-820E-6D40A3D210C3}" type="slidenum">
              <a:rPr lang="en-US" smtClean="0"/>
              <a:pPr/>
              <a:t>22</a:t>
            </a:fld>
            <a:endParaRPr lang="en-US"/>
          </a:p>
        </p:txBody>
      </p:sp>
      <p:pic>
        <p:nvPicPr>
          <p:cNvPr id="106500" name="Picture 5" descr="Image showing north arrow"/>
          <p:cNvPicPr>
            <a:picLocks noChangeAspect="1" noChangeArrowheads="1"/>
          </p:cNvPicPr>
          <p:nvPr/>
        </p:nvPicPr>
        <p:blipFill>
          <a:blip r:embed="rId2" cstate="print"/>
          <a:srcRect/>
          <a:stretch>
            <a:fillRect/>
          </a:stretch>
        </p:blipFill>
        <p:spPr bwMode="auto">
          <a:xfrm>
            <a:off x="1582829" y="2721901"/>
            <a:ext cx="4620578" cy="1906309"/>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EDC45D47-D9A4-425E-98E6-7A8DF523C3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C7AC46E4-4C2B-435A-A5F0-6BC6436863E1}"/>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idx="1"/>
          </p:nvPr>
        </p:nvSpPr>
        <p:spPr>
          <a:xfrm>
            <a:off x="152400" y="1004236"/>
            <a:ext cx="8119532" cy="3741896"/>
          </a:xfrm>
        </p:spPr>
        <p:txBody>
          <a:bodyPr/>
          <a:lstStyle/>
          <a:p>
            <a:pPr>
              <a:buFont typeface="Courier New" panose="02070309020205020404" pitchFamily="49" charset="0"/>
              <a:buChar char="o"/>
            </a:pPr>
            <a:r>
              <a:rPr lang="en-US" dirty="0"/>
              <a:t>A graticule indicates direction through the orientation of grid lines</a:t>
            </a:r>
          </a:p>
          <a:p>
            <a:pPr marL="765810" lvl="1" indent="-457200">
              <a:buFont typeface="Wingdings" panose="05000000000000000000" pitchFamily="2" charset="2"/>
              <a:buChar char="ü"/>
            </a:pPr>
            <a:r>
              <a:rPr lang="en-US" dirty="0"/>
              <a:t>Typically meridians that run north–south</a:t>
            </a:r>
          </a:p>
          <a:p>
            <a:pPr marL="765810" lvl="1" indent="-457200">
              <a:buFont typeface="Wingdings" panose="05000000000000000000" pitchFamily="2" charset="2"/>
              <a:buChar char="ü"/>
            </a:pPr>
            <a:r>
              <a:rPr lang="en-US" dirty="0"/>
              <a:t>The graticule can also provide positional information, such as latitude and longitude </a:t>
            </a:r>
          </a:p>
        </p:txBody>
      </p:sp>
      <p:sp>
        <p:nvSpPr>
          <p:cNvPr id="2" name="Slide Number Placeholder 1">
            <a:extLst>
              <a:ext uri="{FF2B5EF4-FFF2-40B4-BE49-F238E27FC236}">
                <a16:creationId xmlns:a16="http://schemas.microsoft.com/office/drawing/2014/main" id="{199C320A-A619-44DE-BE54-77BF6DE99E05}"/>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107524" name="Picture 6" descr="Image showing north arrow"/>
          <p:cNvPicPr>
            <a:picLocks noChangeAspect="1" noChangeArrowheads="1"/>
          </p:cNvPicPr>
          <p:nvPr/>
        </p:nvPicPr>
        <p:blipFill>
          <a:blip r:embed="rId2" cstate="print"/>
          <a:srcRect/>
          <a:stretch>
            <a:fillRect/>
          </a:stretch>
        </p:blipFill>
        <p:spPr bwMode="auto">
          <a:xfrm>
            <a:off x="1925690" y="3324084"/>
            <a:ext cx="3957754" cy="1630359"/>
          </a:xfrm>
          <a:prstGeom prst="rect">
            <a:avLst/>
          </a:prstGeom>
          <a:noFill/>
          <a:ln w="9525" algn="ctr">
            <a:solidFill>
              <a:schemeClr val="tx1"/>
            </a:solidFill>
            <a:miter lim="800000"/>
            <a:headEnd/>
            <a:tailEnd/>
          </a:ln>
        </p:spPr>
      </p:pic>
      <p:cxnSp>
        <p:nvCxnSpPr>
          <p:cNvPr id="4" name="Straight Connector 3">
            <a:extLst>
              <a:ext uri="{FF2B5EF4-FFF2-40B4-BE49-F238E27FC236}">
                <a16:creationId xmlns:a16="http://schemas.microsoft.com/office/drawing/2014/main" id="{E12DB62C-9360-4AA9-A343-48B4125FB8A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D8FAA60D-9ABF-4EF0-8A7F-015F34F11C64}"/>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Grp="1" noChangeArrowheads="1"/>
          </p:cNvSpPr>
          <p:nvPr>
            <p:ph idx="1"/>
          </p:nvPr>
        </p:nvSpPr>
        <p:spPr>
          <a:xfrm>
            <a:off x="152401" y="1028700"/>
            <a:ext cx="8043332" cy="1609191"/>
          </a:xfrm>
        </p:spPr>
        <p:txBody>
          <a:bodyPr>
            <a:normAutofit/>
          </a:bodyPr>
          <a:lstStyle/>
          <a:p>
            <a:pPr>
              <a:buFont typeface="Courier New" panose="02070309020205020404" pitchFamily="49" charset="0"/>
              <a:buChar char="o"/>
            </a:pPr>
            <a:r>
              <a:rPr lang="en-US" dirty="0"/>
              <a:t>Use caution when using north arrows on smaller scale map</a:t>
            </a:r>
          </a:p>
          <a:p>
            <a:pPr marL="765810" lvl="1" indent="-457200">
              <a:buFont typeface="Wingdings" panose="05000000000000000000" pitchFamily="2" charset="2"/>
              <a:buChar char="ü"/>
            </a:pPr>
            <a:r>
              <a:rPr lang="en-US" dirty="0"/>
              <a:t>The direction of north can differ greatly in the maps with azimuthal and conic projection</a:t>
            </a:r>
          </a:p>
          <a:p>
            <a:pPr marL="765810" lvl="1" indent="-457200">
              <a:buFont typeface="Wingdings" panose="05000000000000000000" pitchFamily="2" charset="2"/>
              <a:buChar char="ü"/>
            </a:pPr>
            <a:endParaRPr lang="en-US" dirty="0"/>
          </a:p>
        </p:txBody>
      </p:sp>
      <p:sp>
        <p:nvSpPr>
          <p:cNvPr id="4" name="Slide Number Placeholder 3">
            <a:extLst>
              <a:ext uri="{FF2B5EF4-FFF2-40B4-BE49-F238E27FC236}">
                <a16:creationId xmlns:a16="http://schemas.microsoft.com/office/drawing/2014/main" id="{0C59CE1A-39DF-405B-A7F4-3CD746ED7320}"/>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108548" name="Picture 4"/>
          <p:cNvPicPr>
            <a:picLocks noChangeAspect="1" noChangeArrowheads="1"/>
          </p:cNvPicPr>
          <p:nvPr/>
        </p:nvPicPr>
        <p:blipFill>
          <a:blip r:embed="rId2" cstate="print"/>
          <a:srcRect/>
          <a:stretch>
            <a:fillRect/>
          </a:stretch>
        </p:blipFill>
        <p:spPr bwMode="auto">
          <a:xfrm>
            <a:off x="1539288" y="2637891"/>
            <a:ext cx="5433893" cy="2238494"/>
          </a:xfrm>
          <a:prstGeom prst="rect">
            <a:avLst/>
          </a:prstGeom>
          <a:noFill/>
          <a:ln w="9525" algn="ctr">
            <a:solidFill>
              <a:schemeClr val="tx1"/>
            </a:solidFill>
            <a:miter lim="800000"/>
            <a:headEnd/>
            <a:tailEnd/>
          </a:ln>
        </p:spPr>
      </p:pic>
      <p:grpSp>
        <p:nvGrpSpPr>
          <p:cNvPr id="2" name="Group 8" descr="north arrrow"/>
          <p:cNvGrpSpPr>
            <a:grpSpLocks/>
          </p:cNvGrpSpPr>
          <p:nvPr/>
        </p:nvGrpSpPr>
        <p:grpSpPr bwMode="auto">
          <a:xfrm>
            <a:off x="4105669" y="3806966"/>
            <a:ext cx="319325" cy="829389"/>
            <a:chOff x="5345" y="836"/>
            <a:chExt cx="298" cy="774"/>
          </a:xfrm>
        </p:grpSpPr>
        <p:sp>
          <p:nvSpPr>
            <p:cNvPr id="108554" name="Rectangle 7"/>
            <p:cNvSpPr>
              <a:spLocks noChangeArrowheads="1"/>
            </p:cNvSpPr>
            <p:nvPr/>
          </p:nvSpPr>
          <p:spPr bwMode="auto">
            <a:xfrm>
              <a:off x="5419" y="1132"/>
              <a:ext cx="172" cy="261"/>
            </a:xfrm>
            <a:prstGeom prst="rect">
              <a:avLst/>
            </a:prstGeom>
            <a:solidFill>
              <a:schemeClr val="bg1"/>
            </a:solidFill>
            <a:ln w="9525" algn="ctr">
              <a:solidFill>
                <a:schemeClr val="tx1"/>
              </a:solidFill>
              <a:miter lim="800000"/>
              <a:headEnd/>
              <a:tailEnd/>
            </a:ln>
          </p:spPr>
          <p:txBody>
            <a:bodyPr wrap="none" anchor="ctr">
              <a:spAutoFit/>
            </a:bodyPr>
            <a:lstStyle/>
            <a:p>
              <a:endParaRPr lang="en-US" sz="1215"/>
            </a:p>
          </p:txBody>
        </p:sp>
        <p:sp>
          <p:nvSpPr>
            <p:cNvPr id="108555" name="Line 5"/>
            <p:cNvSpPr>
              <a:spLocks noChangeShapeType="1"/>
            </p:cNvSpPr>
            <p:nvPr/>
          </p:nvSpPr>
          <p:spPr bwMode="auto">
            <a:xfrm flipV="1">
              <a:off x="5472" y="1124"/>
              <a:ext cx="0" cy="486"/>
            </a:xfrm>
            <a:prstGeom prst="line">
              <a:avLst/>
            </a:prstGeom>
            <a:noFill/>
            <a:ln w="38100">
              <a:solidFill>
                <a:schemeClr val="tx1"/>
              </a:solidFill>
              <a:round/>
              <a:headEnd/>
              <a:tailEnd type="triangle" w="lg" len="lg"/>
            </a:ln>
          </p:spPr>
          <p:txBody>
            <a:bodyPr>
              <a:spAutoFit/>
            </a:bodyPr>
            <a:lstStyle/>
            <a:p>
              <a:endParaRPr lang="en-US" sz="1215"/>
            </a:p>
          </p:txBody>
        </p:sp>
        <p:sp>
          <p:nvSpPr>
            <p:cNvPr id="108556" name="Rectangle 6"/>
            <p:cNvSpPr>
              <a:spLocks noChangeArrowheads="1"/>
            </p:cNvSpPr>
            <p:nvPr/>
          </p:nvSpPr>
          <p:spPr bwMode="auto">
            <a:xfrm>
              <a:off x="5345" y="836"/>
              <a:ext cx="298" cy="319"/>
            </a:xfrm>
            <a:prstGeom prst="rect">
              <a:avLst/>
            </a:prstGeom>
            <a:noFill/>
            <a:ln w="9525" algn="ctr">
              <a:noFill/>
              <a:miter lim="800000"/>
              <a:headEnd/>
              <a:tailEnd/>
            </a:ln>
          </p:spPr>
          <p:txBody>
            <a:bodyPr wrap="none">
              <a:spAutoFit/>
            </a:bodyPr>
            <a:lstStyle/>
            <a:p>
              <a:r>
                <a:rPr lang="en-US" sz="1620"/>
                <a:t>N</a:t>
              </a:r>
            </a:p>
          </p:txBody>
        </p:sp>
      </p:grpSp>
      <p:grpSp>
        <p:nvGrpSpPr>
          <p:cNvPr id="3" name="Group 9" descr="north arrow"/>
          <p:cNvGrpSpPr>
            <a:grpSpLocks/>
          </p:cNvGrpSpPr>
          <p:nvPr/>
        </p:nvGrpSpPr>
        <p:grpSpPr bwMode="auto">
          <a:xfrm rot="-960000">
            <a:off x="6252266" y="2976567"/>
            <a:ext cx="319326" cy="846534"/>
            <a:chOff x="5324" y="820"/>
            <a:chExt cx="298" cy="790"/>
          </a:xfrm>
        </p:grpSpPr>
        <p:sp>
          <p:nvSpPr>
            <p:cNvPr id="108551" name="Rectangle 10"/>
            <p:cNvSpPr>
              <a:spLocks noChangeArrowheads="1"/>
            </p:cNvSpPr>
            <p:nvPr/>
          </p:nvSpPr>
          <p:spPr bwMode="auto">
            <a:xfrm>
              <a:off x="5391" y="1132"/>
              <a:ext cx="172" cy="261"/>
            </a:xfrm>
            <a:prstGeom prst="rect">
              <a:avLst/>
            </a:prstGeom>
            <a:solidFill>
              <a:schemeClr val="bg1"/>
            </a:solidFill>
            <a:ln w="9525" algn="ctr">
              <a:solidFill>
                <a:schemeClr val="tx1"/>
              </a:solidFill>
              <a:miter lim="800000"/>
              <a:headEnd/>
              <a:tailEnd/>
            </a:ln>
          </p:spPr>
          <p:txBody>
            <a:bodyPr wrap="none" anchor="ctr">
              <a:spAutoFit/>
            </a:bodyPr>
            <a:lstStyle/>
            <a:p>
              <a:endParaRPr lang="en-US" sz="1215"/>
            </a:p>
          </p:txBody>
        </p:sp>
        <p:sp>
          <p:nvSpPr>
            <p:cNvPr id="108552" name="Line 11"/>
            <p:cNvSpPr>
              <a:spLocks noChangeShapeType="1"/>
            </p:cNvSpPr>
            <p:nvPr/>
          </p:nvSpPr>
          <p:spPr bwMode="auto">
            <a:xfrm flipV="1">
              <a:off x="5472" y="1124"/>
              <a:ext cx="0" cy="486"/>
            </a:xfrm>
            <a:prstGeom prst="line">
              <a:avLst/>
            </a:prstGeom>
            <a:noFill/>
            <a:ln w="38100">
              <a:solidFill>
                <a:schemeClr val="tx1"/>
              </a:solidFill>
              <a:round/>
              <a:headEnd/>
              <a:tailEnd type="triangle" w="lg" len="lg"/>
            </a:ln>
          </p:spPr>
          <p:txBody>
            <a:bodyPr>
              <a:spAutoFit/>
            </a:bodyPr>
            <a:lstStyle/>
            <a:p>
              <a:endParaRPr lang="en-US" sz="1215"/>
            </a:p>
          </p:txBody>
        </p:sp>
        <p:sp>
          <p:nvSpPr>
            <p:cNvPr id="108553" name="Rectangle 12"/>
            <p:cNvSpPr>
              <a:spLocks noChangeArrowheads="1"/>
            </p:cNvSpPr>
            <p:nvPr/>
          </p:nvSpPr>
          <p:spPr bwMode="auto">
            <a:xfrm>
              <a:off x="5324" y="820"/>
              <a:ext cx="298" cy="319"/>
            </a:xfrm>
            <a:prstGeom prst="rect">
              <a:avLst/>
            </a:prstGeom>
            <a:noFill/>
            <a:ln w="9525" algn="ctr">
              <a:noFill/>
              <a:miter lim="800000"/>
              <a:headEnd/>
              <a:tailEnd/>
            </a:ln>
          </p:spPr>
          <p:txBody>
            <a:bodyPr wrap="none">
              <a:spAutoFit/>
            </a:bodyPr>
            <a:lstStyle/>
            <a:p>
              <a:r>
                <a:rPr lang="en-US" sz="1620"/>
                <a:t>N</a:t>
              </a:r>
            </a:p>
          </p:txBody>
        </p:sp>
      </p:grpSp>
      <p:grpSp>
        <p:nvGrpSpPr>
          <p:cNvPr id="13" name="Group 9" descr="north arrow"/>
          <p:cNvGrpSpPr>
            <a:grpSpLocks/>
          </p:cNvGrpSpPr>
          <p:nvPr/>
        </p:nvGrpSpPr>
        <p:grpSpPr bwMode="auto">
          <a:xfrm rot="900000">
            <a:off x="1946750" y="2967826"/>
            <a:ext cx="319326" cy="846534"/>
            <a:chOff x="5324" y="820"/>
            <a:chExt cx="298" cy="790"/>
          </a:xfrm>
        </p:grpSpPr>
        <p:sp>
          <p:nvSpPr>
            <p:cNvPr id="14" name="Rectangle 10"/>
            <p:cNvSpPr>
              <a:spLocks noChangeArrowheads="1"/>
            </p:cNvSpPr>
            <p:nvPr/>
          </p:nvSpPr>
          <p:spPr bwMode="auto">
            <a:xfrm>
              <a:off x="5391" y="1132"/>
              <a:ext cx="172" cy="261"/>
            </a:xfrm>
            <a:prstGeom prst="rect">
              <a:avLst/>
            </a:prstGeom>
            <a:solidFill>
              <a:schemeClr val="bg1"/>
            </a:solidFill>
            <a:ln w="9525" algn="ctr">
              <a:solidFill>
                <a:schemeClr val="tx1"/>
              </a:solidFill>
              <a:miter lim="800000"/>
              <a:headEnd/>
              <a:tailEnd/>
            </a:ln>
          </p:spPr>
          <p:txBody>
            <a:bodyPr wrap="none" anchor="ctr">
              <a:spAutoFit/>
            </a:bodyPr>
            <a:lstStyle/>
            <a:p>
              <a:endParaRPr lang="en-US" sz="1215"/>
            </a:p>
          </p:txBody>
        </p:sp>
        <p:sp>
          <p:nvSpPr>
            <p:cNvPr id="15" name="Line 11"/>
            <p:cNvSpPr>
              <a:spLocks noChangeShapeType="1"/>
            </p:cNvSpPr>
            <p:nvPr/>
          </p:nvSpPr>
          <p:spPr bwMode="auto">
            <a:xfrm flipV="1">
              <a:off x="5472" y="1124"/>
              <a:ext cx="0" cy="486"/>
            </a:xfrm>
            <a:prstGeom prst="line">
              <a:avLst/>
            </a:prstGeom>
            <a:noFill/>
            <a:ln w="38100">
              <a:solidFill>
                <a:schemeClr val="tx1"/>
              </a:solidFill>
              <a:round/>
              <a:headEnd/>
              <a:tailEnd type="triangle" w="lg" len="lg"/>
            </a:ln>
          </p:spPr>
          <p:txBody>
            <a:bodyPr>
              <a:spAutoFit/>
            </a:bodyPr>
            <a:lstStyle/>
            <a:p>
              <a:endParaRPr lang="en-US" sz="1215"/>
            </a:p>
          </p:txBody>
        </p:sp>
        <p:sp>
          <p:nvSpPr>
            <p:cNvPr id="16" name="Rectangle 12"/>
            <p:cNvSpPr>
              <a:spLocks noChangeArrowheads="1"/>
            </p:cNvSpPr>
            <p:nvPr/>
          </p:nvSpPr>
          <p:spPr bwMode="auto">
            <a:xfrm>
              <a:off x="5324" y="820"/>
              <a:ext cx="298" cy="319"/>
            </a:xfrm>
            <a:prstGeom prst="rect">
              <a:avLst/>
            </a:prstGeom>
            <a:noFill/>
            <a:ln w="9525" algn="ctr">
              <a:noFill/>
              <a:miter lim="800000"/>
              <a:headEnd/>
              <a:tailEnd/>
            </a:ln>
          </p:spPr>
          <p:txBody>
            <a:bodyPr wrap="none">
              <a:spAutoFit/>
            </a:bodyPr>
            <a:lstStyle/>
            <a:p>
              <a:r>
                <a:rPr lang="en-US" sz="1620"/>
                <a:t>N</a:t>
              </a:r>
            </a:p>
          </p:txBody>
        </p:sp>
      </p:grpSp>
      <p:cxnSp>
        <p:nvCxnSpPr>
          <p:cNvPr id="17" name="Straight Connector 16">
            <a:extLst>
              <a:ext uri="{FF2B5EF4-FFF2-40B4-BE49-F238E27FC236}">
                <a16:creationId xmlns:a16="http://schemas.microsoft.com/office/drawing/2014/main" id="{26ABBE66-6937-43C6-B8DB-A54BB3FB986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8" name="Title 1">
            <a:extLst>
              <a:ext uri="{FF2B5EF4-FFF2-40B4-BE49-F238E27FC236}">
                <a16:creationId xmlns:a16="http://schemas.microsoft.com/office/drawing/2014/main" id="{83D1248C-6660-4A8F-BAE8-7050C81FF3A9}"/>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Grp="1" noChangeArrowheads="1"/>
          </p:cNvSpPr>
          <p:nvPr>
            <p:ph idx="1"/>
          </p:nvPr>
        </p:nvSpPr>
        <p:spPr>
          <a:xfrm>
            <a:off x="152400" y="1028700"/>
            <a:ext cx="7808975" cy="3741896"/>
          </a:xfrm>
        </p:spPr>
        <p:txBody>
          <a:bodyPr/>
          <a:lstStyle/>
          <a:p>
            <a:pPr>
              <a:buFont typeface="Courier New" panose="02070309020205020404" pitchFamily="49" charset="0"/>
              <a:buChar char="o"/>
            </a:pPr>
            <a:r>
              <a:rPr lang="en-US" dirty="0"/>
              <a:t>Use caution when using north arrows on smaller scale maps</a:t>
            </a:r>
          </a:p>
          <a:p>
            <a:pPr marL="765810" lvl="1" indent="-457200">
              <a:buFont typeface="Wingdings" panose="05000000000000000000" pitchFamily="2" charset="2"/>
              <a:buChar char="ü"/>
            </a:pPr>
            <a:r>
              <a:rPr lang="en-US" b="0" i="0" dirty="0">
                <a:solidFill>
                  <a:srgbClr val="000000"/>
                </a:solidFill>
                <a:effectLst/>
                <a:latin typeface="TimesLTStd-Roman"/>
              </a:rPr>
              <a:t> Place the graticules beneath land masses</a:t>
            </a:r>
            <a:endParaRPr lang="en-US" dirty="0"/>
          </a:p>
        </p:txBody>
      </p:sp>
      <p:sp>
        <p:nvSpPr>
          <p:cNvPr id="4" name="Slide Number Placeholder 3">
            <a:extLst>
              <a:ext uri="{FF2B5EF4-FFF2-40B4-BE49-F238E27FC236}">
                <a16:creationId xmlns:a16="http://schemas.microsoft.com/office/drawing/2014/main" id="{0C59CE1A-39DF-405B-A7F4-3CD746ED7320}"/>
              </a:ext>
            </a:extLst>
          </p:cNvPr>
          <p:cNvSpPr>
            <a:spLocks noGrp="1"/>
          </p:cNvSpPr>
          <p:nvPr>
            <p:ph type="sldNum" sz="quarter" idx="12"/>
          </p:nvPr>
        </p:nvSpPr>
        <p:spPr/>
        <p:txBody>
          <a:bodyPr/>
          <a:lstStyle/>
          <a:p>
            <a:fld id="{127DDC20-79C9-9647-820E-6D40A3D210C3}" type="slidenum">
              <a:rPr lang="en-US" smtClean="0"/>
              <a:pPr/>
              <a:t>25</a:t>
            </a:fld>
            <a:endParaRPr lang="en-US"/>
          </a:p>
        </p:txBody>
      </p:sp>
      <p:cxnSp>
        <p:nvCxnSpPr>
          <p:cNvPr id="17" name="Straight Connector 16">
            <a:extLst>
              <a:ext uri="{FF2B5EF4-FFF2-40B4-BE49-F238E27FC236}">
                <a16:creationId xmlns:a16="http://schemas.microsoft.com/office/drawing/2014/main" id="{26ABBE66-6937-43C6-B8DB-A54BB3FB986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8" name="Title 1">
            <a:extLst>
              <a:ext uri="{FF2B5EF4-FFF2-40B4-BE49-F238E27FC236}">
                <a16:creationId xmlns:a16="http://schemas.microsoft.com/office/drawing/2014/main" id="{83D1248C-6660-4A8F-BAE8-7050C81FF3A9}"/>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pic>
        <p:nvPicPr>
          <p:cNvPr id="6" name="Picture 5" descr="image showing graticules">
            <a:extLst>
              <a:ext uri="{FF2B5EF4-FFF2-40B4-BE49-F238E27FC236}">
                <a16:creationId xmlns:a16="http://schemas.microsoft.com/office/drawing/2014/main" id="{9A499126-A638-4173-9BBA-E6A1E23AE513}"/>
              </a:ext>
            </a:extLst>
          </p:cNvPr>
          <p:cNvPicPr>
            <a:picLocks noChangeAspect="1"/>
          </p:cNvPicPr>
          <p:nvPr/>
        </p:nvPicPr>
        <p:blipFill>
          <a:blip r:embed="rId2"/>
          <a:stretch>
            <a:fillRect/>
          </a:stretch>
        </p:blipFill>
        <p:spPr>
          <a:xfrm>
            <a:off x="2426208" y="2323849"/>
            <a:ext cx="2804050" cy="2717258"/>
          </a:xfrm>
          <a:prstGeom prst="rect">
            <a:avLst/>
          </a:prstGeom>
        </p:spPr>
      </p:pic>
      <p:sp>
        <p:nvSpPr>
          <p:cNvPr id="21" name="Rectangle 5">
            <a:extLst>
              <a:ext uri="{FF2B5EF4-FFF2-40B4-BE49-F238E27FC236}">
                <a16:creationId xmlns:a16="http://schemas.microsoft.com/office/drawing/2014/main" id="{FE26A2F9-0A8E-4562-88F7-58C72DBB046A}"/>
              </a:ext>
            </a:extLst>
          </p:cNvPr>
          <p:cNvSpPr>
            <a:spLocks noChangeArrowheads="1"/>
          </p:cNvSpPr>
          <p:nvPr/>
        </p:nvSpPr>
        <p:spPr bwMode="auto">
          <a:xfrm>
            <a:off x="6259049" y="4434618"/>
            <a:ext cx="974947" cy="246221"/>
          </a:xfrm>
          <a:prstGeom prst="rect">
            <a:avLst/>
          </a:prstGeom>
          <a:noFill/>
          <a:ln w="9525" algn="ctr">
            <a:noFill/>
            <a:miter lim="800000"/>
            <a:headEnd/>
            <a:tailEnd/>
          </a:ln>
        </p:spPr>
        <p:txBody>
          <a:bodyPr wrap="none">
            <a:spAutoFit/>
          </a:bodyPr>
          <a:lstStyle/>
          <a:p>
            <a:r>
              <a:rPr lang="en-US" sz="1000" dirty="0">
                <a:solidFill>
                  <a:srgbClr val="7030A0"/>
                </a:solidFill>
              </a:rPr>
              <a:t>Peterson, 2021</a:t>
            </a:r>
          </a:p>
        </p:txBody>
      </p:sp>
    </p:spTree>
    <p:extLst>
      <p:ext uri="{BB962C8B-B14F-4D97-AF65-F5344CB8AC3E}">
        <p14:creationId xmlns:p14="http://schemas.microsoft.com/office/powerpoint/2010/main" val="1202833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idx="1"/>
          </p:nvPr>
        </p:nvSpPr>
        <p:spPr>
          <a:xfrm>
            <a:off x="118533" y="1077768"/>
            <a:ext cx="7216140" cy="3741896"/>
          </a:xfrm>
        </p:spPr>
        <p:txBody>
          <a:bodyPr/>
          <a:lstStyle/>
          <a:p>
            <a:pPr>
              <a:buFont typeface="Courier New" panose="02070309020205020404" pitchFamily="49" charset="0"/>
              <a:buChar char="o"/>
            </a:pPr>
            <a:r>
              <a:rPr lang="en-US" dirty="0"/>
              <a:t>The style of the north arrow and graticule should be simple and subtle; they should not attract attention</a:t>
            </a:r>
          </a:p>
          <a:p>
            <a:pPr marL="765810" lvl="1" indent="-457200">
              <a:buFont typeface="Wingdings" panose="05000000000000000000" pitchFamily="2" charset="2"/>
              <a:buChar char="ü"/>
            </a:pPr>
            <a:r>
              <a:rPr lang="en-US" dirty="0"/>
              <a:t>Bulky and complex designs should be avoided</a:t>
            </a:r>
          </a:p>
          <a:p>
            <a:pPr marL="765810" lvl="1" indent="-457200">
              <a:buFont typeface="Wingdings" panose="05000000000000000000" pitchFamily="2" charset="2"/>
              <a:buChar char="ü"/>
            </a:pPr>
            <a:r>
              <a:rPr lang="en-US" dirty="0"/>
              <a:t>Line weights should be thin and type should be among the smallest on a map</a:t>
            </a:r>
          </a:p>
          <a:p>
            <a:pPr marL="765810" lvl="1" indent="-457200">
              <a:buFont typeface="Wingdings" panose="05000000000000000000" pitchFamily="2" charset="2"/>
              <a:buChar char="ü"/>
            </a:pPr>
            <a:r>
              <a:rPr lang="en-US" dirty="0"/>
              <a:t>Only north should be indicated</a:t>
            </a:r>
          </a:p>
        </p:txBody>
      </p:sp>
      <p:sp>
        <p:nvSpPr>
          <p:cNvPr id="2" name="Slide Number Placeholder 1">
            <a:extLst>
              <a:ext uri="{FF2B5EF4-FFF2-40B4-BE49-F238E27FC236}">
                <a16:creationId xmlns:a16="http://schemas.microsoft.com/office/drawing/2014/main" id="{5A9C1FAA-6EE6-452A-AB02-7D22C365C067}"/>
              </a:ext>
            </a:extLst>
          </p:cNvPr>
          <p:cNvSpPr>
            <a:spLocks noGrp="1"/>
          </p:cNvSpPr>
          <p:nvPr>
            <p:ph type="sldNum" sz="quarter" idx="12"/>
          </p:nvPr>
        </p:nvSpPr>
        <p:spPr/>
        <p:txBody>
          <a:bodyPr/>
          <a:lstStyle/>
          <a:p>
            <a:fld id="{127DDC20-79C9-9647-820E-6D40A3D210C3}" type="slidenum">
              <a:rPr lang="en-US" smtClean="0"/>
              <a:pPr/>
              <a:t>26</a:t>
            </a:fld>
            <a:endParaRPr lang="en-US"/>
          </a:p>
        </p:txBody>
      </p:sp>
      <p:cxnSp>
        <p:nvCxnSpPr>
          <p:cNvPr id="9" name="Straight Connector 8">
            <a:extLst>
              <a:ext uri="{FF2B5EF4-FFF2-40B4-BE49-F238E27FC236}">
                <a16:creationId xmlns:a16="http://schemas.microsoft.com/office/drawing/2014/main" id="{1BBC47F8-FF19-4F97-B299-C3544DD779F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67A8B44B-DB9B-42C8-A32E-31646D7A7C6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Image showing north arrow"/>
          <p:cNvPicPr>
            <a:picLocks noChangeAspect="1" noChangeArrowheads="1"/>
          </p:cNvPicPr>
          <p:nvPr/>
        </p:nvPicPr>
        <p:blipFill>
          <a:blip r:embed="rId2" cstate="print"/>
          <a:srcRect/>
          <a:stretch>
            <a:fillRect/>
          </a:stretch>
        </p:blipFill>
        <p:spPr bwMode="auto">
          <a:xfrm>
            <a:off x="2666173" y="2373547"/>
            <a:ext cx="1717715" cy="907754"/>
          </a:xfrm>
          <a:prstGeom prst="rect">
            <a:avLst/>
          </a:prstGeom>
          <a:noFill/>
          <a:ln w="9525" algn="ctr">
            <a:solidFill>
              <a:schemeClr val="tx1"/>
            </a:solidFill>
            <a:miter lim="800000"/>
            <a:headEnd/>
            <a:tailEnd/>
          </a:ln>
        </p:spPr>
      </p:pic>
      <p:pic>
        <p:nvPicPr>
          <p:cNvPr id="6" name="Picture 6" descr="Image showing north arrow"/>
          <p:cNvPicPr>
            <a:picLocks noChangeAspect="1" noChangeArrowheads="1"/>
          </p:cNvPicPr>
          <p:nvPr/>
        </p:nvPicPr>
        <p:blipFill>
          <a:blip r:embed="rId3" cstate="print"/>
          <a:srcRect/>
          <a:stretch>
            <a:fillRect/>
          </a:stretch>
        </p:blipFill>
        <p:spPr bwMode="auto">
          <a:xfrm>
            <a:off x="2665621" y="3506068"/>
            <a:ext cx="1718267" cy="921566"/>
          </a:xfrm>
          <a:prstGeom prst="rect">
            <a:avLst/>
          </a:prstGeom>
          <a:noFill/>
          <a:ln w="9525" algn="ctr">
            <a:solidFill>
              <a:schemeClr val="tx1"/>
            </a:solidFill>
            <a:miter lim="800000"/>
            <a:headEnd/>
            <a:tailEnd/>
          </a:ln>
        </p:spPr>
      </p:pic>
      <p:sp>
        <p:nvSpPr>
          <p:cNvPr id="7" name="Text Box 7"/>
          <p:cNvSpPr txBox="1">
            <a:spLocks noChangeArrowheads="1"/>
          </p:cNvSpPr>
          <p:nvPr/>
        </p:nvSpPr>
        <p:spPr bwMode="auto">
          <a:xfrm>
            <a:off x="4715535" y="2588513"/>
            <a:ext cx="1272959" cy="507831"/>
          </a:xfrm>
          <a:prstGeom prst="rect">
            <a:avLst/>
          </a:prstGeom>
          <a:noFill/>
          <a:ln w="9525">
            <a:noFill/>
            <a:miter lim="800000"/>
            <a:headEnd/>
            <a:tailEnd/>
          </a:ln>
        </p:spPr>
        <p:txBody>
          <a:bodyPr wrap="square">
            <a:spAutoFit/>
          </a:bodyPr>
          <a:lstStyle/>
          <a:p>
            <a:pPr>
              <a:spcBef>
                <a:spcPct val="50000"/>
              </a:spcBef>
            </a:pPr>
            <a:r>
              <a:rPr lang="en-US" sz="1350" dirty="0"/>
              <a:t>Poorly Designed</a:t>
            </a:r>
          </a:p>
        </p:txBody>
      </p:sp>
      <p:sp>
        <p:nvSpPr>
          <p:cNvPr id="8" name="Text Box 8"/>
          <p:cNvSpPr txBox="1">
            <a:spLocks noChangeArrowheads="1"/>
          </p:cNvSpPr>
          <p:nvPr/>
        </p:nvSpPr>
        <p:spPr bwMode="auto">
          <a:xfrm>
            <a:off x="4715535" y="3656073"/>
            <a:ext cx="1166280" cy="507831"/>
          </a:xfrm>
          <a:prstGeom prst="rect">
            <a:avLst/>
          </a:prstGeom>
          <a:noFill/>
          <a:ln w="9525">
            <a:noFill/>
            <a:miter lim="800000"/>
            <a:headEnd/>
            <a:tailEnd/>
          </a:ln>
        </p:spPr>
        <p:txBody>
          <a:bodyPr wrap="square">
            <a:spAutoFit/>
          </a:bodyPr>
          <a:lstStyle/>
          <a:p>
            <a:pPr>
              <a:spcBef>
                <a:spcPct val="50000"/>
              </a:spcBef>
            </a:pPr>
            <a:r>
              <a:rPr lang="en-US" sz="1350" dirty="0"/>
              <a:t>Well Designed</a:t>
            </a:r>
          </a:p>
        </p:txBody>
      </p:sp>
      <p:cxnSp>
        <p:nvCxnSpPr>
          <p:cNvPr id="9" name="Straight Connector 8">
            <a:extLst>
              <a:ext uri="{FF2B5EF4-FFF2-40B4-BE49-F238E27FC236}">
                <a16:creationId xmlns:a16="http://schemas.microsoft.com/office/drawing/2014/main" id="{1BBC47F8-FF19-4F97-B299-C3544DD779F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67A8B44B-DB9B-42C8-A32E-31646D7A7C6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
        <p:nvSpPr>
          <p:cNvPr id="2" name="TextBox 1">
            <a:extLst>
              <a:ext uri="{FF2B5EF4-FFF2-40B4-BE49-F238E27FC236}">
                <a16:creationId xmlns:a16="http://schemas.microsoft.com/office/drawing/2014/main" id="{FF89F82D-B266-461E-A63E-7C012ED57F9B}"/>
              </a:ext>
            </a:extLst>
          </p:cNvPr>
          <p:cNvSpPr txBox="1"/>
          <p:nvPr/>
        </p:nvSpPr>
        <p:spPr>
          <a:xfrm>
            <a:off x="1319389" y="1544465"/>
            <a:ext cx="5414211" cy="523220"/>
          </a:xfrm>
          <a:prstGeom prst="rect">
            <a:avLst/>
          </a:prstGeom>
          <a:noFill/>
        </p:spPr>
        <p:txBody>
          <a:bodyPr wrap="square" rtlCol="0">
            <a:spAutoFit/>
          </a:bodyPr>
          <a:lstStyle/>
          <a:p>
            <a:r>
              <a:rPr lang="en-US" sz="2800" dirty="0"/>
              <a:t>Which group is better? And Why?</a:t>
            </a:r>
          </a:p>
        </p:txBody>
      </p:sp>
      <p:sp>
        <p:nvSpPr>
          <p:cNvPr id="3" name="Slide Number Placeholder 2">
            <a:extLst>
              <a:ext uri="{FF2B5EF4-FFF2-40B4-BE49-F238E27FC236}">
                <a16:creationId xmlns:a16="http://schemas.microsoft.com/office/drawing/2014/main" id="{8F2466ED-368D-4DE3-9297-901CA4AE0AAA}"/>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1306599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44904" y="182000"/>
            <a:ext cx="8422104" cy="771525"/>
          </a:xfrm>
        </p:spPr>
        <p:txBody>
          <a:bodyPr>
            <a:noAutofit/>
          </a:bodyPr>
          <a:lstStyle/>
          <a:p>
            <a:pPr eaLnBrk="1" hangingPunct="1"/>
            <a:r>
              <a:rPr lang="en-US" sz="2800" dirty="0">
                <a:solidFill>
                  <a:srgbClr val="7030A0"/>
                </a:solidFill>
              </a:rPr>
              <a:t>RELATIVE TYPE SIZES FOR CERTAIN MAP ELEMENTS</a:t>
            </a:r>
          </a:p>
        </p:txBody>
      </p:sp>
      <p:sp>
        <p:nvSpPr>
          <p:cNvPr id="101379" name="Rectangle 3"/>
          <p:cNvSpPr>
            <a:spLocks noGrp="1" noChangeArrowheads="1"/>
          </p:cNvSpPr>
          <p:nvPr>
            <p:ph idx="1"/>
          </p:nvPr>
        </p:nvSpPr>
        <p:spPr>
          <a:xfrm>
            <a:off x="141464" y="1113188"/>
            <a:ext cx="5328881" cy="3741896"/>
          </a:xfrm>
        </p:spPr>
        <p:txBody>
          <a:bodyPr/>
          <a:lstStyle/>
          <a:p>
            <a:pPr marL="411480" indent="-411480"/>
            <a:r>
              <a:rPr lang="en-US" dirty="0"/>
              <a:t>Sizes should decrease as follows</a:t>
            </a:r>
          </a:p>
          <a:p>
            <a:pPr lvl="1" indent="-360045"/>
            <a:r>
              <a:rPr lang="en-US" dirty="0"/>
              <a:t>Title</a:t>
            </a:r>
          </a:p>
          <a:p>
            <a:pPr lvl="1" indent="-360045"/>
            <a:r>
              <a:rPr lang="en-US" dirty="0"/>
              <a:t>Subtitle</a:t>
            </a:r>
          </a:p>
          <a:p>
            <a:pPr lvl="1" indent="-360045"/>
            <a:r>
              <a:rPr lang="en-US" dirty="0"/>
              <a:t>Legend Heading</a:t>
            </a:r>
          </a:p>
          <a:p>
            <a:pPr lvl="1" indent="-360045"/>
            <a:r>
              <a:rPr lang="en-US" dirty="0"/>
              <a:t>Legend Definitions</a:t>
            </a:r>
          </a:p>
          <a:p>
            <a:pPr lvl="1" indent="-360045"/>
            <a:r>
              <a:rPr lang="en-US" dirty="0"/>
              <a:t>Source, scale,</a:t>
            </a:r>
            <a:br>
              <a:rPr lang="en-US" dirty="0"/>
            </a:br>
            <a:r>
              <a:rPr lang="en-US" dirty="0"/>
              <a:t>north arrow</a:t>
            </a:r>
          </a:p>
          <a:p>
            <a:pPr marL="411480" indent="-411480"/>
            <a:endParaRPr lang="en-US" dirty="0"/>
          </a:p>
        </p:txBody>
      </p:sp>
      <p:sp>
        <p:nvSpPr>
          <p:cNvPr id="3" name="Slide Number Placeholder 2">
            <a:extLst>
              <a:ext uri="{FF2B5EF4-FFF2-40B4-BE49-F238E27FC236}">
                <a16:creationId xmlns:a16="http://schemas.microsoft.com/office/drawing/2014/main" id="{0ECD85AA-BCCF-47AC-AEB3-E32898BE7523}"/>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1026" name="Picture 2" descr="Image showing type size"/>
          <p:cNvPicPr>
            <a:picLocks noChangeAspect="1" noChangeArrowheads="1"/>
          </p:cNvPicPr>
          <p:nvPr/>
        </p:nvPicPr>
        <p:blipFill>
          <a:blip r:embed="rId2" cstate="print"/>
          <a:srcRect/>
          <a:stretch>
            <a:fillRect/>
          </a:stretch>
        </p:blipFill>
        <p:spPr bwMode="auto">
          <a:xfrm>
            <a:off x="5773561" y="1417554"/>
            <a:ext cx="2314575" cy="3218470"/>
          </a:xfrm>
          <a:prstGeom prst="rect">
            <a:avLst/>
          </a:prstGeom>
          <a:noFill/>
          <a:ln w="9525">
            <a:solidFill>
              <a:schemeClr val="tx1"/>
            </a:solidFill>
            <a:miter lim="800000"/>
            <a:headEnd/>
            <a:tailEnd/>
          </a:ln>
        </p:spPr>
      </p:pic>
      <p:sp>
        <p:nvSpPr>
          <p:cNvPr id="6" name="Rectangle 5"/>
          <p:cNvSpPr/>
          <p:nvPr/>
        </p:nvSpPr>
        <p:spPr bwMode="auto">
          <a:xfrm>
            <a:off x="4791369" y="1580638"/>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7" name="Rectangle 6"/>
          <p:cNvSpPr/>
          <p:nvPr/>
        </p:nvSpPr>
        <p:spPr bwMode="auto">
          <a:xfrm>
            <a:off x="4783456" y="1954530"/>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8" name="Rectangle 7"/>
          <p:cNvSpPr/>
          <p:nvPr/>
        </p:nvSpPr>
        <p:spPr bwMode="auto">
          <a:xfrm>
            <a:off x="4783456" y="2314575"/>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9" name="Rectangle 8"/>
          <p:cNvSpPr/>
          <p:nvPr/>
        </p:nvSpPr>
        <p:spPr bwMode="auto">
          <a:xfrm>
            <a:off x="4783456" y="2777490"/>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10" name="Rectangle 9"/>
          <p:cNvSpPr/>
          <p:nvPr/>
        </p:nvSpPr>
        <p:spPr bwMode="auto">
          <a:xfrm>
            <a:off x="4783456" y="3394710"/>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2" name="Rectangle 1"/>
          <p:cNvSpPr/>
          <p:nvPr/>
        </p:nvSpPr>
        <p:spPr>
          <a:xfrm>
            <a:off x="2128626" y="4726618"/>
            <a:ext cx="5018133" cy="383182"/>
          </a:xfrm>
          <a:prstGeom prst="rect">
            <a:avLst/>
          </a:prstGeom>
        </p:spPr>
        <p:txBody>
          <a:bodyPr wrap="square">
            <a:spAutoFit/>
          </a:bodyPr>
          <a:lstStyle/>
          <a:p>
            <a:r>
              <a:rPr lang="en-US" sz="1890" b="1" dirty="0"/>
              <a:t>Use the same type family for ALL map elements!</a:t>
            </a:r>
          </a:p>
        </p:txBody>
      </p:sp>
      <p:cxnSp>
        <p:nvCxnSpPr>
          <p:cNvPr id="11" name="Straight Connector 10">
            <a:extLst>
              <a:ext uri="{FF2B5EF4-FFF2-40B4-BE49-F238E27FC236}">
                <a16:creationId xmlns:a16="http://schemas.microsoft.com/office/drawing/2014/main" id="{46A15DC6-084A-4D47-92AD-A57C45B0D8F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ap 1"/>
          <p:cNvPicPr>
            <a:picLocks noChangeAspect="1"/>
          </p:cNvPicPr>
          <p:nvPr/>
        </p:nvPicPr>
        <p:blipFill>
          <a:blip r:embed="rId3"/>
          <a:stretch>
            <a:fillRect/>
          </a:stretch>
        </p:blipFill>
        <p:spPr>
          <a:xfrm>
            <a:off x="1576951" y="1227083"/>
            <a:ext cx="2537849" cy="3189357"/>
          </a:xfrm>
          <a:prstGeom prst="rect">
            <a:avLst/>
          </a:prstGeom>
        </p:spPr>
      </p:pic>
      <p:pic>
        <p:nvPicPr>
          <p:cNvPr id="2" name="Picture 1" descr="Map 2"/>
          <p:cNvPicPr>
            <a:picLocks noChangeAspect="1"/>
          </p:cNvPicPr>
          <p:nvPr/>
        </p:nvPicPr>
        <p:blipFill>
          <a:blip r:embed="rId4"/>
          <a:stretch>
            <a:fillRect/>
          </a:stretch>
        </p:blipFill>
        <p:spPr>
          <a:xfrm>
            <a:off x="4603922" y="1227083"/>
            <a:ext cx="2525765" cy="3188635"/>
          </a:xfrm>
          <a:prstGeom prst="rect">
            <a:avLst/>
          </a:prstGeom>
          <a:ln>
            <a:solidFill>
              <a:schemeClr val="tx1"/>
            </a:solidFill>
          </a:ln>
        </p:spPr>
      </p:pic>
      <p:sp>
        <p:nvSpPr>
          <p:cNvPr id="7" name="Title 1">
            <a:extLst>
              <a:ext uri="{FF2B5EF4-FFF2-40B4-BE49-F238E27FC236}">
                <a16:creationId xmlns:a16="http://schemas.microsoft.com/office/drawing/2014/main" id="{5935AEE5-6193-47F9-BAB9-FB3F627C7F5C}"/>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cxnSp>
        <p:nvCxnSpPr>
          <p:cNvPr id="8" name="Straight Connector 7">
            <a:extLst>
              <a:ext uri="{FF2B5EF4-FFF2-40B4-BE49-F238E27FC236}">
                <a16:creationId xmlns:a16="http://schemas.microsoft.com/office/drawing/2014/main" id="{E03287F7-8994-477D-9FAD-D17D4F823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D7A37AF-67E9-4E2D-8501-F4FE1F453639}"/>
              </a:ext>
            </a:extLst>
          </p:cNvPr>
          <p:cNvSpPr txBox="1"/>
          <p:nvPr/>
        </p:nvSpPr>
        <p:spPr>
          <a:xfrm>
            <a:off x="81215" y="1925419"/>
            <a:ext cx="1495735" cy="646331"/>
          </a:xfrm>
          <a:prstGeom prst="rect">
            <a:avLst/>
          </a:prstGeom>
          <a:noFill/>
        </p:spPr>
        <p:txBody>
          <a:bodyPr wrap="square" rtlCol="0">
            <a:spAutoFit/>
          </a:bodyPr>
          <a:lstStyle/>
          <a:p>
            <a:r>
              <a:rPr lang="en-US" dirty="0"/>
              <a:t>Which one is better?</a:t>
            </a:r>
          </a:p>
        </p:txBody>
      </p:sp>
      <p:sp>
        <p:nvSpPr>
          <p:cNvPr id="5" name="Slide Number Placeholder 4">
            <a:extLst>
              <a:ext uri="{FF2B5EF4-FFF2-40B4-BE49-F238E27FC236}">
                <a16:creationId xmlns:a16="http://schemas.microsoft.com/office/drawing/2014/main" id="{3AD9DBFD-D16F-48AD-AAC0-C33A38AA7E83}"/>
              </a:ext>
            </a:extLst>
          </p:cNvPr>
          <p:cNvSpPr>
            <a:spLocks noGrp="1"/>
          </p:cNvSpPr>
          <p:nvPr>
            <p:ph type="sldNum" sz="quarter" idx="12"/>
          </p:nvPr>
        </p:nvSpPr>
        <p:spPr/>
        <p:txBody>
          <a:bodyPr/>
          <a:lstStyle/>
          <a:p>
            <a:fld id="{127DDC20-79C9-9647-820E-6D40A3D210C3}" type="slidenum">
              <a:rPr lang="en-US" smtClean="0"/>
              <a:pPr/>
              <a:t>29</a:t>
            </a:fld>
            <a:endParaRPr lang="en-US"/>
          </a:p>
        </p:txBody>
      </p:sp>
    </p:spTree>
    <p:extLst>
      <p:ext uri="{BB962C8B-B14F-4D97-AF65-F5344CB8AC3E}">
        <p14:creationId xmlns:p14="http://schemas.microsoft.com/office/powerpoint/2010/main" val="2080504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Week04_GEOG2475_Tu</Template>
  <TotalTime>11042</TotalTime>
  <Words>932</Words>
  <Application>Microsoft Office PowerPoint</Application>
  <PresentationFormat>Custom</PresentationFormat>
  <Paragraphs>158</Paragraphs>
  <Slides>30</Slides>
  <Notes>7</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30</vt:i4>
      </vt:variant>
    </vt:vector>
  </HeadingPairs>
  <TitlesOfParts>
    <vt:vector size="43" baseType="lpstr">
      <vt:lpstr>Avenir Next W01</vt:lpstr>
      <vt:lpstr>TimesLTStd-Roman</vt:lpstr>
      <vt:lpstr>Arial</vt:lpstr>
      <vt:lpstr>Arial Black</vt:lpstr>
      <vt:lpstr>Calibri</vt:lpstr>
      <vt:lpstr>Courier New</vt:lpstr>
      <vt:lpstr>Wingdings</vt:lpstr>
      <vt:lpstr>Wingdings 2</vt:lpstr>
      <vt:lpstr>2_DividendVTI</vt:lpstr>
      <vt:lpstr>DividendVTI</vt:lpstr>
      <vt:lpstr>1_DividendVTI</vt:lpstr>
      <vt:lpstr>5_DividendVTI</vt:lpstr>
      <vt:lpstr>6_DividendVTI</vt:lpstr>
      <vt:lpstr>Lecture 07  Map Elements  lecture</vt:lpstr>
      <vt:lpstr>7.1  MAP ELEMENTS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RELATIVE TYPE SIZES FOR CERTAIN MAP ELEMENTS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Yanan Wu</cp:lastModifiedBy>
  <cp:revision>435</cp:revision>
  <dcterms:created xsi:type="dcterms:W3CDTF">2020-07-26T21:20:11Z</dcterms:created>
  <dcterms:modified xsi:type="dcterms:W3CDTF">2025-10-01T22:08:13Z</dcterms:modified>
</cp:coreProperties>
</file>