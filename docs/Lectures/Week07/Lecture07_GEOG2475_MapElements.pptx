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79"/>
  </p:notesMasterIdLst>
  <p:sldIdLst>
    <p:sldId id="256" r:id="rId2"/>
    <p:sldId id="650" r:id="rId3"/>
    <p:sldId id="442" r:id="rId4"/>
    <p:sldId id="445" r:id="rId5"/>
    <p:sldId id="544" r:id="rId6"/>
    <p:sldId id="444" r:id="rId7"/>
    <p:sldId id="438" r:id="rId8"/>
    <p:sldId id="439" r:id="rId9"/>
    <p:sldId id="441" r:id="rId10"/>
    <p:sldId id="450" r:id="rId11"/>
    <p:sldId id="652" r:id="rId12"/>
    <p:sldId id="454" r:id="rId13"/>
    <p:sldId id="545" r:id="rId14"/>
    <p:sldId id="456" r:id="rId15"/>
    <p:sldId id="457" r:id="rId16"/>
    <p:sldId id="459" r:id="rId17"/>
    <p:sldId id="460" r:id="rId18"/>
    <p:sldId id="461" r:id="rId19"/>
    <p:sldId id="546" r:id="rId20"/>
    <p:sldId id="463" r:id="rId21"/>
    <p:sldId id="464" r:id="rId22"/>
    <p:sldId id="466" r:id="rId23"/>
    <p:sldId id="465" r:id="rId24"/>
    <p:sldId id="469" r:id="rId25"/>
    <p:sldId id="509" r:id="rId26"/>
    <p:sldId id="547" r:id="rId27"/>
    <p:sldId id="549" r:id="rId28"/>
    <p:sldId id="471" r:id="rId29"/>
    <p:sldId id="476" r:id="rId30"/>
    <p:sldId id="477" r:id="rId31"/>
    <p:sldId id="497" r:id="rId32"/>
    <p:sldId id="479" r:id="rId33"/>
    <p:sldId id="651" r:id="rId34"/>
    <p:sldId id="554" r:id="rId35"/>
    <p:sldId id="555" r:id="rId36"/>
    <p:sldId id="653" r:id="rId37"/>
    <p:sldId id="485" r:id="rId38"/>
    <p:sldId id="557" r:id="rId39"/>
    <p:sldId id="486" r:id="rId40"/>
    <p:sldId id="489" r:id="rId41"/>
    <p:sldId id="496" r:id="rId42"/>
    <p:sldId id="499" r:id="rId43"/>
    <p:sldId id="491" r:id="rId44"/>
    <p:sldId id="501" r:id="rId45"/>
    <p:sldId id="503" r:id="rId46"/>
    <p:sldId id="504" r:id="rId47"/>
    <p:sldId id="506" r:id="rId48"/>
    <p:sldId id="494" r:id="rId49"/>
    <p:sldId id="512" r:id="rId50"/>
    <p:sldId id="487" r:id="rId51"/>
    <p:sldId id="514" r:id="rId52"/>
    <p:sldId id="516" r:id="rId53"/>
    <p:sldId id="654" r:id="rId54"/>
    <p:sldId id="518" r:id="rId55"/>
    <p:sldId id="520" r:id="rId56"/>
    <p:sldId id="521" r:id="rId57"/>
    <p:sldId id="523" r:id="rId58"/>
    <p:sldId id="655" r:id="rId59"/>
    <p:sldId id="524" r:id="rId60"/>
    <p:sldId id="526" r:id="rId61"/>
    <p:sldId id="527" r:id="rId62"/>
    <p:sldId id="556" r:id="rId63"/>
    <p:sldId id="656" r:id="rId64"/>
    <p:sldId id="666" r:id="rId65"/>
    <p:sldId id="533" r:id="rId66"/>
    <p:sldId id="535" r:id="rId67"/>
    <p:sldId id="537" r:id="rId68"/>
    <p:sldId id="538" r:id="rId69"/>
    <p:sldId id="539" r:id="rId70"/>
    <p:sldId id="536" r:id="rId71"/>
    <p:sldId id="541" r:id="rId72"/>
    <p:sldId id="667" r:id="rId73"/>
    <p:sldId id="540" r:id="rId74"/>
    <p:sldId id="665" r:id="rId75"/>
    <p:sldId id="553" r:id="rId76"/>
    <p:sldId id="668" r:id="rId77"/>
    <p:sldId id="270" r:id="rId78"/>
  </p:sldIdLst>
  <p:sldSz cx="8229600" cy="51435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5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384" autoAdjust="0"/>
  </p:normalViewPr>
  <p:slideViewPr>
    <p:cSldViewPr snapToGrid="0" snapToObjects="1">
      <p:cViewPr varScale="1">
        <p:scale>
          <a:sx n="79" d="100"/>
          <a:sy n="79" d="100"/>
        </p:scale>
        <p:origin x="1368" y="108"/>
      </p:cViewPr>
      <p:guideLst>
        <p:guide orient="horz" pos="1620"/>
        <p:guide pos="259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6C520B4-85AA-9542-8CF7-3D2DDCE6041D}" type="datetimeFigureOut">
              <a:rPr lang="en-US" smtClean="0"/>
              <a:pPr/>
              <a:t>10/4/2022</a:t>
            </a:fld>
            <a:endParaRPr lang="en-US"/>
          </a:p>
        </p:txBody>
      </p:sp>
      <p:sp>
        <p:nvSpPr>
          <p:cNvPr id="4" name="Slide Image Placeholder 3"/>
          <p:cNvSpPr>
            <a:spLocks noGrp="1" noRot="1" noChangeAspect="1"/>
          </p:cNvSpPr>
          <p:nvPr>
            <p:ph type="sldImg" idx="2"/>
          </p:nvPr>
        </p:nvSpPr>
        <p:spPr>
          <a:xfrm>
            <a:off x="715963" y="696913"/>
            <a:ext cx="5578475"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6507943-197E-CE46-82F0-5A323A24AE7A}" type="slidenum">
              <a:rPr lang="en-US" smtClean="0"/>
              <a:pPr/>
              <a:t>‹#›</a:t>
            </a:fld>
            <a:endParaRPr lang="en-US"/>
          </a:p>
        </p:txBody>
      </p:sp>
    </p:spTree>
    <p:extLst>
      <p:ext uri="{BB962C8B-B14F-4D97-AF65-F5344CB8AC3E}">
        <p14:creationId xmlns:p14="http://schemas.microsoft.com/office/powerpoint/2010/main" val="13487360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5963" y="696913"/>
            <a:ext cx="5578475" cy="3486150"/>
          </a:xfrm>
        </p:spPr>
      </p:sp>
      <p:sp>
        <p:nvSpPr>
          <p:cNvPr id="3" name="Notes Placeholder 2"/>
          <p:cNvSpPr>
            <a:spLocks noGrp="1"/>
          </p:cNvSpPr>
          <p:nvPr>
            <p:ph type="body" idx="1"/>
          </p:nvPr>
        </p:nvSpPr>
        <p:spPr/>
        <p:txBody>
          <a:bodyPr/>
          <a:lstStyle/>
          <a:p>
            <a:pPr defTabSz="465887">
              <a:defRPr/>
            </a:pPr>
            <a:endParaRPr lang="en-US" dirty="0"/>
          </a:p>
        </p:txBody>
      </p:sp>
      <p:sp>
        <p:nvSpPr>
          <p:cNvPr id="4" name="Slide Number Placeholder 3"/>
          <p:cNvSpPr>
            <a:spLocks noGrp="1"/>
          </p:cNvSpPr>
          <p:nvPr>
            <p:ph type="sldNum" sz="quarter" idx="10"/>
          </p:nvPr>
        </p:nvSpPr>
        <p:spPr/>
        <p:txBody>
          <a:bodyPr/>
          <a:lstStyle/>
          <a:p>
            <a:fld id="{56507943-197E-CE46-82F0-5A323A24AE7A}" type="slidenum">
              <a:rPr lang="en-US" smtClean="0"/>
              <a:pPr/>
              <a:t>1</a:t>
            </a:fld>
            <a:endParaRPr lang="en-US"/>
          </a:p>
        </p:txBody>
      </p:sp>
    </p:spTree>
    <p:extLst>
      <p:ext uri="{BB962C8B-B14F-4D97-AF65-F5344CB8AC3E}">
        <p14:creationId xmlns:p14="http://schemas.microsoft.com/office/powerpoint/2010/main" val="19735089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2</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40293708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solidFill>
                  <a:srgbClr val="000000"/>
                </a:solidFill>
              </a:rPr>
              <a:t>A noisy, inefficient communicator</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solidFill>
                <a:srgbClr val="000000"/>
              </a:solidFill>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solidFill>
                  <a:srgbClr val="000000"/>
                </a:solidFill>
              </a:rPr>
              <a:t>A simple, efficient communicator</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solidFill>
                <a:srgbClr val="000000"/>
              </a:solidFill>
            </a:endParaRPr>
          </a:p>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5</a:t>
            </a:fld>
            <a:endParaRPr lang="en-US"/>
          </a:p>
        </p:txBody>
      </p:sp>
    </p:spTree>
    <p:extLst>
      <p:ext uri="{BB962C8B-B14F-4D97-AF65-F5344CB8AC3E}">
        <p14:creationId xmlns:p14="http://schemas.microsoft.com/office/powerpoint/2010/main" val="38026081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15</a:t>
            </a:fld>
            <a:endParaRPr lang="en-US"/>
          </a:p>
        </p:txBody>
      </p:sp>
    </p:spTree>
    <p:extLst>
      <p:ext uri="{BB962C8B-B14F-4D97-AF65-F5344CB8AC3E}">
        <p14:creationId xmlns:p14="http://schemas.microsoft.com/office/powerpoint/2010/main" val="10272442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Iraq, Turkmenistan, Afghanistan, </a:t>
            </a:r>
            <a:r>
              <a:rPr lang="en-US" dirty="0" err="1"/>
              <a:t>Pr</a:t>
            </a:r>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20</a:t>
            </a:fld>
            <a:endParaRPr lang="en-US"/>
          </a:p>
        </p:txBody>
      </p:sp>
    </p:spTree>
    <p:extLst>
      <p:ext uri="{BB962C8B-B14F-4D97-AF65-F5344CB8AC3E}">
        <p14:creationId xmlns:p14="http://schemas.microsoft.com/office/powerpoint/2010/main" val="24671119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Don’t include the word “Map” in a title!</a:t>
            </a:r>
          </a:p>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31</a:t>
            </a:fld>
            <a:endParaRPr lang="en-US"/>
          </a:p>
        </p:txBody>
      </p:sp>
    </p:spTree>
    <p:extLst>
      <p:ext uri="{BB962C8B-B14F-4D97-AF65-F5344CB8AC3E}">
        <p14:creationId xmlns:p14="http://schemas.microsoft.com/office/powerpoint/2010/main" val="25005429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size</a:t>
            </a:r>
          </a:p>
        </p:txBody>
      </p:sp>
      <p:sp>
        <p:nvSpPr>
          <p:cNvPr id="4" name="Slide Number Placeholder 3"/>
          <p:cNvSpPr>
            <a:spLocks noGrp="1"/>
          </p:cNvSpPr>
          <p:nvPr>
            <p:ph type="sldNum" sz="quarter" idx="5"/>
          </p:nvPr>
        </p:nvSpPr>
        <p:spPr/>
        <p:txBody>
          <a:bodyPr/>
          <a:lstStyle/>
          <a:p>
            <a:fld id="{56507943-197E-CE46-82F0-5A323A24AE7A}" type="slidenum">
              <a:rPr lang="en-US" smtClean="0"/>
              <a:pPr/>
              <a:t>39</a:t>
            </a:fld>
            <a:endParaRPr lang="en-US"/>
          </a:p>
        </p:txBody>
      </p:sp>
    </p:spTree>
    <p:extLst>
      <p:ext uri="{BB962C8B-B14F-4D97-AF65-F5344CB8AC3E}">
        <p14:creationId xmlns:p14="http://schemas.microsoft.com/office/powerpoint/2010/main" val="258371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larger scale: greater detail and smaller area</a:t>
            </a:r>
          </a:p>
          <a:p>
            <a:r>
              <a:rPr lang="en-US" dirty="0"/>
              <a:t>Smaller scale: less detail and larger area</a:t>
            </a:r>
          </a:p>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55</a:t>
            </a:fld>
            <a:endParaRPr lang="en-US"/>
          </a:p>
        </p:txBody>
      </p:sp>
    </p:spTree>
    <p:extLst>
      <p:ext uri="{BB962C8B-B14F-4D97-AF65-F5344CB8AC3E}">
        <p14:creationId xmlns:p14="http://schemas.microsoft.com/office/powerpoint/2010/main" val="24010949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view, it will not change</a:t>
            </a:r>
          </a:p>
        </p:txBody>
      </p:sp>
      <p:sp>
        <p:nvSpPr>
          <p:cNvPr id="4" name="Slide Number Placeholder 3"/>
          <p:cNvSpPr>
            <a:spLocks noGrp="1"/>
          </p:cNvSpPr>
          <p:nvPr>
            <p:ph type="sldNum" sz="quarter" idx="5"/>
          </p:nvPr>
        </p:nvSpPr>
        <p:spPr/>
        <p:txBody>
          <a:bodyPr/>
          <a:lstStyle/>
          <a:p>
            <a:fld id="{56507943-197E-CE46-82F0-5A323A24AE7A}" type="slidenum">
              <a:rPr lang="en-US" smtClean="0"/>
              <a:pPr/>
              <a:t>57</a:t>
            </a:fld>
            <a:endParaRPr lang="en-US"/>
          </a:p>
        </p:txBody>
      </p:sp>
    </p:spTree>
    <p:extLst>
      <p:ext uri="{BB962C8B-B14F-4D97-AF65-F5344CB8AC3E}">
        <p14:creationId xmlns:p14="http://schemas.microsoft.com/office/powerpoint/2010/main" val="5810747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Miller Cylindrical</a:t>
            </a:r>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59</a:t>
            </a:fld>
            <a:endParaRPr lang="en-US"/>
          </a:p>
        </p:txBody>
      </p:sp>
    </p:spTree>
    <p:extLst>
      <p:ext uri="{BB962C8B-B14F-4D97-AF65-F5344CB8AC3E}">
        <p14:creationId xmlns:p14="http://schemas.microsoft.com/office/powerpoint/2010/main" val="31190270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1" dirty="0">
                <a:solidFill>
                  <a:srgbClr val="4C4C4C"/>
                </a:solidFill>
                <a:effectLst/>
                <a:latin typeface="Avenir Next W01"/>
              </a:rPr>
              <a:t>An extension scale which shows finer subdivisions of the scale bar allows for smaller distance measurements.</a:t>
            </a:r>
          </a:p>
          <a:p>
            <a:r>
              <a:rPr lang="en-US" b="0" i="0" dirty="0">
                <a:solidFill>
                  <a:srgbClr val="4C4C4C"/>
                </a:solidFill>
                <a:effectLst/>
                <a:latin typeface="Avenir Next W01"/>
              </a:rPr>
              <a:t>If you have decided to use a scale bar and you have more than one mapped area (e.g., the coterminous U.S., Alaska and Hawaii), each mapped area requires its own scale bar if they are shown at different scales.</a:t>
            </a:r>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61</a:t>
            </a:fld>
            <a:endParaRPr lang="en-US"/>
          </a:p>
        </p:txBody>
      </p:sp>
    </p:spTree>
    <p:extLst>
      <p:ext uri="{BB962C8B-B14F-4D97-AF65-F5344CB8AC3E}">
        <p14:creationId xmlns:p14="http://schemas.microsoft.com/office/powerpoint/2010/main" val="13066261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solidFill>
                  <a:srgbClr val="000000"/>
                </a:solidFill>
              </a:rPr>
              <a:t>A noisy, inefficient communicator</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solidFill>
                <a:srgbClr val="000000"/>
              </a:solidFill>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solidFill>
                  <a:srgbClr val="000000"/>
                </a:solidFill>
              </a:rPr>
              <a:t>A simple, efficient communicator</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solidFill>
                <a:srgbClr val="000000"/>
              </a:solidFill>
            </a:endParaRPr>
          </a:p>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76</a:t>
            </a:fld>
            <a:endParaRPr lang="en-US"/>
          </a:p>
        </p:txBody>
      </p:sp>
    </p:spTree>
    <p:extLst>
      <p:ext uri="{BB962C8B-B14F-4D97-AF65-F5344CB8AC3E}">
        <p14:creationId xmlns:p14="http://schemas.microsoft.com/office/powerpoint/2010/main" val="38026081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77</a:t>
            </a:fld>
            <a:endParaRPr lang="en-US"/>
          </a:p>
        </p:txBody>
      </p:sp>
    </p:spTree>
    <p:extLst>
      <p:ext uri="{BB962C8B-B14F-4D97-AF65-F5344CB8AC3E}">
        <p14:creationId xmlns:p14="http://schemas.microsoft.com/office/powerpoint/2010/main" val="2956007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17220" y="1597820"/>
            <a:ext cx="6995160" cy="1102519"/>
          </a:xfrm>
        </p:spPr>
        <p:txBody>
          <a:bodyPr/>
          <a:lstStyle/>
          <a:p>
            <a:r>
              <a:rPr lang="en-US"/>
              <a:t>Click to edit Master title style</a:t>
            </a:r>
          </a:p>
        </p:txBody>
      </p:sp>
      <p:sp>
        <p:nvSpPr>
          <p:cNvPr id="3" name="Subtitle 2"/>
          <p:cNvSpPr>
            <a:spLocks noGrp="1"/>
          </p:cNvSpPr>
          <p:nvPr>
            <p:ph type="subTitle" idx="1"/>
          </p:nvPr>
        </p:nvSpPr>
        <p:spPr>
          <a:xfrm>
            <a:off x="1234440" y="2914650"/>
            <a:ext cx="5760720" cy="1314450"/>
          </a:xfrm>
        </p:spPr>
        <p:txBody>
          <a:bodyPr/>
          <a:lstStyle>
            <a:lvl1pPr marL="0" indent="0" algn="ctr">
              <a:buNone/>
              <a:defRPr>
                <a:solidFill>
                  <a:schemeClr val="tx1">
                    <a:tint val="75000"/>
                  </a:schemeClr>
                </a:solidFill>
              </a:defRPr>
            </a:lvl1pPr>
            <a:lvl2pPr marL="411480" indent="0" algn="ctr">
              <a:buNone/>
              <a:defRPr>
                <a:solidFill>
                  <a:schemeClr val="tx1">
                    <a:tint val="75000"/>
                  </a:schemeClr>
                </a:solidFill>
              </a:defRPr>
            </a:lvl2pPr>
            <a:lvl3pPr marL="822960" indent="0" algn="ctr">
              <a:buNone/>
              <a:defRPr>
                <a:solidFill>
                  <a:schemeClr val="tx1">
                    <a:tint val="75000"/>
                  </a:schemeClr>
                </a:solidFill>
              </a:defRPr>
            </a:lvl3pPr>
            <a:lvl4pPr marL="1234440" indent="0" algn="ctr">
              <a:buNone/>
              <a:defRPr>
                <a:solidFill>
                  <a:schemeClr val="tx1">
                    <a:tint val="75000"/>
                  </a:schemeClr>
                </a:solidFill>
              </a:defRPr>
            </a:lvl4pPr>
            <a:lvl5pPr marL="1645920" indent="0" algn="ctr">
              <a:buNone/>
              <a:defRPr>
                <a:solidFill>
                  <a:schemeClr val="tx1">
                    <a:tint val="75000"/>
                  </a:schemeClr>
                </a:solidFill>
              </a:defRPr>
            </a:lvl5pPr>
            <a:lvl6pPr marL="2057400" indent="0" algn="ctr">
              <a:buNone/>
              <a:defRPr>
                <a:solidFill>
                  <a:schemeClr val="tx1">
                    <a:tint val="75000"/>
                  </a:schemeClr>
                </a:solidFill>
              </a:defRPr>
            </a:lvl6pPr>
            <a:lvl7pPr marL="2468880" indent="0" algn="ctr">
              <a:buNone/>
              <a:defRPr>
                <a:solidFill>
                  <a:schemeClr val="tx1">
                    <a:tint val="75000"/>
                  </a:schemeClr>
                </a:solidFill>
              </a:defRPr>
            </a:lvl7pPr>
            <a:lvl8pPr marL="2880360" indent="0" algn="ctr">
              <a:buNone/>
              <a:defRPr>
                <a:solidFill>
                  <a:schemeClr val="tx1">
                    <a:tint val="75000"/>
                  </a:schemeClr>
                </a:solidFill>
              </a:defRPr>
            </a:lvl8pPr>
            <a:lvl9pPr marL="329184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6A0FD2F-556E-43A6-BD1A-AE05D71D5ACE}" type="datetime1">
              <a:rPr lang="en-US" smtClean="0"/>
              <a:t>10/4/2022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4459162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4CA2D96-DD5E-4EE6-BA39-19B5C56AF1F2}" type="datetime1">
              <a:rPr lang="en-US" smtClean="0"/>
              <a:t>10/4/2022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2824698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50082" y="3305176"/>
            <a:ext cx="6995160" cy="1021556"/>
          </a:xfrm>
        </p:spPr>
        <p:txBody>
          <a:bodyPr anchor="t"/>
          <a:lstStyle>
            <a:lvl1pPr algn="l">
              <a:defRPr sz="3600" b="1" cap="all"/>
            </a:lvl1pPr>
          </a:lstStyle>
          <a:p>
            <a:r>
              <a:rPr lang="en-US"/>
              <a:t>Click to edit Master title style</a:t>
            </a:r>
          </a:p>
        </p:txBody>
      </p:sp>
      <p:sp>
        <p:nvSpPr>
          <p:cNvPr id="3" name="Text Placeholder 2"/>
          <p:cNvSpPr>
            <a:spLocks noGrp="1"/>
          </p:cNvSpPr>
          <p:nvPr>
            <p:ph type="body" idx="1"/>
          </p:nvPr>
        </p:nvSpPr>
        <p:spPr>
          <a:xfrm>
            <a:off x="650082" y="2180035"/>
            <a:ext cx="6995160" cy="1125140"/>
          </a:xfrm>
        </p:spPr>
        <p:txBody>
          <a:bodyPr anchor="b"/>
          <a:lstStyle>
            <a:lvl1pPr marL="0" indent="0">
              <a:buNone/>
              <a:defRPr sz="1800">
                <a:solidFill>
                  <a:schemeClr val="tx1">
                    <a:tint val="75000"/>
                  </a:schemeClr>
                </a:solidFill>
              </a:defRPr>
            </a:lvl1pPr>
            <a:lvl2pPr marL="411480" indent="0">
              <a:buNone/>
              <a:defRPr sz="1620">
                <a:solidFill>
                  <a:schemeClr val="tx1">
                    <a:tint val="75000"/>
                  </a:schemeClr>
                </a:solidFill>
              </a:defRPr>
            </a:lvl2pPr>
            <a:lvl3pPr marL="822960" indent="0">
              <a:buNone/>
              <a:defRPr sz="1440">
                <a:solidFill>
                  <a:schemeClr val="tx1">
                    <a:tint val="75000"/>
                  </a:schemeClr>
                </a:solidFill>
              </a:defRPr>
            </a:lvl3pPr>
            <a:lvl4pPr marL="1234440" indent="0">
              <a:buNone/>
              <a:defRPr sz="1260">
                <a:solidFill>
                  <a:schemeClr val="tx1">
                    <a:tint val="75000"/>
                  </a:schemeClr>
                </a:solidFill>
              </a:defRPr>
            </a:lvl4pPr>
            <a:lvl5pPr marL="1645920" indent="0">
              <a:buNone/>
              <a:defRPr sz="1260">
                <a:solidFill>
                  <a:schemeClr val="tx1">
                    <a:tint val="75000"/>
                  </a:schemeClr>
                </a:solidFill>
              </a:defRPr>
            </a:lvl5pPr>
            <a:lvl6pPr marL="2057400" indent="0">
              <a:buNone/>
              <a:defRPr sz="1260">
                <a:solidFill>
                  <a:schemeClr val="tx1">
                    <a:tint val="75000"/>
                  </a:schemeClr>
                </a:solidFill>
              </a:defRPr>
            </a:lvl6pPr>
            <a:lvl7pPr marL="2468880" indent="0">
              <a:buNone/>
              <a:defRPr sz="1260">
                <a:solidFill>
                  <a:schemeClr val="tx1">
                    <a:tint val="75000"/>
                  </a:schemeClr>
                </a:solidFill>
              </a:defRPr>
            </a:lvl7pPr>
            <a:lvl8pPr marL="2880360" indent="0">
              <a:buNone/>
              <a:defRPr sz="1260">
                <a:solidFill>
                  <a:schemeClr val="tx1">
                    <a:tint val="75000"/>
                  </a:schemeClr>
                </a:solidFill>
              </a:defRPr>
            </a:lvl8pPr>
            <a:lvl9pPr marL="3291840" indent="0">
              <a:buNone/>
              <a:defRPr sz="12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C2D4BC3-0B93-4E0B-AE53-3E432262C0E4}" type="datetime1">
              <a:rPr lang="en-US" smtClean="0"/>
              <a:t>10/4/2022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0414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11480" y="1200151"/>
            <a:ext cx="3634740" cy="3394472"/>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183380" y="1200151"/>
            <a:ext cx="3634740" cy="3394472"/>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5CEA080-6A29-4A4D-90B1-4C73660CABD5}" type="datetime1">
              <a:rPr lang="en-US" smtClean="0"/>
              <a:t>10/4/2022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052044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11480" y="1151335"/>
            <a:ext cx="3636169" cy="479822"/>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4" name="Content Placeholder 3"/>
          <p:cNvSpPr>
            <a:spLocks noGrp="1"/>
          </p:cNvSpPr>
          <p:nvPr>
            <p:ph sz="half" idx="2"/>
          </p:nvPr>
        </p:nvSpPr>
        <p:spPr>
          <a:xfrm>
            <a:off x="411480" y="1631156"/>
            <a:ext cx="3636169" cy="2963466"/>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180524" y="1151335"/>
            <a:ext cx="3637598" cy="479822"/>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6" name="Content Placeholder 5"/>
          <p:cNvSpPr>
            <a:spLocks noGrp="1"/>
          </p:cNvSpPr>
          <p:nvPr>
            <p:ph sz="quarter" idx="4"/>
          </p:nvPr>
        </p:nvSpPr>
        <p:spPr>
          <a:xfrm>
            <a:off x="4180524" y="1631156"/>
            <a:ext cx="3637598" cy="2963466"/>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EFF1D62-0785-460A-9888-5F5908AD45F7}" type="datetime1">
              <a:rPr lang="en-US" smtClean="0"/>
              <a:t>10/4/2022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734329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603F5A6-4790-4338-AC59-416730A16F3C}" type="datetime1">
              <a:rPr lang="en-US" smtClean="0"/>
              <a:t>10/4/2022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574429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F331C8-E8D8-438B-B699-9ACE625F3A09}" type="datetime1">
              <a:rPr lang="en-US" smtClean="0"/>
              <a:t>10/4/2022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2048352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11481" y="204787"/>
            <a:ext cx="2707482" cy="871538"/>
          </a:xfrm>
        </p:spPr>
        <p:txBody>
          <a:bodyPr anchor="b"/>
          <a:lstStyle>
            <a:lvl1pPr algn="l">
              <a:defRPr sz="1800" b="1"/>
            </a:lvl1pPr>
          </a:lstStyle>
          <a:p>
            <a:r>
              <a:rPr lang="en-US"/>
              <a:t>Click to edit Master title style</a:t>
            </a:r>
          </a:p>
        </p:txBody>
      </p:sp>
      <p:sp>
        <p:nvSpPr>
          <p:cNvPr id="3" name="Content Placeholder 2"/>
          <p:cNvSpPr>
            <a:spLocks noGrp="1"/>
          </p:cNvSpPr>
          <p:nvPr>
            <p:ph idx="1"/>
          </p:nvPr>
        </p:nvSpPr>
        <p:spPr>
          <a:xfrm>
            <a:off x="3217545" y="204789"/>
            <a:ext cx="4600575" cy="4389835"/>
          </a:xfrm>
        </p:spPr>
        <p:txBody>
          <a:bodyPr/>
          <a:lstStyle>
            <a:lvl1pPr>
              <a:defRPr sz="2880"/>
            </a:lvl1pPr>
            <a:lvl2pPr>
              <a:defRPr sz="2520"/>
            </a:lvl2pPr>
            <a:lvl3pPr>
              <a:defRPr sz="216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11481" y="1076327"/>
            <a:ext cx="2707482" cy="3518297"/>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en-US"/>
              <a:t>Click to edit Master text styles</a:t>
            </a:r>
          </a:p>
        </p:txBody>
      </p:sp>
      <p:sp>
        <p:nvSpPr>
          <p:cNvPr id="5" name="Date Placeholder 4"/>
          <p:cNvSpPr>
            <a:spLocks noGrp="1"/>
          </p:cNvSpPr>
          <p:nvPr>
            <p:ph type="dt" sz="half" idx="10"/>
          </p:nvPr>
        </p:nvSpPr>
        <p:spPr/>
        <p:txBody>
          <a:bodyPr/>
          <a:lstStyle/>
          <a:p>
            <a:fld id="{610C12D3-F429-42CB-9467-4C3AFEEA173C}" type="datetime1">
              <a:rPr lang="en-US" smtClean="0"/>
              <a:t>10/4/2022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641847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13059" y="3600450"/>
            <a:ext cx="4937760" cy="425054"/>
          </a:xfrm>
        </p:spPr>
        <p:txBody>
          <a:bodyPr anchor="b"/>
          <a:lstStyle>
            <a:lvl1pPr algn="l">
              <a:defRPr sz="1800" b="1"/>
            </a:lvl1pPr>
          </a:lstStyle>
          <a:p>
            <a:r>
              <a:rPr lang="en-US"/>
              <a:t>Click to edit Master title style</a:t>
            </a:r>
          </a:p>
        </p:txBody>
      </p:sp>
      <p:sp>
        <p:nvSpPr>
          <p:cNvPr id="3" name="Picture Placeholder 2"/>
          <p:cNvSpPr>
            <a:spLocks noGrp="1"/>
          </p:cNvSpPr>
          <p:nvPr>
            <p:ph type="pic" idx="1"/>
          </p:nvPr>
        </p:nvSpPr>
        <p:spPr>
          <a:xfrm>
            <a:off x="1613059" y="459581"/>
            <a:ext cx="4937760" cy="3086100"/>
          </a:xfrm>
        </p:spPr>
        <p:txBody>
          <a:bodyPr/>
          <a:lstStyle>
            <a:lvl1pPr marL="0" indent="0">
              <a:buNone/>
              <a:defRPr sz="2880"/>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a:endParaRPr lang="en-US"/>
          </a:p>
        </p:txBody>
      </p:sp>
      <p:sp>
        <p:nvSpPr>
          <p:cNvPr id="4" name="Text Placeholder 3"/>
          <p:cNvSpPr>
            <a:spLocks noGrp="1"/>
          </p:cNvSpPr>
          <p:nvPr>
            <p:ph type="body" sz="half" idx="2"/>
          </p:nvPr>
        </p:nvSpPr>
        <p:spPr>
          <a:xfrm>
            <a:off x="1613059" y="4025504"/>
            <a:ext cx="4937760" cy="603647"/>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en-US"/>
              <a:t>Click to edit Master text styles</a:t>
            </a:r>
          </a:p>
        </p:txBody>
      </p:sp>
      <p:sp>
        <p:nvSpPr>
          <p:cNvPr id="5" name="Date Placeholder 4"/>
          <p:cNvSpPr>
            <a:spLocks noGrp="1"/>
          </p:cNvSpPr>
          <p:nvPr>
            <p:ph type="dt" sz="half" idx="10"/>
          </p:nvPr>
        </p:nvSpPr>
        <p:spPr/>
        <p:txBody>
          <a:bodyPr/>
          <a:lstStyle/>
          <a:p>
            <a:fld id="{283F426E-E29E-4D2E-B32D-412D98F7FC2F}" type="datetime1">
              <a:rPr lang="en-US" smtClean="0"/>
              <a:t>10/4/2022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76031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0F15864-78C5-4237-8A12-0D1FD4E5F0BD}" type="datetime1">
              <a:rPr lang="en-US" smtClean="0"/>
              <a:t>10/4/2022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5509109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66460" y="205979"/>
            <a:ext cx="185166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11480" y="205979"/>
            <a:ext cx="541782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B9BBA17-EAD5-43A8-9481-F99B1E8564DB}" type="datetime1">
              <a:rPr lang="en-US" smtClean="0"/>
              <a:t>10/4/2022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645966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1480" y="205979"/>
            <a:ext cx="740664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11480" y="1200151"/>
            <a:ext cx="740664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11480" y="4767263"/>
            <a:ext cx="1920240" cy="273844"/>
          </a:xfrm>
          <a:prstGeom prst="rect">
            <a:avLst/>
          </a:prstGeom>
        </p:spPr>
        <p:txBody>
          <a:bodyPr vert="horz" lIns="91440" tIns="45720" rIns="91440" bIns="45720" rtlCol="0" anchor="ctr"/>
          <a:lstStyle>
            <a:lvl1pPr algn="l">
              <a:defRPr sz="1080">
                <a:solidFill>
                  <a:schemeClr val="tx1">
                    <a:tint val="75000"/>
                  </a:schemeClr>
                </a:solidFill>
              </a:defRPr>
            </a:lvl1pPr>
          </a:lstStyle>
          <a:p>
            <a:fld id="{3E7733A4-5D18-4D09-8F94-45F71EE3C7C2}" type="datetime1">
              <a:rPr lang="en-US" smtClean="0"/>
              <a:t>10/4/2022</a:t>
            </a:fld>
            <a:endParaRPr lang="en-US"/>
          </a:p>
        </p:txBody>
      </p:sp>
      <p:sp>
        <p:nvSpPr>
          <p:cNvPr id="5" name="Footer Placeholder 4"/>
          <p:cNvSpPr>
            <a:spLocks noGrp="1"/>
          </p:cNvSpPr>
          <p:nvPr>
            <p:ph type="ftr" sz="quarter" idx="3"/>
          </p:nvPr>
        </p:nvSpPr>
        <p:spPr>
          <a:xfrm>
            <a:off x="2811780" y="4767263"/>
            <a:ext cx="2606040" cy="273844"/>
          </a:xfrm>
          <a:prstGeom prst="rect">
            <a:avLst/>
          </a:prstGeom>
        </p:spPr>
        <p:txBody>
          <a:bodyPr vert="horz" lIns="91440" tIns="45720" rIns="91440" bIns="45720" rtlCol="0" anchor="ctr"/>
          <a:lstStyle>
            <a:lvl1pPr algn="ctr">
              <a:defRPr sz="108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897880" y="4767263"/>
            <a:ext cx="1920240" cy="273844"/>
          </a:xfrm>
          <a:prstGeom prst="rect">
            <a:avLst/>
          </a:prstGeom>
        </p:spPr>
        <p:txBody>
          <a:bodyPr vert="horz" lIns="91440" tIns="45720" rIns="91440" bIns="45720" rtlCol="0" anchor="ctr"/>
          <a:lstStyle>
            <a:lvl1pPr algn="r">
              <a:defRPr sz="1080">
                <a:solidFill>
                  <a:schemeClr val="tx1">
                    <a:tint val="75000"/>
                  </a:schemeClr>
                </a:solidFill>
              </a:defRPr>
            </a:lvl1pPr>
          </a:lstStyle>
          <a:p>
            <a:fld id="{127DDC20-79C9-9647-820E-6D40A3D210C3}" type="slidenum">
              <a:rPr lang="en-US" smtClean="0"/>
              <a:pPr/>
              <a:t>‹#›</a:t>
            </a:fld>
            <a:endParaRPr lang="en-US"/>
          </a:p>
        </p:txBody>
      </p:sp>
    </p:spTree>
    <p:extLst>
      <p:ext uri="{BB962C8B-B14F-4D97-AF65-F5344CB8AC3E}">
        <p14:creationId xmlns:p14="http://schemas.microsoft.com/office/powerpoint/2010/main" val="14283940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11480" rtl="0" eaLnBrk="1" latinLnBrk="0" hangingPunct="1">
        <a:spcBef>
          <a:spcPct val="0"/>
        </a:spcBef>
        <a:buNone/>
        <a:defRPr sz="3960" kern="1200">
          <a:solidFill>
            <a:schemeClr val="tx1"/>
          </a:solidFill>
          <a:latin typeface="+mj-lt"/>
          <a:ea typeface="+mj-ea"/>
          <a:cs typeface="+mj-cs"/>
        </a:defRPr>
      </a:lvl1pPr>
    </p:titleStyle>
    <p:body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p:bodyStyle>
    <p:otherStyle>
      <a:defPPr>
        <a:defRPr lang="en-US"/>
      </a:defPPr>
      <a:lvl1pPr marL="0" algn="l" defTabSz="411480" rtl="0" eaLnBrk="1" latinLnBrk="0" hangingPunct="1">
        <a:defRPr sz="1620" kern="1200">
          <a:solidFill>
            <a:schemeClr val="tx1"/>
          </a:solidFill>
          <a:latin typeface="+mn-lt"/>
          <a:ea typeface="+mn-ea"/>
          <a:cs typeface="+mn-cs"/>
        </a:defRPr>
      </a:lvl1pPr>
      <a:lvl2pPr marL="411480" algn="l" defTabSz="411480" rtl="0" eaLnBrk="1" latinLnBrk="0" hangingPunct="1">
        <a:defRPr sz="1620" kern="1200">
          <a:solidFill>
            <a:schemeClr val="tx1"/>
          </a:solidFill>
          <a:latin typeface="+mn-lt"/>
          <a:ea typeface="+mn-ea"/>
          <a:cs typeface="+mn-cs"/>
        </a:defRPr>
      </a:lvl2pPr>
      <a:lvl3pPr marL="822960" algn="l" defTabSz="411480" rtl="0" eaLnBrk="1" latinLnBrk="0" hangingPunct="1">
        <a:defRPr sz="1620" kern="1200">
          <a:solidFill>
            <a:schemeClr val="tx1"/>
          </a:solidFill>
          <a:latin typeface="+mn-lt"/>
          <a:ea typeface="+mn-ea"/>
          <a:cs typeface="+mn-cs"/>
        </a:defRPr>
      </a:lvl3pPr>
      <a:lvl4pPr marL="1234440" algn="l" defTabSz="411480" rtl="0" eaLnBrk="1" latinLnBrk="0" hangingPunct="1">
        <a:defRPr sz="1620" kern="1200">
          <a:solidFill>
            <a:schemeClr val="tx1"/>
          </a:solidFill>
          <a:latin typeface="+mn-lt"/>
          <a:ea typeface="+mn-ea"/>
          <a:cs typeface="+mn-cs"/>
        </a:defRPr>
      </a:lvl4pPr>
      <a:lvl5pPr marL="1645920" algn="l" defTabSz="411480" rtl="0" eaLnBrk="1" latinLnBrk="0" hangingPunct="1">
        <a:defRPr sz="1620" kern="1200">
          <a:solidFill>
            <a:schemeClr val="tx1"/>
          </a:solidFill>
          <a:latin typeface="+mn-lt"/>
          <a:ea typeface="+mn-ea"/>
          <a:cs typeface="+mn-cs"/>
        </a:defRPr>
      </a:lvl5pPr>
      <a:lvl6pPr marL="2057400" algn="l" defTabSz="411480" rtl="0" eaLnBrk="1" latinLnBrk="0" hangingPunct="1">
        <a:defRPr sz="1620" kern="1200">
          <a:solidFill>
            <a:schemeClr val="tx1"/>
          </a:solidFill>
          <a:latin typeface="+mn-lt"/>
          <a:ea typeface="+mn-ea"/>
          <a:cs typeface="+mn-cs"/>
        </a:defRPr>
      </a:lvl6pPr>
      <a:lvl7pPr marL="2468880" algn="l" defTabSz="411480" rtl="0" eaLnBrk="1" latinLnBrk="0" hangingPunct="1">
        <a:defRPr sz="1620" kern="1200">
          <a:solidFill>
            <a:schemeClr val="tx1"/>
          </a:solidFill>
          <a:latin typeface="+mn-lt"/>
          <a:ea typeface="+mn-ea"/>
          <a:cs typeface="+mn-cs"/>
        </a:defRPr>
      </a:lvl7pPr>
      <a:lvl8pPr marL="2880360" algn="l" defTabSz="411480" rtl="0" eaLnBrk="1" latinLnBrk="0" hangingPunct="1">
        <a:defRPr sz="1620" kern="1200">
          <a:solidFill>
            <a:schemeClr val="tx1"/>
          </a:solidFill>
          <a:latin typeface="+mn-lt"/>
          <a:ea typeface="+mn-ea"/>
          <a:cs typeface="+mn-cs"/>
        </a:defRPr>
      </a:lvl8pPr>
      <a:lvl9pPr marL="3291840" algn="l" defTabSz="411480" rtl="0" eaLnBrk="1" latinLnBrk="0" hangingPunct="1">
        <a:defRPr sz="16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6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56.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5091" y="158778"/>
            <a:ext cx="8001000" cy="1549772"/>
          </a:xfrm>
        </p:spPr>
        <p:txBody>
          <a:bodyPr>
            <a:normAutofit/>
          </a:bodyPr>
          <a:lstStyle/>
          <a:p>
            <a:r>
              <a:rPr lang="en-US" sz="3600" dirty="0"/>
              <a:t>GEOG </a:t>
            </a:r>
            <a:r>
              <a:rPr lang="en-US" altLang="zh-CN" sz="3600" dirty="0"/>
              <a:t>2475</a:t>
            </a:r>
            <a:r>
              <a:rPr lang="en-US" sz="3600" dirty="0"/>
              <a:t>: Geographic Information Systems I</a:t>
            </a:r>
          </a:p>
        </p:txBody>
      </p:sp>
      <p:sp>
        <p:nvSpPr>
          <p:cNvPr id="6" name="Subtitle 2"/>
          <p:cNvSpPr txBox="1">
            <a:spLocks/>
          </p:cNvSpPr>
          <p:nvPr/>
        </p:nvSpPr>
        <p:spPr>
          <a:xfrm>
            <a:off x="1257018" y="2967511"/>
            <a:ext cx="5760720" cy="1171497"/>
          </a:xfrm>
          <a:prstGeom prst="rect">
            <a:avLst/>
          </a:prstGeom>
        </p:spPr>
        <p:txBody>
          <a:bodyPr vert="horz" lIns="82296" tIns="41148" rIns="82296" bIns="41148" rtlCol="0">
            <a:normAutofit fontScale="25000" lnSpcReduction="20000"/>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8000" dirty="0">
                <a:solidFill>
                  <a:schemeClr val="tx1"/>
                </a:solidFill>
              </a:rPr>
              <a:t>Yaqian He, PhD</a:t>
            </a:r>
          </a:p>
          <a:p>
            <a:r>
              <a:rPr lang="en-US" sz="8000" dirty="0">
                <a:solidFill>
                  <a:schemeClr val="tx1"/>
                </a:solidFill>
              </a:rPr>
              <a:t>Assistant Professor</a:t>
            </a:r>
          </a:p>
          <a:p>
            <a:r>
              <a:rPr lang="en-US" sz="8000" dirty="0">
                <a:solidFill>
                  <a:schemeClr val="tx1"/>
                </a:solidFill>
              </a:rPr>
              <a:t>Department of Geography</a:t>
            </a:r>
          </a:p>
          <a:p>
            <a:endParaRPr lang="en-US" sz="2880" dirty="0"/>
          </a:p>
        </p:txBody>
      </p:sp>
      <p:cxnSp>
        <p:nvCxnSpPr>
          <p:cNvPr id="15" name="Straight Connector 14"/>
          <p:cNvCxnSpPr/>
          <p:nvPr/>
        </p:nvCxnSpPr>
        <p:spPr>
          <a:xfrm>
            <a:off x="152400" y="4182575"/>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2" name="矩形 11"/>
          <p:cNvSpPr/>
          <p:nvPr/>
        </p:nvSpPr>
        <p:spPr>
          <a:xfrm>
            <a:off x="2072922" y="4416072"/>
            <a:ext cx="279753" cy="481132"/>
          </a:xfrm>
          <a:prstGeom prst="rect">
            <a:avLst/>
          </a:prstGeom>
          <a:solidFill>
            <a:schemeClr val="bg1"/>
          </a:solidFill>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4" name="TextBox 3">
            <a:extLst>
              <a:ext uri="{FF2B5EF4-FFF2-40B4-BE49-F238E27FC236}">
                <a16:creationId xmlns:a16="http://schemas.microsoft.com/office/drawing/2014/main" id="{9C8852E4-0F7F-41A7-9B32-F40B4D3A753B}"/>
              </a:ext>
            </a:extLst>
          </p:cNvPr>
          <p:cNvSpPr txBox="1"/>
          <p:nvPr/>
        </p:nvSpPr>
        <p:spPr>
          <a:xfrm>
            <a:off x="-1" y="1708550"/>
            <a:ext cx="8196091" cy="646331"/>
          </a:xfrm>
          <a:prstGeom prst="rect">
            <a:avLst/>
          </a:prstGeom>
          <a:noFill/>
        </p:spPr>
        <p:txBody>
          <a:bodyPr wrap="square" rtlCol="0">
            <a:spAutoFit/>
          </a:bodyPr>
          <a:lstStyle/>
          <a:p>
            <a:pPr algn="ctr"/>
            <a:r>
              <a:rPr lang="en-US" sz="3600" dirty="0"/>
              <a:t>Lecture 07 Map Elements</a:t>
            </a:r>
          </a:p>
        </p:txBody>
      </p:sp>
      <p:pic>
        <p:nvPicPr>
          <p:cNvPr id="13" name="Picture 12">
            <a:extLst>
              <a:ext uri="{FF2B5EF4-FFF2-40B4-BE49-F238E27FC236}">
                <a16:creationId xmlns:a16="http://schemas.microsoft.com/office/drawing/2014/main" id="{AE401581-7A56-448D-8256-F61D9515AE30}"/>
              </a:ext>
            </a:extLst>
          </p:cNvPr>
          <p:cNvPicPr/>
          <p:nvPr/>
        </p:nvPicPr>
        <p:blipFill>
          <a:blip r:embed="rId3"/>
          <a:stretch>
            <a:fillRect/>
          </a:stretch>
        </p:blipFill>
        <p:spPr>
          <a:xfrm>
            <a:off x="152400" y="4275667"/>
            <a:ext cx="5915025" cy="758190"/>
          </a:xfrm>
          <a:prstGeom prst="rect">
            <a:avLst/>
          </a:prstGeom>
        </p:spPr>
      </p:pic>
    </p:spTree>
    <p:extLst>
      <p:ext uri="{BB962C8B-B14F-4D97-AF65-F5344CB8AC3E}">
        <p14:creationId xmlns:p14="http://schemas.microsoft.com/office/powerpoint/2010/main" val="38235061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type="body" idx="1"/>
          </p:nvPr>
        </p:nvSpPr>
        <p:spPr>
          <a:xfrm>
            <a:off x="302741" y="1029962"/>
            <a:ext cx="7679724" cy="3886200"/>
          </a:xfrm>
        </p:spPr>
        <p:txBody>
          <a:bodyPr>
            <a:normAutofit/>
          </a:bodyPr>
          <a:lstStyle/>
          <a:p>
            <a:pPr>
              <a:buFont typeface="Courier New" panose="02070309020205020404" pitchFamily="49" charset="0"/>
              <a:buChar char="o"/>
            </a:pPr>
            <a:r>
              <a:rPr lang="en-US" altLang="en-US" sz="2600" dirty="0"/>
              <a:t>Map Elements</a:t>
            </a:r>
          </a:p>
          <a:p>
            <a:pPr lvl="1">
              <a:buFont typeface="Wingdings" panose="05000000000000000000" pitchFamily="2" charset="2"/>
              <a:buChar char="ü"/>
            </a:pPr>
            <a:r>
              <a:rPr lang="en-US" sz="2440" dirty="0">
                <a:solidFill>
                  <a:srgbClr val="000000"/>
                </a:solidFill>
              </a:rPr>
              <a:t>F</a:t>
            </a:r>
            <a:r>
              <a:rPr lang="en-US" sz="2200" dirty="0">
                <a:solidFill>
                  <a:srgbClr val="000000"/>
                </a:solidFill>
              </a:rPr>
              <a:t>rame Line and Neat Line</a:t>
            </a:r>
          </a:p>
          <a:p>
            <a:pPr lvl="1">
              <a:buFont typeface="Wingdings" panose="05000000000000000000" pitchFamily="2" charset="2"/>
              <a:buChar char="ü"/>
            </a:pPr>
            <a:r>
              <a:rPr lang="en-US" sz="2200" dirty="0">
                <a:solidFill>
                  <a:srgbClr val="000000"/>
                </a:solidFill>
              </a:rPr>
              <a:t>Mapped Area</a:t>
            </a:r>
          </a:p>
          <a:p>
            <a:pPr lvl="1">
              <a:buFont typeface="Wingdings" panose="05000000000000000000" pitchFamily="2" charset="2"/>
              <a:buChar char="ü"/>
            </a:pPr>
            <a:r>
              <a:rPr lang="en-US" sz="2200" dirty="0">
                <a:solidFill>
                  <a:srgbClr val="000000"/>
                </a:solidFill>
              </a:rPr>
              <a:t>Inset</a:t>
            </a:r>
          </a:p>
          <a:p>
            <a:pPr lvl="1">
              <a:buFont typeface="Wingdings" panose="05000000000000000000" pitchFamily="2" charset="2"/>
              <a:buChar char="ü"/>
            </a:pPr>
            <a:r>
              <a:rPr lang="en-US" sz="2200" dirty="0">
                <a:solidFill>
                  <a:srgbClr val="000000"/>
                </a:solidFill>
              </a:rPr>
              <a:t>Title and Subtitle</a:t>
            </a:r>
          </a:p>
          <a:p>
            <a:pPr lvl="1">
              <a:buFont typeface="Wingdings" panose="05000000000000000000" pitchFamily="2" charset="2"/>
              <a:buChar char="ü"/>
            </a:pPr>
            <a:r>
              <a:rPr lang="en-US" sz="2200" dirty="0"/>
              <a:t>Legend</a:t>
            </a:r>
          </a:p>
          <a:p>
            <a:pPr lvl="1">
              <a:buFont typeface="Wingdings" panose="05000000000000000000" pitchFamily="2" charset="2"/>
              <a:buChar char="ü"/>
            </a:pPr>
            <a:r>
              <a:rPr lang="en-US" sz="2200" dirty="0"/>
              <a:t>Data Source</a:t>
            </a:r>
          </a:p>
          <a:p>
            <a:pPr lvl="1">
              <a:buFont typeface="Wingdings" panose="05000000000000000000" pitchFamily="2" charset="2"/>
              <a:buChar char="ü"/>
            </a:pPr>
            <a:r>
              <a:rPr lang="en-US" sz="2200" dirty="0"/>
              <a:t>Scale</a:t>
            </a:r>
          </a:p>
          <a:p>
            <a:pPr lvl="1">
              <a:buFont typeface="Wingdings" panose="05000000000000000000" pitchFamily="2" charset="2"/>
              <a:buChar char="ü"/>
            </a:pPr>
            <a:r>
              <a:rPr lang="en-US" sz="2200" dirty="0"/>
              <a:t>Orientation</a:t>
            </a:r>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Overview</a:t>
            </a:r>
            <a:endParaRPr lang="en-US" sz="2600" i="1" dirty="0">
              <a:solidFill>
                <a:srgbClr val="7030A0"/>
              </a:solidFill>
            </a:endParaRP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2</a:t>
            </a:fld>
            <a:endParaRPr lang="en-US"/>
          </a:p>
        </p:txBody>
      </p:sp>
    </p:spTree>
    <p:extLst>
      <p:ext uri="{BB962C8B-B14F-4D97-AF65-F5344CB8AC3E}">
        <p14:creationId xmlns:p14="http://schemas.microsoft.com/office/powerpoint/2010/main" val="5561392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noChangeArrowheads="1"/>
          </p:cNvSpPr>
          <p:nvPr>
            <p:ph idx="1"/>
          </p:nvPr>
        </p:nvSpPr>
        <p:spPr>
          <a:xfrm>
            <a:off x="337093" y="1028700"/>
            <a:ext cx="7724065" cy="3741896"/>
          </a:xfrm>
        </p:spPr>
        <p:txBody>
          <a:bodyPr>
            <a:normAutofit/>
          </a:bodyPr>
          <a:lstStyle/>
          <a:p>
            <a:pPr>
              <a:buFont typeface="Courier New" panose="02070309020205020404" pitchFamily="49" charset="0"/>
              <a:buChar char="o"/>
            </a:pPr>
            <a:r>
              <a:rPr lang="en-US" dirty="0"/>
              <a:t>The building blocks of </a:t>
            </a:r>
            <a:r>
              <a:rPr lang="en-US" i="1" dirty="0"/>
              <a:t>Cartographic Communication</a:t>
            </a:r>
          </a:p>
          <a:p>
            <a:pPr>
              <a:buFont typeface="Courier New" panose="02070309020205020404" pitchFamily="49" charset="0"/>
              <a:buChar char="o"/>
            </a:pPr>
            <a:r>
              <a:rPr lang="en-US" dirty="0"/>
              <a:t>All maps are created from a common set of map elements</a:t>
            </a:r>
          </a:p>
          <a:p>
            <a:pPr lvl="1" indent="-360045"/>
            <a:endParaRPr lang="en-US" dirty="0"/>
          </a:p>
        </p:txBody>
      </p:sp>
      <p:pic>
        <p:nvPicPr>
          <p:cNvPr id="9220" name="Picture 4" descr="Map with elements"/>
          <p:cNvPicPr>
            <a:picLocks noChangeAspect="1" noChangeArrowheads="1"/>
          </p:cNvPicPr>
          <p:nvPr/>
        </p:nvPicPr>
        <p:blipFill>
          <a:blip r:embed="rId2" cstate="print"/>
          <a:srcRect/>
          <a:stretch>
            <a:fillRect/>
          </a:stretch>
        </p:blipFill>
        <p:spPr bwMode="auto">
          <a:xfrm>
            <a:off x="2908929" y="2675863"/>
            <a:ext cx="3003589" cy="2209562"/>
          </a:xfrm>
          <a:prstGeom prst="rect">
            <a:avLst/>
          </a:prstGeom>
          <a:noFill/>
          <a:ln w="9525">
            <a:noFill/>
            <a:miter lim="800000"/>
            <a:headEnd/>
            <a:tailEnd/>
          </a:ln>
        </p:spPr>
      </p:pic>
      <p:sp>
        <p:nvSpPr>
          <p:cNvPr id="9221" name="Rectangle 5"/>
          <p:cNvSpPr>
            <a:spLocks noChangeArrowheads="1"/>
          </p:cNvSpPr>
          <p:nvPr/>
        </p:nvSpPr>
        <p:spPr bwMode="auto">
          <a:xfrm>
            <a:off x="3157043" y="4897279"/>
            <a:ext cx="644728" cy="246221"/>
          </a:xfrm>
          <a:prstGeom prst="rect">
            <a:avLst/>
          </a:prstGeom>
          <a:noFill/>
          <a:ln w="9525" algn="ctr">
            <a:noFill/>
            <a:miter lim="800000"/>
            <a:headEnd/>
            <a:tailEnd/>
          </a:ln>
        </p:spPr>
        <p:txBody>
          <a:bodyPr wrap="none">
            <a:spAutoFit/>
          </a:bodyPr>
          <a:lstStyle/>
          <a:p>
            <a:r>
              <a:rPr lang="en-US" sz="1000" dirty="0" err="1">
                <a:solidFill>
                  <a:srgbClr val="7030A0"/>
                </a:solidFill>
              </a:rPr>
              <a:t>GeoTech</a:t>
            </a:r>
            <a:endParaRPr lang="en-US" sz="1000" dirty="0">
              <a:solidFill>
                <a:srgbClr val="7030A0"/>
              </a:solidFill>
            </a:endParaRPr>
          </a:p>
        </p:txBody>
      </p:sp>
      <p:sp>
        <p:nvSpPr>
          <p:cNvPr id="6" name="Title 1">
            <a:extLst>
              <a:ext uri="{FF2B5EF4-FFF2-40B4-BE49-F238E27FC236}">
                <a16:creationId xmlns:a16="http://schemas.microsoft.com/office/drawing/2014/main" id="{61C90064-EC61-4936-81F1-D1A4764C2906}"/>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Map Elements</a:t>
            </a:r>
          </a:p>
        </p:txBody>
      </p:sp>
      <p:cxnSp>
        <p:nvCxnSpPr>
          <p:cNvPr id="7" name="Straight Connector 6">
            <a:extLst>
              <a:ext uri="{FF2B5EF4-FFF2-40B4-BE49-F238E27FC236}">
                <a16:creationId xmlns:a16="http://schemas.microsoft.com/office/drawing/2014/main" id="{C68461E0-CACD-4A20-BCB6-AADDF52384AC}"/>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B8E963D4-3A98-45ED-B54D-5E680AB81E37}"/>
              </a:ext>
            </a:extLst>
          </p:cNvPr>
          <p:cNvSpPr>
            <a:spLocks noGrp="1"/>
          </p:cNvSpPr>
          <p:nvPr>
            <p:ph type="sldNum" sz="quarter" idx="12"/>
          </p:nvPr>
        </p:nvSpPr>
        <p:spPr/>
        <p:txBody>
          <a:bodyPr/>
          <a:lstStyle/>
          <a:p>
            <a:fld id="{127DDC20-79C9-9647-820E-6D40A3D210C3}"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idx="1"/>
          </p:nvPr>
        </p:nvSpPr>
        <p:spPr>
          <a:xfrm>
            <a:off x="152400" y="1005649"/>
            <a:ext cx="7788442" cy="3951361"/>
          </a:xfrm>
        </p:spPr>
        <p:txBody>
          <a:bodyPr>
            <a:normAutofit/>
          </a:bodyPr>
          <a:lstStyle/>
          <a:p>
            <a:pPr>
              <a:buFont typeface="Courier New" panose="02070309020205020404" pitchFamily="49" charset="0"/>
              <a:buChar char="o"/>
            </a:pPr>
            <a:r>
              <a:rPr lang="en-US" sz="2000" dirty="0">
                <a:solidFill>
                  <a:srgbClr val="000000"/>
                </a:solidFill>
              </a:rPr>
              <a:t>Available Space</a:t>
            </a:r>
          </a:p>
          <a:p>
            <a:pPr marL="765810" lvl="1" indent="-457200">
              <a:buFont typeface="Wingdings" panose="05000000000000000000" pitchFamily="2" charset="2"/>
              <a:buChar char="ü"/>
            </a:pPr>
            <a:r>
              <a:rPr lang="en-US" sz="1900" dirty="0"/>
              <a:t>Areas on a page or screen that can be used to place map elements </a:t>
            </a:r>
          </a:p>
          <a:p>
            <a:pPr marL="765810" lvl="1" indent="-457200">
              <a:buFont typeface="Wingdings" panose="05000000000000000000" pitchFamily="2" charset="2"/>
              <a:buChar char="ü"/>
            </a:pPr>
            <a:r>
              <a:rPr lang="en-US" sz="1900" dirty="0"/>
              <a:t>“White Space”</a:t>
            </a:r>
          </a:p>
          <a:p>
            <a:pPr>
              <a:buFont typeface="Courier New" panose="02070309020205020404" pitchFamily="49" charset="0"/>
              <a:buChar char="o"/>
            </a:pPr>
            <a:r>
              <a:rPr lang="en-US" sz="2000" dirty="0"/>
              <a:t>The cartographer constantly evaluates the relationship between map elements and available space</a:t>
            </a:r>
          </a:p>
          <a:p>
            <a:pPr marL="765810" lvl="1" indent="-457200">
              <a:buFont typeface="Wingdings" panose="05000000000000000000" pitchFamily="2" charset="2"/>
              <a:buChar char="ü"/>
            </a:pPr>
            <a:r>
              <a:rPr lang="en-US" sz="1900" dirty="0"/>
              <a:t>Map elements are usually </a:t>
            </a:r>
            <a:r>
              <a:rPr lang="en-US" sz="1900" i="1" dirty="0"/>
              <a:t>visually centered </a:t>
            </a:r>
            <a:r>
              <a:rPr lang="en-US" sz="1900" dirty="0"/>
              <a:t>within appropriate areas of available space</a:t>
            </a:r>
          </a:p>
          <a:p>
            <a:pPr>
              <a:buFont typeface="Courier New" panose="02070309020205020404" pitchFamily="49" charset="0"/>
              <a:buChar char="o"/>
            </a:pPr>
            <a:r>
              <a:rPr lang="en-US" sz="2000" dirty="0">
                <a:solidFill>
                  <a:srgbClr val="000000"/>
                </a:solidFill>
              </a:rPr>
              <a:t>It is the cartographer’s job to make all decisions regarding map elements</a:t>
            </a:r>
          </a:p>
          <a:p>
            <a:pPr marL="765810" lvl="1" indent="-457200">
              <a:buFont typeface="Wingdings" panose="05000000000000000000" pitchFamily="2" charset="2"/>
              <a:buChar char="ü"/>
            </a:pPr>
            <a:r>
              <a:rPr lang="en-US" sz="1800" dirty="0"/>
              <a:t>Which to include, and which to omit</a:t>
            </a:r>
          </a:p>
          <a:p>
            <a:pPr marL="765810" lvl="1" indent="-457200">
              <a:buFont typeface="Wingdings" panose="05000000000000000000" pitchFamily="2" charset="2"/>
              <a:buChar char="ü"/>
            </a:pPr>
            <a:r>
              <a:rPr lang="en-US" sz="1800" dirty="0"/>
              <a:t>How to implement them in the most appropriate manner</a:t>
            </a:r>
          </a:p>
        </p:txBody>
      </p:sp>
      <p:sp>
        <p:nvSpPr>
          <p:cNvPr id="3" name="Title 1">
            <a:extLst>
              <a:ext uri="{FF2B5EF4-FFF2-40B4-BE49-F238E27FC236}">
                <a16:creationId xmlns:a16="http://schemas.microsoft.com/office/drawing/2014/main" id="{39B1EC4B-3BEA-4E1B-9681-9E6C8722E143}"/>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Map Elements</a:t>
            </a:r>
          </a:p>
        </p:txBody>
      </p:sp>
      <p:cxnSp>
        <p:nvCxnSpPr>
          <p:cNvPr id="4" name="Straight Connector 3">
            <a:extLst>
              <a:ext uri="{FF2B5EF4-FFF2-40B4-BE49-F238E27FC236}">
                <a16:creationId xmlns:a16="http://schemas.microsoft.com/office/drawing/2014/main" id="{C68925C9-148D-43E0-8D2C-1FD325DE4E24}"/>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84EA90F4-CC29-4B32-8358-AFE7A71E20E9}"/>
              </a:ext>
            </a:extLst>
          </p:cNvPr>
          <p:cNvSpPr>
            <a:spLocks noGrp="1"/>
          </p:cNvSpPr>
          <p:nvPr>
            <p:ph type="sldNum" sz="quarter" idx="12"/>
          </p:nvPr>
        </p:nvSpPr>
        <p:spPr/>
        <p:txBody>
          <a:bodyPr/>
          <a:lstStyle/>
          <a:p>
            <a:fld id="{127DDC20-79C9-9647-820E-6D40A3D210C3}" type="slidenum">
              <a:rPr lang="en-US" smtClean="0"/>
              <a:pPr/>
              <a:t>4</a:t>
            </a:fld>
            <a:endParaRPr lang="en-US"/>
          </a:p>
        </p:txBody>
      </p:sp>
    </p:spTree>
    <p:extLst>
      <p:ext uri="{BB962C8B-B14F-4D97-AF65-F5344CB8AC3E}">
        <p14:creationId xmlns:p14="http://schemas.microsoft.com/office/powerpoint/2010/main" val="25143186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Map with elements"/>
          <p:cNvPicPr>
            <a:picLocks noChangeAspect="1"/>
          </p:cNvPicPr>
          <p:nvPr/>
        </p:nvPicPr>
        <p:blipFill>
          <a:blip r:embed="rId3"/>
          <a:stretch>
            <a:fillRect/>
          </a:stretch>
        </p:blipFill>
        <p:spPr>
          <a:xfrm>
            <a:off x="1226059" y="1155415"/>
            <a:ext cx="2537849" cy="3189357"/>
          </a:xfrm>
          <a:prstGeom prst="rect">
            <a:avLst/>
          </a:prstGeom>
        </p:spPr>
      </p:pic>
      <p:pic>
        <p:nvPicPr>
          <p:cNvPr id="2" name="Picture 1" descr="Map with elements"/>
          <p:cNvPicPr>
            <a:picLocks noChangeAspect="1"/>
          </p:cNvPicPr>
          <p:nvPr/>
        </p:nvPicPr>
        <p:blipFill>
          <a:blip r:embed="rId4"/>
          <a:stretch>
            <a:fillRect/>
          </a:stretch>
        </p:blipFill>
        <p:spPr>
          <a:xfrm>
            <a:off x="4253030" y="1155415"/>
            <a:ext cx="2525765" cy="3188635"/>
          </a:xfrm>
          <a:prstGeom prst="rect">
            <a:avLst/>
          </a:prstGeom>
          <a:ln>
            <a:solidFill>
              <a:schemeClr val="tx1"/>
            </a:solidFill>
          </a:ln>
        </p:spPr>
      </p:pic>
      <p:sp>
        <p:nvSpPr>
          <p:cNvPr id="7" name="Title 1">
            <a:extLst>
              <a:ext uri="{FF2B5EF4-FFF2-40B4-BE49-F238E27FC236}">
                <a16:creationId xmlns:a16="http://schemas.microsoft.com/office/drawing/2014/main" id="{5935AEE5-6193-47F9-BAB9-FB3F627C7F5C}"/>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Map Elements</a:t>
            </a:r>
          </a:p>
        </p:txBody>
      </p:sp>
      <p:cxnSp>
        <p:nvCxnSpPr>
          <p:cNvPr id="8" name="Straight Connector 7">
            <a:extLst>
              <a:ext uri="{FF2B5EF4-FFF2-40B4-BE49-F238E27FC236}">
                <a16:creationId xmlns:a16="http://schemas.microsoft.com/office/drawing/2014/main" id="{E03287F7-8994-477D-9FAD-D17D4F823720}"/>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3D7A37AF-67E9-4E2D-8501-F4FE1F453639}"/>
              </a:ext>
            </a:extLst>
          </p:cNvPr>
          <p:cNvSpPr txBox="1"/>
          <p:nvPr/>
        </p:nvSpPr>
        <p:spPr>
          <a:xfrm>
            <a:off x="81216" y="1925419"/>
            <a:ext cx="1311442" cy="646331"/>
          </a:xfrm>
          <a:prstGeom prst="rect">
            <a:avLst/>
          </a:prstGeom>
          <a:noFill/>
        </p:spPr>
        <p:txBody>
          <a:bodyPr wrap="square" rtlCol="0">
            <a:spAutoFit/>
          </a:bodyPr>
          <a:lstStyle/>
          <a:p>
            <a:r>
              <a:rPr lang="en-US" dirty="0">
                <a:solidFill>
                  <a:srgbClr val="FF0000"/>
                </a:solidFill>
              </a:rPr>
              <a:t>Which one is better?</a:t>
            </a:r>
          </a:p>
        </p:txBody>
      </p:sp>
      <p:sp>
        <p:nvSpPr>
          <p:cNvPr id="5" name="Slide Number Placeholder 4">
            <a:extLst>
              <a:ext uri="{FF2B5EF4-FFF2-40B4-BE49-F238E27FC236}">
                <a16:creationId xmlns:a16="http://schemas.microsoft.com/office/drawing/2014/main" id="{0BDEDF0D-6CAA-471E-99E0-A8F7467775D0}"/>
              </a:ext>
            </a:extLst>
          </p:cNvPr>
          <p:cNvSpPr>
            <a:spLocks noGrp="1"/>
          </p:cNvSpPr>
          <p:nvPr>
            <p:ph type="sldNum" sz="quarter" idx="12"/>
          </p:nvPr>
        </p:nvSpPr>
        <p:spPr/>
        <p:txBody>
          <a:bodyPr/>
          <a:lstStyle/>
          <a:p>
            <a:fld id="{127DDC20-79C9-9647-820E-6D40A3D210C3}" type="slidenum">
              <a:rPr lang="en-US" smtClean="0"/>
              <a:pPr/>
              <a:t>5</a:t>
            </a:fld>
            <a:endParaRPr lang="en-US"/>
          </a:p>
        </p:txBody>
      </p:sp>
    </p:spTree>
    <p:extLst>
      <p:ext uri="{BB962C8B-B14F-4D97-AF65-F5344CB8AC3E}">
        <p14:creationId xmlns:p14="http://schemas.microsoft.com/office/powerpoint/2010/main" val="24290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idx="1"/>
          </p:nvPr>
        </p:nvSpPr>
        <p:spPr>
          <a:xfrm>
            <a:off x="288759" y="1028700"/>
            <a:ext cx="6531738" cy="3741896"/>
          </a:xfrm>
        </p:spPr>
        <p:txBody>
          <a:bodyPr>
            <a:normAutofit fontScale="92500" lnSpcReduction="10000"/>
          </a:bodyPr>
          <a:lstStyle/>
          <a:p>
            <a:pPr marL="411480" indent="-411480">
              <a:buFontTx/>
              <a:buAutoNum type="arabicPeriod"/>
            </a:pPr>
            <a:r>
              <a:rPr lang="en-US" dirty="0">
                <a:solidFill>
                  <a:srgbClr val="000000"/>
                </a:solidFill>
              </a:rPr>
              <a:t>Frame Line and Neat Line</a:t>
            </a:r>
          </a:p>
          <a:p>
            <a:pPr marL="411480" indent="-411480">
              <a:buFontTx/>
              <a:buAutoNum type="arabicPeriod"/>
            </a:pPr>
            <a:r>
              <a:rPr lang="en-US" dirty="0">
                <a:solidFill>
                  <a:srgbClr val="000000"/>
                </a:solidFill>
              </a:rPr>
              <a:t>Mapped Area</a:t>
            </a:r>
          </a:p>
          <a:p>
            <a:pPr marL="411480" indent="-411480">
              <a:buFontTx/>
              <a:buAutoNum type="arabicPeriod"/>
            </a:pPr>
            <a:r>
              <a:rPr lang="en-US" dirty="0">
                <a:solidFill>
                  <a:srgbClr val="000000"/>
                </a:solidFill>
              </a:rPr>
              <a:t>Inset</a:t>
            </a:r>
          </a:p>
          <a:p>
            <a:pPr marL="411480" indent="-411480">
              <a:buFontTx/>
              <a:buAutoNum type="arabicPeriod"/>
            </a:pPr>
            <a:r>
              <a:rPr lang="en-US" dirty="0">
                <a:solidFill>
                  <a:srgbClr val="000000"/>
                </a:solidFill>
              </a:rPr>
              <a:t>Title and Subtitle</a:t>
            </a:r>
          </a:p>
          <a:p>
            <a:pPr marL="411480" indent="-411480">
              <a:buFontTx/>
              <a:buAutoNum type="arabicPeriod"/>
            </a:pPr>
            <a:r>
              <a:rPr lang="en-US" dirty="0">
                <a:solidFill>
                  <a:srgbClr val="000000"/>
                </a:solidFill>
              </a:rPr>
              <a:t>Legend</a:t>
            </a:r>
          </a:p>
          <a:p>
            <a:pPr marL="411480" indent="-411480">
              <a:buFontTx/>
              <a:buAutoNum type="arabicPeriod"/>
            </a:pPr>
            <a:r>
              <a:rPr lang="en-US" dirty="0">
                <a:solidFill>
                  <a:srgbClr val="000000"/>
                </a:solidFill>
              </a:rPr>
              <a:t>Data Source</a:t>
            </a:r>
          </a:p>
          <a:p>
            <a:pPr marL="411480" indent="-411480">
              <a:buFontTx/>
              <a:buAutoNum type="arabicPeriod"/>
            </a:pPr>
            <a:r>
              <a:rPr lang="en-US" dirty="0">
                <a:solidFill>
                  <a:srgbClr val="000000"/>
                </a:solidFill>
              </a:rPr>
              <a:t>Scale</a:t>
            </a:r>
          </a:p>
          <a:p>
            <a:pPr marL="411480" indent="-411480">
              <a:buFontTx/>
              <a:buAutoNum type="arabicPeriod"/>
            </a:pPr>
            <a:r>
              <a:rPr lang="en-US" dirty="0">
                <a:solidFill>
                  <a:srgbClr val="000000"/>
                </a:solidFill>
              </a:rPr>
              <a:t>Orientation</a:t>
            </a:r>
          </a:p>
        </p:txBody>
      </p:sp>
      <p:sp>
        <p:nvSpPr>
          <p:cNvPr id="487428" name="Text Box 4"/>
          <p:cNvSpPr txBox="1">
            <a:spLocks noChangeArrowheads="1"/>
          </p:cNvSpPr>
          <p:nvPr/>
        </p:nvSpPr>
        <p:spPr bwMode="auto">
          <a:xfrm>
            <a:off x="5156359" y="2149555"/>
            <a:ext cx="2784477" cy="300082"/>
          </a:xfrm>
          <a:prstGeom prst="rect">
            <a:avLst/>
          </a:prstGeom>
          <a:noFill/>
          <a:ln w="9525" algn="ctr">
            <a:noFill/>
            <a:miter lim="800000"/>
            <a:headEnd/>
            <a:tailEnd/>
          </a:ln>
        </p:spPr>
        <p:txBody>
          <a:bodyPr wrap="square">
            <a:spAutoFit/>
          </a:bodyPr>
          <a:lstStyle/>
          <a:p>
            <a:r>
              <a:rPr lang="en-US" sz="1350" b="1"/>
              <a:t>Decrease in size</a:t>
            </a:r>
            <a:r>
              <a:rPr lang="en-US" sz="1350"/>
              <a:t> from top to bottom</a:t>
            </a:r>
          </a:p>
        </p:txBody>
      </p:sp>
      <p:sp>
        <p:nvSpPr>
          <p:cNvPr id="487429" name="Text Box 5"/>
          <p:cNvSpPr txBox="1">
            <a:spLocks noChangeArrowheads="1"/>
          </p:cNvSpPr>
          <p:nvPr/>
        </p:nvSpPr>
        <p:spPr bwMode="auto">
          <a:xfrm>
            <a:off x="5084565" y="2760346"/>
            <a:ext cx="2784473" cy="507831"/>
          </a:xfrm>
          <a:prstGeom prst="rect">
            <a:avLst/>
          </a:prstGeom>
          <a:noFill/>
          <a:ln w="9525" algn="ctr">
            <a:noFill/>
            <a:miter lim="800000"/>
            <a:headEnd/>
            <a:tailEnd/>
          </a:ln>
        </p:spPr>
        <p:txBody>
          <a:bodyPr wrap="square">
            <a:spAutoFit/>
          </a:bodyPr>
          <a:lstStyle/>
          <a:p>
            <a:r>
              <a:rPr lang="en-US" sz="1350" b="1" dirty="0"/>
              <a:t>Listed in the recommended order</a:t>
            </a:r>
            <a:r>
              <a:rPr lang="en-US" sz="1350" dirty="0"/>
              <a:t> of placement: larger first, smaller last</a:t>
            </a:r>
          </a:p>
        </p:txBody>
      </p:sp>
      <p:sp>
        <p:nvSpPr>
          <p:cNvPr id="487430" name="Line 6"/>
          <p:cNvSpPr>
            <a:spLocks noChangeShapeType="1"/>
          </p:cNvSpPr>
          <p:nvPr/>
        </p:nvSpPr>
        <p:spPr bwMode="auto">
          <a:xfrm>
            <a:off x="4878824" y="1683425"/>
            <a:ext cx="0" cy="2288858"/>
          </a:xfrm>
          <a:prstGeom prst="line">
            <a:avLst/>
          </a:prstGeom>
          <a:noFill/>
          <a:ln w="28575">
            <a:solidFill>
              <a:schemeClr val="tx1"/>
            </a:solidFill>
            <a:round/>
            <a:headEnd/>
            <a:tailEnd type="triangle" w="lg" len="lg"/>
          </a:ln>
        </p:spPr>
        <p:txBody>
          <a:bodyPr>
            <a:spAutoFit/>
          </a:bodyPr>
          <a:lstStyle/>
          <a:p>
            <a:endParaRPr lang="en-US" sz="1215"/>
          </a:p>
        </p:txBody>
      </p:sp>
      <p:sp>
        <p:nvSpPr>
          <p:cNvPr id="7" name="Title 1">
            <a:extLst>
              <a:ext uri="{FF2B5EF4-FFF2-40B4-BE49-F238E27FC236}">
                <a16:creationId xmlns:a16="http://schemas.microsoft.com/office/drawing/2014/main" id="{692F6B6A-6CC5-42A1-93C6-42BCC6AB0E57}"/>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Map Elements</a:t>
            </a:r>
          </a:p>
        </p:txBody>
      </p:sp>
      <p:cxnSp>
        <p:nvCxnSpPr>
          <p:cNvPr id="8" name="Straight Connector 7">
            <a:extLst>
              <a:ext uri="{FF2B5EF4-FFF2-40B4-BE49-F238E27FC236}">
                <a16:creationId xmlns:a16="http://schemas.microsoft.com/office/drawing/2014/main" id="{946769C9-39F6-4A1C-A03C-9981BA34A8C7}"/>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4D0896C0-6726-46E6-8CD1-C1742E44D802}"/>
              </a:ext>
            </a:extLst>
          </p:cNvPr>
          <p:cNvSpPr>
            <a:spLocks noGrp="1"/>
          </p:cNvSpPr>
          <p:nvPr>
            <p:ph type="sldNum" sz="quarter" idx="12"/>
          </p:nvPr>
        </p:nvSpPr>
        <p:spPr/>
        <p:txBody>
          <a:bodyPr/>
          <a:lstStyle/>
          <a:p>
            <a:fld id="{127DDC20-79C9-9647-820E-6D40A3D210C3}" type="slidenum">
              <a:rPr lang="en-US" smtClean="0"/>
              <a:pPr/>
              <a:t>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74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8742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874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7428" grpId="0"/>
      <p:bldP spid="487429" grpId="0"/>
      <p:bldP spid="48743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Grp="1" noChangeArrowheads="1"/>
          </p:cNvSpPr>
          <p:nvPr>
            <p:ph idx="1"/>
          </p:nvPr>
        </p:nvSpPr>
        <p:spPr>
          <a:xfrm>
            <a:off x="264695" y="1028700"/>
            <a:ext cx="7555831" cy="3741896"/>
          </a:xfrm>
        </p:spPr>
        <p:txBody>
          <a:bodyPr>
            <a:normAutofit fontScale="92500"/>
          </a:bodyPr>
          <a:lstStyle/>
          <a:p>
            <a:pPr>
              <a:buFont typeface="Courier New" panose="02070309020205020404" pitchFamily="49" charset="0"/>
              <a:buChar char="o"/>
            </a:pPr>
            <a:r>
              <a:rPr lang="en-US" dirty="0"/>
              <a:t>Alignment and centering of map features is a common task</a:t>
            </a:r>
          </a:p>
          <a:p>
            <a:pPr>
              <a:buFont typeface="Courier New" panose="02070309020205020404" pitchFamily="49" charset="0"/>
              <a:buChar char="o"/>
            </a:pPr>
            <a:r>
              <a:rPr lang="en-US" dirty="0"/>
              <a:t>Can be performed through “visual approximation”</a:t>
            </a:r>
          </a:p>
          <a:p>
            <a:pPr marL="765810" lvl="1" indent="-457200">
              <a:buFont typeface="Wingdings" panose="05000000000000000000" pitchFamily="2" charset="2"/>
              <a:buChar char="ü"/>
            </a:pPr>
            <a:r>
              <a:rPr lang="en-US" dirty="0"/>
              <a:t>Features </a:t>
            </a:r>
            <a:r>
              <a:rPr lang="en-US" i="1" dirty="0"/>
              <a:t>look</a:t>
            </a:r>
            <a:r>
              <a:rPr lang="en-US" dirty="0"/>
              <a:t> properly aligned or centered</a:t>
            </a:r>
          </a:p>
          <a:p>
            <a:pPr>
              <a:buFont typeface="Courier New" panose="02070309020205020404" pitchFamily="49" charset="0"/>
              <a:buChar char="o"/>
            </a:pPr>
            <a:r>
              <a:rPr lang="en-US" dirty="0"/>
              <a:t>Can also be performed through precise measurement</a:t>
            </a:r>
          </a:p>
          <a:p>
            <a:pPr marL="765810" lvl="1" indent="-457200">
              <a:buFont typeface="Wingdings" panose="05000000000000000000" pitchFamily="2" charset="2"/>
              <a:buChar char="ü"/>
            </a:pPr>
            <a:r>
              <a:rPr lang="en-US" dirty="0"/>
              <a:t>Features are</a:t>
            </a:r>
            <a:r>
              <a:rPr lang="en-US" i="1" dirty="0"/>
              <a:t> exactly</a:t>
            </a:r>
            <a:r>
              <a:rPr lang="en-US" dirty="0"/>
              <a:t> aligned or centered, using software controls</a:t>
            </a:r>
          </a:p>
          <a:p>
            <a:pPr lvl="1" indent="-360045"/>
            <a:endParaRPr lang="en-US" dirty="0"/>
          </a:p>
        </p:txBody>
      </p:sp>
      <p:sp>
        <p:nvSpPr>
          <p:cNvPr id="4" name="Title 1">
            <a:extLst>
              <a:ext uri="{FF2B5EF4-FFF2-40B4-BE49-F238E27FC236}">
                <a16:creationId xmlns:a16="http://schemas.microsoft.com/office/drawing/2014/main" id="{4CCCEB4B-5960-41E0-A47C-C578B32FD7F5}"/>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Alignment and Centering</a:t>
            </a:r>
          </a:p>
        </p:txBody>
      </p:sp>
      <p:cxnSp>
        <p:nvCxnSpPr>
          <p:cNvPr id="5" name="Straight Connector 4">
            <a:extLst>
              <a:ext uri="{FF2B5EF4-FFF2-40B4-BE49-F238E27FC236}">
                <a16:creationId xmlns:a16="http://schemas.microsoft.com/office/drawing/2014/main" id="{2411A85E-E2AD-433B-B29C-C756CF26BEEE}"/>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DBE8DC01-A59D-43AE-9E89-102E249C9F1A}"/>
              </a:ext>
            </a:extLst>
          </p:cNvPr>
          <p:cNvSpPr>
            <a:spLocks noGrp="1"/>
          </p:cNvSpPr>
          <p:nvPr>
            <p:ph type="sldNum" sz="quarter" idx="12"/>
          </p:nvPr>
        </p:nvSpPr>
        <p:spPr/>
        <p:txBody>
          <a:bodyPr/>
          <a:lstStyle/>
          <a:p>
            <a:fld id="{127DDC20-79C9-9647-820E-6D40A3D210C3}" type="slidenum">
              <a:rPr lang="en-US" smtClean="0"/>
              <a:pPr/>
              <a:t>7</a:t>
            </a:fld>
            <a:endParaRPr lang="en-US"/>
          </a:p>
        </p:txBody>
      </p:sp>
    </p:spTree>
    <p:extLst>
      <p:ext uri="{BB962C8B-B14F-4D97-AF65-F5344CB8AC3E}">
        <p14:creationId xmlns:p14="http://schemas.microsoft.com/office/powerpoint/2010/main" val="145929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idx="1"/>
          </p:nvPr>
        </p:nvSpPr>
        <p:spPr>
          <a:xfrm>
            <a:off x="188343" y="922910"/>
            <a:ext cx="7852914" cy="3741896"/>
          </a:xfrm>
        </p:spPr>
        <p:txBody>
          <a:bodyPr/>
          <a:lstStyle/>
          <a:p>
            <a:pPr>
              <a:buFont typeface="Courier New" panose="02070309020205020404" pitchFamily="49" charset="0"/>
              <a:buChar char="o"/>
            </a:pPr>
            <a:r>
              <a:rPr lang="en-US" dirty="0"/>
              <a:t>It is important to understand the terminology</a:t>
            </a:r>
          </a:p>
          <a:p>
            <a:pPr marL="765810" lvl="1" indent="-457200">
              <a:buFont typeface="Wingdings" panose="05000000000000000000" pitchFamily="2" charset="2"/>
              <a:buChar char="ü"/>
            </a:pPr>
            <a:r>
              <a:rPr lang="en-US" dirty="0"/>
              <a:t>Horizontal and vertical are often confused</a:t>
            </a:r>
          </a:p>
        </p:txBody>
      </p:sp>
      <p:pic>
        <p:nvPicPr>
          <p:cNvPr id="5124" name="Picture 4"/>
          <p:cNvPicPr>
            <a:picLocks noChangeAspect="1" noChangeArrowheads="1"/>
          </p:cNvPicPr>
          <p:nvPr/>
        </p:nvPicPr>
        <p:blipFill>
          <a:blip r:embed="rId2" cstate="print"/>
          <a:srcRect/>
          <a:stretch>
            <a:fillRect/>
          </a:stretch>
        </p:blipFill>
        <p:spPr bwMode="auto">
          <a:xfrm>
            <a:off x="693301" y="1909382"/>
            <a:ext cx="3421499" cy="2536389"/>
          </a:xfrm>
          <a:prstGeom prst="rect">
            <a:avLst/>
          </a:prstGeom>
          <a:noFill/>
          <a:ln w="9525">
            <a:noFill/>
            <a:miter lim="800000"/>
            <a:headEnd/>
            <a:tailEnd/>
          </a:ln>
        </p:spPr>
      </p:pic>
      <p:sp>
        <p:nvSpPr>
          <p:cNvPr id="5125" name="Text Box 6"/>
          <p:cNvSpPr txBox="1">
            <a:spLocks noChangeArrowheads="1"/>
          </p:cNvSpPr>
          <p:nvPr/>
        </p:nvSpPr>
        <p:spPr bwMode="auto">
          <a:xfrm>
            <a:off x="780184" y="4445771"/>
            <a:ext cx="3247732" cy="507831"/>
          </a:xfrm>
          <a:prstGeom prst="rect">
            <a:avLst/>
          </a:prstGeom>
          <a:noFill/>
          <a:ln w="9525" algn="ctr">
            <a:noFill/>
            <a:miter lim="800000"/>
            <a:headEnd/>
            <a:tailEnd/>
          </a:ln>
        </p:spPr>
        <p:txBody>
          <a:bodyPr wrap="square">
            <a:spAutoFit/>
          </a:bodyPr>
          <a:lstStyle/>
          <a:p>
            <a:r>
              <a:rPr lang="en-US" sz="1350" b="1" dirty="0"/>
              <a:t>Horizontal</a:t>
            </a:r>
            <a:r>
              <a:rPr lang="en-US" sz="1350" dirty="0"/>
              <a:t> </a:t>
            </a:r>
          </a:p>
          <a:p>
            <a:r>
              <a:rPr lang="en-US" sz="1350" dirty="0"/>
              <a:t>(Side-to-Side) Alignment and Centering</a:t>
            </a:r>
          </a:p>
        </p:txBody>
      </p:sp>
      <p:pic>
        <p:nvPicPr>
          <p:cNvPr id="7" name="Picture 6"/>
          <p:cNvPicPr>
            <a:picLocks noChangeAspect="1" noChangeArrowheads="1"/>
          </p:cNvPicPr>
          <p:nvPr/>
        </p:nvPicPr>
        <p:blipFill>
          <a:blip r:embed="rId3" cstate="print"/>
          <a:srcRect/>
          <a:stretch>
            <a:fillRect/>
          </a:stretch>
        </p:blipFill>
        <p:spPr bwMode="auto">
          <a:xfrm>
            <a:off x="4253820" y="1909382"/>
            <a:ext cx="3659564" cy="2536389"/>
          </a:xfrm>
          <a:prstGeom prst="rect">
            <a:avLst/>
          </a:prstGeom>
          <a:noFill/>
          <a:ln w="9525">
            <a:noFill/>
            <a:miter lim="800000"/>
            <a:headEnd/>
            <a:tailEnd/>
          </a:ln>
        </p:spPr>
      </p:pic>
      <p:sp>
        <p:nvSpPr>
          <p:cNvPr id="8" name="Text Box 7"/>
          <p:cNvSpPr txBox="1">
            <a:spLocks noChangeArrowheads="1"/>
          </p:cNvSpPr>
          <p:nvPr/>
        </p:nvSpPr>
        <p:spPr bwMode="auto">
          <a:xfrm>
            <a:off x="4549181" y="4528503"/>
            <a:ext cx="3364203" cy="507831"/>
          </a:xfrm>
          <a:prstGeom prst="rect">
            <a:avLst/>
          </a:prstGeom>
          <a:noFill/>
          <a:ln w="9525" algn="ctr">
            <a:noFill/>
            <a:miter lim="800000"/>
            <a:headEnd/>
            <a:tailEnd/>
          </a:ln>
        </p:spPr>
        <p:txBody>
          <a:bodyPr wrap="square">
            <a:spAutoFit/>
          </a:bodyPr>
          <a:lstStyle/>
          <a:p>
            <a:r>
              <a:rPr lang="en-US" sz="1350" b="1" dirty="0"/>
              <a:t>Vertical</a:t>
            </a:r>
          </a:p>
          <a:p>
            <a:r>
              <a:rPr lang="en-US" sz="1350" dirty="0"/>
              <a:t>(Top-to-Bottom) Alignment and Centering</a:t>
            </a:r>
          </a:p>
        </p:txBody>
      </p:sp>
      <p:sp>
        <p:nvSpPr>
          <p:cNvPr id="9" name="Title 1">
            <a:extLst>
              <a:ext uri="{FF2B5EF4-FFF2-40B4-BE49-F238E27FC236}">
                <a16:creationId xmlns:a16="http://schemas.microsoft.com/office/drawing/2014/main" id="{21B37870-A894-43E6-AC18-6078CA1C8AF7}"/>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Alignment and Centering</a:t>
            </a:r>
          </a:p>
        </p:txBody>
      </p:sp>
      <p:cxnSp>
        <p:nvCxnSpPr>
          <p:cNvPr id="10" name="Straight Connector 9">
            <a:extLst>
              <a:ext uri="{FF2B5EF4-FFF2-40B4-BE49-F238E27FC236}">
                <a16:creationId xmlns:a16="http://schemas.microsoft.com/office/drawing/2014/main" id="{DA5083E7-C5CC-4EBE-B2D8-FEB7BA2E351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E27C5557-414D-47C6-B5D3-69E51215D1CA}"/>
              </a:ext>
            </a:extLst>
          </p:cNvPr>
          <p:cNvSpPr>
            <a:spLocks noGrp="1"/>
          </p:cNvSpPr>
          <p:nvPr>
            <p:ph type="sldNum" sz="quarter" idx="12"/>
          </p:nvPr>
        </p:nvSpPr>
        <p:spPr/>
        <p:txBody>
          <a:bodyPr/>
          <a:lstStyle/>
          <a:p>
            <a:fld id="{127DDC20-79C9-9647-820E-6D40A3D210C3}" type="slidenum">
              <a:rPr lang="en-US" smtClean="0"/>
              <a:pPr/>
              <a:t>8</a:t>
            </a:fld>
            <a:endParaRPr lang="en-US"/>
          </a:p>
        </p:txBody>
      </p:sp>
    </p:spTree>
    <p:extLst>
      <p:ext uri="{BB962C8B-B14F-4D97-AF65-F5344CB8AC3E}">
        <p14:creationId xmlns:p14="http://schemas.microsoft.com/office/powerpoint/2010/main" val="39802427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7B907517-11C3-41B0-8D50-F994FB55BB91}"/>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Alignment and Centering</a:t>
            </a:r>
          </a:p>
        </p:txBody>
      </p:sp>
      <p:cxnSp>
        <p:nvCxnSpPr>
          <p:cNvPr id="8" name="Straight Connector 7">
            <a:extLst>
              <a:ext uri="{FF2B5EF4-FFF2-40B4-BE49-F238E27FC236}">
                <a16:creationId xmlns:a16="http://schemas.microsoft.com/office/drawing/2014/main" id="{A0E0E93B-3C12-4F11-82D3-FEF4A0FAD4B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1B83F7D0-5E79-4125-B5CF-0A39D0CC9698}"/>
              </a:ext>
            </a:extLst>
          </p:cNvPr>
          <p:cNvSpPr txBox="1"/>
          <p:nvPr/>
        </p:nvSpPr>
        <p:spPr>
          <a:xfrm>
            <a:off x="2870853" y="1398258"/>
            <a:ext cx="1744579" cy="369332"/>
          </a:xfrm>
          <a:prstGeom prst="rect">
            <a:avLst/>
          </a:prstGeom>
          <a:noFill/>
        </p:spPr>
        <p:txBody>
          <a:bodyPr wrap="square" rtlCol="0">
            <a:spAutoFit/>
          </a:bodyPr>
          <a:lstStyle/>
          <a:p>
            <a:r>
              <a:rPr lang="en-US" dirty="0"/>
              <a:t>Inkscape</a:t>
            </a:r>
          </a:p>
        </p:txBody>
      </p:sp>
      <p:pic>
        <p:nvPicPr>
          <p:cNvPr id="3" name="Picture 2">
            <a:extLst>
              <a:ext uri="{FF2B5EF4-FFF2-40B4-BE49-F238E27FC236}">
                <a16:creationId xmlns:a16="http://schemas.microsoft.com/office/drawing/2014/main" id="{01E8546F-395A-42BA-B597-9FAA34291A1E}"/>
              </a:ext>
            </a:extLst>
          </p:cNvPr>
          <p:cNvPicPr>
            <a:picLocks noChangeAspect="1"/>
          </p:cNvPicPr>
          <p:nvPr/>
        </p:nvPicPr>
        <p:blipFill>
          <a:blip r:embed="rId2"/>
          <a:stretch>
            <a:fillRect/>
          </a:stretch>
        </p:blipFill>
        <p:spPr>
          <a:xfrm>
            <a:off x="549797" y="1369779"/>
            <a:ext cx="2268969" cy="3501776"/>
          </a:xfrm>
          <a:prstGeom prst="rect">
            <a:avLst/>
          </a:prstGeom>
        </p:spPr>
      </p:pic>
      <p:pic>
        <p:nvPicPr>
          <p:cNvPr id="4" name="Picture 3">
            <a:extLst>
              <a:ext uri="{FF2B5EF4-FFF2-40B4-BE49-F238E27FC236}">
                <a16:creationId xmlns:a16="http://schemas.microsoft.com/office/drawing/2014/main" id="{D5C0634C-88A9-4E40-A39F-BFC590E56FB0}"/>
              </a:ext>
            </a:extLst>
          </p:cNvPr>
          <p:cNvPicPr>
            <a:picLocks noChangeAspect="1"/>
          </p:cNvPicPr>
          <p:nvPr/>
        </p:nvPicPr>
        <p:blipFill>
          <a:blip r:embed="rId3"/>
          <a:stretch>
            <a:fillRect/>
          </a:stretch>
        </p:blipFill>
        <p:spPr>
          <a:xfrm>
            <a:off x="4152900" y="1987097"/>
            <a:ext cx="2849212" cy="2233493"/>
          </a:xfrm>
          <a:prstGeom prst="rect">
            <a:avLst/>
          </a:prstGeom>
        </p:spPr>
      </p:pic>
      <p:sp>
        <p:nvSpPr>
          <p:cNvPr id="9" name="TextBox 8">
            <a:extLst>
              <a:ext uri="{FF2B5EF4-FFF2-40B4-BE49-F238E27FC236}">
                <a16:creationId xmlns:a16="http://schemas.microsoft.com/office/drawing/2014/main" id="{6E6ADC84-1346-4F5A-BA1D-571E45A694CC}"/>
              </a:ext>
            </a:extLst>
          </p:cNvPr>
          <p:cNvSpPr txBox="1"/>
          <p:nvPr/>
        </p:nvSpPr>
        <p:spPr>
          <a:xfrm>
            <a:off x="5176146" y="1527061"/>
            <a:ext cx="1259378" cy="369332"/>
          </a:xfrm>
          <a:prstGeom prst="rect">
            <a:avLst/>
          </a:prstGeom>
          <a:noFill/>
        </p:spPr>
        <p:txBody>
          <a:bodyPr wrap="square" rtlCol="0">
            <a:spAutoFit/>
          </a:bodyPr>
          <a:lstStyle/>
          <a:p>
            <a:r>
              <a:rPr lang="en-US" dirty="0"/>
              <a:t>Illustrator</a:t>
            </a:r>
          </a:p>
        </p:txBody>
      </p:sp>
      <p:sp>
        <p:nvSpPr>
          <p:cNvPr id="2" name="Slide Number Placeholder 1">
            <a:extLst>
              <a:ext uri="{FF2B5EF4-FFF2-40B4-BE49-F238E27FC236}">
                <a16:creationId xmlns:a16="http://schemas.microsoft.com/office/drawing/2014/main" id="{7619FE11-7838-4DEB-8D0E-727A2134BAD9}"/>
              </a:ext>
            </a:extLst>
          </p:cNvPr>
          <p:cNvSpPr>
            <a:spLocks noGrp="1"/>
          </p:cNvSpPr>
          <p:nvPr>
            <p:ph type="sldNum" sz="quarter" idx="12"/>
          </p:nvPr>
        </p:nvSpPr>
        <p:spPr/>
        <p:txBody>
          <a:bodyPr/>
          <a:lstStyle/>
          <a:p>
            <a:fld id="{127DDC20-79C9-9647-820E-6D40A3D210C3}" type="slidenum">
              <a:rPr lang="en-US" smtClean="0"/>
              <a:pPr/>
              <a:t>9</a:t>
            </a:fld>
            <a:endParaRPr lang="en-US"/>
          </a:p>
        </p:txBody>
      </p:sp>
    </p:spTree>
    <p:extLst>
      <p:ext uri="{BB962C8B-B14F-4D97-AF65-F5344CB8AC3E}">
        <p14:creationId xmlns:p14="http://schemas.microsoft.com/office/powerpoint/2010/main" val="5539021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idx="1"/>
          </p:nvPr>
        </p:nvSpPr>
        <p:spPr>
          <a:xfrm>
            <a:off x="170815" y="975748"/>
            <a:ext cx="4232602" cy="3741896"/>
          </a:xfrm>
        </p:spPr>
        <p:txBody>
          <a:bodyPr>
            <a:normAutofit fontScale="70000" lnSpcReduction="20000"/>
          </a:bodyPr>
          <a:lstStyle/>
          <a:p>
            <a:pPr>
              <a:buFont typeface="Courier New" panose="02070309020205020404" pitchFamily="49" charset="0"/>
              <a:buChar char="o"/>
            </a:pPr>
            <a:r>
              <a:rPr lang="en-US" dirty="0"/>
              <a:t>Help to organize the map’s contents, and define its extent</a:t>
            </a:r>
          </a:p>
          <a:p>
            <a:pPr>
              <a:buFont typeface="Courier New" panose="02070309020205020404" pitchFamily="49" charset="0"/>
              <a:buChar char="o"/>
            </a:pPr>
            <a:r>
              <a:rPr lang="en-US" dirty="0"/>
              <a:t>Frame Line</a:t>
            </a:r>
          </a:p>
          <a:p>
            <a:pPr marL="765810" lvl="1" indent="-457200">
              <a:buFont typeface="Wingdings" panose="05000000000000000000" pitchFamily="2" charset="2"/>
              <a:buChar char="ü"/>
            </a:pPr>
            <a:r>
              <a:rPr lang="en-US" dirty="0"/>
              <a:t>Encloses all other map elements </a:t>
            </a:r>
          </a:p>
          <a:p>
            <a:pPr marL="765810" lvl="1" indent="-457200">
              <a:buFont typeface="Wingdings" panose="05000000000000000000" pitchFamily="2" charset="2"/>
              <a:buChar char="ü"/>
            </a:pPr>
            <a:r>
              <a:rPr lang="en-US" dirty="0"/>
              <a:t>Should be the first map element placed, because it occupies the most area, and defines the initial available space</a:t>
            </a:r>
          </a:p>
          <a:p>
            <a:pPr>
              <a:buFont typeface="Courier New" panose="02070309020205020404" pitchFamily="49" charset="0"/>
              <a:buChar char="o"/>
            </a:pPr>
            <a:r>
              <a:rPr lang="en-US" dirty="0"/>
              <a:t>Neat Line</a:t>
            </a:r>
          </a:p>
          <a:p>
            <a:pPr marL="765810" lvl="1" indent="-457200">
              <a:buFont typeface="Wingdings" panose="05000000000000000000" pitchFamily="2" charset="2"/>
              <a:buChar char="ü"/>
            </a:pPr>
            <a:r>
              <a:rPr lang="en-US" dirty="0"/>
              <a:t>Is used to crop (limit the extent of) the mapped area</a:t>
            </a:r>
          </a:p>
          <a:p>
            <a:pPr marL="765810" lvl="1" indent="-457200">
              <a:buFont typeface="Wingdings" panose="05000000000000000000" pitchFamily="2" charset="2"/>
              <a:buChar char="ü"/>
            </a:pPr>
            <a:r>
              <a:rPr lang="en-US" dirty="0"/>
              <a:t>Separate elements to provide an organized look</a:t>
            </a:r>
          </a:p>
        </p:txBody>
      </p:sp>
      <p:pic>
        <p:nvPicPr>
          <p:cNvPr id="4" name="Picture 5" descr="Map showing frame and neat lines"/>
          <p:cNvPicPr preferRelativeResize="0">
            <a:picLocks noChangeAspect="1" noChangeArrowheads="1"/>
          </p:cNvPicPr>
          <p:nvPr/>
        </p:nvPicPr>
        <p:blipFill>
          <a:blip r:embed="rId2" cstate="print"/>
          <a:srcRect/>
          <a:stretch>
            <a:fillRect/>
          </a:stretch>
        </p:blipFill>
        <p:spPr bwMode="auto">
          <a:xfrm>
            <a:off x="4551898" y="1909733"/>
            <a:ext cx="3439708" cy="2538566"/>
          </a:xfrm>
          <a:prstGeom prst="rect">
            <a:avLst/>
          </a:prstGeom>
          <a:noFill/>
          <a:ln w="9525">
            <a:noFill/>
            <a:miter lim="800000"/>
            <a:headEnd/>
            <a:tailEnd/>
          </a:ln>
        </p:spPr>
      </p:pic>
      <p:sp>
        <p:nvSpPr>
          <p:cNvPr id="5" name="Rectangle 6" descr="Red box"/>
          <p:cNvSpPr>
            <a:spLocks noChangeArrowheads="1"/>
          </p:cNvSpPr>
          <p:nvPr/>
        </p:nvSpPr>
        <p:spPr bwMode="auto">
          <a:xfrm>
            <a:off x="4639105" y="2146826"/>
            <a:ext cx="2342126" cy="2221831"/>
          </a:xfrm>
          <a:prstGeom prst="rect">
            <a:avLst/>
          </a:prstGeom>
          <a:noFill/>
          <a:ln w="25400">
            <a:solidFill>
              <a:srgbClr val="FF0000"/>
            </a:solidFill>
            <a:miter lim="800000"/>
            <a:headEnd/>
            <a:tailEnd/>
          </a:ln>
        </p:spPr>
        <p:txBody>
          <a:bodyPr wrap="none" anchor="ctr"/>
          <a:lstStyle/>
          <a:p>
            <a:endParaRPr lang="en-US" sz="1215"/>
          </a:p>
        </p:txBody>
      </p:sp>
      <p:sp>
        <p:nvSpPr>
          <p:cNvPr id="6" name="Text Box 8" descr="Red box"/>
          <p:cNvSpPr txBox="1">
            <a:spLocks noChangeArrowheads="1"/>
          </p:cNvSpPr>
          <p:nvPr/>
        </p:nvSpPr>
        <p:spPr bwMode="auto">
          <a:xfrm>
            <a:off x="7274219" y="2146826"/>
            <a:ext cx="1068036" cy="300082"/>
          </a:xfrm>
          <a:prstGeom prst="rect">
            <a:avLst/>
          </a:prstGeom>
          <a:solidFill>
            <a:schemeClr val="bg1"/>
          </a:solidFill>
          <a:ln w="9525" algn="ctr">
            <a:solidFill>
              <a:srgbClr val="FF0000"/>
            </a:solidFill>
            <a:miter lim="800000"/>
            <a:headEnd/>
            <a:tailEnd/>
          </a:ln>
        </p:spPr>
        <p:txBody>
          <a:bodyPr wrap="square">
            <a:spAutoFit/>
          </a:bodyPr>
          <a:lstStyle/>
          <a:p>
            <a:r>
              <a:rPr lang="en-US" sz="1350" dirty="0"/>
              <a:t>Frame Line</a:t>
            </a:r>
          </a:p>
        </p:txBody>
      </p:sp>
      <p:sp>
        <p:nvSpPr>
          <p:cNvPr id="7" name="Text Box 9" descr="Red box"/>
          <p:cNvSpPr txBox="1">
            <a:spLocks noChangeArrowheads="1"/>
          </p:cNvSpPr>
          <p:nvPr/>
        </p:nvSpPr>
        <p:spPr bwMode="auto">
          <a:xfrm>
            <a:off x="6271752" y="2251905"/>
            <a:ext cx="949543" cy="300082"/>
          </a:xfrm>
          <a:prstGeom prst="rect">
            <a:avLst/>
          </a:prstGeom>
          <a:solidFill>
            <a:schemeClr val="bg1"/>
          </a:solidFill>
          <a:ln w="9525" algn="ctr">
            <a:solidFill>
              <a:srgbClr val="FF0000"/>
            </a:solidFill>
            <a:miter lim="800000"/>
            <a:headEnd/>
            <a:tailEnd/>
          </a:ln>
        </p:spPr>
        <p:txBody>
          <a:bodyPr wrap="square">
            <a:spAutoFit/>
          </a:bodyPr>
          <a:lstStyle/>
          <a:p>
            <a:r>
              <a:rPr lang="en-US" sz="1350" dirty="0"/>
              <a:t>Neat Line</a:t>
            </a:r>
          </a:p>
        </p:txBody>
      </p:sp>
      <p:sp>
        <p:nvSpPr>
          <p:cNvPr id="9" name="Rectangle 7" descr="Red box"/>
          <p:cNvSpPr>
            <a:spLocks noChangeArrowheads="1"/>
          </p:cNvSpPr>
          <p:nvPr/>
        </p:nvSpPr>
        <p:spPr bwMode="auto">
          <a:xfrm>
            <a:off x="4551898" y="1909733"/>
            <a:ext cx="3439708" cy="2538566"/>
          </a:xfrm>
          <a:prstGeom prst="rect">
            <a:avLst/>
          </a:prstGeom>
          <a:noFill/>
          <a:ln w="25400">
            <a:solidFill>
              <a:srgbClr val="FF0000"/>
            </a:solidFill>
            <a:miter lim="800000"/>
            <a:headEnd/>
            <a:tailEnd/>
          </a:ln>
        </p:spPr>
        <p:txBody>
          <a:bodyPr wrap="none" anchor="ctr"/>
          <a:lstStyle/>
          <a:p>
            <a:endParaRPr lang="en-US" sz="1215"/>
          </a:p>
        </p:txBody>
      </p:sp>
      <p:sp>
        <p:nvSpPr>
          <p:cNvPr id="10" name="Title 1">
            <a:extLst>
              <a:ext uri="{FF2B5EF4-FFF2-40B4-BE49-F238E27FC236}">
                <a16:creationId xmlns:a16="http://schemas.microsoft.com/office/drawing/2014/main" id="{4EB1C785-64AC-458B-8DF1-5ACCB9E1452D}"/>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Frame line and neat line</a:t>
            </a:r>
          </a:p>
        </p:txBody>
      </p:sp>
      <p:cxnSp>
        <p:nvCxnSpPr>
          <p:cNvPr id="11" name="Straight Connector 10">
            <a:extLst>
              <a:ext uri="{FF2B5EF4-FFF2-40B4-BE49-F238E27FC236}">
                <a16:creationId xmlns:a16="http://schemas.microsoft.com/office/drawing/2014/main" id="{71A15535-6D03-4962-87D9-84B5EA762CBB}"/>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Rectangle 5">
            <a:extLst>
              <a:ext uri="{FF2B5EF4-FFF2-40B4-BE49-F238E27FC236}">
                <a16:creationId xmlns:a16="http://schemas.microsoft.com/office/drawing/2014/main" id="{D1D0D3E2-C99A-4475-AB73-3E02DA761393}"/>
              </a:ext>
            </a:extLst>
          </p:cNvPr>
          <p:cNvSpPr>
            <a:spLocks noChangeArrowheads="1"/>
          </p:cNvSpPr>
          <p:nvPr/>
        </p:nvSpPr>
        <p:spPr bwMode="auto">
          <a:xfrm>
            <a:off x="6746523" y="4544250"/>
            <a:ext cx="644728" cy="246221"/>
          </a:xfrm>
          <a:prstGeom prst="rect">
            <a:avLst/>
          </a:prstGeom>
          <a:noFill/>
          <a:ln w="9525" algn="ctr">
            <a:noFill/>
            <a:miter lim="800000"/>
            <a:headEnd/>
            <a:tailEnd/>
          </a:ln>
        </p:spPr>
        <p:txBody>
          <a:bodyPr wrap="none">
            <a:spAutoFit/>
          </a:bodyPr>
          <a:lstStyle/>
          <a:p>
            <a:r>
              <a:rPr lang="en-US" sz="1000" dirty="0" err="1">
                <a:solidFill>
                  <a:srgbClr val="7030A0"/>
                </a:solidFill>
              </a:rPr>
              <a:t>GeoTech</a:t>
            </a:r>
            <a:endParaRPr lang="en-US" sz="1000" dirty="0">
              <a:solidFill>
                <a:srgbClr val="7030A0"/>
              </a:solidFill>
            </a:endParaRPr>
          </a:p>
        </p:txBody>
      </p:sp>
      <p:sp>
        <p:nvSpPr>
          <p:cNvPr id="2" name="Slide Number Placeholder 1">
            <a:extLst>
              <a:ext uri="{FF2B5EF4-FFF2-40B4-BE49-F238E27FC236}">
                <a16:creationId xmlns:a16="http://schemas.microsoft.com/office/drawing/2014/main" id="{60D684B9-D27C-45E8-B427-50E6DD0DEA01}"/>
              </a:ext>
            </a:extLst>
          </p:cNvPr>
          <p:cNvSpPr>
            <a:spLocks noGrp="1"/>
          </p:cNvSpPr>
          <p:nvPr>
            <p:ph type="sldNum" sz="quarter" idx="12"/>
          </p:nvPr>
        </p:nvSpPr>
        <p:spPr/>
        <p:txBody>
          <a:bodyPr/>
          <a:lstStyle/>
          <a:p>
            <a:fld id="{127DDC20-79C9-9647-820E-6D40A3D210C3}" type="slidenum">
              <a:rPr lang="en-US" smtClean="0"/>
              <a:pPr/>
              <a:t>10</a:t>
            </a:fld>
            <a:endParaRPr lang="en-US"/>
          </a:p>
        </p:txBody>
      </p:sp>
    </p:spTree>
    <p:extLst>
      <p:ext uri="{BB962C8B-B14F-4D97-AF65-F5344CB8AC3E}">
        <p14:creationId xmlns:p14="http://schemas.microsoft.com/office/powerpoint/2010/main" val="1094333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idx="1"/>
          </p:nvPr>
        </p:nvSpPr>
        <p:spPr>
          <a:xfrm>
            <a:off x="170815" y="975748"/>
            <a:ext cx="4232602" cy="3741896"/>
          </a:xfrm>
        </p:spPr>
        <p:txBody>
          <a:bodyPr>
            <a:normAutofit fontScale="70000" lnSpcReduction="20000"/>
          </a:bodyPr>
          <a:lstStyle/>
          <a:p>
            <a:pPr>
              <a:buFont typeface="Courier New" panose="02070309020205020404" pitchFamily="49" charset="0"/>
              <a:buChar char="o"/>
            </a:pPr>
            <a:r>
              <a:rPr lang="en-US" dirty="0"/>
              <a:t>Help to organize the map’s contents, and define its extent</a:t>
            </a:r>
          </a:p>
          <a:p>
            <a:pPr>
              <a:buFont typeface="Courier New" panose="02070309020205020404" pitchFamily="49" charset="0"/>
              <a:buChar char="o"/>
            </a:pPr>
            <a:r>
              <a:rPr lang="en-US" dirty="0"/>
              <a:t>Frame Line</a:t>
            </a:r>
          </a:p>
          <a:p>
            <a:pPr marL="765810" lvl="1" indent="-457200">
              <a:buFont typeface="Wingdings" panose="05000000000000000000" pitchFamily="2" charset="2"/>
              <a:buChar char="ü"/>
            </a:pPr>
            <a:r>
              <a:rPr lang="en-US" dirty="0"/>
              <a:t>Encloses all other map elements </a:t>
            </a:r>
          </a:p>
          <a:p>
            <a:pPr marL="765810" lvl="1" indent="-457200">
              <a:buFont typeface="Wingdings" panose="05000000000000000000" pitchFamily="2" charset="2"/>
              <a:buChar char="ü"/>
            </a:pPr>
            <a:r>
              <a:rPr lang="en-US" dirty="0"/>
              <a:t>Should be the first map element placed, because it occupies the most area, and defines the initial available space</a:t>
            </a:r>
          </a:p>
          <a:p>
            <a:pPr>
              <a:buFont typeface="Courier New" panose="02070309020205020404" pitchFamily="49" charset="0"/>
              <a:buChar char="o"/>
            </a:pPr>
            <a:r>
              <a:rPr lang="en-US" dirty="0"/>
              <a:t>Neat Line</a:t>
            </a:r>
          </a:p>
          <a:p>
            <a:pPr marL="765810" lvl="1" indent="-457200">
              <a:buFont typeface="Wingdings" panose="05000000000000000000" pitchFamily="2" charset="2"/>
              <a:buChar char="ü"/>
            </a:pPr>
            <a:r>
              <a:rPr lang="en-US" dirty="0"/>
              <a:t>Is used to crop (limit the extent of) the mapped area</a:t>
            </a:r>
          </a:p>
          <a:p>
            <a:pPr marL="765810" lvl="1" indent="-457200">
              <a:buFont typeface="Wingdings" panose="05000000000000000000" pitchFamily="2" charset="2"/>
              <a:buChar char="ü"/>
            </a:pPr>
            <a:r>
              <a:rPr lang="en-US" dirty="0"/>
              <a:t>Separate elements to provide an organized look</a:t>
            </a:r>
          </a:p>
        </p:txBody>
      </p:sp>
      <p:sp>
        <p:nvSpPr>
          <p:cNvPr id="10" name="Title 1">
            <a:extLst>
              <a:ext uri="{FF2B5EF4-FFF2-40B4-BE49-F238E27FC236}">
                <a16:creationId xmlns:a16="http://schemas.microsoft.com/office/drawing/2014/main" id="{4EB1C785-64AC-458B-8DF1-5ACCB9E1452D}"/>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Frame line and neat line</a:t>
            </a:r>
          </a:p>
        </p:txBody>
      </p:sp>
      <p:cxnSp>
        <p:nvCxnSpPr>
          <p:cNvPr id="11" name="Straight Connector 10">
            <a:extLst>
              <a:ext uri="{FF2B5EF4-FFF2-40B4-BE49-F238E27FC236}">
                <a16:creationId xmlns:a16="http://schemas.microsoft.com/office/drawing/2014/main" id="{71A15535-6D03-4962-87D9-84B5EA762CBB}"/>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Rectangle 5">
            <a:extLst>
              <a:ext uri="{FF2B5EF4-FFF2-40B4-BE49-F238E27FC236}">
                <a16:creationId xmlns:a16="http://schemas.microsoft.com/office/drawing/2014/main" id="{D1D0D3E2-C99A-4475-AB73-3E02DA761393}"/>
              </a:ext>
            </a:extLst>
          </p:cNvPr>
          <p:cNvSpPr>
            <a:spLocks noChangeArrowheads="1"/>
          </p:cNvSpPr>
          <p:nvPr/>
        </p:nvSpPr>
        <p:spPr bwMode="auto">
          <a:xfrm>
            <a:off x="6746523" y="4544250"/>
            <a:ext cx="974947" cy="246221"/>
          </a:xfrm>
          <a:prstGeom prst="rect">
            <a:avLst/>
          </a:prstGeom>
          <a:noFill/>
          <a:ln w="9525" algn="ctr">
            <a:noFill/>
            <a:miter lim="800000"/>
            <a:headEnd/>
            <a:tailEnd/>
          </a:ln>
        </p:spPr>
        <p:txBody>
          <a:bodyPr wrap="none">
            <a:spAutoFit/>
          </a:bodyPr>
          <a:lstStyle/>
          <a:p>
            <a:r>
              <a:rPr lang="en-US" sz="1000" dirty="0">
                <a:solidFill>
                  <a:srgbClr val="7030A0"/>
                </a:solidFill>
              </a:rPr>
              <a:t>Peterson, 2021</a:t>
            </a:r>
          </a:p>
        </p:txBody>
      </p:sp>
      <p:pic>
        <p:nvPicPr>
          <p:cNvPr id="3" name="Picture 2" descr="Map showing neat line">
            <a:extLst>
              <a:ext uri="{FF2B5EF4-FFF2-40B4-BE49-F238E27FC236}">
                <a16:creationId xmlns:a16="http://schemas.microsoft.com/office/drawing/2014/main" id="{4C373596-6023-4C8B-8ECA-32EAE7B118CF}"/>
              </a:ext>
            </a:extLst>
          </p:cNvPr>
          <p:cNvPicPr>
            <a:picLocks noChangeAspect="1"/>
          </p:cNvPicPr>
          <p:nvPr/>
        </p:nvPicPr>
        <p:blipFill>
          <a:blip r:embed="rId2"/>
          <a:stretch>
            <a:fillRect/>
          </a:stretch>
        </p:blipFill>
        <p:spPr>
          <a:xfrm>
            <a:off x="4500985" y="1707220"/>
            <a:ext cx="3557800" cy="2513370"/>
          </a:xfrm>
          <a:prstGeom prst="rect">
            <a:avLst/>
          </a:prstGeom>
        </p:spPr>
      </p:pic>
      <p:sp>
        <p:nvSpPr>
          <p:cNvPr id="2" name="Slide Number Placeholder 1">
            <a:extLst>
              <a:ext uri="{FF2B5EF4-FFF2-40B4-BE49-F238E27FC236}">
                <a16:creationId xmlns:a16="http://schemas.microsoft.com/office/drawing/2014/main" id="{0A3CAD56-E69F-4E8C-8D49-6251D17BE2C1}"/>
              </a:ext>
            </a:extLst>
          </p:cNvPr>
          <p:cNvSpPr>
            <a:spLocks noGrp="1"/>
          </p:cNvSpPr>
          <p:nvPr>
            <p:ph type="sldNum" sz="quarter" idx="12"/>
          </p:nvPr>
        </p:nvSpPr>
        <p:spPr/>
        <p:txBody>
          <a:bodyPr/>
          <a:lstStyle/>
          <a:p>
            <a:fld id="{127DDC20-79C9-9647-820E-6D40A3D210C3}" type="slidenum">
              <a:rPr lang="en-US" smtClean="0"/>
              <a:pPr/>
              <a:t>11</a:t>
            </a:fld>
            <a:endParaRPr lang="en-US"/>
          </a:p>
        </p:txBody>
      </p:sp>
    </p:spTree>
    <p:extLst>
      <p:ext uri="{BB962C8B-B14F-4D97-AF65-F5344CB8AC3E}">
        <p14:creationId xmlns:p14="http://schemas.microsoft.com/office/powerpoint/2010/main" val="13653077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idx="1"/>
          </p:nvPr>
        </p:nvSpPr>
        <p:spPr>
          <a:xfrm>
            <a:off x="118533" y="1028700"/>
            <a:ext cx="7906530" cy="3741896"/>
          </a:xfrm>
        </p:spPr>
        <p:txBody>
          <a:bodyPr/>
          <a:lstStyle/>
          <a:p>
            <a:pPr>
              <a:buFont typeface="Courier New" panose="02070309020205020404" pitchFamily="49" charset="0"/>
              <a:buChar char="o"/>
            </a:pPr>
            <a:r>
              <a:rPr lang="en-US" dirty="0"/>
              <a:t>A Frame Line should be used in most situations</a:t>
            </a:r>
          </a:p>
          <a:p>
            <a:pPr>
              <a:buFont typeface="Courier New" panose="02070309020205020404" pitchFamily="49" charset="0"/>
              <a:buChar char="o"/>
            </a:pPr>
            <a:r>
              <a:rPr lang="en-US" dirty="0"/>
              <a:t>A Neat Line is used when the mapped area needs to be cropped or elements need to be separated</a:t>
            </a:r>
          </a:p>
        </p:txBody>
      </p:sp>
      <p:pic>
        <p:nvPicPr>
          <p:cNvPr id="21508" name="Picture 4" descr="Map showing frame line and neat line"/>
          <p:cNvPicPr>
            <a:picLocks noChangeAspect="1" noChangeArrowheads="1"/>
          </p:cNvPicPr>
          <p:nvPr/>
        </p:nvPicPr>
        <p:blipFill>
          <a:blip r:embed="rId2" cstate="print"/>
          <a:srcRect/>
          <a:stretch>
            <a:fillRect/>
          </a:stretch>
        </p:blipFill>
        <p:spPr bwMode="auto">
          <a:xfrm>
            <a:off x="2303860" y="2522458"/>
            <a:ext cx="3632597" cy="2220278"/>
          </a:xfrm>
          <a:prstGeom prst="rect">
            <a:avLst/>
          </a:prstGeom>
          <a:noFill/>
          <a:ln w="9525">
            <a:noFill/>
            <a:miter lim="800000"/>
            <a:headEnd/>
            <a:tailEnd/>
          </a:ln>
        </p:spPr>
      </p:pic>
      <p:sp>
        <p:nvSpPr>
          <p:cNvPr id="4" name="Title 1">
            <a:extLst>
              <a:ext uri="{FF2B5EF4-FFF2-40B4-BE49-F238E27FC236}">
                <a16:creationId xmlns:a16="http://schemas.microsoft.com/office/drawing/2014/main" id="{8E1459F7-E9B6-4B21-9FEB-6F0C4E5EBE4F}"/>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Frame line and neat line</a:t>
            </a:r>
          </a:p>
        </p:txBody>
      </p:sp>
      <p:cxnSp>
        <p:nvCxnSpPr>
          <p:cNvPr id="5" name="Straight Connector 4">
            <a:extLst>
              <a:ext uri="{FF2B5EF4-FFF2-40B4-BE49-F238E27FC236}">
                <a16:creationId xmlns:a16="http://schemas.microsoft.com/office/drawing/2014/main" id="{76310C62-70BC-4979-B6C6-80FC527B5363}"/>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Rectangle 5">
            <a:extLst>
              <a:ext uri="{FF2B5EF4-FFF2-40B4-BE49-F238E27FC236}">
                <a16:creationId xmlns:a16="http://schemas.microsoft.com/office/drawing/2014/main" id="{364EC64D-5C7C-4899-AD2F-109E57298D03}"/>
              </a:ext>
            </a:extLst>
          </p:cNvPr>
          <p:cNvSpPr>
            <a:spLocks noChangeArrowheads="1"/>
          </p:cNvSpPr>
          <p:nvPr/>
        </p:nvSpPr>
        <p:spPr bwMode="auto">
          <a:xfrm>
            <a:off x="1981496" y="4854197"/>
            <a:ext cx="644728" cy="246221"/>
          </a:xfrm>
          <a:prstGeom prst="rect">
            <a:avLst/>
          </a:prstGeom>
          <a:noFill/>
          <a:ln w="9525" algn="ctr">
            <a:noFill/>
            <a:miter lim="800000"/>
            <a:headEnd/>
            <a:tailEnd/>
          </a:ln>
        </p:spPr>
        <p:txBody>
          <a:bodyPr wrap="none">
            <a:spAutoFit/>
          </a:bodyPr>
          <a:lstStyle/>
          <a:p>
            <a:r>
              <a:rPr lang="en-US" sz="1000" dirty="0" err="1">
                <a:solidFill>
                  <a:srgbClr val="7030A0"/>
                </a:solidFill>
              </a:rPr>
              <a:t>GeoTech</a:t>
            </a:r>
            <a:endParaRPr lang="en-US" sz="1000" dirty="0">
              <a:solidFill>
                <a:srgbClr val="7030A0"/>
              </a:solidFill>
            </a:endParaRPr>
          </a:p>
        </p:txBody>
      </p:sp>
      <p:sp>
        <p:nvSpPr>
          <p:cNvPr id="3" name="Slide Number Placeholder 2">
            <a:extLst>
              <a:ext uri="{FF2B5EF4-FFF2-40B4-BE49-F238E27FC236}">
                <a16:creationId xmlns:a16="http://schemas.microsoft.com/office/drawing/2014/main" id="{884558F6-7454-4E23-8D89-FD5F52FBD172}"/>
              </a:ext>
            </a:extLst>
          </p:cNvPr>
          <p:cNvSpPr>
            <a:spLocks noGrp="1"/>
          </p:cNvSpPr>
          <p:nvPr>
            <p:ph type="sldNum" sz="quarter" idx="12"/>
          </p:nvPr>
        </p:nvSpPr>
        <p:spPr/>
        <p:txBody>
          <a:bodyPr/>
          <a:lstStyle/>
          <a:p>
            <a:fld id="{127DDC20-79C9-9647-820E-6D40A3D210C3}" type="slidenum">
              <a:rPr lang="en-US" smtClean="0"/>
              <a:pPr/>
              <a:t>12</a:t>
            </a:fld>
            <a:endParaRPr lang="en-US"/>
          </a:p>
        </p:txBody>
      </p:sp>
    </p:spTree>
    <p:extLst>
      <p:ext uri="{BB962C8B-B14F-4D97-AF65-F5344CB8AC3E}">
        <p14:creationId xmlns:p14="http://schemas.microsoft.com/office/powerpoint/2010/main" val="32861602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idx="1"/>
          </p:nvPr>
        </p:nvSpPr>
        <p:spPr>
          <a:xfrm>
            <a:off x="118533" y="1028700"/>
            <a:ext cx="8195288" cy="3741896"/>
          </a:xfrm>
        </p:spPr>
        <p:txBody>
          <a:bodyPr/>
          <a:lstStyle/>
          <a:p>
            <a:pPr>
              <a:buFont typeface="Courier New" panose="02070309020205020404" pitchFamily="49" charset="0"/>
              <a:buChar char="o"/>
            </a:pPr>
            <a:r>
              <a:rPr lang="en-US" dirty="0"/>
              <a:t>In certain cases, a frame line can also act as a neat line</a:t>
            </a:r>
          </a:p>
          <a:p>
            <a:pPr marL="765810" lvl="1" indent="-457200">
              <a:buFont typeface="Wingdings" panose="05000000000000000000" pitchFamily="2" charset="2"/>
              <a:buChar char="ü"/>
            </a:pPr>
            <a:r>
              <a:rPr lang="en-US" dirty="0"/>
              <a:t>Enclosing all map elements </a:t>
            </a:r>
            <a:r>
              <a:rPr lang="en-US" i="1" dirty="0"/>
              <a:t>and</a:t>
            </a:r>
            <a:r>
              <a:rPr lang="en-US" dirty="0"/>
              <a:t> cropping the mapped area </a:t>
            </a:r>
          </a:p>
        </p:txBody>
      </p:sp>
      <p:pic>
        <p:nvPicPr>
          <p:cNvPr id="22532" name="Picture 4" descr="Map showing frame line"/>
          <p:cNvPicPr>
            <a:picLocks noChangeAspect="1" noChangeArrowheads="1"/>
          </p:cNvPicPr>
          <p:nvPr/>
        </p:nvPicPr>
        <p:blipFill>
          <a:blip r:embed="rId2" cstate="print"/>
          <a:srcRect r="49843"/>
          <a:stretch>
            <a:fillRect/>
          </a:stretch>
        </p:blipFill>
        <p:spPr bwMode="auto">
          <a:xfrm>
            <a:off x="2618820" y="2408899"/>
            <a:ext cx="2757850" cy="2703551"/>
          </a:xfrm>
          <a:prstGeom prst="rect">
            <a:avLst/>
          </a:prstGeom>
          <a:noFill/>
          <a:ln w="9525">
            <a:noFill/>
            <a:miter lim="800000"/>
            <a:headEnd/>
            <a:tailEnd/>
          </a:ln>
        </p:spPr>
      </p:pic>
      <p:sp>
        <p:nvSpPr>
          <p:cNvPr id="5" name="Title 1">
            <a:extLst>
              <a:ext uri="{FF2B5EF4-FFF2-40B4-BE49-F238E27FC236}">
                <a16:creationId xmlns:a16="http://schemas.microsoft.com/office/drawing/2014/main" id="{46A7A900-F871-4871-ABA5-B11BD858ADA0}"/>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Frame line and neat line</a:t>
            </a:r>
          </a:p>
        </p:txBody>
      </p:sp>
      <p:cxnSp>
        <p:nvCxnSpPr>
          <p:cNvPr id="6" name="Straight Connector 5">
            <a:extLst>
              <a:ext uri="{FF2B5EF4-FFF2-40B4-BE49-F238E27FC236}">
                <a16:creationId xmlns:a16="http://schemas.microsoft.com/office/drawing/2014/main" id="{4ED4F348-AD14-4DC0-8C0E-B0CF52AFABCC}"/>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Rectangle 5">
            <a:extLst>
              <a:ext uri="{FF2B5EF4-FFF2-40B4-BE49-F238E27FC236}">
                <a16:creationId xmlns:a16="http://schemas.microsoft.com/office/drawing/2014/main" id="{F4FAA256-BCE8-41A3-872B-C48925129EAB}"/>
              </a:ext>
            </a:extLst>
          </p:cNvPr>
          <p:cNvSpPr>
            <a:spLocks noChangeArrowheads="1"/>
          </p:cNvSpPr>
          <p:nvPr/>
        </p:nvSpPr>
        <p:spPr bwMode="auto">
          <a:xfrm>
            <a:off x="1885765" y="4790471"/>
            <a:ext cx="644728" cy="246221"/>
          </a:xfrm>
          <a:prstGeom prst="rect">
            <a:avLst/>
          </a:prstGeom>
          <a:noFill/>
          <a:ln w="9525" algn="ctr">
            <a:noFill/>
            <a:miter lim="800000"/>
            <a:headEnd/>
            <a:tailEnd/>
          </a:ln>
        </p:spPr>
        <p:txBody>
          <a:bodyPr wrap="none">
            <a:spAutoFit/>
          </a:bodyPr>
          <a:lstStyle/>
          <a:p>
            <a:r>
              <a:rPr lang="en-US" sz="1000" dirty="0" err="1">
                <a:solidFill>
                  <a:srgbClr val="7030A0"/>
                </a:solidFill>
              </a:rPr>
              <a:t>GeoTech</a:t>
            </a:r>
            <a:endParaRPr lang="en-US" sz="1000" dirty="0">
              <a:solidFill>
                <a:srgbClr val="7030A0"/>
              </a:solidFill>
            </a:endParaRPr>
          </a:p>
        </p:txBody>
      </p:sp>
      <p:sp>
        <p:nvSpPr>
          <p:cNvPr id="2" name="Slide Number Placeholder 1">
            <a:extLst>
              <a:ext uri="{FF2B5EF4-FFF2-40B4-BE49-F238E27FC236}">
                <a16:creationId xmlns:a16="http://schemas.microsoft.com/office/drawing/2014/main" id="{9E9BCBCF-C2C6-4463-8D58-D70D752FB70C}"/>
              </a:ext>
            </a:extLst>
          </p:cNvPr>
          <p:cNvSpPr>
            <a:spLocks noGrp="1"/>
          </p:cNvSpPr>
          <p:nvPr>
            <p:ph type="sldNum" sz="quarter" idx="12"/>
          </p:nvPr>
        </p:nvSpPr>
        <p:spPr/>
        <p:txBody>
          <a:bodyPr/>
          <a:lstStyle/>
          <a:p>
            <a:fld id="{127DDC20-79C9-9647-820E-6D40A3D210C3}" type="slidenum">
              <a:rPr lang="en-US" smtClean="0"/>
              <a:pPr/>
              <a:t>13</a:t>
            </a:fld>
            <a:endParaRPr lang="en-US"/>
          </a:p>
        </p:txBody>
      </p:sp>
    </p:spTree>
    <p:extLst>
      <p:ext uri="{BB962C8B-B14F-4D97-AF65-F5344CB8AC3E}">
        <p14:creationId xmlns:p14="http://schemas.microsoft.com/office/powerpoint/2010/main" val="14329522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p:cNvSpPr>
            <a:spLocks noGrp="1" noChangeArrowheads="1"/>
          </p:cNvSpPr>
          <p:nvPr>
            <p:ph idx="1"/>
          </p:nvPr>
        </p:nvSpPr>
        <p:spPr>
          <a:xfrm>
            <a:off x="118533" y="1028700"/>
            <a:ext cx="8001000" cy="3741896"/>
          </a:xfrm>
        </p:spPr>
        <p:txBody>
          <a:bodyPr>
            <a:normAutofit/>
          </a:bodyPr>
          <a:lstStyle/>
          <a:p>
            <a:pPr>
              <a:buFont typeface="Courier New" panose="02070309020205020404" pitchFamily="49" charset="0"/>
              <a:buChar char="o"/>
            </a:pPr>
            <a:r>
              <a:rPr lang="en-US" dirty="0"/>
              <a:t>The style of these lines should be subtle</a:t>
            </a:r>
          </a:p>
          <a:p>
            <a:pPr marL="765810" lvl="1" indent="-457200">
              <a:buFont typeface="Wingdings" panose="05000000000000000000" pitchFamily="2" charset="2"/>
              <a:buChar char="ü"/>
            </a:pPr>
            <a:r>
              <a:rPr lang="en-US" dirty="0"/>
              <a:t>A single, thin, black line should be used in most cases</a:t>
            </a:r>
          </a:p>
          <a:p>
            <a:pPr marL="765810" lvl="1" indent="-457200">
              <a:buFont typeface="Wingdings" panose="05000000000000000000" pitchFamily="2" charset="2"/>
              <a:buChar char="ü"/>
            </a:pPr>
            <a:r>
              <a:rPr lang="en-US" dirty="0"/>
              <a:t>Slightly thicker lines are appropriate when working with large wall maps</a:t>
            </a:r>
          </a:p>
          <a:p>
            <a:pPr marL="765810" lvl="1" indent="-457200">
              <a:buFont typeface="Wingdings" panose="05000000000000000000" pitchFamily="2" charset="2"/>
              <a:buChar char="ü"/>
            </a:pPr>
            <a:r>
              <a:rPr lang="en-US" dirty="0"/>
              <a:t>These lines should focus attention on what is within them, not on themselves</a:t>
            </a:r>
          </a:p>
        </p:txBody>
      </p:sp>
      <p:sp>
        <p:nvSpPr>
          <p:cNvPr id="4" name="Title 1">
            <a:extLst>
              <a:ext uri="{FF2B5EF4-FFF2-40B4-BE49-F238E27FC236}">
                <a16:creationId xmlns:a16="http://schemas.microsoft.com/office/drawing/2014/main" id="{28E4AA78-73E0-4954-93B0-C224D1FA80C9}"/>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Frame line and neat line</a:t>
            </a:r>
          </a:p>
        </p:txBody>
      </p:sp>
      <p:cxnSp>
        <p:nvCxnSpPr>
          <p:cNvPr id="5" name="Straight Connector 4">
            <a:extLst>
              <a:ext uri="{FF2B5EF4-FFF2-40B4-BE49-F238E27FC236}">
                <a16:creationId xmlns:a16="http://schemas.microsoft.com/office/drawing/2014/main" id="{F17990A5-4771-46CB-821A-64E41A7FC189}"/>
              </a:ext>
            </a:extLst>
          </p:cNvPr>
          <p:cNvCxnSpPr/>
          <p:nvPr/>
        </p:nvCxnSpPr>
        <p:spPr>
          <a:xfrm>
            <a:off x="1143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41679DA3-F34E-47DD-B6EE-85209D895C41}"/>
              </a:ext>
            </a:extLst>
          </p:cNvPr>
          <p:cNvSpPr>
            <a:spLocks noGrp="1"/>
          </p:cNvSpPr>
          <p:nvPr>
            <p:ph type="sldNum" sz="quarter" idx="12"/>
          </p:nvPr>
        </p:nvSpPr>
        <p:spPr/>
        <p:txBody>
          <a:bodyPr/>
          <a:lstStyle/>
          <a:p>
            <a:fld id="{127DDC20-79C9-9647-820E-6D40A3D210C3}" type="slidenum">
              <a:rPr lang="en-US" smtClean="0"/>
              <a:pPr/>
              <a:t>14</a:t>
            </a:fld>
            <a:endParaRPr lang="en-US"/>
          </a:p>
        </p:txBody>
      </p:sp>
    </p:spTree>
    <p:extLst>
      <p:ext uri="{BB962C8B-B14F-4D97-AF65-F5344CB8AC3E}">
        <p14:creationId xmlns:p14="http://schemas.microsoft.com/office/powerpoint/2010/main" val="19830218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9" name="Picture 4" descr="Image showing frame line"/>
          <p:cNvPicPr>
            <a:picLocks noChangeAspect="1" noChangeArrowheads="1"/>
          </p:cNvPicPr>
          <p:nvPr/>
        </p:nvPicPr>
        <p:blipFill>
          <a:blip r:embed="rId3" cstate="print"/>
          <a:srcRect/>
          <a:stretch>
            <a:fillRect/>
          </a:stretch>
        </p:blipFill>
        <p:spPr bwMode="auto">
          <a:xfrm>
            <a:off x="1275165" y="1702343"/>
            <a:ext cx="5763935" cy="2834282"/>
          </a:xfrm>
          <a:prstGeom prst="rect">
            <a:avLst/>
          </a:prstGeom>
          <a:noFill/>
          <a:ln w="9525">
            <a:noFill/>
            <a:miter lim="800000"/>
            <a:headEnd/>
            <a:tailEnd/>
          </a:ln>
        </p:spPr>
      </p:pic>
      <p:sp>
        <p:nvSpPr>
          <p:cNvPr id="5" name="Title 1">
            <a:extLst>
              <a:ext uri="{FF2B5EF4-FFF2-40B4-BE49-F238E27FC236}">
                <a16:creationId xmlns:a16="http://schemas.microsoft.com/office/drawing/2014/main" id="{3D5EF137-32DA-4EB6-91FF-B9114DC727F6}"/>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endParaRPr lang="en-US" sz="2600" dirty="0">
              <a:solidFill>
                <a:srgbClr val="7030A0"/>
              </a:solidFill>
            </a:endParaRPr>
          </a:p>
        </p:txBody>
      </p:sp>
      <p:cxnSp>
        <p:nvCxnSpPr>
          <p:cNvPr id="6" name="Straight Connector 5">
            <a:extLst>
              <a:ext uri="{FF2B5EF4-FFF2-40B4-BE49-F238E27FC236}">
                <a16:creationId xmlns:a16="http://schemas.microsoft.com/office/drawing/2014/main" id="{6CAF9FDD-6F99-43D3-8C78-137E336762C4}"/>
              </a:ext>
            </a:extLst>
          </p:cNvPr>
          <p:cNvCxnSpPr/>
          <p:nvPr/>
        </p:nvCxnSpPr>
        <p:spPr>
          <a:xfrm>
            <a:off x="1143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5B96974D-5030-4D22-8874-5B944D0010B1}"/>
              </a:ext>
            </a:extLst>
          </p:cNvPr>
          <p:cNvSpPr txBox="1"/>
          <p:nvPr/>
        </p:nvSpPr>
        <p:spPr>
          <a:xfrm>
            <a:off x="1275165" y="1048756"/>
            <a:ext cx="5547184" cy="523220"/>
          </a:xfrm>
          <a:prstGeom prst="rect">
            <a:avLst/>
          </a:prstGeom>
          <a:noFill/>
        </p:spPr>
        <p:txBody>
          <a:bodyPr wrap="square" rtlCol="0">
            <a:spAutoFit/>
          </a:bodyPr>
          <a:lstStyle/>
          <a:p>
            <a:pPr algn="ctr"/>
            <a:r>
              <a:rPr lang="en-US" sz="2800" dirty="0"/>
              <a:t>Which one is better?</a:t>
            </a:r>
          </a:p>
        </p:txBody>
      </p:sp>
      <p:sp>
        <p:nvSpPr>
          <p:cNvPr id="2" name="Slide Number Placeholder 1">
            <a:extLst>
              <a:ext uri="{FF2B5EF4-FFF2-40B4-BE49-F238E27FC236}">
                <a16:creationId xmlns:a16="http://schemas.microsoft.com/office/drawing/2014/main" id="{BD1B99C1-141E-4A37-B5E3-66F6143DCFE7}"/>
              </a:ext>
            </a:extLst>
          </p:cNvPr>
          <p:cNvSpPr>
            <a:spLocks noGrp="1"/>
          </p:cNvSpPr>
          <p:nvPr>
            <p:ph type="sldNum" sz="quarter" idx="12"/>
          </p:nvPr>
        </p:nvSpPr>
        <p:spPr/>
        <p:txBody>
          <a:bodyPr/>
          <a:lstStyle/>
          <a:p>
            <a:fld id="{127DDC20-79C9-9647-820E-6D40A3D210C3}" type="slidenum">
              <a:rPr lang="en-US" smtClean="0"/>
              <a:pPr/>
              <a:t>15</a:t>
            </a:fld>
            <a:endParaRPr lang="en-US"/>
          </a:p>
        </p:txBody>
      </p:sp>
      <p:sp>
        <p:nvSpPr>
          <p:cNvPr id="3" name="Title 1">
            <a:extLst>
              <a:ext uri="{FF2B5EF4-FFF2-40B4-BE49-F238E27FC236}">
                <a16:creationId xmlns:a16="http://schemas.microsoft.com/office/drawing/2014/main" id="{6B49716E-0E97-FBD1-3D83-45170DDFCCB0}"/>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Discussion</a:t>
            </a:r>
            <a:endParaRPr lang="en-US" sz="2600" dirty="0">
              <a:solidFill>
                <a:srgbClr val="7030A0"/>
              </a:solidFill>
            </a:endParaRPr>
          </a:p>
        </p:txBody>
      </p:sp>
    </p:spTree>
    <p:extLst>
      <p:ext uri="{BB962C8B-B14F-4D97-AF65-F5344CB8AC3E}">
        <p14:creationId xmlns:p14="http://schemas.microsoft.com/office/powerpoint/2010/main" val="38080038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idx="1"/>
          </p:nvPr>
        </p:nvSpPr>
        <p:spPr>
          <a:xfrm>
            <a:off x="118533" y="1028700"/>
            <a:ext cx="7996767" cy="3741896"/>
          </a:xfrm>
        </p:spPr>
        <p:txBody>
          <a:bodyPr>
            <a:normAutofit lnSpcReduction="10000"/>
          </a:bodyPr>
          <a:lstStyle/>
          <a:p>
            <a:pPr>
              <a:buFont typeface="Courier New" panose="02070309020205020404" pitchFamily="49" charset="0"/>
              <a:buChar char="o"/>
            </a:pPr>
            <a:r>
              <a:rPr lang="en-US" dirty="0"/>
              <a:t>The region of Earth being represented</a:t>
            </a:r>
          </a:p>
          <a:p>
            <a:pPr>
              <a:buFont typeface="Courier New" panose="02070309020205020404" pitchFamily="49" charset="0"/>
              <a:buChar char="o"/>
            </a:pPr>
            <a:r>
              <a:rPr lang="en-US" dirty="0"/>
              <a:t>Consists of Thematic Symbols</a:t>
            </a:r>
          </a:p>
          <a:p>
            <a:pPr marL="765810" lvl="1" indent="-457200">
              <a:buFont typeface="Wingdings" panose="05000000000000000000" pitchFamily="2" charset="2"/>
              <a:buChar char="ü"/>
            </a:pPr>
            <a:r>
              <a:rPr lang="en-US" dirty="0"/>
              <a:t>Thematic Symbols directly represent the map’s theme</a:t>
            </a:r>
          </a:p>
          <a:p>
            <a:pPr marL="765810" lvl="1" indent="-457200">
              <a:buFont typeface="Wingdings" panose="05000000000000000000" pitchFamily="2" charset="2"/>
              <a:buChar char="ü"/>
            </a:pPr>
            <a:r>
              <a:rPr lang="en-US" dirty="0"/>
              <a:t>Are visually dominant</a:t>
            </a:r>
          </a:p>
          <a:p>
            <a:pPr>
              <a:buFont typeface="Courier New" panose="02070309020205020404" pitchFamily="49" charset="0"/>
              <a:buChar char="o"/>
            </a:pPr>
            <a:r>
              <a:rPr lang="en-US" dirty="0"/>
              <a:t>Can also include base Information</a:t>
            </a:r>
          </a:p>
          <a:p>
            <a:pPr marL="765810" lvl="1" indent="-457200">
              <a:buFont typeface="Wingdings" panose="05000000000000000000" pitchFamily="2" charset="2"/>
              <a:buChar char="ü"/>
            </a:pPr>
            <a:r>
              <a:rPr lang="en-US" dirty="0"/>
              <a:t>Base Information provides a geographic frame of reference for the theme</a:t>
            </a:r>
          </a:p>
          <a:p>
            <a:pPr marL="765810" lvl="1" indent="-457200">
              <a:buFont typeface="Wingdings" panose="05000000000000000000" pitchFamily="2" charset="2"/>
              <a:buChar char="ü"/>
            </a:pPr>
            <a:r>
              <a:rPr lang="en-US" dirty="0"/>
              <a:t>Is subdued  </a:t>
            </a:r>
          </a:p>
        </p:txBody>
      </p:sp>
      <p:sp>
        <p:nvSpPr>
          <p:cNvPr id="4" name="Title 1">
            <a:extLst>
              <a:ext uri="{FF2B5EF4-FFF2-40B4-BE49-F238E27FC236}">
                <a16:creationId xmlns:a16="http://schemas.microsoft.com/office/drawing/2014/main" id="{431848CF-C44E-4C4B-939A-49F71462C5AD}"/>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Mapped area</a:t>
            </a:r>
          </a:p>
        </p:txBody>
      </p:sp>
      <p:cxnSp>
        <p:nvCxnSpPr>
          <p:cNvPr id="5" name="Straight Connector 4">
            <a:extLst>
              <a:ext uri="{FF2B5EF4-FFF2-40B4-BE49-F238E27FC236}">
                <a16:creationId xmlns:a16="http://schemas.microsoft.com/office/drawing/2014/main" id="{6483E7D2-4B71-4D81-935D-A5CB168DF181}"/>
              </a:ext>
            </a:extLst>
          </p:cNvPr>
          <p:cNvCxnSpPr/>
          <p:nvPr/>
        </p:nvCxnSpPr>
        <p:spPr>
          <a:xfrm>
            <a:off x="1143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BC9DD81B-0686-4D6E-AF2E-85B619F2B790}"/>
              </a:ext>
            </a:extLst>
          </p:cNvPr>
          <p:cNvSpPr>
            <a:spLocks noGrp="1"/>
          </p:cNvSpPr>
          <p:nvPr>
            <p:ph type="sldNum" sz="quarter" idx="12"/>
          </p:nvPr>
        </p:nvSpPr>
        <p:spPr/>
        <p:txBody>
          <a:bodyPr/>
          <a:lstStyle/>
          <a:p>
            <a:fld id="{127DDC20-79C9-9647-820E-6D40A3D210C3}" type="slidenum">
              <a:rPr lang="en-US" smtClean="0"/>
              <a:pPr/>
              <a:t>16</a:t>
            </a:fld>
            <a:endParaRPr lang="en-US"/>
          </a:p>
        </p:txBody>
      </p:sp>
    </p:spTree>
    <p:extLst>
      <p:ext uri="{BB962C8B-B14F-4D97-AF65-F5344CB8AC3E}">
        <p14:creationId xmlns:p14="http://schemas.microsoft.com/office/powerpoint/2010/main" val="36194673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DDC1FCA-B231-4A3B-AB96-F56DFB4C4BC4}"/>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Mapped area</a:t>
            </a:r>
          </a:p>
        </p:txBody>
      </p:sp>
      <p:cxnSp>
        <p:nvCxnSpPr>
          <p:cNvPr id="5" name="Straight Connector 4">
            <a:extLst>
              <a:ext uri="{FF2B5EF4-FFF2-40B4-BE49-F238E27FC236}">
                <a16:creationId xmlns:a16="http://schemas.microsoft.com/office/drawing/2014/main" id="{1667EB54-24AE-42B3-AEDA-FD2B08AE441C}"/>
              </a:ext>
            </a:extLst>
          </p:cNvPr>
          <p:cNvCxnSpPr/>
          <p:nvPr/>
        </p:nvCxnSpPr>
        <p:spPr>
          <a:xfrm>
            <a:off x="1143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6" name="Picture 2" descr="Image showing mapped area">
            <a:extLst>
              <a:ext uri="{FF2B5EF4-FFF2-40B4-BE49-F238E27FC236}">
                <a16:creationId xmlns:a16="http://schemas.microsoft.com/office/drawing/2014/main" id="{2901AD50-380C-4296-983E-1286365C665F}"/>
              </a:ext>
            </a:extLst>
          </p:cNvPr>
          <p:cNvPicPr>
            <a:picLocks noChangeAspect="1" noChangeArrowheads="1"/>
          </p:cNvPicPr>
          <p:nvPr/>
        </p:nvPicPr>
        <p:blipFill>
          <a:blip r:embed="rId2" cstate="print"/>
          <a:srcRect/>
          <a:stretch>
            <a:fillRect/>
          </a:stretch>
        </p:blipFill>
        <p:spPr bwMode="auto">
          <a:xfrm>
            <a:off x="827057" y="1057738"/>
            <a:ext cx="3024225" cy="3914824"/>
          </a:xfrm>
          <a:prstGeom prst="rect">
            <a:avLst/>
          </a:prstGeom>
          <a:noFill/>
          <a:ln w="9525">
            <a:solidFill>
              <a:schemeClr val="tx1"/>
            </a:solidFill>
            <a:miter lim="800000"/>
            <a:headEnd/>
            <a:tailEnd/>
          </a:ln>
        </p:spPr>
      </p:pic>
      <p:sp>
        <p:nvSpPr>
          <p:cNvPr id="7" name="Text Box 6">
            <a:extLst>
              <a:ext uri="{FF2B5EF4-FFF2-40B4-BE49-F238E27FC236}">
                <a16:creationId xmlns:a16="http://schemas.microsoft.com/office/drawing/2014/main" id="{503597B5-D6DF-46F4-B822-A5F14FA1444F}"/>
              </a:ext>
            </a:extLst>
          </p:cNvPr>
          <p:cNvSpPr txBox="1">
            <a:spLocks noChangeArrowheads="1"/>
          </p:cNvSpPr>
          <p:nvPr/>
        </p:nvSpPr>
        <p:spPr bwMode="auto">
          <a:xfrm>
            <a:off x="4378319" y="2011810"/>
            <a:ext cx="1959887" cy="507831"/>
          </a:xfrm>
          <a:prstGeom prst="rect">
            <a:avLst/>
          </a:prstGeom>
          <a:noFill/>
          <a:ln w="9525" algn="ctr">
            <a:noFill/>
            <a:miter lim="800000"/>
            <a:headEnd/>
            <a:tailEnd/>
          </a:ln>
        </p:spPr>
        <p:txBody>
          <a:bodyPr>
            <a:spAutoFit/>
          </a:bodyPr>
          <a:lstStyle/>
          <a:p>
            <a:r>
              <a:rPr lang="en-US" sz="1350" b="1" dirty="0"/>
              <a:t>Thematic Symbols</a:t>
            </a:r>
            <a:r>
              <a:rPr lang="en-US" sz="1350" dirty="0"/>
              <a:t>: Shaded Polygons</a:t>
            </a:r>
          </a:p>
        </p:txBody>
      </p:sp>
      <p:sp>
        <p:nvSpPr>
          <p:cNvPr id="8" name="Text Box 7">
            <a:extLst>
              <a:ext uri="{FF2B5EF4-FFF2-40B4-BE49-F238E27FC236}">
                <a16:creationId xmlns:a16="http://schemas.microsoft.com/office/drawing/2014/main" id="{61527959-F9C1-4D42-BC8B-996379387865}"/>
              </a:ext>
            </a:extLst>
          </p:cNvPr>
          <p:cNvSpPr txBox="1">
            <a:spLocks noChangeArrowheads="1"/>
          </p:cNvSpPr>
          <p:nvPr/>
        </p:nvSpPr>
        <p:spPr bwMode="auto">
          <a:xfrm>
            <a:off x="4378319" y="3329055"/>
            <a:ext cx="1959887" cy="715581"/>
          </a:xfrm>
          <a:prstGeom prst="rect">
            <a:avLst/>
          </a:prstGeom>
          <a:noFill/>
          <a:ln w="9525" algn="ctr">
            <a:noFill/>
            <a:miter lim="800000"/>
            <a:headEnd/>
            <a:tailEnd/>
          </a:ln>
        </p:spPr>
        <p:txBody>
          <a:bodyPr>
            <a:spAutoFit/>
          </a:bodyPr>
          <a:lstStyle/>
          <a:p>
            <a:r>
              <a:rPr lang="en-US" sz="1350" b="1" dirty="0"/>
              <a:t>Base Information</a:t>
            </a:r>
            <a:r>
              <a:rPr lang="en-US" sz="1350" dirty="0"/>
              <a:t>:</a:t>
            </a:r>
          </a:p>
          <a:p>
            <a:r>
              <a:rPr lang="en-US" sz="1350" dirty="0"/>
              <a:t>Railroads and</a:t>
            </a:r>
          </a:p>
          <a:p>
            <a:r>
              <a:rPr lang="en-US" sz="1350" dirty="0"/>
              <a:t>City Label</a:t>
            </a:r>
          </a:p>
        </p:txBody>
      </p:sp>
      <p:sp>
        <p:nvSpPr>
          <p:cNvPr id="2" name="Slide Number Placeholder 1">
            <a:extLst>
              <a:ext uri="{FF2B5EF4-FFF2-40B4-BE49-F238E27FC236}">
                <a16:creationId xmlns:a16="http://schemas.microsoft.com/office/drawing/2014/main" id="{612256D5-BCAE-428F-B853-5DCF0C109584}"/>
              </a:ext>
            </a:extLst>
          </p:cNvPr>
          <p:cNvSpPr>
            <a:spLocks noGrp="1"/>
          </p:cNvSpPr>
          <p:nvPr>
            <p:ph type="sldNum" sz="quarter" idx="12"/>
          </p:nvPr>
        </p:nvSpPr>
        <p:spPr/>
        <p:txBody>
          <a:bodyPr/>
          <a:lstStyle/>
          <a:p>
            <a:fld id="{127DDC20-79C9-9647-820E-6D40A3D210C3}" type="slidenum">
              <a:rPr lang="en-US" smtClean="0"/>
              <a:pPr/>
              <a:t>17</a:t>
            </a:fld>
            <a:endParaRPr lang="en-US"/>
          </a:p>
        </p:txBody>
      </p:sp>
    </p:spTree>
    <p:extLst>
      <p:ext uri="{BB962C8B-B14F-4D97-AF65-F5344CB8AC3E}">
        <p14:creationId xmlns:p14="http://schemas.microsoft.com/office/powerpoint/2010/main" val="2291260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1713" y="1080743"/>
            <a:ext cx="7581354" cy="1815882"/>
          </a:xfrm>
          <a:prstGeom prst="rect">
            <a:avLst/>
          </a:prstGeom>
        </p:spPr>
        <p:txBody>
          <a:bodyPr wrap="square">
            <a:spAutoFit/>
          </a:bodyPr>
          <a:lstStyle/>
          <a:p>
            <a:pPr marL="411480" indent="-411480">
              <a:buFont typeface="Courier New" panose="02070309020205020404" pitchFamily="49" charset="0"/>
              <a:buChar char="o"/>
            </a:pPr>
            <a:r>
              <a:rPr lang="en-US" sz="2400" dirty="0"/>
              <a:t>There are two varieties of mapped area, distinguished by how they represent the geographic region of interest</a:t>
            </a:r>
          </a:p>
          <a:p>
            <a:pPr marL="411480" indent="-411480">
              <a:buFont typeface="Courier New" panose="02070309020205020404" pitchFamily="49" charset="0"/>
              <a:buChar char="o"/>
            </a:pPr>
            <a:endParaRPr lang="en-US" sz="2400" dirty="0"/>
          </a:p>
          <a:p>
            <a:pPr marL="668655" lvl="1" indent="-360045">
              <a:buFont typeface="Wingdings" panose="05000000000000000000" pitchFamily="2" charset="2"/>
              <a:buChar char="ü"/>
            </a:pPr>
            <a:r>
              <a:rPr lang="en-US" sz="2000" dirty="0"/>
              <a:t>Floating</a:t>
            </a:r>
          </a:p>
          <a:p>
            <a:pPr marL="668655" lvl="1" indent="-360045">
              <a:buFont typeface="Wingdings" panose="05000000000000000000" pitchFamily="2" charset="2"/>
              <a:buChar char="ü"/>
            </a:pPr>
            <a:r>
              <a:rPr lang="en-US" sz="2000" dirty="0"/>
              <a:t>Cropped </a:t>
            </a:r>
          </a:p>
        </p:txBody>
      </p:sp>
      <p:sp>
        <p:nvSpPr>
          <p:cNvPr id="7" name="Title 1">
            <a:extLst>
              <a:ext uri="{FF2B5EF4-FFF2-40B4-BE49-F238E27FC236}">
                <a16:creationId xmlns:a16="http://schemas.microsoft.com/office/drawing/2014/main" id="{E0FFC1F3-BD87-492E-A93B-999D9D75763E}"/>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Mapped area</a:t>
            </a:r>
          </a:p>
        </p:txBody>
      </p:sp>
      <p:cxnSp>
        <p:nvCxnSpPr>
          <p:cNvPr id="8" name="Straight Connector 7">
            <a:extLst>
              <a:ext uri="{FF2B5EF4-FFF2-40B4-BE49-F238E27FC236}">
                <a16:creationId xmlns:a16="http://schemas.microsoft.com/office/drawing/2014/main" id="{2E1F38D9-47F9-4ABF-9F25-7957C8C1B9AB}"/>
              </a:ext>
            </a:extLst>
          </p:cNvPr>
          <p:cNvCxnSpPr/>
          <p:nvPr/>
        </p:nvCxnSpPr>
        <p:spPr>
          <a:xfrm>
            <a:off x="1143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Slide Number Placeholder 2">
            <a:extLst>
              <a:ext uri="{FF2B5EF4-FFF2-40B4-BE49-F238E27FC236}">
                <a16:creationId xmlns:a16="http://schemas.microsoft.com/office/drawing/2014/main" id="{09FAC16E-A05D-4699-BE46-307D7894A6B4}"/>
              </a:ext>
            </a:extLst>
          </p:cNvPr>
          <p:cNvSpPr>
            <a:spLocks noGrp="1"/>
          </p:cNvSpPr>
          <p:nvPr>
            <p:ph type="sldNum" sz="quarter" idx="12"/>
          </p:nvPr>
        </p:nvSpPr>
        <p:spPr/>
        <p:txBody>
          <a:bodyPr/>
          <a:lstStyle/>
          <a:p>
            <a:fld id="{127DDC20-79C9-9647-820E-6D40A3D210C3}" type="slidenum">
              <a:rPr lang="en-US" smtClean="0"/>
              <a:pPr/>
              <a:t>18</a:t>
            </a:fld>
            <a:endParaRPr lang="en-US"/>
          </a:p>
        </p:txBody>
      </p:sp>
    </p:spTree>
    <p:extLst>
      <p:ext uri="{BB962C8B-B14F-4D97-AF65-F5344CB8AC3E}">
        <p14:creationId xmlns:p14="http://schemas.microsoft.com/office/powerpoint/2010/main" val="20074675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p:cNvSpPr>
            <a:spLocks noGrp="1" noChangeArrowheads="1"/>
          </p:cNvSpPr>
          <p:nvPr>
            <p:ph idx="1"/>
          </p:nvPr>
        </p:nvSpPr>
        <p:spPr>
          <a:xfrm>
            <a:off x="114300" y="963896"/>
            <a:ext cx="5463787" cy="3741896"/>
          </a:xfrm>
        </p:spPr>
        <p:txBody>
          <a:bodyPr>
            <a:normAutofit lnSpcReduction="10000"/>
          </a:bodyPr>
          <a:lstStyle/>
          <a:p>
            <a:pPr>
              <a:buFont typeface="Courier New" panose="02070309020205020404" pitchFamily="49" charset="0"/>
              <a:buChar char="o"/>
            </a:pPr>
            <a:r>
              <a:rPr lang="en-US" dirty="0"/>
              <a:t>Floating Mapped Area</a:t>
            </a:r>
          </a:p>
          <a:p>
            <a:pPr marL="765810" lvl="1" indent="-457200">
              <a:buFont typeface="Wingdings" panose="05000000000000000000" pitchFamily="2" charset="2"/>
              <a:buChar char="ü"/>
            </a:pPr>
            <a:r>
              <a:rPr lang="en-US" dirty="0"/>
              <a:t>Region of interest is disconnected from neighboring regions </a:t>
            </a:r>
          </a:p>
          <a:p>
            <a:pPr marL="765810" lvl="1" indent="-457200">
              <a:buFont typeface="Wingdings" panose="05000000000000000000" pitchFamily="2" charset="2"/>
              <a:buChar char="ü"/>
            </a:pPr>
            <a:r>
              <a:rPr lang="en-US" dirty="0"/>
              <a:t>Produces available space that often eases the placement of other map elements</a:t>
            </a:r>
          </a:p>
          <a:p>
            <a:pPr marL="765810" lvl="1" indent="-457200">
              <a:buFont typeface="Wingdings" panose="05000000000000000000" pitchFamily="2" charset="2"/>
              <a:buChar char="ü"/>
            </a:pPr>
            <a:r>
              <a:rPr lang="en-US" dirty="0"/>
              <a:t>Removes the region from its geographic context, possibly confusing the map user    </a:t>
            </a:r>
          </a:p>
          <a:p>
            <a:pPr lvl="1" indent="-360045"/>
            <a:endParaRPr lang="en-US" dirty="0"/>
          </a:p>
          <a:p>
            <a:pPr lvl="1" indent="-360045"/>
            <a:endParaRPr lang="en-US" dirty="0"/>
          </a:p>
        </p:txBody>
      </p:sp>
      <p:pic>
        <p:nvPicPr>
          <p:cNvPr id="6" name="Picture 2" descr="Map showing mapped area"/>
          <p:cNvPicPr>
            <a:picLocks noChangeAspect="1" noChangeArrowheads="1"/>
          </p:cNvPicPr>
          <p:nvPr/>
        </p:nvPicPr>
        <p:blipFill>
          <a:blip r:embed="rId2" cstate="print"/>
          <a:srcRect/>
          <a:stretch>
            <a:fillRect/>
          </a:stretch>
        </p:blipFill>
        <p:spPr bwMode="auto">
          <a:xfrm>
            <a:off x="5445739" y="1421400"/>
            <a:ext cx="2537213" cy="3284392"/>
          </a:xfrm>
          <a:prstGeom prst="rect">
            <a:avLst/>
          </a:prstGeom>
          <a:noFill/>
          <a:ln w="9525">
            <a:solidFill>
              <a:schemeClr val="tx1"/>
            </a:solidFill>
            <a:miter lim="800000"/>
            <a:headEnd/>
            <a:tailEnd/>
          </a:ln>
        </p:spPr>
      </p:pic>
      <p:sp>
        <p:nvSpPr>
          <p:cNvPr id="7" name="Title 1">
            <a:extLst>
              <a:ext uri="{FF2B5EF4-FFF2-40B4-BE49-F238E27FC236}">
                <a16:creationId xmlns:a16="http://schemas.microsoft.com/office/drawing/2014/main" id="{27F76349-4F8F-4A13-B842-DADA7742A6A3}"/>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Mapped area</a:t>
            </a:r>
          </a:p>
        </p:txBody>
      </p:sp>
      <p:cxnSp>
        <p:nvCxnSpPr>
          <p:cNvPr id="8" name="Straight Connector 7">
            <a:extLst>
              <a:ext uri="{FF2B5EF4-FFF2-40B4-BE49-F238E27FC236}">
                <a16:creationId xmlns:a16="http://schemas.microsoft.com/office/drawing/2014/main" id="{0B22C4FA-8846-4474-84AF-94BD4135FE4F}"/>
              </a:ext>
            </a:extLst>
          </p:cNvPr>
          <p:cNvCxnSpPr/>
          <p:nvPr/>
        </p:nvCxnSpPr>
        <p:spPr>
          <a:xfrm>
            <a:off x="1143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0F43E960-ECF6-4863-9CBE-479A5A2C0609}"/>
              </a:ext>
            </a:extLst>
          </p:cNvPr>
          <p:cNvSpPr>
            <a:spLocks noGrp="1"/>
          </p:cNvSpPr>
          <p:nvPr>
            <p:ph type="sldNum" sz="quarter" idx="12"/>
          </p:nvPr>
        </p:nvSpPr>
        <p:spPr/>
        <p:txBody>
          <a:bodyPr/>
          <a:lstStyle/>
          <a:p>
            <a:fld id="{127DDC20-79C9-9647-820E-6D40A3D210C3}" type="slidenum">
              <a:rPr lang="en-US" smtClean="0"/>
              <a:pPr/>
              <a:t>19</a:t>
            </a:fld>
            <a:endParaRPr lang="en-US"/>
          </a:p>
        </p:txBody>
      </p:sp>
    </p:spTree>
    <p:extLst>
      <p:ext uri="{BB962C8B-B14F-4D97-AF65-F5344CB8AC3E}">
        <p14:creationId xmlns:p14="http://schemas.microsoft.com/office/powerpoint/2010/main" val="3792386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Rectangle 3"/>
          <p:cNvSpPr>
            <a:spLocks noGrp="1" noChangeArrowheads="1"/>
          </p:cNvSpPr>
          <p:nvPr>
            <p:ph idx="1"/>
          </p:nvPr>
        </p:nvSpPr>
        <p:spPr>
          <a:xfrm>
            <a:off x="114301" y="1076823"/>
            <a:ext cx="4686299" cy="3741896"/>
          </a:xfrm>
        </p:spPr>
        <p:txBody>
          <a:bodyPr>
            <a:normAutofit lnSpcReduction="10000"/>
          </a:bodyPr>
          <a:lstStyle/>
          <a:p>
            <a:pPr>
              <a:buFont typeface="Courier New" panose="02070309020205020404" pitchFamily="49" charset="0"/>
              <a:buChar char="o"/>
            </a:pPr>
            <a:r>
              <a:rPr lang="en-US" dirty="0"/>
              <a:t>Cropped Mapped Area</a:t>
            </a:r>
          </a:p>
          <a:p>
            <a:pPr marL="765810" lvl="1" indent="-457200">
              <a:buFont typeface="Wingdings" panose="05000000000000000000" pitchFamily="2" charset="2"/>
              <a:buChar char="ü"/>
            </a:pPr>
            <a:r>
              <a:rPr lang="en-US" dirty="0"/>
              <a:t>Represents the region of interest within its geographic context </a:t>
            </a:r>
          </a:p>
          <a:p>
            <a:pPr marL="765810" lvl="1" indent="-457200">
              <a:buFont typeface="Wingdings" panose="05000000000000000000" pitchFamily="2" charset="2"/>
              <a:buChar char="ü"/>
            </a:pPr>
            <a:r>
              <a:rPr lang="en-US" dirty="0"/>
              <a:t>More realistic, less abstract</a:t>
            </a:r>
          </a:p>
          <a:p>
            <a:pPr marL="765810" lvl="1" indent="-457200">
              <a:buFont typeface="Wingdings" panose="05000000000000000000" pitchFamily="2" charset="2"/>
              <a:buChar char="ü"/>
            </a:pPr>
            <a:r>
              <a:rPr lang="en-US" dirty="0"/>
              <a:t>Can make the placement of other map elements more difficult due to a lack of available space </a:t>
            </a:r>
          </a:p>
          <a:p>
            <a:pPr lvl="1" indent="-360045"/>
            <a:endParaRPr lang="en-US" dirty="0"/>
          </a:p>
        </p:txBody>
      </p:sp>
      <p:pic>
        <p:nvPicPr>
          <p:cNvPr id="32770" name="Picture 5" descr="Map showing cropped mapped area"/>
          <p:cNvPicPr preferRelativeResize="0">
            <a:picLocks noChangeAspect="1" noChangeArrowheads="1"/>
          </p:cNvPicPr>
          <p:nvPr/>
        </p:nvPicPr>
        <p:blipFill>
          <a:blip r:embed="rId3" cstate="print"/>
          <a:srcRect/>
          <a:stretch>
            <a:fillRect/>
          </a:stretch>
        </p:blipFill>
        <p:spPr bwMode="auto">
          <a:xfrm>
            <a:off x="4783777" y="1617027"/>
            <a:ext cx="3331522" cy="2449649"/>
          </a:xfrm>
          <a:prstGeom prst="rect">
            <a:avLst/>
          </a:prstGeom>
          <a:noFill/>
          <a:ln w="9525">
            <a:noFill/>
            <a:miter lim="800000"/>
            <a:headEnd/>
            <a:tailEnd/>
          </a:ln>
        </p:spPr>
      </p:pic>
      <p:sp>
        <p:nvSpPr>
          <p:cNvPr id="5" name="Title 1">
            <a:extLst>
              <a:ext uri="{FF2B5EF4-FFF2-40B4-BE49-F238E27FC236}">
                <a16:creationId xmlns:a16="http://schemas.microsoft.com/office/drawing/2014/main" id="{080AF2C8-022F-4718-8BF6-5D3D0C7578B9}"/>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Mapped area</a:t>
            </a:r>
          </a:p>
        </p:txBody>
      </p:sp>
      <p:cxnSp>
        <p:nvCxnSpPr>
          <p:cNvPr id="6" name="Straight Connector 5">
            <a:extLst>
              <a:ext uri="{FF2B5EF4-FFF2-40B4-BE49-F238E27FC236}">
                <a16:creationId xmlns:a16="http://schemas.microsoft.com/office/drawing/2014/main" id="{24681A35-000E-4D7A-BE3F-276EB514F01C}"/>
              </a:ext>
            </a:extLst>
          </p:cNvPr>
          <p:cNvCxnSpPr/>
          <p:nvPr/>
        </p:nvCxnSpPr>
        <p:spPr>
          <a:xfrm>
            <a:off x="1143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C5E6B56E-0066-44E0-9400-1F44C0DAAC50}"/>
              </a:ext>
            </a:extLst>
          </p:cNvPr>
          <p:cNvSpPr txBox="1"/>
          <p:nvPr/>
        </p:nvSpPr>
        <p:spPr>
          <a:xfrm>
            <a:off x="5185458" y="4433104"/>
            <a:ext cx="2048719" cy="369332"/>
          </a:xfrm>
          <a:prstGeom prst="rect">
            <a:avLst/>
          </a:prstGeom>
          <a:noFill/>
        </p:spPr>
        <p:txBody>
          <a:bodyPr wrap="square" rtlCol="0">
            <a:spAutoFit/>
          </a:bodyPr>
          <a:lstStyle/>
          <a:p>
            <a:r>
              <a:rPr lang="en-US" dirty="0">
                <a:solidFill>
                  <a:srgbClr val="FF0000"/>
                </a:solidFill>
              </a:rPr>
              <a:t>Demonstration!</a:t>
            </a:r>
          </a:p>
        </p:txBody>
      </p:sp>
      <p:sp>
        <p:nvSpPr>
          <p:cNvPr id="3" name="Slide Number Placeholder 2">
            <a:extLst>
              <a:ext uri="{FF2B5EF4-FFF2-40B4-BE49-F238E27FC236}">
                <a16:creationId xmlns:a16="http://schemas.microsoft.com/office/drawing/2014/main" id="{C396407D-0B60-47E4-B00C-49842BD7C1BB}"/>
              </a:ext>
            </a:extLst>
          </p:cNvPr>
          <p:cNvSpPr>
            <a:spLocks noGrp="1"/>
          </p:cNvSpPr>
          <p:nvPr>
            <p:ph type="sldNum" sz="quarter" idx="12"/>
          </p:nvPr>
        </p:nvSpPr>
        <p:spPr/>
        <p:txBody>
          <a:bodyPr/>
          <a:lstStyle/>
          <a:p>
            <a:fld id="{127DDC20-79C9-9647-820E-6D40A3D210C3}" type="slidenum">
              <a:rPr lang="en-US" smtClean="0"/>
              <a:pPr/>
              <a:t>20</a:t>
            </a:fld>
            <a:endParaRPr lang="en-US"/>
          </a:p>
        </p:txBody>
      </p:sp>
      <p:sp>
        <p:nvSpPr>
          <p:cNvPr id="7" name="TextBox 6">
            <a:extLst>
              <a:ext uri="{FF2B5EF4-FFF2-40B4-BE49-F238E27FC236}">
                <a16:creationId xmlns:a16="http://schemas.microsoft.com/office/drawing/2014/main" id="{043E2FDE-16D1-B3D8-760F-5A94781DDB0F}"/>
              </a:ext>
            </a:extLst>
          </p:cNvPr>
          <p:cNvSpPr txBox="1"/>
          <p:nvPr/>
        </p:nvSpPr>
        <p:spPr>
          <a:xfrm>
            <a:off x="4783777" y="2841851"/>
            <a:ext cx="617279" cy="246221"/>
          </a:xfrm>
          <a:prstGeom prst="rect">
            <a:avLst/>
          </a:prstGeom>
          <a:noFill/>
        </p:spPr>
        <p:txBody>
          <a:bodyPr wrap="square">
            <a:spAutoFit/>
          </a:bodyPr>
          <a:lstStyle/>
          <a:p>
            <a:r>
              <a:rPr lang="en-US" sz="1000" dirty="0"/>
              <a:t>Iraq</a:t>
            </a:r>
          </a:p>
        </p:txBody>
      </p:sp>
      <p:sp>
        <p:nvSpPr>
          <p:cNvPr id="9" name="TextBox 8">
            <a:extLst>
              <a:ext uri="{FF2B5EF4-FFF2-40B4-BE49-F238E27FC236}">
                <a16:creationId xmlns:a16="http://schemas.microsoft.com/office/drawing/2014/main" id="{3A277CE4-1608-9C30-83E3-0531BA04D5E7}"/>
              </a:ext>
            </a:extLst>
          </p:cNvPr>
          <p:cNvSpPr txBox="1"/>
          <p:nvPr/>
        </p:nvSpPr>
        <p:spPr>
          <a:xfrm>
            <a:off x="6209817" y="1923335"/>
            <a:ext cx="1426464" cy="246221"/>
          </a:xfrm>
          <a:prstGeom prst="rect">
            <a:avLst/>
          </a:prstGeom>
          <a:noFill/>
        </p:spPr>
        <p:txBody>
          <a:bodyPr wrap="square">
            <a:spAutoFit/>
          </a:bodyPr>
          <a:lstStyle/>
          <a:p>
            <a:r>
              <a:rPr lang="en-US" sz="1000" dirty="0"/>
              <a:t>Turkmenistan</a:t>
            </a:r>
          </a:p>
        </p:txBody>
      </p:sp>
      <p:sp>
        <p:nvSpPr>
          <p:cNvPr id="11" name="TextBox 10">
            <a:extLst>
              <a:ext uri="{FF2B5EF4-FFF2-40B4-BE49-F238E27FC236}">
                <a16:creationId xmlns:a16="http://schemas.microsoft.com/office/drawing/2014/main" id="{E46A6551-1406-11F3-A4C3-E538A7AC71CA}"/>
              </a:ext>
            </a:extLst>
          </p:cNvPr>
          <p:cNvSpPr txBox="1"/>
          <p:nvPr/>
        </p:nvSpPr>
        <p:spPr>
          <a:xfrm rot="5400000">
            <a:off x="6580298" y="2836690"/>
            <a:ext cx="801624" cy="246221"/>
          </a:xfrm>
          <a:prstGeom prst="rect">
            <a:avLst/>
          </a:prstGeom>
          <a:noFill/>
        </p:spPr>
        <p:txBody>
          <a:bodyPr wrap="square">
            <a:spAutoFit/>
          </a:bodyPr>
          <a:lstStyle/>
          <a:p>
            <a:r>
              <a:rPr lang="en-US" sz="1000" dirty="0"/>
              <a:t>Afghanistan</a:t>
            </a:r>
          </a:p>
        </p:txBody>
      </p:sp>
    </p:spTree>
    <p:extLst>
      <p:ext uri="{BB962C8B-B14F-4D97-AF65-F5344CB8AC3E}">
        <p14:creationId xmlns:p14="http://schemas.microsoft.com/office/powerpoint/2010/main" val="17876661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4"/>
          <p:cNvSpPr>
            <a:spLocks noGrp="1" noChangeArrowheads="1"/>
          </p:cNvSpPr>
          <p:nvPr>
            <p:ph idx="1"/>
          </p:nvPr>
        </p:nvSpPr>
        <p:spPr>
          <a:xfrm>
            <a:off x="433137" y="1028700"/>
            <a:ext cx="7158789" cy="3741896"/>
          </a:xfrm>
        </p:spPr>
        <p:txBody>
          <a:bodyPr>
            <a:normAutofit lnSpcReduction="10000"/>
          </a:bodyPr>
          <a:lstStyle/>
          <a:p>
            <a:pPr>
              <a:buFont typeface="Courier New" panose="02070309020205020404" pitchFamily="49" charset="0"/>
              <a:buChar char="o"/>
            </a:pPr>
            <a:r>
              <a:rPr lang="en-US" dirty="0"/>
              <a:t>Make the mapped area as large as possible within the available space </a:t>
            </a:r>
          </a:p>
          <a:p>
            <a:pPr marL="765810" lvl="1" indent="-457200">
              <a:buFont typeface="Wingdings" panose="05000000000000000000" pitchFamily="2" charset="2"/>
              <a:buChar char="ü"/>
            </a:pPr>
            <a:r>
              <a:rPr lang="en-US" dirty="0"/>
              <a:t>Without being “too close” to the frame line</a:t>
            </a:r>
          </a:p>
          <a:p>
            <a:pPr marL="765810" lvl="1" indent="-457200">
              <a:buFont typeface="Wingdings" panose="05000000000000000000" pitchFamily="2" charset="2"/>
              <a:buChar char="ü"/>
            </a:pPr>
            <a:r>
              <a:rPr lang="en-US" dirty="0"/>
              <a:t>While leaving ample room for the remaining map elements </a:t>
            </a:r>
          </a:p>
          <a:p>
            <a:pPr>
              <a:buFont typeface="Courier New" panose="02070309020205020404" pitchFamily="49" charset="0"/>
              <a:buChar char="o"/>
            </a:pPr>
            <a:r>
              <a:rPr lang="en-US" dirty="0"/>
              <a:t>Maximum area is important</a:t>
            </a:r>
          </a:p>
          <a:p>
            <a:pPr marL="765810" lvl="1" indent="-457200">
              <a:buFont typeface="Wingdings" panose="05000000000000000000" pitchFamily="2" charset="2"/>
              <a:buChar char="ü"/>
            </a:pPr>
            <a:r>
              <a:rPr lang="en-US" dirty="0"/>
              <a:t>The mapped area—thematic symbols in particular—is instrumental in communicating the map’s information </a:t>
            </a:r>
          </a:p>
        </p:txBody>
      </p:sp>
      <p:sp>
        <p:nvSpPr>
          <p:cNvPr id="4" name="Title 1">
            <a:extLst>
              <a:ext uri="{FF2B5EF4-FFF2-40B4-BE49-F238E27FC236}">
                <a16:creationId xmlns:a16="http://schemas.microsoft.com/office/drawing/2014/main" id="{86804A70-412B-465F-A67F-93DA0A3257BE}"/>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Mapped area</a:t>
            </a:r>
          </a:p>
        </p:txBody>
      </p:sp>
      <p:cxnSp>
        <p:nvCxnSpPr>
          <p:cNvPr id="5" name="Straight Connector 4">
            <a:extLst>
              <a:ext uri="{FF2B5EF4-FFF2-40B4-BE49-F238E27FC236}">
                <a16:creationId xmlns:a16="http://schemas.microsoft.com/office/drawing/2014/main" id="{FB0CEDBF-D14D-4E75-BC57-47FC52679247}"/>
              </a:ext>
            </a:extLst>
          </p:cNvPr>
          <p:cNvCxnSpPr/>
          <p:nvPr/>
        </p:nvCxnSpPr>
        <p:spPr>
          <a:xfrm>
            <a:off x="1143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477FBDEC-4C0E-4C69-98E1-360EEA3659BC}"/>
              </a:ext>
            </a:extLst>
          </p:cNvPr>
          <p:cNvSpPr>
            <a:spLocks noGrp="1"/>
          </p:cNvSpPr>
          <p:nvPr>
            <p:ph type="sldNum" sz="quarter" idx="12"/>
          </p:nvPr>
        </p:nvSpPr>
        <p:spPr/>
        <p:txBody>
          <a:bodyPr/>
          <a:lstStyle/>
          <a:p>
            <a:fld id="{127DDC20-79C9-9647-820E-6D40A3D210C3}" type="slidenum">
              <a:rPr lang="en-US" smtClean="0"/>
              <a:pPr/>
              <a:t>21</a:t>
            </a:fld>
            <a:endParaRPr lang="en-US"/>
          </a:p>
        </p:txBody>
      </p:sp>
    </p:spTree>
    <p:extLst>
      <p:ext uri="{BB962C8B-B14F-4D97-AF65-F5344CB8AC3E}">
        <p14:creationId xmlns:p14="http://schemas.microsoft.com/office/powerpoint/2010/main" val="42715256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Grp="1" noChangeArrowheads="1"/>
          </p:cNvSpPr>
          <p:nvPr>
            <p:ph idx="1"/>
          </p:nvPr>
        </p:nvSpPr>
        <p:spPr>
          <a:xfrm>
            <a:off x="118533" y="1028700"/>
            <a:ext cx="7810278" cy="3741896"/>
          </a:xfrm>
        </p:spPr>
        <p:txBody>
          <a:bodyPr>
            <a:normAutofit/>
          </a:bodyPr>
          <a:lstStyle/>
          <a:p>
            <a:pPr>
              <a:buFont typeface="Courier New" panose="02070309020205020404" pitchFamily="49" charset="0"/>
              <a:buChar char="o"/>
            </a:pPr>
            <a:r>
              <a:rPr lang="en-US" dirty="0"/>
              <a:t>Try to visually center the mapped area both horizontally (side-to-side) and vertically (top-to-bottom)</a:t>
            </a:r>
          </a:p>
          <a:p>
            <a:pPr marL="1125855" lvl="2" indent="-457200">
              <a:buFont typeface="Wingdings" panose="05000000000000000000" pitchFamily="2" charset="2"/>
              <a:buChar char="ü"/>
            </a:pPr>
            <a:r>
              <a:rPr lang="en-US" dirty="0"/>
              <a:t>Within the available space, as defined by the frame line </a:t>
            </a:r>
          </a:p>
          <a:p>
            <a:pPr>
              <a:buFont typeface="Courier New" panose="02070309020205020404" pitchFamily="49" charset="0"/>
              <a:buChar char="o"/>
            </a:pPr>
            <a:r>
              <a:rPr lang="en-US" dirty="0"/>
              <a:t>This will not always result in an appropriate placement</a:t>
            </a:r>
          </a:p>
          <a:p>
            <a:pPr marL="1125855" lvl="2" indent="-457200">
              <a:buFont typeface="Wingdings" panose="05000000000000000000" pitchFamily="2" charset="2"/>
              <a:buChar char="ü"/>
            </a:pPr>
            <a:r>
              <a:rPr lang="en-US" dirty="0"/>
              <a:t>But should be tried first</a:t>
            </a:r>
          </a:p>
        </p:txBody>
      </p:sp>
      <p:sp>
        <p:nvSpPr>
          <p:cNvPr id="4" name="Title 1">
            <a:extLst>
              <a:ext uri="{FF2B5EF4-FFF2-40B4-BE49-F238E27FC236}">
                <a16:creationId xmlns:a16="http://schemas.microsoft.com/office/drawing/2014/main" id="{AAD8EE55-1A6D-4B38-AC2C-4E5F3F4600AB}"/>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Mapped area</a:t>
            </a:r>
          </a:p>
        </p:txBody>
      </p:sp>
      <p:cxnSp>
        <p:nvCxnSpPr>
          <p:cNvPr id="5" name="Straight Connector 4">
            <a:extLst>
              <a:ext uri="{FF2B5EF4-FFF2-40B4-BE49-F238E27FC236}">
                <a16:creationId xmlns:a16="http://schemas.microsoft.com/office/drawing/2014/main" id="{96BD1A7A-C089-41E9-BD0F-3756CD3A3050}"/>
              </a:ext>
            </a:extLst>
          </p:cNvPr>
          <p:cNvCxnSpPr/>
          <p:nvPr/>
        </p:nvCxnSpPr>
        <p:spPr>
          <a:xfrm>
            <a:off x="97744" y="900332"/>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100698EC-F136-41CF-85B0-AE8698C65D43}"/>
              </a:ext>
            </a:extLst>
          </p:cNvPr>
          <p:cNvSpPr>
            <a:spLocks noGrp="1"/>
          </p:cNvSpPr>
          <p:nvPr>
            <p:ph type="sldNum" sz="quarter" idx="12"/>
          </p:nvPr>
        </p:nvSpPr>
        <p:spPr/>
        <p:txBody>
          <a:bodyPr/>
          <a:lstStyle/>
          <a:p>
            <a:fld id="{127DDC20-79C9-9647-820E-6D40A3D210C3}" type="slidenum">
              <a:rPr lang="en-US" smtClean="0"/>
              <a:pPr/>
              <a:t>22</a:t>
            </a:fld>
            <a:endParaRPr lang="en-US"/>
          </a:p>
        </p:txBody>
      </p:sp>
    </p:spTree>
    <p:extLst>
      <p:ext uri="{BB962C8B-B14F-4D97-AF65-F5344CB8AC3E}">
        <p14:creationId xmlns:p14="http://schemas.microsoft.com/office/powerpoint/2010/main" val="42503452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ap showing locations of mapped area"/>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656" y="1189619"/>
            <a:ext cx="3915626" cy="1962019"/>
          </a:xfrm>
          <a:prstGeom prst="rect">
            <a:avLst/>
          </a:prstGeom>
        </p:spPr>
      </p:pic>
      <p:sp>
        <p:nvSpPr>
          <p:cNvPr id="35844" name="Text Box 7"/>
          <p:cNvSpPr txBox="1">
            <a:spLocks noChangeArrowheads="1"/>
          </p:cNvSpPr>
          <p:nvPr/>
        </p:nvSpPr>
        <p:spPr bwMode="auto">
          <a:xfrm>
            <a:off x="56412" y="3200302"/>
            <a:ext cx="3086100" cy="369332"/>
          </a:xfrm>
          <a:prstGeom prst="rect">
            <a:avLst/>
          </a:prstGeom>
          <a:noFill/>
          <a:ln w="9525">
            <a:noFill/>
            <a:miter lim="800000"/>
            <a:headEnd/>
            <a:tailEnd/>
          </a:ln>
        </p:spPr>
        <p:txBody>
          <a:bodyPr wrap="square">
            <a:spAutoFit/>
          </a:bodyPr>
          <a:lstStyle/>
          <a:p>
            <a:pPr>
              <a:spcBef>
                <a:spcPct val="50000"/>
              </a:spcBef>
            </a:pPr>
            <a:r>
              <a:rPr lang="en-US" dirty="0"/>
              <a:t>Appropriately Sized</a:t>
            </a:r>
          </a:p>
        </p:txBody>
      </p:sp>
      <p:sp>
        <p:nvSpPr>
          <p:cNvPr id="6" name="Text Box 7"/>
          <p:cNvSpPr txBox="1">
            <a:spLocks noChangeArrowheads="1"/>
          </p:cNvSpPr>
          <p:nvPr/>
        </p:nvSpPr>
        <p:spPr bwMode="auto">
          <a:xfrm>
            <a:off x="2592293" y="3218667"/>
            <a:ext cx="1100437" cy="369332"/>
          </a:xfrm>
          <a:prstGeom prst="rect">
            <a:avLst/>
          </a:prstGeom>
          <a:noFill/>
          <a:ln w="9525">
            <a:noFill/>
            <a:miter lim="800000"/>
            <a:headEnd/>
            <a:tailEnd/>
          </a:ln>
        </p:spPr>
        <p:txBody>
          <a:bodyPr wrap="square">
            <a:spAutoFit/>
          </a:bodyPr>
          <a:lstStyle/>
          <a:p>
            <a:pPr>
              <a:spcBef>
                <a:spcPct val="50000"/>
              </a:spcBef>
            </a:pPr>
            <a:r>
              <a:rPr lang="en-US" dirty="0"/>
              <a:t>Too Small</a:t>
            </a:r>
          </a:p>
        </p:txBody>
      </p:sp>
      <p:pic>
        <p:nvPicPr>
          <p:cNvPr id="7" name="Picture 6" descr="Map showing locations of mapped area"/>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8244" y="1189619"/>
            <a:ext cx="3915626" cy="1962019"/>
          </a:xfrm>
          <a:prstGeom prst="rect">
            <a:avLst/>
          </a:prstGeom>
        </p:spPr>
      </p:pic>
      <p:sp>
        <p:nvSpPr>
          <p:cNvPr id="8" name="Text Box 7"/>
          <p:cNvSpPr txBox="1">
            <a:spLocks noChangeArrowheads="1"/>
          </p:cNvSpPr>
          <p:nvPr/>
        </p:nvSpPr>
        <p:spPr bwMode="auto">
          <a:xfrm>
            <a:off x="4754581" y="3218667"/>
            <a:ext cx="1100436" cy="369332"/>
          </a:xfrm>
          <a:prstGeom prst="rect">
            <a:avLst/>
          </a:prstGeom>
          <a:noFill/>
          <a:ln w="9525">
            <a:noFill/>
            <a:miter lim="800000"/>
            <a:headEnd/>
            <a:tailEnd/>
          </a:ln>
        </p:spPr>
        <p:txBody>
          <a:bodyPr wrap="square">
            <a:spAutoFit/>
          </a:bodyPr>
          <a:lstStyle/>
          <a:p>
            <a:pPr>
              <a:spcBef>
                <a:spcPct val="50000"/>
              </a:spcBef>
            </a:pPr>
            <a:r>
              <a:rPr lang="en-US" dirty="0"/>
              <a:t>Too Large</a:t>
            </a:r>
          </a:p>
        </p:txBody>
      </p:sp>
      <p:sp>
        <p:nvSpPr>
          <p:cNvPr id="9" name="Text Box 7"/>
          <p:cNvSpPr txBox="1">
            <a:spLocks noChangeArrowheads="1"/>
          </p:cNvSpPr>
          <p:nvPr/>
        </p:nvSpPr>
        <p:spPr bwMode="auto">
          <a:xfrm>
            <a:off x="6056057" y="3234927"/>
            <a:ext cx="1957813" cy="646331"/>
          </a:xfrm>
          <a:prstGeom prst="rect">
            <a:avLst/>
          </a:prstGeom>
          <a:noFill/>
          <a:ln w="9525">
            <a:noFill/>
            <a:miter lim="800000"/>
            <a:headEnd/>
            <a:tailEnd/>
          </a:ln>
        </p:spPr>
        <p:txBody>
          <a:bodyPr wrap="square">
            <a:spAutoFit/>
          </a:bodyPr>
          <a:lstStyle/>
          <a:p>
            <a:pPr algn="ctr">
              <a:spcBef>
                <a:spcPct val="50000"/>
              </a:spcBef>
            </a:pPr>
            <a:r>
              <a:rPr lang="en-US" dirty="0"/>
              <a:t>Too Small and Off Center</a:t>
            </a:r>
          </a:p>
        </p:txBody>
      </p:sp>
      <p:sp>
        <p:nvSpPr>
          <p:cNvPr id="11" name="Title 1">
            <a:extLst>
              <a:ext uri="{FF2B5EF4-FFF2-40B4-BE49-F238E27FC236}">
                <a16:creationId xmlns:a16="http://schemas.microsoft.com/office/drawing/2014/main" id="{2F968892-97B1-4A69-B234-BF10F80544BF}"/>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endParaRPr lang="en-US" sz="2600" dirty="0">
              <a:solidFill>
                <a:srgbClr val="7030A0"/>
              </a:solidFill>
            </a:endParaRPr>
          </a:p>
        </p:txBody>
      </p:sp>
      <p:cxnSp>
        <p:nvCxnSpPr>
          <p:cNvPr id="12" name="Straight Connector 11">
            <a:extLst>
              <a:ext uri="{FF2B5EF4-FFF2-40B4-BE49-F238E27FC236}">
                <a16:creationId xmlns:a16="http://schemas.microsoft.com/office/drawing/2014/main" id="{2F3E13F1-202B-4385-A04D-E7154C74077A}"/>
              </a:ext>
            </a:extLst>
          </p:cNvPr>
          <p:cNvCxnSpPr/>
          <p:nvPr/>
        </p:nvCxnSpPr>
        <p:spPr>
          <a:xfrm>
            <a:off x="97744" y="900332"/>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Slide Number Placeholder 2">
            <a:extLst>
              <a:ext uri="{FF2B5EF4-FFF2-40B4-BE49-F238E27FC236}">
                <a16:creationId xmlns:a16="http://schemas.microsoft.com/office/drawing/2014/main" id="{806FD22E-A2A7-431C-9C18-EA4EB8CD6D4E}"/>
              </a:ext>
            </a:extLst>
          </p:cNvPr>
          <p:cNvSpPr>
            <a:spLocks noGrp="1"/>
          </p:cNvSpPr>
          <p:nvPr>
            <p:ph type="sldNum" sz="quarter" idx="12"/>
          </p:nvPr>
        </p:nvSpPr>
        <p:spPr/>
        <p:txBody>
          <a:bodyPr/>
          <a:lstStyle/>
          <a:p>
            <a:fld id="{127DDC20-79C9-9647-820E-6D40A3D210C3}" type="slidenum">
              <a:rPr lang="en-US" smtClean="0"/>
              <a:pPr/>
              <a:t>23</a:t>
            </a:fld>
            <a:endParaRPr lang="en-US"/>
          </a:p>
        </p:txBody>
      </p:sp>
      <p:sp>
        <p:nvSpPr>
          <p:cNvPr id="4" name="Title 1">
            <a:extLst>
              <a:ext uri="{FF2B5EF4-FFF2-40B4-BE49-F238E27FC236}">
                <a16:creationId xmlns:a16="http://schemas.microsoft.com/office/drawing/2014/main" id="{6359D098-A441-A60E-E6CF-D6EFD3C1E2E9}"/>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endParaRPr lang="en-US" sz="2600" dirty="0">
              <a:solidFill>
                <a:srgbClr val="7030A0"/>
              </a:solidFill>
            </a:endParaRPr>
          </a:p>
        </p:txBody>
      </p:sp>
      <p:sp>
        <p:nvSpPr>
          <p:cNvPr id="5" name="Title 1">
            <a:extLst>
              <a:ext uri="{FF2B5EF4-FFF2-40B4-BE49-F238E27FC236}">
                <a16:creationId xmlns:a16="http://schemas.microsoft.com/office/drawing/2014/main" id="{2816C11B-32BE-EFF8-9FC2-25B3C7526F0B}"/>
              </a:ext>
            </a:extLst>
          </p:cNvPr>
          <p:cNvSpPr txBox="1">
            <a:spLocks/>
          </p:cNvSpPr>
          <p:nvPr/>
        </p:nvSpPr>
        <p:spPr>
          <a:xfrm>
            <a:off x="59644" y="11011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Discussion</a:t>
            </a:r>
            <a:endParaRPr lang="en-US" sz="2600" dirty="0">
              <a:solidFill>
                <a:srgbClr val="7030A0"/>
              </a:solidFill>
            </a:endParaRPr>
          </a:p>
        </p:txBody>
      </p:sp>
    </p:spTree>
    <p:extLst>
      <p:ext uri="{BB962C8B-B14F-4D97-AF65-F5344CB8AC3E}">
        <p14:creationId xmlns:p14="http://schemas.microsoft.com/office/powerpoint/2010/main" val="3555226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84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4" grpId="0"/>
      <p:bldP spid="6" grpId="0"/>
      <p:bldP spid="8" grpId="0"/>
      <p:bldP spid="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p:cNvSpPr>
            <a:spLocks noGrp="1" noChangeArrowheads="1"/>
          </p:cNvSpPr>
          <p:nvPr>
            <p:ph idx="1"/>
          </p:nvPr>
        </p:nvSpPr>
        <p:spPr>
          <a:xfrm>
            <a:off x="118533" y="1028700"/>
            <a:ext cx="7341046" cy="3741896"/>
          </a:xfrm>
        </p:spPr>
        <p:txBody>
          <a:bodyPr/>
          <a:lstStyle/>
          <a:p>
            <a:pPr>
              <a:buFont typeface="Courier New" panose="02070309020205020404" pitchFamily="49" charset="0"/>
              <a:buChar char="o"/>
            </a:pPr>
            <a:r>
              <a:rPr lang="en-US" dirty="0"/>
              <a:t>A smaller map included within the context of a larger map</a:t>
            </a:r>
          </a:p>
          <a:p>
            <a:pPr marL="765810" lvl="1" indent="-457200">
              <a:buFont typeface="Wingdings" panose="05000000000000000000" pitchFamily="2" charset="2"/>
              <a:buChar char="ü"/>
            </a:pPr>
            <a:r>
              <a:rPr lang="en-US" dirty="0"/>
              <a:t>Can serve several purposes</a:t>
            </a:r>
          </a:p>
          <a:p>
            <a:pPr marL="765810" lvl="1" indent="-457200">
              <a:buFont typeface="Wingdings" panose="05000000000000000000" pitchFamily="2" charset="2"/>
              <a:buChar char="ü"/>
            </a:pPr>
            <a:r>
              <a:rPr lang="en-US" dirty="0"/>
              <a:t>In the world of ArcGIS, the inset is usually a separate data frame</a:t>
            </a:r>
          </a:p>
        </p:txBody>
      </p:sp>
      <p:pic>
        <p:nvPicPr>
          <p:cNvPr id="39940" name="Picture 5" descr="Map showing data frame"/>
          <p:cNvPicPr>
            <a:picLocks noChangeAspect="1" noChangeArrowheads="1"/>
          </p:cNvPicPr>
          <p:nvPr/>
        </p:nvPicPr>
        <p:blipFill>
          <a:blip r:embed="rId2" cstate="print"/>
          <a:srcRect/>
          <a:stretch>
            <a:fillRect/>
          </a:stretch>
        </p:blipFill>
        <p:spPr bwMode="auto">
          <a:xfrm>
            <a:off x="3745178" y="3114813"/>
            <a:ext cx="2562106" cy="1985605"/>
          </a:xfrm>
          <a:prstGeom prst="rect">
            <a:avLst/>
          </a:prstGeom>
          <a:noFill/>
          <a:ln w="9525" algn="ctr">
            <a:noFill/>
            <a:miter lim="800000"/>
            <a:headEnd/>
            <a:tailEnd/>
          </a:ln>
        </p:spPr>
      </p:pic>
      <p:sp>
        <p:nvSpPr>
          <p:cNvPr id="5" name="Title 1">
            <a:extLst>
              <a:ext uri="{FF2B5EF4-FFF2-40B4-BE49-F238E27FC236}">
                <a16:creationId xmlns:a16="http://schemas.microsoft.com/office/drawing/2014/main" id="{AC404135-9F2D-4F8B-9A9C-3FF3B3705519}"/>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Inset</a:t>
            </a:r>
          </a:p>
        </p:txBody>
      </p:sp>
      <p:cxnSp>
        <p:nvCxnSpPr>
          <p:cNvPr id="6" name="Straight Connector 5">
            <a:extLst>
              <a:ext uri="{FF2B5EF4-FFF2-40B4-BE49-F238E27FC236}">
                <a16:creationId xmlns:a16="http://schemas.microsoft.com/office/drawing/2014/main" id="{B57B0F5F-F474-44BE-A88B-872E0D92B549}"/>
              </a:ext>
            </a:extLst>
          </p:cNvPr>
          <p:cNvCxnSpPr/>
          <p:nvPr/>
        </p:nvCxnSpPr>
        <p:spPr>
          <a:xfrm>
            <a:off x="97744" y="900332"/>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DB4DCA95-7743-4DA0-8AFC-4004473DD2D8}"/>
              </a:ext>
            </a:extLst>
          </p:cNvPr>
          <p:cNvSpPr>
            <a:spLocks noGrp="1"/>
          </p:cNvSpPr>
          <p:nvPr>
            <p:ph type="sldNum" sz="quarter" idx="12"/>
          </p:nvPr>
        </p:nvSpPr>
        <p:spPr/>
        <p:txBody>
          <a:bodyPr/>
          <a:lstStyle/>
          <a:p>
            <a:fld id="{127DDC20-79C9-9647-820E-6D40A3D210C3}" type="slidenum">
              <a:rPr lang="en-US" smtClean="0"/>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ap showing inset maps"/>
          <p:cNvPicPr>
            <a:picLocks noChangeAspect="1"/>
          </p:cNvPicPr>
          <p:nvPr/>
        </p:nvPicPr>
        <p:blipFill>
          <a:blip r:embed="rId2"/>
          <a:stretch>
            <a:fillRect/>
          </a:stretch>
        </p:blipFill>
        <p:spPr>
          <a:xfrm>
            <a:off x="3112682" y="1125855"/>
            <a:ext cx="4812780" cy="3694930"/>
          </a:xfrm>
          <a:prstGeom prst="rect">
            <a:avLst/>
          </a:prstGeom>
          <a:ln>
            <a:solidFill>
              <a:schemeClr val="tx1"/>
            </a:solidFill>
          </a:ln>
        </p:spPr>
      </p:pic>
      <p:sp>
        <p:nvSpPr>
          <p:cNvPr id="41986" name="Rectangle 2"/>
          <p:cNvSpPr>
            <a:spLocks noGrp="1" noChangeArrowheads="1"/>
          </p:cNvSpPr>
          <p:nvPr>
            <p:ph type="title"/>
          </p:nvPr>
        </p:nvSpPr>
        <p:spPr>
          <a:xfrm>
            <a:off x="85712" y="1066703"/>
            <a:ext cx="3026970" cy="1688507"/>
          </a:xfrm>
        </p:spPr>
        <p:txBody>
          <a:bodyPr>
            <a:noAutofit/>
          </a:bodyPr>
          <a:lstStyle/>
          <a:p>
            <a:pPr marL="342900" indent="-342900" algn="l" eaLnBrk="1" hangingPunct="1">
              <a:buFont typeface="Courier New" panose="02070309020205020404" pitchFamily="49" charset="0"/>
              <a:buChar char="o"/>
            </a:pPr>
            <a:r>
              <a:rPr lang="en-US" sz="2430" dirty="0"/>
              <a:t>Features not in the correct geographic location</a:t>
            </a:r>
          </a:p>
        </p:txBody>
      </p:sp>
      <p:sp>
        <p:nvSpPr>
          <p:cNvPr id="558085" name="Oval 5" descr="Red circle"/>
          <p:cNvSpPr>
            <a:spLocks noChangeArrowheads="1"/>
          </p:cNvSpPr>
          <p:nvPr/>
        </p:nvSpPr>
        <p:spPr bwMode="auto">
          <a:xfrm>
            <a:off x="3182726" y="3603706"/>
            <a:ext cx="1366242" cy="1276231"/>
          </a:xfrm>
          <a:prstGeom prst="ellipse">
            <a:avLst/>
          </a:prstGeom>
          <a:noFill/>
          <a:ln w="25400">
            <a:solidFill>
              <a:srgbClr val="FF0000"/>
            </a:solidFill>
            <a:round/>
            <a:headEnd/>
            <a:tailEnd/>
          </a:ln>
        </p:spPr>
        <p:txBody>
          <a:bodyPr wrap="none" anchor="ctr"/>
          <a:lstStyle/>
          <a:p>
            <a:endParaRPr lang="en-US" sz="1215"/>
          </a:p>
        </p:txBody>
      </p:sp>
      <p:sp>
        <p:nvSpPr>
          <p:cNvPr id="558086" name="Oval 6" descr="Red circle"/>
          <p:cNvSpPr>
            <a:spLocks noChangeArrowheads="1"/>
          </p:cNvSpPr>
          <p:nvPr/>
        </p:nvSpPr>
        <p:spPr bwMode="auto">
          <a:xfrm>
            <a:off x="4416096" y="4045188"/>
            <a:ext cx="940832" cy="878681"/>
          </a:xfrm>
          <a:prstGeom prst="ellipse">
            <a:avLst/>
          </a:prstGeom>
          <a:noFill/>
          <a:ln w="25400">
            <a:solidFill>
              <a:srgbClr val="FF0000"/>
            </a:solidFill>
            <a:round/>
            <a:headEnd/>
            <a:tailEnd/>
          </a:ln>
        </p:spPr>
        <p:txBody>
          <a:bodyPr wrap="none" anchor="ctr"/>
          <a:lstStyle/>
          <a:p>
            <a:endParaRPr lang="en-US" sz="1215"/>
          </a:p>
        </p:txBody>
      </p:sp>
      <p:sp>
        <p:nvSpPr>
          <p:cNvPr id="8" name="Title 1">
            <a:extLst>
              <a:ext uri="{FF2B5EF4-FFF2-40B4-BE49-F238E27FC236}">
                <a16:creationId xmlns:a16="http://schemas.microsoft.com/office/drawing/2014/main" id="{6FBA9A39-DD93-4D9A-8E88-0B5C3D79856D}"/>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Inset</a:t>
            </a:r>
          </a:p>
        </p:txBody>
      </p:sp>
      <p:cxnSp>
        <p:nvCxnSpPr>
          <p:cNvPr id="9" name="Straight Connector 8">
            <a:extLst>
              <a:ext uri="{FF2B5EF4-FFF2-40B4-BE49-F238E27FC236}">
                <a16:creationId xmlns:a16="http://schemas.microsoft.com/office/drawing/2014/main" id="{3F517909-E77D-4F7C-B828-D427240DD83A}"/>
              </a:ext>
            </a:extLst>
          </p:cNvPr>
          <p:cNvCxnSpPr/>
          <p:nvPr/>
        </p:nvCxnSpPr>
        <p:spPr>
          <a:xfrm>
            <a:off x="97744" y="900332"/>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Slide Number Placeholder 2">
            <a:extLst>
              <a:ext uri="{FF2B5EF4-FFF2-40B4-BE49-F238E27FC236}">
                <a16:creationId xmlns:a16="http://schemas.microsoft.com/office/drawing/2014/main" id="{B58137FD-41D9-4731-B81E-B3861AB1D8B2}"/>
              </a:ext>
            </a:extLst>
          </p:cNvPr>
          <p:cNvSpPr>
            <a:spLocks noGrp="1"/>
          </p:cNvSpPr>
          <p:nvPr>
            <p:ph type="sldNum" sz="quarter" idx="12"/>
          </p:nvPr>
        </p:nvSpPr>
        <p:spPr/>
        <p:txBody>
          <a:bodyPr/>
          <a:lstStyle/>
          <a:p>
            <a:fld id="{127DDC20-79C9-9647-820E-6D40A3D210C3}" type="slidenum">
              <a:rPr lang="en-US" smtClean="0"/>
              <a:pPr/>
              <a:t>25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808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580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8085" grpId="0" animBg="1"/>
      <p:bldP spid="55808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p:cNvSpPr>
            <a:spLocks noGrp="1" noChangeArrowheads="1"/>
          </p:cNvSpPr>
          <p:nvPr>
            <p:ph idx="1"/>
          </p:nvPr>
        </p:nvSpPr>
        <p:spPr>
          <a:xfrm>
            <a:off x="1" y="1028700"/>
            <a:ext cx="8001000" cy="3741896"/>
          </a:xfrm>
        </p:spPr>
        <p:txBody>
          <a:bodyPr/>
          <a:lstStyle/>
          <a:p>
            <a:pPr>
              <a:buFont typeface="Courier New" panose="02070309020205020404" pitchFamily="49" charset="0"/>
              <a:buChar char="o"/>
            </a:pPr>
            <a:r>
              <a:rPr lang="en-US" dirty="0"/>
              <a:t>Can be used to show the primary mapped area in relation to a larger, more recognizable area (a locator map)</a:t>
            </a:r>
          </a:p>
        </p:txBody>
      </p:sp>
      <p:pic>
        <p:nvPicPr>
          <p:cNvPr id="43012" name="Picture 4" descr="Map showing inset map"/>
          <p:cNvPicPr>
            <a:picLocks noChangeAspect="1" noChangeArrowheads="1"/>
          </p:cNvPicPr>
          <p:nvPr/>
        </p:nvPicPr>
        <p:blipFill>
          <a:blip r:embed="rId2" cstate="print"/>
          <a:srcRect r="51628"/>
          <a:stretch>
            <a:fillRect/>
          </a:stretch>
        </p:blipFill>
        <p:spPr bwMode="auto">
          <a:xfrm>
            <a:off x="3094673" y="2499736"/>
            <a:ext cx="1988820" cy="2600682"/>
          </a:xfrm>
          <a:prstGeom prst="rect">
            <a:avLst/>
          </a:prstGeom>
          <a:noFill/>
          <a:ln w="9525">
            <a:noFill/>
            <a:miter lim="800000"/>
            <a:headEnd/>
            <a:tailEnd/>
          </a:ln>
        </p:spPr>
      </p:pic>
      <p:sp>
        <p:nvSpPr>
          <p:cNvPr id="43013" name="Text Box 5"/>
          <p:cNvSpPr txBox="1">
            <a:spLocks noChangeArrowheads="1"/>
          </p:cNvSpPr>
          <p:nvPr/>
        </p:nvSpPr>
        <p:spPr bwMode="auto">
          <a:xfrm>
            <a:off x="5083492" y="4589899"/>
            <a:ext cx="2628749" cy="369332"/>
          </a:xfrm>
          <a:prstGeom prst="rect">
            <a:avLst/>
          </a:prstGeom>
          <a:noFill/>
          <a:ln w="9525">
            <a:noFill/>
            <a:miter lim="800000"/>
            <a:headEnd/>
            <a:tailEnd/>
          </a:ln>
        </p:spPr>
        <p:txBody>
          <a:bodyPr wrap="square">
            <a:spAutoFit/>
          </a:bodyPr>
          <a:lstStyle/>
          <a:p>
            <a:pPr>
              <a:spcBef>
                <a:spcPct val="50000"/>
              </a:spcBef>
            </a:pPr>
            <a:r>
              <a:rPr lang="en-US" dirty="0"/>
              <a:t>Shows Relative Location</a:t>
            </a:r>
          </a:p>
        </p:txBody>
      </p:sp>
      <p:sp>
        <p:nvSpPr>
          <p:cNvPr id="6" name="Title 1">
            <a:extLst>
              <a:ext uri="{FF2B5EF4-FFF2-40B4-BE49-F238E27FC236}">
                <a16:creationId xmlns:a16="http://schemas.microsoft.com/office/drawing/2014/main" id="{46503174-4FE4-4595-989A-6D181ED22B91}"/>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Inset</a:t>
            </a:r>
          </a:p>
        </p:txBody>
      </p:sp>
      <p:cxnSp>
        <p:nvCxnSpPr>
          <p:cNvPr id="7" name="Straight Connector 6">
            <a:extLst>
              <a:ext uri="{FF2B5EF4-FFF2-40B4-BE49-F238E27FC236}">
                <a16:creationId xmlns:a16="http://schemas.microsoft.com/office/drawing/2014/main" id="{43010A6F-5F16-4792-9D9A-261959451E3A}"/>
              </a:ext>
            </a:extLst>
          </p:cNvPr>
          <p:cNvCxnSpPr/>
          <p:nvPr/>
        </p:nvCxnSpPr>
        <p:spPr>
          <a:xfrm>
            <a:off x="97744" y="900332"/>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43EC66FD-A2AF-464E-9B18-44D87E94373B}"/>
              </a:ext>
            </a:extLst>
          </p:cNvPr>
          <p:cNvSpPr>
            <a:spLocks noGrp="1"/>
          </p:cNvSpPr>
          <p:nvPr>
            <p:ph type="sldNum" sz="quarter" idx="12"/>
          </p:nvPr>
        </p:nvSpPr>
        <p:spPr/>
        <p:txBody>
          <a:bodyPr/>
          <a:lstStyle/>
          <a:p>
            <a:fld id="{127DDC20-79C9-9647-820E-6D40A3D210C3}" type="slidenum">
              <a:rPr lang="en-US" smtClean="0"/>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p:cNvSpPr>
            <a:spLocks noGrp="1" noChangeArrowheads="1"/>
          </p:cNvSpPr>
          <p:nvPr>
            <p:ph idx="1"/>
          </p:nvPr>
        </p:nvSpPr>
        <p:spPr>
          <a:xfrm>
            <a:off x="118533" y="1028700"/>
            <a:ext cx="8001000" cy="3741896"/>
          </a:xfrm>
        </p:spPr>
        <p:txBody>
          <a:bodyPr/>
          <a:lstStyle/>
          <a:p>
            <a:pPr>
              <a:buFont typeface="Courier New" panose="02070309020205020404" pitchFamily="49" charset="0"/>
              <a:buChar char="o"/>
            </a:pPr>
            <a:r>
              <a:rPr lang="en-US" dirty="0"/>
              <a:t>Can be used to enlarge important or congested areas (a zoom, or blow-up map)</a:t>
            </a:r>
          </a:p>
        </p:txBody>
      </p:sp>
      <p:sp>
        <p:nvSpPr>
          <p:cNvPr id="44036" name="Text Box 5"/>
          <p:cNvSpPr txBox="1">
            <a:spLocks noChangeArrowheads="1"/>
          </p:cNvSpPr>
          <p:nvPr/>
        </p:nvSpPr>
        <p:spPr bwMode="auto">
          <a:xfrm>
            <a:off x="5087780" y="3604192"/>
            <a:ext cx="2865094" cy="646331"/>
          </a:xfrm>
          <a:prstGeom prst="rect">
            <a:avLst/>
          </a:prstGeom>
          <a:noFill/>
          <a:ln w="9525">
            <a:noFill/>
            <a:miter lim="800000"/>
            <a:headEnd/>
            <a:tailEnd/>
          </a:ln>
        </p:spPr>
        <p:txBody>
          <a:bodyPr wrap="square">
            <a:spAutoFit/>
          </a:bodyPr>
          <a:lstStyle/>
          <a:p>
            <a:pPr>
              <a:spcBef>
                <a:spcPct val="50000"/>
              </a:spcBef>
            </a:pPr>
            <a:r>
              <a:rPr lang="en-US" dirty="0"/>
              <a:t>Shows Enlargement of an Area</a:t>
            </a:r>
          </a:p>
        </p:txBody>
      </p:sp>
      <p:grpSp>
        <p:nvGrpSpPr>
          <p:cNvPr id="44037" name="Group 7" descr="Map showing inset map"/>
          <p:cNvGrpSpPr>
            <a:grpSpLocks/>
          </p:cNvGrpSpPr>
          <p:nvPr/>
        </p:nvGrpSpPr>
        <p:grpSpPr bwMode="auto">
          <a:xfrm>
            <a:off x="3097889" y="2127052"/>
            <a:ext cx="1989891" cy="2600682"/>
            <a:chOff x="3065463" y="2770188"/>
            <a:chExt cx="2947987" cy="3852862"/>
          </a:xfrm>
        </p:grpSpPr>
        <p:pic>
          <p:nvPicPr>
            <p:cNvPr id="44038" name="Picture 4"/>
            <p:cNvPicPr>
              <a:picLocks noChangeAspect="1" noChangeArrowheads="1"/>
            </p:cNvPicPr>
            <p:nvPr/>
          </p:nvPicPr>
          <p:blipFill>
            <a:blip r:embed="rId2" cstate="print"/>
            <a:srcRect l="51500" r="102"/>
            <a:stretch>
              <a:fillRect/>
            </a:stretch>
          </p:blipFill>
          <p:spPr bwMode="auto">
            <a:xfrm>
              <a:off x="3065463" y="2770188"/>
              <a:ext cx="2947987" cy="3852862"/>
            </a:xfrm>
            <a:prstGeom prst="rect">
              <a:avLst/>
            </a:prstGeom>
            <a:noFill/>
            <a:ln w="9525">
              <a:noFill/>
              <a:miter lim="800000"/>
              <a:headEnd/>
              <a:tailEnd/>
            </a:ln>
          </p:spPr>
        </p:pic>
        <p:pic>
          <p:nvPicPr>
            <p:cNvPr id="44039" name="Picture 7"/>
            <p:cNvPicPr>
              <a:picLocks noChangeAspect="1" noChangeArrowheads="1"/>
            </p:cNvPicPr>
            <p:nvPr/>
          </p:nvPicPr>
          <p:blipFill>
            <a:blip r:embed="rId3" cstate="print"/>
            <a:srcRect/>
            <a:stretch>
              <a:fillRect/>
            </a:stretch>
          </p:blipFill>
          <p:spPr bwMode="auto">
            <a:xfrm>
              <a:off x="3094131" y="2825270"/>
              <a:ext cx="309896" cy="350588"/>
            </a:xfrm>
            <a:prstGeom prst="rect">
              <a:avLst/>
            </a:prstGeom>
            <a:noFill/>
            <a:ln w="9525" algn="ctr">
              <a:noFill/>
              <a:miter lim="800000"/>
              <a:headEnd/>
              <a:tailEnd/>
            </a:ln>
          </p:spPr>
        </p:pic>
      </p:grpSp>
      <p:sp>
        <p:nvSpPr>
          <p:cNvPr id="7" name="Title 1">
            <a:extLst>
              <a:ext uri="{FF2B5EF4-FFF2-40B4-BE49-F238E27FC236}">
                <a16:creationId xmlns:a16="http://schemas.microsoft.com/office/drawing/2014/main" id="{37B72747-AACF-4630-9452-DEEED7FB74F7}"/>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Inset</a:t>
            </a:r>
          </a:p>
        </p:txBody>
      </p:sp>
      <p:cxnSp>
        <p:nvCxnSpPr>
          <p:cNvPr id="8" name="Straight Connector 7">
            <a:extLst>
              <a:ext uri="{FF2B5EF4-FFF2-40B4-BE49-F238E27FC236}">
                <a16:creationId xmlns:a16="http://schemas.microsoft.com/office/drawing/2014/main" id="{C948FA30-454E-4173-A665-B3928D962439}"/>
              </a:ext>
            </a:extLst>
          </p:cNvPr>
          <p:cNvCxnSpPr/>
          <p:nvPr/>
        </p:nvCxnSpPr>
        <p:spPr>
          <a:xfrm>
            <a:off x="97744" y="900332"/>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F2A44B9F-3AF1-4B1C-807E-2EFF53DCCF5F}"/>
              </a:ext>
            </a:extLst>
          </p:cNvPr>
          <p:cNvSpPr>
            <a:spLocks noGrp="1"/>
          </p:cNvSpPr>
          <p:nvPr>
            <p:ph type="sldNum" sz="quarter" idx="12"/>
          </p:nvPr>
        </p:nvSpPr>
        <p:spPr/>
        <p:txBody>
          <a:bodyPr/>
          <a:lstStyle/>
          <a:p>
            <a:fld id="{127DDC20-79C9-9647-820E-6D40A3D210C3}" type="slidenum">
              <a:rPr lang="en-US" smtClean="0"/>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p:cNvSpPr>
            <a:spLocks noGrp="1" noChangeArrowheads="1"/>
          </p:cNvSpPr>
          <p:nvPr>
            <p:ph idx="1"/>
          </p:nvPr>
        </p:nvSpPr>
        <p:spPr>
          <a:xfrm>
            <a:off x="97744" y="942336"/>
            <a:ext cx="7822018" cy="3741896"/>
          </a:xfrm>
        </p:spPr>
        <p:txBody>
          <a:bodyPr/>
          <a:lstStyle/>
          <a:p>
            <a:pPr>
              <a:buFont typeface="Courier New" panose="02070309020205020404" pitchFamily="49" charset="0"/>
              <a:buChar char="o"/>
            </a:pPr>
            <a:r>
              <a:rPr lang="en-US" dirty="0"/>
              <a:t>Can be used to show topics that are related to the map’s theme, or different dates of a common theme </a:t>
            </a:r>
          </a:p>
        </p:txBody>
      </p:sp>
      <p:pic>
        <p:nvPicPr>
          <p:cNvPr id="45060" name="Picture 4" descr="Map showing inset map"/>
          <p:cNvPicPr>
            <a:picLocks noChangeAspect="1" noChangeArrowheads="1"/>
          </p:cNvPicPr>
          <p:nvPr/>
        </p:nvPicPr>
        <p:blipFill>
          <a:blip r:embed="rId2" cstate="print"/>
          <a:srcRect/>
          <a:stretch>
            <a:fillRect/>
          </a:stretch>
        </p:blipFill>
        <p:spPr bwMode="auto">
          <a:xfrm>
            <a:off x="2283254" y="2103733"/>
            <a:ext cx="3629979" cy="2996685"/>
          </a:xfrm>
          <a:prstGeom prst="rect">
            <a:avLst/>
          </a:prstGeom>
          <a:noFill/>
          <a:ln w="9525" algn="ctr">
            <a:noFill/>
            <a:miter lim="800000"/>
            <a:headEnd/>
            <a:tailEnd/>
          </a:ln>
        </p:spPr>
      </p:pic>
      <p:sp>
        <p:nvSpPr>
          <p:cNvPr id="45061" name="Text Box 5"/>
          <p:cNvSpPr txBox="1">
            <a:spLocks noChangeArrowheads="1"/>
          </p:cNvSpPr>
          <p:nvPr/>
        </p:nvSpPr>
        <p:spPr bwMode="auto">
          <a:xfrm>
            <a:off x="5938600" y="3348159"/>
            <a:ext cx="2193256" cy="507831"/>
          </a:xfrm>
          <a:prstGeom prst="rect">
            <a:avLst/>
          </a:prstGeom>
          <a:noFill/>
          <a:ln w="9525">
            <a:noFill/>
            <a:miter lim="800000"/>
            <a:headEnd/>
            <a:tailEnd/>
          </a:ln>
        </p:spPr>
        <p:txBody>
          <a:bodyPr wrap="square">
            <a:spAutoFit/>
          </a:bodyPr>
          <a:lstStyle/>
          <a:p>
            <a:pPr>
              <a:spcBef>
                <a:spcPct val="50000"/>
              </a:spcBef>
            </a:pPr>
            <a:r>
              <a:rPr lang="en-US" sz="1350" dirty="0"/>
              <a:t>Shows Related Themes or Dates</a:t>
            </a:r>
          </a:p>
        </p:txBody>
      </p:sp>
      <p:sp>
        <p:nvSpPr>
          <p:cNvPr id="5" name="Title 1">
            <a:extLst>
              <a:ext uri="{FF2B5EF4-FFF2-40B4-BE49-F238E27FC236}">
                <a16:creationId xmlns:a16="http://schemas.microsoft.com/office/drawing/2014/main" id="{BCABD497-227D-4F1C-8AD4-4BB345925C13}"/>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Inset</a:t>
            </a:r>
          </a:p>
        </p:txBody>
      </p:sp>
      <p:cxnSp>
        <p:nvCxnSpPr>
          <p:cNvPr id="6" name="Straight Connector 5">
            <a:extLst>
              <a:ext uri="{FF2B5EF4-FFF2-40B4-BE49-F238E27FC236}">
                <a16:creationId xmlns:a16="http://schemas.microsoft.com/office/drawing/2014/main" id="{6FD9511C-50FD-47E9-B296-151B83374AA9}"/>
              </a:ext>
            </a:extLst>
          </p:cNvPr>
          <p:cNvCxnSpPr/>
          <p:nvPr/>
        </p:nvCxnSpPr>
        <p:spPr>
          <a:xfrm>
            <a:off x="97744" y="900332"/>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22272FC1-9DAC-4E75-A52B-CF0BB1588671}"/>
              </a:ext>
            </a:extLst>
          </p:cNvPr>
          <p:cNvSpPr>
            <a:spLocks noGrp="1"/>
          </p:cNvSpPr>
          <p:nvPr>
            <p:ph type="sldNum" sz="quarter" idx="12"/>
          </p:nvPr>
        </p:nvSpPr>
        <p:spPr/>
        <p:txBody>
          <a:bodyPr/>
          <a:lstStyle/>
          <a:p>
            <a:fld id="{127DDC20-79C9-9647-820E-6D40A3D210C3}" type="slidenum">
              <a:rPr lang="en-US" smtClean="0"/>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3"/>
          <p:cNvSpPr>
            <a:spLocks noGrp="1" noChangeArrowheads="1"/>
          </p:cNvSpPr>
          <p:nvPr>
            <p:ph idx="1"/>
          </p:nvPr>
        </p:nvSpPr>
        <p:spPr>
          <a:xfrm>
            <a:off x="276726" y="1028700"/>
            <a:ext cx="7822017" cy="3741896"/>
          </a:xfrm>
        </p:spPr>
        <p:txBody>
          <a:bodyPr>
            <a:normAutofit/>
          </a:bodyPr>
          <a:lstStyle/>
          <a:p>
            <a:pPr>
              <a:buFont typeface="Courier New" panose="02070309020205020404" pitchFamily="49" charset="0"/>
              <a:buChar char="o"/>
            </a:pPr>
            <a:r>
              <a:rPr lang="en-US" dirty="0"/>
              <a:t>The title and subtitle tell the map user what the map is about</a:t>
            </a:r>
          </a:p>
          <a:p>
            <a:pPr>
              <a:buFont typeface="Courier New" panose="02070309020205020404" pitchFamily="49" charset="0"/>
              <a:buChar char="o"/>
            </a:pPr>
            <a:r>
              <a:rPr lang="en-US" dirty="0"/>
              <a:t>Most thematic maps require a title</a:t>
            </a:r>
          </a:p>
          <a:p>
            <a:pPr marL="765810" lvl="1" indent="-457200">
              <a:buFont typeface="Wingdings" panose="05000000000000000000" pitchFamily="2" charset="2"/>
              <a:buChar char="ü"/>
            </a:pPr>
            <a:r>
              <a:rPr lang="en-US" dirty="0"/>
              <a:t>A title is sometimes omitted when a map is used as a figure in a written document, assuming that the title is clearly expressed in the figure caption </a:t>
            </a:r>
          </a:p>
          <a:p>
            <a:pPr marL="765810" lvl="1" indent="-457200">
              <a:buFont typeface="Wingdings" panose="05000000000000000000" pitchFamily="2" charset="2"/>
              <a:buChar char="ü"/>
            </a:pPr>
            <a:r>
              <a:rPr lang="en-US" dirty="0"/>
              <a:t>A well-crafted title can draw attention to a map</a:t>
            </a:r>
          </a:p>
        </p:txBody>
      </p:sp>
      <p:sp>
        <p:nvSpPr>
          <p:cNvPr id="4" name="Title 1">
            <a:extLst>
              <a:ext uri="{FF2B5EF4-FFF2-40B4-BE49-F238E27FC236}">
                <a16:creationId xmlns:a16="http://schemas.microsoft.com/office/drawing/2014/main" id="{0D31F3B9-0D40-4EC4-A10B-83DD74E02A6E}"/>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Title and Subtitle</a:t>
            </a:r>
          </a:p>
        </p:txBody>
      </p:sp>
      <p:cxnSp>
        <p:nvCxnSpPr>
          <p:cNvPr id="5" name="Straight Connector 4">
            <a:extLst>
              <a:ext uri="{FF2B5EF4-FFF2-40B4-BE49-F238E27FC236}">
                <a16:creationId xmlns:a16="http://schemas.microsoft.com/office/drawing/2014/main" id="{84E6B52A-61DB-426D-90C5-6B442F66C88D}"/>
              </a:ext>
            </a:extLst>
          </p:cNvPr>
          <p:cNvCxnSpPr/>
          <p:nvPr/>
        </p:nvCxnSpPr>
        <p:spPr>
          <a:xfrm>
            <a:off x="97744" y="900332"/>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A377875D-A43F-4EBF-AFDB-873253B2C454}"/>
              </a:ext>
            </a:extLst>
          </p:cNvPr>
          <p:cNvSpPr>
            <a:spLocks noGrp="1"/>
          </p:cNvSpPr>
          <p:nvPr>
            <p:ph type="sldNum" sz="quarter" idx="12"/>
          </p:nvPr>
        </p:nvSpPr>
        <p:spPr/>
        <p:txBody>
          <a:bodyPr/>
          <a:lstStyle/>
          <a:p>
            <a:fld id="{127DDC20-79C9-9647-820E-6D40A3D210C3}" type="slidenum">
              <a:rPr lang="en-US" smtClean="0"/>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4" descr="Map showing title"/>
          <p:cNvPicPr preferRelativeResize="0">
            <a:picLocks noChangeAspect="1" noChangeArrowheads="1"/>
          </p:cNvPicPr>
          <p:nvPr/>
        </p:nvPicPr>
        <p:blipFill>
          <a:blip r:embed="rId2" cstate="print"/>
          <a:srcRect/>
          <a:stretch>
            <a:fillRect/>
          </a:stretch>
        </p:blipFill>
        <p:spPr bwMode="auto">
          <a:xfrm>
            <a:off x="1627704" y="1052274"/>
            <a:ext cx="4979551" cy="3660458"/>
          </a:xfrm>
          <a:prstGeom prst="rect">
            <a:avLst/>
          </a:prstGeom>
          <a:noFill/>
          <a:ln w="9525">
            <a:noFill/>
            <a:miter lim="800000"/>
            <a:headEnd/>
            <a:tailEnd/>
          </a:ln>
        </p:spPr>
      </p:pic>
      <p:sp>
        <p:nvSpPr>
          <p:cNvPr id="522246" name="Oval 6" descr="Red circle"/>
          <p:cNvSpPr>
            <a:spLocks noChangeArrowheads="1"/>
          </p:cNvSpPr>
          <p:nvPr/>
        </p:nvSpPr>
        <p:spPr bwMode="auto">
          <a:xfrm>
            <a:off x="2734629" y="991196"/>
            <a:ext cx="2699266" cy="490776"/>
          </a:xfrm>
          <a:prstGeom prst="ellipse">
            <a:avLst/>
          </a:prstGeom>
          <a:noFill/>
          <a:ln w="25400">
            <a:solidFill>
              <a:srgbClr val="FF0000"/>
            </a:solidFill>
            <a:round/>
            <a:headEnd/>
            <a:tailEnd/>
          </a:ln>
        </p:spPr>
        <p:txBody>
          <a:bodyPr wrap="none" anchor="ctr"/>
          <a:lstStyle/>
          <a:p>
            <a:endParaRPr lang="en-US" sz="1215"/>
          </a:p>
        </p:txBody>
      </p:sp>
      <p:sp>
        <p:nvSpPr>
          <p:cNvPr id="5" name="Title 1">
            <a:extLst>
              <a:ext uri="{FF2B5EF4-FFF2-40B4-BE49-F238E27FC236}">
                <a16:creationId xmlns:a16="http://schemas.microsoft.com/office/drawing/2014/main" id="{394F6D9B-E409-4462-ADE8-FFEA74E1E721}"/>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Title</a:t>
            </a:r>
          </a:p>
        </p:txBody>
      </p:sp>
      <p:cxnSp>
        <p:nvCxnSpPr>
          <p:cNvPr id="6" name="Straight Connector 5">
            <a:extLst>
              <a:ext uri="{FF2B5EF4-FFF2-40B4-BE49-F238E27FC236}">
                <a16:creationId xmlns:a16="http://schemas.microsoft.com/office/drawing/2014/main" id="{3200F7A7-3862-4CBB-A454-54B14E4DC980}"/>
              </a:ext>
            </a:extLst>
          </p:cNvPr>
          <p:cNvCxnSpPr/>
          <p:nvPr/>
        </p:nvCxnSpPr>
        <p:spPr>
          <a:xfrm>
            <a:off x="97744" y="900332"/>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F97CDB24-B92B-420F-A94E-75A3BB6D07D6}"/>
              </a:ext>
            </a:extLst>
          </p:cNvPr>
          <p:cNvSpPr>
            <a:spLocks noGrp="1"/>
          </p:cNvSpPr>
          <p:nvPr>
            <p:ph type="sldNum" sz="quarter" idx="12"/>
          </p:nvPr>
        </p:nvSpPr>
        <p:spPr/>
        <p:txBody>
          <a:bodyPr/>
          <a:lstStyle/>
          <a:p>
            <a:fld id="{127DDC20-79C9-9647-820E-6D40A3D210C3}" type="slidenum">
              <a:rPr lang="en-US" smtClean="0"/>
              <a:pPr/>
              <a:t>30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22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4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3"/>
          <p:cNvSpPr>
            <a:spLocks noGrp="1" noChangeArrowheads="1"/>
          </p:cNvSpPr>
          <p:nvPr>
            <p:ph idx="1"/>
          </p:nvPr>
        </p:nvSpPr>
        <p:spPr>
          <a:xfrm>
            <a:off x="343974" y="1010931"/>
            <a:ext cx="4737629" cy="3741896"/>
          </a:xfrm>
        </p:spPr>
        <p:txBody>
          <a:bodyPr>
            <a:normAutofit fontScale="92500" lnSpcReduction="10000"/>
          </a:bodyPr>
          <a:lstStyle/>
          <a:p>
            <a:pPr>
              <a:buFont typeface="Courier New" panose="02070309020205020404" pitchFamily="49" charset="0"/>
              <a:buChar char="o"/>
            </a:pPr>
            <a:r>
              <a:rPr lang="en-US" dirty="0"/>
              <a:t>The Title of a thematic map is a succinct description of the map’s theme</a:t>
            </a:r>
          </a:p>
          <a:p>
            <a:pPr marL="765810" lvl="1" indent="-457200">
              <a:buFont typeface="Wingdings" panose="05000000000000000000" pitchFamily="2" charset="2"/>
              <a:buChar char="ü"/>
            </a:pPr>
            <a:r>
              <a:rPr lang="en-US" dirty="0"/>
              <a:t>General reference maps typically employ the geographic region as the title </a:t>
            </a:r>
          </a:p>
          <a:p>
            <a:pPr>
              <a:buFont typeface="Courier New" panose="02070309020205020404" pitchFamily="49" charset="0"/>
              <a:buChar char="o"/>
            </a:pPr>
            <a:r>
              <a:rPr lang="en-US" dirty="0"/>
              <a:t>Unnecessary words should be omitted</a:t>
            </a:r>
          </a:p>
          <a:p>
            <a:pPr marL="765810" lvl="1" indent="-457200">
              <a:buFont typeface="Wingdings" panose="05000000000000000000" pitchFamily="2" charset="2"/>
              <a:buChar char="ü"/>
            </a:pPr>
            <a:r>
              <a:rPr lang="en-US" dirty="0"/>
              <a:t>But avoid cryptic abbreviations</a:t>
            </a:r>
          </a:p>
        </p:txBody>
      </p:sp>
      <p:pic>
        <p:nvPicPr>
          <p:cNvPr id="5" name="Picture 8" descr="Image showing title"/>
          <p:cNvPicPr>
            <a:picLocks noChangeAspect="1" noChangeArrowheads="1"/>
          </p:cNvPicPr>
          <p:nvPr/>
        </p:nvPicPr>
        <p:blipFill>
          <a:blip r:embed="rId3" cstate="print"/>
          <a:srcRect l="15105" t="1636" r="14639" b="65562"/>
          <a:stretch>
            <a:fillRect/>
          </a:stretch>
        </p:blipFill>
        <p:spPr bwMode="auto">
          <a:xfrm>
            <a:off x="5350863" y="1281374"/>
            <a:ext cx="2586752" cy="1096208"/>
          </a:xfrm>
          <a:prstGeom prst="rect">
            <a:avLst/>
          </a:prstGeom>
          <a:noFill/>
          <a:ln w="9525">
            <a:solidFill>
              <a:schemeClr val="tx1"/>
            </a:solidFill>
            <a:miter lim="800000"/>
            <a:headEnd/>
            <a:tailEnd/>
          </a:ln>
        </p:spPr>
      </p:pic>
      <p:pic>
        <p:nvPicPr>
          <p:cNvPr id="6" name="Picture 10" descr="Image showing title"/>
          <p:cNvPicPr>
            <a:picLocks noChangeAspect="1" noChangeArrowheads="1"/>
          </p:cNvPicPr>
          <p:nvPr/>
        </p:nvPicPr>
        <p:blipFill>
          <a:blip r:embed="rId4" cstate="print"/>
          <a:srcRect/>
          <a:stretch>
            <a:fillRect/>
          </a:stretch>
        </p:blipFill>
        <p:spPr bwMode="auto">
          <a:xfrm>
            <a:off x="5049148" y="3060560"/>
            <a:ext cx="3146585" cy="1627291"/>
          </a:xfrm>
          <a:prstGeom prst="rect">
            <a:avLst/>
          </a:prstGeom>
          <a:noFill/>
          <a:ln w="9525" algn="ctr">
            <a:noFill/>
            <a:miter lim="800000"/>
            <a:headEnd/>
            <a:tailEnd/>
          </a:ln>
        </p:spPr>
      </p:pic>
      <p:sp>
        <p:nvSpPr>
          <p:cNvPr id="7" name="Text Box 11"/>
          <p:cNvSpPr txBox="1">
            <a:spLocks noChangeArrowheads="1"/>
          </p:cNvSpPr>
          <p:nvPr/>
        </p:nvSpPr>
        <p:spPr bwMode="auto">
          <a:xfrm>
            <a:off x="5606716" y="2465837"/>
            <a:ext cx="1953355" cy="369332"/>
          </a:xfrm>
          <a:prstGeom prst="rect">
            <a:avLst/>
          </a:prstGeom>
          <a:noFill/>
          <a:ln w="9525">
            <a:noFill/>
            <a:miter lim="800000"/>
            <a:headEnd/>
            <a:tailEnd/>
          </a:ln>
        </p:spPr>
        <p:txBody>
          <a:bodyPr wrap="square">
            <a:spAutoFit/>
          </a:bodyPr>
          <a:lstStyle/>
          <a:p>
            <a:pPr>
              <a:spcBef>
                <a:spcPct val="50000"/>
              </a:spcBef>
            </a:pPr>
            <a:r>
              <a:rPr lang="en-US" dirty="0"/>
              <a:t>Appropriate Titles</a:t>
            </a:r>
          </a:p>
        </p:txBody>
      </p:sp>
      <p:sp>
        <p:nvSpPr>
          <p:cNvPr id="8" name="Text Box 12"/>
          <p:cNvSpPr txBox="1">
            <a:spLocks noChangeArrowheads="1"/>
          </p:cNvSpPr>
          <p:nvPr/>
        </p:nvSpPr>
        <p:spPr bwMode="auto">
          <a:xfrm>
            <a:off x="5572850" y="4716808"/>
            <a:ext cx="2330898" cy="369332"/>
          </a:xfrm>
          <a:prstGeom prst="rect">
            <a:avLst/>
          </a:prstGeom>
          <a:noFill/>
          <a:ln w="9525">
            <a:noFill/>
            <a:miter lim="800000"/>
            <a:headEnd/>
            <a:tailEnd/>
          </a:ln>
        </p:spPr>
        <p:txBody>
          <a:bodyPr wrap="square">
            <a:spAutoFit/>
          </a:bodyPr>
          <a:lstStyle/>
          <a:p>
            <a:pPr>
              <a:spcBef>
                <a:spcPct val="50000"/>
              </a:spcBef>
            </a:pPr>
            <a:r>
              <a:rPr lang="en-US" dirty="0"/>
              <a:t>Inappropriate Titles</a:t>
            </a:r>
          </a:p>
        </p:txBody>
      </p:sp>
      <p:sp>
        <p:nvSpPr>
          <p:cNvPr id="9" name="Title 1">
            <a:extLst>
              <a:ext uri="{FF2B5EF4-FFF2-40B4-BE49-F238E27FC236}">
                <a16:creationId xmlns:a16="http://schemas.microsoft.com/office/drawing/2014/main" id="{67C8B20B-6112-4776-90EF-A6A3D0FD1368}"/>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Title</a:t>
            </a:r>
          </a:p>
        </p:txBody>
      </p:sp>
      <p:cxnSp>
        <p:nvCxnSpPr>
          <p:cNvPr id="10" name="Straight Connector 9">
            <a:extLst>
              <a:ext uri="{FF2B5EF4-FFF2-40B4-BE49-F238E27FC236}">
                <a16:creationId xmlns:a16="http://schemas.microsoft.com/office/drawing/2014/main" id="{07EC9C58-9BCA-44CE-B251-0D75B105E716}"/>
              </a:ext>
            </a:extLst>
          </p:cNvPr>
          <p:cNvCxnSpPr/>
          <p:nvPr/>
        </p:nvCxnSpPr>
        <p:spPr>
          <a:xfrm>
            <a:off x="97744" y="900332"/>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248D387E-8241-4215-8BD8-E69099C96930}"/>
              </a:ext>
            </a:extLst>
          </p:cNvPr>
          <p:cNvSpPr>
            <a:spLocks noGrp="1"/>
          </p:cNvSpPr>
          <p:nvPr>
            <p:ph type="sldNum" sz="quarter" idx="12"/>
          </p:nvPr>
        </p:nvSpPr>
        <p:spPr/>
        <p:txBody>
          <a:bodyPr/>
          <a:lstStyle/>
          <a:p>
            <a:fld id="{127DDC20-79C9-9647-820E-6D40A3D210C3}" type="slidenum">
              <a:rPr lang="en-US" smtClean="0"/>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3"/>
          <p:cNvSpPr>
            <a:spLocks noGrp="1" noChangeArrowheads="1"/>
          </p:cNvSpPr>
          <p:nvPr>
            <p:ph idx="1"/>
          </p:nvPr>
        </p:nvSpPr>
        <p:spPr>
          <a:xfrm>
            <a:off x="118533" y="906780"/>
            <a:ext cx="7806268" cy="3741896"/>
          </a:xfrm>
        </p:spPr>
        <p:txBody>
          <a:bodyPr>
            <a:normAutofit/>
          </a:bodyPr>
          <a:lstStyle/>
          <a:p>
            <a:pPr>
              <a:buFont typeface="Courier New" panose="02070309020205020404" pitchFamily="49" charset="0"/>
              <a:buChar char="o"/>
            </a:pPr>
            <a:r>
              <a:rPr lang="en-US" dirty="0"/>
              <a:t>The subtitle, if employed, is used to further explain title</a:t>
            </a:r>
          </a:p>
          <a:p>
            <a:pPr marL="765810" lvl="1" indent="-457200">
              <a:buFont typeface="Wingdings" panose="05000000000000000000" pitchFamily="2" charset="2"/>
              <a:buChar char="ü"/>
            </a:pPr>
            <a:r>
              <a:rPr lang="en-US" dirty="0"/>
              <a:t>The geographic region and date are common components of the subtitle but is often omitted (when it is easily identifiable) </a:t>
            </a:r>
          </a:p>
          <a:p>
            <a:pPr lvl="1">
              <a:buFont typeface="Wingdings" panose="05000000000000000000" pitchFamily="2" charset="2"/>
              <a:buChar char="ü"/>
            </a:pPr>
            <a:r>
              <a:rPr lang="en-US" dirty="0"/>
              <a:t>The subtitle should be horizontally centered below the title</a:t>
            </a:r>
          </a:p>
          <a:p>
            <a:pPr lvl="1">
              <a:buFont typeface="Wingdings" panose="05000000000000000000" pitchFamily="2" charset="2"/>
              <a:buChar char="ü"/>
            </a:pPr>
            <a:r>
              <a:rPr lang="en-US" dirty="0"/>
              <a:t>The style of the Title and Subtitle should be plain</a:t>
            </a:r>
          </a:p>
          <a:p>
            <a:pPr marL="411480" indent="-411480"/>
            <a:endParaRPr lang="en-US" dirty="0"/>
          </a:p>
        </p:txBody>
      </p:sp>
      <p:sp>
        <p:nvSpPr>
          <p:cNvPr id="5" name="Title 1">
            <a:extLst>
              <a:ext uri="{FF2B5EF4-FFF2-40B4-BE49-F238E27FC236}">
                <a16:creationId xmlns:a16="http://schemas.microsoft.com/office/drawing/2014/main" id="{C29462B7-A495-4CAA-B007-3F4A85165AE4}"/>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Title with Subtitle</a:t>
            </a:r>
          </a:p>
        </p:txBody>
      </p:sp>
      <p:cxnSp>
        <p:nvCxnSpPr>
          <p:cNvPr id="6" name="Straight Connector 5">
            <a:extLst>
              <a:ext uri="{FF2B5EF4-FFF2-40B4-BE49-F238E27FC236}">
                <a16:creationId xmlns:a16="http://schemas.microsoft.com/office/drawing/2014/main" id="{0B5BDE92-44DC-496D-9C3C-CE78AFB53890}"/>
              </a:ext>
            </a:extLst>
          </p:cNvPr>
          <p:cNvCxnSpPr/>
          <p:nvPr/>
        </p:nvCxnSpPr>
        <p:spPr>
          <a:xfrm>
            <a:off x="97744" y="900332"/>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54C71E82-7583-4F79-AE49-B1DABC89BCD3}"/>
              </a:ext>
            </a:extLst>
          </p:cNvPr>
          <p:cNvSpPr>
            <a:spLocks noGrp="1"/>
          </p:cNvSpPr>
          <p:nvPr>
            <p:ph type="sldNum" sz="quarter" idx="12"/>
          </p:nvPr>
        </p:nvSpPr>
        <p:spPr/>
        <p:txBody>
          <a:bodyPr/>
          <a:lstStyle/>
          <a:p>
            <a:fld id="{127DDC20-79C9-9647-820E-6D40A3D210C3}" type="slidenum">
              <a:rPr lang="en-US" smtClean="0"/>
              <a:pPr/>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Image showing title"/>
          <p:cNvPicPr>
            <a:picLocks noChangeAspect="1" noChangeArrowheads="1"/>
          </p:cNvPicPr>
          <p:nvPr/>
        </p:nvPicPr>
        <p:blipFill>
          <a:blip r:embed="rId2" cstate="print"/>
          <a:srcRect/>
          <a:stretch>
            <a:fillRect/>
          </a:stretch>
        </p:blipFill>
        <p:spPr bwMode="auto">
          <a:xfrm>
            <a:off x="1967563" y="1360273"/>
            <a:ext cx="4060257" cy="2682978"/>
          </a:xfrm>
          <a:prstGeom prst="rect">
            <a:avLst/>
          </a:prstGeom>
          <a:noFill/>
          <a:ln w="9525" algn="ctr">
            <a:solidFill>
              <a:schemeClr val="tx1"/>
            </a:solidFill>
            <a:miter lim="800000"/>
            <a:headEnd/>
            <a:tailEnd/>
          </a:ln>
        </p:spPr>
      </p:pic>
      <p:sp>
        <p:nvSpPr>
          <p:cNvPr id="5" name="Title 1">
            <a:extLst>
              <a:ext uri="{FF2B5EF4-FFF2-40B4-BE49-F238E27FC236}">
                <a16:creationId xmlns:a16="http://schemas.microsoft.com/office/drawing/2014/main" id="{C29462B7-A495-4CAA-B007-3F4A85165AE4}"/>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Title with Subtitle</a:t>
            </a:r>
          </a:p>
        </p:txBody>
      </p:sp>
      <p:cxnSp>
        <p:nvCxnSpPr>
          <p:cNvPr id="6" name="Straight Connector 5">
            <a:extLst>
              <a:ext uri="{FF2B5EF4-FFF2-40B4-BE49-F238E27FC236}">
                <a16:creationId xmlns:a16="http://schemas.microsoft.com/office/drawing/2014/main" id="{0B5BDE92-44DC-496D-9C3C-CE78AFB53890}"/>
              </a:ext>
            </a:extLst>
          </p:cNvPr>
          <p:cNvCxnSpPr/>
          <p:nvPr/>
        </p:nvCxnSpPr>
        <p:spPr>
          <a:xfrm>
            <a:off x="97744" y="900332"/>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2C4729CB-A480-4867-A7BE-14882A75FBC3}"/>
              </a:ext>
            </a:extLst>
          </p:cNvPr>
          <p:cNvSpPr>
            <a:spLocks noGrp="1"/>
          </p:cNvSpPr>
          <p:nvPr>
            <p:ph type="sldNum" sz="quarter" idx="12"/>
          </p:nvPr>
        </p:nvSpPr>
        <p:spPr/>
        <p:txBody>
          <a:bodyPr/>
          <a:lstStyle/>
          <a:p>
            <a:fld id="{127DDC20-79C9-9647-820E-6D40A3D210C3}" type="slidenum">
              <a:rPr lang="en-US" smtClean="0"/>
              <a:pPr/>
              <a:t>33</a:t>
            </a:fld>
            <a:endParaRPr lang="en-US"/>
          </a:p>
        </p:txBody>
      </p:sp>
    </p:spTree>
    <p:extLst>
      <p:ext uri="{BB962C8B-B14F-4D97-AF65-F5344CB8AC3E}">
        <p14:creationId xmlns:p14="http://schemas.microsoft.com/office/powerpoint/2010/main" val="12118197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Image showing title "/>
          <p:cNvPicPr>
            <a:picLocks noChangeAspect="1" noChangeArrowheads="1"/>
          </p:cNvPicPr>
          <p:nvPr/>
        </p:nvPicPr>
        <p:blipFill>
          <a:blip r:embed="rId2" cstate="print"/>
          <a:srcRect/>
          <a:stretch>
            <a:fillRect/>
          </a:stretch>
        </p:blipFill>
        <p:spPr bwMode="auto">
          <a:xfrm>
            <a:off x="2606920" y="2652639"/>
            <a:ext cx="2982645" cy="2275115"/>
          </a:xfrm>
          <a:prstGeom prst="rect">
            <a:avLst/>
          </a:prstGeom>
          <a:noFill/>
          <a:ln w="9525">
            <a:solidFill>
              <a:schemeClr val="tx1"/>
            </a:solidFill>
            <a:miter lim="800000"/>
            <a:headEnd/>
            <a:tailEnd/>
          </a:ln>
        </p:spPr>
      </p:pic>
      <p:sp>
        <p:nvSpPr>
          <p:cNvPr id="54275" name="Rectangle 3"/>
          <p:cNvSpPr>
            <a:spLocks noGrp="1" noChangeArrowheads="1"/>
          </p:cNvSpPr>
          <p:nvPr>
            <p:ph idx="1"/>
          </p:nvPr>
        </p:nvSpPr>
        <p:spPr>
          <a:xfrm>
            <a:off x="97744" y="1028700"/>
            <a:ext cx="8000999" cy="1495572"/>
          </a:xfrm>
        </p:spPr>
        <p:txBody>
          <a:bodyPr>
            <a:normAutofit/>
          </a:bodyPr>
          <a:lstStyle/>
          <a:p>
            <a:pPr>
              <a:buFont typeface="Courier New" panose="02070309020205020404" pitchFamily="49" charset="0"/>
              <a:buChar char="o"/>
            </a:pPr>
            <a:r>
              <a:rPr lang="en-US" dirty="0"/>
              <a:t>Use a subtle mask behind the title and subtitle </a:t>
            </a:r>
            <a:r>
              <a:rPr lang="en-US" i="1" dirty="0"/>
              <a:t>only</a:t>
            </a:r>
            <a:r>
              <a:rPr lang="en-US" dirty="0"/>
              <a:t> if it is necessary to cover the underlying mapped area to improve legibility </a:t>
            </a:r>
          </a:p>
        </p:txBody>
      </p:sp>
      <p:sp>
        <p:nvSpPr>
          <p:cNvPr id="5" name="Title 1">
            <a:extLst>
              <a:ext uri="{FF2B5EF4-FFF2-40B4-BE49-F238E27FC236}">
                <a16:creationId xmlns:a16="http://schemas.microsoft.com/office/drawing/2014/main" id="{794C1703-83DC-46F3-868B-540D5CFC2B3D}"/>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Title with Subtitle</a:t>
            </a:r>
          </a:p>
        </p:txBody>
      </p:sp>
      <p:cxnSp>
        <p:nvCxnSpPr>
          <p:cNvPr id="6" name="Straight Connector 5">
            <a:extLst>
              <a:ext uri="{FF2B5EF4-FFF2-40B4-BE49-F238E27FC236}">
                <a16:creationId xmlns:a16="http://schemas.microsoft.com/office/drawing/2014/main" id="{97537838-2518-457F-83EF-9F124EA514F1}"/>
              </a:ext>
            </a:extLst>
          </p:cNvPr>
          <p:cNvCxnSpPr/>
          <p:nvPr/>
        </p:nvCxnSpPr>
        <p:spPr>
          <a:xfrm>
            <a:off x="97744" y="900332"/>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233060CB-C993-43E7-8D3E-B3EB2FC2EDD7}"/>
              </a:ext>
            </a:extLst>
          </p:cNvPr>
          <p:cNvSpPr>
            <a:spLocks noGrp="1"/>
          </p:cNvSpPr>
          <p:nvPr>
            <p:ph type="sldNum" sz="quarter" idx="12"/>
          </p:nvPr>
        </p:nvSpPr>
        <p:spPr/>
        <p:txBody>
          <a:bodyPr/>
          <a:lstStyle/>
          <a:p>
            <a:fld id="{127DDC20-79C9-9647-820E-6D40A3D210C3}" type="slidenum">
              <a:rPr lang="en-US" smtClean="0"/>
              <a:pPr/>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3"/>
          <p:cNvSpPr>
            <a:spLocks noGrp="1" noChangeArrowheads="1"/>
          </p:cNvSpPr>
          <p:nvPr>
            <p:ph idx="1"/>
          </p:nvPr>
        </p:nvSpPr>
        <p:spPr>
          <a:xfrm>
            <a:off x="204538" y="1003259"/>
            <a:ext cx="7218946" cy="3741896"/>
          </a:xfrm>
        </p:spPr>
        <p:txBody>
          <a:bodyPr>
            <a:normAutofit/>
          </a:bodyPr>
          <a:lstStyle/>
          <a:p>
            <a:pPr>
              <a:buFont typeface="Courier New" panose="02070309020205020404" pitchFamily="49" charset="0"/>
              <a:buChar char="o"/>
            </a:pPr>
            <a:r>
              <a:rPr lang="en-US" sz="2400" dirty="0"/>
              <a:t>If possible, place the title at top-center, </a:t>
            </a:r>
          </a:p>
          <a:p>
            <a:pPr>
              <a:buFont typeface="Courier New" panose="02070309020205020404" pitchFamily="49" charset="0"/>
              <a:buChar char="o"/>
            </a:pPr>
            <a:r>
              <a:rPr lang="en-US" sz="2400" dirty="0"/>
              <a:t>The title should normally be the largest type on a thematic map – subtitle smaller</a:t>
            </a:r>
          </a:p>
          <a:p>
            <a:pPr>
              <a:buFont typeface="Courier New" panose="02070309020205020404" pitchFamily="49" charset="0"/>
              <a:buChar char="o"/>
            </a:pPr>
            <a:r>
              <a:rPr lang="en-US" sz="2400" dirty="0"/>
              <a:t>Both the title and subtitle should be short and to the point (limited to one line each)</a:t>
            </a:r>
          </a:p>
          <a:p>
            <a:pPr marL="681514" lvl="1" indent="-411480"/>
            <a:endParaRPr lang="en-US" dirty="0"/>
          </a:p>
        </p:txBody>
      </p:sp>
      <p:sp>
        <p:nvSpPr>
          <p:cNvPr id="4" name="Title 1">
            <a:extLst>
              <a:ext uri="{FF2B5EF4-FFF2-40B4-BE49-F238E27FC236}">
                <a16:creationId xmlns:a16="http://schemas.microsoft.com/office/drawing/2014/main" id="{CA180E56-CCF6-4951-AD75-7B43C93F6126}"/>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Title with Subtitle</a:t>
            </a:r>
          </a:p>
        </p:txBody>
      </p:sp>
      <p:cxnSp>
        <p:nvCxnSpPr>
          <p:cNvPr id="5" name="Straight Connector 4">
            <a:extLst>
              <a:ext uri="{FF2B5EF4-FFF2-40B4-BE49-F238E27FC236}">
                <a16:creationId xmlns:a16="http://schemas.microsoft.com/office/drawing/2014/main" id="{E71D5279-6BE9-4D79-B098-ACC84DCEEF42}"/>
              </a:ext>
            </a:extLst>
          </p:cNvPr>
          <p:cNvCxnSpPr/>
          <p:nvPr/>
        </p:nvCxnSpPr>
        <p:spPr>
          <a:xfrm>
            <a:off x="97744" y="900332"/>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Slide Number Placeholder 2">
            <a:extLst>
              <a:ext uri="{FF2B5EF4-FFF2-40B4-BE49-F238E27FC236}">
                <a16:creationId xmlns:a16="http://schemas.microsoft.com/office/drawing/2014/main" id="{075840E2-98F2-4745-AF55-E0374045A5C7}"/>
              </a:ext>
            </a:extLst>
          </p:cNvPr>
          <p:cNvSpPr>
            <a:spLocks noGrp="1"/>
          </p:cNvSpPr>
          <p:nvPr>
            <p:ph type="sldNum" sz="quarter" idx="12"/>
          </p:nvPr>
        </p:nvSpPr>
        <p:spPr/>
        <p:txBody>
          <a:bodyPr/>
          <a:lstStyle/>
          <a:p>
            <a:fld id="{127DDC20-79C9-9647-820E-6D40A3D210C3}" type="slidenum">
              <a:rPr lang="en-US" smtClean="0"/>
              <a:p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29462B7-A495-4CAA-B007-3F4A85165AE4}"/>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endParaRPr lang="en-US" sz="2600" dirty="0">
              <a:solidFill>
                <a:srgbClr val="7030A0"/>
              </a:solidFill>
            </a:endParaRPr>
          </a:p>
        </p:txBody>
      </p:sp>
      <p:cxnSp>
        <p:nvCxnSpPr>
          <p:cNvPr id="6" name="Straight Connector 5">
            <a:extLst>
              <a:ext uri="{FF2B5EF4-FFF2-40B4-BE49-F238E27FC236}">
                <a16:creationId xmlns:a16="http://schemas.microsoft.com/office/drawing/2014/main" id="{0B5BDE92-44DC-496D-9C3C-CE78AFB53890}"/>
              </a:ext>
            </a:extLst>
          </p:cNvPr>
          <p:cNvCxnSpPr/>
          <p:nvPr/>
        </p:nvCxnSpPr>
        <p:spPr>
          <a:xfrm>
            <a:off x="97744" y="900332"/>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6F94CF86-5402-4D14-8DBA-9363AED1AFE4}"/>
              </a:ext>
            </a:extLst>
          </p:cNvPr>
          <p:cNvSpPr>
            <a:spLocks noGrp="1"/>
          </p:cNvSpPr>
          <p:nvPr>
            <p:ph type="sldNum" sz="quarter" idx="12"/>
          </p:nvPr>
        </p:nvSpPr>
        <p:spPr/>
        <p:txBody>
          <a:bodyPr/>
          <a:lstStyle/>
          <a:p>
            <a:fld id="{127DDC20-79C9-9647-820E-6D40A3D210C3}" type="slidenum">
              <a:rPr lang="en-US" smtClean="0"/>
              <a:pPr/>
              <a:t>36</a:t>
            </a:fld>
            <a:endParaRPr lang="en-US"/>
          </a:p>
        </p:txBody>
      </p:sp>
      <p:pic>
        <p:nvPicPr>
          <p:cNvPr id="4" name="Picture 3" descr="Image showing title location">
            <a:extLst>
              <a:ext uri="{FF2B5EF4-FFF2-40B4-BE49-F238E27FC236}">
                <a16:creationId xmlns:a16="http://schemas.microsoft.com/office/drawing/2014/main" id="{1D05451D-2CC5-D092-43E7-D1FAF7AD4048}"/>
              </a:ext>
            </a:extLst>
          </p:cNvPr>
          <p:cNvPicPr>
            <a:picLocks noChangeAspect="1"/>
          </p:cNvPicPr>
          <p:nvPr/>
        </p:nvPicPr>
        <p:blipFill>
          <a:blip r:embed="rId2"/>
          <a:stretch>
            <a:fillRect/>
          </a:stretch>
        </p:blipFill>
        <p:spPr>
          <a:xfrm>
            <a:off x="628231" y="1372102"/>
            <a:ext cx="6736516" cy="2921511"/>
          </a:xfrm>
          <a:prstGeom prst="rect">
            <a:avLst/>
          </a:prstGeom>
        </p:spPr>
      </p:pic>
      <p:sp>
        <p:nvSpPr>
          <p:cNvPr id="8" name="Rectangle 7">
            <a:extLst>
              <a:ext uri="{FF2B5EF4-FFF2-40B4-BE49-F238E27FC236}">
                <a16:creationId xmlns:a16="http://schemas.microsoft.com/office/drawing/2014/main" id="{BC8C18E5-6593-69D1-D32B-89F61F329B08}"/>
              </a:ext>
            </a:extLst>
          </p:cNvPr>
          <p:cNvSpPr/>
          <p:nvPr/>
        </p:nvSpPr>
        <p:spPr>
          <a:xfrm>
            <a:off x="524256" y="1219200"/>
            <a:ext cx="2438400" cy="3218683"/>
          </a:xfrm>
          <a:prstGeom prst="rect">
            <a:avLst/>
          </a:prstGeom>
          <a:noFill/>
          <a:ln>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3DBBE736-FE93-1F5E-6C96-F31F123F6257}"/>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Discussion</a:t>
            </a:r>
            <a:endParaRPr lang="en-US" sz="2600" dirty="0">
              <a:solidFill>
                <a:srgbClr val="7030A0"/>
              </a:solidFill>
            </a:endParaRPr>
          </a:p>
        </p:txBody>
      </p:sp>
    </p:spTree>
    <p:extLst>
      <p:ext uri="{BB962C8B-B14F-4D97-AF65-F5344CB8AC3E}">
        <p14:creationId xmlns:p14="http://schemas.microsoft.com/office/powerpoint/2010/main" val="1351608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3"/>
          <p:cNvSpPr>
            <a:spLocks noGrp="1" noChangeArrowheads="1"/>
          </p:cNvSpPr>
          <p:nvPr>
            <p:ph idx="1"/>
          </p:nvPr>
        </p:nvSpPr>
        <p:spPr>
          <a:xfrm>
            <a:off x="118533" y="960120"/>
            <a:ext cx="5067863" cy="3741896"/>
          </a:xfrm>
        </p:spPr>
        <p:txBody>
          <a:bodyPr>
            <a:normAutofit fontScale="92500" lnSpcReduction="10000"/>
          </a:bodyPr>
          <a:lstStyle/>
          <a:p>
            <a:pPr>
              <a:buFont typeface="Courier New" panose="02070309020205020404" pitchFamily="49" charset="0"/>
              <a:buChar char="o"/>
            </a:pPr>
            <a:r>
              <a:rPr lang="en-US" dirty="0"/>
              <a:t>Defines the symbols found on a map</a:t>
            </a:r>
          </a:p>
          <a:p>
            <a:pPr marL="765810" lvl="1" indent="-457200">
              <a:buFont typeface="Wingdings" panose="05000000000000000000" pitchFamily="2" charset="2"/>
              <a:buChar char="ü"/>
            </a:pPr>
            <a:r>
              <a:rPr lang="en-US" dirty="0"/>
              <a:t>On a thematic map, thematic symbols are defined, in addition to symbols for base information that are not self-explanatory </a:t>
            </a:r>
          </a:p>
          <a:p>
            <a:pPr marL="765810" lvl="1" indent="-457200">
              <a:buFont typeface="Wingdings" panose="05000000000000000000" pitchFamily="2" charset="2"/>
              <a:buChar char="ü"/>
            </a:pPr>
            <a:r>
              <a:rPr lang="en-US" dirty="0"/>
              <a:t>Legends for general reference maps often define all symbols found on the map—even if self-explanatory </a:t>
            </a:r>
          </a:p>
        </p:txBody>
      </p:sp>
      <p:pic>
        <p:nvPicPr>
          <p:cNvPr id="5" name="Picture 5" descr="Image showing legend"/>
          <p:cNvPicPr preferRelativeResize="0">
            <a:picLocks noChangeAspect="1" noChangeArrowheads="1"/>
          </p:cNvPicPr>
          <p:nvPr/>
        </p:nvPicPr>
        <p:blipFill>
          <a:blip r:embed="rId2" cstate="print"/>
          <a:srcRect/>
          <a:stretch>
            <a:fillRect/>
          </a:stretch>
        </p:blipFill>
        <p:spPr bwMode="auto">
          <a:xfrm>
            <a:off x="5104686" y="1871413"/>
            <a:ext cx="3048714" cy="2241104"/>
          </a:xfrm>
          <a:prstGeom prst="rect">
            <a:avLst/>
          </a:prstGeom>
          <a:noFill/>
          <a:ln w="9525">
            <a:noFill/>
            <a:miter lim="800000"/>
            <a:headEnd/>
            <a:tailEnd/>
          </a:ln>
        </p:spPr>
      </p:pic>
      <p:sp>
        <p:nvSpPr>
          <p:cNvPr id="4" name="Oval 6" descr="Red circle"/>
          <p:cNvSpPr>
            <a:spLocks noChangeArrowheads="1"/>
          </p:cNvSpPr>
          <p:nvPr/>
        </p:nvSpPr>
        <p:spPr bwMode="auto">
          <a:xfrm>
            <a:off x="7086362" y="2165607"/>
            <a:ext cx="1143238" cy="1128952"/>
          </a:xfrm>
          <a:prstGeom prst="ellipse">
            <a:avLst/>
          </a:prstGeom>
          <a:noFill/>
          <a:ln w="25400">
            <a:solidFill>
              <a:srgbClr val="FF0000"/>
            </a:solidFill>
            <a:round/>
            <a:headEnd/>
            <a:tailEnd/>
          </a:ln>
        </p:spPr>
        <p:txBody>
          <a:bodyPr wrap="none" anchor="ctr"/>
          <a:lstStyle/>
          <a:p>
            <a:endParaRPr lang="en-US" sz="1215"/>
          </a:p>
        </p:txBody>
      </p:sp>
      <p:cxnSp>
        <p:nvCxnSpPr>
          <p:cNvPr id="6" name="Straight Connector 5">
            <a:extLst>
              <a:ext uri="{FF2B5EF4-FFF2-40B4-BE49-F238E27FC236}">
                <a16:creationId xmlns:a16="http://schemas.microsoft.com/office/drawing/2014/main" id="{3D18346E-DA0E-431E-BAEF-42DBDAD3872B}"/>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796BFA1A-A1FB-49A0-8102-60E5A4E068D9}"/>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Legend</a:t>
            </a:r>
            <a:endParaRPr lang="en-US" sz="2600" i="1" dirty="0">
              <a:solidFill>
                <a:srgbClr val="7030A0"/>
              </a:solidFill>
            </a:endParaRPr>
          </a:p>
        </p:txBody>
      </p:sp>
      <p:sp>
        <p:nvSpPr>
          <p:cNvPr id="2" name="Slide Number Placeholder 1">
            <a:extLst>
              <a:ext uri="{FF2B5EF4-FFF2-40B4-BE49-F238E27FC236}">
                <a16:creationId xmlns:a16="http://schemas.microsoft.com/office/drawing/2014/main" id="{927DF29E-12A4-4AC0-82DF-1CBE83F69D99}"/>
              </a:ext>
            </a:extLst>
          </p:cNvPr>
          <p:cNvSpPr>
            <a:spLocks noGrp="1"/>
          </p:cNvSpPr>
          <p:nvPr>
            <p:ph type="sldNum" sz="quarter" idx="12"/>
          </p:nvPr>
        </p:nvSpPr>
        <p:spPr/>
        <p:txBody>
          <a:bodyPr/>
          <a:lstStyle/>
          <a:p>
            <a:fld id="{127DDC20-79C9-9647-820E-6D40A3D210C3}" type="slidenum">
              <a:rPr lang="en-US" smtClean="0"/>
              <a:pPr/>
              <a:t>37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showing legend"/>
          <p:cNvPicPr>
            <a:picLocks noChangeAspect="1" noChangeArrowheads="1"/>
          </p:cNvPicPr>
          <p:nvPr/>
        </p:nvPicPr>
        <p:blipFill>
          <a:blip r:embed="rId2" cstate="print"/>
          <a:srcRect t="20832" r="11942"/>
          <a:stretch>
            <a:fillRect/>
          </a:stretch>
        </p:blipFill>
        <p:spPr bwMode="auto">
          <a:xfrm>
            <a:off x="1191578" y="987547"/>
            <a:ext cx="5846445" cy="3877667"/>
          </a:xfrm>
          <a:prstGeom prst="rect">
            <a:avLst/>
          </a:prstGeom>
          <a:noFill/>
          <a:ln w="9525">
            <a:solidFill>
              <a:schemeClr val="tx1"/>
            </a:solidFill>
            <a:miter lim="800000"/>
            <a:headEnd/>
            <a:tailEnd/>
          </a:ln>
        </p:spPr>
      </p:pic>
      <p:cxnSp>
        <p:nvCxnSpPr>
          <p:cNvPr id="4" name="Straight Connector 3">
            <a:extLst>
              <a:ext uri="{FF2B5EF4-FFF2-40B4-BE49-F238E27FC236}">
                <a16:creationId xmlns:a16="http://schemas.microsoft.com/office/drawing/2014/main" id="{90FC3465-AE5E-40AD-B413-E75385D409BC}"/>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7FB43CB0-60B4-45D7-B361-A9517BBABC86}"/>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Legend</a:t>
            </a:r>
            <a:endParaRPr lang="en-US" sz="2600" i="1" dirty="0">
              <a:solidFill>
                <a:srgbClr val="7030A0"/>
              </a:solidFill>
            </a:endParaRPr>
          </a:p>
        </p:txBody>
      </p:sp>
      <p:sp>
        <p:nvSpPr>
          <p:cNvPr id="2" name="Slide Number Placeholder 1">
            <a:extLst>
              <a:ext uri="{FF2B5EF4-FFF2-40B4-BE49-F238E27FC236}">
                <a16:creationId xmlns:a16="http://schemas.microsoft.com/office/drawing/2014/main" id="{445DCFC8-8418-456D-A982-F3DF9DCE470B}"/>
              </a:ext>
            </a:extLst>
          </p:cNvPr>
          <p:cNvSpPr>
            <a:spLocks noGrp="1"/>
          </p:cNvSpPr>
          <p:nvPr>
            <p:ph type="sldNum" sz="quarter" idx="12"/>
          </p:nvPr>
        </p:nvSpPr>
        <p:spPr/>
        <p:txBody>
          <a:bodyPr/>
          <a:lstStyle/>
          <a:p>
            <a:fld id="{127DDC20-79C9-9647-820E-6D40A3D210C3}" type="slidenum">
              <a:rPr lang="en-US" smtClean="0"/>
              <a:pPr/>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3"/>
          <p:cNvSpPr>
            <a:spLocks noGrp="1" noChangeArrowheads="1"/>
          </p:cNvSpPr>
          <p:nvPr>
            <p:ph idx="1"/>
          </p:nvPr>
        </p:nvSpPr>
        <p:spPr>
          <a:xfrm>
            <a:off x="264695" y="1028700"/>
            <a:ext cx="7471610" cy="3741896"/>
          </a:xfrm>
        </p:spPr>
        <p:txBody>
          <a:bodyPr>
            <a:normAutofit lnSpcReduction="10000"/>
          </a:bodyPr>
          <a:lstStyle/>
          <a:p>
            <a:pPr>
              <a:buFont typeface="Courier New" panose="02070309020205020404" pitchFamily="49" charset="0"/>
              <a:buChar char="o"/>
            </a:pPr>
            <a:r>
              <a:rPr lang="en-US" dirty="0"/>
              <a:t>The style of the legend should be clear and straightforward</a:t>
            </a:r>
          </a:p>
          <a:p>
            <a:pPr marL="765810" lvl="1" indent="-457200">
              <a:buFont typeface="Wingdings" panose="05000000000000000000" pitchFamily="2" charset="2"/>
              <a:buChar char="ü"/>
            </a:pPr>
            <a:r>
              <a:rPr lang="en-US" dirty="0"/>
              <a:t>Use a subtle mask around the legend only if necessary to improve legibility</a:t>
            </a:r>
          </a:p>
          <a:p>
            <a:pPr>
              <a:buFont typeface="Courier New" panose="02070309020205020404" pitchFamily="49" charset="0"/>
              <a:buChar char="o"/>
            </a:pPr>
            <a:r>
              <a:rPr lang="en-US" dirty="0"/>
              <a:t>Symbols in the legend should be </a:t>
            </a:r>
            <a:r>
              <a:rPr lang="en-US" i="1" dirty="0"/>
              <a:t>identical</a:t>
            </a:r>
            <a:r>
              <a:rPr lang="en-US" dirty="0"/>
              <a:t> to those on the mapped area</a:t>
            </a:r>
          </a:p>
          <a:p>
            <a:pPr marL="765810" lvl="1" indent="-457200">
              <a:buFont typeface="Wingdings" panose="05000000000000000000" pitchFamily="2" charset="2"/>
              <a:buChar char="ü"/>
            </a:pPr>
            <a:r>
              <a:rPr lang="en-US" dirty="0"/>
              <a:t>This includes color and orientation</a:t>
            </a:r>
          </a:p>
          <a:p>
            <a:pPr>
              <a:buFont typeface="Courier New" panose="02070309020205020404" pitchFamily="49" charset="0"/>
              <a:buChar char="o"/>
            </a:pPr>
            <a:r>
              <a:rPr lang="en-US" dirty="0"/>
              <a:t>Don’t include the word “Legend”!</a:t>
            </a:r>
          </a:p>
        </p:txBody>
      </p:sp>
      <p:cxnSp>
        <p:nvCxnSpPr>
          <p:cNvPr id="3" name="Straight Connector 2">
            <a:extLst>
              <a:ext uri="{FF2B5EF4-FFF2-40B4-BE49-F238E27FC236}">
                <a16:creationId xmlns:a16="http://schemas.microsoft.com/office/drawing/2014/main" id="{AEA9B43E-379E-413C-BA2B-9EFC7E680DF0}"/>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Title 1">
            <a:extLst>
              <a:ext uri="{FF2B5EF4-FFF2-40B4-BE49-F238E27FC236}">
                <a16:creationId xmlns:a16="http://schemas.microsoft.com/office/drawing/2014/main" id="{AB652CB0-DBDF-4415-8C05-417C64B3B3CF}"/>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Legend</a:t>
            </a:r>
            <a:endParaRPr lang="en-US" sz="2600" i="1" dirty="0">
              <a:solidFill>
                <a:srgbClr val="7030A0"/>
              </a:solidFill>
            </a:endParaRPr>
          </a:p>
        </p:txBody>
      </p:sp>
      <p:sp>
        <p:nvSpPr>
          <p:cNvPr id="2" name="Slide Number Placeholder 1">
            <a:extLst>
              <a:ext uri="{FF2B5EF4-FFF2-40B4-BE49-F238E27FC236}">
                <a16:creationId xmlns:a16="http://schemas.microsoft.com/office/drawing/2014/main" id="{0FB47C73-BE05-4538-94D7-E9C881A32586}"/>
              </a:ext>
            </a:extLst>
          </p:cNvPr>
          <p:cNvSpPr>
            <a:spLocks noGrp="1"/>
          </p:cNvSpPr>
          <p:nvPr>
            <p:ph type="sldNum" sz="quarter" idx="12"/>
          </p:nvPr>
        </p:nvSpPr>
        <p:spPr/>
        <p:txBody>
          <a:bodyPr/>
          <a:lstStyle/>
          <a:p>
            <a:fld id="{127DDC20-79C9-9647-820E-6D40A3D210C3}" type="slidenum">
              <a:rPr lang="en-US" smtClean="0"/>
              <a:pPr/>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6" descr="Image showing legend"/>
          <p:cNvPicPr>
            <a:picLocks noChangeAspect="1" noChangeArrowheads="1"/>
          </p:cNvPicPr>
          <p:nvPr/>
        </p:nvPicPr>
        <p:blipFill>
          <a:blip r:embed="rId2" cstate="print"/>
          <a:srcRect/>
          <a:stretch>
            <a:fillRect/>
          </a:stretch>
        </p:blipFill>
        <p:spPr bwMode="auto">
          <a:xfrm>
            <a:off x="4628501" y="1484194"/>
            <a:ext cx="3529132" cy="1194611"/>
          </a:xfrm>
          <a:prstGeom prst="rect">
            <a:avLst/>
          </a:prstGeom>
          <a:noFill/>
          <a:ln w="9525" algn="ctr">
            <a:solidFill>
              <a:schemeClr val="tx1"/>
            </a:solidFill>
            <a:miter lim="800000"/>
            <a:headEnd/>
            <a:tailEnd/>
          </a:ln>
        </p:spPr>
      </p:pic>
      <p:sp>
        <p:nvSpPr>
          <p:cNvPr id="63492" name="Rectangle 3"/>
          <p:cNvSpPr>
            <a:spLocks noGrp="1" noChangeArrowheads="1"/>
          </p:cNvSpPr>
          <p:nvPr>
            <p:ph idx="1"/>
          </p:nvPr>
        </p:nvSpPr>
        <p:spPr>
          <a:xfrm>
            <a:off x="13905" y="1150032"/>
            <a:ext cx="4969043" cy="3741896"/>
          </a:xfrm>
        </p:spPr>
        <p:txBody>
          <a:bodyPr>
            <a:normAutofit fontScale="92500" lnSpcReduction="20000"/>
          </a:bodyPr>
          <a:lstStyle/>
          <a:p>
            <a:pPr>
              <a:buFont typeface="Courier New" panose="02070309020205020404" pitchFamily="49" charset="0"/>
              <a:buChar char="o"/>
            </a:pPr>
            <a:r>
              <a:rPr lang="en-US" dirty="0"/>
              <a:t>Representative symbols should be placed on the left and defined to the right</a:t>
            </a:r>
          </a:p>
          <a:p>
            <a:pPr>
              <a:buFont typeface="Courier New" panose="02070309020205020404" pitchFamily="49" charset="0"/>
              <a:buChar char="o"/>
            </a:pPr>
            <a:r>
              <a:rPr lang="en-US" dirty="0"/>
              <a:t>Symbols should be vertically centered with their definitions </a:t>
            </a:r>
          </a:p>
          <a:p>
            <a:pPr>
              <a:buFont typeface="Courier New" panose="02070309020205020404" pitchFamily="49" charset="0"/>
              <a:buChar char="o"/>
            </a:pPr>
            <a:r>
              <a:rPr lang="en-US" dirty="0"/>
              <a:t>Textual definitions and definitions consisting of individual numbers should be horizontally aligned to left</a:t>
            </a:r>
          </a:p>
          <a:p>
            <a:pPr marL="0" indent="0">
              <a:buNone/>
            </a:pPr>
            <a:r>
              <a:rPr lang="en-US" dirty="0"/>
              <a:t> </a:t>
            </a:r>
          </a:p>
          <a:p>
            <a:pPr marL="411480" indent="-411480"/>
            <a:endParaRPr lang="en-US" dirty="0"/>
          </a:p>
        </p:txBody>
      </p:sp>
      <p:pic>
        <p:nvPicPr>
          <p:cNvPr id="6" name="Picture 5" descr="Image showing legend"/>
          <p:cNvPicPr>
            <a:picLocks noChangeAspect="1" noChangeArrowheads="1"/>
          </p:cNvPicPr>
          <p:nvPr/>
        </p:nvPicPr>
        <p:blipFill>
          <a:blip r:embed="rId3" cstate="print"/>
          <a:srcRect/>
          <a:stretch>
            <a:fillRect/>
          </a:stretch>
        </p:blipFill>
        <p:spPr bwMode="auto">
          <a:xfrm>
            <a:off x="4628501" y="3183804"/>
            <a:ext cx="2939844" cy="1472489"/>
          </a:xfrm>
          <a:prstGeom prst="rect">
            <a:avLst/>
          </a:prstGeom>
          <a:noFill/>
          <a:ln w="9525">
            <a:solidFill>
              <a:schemeClr val="tx1"/>
            </a:solidFill>
            <a:miter lim="800000"/>
            <a:headEnd/>
            <a:tailEnd/>
          </a:ln>
        </p:spPr>
      </p:pic>
      <p:cxnSp>
        <p:nvCxnSpPr>
          <p:cNvPr id="5" name="Straight Connector 4">
            <a:extLst>
              <a:ext uri="{FF2B5EF4-FFF2-40B4-BE49-F238E27FC236}">
                <a16:creationId xmlns:a16="http://schemas.microsoft.com/office/drawing/2014/main" id="{21116FAE-883E-403E-8D82-753DB3137BCE}"/>
              </a:ext>
            </a:extLst>
          </p:cNvPr>
          <p:cNvCxnSpPr/>
          <p:nvPr/>
        </p:nvCxnSpPr>
        <p:spPr>
          <a:xfrm>
            <a:off x="156633"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01294233-E71F-4F80-9149-D92C046025C8}"/>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Legend</a:t>
            </a:r>
            <a:endParaRPr lang="en-US" sz="2600" i="1" dirty="0">
              <a:solidFill>
                <a:srgbClr val="7030A0"/>
              </a:solidFill>
            </a:endParaRPr>
          </a:p>
        </p:txBody>
      </p:sp>
      <p:sp>
        <p:nvSpPr>
          <p:cNvPr id="2" name="Slide Number Placeholder 1">
            <a:extLst>
              <a:ext uri="{FF2B5EF4-FFF2-40B4-BE49-F238E27FC236}">
                <a16:creationId xmlns:a16="http://schemas.microsoft.com/office/drawing/2014/main" id="{706BFF7E-7482-463B-A12E-08FEC3593452}"/>
              </a:ext>
            </a:extLst>
          </p:cNvPr>
          <p:cNvSpPr>
            <a:spLocks noGrp="1"/>
          </p:cNvSpPr>
          <p:nvPr>
            <p:ph type="sldNum" sz="quarter" idx="12"/>
          </p:nvPr>
        </p:nvSpPr>
        <p:spPr/>
        <p:txBody>
          <a:bodyPr/>
          <a:lstStyle/>
          <a:p>
            <a:fld id="{127DDC20-79C9-9647-820E-6D40A3D210C3}" type="slidenum">
              <a:rPr lang="en-US" smtClean="0"/>
              <a:pPr/>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3"/>
          <p:cNvSpPr>
            <a:spLocks noGrp="1" noChangeArrowheads="1"/>
          </p:cNvSpPr>
          <p:nvPr>
            <p:ph idx="1"/>
          </p:nvPr>
        </p:nvSpPr>
        <p:spPr>
          <a:xfrm>
            <a:off x="156633" y="1046747"/>
            <a:ext cx="6820496" cy="3741896"/>
          </a:xfrm>
        </p:spPr>
        <p:txBody>
          <a:bodyPr/>
          <a:lstStyle/>
          <a:p>
            <a:pPr>
              <a:buFont typeface="Courier New" panose="02070309020205020404" pitchFamily="49" charset="0"/>
              <a:buChar char="o"/>
            </a:pPr>
            <a:r>
              <a:rPr lang="en-US" dirty="0"/>
              <a:t>Definitions containing numbers of 1,000 or greater should incorporate commas</a:t>
            </a:r>
          </a:p>
          <a:p>
            <a:pPr>
              <a:buFont typeface="Courier New" panose="02070309020205020404" pitchFamily="49" charset="0"/>
              <a:buChar char="o"/>
            </a:pPr>
            <a:r>
              <a:rPr lang="en-US" dirty="0"/>
              <a:t>Decimal numbers smaller than one should incorporate a leading zero </a:t>
            </a:r>
          </a:p>
        </p:txBody>
      </p:sp>
      <p:pic>
        <p:nvPicPr>
          <p:cNvPr id="66564" name="Picture 5" descr="Image showing legend"/>
          <p:cNvPicPr>
            <a:picLocks noChangeAspect="1" noChangeArrowheads="1"/>
          </p:cNvPicPr>
          <p:nvPr/>
        </p:nvPicPr>
        <p:blipFill>
          <a:blip r:embed="rId2" cstate="print"/>
          <a:srcRect l="41603" t="1944" b="3889"/>
          <a:stretch>
            <a:fillRect/>
          </a:stretch>
        </p:blipFill>
        <p:spPr bwMode="auto">
          <a:xfrm>
            <a:off x="2511931" y="3171694"/>
            <a:ext cx="2981087" cy="1453039"/>
          </a:xfrm>
          <a:prstGeom prst="rect">
            <a:avLst/>
          </a:prstGeom>
          <a:noFill/>
          <a:ln w="9525" algn="ctr">
            <a:solidFill>
              <a:schemeClr val="tx1"/>
            </a:solidFill>
            <a:miter lim="800000"/>
            <a:headEnd/>
            <a:tailEnd/>
          </a:ln>
        </p:spPr>
      </p:pic>
      <p:cxnSp>
        <p:nvCxnSpPr>
          <p:cNvPr id="5" name="Straight Connector 4">
            <a:extLst>
              <a:ext uri="{FF2B5EF4-FFF2-40B4-BE49-F238E27FC236}">
                <a16:creationId xmlns:a16="http://schemas.microsoft.com/office/drawing/2014/main" id="{8D0669DF-DAF6-413D-906B-0553EA34BCCD}"/>
              </a:ext>
            </a:extLst>
          </p:cNvPr>
          <p:cNvCxnSpPr/>
          <p:nvPr/>
        </p:nvCxnSpPr>
        <p:spPr>
          <a:xfrm>
            <a:off x="156633"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D1339C9D-10EF-4E53-8E34-82C99D705219}"/>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Legend</a:t>
            </a:r>
            <a:endParaRPr lang="en-US" sz="2600" i="1" dirty="0">
              <a:solidFill>
                <a:srgbClr val="7030A0"/>
              </a:solidFill>
            </a:endParaRPr>
          </a:p>
        </p:txBody>
      </p:sp>
      <p:sp>
        <p:nvSpPr>
          <p:cNvPr id="2" name="Slide Number Placeholder 1">
            <a:extLst>
              <a:ext uri="{FF2B5EF4-FFF2-40B4-BE49-F238E27FC236}">
                <a16:creationId xmlns:a16="http://schemas.microsoft.com/office/drawing/2014/main" id="{857E71E2-67F7-40D2-9223-15DB2C1ECE43}"/>
              </a:ext>
            </a:extLst>
          </p:cNvPr>
          <p:cNvSpPr>
            <a:spLocks noGrp="1"/>
          </p:cNvSpPr>
          <p:nvPr>
            <p:ph type="sldNum" sz="quarter" idx="12"/>
          </p:nvPr>
        </p:nvSpPr>
        <p:spPr/>
        <p:txBody>
          <a:bodyPr/>
          <a:lstStyle/>
          <a:p>
            <a:fld id="{127DDC20-79C9-9647-820E-6D40A3D210C3}" type="slidenum">
              <a:rPr lang="en-US" smtClean="0"/>
              <a:pPr/>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Picture 6" descr="Image showing legend"/>
          <p:cNvPicPr>
            <a:picLocks noChangeAspect="1" noChangeArrowheads="1"/>
          </p:cNvPicPr>
          <p:nvPr/>
        </p:nvPicPr>
        <p:blipFill>
          <a:blip r:embed="rId2" cstate="print"/>
          <a:srcRect/>
          <a:stretch>
            <a:fillRect/>
          </a:stretch>
        </p:blipFill>
        <p:spPr bwMode="auto">
          <a:xfrm>
            <a:off x="785370" y="3078060"/>
            <a:ext cx="2780638" cy="1712586"/>
          </a:xfrm>
          <a:prstGeom prst="rect">
            <a:avLst/>
          </a:prstGeom>
          <a:noFill/>
          <a:ln w="9525" algn="ctr">
            <a:solidFill>
              <a:schemeClr val="tx1"/>
            </a:solidFill>
            <a:miter lim="800000"/>
            <a:headEnd/>
            <a:tailEnd/>
          </a:ln>
        </p:spPr>
      </p:pic>
      <p:sp>
        <p:nvSpPr>
          <p:cNvPr id="68612" name="Rectangle 3"/>
          <p:cNvSpPr>
            <a:spLocks noGrp="1" noChangeArrowheads="1"/>
          </p:cNvSpPr>
          <p:nvPr>
            <p:ph idx="1"/>
          </p:nvPr>
        </p:nvSpPr>
        <p:spPr>
          <a:xfrm>
            <a:off x="156633" y="1028700"/>
            <a:ext cx="6663863" cy="3741896"/>
          </a:xfrm>
        </p:spPr>
        <p:txBody>
          <a:bodyPr/>
          <a:lstStyle/>
          <a:p>
            <a:pPr>
              <a:buFont typeface="Courier New" panose="02070309020205020404" pitchFamily="49" charset="0"/>
              <a:buChar char="o"/>
            </a:pPr>
            <a:r>
              <a:rPr lang="en-US" dirty="0"/>
              <a:t>The legend can be oriented horizontally</a:t>
            </a:r>
          </a:p>
          <a:p>
            <a:pPr marL="765810" lvl="1" indent="-457200">
              <a:buFont typeface="Wingdings" panose="05000000000000000000" pitchFamily="2" charset="2"/>
              <a:buChar char="ü"/>
            </a:pPr>
            <a:r>
              <a:rPr lang="en-US" dirty="0"/>
              <a:t>Definitions are horizontally centered below the symbols they represent</a:t>
            </a:r>
          </a:p>
          <a:p>
            <a:pPr marL="765810" lvl="1" indent="-457200">
              <a:buFont typeface="Wingdings" panose="05000000000000000000" pitchFamily="2" charset="2"/>
              <a:buChar char="ü"/>
            </a:pPr>
            <a:r>
              <a:rPr lang="en-US" dirty="0"/>
              <a:t>Symbols are vertically aligned to bottom </a:t>
            </a:r>
          </a:p>
        </p:txBody>
      </p:sp>
      <p:pic>
        <p:nvPicPr>
          <p:cNvPr id="68613" name="Picture 7" descr="Image showing legend"/>
          <p:cNvPicPr>
            <a:picLocks noChangeAspect="1" noChangeArrowheads="1"/>
          </p:cNvPicPr>
          <p:nvPr/>
        </p:nvPicPr>
        <p:blipFill>
          <a:blip r:embed="rId3" cstate="print"/>
          <a:srcRect/>
          <a:stretch>
            <a:fillRect/>
          </a:stretch>
        </p:blipFill>
        <p:spPr bwMode="auto">
          <a:xfrm>
            <a:off x="4400992" y="3610871"/>
            <a:ext cx="3043238" cy="609719"/>
          </a:xfrm>
          <a:prstGeom prst="rect">
            <a:avLst/>
          </a:prstGeom>
          <a:noFill/>
          <a:ln w="9525" algn="ctr">
            <a:solidFill>
              <a:schemeClr val="tx1"/>
            </a:solidFill>
            <a:miter lim="800000"/>
            <a:headEnd/>
            <a:tailEnd/>
          </a:ln>
        </p:spPr>
      </p:pic>
      <p:cxnSp>
        <p:nvCxnSpPr>
          <p:cNvPr id="6" name="Straight Connector 5">
            <a:extLst>
              <a:ext uri="{FF2B5EF4-FFF2-40B4-BE49-F238E27FC236}">
                <a16:creationId xmlns:a16="http://schemas.microsoft.com/office/drawing/2014/main" id="{08CCAB68-036C-4F42-A28B-F999DA048F01}"/>
              </a:ext>
            </a:extLst>
          </p:cNvPr>
          <p:cNvCxnSpPr/>
          <p:nvPr/>
        </p:nvCxnSpPr>
        <p:spPr>
          <a:xfrm>
            <a:off x="156633"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826E59CB-23F7-48FA-AEF8-C3B0ED74D066}"/>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Legend</a:t>
            </a:r>
            <a:endParaRPr lang="en-US" sz="2600" i="1" dirty="0">
              <a:solidFill>
                <a:srgbClr val="7030A0"/>
              </a:solidFill>
            </a:endParaRPr>
          </a:p>
        </p:txBody>
      </p:sp>
      <p:sp>
        <p:nvSpPr>
          <p:cNvPr id="2" name="Slide Number Placeholder 1">
            <a:extLst>
              <a:ext uri="{FF2B5EF4-FFF2-40B4-BE49-F238E27FC236}">
                <a16:creationId xmlns:a16="http://schemas.microsoft.com/office/drawing/2014/main" id="{90EEBFB6-C245-42D2-B874-E3C623FB2F29}"/>
              </a:ext>
            </a:extLst>
          </p:cNvPr>
          <p:cNvSpPr>
            <a:spLocks noGrp="1"/>
          </p:cNvSpPr>
          <p:nvPr>
            <p:ph type="sldNum" sz="quarter" idx="12"/>
          </p:nvPr>
        </p:nvSpPr>
        <p:spPr/>
        <p:txBody>
          <a:bodyPr/>
          <a:lstStyle/>
          <a:p>
            <a:fld id="{127DDC20-79C9-9647-820E-6D40A3D210C3}" type="slidenum">
              <a:rPr lang="en-US" smtClean="0"/>
              <a:pPr/>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3"/>
          <p:cNvSpPr>
            <a:spLocks noGrp="1" noChangeArrowheads="1"/>
          </p:cNvSpPr>
          <p:nvPr>
            <p:ph idx="1"/>
          </p:nvPr>
        </p:nvSpPr>
        <p:spPr>
          <a:xfrm>
            <a:off x="118533" y="981584"/>
            <a:ext cx="5328881" cy="3741896"/>
          </a:xfrm>
        </p:spPr>
        <p:txBody>
          <a:bodyPr/>
          <a:lstStyle/>
          <a:p>
            <a:pPr>
              <a:buFont typeface="Courier New" panose="02070309020205020404" pitchFamily="49" charset="0"/>
              <a:buChar char="o"/>
            </a:pPr>
            <a:r>
              <a:rPr lang="en-US" dirty="0"/>
              <a:t>Legend rectangles should be connected when representing the magnitude of an attribute</a:t>
            </a:r>
          </a:p>
        </p:txBody>
      </p:sp>
      <p:pic>
        <p:nvPicPr>
          <p:cNvPr id="69636" name="Picture 7" descr="Image showing legend"/>
          <p:cNvPicPr>
            <a:picLocks noChangeAspect="1" noChangeArrowheads="1"/>
          </p:cNvPicPr>
          <p:nvPr/>
        </p:nvPicPr>
        <p:blipFill>
          <a:blip r:embed="rId2" cstate="print"/>
          <a:srcRect/>
          <a:stretch>
            <a:fillRect/>
          </a:stretch>
        </p:blipFill>
        <p:spPr bwMode="auto">
          <a:xfrm>
            <a:off x="5578123" y="981584"/>
            <a:ext cx="1809869" cy="2048533"/>
          </a:xfrm>
          <a:prstGeom prst="rect">
            <a:avLst/>
          </a:prstGeom>
          <a:noFill/>
          <a:ln w="9525" algn="ctr">
            <a:solidFill>
              <a:schemeClr val="tx1"/>
            </a:solidFill>
            <a:miter lim="800000"/>
            <a:headEnd/>
            <a:tailEnd/>
          </a:ln>
        </p:spPr>
      </p:pic>
      <p:sp>
        <p:nvSpPr>
          <p:cNvPr id="69637" name="Rectangle 8"/>
          <p:cNvSpPr>
            <a:spLocks noChangeArrowheads="1"/>
          </p:cNvSpPr>
          <p:nvPr/>
        </p:nvSpPr>
        <p:spPr bwMode="auto">
          <a:xfrm>
            <a:off x="118533" y="2514200"/>
            <a:ext cx="4848504" cy="2622113"/>
          </a:xfrm>
          <a:prstGeom prst="rect">
            <a:avLst/>
          </a:prstGeom>
          <a:noFill/>
          <a:ln w="9525">
            <a:noFill/>
            <a:miter lim="800000"/>
            <a:headEnd/>
            <a:tailEnd/>
          </a:ln>
        </p:spPr>
        <p:txBody>
          <a:bodyPr/>
          <a:lstStyle/>
          <a:p>
            <a:pPr marL="651510" lvl="1" indent="-342900">
              <a:spcBef>
                <a:spcPct val="20000"/>
              </a:spcBef>
              <a:buFont typeface="Wingdings" panose="05000000000000000000" pitchFamily="2" charset="2"/>
              <a:buChar char="ü"/>
            </a:pPr>
            <a:r>
              <a:rPr lang="en-US" sz="1890" dirty="0"/>
              <a:t>Areal symbols on the mapped area are usually connected</a:t>
            </a:r>
          </a:p>
          <a:p>
            <a:pPr marL="651510" lvl="1" indent="-342900">
              <a:spcBef>
                <a:spcPct val="20000"/>
              </a:spcBef>
              <a:buFont typeface="Wingdings" panose="05000000000000000000" pitchFamily="2" charset="2"/>
              <a:buChar char="ü"/>
            </a:pPr>
            <a:endParaRPr lang="en-US" sz="1890" dirty="0"/>
          </a:p>
          <a:p>
            <a:pPr marL="651510" lvl="1" indent="-342900">
              <a:spcBef>
                <a:spcPct val="20000"/>
              </a:spcBef>
              <a:buFont typeface="Wingdings" panose="05000000000000000000" pitchFamily="2" charset="2"/>
              <a:buChar char="ü"/>
            </a:pPr>
            <a:r>
              <a:rPr lang="en-US" sz="1890" dirty="0"/>
              <a:t>Connected rectangles help to emphasize the idea that a continuum of values is being represented</a:t>
            </a:r>
          </a:p>
        </p:txBody>
      </p:sp>
      <p:cxnSp>
        <p:nvCxnSpPr>
          <p:cNvPr id="5" name="Straight Connector 4">
            <a:extLst>
              <a:ext uri="{FF2B5EF4-FFF2-40B4-BE49-F238E27FC236}">
                <a16:creationId xmlns:a16="http://schemas.microsoft.com/office/drawing/2014/main" id="{55301286-5225-459F-9F24-894AB108BA96}"/>
              </a:ext>
            </a:extLst>
          </p:cNvPr>
          <p:cNvCxnSpPr/>
          <p:nvPr/>
        </p:nvCxnSpPr>
        <p:spPr>
          <a:xfrm>
            <a:off x="156633"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A14D2C85-F1D7-4D3B-B998-DD693B888C9C}"/>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Legend</a:t>
            </a:r>
            <a:endParaRPr lang="en-US" sz="2600" i="1" dirty="0">
              <a:solidFill>
                <a:srgbClr val="7030A0"/>
              </a:solidFill>
            </a:endParaRPr>
          </a:p>
        </p:txBody>
      </p:sp>
      <p:pic>
        <p:nvPicPr>
          <p:cNvPr id="2" name="Picture 6" descr="Image showing legend">
            <a:extLst>
              <a:ext uri="{FF2B5EF4-FFF2-40B4-BE49-F238E27FC236}">
                <a16:creationId xmlns:a16="http://schemas.microsoft.com/office/drawing/2014/main" id="{E3C05D30-213E-4E9B-A742-1BD1E3B489BC}"/>
              </a:ext>
            </a:extLst>
          </p:cNvPr>
          <p:cNvPicPr>
            <a:picLocks noChangeAspect="1" noChangeArrowheads="1"/>
          </p:cNvPicPr>
          <p:nvPr/>
        </p:nvPicPr>
        <p:blipFill>
          <a:blip r:embed="rId3" cstate="print"/>
          <a:srcRect/>
          <a:stretch>
            <a:fillRect/>
          </a:stretch>
        </p:blipFill>
        <p:spPr bwMode="auto">
          <a:xfrm>
            <a:off x="5305926" y="3120422"/>
            <a:ext cx="2212776" cy="1603058"/>
          </a:xfrm>
          <a:prstGeom prst="rect">
            <a:avLst/>
          </a:prstGeom>
          <a:noFill/>
          <a:ln w="9525" algn="ctr">
            <a:solidFill>
              <a:schemeClr val="tx1"/>
            </a:solidFill>
            <a:miter lim="800000"/>
            <a:headEnd/>
            <a:tailEnd/>
          </a:ln>
        </p:spPr>
      </p:pic>
      <p:sp>
        <p:nvSpPr>
          <p:cNvPr id="3" name="Text Box 8">
            <a:extLst>
              <a:ext uri="{FF2B5EF4-FFF2-40B4-BE49-F238E27FC236}">
                <a16:creationId xmlns:a16="http://schemas.microsoft.com/office/drawing/2014/main" id="{20236B7E-0A95-41BF-9746-4FAEDFADA170}"/>
              </a:ext>
            </a:extLst>
          </p:cNvPr>
          <p:cNvSpPr txBox="1">
            <a:spLocks noChangeArrowheads="1"/>
          </p:cNvSpPr>
          <p:nvPr/>
        </p:nvSpPr>
        <p:spPr bwMode="auto">
          <a:xfrm>
            <a:off x="5708833" y="4750736"/>
            <a:ext cx="1809869" cy="300082"/>
          </a:xfrm>
          <a:prstGeom prst="rect">
            <a:avLst/>
          </a:prstGeom>
          <a:noFill/>
          <a:ln w="9525">
            <a:noFill/>
            <a:miter lim="800000"/>
            <a:headEnd/>
            <a:tailEnd/>
          </a:ln>
        </p:spPr>
        <p:txBody>
          <a:bodyPr>
            <a:spAutoFit/>
          </a:bodyPr>
          <a:lstStyle/>
          <a:p>
            <a:pPr>
              <a:spcBef>
                <a:spcPct val="50000"/>
              </a:spcBef>
            </a:pPr>
            <a:r>
              <a:rPr lang="en-US" sz="1350" dirty="0"/>
              <a:t>Inappropriate</a:t>
            </a:r>
          </a:p>
        </p:txBody>
      </p:sp>
      <p:sp>
        <p:nvSpPr>
          <p:cNvPr id="4" name="Slide Number Placeholder 3">
            <a:extLst>
              <a:ext uri="{FF2B5EF4-FFF2-40B4-BE49-F238E27FC236}">
                <a16:creationId xmlns:a16="http://schemas.microsoft.com/office/drawing/2014/main" id="{2C839351-ECBF-404E-B29E-06BF2F6C9454}"/>
              </a:ext>
            </a:extLst>
          </p:cNvPr>
          <p:cNvSpPr>
            <a:spLocks noGrp="1"/>
          </p:cNvSpPr>
          <p:nvPr>
            <p:ph type="sldNum" sz="quarter" idx="12"/>
          </p:nvPr>
        </p:nvSpPr>
        <p:spPr/>
        <p:txBody>
          <a:bodyPr/>
          <a:lstStyle/>
          <a:p>
            <a:fld id="{127DDC20-79C9-9647-820E-6D40A3D210C3}" type="slidenum">
              <a:rPr lang="en-US" smtClean="0"/>
              <a:pPr/>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2" name="Picture 9" descr="Image showing legend"/>
          <p:cNvPicPr>
            <a:picLocks noChangeAspect="1" noChangeArrowheads="1"/>
          </p:cNvPicPr>
          <p:nvPr/>
        </p:nvPicPr>
        <p:blipFill>
          <a:blip r:embed="rId2" cstate="print"/>
          <a:srcRect/>
          <a:stretch>
            <a:fillRect/>
          </a:stretch>
        </p:blipFill>
        <p:spPr bwMode="auto">
          <a:xfrm>
            <a:off x="3224867" y="3278684"/>
            <a:ext cx="1779865" cy="1595557"/>
          </a:xfrm>
          <a:prstGeom prst="rect">
            <a:avLst/>
          </a:prstGeom>
          <a:noFill/>
          <a:ln w="9525">
            <a:solidFill>
              <a:schemeClr val="tx1"/>
            </a:solidFill>
            <a:miter lim="800000"/>
            <a:headEnd/>
            <a:tailEnd/>
          </a:ln>
        </p:spPr>
      </p:pic>
      <p:sp>
        <p:nvSpPr>
          <p:cNvPr id="71684" name="Rectangle 3"/>
          <p:cNvSpPr>
            <a:spLocks noGrp="1" noChangeArrowheads="1"/>
          </p:cNvSpPr>
          <p:nvPr>
            <p:ph idx="1"/>
          </p:nvPr>
        </p:nvSpPr>
        <p:spPr>
          <a:xfrm>
            <a:off x="118533" y="1028700"/>
            <a:ext cx="6701963" cy="3741896"/>
          </a:xfrm>
        </p:spPr>
        <p:txBody>
          <a:bodyPr/>
          <a:lstStyle/>
          <a:p>
            <a:pPr>
              <a:buFont typeface="Courier New" panose="02070309020205020404" pitchFamily="49" charset="0"/>
              <a:buChar char="o"/>
            </a:pPr>
            <a:r>
              <a:rPr lang="en-US" dirty="0"/>
              <a:t>Areal symbols can be represented by irregular, amorphous polygons</a:t>
            </a:r>
          </a:p>
          <a:p>
            <a:pPr marL="765810" lvl="1" indent="-457200">
              <a:buFont typeface="Wingdings" panose="05000000000000000000" pitchFamily="2" charset="2"/>
              <a:buChar char="ü"/>
            </a:pPr>
            <a:r>
              <a:rPr lang="en-US" dirty="0"/>
              <a:t>Irregular polygons can look more natural </a:t>
            </a:r>
          </a:p>
          <a:p>
            <a:pPr marL="765810" lvl="1" indent="-457200">
              <a:buFont typeface="Wingdings" panose="05000000000000000000" pitchFamily="2" charset="2"/>
              <a:buChar char="ü"/>
            </a:pPr>
            <a:r>
              <a:rPr lang="en-US" dirty="0"/>
              <a:t>Most appropriate for qualitative categories of areal data (separated)</a:t>
            </a:r>
          </a:p>
        </p:txBody>
      </p:sp>
      <p:sp>
        <p:nvSpPr>
          <p:cNvPr id="71686" name="Text Box 7"/>
          <p:cNvSpPr txBox="1">
            <a:spLocks noChangeArrowheads="1"/>
          </p:cNvSpPr>
          <p:nvPr/>
        </p:nvSpPr>
        <p:spPr bwMode="auto">
          <a:xfrm>
            <a:off x="3485876" y="4894556"/>
            <a:ext cx="1276476" cy="300082"/>
          </a:xfrm>
          <a:prstGeom prst="rect">
            <a:avLst/>
          </a:prstGeom>
          <a:noFill/>
          <a:ln w="9525">
            <a:noFill/>
            <a:miter lim="800000"/>
            <a:headEnd/>
            <a:tailEnd/>
          </a:ln>
        </p:spPr>
        <p:txBody>
          <a:bodyPr wrap="square">
            <a:spAutoFit/>
          </a:bodyPr>
          <a:lstStyle/>
          <a:p>
            <a:pPr>
              <a:spcBef>
                <a:spcPct val="50000"/>
              </a:spcBef>
            </a:pPr>
            <a:r>
              <a:rPr lang="en-US" sz="1350" dirty="0"/>
              <a:t>Appropriate</a:t>
            </a:r>
          </a:p>
        </p:txBody>
      </p:sp>
      <p:cxnSp>
        <p:nvCxnSpPr>
          <p:cNvPr id="7" name="Straight Connector 6">
            <a:extLst>
              <a:ext uri="{FF2B5EF4-FFF2-40B4-BE49-F238E27FC236}">
                <a16:creationId xmlns:a16="http://schemas.microsoft.com/office/drawing/2014/main" id="{56EB584D-7D21-442A-93AA-707FC66A5049}"/>
              </a:ext>
            </a:extLst>
          </p:cNvPr>
          <p:cNvCxnSpPr/>
          <p:nvPr/>
        </p:nvCxnSpPr>
        <p:spPr>
          <a:xfrm>
            <a:off x="156633"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0DE24D3F-2C00-42FC-B9A5-321AB8EEB78B}"/>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Legend</a:t>
            </a:r>
            <a:endParaRPr lang="en-US" sz="2600" i="1" dirty="0">
              <a:solidFill>
                <a:srgbClr val="7030A0"/>
              </a:solidFill>
            </a:endParaRPr>
          </a:p>
        </p:txBody>
      </p:sp>
      <p:sp>
        <p:nvSpPr>
          <p:cNvPr id="2" name="Slide Number Placeholder 1">
            <a:extLst>
              <a:ext uri="{FF2B5EF4-FFF2-40B4-BE49-F238E27FC236}">
                <a16:creationId xmlns:a16="http://schemas.microsoft.com/office/drawing/2014/main" id="{104FA5F0-95B4-485D-AFA2-0964CE6E4032}"/>
              </a:ext>
            </a:extLst>
          </p:cNvPr>
          <p:cNvSpPr>
            <a:spLocks noGrp="1"/>
          </p:cNvSpPr>
          <p:nvPr>
            <p:ph type="sldNum" sz="quarter" idx="12"/>
          </p:nvPr>
        </p:nvSpPr>
        <p:spPr/>
        <p:txBody>
          <a:bodyPr/>
          <a:lstStyle/>
          <a:p>
            <a:fld id="{127DDC20-79C9-9647-820E-6D40A3D210C3}" type="slidenum">
              <a:rPr lang="en-US" smtClean="0"/>
              <a:pPr/>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3"/>
          <p:cNvSpPr>
            <a:spLocks noGrp="1" noChangeArrowheads="1"/>
          </p:cNvSpPr>
          <p:nvPr>
            <p:ph idx="1"/>
          </p:nvPr>
        </p:nvSpPr>
        <p:spPr>
          <a:xfrm>
            <a:off x="118533" y="1028700"/>
            <a:ext cx="6701963" cy="3741896"/>
          </a:xfrm>
        </p:spPr>
        <p:txBody>
          <a:bodyPr/>
          <a:lstStyle/>
          <a:p>
            <a:pPr>
              <a:buFont typeface="Courier New" panose="02070309020205020404" pitchFamily="49" charset="0"/>
              <a:buChar char="o"/>
            </a:pPr>
            <a:r>
              <a:rPr lang="en-US" dirty="0"/>
              <a:t>A legend heading is often included to further explain the map’s theme</a:t>
            </a:r>
          </a:p>
          <a:p>
            <a:pPr marL="765810" lvl="1" indent="-457200">
              <a:buFont typeface="Wingdings" panose="05000000000000000000" pitchFamily="2" charset="2"/>
              <a:buChar char="ü"/>
            </a:pPr>
            <a:r>
              <a:rPr lang="en-US" dirty="0"/>
              <a:t>The unit of measure (for quantitative data) and enumeration unit are common components of the legend heading </a:t>
            </a:r>
          </a:p>
        </p:txBody>
      </p:sp>
      <p:pic>
        <p:nvPicPr>
          <p:cNvPr id="73732" name="Picture 6" descr="Image showing legend"/>
          <p:cNvPicPr>
            <a:picLocks noChangeAspect="1" noChangeArrowheads="1"/>
          </p:cNvPicPr>
          <p:nvPr/>
        </p:nvPicPr>
        <p:blipFill>
          <a:blip r:embed="rId2" cstate="print"/>
          <a:srcRect/>
          <a:stretch>
            <a:fillRect/>
          </a:stretch>
        </p:blipFill>
        <p:spPr bwMode="auto">
          <a:xfrm>
            <a:off x="1409104" y="3428442"/>
            <a:ext cx="2181701" cy="1506617"/>
          </a:xfrm>
          <a:prstGeom prst="rect">
            <a:avLst/>
          </a:prstGeom>
          <a:noFill/>
          <a:ln w="9525" algn="ctr">
            <a:solidFill>
              <a:schemeClr val="tx1"/>
            </a:solidFill>
            <a:miter lim="800000"/>
            <a:headEnd/>
            <a:tailEnd/>
          </a:ln>
        </p:spPr>
      </p:pic>
      <p:pic>
        <p:nvPicPr>
          <p:cNvPr id="73733" name="Picture 7" descr="Image showing legend"/>
          <p:cNvPicPr>
            <a:picLocks noChangeAspect="1" noChangeArrowheads="1"/>
          </p:cNvPicPr>
          <p:nvPr/>
        </p:nvPicPr>
        <p:blipFill>
          <a:blip r:embed="rId3" cstate="print"/>
          <a:srcRect t="20718" r="44923"/>
          <a:stretch>
            <a:fillRect/>
          </a:stretch>
        </p:blipFill>
        <p:spPr bwMode="auto">
          <a:xfrm>
            <a:off x="4223028" y="3428442"/>
            <a:ext cx="2086332" cy="1507688"/>
          </a:xfrm>
          <a:prstGeom prst="rect">
            <a:avLst/>
          </a:prstGeom>
          <a:noFill/>
          <a:ln w="9525" algn="ctr">
            <a:solidFill>
              <a:schemeClr val="tx1"/>
            </a:solidFill>
            <a:miter lim="800000"/>
            <a:headEnd/>
            <a:tailEnd/>
          </a:ln>
        </p:spPr>
      </p:pic>
      <p:cxnSp>
        <p:nvCxnSpPr>
          <p:cNvPr id="6" name="Straight Connector 5">
            <a:extLst>
              <a:ext uri="{FF2B5EF4-FFF2-40B4-BE49-F238E27FC236}">
                <a16:creationId xmlns:a16="http://schemas.microsoft.com/office/drawing/2014/main" id="{4E6DF2C8-9907-49C7-9540-BAE86864F406}"/>
              </a:ext>
            </a:extLst>
          </p:cNvPr>
          <p:cNvCxnSpPr/>
          <p:nvPr/>
        </p:nvCxnSpPr>
        <p:spPr>
          <a:xfrm>
            <a:off x="156633"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7F4996DC-BFCC-4052-B4F4-28CFDB4CA9DF}"/>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Legend</a:t>
            </a:r>
            <a:endParaRPr lang="en-US" sz="2600" i="1" dirty="0">
              <a:solidFill>
                <a:srgbClr val="7030A0"/>
              </a:solidFill>
            </a:endParaRPr>
          </a:p>
        </p:txBody>
      </p:sp>
      <p:sp>
        <p:nvSpPr>
          <p:cNvPr id="2" name="Slide Number Placeholder 1">
            <a:extLst>
              <a:ext uri="{FF2B5EF4-FFF2-40B4-BE49-F238E27FC236}">
                <a16:creationId xmlns:a16="http://schemas.microsoft.com/office/drawing/2014/main" id="{31FD4842-2764-4488-90E6-95AE2E2125B2}"/>
              </a:ext>
            </a:extLst>
          </p:cNvPr>
          <p:cNvSpPr>
            <a:spLocks noGrp="1"/>
          </p:cNvSpPr>
          <p:nvPr>
            <p:ph type="sldNum" sz="quarter" idx="12"/>
          </p:nvPr>
        </p:nvSpPr>
        <p:spPr/>
        <p:txBody>
          <a:bodyPr/>
          <a:lstStyle/>
          <a:p>
            <a:fld id="{127DDC20-79C9-9647-820E-6D40A3D210C3}" type="slidenum">
              <a:rPr lang="en-US" smtClean="0"/>
              <a:pPr/>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Picture 9" descr="Image showing legend"/>
          <p:cNvPicPr>
            <a:picLocks noChangeAspect="1" noChangeArrowheads="1"/>
          </p:cNvPicPr>
          <p:nvPr/>
        </p:nvPicPr>
        <p:blipFill>
          <a:blip r:embed="rId2" cstate="print"/>
          <a:srcRect/>
          <a:stretch>
            <a:fillRect/>
          </a:stretch>
        </p:blipFill>
        <p:spPr bwMode="auto">
          <a:xfrm>
            <a:off x="4163229" y="3520083"/>
            <a:ext cx="2905006" cy="1250513"/>
          </a:xfrm>
          <a:prstGeom prst="rect">
            <a:avLst/>
          </a:prstGeom>
          <a:noFill/>
          <a:ln w="9525" algn="ctr">
            <a:solidFill>
              <a:schemeClr val="tx1"/>
            </a:solidFill>
            <a:miter lim="800000"/>
            <a:headEnd/>
            <a:tailEnd/>
          </a:ln>
        </p:spPr>
      </p:pic>
      <p:sp>
        <p:nvSpPr>
          <p:cNvPr id="74756" name="Rectangle 3"/>
          <p:cNvSpPr>
            <a:spLocks noGrp="1" noChangeArrowheads="1"/>
          </p:cNvSpPr>
          <p:nvPr>
            <p:ph idx="1"/>
          </p:nvPr>
        </p:nvSpPr>
        <p:spPr>
          <a:xfrm>
            <a:off x="156633" y="1028700"/>
            <a:ext cx="8001000" cy="3741896"/>
          </a:xfrm>
        </p:spPr>
        <p:txBody>
          <a:bodyPr/>
          <a:lstStyle/>
          <a:p>
            <a:pPr>
              <a:buFont typeface="Courier New" panose="02070309020205020404" pitchFamily="49" charset="0"/>
              <a:buChar char="o"/>
            </a:pPr>
            <a:r>
              <a:rPr lang="en-US" dirty="0"/>
              <a:t>The legend heading should be placed above the legend, and be horizontally centered with it</a:t>
            </a:r>
          </a:p>
          <a:p>
            <a:pPr marL="765810" lvl="1" indent="-457200">
              <a:buFont typeface="Wingdings" panose="05000000000000000000" pitchFamily="2" charset="2"/>
              <a:buChar char="ü"/>
            </a:pPr>
            <a:r>
              <a:rPr lang="en-US" dirty="0"/>
              <a:t>Multiple lines of type can be horizontally centered (center justified) </a:t>
            </a:r>
          </a:p>
          <a:p>
            <a:pPr marL="765810" lvl="1" indent="-457200">
              <a:buFont typeface="Wingdings" panose="05000000000000000000" pitchFamily="2" charset="2"/>
              <a:buChar char="ü"/>
            </a:pPr>
            <a:r>
              <a:rPr lang="en-US" dirty="0"/>
              <a:t>Horizontal centering creates a self-balancing group of objects</a:t>
            </a:r>
          </a:p>
        </p:txBody>
      </p:sp>
      <p:pic>
        <p:nvPicPr>
          <p:cNvPr id="74757" name="Picture 8" descr="Image showing legend"/>
          <p:cNvPicPr>
            <a:picLocks noChangeAspect="1" noChangeArrowheads="1"/>
          </p:cNvPicPr>
          <p:nvPr/>
        </p:nvPicPr>
        <p:blipFill>
          <a:blip r:embed="rId3" cstate="print"/>
          <a:srcRect/>
          <a:stretch>
            <a:fillRect/>
          </a:stretch>
        </p:blipFill>
        <p:spPr bwMode="auto">
          <a:xfrm>
            <a:off x="2266944" y="3452574"/>
            <a:ext cx="1613773" cy="1324451"/>
          </a:xfrm>
          <a:prstGeom prst="rect">
            <a:avLst/>
          </a:prstGeom>
          <a:noFill/>
          <a:ln w="9525" algn="ctr">
            <a:solidFill>
              <a:schemeClr val="tx1"/>
            </a:solidFill>
            <a:miter lim="800000"/>
            <a:headEnd/>
            <a:tailEnd/>
          </a:ln>
        </p:spPr>
      </p:pic>
      <p:cxnSp>
        <p:nvCxnSpPr>
          <p:cNvPr id="5" name="Straight Connector 4">
            <a:extLst>
              <a:ext uri="{FF2B5EF4-FFF2-40B4-BE49-F238E27FC236}">
                <a16:creationId xmlns:a16="http://schemas.microsoft.com/office/drawing/2014/main" id="{C6A7E2AD-4604-432B-8399-08EE5ECDB1FD}"/>
              </a:ext>
            </a:extLst>
          </p:cNvPr>
          <p:cNvCxnSpPr/>
          <p:nvPr/>
        </p:nvCxnSpPr>
        <p:spPr>
          <a:xfrm>
            <a:off x="156633"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10FC9A40-F584-439D-BE3E-D3E134064BC2}"/>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Legend</a:t>
            </a:r>
            <a:endParaRPr lang="en-US" sz="2600" i="1" dirty="0">
              <a:solidFill>
                <a:srgbClr val="7030A0"/>
              </a:solidFill>
            </a:endParaRPr>
          </a:p>
        </p:txBody>
      </p:sp>
      <p:sp>
        <p:nvSpPr>
          <p:cNvPr id="3" name="Text Box 7">
            <a:extLst>
              <a:ext uri="{FF2B5EF4-FFF2-40B4-BE49-F238E27FC236}">
                <a16:creationId xmlns:a16="http://schemas.microsoft.com/office/drawing/2014/main" id="{FE4E13E1-AF2B-4D27-94F1-38B33B419072}"/>
              </a:ext>
            </a:extLst>
          </p:cNvPr>
          <p:cNvSpPr txBox="1">
            <a:spLocks noChangeArrowheads="1"/>
          </p:cNvSpPr>
          <p:nvPr/>
        </p:nvSpPr>
        <p:spPr bwMode="auto">
          <a:xfrm>
            <a:off x="2668791" y="4771782"/>
            <a:ext cx="1276476" cy="300082"/>
          </a:xfrm>
          <a:prstGeom prst="rect">
            <a:avLst/>
          </a:prstGeom>
          <a:noFill/>
          <a:ln w="9525">
            <a:noFill/>
            <a:miter lim="800000"/>
            <a:headEnd/>
            <a:tailEnd/>
          </a:ln>
        </p:spPr>
        <p:txBody>
          <a:bodyPr wrap="square">
            <a:spAutoFit/>
          </a:bodyPr>
          <a:lstStyle/>
          <a:p>
            <a:pPr>
              <a:spcBef>
                <a:spcPct val="50000"/>
              </a:spcBef>
            </a:pPr>
            <a:r>
              <a:rPr lang="en-US" sz="1350" dirty="0"/>
              <a:t>Appropriate</a:t>
            </a:r>
          </a:p>
        </p:txBody>
      </p:sp>
      <p:sp>
        <p:nvSpPr>
          <p:cNvPr id="4" name="Text Box 8">
            <a:extLst>
              <a:ext uri="{FF2B5EF4-FFF2-40B4-BE49-F238E27FC236}">
                <a16:creationId xmlns:a16="http://schemas.microsoft.com/office/drawing/2014/main" id="{D04B6C56-2B50-4FEE-8AC2-49F602311609}"/>
              </a:ext>
            </a:extLst>
          </p:cNvPr>
          <p:cNvSpPr txBox="1">
            <a:spLocks noChangeArrowheads="1"/>
          </p:cNvSpPr>
          <p:nvPr/>
        </p:nvSpPr>
        <p:spPr bwMode="auto">
          <a:xfrm>
            <a:off x="5086093" y="4780867"/>
            <a:ext cx="1809869" cy="300082"/>
          </a:xfrm>
          <a:prstGeom prst="rect">
            <a:avLst/>
          </a:prstGeom>
          <a:noFill/>
          <a:ln w="9525">
            <a:noFill/>
            <a:miter lim="800000"/>
            <a:headEnd/>
            <a:tailEnd/>
          </a:ln>
        </p:spPr>
        <p:txBody>
          <a:bodyPr>
            <a:spAutoFit/>
          </a:bodyPr>
          <a:lstStyle/>
          <a:p>
            <a:pPr>
              <a:spcBef>
                <a:spcPct val="50000"/>
              </a:spcBef>
            </a:pPr>
            <a:r>
              <a:rPr lang="en-US" sz="1350" dirty="0"/>
              <a:t>Inappropriate</a:t>
            </a:r>
          </a:p>
        </p:txBody>
      </p:sp>
      <p:sp>
        <p:nvSpPr>
          <p:cNvPr id="2" name="Slide Number Placeholder 1">
            <a:extLst>
              <a:ext uri="{FF2B5EF4-FFF2-40B4-BE49-F238E27FC236}">
                <a16:creationId xmlns:a16="http://schemas.microsoft.com/office/drawing/2014/main" id="{FD70F1E0-F5D8-4D46-B6EC-E5E912C80226}"/>
              </a:ext>
            </a:extLst>
          </p:cNvPr>
          <p:cNvSpPr>
            <a:spLocks noGrp="1"/>
          </p:cNvSpPr>
          <p:nvPr>
            <p:ph type="sldNum" sz="quarter" idx="12"/>
          </p:nvPr>
        </p:nvSpPr>
        <p:spPr/>
        <p:txBody>
          <a:bodyPr/>
          <a:lstStyle/>
          <a:p>
            <a:fld id="{127DDC20-79C9-9647-820E-6D40A3D210C3}" type="slidenum">
              <a:rPr lang="en-US" smtClean="0"/>
              <a:pPr/>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3"/>
          <p:cNvSpPr>
            <a:spLocks noGrp="1" noChangeArrowheads="1"/>
          </p:cNvSpPr>
          <p:nvPr>
            <p:ph idx="1"/>
          </p:nvPr>
        </p:nvSpPr>
        <p:spPr>
          <a:xfrm>
            <a:off x="118533" y="1028700"/>
            <a:ext cx="8001000" cy="3741896"/>
          </a:xfrm>
        </p:spPr>
        <p:txBody>
          <a:bodyPr/>
          <a:lstStyle/>
          <a:p>
            <a:pPr marL="411480" indent="-411480"/>
            <a:r>
              <a:rPr lang="en-US" dirty="0"/>
              <a:t>Legend symbols are often organized into groups, according to a certain logic </a:t>
            </a:r>
          </a:p>
        </p:txBody>
      </p:sp>
      <p:pic>
        <p:nvPicPr>
          <p:cNvPr id="76804" name="Picture 5" descr="Image showing legend"/>
          <p:cNvPicPr>
            <a:picLocks noChangeAspect="1" noChangeArrowheads="1"/>
          </p:cNvPicPr>
          <p:nvPr/>
        </p:nvPicPr>
        <p:blipFill rotWithShape="1">
          <a:blip r:embed="rId2" cstate="print"/>
          <a:srcRect l="1" r="-10294"/>
          <a:stretch/>
        </p:blipFill>
        <p:spPr bwMode="auto">
          <a:xfrm>
            <a:off x="1856203" y="1934045"/>
            <a:ext cx="5273801" cy="3118247"/>
          </a:xfrm>
          <a:prstGeom prst="rect">
            <a:avLst/>
          </a:prstGeom>
          <a:noFill/>
          <a:ln w="9525">
            <a:noFill/>
            <a:miter lim="800000"/>
            <a:headEnd/>
            <a:tailEnd/>
          </a:ln>
        </p:spPr>
      </p:pic>
      <p:cxnSp>
        <p:nvCxnSpPr>
          <p:cNvPr id="5" name="Straight Connector 4">
            <a:extLst>
              <a:ext uri="{FF2B5EF4-FFF2-40B4-BE49-F238E27FC236}">
                <a16:creationId xmlns:a16="http://schemas.microsoft.com/office/drawing/2014/main" id="{E0CEF042-935F-4E74-8E9A-D05EADD1B47D}"/>
              </a:ext>
            </a:extLst>
          </p:cNvPr>
          <p:cNvCxnSpPr/>
          <p:nvPr/>
        </p:nvCxnSpPr>
        <p:spPr>
          <a:xfrm>
            <a:off x="156633"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0164F540-31F8-40C4-AB68-491CAA2CB81D}"/>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Legend</a:t>
            </a:r>
            <a:endParaRPr lang="en-US" sz="2600" i="1" dirty="0">
              <a:solidFill>
                <a:srgbClr val="7030A0"/>
              </a:solidFill>
            </a:endParaRPr>
          </a:p>
        </p:txBody>
      </p:sp>
      <p:sp>
        <p:nvSpPr>
          <p:cNvPr id="2" name="Slide Number Placeholder 1">
            <a:extLst>
              <a:ext uri="{FF2B5EF4-FFF2-40B4-BE49-F238E27FC236}">
                <a16:creationId xmlns:a16="http://schemas.microsoft.com/office/drawing/2014/main" id="{C541FC52-0D59-4CF3-989B-B45C05EC3BC6}"/>
              </a:ext>
            </a:extLst>
          </p:cNvPr>
          <p:cNvSpPr>
            <a:spLocks noGrp="1"/>
          </p:cNvSpPr>
          <p:nvPr>
            <p:ph type="sldNum" sz="quarter" idx="12"/>
          </p:nvPr>
        </p:nvSpPr>
        <p:spPr/>
        <p:txBody>
          <a:bodyPr/>
          <a:lstStyle/>
          <a:p>
            <a:fld id="{127DDC20-79C9-9647-820E-6D40A3D210C3}" type="slidenum">
              <a:rPr lang="en-US" smtClean="0"/>
              <a:pPr/>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Image showing mapped area"/>
          <p:cNvPicPr>
            <a:picLocks noChangeAspect="1" noChangeArrowheads="1"/>
          </p:cNvPicPr>
          <p:nvPr/>
        </p:nvPicPr>
        <p:blipFill>
          <a:blip r:embed="rId2" cstate="print"/>
          <a:srcRect/>
          <a:stretch>
            <a:fillRect/>
          </a:stretch>
        </p:blipFill>
        <p:spPr bwMode="auto">
          <a:xfrm>
            <a:off x="4269106" y="2477724"/>
            <a:ext cx="2627488" cy="2004207"/>
          </a:xfrm>
          <a:prstGeom prst="rect">
            <a:avLst/>
          </a:prstGeom>
          <a:noFill/>
          <a:ln w="9525">
            <a:solidFill>
              <a:schemeClr val="tx1"/>
            </a:solidFill>
            <a:miter lim="800000"/>
            <a:headEnd/>
            <a:tailEnd/>
          </a:ln>
        </p:spPr>
      </p:pic>
      <p:pic>
        <p:nvPicPr>
          <p:cNvPr id="8" name="Picture 2" descr="Image showing legend"/>
          <p:cNvPicPr>
            <a:picLocks noChangeAspect="1" noChangeArrowheads="1"/>
          </p:cNvPicPr>
          <p:nvPr/>
        </p:nvPicPr>
        <p:blipFill>
          <a:blip r:embed="rId2" cstate="print"/>
          <a:srcRect/>
          <a:stretch>
            <a:fillRect/>
          </a:stretch>
        </p:blipFill>
        <p:spPr bwMode="auto">
          <a:xfrm>
            <a:off x="1350812" y="2477724"/>
            <a:ext cx="2627488" cy="2004207"/>
          </a:xfrm>
          <a:prstGeom prst="rect">
            <a:avLst/>
          </a:prstGeom>
          <a:noFill/>
          <a:ln w="9525">
            <a:solidFill>
              <a:schemeClr val="tx1"/>
            </a:solidFill>
            <a:miter lim="800000"/>
            <a:headEnd/>
            <a:tailEnd/>
          </a:ln>
        </p:spPr>
      </p:pic>
      <p:sp>
        <p:nvSpPr>
          <p:cNvPr id="77827" name="Rectangle 6"/>
          <p:cNvSpPr>
            <a:spLocks noGrp="1" noChangeArrowheads="1"/>
          </p:cNvSpPr>
          <p:nvPr>
            <p:ph idx="1"/>
          </p:nvPr>
        </p:nvSpPr>
        <p:spPr>
          <a:xfrm>
            <a:off x="118533" y="1028700"/>
            <a:ext cx="7726056" cy="3741896"/>
          </a:xfrm>
          <a:noFill/>
        </p:spPr>
        <p:txBody>
          <a:bodyPr/>
          <a:lstStyle/>
          <a:p>
            <a:pPr>
              <a:buFont typeface="Courier New" panose="02070309020205020404" pitchFamily="49" charset="0"/>
              <a:buChar char="o"/>
            </a:pPr>
            <a:r>
              <a:rPr lang="en-US" dirty="0"/>
              <a:t>The legend should be large enough to be useful</a:t>
            </a:r>
          </a:p>
          <a:p>
            <a:pPr marL="765810" lvl="1" indent="-457200">
              <a:buFont typeface="Wingdings" panose="05000000000000000000" pitchFamily="2" charset="2"/>
              <a:buChar char="ü"/>
            </a:pPr>
            <a:r>
              <a:rPr lang="en-US" dirty="0"/>
              <a:t>But should not occupy vast areas of space, or challenge thematic symbols</a:t>
            </a:r>
          </a:p>
          <a:p>
            <a:pPr marL="411480" indent="-411480"/>
            <a:endParaRPr lang="en-US" dirty="0"/>
          </a:p>
        </p:txBody>
      </p:sp>
      <p:sp>
        <p:nvSpPr>
          <p:cNvPr id="77830" name="Text Box 9"/>
          <p:cNvSpPr txBox="1">
            <a:spLocks noChangeArrowheads="1"/>
          </p:cNvSpPr>
          <p:nvPr/>
        </p:nvSpPr>
        <p:spPr bwMode="auto">
          <a:xfrm>
            <a:off x="4290537" y="4483418"/>
            <a:ext cx="2608183" cy="300082"/>
          </a:xfrm>
          <a:prstGeom prst="rect">
            <a:avLst/>
          </a:prstGeom>
          <a:noFill/>
          <a:ln w="9525">
            <a:noFill/>
            <a:miter lim="800000"/>
            <a:headEnd/>
            <a:tailEnd/>
          </a:ln>
        </p:spPr>
        <p:txBody>
          <a:bodyPr>
            <a:spAutoFit/>
          </a:bodyPr>
          <a:lstStyle/>
          <a:p>
            <a:pPr>
              <a:spcBef>
                <a:spcPct val="50000"/>
              </a:spcBef>
            </a:pPr>
            <a:r>
              <a:rPr lang="en-US" sz="1350"/>
              <a:t>Too Large</a:t>
            </a:r>
          </a:p>
        </p:txBody>
      </p:sp>
      <p:sp>
        <p:nvSpPr>
          <p:cNvPr id="77831" name="Text Box 10"/>
          <p:cNvSpPr txBox="1">
            <a:spLocks noChangeArrowheads="1"/>
          </p:cNvSpPr>
          <p:nvPr/>
        </p:nvSpPr>
        <p:spPr bwMode="auto">
          <a:xfrm>
            <a:off x="1350812" y="4483418"/>
            <a:ext cx="1213402" cy="300082"/>
          </a:xfrm>
          <a:prstGeom prst="rect">
            <a:avLst/>
          </a:prstGeom>
          <a:noFill/>
          <a:ln w="9525">
            <a:noFill/>
            <a:miter lim="800000"/>
            <a:headEnd/>
            <a:tailEnd/>
          </a:ln>
        </p:spPr>
        <p:txBody>
          <a:bodyPr wrap="square">
            <a:spAutoFit/>
          </a:bodyPr>
          <a:lstStyle/>
          <a:p>
            <a:pPr>
              <a:spcBef>
                <a:spcPct val="50000"/>
              </a:spcBef>
            </a:pPr>
            <a:r>
              <a:rPr lang="en-US" sz="1350" dirty="0"/>
              <a:t>Too Small</a:t>
            </a:r>
          </a:p>
        </p:txBody>
      </p:sp>
      <p:pic>
        <p:nvPicPr>
          <p:cNvPr id="3074" name="Picture 2" descr="Image showing legend"/>
          <p:cNvPicPr>
            <a:picLocks noChangeAspect="1" noChangeArrowheads="1"/>
          </p:cNvPicPr>
          <p:nvPr/>
        </p:nvPicPr>
        <p:blipFill>
          <a:blip r:embed="rId3" cstate="print"/>
          <a:srcRect/>
          <a:stretch>
            <a:fillRect/>
          </a:stretch>
        </p:blipFill>
        <p:spPr bwMode="auto">
          <a:xfrm>
            <a:off x="6174179" y="3301194"/>
            <a:ext cx="700556" cy="1158319"/>
          </a:xfrm>
          <a:prstGeom prst="rect">
            <a:avLst/>
          </a:prstGeom>
          <a:noFill/>
          <a:ln w="9525">
            <a:solidFill>
              <a:schemeClr val="tx1"/>
            </a:solidFill>
            <a:miter lim="800000"/>
            <a:headEnd/>
            <a:tailEnd/>
          </a:ln>
        </p:spPr>
      </p:pic>
      <p:cxnSp>
        <p:nvCxnSpPr>
          <p:cNvPr id="10" name="Straight Connector 9">
            <a:extLst>
              <a:ext uri="{FF2B5EF4-FFF2-40B4-BE49-F238E27FC236}">
                <a16:creationId xmlns:a16="http://schemas.microsoft.com/office/drawing/2014/main" id="{606D1341-36F3-47C3-8387-C3151D217D6C}"/>
              </a:ext>
            </a:extLst>
          </p:cNvPr>
          <p:cNvCxnSpPr/>
          <p:nvPr/>
        </p:nvCxnSpPr>
        <p:spPr>
          <a:xfrm>
            <a:off x="156633"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Title 1">
            <a:extLst>
              <a:ext uri="{FF2B5EF4-FFF2-40B4-BE49-F238E27FC236}">
                <a16:creationId xmlns:a16="http://schemas.microsoft.com/office/drawing/2014/main" id="{92FFD906-D14F-4CFB-A753-05EB0E8B0BD1}"/>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Legend</a:t>
            </a:r>
            <a:endParaRPr lang="en-US" sz="2600" i="1" dirty="0">
              <a:solidFill>
                <a:srgbClr val="7030A0"/>
              </a:solidFill>
            </a:endParaRPr>
          </a:p>
        </p:txBody>
      </p:sp>
      <p:sp>
        <p:nvSpPr>
          <p:cNvPr id="2" name="Slide Number Placeholder 1">
            <a:extLst>
              <a:ext uri="{FF2B5EF4-FFF2-40B4-BE49-F238E27FC236}">
                <a16:creationId xmlns:a16="http://schemas.microsoft.com/office/drawing/2014/main" id="{5B6AAA2A-BA45-455F-9173-3CAFA155F02F}"/>
              </a:ext>
            </a:extLst>
          </p:cNvPr>
          <p:cNvSpPr>
            <a:spLocks noGrp="1"/>
          </p:cNvSpPr>
          <p:nvPr>
            <p:ph type="sldNum" sz="quarter" idx="12"/>
          </p:nvPr>
        </p:nvSpPr>
        <p:spPr/>
        <p:txBody>
          <a:bodyPr/>
          <a:lstStyle/>
          <a:p>
            <a:fld id="{127DDC20-79C9-9647-820E-6D40A3D210C3}" type="slidenum">
              <a:rPr lang="en-US" smtClean="0"/>
              <a:pPr/>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showing legend"/>
          <p:cNvPicPr>
            <a:picLocks noChangeAspect="1" noChangeArrowheads="1"/>
          </p:cNvPicPr>
          <p:nvPr/>
        </p:nvPicPr>
        <p:blipFill>
          <a:blip r:embed="rId2" cstate="print"/>
          <a:srcRect/>
          <a:stretch>
            <a:fillRect/>
          </a:stretch>
        </p:blipFill>
        <p:spPr bwMode="auto">
          <a:xfrm>
            <a:off x="1419592" y="2150378"/>
            <a:ext cx="1959292" cy="2545791"/>
          </a:xfrm>
          <a:prstGeom prst="rect">
            <a:avLst/>
          </a:prstGeom>
          <a:noFill/>
          <a:ln w="9525">
            <a:solidFill>
              <a:schemeClr val="tx1"/>
            </a:solidFill>
            <a:miter lim="800000"/>
            <a:headEnd/>
            <a:tailEnd/>
          </a:ln>
        </p:spPr>
      </p:pic>
      <p:sp>
        <p:nvSpPr>
          <p:cNvPr id="79876" name="Rectangle 5"/>
          <p:cNvSpPr>
            <a:spLocks noGrp="1" noChangeArrowheads="1"/>
          </p:cNvSpPr>
          <p:nvPr>
            <p:ph idx="1"/>
          </p:nvPr>
        </p:nvSpPr>
        <p:spPr>
          <a:xfrm>
            <a:off x="156633" y="1028700"/>
            <a:ext cx="8001000" cy="3741896"/>
          </a:xfrm>
          <a:noFill/>
        </p:spPr>
        <p:txBody>
          <a:bodyPr/>
          <a:lstStyle/>
          <a:p>
            <a:pPr>
              <a:buFont typeface="Courier New" panose="02070309020205020404" pitchFamily="49" charset="0"/>
              <a:buChar char="o"/>
            </a:pPr>
            <a:r>
              <a:rPr lang="en-US" dirty="0"/>
              <a:t>If possible, the legend should be visually centered within a larger portion of available space </a:t>
            </a:r>
          </a:p>
        </p:txBody>
      </p:sp>
      <p:pic>
        <p:nvPicPr>
          <p:cNvPr id="79877" name="Picture 6" descr="Image showing legend"/>
          <p:cNvPicPr preferRelativeResize="0">
            <a:picLocks noChangeAspect="1" noChangeArrowheads="1"/>
          </p:cNvPicPr>
          <p:nvPr/>
        </p:nvPicPr>
        <p:blipFill>
          <a:blip r:embed="rId3" cstate="print"/>
          <a:srcRect/>
          <a:stretch>
            <a:fillRect/>
          </a:stretch>
        </p:blipFill>
        <p:spPr bwMode="auto">
          <a:xfrm>
            <a:off x="3680817" y="2270641"/>
            <a:ext cx="3166467" cy="2327434"/>
          </a:xfrm>
          <a:prstGeom prst="rect">
            <a:avLst/>
          </a:prstGeom>
          <a:noFill/>
          <a:ln w="9525">
            <a:noFill/>
            <a:miter lim="800000"/>
            <a:headEnd/>
            <a:tailEnd/>
          </a:ln>
        </p:spPr>
      </p:pic>
      <p:cxnSp>
        <p:nvCxnSpPr>
          <p:cNvPr id="8" name="Straight Connector 7">
            <a:extLst>
              <a:ext uri="{FF2B5EF4-FFF2-40B4-BE49-F238E27FC236}">
                <a16:creationId xmlns:a16="http://schemas.microsoft.com/office/drawing/2014/main" id="{1D7540AE-0F47-4AB5-A83C-C483E856ADF9}"/>
              </a:ext>
            </a:extLst>
          </p:cNvPr>
          <p:cNvCxnSpPr/>
          <p:nvPr/>
        </p:nvCxnSpPr>
        <p:spPr>
          <a:xfrm>
            <a:off x="156633"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148D082D-97F5-4085-9AE0-EDFD3BFBD326}"/>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Legend</a:t>
            </a:r>
            <a:endParaRPr lang="en-US" sz="2600" i="1" dirty="0">
              <a:solidFill>
                <a:srgbClr val="7030A0"/>
              </a:solidFill>
            </a:endParaRPr>
          </a:p>
        </p:txBody>
      </p:sp>
      <p:sp>
        <p:nvSpPr>
          <p:cNvPr id="2" name="Slide Number Placeholder 1">
            <a:extLst>
              <a:ext uri="{FF2B5EF4-FFF2-40B4-BE49-F238E27FC236}">
                <a16:creationId xmlns:a16="http://schemas.microsoft.com/office/drawing/2014/main" id="{C428F931-6170-42B5-B47E-9A23F20AF735}"/>
              </a:ext>
            </a:extLst>
          </p:cNvPr>
          <p:cNvSpPr>
            <a:spLocks noGrp="1"/>
          </p:cNvSpPr>
          <p:nvPr>
            <p:ph type="sldNum" sz="quarter" idx="12"/>
          </p:nvPr>
        </p:nvSpPr>
        <p:spPr/>
        <p:txBody>
          <a:bodyPr/>
          <a:lstStyle/>
          <a:p>
            <a:fld id="{127DDC20-79C9-9647-820E-6D40A3D210C3}" type="slidenum">
              <a:rPr lang="en-US" smtClean="0"/>
              <a:pPr/>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Picture 13" descr="Image showing legend"/>
          <p:cNvPicPr>
            <a:picLocks noChangeAspect="1" noChangeArrowheads="1"/>
          </p:cNvPicPr>
          <p:nvPr/>
        </p:nvPicPr>
        <p:blipFill>
          <a:blip r:embed="rId2" cstate="print"/>
          <a:srcRect/>
          <a:stretch>
            <a:fillRect/>
          </a:stretch>
        </p:blipFill>
        <p:spPr bwMode="auto">
          <a:xfrm>
            <a:off x="4338756" y="1939323"/>
            <a:ext cx="3391540" cy="2715689"/>
          </a:xfrm>
          <a:prstGeom prst="rect">
            <a:avLst/>
          </a:prstGeom>
          <a:noFill/>
          <a:ln w="9525" algn="ctr">
            <a:solidFill>
              <a:schemeClr val="tx1"/>
            </a:solidFill>
            <a:miter lim="800000"/>
            <a:headEnd/>
            <a:tailEnd/>
          </a:ln>
        </p:spPr>
      </p:pic>
      <p:pic>
        <p:nvPicPr>
          <p:cNvPr id="62467" name="Picture 11" descr="Image showing legend"/>
          <p:cNvPicPr>
            <a:picLocks noChangeAspect="1" noChangeArrowheads="1"/>
          </p:cNvPicPr>
          <p:nvPr/>
        </p:nvPicPr>
        <p:blipFill>
          <a:blip r:embed="rId3" cstate="print"/>
          <a:srcRect/>
          <a:stretch>
            <a:fillRect/>
          </a:stretch>
        </p:blipFill>
        <p:spPr bwMode="auto">
          <a:xfrm>
            <a:off x="729205" y="1940392"/>
            <a:ext cx="3388810" cy="2715691"/>
          </a:xfrm>
          <a:prstGeom prst="rect">
            <a:avLst/>
          </a:prstGeom>
          <a:noFill/>
          <a:ln w="9525" algn="ctr">
            <a:solidFill>
              <a:schemeClr val="tx1"/>
            </a:solidFill>
            <a:miter lim="800000"/>
            <a:headEnd/>
            <a:tailEnd/>
          </a:ln>
        </p:spPr>
      </p:pic>
      <p:cxnSp>
        <p:nvCxnSpPr>
          <p:cNvPr id="7" name="Straight Connector 6">
            <a:extLst>
              <a:ext uri="{FF2B5EF4-FFF2-40B4-BE49-F238E27FC236}">
                <a16:creationId xmlns:a16="http://schemas.microsoft.com/office/drawing/2014/main" id="{B730A3CD-AE25-49D5-9B03-C4A461892BD4}"/>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5A4932C5-933F-4F89-960F-42B83185A5E6}"/>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Discussion </a:t>
            </a:r>
            <a:endParaRPr lang="en-US" sz="2600" i="1" dirty="0">
              <a:solidFill>
                <a:srgbClr val="7030A0"/>
              </a:solidFill>
            </a:endParaRPr>
          </a:p>
        </p:txBody>
      </p:sp>
      <p:sp>
        <p:nvSpPr>
          <p:cNvPr id="2" name="TextBox 1">
            <a:extLst>
              <a:ext uri="{FF2B5EF4-FFF2-40B4-BE49-F238E27FC236}">
                <a16:creationId xmlns:a16="http://schemas.microsoft.com/office/drawing/2014/main" id="{070E8162-3E8F-4C5E-BE43-98B8FEC9450A}"/>
              </a:ext>
            </a:extLst>
          </p:cNvPr>
          <p:cNvSpPr txBox="1"/>
          <p:nvPr/>
        </p:nvSpPr>
        <p:spPr>
          <a:xfrm>
            <a:off x="1458397" y="1198516"/>
            <a:ext cx="4814840" cy="492443"/>
          </a:xfrm>
          <a:prstGeom prst="rect">
            <a:avLst/>
          </a:prstGeom>
          <a:noFill/>
        </p:spPr>
        <p:txBody>
          <a:bodyPr wrap="square" rtlCol="0">
            <a:spAutoFit/>
          </a:bodyPr>
          <a:lstStyle/>
          <a:p>
            <a:r>
              <a:rPr lang="en-US" sz="2600" dirty="0"/>
              <a:t>Which one is better? And Why?</a:t>
            </a:r>
          </a:p>
        </p:txBody>
      </p:sp>
      <p:sp>
        <p:nvSpPr>
          <p:cNvPr id="3" name="Slide Number Placeholder 2">
            <a:extLst>
              <a:ext uri="{FF2B5EF4-FFF2-40B4-BE49-F238E27FC236}">
                <a16:creationId xmlns:a16="http://schemas.microsoft.com/office/drawing/2014/main" id="{27D4B1C7-AE06-4AD4-B6C0-F53C89F9C727}"/>
              </a:ext>
            </a:extLst>
          </p:cNvPr>
          <p:cNvSpPr>
            <a:spLocks noGrp="1"/>
          </p:cNvSpPr>
          <p:nvPr>
            <p:ph type="sldNum" sz="quarter" idx="12"/>
          </p:nvPr>
        </p:nvSpPr>
        <p:spPr/>
        <p:txBody>
          <a:bodyPr/>
          <a:lstStyle/>
          <a:p>
            <a:fld id="{127DDC20-79C9-9647-820E-6D40A3D210C3}" type="slidenum">
              <a:rPr lang="en-US" smtClean="0"/>
              <a:pPr/>
              <a:t>50</a:t>
            </a:fld>
            <a:endParaRPr lang="en-US"/>
          </a:p>
        </p:txBody>
      </p:sp>
    </p:spTree>
    <p:extLst>
      <p:ext uri="{BB962C8B-B14F-4D97-AF65-F5344CB8AC3E}">
        <p14:creationId xmlns:p14="http://schemas.microsoft.com/office/powerpoint/2010/main" val="37917408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3"/>
          <p:cNvSpPr>
            <a:spLocks noGrp="1" noChangeArrowheads="1"/>
          </p:cNvSpPr>
          <p:nvPr>
            <p:ph idx="1"/>
          </p:nvPr>
        </p:nvSpPr>
        <p:spPr>
          <a:xfrm>
            <a:off x="76200" y="876300"/>
            <a:ext cx="7491663" cy="3741896"/>
          </a:xfrm>
        </p:spPr>
        <p:txBody>
          <a:bodyPr>
            <a:normAutofit/>
          </a:bodyPr>
          <a:lstStyle/>
          <a:p>
            <a:pPr>
              <a:buFont typeface="Courier New" panose="02070309020205020404" pitchFamily="49" charset="0"/>
              <a:buChar char="o"/>
            </a:pPr>
            <a:r>
              <a:rPr lang="en-US" dirty="0"/>
              <a:t>Allows the map user to determine where data were obtained</a:t>
            </a:r>
          </a:p>
          <a:p>
            <a:pPr marL="765810" lvl="1" indent="-457200">
              <a:buFont typeface="Wingdings" panose="05000000000000000000" pitchFamily="2" charset="2"/>
              <a:buChar char="ü"/>
            </a:pPr>
            <a:r>
              <a:rPr lang="en-US" dirty="0"/>
              <a:t>Sources of base information are normally omitted from thematic maps </a:t>
            </a:r>
          </a:p>
          <a:p>
            <a:pPr>
              <a:buFont typeface="Courier New" panose="02070309020205020404" pitchFamily="49" charset="0"/>
              <a:buChar char="o"/>
            </a:pPr>
            <a:r>
              <a:rPr lang="en-US" dirty="0"/>
              <a:t>Should be formatted similar to a standard bibliographic reference, but is often more concise and less formal  </a:t>
            </a:r>
          </a:p>
        </p:txBody>
      </p:sp>
      <p:cxnSp>
        <p:nvCxnSpPr>
          <p:cNvPr id="6" name="Straight Connector 5">
            <a:extLst>
              <a:ext uri="{FF2B5EF4-FFF2-40B4-BE49-F238E27FC236}">
                <a16:creationId xmlns:a16="http://schemas.microsoft.com/office/drawing/2014/main" id="{DC8B6E33-BB32-407B-B3A2-4DB83E80B91D}"/>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6D9AF380-D92B-4FD3-A5AF-A2B8A746E2D9}"/>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a:t>
            </a:r>
            <a:r>
              <a:rPr lang="en-US" altLang="zh-CN" sz="3200" dirty="0">
                <a:solidFill>
                  <a:srgbClr val="7030A0"/>
                </a:solidFill>
              </a:rPr>
              <a:t>ata source</a:t>
            </a:r>
            <a:endParaRPr lang="en-US" sz="2600" i="1" dirty="0">
              <a:solidFill>
                <a:srgbClr val="7030A0"/>
              </a:solidFill>
            </a:endParaRPr>
          </a:p>
        </p:txBody>
      </p:sp>
      <p:sp>
        <p:nvSpPr>
          <p:cNvPr id="2" name="Slide Number Placeholder 1">
            <a:extLst>
              <a:ext uri="{FF2B5EF4-FFF2-40B4-BE49-F238E27FC236}">
                <a16:creationId xmlns:a16="http://schemas.microsoft.com/office/drawing/2014/main" id="{F4413EBF-9B5B-45E1-B6EC-28D2CD8E0310}"/>
              </a:ext>
            </a:extLst>
          </p:cNvPr>
          <p:cNvSpPr>
            <a:spLocks noGrp="1"/>
          </p:cNvSpPr>
          <p:nvPr>
            <p:ph type="sldNum" sz="quarter" idx="12"/>
          </p:nvPr>
        </p:nvSpPr>
        <p:spPr/>
        <p:txBody>
          <a:bodyPr/>
          <a:lstStyle/>
          <a:p>
            <a:fld id="{127DDC20-79C9-9647-820E-6D40A3D210C3}" type="slidenum">
              <a:rPr lang="en-US" smtClean="0"/>
              <a:pPr/>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Rectangle 3"/>
          <p:cNvSpPr>
            <a:spLocks noGrp="1" noChangeArrowheads="1"/>
          </p:cNvSpPr>
          <p:nvPr>
            <p:ph idx="1"/>
          </p:nvPr>
        </p:nvSpPr>
        <p:spPr>
          <a:xfrm>
            <a:off x="152400" y="1014070"/>
            <a:ext cx="8001000" cy="3741896"/>
          </a:xfrm>
        </p:spPr>
        <p:txBody>
          <a:bodyPr>
            <a:normAutofit lnSpcReduction="10000"/>
          </a:bodyPr>
          <a:lstStyle/>
          <a:p>
            <a:pPr>
              <a:buFont typeface="Courier New" panose="02070309020205020404" pitchFamily="49" charset="0"/>
              <a:buChar char="o"/>
            </a:pPr>
            <a:r>
              <a:rPr lang="en-US" sz="2400" dirty="0"/>
              <a:t>The words “Data Source:” or “Source:” should be included to avoid ambiguity</a:t>
            </a:r>
          </a:p>
          <a:p>
            <a:pPr marL="594360" lvl="1" indent="-285750">
              <a:buFont typeface="Wingdings" panose="05000000000000000000" pitchFamily="2" charset="2"/>
              <a:buChar char="ü"/>
            </a:pPr>
            <a:r>
              <a:rPr lang="en-US" sz="2200" dirty="0"/>
              <a:t>The data source indicates where data came from, not map authorship</a:t>
            </a:r>
          </a:p>
          <a:p>
            <a:pPr>
              <a:buFont typeface="Courier New" panose="02070309020205020404" pitchFamily="49" charset="0"/>
              <a:buChar char="o"/>
            </a:pPr>
            <a:r>
              <a:rPr lang="en-US" sz="2400" dirty="0"/>
              <a:t>A separate block of type can be used to indicate map authorship</a:t>
            </a:r>
          </a:p>
          <a:p>
            <a:pPr>
              <a:buFont typeface="Courier New" panose="02070309020205020404" pitchFamily="49" charset="0"/>
              <a:buChar char="o"/>
            </a:pPr>
            <a:r>
              <a:rPr lang="en-US" sz="2400" dirty="0"/>
              <a:t>The style of the data source should be plain and subtle</a:t>
            </a:r>
          </a:p>
          <a:p>
            <a:pPr>
              <a:buFont typeface="Courier New" panose="02070309020205020404" pitchFamily="49" charset="0"/>
              <a:buChar char="o"/>
            </a:pPr>
            <a:r>
              <a:rPr lang="en-US" sz="2400" dirty="0"/>
              <a:t>Publication names should be </a:t>
            </a:r>
            <a:r>
              <a:rPr lang="en-US" sz="2400" i="1" dirty="0"/>
              <a:t>italicized</a:t>
            </a:r>
            <a:r>
              <a:rPr lang="en-US" sz="2400" dirty="0"/>
              <a:t> </a:t>
            </a:r>
          </a:p>
          <a:p>
            <a:pPr>
              <a:buFont typeface="Courier New" panose="02070309020205020404" pitchFamily="49" charset="0"/>
              <a:buChar char="o"/>
            </a:pPr>
            <a:r>
              <a:rPr lang="en-US" sz="2400" dirty="0"/>
              <a:t>Multiple lines of type should be horizontally centered (center aligned) </a:t>
            </a:r>
          </a:p>
          <a:p>
            <a:pPr marL="308610" lvl="1" indent="0">
              <a:buNone/>
            </a:pPr>
            <a:endParaRPr lang="en-US" dirty="0"/>
          </a:p>
        </p:txBody>
      </p:sp>
      <p:cxnSp>
        <p:nvCxnSpPr>
          <p:cNvPr id="4" name="Straight Connector 3">
            <a:extLst>
              <a:ext uri="{FF2B5EF4-FFF2-40B4-BE49-F238E27FC236}">
                <a16:creationId xmlns:a16="http://schemas.microsoft.com/office/drawing/2014/main" id="{5A3BAF26-21BD-4526-AD1E-92E0A256B64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FFF1CC0-0ABD-4FA5-8B7F-599AC402B1EA}"/>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a:t>
            </a:r>
            <a:r>
              <a:rPr lang="en-US" altLang="zh-CN" sz="3200" dirty="0">
                <a:solidFill>
                  <a:srgbClr val="7030A0"/>
                </a:solidFill>
              </a:rPr>
              <a:t>ata source</a:t>
            </a:r>
            <a:endParaRPr lang="en-US" sz="2600" i="1" dirty="0">
              <a:solidFill>
                <a:srgbClr val="7030A0"/>
              </a:solidFill>
            </a:endParaRPr>
          </a:p>
        </p:txBody>
      </p:sp>
      <p:sp>
        <p:nvSpPr>
          <p:cNvPr id="2" name="Slide Number Placeholder 1">
            <a:extLst>
              <a:ext uri="{FF2B5EF4-FFF2-40B4-BE49-F238E27FC236}">
                <a16:creationId xmlns:a16="http://schemas.microsoft.com/office/drawing/2014/main" id="{F484C556-2BF8-4CCA-9244-3DA9407E3F9A}"/>
              </a:ext>
            </a:extLst>
          </p:cNvPr>
          <p:cNvSpPr>
            <a:spLocks noGrp="1"/>
          </p:cNvSpPr>
          <p:nvPr>
            <p:ph type="sldNum" sz="quarter" idx="12"/>
          </p:nvPr>
        </p:nvSpPr>
        <p:spPr/>
        <p:txBody>
          <a:bodyPr/>
          <a:lstStyle/>
          <a:p>
            <a:fld id="{127DDC20-79C9-9647-820E-6D40A3D210C3}" type="slidenum">
              <a:rPr lang="en-US" smtClean="0"/>
              <a:pPr/>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972" name="Picture 5"/>
          <p:cNvPicPr>
            <a:picLocks noChangeAspect="1" noChangeArrowheads="1"/>
          </p:cNvPicPr>
          <p:nvPr/>
        </p:nvPicPr>
        <p:blipFill>
          <a:blip r:embed="rId2" cstate="print"/>
          <a:srcRect/>
          <a:stretch>
            <a:fillRect/>
          </a:stretch>
        </p:blipFill>
        <p:spPr bwMode="auto">
          <a:xfrm>
            <a:off x="1333323" y="1748494"/>
            <a:ext cx="5681088" cy="2112551"/>
          </a:xfrm>
          <a:prstGeom prst="rect">
            <a:avLst/>
          </a:prstGeom>
          <a:noFill/>
          <a:ln w="9525" algn="ctr">
            <a:solidFill>
              <a:schemeClr val="tx1"/>
            </a:solidFill>
            <a:miter lim="800000"/>
            <a:headEnd/>
            <a:tailEnd/>
          </a:ln>
        </p:spPr>
      </p:pic>
      <p:cxnSp>
        <p:nvCxnSpPr>
          <p:cNvPr id="4" name="Straight Connector 3">
            <a:extLst>
              <a:ext uri="{FF2B5EF4-FFF2-40B4-BE49-F238E27FC236}">
                <a16:creationId xmlns:a16="http://schemas.microsoft.com/office/drawing/2014/main" id="{5A3BAF26-21BD-4526-AD1E-92E0A256B64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FFF1CC0-0ABD-4FA5-8B7F-599AC402B1EA}"/>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a:t>
            </a:r>
            <a:r>
              <a:rPr lang="en-US" altLang="zh-CN" sz="3200" dirty="0">
                <a:solidFill>
                  <a:srgbClr val="7030A0"/>
                </a:solidFill>
              </a:rPr>
              <a:t>ata source</a:t>
            </a:r>
            <a:endParaRPr lang="en-US" sz="2600" i="1" dirty="0">
              <a:solidFill>
                <a:srgbClr val="7030A0"/>
              </a:solidFill>
            </a:endParaRPr>
          </a:p>
        </p:txBody>
      </p:sp>
      <p:sp>
        <p:nvSpPr>
          <p:cNvPr id="3" name="Slide Number Placeholder 2">
            <a:extLst>
              <a:ext uri="{FF2B5EF4-FFF2-40B4-BE49-F238E27FC236}">
                <a16:creationId xmlns:a16="http://schemas.microsoft.com/office/drawing/2014/main" id="{03829A4E-2266-4CA3-B4F6-6102124837E0}"/>
              </a:ext>
            </a:extLst>
          </p:cNvPr>
          <p:cNvSpPr>
            <a:spLocks noGrp="1"/>
          </p:cNvSpPr>
          <p:nvPr>
            <p:ph type="sldNum" sz="quarter" idx="12"/>
          </p:nvPr>
        </p:nvSpPr>
        <p:spPr/>
        <p:txBody>
          <a:bodyPr/>
          <a:lstStyle/>
          <a:p>
            <a:fld id="{127DDC20-79C9-9647-820E-6D40A3D210C3}" type="slidenum">
              <a:rPr lang="en-US" smtClean="0"/>
              <a:pPr/>
              <a:t>53</a:t>
            </a:fld>
            <a:endParaRPr lang="en-US"/>
          </a:p>
        </p:txBody>
      </p:sp>
    </p:spTree>
    <p:extLst>
      <p:ext uri="{BB962C8B-B14F-4D97-AF65-F5344CB8AC3E}">
        <p14:creationId xmlns:p14="http://schemas.microsoft.com/office/powerpoint/2010/main" val="339066264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p:cNvSpPr>
            <a:spLocks noGrp="1" noChangeArrowheads="1"/>
          </p:cNvSpPr>
          <p:nvPr>
            <p:ph idx="1"/>
          </p:nvPr>
        </p:nvSpPr>
        <p:spPr>
          <a:xfrm>
            <a:off x="288758" y="1028700"/>
            <a:ext cx="7700209" cy="3741896"/>
          </a:xfrm>
        </p:spPr>
        <p:txBody>
          <a:bodyPr>
            <a:normAutofit/>
          </a:bodyPr>
          <a:lstStyle/>
          <a:p>
            <a:pPr>
              <a:buFont typeface="Courier New" panose="02070309020205020404" pitchFamily="49" charset="0"/>
              <a:buChar char="o"/>
            </a:pPr>
            <a:r>
              <a:rPr lang="en-US" dirty="0"/>
              <a:t>The data source should be among the smallest type on a map</a:t>
            </a:r>
          </a:p>
          <a:p>
            <a:pPr marL="765810" lvl="1" indent="-457200">
              <a:buFont typeface="Wingdings" panose="05000000000000000000" pitchFamily="2" charset="2"/>
              <a:buChar char="ü"/>
            </a:pPr>
            <a:r>
              <a:rPr lang="en-US" dirty="0"/>
              <a:t>Its purpose is to inform the curious, not to attract attention</a:t>
            </a:r>
          </a:p>
          <a:p>
            <a:pPr>
              <a:buFont typeface="Courier New" panose="02070309020205020404" pitchFamily="49" charset="0"/>
              <a:buChar char="o"/>
            </a:pPr>
            <a:r>
              <a:rPr lang="en-US" dirty="0"/>
              <a:t>Center it below the legend</a:t>
            </a:r>
          </a:p>
          <a:p>
            <a:pPr marL="727234" lvl="1" indent="-457200">
              <a:buFont typeface="Wingdings" panose="05000000000000000000" pitchFamily="2" charset="2"/>
              <a:buChar char="ü"/>
            </a:pPr>
            <a:r>
              <a:rPr lang="en-US" dirty="0"/>
              <a:t>Or tuck it into a lower </a:t>
            </a:r>
            <a:br>
              <a:rPr lang="en-US" dirty="0"/>
            </a:br>
            <a:r>
              <a:rPr lang="en-US" dirty="0"/>
              <a:t>corner</a:t>
            </a:r>
          </a:p>
        </p:txBody>
      </p:sp>
      <p:pic>
        <p:nvPicPr>
          <p:cNvPr id="86020" name="Picture 5" descr="Image showing data source"/>
          <p:cNvPicPr>
            <a:picLocks noChangeAspect="1" noChangeArrowheads="1"/>
          </p:cNvPicPr>
          <p:nvPr/>
        </p:nvPicPr>
        <p:blipFill>
          <a:blip r:embed="rId2" cstate="print"/>
          <a:srcRect/>
          <a:stretch>
            <a:fillRect/>
          </a:stretch>
        </p:blipFill>
        <p:spPr bwMode="auto">
          <a:xfrm>
            <a:off x="5522614" y="2940222"/>
            <a:ext cx="2396014" cy="2157056"/>
          </a:xfrm>
          <a:prstGeom prst="rect">
            <a:avLst/>
          </a:prstGeom>
          <a:noFill/>
          <a:ln w="9525" algn="ctr">
            <a:solidFill>
              <a:schemeClr val="tx1"/>
            </a:solidFill>
            <a:miter lim="800000"/>
            <a:headEnd/>
            <a:tailEnd/>
          </a:ln>
        </p:spPr>
      </p:pic>
      <p:pic>
        <p:nvPicPr>
          <p:cNvPr id="2" name="Picture 1" descr="Image showing data source"/>
          <p:cNvPicPr>
            <a:picLocks noChangeAspect="1"/>
          </p:cNvPicPr>
          <p:nvPr/>
        </p:nvPicPr>
        <p:blipFill>
          <a:blip r:embed="rId3"/>
          <a:stretch>
            <a:fillRect/>
          </a:stretch>
        </p:blipFill>
        <p:spPr>
          <a:xfrm>
            <a:off x="1508979" y="4114800"/>
            <a:ext cx="3109455" cy="982478"/>
          </a:xfrm>
          <a:prstGeom prst="rect">
            <a:avLst/>
          </a:prstGeom>
        </p:spPr>
      </p:pic>
      <p:cxnSp>
        <p:nvCxnSpPr>
          <p:cNvPr id="8" name="Straight Connector 7">
            <a:extLst>
              <a:ext uri="{FF2B5EF4-FFF2-40B4-BE49-F238E27FC236}">
                <a16:creationId xmlns:a16="http://schemas.microsoft.com/office/drawing/2014/main" id="{29EE5423-F840-4562-AE03-FE11EB9F6852}"/>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F708B0C1-5640-41C0-B7C3-D0DDA7FEA272}"/>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a:t>
            </a:r>
            <a:r>
              <a:rPr lang="en-US" altLang="zh-CN" sz="3200" dirty="0">
                <a:solidFill>
                  <a:srgbClr val="7030A0"/>
                </a:solidFill>
              </a:rPr>
              <a:t>ata source</a:t>
            </a:r>
            <a:endParaRPr lang="en-US" sz="2600" i="1" dirty="0">
              <a:solidFill>
                <a:srgbClr val="7030A0"/>
              </a:solidFill>
            </a:endParaRPr>
          </a:p>
        </p:txBody>
      </p:sp>
      <p:sp>
        <p:nvSpPr>
          <p:cNvPr id="3" name="Slide Number Placeholder 2">
            <a:extLst>
              <a:ext uri="{FF2B5EF4-FFF2-40B4-BE49-F238E27FC236}">
                <a16:creationId xmlns:a16="http://schemas.microsoft.com/office/drawing/2014/main" id="{C4320318-7D3E-4E4F-A5D3-78DC6ACE4F61}"/>
              </a:ext>
            </a:extLst>
          </p:cNvPr>
          <p:cNvSpPr>
            <a:spLocks noGrp="1"/>
          </p:cNvSpPr>
          <p:nvPr>
            <p:ph type="sldNum" sz="quarter" idx="12"/>
          </p:nvPr>
        </p:nvSpPr>
        <p:spPr/>
        <p:txBody>
          <a:bodyPr/>
          <a:lstStyle/>
          <a:p>
            <a:fld id="{127DDC20-79C9-9647-820E-6D40A3D210C3}" type="slidenum">
              <a:rPr lang="en-US" smtClean="0"/>
              <a:pPr/>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3"/>
          <p:cNvSpPr>
            <a:spLocks noGrp="1" noChangeArrowheads="1"/>
          </p:cNvSpPr>
          <p:nvPr>
            <p:ph idx="1"/>
          </p:nvPr>
        </p:nvSpPr>
        <p:spPr>
          <a:xfrm>
            <a:off x="118533" y="1028700"/>
            <a:ext cx="7870435" cy="3741896"/>
          </a:xfrm>
        </p:spPr>
        <p:txBody>
          <a:bodyPr>
            <a:normAutofit/>
          </a:bodyPr>
          <a:lstStyle/>
          <a:p>
            <a:pPr>
              <a:buFont typeface="Courier New" panose="02070309020205020404" pitchFamily="49" charset="0"/>
              <a:buChar char="o"/>
            </a:pPr>
            <a:r>
              <a:rPr lang="en-US" dirty="0"/>
              <a:t>Indicates the amount of reduction that has taken place on a map, or allows the map user to measure distances</a:t>
            </a:r>
          </a:p>
          <a:p>
            <a:pPr>
              <a:buFont typeface="Courier New" panose="02070309020205020404" pitchFamily="49" charset="0"/>
              <a:buChar char="o"/>
            </a:pPr>
            <a:r>
              <a:rPr lang="en-US" dirty="0"/>
              <a:t>Can take three forms</a:t>
            </a:r>
          </a:p>
          <a:p>
            <a:pPr marL="765810" lvl="1" indent="-457200">
              <a:buFont typeface="Wingdings" panose="05000000000000000000" pitchFamily="2" charset="2"/>
              <a:buChar char="ü"/>
            </a:pPr>
            <a:r>
              <a:rPr lang="en-US" dirty="0"/>
              <a:t>Representative Fraction (1:24,000) </a:t>
            </a:r>
          </a:p>
          <a:p>
            <a:pPr marL="765810" lvl="1" indent="-457200">
              <a:buFont typeface="Wingdings" panose="05000000000000000000" pitchFamily="2" charset="2"/>
              <a:buChar char="ü"/>
            </a:pPr>
            <a:r>
              <a:rPr lang="en-US" dirty="0"/>
              <a:t>Verbal Scale (“One Inch to the Mile”)</a:t>
            </a:r>
          </a:p>
          <a:p>
            <a:pPr marL="765810" lvl="1" indent="-457200">
              <a:buFont typeface="Wingdings" panose="05000000000000000000" pitchFamily="2" charset="2"/>
              <a:buChar char="ü"/>
            </a:pPr>
            <a:r>
              <a:rPr lang="en-US" dirty="0"/>
              <a:t>Bar Scale or Scale Bar</a:t>
            </a:r>
          </a:p>
        </p:txBody>
      </p:sp>
      <p:pic>
        <p:nvPicPr>
          <p:cNvPr id="88068" name="Picture 4" descr="Image showing scale"/>
          <p:cNvPicPr>
            <a:picLocks noChangeAspect="1" noChangeArrowheads="1"/>
          </p:cNvPicPr>
          <p:nvPr/>
        </p:nvPicPr>
        <p:blipFill>
          <a:blip r:embed="rId3" cstate="print"/>
          <a:srcRect/>
          <a:stretch>
            <a:fillRect/>
          </a:stretch>
        </p:blipFill>
        <p:spPr bwMode="auto">
          <a:xfrm>
            <a:off x="6175943" y="3331488"/>
            <a:ext cx="1141214" cy="1439108"/>
          </a:xfrm>
          <a:prstGeom prst="rect">
            <a:avLst/>
          </a:prstGeom>
          <a:noFill/>
          <a:ln w="9525" algn="ctr">
            <a:solidFill>
              <a:schemeClr val="tx1"/>
            </a:solidFill>
            <a:miter lim="800000"/>
            <a:headEnd/>
            <a:tailEnd/>
          </a:ln>
        </p:spPr>
      </p:pic>
      <p:cxnSp>
        <p:nvCxnSpPr>
          <p:cNvPr id="5" name="Straight Connector 4">
            <a:extLst>
              <a:ext uri="{FF2B5EF4-FFF2-40B4-BE49-F238E27FC236}">
                <a16:creationId xmlns:a16="http://schemas.microsoft.com/office/drawing/2014/main" id="{9F99F1A8-A99C-4BCA-881F-493B6793DD01}"/>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2326BF4C-D5A6-4D87-9299-C75E7ABC924E}"/>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Scale</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7F76C17A-4AB0-4AA1-8D36-17A705D01208}"/>
              </a:ext>
            </a:extLst>
          </p:cNvPr>
          <p:cNvSpPr>
            <a:spLocks noGrp="1"/>
          </p:cNvSpPr>
          <p:nvPr>
            <p:ph type="sldNum" sz="quarter" idx="12"/>
          </p:nvPr>
        </p:nvSpPr>
        <p:spPr/>
        <p:txBody>
          <a:bodyPr/>
          <a:lstStyle/>
          <a:p>
            <a:fld id="{127DDC20-79C9-9647-820E-6D40A3D210C3}" type="slidenum">
              <a:rPr lang="en-US" smtClean="0"/>
              <a:pPr/>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091" name="Picture 3" descr="Image showing scale"/>
          <p:cNvPicPr preferRelativeResize="0">
            <a:picLocks noChangeAspect="1" noChangeArrowheads="1"/>
          </p:cNvPicPr>
          <p:nvPr/>
        </p:nvPicPr>
        <p:blipFill>
          <a:blip r:embed="rId2" cstate="print"/>
          <a:srcRect/>
          <a:stretch>
            <a:fillRect/>
          </a:stretch>
        </p:blipFill>
        <p:spPr bwMode="auto">
          <a:xfrm>
            <a:off x="1627704" y="1052274"/>
            <a:ext cx="4979551" cy="3660458"/>
          </a:xfrm>
          <a:prstGeom prst="rect">
            <a:avLst/>
          </a:prstGeom>
          <a:noFill/>
          <a:ln w="9525">
            <a:noFill/>
            <a:miter lim="800000"/>
            <a:headEnd/>
            <a:tailEnd/>
          </a:ln>
        </p:spPr>
      </p:pic>
      <p:sp>
        <p:nvSpPr>
          <p:cNvPr id="570372" name="Oval 4" descr="Red circle"/>
          <p:cNvSpPr>
            <a:spLocks noChangeArrowheads="1"/>
          </p:cNvSpPr>
          <p:nvPr/>
        </p:nvSpPr>
        <p:spPr bwMode="auto">
          <a:xfrm>
            <a:off x="5109211" y="4319470"/>
            <a:ext cx="1446609" cy="383619"/>
          </a:xfrm>
          <a:prstGeom prst="ellipse">
            <a:avLst/>
          </a:prstGeom>
          <a:noFill/>
          <a:ln w="25400">
            <a:solidFill>
              <a:srgbClr val="FF0000"/>
            </a:solidFill>
            <a:round/>
            <a:headEnd/>
            <a:tailEnd/>
          </a:ln>
        </p:spPr>
        <p:txBody>
          <a:bodyPr wrap="none" anchor="ctr"/>
          <a:lstStyle/>
          <a:p>
            <a:endParaRPr lang="en-US" sz="1215"/>
          </a:p>
        </p:txBody>
      </p:sp>
      <p:cxnSp>
        <p:nvCxnSpPr>
          <p:cNvPr id="5" name="Straight Connector 4">
            <a:extLst>
              <a:ext uri="{FF2B5EF4-FFF2-40B4-BE49-F238E27FC236}">
                <a16:creationId xmlns:a16="http://schemas.microsoft.com/office/drawing/2014/main" id="{E4F623BC-4BFB-4E54-B05D-FD0D42473E59}"/>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F08ED228-176A-466B-8C92-BE95ED0CEFE5}"/>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Scale</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2FE1996B-A2AE-4F32-A897-B41C90202714}"/>
              </a:ext>
            </a:extLst>
          </p:cNvPr>
          <p:cNvSpPr>
            <a:spLocks noGrp="1"/>
          </p:cNvSpPr>
          <p:nvPr>
            <p:ph type="sldNum" sz="quarter" idx="12"/>
          </p:nvPr>
        </p:nvSpPr>
        <p:spPr/>
        <p:txBody>
          <a:bodyPr/>
          <a:lstStyle/>
          <a:p>
            <a:fld id="{127DDC20-79C9-9647-820E-6D40A3D210C3}" type="slidenum">
              <a:rPr lang="en-US" smtClean="0"/>
              <a:pPr/>
              <a:t>56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03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0372"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Rectangle 3"/>
          <p:cNvSpPr>
            <a:spLocks noGrp="1" noChangeArrowheads="1"/>
          </p:cNvSpPr>
          <p:nvPr>
            <p:ph idx="1"/>
          </p:nvPr>
        </p:nvSpPr>
        <p:spPr>
          <a:xfrm>
            <a:off x="118533" y="957714"/>
            <a:ext cx="7818120" cy="3741896"/>
          </a:xfrm>
        </p:spPr>
        <p:txBody>
          <a:bodyPr/>
          <a:lstStyle/>
          <a:p>
            <a:pPr>
              <a:buFont typeface="Courier New" panose="02070309020205020404" pitchFamily="49" charset="0"/>
              <a:buChar char="o"/>
            </a:pPr>
            <a:r>
              <a:rPr lang="en-US" dirty="0"/>
              <a:t>The bar scale is preferred format for inclusion on a thematic map </a:t>
            </a:r>
          </a:p>
          <a:p>
            <a:pPr marL="765810" lvl="1" indent="-457200">
              <a:buFont typeface="Wingdings" panose="05000000000000000000" pitchFamily="2" charset="2"/>
              <a:buChar char="ü"/>
            </a:pPr>
            <a:r>
              <a:rPr lang="en-US" dirty="0"/>
              <a:t>Resembles a ruler </a:t>
            </a:r>
          </a:p>
          <a:p>
            <a:pPr marL="765810" lvl="1" indent="-457200">
              <a:buFont typeface="Wingdings" panose="05000000000000000000" pitchFamily="2" charset="2"/>
              <a:buChar char="ü"/>
            </a:pPr>
            <a:r>
              <a:rPr lang="en-US" dirty="0"/>
              <a:t>Remains true when a map is enlarged or reduced (representative fractions and verbal scales don’t)</a:t>
            </a:r>
          </a:p>
          <a:p>
            <a:pPr marL="727226" lvl="1" indent="-457200">
              <a:buFont typeface="Wingdings" panose="05000000000000000000" pitchFamily="2" charset="2"/>
              <a:buChar char="ü"/>
            </a:pPr>
            <a:r>
              <a:rPr lang="en-US" dirty="0"/>
              <a:t>Include if distance information can enhance the map user’s understanding of the theme</a:t>
            </a:r>
          </a:p>
        </p:txBody>
      </p:sp>
      <p:cxnSp>
        <p:nvCxnSpPr>
          <p:cNvPr id="5" name="Straight Connector 4">
            <a:extLst>
              <a:ext uri="{FF2B5EF4-FFF2-40B4-BE49-F238E27FC236}">
                <a16:creationId xmlns:a16="http://schemas.microsoft.com/office/drawing/2014/main" id="{F2C320FB-BD2A-4B6D-9598-423246954E4A}"/>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5B1F549D-29E0-4CE6-B74B-5D3B67FBA063}"/>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Scale</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04184035-05D3-4200-B06D-E79D6205E47B}"/>
              </a:ext>
            </a:extLst>
          </p:cNvPr>
          <p:cNvSpPr>
            <a:spLocks noGrp="1"/>
          </p:cNvSpPr>
          <p:nvPr>
            <p:ph type="sldNum" sz="quarter" idx="12"/>
          </p:nvPr>
        </p:nvSpPr>
        <p:spPr/>
        <p:txBody>
          <a:bodyPr/>
          <a:lstStyle/>
          <a:p>
            <a:fld id="{127DDC20-79C9-9647-820E-6D40A3D210C3}" type="slidenum">
              <a:rPr lang="en-US" smtClean="0"/>
              <a:pPr/>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Image showing scale"/>
          <p:cNvPicPr>
            <a:picLocks noChangeAspect="1"/>
          </p:cNvPicPr>
          <p:nvPr/>
        </p:nvPicPr>
        <p:blipFill>
          <a:blip r:embed="rId2"/>
          <a:stretch>
            <a:fillRect/>
          </a:stretch>
        </p:blipFill>
        <p:spPr>
          <a:xfrm>
            <a:off x="1727533" y="1106965"/>
            <a:ext cx="5093171" cy="3910195"/>
          </a:xfrm>
          <a:prstGeom prst="rect">
            <a:avLst/>
          </a:prstGeom>
          <a:ln>
            <a:solidFill>
              <a:schemeClr val="tx1"/>
            </a:solidFill>
          </a:ln>
        </p:spPr>
      </p:pic>
      <p:cxnSp>
        <p:nvCxnSpPr>
          <p:cNvPr id="5" name="Straight Connector 4">
            <a:extLst>
              <a:ext uri="{FF2B5EF4-FFF2-40B4-BE49-F238E27FC236}">
                <a16:creationId xmlns:a16="http://schemas.microsoft.com/office/drawing/2014/main" id="{F2C320FB-BD2A-4B6D-9598-423246954E4A}"/>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5B1F549D-29E0-4CE6-B74B-5D3B67FBA063}"/>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Scale</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8FBE3332-4ED6-4335-8129-744FAC46739A}"/>
              </a:ext>
            </a:extLst>
          </p:cNvPr>
          <p:cNvSpPr>
            <a:spLocks noGrp="1"/>
          </p:cNvSpPr>
          <p:nvPr>
            <p:ph type="sldNum" sz="quarter" idx="12"/>
          </p:nvPr>
        </p:nvSpPr>
        <p:spPr/>
        <p:txBody>
          <a:bodyPr/>
          <a:lstStyle/>
          <a:p>
            <a:fld id="{127DDC20-79C9-9647-820E-6D40A3D210C3}" type="slidenum">
              <a:rPr lang="en-US" smtClean="0"/>
              <a:pPr/>
              <a:t>58</a:t>
            </a:fld>
            <a:endParaRPr lang="en-US"/>
          </a:p>
        </p:txBody>
      </p:sp>
    </p:spTree>
    <p:extLst>
      <p:ext uri="{BB962C8B-B14F-4D97-AF65-F5344CB8AC3E}">
        <p14:creationId xmlns:p14="http://schemas.microsoft.com/office/powerpoint/2010/main" val="372162939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Rectangle 3"/>
          <p:cNvSpPr>
            <a:spLocks noGrp="1" noChangeArrowheads="1"/>
          </p:cNvSpPr>
          <p:nvPr>
            <p:ph idx="1"/>
          </p:nvPr>
        </p:nvSpPr>
        <p:spPr>
          <a:xfrm>
            <a:off x="236278" y="1000978"/>
            <a:ext cx="7917122" cy="3741896"/>
          </a:xfrm>
        </p:spPr>
        <p:txBody>
          <a:bodyPr/>
          <a:lstStyle/>
          <a:p>
            <a:pPr>
              <a:buFont typeface="Courier New" panose="02070309020205020404" pitchFamily="49" charset="0"/>
              <a:buChar char="o"/>
            </a:pPr>
            <a:r>
              <a:rPr lang="en-US" dirty="0"/>
              <a:t>Use caution when employing bar scales on smaller scale maps</a:t>
            </a:r>
          </a:p>
          <a:p>
            <a:pPr marL="1125855" lvl="2" indent="-457200">
              <a:buFont typeface="Wingdings" panose="05000000000000000000" pitchFamily="2" charset="2"/>
              <a:buChar char="ü"/>
            </a:pPr>
            <a:r>
              <a:rPr lang="en-US" dirty="0"/>
              <a:t>Scale is only accurate along standard lines</a:t>
            </a:r>
          </a:p>
        </p:txBody>
      </p:sp>
      <p:pic>
        <p:nvPicPr>
          <p:cNvPr id="92164" name="Picture 5" descr="Image showing scale"/>
          <p:cNvPicPr>
            <a:picLocks noChangeAspect="1" noChangeArrowheads="1"/>
          </p:cNvPicPr>
          <p:nvPr/>
        </p:nvPicPr>
        <p:blipFill>
          <a:blip r:embed="rId3" cstate="print"/>
          <a:srcRect t="6451" b="16319"/>
          <a:stretch>
            <a:fillRect/>
          </a:stretch>
        </p:blipFill>
        <p:spPr bwMode="auto">
          <a:xfrm>
            <a:off x="4194839" y="2947711"/>
            <a:ext cx="3164704" cy="1795163"/>
          </a:xfrm>
          <a:prstGeom prst="rect">
            <a:avLst/>
          </a:prstGeom>
          <a:noFill/>
          <a:ln w="9525" algn="ctr">
            <a:solidFill>
              <a:schemeClr val="tx1"/>
            </a:solidFill>
            <a:miter lim="800000"/>
            <a:headEnd/>
            <a:tailEnd/>
          </a:ln>
        </p:spPr>
      </p:pic>
      <p:sp>
        <p:nvSpPr>
          <p:cNvPr id="92165" name="Text Box 6"/>
          <p:cNvSpPr txBox="1">
            <a:spLocks noChangeArrowheads="1"/>
          </p:cNvSpPr>
          <p:nvPr/>
        </p:nvSpPr>
        <p:spPr bwMode="auto">
          <a:xfrm>
            <a:off x="589547" y="3454333"/>
            <a:ext cx="3525253" cy="300082"/>
          </a:xfrm>
          <a:prstGeom prst="rect">
            <a:avLst/>
          </a:prstGeom>
          <a:solidFill>
            <a:schemeClr val="bg1"/>
          </a:solidFill>
          <a:ln w="9525" algn="ctr">
            <a:solidFill>
              <a:srgbClr val="FF0000"/>
            </a:solidFill>
            <a:miter lim="800000"/>
            <a:headEnd/>
            <a:tailEnd/>
          </a:ln>
        </p:spPr>
        <p:txBody>
          <a:bodyPr wrap="square">
            <a:spAutoFit/>
          </a:bodyPr>
          <a:lstStyle/>
          <a:p>
            <a:r>
              <a:rPr lang="en-US" sz="1350" dirty="0"/>
              <a:t>Scale is accurate only along the standard line</a:t>
            </a:r>
          </a:p>
        </p:txBody>
      </p:sp>
      <p:cxnSp>
        <p:nvCxnSpPr>
          <p:cNvPr id="10" name="Straight Connector 9">
            <a:extLst>
              <a:ext uri="{FF2B5EF4-FFF2-40B4-BE49-F238E27FC236}">
                <a16:creationId xmlns:a16="http://schemas.microsoft.com/office/drawing/2014/main" id="{A102BB30-A513-4913-A493-0AE4D17EC639}"/>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Title 1">
            <a:extLst>
              <a:ext uri="{FF2B5EF4-FFF2-40B4-BE49-F238E27FC236}">
                <a16:creationId xmlns:a16="http://schemas.microsoft.com/office/drawing/2014/main" id="{44A66D0F-FD62-4D62-A1D7-F96AC05B44AE}"/>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Scale</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7D8EF2E5-5D69-4F16-897E-BDC7A050E3E0}"/>
              </a:ext>
            </a:extLst>
          </p:cNvPr>
          <p:cNvSpPr>
            <a:spLocks noGrp="1"/>
          </p:cNvSpPr>
          <p:nvPr>
            <p:ph type="sldNum" sz="quarter" idx="12"/>
          </p:nvPr>
        </p:nvSpPr>
        <p:spPr/>
        <p:txBody>
          <a:bodyPr/>
          <a:lstStyle/>
          <a:p>
            <a:fld id="{127DDC20-79C9-9647-820E-6D40A3D210C3}" type="slidenum">
              <a:rPr lang="en-US" smtClean="0"/>
              <a:pPr/>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1" name="Rectangle 3"/>
          <p:cNvSpPr>
            <a:spLocks noGrp="1" noChangeArrowheads="1"/>
          </p:cNvSpPr>
          <p:nvPr>
            <p:ph idx="1"/>
          </p:nvPr>
        </p:nvSpPr>
        <p:spPr>
          <a:xfrm>
            <a:off x="33867" y="1003558"/>
            <a:ext cx="8077200" cy="3043882"/>
          </a:xfrm>
        </p:spPr>
        <p:txBody>
          <a:bodyPr>
            <a:normAutofit/>
          </a:bodyPr>
          <a:lstStyle/>
          <a:p>
            <a:pPr>
              <a:buFont typeface="Courier New" panose="02070309020205020404" pitchFamily="49" charset="0"/>
              <a:buChar char="o"/>
            </a:pPr>
            <a:r>
              <a:rPr lang="en-US" sz="2600" dirty="0"/>
              <a:t>The maximum distance value should always be round and easy to work with</a:t>
            </a:r>
          </a:p>
          <a:p>
            <a:pPr>
              <a:buFont typeface="Courier New" panose="02070309020205020404" pitchFamily="49" charset="0"/>
              <a:buChar char="o"/>
            </a:pPr>
            <a:r>
              <a:rPr lang="en-US" sz="2600" dirty="0"/>
              <a:t>Incorporate a unit of measure that is appropriate for the intended audience</a:t>
            </a:r>
          </a:p>
          <a:p>
            <a:pPr marL="765810" lvl="1" indent="-457200">
              <a:buFont typeface="Wingdings" panose="05000000000000000000" pitchFamily="2" charset="2"/>
              <a:buChar char="ü"/>
            </a:pPr>
            <a:r>
              <a:rPr lang="en-US" sz="2000" dirty="0"/>
              <a:t>Incorporate both miles and kilometers if necessary </a:t>
            </a:r>
          </a:p>
          <a:p>
            <a:pPr marL="765810" lvl="1" indent="-457200">
              <a:buFont typeface="Wingdings" panose="05000000000000000000" pitchFamily="2" charset="2"/>
              <a:buChar char="ü"/>
            </a:pPr>
            <a:r>
              <a:rPr lang="en-US" sz="2000" dirty="0"/>
              <a:t>Choose a unit of measure that is appropriate for the maximum value</a:t>
            </a:r>
          </a:p>
          <a:p>
            <a:pPr lvl="1" indent="-360045"/>
            <a:endParaRPr lang="en-US" dirty="0"/>
          </a:p>
        </p:txBody>
      </p:sp>
      <p:pic>
        <p:nvPicPr>
          <p:cNvPr id="94212" name="Picture 6" descr="Image showing scale"/>
          <p:cNvPicPr>
            <a:picLocks noChangeAspect="1" noChangeArrowheads="1"/>
          </p:cNvPicPr>
          <p:nvPr/>
        </p:nvPicPr>
        <p:blipFill>
          <a:blip r:embed="rId2" cstate="print"/>
          <a:srcRect/>
          <a:stretch>
            <a:fillRect/>
          </a:stretch>
        </p:blipFill>
        <p:spPr bwMode="auto">
          <a:xfrm>
            <a:off x="237884" y="3760981"/>
            <a:ext cx="2173129" cy="596860"/>
          </a:xfrm>
          <a:prstGeom prst="rect">
            <a:avLst/>
          </a:prstGeom>
          <a:noFill/>
          <a:ln w="9525" algn="ctr">
            <a:solidFill>
              <a:schemeClr val="tx1"/>
            </a:solidFill>
            <a:miter lim="800000"/>
            <a:headEnd/>
            <a:tailEnd/>
          </a:ln>
        </p:spPr>
      </p:pic>
      <p:pic>
        <p:nvPicPr>
          <p:cNvPr id="94213" name="Picture 10" descr="Image showing scale"/>
          <p:cNvPicPr>
            <a:picLocks noChangeAspect="1" noChangeArrowheads="1"/>
          </p:cNvPicPr>
          <p:nvPr/>
        </p:nvPicPr>
        <p:blipFill>
          <a:blip r:embed="rId3" cstate="print"/>
          <a:srcRect/>
          <a:stretch>
            <a:fillRect/>
          </a:stretch>
        </p:blipFill>
        <p:spPr bwMode="auto">
          <a:xfrm>
            <a:off x="3650209" y="4512815"/>
            <a:ext cx="3335774" cy="591503"/>
          </a:xfrm>
          <a:prstGeom prst="rect">
            <a:avLst/>
          </a:prstGeom>
          <a:noFill/>
          <a:ln w="9525" algn="ctr">
            <a:solidFill>
              <a:schemeClr val="tx1"/>
            </a:solidFill>
            <a:miter lim="800000"/>
            <a:headEnd/>
            <a:tailEnd/>
          </a:ln>
        </p:spPr>
      </p:pic>
      <p:grpSp>
        <p:nvGrpSpPr>
          <p:cNvPr id="94214" name="Group 12" descr="Image showing scale"/>
          <p:cNvGrpSpPr>
            <a:grpSpLocks/>
          </p:cNvGrpSpPr>
          <p:nvPr/>
        </p:nvGrpSpPr>
        <p:grpSpPr bwMode="auto">
          <a:xfrm>
            <a:off x="2615029" y="3738294"/>
            <a:ext cx="3722608" cy="618292"/>
            <a:chOff x="1053" y="2822"/>
            <a:chExt cx="3474" cy="577"/>
          </a:xfrm>
        </p:grpSpPr>
        <p:pic>
          <p:nvPicPr>
            <p:cNvPr id="94215" name="Picture 8"/>
            <p:cNvPicPr>
              <a:picLocks noChangeAspect="1" noChangeArrowheads="1"/>
            </p:cNvPicPr>
            <p:nvPr/>
          </p:nvPicPr>
          <p:blipFill>
            <a:blip r:embed="rId4" cstate="print"/>
            <a:srcRect r="2866"/>
            <a:stretch>
              <a:fillRect/>
            </a:stretch>
          </p:blipFill>
          <p:spPr bwMode="auto">
            <a:xfrm>
              <a:off x="1053" y="2822"/>
              <a:ext cx="3458" cy="577"/>
            </a:xfrm>
            <a:prstGeom prst="rect">
              <a:avLst/>
            </a:prstGeom>
            <a:noFill/>
            <a:ln w="9525" algn="ctr">
              <a:solidFill>
                <a:schemeClr val="tx1"/>
              </a:solidFill>
              <a:miter lim="800000"/>
              <a:headEnd/>
              <a:tailEnd/>
            </a:ln>
          </p:spPr>
        </p:pic>
        <p:sp>
          <p:nvSpPr>
            <p:cNvPr id="94216" name="Rectangle 11"/>
            <p:cNvSpPr>
              <a:spLocks noChangeArrowheads="1"/>
            </p:cNvSpPr>
            <p:nvPr/>
          </p:nvSpPr>
          <p:spPr bwMode="auto">
            <a:xfrm>
              <a:off x="4355" y="2951"/>
              <a:ext cx="172" cy="261"/>
            </a:xfrm>
            <a:prstGeom prst="rect">
              <a:avLst/>
            </a:prstGeom>
            <a:solidFill>
              <a:schemeClr val="bg1"/>
            </a:solidFill>
            <a:ln w="9525" algn="ctr">
              <a:noFill/>
              <a:miter lim="800000"/>
              <a:headEnd/>
              <a:tailEnd/>
            </a:ln>
          </p:spPr>
          <p:txBody>
            <a:bodyPr wrap="none" anchor="ctr">
              <a:spAutoFit/>
            </a:bodyPr>
            <a:lstStyle/>
            <a:p>
              <a:endParaRPr lang="en-US" sz="1215"/>
            </a:p>
          </p:txBody>
        </p:sp>
      </p:grpSp>
      <p:cxnSp>
        <p:nvCxnSpPr>
          <p:cNvPr id="8" name="Straight Connector 7">
            <a:extLst>
              <a:ext uri="{FF2B5EF4-FFF2-40B4-BE49-F238E27FC236}">
                <a16:creationId xmlns:a16="http://schemas.microsoft.com/office/drawing/2014/main" id="{EE29180A-36BA-4E43-98B2-CC03623A4B7D}"/>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B08AF1DA-6E76-4CC4-981F-A206239C865C}"/>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Scale</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84044809-C523-4428-B06D-7BC522F53BC1}"/>
              </a:ext>
            </a:extLst>
          </p:cNvPr>
          <p:cNvSpPr>
            <a:spLocks noGrp="1"/>
          </p:cNvSpPr>
          <p:nvPr>
            <p:ph type="sldNum" sz="quarter" idx="12"/>
          </p:nvPr>
        </p:nvSpPr>
        <p:spPr/>
        <p:txBody>
          <a:bodyPr/>
          <a:lstStyle/>
          <a:p>
            <a:fld id="{127DDC20-79C9-9647-820E-6D40A3D210C3}" type="slidenum">
              <a:rPr lang="en-US" smtClean="0"/>
              <a:pPr/>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9" name="Rectangle 3"/>
          <p:cNvSpPr>
            <a:spLocks noGrp="1" noChangeArrowheads="1"/>
          </p:cNvSpPr>
          <p:nvPr>
            <p:ph idx="1"/>
          </p:nvPr>
        </p:nvSpPr>
        <p:spPr>
          <a:xfrm>
            <a:off x="252663" y="1028700"/>
            <a:ext cx="7565457" cy="2433636"/>
          </a:xfrm>
        </p:spPr>
        <p:txBody>
          <a:bodyPr>
            <a:normAutofit fontScale="92500" lnSpcReduction="20000"/>
          </a:bodyPr>
          <a:lstStyle/>
          <a:p>
            <a:pPr>
              <a:buFont typeface="Courier New" panose="02070309020205020404" pitchFamily="49" charset="0"/>
              <a:buChar char="o"/>
            </a:pPr>
            <a:r>
              <a:rPr lang="en-US" dirty="0"/>
              <a:t>Don’t use an “extension scale” unless the map user requires it</a:t>
            </a:r>
          </a:p>
          <a:p>
            <a:pPr marL="765810" lvl="1" indent="-457200">
              <a:buFont typeface="Wingdings" panose="05000000000000000000" pitchFamily="2" charset="2"/>
              <a:buChar char="ü"/>
            </a:pPr>
            <a:r>
              <a:rPr lang="en-US" sz="2500" dirty="0"/>
              <a:t>Shows finer subdivisions of the scale bar allows for smaller distance measurements</a:t>
            </a:r>
          </a:p>
          <a:p>
            <a:pPr marL="765810" lvl="1" indent="-457200">
              <a:buFont typeface="Wingdings" panose="05000000000000000000" pitchFamily="2" charset="2"/>
              <a:buChar char="ü"/>
            </a:pPr>
            <a:r>
              <a:rPr lang="en-US" dirty="0"/>
              <a:t>The extension scale can be useful when employing a specific method of map measurement, but it can also be a source of confusion</a:t>
            </a:r>
          </a:p>
        </p:txBody>
      </p:sp>
      <p:pic>
        <p:nvPicPr>
          <p:cNvPr id="96260" name="Picture 9" descr="Image showing scale"/>
          <p:cNvPicPr>
            <a:picLocks noChangeAspect="1" noChangeArrowheads="1"/>
          </p:cNvPicPr>
          <p:nvPr/>
        </p:nvPicPr>
        <p:blipFill>
          <a:blip r:embed="rId3" cstate="print"/>
          <a:srcRect/>
          <a:stretch>
            <a:fillRect/>
          </a:stretch>
        </p:blipFill>
        <p:spPr bwMode="auto">
          <a:xfrm>
            <a:off x="1316951" y="3661529"/>
            <a:ext cx="5503545" cy="906542"/>
          </a:xfrm>
          <a:prstGeom prst="rect">
            <a:avLst/>
          </a:prstGeom>
          <a:noFill/>
          <a:ln w="9525" algn="ctr">
            <a:solidFill>
              <a:schemeClr val="tx1"/>
            </a:solidFill>
            <a:miter lim="800000"/>
            <a:headEnd/>
            <a:tailEnd/>
          </a:ln>
        </p:spPr>
      </p:pic>
      <p:sp>
        <p:nvSpPr>
          <p:cNvPr id="2" name="Rectangle 1"/>
          <p:cNvSpPr/>
          <p:nvPr/>
        </p:nvSpPr>
        <p:spPr>
          <a:xfrm>
            <a:off x="1767143" y="4620155"/>
            <a:ext cx="4928785" cy="279307"/>
          </a:xfrm>
          <a:prstGeom prst="rect">
            <a:avLst/>
          </a:prstGeom>
        </p:spPr>
        <p:txBody>
          <a:bodyPr wrap="none">
            <a:spAutoFit/>
          </a:bodyPr>
          <a:lstStyle/>
          <a:p>
            <a:r>
              <a:rPr lang="en-US" sz="1215" dirty="0"/>
              <a:t>And the “checkerboard” serves no purpose, other than to attract attention.</a:t>
            </a:r>
          </a:p>
        </p:txBody>
      </p:sp>
      <p:cxnSp>
        <p:nvCxnSpPr>
          <p:cNvPr id="6" name="Straight Connector 5">
            <a:extLst>
              <a:ext uri="{FF2B5EF4-FFF2-40B4-BE49-F238E27FC236}">
                <a16:creationId xmlns:a16="http://schemas.microsoft.com/office/drawing/2014/main" id="{D61EA20C-904A-42E1-8861-AC788B1D445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0A25F008-83DE-4C8C-A8D5-AAAAA91B3266}"/>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Scale</a:t>
            </a:r>
            <a:endParaRPr lang="en-US" sz="2600" dirty="0">
              <a:solidFill>
                <a:srgbClr val="7030A0"/>
              </a:solidFill>
            </a:endParaRPr>
          </a:p>
        </p:txBody>
      </p:sp>
      <p:sp>
        <p:nvSpPr>
          <p:cNvPr id="3" name="Slide Number Placeholder 2">
            <a:extLst>
              <a:ext uri="{FF2B5EF4-FFF2-40B4-BE49-F238E27FC236}">
                <a16:creationId xmlns:a16="http://schemas.microsoft.com/office/drawing/2014/main" id="{6C0C2230-506C-4457-81EC-2D715FB999D4}"/>
              </a:ext>
            </a:extLst>
          </p:cNvPr>
          <p:cNvSpPr>
            <a:spLocks noGrp="1"/>
          </p:cNvSpPr>
          <p:nvPr>
            <p:ph type="sldNum" sz="quarter" idx="12"/>
          </p:nvPr>
        </p:nvSpPr>
        <p:spPr/>
        <p:txBody>
          <a:bodyPr/>
          <a:lstStyle/>
          <a:p>
            <a:fld id="{127DDC20-79C9-9647-820E-6D40A3D210C3}" type="slidenum">
              <a:rPr lang="en-US" smtClean="0"/>
              <a:pPr/>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3" name="Rectangle 3"/>
          <p:cNvSpPr>
            <a:spLocks noGrp="1" noChangeArrowheads="1"/>
          </p:cNvSpPr>
          <p:nvPr>
            <p:ph idx="1"/>
          </p:nvPr>
        </p:nvSpPr>
        <p:spPr>
          <a:xfrm>
            <a:off x="152400" y="1019646"/>
            <a:ext cx="7906530" cy="3741896"/>
          </a:xfrm>
        </p:spPr>
        <p:txBody>
          <a:bodyPr>
            <a:normAutofit/>
          </a:bodyPr>
          <a:lstStyle/>
          <a:p>
            <a:pPr>
              <a:buFont typeface="Courier New" panose="02070309020205020404" pitchFamily="49" charset="0"/>
              <a:buChar char="o"/>
            </a:pPr>
            <a:r>
              <a:rPr lang="en-US" dirty="0"/>
              <a:t>The style of the bar scale should be simple and subtle; it should not attract attention</a:t>
            </a:r>
          </a:p>
          <a:p>
            <a:pPr marL="765810" lvl="1" indent="-457200">
              <a:buFont typeface="Wingdings" panose="05000000000000000000" pitchFamily="2" charset="2"/>
              <a:buChar char="ü"/>
            </a:pPr>
            <a:r>
              <a:rPr lang="en-US" dirty="0"/>
              <a:t>Bulky and complex designs should be avoided</a:t>
            </a:r>
          </a:p>
          <a:p>
            <a:pPr marL="765810" lvl="1" indent="-457200">
              <a:buFont typeface="Wingdings" panose="05000000000000000000" pitchFamily="2" charset="2"/>
              <a:buChar char="ü"/>
            </a:pPr>
            <a:r>
              <a:rPr lang="en-US" dirty="0"/>
              <a:t>Line weights should be thin and type should be among the smallest on a map</a:t>
            </a:r>
          </a:p>
          <a:p>
            <a:pPr marL="765810" lvl="1" indent="-457200">
              <a:buFont typeface="Wingdings" panose="05000000000000000000" pitchFamily="2" charset="2"/>
              <a:buChar char="ü"/>
            </a:pPr>
            <a:r>
              <a:rPr lang="en-US" dirty="0"/>
              <a:t>Avoid the use of bold and italic type styles </a:t>
            </a:r>
          </a:p>
        </p:txBody>
      </p:sp>
      <p:cxnSp>
        <p:nvCxnSpPr>
          <p:cNvPr id="9" name="Straight Connector 8">
            <a:extLst>
              <a:ext uri="{FF2B5EF4-FFF2-40B4-BE49-F238E27FC236}">
                <a16:creationId xmlns:a16="http://schemas.microsoft.com/office/drawing/2014/main" id="{1453C7D2-E673-4F0B-BC5D-966FD27C3E10}"/>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DB846AD2-ABA7-41FC-8500-DFD9254A2CEC}"/>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Scale</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80A0C38B-1D13-420D-B7B4-DEFB2F948EB6}"/>
              </a:ext>
            </a:extLst>
          </p:cNvPr>
          <p:cNvSpPr>
            <a:spLocks noGrp="1"/>
          </p:cNvSpPr>
          <p:nvPr>
            <p:ph type="sldNum" sz="quarter" idx="12"/>
          </p:nvPr>
        </p:nvSpPr>
        <p:spPr/>
        <p:txBody>
          <a:bodyPr/>
          <a:lstStyle/>
          <a:p>
            <a:fld id="{127DDC20-79C9-9647-820E-6D40A3D210C3}" type="slidenum">
              <a:rPr lang="en-US" smtClean="0"/>
              <a:pPr/>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descr="Image showing scale"/>
          <p:cNvPicPr>
            <a:picLocks noChangeAspect="1" noChangeArrowheads="1"/>
          </p:cNvPicPr>
          <p:nvPr/>
        </p:nvPicPr>
        <p:blipFill>
          <a:blip r:embed="rId2" cstate="print"/>
          <a:srcRect/>
          <a:stretch>
            <a:fillRect/>
          </a:stretch>
        </p:blipFill>
        <p:spPr bwMode="auto">
          <a:xfrm>
            <a:off x="2787944" y="2279317"/>
            <a:ext cx="2175987" cy="848444"/>
          </a:xfrm>
          <a:prstGeom prst="rect">
            <a:avLst/>
          </a:prstGeom>
          <a:noFill/>
          <a:ln w="9525" algn="ctr">
            <a:solidFill>
              <a:schemeClr val="tx1"/>
            </a:solidFill>
            <a:miter lim="800000"/>
            <a:headEnd/>
            <a:tailEnd/>
          </a:ln>
        </p:spPr>
      </p:pic>
      <p:pic>
        <p:nvPicPr>
          <p:cNvPr id="6" name="Picture 6" descr="Image showing scale"/>
          <p:cNvPicPr>
            <a:picLocks noChangeAspect="1" noChangeArrowheads="1"/>
          </p:cNvPicPr>
          <p:nvPr/>
        </p:nvPicPr>
        <p:blipFill>
          <a:blip r:embed="rId3" cstate="print"/>
          <a:srcRect/>
          <a:stretch>
            <a:fillRect/>
          </a:stretch>
        </p:blipFill>
        <p:spPr bwMode="auto">
          <a:xfrm>
            <a:off x="2786094" y="3320306"/>
            <a:ext cx="2177837" cy="1170310"/>
          </a:xfrm>
          <a:prstGeom prst="rect">
            <a:avLst/>
          </a:prstGeom>
          <a:noFill/>
          <a:ln w="9525" algn="ctr">
            <a:solidFill>
              <a:schemeClr val="tx1"/>
            </a:solidFill>
            <a:miter lim="800000"/>
            <a:headEnd/>
            <a:tailEnd/>
          </a:ln>
        </p:spPr>
      </p:pic>
      <p:sp>
        <p:nvSpPr>
          <p:cNvPr id="7" name="Text Box 7"/>
          <p:cNvSpPr txBox="1">
            <a:spLocks noChangeArrowheads="1"/>
          </p:cNvSpPr>
          <p:nvPr/>
        </p:nvSpPr>
        <p:spPr bwMode="auto">
          <a:xfrm>
            <a:off x="5326878" y="2464627"/>
            <a:ext cx="926752" cy="507831"/>
          </a:xfrm>
          <a:prstGeom prst="rect">
            <a:avLst/>
          </a:prstGeom>
          <a:noFill/>
          <a:ln w="9525">
            <a:noFill/>
            <a:miter lim="800000"/>
            <a:headEnd/>
            <a:tailEnd/>
          </a:ln>
        </p:spPr>
        <p:txBody>
          <a:bodyPr wrap="square">
            <a:spAutoFit/>
          </a:bodyPr>
          <a:lstStyle/>
          <a:p>
            <a:pPr>
              <a:spcBef>
                <a:spcPct val="50000"/>
              </a:spcBef>
            </a:pPr>
            <a:r>
              <a:rPr lang="en-US" sz="1350" dirty="0"/>
              <a:t>Poorly Designed</a:t>
            </a:r>
          </a:p>
        </p:txBody>
      </p:sp>
      <p:sp>
        <p:nvSpPr>
          <p:cNvPr id="8" name="Text Box 8"/>
          <p:cNvSpPr txBox="1">
            <a:spLocks noChangeArrowheads="1"/>
          </p:cNvSpPr>
          <p:nvPr/>
        </p:nvSpPr>
        <p:spPr bwMode="auto">
          <a:xfrm>
            <a:off x="5325014" y="3563928"/>
            <a:ext cx="926752" cy="507831"/>
          </a:xfrm>
          <a:prstGeom prst="rect">
            <a:avLst/>
          </a:prstGeom>
          <a:noFill/>
          <a:ln w="9525">
            <a:noFill/>
            <a:miter lim="800000"/>
            <a:headEnd/>
            <a:tailEnd/>
          </a:ln>
        </p:spPr>
        <p:txBody>
          <a:bodyPr wrap="square">
            <a:spAutoFit/>
          </a:bodyPr>
          <a:lstStyle/>
          <a:p>
            <a:pPr>
              <a:spcBef>
                <a:spcPct val="50000"/>
              </a:spcBef>
            </a:pPr>
            <a:r>
              <a:rPr lang="en-US" sz="1350" dirty="0"/>
              <a:t>Well Designed</a:t>
            </a:r>
          </a:p>
        </p:txBody>
      </p:sp>
      <p:cxnSp>
        <p:nvCxnSpPr>
          <p:cNvPr id="9" name="Straight Connector 8">
            <a:extLst>
              <a:ext uri="{FF2B5EF4-FFF2-40B4-BE49-F238E27FC236}">
                <a16:creationId xmlns:a16="http://schemas.microsoft.com/office/drawing/2014/main" id="{1453C7D2-E673-4F0B-BC5D-966FD27C3E10}"/>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DB846AD2-ABA7-41FC-8500-DFD9254A2CEC}"/>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Discussion</a:t>
            </a:r>
            <a:endParaRPr lang="en-US" sz="2600" dirty="0">
              <a:solidFill>
                <a:srgbClr val="7030A0"/>
              </a:solidFill>
            </a:endParaRPr>
          </a:p>
        </p:txBody>
      </p:sp>
      <p:sp>
        <p:nvSpPr>
          <p:cNvPr id="2" name="TextBox 1">
            <a:extLst>
              <a:ext uri="{FF2B5EF4-FFF2-40B4-BE49-F238E27FC236}">
                <a16:creationId xmlns:a16="http://schemas.microsoft.com/office/drawing/2014/main" id="{D5AA9ED1-190D-4313-9A86-4E4B0C8E1F06}"/>
              </a:ext>
            </a:extLst>
          </p:cNvPr>
          <p:cNvSpPr txBox="1"/>
          <p:nvPr/>
        </p:nvSpPr>
        <p:spPr>
          <a:xfrm>
            <a:off x="1476412" y="1539714"/>
            <a:ext cx="5671148" cy="523220"/>
          </a:xfrm>
          <a:prstGeom prst="rect">
            <a:avLst/>
          </a:prstGeom>
          <a:noFill/>
        </p:spPr>
        <p:txBody>
          <a:bodyPr wrap="square" rtlCol="0">
            <a:spAutoFit/>
          </a:bodyPr>
          <a:lstStyle/>
          <a:p>
            <a:r>
              <a:rPr lang="en-US" sz="2800" dirty="0"/>
              <a:t>Which group is better? And Why?</a:t>
            </a:r>
          </a:p>
        </p:txBody>
      </p:sp>
      <p:sp>
        <p:nvSpPr>
          <p:cNvPr id="3" name="Slide Number Placeholder 2">
            <a:extLst>
              <a:ext uri="{FF2B5EF4-FFF2-40B4-BE49-F238E27FC236}">
                <a16:creationId xmlns:a16="http://schemas.microsoft.com/office/drawing/2014/main" id="{E7CDF850-DF0D-43B0-BE28-2E695A8BC233}"/>
              </a:ext>
            </a:extLst>
          </p:cNvPr>
          <p:cNvSpPr>
            <a:spLocks noGrp="1"/>
          </p:cNvSpPr>
          <p:nvPr>
            <p:ph type="sldNum" sz="quarter" idx="12"/>
          </p:nvPr>
        </p:nvSpPr>
        <p:spPr/>
        <p:txBody>
          <a:bodyPr/>
          <a:lstStyle/>
          <a:p>
            <a:fld id="{127DDC20-79C9-9647-820E-6D40A3D210C3}" type="slidenum">
              <a:rPr lang="en-US" smtClean="0"/>
              <a:pPr/>
              <a:t>63</a:t>
            </a:fld>
            <a:endParaRPr lang="en-US"/>
          </a:p>
        </p:txBody>
      </p:sp>
    </p:spTree>
    <p:extLst>
      <p:ext uri="{BB962C8B-B14F-4D97-AF65-F5344CB8AC3E}">
        <p14:creationId xmlns:p14="http://schemas.microsoft.com/office/powerpoint/2010/main" val="3574387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453C7D2-E673-4F0B-BC5D-966FD27C3E10}"/>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DB846AD2-ABA7-41FC-8500-DFD9254A2CEC}"/>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Scale</a:t>
            </a:r>
            <a:endParaRPr lang="en-US" sz="2600" dirty="0">
              <a:solidFill>
                <a:srgbClr val="7030A0"/>
              </a:solidFill>
            </a:endParaRPr>
          </a:p>
        </p:txBody>
      </p:sp>
      <p:sp>
        <p:nvSpPr>
          <p:cNvPr id="3" name="Slide Number Placeholder 2">
            <a:extLst>
              <a:ext uri="{FF2B5EF4-FFF2-40B4-BE49-F238E27FC236}">
                <a16:creationId xmlns:a16="http://schemas.microsoft.com/office/drawing/2014/main" id="{E7CDF850-DF0D-43B0-BE28-2E695A8BC233}"/>
              </a:ext>
            </a:extLst>
          </p:cNvPr>
          <p:cNvSpPr>
            <a:spLocks noGrp="1"/>
          </p:cNvSpPr>
          <p:nvPr>
            <p:ph type="sldNum" sz="quarter" idx="12"/>
          </p:nvPr>
        </p:nvSpPr>
        <p:spPr/>
        <p:txBody>
          <a:bodyPr/>
          <a:lstStyle/>
          <a:p>
            <a:fld id="{127DDC20-79C9-9647-820E-6D40A3D210C3}" type="slidenum">
              <a:rPr lang="en-US" smtClean="0"/>
              <a:pPr/>
              <a:t>64</a:t>
            </a:fld>
            <a:endParaRPr lang="en-US"/>
          </a:p>
        </p:txBody>
      </p:sp>
      <p:pic>
        <p:nvPicPr>
          <p:cNvPr id="11" name="Picture 10" descr="Image showing scale">
            <a:extLst>
              <a:ext uri="{FF2B5EF4-FFF2-40B4-BE49-F238E27FC236}">
                <a16:creationId xmlns:a16="http://schemas.microsoft.com/office/drawing/2014/main" id="{11C361CE-5153-4D51-AC75-3353FD4AABEB}"/>
              </a:ext>
            </a:extLst>
          </p:cNvPr>
          <p:cNvPicPr>
            <a:picLocks noChangeAspect="1"/>
          </p:cNvPicPr>
          <p:nvPr/>
        </p:nvPicPr>
        <p:blipFill>
          <a:blip r:embed="rId2"/>
          <a:stretch>
            <a:fillRect/>
          </a:stretch>
        </p:blipFill>
        <p:spPr>
          <a:xfrm>
            <a:off x="1746346" y="2580784"/>
            <a:ext cx="4736908" cy="1380218"/>
          </a:xfrm>
          <a:prstGeom prst="rect">
            <a:avLst/>
          </a:prstGeom>
        </p:spPr>
      </p:pic>
      <p:sp>
        <p:nvSpPr>
          <p:cNvPr id="13" name="TextBox 12">
            <a:extLst>
              <a:ext uri="{FF2B5EF4-FFF2-40B4-BE49-F238E27FC236}">
                <a16:creationId xmlns:a16="http://schemas.microsoft.com/office/drawing/2014/main" id="{42B40AEA-B1F8-4234-B92A-5ED951D05E30}"/>
              </a:ext>
            </a:extLst>
          </p:cNvPr>
          <p:cNvSpPr txBox="1"/>
          <p:nvPr/>
        </p:nvSpPr>
        <p:spPr>
          <a:xfrm>
            <a:off x="310896" y="1132529"/>
            <a:ext cx="6760464" cy="954107"/>
          </a:xfrm>
          <a:prstGeom prst="rect">
            <a:avLst/>
          </a:prstGeom>
          <a:noFill/>
        </p:spPr>
        <p:txBody>
          <a:bodyPr wrap="square">
            <a:spAutoFit/>
          </a:bodyPr>
          <a:lstStyle/>
          <a:p>
            <a:r>
              <a:rPr lang="en-US" sz="2800" dirty="0"/>
              <a:t>The compact form is more modern, the linear form is classic.</a:t>
            </a:r>
          </a:p>
        </p:txBody>
      </p:sp>
      <p:sp>
        <p:nvSpPr>
          <p:cNvPr id="14" name="Rectangle 5">
            <a:extLst>
              <a:ext uri="{FF2B5EF4-FFF2-40B4-BE49-F238E27FC236}">
                <a16:creationId xmlns:a16="http://schemas.microsoft.com/office/drawing/2014/main" id="{4204CCBE-E302-473B-9FF5-B2B33FDDD1F2}"/>
              </a:ext>
            </a:extLst>
          </p:cNvPr>
          <p:cNvSpPr>
            <a:spLocks noChangeArrowheads="1"/>
          </p:cNvSpPr>
          <p:nvPr/>
        </p:nvSpPr>
        <p:spPr bwMode="auto">
          <a:xfrm>
            <a:off x="6259049" y="4434618"/>
            <a:ext cx="974947" cy="246221"/>
          </a:xfrm>
          <a:prstGeom prst="rect">
            <a:avLst/>
          </a:prstGeom>
          <a:noFill/>
          <a:ln w="9525" algn="ctr">
            <a:noFill/>
            <a:miter lim="800000"/>
            <a:headEnd/>
            <a:tailEnd/>
          </a:ln>
        </p:spPr>
        <p:txBody>
          <a:bodyPr wrap="none">
            <a:spAutoFit/>
          </a:bodyPr>
          <a:lstStyle/>
          <a:p>
            <a:r>
              <a:rPr lang="en-US" sz="1000" dirty="0">
                <a:solidFill>
                  <a:srgbClr val="7030A0"/>
                </a:solidFill>
              </a:rPr>
              <a:t>Peterson, 2021</a:t>
            </a:r>
          </a:p>
        </p:txBody>
      </p:sp>
    </p:spTree>
    <p:extLst>
      <p:ext uri="{BB962C8B-B14F-4D97-AF65-F5344CB8AC3E}">
        <p14:creationId xmlns:p14="http://schemas.microsoft.com/office/powerpoint/2010/main" val="25226030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9" name="Rectangle 3"/>
          <p:cNvSpPr>
            <a:spLocks noGrp="1" noChangeArrowheads="1"/>
          </p:cNvSpPr>
          <p:nvPr>
            <p:ph idx="1"/>
          </p:nvPr>
        </p:nvSpPr>
        <p:spPr>
          <a:xfrm>
            <a:off x="264695" y="1028700"/>
            <a:ext cx="7483642" cy="3741896"/>
          </a:xfrm>
        </p:spPr>
        <p:txBody>
          <a:bodyPr/>
          <a:lstStyle/>
          <a:p>
            <a:pPr>
              <a:buFont typeface="Courier New" panose="02070309020205020404" pitchFamily="49" charset="0"/>
              <a:buChar char="o"/>
            </a:pPr>
            <a:r>
              <a:rPr lang="en-US" dirty="0"/>
              <a:t>The indication of north on a map</a:t>
            </a:r>
          </a:p>
          <a:p>
            <a:pPr>
              <a:buFont typeface="Courier New" panose="02070309020205020404" pitchFamily="49" charset="0"/>
              <a:buChar char="o"/>
            </a:pPr>
            <a:r>
              <a:rPr lang="en-US" dirty="0"/>
              <a:t>Orientation can be indicated by a </a:t>
            </a:r>
          </a:p>
          <a:p>
            <a:pPr marL="765810" lvl="1" indent="-457200">
              <a:buFont typeface="Wingdings" panose="05000000000000000000" pitchFamily="2" charset="2"/>
              <a:buChar char="ü"/>
            </a:pPr>
            <a:r>
              <a:rPr lang="en-US" dirty="0"/>
              <a:t>North Arrow</a:t>
            </a:r>
          </a:p>
          <a:p>
            <a:pPr marL="765810" lvl="1" indent="-457200">
              <a:buFont typeface="Wingdings" panose="05000000000000000000" pitchFamily="2" charset="2"/>
              <a:buChar char="ü"/>
            </a:pPr>
            <a:r>
              <a:rPr lang="en-US" dirty="0"/>
              <a:t>Graticule (a system of grid lines, normally representing longitude and latitude) </a:t>
            </a:r>
          </a:p>
          <a:p>
            <a:pPr marL="411480" indent="-411480"/>
            <a:endParaRPr lang="en-US" dirty="0"/>
          </a:p>
        </p:txBody>
      </p:sp>
      <p:pic>
        <p:nvPicPr>
          <p:cNvPr id="101380" name="Picture 4" descr="Image north arrow"/>
          <p:cNvPicPr>
            <a:picLocks noChangeAspect="1" noChangeArrowheads="1"/>
          </p:cNvPicPr>
          <p:nvPr/>
        </p:nvPicPr>
        <p:blipFill>
          <a:blip r:embed="rId2" cstate="print"/>
          <a:srcRect t="43307"/>
          <a:stretch>
            <a:fillRect/>
          </a:stretch>
        </p:blipFill>
        <p:spPr bwMode="auto">
          <a:xfrm>
            <a:off x="946103" y="3339376"/>
            <a:ext cx="2567464" cy="1813084"/>
          </a:xfrm>
          <a:prstGeom prst="rect">
            <a:avLst/>
          </a:prstGeom>
          <a:noFill/>
          <a:ln w="9525" algn="ctr">
            <a:solidFill>
              <a:schemeClr val="tx1"/>
            </a:solidFill>
            <a:miter lim="800000"/>
            <a:headEnd/>
            <a:tailEnd/>
          </a:ln>
        </p:spPr>
      </p:pic>
      <p:cxnSp>
        <p:nvCxnSpPr>
          <p:cNvPr id="5" name="Straight Connector 4">
            <a:extLst>
              <a:ext uri="{FF2B5EF4-FFF2-40B4-BE49-F238E27FC236}">
                <a16:creationId xmlns:a16="http://schemas.microsoft.com/office/drawing/2014/main" id="{4FC04BC5-0C8E-4D54-8121-733EF7DAE27E}"/>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6E0DB97C-737D-46F0-B786-40C88C6FF285}"/>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Orientation</a:t>
            </a:r>
            <a:endParaRPr lang="en-US" sz="2600" dirty="0">
              <a:solidFill>
                <a:srgbClr val="7030A0"/>
              </a:solidFill>
            </a:endParaRPr>
          </a:p>
        </p:txBody>
      </p:sp>
      <p:pic>
        <p:nvPicPr>
          <p:cNvPr id="2" name="Picture 5" descr="image showing graticule">
            <a:extLst>
              <a:ext uri="{FF2B5EF4-FFF2-40B4-BE49-F238E27FC236}">
                <a16:creationId xmlns:a16="http://schemas.microsoft.com/office/drawing/2014/main" id="{38458325-8C7D-4D95-8795-CBE3D70F05FB}"/>
              </a:ext>
            </a:extLst>
          </p:cNvPr>
          <p:cNvPicPr>
            <a:picLocks noChangeAspect="1" noChangeArrowheads="1"/>
          </p:cNvPicPr>
          <p:nvPr/>
        </p:nvPicPr>
        <p:blipFill>
          <a:blip r:embed="rId3" cstate="print"/>
          <a:srcRect t="6451" b="16319"/>
          <a:stretch>
            <a:fillRect/>
          </a:stretch>
        </p:blipFill>
        <p:spPr bwMode="auto">
          <a:xfrm>
            <a:off x="4194975" y="3357297"/>
            <a:ext cx="3164704" cy="1795163"/>
          </a:xfrm>
          <a:prstGeom prst="rect">
            <a:avLst/>
          </a:prstGeom>
          <a:noFill/>
          <a:ln w="9525" algn="ctr">
            <a:solidFill>
              <a:schemeClr val="tx1"/>
            </a:solidFill>
            <a:miter lim="800000"/>
            <a:headEnd/>
            <a:tailEnd/>
          </a:ln>
        </p:spPr>
      </p:pic>
      <p:sp>
        <p:nvSpPr>
          <p:cNvPr id="3" name="Slide Number Placeholder 2">
            <a:extLst>
              <a:ext uri="{FF2B5EF4-FFF2-40B4-BE49-F238E27FC236}">
                <a16:creationId xmlns:a16="http://schemas.microsoft.com/office/drawing/2014/main" id="{1C9DA414-9F56-4B34-AB97-967FEE794762}"/>
              </a:ext>
            </a:extLst>
          </p:cNvPr>
          <p:cNvSpPr>
            <a:spLocks noGrp="1"/>
          </p:cNvSpPr>
          <p:nvPr>
            <p:ph type="sldNum" sz="quarter" idx="12"/>
          </p:nvPr>
        </p:nvSpPr>
        <p:spPr/>
        <p:txBody>
          <a:bodyPr/>
          <a:lstStyle/>
          <a:p>
            <a:fld id="{127DDC20-79C9-9647-820E-6D40A3D210C3}" type="slidenum">
              <a:rPr lang="en-US" smtClean="0"/>
              <a:pPr/>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7" name="Rectangle 3"/>
          <p:cNvSpPr>
            <a:spLocks noGrp="1" noChangeArrowheads="1"/>
          </p:cNvSpPr>
          <p:nvPr>
            <p:ph idx="1"/>
          </p:nvPr>
        </p:nvSpPr>
        <p:spPr>
          <a:xfrm>
            <a:off x="152400" y="1009843"/>
            <a:ext cx="8001000" cy="3741896"/>
          </a:xfrm>
        </p:spPr>
        <p:txBody>
          <a:bodyPr/>
          <a:lstStyle/>
          <a:p>
            <a:pPr>
              <a:buFont typeface="Courier New" panose="02070309020205020404" pitchFamily="49" charset="0"/>
              <a:buChar char="o"/>
            </a:pPr>
            <a:r>
              <a:rPr lang="en-US" dirty="0"/>
              <a:t>A north arrow is </a:t>
            </a:r>
            <a:r>
              <a:rPr lang="en-US" i="1" dirty="0"/>
              <a:t>not required </a:t>
            </a:r>
            <a:r>
              <a:rPr lang="en-US" dirty="0"/>
              <a:t>on </a:t>
            </a:r>
            <a:r>
              <a:rPr lang="en-US" i="1" dirty="0"/>
              <a:t>every</a:t>
            </a:r>
            <a:r>
              <a:rPr lang="en-US" dirty="0"/>
              <a:t> </a:t>
            </a:r>
            <a:r>
              <a:rPr lang="en-US" i="1" dirty="0"/>
              <a:t>map!</a:t>
            </a:r>
            <a:endParaRPr lang="en-US" dirty="0"/>
          </a:p>
          <a:p>
            <a:pPr marL="765810" lvl="1" indent="-457200">
              <a:buFont typeface="Wingdings" panose="05000000000000000000" pitchFamily="2" charset="2"/>
              <a:buChar char="ü"/>
            </a:pPr>
            <a:r>
              <a:rPr lang="en-US" dirty="0"/>
              <a:t>The orientation of maps with north at the top is a long-standing tradition</a:t>
            </a:r>
          </a:p>
          <a:p>
            <a:pPr marL="765810" lvl="1" indent="-457200">
              <a:buFont typeface="Wingdings" panose="05000000000000000000" pitchFamily="2" charset="2"/>
              <a:buChar char="ü"/>
            </a:pPr>
            <a:r>
              <a:rPr lang="en-US" dirty="0"/>
              <a:t>It is assumed that “north is at the top” of most modern maps </a:t>
            </a:r>
          </a:p>
        </p:txBody>
      </p:sp>
      <p:pic>
        <p:nvPicPr>
          <p:cNvPr id="4" name="Picture 3" descr="Image showing map"/>
          <p:cNvPicPr preferRelativeResize="0">
            <a:picLocks noChangeAspect="1" noChangeArrowheads="1"/>
          </p:cNvPicPr>
          <p:nvPr/>
        </p:nvPicPr>
        <p:blipFill>
          <a:blip r:embed="rId2" cstate="print"/>
          <a:srcRect/>
          <a:stretch>
            <a:fillRect/>
          </a:stretch>
        </p:blipFill>
        <p:spPr bwMode="auto">
          <a:xfrm>
            <a:off x="2876442" y="2880791"/>
            <a:ext cx="2874653" cy="2113152"/>
          </a:xfrm>
          <a:prstGeom prst="rect">
            <a:avLst/>
          </a:prstGeom>
          <a:noFill/>
          <a:ln w="9525">
            <a:noFill/>
            <a:miter lim="800000"/>
            <a:headEnd/>
            <a:tailEnd/>
          </a:ln>
        </p:spPr>
      </p:pic>
      <p:cxnSp>
        <p:nvCxnSpPr>
          <p:cNvPr id="7" name="Straight Connector 6">
            <a:extLst>
              <a:ext uri="{FF2B5EF4-FFF2-40B4-BE49-F238E27FC236}">
                <a16:creationId xmlns:a16="http://schemas.microsoft.com/office/drawing/2014/main" id="{ECE201F0-833C-49A0-946A-0C4D0EB22CFE}"/>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0B114705-C7B4-48CF-9EE1-1B9F18DEC45B}"/>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Orientation</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8A26050B-0F09-4AAB-9635-AA143F2B632D}"/>
              </a:ext>
            </a:extLst>
          </p:cNvPr>
          <p:cNvSpPr>
            <a:spLocks noGrp="1"/>
          </p:cNvSpPr>
          <p:nvPr>
            <p:ph type="sldNum" sz="quarter" idx="12"/>
          </p:nvPr>
        </p:nvSpPr>
        <p:spPr/>
        <p:txBody>
          <a:bodyPr/>
          <a:lstStyle/>
          <a:p>
            <a:fld id="{127DDC20-79C9-9647-820E-6D40A3D210C3}" type="slidenum">
              <a:rPr lang="en-US" smtClean="0"/>
              <a:pPr/>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1" name="Rectangle 3"/>
          <p:cNvSpPr>
            <a:spLocks noGrp="1" noChangeArrowheads="1"/>
          </p:cNvSpPr>
          <p:nvPr>
            <p:ph idx="1"/>
          </p:nvPr>
        </p:nvSpPr>
        <p:spPr>
          <a:xfrm>
            <a:off x="118533" y="1028700"/>
            <a:ext cx="6701963" cy="3741896"/>
          </a:xfrm>
        </p:spPr>
        <p:txBody>
          <a:bodyPr/>
          <a:lstStyle/>
          <a:p>
            <a:pPr>
              <a:buFont typeface="Courier New" panose="02070309020205020404" pitchFamily="49" charset="0"/>
              <a:buChar char="o"/>
            </a:pPr>
            <a:r>
              <a:rPr lang="en-US" dirty="0"/>
              <a:t>Include an indication of orientation if</a:t>
            </a:r>
          </a:p>
          <a:p>
            <a:pPr marL="765810" lvl="1" indent="-457200">
              <a:buFont typeface="Wingdings" panose="05000000000000000000" pitchFamily="2" charset="2"/>
              <a:buChar char="ü"/>
            </a:pPr>
            <a:r>
              <a:rPr lang="en-US" dirty="0"/>
              <a:t>The map is </a:t>
            </a:r>
            <a:r>
              <a:rPr lang="en-US" i="1" dirty="0"/>
              <a:t>not</a:t>
            </a:r>
            <a:r>
              <a:rPr lang="en-US" dirty="0"/>
              <a:t> oriented with geographic or “true” north at the top </a:t>
            </a:r>
          </a:p>
        </p:txBody>
      </p:sp>
      <p:pic>
        <p:nvPicPr>
          <p:cNvPr id="104452" name="Picture 4" descr="Image showing north arrow"/>
          <p:cNvPicPr>
            <a:picLocks noChangeAspect="1" noChangeArrowheads="1"/>
          </p:cNvPicPr>
          <p:nvPr/>
        </p:nvPicPr>
        <p:blipFill>
          <a:blip r:embed="rId2" cstate="print"/>
          <a:srcRect/>
          <a:stretch>
            <a:fillRect/>
          </a:stretch>
        </p:blipFill>
        <p:spPr bwMode="auto">
          <a:xfrm>
            <a:off x="1778794" y="2899648"/>
            <a:ext cx="4642009" cy="1914882"/>
          </a:xfrm>
          <a:prstGeom prst="rect">
            <a:avLst/>
          </a:prstGeom>
          <a:noFill/>
          <a:ln w="9525" algn="ctr">
            <a:solidFill>
              <a:schemeClr val="tx1"/>
            </a:solidFill>
            <a:miter lim="800000"/>
            <a:headEnd/>
            <a:tailEnd/>
          </a:ln>
        </p:spPr>
      </p:pic>
      <p:cxnSp>
        <p:nvCxnSpPr>
          <p:cNvPr id="9" name="Straight Connector 8">
            <a:extLst>
              <a:ext uri="{FF2B5EF4-FFF2-40B4-BE49-F238E27FC236}">
                <a16:creationId xmlns:a16="http://schemas.microsoft.com/office/drawing/2014/main" id="{5268EBF0-8402-40DC-936B-2C76407507E0}"/>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DF8E4202-E36F-4F6C-8DF9-AF284F37FDBA}"/>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Orientation</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3335CE27-3B5A-4E49-88A9-85E7529FABA6}"/>
              </a:ext>
            </a:extLst>
          </p:cNvPr>
          <p:cNvSpPr>
            <a:spLocks noGrp="1"/>
          </p:cNvSpPr>
          <p:nvPr>
            <p:ph type="sldNum" sz="quarter" idx="12"/>
          </p:nvPr>
        </p:nvSpPr>
        <p:spPr/>
        <p:txBody>
          <a:bodyPr/>
          <a:lstStyle/>
          <a:p>
            <a:fld id="{127DDC20-79C9-9647-820E-6D40A3D210C3}" type="slidenum">
              <a:rPr lang="en-US" smtClean="0"/>
              <a:pPr/>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5" name="Rectangle 3"/>
          <p:cNvSpPr>
            <a:spLocks noGrp="1" noChangeArrowheads="1"/>
          </p:cNvSpPr>
          <p:nvPr>
            <p:ph idx="1"/>
          </p:nvPr>
        </p:nvSpPr>
        <p:spPr>
          <a:xfrm>
            <a:off x="76200" y="869908"/>
            <a:ext cx="7876674" cy="3741896"/>
          </a:xfrm>
        </p:spPr>
        <p:txBody>
          <a:bodyPr/>
          <a:lstStyle/>
          <a:p>
            <a:pPr>
              <a:buFont typeface="Courier New" panose="02070309020205020404" pitchFamily="49" charset="0"/>
              <a:buChar char="o"/>
            </a:pPr>
            <a:r>
              <a:rPr lang="en-US" dirty="0"/>
              <a:t>Include an indication of orientation if</a:t>
            </a:r>
          </a:p>
          <a:p>
            <a:pPr marL="765810" lvl="1" indent="-457200">
              <a:buFont typeface="Wingdings" panose="05000000000000000000" pitchFamily="2" charset="2"/>
              <a:buChar char="ü"/>
            </a:pPr>
            <a:r>
              <a:rPr lang="en-US" dirty="0"/>
              <a:t>The map is intended for use in navigation, surveying, orienteering, etc. </a:t>
            </a:r>
          </a:p>
        </p:txBody>
      </p:sp>
      <p:pic>
        <p:nvPicPr>
          <p:cNvPr id="105476" name="Picture 6" descr="Image showing north arrow"/>
          <p:cNvPicPr>
            <a:picLocks noChangeAspect="1" noChangeArrowheads="1"/>
          </p:cNvPicPr>
          <p:nvPr/>
        </p:nvPicPr>
        <p:blipFill>
          <a:blip r:embed="rId2" cstate="print"/>
          <a:srcRect/>
          <a:stretch>
            <a:fillRect/>
          </a:stretch>
        </p:blipFill>
        <p:spPr bwMode="auto">
          <a:xfrm>
            <a:off x="1332271" y="2246617"/>
            <a:ext cx="5364532" cy="2806422"/>
          </a:xfrm>
          <a:prstGeom prst="rect">
            <a:avLst/>
          </a:prstGeom>
          <a:noFill/>
          <a:ln w="9525">
            <a:solidFill>
              <a:schemeClr val="tx1"/>
            </a:solidFill>
            <a:miter lim="800000"/>
            <a:headEnd/>
            <a:tailEnd/>
          </a:ln>
        </p:spPr>
      </p:pic>
      <p:cxnSp>
        <p:nvCxnSpPr>
          <p:cNvPr id="4" name="Straight Connector 3">
            <a:extLst>
              <a:ext uri="{FF2B5EF4-FFF2-40B4-BE49-F238E27FC236}">
                <a16:creationId xmlns:a16="http://schemas.microsoft.com/office/drawing/2014/main" id="{03EE6621-3FA1-47CF-B9BD-3174DD1282D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C2AC22B7-0723-4ACE-B108-1A4F1C619968}"/>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Orientation</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EF8F552F-6A33-4ABF-A550-E28E9371F70E}"/>
              </a:ext>
            </a:extLst>
          </p:cNvPr>
          <p:cNvSpPr>
            <a:spLocks noGrp="1"/>
          </p:cNvSpPr>
          <p:nvPr>
            <p:ph type="sldNum" sz="quarter" idx="12"/>
          </p:nvPr>
        </p:nvSpPr>
        <p:spPr/>
        <p:txBody>
          <a:bodyPr/>
          <a:lstStyle/>
          <a:p>
            <a:fld id="{127DDC20-79C9-9647-820E-6D40A3D210C3}" type="slidenum">
              <a:rPr lang="en-US" smtClean="0"/>
              <a:pPr/>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9" name="Rectangle 4"/>
          <p:cNvSpPr>
            <a:spLocks noGrp="1" noChangeArrowheads="1"/>
          </p:cNvSpPr>
          <p:nvPr>
            <p:ph idx="1"/>
          </p:nvPr>
        </p:nvSpPr>
        <p:spPr>
          <a:xfrm>
            <a:off x="0" y="1028700"/>
            <a:ext cx="7603957" cy="3741896"/>
          </a:xfrm>
        </p:spPr>
        <p:txBody>
          <a:bodyPr/>
          <a:lstStyle/>
          <a:p>
            <a:pPr>
              <a:buFont typeface="Courier New" panose="02070309020205020404" pitchFamily="49" charset="0"/>
              <a:buChar char="o"/>
            </a:pPr>
            <a:r>
              <a:rPr lang="en-US" dirty="0"/>
              <a:t>Include an indication of orientation if</a:t>
            </a:r>
          </a:p>
          <a:p>
            <a:pPr marL="765810" lvl="1" indent="-457200">
              <a:buFont typeface="Wingdings" panose="05000000000000000000" pitchFamily="2" charset="2"/>
              <a:buChar char="ü"/>
            </a:pPr>
            <a:r>
              <a:rPr lang="en-US" dirty="0"/>
              <a:t>Geographic features are oriented in a manner that might confuse the map user </a:t>
            </a:r>
          </a:p>
        </p:txBody>
      </p:sp>
      <p:pic>
        <p:nvPicPr>
          <p:cNvPr id="106500" name="Picture 5" descr="Image showing north arrow"/>
          <p:cNvPicPr>
            <a:picLocks noChangeAspect="1" noChangeArrowheads="1"/>
          </p:cNvPicPr>
          <p:nvPr/>
        </p:nvPicPr>
        <p:blipFill>
          <a:blip r:embed="rId2" cstate="print"/>
          <a:srcRect/>
          <a:stretch>
            <a:fillRect/>
          </a:stretch>
        </p:blipFill>
        <p:spPr bwMode="auto">
          <a:xfrm>
            <a:off x="1582829" y="2721901"/>
            <a:ext cx="4620578" cy="1906309"/>
          </a:xfrm>
          <a:prstGeom prst="rect">
            <a:avLst/>
          </a:prstGeom>
          <a:noFill/>
          <a:ln w="9525" algn="ctr">
            <a:solidFill>
              <a:schemeClr val="tx1"/>
            </a:solidFill>
            <a:miter lim="800000"/>
            <a:headEnd/>
            <a:tailEnd/>
          </a:ln>
        </p:spPr>
      </p:pic>
      <p:cxnSp>
        <p:nvCxnSpPr>
          <p:cNvPr id="5" name="Straight Connector 4">
            <a:extLst>
              <a:ext uri="{FF2B5EF4-FFF2-40B4-BE49-F238E27FC236}">
                <a16:creationId xmlns:a16="http://schemas.microsoft.com/office/drawing/2014/main" id="{EDC45D47-D9A4-425E-98E6-7A8DF523C3DA}"/>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C7AC46E4-4C2B-435A-A5F0-6BC6436863E1}"/>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Orientation</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61772D49-202B-410D-9143-C6CD7390D4A7}"/>
              </a:ext>
            </a:extLst>
          </p:cNvPr>
          <p:cNvSpPr>
            <a:spLocks noGrp="1"/>
          </p:cNvSpPr>
          <p:nvPr>
            <p:ph type="sldNum" sz="quarter" idx="12"/>
          </p:nvPr>
        </p:nvSpPr>
        <p:spPr/>
        <p:txBody>
          <a:bodyPr/>
          <a:lstStyle/>
          <a:p>
            <a:fld id="{127DDC20-79C9-9647-820E-6D40A3D210C3}" type="slidenum">
              <a:rPr lang="en-US" smtClean="0"/>
              <a:pPr/>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3" name="Rectangle 3"/>
          <p:cNvSpPr>
            <a:spLocks noGrp="1" noChangeArrowheads="1"/>
          </p:cNvSpPr>
          <p:nvPr>
            <p:ph idx="1"/>
          </p:nvPr>
        </p:nvSpPr>
        <p:spPr>
          <a:xfrm>
            <a:off x="152400" y="1004236"/>
            <a:ext cx="8119532" cy="3741896"/>
          </a:xfrm>
        </p:spPr>
        <p:txBody>
          <a:bodyPr/>
          <a:lstStyle/>
          <a:p>
            <a:pPr>
              <a:buFont typeface="Courier New" panose="02070309020205020404" pitchFamily="49" charset="0"/>
              <a:buChar char="o"/>
            </a:pPr>
            <a:r>
              <a:rPr lang="en-US" dirty="0"/>
              <a:t>A graticule indicates direction through the orientation of grid lines</a:t>
            </a:r>
          </a:p>
          <a:p>
            <a:pPr marL="765810" lvl="1" indent="-457200">
              <a:buFont typeface="Wingdings" panose="05000000000000000000" pitchFamily="2" charset="2"/>
              <a:buChar char="ü"/>
            </a:pPr>
            <a:r>
              <a:rPr lang="en-US" dirty="0"/>
              <a:t>Typically meridians that run north–south</a:t>
            </a:r>
          </a:p>
          <a:p>
            <a:pPr marL="765810" lvl="1" indent="-457200">
              <a:buFont typeface="Wingdings" panose="05000000000000000000" pitchFamily="2" charset="2"/>
              <a:buChar char="ü"/>
            </a:pPr>
            <a:r>
              <a:rPr lang="en-US" dirty="0"/>
              <a:t>The graticule can also provide positional information, such as latitude and longitude </a:t>
            </a:r>
          </a:p>
        </p:txBody>
      </p:sp>
      <p:pic>
        <p:nvPicPr>
          <p:cNvPr id="107524" name="Picture 6" descr="Image showing north arrow"/>
          <p:cNvPicPr>
            <a:picLocks noChangeAspect="1" noChangeArrowheads="1"/>
          </p:cNvPicPr>
          <p:nvPr/>
        </p:nvPicPr>
        <p:blipFill>
          <a:blip r:embed="rId2" cstate="print"/>
          <a:srcRect/>
          <a:stretch>
            <a:fillRect/>
          </a:stretch>
        </p:blipFill>
        <p:spPr bwMode="auto">
          <a:xfrm>
            <a:off x="1925690" y="3324084"/>
            <a:ext cx="3957754" cy="1630359"/>
          </a:xfrm>
          <a:prstGeom prst="rect">
            <a:avLst/>
          </a:prstGeom>
          <a:noFill/>
          <a:ln w="9525" algn="ctr">
            <a:solidFill>
              <a:schemeClr val="tx1"/>
            </a:solidFill>
            <a:miter lim="800000"/>
            <a:headEnd/>
            <a:tailEnd/>
          </a:ln>
        </p:spPr>
      </p:pic>
      <p:cxnSp>
        <p:nvCxnSpPr>
          <p:cNvPr id="4" name="Straight Connector 3">
            <a:extLst>
              <a:ext uri="{FF2B5EF4-FFF2-40B4-BE49-F238E27FC236}">
                <a16:creationId xmlns:a16="http://schemas.microsoft.com/office/drawing/2014/main" id="{E12DB62C-9360-4AA9-A343-48B4125FB8A2}"/>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D8FAA60D-9ABF-4EF0-8A7F-015F34F11C64}"/>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Orientation</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199C320A-A619-44DE-BE54-77BF6DE99E05}"/>
              </a:ext>
            </a:extLst>
          </p:cNvPr>
          <p:cNvSpPr>
            <a:spLocks noGrp="1"/>
          </p:cNvSpPr>
          <p:nvPr>
            <p:ph type="sldNum" sz="quarter" idx="12"/>
          </p:nvPr>
        </p:nvSpPr>
        <p:spPr/>
        <p:txBody>
          <a:bodyPr/>
          <a:lstStyle/>
          <a:p>
            <a:fld id="{127DDC20-79C9-9647-820E-6D40A3D210C3}" type="slidenum">
              <a:rPr lang="en-US" smtClean="0"/>
              <a:pPr/>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7" name="Rectangle 3"/>
          <p:cNvSpPr>
            <a:spLocks noGrp="1" noChangeArrowheads="1"/>
          </p:cNvSpPr>
          <p:nvPr>
            <p:ph idx="1"/>
          </p:nvPr>
        </p:nvSpPr>
        <p:spPr>
          <a:xfrm>
            <a:off x="152401" y="1028700"/>
            <a:ext cx="8043332" cy="1609191"/>
          </a:xfrm>
        </p:spPr>
        <p:txBody>
          <a:bodyPr>
            <a:normAutofit fontScale="92500" lnSpcReduction="10000"/>
          </a:bodyPr>
          <a:lstStyle/>
          <a:p>
            <a:pPr>
              <a:buFont typeface="Courier New" panose="02070309020205020404" pitchFamily="49" charset="0"/>
              <a:buChar char="o"/>
            </a:pPr>
            <a:r>
              <a:rPr lang="en-US" dirty="0"/>
              <a:t>Use caution when using north arrows on smaller scale map</a:t>
            </a:r>
          </a:p>
          <a:p>
            <a:pPr marL="765810" lvl="1" indent="-457200">
              <a:buFont typeface="Wingdings" panose="05000000000000000000" pitchFamily="2" charset="2"/>
              <a:buChar char="ü"/>
            </a:pPr>
            <a:r>
              <a:rPr lang="en-US" dirty="0"/>
              <a:t>The direction of north can differ greatly in the maps with azimuthal and conic projection</a:t>
            </a:r>
          </a:p>
          <a:p>
            <a:pPr marL="765810" lvl="1" indent="-457200">
              <a:buFont typeface="Wingdings" panose="05000000000000000000" pitchFamily="2" charset="2"/>
              <a:buChar char="ü"/>
            </a:pPr>
            <a:endParaRPr lang="en-US" dirty="0"/>
          </a:p>
        </p:txBody>
      </p:sp>
      <p:pic>
        <p:nvPicPr>
          <p:cNvPr id="108548" name="Picture 4"/>
          <p:cNvPicPr>
            <a:picLocks noChangeAspect="1" noChangeArrowheads="1"/>
          </p:cNvPicPr>
          <p:nvPr/>
        </p:nvPicPr>
        <p:blipFill>
          <a:blip r:embed="rId2" cstate="print"/>
          <a:srcRect/>
          <a:stretch>
            <a:fillRect/>
          </a:stretch>
        </p:blipFill>
        <p:spPr bwMode="auto">
          <a:xfrm>
            <a:off x="1539288" y="2637891"/>
            <a:ext cx="5433893" cy="2238494"/>
          </a:xfrm>
          <a:prstGeom prst="rect">
            <a:avLst/>
          </a:prstGeom>
          <a:noFill/>
          <a:ln w="9525" algn="ctr">
            <a:solidFill>
              <a:schemeClr val="tx1"/>
            </a:solidFill>
            <a:miter lim="800000"/>
            <a:headEnd/>
            <a:tailEnd/>
          </a:ln>
        </p:spPr>
      </p:pic>
      <p:grpSp>
        <p:nvGrpSpPr>
          <p:cNvPr id="2" name="Group 8" descr="north arrrow"/>
          <p:cNvGrpSpPr>
            <a:grpSpLocks/>
          </p:cNvGrpSpPr>
          <p:nvPr/>
        </p:nvGrpSpPr>
        <p:grpSpPr bwMode="auto">
          <a:xfrm>
            <a:off x="4105669" y="3806966"/>
            <a:ext cx="319325" cy="829389"/>
            <a:chOff x="5345" y="836"/>
            <a:chExt cx="298" cy="774"/>
          </a:xfrm>
        </p:grpSpPr>
        <p:sp>
          <p:nvSpPr>
            <p:cNvPr id="108554" name="Rectangle 7"/>
            <p:cNvSpPr>
              <a:spLocks noChangeArrowheads="1"/>
            </p:cNvSpPr>
            <p:nvPr/>
          </p:nvSpPr>
          <p:spPr bwMode="auto">
            <a:xfrm>
              <a:off x="5419" y="1132"/>
              <a:ext cx="172" cy="261"/>
            </a:xfrm>
            <a:prstGeom prst="rect">
              <a:avLst/>
            </a:prstGeom>
            <a:solidFill>
              <a:schemeClr val="bg1"/>
            </a:solidFill>
            <a:ln w="9525" algn="ctr">
              <a:solidFill>
                <a:schemeClr val="tx1"/>
              </a:solidFill>
              <a:miter lim="800000"/>
              <a:headEnd/>
              <a:tailEnd/>
            </a:ln>
          </p:spPr>
          <p:txBody>
            <a:bodyPr wrap="none" anchor="ctr">
              <a:spAutoFit/>
            </a:bodyPr>
            <a:lstStyle/>
            <a:p>
              <a:endParaRPr lang="en-US" sz="1215"/>
            </a:p>
          </p:txBody>
        </p:sp>
        <p:sp>
          <p:nvSpPr>
            <p:cNvPr id="108555" name="Line 5"/>
            <p:cNvSpPr>
              <a:spLocks noChangeShapeType="1"/>
            </p:cNvSpPr>
            <p:nvPr/>
          </p:nvSpPr>
          <p:spPr bwMode="auto">
            <a:xfrm flipV="1">
              <a:off x="5472" y="1124"/>
              <a:ext cx="0" cy="486"/>
            </a:xfrm>
            <a:prstGeom prst="line">
              <a:avLst/>
            </a:prstGeom>
            <a:noFill/>
            <a:ln w="38100">
              <a:solidFill>
                <a:schemeClr val="tx1"/>
              </a:solidFill>
              <a:round/>
              <a:headEnd/>
              <a:tailEnd type="triangle" w="lg" len="lg"/>
            </a:ln>
          </p:spPr>
          <p:txBody>
            <a:bodyPr>
              <a:spAutoFit/>
            </a:bodyPr>
            <a:lstStyle/>
            <a:p>
              <a:endParaRPr lang="en-US" sz="1215"/>
            </a:p>
          </p:txBody>
        </p:sp>
        <p:sp>
          <p:nvSpPr>
            <p:cNvPr id="108556" name="Rectangle 6"/>
            <p:cNvSpPr>
              <a:spLocks noChangeArrowheads="1"/>
            </p:cNvSpPr>
            <p:nvPr/>
          </p:nvSpPr>
          <p:spPr bwMode="auto">
            <a:xfrm>
              <a:off x="5345" y="836"/>
              <a:ext cx="298" cy="319"/>
            </a:xfrm>
            <a:prstGeom prst="rect">
              <a:avLst/>
            </a:prstGeom>
            <a:noFill/>
            <a:ln w="9525" algn="ctr">
              <a:noFill/>
              <a:miter lim="800000"/>
              <a:headEnd/>
              <a:tailEnd/>
            </a:ln>
          </p:spPr>
          <p:txBody>
            <a:bodyPr wrap="none">
              <a:spAutoFit/>
            </a:bodyPr>
            <a:lstStyle/>
            <a:p>
              <a:r>
                <a:rPr lang="en-US" sz="1620"/>
                <a:t>N</a:t>
              </a:r>
            </a:p>
          </p:txBody>
        </p:sp>
      </p:grpSp>
      <p:grpSp>
        <p:nvGrpSpPr>
          <p:cNvPr id="3" name="Group 9" descr="north arrow"/>
          <p:cNvGrpSpPr>
            <a:grpSpLocks/>
          </p:cNvGrpSpPr>
          <p:nvPr/>
        </p:nvGrpSpPr>
        <p:grpSpPr bwMode="auto">
          <a:xfrm rot="-960000">
            <a:off x="6252266" y="2976567"/>
            <a:ext cx="319326" cy="846534"/>
            <a:chOff x="5324" y="820"/>
            <a:chExt cx="298" cy="790"/>
          </a:xfrm>
        </p:grpSpPr>
        <p:sp>
          <p:nvSpPr>
            <p:cNvPr id="108551" name="Rectangle 10"/>
            <p:cNvSpPr>
              <a:spLocks noChangeArrowheads="1"/>
            </p:cNvSpPr>
            <p:nvPr/>
          </p:nvSpPr>
          <p:spPr bwMode="auto">
            <a:xfrm>
              <a:off x="5391" y="1132"/>
              <a:ext cx="172" cy="261"/>
            </a:xfrm>
            <a:prstGeom prst="rect">
              <a:avLst/>
            </a:prstGeom>
            <a:solidFill>
              <a:schemeClr val="bg1"/>
            </a:solidFill>
            <a:ln w="9525" algn="ctr">
              <a:solidFill>
                <a:schemeClr val="tx1"/>
              </a:solidFill>
              <a:miter lim="800000"/>
              <a:headEnd/>
              <a:tailEnd/>
            </a:ln>
          </p:spPr>
          <p:txBody>
            <a:bodyPr wrap="none" anchor="ctr">
              <a:spAutoFit/>
            </a:bodyPr>
            <a:lstStyle/>
            <a:p>
              <a:endParaRPr lang="en-US" sz="1215"/>
            </a:p>
          </p:txBody>
        </p:sp>
        <p:sp>
          <p:nvSpPr>
            <p:cNvPr id="108552" name="Line 11"/>
            <p:cNvSpPr>
              <a:spLocks noChangeShapeType="1"/>
            </p:cNvSpPr>
            <p:nvPr/>
          </p:nvSpPr>
          <p:spPr bwMode="auto">
            <a:xfrm flipV="1">
              <a:off x="5472" y="1124"/>
              <a:ext cx="0" cy="486"/>
            </a:xfrm>
            <a:prstGeom prst="line">
              <a:avLst/>
            </a:prstGeom>
            <a:noFill/>
            <a:ln w="38100">
              <a:solidFill>
                <a:schemeClr val="tx1"/>
              </a:solidFill>
              <a:round/>
              <a:headEnd/>
              <a:tailEnd type="triangle" w="lg" len="lg"/>
            </a:ln>
          </p:spPr>
          <p:txBody>
            <a:bodyPr>
              <a:spAutoFit/>
            </a:bodyPr>
            <a:lstStyle/>
            <a:p>
              <a:endParaRPr lang="en-US" sz="1215"/>
            </a:p>
          </p:txBody>
        </p:sp>
        <p:sp>
          <p:nvSpPr>
            <p:cNvPr id="108553" name="Rectangle 12"/>
            <p:cNvSpPr>
              <a:spLocks noChangeArrowheads="1"/>
            </p:cNvSpPr>
            <p:nvPr/>
          </p:nvSpPr>
          <p:spPr bwMode="auto">
            <a:xfrm>
              <a:off x="5324" y="820"/>
              <a:ext cx="298" cy="319"/>
            </a:xfrm>
            <a:prstGeom prst="rect">
              <a:avLst/>
            </a:prstGeom>
            <a:noFill/>
            <a:ln w="9525" algn="ctr">
              <a:noFill/>
              <a:miter lim="800000"/>
              <a:headEnd/>
              <a:tailEnd/>
            </a:ln>
          </p:spPr>
          <p:txBody>
            <a:bodyPr wrap="none">
              <a:spAutoFit/>
            </a:bodyPr>
            <a:lstStyle/>
            <a:p>
              <a:r>
                <a:rPr lang="en-US" sz="1620"/>
                <a:t>N</a:t>
              </a:r>
            </a:p>
          </p:txBody>
        </p:sp>
      </p:grpSp>
      <p:grpSp>
        <p:nvGrpSpPr>
          <p:cNvPr id="13" name="Group 9" descr="north arrow"/>
          <p:cNvGrpSpPr>
            <a:grpSpLocks/>
          </p:cNvGrpSpPr>
          <p:nvPr/>
        </p:nvGrpSpPr>
        <p:grpSpPr bwMode="auto">
          <a:xfrm rot="900000">
            <a:off x="1946750" y="2967826"/>
            <a:ext cx="319326" cy="846534"/>
            <a:chOff x="5324" y="820"/>
            <a:chExt cx="298" cy="790"/>
          </a:xfrm>
        </p:grpSpPr>
        <p:sp>
          <p:nvSpPr>
            <p:cNvPr id="14" name="Rectangle 10"/>
            <p:cNvSpPr>
              <a:spLocks noChangeArrowheads="1"/>
            </p:cNvSpPr>
            <p:nvPr/>
          </p:nvSpPr>
          <p:spPr bwMode="auto">
            <a:xfrm>
              <a:off x="5391" y="1132"/>
              <a:ext cx="172" cy="261"/>
            </a:xfrm>
            <a:prstGeom prst="rect">
              <a:avLst/>
            </a:prstGeom>
            <a:solidFill>
              <a:schemeClr val="bg1"/>
            </a:solidFill>
            <a:ln w="9525" algn="ctr">
              <a:solidFill>
                <a:schemeClr val="tx1"/>
              </a:solidFill>
              <a:miter lim="800000"/>
              <a:headEnd/>
              <a:tailEnd/>
            </a:ln>
          </p:spPr>
          <p:txBody>
            <a:bodyPr wrap="none" anchor="ctr">
              <a:spAutoFit/>
            </a:bodyPr>
            <a:lstStyle/>
            <a:p>
              <a:endParaRPr lang="en-US" sz="1215"/>
            </a:p>
          </p:txBody>
        </p:sp>
        <p:sp>
          <p:nvSpPr>
            <p:cNvPr id="15" name="Line 11"/>
            <p:cNvSpPr>
              <a:spLocks noChangeShapeType="1"/>
            </p:cNvSpPr>
            <p:nvPr/>
          </p:nvSpPr>
          <p:spPr bwMode="auto">
            <a:xfrm flipV="1">
              <a:off x="5472" y="1124"/>
              <a:ext cx="0" cy="486"/>
            </a:xfrm>
            <a:prstGeom prst="line">
              <a:avLst/>
            </a:prstGeom>
            <a:noFill/>
            <a:ln w="38100">
              <a:solidFill>
                <a:schemeClr val="tx1"/>
              </a:solidFill>
              <a:round/>
              <a:headEnd/>
              <a:tailEnd type="triangle" w="lg" len="lg"/>
            </a:ln>
          </p:spPr>
          <p:txBody>
            <a:bodyPr>
              <a:spAutoFit/>
            </a:bodyPr>
            <a:lstStyle/>
            <a:p>
              <a:endParaRPr lang="en-US" sz="1215"/>
            </a:p>
          </p:txBody>
        </p:sp>
        <p:sp>
          <p:nvSpPr>
            <p:cNvPr id="16" name="Rectangle 12"/>
            <p:cNvSpPr>
              <a:spLocks noChangeArrowheads="1"/>
            </p:cNvSpPr>
            <p:nvPr/>
          </p:nvSpPr>
          <p:spPr bwMode="auto">
            <a:xfrm>
              <a:off x="5324" y="820"/>
              <a:ext cx="298" cy="319"/>
            </a:xfrm>
            <a:prstGeom prst="rect">
              <a:avLst/>
            </a:prstGeom>
            <a:noFill/>
            <a:ln w="9525" algn="ctr">
              <a:noFill/>
              <a:miter lim="800000"/>
              <a:headEnd/>
              <a:tailEnd/>
            </a:ln>
          </p:spPr>
          <p:txBody>
            <a:bodyPr wrap="none">
              <a:spAutoFit/>
            </a:bodyPr>
            <a:lstStyle/>
            <a:p>
              <a:r>
                <a:rPr lang="en-US" sz="1620"/>
                <a:t>N</a:t>
              </a:r>
            </a:p>
          </p:txBody>
        </p:sp>
      </p:grpSp>
      <p:cxnSp>
        <p:nvCxnSpPr>
          <p:cNvPr id="17" name="Straight Connector 16">
            <a:extLst>
              <a:ext uri="{FF2B5EF4-FFF2-40B4-BE49-F238E27FC236}">
                <a16:creationId xmlns:a16="http://schemas.microsoft.com/office/drawing/2014/main" id="{26ABBE66-6937-43C6-B8DB-A54BB3FB986B}"/>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8" name="Title 1">
            <a:extLst>
              <a:ext uri="{FF2B5EF4-FFF2-40B4-BE49-F238E27FC236}">
                <a16:creationId xmlns:a16="http://schemas.microsoft.com/office/drawing/2014/main" id="{83D1248C-6660-4A8F-BAE8-7050C81FF3A9}"/>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Orientation</a:t>
            </a:r>
            <a:endParaRPr lang="en-US" sz="2600" dirty="0">
              <a:solidFill>
                <a:srgbClr val="7030A0"/>
              </a:solidFill>
            </a:endParaRPr>
          </a:p>
        </p:txBody>
      </p:sp>
      <p:sp>
        <p:nvSpPr>
          <p:cNvPr id="4" name="Slide Number Placeholder 3">
            <a:extLst>
              <a:ext uri="{FF2B5EF4-FFF2-40B4-BE49-F238E27FC236}">
                <a16:creationId xmlns:a16="http://schemas.microsoft.com/office/drawing/2014/main" id="{0C59CE1A-39DF-405B-A7F4-3CD746ED7320}"/>
              </a:ext>
            </a:extLst>
          </p:cNvPr>
          <p:cNvSpPr>
            <a:spLocks noGrp="1"/>
          </p:cNvSpPr>
          <p:nvPr>
            <p:ph type="sldNum" sz="quarter" idx="12"/>
          </p:nvPr>
        </p:nvSpPr>
        <p:spPr/>
        <p:txBody>
          <a:bodyPr/>
          <a:lstStyle/>
          <a:p>
            <a:fld id="{127DDC20-79C9-9647-820E-6D40A3D210C3}" type="slidenum">
              <a:rPr lang="en-US" smtClean="0"/>
              <a:pPr/>
              <a:t>71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7" name="Rectangle 3"/>
          <p:cNvSpPr>
            <a:spLocks noGrp="1" noChangeArrowheads="1"/>
          </p:cNvSpPr>
          <p:nvPr>
            <p:ph idx="1"/>
          </p:nvPr>
        </p:nvSpPr>
        <p:spPr>
          <a:xfrm>
            <a:off x="152400" y="1028700"/>
            <a:ext cx="7808975" cy="3741896"/>
          </a:xfrm>
        </p:spPr>
        <p:txBody>
          <a:bodyPr/>
          <a:lstStyle/>
          <a:p>
            <a:pPr>
              <a:buFont typeface="Courier New" panose="02070309020205020404" pitchFamily="49" charset="0"/>
              <a:buChar char="o"/>
            </a:pPr>
            <a:r>
              <a:rPr lang="en-US" dirty="0"/>
              <a:t>Use caution when using north arrows on smaller scale maps</a:t>
            </a:r>
          </a:p>
          <a:p>
            <a:pPr marL="765810" lvl="1" indent="-457200">
              <a:buFont typeface="Wingdings" panose="05000000000000000000" pitchFamily="2" charset="2"/>
              <a:buChar char="ü"/>
            </a:pPr>
            <a:r>
              <a:rPr lang="en-US" b="0" i="0" dirty="0">
                <a:solidFill>
                  <a:srgbClr val="000000"/>
                </a:solidFill>
                <a:effectLst/>
                <a:latin typeface="TimesLTStd-Roman"/>
              </a:rPr>
              <a:t> Place the graticules beneath land masses</a:t>
            </a:r>
            <a:endParaRPr lang="en-US" dirty="0"/>
          </a:p>
        </p:txBody>
      </p:sp>
      <p:cxnSp>
        <p:nvCxnSpPr>
          <p:cNvPr id="17" name="Straight Connector 16">
            <a:extLst>
              <a:ext uri="{FF2B5EF4-FFF2-40B4-BE49-F238E27FC236}">
                <a16:creationId xmlns:a16="http://schemas.microsoft.com/office/drawing/2014/main" id="{26ABBE66-6937-43C6-B8DB-A54BB3FB986B}"/>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8" name="Title 1">
            <a:extLst>
              <a:ext uri="{FF2B5EF4-FFF2-40B4-BE49-F238E27FC236}">
                <a16:creationId xmlns:a16="http://schemas.microsoft.com/office/drawing/2014/main" id="{83D1248C-6660-4A8F-BAE8-7050C81FF3A9}"/>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Orientation</a:t>
            </a:r>
            <a:endParaRPr lang="en-US" sz="2600" dirty="0">
              <a:solidFill>
                <a:srgbClr val="7030A0"/>
              </a:solidFill>
            </a:endParaRPr>
          </a:p>
        </p:txBody>
      </p:sp>
      <p:sp>
        <p:nvSpPr>
          <p:cNvPr id="4" name="Slide Number Placeholder 3">
            <a:extLst>
              <a:ext uri="{FF2B5EF4-FFF2-40B4-BE49-F238E27FC236}">
                <a16:creationId xmlns:a16="http://schemas.microsoft.com/office/drawing/2014/main" id="{0C59CE1A-39DF-405B-A7F4-3CD746ED7320}"/>
              </a:ext>
            </a:extLst>
          </p:cNvPr>
          <p:cNvSpPr>
            <a:spLocks noGrp="1"/>
          </p:cNvSpPr>
          <p:nvPr>
            <p:ph type="sldNum" sz="quarter" idx="12"/>
          </p:nvPr>
        </p:nvSpPr>
        <p:spPr/>
        <p:txBody>
          <a:bodyPr/>
          <a:lstStyle/>
          <a:p>
            <a:fld id="{127DDC20-79C9-9647-820E-6D40A3D210C3}" type="slidenum">
              <a:rPr lang="en-US" smtClean="0"/>
              <a:pPr/>
              <a:t>72</a:t>
            </a:fld>
            <a:endParaRPr lang="en-US"/>
          </a:p>
        </p:txBody>
      </p:sp>
      <p:pic>
        <p:nvPicPr>
          <p:cNvPr id="6" name="Picture 5" descr="image showing graticules">
            <a:extLst>
              <a:ext uri="{FF2B5EF4-FFF2-40B4-BE49-F238E27FC236}">
                <a16:creationId xmlns:a16="http://schemas.microsoft.com/office/drawing/2014/main" id="{9A499126-A638-4173-9BBA-E6A1E23AE513}"/>
              </a:ext>
            </a:extLst>
          </p:cNvPr>
          <p:cNvPicPr>
            <a:picLocks noChangeAspect="1"/>
          </p:cNvPicPr>
          <p:nvPr/>
        </p:nvPicPr>
        <p:blipFill>
          <a:blip r:embed="rId2"/>
          <a:stretch>
            <a:fillRect/>
          </a:stretch>
        </p:blipFill>
        <p:spPr>
          <a:xfrm>
            <a:off x="2426208" y="2323849"/>
            <a:ext cx="2804050" cy="2717258"/>
          </a:xfrm>
          <a:prstGeom prst="rect">
            <a:avLst/>
          </a:prstGeom>
        </p:spPr>
      </p:pic>
      <p:sp>
        <p:nvSpPr>
          <p:cNvPr id="21" name="Rectangle 5">
            <a:extLst>
              <a:ext uri="{FF2B5EF4-FFF2-40B4-BE49-F238E27FC236}">
                <a16:creationId xmlns:a16="http://schemas.microsoft.com/office/drawing/2014/main" id="{FE26A2F9-0A8E-4562-88F7-58C72DBB046A}"/>
              </a:ext>
            </a:extLst>
          </p:cNvPr>
          <p:cNvSpPr>
            <a:spLocks noChangeArrowheads="1"/>
          </p:cNvSpPr>
          <p:nvPr/>
        </p:nvSpPr>
        <p:spPr bwMode="auto">
          <a:xfrm>
            <a:off x="6259049" y="4434618"/>
            <a:ext cx="974947" cy="246221"/>
          </a:xfrm>
          <a:prstGeom prst="rect">
            <a:avLst/>
          </a:prstGeom>
          <a:noFill/>
          <a:ln w="9525" algn="ctr">
            <a:noFill/>
            <a:miter lim="800000"/>
            <a:headEnd/>
            <a:tailEnd/>
          </a:ln>
        </p:spPr>
        <p:txBody>
          <a:bodyPr wrap="none">
            <a:spAutoFit/>
          </a:bodyPr>
          <a:lstStyle/>
          <a:p>
            <a:r>
              <a:rPr lang="en-US" sz="1000" dirty="0">
                <a:solidFill>
                  <a:srgbClr val="7030A0"/>
                </a:solidFill>
              </a:rPr>
              <a:t>Peterson, 2021</a:t>
            </a:r>
          </a:p>
        </p:txBody>
      </p:sp>
    </p:spTree>
    <p:extLst>
      <p:ext uri="{BB962C8B-B14F-4D97-AF65-F5344CB8AC3E}">
        <p14:creationId xmlns:p14="http://schemas.microsoft.com/office/powerpoint/2010/main" val="120283310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1" name="Rectangle 3"/>
          <p:cNvSpPr>
            <a:spLocks noGrp="1" noChangeArrowheads="1"/>
          </p:cNvSpPr>
          <p:nvPr>
            <p:ph idx="1"/>
          </p:nvPr>
        </p:nvSpPr>
        <p:spPr>
          <a:xfrm>
            <a:off x="118533" y="1077768"/>
            <a:ext cx="7216140" cy="3741896"/>
          </a:xfrm>
        </p:spPr>
        <p:txBody>
          <a:bodyPr/>
          <a:lstStyle/>
          <a:p>
            <a:pPr>
              <a:buFont typeface="Courier New" panose="02070309020205020404" pitchFamily="49" charset="0"/>
              <a:buChar char="o"/>
            </a:pPr>
            <a:r>
              <a:rPr lang="en-US" dirty="0"/>
              <a:t>The style of the north arrow and graticule should be simple and subtle; they should not attract attention</a:t>
            </a:r>
          </a:p>
          <a:p>
            <a:pPr marL="765810" lvl="1" indent="-457200">
              <a:buFont typeface="Wingdings" panose="05000000000000000000" pitchFamily="2" charset="2"/>
              <a:buChar char="ü"/>
            </a:pPr>
            <a:r>
              <a:rPr lang="en-US" dirty="0"/>
              <a:t>Bulky and complex designs should be avoided</a:t>
            </a:r>
          </a:p>
          <a:p>
            <a:pPr marL="765810" lvl="1" indent="-457200">
              <a:buFont typeface="Wingdings" panose="05000000000000000000" pitchFamily="2" charset="2"/>
              <a:buChar char="ü"/>
            </a:pPr>
            <a:r>
              <a:rPr lang="en-US" dirty="0"/>
              <a:t>Line weights should be thin and type should be among the smallest on a map</a:t>
            </a:r>
          </a:p>
          <a:p>
            <a:pPr marL="765810" lvl="1" indent="-457200">
              <a:buFont typeface="Wingdings" panose="05000000000000000000" pitchFamily="2" charset="2"/>
              <a:buChar char="ü"/>
            </a:pPr>
            <a:r>
              <a:rPr lang="en-US" dirty="0"/>
              <a:t>Only north should be indicated</a:t>
            </a:r>
          </a:p>
        </p:txBody>
      </p:sp>
      <p:cxnSp>
        <p:nvCxnSpPr>
          <p:cNvPr id="9" name="Straight Connector 8">
            <a:extLst>
              <a:ext uri="{FF2B5EF4-FFF2-40B4-BE49-F238E27FC236}">
                <a16:creationId xmlns:a16="http://schemas.microsoft.com/office/drawing/2014/main" id="{1BBC47F8-FF19-4F97-B299-C3544DD779F2}"/>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67A8B44B-DB9B-42C8-A32E-31646D7A7C66}"/>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Orientation</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5A9C1FAA-6EE6-452A-AB02-7D22C365C067}"/>
              </a:ext>
            </a:extLst>
          </p:cNvPr>
          <p:cNvSpPr>
            <a:spLocks noGrp="1"/>
          </p:cNvSpPr>
          <p:nvPr>
            <p:ph type="sldNum" sz="quarter" idx="12"/>
          </p:nvPr>
        </p:nvSpPr>
        <p:spPr/>
        <p:txBody>
          <a:bodyPr/>
          <a:lstStyle/>
          <a:p>
            <a:fld id="{127DDC20-79C9-9647-820E-6D40A3D210C3}" type="slidenum">
              <a:rPr lang="en-US" smtClean="0"/>
              <a:pPr/>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descr="Image showing north arrow"/>
          <p:cNvPicPr>
            <a:picLocks noChangeAspect="1" noChangeArrowheads="1"/>
          </p:cNvPicPr>
          <p:nvPr/>
        </p:nvPicPr>
        <p:blipFill>
          <a:blip r:embed="rId2" cstate="print"/>
          <a:srcRect/>
          <a:stretch>
            <a:fillRect/>
          </a:stretch>
        </p:blipFill>
        <p:spPr bwMode="auto">
          <a:xfrm>
            <a:off x="2666173" y="2373547"/>
            <a:ext cx="1717715" cy="907754"/>
          </a:xfrm>
          <a:prstGeom prst="rect">
            <a:avLst/>
          </a:prstGeom>
          <a:noFill/>
          <a:ln w="9525" algn="ctr">
            <a:solidFill>
              <a:schemeClr val="tx1"/>
            </a:solidFill>
            <a:miter lim="800000"/>
            <a:headEnd/>
            <a:tailEnd/>
          </a:ln>
        </p:spPr>
      </p:pic>
      <p:pic>
        <p:nvPicPr>
          <p:cNvPr id="6" name="Picture 6" descr="Image showing north arrow"/>
          <p:cNvPicPr>
            <a:picLocks noChangeAspect="1" noChangeArrowheads="1"/>
          </p:cNvPicPr>
          <p:nvPr/>
        </p:nvPicPr>
        <p:blipFill>
          <a:blip r:embed="rId3" cstate="print"/>
          <a:srcRect/>
          <a:stretch>
            <a:fillRect/>
          </a:stretch>
        </p:blipFill>
        <p:spPr bwMode="auto">
          <a:xfrm>
            <a:off x="2665621" y="3506068"/>
            <a:ext cx="1718267" cy="921566"/>
          </a:xfrm>
          <a:prstGeom prst="rect">
            <a:avLst/>
          </a:prstGeom>
          <a:noFill/>
          <a:ln w="9525" algn="ctr">
            <a:solidFill>
              <a:schemeClr val="tx1"/>
            </a:solidFill>
            <a:miter lim="800000"/>
            <a:headEnd/>
            <a:tailEnd/>
          </a:ln>
        </p:spPr>
      </p:pic>
      <p:sp>
        <p:nvSpPr>
          <p:cNvPr id="7" name="Text Box 7"/>
          <p:cNvSpPr txBox="1">
            <a:spLocks noChangeArrowheads="1"/>
          </p:cNvSpPr>
          <p:nvPr/>
        </p:nvSpPr>
        <p:spPr bwMode="auto">
          <a:xfrm>
            <a:off x="4715535" y="2588513"/>
            <a:ext cx="1272959" cy="507831"/>
          </a:xfrm>
          <a:prstGeom prst="rect">
            <a:avLst/>
          </a:prstGeom>
          <a:noFill/>
          <a:ln w="9525">
            <a:noFill/>
            <a:miter lim="800000"/>
            <a:headEnd/>
            <a:tailEnd/>
          </a:ln>
        </p:spPr>
        <p:txBody>
          <a:bodyPr wrap="square">
            <a:spAutoFit/>
          </a:bodyPr>
          <a:lstStyle/>
          <a:p>
            <a:pPr>
              <a:spcBef>
                <a:spcPct val="50000"/>
              </a:spcBef>
            </a:pPr>
            <a:r>
              <a:rPr lang="en-US" sz="1350" dirty="0"/>
              <a:t>Poorly Designed</a:t>
            </a:r>
          </a:p>
        </p:txBody>
      </p:sp>
      <p:sp>
        <p:nvSpPr>
          <p:cNvPr id="8" name="Text Box 8"/>
          <p:cNvSpPr txBox="1">
            <a:spLocks noChangeArrowheads="1"/>
          </p:cNvSpPr>
          <p:nvPr/>
        </p:nvSpPr>
        <p:spPr bwMode="auto">
          <a:xfrm>
            <a:off x="4715535" y="3656073"/>
            <a:ext cx="1166280" cy="507831"/>
          </a:xfrm>
          <a:prstGeom prst="rect">
            <a:avLst/>
          </a:prstGeom>
          <a:noFill/>
          <a:ln w="9525">
            <a:noFill/>
            <a:miter lim="800000"/>
            <a:headEnd/>
            <a:tailEnd/>
          </a:ln>
        </p:spPr>
        <p:txBody>
          <a:bodyPr wrap="square">
            <a:spAutoFit/>
          </a:bodyPr>
          <a:lstStyle/>
          <a:p>
            <a:pPr>
              <a:spcBef>
                <a:spcPct val="50000"/>
              </a:spcBef>
            </a:pPr>
            <a:r>
              <a:rPr lang="en-US" sz="1350" dirty="0"/>
              <a:t>Well Designed</a:t>
            </a:r>
          </a:p>
        </p:txBody>
      </p:sp>
      <p:cxnSp>
        <p:nvCxnSpPr>
          <p:cNvPr id="9" name="Straight Connector 8">
            <a:extLst>
              <a:ext uri="{FF2B5EF4-FFF2-40B4-BE49-F238E27FC236}">
                <a16:creationId xmlns:a16="http://schemas.microsoft.com/office/drawing/2014/main" id="{1BBC47F8-FF19-4F97-B299-C3544DD779F2}"/>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67A8B44B-DB9B-42C8-A32E-31646D7A7C66}"/>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Discussion</a:t>
            </a:r>
            <a:endParaRPr lang="en-US" sz="2600" dirty="0">
              <a:solidFill>
                <a:srgbClr val="7030A0"/>
              </a:solidFill>
            </a:endParaRPr>
          </a:p>
        </p:txBody>
      </p:sp>
      <p:sp>
        <p:nvSpPr>
          <p:cNvPr id="2" name="TextBox 1">
            <a:extLst>
              <a:ext uri="{FF2B5EF4-FFF2-40B4-BE49-F238E27FC236}">
                <a16:creationId xmlns:a16="http://schemas.microsoft.com/office/drawing/2014/main" id="{FF89F82D-B266-461E-A63E-7C012ED57F9B}"/>
              </a:ext>
            </a:extLst>
          </p:cNvPr>
          <p:cNvSpPr txBox="1"/>
          <p:nvPr/>
        </p:nvSpPr>
        <p:spPr>
          <a:xfrm>
            <a:off x="1319389" y="1544465"/>
            <a:ext cx="5414211" cy="523220"/>
          </a:xfrm>
          <a:prstGeom prst="rect">
            <a:avLst/>
          </a:prstGeom>
          <a:noFill/>
        </p:spPr>
        <p:txBody>
          <a:bodyPr wrap="square" rtlCol="0">
            <a:spAutoFit/>
          </a:bodyPr>
          <a:lstStyle/>
          <a:p>
            <a:r>
              <a:rPr lang="en-US" sz="2800" dirty="0"/>
              <a:t>Which group is better? And Why?</a:t>
            </a:r>
          </a:p>
        </p:txBody>
      </p:sp>
      <p:sp>
        <p:nvSpPr>
          <p:cNvPr id="3" name="Slide Number Placeholder 2">
            <a:extLst>
              <a:ext uri="{FF2B5EF4-FFF2-40B4-BE49-F238E27FC236}">
                <a16:creationId xmlns:a16="http://schemas.microsoft.com/office/drawing/2014/main" id="{8F2466ED-368D-4DE3-9297-901CA4AE0AAA}"/>
              </a:ext>
            </a:extLst>
          </p:cNvPr>
          <p:cNvSpPr>
            <a:spLocks noGrp="1"/>
          </p:cNvSpPr>
          <p:nvPr>
            <p:ph type="sldNum" sz="quarter" idx="12"/>
          </p:nvPr>
        </p:nvSpPr>
        <p:spPr/>
        <p:txBody>
          <a:bodyPr/>
          <a:lstStyle/>
          <a:p>
            <a:fld id="{127DDC20-79C9-9647-820E-6D40A3D210C3}" type="slidenum">
              <a:rPr lang="en-US" smtClean="0"/>
              <a:pPr/>
              <a:t>74</a:t>
            </a:fld>
            <a:endParaRPr lang="en-US"/>
          </a:p>
        </p:txBody>
      </p:sp>
    </p:spTree>
    <p:extLst>
      <p:ext uri="{BB962C8B-B14F-4D97-AF65-F5344CB8AC3E}">
        <p14:creationId xmlns:p14="http://schemas.microsoft.com/office/powerpoint/2010/main" val="1306599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a:xfrm>
            <a:off x="-344904" y="182000"/>
            <a:ext cx="8422104" cy="771525"/>
          </a:xfrm>
        </p:spPr>
        <p:txBody>
          <a:bodyPr>
            <a:noAutofit/>
          </a:bodyPr>
          <a:lstStyle/>
          <a:p>
            <a:pPr eaLnBrk="1" hangingPunct="1"/>
            <a:r>
              <a:rPr lang="en-US" sz="2800" dirty="0">
                <a:solidFill>
                  <a:srgbClr val="7030A0"/>
                </a:solidFill>
              </a:rPr>
              <a:t>RELATIVE TYPE SIZES FOR CERTAIN MAP ELEMENTS</a:t>
            </a:r>
          </a:p>
        </p:txBody>
      </p:sp>
      <p:sp>
        <p:nvSpPr>
          <p:cNvPr id="101379" name="Rectangle 3"/>
          <p:cNvSpPr>
            <a:spLocks noGrp="1" noChangeArrowheads="1"/>
          </p:cNvSpPr>
          <p:nvPr>
            <p:ph idx="1"/>
          </p:nvPr>
        </p:nvSpPr>
        <p:spPr>
          <a:xfrm>
            <a:off x="141464" y="1113188"/>
            <a:ext cx="5328881" cy="3741896"/>
          </a:xfrm>
        </p:spPr>
        <p:txBody>
          <a:bodyPr/>
          <a:lstStyle/>
          <a:p>
            <a:pPr marL="411480" indent="-411480"/>
            <a:r>
              <a:rPr lang="en-US" dirty="0"/>
              <a:t>Sizes should decrease as follows</a:t>
            </a:r>
          </a:p>
          <a:p>
            <a:pPr lvl="1" indent="-360045"/>
            <a:r>
              <a:rPr lang="en-US" dirty="0"/>
              <a:t>Title</a:t>
            </a:r>
          </a:p>
          <a:p>
            <a:pPr lvl="1" indent="-360045"/>
            <a:r>
              <a:rPr lang="en-US" dirty="0"/>
              <a:t>Subtitle</a:t>
            </a:r>
          </a:p>
          <a:p>
            <a:pPr lvl="1" indent="-360045"/>
            <a:r>
              <a:rPr lang="en-US" dirty="0"/>
              <a:t>Legend Heading</a:t>
            </a:r>
          </a:p>
          <a:p>
            <a:pPr lvl="1" indent="-360045"/>
            <a:r>
              <a:rPr lang="en-US" dirty="0"/>
              <a:t>Legend Definitions</a:t>
            </a:r>
          </a:p>
          <a:p>
            <a:pPr lvl="1" indent="-360045"/>
            <a:r>
              <a:rPr lang="en-US" dirty="0"/>
              <a:t>Source, scale,</a:t>
            </a:r>
            <a:br>
              <a:rPr lang="en-US" dirty="0"/>
            </a:br>
            <a:r>
              <a:rPr lang="en-US" dirty="0"/>
              <a:t>north arrow</a:t>
            </a:r>
          </a:p>
          <a:p>
            <a:pPr marL="411480" indent="-411480"/>
            <a:endParaRPr lang="en-US" dirty="0"/>
          </a:p>
        </p:txBody>
      </p:sp>
      <p:pic>
        <p:nvPicPr>
          <p:cNvPr id="1026" name="Picture 2" descr="Image showing type size"/>
          <p:cNvPicPr>
            <a:picLocks noChangeAspect="1" noChangeArrowheads="1"/>
          </p:cNvPicPr>
          <p:nvPr/>
        </p:nvPicPr>
        <p:blipFill>
          <a:blip r:embed="rId2" cstate="print"/>
          <a:srcRect/>
          <a:stretch>
            <a:fillRect/>
          </a:stretch>
        </p:blipFill>
        <p:spPr bwMode="auto">
          <a:xfrm>
            <a:off x="5773561" y="1417554"/>
            <a:ext cx="2314575" cy="3218470"/>
          </a:xfrm>
          <a:prstGeom prst="rect">
            <a:avLst/>
          </a:prstGeom>
          <a:noFill/>
          <a:ln w="9525">
            <a:solidFill>
              <a:schemeClr val="tx1"/>
            </a:solidFill>
            <a:miter lim="800000"/>
            <a:headEnd/>
            <a:tailEnd/>
          </a:ln>
        </p:spPr>
      </p:pic>
      <p:sp>
        <p:nvSpPr>
          <p:cNvPr id="6" name="Rectangle 5"/>
          <p:cNvSpPr/>
          <p:nvPr/>
        </p:nvSpPr>
        <p:spPr bwMode="auto">
          <a:xfrm>
            <a:off x="4791369" y="1580638"/>
            <a:ext cx="136501" cy="249299"/>
          </a:xfrm>
          <a:prstGeom prst="rect">
            <a:avLst/>
          </a:prstGeom>
          <a:solidFill>
            <a:schemeClr val="bg1"/>
          </a:solidFill>
          <a:ln w="9525" cap="flat" cmpd="sng" algn="ctr">
            <a:noFill/>
            <a:prstDash val="solid"/>
            <a:round/>
            <a:headEnd type="none" w="med" len="med"/>
            <a:tailEnd type="none" w="med" len="med"/>
          </a:ln>
          <a:effectLst/>
        </p:spPr>
        <p:txBody>
          <a:bodyPr vert="horz" wrap="square" lIns="61722" tIns="30861" rIns="61722" bIns="30861" numCol="1" rtlCol="0" anchor="t" anchorCtr="0" compatLnSpc="1">
            <a:prstTxWarp prst="textNoShape">
              <a:avLst/>
            </a:prstTxWarp>
            <a:spAutoFit/>
          </a:bodyPr>
          <a:lstStyle/>
          <a:p>
            <a:endParaRPr lang="en-US" sz="1215"/>
          </a:p>
        </p:txBody>
      </p:sp>
      <p:sp>
        <p:nvSpPr>
          <p:cNvPr id="7" name="Rectangle 6"/>
          <p:cNvSpPr/>
          <p:nvPr/>
        </p:nvSpPr>
        <p:spPr bwMode="auto">
          <a:xfrm>
            <a:off x="4783456" y="1954530"/>
            <a:ext cx="136501" cy="249299"/>
          </a:xfrm>
          <a:prstGeom prst="rect">
            <a:avLst/>
          </a:prstGeom>
          <a:solidFill>
            <a:schemeClr val="bg1"/>
          </a:solidFill>
          <a:ln w="9525" cap="flat" cmpd="sng" algn="ctr">
            <a:noFill/>
            <a:prstDash val="solid"/>
            <a:round/>
            <a:headEnd type="none" w="med" len="med"/>
            <a:tailEnd type="none" w="med" len="med"/>
          </a:ln>
          <a:effectLst/>
        </p:spPr>
        <p:txBody>
          <a:bodyPr vert="horz" wrap="square" lIns="61722" tIns="30861" rIns="61722" bIns="30861" numCol="1" rtlCol="0" anchor="t" anchorCtr="0" compatLnSpc="1">
            <a:prstTxWarp prst="textNoShape">
              <a:avLst/>
            </a:prstTxWarp>
            <a:spAutoFit/>
          </a:bodyPr>
          <a:lstStyle/>
          <a:p>
            <a:endParaRPr lang="en-US" sz="1215"/>
          </a:p>
        </p:txBody>
      </p:sp>
      <p:sp>
        <p:nvSpPr>
          <p:cNvPr id="8" name="Rectangle 7"/>
          <p:cNvSpPr/>
          <p:nvPr/>
        </p:nvSpPr>
        <p:spPr bwMode="auto">
          <a:xfrm>
            <a:off x="4783456" y="2314575"/>
            <a:ext cx="136501" cy="249299"/>
          </a:xfrm>
          <a:prstGeom prst="rect">
            <a:avLst/>
          </a:prstGeom>
          <a:solidFill>
            <a:schemeClr val="bg1"/>
          </a:solidFill>
          <a:ln w="9525" cap="flat" cmpd="sng" algn="ctr">
            <a:noFill/>
            <a:prstDash val="solid"/>
            <a:round/>
            <a:headEnd type="none" w="med" len="med"/>
            <a:tailEnd type="none" w="med" len="med"/>
          </a:ln>
          <a:effectLst/>
        </p:spPr>
        <p:txBody>
          <a:bodyPr vert="horz" wrap="square" lIns="61722" tIns="30861" rIns="61722" bIns="30861" numCol="1" rtlCol="0" anchor="t" anchorCtr="0" compatLnSpc="1">
            <a:prstTxWarp prst="textNoShape">
              <a:avLst/>
            </a:prstTxWarp>
            <a:spAutoFit/>
          </a:bodyPr>
          <a:lstStyle/>
          <a:p>
            <a:endParaRPr lang="en-US" sz="1215"/>
          </a:p>
        </p:txBody>
      </p:sp>
      <p:sp>
        <p:nvSpPr>
          <p:cNvPr id="9" name="Rectangle 8"/>
          <p:cNvSpPr/>
          <p:nvPr/>
        </p:nvSpPr>
        <p:spPr bwMode="auto">
          <a:xfrm>
            <a:off x="4783456" y="2777490"/>
            <a:ext cx="136501" cy="249299"/>
          </a:xfrm>
          <a:prstGeom prst="rect">
            <a:avLst/>
          </a:prstGeom>
          <a:solidFill>
            <a:schemeClr val="bg1"/>
          </a:solidFill>
          <a:ln w="9525" cap="flat" cmpd="sng" algn="ctr">
            <a:noFill/>
            <a:prstDash val="solid"/>
            <a:round/>
            <a:headEnd type="none" w="med" len="med"/>
            <a:tailEnd type="none" w="med" len="med"/>
          </a:ln>
          <a:effectLst/>
        </p:spPr>
        <p:txBody>
          <a:bodyPr vert="horz" wrap="square" lIns="61722" tIns="30861" rIns="61722" bIns="30861" numCol="1" rtlCol="0" anchor="t" anchorCtr="0" compatLnSpc="1">
            <a:prstTxWarp prst="textNoShape">
              <a:avLst/>
            </a:prstTxWarp>
            <a:spAutoFit/>
          </a:bodyPr>
          <a:lstStyle/>
          <a:p>
            <a:endParaRPr lang="en-US" sz="1215"/>
          </a:p>
        </p:txBody>
      </p:sp>
      <p:sp>
        <p:nvSpPr>
          <p:cNvPr id="10" name="Rectangle 9"/>
          <p:cNvSpPr/>
          <p:nvPr/>
        </p:nvSpPr>
        <p:spPr bwMode="auto">
          <a:xfrm>
            <a:off x="4783456" y="3394710"/>
            <a:ext cx="136501" cy="249299"/>
          </a:xfrm>
          <a:prstGeom prst="rect">
            <a:avLst/>
          </a:prstGeom>
          <a:solidFill>
            <a:schemeClr val="bg1"/>
          </a:solidFill>
          <a:ln w="9525" cap="flat" cmpd="sng" algn="ctr">
            <a:noFill/>
            <a:prstDash val="solid"/>
            <a:round/>
            <a:headEnd type="none" w="med" len="med"/>
            <a:tailEnd type="none" w="med" len="med"/>
          </a:ln>
          <a:effectLst/>
        </p:spPr>
        <p:txBody>
          <a:bodyPr vert="horz" wrap="square" lIns="61722" tIns="30861" rIns="61722" bIns="30861" numCol="1" rtlCol="0" anchor="t" anchorCtr="0" compatLnSpc="1">
            <a:prstTxWarp prst="textNoShape">
              <a:avLst/>
            </a:prstTxWarp>
            <a:spAutoFit/>
          </a:bodyPr>
          <a:lstStyle/>
          <a:p>
            <a:endParaRPr lang="en-US" sz="1215"/>
          </a:p>
        </p:txBody>
      </p:sp>
      <p:sp>
        <p:nvSpPr>
          <p:cNvPr id="2" name="Rectangle 1"/>
          <p:cNvSpPr/>
          <p:nvPr/>
        </p:nvSpPr>
        <p:spPr>
          <a:xfrm>
            <a:off x="2128626" y="4726618"/>
            <a:ext cx="5018133" cy="383182"/>
          </a:xfrm>
          <a:prstGeom prst="rect">
            <a:avLst/>
          </a:prstGeom>
        </p:spPr>
        <p:txBody>
          <a:bodyPr wrap="square">
            <a:spAutoFit/>
          </a:bodyPr>
          <a:lstStyle/>
          <a:p>
            <a:r>
              <a:rPr lang="en-US" sz="1890" b="1" dirty="0"/>
              <a:t>Use the same type family for ALL map elements!</a:t>
            </a:r>
          </a:p>
        </p:txBody>
      </p:sp>
      <p:cxnSp>
        <p:nvCxnSpPr>
          <p:cNvPr id="11" name="Straight Connector 10">
            <a:extLst>
              <a:ext uri="{FF2B5EF4-FFF2-40B4-BE49-F238E27FC236}">
                <a16:creationId xmlns:a16="http://schemas.microsoft.com/office/drawing/2014/main" id="{46A15DC6-084A-4D47-92AD-A57C45B0D8F4}"/>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Slide Number Placeholder 2">
            <a:extLst>
              <a:ext uri="{FF2B5EF4-FFF2-40B4-BE49-F238E27FC236}">
                <a16:creationId xmlns:a16="http://schemas.microsoft.com/office/drawing/2014/main" id="{0ECD85AA-BCCF-47AC-AEB3-E32898BE7523}"/>
              </a:ext>
            </a:extLst>
          </p:cNvPr>
          <p:cNvSpPr>
            <a:spLocks noGrp="1"/>
          </p:cNvSpPr>
          <p:nvPr>
            <p:ph type="sldNum" sz="quarter" idx="12"/>
          </p:nvPr>
        </p:nvSpPr>
        <p:spPr/>
        <p:txBody>
          <a:bodyPr/>
          <a:lstStyle/>
          <a:p>
            <a:fld id="{127DDC20-79C9-9647-820E-6D40A3D210C3}" type="slidenum">
              <a:rPr lang="en-US" smtClean="0"/>
              <a:pPr/>
              <a:t>75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Map 1"/>
          <p:cNvPicPr>
            <a:picLocks noChangeAspect="1"/>
          </p:cNvPicPr>
          <p:nvPr/>
        </p:nvPicPr>
        <p:blipFill>
          <a:blip r:embed="rId3"/>
          <a:stretch>
            <a:fillRect/>
          </a:stretch>
        </p:blipFill>
        <p:spPr>
          <a:xfrm>
            <a:off x="1576951" y="1227083"/>
            <a:ext cx="2537849" cy="3189357"/>
          </a:xfrm>
          <a:prstGeom prst="rect">
            <a:avLst/>
          </a:prstGeom>
        </p:spPr>
      </p:pic>
      <p:pic>
        <p:nvPicPr>
          <p:cNvPr id="2" name="Picture 1" descr="Map 2"/>
          <p:cNvPicPr>
            <a:picLocks noChangeAspect="1"/>
          </p:cNvPicPr>
          <p:nvPr/>
        </p:nvPicPr>
        <p:blipFill>
          <a:blip r:embed="rId4"/>
          <a:stretch>
            <a:fillRect/>
          </a:stretch>
        </p:blipFill>
        <p:spPr>
          <a:xfrm>
            <a:off x="4603922" y="1227083"/>
            <a:ext cx="2525765" cy="3188635"/>
          </a:xfrm>
          <a:prstGeom prst="rect">
            <a:avLst/>
          </a:prstGeom>
          <a:ln>
            <a:solidFill>
              <a:schemeClr val="tx1"/>
            </a:solidFill>
          </a:ln>
        </p:spPr>
      </p:pic>
      <p:sp>
        <p:nvSpPr>
          <p:cNvPr id="7" name="Title 1">
            <a:extLst>
              <a:ext uri="{FF2B5EF4-FFF2-40B4-BE49-F238E27FC236}">
                <a16:creationId xmlns:a16="http://schemas.microsoft.com/office/drawing/2014/main" id="{5935AEE5-6193-47F9-BAB9-FB3F627C7F5C}"/>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endParaRPr lang="en-US" sz="2600" dirty="0">
              <a:solidFill>
                <a:srgbClr val="7030A0"/>
              </a:solidFill>
            </a:endParaRPr>
          </a:p>
        </p:txBody>
      </p:sp>
      <p:cxnSp>
        <p:nvCxnSpPr>
          <p:cNvPr id="8" name="Straight Connector 7">
            <a:extLst>
              <a:ext uri="{FF2B5EF4-FFF2-40B4-BE49-F238E27FC236}">
                <a16:creationId xmlns:a16="http://schemas.microsoft.com/office/drawing/2014/main" id="{E03287F7-8994-477D-9FAD-D17D4F823720}"/>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3D7A37AF-67E9-4E2D-8501-F4FE1F453639}"/>
              </a:ext>
            </a:extLst>
          </p:cNvPr>
          <p:cNvSpPr txBox="1"/>
          <p:nvPr/>
        </p:nvSpPr>
        <p:spPr>
          <a:xfrm>
            <a:off x="81215" y="1925419"/>
            <a:ext cx="1495735" cy="646331"/>
          </a:xfrm>
          <a:prstGeom prst="rect">
            <a:avLst/>
          </a:prstGeom>
          <a:noFill/>
        </p:spPr>
        <p:txBody>
          <a:bodyPr wrap="square" rtlCol="0">
            <a:spAutoFit/>
          </a:bodyPr>
          <a:lstStyle/>
          <a:p>
            <a:r>
              <a:rPr lang="en-US" dirty="0"/>
              <a:t>Which one is better?</a:t>
            </a:r>
          </a:p>
        </p:txBody>
      </p:sp>
      <p:sp>
        <p:nvSpPr>
          <p:cNvPr id="5" name="Slide Number Placeholder 4">
            <a:extLst>
              <a:ext uri="{FF2B5EF4-FFF2-40B4-BE49-F238E27FC236}">
                <a16:creationId xmlns:a16="http://schemas.microsoft.com/office/drawing/2014/main" id="{3AD9DBFD-D16F-48AD-AAC0-C33A38AA7E83}"/>
              </a:ext>
            </a:extLst>
          </p:cNvPr>
          <p:cNvSpPr>
            <a:spLocks noGrp="1"/>
          </p:cNvSpPr>
          <p:nvPr>
            <p:ph type="sldNum" sz="quarter" idx="12"/>
          </p:nvPr>
        </p:nvSpPr>
        <p:spPr/>
        <p:txBody>
          <a:bodyPr/>
          <a:lstStyle/>
          <a:p>
            <a:fld id="{127DDC20-79C9-9647-820E-6D40A3D210C3}" type="slidenum">
              <a:rPr lang="en-US" smtClean="0"/>
              <a:pPr/>
              <a:t>76</a:t>
            </a:fld>
            <a:endParaRPr lang="en-US"/>
          </a:p>
        </p:txBody>
      </p:sp>
    </p:spTree>
    <p:extLst>
      <p:ext uri="{BB962C8B-B14F-4D97-AF65-F5344CB8AC3E}">
        <p14:creationId xmlns:p14="http://schemas.microsoft.com/office/powerpoint/2010/main" val="208050476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71305" y="1325254"/>
            <a:ext cx="3286989" cy="830997"/>
          </a:xfrm>
          <a:prstGeom prst="rect">
            <a:avLst/>
          </a:prstGeom>
          <a:noFill/>
        </p:spPr>
        <p:txBody>
          <a:bodyPr wrap="none" lIns="82296" tIns="41148" rIns="82296" bIns="41148">
            <a:spAutoFit/>
          </a:bodyPr>
          <a:lstStyle/>
          <a:p>
            <a:pPr algn="ctr"/>
            <a:r>
              <a:rPr lang="en-US" sz="4860" b="1" spc="180" dirty="0">
                <a:ln w="29210">
                  <a:solidFill>
                    <a:schemeClr val="accent3">
                      <a:tint val="10000"/>
                    </a:schemeClr>
                  </a:solidFill>
                </a:ln>
                <a:solidFill>
                  <a:srgbClr val="008000">
                    <a:alpha val="50000"/>
                  </a:srgbClr>
                </a:solidFill>
                <a:effectLst>
                  <a:innerShdw blurRad="50800" dist="50800" dir="8100000">
                    <a:srgbClr val="7D7D7D">
                      <a:alpha val="73000"/>
                    </a:srgbClr>
                  </a:innerShdw>
                </a:effectLst>
              </a:rPr>
              <a:t>Thank you!</a:t>
            </a:r>
          </a:p>
        </p:txBody>
      </p:sp>
      <p:sp>
        <p:nvSpPr>
          <p:cNvPr id="3" name="Slide Number Placeholder 2">
            <a:extLst>
              <a:ext uri="{FF2B5EF4-FFF2-40B4-BE49-F238E27FC236}">
                <a16:creationId xmlns:a16="http://schemas.microsoft.com/office/drawing/2014/main" id="{863C9EAE-E5B7-4784-94CD-D062E17813E3}"/>
              </a:ext>
            </a:extLst>
          </p:cNvPr>
          <p:cNvSpPr>
            <a:spLocks noGrp="1"/>
          </p:cNvSpPr>
          <p:nvPr>
            <p:ph type="sldNum" sz="quarter" idx="12"/>
          </p:nvPr>
        </p:nvSpPr>
        <p:spPr/>
        <p:txBody>
          <a:bodyPr/>
          <a:lstStyle/>
          <a:p>
            <a:fld id="{127DDC20-79C9-9647-820E-6D40A3D210C3}" type="slidenum">
              <a:rPr lang="en-US" smtClean="0"/>
              <a:pPr/>
              <a:t>77</a:t>
            </a:fld>
            <a:endParaRPr lang="en-US"/>
          </a:p>
        </p:txBody>
      </p:sp>
      <p:pic>
        <p:nvPicPr>
          <p:cNvPr id="6" name="Picture 5">
            <a:extLst>
              <a:ext uri="{FF2B5EF4-FFF2-40B4-BE49-F238E27FC236}">
                <a16:creationId xmlns:a16="http://schemas.microsoft.com/office/drawing/2014/main" id="{32DE135F-68C6-4911-85BA-92ABB3F9F85C}"/>
              </a:ext>
            </a:extLst>
          </p:cNvPr>
          <p:cNvPicPr/>
          <p:nvPr/>
        </p:nvPicPr>
        <p:blipFill>
          <a:blip r:embed="rId3"/>
          <a:stretch>
            <a:fillRect/>
          </a:stretch>
        </p:blipFill>
        <p:spPr>
          <a:xfrm>
            <a:off x="152400" y="4275667"/>
            <a:ext cx="5915025" cy="758190"/>
          </a:xfrm>
          <a:prstGeom prst="rect">
            <a:avLst/>
          </a:prstGeom>
        </p:spPr>
      </p:pic>
      <p:cxnSp>
        <p:nvCxnSpPr>
          <p:cNvPr id="7" name="Straight Connector 6">
            <a:extLst>
              <a:ext uri="{FF2B5EF4-FFF2-40B4-BE49-F238E27FC236}">
                <a16:creationId xmlns:a16="http://schemas.microsoft.com/office/drawing/2014/main" id="{5ADF13BC-3A5F-4415-94E6-85FAF42998C9}"/>
              </a:ext>
            </a:extLst>
          </p:cNvPr>
          <p:cNvCxnSpPr/>
          <p:nvPr/>
        </p:nvCxnSpPr>
        <p:spPr>
          <a:xfrm>
            <a:off x="152400" y="4182575"/>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52230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10512</TotalTime>
  <Words>2504</Words>
  <Application>Microsoft Office PowerPoint</Application>
  <PresentationFormat>Custom</PresentationFormat>
  <Paragraphs>446</Paragraphs>
  <Slides>77</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77</vt:i4>
      </vt:variant>
    </vt:vector>
  </HeadingPairs>
  <TitlesOfParts>
    <vt:vector size="84" baseType="lpstr">
      <vt:lpstr>Avenir Next W01</vt:lpstr>
      <vt:lpstr>TimesLTStd-Roman</vt:lpstr>
      <vt:lpstr>Arial</vt:lpstr>
      <vt:lpstr>Calibri</vt:lpstr>
      <vt:lpstr>Courier New</vt:lpstr>
      <vt:lpstr>Wingdings</vt:lpstr>
      <vt:lpstr>Office Theme</vt:lpstr>
      <vt:lpstr>GEOG 2475: Geographic Information Systems 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Features not in the correct geographic location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RELATIVE TYPE SIZES FOR CERTAIN MAP ELEMENTS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Field Techniques</dc:title>
  <dc:creator>Yaqian He</dc:creator>
  <cp:lastModifiedBy>Yaqian He</cp:lastModifiedBy>
  <cp:revision>401</cp:revision>
  <dcterms:created xsi:type="dcterms:W3CDTF">2020-07-26T21:20:11Z</dcterms:created>
  <dcterms:modified xsi:type="dcterms:W3CDTF">2022-10-04T16:11:23Z</dcterms:modified>
</cp:coreProperties>
</file>