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4" r:id="rId3"/>
    <p:sldMasterId id="2147483696" r:id="rId4"/>
    <p:sldMasterId id="2147483709" r:id="rId5"/>
    <p:sldMasterId id="2147483722" r:id="rId6"/>
  </p:sldMasterIdLst>
  <p:notesMasterIdLst>
    <p:notesMasterId r:id="rId39"/>
  </p:notesMasterIdLst>
  <p:sldIdLst>
    <p:sldId id="914" r:id="rId7"/>
    <p:sldId id="1647" r:id="rId8"/>
    <p:sldId id="1648" r:id="rId9"/>
    <p:sldId id="257" r:id="rId10"/>
    <p:sldId id="666" r:id="rId11"/>
    <p:sldId id="667" r:id="rId12"/>
    <p:sldId id="668" r:id="rId13"/>
    <p:sldId id="669" r:id="rId14"/>
    <p:sldId id="665" r:id="rId15"/>
    <p:sldId id="259" r:id="rId16"/>
    <p:sldId id="671" r:id="rId17"/>
    <p:sldId id="672" r:id="rId18"/>
    <p:sldId id="673" r:id="rId19"/>
    <p:sldId id="1649" r:id="rId20"/>
    <p:sldId id="1650" r:id="rId21"/>
    <p:sldId id="258" r:id="rId22"/>
    <p:sldId id="260" r:id="rId23"/>
    <p:sldId id="261" r:id="rId24"/>
    <p:sldId id="263" r:id="rId25"/>
    <p:sldId id="266" r:id="rId26"/>
    <p:sldId id="267" r:id="rId27"/>
    <p:sldId id="268" r:id="rId28"/>
    <p:sldId id="660" r:id="rId29"/>
    <p:sldId id="661" r:id="rId30"/>
    <p:sldId id="662" r:id="rId31"/>
    <p:sldId id="275" r:id="rId32"/>
    <p:sldId id="276" r:id="rId33"/>
    <p:sldId id="277" r:id="rId34"/>
    <p:sldId id="278" r:id="rId35"/>
    <p:sldId id="663" r:id="rId36"/>
    <p:sldId id="664" r:id="rId37"/>
    <p:sldId id="270" r:id="rId38"/>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409" autoAdjust="0"/>
  </p:normalViewPr>
  <p:slideViewPr>
    <p:cSldViewPr snapToGrid="0" snapToObjects="1">
      <p:cViewPr>
        <p:scale>
          <a:sx n="150" d="100"/>
          <a:sy n="150" d="100"/>
        </p:scale>
        <p:origin x="906" y="108"/>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notesMaster" Target="notesMasters/notesMaster1.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ableStyles" Target="tableStyles.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10/6/2025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80193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1751402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2775100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39080734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Light pole</a:t>
            </a:r>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11571898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3113092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Before we move on, I want to provide a review of the difference between accuracy and precision. Since we often use these terms interchangeably colloquially, this can be a bit confusing. </a:t>
            </a:r>
          </a:p>
          <a:p>
            <a:endParaRPr lang="en-US" baseline="0" dirty="0"/>
          </a:p>
          <a:p>
            <a:r>
              <a:rPr lang="en-US" baseline="0" dirty="0"/>
              <a:t>Accuracy represents agreement with truth or the correct measure. Here, we are concerned with whether or not the measurements agree with the correct value on average. </a:t>
            </a:r>
          </a:p>
          <a:p>
            <a:endParaRPr lang="en-US" baseline="0" dirty="0"/>
          </a:p>
          <a:p>
            <a:r>
              <a:rPr lang="en-US" baseline="0" dirty="0"/>
              <a:t>In contrast, precision had to do with whether data agree with each other or how repeatable measurements are. This has nothing to do with agreement with the correct value. </a:t>
            </a:r>
          </a:p>
          <a:p>
            <a:endParaRPr lang="en-US" baseline="0" dirty="0"/>
          </a:p>
          <a:p>
            <a:r>
              <a:rPr lang="en-US" baseline="0" dirty="0"/>
              <a:t>The difference here is often explained with a target where the bull’s eye represents the correct answer. </a:t>
            </a:r>
          </a:p>
          <a:p>
            <a:endParaRPr lang="en-US" baseline="0" dirty="0"/>
          </a:p>
          <a:p>
            <a:r>
              <a:rPr lang="en-US" baseline="0" dirty="0"/>
              <a:t>The example on the left represents an archer that is not accurate but precise. So, he or she is missing the bull’s eye, but each arrow hits in nearly the same place. So, he or she is consistent even if the bull’s eye is missed. </a:t>
            </a:r>
          </a:p>
          <a:p>
            <a:endParaRPr lang="en-US" baseline="0" dirty="0"/>
          </a:p>
          <a:p>
            <a:r>
              <a:rPr lang="en-US" baseline="0" dirty="0"/>
              <a:t>The next example shows a pattern that is less precise but accurate. There is more spread in the pattern, or the archer is less consistent, but the average position would be near the bull’s eye. </a:t>
            </a:r>
          </a:p>
          <a:p>
            <a:endParaRPr lang="en-US" baseline="0" dirty="0"/>
          </a:p>
          <a:p>
            <a:r>
              <a:rPr lang="en-US" baseline="0" dirty="0"/>
              <a:t>The third example is neither accurate nor precise since the archer is not consistent and the average location would not be near the bull’s eye. </a:t>
            </a:r>
          </a:p>
          <a:p>
            <a:endParaRPr lang="en-US" baseline="0" dirty="0"/>
          </a:p>
          <a:p>
            <a:r>
              <a:rPr lang="en-US" baseline="0" dirty="0"/>
              <a:t>The last pattern is both precise and accurate. </a:t>
            </a:r>
          </a:p>
          <a:p>
            <a:endParaRPr lang="en-US" baseline="0" dirty="0"/>
          </a:p>
          <a:p>
            <a:r>
              <a:rPr lang="en-US" baseline="0" dirty="0"/>
              <a:t>As a second example, imagine you are collecting GPS measurements at a location. If you get roughly the same coordinates each time you take a measurement, then the measurements are precise but not necessarily accurate, as there could be some systematic error or calibration issue </a:t>
            </a:r>
            <a:r>
              <a:rPr lang="en-US" baseline="0" dirty="0" err="1"/>
              <a:t>causingthe</a:t>
            </a:r>
            <a:r>
              <a:rPr lang="en-US" baseline="0" dirty="0"/>
              <a:t> measurements on average to not be close to the correct coordinates. </a:t>
            </a:r>
          </a:p>
        </p:txBody>
      </p:sp>
      <p:sp>
        <p:nvSpPr>
          <p:cNvPr id="4" name="Slide Number Placeholder 3"/>
          <p:cNvSpPr>
            <a:spLocks noGrp="1"/>
          </p:cNvSpPr>
          <p:nvPr>
            <p:ph type="sldNum" sz="quarter" idx="10"/>
          </p:nvPr>
        </p:nvSpPr>
        <p:spPr/>
        <p:txBody>
          <a:bodyPr/>
          <a:lstStyle/>
          <a:p>
            <a:fld id="{01F2A70B-78F2-4DCF-B53B-C990D2FAFB8A}" type="slidenum">
              <a:rPr lang="en-US" smtClean="0"/>
              <a:t>9</a:t>
            </a:fld>
            <a:endParaRPr lang="en-US"/>
          </a:p>
        </p:txBody>
      </p:sp>
    </p:spTree>
    <p:extLst>
      <p:ext uri="{BB962C8B-B14F-4D97-AF65-F5344CB8AC3E}">
        <p14:creationId xmlns:p14="http://schemas.microsoft.com/office/powerpoint/2010/main" val="27532161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Positional uncertainty</a:t>
            </a:r>
            <a:r>
              <a:rPr lang="en-US" baseline="0" dirty="0"/>
              <a:t> relates to differences in the position of your data relative to the correct location. </a:t>
            </a:r>
          </a:p>
          <a:p>
            <a:endParaRPr lang="en-US" baseline="0" dirty="0"/>
          </a:p>
          <a:p>
            <a:r>
              <a:rPr lang="en-US" baseline="0" dirty="0"/>
              <a:t>You can consider uncertainty in 2D space as x and y coordinates in a geographic or projected space. </a:t>
            </a:r>
          </a:p>
          <a:p>
            <a:endParaRPr lang="en-US" baseline="0" dirty="0"/>
          </a:p>
          <a:p>
            <a:r>
              <a:rPr lang="en-US" baseline="0" dirty="0"/>
              <a:t>You can also consider the uncertainty of elevation measurements. </a:t>
            </a:r>
          </a:p>
          <a:p>
            <a:endParaRPr lang="en-US" baseline="0" dirty="0"/>
          </a:p>
          <a:p>
            <a:r>
              <a:rPr lang="en-US" baseline="0" dirty="0"/>
              <a:t>Combining these, you can consider uncertainty in 3D space. </a:t>
            </a:r>
          </a:p>
          <a:p>
            <a:endParaRPr lang="en-US" baseline="0" dirty="0"/>
          </a:p>
          <a:p>
            <a:r>
              <a:rPr lang="en-US" baseline="0" dirty="0"/>
              <a:t>As an example, the image shows some uncertainty in a vector line road dataset in comparison to the </a:t>
            </a:r>
            <a:r>
              <a:rPr lang="en-US" baseline="0" dirty="0" err="1"/>
              <a:t>orthophotography</a:t>
            </a:r>
            <a:r>
              <a:rPr lang="en-US" baseline="0" dirty="0"/>
              <a:t>. </a:t>
            </a:r>
          </a:p>
          <a:p>
            <a:endParaRPr lang="en-US" baseline="0" dirty="0"/>
          </a:p>
          <a:p>
            <a:r>
              <a:rPr lang="en-US" baseline="0" dirty="0"/>
              <a:t>Positional error is generally assessed using root mean square error or RMSE, similar to how </a:t>
            </a:r>
            <a:r>
              <a:rPr lang="en-US" baseline="0" dirty="0" err="1"/>
              <a:t>georeferencing</a:t>
            </a:r>
            <a:r>
              <a:rPr lang="en-US" baseline="0" dirty="0"/>
              <a:t> results are assessed. </a:t>
            </a:r>
            <a:br>
              <a:rPr lang="en-US" baseline="0" dirty="0"/>
            </a:br>
            <a:endParaRPr lang="en-US" baseline="0" dirty="0"/>
          </a:p>
          <a:p>
            <a:r>
              <a:rPr lang="en-US" baseline="0" dirty="0"/>
              <a:t>All spatial data have some positional uncertainty; however, this is only a concern if there is too much uncertainty to support your analysis or mapping needs.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10</a:t>
            </a:fld>
            <a:endParaRPr lang="en-US"/>
          </a:p>
        </p:txBody>
      </p:sp>
    </p:spTree>
    <p:extLst>
      <p:ext uri="{BB962C8B-B14F-4D97-AF65-F5344CB8AC3E}">
        <p14:creationId xmlns:p14="http://schemas.microsoft.com/office/powerpoint/2010/main" val="24510655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Positional uncertainty</a:t>
            </a:r>
            <a:r>
              <a:rPr lang="en-US" baseline="0" dirty="0"/>
              <a:t> relates to differences in the position of your data relative to the correct location. </a:t>
            </a:r>
          </a:p>
          <a:p>
            <a:r>
              <a:rPr lang="en-US" altLang="zh-CN" baseline="0" dirty="0"/>
              <a:t>Mean error, the bottom is better than the top, more close together</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11</a:t>
            </a:fld>
            <a:endParaRPr lang="en-US"/>
          </a:p>
        </p:txBody>
      </p:sp>
    </p:spTree>
    <p:extLst>
      <p:ext uri="{BB962C8B-B14F-4D97-AF65-F5344CB8AC3E}">
        <p14:creationId xmlns:p14="http://schemas.microsoft.com/office/powerpoint/2010/main" val="31198775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Positional uncertainty</a:t>
            </a:r>
            <a:r>
              <a:rPr lang="en-US" baseline="0" dirty="0"/>
              <a:t> relates to differences in the position of your data relative to the correct location. </a:t>
            </a:r>
          </a:p>
          <a:p>
            <a:endParaRPr lang="en-US" baseline="0" dirty="0"/>
          </a:p>
          <a:p>
            <a:r>
              <a:rPr lang="en-US" baseline="0" dirty="0"/>
              <a:t>You can consider uncertainty in 2D space as x and y coordinates in a geographic or projected space. </a:t>
            </a:r>
          </a:p>
          <a:p>
            <a:endParaRPr lang="en-US" baseline="0" dirty="0"/>
          </a:p>
          <a:p>
            <a:r>
              <a:rPr lang="en-US" baseline="0" dirty="0"/>
              <a:t>You can also consider the uncertainty of elevation measurements. </a:t>
            </a:r>
          </a:p>
          <a:p>
            <a:endParaRPr lang="en-US" baseline="0" dirty="0"/>
          </a:p>
          <a:p>
            <a:r>
              <a:rPr lang="en-US" baseline="0" dirty="0"/>
              <a:t>Combining these, you can consider uncertainty in 3D space. </a:t>
            </a:r>
          </a:p>
          <a:p>
            <a:endParaRPr lang="en-US" baseline="0" dirty="0"/>
          </a:p>
          <a:p>
            <a:r>
              <a:rPr lang="en-US" baseline="0" dirty="0"/>
              <a:t>As an example, the image shows some uncertainty in a vector line road dataset in comparison to the </a:t>
            </a:r>
            <a:r>
              <a:rPr lang="en-US" baseline="0" dirty="0" err="1"/>
              <a:t>orthophotography</a:t>
            </a:r>
            <a:r>
              <a:rPr lang="en-US" baseline="0" dirty="0"/>
              <a:t>. </a:t>
            </a:r>
          </a:p>
          <a:p>
            <a:endParaRPr lang="en-US" baseline="0" dirty="0"/>
          </a:p>
          <a:p>
            <a:r>
              <a:rPr lang="en-US" baseline="0" dirty="0"/>
              <a:t>Positional error is generally assessed using root mean square error or RMSE, similar to how </a:t>
            </a:r>
            <a:r>
              <a:rPr lang="en-US" baseline="0" dirty="0" err="1"/>
              <a:t>georeferencing</a:t>
            </a:r>
            <a:r>
              <a:rPr lang="en-US" baseline="0" dirty="0"/>
              <a:t> results are assessed. </a:t>
            </a:r>
            <a:br>
              <a:rPr lang="en-US" baseline="0" dirty="0"/>
            </a:br>
            <a:endParaRPr lang="en-US" baseline="0" dirty="0"/>
          </a:p>
          <a:p>
            <a:r>
              <a:rPr lang="en-US" baseline="0" dirty="0"/>
              <a:t>All spatial data have some positional uncertainty; however, this is only a concern if there is too much uncertainty to support your analysis or mapping needs.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12</a:t>
            </a:fld>
            <a:endParaRPr lang="en-US"/>
          </a:p>
        </p:txBody>
      </p:sp>
    </p:spTree>
    <p:extLst>
      <p:ext uri="{BB962C8B-B14F-4D97-AF65-F5344CB8AC3E}">
        <p14:creationId xmlns:p14="http://schemas.microsoft.com/office/powerpoint/2010/main" val="23844142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a:t>
            </a:r>
          </a:p>
        </p:txBody>
      </p:sp>
      <p:sp>
        <p:nvSpPr>
          <p:cNvPr id="4" name="Slide Number Placeholder 3"/>
          <p:cNvSpPr>
            <a:spLocks noGrp="1"/>
          </p:cNvSpPr>
          <p:nvPr>
            <p:ph type="sldNum" sz="quarter" idx="10"/>
          </p:nvPr>
        </p:nvSpPr>
        <p:spPr/>
        <p:txBody>
          <a:bodyPr/>
          <a:lstStyle/>
          <a:p>
            <a:fld id="{01F2A70B-78F2-4DCF-B53B-C990D2FAFB8A}" type="slidenum">
              <a:rPr lang="en-US" smtClean="0"/>
              <a:t>13</a:t>
            </a:fld>
            <a:endParaRPr lang="en-US"/>
          </a:p>
        </p:txBody>
      </p:sp>
    </p:spTree>
    <p:extLst>
      <p:ext uri="{BB962C8B-B14F-4D97-AF65-F5344CB8AC3E}">
        <p14:creationId xmlns:p14="http://schemas.microsoft.com/office/powerpoint/2010/main" val="33897078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Uncertainty is the difference</a:t>
            </a:r>
            <a:r>
              <a:rPr lang="en-US" baseline="0" dirty="0"/>
              <a:t> between the real world and its representation on a map or within your datasets. </a:t>
            </a:r>
          </a:p>
          <a:p>
            <a:endParaRPr lang="en-US" baseline="0" dirty="0"/>
          </a:p>
          <a:p>
            <a:r>
              <a:rPr lang="en-US" baseline="0" dirty="0"/>
              <a:t>We will now investigate some types or causes of uncertainty in our maps and spatial data.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16</a:t>
            </a:fld>
            <a:endParaRPr lang="en-US"/>
          </a:p>
        </p:txBody>
      </p:sp>
    </p:spTree>
    <p:extLst>
      <p:ext uri="{BB962C8B-B14F-4D97-AF65-F5344CB8AC3E}">
        <p14:creationId xmlns:p14="http://schemas.microsoft.com/office/powerpoint/2010/main" val="28746982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Errors</a:t>
            </a:r>
            <a:r>
              <a:rPr lang="en-US" baseline="0" dirty="0"/>
              <a:t> include typos, simple mistakes, human bias, misinterpretation, and misclassification. </a:t>
            </a:r>
          </a:p>
          <a:p>
            <a:endParaRPr lang="en-US" baseline="0" dirty="0"/>
          </a:p>
          <a:p>
            <a:r>
              <a:rPr lang="en-US" baseline="0" dirty="0"/>
              <a:t>Specifically, inherent errors are present in the source data and are subsequently incorporated into your data product. For example, if you are copying data from a table into your database, errors in the table will be incorporated into your new data. </a:t>
            </a:r>
          </a:p>
          <a:p>
            <a:endParaRPr lang="en-US" baseline="0" dirty="0"/>
          </a:p>
          <a:p>
            <a:r>
              <a:rPr lang="en-US" baseline="0" dirty="0"/>
              <a:t>Operational errors result from data operations and manipulations. This could result from incorrect analyses, misinterpretations of features when digitizing, or misclassifying map objects. </a:t>
            </a:r>
          </a:p>
          <a:p>
            <a:endParaRPr lang="en-US" baseline="0" dirty="0"/>
          </a:p>
          <a:p>
            <a:r>
              <a:rPr lang="en-US" baseline="0" dirty="0"/>
              <a:t>Some errors exist in all datasets. Again, this is really only a concern when the errors could impact your map or analysis. </a:t>
            </a:r>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17</a:t>
            </a:fld>
            <a:endParaRPr lang="en-US"/>
          </a:p>
        </p:txBody>
      </p:sp>
    </p:spTree>
    <p:extLst>
      <p:ext uri="{BB962C8B-B14F-4D97-AF65-F5344CB8AC3E}">
        <p14:creationId xmlns:p14="http://schemas.microsoft.com/office/powerpoint/2010/main" val="28175898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maps and spatial data layers are generalizations</a:t>
            </a:r>
            <a:r>
              <a:rPr lang="en-US" baseline="0" dirty="0"/>
              <a:t> of reality. We can’t map every blade of grass, atom, or quark. </a:t>
            </a:r>
          </a:p>
          <a:p>
            <a:endParaRPr lang="en-US" baseline="0" dirty="0"/>
          </a:p>
          <a:p>
            <a:r>
              <a:rPr lang="en-US" baseline="0" dirty="0"/>
              <a:t>The act of generalization produces uncertainty since generalizations produce differences between the real world object and its representation on the map.</a:t>
            </a:r>
          </a:p>
          <a:p>
            <a:endParaRPr lang="en-US" baseline="0" dirty="0"/>
          </a:p>
          <a:p>
            <a:r>
              <a:rPr lang="en-US" baseline="0" dirty="0"/>
              <a:t>As an example, the red line represents a county boundary digitized at 1:24,000 scale while the orange line represents the same boundary but at 1:100,000 scale. Uncertainty exists in both datasets and each boundary is not perfect. </a:t>
            </a:r>
          </a:p>
          <a:p>
            <a:endParaRPr lang="en-US" baseline="0" dirty="0"/>
          </a:p>
          <a:p>
            <a:r>
              <a:rPr lang="en-US" baseline="0" dirty="0"/>
              <a:t>Your concern should be whether the level of generalization is an issue for your specific analysis or mapping tasks. </a:t>
            </a:r>
          </a:p>
          <a:p>
            <a:endParaRPr lang="en-US" baseline="0" dirty="0"/>
          </a:p>
          <a:p>
            <a:r>
              <a:rPr lang="en-US" baseline="0" dirty="0"/>
              <a:t>You may also prefer to generalize the data further. For example, when designing a map you may find that you would like to provide a more generalized representation of the landscape that is more cartographically pleasing. </a:t>
            </a:r>
          </a:p>
        </p:txBody>
      </p:sp>
      <p:sp>
        <p:nvSpPr>
          <p:cNvPr id="4" name="Slide Number Placeholder 3"/>
          <p:cNvSpPr>
            <a:spLocks noGrp="1"/>
          </p:cNvSpPr>
          <p:nvPr>
            <p:ph type="sldNum" sz="quarter" idx="10"/>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13602072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Fuzziness</a:t>
            </a:r>
            <a:r>
              <a:rPr lang="en-US" baseline="0" dirty="0"/>
              <a:t> arises from ambiguity in boundaries or definitions. </a:t>
            </a:r>
          </a:p>
          <a:p>
            <a:endParaRPr lang="en-US" baseline="0" dirty="0"/>
          </a:p>
          <a:p>
            <a:r>
              <a:rPr lang="en-US" baseline="0" dirty="0"/>
              <a:t>Some features have definitive boundaries and definitions. For example, roads and sidewalks generally are fairly discrete features with well defined definitions. </a:t>
            </a:r>
          </a:p>
          <a:p>
            <a:endParaRPr lang="en-US" baseline="0" dirty="0"/>
          </a:p>
          <a:p>
            <a:r>
              <a:rPr lang="en-US" baseline="0" dirty="0"/>
              <a:t>In contrast, the boundaries between wetlands and uplands or between soil types or groups are often gradational. So, if you draw a feature to represent a wetland it will automatically have some inherent uncertainty since you are representing a gradational or “gray” boundary as a hard line. </a:t>
            </a:r>
          </a:p>
          <a:p>
            <a:endParaRPr lang="en-US" baseline="0" dirty="0"/>
          </a:p>
          <a:p>
            <a:r>
              <a:rPr lang="en-US" baseline="0" dirty="0"/>
              <a:t>In regards to definitions, not all map features can be clearly defined. For example, the difference between  urban areas and suburban areas may be difficult to clearly define. It may also be difficult to fully define a certain type of soil or forest. </a:t>
            </a:r>
          </a:p>
          <a:p>
            <a:endParaRPr lang="en-US" baseline="0" dirty="0"/>
          </a:p>
          <a:p>
            <a:r>
              <a:rPr lang="en-US" baseline="0" dirty="0"/>
              <a:t>Fuzziness arises from the complexity of the real world. The best we can do is create maps and features that describe the landscape that best that we can given this complexity and inherent limitations in how we map and model the landscape.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20024313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Temporal</a:t>
            </a:r>
            <a:r>
              <a:rPr lang="en-US" baseline="0" dirty="0"/>
              <a:t> uncertainty arises form data being outdated. </a:t>
            </a:r>
          </a:p>
          <a:p>
            <a:endParaRPr lang="en-US" baseline="0" dirty="0"/>
          </a:p>
          <a:p>
            <a:r>
              <a:rPr lang="en-US" baseline="0" dirty="0"/>
              <a:t>For example, in the provided example the stream network has changed between 1996 and 2007 as a result of surface mining. </a:t>
            </a:r>
          </a:p>
          <a:p>
            <a:endParaRPr lang="en-US" baseline="0" dirty="0"/>
          </a:p>
          <a:p>
            <a:r>
              <a:rPr lang="en-US" baseline="0" dirty="0"/>
              <a:t>For certain tasks, having access to updated data may not be important. However, timeliness may be necessary for certain tasks.</a:t>
            </a:r>
          </a:p>
          <a:p>
            <a:endParaRPr lang="en-US" baseline="0" dirty="0"/>
          </a:p>
          <a:p>
            <a:r>
              <a:rPr lang="en-US" baseline="0" dirty="0"/>
              <a:t>Further, some features may change fairly regularly, such as development or demographics, whereas other features may change slowly, such as bedrock geology.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20</a:t>
            </a:fld>
            <a:endParaRPr lang="en-US"/>
          </a:p>
        </p:txBody>
      </p:sp>
    </p:spTree>
    <p:extLst>
      <p:ext uri="{BB962C8B-B14F-4D97-AF65-F5344CB8AC3E}">
        <p14:creationId xmlns:p14="http://schemas.microsoft.com/office/powerpoint/2010/main" val="22043719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can’t measure everything</a:t>
            </a:r>
            <a:r>
              <a:rPr lang="en-US" baseline="0" dirty="0"/>
              <a:t> everywhere. </a:t>
            </a:r>
          </a:p>
          <a:p>
            <a:endParaRPr lang="en-US" baseline="0" dirty="0"/>
          </a:p>
          <a:p>
            <a:r>
              <a:rPr lang="en-US" baseline="0" dirty="0"/>
              <a:t>For example, it is common to collect measurements at point locations, such as collecting climate or weather data at weather stations. </a:t>
            </a:r>
          </a:p>
          <a:p>
            <a:endParaRPr lang="en-US" baseline="0" dirty="0"/>
          </a:p>
          <a:p>
            <a:r>
              <a:rPr lang="en-US" baseline="0" dirty="0"/>
              <a:t>If you would like to estimate values at locations that were not sampled, you will need to apply interpolation or extrapolation as a means to obtain a continuous surface from your discrete measurements. </a:t>
            </a:r>
          </a:p>
          <a:p>
            <a:endParaRPr lang="en-US" baseline="0" dirty="0"/>
          </a:p>
          <a:p>
            <a:r>
              <a:rPr lang="en-US" baseline="0" dirty="0"/>
              <a:t>Since these locations were not actually measured but estimated from nearby sample locations, there will be some error or uncertainty in the product. </a:t>
            </a:r>
          </a:p>
          <a:p>
            <a:endParaRPr lang="en-US" baseline="0" dirty="0"/>
          </a:p>
          <a:p>
            <a:r>
              <a:rPr lang="en-US" baseline="0" dirty="0"/>
              <a:t>Extrapolation is generally considered to be more uncertain than interpolation. </a:t>
            </a:r>
          </a:p>
          <a:p>
            <a:endParaRPr lang="en-US" baseline="0" dirty="0"/>
          </a:p>
          <a:p>
            <a:r>
              <a:rPr lang="en-US" baseline="0" dirty="0"/>
              <a:t>As an example, if you are trying to predict a variable y using a variable x with a line or linear relationship, estimates within the bounds of your sample data will likely be less uncertain in comparison to estimates outside of the bounds of your data. Maybe outside of the bounds the relationship is no longer linear, begins to increase exponentially, or levels off. Without data points or samples, this would be hard to determine. </a:t>
            </a:r>
          </a:p>
          <a:p>
            <a:endParaRPr lang="en-US" baseline="0" dirty="0"/>
          </a:p>
          <a:p>
            <a:r>
              <a:rPr lang="en-US" baseline="0" dirty="0"/>
              <a:t>In a spatial context, extrapolation would be making an estimate outside of the geographic extent of your data, as represented by the yellow star. In contrast, interpolation would be making an estimate within the geographic bounds of your data, as represented by the orange star. </a:t>
            </a:r>
          </a:p>
        </p:txBody>
      </p:sp>
      <p:sp>
        <p:nvSpPr>
          <p:cNvPr id="4" name="Slide Number Placeholder 3"/>
          <p:cNvSpPr>
            <a:spLocks noGrp="1"/>
          </p:cNvSpPr>
          <p:nvPr>
            <p:ph type="sldNum" sz="quarter" idx="10"/>
          </p:nvPr>
        </p:nvSpPr>
        <p:spPr/>
        <p:txBody>
          <a:bodyPr/>
          <a:lstStyle/>
          <a:p>
            <a:fld id="{01F2A70B-78F2-4DCF-B53B-C990D2FAFB8A}" type="slidenum">
              <a:rPr lang="en-US" smtClean="0"/>
              <a:t>21</a:t>
            </a:fld>
            <a:endParaRPr lang="en-US"/>
          </a:p>
        </p:txBody>
      </p:sp>
    </p:spTree>
    <p:extLst>
      <p:ext uri="{BB962C8B-B14F-4D97-AF65-F5344CB8AC3E}">
        <p14:creationId xmlns:p14="http://schemas.microsoft.com/office/powerpoint/2010/main" val="34768644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GIS professionals and analysts, there</a:t>
            </a:r>
            <a:r>
              <a:rPr lang="en-US" baseline="0" dirty="0"/>
              <a:t> are many methods available to minimize the uncertainty in our maps and data. </a:t>
            </a:r>
          </a:p>
          <a:p>
            <a:endParaRPr lang="en-US" baseline="0" dirty="0"/>
          </a:p>
          <a:p>
            <a:r>
              <a:rPr lang="en-US" baseline="0" dirty="0"/>
              <a:t>First, we can use quality control procedures, such as spot checking the results or having the results reviewed by multiple analysts. </a:t>
            </a:r>
          </a:p>
          <a:p>
            <a:endParaRPr lang="en-US" baseline="0" dirty="0"/>
          </a:p>
          <a:p>
            <a:r>
              <a:rPr lang="en-US" baseline="0" dirty="0"/>
              <a:t>If standard procedures or protocols are well defined for a specific task, we should follow these protocols. For example, standard protocols could be followed to </a:t>
            </a:r>
            <a:r>
              <a:rPr lang="en-US" baseline="0" dirty="0" err="1"/>
              <a:t>georeference</a:t>
            </a:r>
            <a:r>
              <a:rPr lang="en-US" baseline="0" dirty="0"/>
              <a:t> an image. </a:t>
            </a:r>
          </a:p>
          <a:p>
            <a:endParaRPr lang="en-US" baseline="0" dirty="0"/>
          </a:p>
          <a:p>
            <a:r>
              <a:rPr lang="en-US" baseline="0" dirty="0"/>
              <a:t>We should clearly define the scale or scale range at which the data were created and the scale or scale range at which they should be used. Data collected at 1:250,000 scale will often look fairly inaccurate when viewed at 1:10,000 scale. Or, these data may not be appropriate for an analysis being performed at 1:10,000 scale. Relating to this, it is important to define a minimal mapping unit, or MMU, for an analysis. This can help inform the appropriate use and scale of analysis to which the data can be applied. </a:t>
            </a:r>
          </a:p>
          <a:p>
            <a:endParaRPr lang="en-US" baseline="0" dirty="0"/>
          </a:p>
          <a:p>
            <a:r>
              <a:rPr lang="en-US" baseline="0" dirty="0"/>
              <a:t>You should double-check results and products. It is a good idea to have others review our work. </a:t>
            </a:r>
          </a:p>
          <a:p>
            <a:endParaRPr lang="en-US" baseline="0" dirty="0"/>
          </a:p>
          <a:p>
            <a:r>
              <a:rPr lang="en-US" baseline="0" dirty="0"/>
              <a:t>Metadata and method documentation should be provided that clearly define the data and how it was produced. Remember to create README files. </a:t>
            </a:r>
          </a:p>
          <a:p>
            <a:endParaRPr lang="en-US" baseline="0" dirty="0"/>
          </a:p>
          <a:p>
            <a:r>
              <a:rPr lang="en-US" baseline="0" dirty="0"/>
              <a:t>Definitions should be clearly defined when possible. </a:t>
            </a:r>
          </a:p>
          <a:p>
            <a:endParaRPr lang="en-US" baseline="0" dirty="0"/>
          </a:p>
          <a:p>
            <a:r>
              <a:rPr lang="en-US" baseline="0" dirty="0"/>
              <a:t>If appropriate and feasible, we should attempt to evaluate and measure the uncertainty or accuracy of our data. </a:t>
            </a:r>
          </a:p>
        </p:txBody>
      </p:sp>
      <p:sp>
        <p:nvSpPr>
          <p:cNvPr id="4" name="Slide Number Placeholder 3"/>
          <p:cNvSpPr>
            <a:spLocks noGrp="1"/>
          </p:cNvSpPr>
          <p:nvPr>
            <p:ph type="sldNum" sz="quarter" idx="10"/>
          </p:nvPr>
        </p:nvSpPr>
        <p:spPr/>
        <p:txBody>
          <a:bodyPr/>
          <a:lstStyle/>
          <a:p>
            <a:fld id="{01F2A70B-78F2-4DCF-B53B-C990D2FAFB8A}" type="slidenum">
              <a:rPr lang="en-US" smtClean="0"/>
              <a:t>22</a:t>
            </a:fld>
            <a:endParaRPr lang="en-US"/>
          </a:p>
        </p:txBody>
      </p:sp>
    </p:spTree>
    <p:extLst>
      <p:ext uri="{BB962C8B-B14F-4D97-AF65-F5344CB8AC3E}">
        <p14:creationId xmlns:p14="http://schemas.microsoft.com/office/powerpoint/2010/main" val="1979678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Metadata are</a:t>
            </a:r>
            <a:r>
              <a:rPr lang="en-US" baseline="0" dirty="0"/>
              <a:t> data about your data. </a:t>
            </a:r>
          </a:p>
          <a:p>
            <a:endParaRPr lang="en-US" baseline="0" dirty="0"/>
          </a:p>
          <a:p>
            <a:r>
              <a:rPr lang="en-US" baseline="0" dirty="0"/>
              <a:t>They commonly include a description of the basic characteristics of the data, content, source, lineage, methods, developer, coordinate system, extent, structure, spatial accuracy, attributes, and responsible organization. </a:t>
            </a:r>
          </a:p>
          <a:p>
            <a:endParaRPr lang="en-US" baseline="0" dirty="0"/>
          </a:p>
          <a:p>
            <a:r>
              <a:rPr lang="en-US" baseline="0" dirty="0"/>
              <a:t>Metadata can help the end user determine if the data are suitable for and accurate enough for an intended use or task and whether or not they cover the area of interest and provide the desired information. </a:t>
            </a:r>
          </a:p>
          <a:p>
            <a:endParaRPr lang="en-US" baseline="0" dirty="0"/>
          </a:p>
          <a:p>
            <a:r>
              <a:rPr lang="en-US" baseline="0" dirty="0"/>
              <a:t>It is generally considered good practice to create metadata.</a:t>
            </a:r>
          </a:p>
          <a:p>
            <a:endParaRPr lang="en-US" baseline="0" dirty="0"/>
          </a:p>
          <a:p>
            <a:r>
              <a:rPr lang="en-US" baseline="0" dirty="0"/>
              <a:t>Some projects may require the creation of metadata, such as those funded by the federal government. </a:t>
            </a:r>
          </a:p>
        </p:txBody>
      </p:sp>
      <p:sp>
        <p:nvSpPr>
          <p:cNvPr id="4" name="Slide Number Placeholder 3"/>
          <p:cNvSpPr>
            <a:spLocks noGrp="1"/>
          </p:cNvSpPr>
          <p:nvPr>
            <p:ph type="sldNum" sz="quarter" idx="10"/>
          </p:nvPr>
        </p:nvSpPr>
        <p:spPr/>
        <p:txBody>
          <a:bodyPr/>
          <a:lstStyle/>
          <a:p>
            <a:fld id="{01F2A70B-78F2-4DCF-B53B-C990D2FAFB8A}" type="slidenum">
              <a:rPr lang="en-US" smtClean="0"/>
              <a:t>23</a:t>
            </a:fld>
            <a:endParaRPr lang="en-US"/>
          </a:p>
        </p:txBody>
      </p:sp>
    </p:spTree>
    <p:extLst>
      <p:ext uri="{BB962C8B-B14F-4D97-AF65-F5344CB8AC3E}">
        <p14:creationId xmlns:p14="http://schemas.microsoft.com/office/powerpoint/2010/main" val="35047083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Metadata</a:t>
            </a:r>
            <a:r>
              <a:rPr lang="en-US" baseline="0" dirty="0"/>
              <a:t> are important because they make your data more interpretable by the user. </a:t>
            </a:r>
          </a:p>
          <a:p>
            <a:endParaRPr lang="en-US" baseline="0" dirty="0"/>
          </a:p>
          <a:p>
            <a:r>
              <a:rPr lang="en-US" baseline="0" dirty="0"/>
              <a:t>They allow users to find out more about the data and minimize assumptions and guesses about the data characteristics and quality. </a:t>
            </a:r>
          </a:p>
          <a:p>
            <a:endParaRPr lang="en-US" baseline="0" dirty="0"/>
          </a:p>
          <a:p>
            <a:r>
              <a:rPr lang="en-US" baseline="0" dirty="0"/>
              <a:t>Most importantly, in my opinion, is that they ensure the long-term viability of your data. Someone in the distant future may want to use your data as part of the historic record. Without metadata, the data may not be useable or interpretable.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24</a:t>
            </a:fld>
            <a:endParaRPr lang="en-US"/>
          </a:p>
        </p:txBody>
      </p:sp>
    </p:spTree>
    <p:extLst>
      <p:ext uri="{BB962C8B-B14F-4D97-AF65-F5344CB8AC3E}">
        <p14:creationId xmlns:p14="http://schemas.microsoft.com/office/powerpoint/2010/main" val="12051666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Federal</a:t>
            </a:r>
            <a:r>
              <a:rPr lang="en-US" baseline="0" dirty="0"/>
              <a:t> Geographic Data Committee of the US federal government has established standards for geospatial metadata as the Content Standard for Digital Geospatial Metadata. </a:t>
            </a:r>
          </a:p>
          <a:p>
            <a:endParaRPr lang="en-US" baseline="0" dirty="0"/>
          </a:p>
          <a:p>
            <a:r>
              <a:rPr lang="en-US" baseline="0" dirty="0"/>
              <a:t>This slide provides a list of the attributes that are required or commonly included. </a:t>
            </a:r>
          </a:p>
          <a:p>
            <a:endParaRPr lang="en-US" baseline="0" dirty="0"/>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25</a:t>
            </a:fld>
            <a:endParaRPr lang="en-US"/>
          </a:p>
        </p:txBody>
      </p:sp>
    </p:spTree>
    <p:extLst>
      <p:ext uri="{BB962C8B-B14F-4D97-AF65-F5344CB8AC3E}">
        <p14:creationId xmlns:p14="http://schemas.microsoft.com/office/powerpoint/2010/main" val="34328367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link to the FGDC website. </a:t>
            </a:r>
          </a:p>
          <a:p>
            <a:endParaRPr lang="en-US" dirty="0"/>
          </a:p>
          <a:p>
            <a:r>
              <a:rPr lang="en-US" dirty="0"/>
              <a:t>As</a:t>
            </a:r>
            <a:r>
              <a:rPr lang="en-US" baseline="0" dirty="0"/>
              <a:t> standards may change, this is a good site to reference.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26</a:t>
            </a:fld>
            <a:endParaRPr lang="en-US"/>
          </a:p>
        </p:txBody>
      </p:sp>
    </p:spTree>
    <p:extLst>
      <p:ext uri="{BB962C8B-B14F-4D97-AF65-F5344CB8AC3E}">
        <p14:creationId xmlns:p14="http://schemas.microsoft.com/office/powerpoint/2010/main" val="10085628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International geospatial</a:t>
            </a:r>
            <a:r>
              <a:rPr lang="en-US" baseline="0" dirty="0"/>
              <a:t> data standards have been established by the ISO 19115 International Standards for Metadata. </a:t>
            </a:r>
          </a:p>
          <a:p>
            <a:endParaRPr lang="en-US" baseline="0" dirty="0"/>
          </a:p>
          <a:p>
            <a:r>
              <a:rPr lang="en-US" baseline="0" dirty="0"/>
              <a:t>This standard defines some mandatory and conditional elements as highlighted here. </a:t>
            </a:r>
          </a:p>
        </p:txBody>
      </p:sp>
      <p:sp>
        <p:nvSpPr>
          <p:cNvPr id="4" name="Slide Number Placeholder 3"/>
          <p:cNvSpPr>
            <a:spLocks noGrp="1"/>
          </p:cNvSpPr>
          <p:nvPr>
            <p:ph type="sldNum" sz="quarter" idx="10"/>
          </p:nvPr>
        </p:nvSpPr>
        <p:spPr/>
        <p:txBody>
          <a:bodyPr/>
          <a:lstStyle/>
          <a:p>
            <a:fld id="{01F2A70B-78F2-4DCF-B53B-C990D2FAFB8A}" type="slidenum">
              <a:rPr lang="en-US" smtClean="0"/>
              <a:t>27</a:t>
            </a:fld>
            <a:endParaRPr lang="en-US"/>
          </a:p>
        </p:txBody>
      </p:sp>
    </p:spTree>
    <p:extLst>
      <p:ext uri="{BB962C8B-B14F-4D97-AF65-F5344CB8AC3E}">
        <p14:creationId xmlns:p14="http://schemas.microsoft.com/office/powerpoint/2010/main" val="25519014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link to the</a:t>
            </a:r>
            <a:r>
              <a:rPr lang="en-US" baseline="0" dirty="0"/>
              <a:t> ISO 9115 standards. </a:t>
            </a:r>
          </a:p>
          <a:p>
            <a:endParaRPr lang="en-US" dirty="0"/>
          </a:p>
          <a:p>
            <a:r>
              <a:rPr lang="en-US" dirty="0"/>
              <a:t>As</a:t>
            </a:r>
            <a:r>
              <a:rPr lang="en-US" baseline="0" dirty="0"/>
              <a:t> standards may change, this is a good site to reference.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28</a:t>
            </a:fld>
            <a:endParaRPr lang="en-US"/>
          </a:p>
        </p:txBody>
      </p:sp>
    </p:spTree>
    <p:extLst>
      <p:ext uri="{BB962C8B-B14F-4D97-AF65-F5344CB8AC3E}">
        <p14:creationId xmlns:p14="http://schemas.microsoft.com/office/powerpoint/2010/main" val="12684384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data formats can</a:t>
            </a:r>
            <a:r>
              <a:rPr lang="en-US" baseline="0" dirty="0"/>
              <a:t> be used to store metadata. </a:t>
            </a:r>
          </a:p>
          <a:p>
            <a:endParaRPr lang="en-US" baseline="0" dirty="0"/>
          </a:p>
          <a:p>
            <a:r>
              <a:rPr lang="en-US" baseline="0" dirty="0"/>
              <a:t>One option is </a:t>
            </a:r>
            <a:r>
              <a:rPr lang="en-US" baseline="0" dirty="0" err="1"/>
              <a:t>eXtensible</a:t>
            </a:r>
            <a:r>
              <a:rPr lang="en-US" baseline="0" dirty="0"/>
              <a:t> Markup Language or XML. </a:t>
            </a:r>
          </a:p>
          <a:p>
            <a:endParaRPr lang="en-US" baseline="0" dirty="0"/>
          </a:p>
          <a:p>
            <a:r>
              <a:rPr lang="en-US" baseline="0" dirty="0"/>
              <a:t>This format is similar to HTML as it is a tagged text format. </a:t>
            </a:r>
          </a:p>
          <a:p>
            <a:endParaRPr lang="en-US" baseline="0" dirty="0"/>
          </a:p>
          <a:p>
            <a:r>
              <a:rPr lang="en-US" baseline="0" dirty="0"/>
              <a:t>XML files can be opened in any web browser. </a:t>
            </a:r>
          </a:p>
        </p:txBody>
      </p:sp>
      <p:sp>
        <p:nvSpPr>
          <p:cNvPr id="4" name="Slide Number Placeholder 3"/>
          <p:cNvSpPr>
            <a:spLocks noGrp="1"/>
          </p:cNvSpPr>
          <p:nvPr>
            <p:ph type="sldNum" sz="quarter" idx="10"/>
          </p:nvPr>
        </p:nvSpPr>
        <p:spPr/>
        <p:txBody>
          <a:bodyPr/>
          <a:lstStyle/>
          <a:p>
            <a:fld id="{01F2A70B-78F2-4DCF-B53B-C990D2FAFB8A}" type="slidenum">
              <a:rPr lang="en-US" smtClean="0"/>
              <a:t>29</a:t>
            </a:fld>
            <a:endParaRPr lang="en-US"/>
          </a:p>
        </p:txBody>
      </p:sp>
    </p:spTree>
    <p:extLst>
      <p:ext uri="{BB962C8B-B14F-4D97-AF65-F5344CB8AC3E}">
        <p14:creationId xmlns:p14="http://schemas.microsoft.com/office/powerpoint/2010/main" val="28794246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a:t>
            </a:r>
            <a:r>
              <a:rPr lang="en-US" baseline="0" dirty="0"/>
              <a:t> ESRI software, metadata are commonly created in </a:t>
            </a:r>
            <a:r>
              <a:rPr lang="en-US" baseline="0" dirty="0" err="1"/>
              <a:t>ArcCatalog</a:t>
            </a:r>
            <a:r>
              <a:rPr lang="en-US" baseline="0" dirty="0"/>
              <a:t> or directly in ArcGIS Pro. </a:t>
            </a:r>
          </a:p>
          <a:p>
            <a:endParaRPr lang="en-US" baseline="0" dirty="0"/>
          </a:p>
          <a:p>
            <a:r>
              <a:rPr lang="en-US" baseline="0" dirty="0"/>
              <a:t>You can define what standard you are using and the software will guide you through entering required and optional elements.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30</a:t>
            </a:fld>
            <a:endParaRPr lang="en-US"/>
          </a:p>
        </p:txBody>
      </p:sp>
    </p:spTree>
    <p:extLst>
      <p:ext uri="{BB962C8B-B14F-4D97-AF65-F5344CB8AC3E}">
        <p14:creationId xmlns:p14="http://schemas.microsoft.com/office/powerpoint/2010/main" val="30336934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Metadata</a:t>
            </a:r>
            <a:r>
              <a:rPr lang="en-US" baseline="0" dirty="0"/>
              <a:t> can generally be viewed in </a:t>
            </a:r>
            <a:r>
              <a:rPr lang="en-US" baseline="0" dirty="0" err="1"/>
              <a:t>ArcCatalog</a:t>
            </a:r>
            <a:r>
              <a:rPr lang="en-US" baseline="0" dirty="0"/>
              <a:t>, ArcMap, ArcGIS Pro, or using a web browser.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31</a:t>
            </a:fld>
            <a:endParaRPr lang="en-US"/>
          </a:p>
        </p:txBody>
      </p:sp>
    </p:spTree>
    <p:extLst>
      <p:ext uri="{BB962C8B-B14F-4D97-AF65-F5344CB8AC3E}">
        <p14:creationId xmlns:p14="http://schemas.microsoft.com/office/powerpoint/2010/main" val="32624753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32</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458F2AB7-D7C2-4FC0-9B77-409FD6AFF150}" type="datetime1">
              <a:rPr lang="en-US" smtClean="0"/>
              <a:t>10/6/2025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882835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C0E9D82E-A9F0-4647-88F9-E986A304FBAF}" type="datetime1">
              <a:rPr lang="en-US" smtClean="0"/>
              <a:t>10/6/2025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69819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9DD0E878-F76E-4934-9A19-05DE793D2A8C}" type="datetime1">
              <a:rPr lang="en-US" smtClean="0"/>
              <a:t>10/6/2025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69462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6B1B743-59DB-43C7-B951-5342EB9E3BBF}" type="datetime1">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86054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DC93205-BFBB-4436-B6C0-0E1D677B6AC1}" type="datetime1">
              <a:rPr lang="en-US" smtClean="0"/>
              <a:t>10/6/2025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85980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DC5A297-83F7-4A51-9FEC-585D7ED0CBAA}" type="datetime1">
              <a:rPr lang="en-US" smtClean="0"/>
              <a:t>10/6/2025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687998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3EC919-DCEA-4797-B84E-1B0E268E8BA9}" type="datetime1">
              <a:rPr lang="en-US" smtClean="0"/>
              <a:t>10/6/2025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99127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24C8802B-8D22-4029-8D00-88476FD1627A}" type="datetime1">
              <a:rPr lang="en-US" smtClean="0"/>
              <a:t>10/6/2025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07651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163145CA-56E1-42A8-A67B-556CB7EDF0AA}" type="datetime1">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350373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7FD487-65F4-49B5-952B-819B559FF98A}" type="datetime1">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10512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2DC45528-D696-4A61-BD89-093665C9EB8C}" type="datetime1">
              <a:rPr lang="en-US" smtClean="0"/>
              <a:t>10/6/2025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90603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06A0FD2F-556E-43A6-BD1A-AE05D71D5ACE}" type="datetime1">
              <a:rPr lang="en-US" smtClean="0"/>
              <a:t>10/6/2025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841926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C4CA2D96-DD5E-4EE6-BA39-19B5C56AF1F2}" type="datetime1">
              <a:rPr lang="en-US" smtClean="0"/>
              <a:t>10/6/2025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1777014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2C2D4BC3-0B93-4E0B-AE53-3E432262C0E4}" type="datetime1">
              <a:rPr lang="en-US" smtClean="0"/>
              <a:t>10/6/2025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95636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A5CEA080-6A29-4A4D-90B1-4C73660CABD5}" type="datetime1">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9676803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4EFF1D62-0785-460A-9888-5F5908AD45F7}" type="datetime1">
              <a:rPr lang="en-US" smtClean="0"/>
              <a:t>10/6/2025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2737718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603F5A6-4790-4338-AC59-416730A16F3C}" type="datetime1">
              <a:rPr lang="en-US" smtClean="0"/>
              <a:t>10/6/2025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028653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F331C8-E8D8-438B-B699-9ACE625F3A09}" type="datetime1">
              <a:rPr lang="en-US" smtClean="0"/>
              <a:t>10/6/2025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2458127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610C12D3-F429-42CB-9467-4C3AFEEA173C}" type="datetime1">
              <a:rPr lang="en-US" smtClean="0"/>
              <a:t>10/6/2025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744538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283F426E-E29E-4D2E-B32D-412D98F7FC2F}" type="datetime1">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748035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A0F15864-78C5-4237-8A12-0D1FD4E5F0BD}" type="datetime1">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043666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AB9BBA17-EAD5-43A8-9481-F99B1E8564DB}" type="datetime1">
              <a:rPr lang="en-US" smtClean="0"/>
              <a:t>10/6/2025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536362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C6B0FEA4-C6CA-4262-94C7-989766AA3A47}" type="datetime1">
              <a:rPr lang="en-US" smtClean="0"/>
              <a:t>10/6/2025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72506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F65A5F7-BE7B-4360-B821-FCDB8E9197AC}" type="datetime1">
              <a:rPr lang="en-US" smtClean="0"/>
              <a:t>10/6/2025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618780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145D492-0F60-495A-BAAC-3C877C1D64A2}" type="datetime1">
              <a:rPr lang="en-US" smtClean="0"/>
              <a:t>10/6/2025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474621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4A322FED-C97B-4E3C-B05B-1278829CCA0F}" type="datetime1">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9438363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1BBF91E7-DD27-45EE-9FAC-A58839C2E3FB}" type="datetime1">
              <a:rPr lang="en-US" smtClean="0"/>
              <a:t>10/6/2025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146926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70DB943-D34E-498D-BB5B-1BC0D01A4C3C}" type="datetime1">
              <a:rPr lang="en-US" smtClean="0"/>
              <a:t>10/6/2025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309714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88AC7-A362-47DE-B037-3A7E785BA73D}" type="datetime1">
              <a:rPr lang="en-US" smtClean="0"/>
              <a:t>10/6/2025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667731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1E09BAED-B7FC-4220-8037-60663F890984}" type="datetime1">
              <a:rPr lang="en-US" smtClean="0"/>
              <a:t>10/6/2025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727578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BB3C0B96-D43B-410F-A514-3967CACDF6C4}" type="datetime1">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939760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63DFB46-027F-4778-8182-714012A6E051}" type="datetime1">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101477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770FD05A-9631-4BEE-9AA4-5575ADA850E9}" type="datetime1">
              <a:rPr lang="en-US" smtClean="0"/>
              <a:t>10/6/2025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78759619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10/6/2025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5546613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10/6/2025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546254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10/6/2025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597705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7564087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10/6/2025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5393849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10/6/2025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043958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10/6/2025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5757533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10/6/2025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0109907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10/6/2025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2561882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10/6/2025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3548224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10/6/2025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308661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30600006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10/6/2025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9662402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10/6/2025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1103404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10/6/2025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373531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4096622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10/6/2025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7624550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10/6/2025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286763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10/6/2025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9130283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10/6/2025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03872508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10/6/2025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9215119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10/6/2025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0869237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10/6/2025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0832803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39546658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10/6/2025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0158077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10/6/2025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3672750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10/6/2025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428918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3571341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10/6/2025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8481130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10/6/2025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09639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10/6/2025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3957606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10/6/2025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4243925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10/6/2025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9581121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10/6/2025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94691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10/6/2025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18130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heme" Target="../theme/theme4.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5.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theme" Target="../theme/theme6.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18E6E4F-7E83-4AED-9DA1-B735CD4C0E03}" type="datetime1">
              <a:rPr lang="en-US" smtClean="0"/>
              <a:t>10/6/2025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3948488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E7733A4-5D18-4D09-8F94-45F71EE3C7C2}" type="datetime1">
              <a:rPr lang="en-US" smtClean="0"/>
              <a:t>10/6/2025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96770143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8234BEC2-5A9D-42E1-9C16-1E9F257755B7}" type="datetime1">
              <a:rPr lang="en-US" smtClean="0"/>
              <a:t>10/6/2025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72736503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10/6/2025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64051674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10/6/2025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665451396"/>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10/6/2025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257306085"/>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TI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5.TIF"/></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fgdc.gov/metadata/geospatial-metadata-standards"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hyperlink" Target="https://www.iso.org/standard/26020.html"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565060" y="785709"/>
            <a:ext cx="5702390" cy="1831185"/>
          </a:xfrm>
        </p:spPr>
        <p:txBody>
          <a:bodyPr>
            <a:normAutofit fontScale="90000"/>
          </a:bodyPr>
          <a:lstStyle/>
          <a:p>
            <a:r>
              <a:rPr lang="en-US" altLang="zh-CN" sz="2800" dirty="0"/>
              <a:t>Lecture 07 </a:t>
            </a:r>
            <a:br>
              <a:rPr lang="en-US" altLang="zh-CN" sz="2800" dirty="0"/>
            </a:br>
            <a:r>
              <a:rPr lang="en-US" sz="2800" dirty="0"/>
              <a:t>Data Accuracy </a:t>
            </a:r>
            <a:br>
              <a:rPr lang="en-US" sz="2800" dirty="0"/>
            </a:br>
            <a:r>
              <a:rPr lang="en-US" sz="2800" dirty="0"/>
              <a:t>and Precision</a:t>
            </a:r>
            <a:br>
              <a:rPr lang="en-US" altLang="zh-CN" sz="2800" dirty="0"/>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565060" y="3021937"/>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7.1 </a:t>
            </a:r>
            <a:br>
              <a:rPr lang="en-US" sz="4050" dirty="0">
                <a:solidFill>
                  <a:srgbClr val="FFFFFF"/>
                </a:solidFill>
              </a:rPr>
            </a:br>
            <a:r>
              <a:rPr lang="en-US" sz="4050" dirty="0">
                <a:solidFill>
                  <a:srgbClr val="FFFFFF"/>
                </a:solidFill>
              </a:rPr>
              <a:t>MAP ELEMENTS</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210495-9183-F91B-8853-928BA9794011}"/>
              </a:ext>
            </a:extLst>
          </p:cNvPr>
          <p:cNvSpPr>
            <a:spLocks noGrp="1"/>
          </p:cNvSpPr>
          <p:nvPr>
            <p:ph idx="1"/>
          </p:nvPr>
        </p:nvSpPr>
        <p:spPr>
          <a:xfrm>
            <a:off x="2621155" y="428625"/>
            <a:ext cx="3195445" cy="4197350"/>
          </a:xfrm>
        </p:spPr>
        <p:txBody>
          <a:bodyPr>
            <a:noAutofit/>
          </a:bodyPr>
          <a:lstStyle/>
          <a:p>
            <a:pPr>
              <a:buFont typeface="Courier New" panose="02070309020205020404" pitchFamily="49" charset="0"/>
              <a:buChar char="o"/>
            </a:pPr>
            <a:r>
              <a:rPr lang="en-US" altLang="en-US" sz="1600" dirty="0"/>
              <a:t>Data accuracy and precision </a:t>
            </a:r>
          </a:p>
          <a:p>
            <a:pPr lvl="1">
              <a:buFont typeface="Wingdings" panose="05000000000000000000" pitchFamily="2" charset="2"/>
              <a:buChar char="ü"/>
            </a:pPr>
            <a:r>
              <a:rPr lang="en-US" altLang="en-US" sz="1600" dirty="0"/>
              <a:t>Accuracy types</a:t>
            </a:r>
          </a:p>
          <a:p>
            <a:pPr lvl="1">
              <a:buFont typeface="Wingdings" panose="05000000000000000000" pitchFamily="2" charset="2"/>
              <a:buChar char="ü"/>
            </a:pPr>
            <a:r>
              <a:rPr lang="en-US" sz="1600" dirty="0"/>
              <a:t>Precision</a:t>
            </a:r>
          </a:p>
          <a:p>
            <a:pPr lvl="1">
              <a:buFont typeface="Wingdings" panose="05000000000000000000" pitchFamily="2" charset="2"/>
              <a:buChar char="ü"/>
            </a:pPr>
            <a:r>
              <a:rPr lang="en-US" sz="1600" dirty="0"/>
              <a:t>Accuracy measurement</a:t>
            </a:r>
          </a:p>
          <a:p>
            <a:pPr lvl="1">
              <a:buFont typeface="Wingdings" panose="05000000000000000000" pitchFamily="2" charset="2"/>
              <a:buChar char="ü"/>
            </a:pPr>
            <a:r>
              <a:rPr lang="en-US" sz="1600" dirty="0"/>
              <a:t>Uncertainty</a:t>
            </a:r>
          </a:p>
          <a:p>
            <a:pPr lvl="2">
              <a:buFont typeface="Wingdings" panose="05000000000000000000" pitchFamily="2" charset="2"/>
              <a:buChar char="Ø"/>
            </a:pPr>
            <a:r>
              <a:rPr lang="en-US" sz="1600" dirty="0"/>
              <a:t>Error</a:t>
            </a:r>
          </a:p>
          <a:p>
            <a:pPr lvl="2">
              <a:buFont typeface="Wingdings" panose="05000000000000000000" pitchFamily="2" charset="2"/>
              <a:buChar char="Ø"/>
            </a:pPr>
            <a:r>
              <a:rPr lang="en-US" sz="1600" dirty="0"/>
              <a:t>Scale and generalization</a:t>
            </a:r>
          </a:p>
          <a:p>
            <a:pPr lvl="2">
              <a:buFont typeface="Wingdings" panose="05000000000000000000" pitchFamily="2" charset="2"/>
              <a:buChar char="Ø"/>
            </a:pPr>
            <a:r>
              <a:rPr lang="en-US" sz="1600" dirty="0"/>
              <a:t>Fuzziness and definitions</a:t>
            </a:r>
          </a:p>
          <a:p>
            <a:pPr lvl="2">
              <a:buFont typeface="Wingdings" panose="05000000000000000000" pitchFamily="2" charset="2"/>
              <a:buChar char="Ø"/>
            </a:pPr>
            <a:r>
              <a:rPr lang="en-US" sz="1600" dirty="0"/>
              <a:t>Sampling of data</a:t>
            </a:r>
          </a:p>
          <a:p>
            <a:pPr lvl="2">
              <a:buFont typeface="Wingdings" panose="05000000000000000000" pitchFamily="2" charset="2"/>
              <a:buChar char="Ø"/>
            </a:pPr>
            <a:r>
              <a:rPr lang="en-US" sz="1600" dirty="0"/>
              <a:t>Timeliness</a:t>
            </a:r>
          </a:p>
          <a:p>
            <a:pPr lvl="1">
              <a:buFont typeface="Wingdings" panose="05000000000000000000" pitchFamily="2" charset="2"/>
              <a:buChar char="ü"/>
            </a:pPr>
            <a:r>
              <a:rPr lang="en-US" altLang="en-US" sz="1600" dirty="0"/>
              <a:t>Metadata</a:t>
            </a:r>
            <a:endParaRPr lang="en-US" sz="1600" dirty="0"/>
          </a:p>
        </p:txBody>
      </p:sp>
    </p:spTree>
    <p:extLst>
      <p:ext uri="{BB962C8B-B14F-4D97-AF65-F5344CB8AC3E}">
        <p14:creationId xmlns:p14="http://schemas.microsoft.com/office/powerpoint/2010/main" val="3785695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6483" y="1089251"/>
            <a:ext cx="7848600" cy="3331477"/>
          </a:xfrm>
        </p:spPr>
        <p:txBody>
          <a:bodyPr>
            <a:noAutofit/>
          </a:bodyPr>
          <a:lstStyle/>
          <a:p>
            <a:pPr>
              <a:buFont typeface="Courier New" panose="02070309020205020404" pitchFamily="49" charset="0"/>
              <a:buChar char="o"/>
            </a:pPr>
            <a:r>
              <a:rPr lang="en-US" sz="2800" b="1" dirty="0">
                <a:solidFill>
                  <a:srgbClr val="E3874F"/>
                </a:solidFill>
              </a:rPr>
              <a:t>Accuracy: </a:t>
            </a:r>
            <a:r>
              <a:rPr lang="en-US" sz="2800" dirty="0"/>
              <a:t>A</a:t>
            </a:r>
            <a:r>
              <a:rPr lang="en-US" sz="2800" b="1" dirty="0">
                <a:solidFill>
                  <a:srgbClr val="E3874F"/>
                </a:solidFill>
              </a:rPr>
              <a:t> </a:t>
            </a:r>
            <a:r>
              <a:rPr lang="en-US" sz="2800" dirty="0"/>
              <a:t>comparison of true values to the values presented in a spatial data set</a:t>
            </a:r>
          </a:p>
          <a:p>
            <a:pPr lvl="2">
              <a:buFont typeface="Wingdings" panose="05000000000000000000" pitchFamily="2" charset="2"/>
              <a:buChar char="ü"/>
            </a:pPr>
            <a:r>
              <a:rPr lang="en-US" sz="2800" dirty="0"/>
              <a:t>Positional accuracy</a:t>
            </a:r>
          </a:p>
          <a:p>
            <a:pPr lvl="2">
              <a:buFont typeface="Wingdings" panose="05000000000000000000" pitchFamily="2" charset="2"/>
              <a:buChar char="ü"/>
            </a:pPr>
            <a:r>
              <a:rPr lang="en-US" sz="2800" dirty="0"/>
              <a:t>Attribute accuracy</a:t>
            </a:r>
          </a:p>
          <a:p>
            <a:pPr lvl="2">
              <a:buFont typeface="Wingdings" panose="05000000000000000000" pitchFamily="2" charset="2"/>
              <a:buChar char="ü"/>
            </a:pPr>
            <a:r>
              <a:rPr lang="en-US" sz="2800" dirty="0"/>
              <a:t>Logical consistency</a:t>
            </a:r>
          </a:p>
          <a:p>
            <a:pPr lvl="2">
              <a:buFont typeface="Wingdings" panose="05000000000000000000" pitchFamily="2" charset="2"/>
              <a:buChar char="ü"/>
            </a:pPr>
            <a:r>
              <a:rPr lang="en-US" sz="2800" dirty="0"/>
              <a:t>Completeness</a:t>
            </a:r>
          </a:p>
        </p:txBody>
      </p:sp>
      <p:sp>
        <p:nvSpPr>
          <p:cNvPr id="2" name="Slide Number Placeholder 1">
            <a:extLst>
              <a:ext uri="{FF2B5EF4-FFF2-40B4-BE49-F238E27FC236}">
                <a16:creationId xmlns:a16="http://schemas.microsoft.com/office/drawing/2014/main" id="{BB1ACB53-33A0-4977-A5FD-1F1CADBB3C2A}"/>
              </a:ext>
            </a:extLst>
          </p:cNvPr>
          <p:cNvSpPr>
            <a:spLocks noGrp="1"/>
          </p:cNvSpPr>
          <p:nvPr>
            <p:ph type="sldNum" sz="quarter" idx="12"/>
          </p:nvPr>
        </p:nvSpPr>
        <p:spPr/>
        <p:txBody>
          <a:bodyPr/>
          <a:lstStyle/>
          <a:p>
            <a:fld id="{127DDC20-79C9-9647-820E-6D40A3D210C3}" type="slidenum">
              <a:rPr lang="en-US" smtClean="0"/>
              <a:pPr/>
              <a:t>4</a:t>
            </a:fld>
            <a:endParaRPr lang="en-US"/>
          </a:p>
        </p:txBody>
      </p:sp>
      <p:sp>
        <p:nvSpPr>
          <p:cNvPr id="6" name="Title 1">
            <a:extLst>
              <a:ext uri="{FF2B5EF4-FFF2-40B4-BE49-F238E27FC236}">
                <a16:creationId xmlns:a16="http://schemas.microsoft.com/office/drawing/2014/main" id="{379A3B38-79B6-42BD-9523-D36CDDF04923}"/>
              </a:ext>
            </a:extLst>
          </p:cNvPr>
          <p:cNvSpPr txBox="1">
            <a:spLocks/>
          </p:cNvSpPr>
          <p:nvPr/>
        </p:nvSpPr>
        <p:spPr>
          <a:xfrm>
            <a:off x="226483" y="23200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Accuracy and Precision</a:t>
            </a:r>
          </a:p>
        </p:txBody>
      </p:sp>
      <p:cxnSp>
        <p:nvCxnSpPr>
          <p:cNvPr id="7" name="Straight Connector 6">
            <a:extLst>
              <a:ext uri="{FF2B5EF4-FFF2-40B4-BE49-F238E27FC236}">
                <a16:creationId xmlns:a16="http://schemas.microsoft.com/office/drawing/2014/main" id="{01597BD2-5228-4E56-940A-BE5574D70773}"/>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7775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13308"/>
            <a:ext cx="7848600" cy="1069491"/>
          </a:xfrm>
        </p:spPr>
        <p:txBody>
          <a:bodyPr>
            <a:normAutofit fontScale="55000" lnSpcReduction="20000"/>
          </a:bodyPr>
          <a:lstStyle/>
          <a:p>
            <a:pPr marL="308610" lvl="2" indent="-308610">
              <a:buFont typeface="Courier New" panose="02070309020205020404" pitchFamily="49" charset="0"/>
              <a:buChar char="o"/>
            </a:pPr>
            <a:r>
              <a:rPr lang="en-US" sz="4400" dirty="0"/>
              <a:t>Positional accuracy</a:t>
            </a:r>
          </a:p>
          <a:p>
            <a:pPr marL="754380" lvl="3" indent="-342900">
              <a:buFont typeface="Wingdings" panose="05000000000000000000" pitchFamily="2" charset="2"/>
              <a:buChar char="ü"/>
            </a:pPr>
            <a:r>
              <a:rPr lang="en-US" sz="3200" dirty="0"/>
              <a:t>Describe how close the locations of objects represented in a digital data set correspond to the true locations for the real-world entities</a:t>
            </a:r>
          </a:p>
        </p:txBody>
      </p:sp>
      <p:sp>
        <p:nvSpPr>
          <p:cNvPr id="2" name="Slide Number Placeholder 1">
            <a:extLst>
              <a:ext uri="{FF2B5EF4-FFF2-40B4-BE49-F238E27FC236}">
                <a16:creationId xmlns:a16="http://schemas.microsoft.com/office/drawing/2014/main" id="{BB1ACB53-33A0-4977-A5FD-1F1CADBB3C2A}"/>
              </a:ext>
            </a:extLst>
          </p:cNvPr>
          <p:cNvSpPr>
            <a:spLocks noGrp="1"/>
          </p:cNvSpPr>
          <p:nvPr>
            <p:ph type="sldNum" sz="quarter" idx="12"/>
          </p:nvPr>
        </p:nvSpPr>
        <p:spPr/>
        <p:txBody>
          <a:bodyPr/>
          <a:lstStyle/>
          <a:p>
            <a:fld id="{127DDC20-79C9-9647-820E-6D40A3D210C3}" type="slidenum">
              <a:rPr lang="en-US" smtClean="0"/>
              <a:pPr/>
              <a:t>5</a:t>
            </a:fld>
            <a:endParaRPr lang="en-US"/>
          </a:p>
        </p:txBody>
      </p:sp>
      <p:sp>
        <p:nvSpPr>
          <p:cNvPr id="6" name="Title 1">
            <a:extLst>
              <a:ext uri="{FF2B5EF4-FFF2-40B4-BE49-F238E27FC236}">
                <a16:creationId xmlns:a16="http://schemas.microsoft.com/office/drawing/2014/main" id="{379A3B38-79B6-42BD-9523-D36CDDF04923}"/>
              </a:ext>
            </a:extLst>
          </p:cNvPr>
          <p:cNvSpPr txBox="1">
            <a:spLocks/>
          </p:cNvSpPr>
          <p:nvPr/>
        </p:nvSpPr>
        <p:spPr>
          <a:xfrm>
            <a:off x="258233" y="19817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Accuracy and Precision</a:t>
            </a:r>
          </a:p>
        </p:txBody>
      </p:sp>
      <p:cxnSp>
        <p:nvCxnSpPr>
          <p:cNvPr id="7" name="Straight Connector 6">
            <a:extLst>
              <a:ext uri="{FF2B5EF4-FFF2-40B4-BE49-F238E27FC236}">
                <a16:creationId xmlns:a16="http://schemas.microsoft.com/office/drawing/2014/main" id="{01597BD2-5228-4E56-940A-BE5574D70773}"/>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5" name="Picture 4" descr="A picture containing text, vending machine, store, sale&#10;&#10;Description automatically generated">
            <a:extLst>
              <a:ext uri="{FF2B5EF4-FFF2-40B4-BE49-F238E27FC236}">
                <a16:creationId xmlns:a16="http://schemas.microsoft.com/office/drawing/2014/main" id="{9A5CE397-16F9-4EF6-A4FB-6BE5E326DEDC}"/>
              </a:ext>
            </a:extLst>
          </p:cNvPr>
          <p:cNvPicPr>
            <a:picLocks noChangeAspect="1"/>
          </p:cNvPicPr>
          <p:nvPr/>
        </p:nvPicPr>
        <p:blipFill rotWithShape="1">
          <a:blip r:embed="rId3"/>
          <a:srcRect r="50655" b="48922"/>
          <a:stretch/>
        </p:blipFill>
        <p:spPr>
          <a:xfrm>
            <a:off x="2092646" y="1957581"/>
            <a:ext cx="4047803" cy="3146018"/>
          </a:xfrm>
          <a:prstGeom prst="rect">
            <a:avLst/>
          </a:prstGeom>
        </p:spPr>
      </p:pic>
      <p:sp>
        <p:nvSpPr>
          <p:cNvPr id="8" name="TextBox 7">
            <a:extLst>
              <a:ext uri="{FF2B5EF4-FFF2-40B4-BE49-F238E27FC236}">
                <a16:creationId xmlns:a16="http://schemas.microsoft.com/office/drawing/2014/main" id="{C502203F-AE22-4166-9297-3CB15C75C442}"/>
              </a:ext>
            </a:extLst>
          </p:cNvPr>
          <p:cNvSpPr txBox="1"/>
          <p:nvPr/>
        </p:nvSpPr>
        <p:spPr>
          <a:xfrm>
            <a:off x="5897880" y="4737549"/>
            <a:ext cx="88900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a:t>
            </a:r>
          </a:p>
        </p:txBody>
      </p:sp>
    </p:spTree>
    <p:extLst>
      <p:ext uri="{BB962C8B-B14F-4D97-AF65-F5344CB8AC3E}">
        <p14:creationId xmlns:p14="http://schemas.microsoft.com/office/powerpoint/2010/main" val="1475431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 y="1069266"/>
            <a:ext cx="7848600" cy="791476"/>
          </a:xfrm>
        </p:spPr>
        <p:txBody>
          <a:bodyPr>
            <a:normAutofit fontScale="92500" lnSpcReduction="20000"/>
          </a:bodyPr>
          <a:lstStyle/>
          <a:p>
            <a:pPr marL="308610" lvl="2" indent="-308610">
              <a:buFont typeface="Courier New" panose="02070309020205020404" pitchFamily="49" charset="0"/>
              <a:buChar char="o"/>
            </a:pPr>
            <a:r>
              <a:rPr lang="en-US" sz="2880" dirty="0"/>
              <a:t>Attribute accuracy</a:t>
            </a:r>
          </a:p>
          <a:p>
            <a:pPr marL="754380" lvl="3" indent="-342900">
              <a:buFont typeface="Wingdings" panose="05000000000000000000" pitchFamily="2" charset="2"/>
              <a:buChar char="ü"/>
            </a:pPr>
            <a:r>
              <a:rPr lang="en-US" sz="2000" dirty="0"/>
              <a:t>Summarizes how different the attributes are from the true values</a:t>
            </a:r>
          </a:p>
        </p:txBody>
      </p:sp>
      <p:sp>
        <p:nvSpPr>
          <p:cNvPr id="2" name="Slide Number Placeholder 1">
            <a:extLst>
              <a:ext uri="{FF2B5EF4-FFF2-40B4-BE49-F238E27FC236}">
                <a16:creationId xmlns:a16="http://schemas.microsoft.com/office/drawing/2014/main" id="{BB1ACB53-33A0-4977-A5FD-1F1CADBB3C2A}"/>
              </a:ext>
            </a:extLst>
          </p:cNvPr>
          <p:cNvSpPr>
            <a:spLocks noGrp="1"/>
          </p:cNvSpPr>
          <p:nvPr>
            <p:ph type="sldNum" sz="quarter" idx="12"/>
          </p:nvPr>
        </p:nvSpPr>
        <p:spPr>
          <a:xfrm>
            <a:off x="7299960" y="4737549"/>
            <a:ext cx="710444" cy="273844"/>
          </a:xfrm>
        </p:spPr>
        <p:txBody>
          <a:bodyPr/>
          <a:lstStyle/>
          <a:p>
            <a:fld id="{127DDC20-79C9-9647-820E-6D40A3D210C3}" type="slidenum">
              <a:rPr lang="en-US" smtClean="0"/>
              <a:pPr/>
              <a:t>6</a:t>
            </a:fld>
            <a:endParaRPr lang="en-US"/>
          </a:p>
        </p:txBody>
      </p:sp>
      <p:sp>
        <p:nvSpPr>
          <p:cNvPr id="6" name="Title 1">
            <a:extLst>
              <a:ext uri="{FF2B5EF4-FFF2-40B4-BE49-F238E27FC236}">
                <a16:creationId xmlns:a16="http://schemas.microsoft.com/office/drawing/2014/main" id="{379A3B38-79B6-42BD-9523-D36CDDF04923}"/>
              </a:ext>
            </a:extLst>
          </p:cNvPr>
          <p:cNvSpPr txBox="1">
            <a:spLocks/>
          </p:cNvSpPr>
          <p:nvPr/>
        </p:nvSpPr>
        <p:spPr>
          <a:xfrm>
            <a:off x="190500" y="21381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Accuracy and Precision</a:t>
            </a:r>
          </a:p>
        </p:txBody>
      </p:sp>
      <p:cxnSp>
        <p:nvCxnSpPr>
          <p:cNvPr id="7" name="Straight Connector 6">
            <a:extLst>
              <a:ext uri="{FF2B5EF4-FFF2-40B4-BE49-F238E27FC236}">
                <a16:creationId xmlns:a16="http://schemas.microsoft.com/office/drawing/2014/main" id="{01597BD2-5228-4E56-940A-BE5574D70773}"/>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5" name="Picture 4" descr="A picture containing text, vending machine, store, sale&#10;&#10;Description automatically generated">
            <a:extLst>
              <a:ext uri="{FF2B5EF4-FFF2-40B4-BE49-F238E27FC236}">
                <a16:creationId xmlns:a16="http://schemas.microsoft.com/office/drawing/2014/main" id="{9A5CE397-16F9-4EF6-A4FB-6BE5E326DEDC}"/>
              </a:ext>
            </a:extLst>
          </p:cNvPr>
          <p:cNvPicPr>
            <a:picLocks noChangeAspect="1"/>
          </p:cNvPicPr>
          <p:nvPr/>
        </p:nvPicPr>
        <p:blipFill rotWithShape="1">
          <a:blip r:embed="rId3"/>
          <a:srcRect l="49881" r="95" b="48922"/>
          <a:stretch/>
        </p:blipFill>
        <p:spPr>
          <a:xfrm>
            <a:off x="1908561" y="1833408"/>
            <a:ext cx="4098539" cy="3142240"/>
          </a:xfrm>
          <a:prstGeom prst="rect">
            <a:avLst/>
          </a:prstGeom>
        </p:spPr>
      </p:pic>
      <p:sp>
        <p:nvSpPr>
          <p:cNvPr id="8" name="TextBox 7">
            <a:extLst>
              <a:ext uri="{FF2B5EF4-FFF2-40B4-BE49-F238E27FC236}">
                <a16:creationId xmlns:a16="http://schemas.microsoft.com/office/drawing/2014/main" id="{C502203F-AE22-4166-9297-3CB15C75C442}"/>
              </a:ext>
            </a:extLst>
          </p:cNvPr>
          <p:cNvSpPr txBox="1"/>
          <p:nvPr/>
        </p:nvSpPr>
        <p:spPr>
          <a:xfrm>
            <a:off x="6863080" y="4737549"/>
            <a:ext cx="88900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a:t>
            </a:r>
          </a:p>
        </p:txBody>
      </p:sp>
    </p:spTree>
    <p:extLst>
      <p:ext uri="{BB962C8B-B14F-4D97-AF65-F5344CB8AC3E}">
        <p14:creationId xmlns:p14="http://schemas.microsoft.com/office/powerpoint/2010/main" val="1125202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7400"/>
            <a:ext cx="7848600" cy="804178"/>
          </a:xfrm>
        </p:spPr>
        <p:txBody>
          <a:bodyPr>
            <a:normAutofit fontScale="92500" lnSpcReduction="20000"/>
          </a:bodyPr>
          <a:lstStyle/>
          <a:p>
            <a:pPr marL="308610" lvl="2" indent="-308610">
              <a:buFont typeface="Courier New" panose="02070309020205020404" pitchFamily="49" charset="0"/>
              <a:buChar char="o"/>
            </a:pPr>
            <a:r>
              <a:rPr lang="en-US" sz="2880" dirty="0"/>
              <a:t>Logical consistency</a:t>
            </a:r>
          </a:p>
          <a:p>
            <a:pPr marL="754380" lvl="3" indent="-342900">
              <a:buFont typeface="Wingdings" panose="05000000000000000000" pitchFamily="2" charset="2"/>
              <a:buChar char="ü"/>
            </a:pPr>
            <a:r>
              <a:rPr lang="en-US" sz="1900" dirty="0"/>
              <a:t>Reflects the presence, absence, or frequency of inconsistent data.</a:t>
            </a:r>
          </a:p>
        </p:txBody>
      </p:sp>
      <p:sp>
        <p:nvSpPr>
          <p:cNvPr id="2" name="Slide Number Placeholder 1">
            <a:extLst>
              <a:ext uri="{FF2B5EF4-FFF2-40B4-BE49-F238E27FC236}">
                <a16:creationId xmlns:a16="http://schemas.microsoft.com/office/drawing/2014/main" id="{BB1ACB53-33A0-4977-A5FD-1F1CADBB3C2A}"/>
              </a:ext>
            </a:extLst>
          </p:cNvPr>
          <p:cNvSpPr>
            <a:spLocks noGrp="1"/>
          </p:cNvSpPr>
          <p:nvPr>
            <p:ph type="sldNum" sz="quarter" idx="12"/>
          </p:nvPr>
        </p:nvSpPr>
        <p:spPr/>
        <p:txBody>
          <a:bodyPr/>
          <a:lstStyle/>
          <a:p>
            <a:fld id="{127DDC20-79C9-9647-820E-6D40A3D210C3}" type="slidenum">
              <a:rPr lang="en-US" smtClean="0"/>
              <a:pPr/>
              <a:t>7</a:t>
            </a:fld>
            <a:endParaRPr lang="en-US"/>
          </a:p>
        </p:txBody>
      </p:sp>
      <p:sp>
        <p:nvSpPr>
          <p:cNvPr id="6" name="Title 1">
            <a:extLst>
              <a:ext uri="{FF2B5EF4-FFF2-40B4-BE49-F238E27FC236}">
                <a16:creationId xmlns:a16="http://schemas.microsoft.com/office/drawing/2014/main" id="{379A3B38-79B6-42BD-9523-D36CDDF04923}"/>
              </a:ext>
            </a:extLst>
          </p:cNvPr>
          <p:cNvSpPr txBox="1">
            <a:spLocks/>
          </p:cNvSpPr>
          <p:nvPr/>
        </p:nvSpPr>
        <p:spPr>
          <a:xfrm>
            <a:off x="277283" y="21655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Accuracy and Precision</a:t>
            </a:r>
          </a:p>
        </p:txBody>
      </p:sp>
      <p:cxnSp>
        <p:nvCxnSpPr>
          <p:cNvPr id="7" name="Straight Connector 6">
            <a:extLst>
              <a:ext uri="{FF2B5EF4-FFF2-40B4-BE49-F238E27FC236}">
                <a16:creationId xmlns:a16="http://schemas.microsoft.com/office/drawing/2014/main" id="{01597BD2-5228-4E56-940A-BE5574D70773}"/>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5" name="Picture 4" descr="A picture containing text, vending machine, store, sale&#10;&#10;Description automatically generated">
            <a:extLst>
              <a:ext uri="{FF2B5EF4-FFF2-40B4-BE49-F238E27FC236}">
                <a16:creationId xmlns:a16="http://schemas.microsoft.com/office/drawing/2014/main" id="{9A5CE397-16F9-4EF6-A4FB-6BE5E326DEDC}"/>
              </a:ext>
            </a:extLst>
          </p:cNvPr>
          <p:cNvPicPr>
            <a:picLocks noChangeAspect="1"/>
          </p:cNvPicPr>
          <p:nvPr/>
        </p:nvPicPr>
        <p:blipFill rotWithShape="1">
          <a:blip r:embed="rId3"/>
          <a:srcRect t="51077" r="50655" b="-1621"/>
          <a:stretch/>
        </p:blipFill>
        <p:spPr>
          <a:xfrm>
            <a:off x="2478036" y="1803960"/>
            <a:ext cx="3675694" cy="2826889"/>
          </a:xfrm>
          <a:prstGeom prst="rect">
            <a:avLst/>
          </a:prstGeom>
        </p:spPr>
      </p:pic>
      <p:sp>
        <p:nvSpPr>
          <p:cNvPr id="8" name="TextBox 7">
            <a:extLst>
              <a:ext uri="{FF2B5EF4-FFF2-40B4-BE49-F238E27FC236}">
                <a16:creationId xmlns:a16="http://schemas.microsoft.com/office/drawing/2014/main" id="{C502203F-AE22-4166-9297-3CB15C75C442}"/>
              </a:ext>
            </a:extLst>
          </p:cNvPr>
          <p:cNvSpPr txBox="1"/>
          <p:nvPr/>
        </p:nvSpPr>
        <p:spPr>
          <a:xfrm>
            <a:off x="5897880" y="4737549"/>
            <a:ext cx="88900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a:t>
            </a:r>
          </a:p>
        </p:txBody>
      </p:sp>
      <p:grpSp>
        <p:nvGrpSpPr>
          <p:cNvPr id="10" name="Group 9">
            <a:extLst>
              <a:ext uri="{FF2B5EF4-FFF2-40B4-BE49-F238E27FC236}">
                <a16:creationId xmlns:a16="http://schemas.microsoft.com/office/drawing/2014/main" id="{983284A8-B0A6-F780-81BC-9B8E187AB212}"/>
              </a:ext>
            </a:extLst>
          </p:cNvPr>
          <p:cNvGrpSpPr/>
          <p:nvPr/>
        </p:nvGrpSpPr>
        <p:grpSpPr>
          <a:xfrm>
            <a:off x="800100" y="2387902"/>
            <a:ext cx="1346200" cy="307777"/>
            <a:chOff x="457200" y="1972450"/>
            <a:chExt cx="1346200" cy="307777"/>
          </a:xfrm>
        </p:grpSpPr>
        <p:sp>
          <p:nvSpPr>
            <p:cNvPr id="4" name="Flowchart: Connector 3">
              <a:extLst>
                <a:ext uri="{FF2B5EF4-FFF2-40B4-BE49-F238E27FC236}">
                  <a16:creationId xmlns:a16="http://schemas.microsoft.com/office/drawing/2014/main" id="{CD0BD867-2603-B12A-C58B-C560D54E08FA}"/>
                </a:ext>
              </a:extLst>
            </p:cNvPr>
            <p:cNvSpPr/>
            <p:nvPr/>
          </p:nvSpPr>
          <p:spPr>
            <a:xfrm flipV="1">
              <a:off x="457200" y="2109969"/>
              <a:ext cx="46566" cy="45719"/>
            </a:xfrm>
            <a:prstGeom prst="flowChartConnector">
              <a:avLst/>
            </a:prstGeom>
            <a:solidFill>
              <a:schemeClr val="tx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84C5413-9E9C-16B0-55D0-E3A3113B50F0}"/>
                </a:ext>
              </a:extLst>
            </p:cNvPr>
            <p:cNvSpPr txBox="1"/>
            <p:nvPr/>
          </p:nvSpPr>
          <p:spPr>
            <a:xfrm>
              <a:off x="495300" y="1972450"/>
              <a:ext cx="1308100" cy="307777"/>
            </a:xfrm>
            <a:prstGeom prst="rect">
              <a:avLst/>
            </a:prstGeom>
            <a:noFill/>
          </p:spPr>
          <p:txBody>
            <a:bodyPr wrap="square" rtlCol="0">
              <a:spAutoFit/>
            </a:bodyPr>
            <a:lstStyle/>
            <a:p>
              <a:r>
                <a:rPr lang="en-US" sz="1400" dirty="0"/>
                <a:t>Street light</a:t>
              </a:r>
            </a:p>
          </p:txBody>
        </p:sp>
      </p:grpSp>
    </p:spTree>
    <p:extLst>
      <p:ext uri="{BB962C8B-B14F-4D97-AF65-F5344CB8AC3E}">
        <p14:creationId xmlns:p14="http://schemas.microsoft.com/office/powerpoint/2010/main" val="3751056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74073"/>
            <a:ext cx="7848600" cy="772428"/>
          </a:xfrm>
        </p:spPr>
        <p:txBody>
          <a:bodyPr>
            <a:normAutofit fontScale="92500" lnSpcReduction="20000"/>
          </a:bodyPr>
          <a:lstStyle/>
          <a:p>
            <a:pPr marL="308610" lvl="2" indent="-308610">
              <a:buFont typeface="Courier New" panose="02070309020205020404" pitchFamily="49" charset="0"/>
              <a:buChar char="o"/>
            </a:pPr>
            <a:r>
              <a:rPr lang="en-US" sz="2880" dirty="0"/>
              <a:t>Completeness</a:t>
            </a:r>
          </a:p>
          <a:p>
            <a:pPr marL="754380" lvl="3" indent="-342900">
              <a:buFont typeface="Wingdings" panose="05000000000000000000" pitchFamily="2" charset="2"/>
              <a:buChar char="ü"/>
            </a:pPr>
            <a:r>
              <a:rPr lang="en-US" sz="1800" dirty="0"/>
              <a:t>Describes how well the data set captures all the features.</a:t>
            </a:r>
          </a:p>
        </p:txBody>
      </p:sp>
      <p:sp>
        <p:nvSpPr>
          <p:cNvPr id="2" name="Slide Number Placeholder 1">
            <a:extLst>
              <a:ext uri="{FF2B5EF4-FFF2-40B4-BE49-F238E27FC236}">
                <a16:creationId xmlns:a16="http://schemas.microsoft.com/office/drawing/2014/main" id="{BB1ACB53-33A0-4977-A5FD-1F1CADBB3C2A}"/>
              </a:ext>
            </a:extLst>
          </p:cNvPr>
          <p:cNvSpPr>
            <a:spLocks noGrp="1"/>
          </p:cNvSpPr>
          <p:nvPr>
            <p:ph type="sldNum" sz="quarter" idx="12"/>
          </p:nvPr>
        </p:nvSpPr>
        <p:spPr/>
        <p:txBody>
          <a:bodyPr/>
          <a:lstStyle/>
          <a:p>
            <a:fld id="{127DDC20-79C9-9647-820E-6D40A3D210C3}" type="slidenum">
              <a:rPr lang="en-US" smtClean="0"/>
              <a:pPr/>
              <a:t>8</a:t>
            </a:fld>
            <a:endParaRPr lang="en-US"/>
          </a:p>
        </p:txBody>
      </p:sp>
      <p:sp>
        <p:nvSpPr>
          <p:cNvPr id="6" name="Title 1">
            <a:extLst>
              <a:ext uri="{FF2B5EF4-FFF2-40B4-BE49-F238E27FC236}">
                <a16:creationId xmlns:a16="http://schemas.microsoft.com/office/drawing/2014/main" id="{379A3B38-79B6-42BD-9523-D36CDDF04923}"/>
              </a:ext>
            </a:extLst>
          </p:cNvPr>
          <p:cNvSpPr txBox="1">
            <a:spLocks/>
          </p:cNvSpPr>
          <p:nvPr/>
        </p:nvSpPr>
        <p:spPr>
          <a:xfrm>
            <a:off x="315383" y="22952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Accuracy and Precision</a:t>
            </a:r>
          </a:p>
        </p:txBody>
      </p:sp>
      <p:cxnSp>
        <p:nvCxnSpPr>
          <p:cNvPr id="7" name="Straight Connector 6">
            <a:extLst>
              <a:ext uri="{FF2B5EF4-FFF2-40B4-BE49-F238E27FC236}">
                <a16:creationId xmlns:a16="http://schemas.microsoft.com/office/drawing/2014/main" id="{01597BD2-5228-4E56-940A-BE5574D70773}"/>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5" name="Picture 4" descr="A picture containing text, vending machine, store, sale&#10;&#10;Description automatically generated">
            <a:extLst>
              <a:ext uri="{FF2B5EF4-FFF2-40B4-BE49-F238E27FC236}">
                <a16:creationId xmlns:a16="http://schemas.microsoft.com/office/drawing/2014/main" id="{9A5CE397-16F9-4EF6-A4FB-6BE5E326DEDC}"/>
              </a:ext>
            </a:extLst>
          </p:cNvPr>
          <p:cNvPicPr>
            <a:picLocks noChangeAspect="1"/>
          </p:cNvPicPr>
          <p:nvPr/>
        </p:nvPicPr>
        <p:blipFill rotWithShape="1">
          <a:blip r:embed="rId3"/>
          <a:srcRect l="49137" t="50530" r="-1606" b="-1927"/>
          <a:stretch/>
        </p:blipFill>
        <p:spPr>
          <a:xfrm>
            <a:off x="2271599" y="1736700"/>
            <a:ext cx="3889601" cy="2860699"/>
          </a:xfrm>
          <a:prstGeom prst="rect">
            <a:avLst/>
          </a:prstGeom>
        </p:spPr>
      </p:pic>
      <p:sp>
        <p:nvSpPr>
          <p:cNvPr id="8" name="TextBox 7">
            <a:extLst>
              <a:ext uri="{FF2B5EF4-FFF2-40B4-BE49-F238E27FC236}">
                <a16:creationId xmlns:a16="http://schemas.microsoft.com/office/drawing/2014/main" id="{C502203F-AE22-4166-9297-3CB15C75C442}"/>
              </a:ext>
            </a:extLst>
          </p:cNvPr>
          <p:cNvSpPr txBox="1"/>
          <p:nvPr/>
        </p:nvSpPr>
        <p:spPr>
          <a:xfrm>
            <a:off x="5897880" y="4737549"/>
            <a:ext cx="88900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a:t>
            </a:r>
          </a:p>
        </p:txBody>
      </p:sp>
    </p:spTree>
    <p:extLst>
      <p:ext uri="{BB962C8B-B14F-4D97-AF65-F5344CB8AC3E}">
        <p14:creationId xmlns:p14="http://schemas.microsoft.com/office/powerpoint/2010/main" val="2564893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533" y="1014148"/>
            <a:ext cx="7848600" cy="408698"/>
          </a:xfrm>
        </p:spPr>
        <p:txBody>
          <a:bodyPr>
            <a:noAutofit/>
          </a:bodyPr>
          <a:lstStyle/>
          <a:p>
            <a:pPr>
              <a:buFont typeface="Courier New" panose="02070309020205020404" pitchFamily="49" charset="0"/>
              <a:buChar char="o"/>
            </a:pPr>
            <a:r>
              <a:rPr lang="en-US" sz="2400" b="1" dirty="0">
                <a:solidFill>
                  <a:srgbClr val="E3874F"/>
                </a:solidFill>
              </a:rPr>
              <a:t>Precision: </a:t>
            </a:r>
            <a:r>
              <a:rPr lang="en-US" sz="2400" dirty="0"/>
              <a:t>agreement with other measurements</a:t>
            </a:r>
          </a:p>
        </p:txBody>
      </p:sp>
      <p:sp>
        <p:nvSpPr>
          <p:cNvPr id="2" name="Slide Number Placeholder 1">
            <a:extLst>
              <a:ext uri="{FF2B5EF4-FFF2-40B4-BE49-F238E27FC236}">
                <a16:creationId xmlns:a16="http://schemas.microsoft.com/office/drawing/2014/main" id="{BB1ACB53-33A0-4977-A5FD-1F1CADBB3C2A}"/>
              </a:ext>
            </a:extLst>
          </p:cNvPr>
          <p:cNvSpPr>
            <a:spLocks noGrp="1"/>
          </p:cNvSpPr>
          <p:nvPr>
            <p:ph type="sldNum" sz="quarter" idx="12"/>
          </p:nvPr>
        </p:nvSpPr>
        <p:spPr/>
        <p:txBody>
          <a:bodyPr/>
          <a:lstStyle/>
          <a:p>
            <a:fld id="{127DDC20-79C9-9647-820E-6D40A3D210C3}" type="slidenum">
              <a:rPr lang="en-US" smtClean="0"/>
              <a:pPr/>
              <a:t>9</a:t>
            </a:fld>
            <a:endParaRPr lang="en-US"/>
          </a:p>
        </p:txBody>
      </p:sp>
      <p:sp>
        <p:nvSpPr>
          <p:cNvPr id="6" name="Title 1">
            <a:extLst>
              <a:ext uri="{FF2B5EF4-FFF2-40B4-BE49-F238E27FC236}">
                <a16:creationId xmlns:a16="http://schemas.microsoft.com/office/drawing/2014/main" id="{379A3B38-79B6-42BD-9523-D36CDDF04923}"/>
              </a:ext>
            </a:extLst>
          </p:cNvPr>
          <p:cNvSpPr txBox="1">
            <a:spLocks/>
          </p:cNvSpPr>
          <p:nvPr/>
        </p:nvSpPr>
        <p:spPr>
          <a:xfrm>
            <a:off x="262467" y="21435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Accuracy and Precision</a:t>
            </a:r>
          </a:p>
        </p:txBody>
      </p:sp>
      <p:cxnSp>
        <p:nvCxnSpPr>
          <p:cNvPr id="7" name="Straight Connector 6">
            <a:extLst>
              <a:ext uri="{FF2B5EF4-FFF2-40B4-BE49-F238E27FC236}">
                <a16:creationId xmlns:a16="http://schemas.microsoft.com/office/drawing/2014/main" id="{01597BD2-5228-4E56-940A-BE5574D70773}"/>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8" name="Picture 7" descr="Diagram&#10;&#10;Description automatically generated">
            <a:extLst>
              <a:ext uri="{FF2B5EF4-FFF2-40B4-BE49-F238E27FC236}">
                <a16:creationId xmlns:a16="http://schemas.microsoft.com/office/drawing/2014/main" id="{5581E77D-7A1F-417F-BF66-1B7E7FCC8B4D}"/>
              </a:ext>
            </a:extLst>
          </p:cNvPr>
          <p:cNvPicPr>
            <a:picLocks noChangeAspect="1"/>
          </p:cNvPicPr>
          <p:nvPr/>
        </p:nvPicPr>
        <p:blipFill>
          <a:blip r:embed="rId3"/>
          <a:stretch>
            <a:fillRect/>
          </a:stretch>
        </p:blipFill>
        <p:spPr>
          <a:xfrm>
            <a:off x="2113730" y="1422846"/>
            <a:ext cx="3858205" cy="3065719"/>
          </a:xfrm>
          <a:prstGeom prst="rect">
            <a:avLst/>
          </a:prstGeom>
        </p:spPr>
      </p:pic>
      <p:sp>
        <p:nvSpPr>
          <p:cNvPr id="14" name="TextBox 13">
            <a:extLst>
              <a:ext uri="{FF2B5EF4-FFF2-40B4-BE49-F238E27FC236}">
                <a16:creationId xmlns:a16="http://schemas.microsoft.com/office/drawing/2014/main" id="{5F4E6F19-586D-4FD4-BCFC-1E5E0ADAEA66}"/>
              </a:ext>
            </a:extLst>
          </p:cNvPr>
          <p:cNvSpPr txBox="1"/>
          <p:nvPr/>
        </p:nvSpPr>
        <p:spPr>
          <a:xfrm>
            <a:off x="5897880" y="4737549"/>
            <a:ext cx="88900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a:t>
            </a:r>
          </a:p>
        </p:txBody>
      </p:sp>
    </p:spTree>
    <p:extLst>
      <p:ext uri="{BB962C8B-B14F-4D97-AF65-F5344CB8AC3E}">
        <p14:creationId xmlns:p14="http://schemas.microsoft.com/office/powerpoint/2010/main" val="2236825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1" y="941240"/>
            <a:ext cx="7841744" cy="728810"/>
          </a:xfrm>
        </p:spPr>
        <p:txBody>
          <a:bodyPr>
            <a:noAutofit/>
          </a:bodyPr>
          <a:lstStyle/>
          <a:p>
            <a:pPr marL="0" lvl="1">
              <a:buFont typeface="Courier New" panose="02070309020205020404" pitchFamily="49" charset="0"/>
              <a:buChar char="o"/>
            </a:pPr>
            <a:r>
              <a:rPr lang="en-US" sz="1600" dirty="0"/>
              <a:t>Positional accuracy</a:t>
            </a:r>
          </a:p>
          <a:p>
            <a:pPr marL="560070" lvl="2" indent="-457200">
              <a:buFont typeface="Wingdings" panose="05000000000000000000" pitchFamily="2" charset="2"/>
              <a:buChar char="ü"/>
            </a:pPr>
            <a:r>
              <a:rPr lang="en-US" sz="1600" dirty="0"/>
              <a:t>Mean error: summing the errors and dividing the sum by the number of observations</a:t>
            </a:r>
          </a:p>
        </p:txBody>
      </p:sp>
      <p:sp>
        <p:nvSpPr>
          <p:cNvPr id="2" name="Slide Number Placeholder 1">
            <a:extLst>
              <a:ext uri="{FF2B5EF4-FFF2-40B4-BE49-F238E27FC236}">
                <a16:creationId xmlns:a16="http://schemas.microsoft.com/office/drawing/2014/main" id="{67DAEF7C-5553-4681-A3F9-8E3BC1C93F2B}"/>
              </a:ext>
            </a:extLst>
          </p:cNvPr>
          <p:cNvSpPr>
            <a:spLocks noGrp="1"/>
          </p:cNvSpPr>
          <p:nvPr>
            <p:ph type="sldNum" sz="quarter" idx="12"/>
          </p:nvPr>
        </p:nvSpPr>
        <p:spPr/>
        <p:txBody>
          <a:bodyPr/>
          <a:lstStyle/>
          <a:p>
            <a:fld id="{127DDC20-79C9-9647-820E-6D40A3D210C3}" type="slidenum">
              <a:rPr lang="en-US" smtClean="0"/>
              <a:pPr/>
              <a:t>10</a:t>
            </a:fld>
            <a:endParaRPr lang="en-US"/>
          </a:p>
        </p:txBody>
      </p:sp>
      <p:sp>
        <p:nvSpPr>
          <p:cNvPr id="9" name="Title 1">
            <a:extLst>
              <a:ext uri="{FF2B5EF4-FFF2-40B4-BE49-F238E27FC236}">
                <a16:creationId xmlns:a16="http://schemas.microsoft.com/office/drawing/2014/main" id="{CB804490-0FB8-4FEC-A384-246CE13F9557}"/>
              </a:ext>
            </a:extLst>
          </p:cNvPr>
          <p:cNvSpPr txBox="1">
            <a:spLocks/>
          </p:cNvSpPr>
          <p:nvPr/>
        </p:nvSpPr>
        <p:spPr>
          <a:xfrm>
            <a:off x="256171" y="16625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Accuracy measurement</a:t>
            </a:r>
          </a:p>
        </p:txBody>
      </p:sp>
      <p:cxnSp>
        <p:nvCxnSpPr>
          <p:cNvPr id="10" name="Straight Connector 9">
            <a:extLst>
              <a:ext uri="{FF2B5EF4-FFF2-40B4-BE49-F238E27FC236}">
                <a16:creationId xmlns:a16="http://schemas.microsoft.com/office/drawing/2014/main" id="{77AC410F-79F4-4BA2-815A-86E9869E5ABB}"/>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Diagram&#10;&#10;Description automatically generated">
            <a:extLst>
              <a:ext uri="{FF2B5EF4-FFF2-40B4-BE49-F238E27FC236}">
                <a16:creationId xmlns:a16="http://schemas.microsoft.com/office/drawing/2014/main" id="{13E9A5ED-00EE-40B4-9073-02D30CD0E76C}"/>
              </a:ext>
            </a:extLst>
          </p:cNvPr>
          <p:cNvPicPr>
            <a:picLocks noChangeAspect="1"/>
          </p:cNvPicPr>
          <p:nvPr/>
        </p:nvPicPr>
        <p:blipFill>
          <a:blip r:embed="rId3"/>
          <a:stretch>
            <a:fillRect/>
          </a:stretch>
        </p:blipFill>
        <p:spPr>
          <a:xfrm>
            <a:off x="849866" y="1798490"/>
            <a:ext cx="3310401" cy="2609216"/>
          </a:xfrm>
          <a:prstGeom prst="rect">
            <a:avLst/>
          </a:prstGeom>
        </p:spPr>
      </p:pic>
      <p:pic>
        <p:nvPicPr>
          <p:cNvPr id="19" name="Picture 6" descr="WestoverRoadMapping1">
            <a:extLst>
              <a:ext uri="{FF2B5EF4-FFF2-40B4-BE49-F238E27FC236}">
                <a16:creationId xmlns:a16="http://schemas.microsoft.com/office/drawing/2014/main" id="{69CAA0D0-303F-4AD4-8E5A-7FCA14D42D1E}"/>
              </a:ext>
            </a:extLst>
          </p:cNvPr>
          <p:cNvPicPr>
            <a:picLocks noChangeAspect="1" noChangeArrowheads="1"/>
          </p:cNvPicPr>
          <p:nvPr/>
        </p:nvPicPr>
        <p:blipFill>
          <a:blip r:embed="rId4" cstate="print"/>
          <a:srcRect t="46356" r="32181" b="5971"/>
          <a:stretch>
            <a:fillRect/>
          </a:stretch>
        </p:blipFill>
        <p:spPr bwMode="auto">
          <a:xfrm>
            <a:off x="4644190" y="1798490"/>
            <a:ext cx="2735544" cy="2609216"/>
          </a:xfrm>
          <a:prstGeom prst="rect">
            <a:avLst/>
          </a:prstGeom>
          <a:noFill/>
          <a:ln w="9525">
            <a:solidFill>
              <a:srgbClr val="000000"/>
            </a:solidFill>
            <a:miter lim="800000"/>
            <a:headEnd/>
            <a:tailEnd/>
          </a:ln>
        </p:spPr>
      </p:pic>
      <p:sp>
        <p:nvSpPr>
          <p:cNvPr id="20" name="TextBox 19">
            <a:extLst>
              <a:ext uri="{FF2B5EF4-FFF2-40B4-BE49-F238E27FC236}">
                <a16:creationId xmlns:a16="http://schemas.microsoft.com/office/drawing/2014/main" id="{95BED0CF-DF5D-4521-BBDB-B0C0F1352E85}"/>
              </a:ext>
            </a:extLst>
          </p:cNvPr>
          <p:cNvSpPr txBox="1"/>
          <p:nvPr/>
        </p:nvSpPr>
        <p:spPr>
          <a:xfrm>
            <a:off x="4954357" y="4796814"/>
            <a:ext cx="2263730" cy="223203"/>
          </a:xfrm>
          <a:prstGeom prst="rect">
            <a:avLst/>
          </a:prstGeom>
          <a:noFill/>
        </p:spPr>
        <p:txBody>
          <a:bodyPr wrap="square" rtlCol="0">
            <a:spAutoFit/>
          </a:bodyPr>
          <a:lstStyle/>
          <a:p>
            <a:pPr>
              <a:lnSpc>
                <a:spcPct val="90000"/>
              </a:lnSpc>
            </a:pPr>
            <a:r>
              <a:rPr lang="en-US" sz="945" dirty="0"/>
              <a:t>Example from Jackie Strager</a:t>
            </a:r>
          </a:p>
        </p:txBody>
      </p:sp>
    </p:spTree>
    <p:extLst>
      <p:ext uri="{BB962C8B-B14F-4D97-AF65-F5344CB8AC3E}">
        <p14:creationId xmlns:p14="http://schemas.microsoft.com/office/powerpoint/2010/main" val="3803774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0234" y="1207372"/>
            <a:ext cx="4207460" cy="2972748"/>
          </a:xfrm>
        </p:spPr>
        <p:txBody>
          <a:bodyPr>
            <a:normAutofit/>
          </a:bodyPr>
          <a:lstStyle/>
          <a:p>
            <a:pPr marL="0" lvl="1">
              <a:buFont typeface="Courier New" panose="02070309020205020404" pitchFamily="49" charset="0"/>
              <a:buChar char="o"/>
            </a:pPr>
            <a:r>
              <a:rPr lang="en-US" sz="2000" dirty="0"/>
              <a:t>Positional accuracy</a:t>
            </a:r>
          </a:p>
          <a:p>
            <a:pPr marL="560070" lvl="2" indent="-457200">
              <a:buFont typeface="Wingdings" panose="05000000000000000000" pitchFamily="2" charset="2"/>
              <a:buChar char="ü"/>
            </a:pPr>
            <a:r>
              <a:rPr lang="en-US" sz="2000" dirty="0"/>
              <a:t>Error frequency threshold: a value above or below which a proportion of the error observations occurs</a:t>
            </a:r>
          </a:p>
          <a:p>
            <a:pPr marL="560070" lvl="2" indent="-457200">
              <a:buFont typeface="Wingdings" panose="05000000000000000000" pitchFamily="2" charset="2"/>
              <a:buChar char="ü"/>
            </a:pPr>
            <a:r>
              <a:rPr lang="en-US" sz="2000" dirty="0"/>
              <a:t>The threshold usually placed such that 95% of the errors are smaller than the threshold.</a:t>
            </a:r>
          </a:p>
        </p:txBody>
      </p:sp>
      <p:sp>
        <p:nvSpPr>
          <p:cNvPr id="2" name="Slide Number Placeholder 1">
            <a:extLst>
              <a:ext uri="{FF2B5EF4-FFF2-40B4-BE49-F238E27FC236}">
                <a16:creationId xmlns:a16="http://schemas.microsoft.com/office/drawing/2014/main" id="{67DAEF7C-5553-4681-A3F9-8E3BC1C93F2B}"/>
              </a:ext>
            </a:extLst>
          </p:cNvPr>
          <p:cNvSpPr>
            <a:spLocks noGrp="1"/>
          </p:cNvSpPr>
          <p:nvPr>
            <p:ph type="sldNum" sz="quarter" idx="12"/>
          </p:nvPr>
        </p:nvSpPr>
        <p:spPr/>
        <p:txBody>
          <a:bodyPr/>
          <a:lstStyle/>
          <a:p>
            <a:fld id="{127DDC20-79C9-9647-820E-6D40A3D210C3}" type="slidenum">
              <a:rPr lang="en-US" smtClean="0"/>
              <a:pPr/>
              <a:t>11</a:t>
            </a:fld>
            <a:endParaRPr lang="en-US"/>
          </a:p>
        </p:txBody>
      </p:sp>
      <p:sp>
        <p:nvSpPr>
          <p:cNvPr id="9" name="Title 1">
            <a:extLst>
              <a:ext uri="{FF2B5EF4-FFF2-40B4-BE49-F238E27FC236}">
                <a16:creationId xmlns:a16="http://schemas.microsoft.com/office/drawing/2014/main" id="{CB804490-0FB8-4FEC-A384-246CE13F9557}"/>
              </a:ext>
            </a:extLst>
          </p:cNvPr>
          <p:cNvSpPr txBox="1">
            <a:spLocks/>
          </p:cNvSpPr>
          <p:nvPr/>
        </p:nvSpPr>
        <p:spPr>
          <a:xfrm>
            <a:off x="256172" y="19577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Accuracy measurement</a:t>
            </a:r>
          </a:p>
        </p:txBody>
      </p:sp>
      <p:cxnSp>
        <p:nvCxnSpPr>
          <p:cNvPr id="10" name="Straight Connector 9">
            <a:extLst>
              <a:ext uri="{FF2B5EF4-FFF2-40B4-BE49-F238E27FC236}">
                <a16:creationId xmlns:a16="http://schemas.microsoft.com/office/drawing/2014/main" id="{77AC410F-79F4-4BA2-815A-86E9869E5ABB}"/>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3" name="Picture 12" descr="Chart, diagram, histogram&#10;&#10;Description automatically generated">
            <a:extLst>
              <a:ext uri="{FF2B5EF4-FFF2-40B4-BE49-F238E27FC236}">
                <a16:creationId xmlns:a16="http://schemas.microsoft.com/office/drawing/2014/main" id="{81F61E0B-FAFA-4D89-ABFB-B263757B870F}"/>
              </a:ext>
            </a:extLst>
          </p:cNvPr>
          <p:cNvPicPr>
            <a:picLocks noChangeAspect="1"/>
          </p:cNvPicPr>
          <p:nvPr/>
        </p:nvPicPr>
        <p:blipFill>
          <a:blip r:embed="rId3"/>
          <a:stretch>
            <a:fillRect/>
          </a:stretch>
        </p:blipFill>
        <p:spPr>
          <a:xfrm>
            <a:off x="4463631" y="1053023"/>
            <a:ext cx="2868498" cy="3988084"/>
          </a:xfrm>
          <a:prstGeom prst="rect">
            <a:avLst/>
          </a:prstGeom>
        </p:spPr>
      </p:pic>
      <p:sp>
        <p:nvSpPr>
          <p:cNvPr id="8" name="TextBox 7">
            <a:extLst>
              <a:ext uri="{FF2B5EF4-FFF2-40B4-BE49-F238E27FC236}">
                <a16:creationId xmlns:a16="http://schemas.microsoft.com/office/drawing/2014/main" id="{7C32323F-3DC9-4088-93ED-496B44F1058F}"/>
              </a:ext>
            </a:extLst>
          </p:cNvPr>
          <p:cNvSpPr txBox="1"/>
          <p:nvPr/>
        </p:nvSpPr>
        <p:spPr>
          <a:xfrm>
            <a:off x="4291756" y="4760541"/>
            <a:ext cx="88900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a:t>
            </a:r>
          </a:p>
        </p:txBody>
      </p:sp>
    </p:spTree>
    <p:extLst>
      <p:ext uri="{BB962C8B-B14F-4D97-AF65-F5344CB8AC3E}">
        <p14:creationId xmlns:p14="http://schemas.microsoft.com/office/powerpoint/2010/main" val="1752819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123952"/>
            <a:ext cx="3232395" cy="1650998"/>
          </a:xfrm>
        </p:spPr>
        <p:txBody>
          <a:bodyPr>
            <a:noAutofit/>
          </a:bodyPr>
          <a:lstStyle/>
          <a:p>
            <a:pPr marL="0" lvl="1">
              <a:buFont typeface="Courier New" panose="02070309020205020404" pitchFamily="49" charset="0"/>
              <a:buChar char="o"/>
            </a:pPr>
            <a:r>
              <a:rPr lang="en-US" sz="1600" dirty="0"/>
              <a:t>Positional accuracy</a:t>
            </a:r>
          </a:p>
          <a:p>
            <a:pPr marL="560070" lvl="2" indent="-457200">
              <a:buFont typeface="Wingdings" panose="05000000000000000000" pitchFamily="2" charset="2"/>
              <a:buChar char="ü"/>
            </a:pPr>
            <a:r>
              <a:rPr lang="en-US" sz="1600" dirty="0"/>
              <a:t>Root mean square error (RMSE)</a:t>
            </a:r>
          </a:p>
          <a:p>
            <a:pPr marL="560070" lvl="2" indent="-457200">
              <a:buFont typeface="Wingdings" panose="05000000000000000000" pitchFamily="2" charset="2"/>
              <a:buChar char="ü"/>
            </a:pPr>
            <a:r>
              <a:rPr lang="en-US" sz="1600" dirty="0"/>
              <a:t>Horizontal (X, Y)</a:t>
            </a:r>
          </a:p>
          <a:p>
            <a:pPr marL="560070" lvl="2" indent="-457200">
              <a:buFont typeface="Wingdings" panose="05000000000000000000" pitchFamily="2" charset="2"/>
              <a:buChar char="ü"/>
            </a:pPr>
            <a:r>
              <a:rPr lang="en-US" sz="1600" dirty="0"/>
              <a:t>Vertical (Z)</a:t>
            </a:r>
          </a:p>
        </p:txBody>
      </p:sp>
      <p:sp>
        <p:nvSpPr>
          <p:cNvPr id="2" name="Slide Number Placeholder 1">
            <a:extLst>
              <a:ext uri="{FF2B5EF4-FFF2-40B4-BE49-F238E27FC236}">
                <a16:creationId xmlns:a16="http://schemas.microsoft.com/office/drawing/2014/main" id="{67DAEF7C-5553-4681-A3F9-8E3BC1C93F2B}"/>
              </a:ext>
            </a:extLst>
          </p:cNvPr>
          <p:cNvSpPr>
            <a:spLocks noGrp="1"/>
          </p:cNvSpPr>
          <p:nvPr>
            <p:ph type="sldNum" sz="quarter" idx="12"/>
          </p:nvPr>
        </p:nvSpPr>
        <p:spPr/>
        <p:txBody>
          <a:bodyPr/>
          <a:lstStyle/>
          <a:p>
            <a:fld id="{127DDC20-79C9-9647-820E-6D40A3D210C3}" type="slidenum">
              <a:rPr lang="en-US" smtClean="0"/>
              <a:pPr/>
              <a:t>12</a:t>
            </a:fld>
            <a:endParaRPr lang="en-US"/>
          </a:p>
        </p:txBody>
      </p:sp>
      <p:sp>
        <p:nvSpPr>
          <p:cNvPr id="9" name="Title 1">
            <a:extLst>
              <a:ext uri="{FF2B5EF4-FFF2-40B4-BE49-F238E27FC236}">
                <a16:creationId xmlns:a16="http://schemas.microsoft.com/office/drawing/2014/main" id="{CB804490-0FB8-4FEC-A384-246CE13F9557}"/>
              </a:ext>
            </a:extLst>
          </p:cNvPr>
          <p:cNvSpPr txBox="1">
            <a:spLocks/>
          </p:cNvSpPr>
          <p:nvPr/>
        </p:nvSpPr>
        <p:spPr>
          <a:xfrm>
            <a:off x="331299" y="18993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Accuracy measurement</a:t>
            </a:r>
          </a:p>
        </p:txBody>
      </p:sp>
      <p:cxnSp>
        <p:nvCxnSpPr>
          <p:cNvPr id="10" name="Straight Connector 9">
            <a:extLst>
              <a:ext uri="{FF2B5EF4-FFF2-40B4-BE49-F238E27FC236}">
                <a16:creationId xmlns:a16="http://schemas.microsoft.com/office/drawing/2014/main" id="{77AC410F-79F4-4BA2-815A-86E9869E5ABB}"/>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6FDF7EFC-F62E-48FA-B3A9-61235B1DD11A}"/>
              </a:ext>
            </a:extLst>
          </p:cNvPr>
          <p:cNvSpPr/>
          <p:nvPr/>
        </p:nvSpPr>
        <p:spPr>
          <a:xfrm>
            <a:off x="-68778" y="3067502"/>
            <a:ext cx="4113728" cy="1138966"/>
          </a:xfrm>
          <a:prstGeom prst="rect">
            <a:avLst/>
          </a:prstGeom>
        </p:spPr>
        <p:txBody>
          <a:bodyPr>
            <a:spAutoFit/>
          </a:bodyPr>
          <a:lstStyle/>
          <a:p>
            <a:pPr algn="ctr">
              <a:lnSpc>
                <a:spcPct val="107000"/>
              </a:lnSpc>
              <a:spcAft>
                <a:spcPts val="540"/>
              </a:spcAft>
            </a:pPr>
            <a:r>
              <a:rPr lang="en-US" sz="1891" dirty="0">
                <a:latin typeface="Calibri" panose="020F0502020204030204" pitchFamily="34" charset="0"/>
                <a:ea typeface="Calibri" panose="020F0502020204030204" pitchFamily="34" charset="0"/>
                <a:cs typeface="Times New Roman" panose="02020603050405020304" pitchFamily="18" charset="0"/>
              </a:rPr>
              <a:t>RMSE</a:t>
            </a:r>
            <a:r>
              <a:rPr lang="en-US" sz="1891" baseline="-25000" dirty="0">
                <a:latin typeface="Calibri" panose="020F0502020204030204" pitchFamily="34" charset="0"/>
                <a:ea typeface="Calibri" panose="020F0502020204030204" pitchFamily="34" charset="0"/>
                <a:cs typeface="Times New Roman" panose="02020603050405020304" pitchFamily="18" charset="0"/>
              </a:rPr>
              <a:t>x</a:t>
            </a:r>
            <a:r>
              <a:rPr lang="en-US" sz="1891" dirty="0">
                <a:latin typeface="Calibri" panose="020F0502020204030204" pitchFamily="34" charset="0"/>
                <a:ea typeface="Calibri" panose="020F0502020204030204" pitchFamily="34" charset="0"/>
                <a:cs typeface="Times New Roman" panose="02020603050405020304" pitchFamily="18" charset="0"/>
              </a:rPr>
              <a:t> = </a:t>
            </a:r>
            <a:r>
              <a:rPr lang="en-US" sz="1891" dirty="0">
                <a:latin typeface="Arial" panose="020B0604020202020204" pitchFamily="34" charset="0"/>
                <a:ea typeface="Calibri" panose="020F0502020204030204" pitchFamily="34" charset="0"/>
                <a:cs typeface="Times New Roman" panose="02020603050405020304" pitchFamily="18" charset="0"/>
              </a:rPr>
              <a:t>√ Σ(</a:t>
            </a:r>
            <a:r>
              <a:rPr lang="en-US" sz="1891" dirty="0" err="1">
                <a:latin typeface="Arial" panose="020B0604020202020204" pitchFamily="34" charset="0"/>
                <a:ea typeface="Calibri" panose="020F0502020204030204" pitchFamily="34" charset="0"/>
                <a:cs typeface="Times New Roman" panose="02020603050405020304" pitchFamily="18" charset="0"/>
              </a:rPr>
              <a:t>x</a:t>
            </a:r>
            <a:r>
              <a:rPr lang="en-US" sz="1891" baseline="-25000" dirty="0" err="1">
                <a:latin typeface="Arial" panose="020B0604020202020204" pitchFamily="34" charset="0"/>
                <a:ea typeface="Calibri" panose="020F0502020204030204" pitchFamily="34" charset="0"/>
                <a:cs typeface="Times New Roman" panose="02020603050405020304" pitchFamily="18" charset="0"/>
              </a:rPr>
              <a:t>predicted</a:t>
            </a:r>
            <a:r>
              <a:rPr lang="en-US" sz="1891" baseline="-25000" dirty="0">
                <a:latin typeface="Arial" panose="020B0604020202020204" pitchFamily="34" charset="0"/>
                <a:ea typeface="Calibri" panose="020F0502020204030204" pitchFamily="34" charset="0"/>
                <a:cs typeface="Times New Roman" panose="02020603050405020304" pitchFamily="18" charset="0"/>
              </a:rPr>
              <a:t> </a:t>
            </a:r>
            <a:r>
              <a:rPr lang="en-US" sz="1891" dirty="0">
                <a:latin typeface="Calibri" panose="020F0502020204030204" pitchFamily="34" charset="0"/>
                <a:ea typeface="Calibri" panose="020F0502020204030204" pitchFamily="34" charset="0"/>
                <a:cs typeface="Times New Roman" panose="02020603050405020304" pitchFamily="18" charset="0"/>
              </a:rPr>
              <a:t>– </a:t>
            </a:r>
            <a:r>
              <a:rPr lang="en-US" sz="1891" dirty="0" err="1">
                <a:latin typeface="Calibri" panose="020F0502020204030204" pitchFamily="34" charset="0"/>
                <a:ea typeface="Calibri" panose="020F0502020204030204" pitchFamily="34" charset="0"/>
                <a:cs typeface="Times New Roman" panose="02020603050405020304" pitchFamily="18" charset="0"/>
              </a:rPr>
              <a:t>x</a:t>
            </a:r>
            <a:r>
              <a:rPr lang="en-US" sz="1891" baseline="-25000" dirty="0" err="1">
                <a:latin typeface="Calibri" panose="020F0502020204030204" pitchFamily="34" charset="0"/>
                <a:ea typeface="Calibri" panose="020F0502020204030204" pitchFamily="34" charset="0"/>
                <a:cs typeface="Times New Roman" panose="02020603050405020304" pitchFamily="18" charset="0"/>
              </a:rPr>
              <a:t>actual</a:t>
            </a:r>
            <a:r>
              <a:rPr lang="en-US" sz="1891" dirty="0">
                <a:latin typeface="Calibri" panose="020F0502020204030204" pitchFamily="34" charset="0"/>
                <a:ea typeface="Calibri" panose="020F0502020204030204" pitchFamily="34" charset="0"/>
                <a:cs typeface="Times New Roman" panose="02020603050405020304" pitchFamily="18" charset="0"/>
              </a:rPr>
              <a:t>)</a:t>
            </a:r>
            <a:r>
              <a:rPr lang="en-US" sz="1891" baseline="30000" dirty="0">
                <a:latin typeface="Calibri" panose="020F0502020204030204" pitchFamily="34" charset="0"/>
                <a:ea typeface="Calibri" panose="020F0502020204030204" pitchFamily="34" charset="0"/>
                <a:cs typeface="Times New Roman" panose="02020603050405020304" pitchFamily="18" charset="0"/>
              </a:rPr>
              <a:t>2</a:t>
            </a:r>
            <a:r>
              <a:rPr lang="en-US" sz="1891" dirty="0">
                <a:latin typeface="Calibri" panose="020F0502020204030204" pitchFamily="34" charset="0"/>
                <a:ea typeface="Calibri" panose="020F0502020204030204" pitchFamily="34" charset="0"/>
                <a:cs typeface="Times New Roman" panose="02020603050405020304" pitchFamily="18" charset="0"/>
              </a:rPr>
              <a:t>/n</a:t>
            </a:r>
          </a:p>
          <a:p>
            <a:pPr algn="ctr">
              <a:lnSpc>
                <a:spcPct val="107000"/>
              </a:lnSpc>
              <a:spcAft>
                <a:spcPts val="540"/>
              </a:spcAft>
            </a:pPr>
            <a:r>
              <a:rPr lang="en-US" sz="1891" dirty="0" err="1">
                <a:latin typeface="Calibri" panose="020F0502020204030204" pitchFamily="34" charset="0"/>
                <a:ea typeface="Calibri" panose="020F0502020204030204" pitchFamily="34" charset="0"/>
                <a:cs typeface="Times New Roman" panose="02020603050405020304" pitchFamily="18" charset="0"/>
              </a:rPr>
              <a:t>RMSE</a:t>
            </a:r>
            <a:r>
              <a:rPr lang="en-US" sz="1891" baseline="-25000" dirty="0" err="1">
                <a:latin typeface="Calibri" panose="020F0502020204030204" pitchFamily="34" charset="0"/>
                <a:ea typeface="Calibri" panose="020F0502020204030204" pitchFamily="34" charset="0"/>
                <a:cs typeface="Times New Roman" panose="02020603050405020304" pitchFamily="18" charset="0"/>
              </a:rPr>
              <a:t>y</a:t>
            </a:r>
            <a:r>
              <a:rPr lang="en-US" sz="1891" dirty="0">
                <a:latin typeface="Calibri" panose="020F0502020204030204" pitchFamily="34" charset="0"/>
                <a:ea typeface="Calibri" panose="020F0502020204030204" pitchFamily="34" charset="0"/>
                <a:cs typeface="Times New Roman" panose="02020603050405020304" pitchFamily="18" charset="0"/>
              </a:rPr>
              <a:t> = </a:t>
            </a:r>
            <a:r>
              <a:rPr lang="en-US" sz="1891" dirty="0">
                <a:latin typeface="Arial" panose="020B0604020202020204" pitchFamily="34" charset="0"/>
                <a:ea typeface="Calibri" panose="020F0502020204030204" pitchFamily="34" charset="0"/>
                <a:cs typeface="Times New Roman" panose="02020603050405020304" pitchFamily="18" charset="0"/>
              </a:rPr>
              <a:t>√ Σ(</a:t>
            </a:r>
            <a:r>
              <a:rPr lang="en-US" sz="1891" dirty="0" err="1">
                <a:latin typeface="Arial" panose="020B0604020202020204" pitchFamily="34" charset="0"/>
                <a:ea typeface="Calibri" panose="020F0502020204030204" pitchFamily="34" charset="0"/>
                <a:cs typeface="Times New Roman" panose="02020603050405020304" pitchFamily="18" charset="0"/>
              </a:rPr>
              <a:t>y</a:t>
            </a:r>
            <a:r>
              <a:rPr lang="en-US" sz="1891" baseline="-25000" dirty="0" err="1">
                <a:latin typeface="Arial" panose="020B0604020202020204" pitchFamily="34" charset="0"/>
                <a:ea typeface="Calibri" panose="020F0502020204030204" pitchFamily="34" charset="0"/>
                <a:cs typeface="Times New Roman" panose="02020603050405020304" pitchFamily="18" charset="0"/>
              </a:rPr>
              <a:t>predicted</a:t>
            </a:r>
            <a:r>
              <a:rPr lang="en-US" sz="1891" baseline="-25000" dirty="0">
                <a:latin typeface="Arial" panose="020B0604020202020204" pitchFamily="34" charset="0"/>
                <a:ea typeface="Calibri" panose="020F0502020204030204" pitchFamily="34" charset="0"/>
                <a:cs typeface="Times New Roman" panose="02020603050405020304" pitchFamily="18" charset="0"/>
              </a:rPr>
              <a:t> </a:t>
            </a:r>
            <a:r>
              <a:rPr lang="en-US" sz="1891" dirty="0">
                <a:latin typeface="Calibri" panose="020F0502020204030204" pitchFamily="34" charset="0"/>
                <a:ea typeface="Calibri" panose="020F0502020204030204" pitchFamily="34" charset="0"/>
                <a:cs typeface="Times New Roman" panose="02020603050405020304" pitchFamily="18" charset="0"/>
              </a:rPr>
              <a:t>– </a:t>
            </a:r>
            <a:r>
              <a:rPr lang="en-US" sz="1891" dirty="0" err="1">
                <a:latin typeface="Calibri" panose="020F0502020204030204" pitchFamily="34" charset="0"/>
                <a:ea typeface="Calibri" panose="020F0502020204030204" pitchFamily="34" charset="0"/>
                <a:cs typeface="Times New Roman" panose="02020603050405020304" pitchFamily="18" charset="0"/>
              </a:rPr>
              <a:t>y</a:t>
            </a:r>
            <a:r>
              <a:rPr lang="en-US" sz="1891" baseline="-25000" dirty="0" err="1">
                <a:latin typeface="Calibri" panose="020F0502020204030204" pitchFamily="34" charset="0"/>
                <a:ea typeface="Calibri" panose="020F0502020204030204" pitchFamily="34" charset="0"/>
                <a:cs typeface="Times New Roman" panose="02020603050405020304" pitchFamily="18" charset="0"/>
              </a:rPr>
              <a:t>actual</a:t>
            </a:r>
            <a:r>
              <a:rPr lang="en-US" sz="1891" dirty="0">
                <a:latin typeface="Calibri" panose="020F0502020204030204" pitchFamily="34" charset="0"/>
                <a:ea typeface="Calibri" panose="020F0502020204030204" pitchFamily="34" charset="0"/>
                <a:cs typeface="Times New Roman" panose="02020603050405020304" pitchFamily="18" charset="0"/>
              </a:rPr>
              <a:t>)</a:t>
            </a:r>
            <a:r>
              <a:rPr lang="en-US" sz="1891" baseline="30000" dirty="0">
                <a:latin typeface="Calibri" panose="020F0502020204030204" pitchFamily="34" charset="0"/>
                <a:ea typeface="Calibri" panose="020F0502020204030204" pitchFamily="34" charset="0"/>
                <a:cs typeface="Times New Roman" panose="02020603050405020304" pitchFamily="18" charset="0"/>
              </a:rPr>
              <a:t>2</a:t>
            </a:r>
            <a:r>
              <a:rPr lang="en-US" sz="1891" dirty="0">
                <a:latin typeface="Calibri" panose="020F0502020204030204" pitchFamily="34" charset="0"/>
                <a:ea typeface="Calibri" panose="020F0502020204030204" pitchFamily="34" charset="0"/>
                <a:cs typeface="Times New Roman" panose="02020603050405020304" pitchFamily="18" charset="0"/>
              </a:rPr>
              <a:t>/n</a:t>
            </a:r>
          </a:p>
          <a:p>
            <a:pPr algn="ctr">
              <a:lnSpc>
                <a:spcPct val="107000"/>
              </a:lnSpc>
              <a:spcAft>
                <a:spcPts val="540"/>
              </a:spcAft>
            </a:pPr>
            <a:r>
              <a:rPr lang="en-US" sz="1891" dirty="0">
                <a:latin typeface="Calibri" panose="020F0502020204030204" pitchFamily="34" charset="0"/>
                <a:ea typeface="Calibri" panose="020F0502020204030204" pitchFamily="34" charset="0"/>
                <a:cs typeface="Times New Roman" panose="02020603050405020304" pitchFamily="18" charset="0"/>
              </a:rPr>
              <a:t>RMSE = </a:t>
            </a:r>
            <a:r>
              <a:rPr lang="en-US" sz="1891" dirty="0">
                <a:latin typeface="Arial" panose="020B0604020202020204" pitchFamily="34" charset="0"/>
                <a:ea typeface="Calibri" panose="020F0502020204030204" pitchFamily="34" charset="0"/>
                <a:cs typeface="Times New Roman" panose="02020603050405020304" pitchFamily="18" charset="0"/>
              </a:rPr>
              <a:t>√ (</a:t>
            </a:r>
            <a:r>
              <a:rPr lang="en-US" sz="1891" dirty="0">
                <a:latin typeface="Calibri" panose="020F0502020204030204" pitchFamily="34" charset="0"/>
                <a:ea typeface="Calibri" panose="020F0502020204030204" pitchFamily="34" charset="0"/>
                <a:cs typeface="Times New Roman" panose="02020603050405020304" pitchFamily="18" charset="0"/>
              </a:rPr>
              <a:t>RMSE</a:t>
            </a:r>
            <a:r>
              <a:rPr lang="en-US" sz="1891" baseline="-25000" dirty="0">
                <a:latin typeface="Calibri" panose="020F0502020204030204" pitchFamily="34" charset="0"/>
                <a:ea typeface="Calibri" panose="020F0502020204030204" pitchFamily="34" charset="0"/>
                <a:cs typeface="Times New Roman" panose="02020603050405020304" pitchFamily="18" charset="0"/>
              </a:rPr>
              <a:t>x</a:t>
            </a:r>
            <a:r>
              <a:rPr lang="en-US" sz="1891" baseline="30000" dirty="0">
                <a:latin typeface="Calibri" panose="020F0502020204030204" pitchFamily="34" charset="0"/>
                <a:ea typeface="Calibri" panose="020F0502020204030204" pitchFamily="34" charset="0"/>
                <a:cs typeface="Times New Roman" panose="02020603050405020304" pitchFamily="18" charset="0"/>
              </a:rPr>
              <a:t>2</a:t>
            </a:r>
            <a:r>
              <a:rPr lang="en-US" sz="1891" dirty="0">
                <a:latin typeface="Calibri" panose="020F0502020204030204" pitchFamily="34" charset="0"/>
                <a:ea typeface="Calibri" panose="020F0502020204030204" pitchFamily="34" charset="0"/>
                <a:cs typeface="Times New Roman" panose="02020603050405020304" pitchFamily="18" charset="0"/>
              </a:rPr>
              <a:t> + RMSE</a:t>
            </a:r>
            <a:r>
              <a:rPr lang="en-US" sz="1891" baseline="-25000" dirty="0">
                <a:latin typeface="Calibri" panose="020F0502020204030204" pitchFamily="34" charset="0"/>
                <a:ea typeface="Calibri" panose="020F0502020204030204" pitchFamily="34" charset="0"/>
                <a:cs typeface="Times New Roman" panose="02020603050405020304" pitchFamily="18" charset="0"/>
              </a:rPr>
              <a:t>y</a:t>
            </a:r>
            <a:r>
              <a:rPr lang="en-US" sz="1891" baseline="30000" dirty="0">
                <a:latin typeface="Calibri" panose="020F0502020204030204" pitchFamily="34" charset="0"/>
                <a:ea typeface="Calibri" panose="020F0502020204030204" pitchFamily="34" charset="0"/>
                <a:cs typeface="Times New Roman" panose="02020603050405020304" pitchFamily="18" charset="0"/>
              </a:rPr>
              <a:t>2</a:t>
            </a:r>
            <a:r>
              <a:rPr lang="en-US" sz="1891" dirty="0">
                <a:latin typeface="Calibri" panose="020F0502020204030204" pitchFamily="34" charset="0"/>
                <a:ea typeface="Calibri" panose="020F0502020204030204" pitchFamily="34" charset="0"/>
                <a:cs typeface="Times New Roman" panose="02020603050405020304" pitchFamily="18" charset="0"/>
              </a:rPr>
              <a:t>)</a:t>
            </a:r>
          </a:p>
        </p:txBody>
      </p:sp>
      <p:pic>
        <p:nvPicPr>
          <p:cNvPr id="8" name="Picture 7" descr="Table&#10;&#10;Description automatically generated with low confidence">
            <a:extLst>
              <a:ext uri="{FF2B5EF4-FFF2-40B4-BE49-F238E27FC236}">
                <a16:creationId xmlns:a16="http://schemas.microsoft.com/office/drawing/2014/main" id="{6E50259E-7448-47C3-8FFA-C9892A37C914}"/>
              </a:ext>
            </a:extLst>
          </p:cNvPr>
          <p:cNvPicPr>
            <a:picLocks noChangeAspect="1"/>
          </p:cNvPicPr>
          <p:nvPr/>
        </p:nvPicPr>
        <p:blipFill>
          <a:blip r:embed="rId3"/>
          <a:stretch>
            <a:fillRect/>
          </a:stretch>
        </p:blipFill>
        <p:spPr>
          <a:xfrm>
            <a:off x="3877322" y="991505"/>
            <a:ext cx="3904114" cy="4151995"/>
          </a:xfrm>
          <a:prstGeom prst="rect">
            <a:avLst/>
          </a:prstGeom>
        </p:spPr>
      </p:pic>
      <p:sp>
        <p:nvSpPr>
          <p:cNvPr id="20" name="TextBox 19">
            <a:extLst>
              <a:ext uri="{FF2B5EF4-FFF2-40B4-BE49-F238E27FC236}">
                <a16:creationId xmlns:a16="http://schemas.microsoft.com/office/drawing/2014/main" id="{0AD93F34-3097-405C-BE86-4D898C141168}"/>
              </a:ext>
            </a:extLst>
          </p:cNvPr>
          <p:cNvSpPr txBox="1"/>
          <p:nvPr/>
        </p:nvSpPr>
        <p:spPr>
          <a:xfrm>
            <a:off x="5897880" y="4737549"/>
            <a:ext cx="88900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a:t>
            </a:r>
          </a:p>
        </p:txBody>
      </p:sp>
    </p:spTree>
    <p:extLst>
      <p:ext uri="{BB962C8B-B14F-4D97-AF65-F5344CB8AC3E}">
        <p14:creationId xmlns:p14="http://schemas.microsoft.com/office/powerpoint/2010/main" val="1805398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0618" y="1147527"/>
            <a:ext cx="7306679" cy="2268773"/>
          </a:xfrm>
        </p:spPr>
        <p:txBody>
          <a:bodyPr>
            <a:normAutofit/>
          </a:bodyPr>
          <a:lstStyle/>
          <a:p>
            <a:pPr marL="0" lvl="1">
              <a:buFont typeface="Courier New" panose="02070309020205020404" pitchFamily="49" charset="0"/>
              <a:buChar char="o"/>
            </a:pPr>
            <a:r>
              <a:rPr lang="en-US" sz="1400" dirty="0"/>
              <a:t>Attribute accuracy</a:t>
            </a:r>
          </a:p>
          <a:p>
            <a:pPr marL="560070" lvl="2" indent="-457200">
              <a:buFont typeface="Wingdings" panose="05000000000000000000" pitchFamily="2" charset="2"/>
              <a:buChar char="ü"/>
            </a:pPr>
            <a:r>
              <a:rPr lang="en-US" sz="1400" dirty="0"/>
              <a:t>Error matrix</a:t>
            </a:r>
          </a:p>
          <a:p>
            <a:pPr marL="971550" lvl="3" indent="-457200">
              <a:buFont typeface="Wingdings" panose="05000000000000000000" pitchFamily="2" charset="2"/>
              <a:buChar char="Ø"/>
            </a:pPr>
            <a:r>
              <a:rPr lang="en-US" sz="1400" dirty="0"/>
              <a:t>Overall accuracy</a:t>
            </a:r>
          </a:p>
          <a:p>
            <a:pPr marL="971550" lvl="3" indent="-457200">
              <a:buFont typeface="Wingdings" panose="05000000000000000000" pitchFamily="2" charset="2"/>
              <a:buChar char="Ø"/>
            </a:pPr>
            <a:r>
              <a:rPr lang="en-US" sz="1400" dirty="0"/>
              <a:t>User’s accuracy</a:t>
            </a:r>
          </a:p>
          <a:p>
            <a:pPr marL="1383030" lvl="4" indent="-457200">
              <a:buFont typeface="Arial" panose="020B0604020202020204" pitchFamily="34" charset="0"/>
              <a:buChar char="•"/>
            </a:pPr>
            <a:r>
              <a:rPr lang="en-US" sz="1400" dirty="0"/>
              <a:t>Number of correctly assigned features divided by the row total</a:t>
            </a:r>
          </a:p>
          <a:p>
            <a:pPr marL="971550" lvl="3" indent="-457200">
              <a:buFont typeface="Wingdings" panose="05000000000000000000" pitchFamily="2" charset="2"/>
              <a:buChar char="Ø"/>
            </a:pPr>
            <a:r>
              <a:rPr lang="en-US" sz="1400" dirty="0"/>
              <a:t>Producer’s accuracy</a:t>
            </a:r>
          </a:p>
          <a:p>
            <a:pPr marL="1383030" lvl="4" indent="-457200">
              <a:buFont typeface="Arial" panose="020B0604020202020204" pitchFamily="34" charset="0"/>
              <a:buChar char="•"/>
            </a:pPr>
            <a:r>
              <a:rPr lang="en-US" sz="1400" dirty="0"/>
              <a:t>Number of correctly assigned features divided by the column</a:t>
            </a:r>
          </a:p>
        </p:txBody>
      </p:sp>
      <p:sp>
        <p:nvSpPr>
          <p:cNvPr id="2" name="Slide Number Placeholder 1">
            <a:extLst>
              <a:ext uri="{FF2B5EF4-FFF2-40B4-BE49-F238E27FC236}">
                <a16:creationId xmlns:a16="http://schemas.microsoft.com/office/drawing/2014/main" id="{67DAEF7C-5553-4681-A3F9-8E3BC1C93F2B}"/>
              </a:ext>
            </a:extLst>
          </p:cNvPr>
          <p:cNvSpPr>
            <a:spLocks noGrp="1"/>
          </p:cNvSpPr>
          <p:nvPr>
            <p:ph type="sldNum" sz="quarter" idx="12"/>
          </p:nvPr>
        </p:nvSpPr>
        <p:spPr/>
        <p:txBody>
          <a:bodyPr/>
          <a:lstStyle/>
          <a:p>
            <a:fld id="{127DDC20-79C9-9647-820E-6D40A3D210C3}" type="slidenum">
              <a:rPr lang="en-US" smtClean="0"/>
              <a:pPr/>
              <a:t>13</a:t>
            </a:fld>
            <a:endParaRPr lang="en-US"/>
          </a:p>
        </p:txBody>
      </p:sp>
      <p:sp>
        <p:nvSpPr>
          <p:cNvPr id="9" name="Title 1">
            <a:extLst>
              <a:ext uri="{FF2B5EF4-FFF2-40B4-BE49-F238E27FC236}">
                <a16:creationId xmlns:a16="http://schemas.microsoft.com/office/drawing/2014/main" id="{CB804490-0FB8-4FEC-A384-246CE13F9557}"/>
              </a:ext>
            </a:extLst>
          </p:cNvPr>
          <p:cNvSpPr txBox="1">
            <a:spLocks/>
          </p:cNvSpPr>
          <p:nvPr/>
        </p:nvSpPr>
        <p:spPr>
          <a:xfrm>
            <a:off x="256172" y="19707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Accuracy measurement</a:t>
            </a:r>
          </a:p>
        </p:txBody>
      </p:sp>
      <p:cxnSp>
        <p:nvCxnSpPr>
          <p:cNvPr id="10" name="Straight Connector 9">
            <a:extLst>
              <a:ext uri="{FF2B5EF4-FFF2-40B4-BE49-F238E27FC236}">
                <a16:creationId xmlns:a16="http://schemas.microsoft.com/office/drawing/2014/main" id="{77AC410F-79F4-4BA2-815A-86E9869E5ABB}"/>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15004A03-7138-4077-8A92-ACB6CB63869D}"/>
              </a:ext>
            </a:extLst>
          </p:cNvPr>
          <p:cNvSpPr txBox="1"/>
          <p:nvPr/>
        </p:nvSpPr>
        <p:spPr>
          <a:xfrm>
            <a:off x="5897880" y="4852965"/>
            <a:ext cx="88900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a:t>
            </a:r>
          </a:p>
        </p:txBody>
      </p:sp>
    </p:spTree>
    <p:extLst>
      <p:ext uri="{BB962C8B-B14F-4D97-AF65-F5344CB8AC3E}">
        <p14:creationId xmlns:p14="http://schemas.microsoft.com/office/powerpoint/2010/main" val="2459864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B6A2DC7-DB44-FF80-6DFE-DBCFC59FC2BB}"/>
              </a:ext>
            </a:extLst>
          </p:cNvPr>
          <p:cNvPicPr>
            <a:picLocks noChangeAspect="1"/>
          </p:cNvPicPr>
          <p:nvPr/>
        </p:nvPicPr>
        <p:blipFill>
          <a:blip r:embed="rId2"/>
          <a:stretch>
            <a:fillRect/>
          </a:stretch>
        </p:blipFill>
        <p:spPr>
          <a:xfrm>
            <a:off x="3480111" y="1454376"/>
            <a:ext cx="4563470" cy="2384263"/>
          </a:xfrm>
          <a:prstGeom prst="rect">
            <a:avLst/>
          </a:prstGeom>
        </p:spPr>
      </p:pic>
      <p:sp>
        <p:nvSpPr>
          <p:cNvPr id="4" name="Slide Number Placeholder 3">
            <a:extLst>
              <a:ext uri="{FF2B5EF4-FFF2-40B4-BE49-F238E27FC236}">
                <a16:creationId xmlns:a16="http://schemas.microsoft.com/office/drawing/2014/main" id="{343EC5EB-CD76-777A-7DC8-C22A66524FC3}"/>
              </a:ext>
            </a:extLst>
          </p:cNvPr>
          <p:cNvSpPr>
            <a:spLocks noGrp="1"/>
          </p:cNvSpPr>
          <p:nvPr>
            <p:ph type="sldNum" sz="quarter" idx="12"/>
          </p:nvPr>
        </p:nvSpPr>
        <p:spPr/>
        <p:txBody>
          <a:bodyPr/>
          <a:lstStyle/>
          <a:p>
            <a:fld id="{127DDC20-79C9-9647-820E-6D40A3D210C3}" type="slidenum">
              <a:rPr lang="en-US" smtClean="0"/>
              <a:pPr/>
              <a:t>14</a:t>
            </a:fld>
            <a:endParaRPr lang="en-US"/>
          </a:p>
        </p:txBody>
      </p:sp>
      <p:pic>
        <p:nvPicPr>
          <p:cNvPr id="1026" name="Picture 2">
            <a:extLst>
              <a:ext uri="{FF2B5EF4-FFF2-40B4-BE49-F238E27FC236}">
                <a16:creationId xmlns:a16="http://schemas.microsoft.com/office/drawing/2014/main" id="{CE958D34-75EE-F03C-9E01-91BC6C5F701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45350" y="1520825"/>
            <a:ext cx="3234761" cy="2725738"/>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27A575DC-1FFD-560D-37EB-062A5E0044D8}"/>
              </a:ext>
            </a:extLst>
          </p:cNvPr>
          <p:cNvSpPr txBox="1">
            <a:spLocks/>
          </p:cNvSpPr>
          <p:nvPr/>
        </p:nvSpPr>
        <p:spPr>
          <a:xfrm>
            <a:off x="256172" y="19707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Accuracy measurement</a:t>
            </a:r>
          </a:p>
        </p:txBody>
      </p:sp>
      <p:grpSp>
        <p:nvGrpSpPr>
          <p:cNvPr id="12" name="Group 11">
            <a:extLst>
              <a:ext uri="{FF2B5EF4-FFF2-40B4-BE49-F238E27FC236}">
                <a16:creationId xmlns:a16="http://schemas.microsoft.com/office/drawing/2014/main" id="{23786FE3-B3D2-FB6F-BC00-9F37F436FCEB}"/>
              </a:ext>
            </a:extLst>
          </p:cNvPr>
          <p:cNvGrpSpPr/>
          <p:nvPr/>
        </p:nvGrpSpPr>
        <p:grpSpPr>
          <a:xfrm>
            <a:off x="3498850" y="1403350"/>
            <a:ext cx="2647950" cy="1631949"/>
            <a:chOff x="3498850" y="1403350"/>
            <a:chExt cx="2647950" cy="1631949"/>
          </a:xfrm>
        </p:grpSpPr>
        <p:sp>
          <p:nvSpPr>
            <p:cNvPr id="10" name="Rectangle 9">
              <a:extLst>
                <a:ext uri="{FF2B5EF4-FFF2-40B4-BE49-F238E27FC236}">
                  <a16:creationId xmlns:a16="http://schemas.microsoft.com/office/drawing/2014/main" id="{175C60DF-DD75-2C85-6C42-537316026696}"/>
                </a:ext>
              </a:extLst>
            </p:cNvPr>
            <p:cNvSpPr/>
            <p:nvPr/>
          </p:nvSpPr>
          <p:spPr>
            <a:xfrm>
              <a:off x="5556250" y="1403350"/>
              <a:ext cx="590550" cy="279400"/>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FCD3B45-B57C-D877-C685-F0A8AD650B64}"/>
                </a:ext>
              </a:extLst>
            </p:cNvPr>
            <p:cNvSpPr/>
            <p:nvPr/>
          </p:nvSpPr>
          <p:spPr>
            <a:xfrm>
              <a:off x="3498850" y="2367106"/>
              <a:ext cx="254000" cy="668193"/>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39FAF2AE-6265-DBD8-D061-1BFECFA540B8}"/>
              </a:ext>
            </a:extLst>
          </p:cNvPr>
          <p:cNvSpPr/>
          <p:nvPr/>
        </p:nvSpPr>
        <p:spPr>
          <a:xfrm>
            <a:off x="5035550" y="2025650"/>
            <a:ext cx="520700" cy="27940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9DF16E-3CA7-4046-05A3-F4ABDEAA6C8D}"/>
              </a:ext>
            </a:extLst>
          </p:cNvPr>
          <p:cNvSpPr/>
          <p:nvPr/>
        </p:nvSpPr>
        <p:spPr>
          <a:xfrm>
            <a:off x="6203015" y="2025650"/>
            <a:ext cx="520700" cy="27940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EA60784-8774-A294-1EC1-FFFB8EB1230D}"/>
              </a:ext>
            </a:extLst>
          </p:cNvPr>
          <p:cNvSpPr/>
          <p:nvPr/>
        </p:nvSpPr>
        <p:spPr>
          <a:xfrm>
            <a:off x="6203015" y="2883694"/>
            <a:ext cx="520700" cy="27940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5136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1600B3-7990-C0F3-90FD-C3E122C74AE0}"/>
              </a:ext>
            </a:extLst>
          </p:cNvPr>
          <p:cNvSpPr>
            <a:spLocks noGrp="1"/>
          </p:cNvSpPr>
          <p:nvPr>
            <p:ph type="sldNum" sz="quarter" idx="12"/>
          </p:nvPr>
        </p:nvSpPr>
        <p:spPr/>
        <p:txBody>
          <a:bodyPr/>
          <a:lstStyle/>
          <a:p>
            <a:fld id="{127DDC20-79C9-9647-820E-6D40A3D210C3}" type="slidenum">
              <a:rPr lang="en-US" smtClean="0"/>
              <a:pPr/>
              <a:t>15</a:t>
            </a:fld>
            <a:endParaRPr lang="en-US"/>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F8958E63-1BF8-01BD-6F9D-F2A756A38FAB}"/>
                  </a:ext>
                </a:extLst>
              </p:cNvPr>
              <p:cNvSpPr txBox="1"/>
              <p:nvPr/>
            </p:nvSpPr>
            <p:spPr>
              <a:xfrm>
                <a:off x="137400" y="1188740"/>
                <a:ext cx="4165600" cy="974562"/>
              </a:xfrm>
              <a:prstGeom prst="rect">
                <a:avLst/>
              </a:prstGeom>
              <a:noFill/>
            </p:spPr>
            <p:txBody>
              <a:bodyPr wrap="square">
                <a:spAutoFit/>
              </a:bodyPr>
              <a:lstStyle/>
              <a:p>
                <a:pPr>
                  <a:buNone/>
                </a:pPr>
                <a:r>
                  <a:rPr lang="en-US" sz="1200" dirty="0"/>
                  <a:t>OA = total sum of diagonal​ </a:t>
                </a:r>
              </a:p>
              <a:p>
                <a:pPr>
                  <a:buNone/>
                </a:pPr>
                <a14:m>
                  <m:oMathPara xmlns:m="http://schemas.openxmlformats.org/officeDocument/2006/math">
                    <m:oMathParaPr>
                      <m:jc m:val="left"/>
                    </m:oMathParaPr>
                    <m:oMath xmlns:m="http://schemas.openxmlformats.org/officeDocument/2006/math">
                      <m:r>
                        <m:rPr>
                          <m:sty m:val="p"/>
                        </m:rPr>
                        <a:rPr lang="en-US" sz="1200" i="0">
                          <a:latin typeface="Cambria Math" panose="02040503050406030204" pitchFamily="18" charset="0"/>
                        </a:rPr>
                        <m:t>OA</m:t>
                      </m:r>
                      <m:r>
                        <a:rPr lang="en-US" sz="1200" i="0">
                          <a:latin typeface="Cambria Math" panose="02040503050406030204" pitchFamily="18" charset="0"/>
                        </a:rPr>
                        <m:t>=</m:t>
                      </m:r>
                      <m:f>
                        <m:fPr>
                          <m:ctrlPr>
                            <a:rPr lang="ar-AE" sz="1200" i="1">
                              <a:latin typeface="Cambria Math" panose="02040503050406030204" pitchFamily="18" charset="0"/>
                            </a:rPr>
                          </m:ctrlPr>
                        </m:fPr>
                        <m:num>
                          <m:r>
                            <a:rPr lang="ar-AE" sz="1200" i="0">
                              <a:latin typeface="Cambria Math" panose="02040503050406030204" pitchFamily="18" charset="0"/>
                            </a:rPr>
                            <m:t>12339</m:t>
                          </m:r>
                          <m:r>
                            <a:rPr lang="ar-AE" sz="1200" i="0">
                              <a:latin typeface="Cambria Math" panose="02040503050406030204" pitchFamily="18" charset="0"/>
                            </a:rPr>
                            <m:t>+</m:t>
                          </m:r>
                          <m:r>
                            <a:rPr lang="ar-AE" sz="1200" i="0">
                              <a:latin typeface="Cambria Math" panose="02040503050406030204" pitchFamily="18" charset="0"/>
                            </a:rPr>
                            <m:t>1636</m:t>
                          </m:r>
                          <m:r>
                            <a:rPr lang="ar-AE" sz="1200" i="0">
                              <a:latin typeface="Cambria Math" panose="02040503050406030204" pitchFamily="18" charset="0"/>
                            </a:rPr>
                            <m:t>+</m:t>
                          </m:r>
                          <m:r>
                            <a:rPr lang="ar-AE" sz="1200" i="0">
                              <a:latin typeface="Cambria Math" panose="02040503050406030204" pitchFamily="18" charset="0"/>
                            </a:rPr>
                            <m:t>4474</m:t>
                          </m:r>
                          <m:r>
                            <a:rPr lang="ar-AE" sz="1200" i="0">
                              <a:latin typeface="Cambria Math" panose="02040503050406030204" pitchFamily="18" charset="0"/>
                            </a:rPr>
                            <m:t>+</m:t>
                          </m:r>
                          <m:r>
                            <a:rPr lang="ar-AE" sz="1200" i="0">
                              <a:latin typeface="Cambria Math" panose="02040503050406030204" pitchFamily="18" charset="0"/>
                            </a:rPr>
                            <m:t>5410</m:t>
                          </m:r>
                          <m:r>
                            <a:rPr lang="ar-AE" sz="1200" i="0">
                              <a:latin typeface="Cambria Math" panose="02040503050406030204" pitchFamily="18" charset="0"/>
                            </a:rPr>
                            <m:t>+</m:t>
                          </m:r>
                          <m:r>
                            <a:rPr lang="ar-AE" sz="1200" i="0">
                              <a:latin typeface="Cambria Math" panose="02040503050406030204" pitchFamily="18" charset="0"/>
                            </a:rPr>
                            <m:t>10107</m:t>
                          </m:r>
                        </m:num>
                        <m:den>
                          <m:r>
                            <a:rPr lang="ar-AE" sz="1200" i="0">
                              <a:latin typeface="Cambria Math" panose="02040503050406030204" pitchFamily="18" charset="0"/>
                            </a:rPr>
                            <m:t>34339</m:t>
                          </m:r>
                        </m:den>
                      </m:f>
                    </m:oMath>
                  </m:oMathPara>
                </a14:m>
                <a:endParaRPr lang="en-US" sz="1200" i="1" dirty="0">
                  <a:latin typeface="Cambria Math" panose="02040503050406030204" pitchFamily="18" charset="0"/>
                </a:endParaRPr>
              </a:p>
              <a:p>
                <a:pPr>
                  <a:buNone/>
                </a:pPr>
                <a14:m>
                  <m:oMathPara xmlns:m="http://schemas.openxmlformats.org/officeDocument/2006/math">
                    <m:oMathParaPr>
                      <m:jc m:val="left"/>
                    </m:oMathParaPr>
                    <m:oMath xmlns:m="http://schemas.openxmlformats.org/officeDocument/2006/math">
                      <m:r>
                        <a:rPr lang="ar-AE" sz="1200" i="0">
                          <a:latin typeface="Cambria Math" panose="02040503050406030204" pitchFamily="18" charset="0"/>
                        </a:rPr>
                        <m:t>=</m:t>
                      </m:r>
                      <m:f>
                        <m:fPr>
                          <m:ctrlPr>
                            <a:rPr lang="ar-AE" sz="1200" i="1">
                              <a:latin typeface="Cambria Math" panose="02040503050406030204" pitchFamily="18" charset="0"/>
                            </a:rPr>
                          </m:ctrlPr>
                        </m:fPr>
                        <m:num>
                          <m:r>
                            <a:rPr lang="ar-AE" sz="1200" i="0">
                              <a:latin typeface="Cambria Math" panose="02040503050406030204" pitchFamily="18" charset="0"/>
                            </a:rPr>
                            <m:t>33966</m:t>
                          </m:r>
                        </m:num>
                        <m:den>
                          <m:r>
                            <a:rPr lang="ar-AE" sz="1200" i="0">
                              <a:latin typeface="Cambria Math" panose="02040503050406030204" pitchFamily="18" charset="0"/>
                            </a:rPr>
                            <m:t>34339</m:t>
                          </m:r>
                        </m:den>
                      </m:f>
                      <m:r>
                        <a:rPr lang="ar-AE" sz="1200" i="0">
                          <a:latin typeface="Cambria Math" panose="02040503050406030204" pitchFamily="18" charset="0"/>
                        </a:rPr>
                        <m:t>≈</m:t>
                      </m:r>
                      <m:r>
                        <a:rPr lang="ar-AE" sz="1200" i="0">
                          <a:latin typeface="Cambria Math" panose="02040503050406030204" pitchFamily="18" charset="0"/>
                        </a:rPr>
                        <m:t>0</m:t>
                      </m:r>
                      <m:r>
                        <a:rPr lang="ar-AE" sz="1200" i="0">
                          <a:latin typeface="Cambria Math" panose="02040503050406030204" pitchFamily="18" charset="0"/>
                        </a:rPr>
                        <m:t>.</m:t>
                      </m:r>
                      <m:r>
                        <a:rPr lang="ar-AE" sz="1200" i="0">
                          <a:latin typeface="Cambria Math" panose="02040503050406030204" pitchFamily="18" charset="0"/>
                        </a:rPr>
                        <m:t>9883</m:t>
                      </m:r>
                    </m:oMath>
                  </m:oMathPara>
                </a14:m>
                <a:endParaRPr lang="ar-AE" sz="1200" dirty="0"/>
              </a:p>
            </p:txBody>
          </p:sp>
        </mc:Choice>
        <mc:Fallback>
          <p:sp>
            <p:nvSpPr>
              <p:cNvPr id="6" name="TextBox 5">
                <a:extLst>
                  <a:ext uri="{FF2B5EF4-FFF2-40B4-BE49-F238E27FC236}">
                    <a16:creationId xmlns:a16="http://schemas.microsoft.com/office/drawing/2014/main" id="{F8958E63-1BF8-01BD-6F9D-F2A756A38FAB}"/>
                  </a:ext>
                </a:extLst>
              </p:cNvPr>
              <p:cNvSpPr txBox="1">
                <a:spLocks noRot="1" noChangeAspect="1" noMove="1" noResize="1" noEditPoints="1" noAdjustHandles="1" noChangeArrowheads="1" noChangeShapeType="1" noTextEdit="1"/>
              </p:cNvSpPr>
              <p:nvPr/>
            </p:nvSpPr>
            <p:spPr>
              <a:xfrm>
                <a:off x="137400" y="1188740"/>
                <a:ext cx="4165600" cy="974562"/>
              </a:xfrm>
              <a:prstGeom prst="rect">
                <a:avLst/>
              </a:prstGeom>
              <a:blipFill>
                <a:blip r:embed="rId2"/>
                <a:stretch>
                  <a:fillRect l="-146"/>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09C82581-A10A-7AD2-42D3-B8D26C4D5EDE}"/>
              </a:ext>
            </a:extLst>
          </p:cNvPr>
          <p:cNvSpPr txBox="1"/>
          <p:nvPr/>
        </p:nvSpPr>
        <p:spPr>
          <a:xfrm>
            <a:off x="245350" y="438146"/>
            <a:ext cx="4114800" cy="492443"/>
          </a:xfrm>
          <a:prstGeom prst="rect">
            <a:avLst/>
          </a:prstGeom>
          <a:noFill/>
        </p:spPr>
        <p:txBody>
          <a:bodyPr wrap="square">
            <a:spAutoFit/>
          </a:bodyPr>
          <a:lstStyle/>
          <a:p>
            <a:pPr algn="l"/>
            <a:r>
              <a:rPr lang="en-US" sz="2600" dirty="0">
                <a:solidFill>
                  <a:srgbClr val="7030A0"/>
                </a:solidFill>
              </a:rPr>
              <a:t>Accuracy measurement</a:t>
            </a:r>
          </a:p>
        </p:txBody>
      </p:sp>
      <p:pic>
        <p:nvPicPr>
          <p:cNvPr id="10" name="Picture 9">
            <a:extLst>
              <a:ext uri="{FF2B5EF4-FFF2-40B4-BE49-F238E27FC236}">
                <a16:creationId xmlns:a16="http://schemas.microsoft.com/office/drawing/2014/main" id="{D9F343A2-702F-F163-1A3D-CE44BCEFD90E}"/>
              </a:ext>
            </a:extLst>
          </p:cNvPr>
          <p:cNvPicPr>
            <a:picLocks noChangeAspect="1"/>
          </p:cNvPicPr>
          <p:nvPr/>
        </p:nvPicPr>
        <p:blipFill>
          <a:blip r:embed="rId3"/>
          <a:stretch>
            <a:fillRect/>
          </a:stretch>
        </p:blipFill>
        <p:spPr>
          <a:xfrm>
            <a:off x="46415" y="2655331"/>
            <a:ext cx="3930650" cy="1784037"/>
          </a:xfrm>
          <a:prstGeom prst="rect">
            <a:avLst/>
          </a:prstGeom>
        </p:spPr>
      </p:pic>
      <p:pic>
        <p:nvPicPr>
          <p:cNvPr id="5" name="Picture 4">
            <a:extLst>
              <a:ext uri="{FF2B5EF4-FFF2-40B4-BE49-F238E27FC236}">
                <a16:creationId xmlns:a16="http://schemas.microsoft.com/office/drawing/2014/main" id="{DBFF7D13-9C4F-EA1D-9C6A-B64111C55124}"/>
              </a:ext>
            </a:extLst>
          </p:cNvPr>
          <p:cNvPicPr>
            <a:picLocks noChangeAspect="1"/>
          </p:cNvPicPr>
          <p:nvPr/>
        </p:nvPicPr>
        <p:blipFill>
          <a:blip r:embed="rId4"/>
          <a:stretch>
            <a:fillRect/>
          </a:stretch>
        </p:blipFill>
        <p:spPr>
          <a:xfrm>
            <a:off x="3619715" y="438146"/>
            <a:ext cx="4563470" cy="2384263"/>
          </a:xfrm>
          <a:prstGeom prst="rect">
            <a:avLst/>
          </a:prstGeom>
        </p:spPr>
      </p:pic>
    </p:spTree>
    <p:extLst>
      <p:ext uri="{BB962C8B-B14F-4D97-AF65-F5344CB8AC3E}">
        <p14:creationId xmlns:p14="http://schemas.microsoft.com/office/powerpoint/2010/main" val="3123767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2305" y="1090613"/>
            <a:ext cx="7444990" cy="2211388"/>
          </a:xfrm>
        </p:spPr>
        <p:txBody>
          <a:bodyPr>
            <a:normAutofit/>
          </a:bodyPr>
          <a:lstStyle/>
          <a:p>
            <a:pPr marL="0" indent="0">
              <a:buNone/>
            </a:pPr>
            <a:r>
              <a:rPr lang="en-US" sz="2000" dirty="0"/>
              <a:t>The difference between the real world and its representation on a map</a:t>
            </a:r>
          </a:p>
          <a:p>
            <a:pPr marL="0" indent="0">
              <a:buNone/>
            </a:pPr>
            <a:endParaRPr lang="en-US" sz="2000" dirty="0"/>
          </a:p>
          <a:p>
            <a:pPr marL="0" indent="0">
              <a:buNone/>
            </a:pPr>
            <a:r>
              <a:rPr lang="en-US" sz="2000" dirty="0"/>
              <a:t>Many types of uncertainty: positional, errors, scale and generalization, fuzziness and definitions, sampling of data, timeliness</a:t>
            </a:r>
          </a:p>
        </p:txBody>
      </p:sp>
      <p:sp>
        <p:nvSpPr>
          <p:cNvPr id="2" name="Slide Number Placeholder 1">
            <a:extLst>
              <a:ext uri="{FF2B5EF4-FFF2-40B4-BE49-F238E27FC236}">
                <a16:creationId xmlns:a16="http://schemas.microsoft.com/office/drawing/2014/main" id="{C3F98E80-3034-4D02-8956-1A74843D6AB2}"/>
              </a:ext>
            </a:extLst>
          </p:cNvPr>
          <p:cNvSpPr>
            <a:spLocks noGrp="1"/>
          </p:cNvSpPr>
          <p:nvPr>
            <p:ph type="sldNum" sz="quarter" idx="12"/>
          </p:nvPr>
        </p:nvSpPr>
        <p:spPr/>
        <p:txBody>
          <a:bodyPr/>
          <a:lstStyle/>
          <a:p>
            <a:fld id="{127DDC20-79C9-9647-820E-6D40A3D210C3}" type="slidenum">
              <a:rPr lang="en-US" smtClean="0"/>
              <a:pPr/>
              <a:t>16</a:t>
            </a:fld>
            <a:endParaRPr lang="en-US"/>
          </a:p>
        </p:txBody>
      </p:sp>
      <p:sp>
        <p:nvSpPr>
          <p:cNvPr id="4" name="Title 1">
            <a:extLst>
              <a:ext uri="{FF2B5EF4-FFF2-40B4-BE49-F238E27FC236}">
                <a16:creationId xmlns:a16="http://schemas.microsoft.com/office/drawing/2014/main" id="{87468CAC-C46B-4960-8DDA-060FE74F8989}"/>
              </a:ext>
            </a:extLst>
          </p:cNvPr>
          <p:cNvSpPr txBox="1">
            <a:spLocks/>
          </p:cNvSpPr>
          <p:nvPr/>
        </p:nvSpPr>
        <p:spPr>
          <a:xfrm>
            <a:off x="321733" y="23336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Uncertainty</a:t>
            </a:r>
          </a:p>
        </p:txBody>
      </p:sp>
      <p:cxnSp>
        <p:nvCxnSpPr>
          <p:cNvPr id="5" name="Straight Connector 4">
            <a:extLst>
              <a:ext uri="{FF2B5EF4-FFF2-40B4-BE49-F238E27FC236}">
                <a16:creationId xmlns:a16="http://schemas.microsoft.com/office/drawing/2014/main" id="{5DF40234-9C96-46B4-9922-2DC47BA8D56A}"/>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4112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533" y="1131195"/>
            <a:ext cx="8001000" cy="1815204"/>
          </a:xfrm>
        </p:spPr>
        <p:txBody>
          <a:bodyPr>
            <a:normAutofit/>
          </a:bodyPr>
          <a:lstStyle/>
          <a:p>
            <a:pPr>
              <a:buFont typeface="Courier New" panose="02070309020205020404" pitchFamily="49" charset="0"/>
              <a:buChar char="o"/>
            </a:pPr>
            <a:r>
              <a:rPr lang="en-US" sz="2000" b="1" dirty="0">
                <a:solidFill>
                  <a:srgbClr val="E3874F"/>
                </a:solidFill>
              </a:rPr>
              <a:t>Inherent: </a:t>
            </a:r>
            <a:r>
              <a:rPr lang="en-US" sz="2000" dirty="0"/>
              <a:t>present in source dataset </a:t>
            </a:r>
          </a:p>
          <a:p>
            <a:pPr>
              <a:buFont typeface="Courier New" panose="02070309020205020404" pitchFamily="49" charset="0"/>
              <a:buChar char="o"/>
            </a:pPr>
            <a:r>
              <a:rPr lang="en-US" sz="2000" b="1" dirty="0">
                <a:solidFill>
                  <a:srgbClr val="E3874F"/>
                </a:solidFill>
              </a:rPr>
              <a:t>Operational: </a:t>
            </a:r>
            <a:r>
              <a:rPr lang="en-US" sz="2000" dirty="0"/>
              <a:t>results from data operations and manipulations. Incorrect analyses, misinterpretations of features when digitizing, misclassifying map objects</a:t>
            </a:r>
          </a:p>
          <a:p>
            <a:pPr marL="0" indent="0">
              <a:buNone/>
            </a:pPr>
            <a:endParaRPr lang="en-US" sz="2000" dirty="0"/>
          </a:p>
        </p:txBody>
      </p:sp>
      <p:sp>
        <p:nvSpPr>
          <p:cNvPr id="2" name="Slide Number Placeholder 1">
            <a:extLst>
              <a:ext uri="{FF2B5EF4-FFF2-40B4-BE49-F238E27FC236}">
                <a16:creationId xmlns:a16="http://schemas.microsoft.com/office/drawing/2014/main" id="{37340BE2-5160-4822-AF06-EB8ABDAB672D}"/>
              </a:ext>
            </a:extLst>
          </p:cNvPr>
          <p:cNvSpPr>
            <a:spLocks noGrp="1"/>
          </p:cNvSpPr>
          <p:nvPr>
            <p:ph type="sldNum" sz="quarter" idx="12"/>
          </p:nvPr>
        </p:nvSpPr>
        <p:spPr/>
        <p:txBody>
          <a:bodyPr/>
          <a:lstStyle/>
          <a:p>
            <a:fld id="{127DDC20-79C9-9647-820E-6D40A3D210C3}" type="slidenum">
              <a:rPr lang="en-US" smtClean="0"/>
              <a:pPr/>
              <a:t>17</a:t>
            </a:fld>
            <a:endParaRPr lang="en-US"/>
          </a:p>
        </p:txBody>
      </p:sp>
      <p:sp>
        <p:nvSpPr>
          <p:cNvPr id="6" name="Title 1">
            <a:extLst>
              <a:ext uri="{FF2B5EF4-FFF2-40B4-BE49-F238E27FC236}">
                <a16:creationId xmlns:a16="http://schemas.microsoft.com/office/drawing/2014/main" id="{283C40FB-2EB1-4FCD-AE2B-4B9B8769B2E5}"/>
              </a:ext>
            </a:extLst>
          </p:cNvPr>
          <p:cNvSpPr txBox="1">
            <a:spLocks/>
          </p:cNvSpPr>
          <p:nvPr/>
        </p:nvSpPr>
        <p:spPr>
          <a:xfrm>
            <a:off x="302683" y="1805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Errors</a:t>
            </a:r>
          </a:p>
        </p:txBody>
      </p:sp>
      <p:cxnSp>
        <p:nvCxnSpPr>
          <p:cNvPr id="7" name="Straight Connector 6">
            <a:extLst>
              <a:ext uri="{FF2B5EF4-FFF2-40B4-BE49-F238E27FC236}">
                <a16:creationId xmlns:a16="http://schemas.microsoft.com/office/drawing/2014/main" id="{6A7C69FD-A531-4329-9A56-F474C3DF1737}"/>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0188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90036"/>
            <a:ext cx="3417518" cy="2881110"/>
          </a:xfrm>
        </p:spPr>
        <p:txBody>
          <a:bodyPr>
            <a:normAutofit/>
          </a:bodyPr>
          <a:lstStyle/>
          <a:p>
            <a:pPr>
              <a:buFont typeface="Courier New" panose="02070309020205020404" pitchFamily="49" charset="0"/>
              <a:buChar char="o"/>
            </a:pPr>
            <a:r>
              <a:rPr lang="en-US" sz="2000" dirty="0"/>
              <a:t>All maps are generalizations</a:t>
            </a:r>
          </a:p>
          <a:p>
            <a:pPr>
              <a:buFont typeface="Courier New" panose="02070309020205020404" pitchFamily="49" charset="0"/>
              <a:buChar char="o"/>
            </a:pPr>
            <a:endParaRPr lang="en-US" sz="2000" dirty="0"/>
          </a:p>
          <a:p>
            <a:pPr>
              <a:buFont typeface="Courier New" panose="02070309020205020404" pitchFamily="49" charset="0"/>
              <a:buChar char="o"/>
            </a:pPr>
            <a:r>
              <a:rPr lang="en-US" sz="2000" dirty="0"/>
              <a:t>Detail and presentation change with scale</a:t>
            </a:r>
          </a:p>
          <a:p>
            <a:pPr marL="0" indent="0">
              <a:buNone/>
            </a:pPr>
            <a:endParaRPr lang="en-US" sz="2000" dirty="0"/>
          </a:p>
          <a:p>
            <a:pPr>
              <a:buFont typeface="Courier New" panose="02070309020205020404" pitchFamily="49" charset="0"/>
              <a:buChar char="o"/>
            </a:pPr>
            <a:endParaRPr lang="en-US" sz="2000" dirty="0"/>
          </a:p>
        </p:txBody>
      </p:sp>
      <p:sp>
        <p:nvSpPr>
          <p:cNvPr id="2" name="Slide Number Placeholder 1">
            <a:extLst>
              <a:ext uri="{FF2B5EF4-FFF2-40B4-BE49-F238E27FC236}">
                <a16:creationId xmlns:a16="http://schemas.microsoft.com/office/drawing/2014/main" id="{EC98F64C-D65F-4F6A-B229-B9D3AFB44F6C}"/>
              </a:ext>
            </a:extLst>
          </p:cNvPr>
          <p:cNvSpPr>
            <a:spLocks noGrp="1"/>
          </p:cNvSpPr>
          <p:nvPr>
            <p:ph type="sldNum" sz="quarter" idx="12"/>
          </p:nvPr>
        </p:nvSpPr>
        <p:spPr/>
        <p:txBody>
          <a:bodyPr/>
          <a:lstStyle/>
          <a:p>
            <a:fld id="{127DDC20-79C9-9647-820E-6D40A3D210C3}" type="slidenum">
              <a:rPr lang="en-US" smtClean="0"/>
              <a:pPr/>
              <a:t>18</a:t>
            </a:fld>
            <a:endParaRPr lang="en-US"/>
          </a:p>
        </p:txBody>
      </p:sp>
      <p:pic>
        <p:nvPicPr>
          <p:cNvPr id="4" name="Picture 3" descr="Image showing different generalizations"/>
          <p:cNvPicPr>
            <a:picLocks noChangeAspect="1"/>
          </p:cNvPicPr>
          <p:nvPr/>
        </p:nvPicPr>
        <p:blipFill>
          <a:blip r:embed="rId3"/>
          <a:stretch>
            <a:fillRect/>
          </a:stretch>
        </p:blipFill>
        <p:spPr>
          <a:xfrm>
            <a:off x="3703213" y="1365142"/>
            <a:ext cx="3964999" cy="2531261"/>
          </a:xfrm>
          <a:prstGeom prst="rect">
            <a:avLst/>
          </a:prstGeom>
        </p:spPr>
      </p:pic>
      <p:sp>
        <p:nvSpPr>
          <p:cNvPr id="5" name="TextBox 4"/>
          <p:cNvSpPr txBox="1"/>
          <p:nvPr/>
        </p:nvSpPr>
        <p:spPr>
          <a:xfrm>
            <a:off x="3909007" y="4063754"/>
            <a:ext cx="4167320" cy="541046"/>
          </a:xfrm>
          <a:prstGeom prst="rect">
            <a:avLst/>
          </a:prstGeom>
          <a:noFill/>
        </p:spPr>
        <p:txBody>
          <a:bodyPr wrap="square" rtlCol="0">
            <a:spAutoFit/>
          </a:bodyPr>
          <a:lstStyle/>
          <a:p>
            <a:pPr>
              <a:lnSpc>
                <a:spcPct val="90000"/>
              </a:lnSpc>
            </a:pPr>
            <a:r>
              <a:rPr lang="en-US" sz="1620" dirty="0"/>
              <a:t> = 1:24,000 scale county boundary</a:t>
            </a:r>
          </a:p>
          <a:p>
            <a:pPr>
              <a:lnSpc>
                <a:spcPct val="90000"/>
              </a:lnSpc>
            </a:pPr>
            <a:r>
              <a:rPr lang="en-US" sz="1620" dirty="0"/>
              <a:t> = 1:100,000 scale county boundary</a:t>
            </a:r>
          </a:p>
        </p:txBody>
      </p:sp>
      <p:sp>
        <p:nvSpPr>
          <p:cNvPr id="6" name="Title 1">
            <a:extLst>
              <a:ext uri="{FF2B5EF4-FFF2-40B4-BE49-F238E27FC236}">
                <a16:creationId xmlns:a16="http://schemas.microsoft.com/office/drawing/2014/main" id="{E0E67430-A8B2-4B61-B562-CA5AEC664A7C}"/>
              </a:ext>
            </a:extLst>
          </p:cNvPr>
          <p:cNvSpPr txBox="1">
            <a:spLocks/>
          </p:cNvSpPr>
          <p:nvPr/>
        </p:nvSpPr>
        <p:spPr>
          <a:xfrm>
            <a:off x="239183" y="19765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Scale and generalization</a:t>
            </a:r>
          </a:p>
        </p:txBody>
      </p:sp>
      <p:cxnSp>
        <p:nvCxnSpPr>
          <p:cNvPr id="7" name="Straight Connector 6">
            <a:extLst>
              <a:ext uri="{FF2B5EF4-FFF2-40B4-BE49-F238E27FC236}">
                <a16:creationId xmlns:a16="http://schemas.microsoft.com/office/drawing/2014/main" id="{C331EDF6-16C0-4950-91F8-56D2A97FD7E7}"/>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C2CF7F7E-9FED-5F5B-2864-FF6EA7B8970F}"/>
              </a:ext>
            </a:extLst>
          </p:cNvPr>
          <p:cNvCxnSpPr>
            <a:cxnSpLocks/>
          </p:cNvCxnSpPr>
          <p:nvPr/>
        </p:nvCxnSpPr>
        <p:spPr>
          <a:xfrm>
            <a:off x="5531370" y="1386591"/>
            <a:ext cx="0" cy="869429"/>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2" name="Straight Arrow Connector 11">
            <a:extLst>
              <a:ext uri="{FF2B5EF4-FFF2-40B4-BE49-F238E27FC236}">
                <a16:creationId xmlns:a16="http://schemas.microsoft.com/office/drawing/2014/main" id="{5EFACA89-2BD9-8B90-AE41-46FF8D6F88CC}"/>
              </a:ext>
            </a:extLst>
          </p:cNvPr>
          <p:cNvCxnSpPr>
            <a:cxnSpLocks/>
          </p:cNvCxnSpPr>
          <p:nvPr/>
        </p:nvCxnSpPr>
        <p:spPr>
          <a:xfrm>
            <a:off x="3410262" y="2630773"/>
            <a:ext cx="2940570"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15" name="Oval 14">
            <a:extLst>
              <a:ext uri="{FF2B5EF4-FFF2-40B4-BE49-F238E27FC236}">
                <a16:creationId xmlns:a16="http://schemas.microsoft.com/office/drawing/2014/main" id="{927B6793-924E-9514-2299-4E79D47DB9C6}"/>
              </a:ext>
            </a:extLst>
          </p:cNvPr>
          <p:cNvSpPr/>
          <p:nvPr/>
        </p:nvSpPr>
        <p:spPr>
          <a:xfrm>
            <a:off x="5392712" y="1168245"/>
            <a:ext cx="277316" cy="200365"/>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1</a:t>
            </a:r>
          </a:p>
        </p:txBody>
      </p:sp>
      <p:sp>
        <p:nvSpPr>
          <p:cNvPr id="16" name="Oval 15">
            <a:extLst>
              <a:ext uri="{FF2B5EF4-FFF2-40B4-BE49-F238E27FC236}">
                <a16:creationId xmlns:a16="http://schemas.microsoft.com/office/drawing/2014/main" id="{83F1D51B-14FB-C0F6-9AEB-0A19733783A5}"/>
              </a:ext>
            </a:extLst>
          </p:cNvPr>
          <p:cNvSpPr/>
          <p:nvPr/>
        </p:nvSpPr>
        <p:spPr>
          <a:xfrm>
            <a:off x="3132946" y="2530591"/>
            <a:ext cx="277316" cy="200365"/>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2</a:t>
            </a:r>
          </a:p>
        </p:txBody>
      </p:sp>
      <p:sp>
        <p:nvSpPr>
          <p:cNvPr id="17" name="Oval 16">
            <a:extLst>
              <a:ext uri="{FF2B5EF4-FFF2-40B4-BE49-F238E27FC236}">
                <a16:creationId xmlns:a16="http://schemas.microsoft.com/office/drawing/2014/main" id="{FB346D8C-5E1D-E1AE-4885-E66C10C63E24}"/>
              </a:ext>
            </a:extLst>
          </p:cNvPr>
          <p:cNvSpPr/>
          <p:nvPr/>
        </p:nvSpPr>
        <p:spPr>
          <a:xfrm>
            <a:off x="3703213" y="4098989"/>
            <a:ext cx="277316" cy="200365"/>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1</a:t>
            </a:r>
          </a:p>
        </p:txBody>
      </p:sp>
      <p:sp>
        <p:nvSpPr>
          <p:cNvPr id="18" name="Oval 17">
            <a:extLst>
              <a:ext uri="{FF2B5EF4-FFF2-40B4-BE49-F238E27FC236}">
                <a16:creationId xmlns:a16="http://schemas.microsoft.com/office/drawing/2014/main" id="{2F17707A-7F3C-1235-5732-8E6E03B84353}"/>
              </a:ext>
            </a:extLst>
          </p:cNvPr>
          <p:cNvSpPr/>
          <p:nvPr/>
        </p:nvSpPr>
        <p:spPr>
          <a:xfrm>
            <a:off x="3703213" y="4366519"/>
            <a:ext cx="277316" cy="200365"/>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2</a:t>
            </a:r>
          </a:p>
        </p:txBody>
      </p:sp>
    </p:spTree>
    <p:extLst>
      <p:ext uri="{BB962C8B-B14F-4D97-AF65-F5344CB8AC3E}">
        <p14:creationId xmlns:p14="http://schemas.microsoft.com/office/powerpoint/2010/main" val="2526324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533" y="1131195"/>
            <a:ext cx="4373986" cy="2881110"/>
          </a:xfrm>
        </p:spPr>
        <p:txBody>
          <a:bodyPr>
            <a:normAutofit/>
          </a:bodyPr>
          <a:lstStyle/>
          <a:p>
            <a:pPr>
              <a:buFont typeface="Courier New" panose="02070309020205020404" pitchFamily="49" charset="0"/>
              <a:buChar char="o"/>
            </a:pPr>
            <a:r>
              <a:rPr lang="en-US" dirty="0"/>
              <a:t>Not all features have distinct boundaries</a:t>
            </a:r>
          </a:p>
          <a:p>
            <a:pPr lvl="1">
              <a:buFont typeface="Wingdings" panose="05000000000000000000" pitchFamily="2" charset="2"/>
              <a:buChar char="ü"/>
            </a:pPr>
            <a:r>
              <a:rPr lang="en-US" dirty="0"/>
              <a:t>Wetland, upland, soil type</a:t>
            </a:r>
          </a:p>
          <a:p>
            <a:pPr marL="0" indent="0">
              <a:buNone/>
            </a:pPr>
            <a:endParaRPr lang="en-US" dirty="0"/>
          </a:p>
          <a:p>
            <a:pPr>
              <a:buFont typeface="Courier New" panose="02070309020205020404" pitchFamily="49" charset="0"/>
              <a:buChar char="o"/>
            </a:pPr>
            <a:r>
              <a:rPr lang="en-US" dirty="0"/>
              <a:t>Not all categories have clear definitions</a:t>
            </a:r>
          </a:p>
          <a:p>
            <a:pPr lvl="1">
              <a:buFont typeface="Wingdings" panose="05000000000000000000" pitchFamily="2" charset="2"/>
              <a:buChar char="ü"/>
            </a:pPr>
            <a:r>
              <a:rPr lang="en-US" dirty="0"/>
              <a:t>Urban, suburban</a:t>
            </a:r>
          </a:p>
        </p:txBody>
      </p:sp>
      <p:sp>
        <p:nvSpPr>
          <p:cNvPr id="2" name="Slide Number Placeholder 1">
            <a:extLst>
              <a:ext uri="{FF2B5EF4-FFF2-40B4-BE49-F238E27FC236}">
                <a16:creationId xmlns:a16="http://schemas.microsoft.com/office/drawing/2014/main" id="{2F24613C-0B17-4CA3-81C8-4AEF47BFD576}"/>
              </a:ext>
            </a:extLst>
          </p:cNvPr>
          <p:cNvSpPr>
            <a:spLocks noGrp="1"/>
          </p:cNvSpPr>
          <p:nvPr>
            <p:ph type="sldNum" sz="quarter" idx="12"/>
          </p:nvPr>
        </p:nvSpPr>
        <p:spPr/>
        <p:txBody>
          <a:bodyPr/>
          <a:lstStyle/>
          <a:p>
            <a:fld id="{127DDC20-79C9-9647-820E-6D40A3D210C3}" type="slidenum">
              <a:rPr lang="en-US" smtClean="0"/>
              <a:pPr/>
              <a:t>19</a:t>
            </a:fld>
            <a:endParaRPr lang="en-US"/>
          </a:p>
        </p:txBody>
      </p:sp>
      <p:pic>
        <p:nvPicPr>
          <p:cNvPr id="4" name="Picture 3" descr="Image showing fuzzines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89225" y="991505"/>
            <a:ext cx="2901564" cy="3754965"/>
          </a:xfrm>
          <a:prstGeom prst="rect">
            <a:avLst/>
          </a:prstGeom>
        </p:spPr>
      </p:pic>
      <p:sp>
        <p:nvSpPr>
          <p:cNvPr id="5" name="Title 1">
            <a:extLst>
              <a:ext uri="{FF2B5EF4-FFF2-40B4-BE49-F238E27FC236}">
                <a16:creationId xmlns:a16="http://schemas.microsoft.com/office/drawing/2014/main" id="{9EE82322-7E58-43DC-B46D-019E336BC603}"/>
              </a:ext>
            </a:extLst>
          </p:cNvPr>
          <p:cNvSpPr txBox="1">
            <a:spLocks/>
          </p:cNvSpPr>
          <p:nvPr/>
        </p:nvSpPr>
        <p:spPr>
          <a:xfrm>
            <a:off x="270933" y="20428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Fuzziness</a:t>
            </a:r>
          </a:p>
        </p:txBody>
      </p:sp>
      <p:cxnSp>
        <p:nvCxnSpPr>
          <p:cNvPr id="6" name="Straight Connector 5">
            <a:extLst>
              <a:ext uri="{FF2B5EF4-FFF2-40B4-BE49-F238E27FC236}">
                <a16:creationId xmlns:a16="http://schemas.microsoft.com/office/drawing/2014/main" id="{8930C41E-5A41-4677-B531-09B338110178}"/>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1575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318062"/>
            <a:ext cx="3293571" cy="2881110"/>
          </a:xfrm>
        </p:spPr>
        <p:txBody>
          <a:bodyPr>
            <a:normAutofit/>
          </a:bodyPr>
          <a:lstStyle/>
          <a:p>
            <a:pPr>
              <a:buFont typeface="Courier New" panose="02070309020205020404" pitchFamily="49" charset="0"/>
              <a:buChar char="o"/>
            </a:pPr>
            <a:r>
              <a:rPr lang="en-US" sz="2000" dirty="0"/>
              <a:t>Things change</a:t>
            </a:r>
          </a:p>
          <a:p>
            <a:pPr marL="0" indent="0">
              <a:buNone/>
            </a:pPr>
            <a:endParaRPr lang="en-US" sz="2000" dirty="0"/>
          </a:p>
          <a:p>
            <a:pPr>
              <a:buFont typeface="Courier New" panose="02070309020205020404" pitchFamily="49" charset="0"/>
              <a:buChar char="o"/>
            </a:pPr>
            <a:r>
              <a:rPr lang="en-US" sz="2000" dirty="0"/>
              <a:t>How important is timeliness?</a:t>
            </a:r>
          </a:p>
          <a:p>
            <a:pPr marL="0" indent="0">
              <a:buNone/>
            </a:pPr>
            <a:endParaRPr lang="en-US" sz="2000" dirty="0"/>
          </a:p>
          <a:p>
            <a:pPr>
              <a:buFont typeface="Courier New" panose="02070309020205020404" pitchFamily="49" charset="0"/>
              <a:buChar char="o"/>
            </a:pPr>
            <a:r>
              <a:rPr lang="en-US" sz="2000" dirty="0"/>
              <a:t>How often should layers be updates?</a:t>
            </a:r>
          </a:p>
        </p:txBody>
      </p:sp>
      <p:sp>
        <p:nvSpPr>
          <p:cNvPr id="2" name="Slide Number Placeholder 1">
            <a:extLst>
              <a:ext uri="{FF2B5EF4-FFF2-40B4-BE49-F238E27FC236}">
                <a16:creationId xmlns:a16="http://schemas.microsoft.com/office/drawing/2014/main" id="{6FF19F2A-BF89-4455-B4C5-60DB45315F68}"/>
              </a:ext>
            </a:extLst>
          </p:cNvPr>
          <p:cNvSpPr>
            <a:spLocks noGrp="1"/>
          </p:cNvSpPr>
          <p:nvPr>
            <p:ph type="sldNum" sz="quarter" idx="12"/>
          </p:nvPr>
        </p:nvSpPr>
        <p:spPr/>
        <p:txBody>
          <a:bodyPr/>
          <a:lstStyle/>
          <a:p>
            <a:fld id="{127DDC20-79C9-9647-820E-6D40A3D210C3}" type="slidenum">
              <a:rPr lang="en-US" smtClean="0"/>
              <a:pPr/>
              <a:t>20</a:t>
            </a:fld>
            <a:endParaRPr lang="en-US"/>
          </a:p>
        </p:txBody>
      </p:sp>
      <p:sp>
        <p:nvSpPr>
          <p:cNvPr id="6" name="Title 1">
            <a:extLst>
              <a:ext uri="{FF2B5EF4-FFF2-40B4-BE49-F238E27FC236}">
                <a16:creationId xmlns:a16="http://schemas.microsoft.com/office/drawing/2014/main" id="{2C3541DE-CB64-4555-8AFC-13BF8D280869}"/>
              </a:ext>
            </a:extLst>
          </p:cNvPr>
          <p:cNvSpPr txBox="1">
            <a:spLocks/>
          </p:cNvSpPr>
          <p:nvPr/>
        </p:nvSpPr>
        <p:spPr>
          <a:xfrm>
            <a:off x="220133" y="22587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Temporal uncertainty</a:t>
            </a:r>
          </a:p>
        </p:txBody>
      </p:sp>
      <p:cxnSp>
        <p:nvCxnSpPr>
          <p:cNvPr id="7" name="Straight Connector 6">
            <a:extLst>
              <a:ext uri="{FF2B5EF4-FFF2-40B4-BE49-F238E27FC236}">
                <a16:creationId xmlns:a16="http://schemas.microsoft.com/office/drawing/2014/main" id="{DCA6F941-8E27-436B-AF1B-3748C6F58E83}"/>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9" name="Picture 8" descr="A black and white photo of a city&#10;&#10;Description automatically generated with low confidence">
            <a:extLst>
              <a:ext uri="{FF2B5EF4-FFF2-40B4-BE49-F238E27FC236}">
                <a16:creationId xmlns:a16="http://schemas.microsoft.com/office/drawing/2014/main" id="{6285FD0D-820E-488C-BD0B-D4697119BA7A}"/>
              </a:ext>
            </a:extLst>
          </p:cNvPr>
          <p:cNvPicPr>
            <a:picLocks noChangeAspect="1"/>
          </p:cNvPicPr>
          <p:nvPr/>
        </p:nvPicPr>
        <p:blipFill>
          <a:blip r:embed="rId3"/>
          <a:stretch>
            <a:fillRect/>
          </a:stretch>
        </p:blipFill>
        <p:spPr>
          <a:xfrm>
            <a:off x="3139556" y="1042454"/>
            <a:ext cx="2388661" cy="2881110"/>
          </a:xfrm>
          <a:prstGeom prst="rect">
            <a:avLst/>
          </a:prstGeom>
        </p:spPr>
      </p:pic>
      <p:pic>
        <p:nvPicPr>
          <p:cNvPr id="11" name="Picture 10" descr="A high angle view of a city&#10;&#10;Description automatically generated with low confidence">
            <a:extLst>
              <a:ext uri="{FF2B5EF4-FFF2-40B4-BE49-F238E27FC236}">
                <a16:creationId xmlns:a16="http://schemas.microsoft.com/office/drawing/2014/main" id="{9ED55408-46C9-4ADB-B67D-DCB2E92D448D}"/>
              </a:ext>
            </a:extLst>
          </p:cNvPr>
          <p:cNvPicPr>
            <a:picLocks noChangeAspect="1"/>
          </p:cNvPicPr>
          <p:nvPr/>
        </p:nvPicPr>
        <p:blipFill>
          <a:blip r:embed="rId4"/>
          <a:stretch>
            <a:fillRect/>
          </a:stretch>
        </p:blipFill>
        <p:spPr>
          <a:xfrm>
            <a:off x="5656217" y="1042454"/>
            <a:ext cx="2371030" cy="2881110"/>
          </a:xfrm>
          <a:prstGeom prst="rect">
            <a:avLst/>
          </a:prstGeom>
        </p:spPr>
      </p:pic>
      <p:sp>
        <p:nvSpPr>
          <p:cNvPr id="12" name="TextBox 11">
            <a:extLst>
              <a:ext uri="{FF2B5EF4-FFF2-40B4-BE49-F238E27FC236}">
                <a16:creationId xmlns:a16="http://schemas.microsoft.com/office/drawing/2014/main" id="{FA3A2EBE-27F8-45B1-8265-F5FDFF95027C}"/>
              </a:ext>
            </a:extLst>
          </p:cNvPr>
          <p:cNvSpPr txBox="1"/>
          <p:nvPr/>
        </p:nvSpPr>
        <p:spPr>
          <a:xfrm>
            <a:off x="5897880" y="4737549"/>
            <a:ext cx="88900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a:t>
            </a:r>
          </a:p>
        </p:txBody>
      </p:sp>
      <p:sp>
        <p:nvSpPr>
          <p:cNvPr id="13" name="TextBox 12">
            <a:extLst>
              <a:ext uri="{FF2B5EF4-FFF2-40B4-BE49-F238E27FC236}">
                <a16:creationId xmlns:a16="http://schemas.microsoft.com/office/drawing/2014/main" id="{238B8DE3-FDD5-41A5-B894-A5E4442A4CF5}"/>
              </a:ext>
            </a:extLst>
          </p:cNvPr>
          <p:cNvSpPr txBox="1"/>
          <p:nvPr/>
        </p:nvSpPr>
        <p:spPr>
          <a:xfrm>
            <a:off x="3255973" y="4014506"/>
            <a:ext cx="4973627" cy="369332"/>
          </a:xfrm>
          <a:prstGeom prst="rect">
            <a:avLst/>
          </a:prstGeom>
          <a:noFill/>
        </p:spPr>
        <p:txBody>
          <a:bodyPr wrap="square" rtlCol="0">
            <a:spAutoFit/>
          </a:bodyPr>
          <a:lstStyle/>
          <a:p>
            <a:r>
              <a:rPr lang="en-US" dirty="0"/>
              <a:t>City of Bellevue, Washington in 1936 and 1997</a:t>
            </a:r>
          </a:p>
        </p:txBody>
      </p:sp>
    </p:spTree>
    <p:extLst>
      <p:ext uri="{BB962C8B-B14F-4D97-AF65-F5344CB8AC3E}">
        <p14:creationId xmlns:p14="http://schemas.microsoft.com/office/powerpoint/2010/main" val="3418292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533" y="1156050"/>
            <a:ext cx="3803979" cy="3785533"/>
          </a:xfrm>
        </p:spPr>
        <p:txBody>
          <a:bodyPr>
            <a:normAutofit/>
          </a:bodyPr>
          <a:lstStyle/>
          <a:p>
            <a:pPr>
              <a:buFont typeface="Courier New" panose="02070309020205020404" pitchFamily="49" charset="0"/>
              <a:buChar char="o"/>
            </a:pPr>
            <a:r>
              <a:rPr lang="en-US" sz="1800" dirty="0"/>
              <a:t>We can’t measure everything everywhere</a:t>
            </a:r>
          </a:p>
          <a:p>
            <a:pPr>
              <a:buFont typeface="Courier New" panose="02070309020205020404" pitchFamily="49" charset="0"/>
              <a:buChar char="o"/>
            </a:pPr>
            <a:r>
              <a:rPr lang="en-US" sz="1800" dirty="0"/>
              <a:t>However, sometime we need data at all locations</a:t>
            </a:r>
          </a:p>
          <a:p>
            <a:pPr>
              <a:buFont typeface="Courier New" panose="02070309020205020404" pitchFamily="49" charset="0"/>
              <a:buChar char="o"/>
            </a:pPr>
            <a:r>
              <a:rPr lang="en-US" sz="1800" dirty="0"/>
              <a:t>This requires interpolation, estimation, or guessing</a:t>
            </a:r>
          </a:p>
          <a:p>
            <a:pPr>
              <a:buFont typeface="Courier New" panose="02070309020205020404" pitchFamily="49" charset="0"/>
              <a:buChar char="o"/>
            </a:pPr>
            <a:r>
              <a:rPr lang="en-US" sz="1800" dirty="0"/>
              <a:t>Extrapolation VS interpolation</a:t>
            </a:r>
          </a:p>
          <a:p>
            <a:pPr marL="0" indent="0">
              <a:buNone/>
            </a:pPr>
            <a:endParaRPr lang="en-US" sz="1800" dirty="0"/>
          </a:p>
          <a:p>
            <a:pPr marL="0" indent="0">
              <a:buNone/>
            </a:pPr>
            <a:endParaRPr lang="en-US" sz="1800" dirty="0"/>
          </a:p>
        </p:txBody>
      </p:sp>
      <p:sp>
        <p:nvSpPr>
          <p:cNvPr id="2" name="Slide Number Placeholder 1">
            <a:extLst>
              <a:ext uri="{FF2B5EF4-FFF2-40B4-BE49-F238E27FC236}">
                <a16:creationId xmlns:a16="http://schemas.microsoft.com/office/drawing/2014/main" id="{BE1CA239-8A4C-41C8-8326-87A65029CBE9}"/>
              </a:ext>
            </a:extLst>
          </p:cNvPr>
          <p:cNvSpPr>
            <a:spLocks noGrp="1"/>
          </p:cNvSpPr>
          <p:nvPr>
            <p:ph type="sldNum" sz="quarter" idx="12"/>
          </p:nvPr>
        </p:nvSpPr>
        <p:spPr/>
        <p:txBody>
          <a:bodyPr/>
          <a:lstStyle/>
          <a:p>
            <a:fld id="{127DDC20-79C9-9647-820E-6D40A3D210C3}" type="slidenum">
              <a:rPr lang="en-US" smtClean="0"/>
              <a:pPr/>
              <a:t>21</a:t>
            </a:fld>
            <a:endParaRPr lang="en-US"/>
          </a:p>
        </p:txBody>
      </p:sp>
      <p:pic>
        <p:nvPicPr>
          <p:cNvPr id="6" name="Picture 5" descr="Image showing interpolation and extrapolation"/>
          <p:cNvPicPr/>
          <p:nvPr/>
        </p:nvPicPr>
        <p:blipFill>
          <a:blip r:embed="rId3"/>
          <a:stretch>
            <a:fillRect/>
          </a:stretch>
        </p:blipFill>
        <p:spPr>
          <a:xfrm>
            <a:off x="4432279" y="991505"/>
            <a:ext cx="3420890" cy="1786974"/>
          </a:xfrm>
          <a:prstGeom prst="rect">
            <a:avLst/>
          </a:prstGeom>
        </p:spPr>
      </p:pic>
      <p:pic>
        <p:nvPicPr>
          <p:cNvPr id="13" name="Picture 12"/>
          <p:cNvPicPr/>
          <p:nvPr/>
        </p:nvPicPr>
        <p:blipFill>
          <a:blip r:embed="rId4">
            <a:clrChange>
              <a:clrFrom>
                <a:srgbClr val="FEFFFF"/>
              </a:clrFrom>
              <a:clrTo>
                <a:srgbClr val="FEFFFF">
                  <a:alpha val="0"/>
                </a:srgbClr>
              </a:clrTo>
            </a:clrChange>
          </a:blip>
          <a:stretch>
            <a:fillRect/>
          </a:stretch>
        </p:blipFill>
        <p:spPr>
          <a:xfrm>
            <a:off x="4629284" y="2777543"/>
            <a:ext cx="2795363" cy="1903591"/>
          </a:xfrm>
          <a:prstGeom prst="rect">
            <a:avLst/>
          </a:prstGeom>
        </p:spPr>
      </p:pic>
      <p:sp>
        <p:nvSpPr>
          <p:cNvPr id="14" name="5-Point Star 13" descr="A star indicating interpolation"/>
          <p:cNvSpPr/>
          <p:nvPr/>
        </p:nvSpPr>
        <p:spPr>
          <a:xfrm>
            <a:off x="5911206" y="3652166"/>
            <a:ext cx="231518" cy="154345"/>
          </a:xfrm>
          <a:prstGeom prst="star5">
            <a:avLst/>
          </a:prstGeom>
          <a:solidFill>
            <a:srgbClr val="E3874F"/>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15"/>
          </a:p>
        </p:txBody>
      </p:sp>
      <p:sp>
        <p:nvSpPr>
          <p:cNvPr id="15" name="5-Point Star 14" descr="A star indicating extrapolation"/>
          <p:cNvSpPr/>
          <p:nvPr/>
        </p:nvSpPr>
        <p:spPr>
          <a:xfrm>
            <a:off x="4307731" y="2894472"/>
            <a:ext cx="231518" cy="154345"/>
          </a:xfrm>
          <a:prstGeom prst="star5">
            <a:avLst/>
          </a:prstGeom>
          <a:solidFill>
            <a:srgbClr val="FFFF00"/>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15"/>
          </a:p>
        </p:txBody>
      </p:sp>
      <p:sp>
        <p:nvSpPr>
          <p:cNvPr id="8" name="Title 1">
            <a:extLst>
              <a:ext uri="{FF2B5EF4-FFF2-40B4-BE49-F238E27FC236}">
                <a16:creationId xmlns:a16="http://schemas.microsoft.com/office/drawing/2014/main" id="{9E803869-9BD0-4A70-9F4B-63F8C1D4D143}"/>
              </a:ext>
            </a:extLst>
          </p:cNvPr>
          <p:cNvSpPr txBox="1">
            <a:spLocks/>
          </p:cNvSpPr>
          <p:nvPr/>
        </p:nvSpPr>
        <p:spPr>
          <a:xfrm>
            <a:off x="269131" y="13605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Sampling uncertainty</a:t>
            </a:r>
          </a:p>
        </p:txBody>
      </p:sp>
      <p:cxnSp>
        <p:nvCxnSpPr>
          <p:cNvPr id="9" name="Straight Connector 8">
            <a:extLst>
              <a:ext uri="{FF2B5EF4-FFF2-40B4-BE49-F238E27FC236}">
                <a16:creationId xmlns:a16="http://schemas.microsoft.com/office/drawing/2014/main" id="{3D4CA64C-2C55-4359-8B47-5F72DC4B059B}"/>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3028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27430" y="1138967"/>
            <a:ext cx="4822440" cy="2725865"/>
          </a:xfrm>
        </p:spPr>
        <p:txBody>
          <a:bodyPr numCol="2">
            <a:normAutofit/>
          </a:bodyPr>
          <a:lstStyle/>
          <a:p>
            <a:pPr marL="308701" indent="-308701">
              <a:buFont typeface="+mj-lt"/>
              <a:buAutoNum type="arabicPeriod"/>
            </a:pPr>
            <a:r>
              <a:rPr lang="en-US" sz="1600" dirty="0"/>
              <a:t>Implement quality control</a:t>
            </a:r>
          </a:p>
          <a:p>
            <a:pPr marL="308701" indent="-308701">
              <a:buFont typeface="+mj-lt"/>
              <a:buAutoNum type="arabicPeriod"/>
            </a:pPr>
            <a:r>
              <a:rPr lang="en-US" sz="1600" dirty="0"/>
              <a:t>Use standardize procedures</a:t>
            </a:r>
          </a:p>
          <a:p>
            <a:pPr marL="308701" indent="-308701">
              <a:buFont typeface="+mj-lt"/>
              <a:buAutoNum type="arabicPeriod"/>
            </a:pPr>
            <a:r>
              <a:rPr lang="en-US" sz="1600" dirty="0"/>
              <a:t>Define scale</a:t>
            </a:r>
          </a:p>
          <a:p>
            <a:pPr marL="308701" indent="-308701">
              <a:buFont typeface="+mj-lt"/>
              <a:buAutoNum type="arabicPeriod"/>
            </a:pPr>
            <a:r>
              <a:rPr lang="en-US" sz="1600" dirty="0"/>
              <a:t>Define minimum mapping unit (MMU)</a:t>
            </a:r>
          </a:p>
          <a:p>
            <a:pPr marL="308701" indent="-308701">
              <a:buFont typeface="+mj-lt"/>
              <a:buAutoNum type="arabicPeriod"/>
            </a:pPr>
            <a:r>
              <a:rPr lang="en-US" sz="1600" dirty="0"/>
              <a:t>Double-check data</a:t>
            </a:r>
          </a:p>
          <a:p>
            <a:pPr marL="308701" indent="-308701">
              <a:buFont typeface="+mj-lt"/>
              <a:buAutoNum type="arabicPeriod"/>
            </a:pPr>
            <a:r>
              <a:rPr lang="en-US" sz="1600" dirty="0"/>
              <a:t>Create metadata</a:t>
            </a:r>
          </a:p>
          <a:p>
            <a:pPr marL="308701" indent="-308701">
              <a:buFont typeface="+mj-lt"/>
              <a:buAutoNum type="arabicPeriod"/>
            </a:pPr>
            <a:r>
              <a:rPr lang="en-US" sz="1600" dirty="0"/>
              <a:t>Document methods</a:t>
            </a:r>
          </a:p>
          <a:p>
            <a:pPr marL="308701" indent="-308701">
              <a:buFont typeface="+mj-lt"/>
              <a:buAutoNum type="arabicPeriod"/>
            </a:pPr>
            <a:r>
              <a:rPr lang="en-US" sz="1600" dirty="0"/>
              <a:t>Clearly define definitions</a:t>
            </a:r>
          </a:p>
          <a:p>
            <a:pPr marL="308701" indent="-308701">
              <a:buFont typeface="+mj-lt"/>
              <a:buAutoNum type="arabicPeriod"/>
            </a:pPr>
            <a:r>
              <a:rPr lang="en-US" sz="1600" dirty="0"/>
              <a:t>Measure uncertainty</a:t>
            </a:r>
          </a:p>
          <a:p>
            <a:pPr marL="308701" indent="-308701">
              <a:buFont typeface="+mj-lt"/>
              <a:buAutoNum type="arabicPeriod"/>
            </a:pPr>
            <a:endParaRPr lang="en-US" sz="1600" dirty="0"/>
          </a:p>
        </p:txBody>
      </p:sp>
      <p:sp>
        <p:nvSpPr>
          <p:cNvPr id="2" name="Slide Number Placeholder 1">
            <a:extLst>
              <a:ext uri="{FF2B5EF4-FFF2-40B4-BE49-F238E27FC236}">
                <a16:creationId xmlns:a16="http://schemas.microsoft.com/office/drawing/2014/main" id="{00C5FF7B-DFE0-4ADC-9147-C2FB9D1CE38E}"/>
              </a:ext>
            </a:extLst>
          </p:cNvPr>
          <p:cNvSpPr>
            <a:spLocks noGrp="1"/>
          </p:cNvSpPr>
          <p:nvPr>
            <p:ph type="sldNum" sz="quarter" idx="12"/>
          </p:nvPr>
        </p:nvSpPr>
        <p:spPr/>
        <p:txBody>
          <a:bodyPr/>
          <a:lstStyle/>
          <a:p>
            <a:fld id="{127DDC20-79C9-9647-820E-6D40A3D210C3}" type="slidenum">
              <a:rPr lang="en-US" smtClean="0"/>
              <a:pPr/>
              <a:t>22</a:t>
            </a:fld>
            <a:endParaRPr lang="en-US"/>
          </a:p>
        </p:txBody>
      </p:sp>
      <p:sp>
        <p:nvSpPr>
          <p:cNvPr id="4" name="Title 1">
            <a:extLst>
              <a:ext uri="{FF2B5EF4-FFF2-40B4-BE49-F238E27FC236}">
                <a16:creationId xmlns:a16="http://schemas.microsoft.com/office/drawing/2014/main" id="{DEBA1E59-890C-43FB-83C4-013C20FE8203}"/>
              </a:ext>
            </a:extLst>
          </p:cNvPr>
          <p:cNvSpPr txBox="1">
            <a:spLocks/>
          </p:cNvSpPr>
          <p:nvPr/>
        </p:nvSpPr>
        <p:spPr>
          <a:xfrm>
            <a:off x="289983" y="23336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Minimizing uncertainty</a:t>
            </a:r>
          </a:p>
        </p:txBody>
      </p:sp>
      <p:cxnSp>
        <p:nvCxnSpPr>
          <p:cNvPr id="5" name="Straight Connector 4">
            <a:extLst>
              <a:ext uri="{FF2B5EF4-FFF2-40B4-BE49-F238E27FC236}">
                <a16:creationId xmlns:a16="http://schemas.microsoft.com/office/drawing/2014/main" id="{4A405F89-1A33-4AE4-BC9C-1684B27BA115}"/>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3008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2305" y="1323848"/>
            <a:ext cx="7444990" cy="2725865"/>
          </a:xfrm>
        </p:spPr>
        <p:txBody>
          <a:bodyPr>
            <a:normAutofit/>
          </a:bodyPr>
          <a:lstStyle/>
          <a:p>
            <a:r>
              <a:rPr lang="en-US" dirty="0"/>
              <a:t>Data about your data</a:t>
            </a:r>
          </a:p>
          <a:p>
            <a:r>
              <a:rPr lang="en-US" dirty="0"/>
              <a:t>A description of the basic characteristics of a data resource</a:t>
            </a:r>
          </a:p>
          <a:p>
            <a:r>
              <a:rPr lang="en-US" dirty="0"/>
              <a:t>Describes content, source, lineage, methods, developer, coordinate system, extent, structure, spatial accuracy, attributes, and responsible organization</a:t>
            </a:r>
          </a:p>
          <a:p>
            <a:r>
              <a:rPr lang="en-US" dirty="0"/>
              <a:t>Is data suitable for an intended use?</a:t>
            </a:r>
          </a:p>
          <a:p>
            <a:r>
              <a:rPr lang="en-US" dirty="0"/>
              <a:t>Accurate enough?</a:t>
            </a:r>
          </a:p>
          <a:p>
            <a:r>
              <a:rPr lang="en-US" dirty="0"/>
              <a:t>Cover area of interest?</a:t>
            </a:r>
          </a:p>
          <a:p>
            <a:r>
              <a:rPr lang="en-US" dirty="0"/>
              <a:t>Provide necessary information?</a:t>
            </a:r>
          </a:p>
          <a:p>
            <a:pPr marL="0" indent="0">
              <a:buNone/>
            </a:pPr>
            <a:endParaRPr lang="en-US" dirty="0"/>
          </a:p>
        </p:txBody>
      </p:sp>
      <p:sp>
        <p:nvSpPr>
          <p:cNvPr id="2" name="Slide Number Placeholder 1">
            <a:extLst>
              <a:ext uri="{FF2B5EF4-FFF2-40B4-BE49-F238E27FC236}">
                <a16:creationId xmlns:a16="http://schemas.microsoft.com/office/drawing/2014/main" id="{2AF32253-3469-48F2-B69D-FFE96FB94ABA}"/>
              </a:ext>
            </a:extLst>
          </p:cNvPr>
          <p:cNvSpPr>
            <a:spLocks noGrp="1"/>
          </p:cNvSpPr>
          <p:nvPr>
            <p:ph type="sldNum" sz="quarter" idx="12"/>
          </p:nvPr>
        </p:nvSpPr>
        <p:spPr/>
        <p:txBody>
          <a:bodyPr/>
          <a:lstStyle/>
          <a:p>
            <a:fld id="{127DDC20-79C9-9647-820E-6D40A3D210C3}" type="slidenum">
              <a:rPr lang="en-US" smtClean="0"/>
              <a:pPr/>
              <a:t>23</a:t>
            </a:fld>
            <a:endParaRPr lang="en-US"/>
          </a:p>
        </p:txBody>
      </p:sp>
      <p:sp>
        <p:nvSpPr>
          <p:cNvPr id="4" name="Title 1">
            <a:extLst>
              <a:ext uri="{FF2B5EF4-FFF2-40B4-BE49-F238E27FC236}">
                <a16:creationId xmlns:a16="http://schemas.microsoft.com/office/drawing/2014/main" id="{FB043397-F710-4530-9F01-6E56D0C58D32}"/>
              </a:ext>
            </a:extLst>
          </p:cNvPr>
          <p:cNvSpPr txBox="1">
            <a:spLocks/>
          </p:cNvSpPr>
          <p:nvPr/>
        </p:nvSpPr>
        <p:spPr>
          <a:xfrm>
            <a:off x="264583" y="23336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Documenting your data: Metadata</a:t>
            </a:r>
          </a:p>
        </p:txBody>
      </p:sp>
      <p:cxnSp>
        <p:nvCxnSpPr>
          <p:cNvPr id="5" name="Straight Connector 4">
            <a:extLst>
              <a:ext uri="{FF2B5EF4-FFF2-40B4-BE49-F238E27FC236}">
                <a16:creationId xmlns:a16="http://schemas.microsoft.com/office/drawing/2014/main" id="{B407343D-57E5-4C42-9105-DA2EE8D43B5D}"/>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8DA6F63F-EB50-4DFF-A204-105D173E1B21}"/>
              </a:ext>
            </a:extLst>
          </p:cNvPr>
          <p:cNvSpPr txBox="1"/>
          <p:nvPr/>
        </p:nvSpPr>
        <p:spPr>
          <a:xfrm>
            <a:off x="5745285" y="4409957"/>
            <a:ext cx="1718408" cy="369332"/>
          </a:xfrm>
          <a:prstGeom prst="rect">
            <a:avLst/>
          </a:prstGeom>
          <a:noFill/>
        </p:spPr>
        <p:txBody>
          <a:bodyPr wrap="square">
            <a:spAutoFit/>
          </a:bodyPr>
          <a:lstStyle/>
          <a:p>
            <a:pPr marL="0" indent="0">
              <a:buNone/>
            </a:pPr>
            <a:r>
              <a:rPr lang="en-US" b="1" dirty="0">
                <a:solidFill>
                  <a:srgbClr val="E3874F"/>
                </a:solidFill>
              </a:rPr>
              <a:t>.xml </a:t>
            </a:r>
            <a:r>
              <a:rPr lang="en-US" dirty="0"/>
              <a:t>= metadata</a:t>
            </a:r>
          </a:p>
        </p:txBody>
      </p:sp>
    </p:spTree>
    <p:extLst>
      <p:ext uri="{BB962C8B-B14F-4D97-AF65-F5344CB8AC3E}">
        <p14:creationId xmlns:p14="http://schemas.microsoft.com/office/powerpoint/2010/main" val="388544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2822" y="1230401"/>
            <a:ext cx="3910078" cy="3138352"/>
          </a:xfrm>
        </p:spPr>
        <p:txBody>
          <a:bodyPr>
            <a:normAutofit/>
          </a:bodyPr>
          <a:lstStyle/>
          <a:p>
            <a:pPr>
              <a:buFont typeface="Courier New" panose="02070309020205020404" pitchFamily="49" charset="0"/>
              <a:buChar char="o"/>
            </a:pPr>
            <a:r>
              <a:rPr lang="en-US" dirty="0"/>
              <a:t>Makes your data more interpretable</a:t>
            </a:r>
          </a:p>
          <a:p>
            <a:pPr>
              <a:buFont typeface="Courier New" panose="02070309020205020404" pitchFamily="49" charset="0"/>
              <a:buChar char="o"/>
            </a:pPr>
            <a:r>
              <a:rPr lang="en-US" dirty="0"/>
              <a:t>Find out more about a dataset</a:t>
            </a:r>
          </a:p>
          <a:p>
            <a:pPr>
              <a:buFont typeface="Courier New" panose="02070309020205020404" pitchFamily="49" charset="0"/>
              <a:buChar char="o"/>
            </a:pPr>
            <a:r>
              <a:rPr lang="en-US" dirty="0"/>
              <a:t>Minimize assumptions and guesses</a:t>
            </a:r>
          </a:p>
          <a:p>
            <a:pPr>
              <a:buFont typeface="Courier New" panose="02070309020205020404" pitchFamily="49" charset="0"/>
              <a:buChar char="o"/>
            </a:pPr>
            <a:r>
              <a:rPr lang="en-US" dirty="0"/>
              <a:t>Contact dataset originator for more information</a:t>
            </a:r>
          </a:p>
          <a:p>
            <a:pPr>
              <a:buFont typeface="Courier New" panose="02070309020205020404" pitchFamily="49" charset="0"/>
              <a:buChar char="o"/>
            </a:pPr>
            <a:r>
              <a:rPr lang="en-US" dirty="0"/>
              <a:t>Ensures long-term viability of your data</a:t>
            </a:r>
          </a:p>
          <a:p>
            <a:pPr marL="0" indent="0">
              <a:buNone/>
            </a:pPr>
            <a:endParaRPr lang="en-US" dirty="0"/>
          </a:p>
          <a:p>
            <a:pPr marL="0" indent="0">
              <a:buNone/>
            </a:pPr>
            <a:endParaRPr lang="en-US" dirty="0"/>
          </a:p>
          <a:p>
            <a:pPr marL="0" indent="0">
              <a:buNone/>
            </a:pPr>
            <a:endParaRPr lang="en-US" dirty="0"/>
          </a:p>
        </p:txBody>
      </p:sp>
      <p:sp>
        <p:nvSpPr>
          <p:cNvPr id="2" name="Slide Number Placeholder 1">
            <a:extLst>
              <a:ext uri="{FF2B5EF4-FFF2-40B4-BE49-F238E27FC236}">
                <a16:creationId xmlns:a16="http://schemas.microsoft.com/office/drawing/2014/main" id="{AEA9368B-C314-4A58-8F0E-4589518DFFC6}"/>
              </a:ext>
            </a:extLst>
          </p:cNvPr>
          <p:cNvSpPr>
            <a:spLocks noGrp="1"/>
          </p:cNvSpPr>
          <p:nvPr>
            <p:ph type="sldNum" sz="quarter" idx="12"/>
          </p:nvPr>
        </p:nvSpPr>
        <p:spPr/>
        <p:txBody>
          <a:bodyPr/>
          <a:lstStyle/>
          <a:p>
            <a:fld id="{127DDC20-79C9-9647-820E-6D40A3D210C3}" type="slidenum">
              <a:rPr lang="en-US" smtClean="0"/>
              <a:pPr/>
              <a:t>24</a:t>
            </a:fld>
            <a:endParaRPr lang="en-US"/>
          </a:p>
        </p:txBody>
      </p:sp>
      <p:pic>
        <p:nvPicPr>
          <p:cNvPr id="6" name="Picture 7" descr="Image showing metadata"/>
          <p:cNvPicPr>
            <a:picLocks noChangeAspect="1" noChangeArrowheads="1"/>
          </p:cNvPicPr>
          <p:nvPr/>
        </p:nvPicPr>
        <p:blipFill>
          <a:blip r:embed="rId3" cstate="print"/>
          <a:srcRect/>
          <a:stretch>
            <a:fillRect/>
          </a:stretch>
        </p:blipFill>
        <p:spPr bwMode="auto">
          <a:xfrm>
            <a:off x="4269145" y="1594230"/>
            <a:ext cx="3513627" cy="2410695"/>
          </a:xfrm>
          <a:prstGeom prst="rect">
            <a:avLst/>
          </a:prstGeom>
          <a:noFill/>
          <a:ln w="9525" cap="flat" cmpd="sng">
            <a:noFill/>
            <a:prstDash val="solid"/>
            <a:miter lim="800000"/>
            <a:headEnd/>
            <a:tailEnd/>
          </a:ln>
        </p:spPr>
      </p:pic>
      <p:sp>
        <p:nvSpPr>
          <p:cNvPr id="5" name="Title 1">
            <a:extLst>
              <a:ext uri="{FF2B5EF4-FFF2-40B4-BE49-F238E27FC236}">
                <a16:creationId xmlns:a16="http://schemas.microsoft.com/office/drawing/2014/main" id="{59C577DC-2D6F-4EE3-BD6E-D57034030BC2}"/>
              </a:ext>
            </a:extLst>
          </p:cNvPr>
          <p:cNvSpPr txBox="1">
            <a:spLocks/>
          </p:cNvSpPr>
          <p:nvPr/>
        </p:nvSpPr>
        <p:spPr>
          <a:xfrm>
            <a:off x="118533" y="3990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Why is metadata important</a:t>
            </a:r>
          </a:p>
        </p:txBody>
      </p:sp>
      <p:cxnSp>
        <p:nvCxnSpPr>
          <p:cNvPr id="7" name="Straight Connector 6">
            <a:extLst>
              <a:ext uri="{FF2B5EF4-FFF2-40B4-BE49-F238E27FC236}">
                <a16:creationId xmlns:a16="http://schemas.microsoft.com/office/drawing/2014/main" id="{D8685FFF-B642-4460-A74A-C70ECE01ECDE}"/>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75872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412" y="88540"/>
            <a:ext cx="7928976" cy="689194"/>
          </a:xfrm>
        </p:spPr>
        <p:txBody>
          <a:bodyPr>
            <a:noAutofit/>
          </a:bodyPr>
          <a:lstStyle/>
          <a:p>
            <a:pPr algn="l"/>
            <a:r>
              <a:rPr lang="en-US" sz="2400" dirty="0"/>
              <a:t>US: Federal Geographic Data Committee (FGDC) Content Standard for Digital Geospatial Metadata (CSDGM)</a:t>
            </a:r>
          </a:p>
        </p:txBody>
      </p:sp>
      <p:sp>
        <p:nvSpPr>
          <p:cNvPr id="3" name="Content Placeholder 2"/>
          <p:cNvSpPr>
            <a:spLocks noGrp="1"/>
          </p:cNvSpPr>
          <p:nvPr>
            <p:ph idx="1"/>
          </p:nvPr>
        </p:nvSpPr>
        <p:spPr>
          <a:xfrm>
            <a:off x="294270" y="1277517"/>
            <a:ext cx="7717260" cy="3138352"/>
          </a:xfrm>
        </p:spPr>
        <p:txBody>
          <a:bodyPr numCol="2">
            <a:normAutofit/>
          </a:bodyPr>
          <a:lstStyle/>
          <a:p>
            <a:pPr marL="308701" indent="-308701">
              <a:buFont typeface="+mj-lt"/>
              <a:buAutoNum type="arabicPeriod"/>
            </a:pPr>
            <a:r>
              <a:rPr lang="en-US" dirty="0"/>
              <a:t>Identification, describing the dataset</a:t>
            </a:r>
          </a:p>
          <a:p>
            <a:pPr marL="308701" indent="-308701">
              <a:buFont typeface="+mj-lt"/>
              <a:buAutoNum type="arabicPeriod"/>
            </a:pPr>
            <a:r>
              <a:rPr lang="en-US" dirty="0"/>
              <a:t>Data quality</a:t>
            </a:r>
          </a:p>
          <a:p>
            <a:pPr marL="308701" indent="-308701">
              <a:buFont typeface="+mj-lt"/>
              <a:buAutoNum type="arabicPeriod"/>
            </a:pPr>
            <a:r>
              <a:rPr lang="en-US" dirty="0"/>
              <a:t>Spatial data organization</a:t>
            </a:r>
          </a:p>
          <a:p>
            <a:pPr marL="308701" indent="-308701">
              <a:buFont typeface="+mj-lt"/>
              <a:buAutoNum type="arabicPeriod"/>
            </a:pPr>
            <a:r>
              <a:rPr lang="en-US" dirty="0"/>
              <a:t>Spatial reference coordinate system</a:t>
            </a:r>
          </a:p>
          <a:p>
            <a:pPr marL="308701" indent="-308701">
              <a:buFont typeface="+mj-lt"/>
              <a:buAutoNum type="arabicPeriod"/>
            </a:pPr>
            <a:r>
              <a:rPr lang="en-US" dirty="0"/>
              <a:t>Entity and attribute</a:t>
            </a:r>
          </a:p>
          <a:p>
            <a:pPr marL="308701" indent="-308701">
              <a:buFont typeface="+mj-lt"/>
              <a:buAutoNum type="arabicPeriod"/>
            </a:pPr>
            <a:r>
              <a:rPr lang="en-US" dirty="0"/>
              <a:t>Distribution and options for obtaining the data set</a:t>
            </a:r>
          </a:p>
          <a:p>
            <a:pPr marL="308701" indent="-308701">
              <a:buFont typeface="+mj-lt"/>
              <a:buAutoNum type="arabicPeriod"/>
            </a:pPr>
            <a:r>
              <a:rPr lang="en-US" dirty="0"/>
              <a:t>Currency of metadata and responsible party</a:t>
            </a:r>
          </a:p>
          <a:p>
            <a:pPr marL="308701" indent="-308701">
              <a:buFont typeface="+mj-lt"/>
              <a:buAutoNum type="arabicPeriod"/>
            </a:pPr>
            <a:r>
              <a:rPr lang="en-US" dirty="0"/>
              <a:t>Citation</a:t>
            </a:r>
          </a:p>
          <a:p>
            <a:pPr marL="308701" indent="-308701">
              <a:buFont typeface="+mj-lt"/>
              <a:buAutoNum type="arabicPeriod"/>
            </a:pPr>
            <a:r>
              <a:rPr lang="en-US" dirty="0"/>
              <a:t>Time period information, used with other sections to provide temporal information</a:t>
            </a:r>
          </a:p>
          <a:p>
            <a:pPr marL="308701" indent="-308701">
              <a:buFont typeface="+mj-lt"/>
              <a:buAutoNum type="arabicPeriod"/>
            </a:pPr>
            <a:r>
              <a:rPr lang="en-US" dirty="0"/>
              <a:t>Contact organization or person</a:t>
            </a:r>
          </a:p>
          <a:p>
            <a:pPr marL="0" indent="0">
              <a:buNone/>
            </a:pPr>
            <a:endParaRPr lang="en-US" dirty="0"/>
          </a:p>
          <a:p>
            <a:pPr marL="0" indent="0">
              <a:buNone/>
            </a:pPr>
            <a:endParaRPr lang="en-US" dirty="0"/>
          </a:p>
        </p:txBody>
      </p:sp>
      <p:sp>
        <p:nvSpPr>
          <p:cNvPr id="5" name="Slide Number Placeholder 4">
            <a:extLst>
              <a:ext uri="{FF2B5EF4-FFF2-40B4-BE49-F238E27FC236}">
                <a16:creationId xmlns:a16="http://schemas.microsoft.com/office/drawing/2014/main" id="{5D0EF80C-0336-432D-8278-296EF8FB53C7}"/>
              </a:ext>
            </a:extLst>
          </p:cNvPr>
          <p:cNvSpPr>
            <a:spLocks noGrp="1"/>
          </p:cNvSpPr>
          <p:nvPr>
            <p:ph type="sldNum" sz="quarter" idx="12"/>
          </p:nvPr>
        </p:nvSpPr>
        <p:spPr/>
        <p:txBody>
          <a:bodyPr/>
          <a:lstStyle/>
          <a:p>
            <a:fld id="{127DDC20-79C9-9647-820E-6D40A3D210C3}" type="slidenum">
              <a:rPr lang="en-US" smtClean="0"/>
              <a:pPr/>
              <a:t>25</a:t>
            </a:fld>
            <a:endParaRPr lang="en-US"/>
          </a:p>
        </p:txBody>
      </p:sp>
      <p:cxnSp>
        <p:nvCxnSpPr>
          <p:cNvPr id="4" name="Straight Connector 3">
            <a:extLst>
              <a:ext uri="{FF2B5EF4-FFF2-40B4-BE49-F238E27FC236}">
                <a16:creationId xmlns:a16="http://schemas.microsoft.com/office/drawing/2014/main" id="{A11D567D-8B19-4C25-9873-D866049B1AF4}"/>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8017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39868" y="4498046"/>
            <a:ext cx="5185070" cy="279307"/>
          </a:xfrm>
          <a:prstGeom prst="rect">
            <a:avLst/>
          </a:prstGeom>
        </p:spPr>
        <p:txBody>
          <a:bodyPr wrap="square">
            <a:spAutoFit/>
          </a:bodyPr>
          <a:lstStyle/>
          <a:p>
            <a:r>
              <a:rPr lang="en-US" sz="1215" u="sng" dirty="0">
                <a:solidFill>
                  <a:srgbClr val="0563C1"/>
                </a:solidFill>
                <a:latin typeface="Calibri" panose="020F0502020204030204" pitchFamily="34" charset="0"/>
                <a:ea typeface="Calibri" panose="020F0502020204030204" pitchFamily="34" charset="0"/>
                <a:cs typeface="Times New Roman" panose="02020603050405020304" pitchFamily="18" charset="0"/>
                <a:hlinkClick r:id="rId3"/>
              </a:rPr>
              <a:t>https://www.fgdc.gov/metadata/geospatial-metadata-standards</a:t>
            </a:r>
            <a:endParaRPr lang="en-US" sz="1215" dirty="0"/>
          </a:p>
        </p:txBody>
      </p:sp>
      <p:pic>
        <p:nvPicPr>
          <p:cNvPr id="6" name="Picture 5" descr="Image showing FGDC website"/>
          <p:cNvPicPr>
            <a:picLocks noChangeAspect="1"/>
          </p:cNvPicPr>
          <p:nvPr/>
        </p:nvPicPr>
        <p:blipFill>
          <a:blip r:embed="rId4"/>
          <a:stretch>
            <a:fillRect/>
          </a:stretch>
        </p:blipFill>
        <p:spPr>
          <a:xfrm>
            <a:off x="1439483" y="1336989"/>
            <a:ext cx="5058020" cy="2908051"/>
          </a:xfrm>
          <a:prstGeom prst="rect">
            <a:avLst/>
          </a:prstGeom>
        </p:spPr>
      </p:pic>
      <p:sp>
        <p:nvSpPr>
          <p:cNvPr id="7" name="Title 1">
            <a:extLst>
              <a:ext uri="{FF2B5EF4-FFF2-40B4-BE49-F238E27FC236}">
                <a16:creationId xmlns:a16="http://schemas.microsoft.com/office/drawing/2014/main" id="{A99495DE-24D1-4C54-88BA-AB679FBB8343}"/>
              </a:ext>
            </a:extLst>
          </p:cNvPr>
          <p:cNvSpPr txBox="1">
            <a:spLocks/>
          </p:cNvSpPr>
          <p:nvPr/>
        </p:nvSpPr>
        <p:spPr>
          <a:xfrm>
            <a:off x="188412" y="88540"/>
            <a:ext cx="7928976" cy="689194"/>
          </a:xfrm>
          <a:prstGeom prst="rect">
            <a:avLst/>
          </a:prstGeom>
        </p:spPr>
        <p:txBody>
          <a:bodyPr vert="horz" lIns="91440" tIns="45720" rIns="91440" bIns="45720" rtlCol="0" anchor="ctr">
            <a:no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400" dirty="0"/>
              <a:t>US: Federal Geographic Data Committee (FGDC) Content Standard for Digital Geospatial Metadata (CSDGM)</a:t>
            </a:r>
          </a:p>
        </p:txBody>
      </p:sp>
      <p:cxnSp>
        <p:nvCxnSpPr>
          <p:cNvPr id="8" name="Straight Connector 7">
            <a:extLst>
              <a:ext uri="{FF2B5EF4-FFF2-40B4-BE49-F238E27FC236}">
                <a16:creationId xmlns:a16="http://schemas.microsoft.com/office/drawing/2014/main" id="{8D4B1637-3698-42D1-AE03-EBE8AE929004}"/>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D425A9A8-E4E0-415E-95ED-C01CC2C4CB9C}"/>
              </a:ext>
            </a:extLst>
          </p:cNvPr>
          <p:cNvSpPr>
            <a:spLocks noGrp="1"/>
          </p:cNvSpPr>
          <p:nvPr>
            <p:ph type="sldNum" sz="quarter" idx="12"/>
          </p:nvPr>
        </p:nvSpPr>
        <p:spPr/>
        <p:txBody>
          <a:bodyPr/>
          <a:lstStyle/>
          <a:p>
            <a:fld id="{127DDC20-79C9-9647-820E-6D40A3D210C3}" type="slidenum">
              <a:rPr lang="en-US" smtClean="0"/>
              <a:pPr/>
              <a:t>26</a:t>
            </a:fld>
            <a:endParaRPr lang="en-US"/>
          </a:p>
        </p:txBody>
      </p:sp>
    </p:spTree>
    <p:extLst>
      <p:ext uri="{BB962C8B-B14F-4D97-AF65-F5344CB8AC3E}">
        <p14:creationId xmlns:p14="http://schemas.microsoft.com/office/powerpoint/2010/main" val="594090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9580" y="142745"/>
            <a:ext cx="7406640" cy="857250"/>
          </a:xfrm>
        </p:spPr>
        <p:txBody>
          <a:bodyPr>
            <a:normAutofit/>
          </a:bodyPr>
          <a:lstStyle/>
          <a:p>
            <a:pPr algn="l"/>
            <a:r>
              <a:rPr lang="en-US" sz="2400" dirty="0"/>
              <a:t>International: ISO 19115 International Standards for Metadata</a:t>
            </a:r>
          </a:p>
        </p:txBody>
      </p:sp>
      <p:sp>
        <p:nvSpPr>
          <p:cNvPr id="3" name="Content Placeholder 2"/>
          <p:cNvSpPr>
            <a:spLocks noGrp="1"/>
          </p:cNvSpPr>
          <p:nvPr>
            <p:ph idx="1"/>
          </p:nvPr>
        </p:nvSpPr>
        <p:spPr>
          <a:xfrm>
            <a:off x="449580" y="1270691"/>
            <a:ext cx="7406640" cy="3394472"/>
          </a:xfrm>
        </p:spPr>
        <p:txBody>
          <a:bodyPr>
            <a:normAutofit/>
          </a:bodyPr>
          <a:lstStyle/>
          <a:p>
            <a:pPr>
              <a:buFont typeface="Courier New" panose="02070309020205020404" pitchFamily="49" charset="0"/>
              <a:buChar char="o"/>
            </a:pPr>
            <a:r>
              <a:rPr lang="en-US" dirty="0"/>
              <a:t>Two elements: mandatory and conditional</a:t>
            </a:r>
          </a:p>
          <a:p>
            <a:pPr>
              <a:buFont typeface="Courier New" panose="02070309020205020404" pitchFamily="49" charset="0"/>
              <a:buChar char="o"/>
            </a:pPr>
            <a:r>
              <a:rPr lang="en-US" dirty="0"/>
              <a:t>Mandatory: data title, dataset reference date, dataset language, dataset topic category, abstract, metadata point of contact, etc.</a:t>
            </a:r>
          </a:p>
          <a:p>
            <a:pPr>
              <a:buFont typeface="Courier New" panose="02070309020205020404" pitchFamily="49" charset="0"/>
              <a:buChar char="o"/>
            </a:pPr>
            <a:r>
              <a:rPr lang="en-US" dirty="0"/>
              <a:t>Conditional: dataset responsible party, geographic location by coordinates, dataset character set, spatial resolution, distribution format, spatial representation type, reference system, lineage statement, online resource, metadata file identifier, metadata standard name, metadata standard version, metadata language, and metadata character list</a:t>
            </a:r>
          </a:p>
        </p:txBody>
      </p:sp>
      <p:sp>
        <p:nvSpPr>
          <p:cNvPr id="5" name="Slide Number Placeholder 4">
            <a:extLst>
              <a:ext uri="{FF2B5EF4-FFF2-40B4-BE49-F238E27FC236}">
                <a16:creationId xmlns:a16="http://schemas.microsoft.com/office/drawing/2014/main" id="{1EBD522A-D308-455E-9CE8-CFB6E073EF44}"/>
              </a:ext>
            </a:extLst>
          </p:cNvPr>
          <p:cNvSpPr>
            <a:spLocks noGrp="1"/>
          </p:cNvSpPr>
          <p:nvPr>
            <p:ph type="sldNum" sz="quarter" idx="12"/>
          </p:nvPr>
        </p:nvSpPr>
        <p:spPr/>
        <p:txBody>
          <a:bodyPr/>
          <a:lstStyle/>
          <a:p>
            <a:fld id="{127DDC20-79C9-9647-820E-6D40A3D210C3}" type="slidenum">
              <a:rPr lang="en-US" smtClean="0"/>
              <a:pPr/>
              <a:t>27</a:t>
            </a:fld>
            <a:endParaRPr lang="en-US"/>
          </a:p>
        </p:txBody>
      </p:sp>
      <p:cxnSp>
        <p:nvCxnSpPr>
          <p:cNvPr id="4" name="Straight Connector 3">
            <a:extLst>
              <a:ext uri="{FF2B5EF4-FFF2-40B4-BE49-F238E27FC236}">
                <a16:creationId xmlns:a16="http://schemas.microsoft.com/office/drawing/2014/main" id="{5687D923-23E3-4248-84ED-17B9994CE9B4}"/>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60273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Image showing ISO website"/>
          <p:cNvPicPr>
            <a:picLocks noChangeAspect="1"/>
          </p:cNvPicPr>
          <p:nvPr/>
        </p:nvPicPr>
        <p:blipFill>
          <a:blip r:embed="rId3"/>
          <a:stretch>
            <a:fillRect/>
          </a:stretch>
        </p:blipFill>
        <p:spPr>
          <a:xfrm>
            <a:off x="1542380" y="1182644"/>
            <a:ext cx="4849012" cy="3281408"/>
          </a:xfrm>
          <a:prstGeom prst="rect">
            <a:avLst/>
          </a:prstGeom>
        </p:spPr>
      </p:pic>
      <p:sp>
        <p:nvSpPr>
          <p:cNvPr id="6" name="Rectangle 5"/>
          <p:cNvSpPr/>
          <p:nvPr/>
        </p:nvSpPr>
        <p:spPr>
          <a:xfrm>
            <a:off x="2567785" y="4498662"/>
            <a:ext cx="2872197" cy="466281"/>
          </a:xfrm>
          <a:prstGeom prst="rect">
            <a:avLst/>
          </a:prstGeom>
        </p:spPr>
        <p:txBody>
          <a:bodyPr wrap="none">
            <a:spAutoFit/>
          </a:bodyPr>
          <a:lstStyle/>
          <a:p>
            <a:r>
              <a:rPr lang="en-US" sz="1215" dirty="0">
                <a:hlinkClick r:id="rId4"/>
              </a:rPr>
              <a:t>https://www.iso.org/standard/26020.html</a:t>
            </a:r>
            <a:endParaRPr lang="en-US" sz="1215" dirty="0"/>
          </a:p>
          <a:p>
            <a:endParaRPr lang="en-US" sz="1215" dirty="0"/>
          </a:p>
        </p:txBody>
      </p:sp>
      <p:sp>
        <p:nvSpPr>
          <p:cNvPr id="8" name="Title 1">
            <a:extLst>
              <a:ext uri="{FF2B5EF4-FFF2-40B4-BE49-F238E27FC236}">
                <a16:creationId xmlns:a16="http://schemas.microsoft.com/office/drawing/2014/main" id="{301CC0BF-DB11-4B37-9A08-671EE071941C}"/>
              </a:ext>
            </a:extLst>
          </p:cNvPr>
          <p:cNvSpPr>
            <a:spLocks noGrp="1"/>
          </p:cNvSpPr>
          <p:nvPr>
            <p:ph type="title"/>
          </p:nvPr>
        </p:nvSpPr>
        <p:spPr>
          <a:xfrm>
            <a:off x="449580" y="142745"/>
            <a:ext cx="7406640" cy="857250"/>
          </a:xfrm>
        </p:spPr>
        <p:txBody>
          <a:bodyPr>
            <a:normAutofit/>
          </a:bodyPr>
          <a:lstStyle/>
          <a:p>
            <a:pPr algn="l"/>
            <a:r>
              <a:rPr lang="en-US" sz="2400" dirty="0"/>
              <a:t>International: ISO 19115 International Standards for Metadata</a:t>
            </a:r>
          </a:p>
        </p:txBody>
      </p:sp>
      <p:sp>
        <p:nvSpPr>
          <p:cNvPr id="2" name="Slide Number Placeholder 1">
            <a:extLst>
              <a:ext uri="{FF2B5EF4-FFF2-40B4-BE49-F238E27FC236}">
                <a16:creationId xmlns:a16="http://schemas.microsoft.com/office/drawing/2014/main" id="{F64C71C9-7A84-452E-A6C3-25721AE11AC8}"/>
              </a:ext>
            </a:extLst>
          </p:cNvPr>
          <p:cNvSpPr>
            <a:spLocks noGrp="1"/>
          </p:cNvSpPr>
          <p:nvPr>
            <p:ph type="sldNum" sz="quarter" idx="12"/>
          </p:nvPr>
        </p:nvSpPr>
        <p:spPr/>
        <p:txBody>
          <a:bodyPr/>
          <a:lstStyle/>
          <a:p>
            <a:fld id="{127DDC20-79C9-9647-820E-6D40A3D210C3}" type="slidenum">
              <a:rPr lang="en-US" smtClean="0"/>
              <a:pPr/>
              <a:t>28</a:t>
            </a:fld>
            <a:endParaRPr lang="en-US"/>
          </a:p>
        </p:txBody>
      </p:sp>
      <p:cxnSp>
        <p:nvCxnSpPr>
          <p:cNvPr id="9" name="Straight Connector 8">
            <a:extLst>
              <a:ext uri="{FF2B5EF4-FFF2-40B4-BE49-F238E27FC236}">
                <a16:creationId xmlns:a16="http://schemas.microsoft.com/office/drawing/2014/main" id="{77DBAD4F-87FD-46EA-935F-4F7D8BAEBE8E}"/>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0682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9067" y="1061191"/>
            <a:ext cx="6173808" cy="2881110"/>
          </a:xfrm>
        </p:spPr>
        <p:txBody>
          <a:bodyPr/>
          <a:lstStyle/>
          <a:p>
            <a:pPr>
              <a:buFont typeface="Courier New" panose="02070309020205020404" pitchFamily="49" charset="0"/>
              <a:buChar char="o"/>
            </a:pPr>
            <a:r>
              <a:rPr lang="en-US" dirty="0"/>
              <a:t>Metadata can be written using XML </a:t>
            </a:r>
          </a:p>
          <a:p>
            <a:pPr>
              <a:buFont typeface="Courier New" panose="02070309020205020404" pitchFamily="49" charset="0"/>
              <a:buChar char="o"/>
            </a:pPr>
            <a:r>
              <a:rPr lang="en-US" dirty="0"/>
              <a:t>A markup language like HTML</a:t>
            </a:r>
          </a:p>
          <a:p>
            <a:pPr>
              <a:buFont typeface="Courier New" panose="02070309020205020404" pitchFamily="49" charset="0"/>
              <a:buChar char="o"/>
            </a:pPr>
            <a:r>
              <a:rPr lang="en-US" dirty="0"/>
              <a:t>Information wrapped in tags</a:t>
            </a:r>
          </a:p>
          <a:p>
            <a:pPr>
              <a:buFont typeface="Courier New" panose="02070309020205020404" pitchFamily="49" charset="0"/>
              <a:buChar char="o"/>
            </a:pPr>
            <a:r>
              <a:rPr lang="en-US" dirty="0"/>
              <a:t>Can view in a web browser</a:t>
            </a:r>
          </a:p>
        </p:txBody>
      </p:sp>
      <p:sp>
        <p:nvSpPr>
          <p:cNvPr id="2" name="Slide Number Placeholder 1">
            <a:extLst>
              <a:ext uri="{FF2B5EF4-FFF2-40B4-BE49-F238E27FC236}">
                <a16:creationId xmlns:a16="http://schemas.microsoft.com/office/drawing/2014/main" id="{D0EFB789-DE44-4F0A-B5EC-CC6DC1525FDD}"/>
              </a:ext>
            </a:extLst>
          </p:cNvPr>
          <p:cNvSpPr>
            <a:spLocks noGrp="1"/>
          </p:cNvSpPr>
          <p:nvPr>
            <p:ph type="sldNum" sz="quarter" idx="12"/>
          </p:nvPr>
        </p:nvSpPr>
        <p:spPr/>
        <p:txBody>
          <a:bodyPr/>
          <a:lstStyle/>
          <a:p>
            <a:fld id="{127DDC20-79C9-9647-820E-6D40A3D210C3}" type="slidenum">
              <a:rPr lang="en-US" smtClean="0"/>
              <a:pPr/>
              <a:t>29</a:t>
            </a:fld>
            <a:endParaRPr lang="en-US"/>
          </a:p>
        </p:txBody>
      </p:sp>
      <p:pic>
        <p:nvPicPr>
          <p:cNvPr id="4" name="Picture 3" descr="Image showing XML language"/>
          <p:cNvPicPr>
            <a:picLocks noChangeAspect="1"/>
          </p:cNvPicPr>
          <p:nvPr/>
        </p:nvPicPr>
        <p:blipFill>
          <a:blip r:embed="rId3"/>
          <a:stretch>
            <a:fillRect/>
          </a:stretch>
        </p:blipFill>
        <p:spPr>
          <a:xfrm>
            <a:off x="719205" y="3203505"/>
            <a:ext cx="6791189" cy="1797250"/>
          </a:xfrm>
          <a:prstGeom prst="rect">
            <a:avLst/>
          </a:prstGeom>
        </p:spPr>
      </p:pic>
      <p:sp>
        <p:nvSpPr>
          <p:cNvPr id="5" name="Title 1">
            <a:extLst>
              <a:ext uri="{FF2B5EF4-FFF2-40B4-BE49-F238E27FC236}">
                <a16:creationId xmlns:a16="http://schemas.microsoft.com/office/drawing/2014/main" id="{7C67C32F-DAC3-46B4-8BD1-1934412551C6}"/>
              </a:ext>
            </a:extLst>
          </p:cNvPr>
          <p:cNvSpPr txBox="1">
            <a:spLocks/>
          </p:cNvSpPr>
          <p:nvPr/>
        </p:nvSpPr>
        <p:spPr>
          <a:xfrm>
            <a:off x="449580" y="142745"/>
            <a:ext cx="740664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400" dirty="0"/>
              <a:t>XML: </a:t>
            </a:r>
            <a:r>
              <a:rPr lang="en-US" sz="2400" dirty="0" err="1"/>
              <a:t>eXtensible</a:t>
            </a:r>
            <a:r>
              <a:rPr lang="en-US" sz="2400" dirty="0"/>
              <a:t> Markup Language</a:t>
            </a:r>
          </a:p>
        </p:txBody>
      </p:sp>
      <p:cxnSp>
        <p:nvCxnSpPr>
          <p:cNvPr id="6" name="Straight Connector 5">
            <a:extLst>
              <a:ext uri="{FF2B5EF4-FFF2-40B4-BE49-F238E27FC236}">
                <a16:creationId xmlns:a16="http://schemas.microsoft.com/office/drawing/2014/main" id="{A28C5DFB-75FF-41C1-A6A0-82888B0DA8FF}"/>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1352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Courier New" panose="02070309020205020404" pitchFamily="49" charset="0"/>
              <a:buChar char="o"/>
            </a:pPr>
            <a:r>
              <a:rPr lang="en-US" dirty="0"/>
              <a:t>Metadata can be created in </a:t>
            </a:r>
            <a:r>
              <a:rPr lang="en-US" dirty="0" err="1"/>
              <a:t>ArcCatalog</a:t>
            </a:r>
            <a:r>
              <a:rPr lang="en-US" dirty="0"/>
              <a:t> using a variety of standards</a:t>
            </a:r>
          </a:p>
        </p:txBody>
      </p:sp>
      <p:sp>
        <p:nvSpPr>
          <p:cNvPr id="2" name="Slide Number Placeholder 1">
            <a:extLst>
              <a:ext uri="{FF2B5EF4-FFF2-40B4-BE49-F238E27FC236}">
                <a16:creationId xmlns:a16="http://schemas.microsoft.com/office/drawing/2014/main" id="{CA620E53-5E89-47D0-B44F-00AFD2EB242E}"/>
              </a:ext>
            </a:extLst>
          </p:cNvPr>
          <p:cNvSpPr>
            <a:spLocks noGrp="1"/>
          </p:cNvSpPr>
          <p:nvPr>
            <p:ph type="sldNum" sz="quarter" idx="12"/>
          </p:nvPr>
        </p:nvSpPr>
        <p:spPr/>
        <p:txBody>
          <a:bodyPr/>
          <a:lstStyle/>
          <a:p>
            <a:fld id="{127DDC20-79C9-9647-820E-6D40A3D210C3}" type="slidenum">
              <a:rPr lang="en-US" smtClean="0"/>
              <a:pPr/>
              <a:t>30</a:t>
            </a:fld>
            <a:endParaRPr lang="en-US"/>
          </a:p>
        </p:txBody>
      </p:sp>
      <p:sp>
        <p:nvSpPr>
          <p:cNvPr id="6" name="Title 1">
            <a:extLst>
              <a:ext uri="{FF2B5EF4-FFF2-40B4-BE49-F238E27FC236}">
                <a16:creationId xmlns:a16="http://schemas.microsoft.com/office/drawing/2014/main" id="{575E062B-718D-48D5-A6B5-ED60AA6DDD00}"/>
              </a:ext>
            </a:extLst>
          </p:cNvPr>
          <p:cNvSpPr txBox="1">
            <a:spLocks/>
          </p:cNvSpPr>
          <p:nvPr/>
        </p:nvSpPr>
        <p:spPr>
          <a:xfrm>
            <a:off x="449580" y="142745"/>
            <a:ext cx="740664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400" dirty="0"/>
              <a:t>Creating metadata</a:t>
            </a:r>
          </a:p>
        </p:txBody>
      </p:sp>
      <p:cxnSp>
        <p:nvCxnSpPr>
          <p:cNvPr id="7" name="Straight Connector 6">
            <a:extLst>
              <a:ext uri="{FF2B5EF4-FFF2-40B4-BE49-F238E27FC236}">
                <a16:creationId xmlns:a16="http://schemas.microsoft.com/office/drawing/2014/main" id="{1C5BBF58-9641-4FBE-9FF7-5A4EED720F74}"/>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8" name="Picture 7" descr="Image showing metadata in ArcGIS Pro">
            <a:extLst>
              <a:ext uri="{FF2B5EF4-FFF2-40B4-BE49-F238E27FC236}">
                <a16:creationId xmlns:a16="http://schemas.microsoft.com/office/drawing/2014/main" id="{75BAC01D-5F11-4AA8-98A6-B74912714B8F}"/>
              </a:ext>
            </a:extLst>
          </p:cNvPr>
          <p:cNvPicPr>
            <a:picLocks noChangeAspect="1"/>
          </p:cNvPicPr>
          <p:nvPr/>
        </p:nvPicPr>
        <p:blipFill>
          <a:blip r:embed="rId3"/>
          <a:stretch>
            <a:fillRect/>
          </a:stretch>
        </p:blipFill>
        <p:spPr>
          <a:xfrm>
            <a:off x="793850" y="2095500"/>
            <a:ext cx="4281326" cy="3048000"/>
          </a:xfrm>
          <a:prstGeom prst="rect">
            <a:avLst/>
          </a:prstGeom>
        </p:spPr>
      </p:pic>
      <p:pic>
        <p:nvPicPr>
          <p:cNvPr id="5" name="Picture 4" descr="Image showing metadata in ArcGIS Pro">
            <a:extLst>
              <a:ext uri="{FF2B5EF4-FFF2-40B4-BE49-F238E27FC236}">
                <a16:creationId xmlns:a16="http://schemas.microsoft.com/office/drawing/2014/main" id="{74CC579C-6847-4743-9C8A-5DB9BB4637B3}"/>
              </a:ext>
            </a:extLst>
          </p:cNvPr>
          <p:cNvPicPr>
            <a:picLocks noChangeAspect="1"/>
          </p:cNvPicPr>
          <p:nvPr/>
        </p:nvPicPr>
        <p:blipFill>
          <a:blip r:embed="rId4"/>
          <a:stretch>
            <a:fillRect/>
          </a:stretch>
        </p:blipFill>
        <p:spPr>
          <a:xfrm>
            <a:off x="5588498" y="2063899"/>
            <a:ext cx="1745708" cy="2798567"/>
          </a:xfrm>
          <a:prstGeom prst="rect">
            <a:avLst/>
          </a:prstGeom>
        </p:spPr>
      </p:pic>
    </p:spTree>
    <p:extLst>
      <p:ext uri="{BB962C8B-B14F-4D97-AF65-F5344CB8AC3E}">
        <p14:creationId xmlns:p14="http://schemas.microsoft.com/office/powerpoint/2010/main" val="2238741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Courier New" panose="02070309020205020404" pitchFamily="49" charset="0"/>
              <a:buChar char="o"/>
            </a:pPr>
            <a:r>
              <a:rPr lang="en-US" dirty="0"/>
              <a:t>Metadata can be viewed in </a:t>
            </a:r>
            <a:r>
              <a:rPr lang="en-US" dirty="0" err="1"/>
              <a:t>ArcCatalog</a:t>
            </a:r>
            <a:r>
              <a:rPr lang="en-US" dirty="0"/>
              <a:t>, in ArcMap, in ArcGIS Pro, or online</a:t>
            </a:r>
          </a:p>
        </p:txBody>
      </p:sp>
      <p:sp>
        <p:nvSpPr>
          <p:cNvPr id="2" name="Slide Number Placeholder 1">
            <a:extLst>
              <a:ext uri="{FF2B5EF4-FFF2-40B4-BE49-F238E27FC236}">
                <a16:creationId xmlns:a16="http://schemas.microsoft.com/office/drawing/2014/main" id="{A488B520-FAB0-4E18-A068-DB7DB8FAE3DF}"/>
              </a:ext>
            </a:extLst>
          </p:cNvPr>
          <p:cNvSpPr>
            <a:spLocks noGrp="1"/>
          </p:cNvSpPr>
          <p:nvPr>
            <p:ph type="sldNum" sz="quarter" idx="12"/>
          </p:nvPr>
        </p:nvSpPr>
        <p:spPr/>
        <p:txBody>
          <a:bodyPr/>
          <a:lstStyle/>
          <a:p>
            <a:fld id="{127DDC20-79C9-9647-820E-6D40A3D210C3}" type="slidenum">
              <a:rPr lang="en-US" smtClean="0"/>
              <a:pPr/>
              <a:t>31</a:t>
            </a:fld>
            <a:endParaRPr lang="en-US"/>
          </a:p>
        </p:txBody>
      </p:sp>
      <p:pic>
        <p:nvPicPr>
          <p:cNvPr id="6" name="Picture 5" descr="Image showing metadata "/>
          <p:cNvPicPr>
            <a:picLocks noChangeAspect="1"/>
          </p:cNvPicPr>
          <p:nvPr/>
        </p:nvPicPr>
        <p:blipFill>
          <a:blip r:embed="rId3"/>
          <a:stretch>
            <a:fillRect/>
          </a:stretch>
        </p:blipFill>
        <p:spPr>
          <a:xfrm>
            <a:off x="4269145" y="2447446"/>
            <a:ext cx="3414074" cy="2347333"/>
          </a:xfrm>
          <a:prstGeom prst="rect">
            <a:avLst/>
          </a:prstGeom>
        </p:spPr>
      </p:pic>
      <p:sp>
        <p:nvSpPr>
          <p:cNvPr id="7" name="Title 1">
            <a:extLst>
              <a:ext uri="{FF2B5EF4-FFF2-40B4-BE49-F238E27FC236}">
                <a16:creationId xmlns:a16="http://schemas.microsoft.com/office/drawing/2014/main" id="{538AAF3D-F5CF-43A4-BD26-058B0D966F33}"/>
              </a:ext>
            </a:extLst>
          </p:cNvPr>
          <p:cNvSpPr txBox="1">
            <a:spLocks/>
          </p:cNvSpPr>
          <p:nvPr/>
        </p:nvSpPr>
        <p:spPr>
          <a:xfrm>
            <a:off x="449580" y="142745"/>
            <a:ext cx="740664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400" dirty="0"/>
              <a:t>Viewing metadata</a:t>
            </a:r>
          </a:p>
        </p:txBody>
      </p:sp>
      <p:cxnSp>
        <p:nvCxnSpPr>
          <p:cNvPr id="8" name="Straight Connector 7">
            <a:extLst>
              <a:ext uri="{FF2B5EF4-FFF2-40B4-BE49-F238E27FC236}">
                <a16:creationId xmlns:a16="http://schemas.microsoft.com/office/drawing/2014/main" id="{14FD962F-635B-4C27-9057-DCE3F1D8D2DF}"/>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5" name="Picture 4" descr="Image showing metadata in ArcGIS Pro">
            <a:extLst>
              <a:ext uri="{FF2B5EF4-FFF2-40B4-BE49-F238E27FC236}">
                <a16:creationId xmlns:a16="http://schemas.microsoft.com/office/drawing/2014/main" id="{60530DE4-2A4C-4F83-9AD2-168A3F7EB9BC}"/>
              </a:ext>
            </a:extLst>
          </p:cNvPr>
          <p:cNvPicPr>
            <a:picLocks noChangeAspect="1"/>
          </p:cNvPicPr>
          <p:nvPr/>
        </p:nvPicPr>
        <p:blipFill>
          <a:blip r:embed="rId4"/>
          <a:stretch>
            <a:fillRect/>
          </a:stretch>
        </p:blipFill>
        <p:spPr>
          <a:xfrm>
            <a:off x="411480" y="2807400"/>
            <a:ext cx="3466038" cy="1627423"/>
          </a:xfrm>
          <a:prstGeom prst="rect">
            <a:avLst/>
          </a:prstGeom>
        </p:spPr>
      </p:pic>
    </p:spTree>
    <p:extLst>
      <p:ext uri="{BB962C8B-B14F-4D97-AF65-F5344CB8AC3E}">
        <p14:creationId xmlns:p14="http://schemas.microsoft.com/office/powerpoint/2010/main" val="3820120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1305" y="1325254"/>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32</a:t>
            </a:fld>
            <a:endParaRPr lang="en-US"/>
          </a:p>
        </p:txBody>
      </p:sp>
      <p:pic>
        <p:nvPicPr>
          <p:cNvPr id="6" name="Picture 5">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heme/theme1.xml><?xml version="1.0" encoding="utf-8"?>
<a:theme xmlns:a="http://schemas.openxmlformats.org/drawingml/2006/main" name="5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5.xml><?xml version="1.0" encoding="utf-8"?>
<a:theme xmlns:a="http://schemas.openxmlformats.org/drawingml/2006/main" name="6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6.xml><?xml version="1.0" encoding="utf-8"?>
<a:theme xmlns:a="http://schemas.openxmlformats.org/drawingml/2006/main" name="7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Lecture07_GEOG2475_Tuesday</Template>
  <TotalTime>7901</TotalTime>
  <Words>2994</Words>
  <Application>Microsoft Office PowerPoint</Application>
  <PresentationFormat>Custom</PresentationFormat>
  <Paragraphs>367</Paragraphs>
  <Slides>32</Slides>
  <Notes>28</Notes>
  <HiddenSlides>0</HiddenSlides>
  <MMClips>0</MMClips>
  <ScaleCrop>false</ScaleCrop>
  <HeadingPairs>
    <vt:vector size="6" baseType="variant">
      <vt:variant>
        <vt:lpstr>Fonts Used</vt:lpstr>
      </vt:variant>
      <vt:variant>
        <vt:i4>7</vt:i4>
      </vt:variant>
      <vt:variant>
        <vt:lpstr>Theme</vt:lpstr>
      </vt:variant>
      <vt:variant>
        <vt:i4>6</vt:i4>
      </vt:variant>
      <vt:variant>
        <vt:lpstr>Slide Titles</vt:lpstr>
      </vt:variant>
      <vt:variant>
        <vt:i4>32</vt:i4>
      </vt:variant>
    </vt:vector>
  </HeadingPairs>
  <TitlesOfParts>
    <vt:vector size="45" baseType="lpstr">
      <vt:lpstr>Arial</vt:lpstr>
      <vt:lpstr>Arial Black</vt:lpstr>
      <vt:lpstr>Calibri</vt:lpstr>
      <vt:lpstr>Cambria Math</vt:lpstr>
      <vt:lpstr>Courier New</vt:lpstr>
      <vt:lpstr>Wingdings</vt:lpstr>
      <vt:lpstr>Wingdings 2</vt:lpstr>
      <vt:lpstr>5_DividendVTI</vt:lpstr>
      <vt:lpstr>2_DividendVTI</vt:lpstr>
      <vt:lpstr>DividendVTI</vt:lpstr>
      <vt:lpstr>1_DividendVTI</vt:lpstr>
      <vt:lpstr>6_DividendVTI</vt:lpstr>
      <vt:lpstr>7_DividendVTI</vt:lpstr>
      <vt:lpstr>Lecture 07  Data Accuracy  and Precision  lecture</vt:lpstr>
      <vt:lpstr>7.1  MAP ELEMENTS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US: Federal Geographic Data Committee (FGDC) Content Standard for Digital Geospatial Metadata (CSDGM)</vt:lpstr>
      <vt:lpstr>PowerPoint Presentation</vt:lpstr>
      <vt:lpstr>International: ISO 19115 International Standards for Metadata</vt:lpstr>
      <vt:lpstr>International: ISO 19115 International Standards for Metadata</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480</cp:revision>
  <cp:lastPrinted>2020-03-26T12:59:04Z</cp:lastPrinted>
  <dcterms:created xsi:type="dcterms:W3CDTF">2020-03-24T14:51:54Z</dcterms:created>
  <dcterms:modified xsi:type="dcterms:W3CDTF">2025-10-07T03:38:43Z</dcterms:modified>
</cp:coreProperties>
</file>