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6.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8.xml" ContentType="application/vnd.openxmlformats-officedocument.presentationml.notesSlide+xml"/>
  <Override PartName="/ppt/tags/tag11.xml" ContentType="application/vnd.openxmlformats-officedocument.presentationml.tags+xml"/>
  <Override PartName="/ppt/notesSlides/notesSlide9.xml" ContentType="application/vnd.openxmlformats-officedocument.presentationml.notesSlide+xml"/>
  <Override PartName="/ppt/tags/tag12.xml" ContentType="application/vnd.openxmlformats-officedocument.presentationml.tags+xml"/>
  <Override PartName="/ppt/notesSlides/notesSlide10.xml" ContentType="application/vnd.openxmlformats-officedocument.presentationml.notesSlide+xml"/>
  <Override PartName="/ppt/tags/tag13.xml" ContentType="application/vnd.openxmlformats-officedocument.presentationml.tags+xml"/>
  <Override PartName="/ppt/notesSlides/notesSlide11.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notesSlides/notesSlide14.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15.xml" ContentType="application/vnd.openxmlformats-officedocument.presentationml.notesSlide+xml"/>
  <Override PartName="/ppt/tags/tag20.xml" ContentType="application/vnd.openxmlformats-officedocument.presentationml.tags+xml"/>
  <Override PartName="/ppt/notesSlides/notesSlide16.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notesSlides/notesSlide17.xml" ContentType="application/vnd.openxmlformats-officedocument.presentationml.notesSlide+xml"/>
  <Override PartName="/ppt/tags/tag23.xml" ContentType="application/vnd.openxmlformats-officedocument.presentationml.tags+xml"/>
  <Override PartName="/ppt/notesSlides/notesSlide18.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notesSlides/notesSlide19.xml" ContentType="application/vnd.openxmlformats-officedocument.presentationml.notesSlide+xml"/>
  <Override PartName="/ppt/tags/tag26.xml" ContentType="application/vnd.openxmlformats-officedocument.presentationml.tags+xml"/>
  <Override PartName="/ppt/notesSlides/notesSlide20.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notesSlides/notesSlide21.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31.xml" ContentType="application/vnd.openxmlformats-officedocument.presentationml.tags+xml"/>
  <Override PartName="/ppt/notesSlides/notesSlide24.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25.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4" r:id="rId3"/>
    <p:sldMasterId id="2147483696" r:id="rId4"/>
    <p:sldMasterId id="2147483708" r:id="rId5"/>
    <p:sldMasterId id="2147483721" r:id="rId6"/>
    <p:sldMasterId id="2147483734" r:id="rId7"/>
  </p:sldMasterIdLst>
  <p:notesMasterIdLst>
    <p:notesMasterId r:id="rId41"/>
  </p:notesMasterIdLst>
  <p:sldIdLst>
    <p:sldId id="914" r:id="rId8"/>
    <p:sldId id="1647" r:id="rId9"/>
    <p:sldId id="665" r:id="rId10"/>
    <p:sldId id="718" r:id="rId11"/>
    <p:sldId id="330" r:id="rId12"/>
    <p:sldId id="331" r:id="rId13"/>
    <p:sldId id="692" r:id="rId14"/>
    <p:sldId id="364" r:id="rId15"/>
    <p:sldId id="333" r:id="rId16"/>
    <p:sldId id="334" r:id="rId17"/>
    <p:sldId id="365" r:id="rId18"/>
    <p:sldId id="366" r:id="rId19"/>
    <p:sldId id="335" r:id="rId20"/>
    <p:sldId id="719" r:id="rId21"/>
    <p:sldId id="336" r:id="rId22"/>
    <p:sldId id="720" r:id="rId23"/>
    <p:sldId id="683" r:id="rId24"/>
    <p:sldId id="337" r:id="rId25"/>
    <p:sldId id="338" r:id="rId26"/>
    <p:sldId id="684" r:id="rId27"/>
    <p:sldId id="685" r:id="rId28"/>
    <p:sldId id="342" r:id="rId29"/>
    <p:sldId id="721" r:id="rId30"/>
    <p:sldId id="689" r:id="rId31"/>
    <p:sldId id="311" r:id="rId32"/>
    <p:sldId id="670" r:id="rId33"/>
    <p:sldId id="690" r:id="rId34"/>
    <p:sldId id="671" r:id="rId35"/>
    <p:sldId id="673" r:id="rId36"/>
    <p:sldId id="344" r:id="rId37"/>
    <p:sldId id="687" r:id="rId38"/>
    <p:sldId id="688" r:id="rId39"/>
    <p:sldId id="270" r:id="rId40"/>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8210" autoAdjust="0"/>
  </p:normalViewPr>
  <p:slideViewPr>
    <p:cSldViewPr snapToGrid="0" snapToObjects="1">
      <p:cViewPr varScale="1">
        <p:scale>
          <a:sx n="114" d="100"/>
          <a:sy n="114" d="100"/>
        </p:scale>
        <p:origin x="1854" y="102"/>
      </p:cViewPr>
      <p:guideLst>
        <p:guide orient="horz" pos="1620"/>
        <p:guide pos="25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presProps" Target="pres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viewProps" Target="viewProps.xml"/><Relationship Id="rId8" Type="http://schemas.openxmlformats.org/officeDocument/2006/relationships/slide" Target="slides/slide1.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20" Type="http://schemas.openxmlformats.org/officeDocument/2006/relationships/slide" Target="slides/slide13.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11/12/2025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507943-197E-CE46-82F0-5A323A24AE7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80193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4130332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raster generalization methods that we will discuss</a:t>
            </a:r>
            <a:r>
              <a:rPr lang="en-US" baseline="0" dirty="0"/>
              <a:t> here are only applicable to categorical raster grids, such as land cover. </a:t>
            </a:r>
          </a:p>
          <a:p>
            <a:endParaRPr lang="en-US" baseline="0" dirty="0"/>
          </a:p>
          <a:p>
            <a:r>
              <a:rPr lang="en-US" baseline="0" dirty="0"/>
              <a:t>First, we will discuss majority filtering. Majority filtering can be used to replace a cell value with a different value based on neighboring cells. </a:t>
            </a:r>
          </a:p>
          <a:p>
            <a:endParaRPr lang="en-US" baseline="0" dirty="0"/>
          </a:p>
          <a:p>
            <a:r>
              <a:rPr lang="en-US" baseline="0" dirty="0"/>
              <a:t>Generally, this is performed using a 3 by 3 moving window, so this is another example of a method that makes use of neighborhood analysis. </a:t>
            </a:r>
          </a:p>
          <a:p>
            <a:endParaRPr lang="en-US" baseline="0" dirty="0"/>
          </a:p>
          <a:p>
            <a:r>
              <a:rPr lang="en-US" baseline="0" dirty="0"/>
              <a:t>Specifically, this method is used to replace a cell value with the majority cell value of the neighboring cells. </a:t>
            </a:r>
          </a:p>
          <a:p>
            <a:endParaRPr lang="en-US" baseline="0" dirty="0"/>
          </a:p>
          <a:p>
            <a:r>
              <a:rPr lang="en-US" baseline="0" dirty="0"/>
              <a:t>If the FOUR method is used, then only orthogonal cells will be considered. These are the cells that share a side with the center cell. </a:t>
            </a:r>
          </a:p>
          <a:p>
            <a:endParaRPr lang="en-US" baseline="0" dirty="0"/>
          </a:p>
          <a:p>
            <a:r>
              <a:rPr lang="en-US" baseline="0" dirty="0"/>
              <a:t>If the EIGHT method is used, then all eight neighboring cells will be considered, or the four orthogonal and four diagonal cells. </a:t>
            </a:r>
          </a:p>
          <a:p>
            <a:endParaRPr lang="en-US" baseline="0" dirty="0"/>
          </a:p>
          <a:p>
            <a:r>
              <a:rPr lang="en-US" baseline="0" dirty="0"/>
              <a:t>If the Majority setting is applied, then the cell value will only be changed if a majority or more than half of the neighbors contain the new cell value.</a:t>
            </a:r>
          </a:p>
          <a:p>
            <a:endParaRPr lang="en-US" baseline="0" dirty="0"/>
          </a:p>
          <a:p>
            <a:r>
              <a:rPr lang="en-US" baseline="0" dirty="0"/>
              <a:t>If the Half setting is used, then at least half of the neighboring cells must contain the cell value. </a:t>
            </a:r>
          </a:p>
          <a:p>
            <a:endParaRPr lang="en-US" baseline="0" dirty="0"/>
          </a:p>
          <a:p>
            <a:r>
              <a:rPr lang="en-US" baseline="0" dirty="0"/>
              <a:t>In the example provided here, if EIGHT and Majority were used then the cell value would be changed to 30. This is because 30 is the majority value in the eight neighboring cells, as five of the eight cells contain this value. </a:t>
            </a:r>
          </a:p>
          <a:p>
            <a:endParaRPr lang="en-US" baseline="0" dirty="0"/>
          </a:p>
          <a:p>
            <a:r>
              <a:rPr lang="en-US" baseline="0" dirty="0"/>
              <a:t>If the FOUR and majority method were used, then the center cell value would be maintained as 20, since there are two 30 and two 20 cells in regards to the orthogonal neighbors, so there is no majority.</a:t>
            </a:r>
          </a:p>
          <a:p>
            <a:endParaRPr lang="en-US" baseline="0" dirty="0"/>
          </a:p>
          <a:p>
            <a:r>
              <a:rPr lang="en-US" baseline="0" dirty="0"/>
              <a:t>Regardless of the settings used, the 3 by 3 moving window will move through the grid to perform this calculation using each cell as the center cell.</a:t>
            </a:r>
          </a:p>
          <a:p>
            <a:endParaRPr lang="en-US" baseline="0" dirty="0"/>
          </a:p>
          <a:p>
            <a:r>
              <a:rPr lang="en-US" baseline="0" dirty="0"/>
              <a:t>A common application of majority filtering is to reduce the salt and pepper effect that commonly results from image classification. Pixels that are different from their neighbors can be recoded to the majority value of their neighbors, thus reducing the salt and pepper issue. </a:t>
            </a:r>
          </a:p>
        </p:txBody>
      </p:sp>
      <p:sp>
        <p:nvSpPr>
          <p:cNvPr id="4" name="Slide Number Placeholder 3"/>
          <p:cNvSpPr>
            <a:spLocks noGrp="1"/>
          </p:cNvSpPr>
          <p:nvPr>
            <p:ph type="sldNum" sz="quarter" idx="10"/>
          </p:nvPr>
        </p:nvSpPr>
        <p:spPr/>
        <p:txBody>
          <a:bodyPr/>
          <a:lstStyle/>
          <a:p>
            <a:fld id="{01F2A70B-78F2-4DCF-B53B-C990D2FAFB8A}" type="slidenum">
              <a:rPr lang="en-US" smtClean="0"/>
              <a:t>5</a:t>
            </a:fld>
            <a:endParaRPr lang="en-US"/>
          </a:p>
        </p:txBody>
      </p:sp>
    </p:spTree>
    <p:extLst>
      <p:ext uri="{BB962C8B-B14F-4D97-AF65-F5344CB8AC3E}">
        <p14:creationId xmlns:p14="http://schemas.microsoft.com/office/powerpoint/2010/main" val="32124616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Region group</a:t>
            </a:r>
            <a:r>
              <a:rPr lang="en-US" baseline="0" dirty="0"/>
              <a:t> is used to code all regions in a categorical raster to a unique code. So, any contiguous set of pixels that have the same code will be grouped, and each of these unique regions will be assigned a unique code. </a:t>
            </a:r>
          </a:p>
          <a:p>
            <a:endParaRPr lang="en-US" baseline="0" dirty="0"/>
          </a:p>
          <a:p>
            <a:r>
              <a:rPr lang="en-US" baseline="0" dirty="0"/>
              <a:t>The goal here is to identify contiguous regions of the same category.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6</a:t>
            </a:fld>
            <a:endParaRPr lang="en-US"/>
          </a:p>
        </p:txBody>
      </p:sp>
    </p:spTree>
    <p:extLst>
      <p:ext uri="{BB962C8B-B14F-4D97-AF65-F5344CB8AC3E}">
        <p14:creationId xmlns:p14="http://schemas.microsoft.com/office/powerpoint/2010/main" val="31726407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7</a:t>
            </a:fld>
            <a:endParaRPr lang="en-US"/>
          </a:p>
        </p:txBody>
      </p:sp>
    </p:spTree>
    <p:extLst>
      <p:ext uri="{BB962C8B-B14F-4D97-AF65-F5344CB8AC3E}">
        <p14:creationId xmlns:p14="http://schemas.microsoft.com/office/powerpoint/2010/main" val="23630125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a:t>
            </a:r>
            <a:r>
              <a:rPr lang="en-US" baseline="0" dirty="0"/>
              <a:t> performing region grouping, similar to majority filtering, the FOUR or EIGHT methods can be applied. </a:t>
            </a:r>
          </a:p>
          <a:p>
            <a:endParaRPr lang="en-US" baseline="0" dirty="0"/>
          </a:p>
          <a:p>
            <a:r>
              <a:rPr lang="en-US" baseline="0" dirty="0"/>
              <a:t>If the EIGHT method is applied, an area of the same code will be considered contiguous even if the pixels only touch diagonally. </a:t>
            </a:r>
          </a:p>
          <a:p>
            <a:endParaRPr lang="en-US" baseline="0" dirty="0"/>
          </a:p>
          <a:p>
            <a:r>
              <a:rPr lang="en-US" baseline="0" dirty="0"/>
              <a:t>In contrast, when using the FOUR method an area will only be considered contiguous if the cells share a side, or are orthogonal. </a:t>
            </a:r>
          </a:p>
          <a:p>
            <a:endParaRPr lang="en-US" baseline="0" dirty="0"/>
          </a:p>
          <a:p>
            <a:r>
              <a:rPr lang="en-US" baseline="0" dirty="0"/>
              <a:t>Generally, the FOUR method will yield more unique regions than the EIGHT method.</a:t>
            </a:r>
          </a:p>
          <a:p>
            <a:endParaRPr lang="en-US" baseline="0" dirty="0"/>
          </a:p>
          <a:p>
            <a:r>
              <a:rPr lang="en-US" baseline="0" dirty="0"/>
              <a:t>Once regions have been assigned unique codes, they can be converted to polygons with or without simplification. </a:t>
            </a:r>
          </a:p>
          <a:p>
            <a:endParaRPr lang="en-US" baseline="0" dirty="0"/>
          </a:p>
          <a:p>
            <a:r>
              <a:rPr lang="en-US" baseline="0" dirty="0"/>
              <a:t>If no simplification is applied, then the polygons will follow the boundaries of the cells. </a:t>
            </a:r>
          </a:p>
          <a:p>
            <a:endParaRPr lang="en-US" baseline="0" dirty="0"/>
          </a:p>
          <a:p>
            <a:r>
              <a:rPr lang="en-US" b="0" i="0" dirty="0">
                <a:solidFill>
                  <a:srgbClr val="4D4D4D"/>
                </a:solidFill>
                <a:effectLst/>
                <a:latin typeface="Lucida Grande"/>
              </a:rPr>
              <a:t>Defines connectivity between cells of the same value only if the cells are directly to the left, right, above, or below each of the four nearest neighbors. If two cells with the same value are diagonal from one another, they are not considered connected.</a:t>
            </a:r>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8</a:t>
            </a:fld>
            <a:endParaRPr lang="en-US"/>
          </a:p>
        </p:txBody>
      </p:sp>
    </p:spTree>
    <p:extLst>
      <p:ext uri="{BB962C8B-B14F-4D97-AF65-F5344CB8AC3E}">
        <p14:creationId xmlns:p14="http://schemas.microsoft.com/office/powerpoint/2010/main" val="38506120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Expand</a:t>
            </a:r>
            <a:r>
              <a:rPr lang="en-US" baseline="0" dirty="0"/>
              <a:t> is used to extend a certain code or category out by a defined number of cells.</a:t>
            </a:r>
          </a:p>
          <a:p>
            <a:endParaRPr lang="en-US" baseline="0" dirty="0"/>
          </a:p>
          <a:p>
            <a:r>
              <a:rPr lang="en-US" baseline="0" dirty="0"/>
              <a:t>In the example provided, the green cells represent forest and the gray cells represent all other categories. </a:t>
            </a:r>
          </a:p>
          <a:p>
            <a:endParaRPr lang="en-US" baseline="0" dirty="0"/>
          </a:p>
          <a:p>
            <a:r>
              <a:rPr lang="en-US" baseline="0" dirty="0"/>
              <a:t>Using Expand, the forest areas have been expand by 5 cells or 150 meters, reducing the area of not forest.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9</a:t>
            </a:fld>
            <a:endParaRPr lang="en-US"/>
          </a:p>
        </p:txBody>
      </p:sp>
    </p:spTree>
    <p:extLst>
      <p:ext uri="{BB962C8B-B14F-4D97-AF65-F5344CB8AC3E}">
        <p14:creationId xmlns:p14="http://schemas.microsoft.com/office/powerpoint/2010/main" val="22059820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Shrink is the opposite</a:t>
            </a:r>
            <a:r>
              <a:rPr lang="en-US" baseline="0" dirty="0"/>
              <a:t> of expand. Instead of expanding areas with a certain code or value, that code or value is reduced. </a:t>
            </a:r>
          </a:p>
          <a:p>
            <a:endParaRPr lang="en-US" baseline="0" dirty="0"/>
          </a:p>
          <a:p>
            <a:r>
              <a:rPr lang="en-US" baseline="0" dirty="0"/>
              <a:t>The areas that are reduced for this class are replaced with the most frequent value or code in its neighborhood.</a:t>
            </a:r>
          </a:p>
          <a:p>
            <a:endParaRPr lang="en-US" baseline="0" dirty="0"/>
          </a:p>
          <a:p>
            <a:r>
              <a:rPr lang="en-US" baseline="0" dirty="0"/>
              <a:t>In the example above, the forest class has been reduced by 5 cells or 150 meters. Cells in these areas have been recoded as not forest.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10</a:t>
            </a:fld>
            <a:endParaRPr lang="en-US"/>
          </a:p>
        </p:txBody>
      </p:sp>
    </p:spTree>
    <p:extLst>
      <p:ext uri="{BB962C8B-B14F-4D97-AF65-F5344CB8AC3E}">
        <p14:creationId xmlns:p14="http://schemas.microsoft.com/office/powerpoint/2010/main" val="34055982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Nibble is used to replace cells values</a:t>
            </a:r>
            <a:r>
              <a:rPr lang="en-US" baseline="0" dirty="0"/>
              <a:t> with the nearest cell value that is not masked out. </a:t>
            </a:r>
          </a:p>
          <a:p>
            <a:endParaRPr lang="en-US" baseline="0" dirty="0"/>
          </a:p>
          <a:p>
            <a:r>
              <a:rPr lang="en-US" baseline="0" dirty="0"/>
              <a:t>In the example above, the red areas indicate some level of development. We would like to remove these areas and replace them with the nearest non-developed category.</a:t>
            </a:r>
          </a:p>
          <a:p>
            <a:endParaRPr lang="en-US" baseline="0" dirty="0"/>
          </a:p>
          <a:p>
            <a:r>
              <a:rPr lang="en-US" baseline="0" dirty="0"/>
              <a:t>To accomplish this task, a mask is produced. This mask is used to mask out all developed areas.</a:t>
            </a:r>
          </a:p>
          <a:p>
            <a:endParaRPr lang="en-US" baseline="0" dirty="0"/>
          </a:p>
          <a:p>
            <a:r>
              <a:rPr lang="en-US" baseline="0" dirty="0"/>
              <a:t>Using this mask, areas that are developed will be recoded as the nearest code that is not developed, since all developed areas were masked out.</a:t>
            </a:r>
          </a:p>
          <a:p>
            <a:endParaRPr lang="en-US" baseline="0" dirty="0"/>
          </a:p>
          <a:p>
            <a:r>
              <a:rPr lang="en-US" baseline="0" dirty="0"/>
              <a:t>Progress to the next slide to see the result.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11</a:t>
            </a:fld>
            <a:endParaRPr lang="en-US"/>
          </a:p>
        </p:txBody>
      </p:sp>
    </p:spTree>
    <p:extLst>
      <p:ext uri="{BB962C8B-B14F-4D97-AF65-F5344CB8AC3E}">
        <p14:creationId xmlns:p14="http://schemas.microsoft.com/office/powerpoint/2010/main" val="37014649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you can see,</a:t>
            </a:r>
            <a:r>
              <a:rPr lang="en-US" baseline="0" dirty="0"/>
              <a:t> the developed cells have now been replaced by the nearest non-developed category, effectively removing this class from the dataset.</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12</a:t>
            </a:fld>
            <a:endParaRPr lang="en-US"/>
          </a:p>
        </p:txBody>
      </p:sp>
    </p:spTree>
    <p:extLst>
      <p:ext uri="{BB962C8B-B14F-4D97-AF65-F5344CB8AC3E}">
        <p14:creationId xmlns:p14="http://schemas.microsoft.com/office/powerpoint/2010/main" val="27697377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last example of raster generalization methods, sieving can be used to remove areas</a:t>
            </a:r>
            <a:r>
              <a:rPr lang="en-US" baseline="0" dirty="0"/>
              <a:t> of the same category that are smaller than a certain size. </a:t>
            </a:r>
          </a:p>
          <a:p>
            <a:endParaRPr lang="en-US" baseline="0" dirty="0"/>
          </a:p>
          <a:p>
            <a:r>
              <a:rPr lang="en-US" baseline="0" dirty="0"/>
              <a:t>The user must define a minimal size area to maintain as a land area or number of cells. </a:t>
            </a:r>
          </a:p>
          <a:p>
            <a:endParaRPr lang="en-US" baseline="0" dirty="0"/>
          </a:p>
          <a:p>
            <a:r>
              <a:rPr lang="en-US" baseline="0" dirty="0"/>
              <a:t>The tool will then find all contiguous regions that are smaller than this defined size. Once these areas are found they will be removed and assigned to the surrounding class. </a:t>
            </a:r>
          </a:p>
          <a:p>
            <a:endParaRPr lang="en-US" baseline="0" dirty="0"/>
          </a:p>
          <a:p>
            <a:r>
              <a:rPr lang="en-US" baseline="0" dirty="0"/>
              <a:t>As an example, this tool could be used to remove small areas in a land cover classification that are smaller than a defined size. For example, small barren areas within a forested extent could be removed and coded as forest.</a:t>
            </a:r>
          </a:p>
          <a:p>
            <a:endParaRPr lang="en-US" baseline="0" dirty="0"/>
          </a:p>
          <a:p>
            <a:r>
              <a:rPr lang="en-US" baseline="0" dirty="0"/>
              <a:t>This method can be used to remove the salt and pepper effect common in land cover classifications. </a:t>
            </a:r>
          </a:p>
          <a:p>
            <a:endParaRPr lang="en-US" baseline="0" dirty="0"/>
          </a:p>
          <a:p>
            <a:r>
              <a:rPr lang="en-US" baseline="0" dirty="0"/>
              <a:t>Additionally, this method can be used to approximate a minimal mapping unit. Areas smaller than the minimal mapping unit can be recoded and assigned to the surrounding class. </a:t>
            </a:r>
          </a:p>
        </p:txBody>
      </p:sp>
      <p:sp>
        <p:nvSpPr>
          <p:cNvPr id="4" name="Slide Number Placeholder 3"/>
          <p:cNvSpPr>
            <a:spLocks noGrp="1"/>
          </p:cNvSpPr>
          <p:nvPr>
            <p:ph type="sldNum" sz="quarter" idx="10"/>
          </p:nvPr>
        </p:nvSpPr>
        <p:spPr/>
        <p:txBody>
          <a:bodyPr/>
          <a:lstStyle/>
          <a:p>
            <a:fld id="{01F2A70B-78F2-4DCF-B53B-C990D2FAFB8A}" type="slidenum">
              <a:rPr lang="en-US" smtClean="0"/>
              <a:t>13</a:t>
            </a:fld>
            <a:endParaRPr lang="en-US"/>
          </a:p>
        </p:txBody>
      </p:sp>
    </p:spTree>
    <p:extLst>
      <p:ext uri="{BB962C8B-B14F-4D97-AF65-F5344CB8AC3E}">
        <p14:creationId xmlns:p14="http://schemas.microsoft.com/office/powerpoint/2010/main" val="29311019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spatial analysis task is to summarize raster data relative</a:t>
            </a:r>
            <a:r>
              <a:rPr lang="en-US" baseline="0" dirty="0"/>
              <a:t> to vector data. For example, you may want to summarize continuous raster data relative to polygons.</a:t>
            </a:r>
          </a:p>
          <a:p>
            <a:endParaRPr lang="en-US" baseline="0" dirty="0"/>
          </a:p>
          <a:p>
            <a:r>
              <a:rPr lang="en-US" baseline="0" dirty="0"/>
              <a:t>This can be accomplished using the Zonal Statistics Tool.</a:t>
            </a:r>
          </a:p>
          <a:p>
            <a:endParaRPr lang="en-US" baseline="0" dirty="0"/>
          </a:p>
          <a:p>
            <a:r>
              <a:rPr lang="en-US" baseline="0" dirty="0"/>
              <a:t>This method will calculate a statistical measure, such as the mean, median, standard deviation, minimum, or maximum, from the cell values within a zone. </a:t>
            </a:r>
          </a:p>
          <a:p>
            <a:endParaRPr lang="en-US" baseline="0" dirty="0"/>
          </a:p>
          <a:p>
            <a:r>
              <a:rPr lang="en-US" baseline="0" dirty="0"/>
              <a:t>The zones can be defined using a categorical raster or vector polygons. If vector polygons are used, then they will be converted to raster zones prior to the summarization. </a:t>
            </a:r>
          </a:p>
          <a:p>
            <a:endParaRPr lang="en-US" baseline="0" dirty="0"/>
          </a:p>
          <a:p>
            <a:r>
              <a:rPr lang="en-US" baseline="0" dirty="0"/>
              <a:t>As a result, this method generally will not work correctly if overlapping polygons are used, since only one code can be assigned to each cell. </a:t>
            </a:r>
          </a:p>
          <a:p>
            <a:endParaRPr lang="en-US" baseline="0" dirty="0"/>
          </a:p>
          <a:p>
            <a:r>
              <a:rPr lang="en-US" baseline="0" dirty="0"/>
              <a:t>The result will be a statistical measure that will be the same for each cell within each zone. </a:t>
            </a:r>
          </a:p>
          <a:p>
            <a:endParaRPr lang="en-US" baseline="0" dirty="0"/>
          </a:p>
          <a:p>
            <a:r>
              <a:rPr lang="en-US" baseline="0" dirty="0"/>
              <a:t>The example above shows the range of elevation for each county in West Virginia. Since the zones were defined as counties, all cells in the same county were assigned the same value, in this case the elevation range.</a:t>
            </a:r>
          </a:p>
          <a:p>
            <a:endParaRPr lang="en-US" baseline="0" dirty="0"/>
          </a:p>
          <a:p>
            <a:r>
              <a:rPr lang="en-US" baseline="0" dirty="0"/>
              <a:t>Since a singe band raster is produced, only one statistical measure can be generated at a time. </a:t>
            </a:r>
          </a:p>
        </p:txBody>
      </p:sp>
      <p:sp>
        <p:nvSpPr>
          <p:cNvPr id="4" name="Slide Number Placeholder 3"/>
          <p:cNvSpPr>
            <a:spLocks noGrp="1"/>
          </p:cNvSpPr>
          <p:nvPr>
            <p:ph type="sldNum" sz="quarter" idx="10"/>
          </p:nvPr>
        </p:nvSpPr>
        <p:spPr/>
        <p:txBody>
          <a:bodyPr/>
          <a:lstStyle/>
          <a:p>
            <a:fld id="{01F2A70B-78F2-4DCF-B53B-C990D2FAFB8A}" type="slidenum">
              <a:rPr lang="en-US" smtClean="0"/>
              <a:t>15</a:t>
            </a:fld>
            <a:endParaRPr lang="en-US"/>
          </a:p>
        </p:txBody>
      </p:sp>
    </p:spTree>
    <p:extLst>
      <p:ext uri="{BB962C8B-B14F-4D97-AF65-F5344CB8AC3E}">
        <p14:creationId xmlns:p14="http://schemas.microsoft.com/office/powerpoint/2010/main" val="4049483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spatial analysis task is to summarize raster data relative</a:t>
            </a:r>
            <a:r>
              <a:rPr lang="en-US" baseline="0" dirty="0"/>
              <a:t> to vector data. For example, you may want to summarize continuous raster data relative to polygons.</a:t>
            </a:r>
          </a:p>
          <a:p>
            <a:endParaRPr lang="en-US" baseline="0" dirty="0"/>
          </a:p>
          <a:p>
            <a:r>
              <a:rPr lang="en-US" baseline="0" dirty="0"/>
              <a:t>This can be accomplished using the Zonal Statistics Tool.</a:t>
            </a:r>
          </a:p>
          <a:p>
            <a:endParaRPr lang="en-US" baseline="0" dirty="0"/>
          </a:p>
          <a:p>
            <a:r>
              <a:rPr lang="en-US" baseline="0" dirty="0"/>
              <a:t>This method will calculate a statistical measure, such as the mean, median, standard deviation, minimum, or maximum, from the cell values within a zone. </a:t>
            </a:r>
          </a:p>
          <a:p>
            <a:endParaRPr lang="en-US" baseline="0" dirty="0"/>
          </a:p>
          <a:p>
            <a:r>
              <a:rPr lang="en-US" baseline="0" dirty="0"/>
              <a:t>The zones can be defined using a categorical raster or vector polygons. If vector polygons are used, then they will be converted to raster zones prior to the summarization. </a:t>
            </a:r>
          </a:p>
          <a:p>
            <a:endParaRPr lang="en-US" baseline="0" dirty="0"/>
          </a:p>
          <a:p>
            <a:r>
              <a:rPr lang="en-US" baseline="0" dirty="0"/>
              <a:t>As a result, this method generally will not work correctly if overlapping polygons are used, since only one code can be assigned to each cell. </a:t>
            </a:r>
          </a:p>
          <a:p>
            <a:endParaRPr lang="en-US" baseline="0" dirty="0"/>
          </a:p>
          <a:p>
            <a:r>
              <a:rPr lang="en-US" baseline="0" dirty="0"/>
              <a:t>The result will be a statistical measure that will be the same for each cell within each zone. </a:t>
            </a:r>
          </a:p>
          <a:p>
            <a:endParaRPr lang="en-US" baseline="0" dirty="0"/>
          </a:p>
          <a:p>
            <a:r>
              <a:rPr lang="en-US" baseline="0" dirty="0"/>
              <a:t>The example above shows the range of elevation for each county in West Virginia. Since the zones were defined as counties, all cells in the same county were assigned the same value, in this case the elevation range.</a:t>
            </a:r>
          </a:p>
          <a:p>
            <a:endParaRPr lang="en-US" baseline="0" dirty="0"/>
          </a:p>
          <a:p>
            <a:r>
              <a:rPr lang="en-US" baseline="0" dirty="0"/>
              <a:t>Since a singe band raster is produced, only one statistical measure can be generated at a time. </a:t>
            </a:r>
          </a:p>
        </p:txBody>
      </p:sp>
      <p:sp>
        <p:nvSpPr>
          <p:cNvPr id="4" name="Slide Number Placeholder 3"/>
          <p:cNvSpPr>
            <a:spLocks noGrp="1"/>
          </p:cNvSpPr>
          <p:nvPr>
            <p:ph type="sldNum" sz="quarter" idx="10"/>
          </p:nvPr>
        </p:nvSpPr>
        <p:spPr/>
        <p:txBody>
          <a:bodyPr/>
          <a:lstStyle/>
          <a:p>
            <a:fld id="{01F2A70B-78F2-4DCF-B53B-C990D2FAFB8A}" type="slidenum">
              <a:rPr lang="en-US" smtClean="0"/>
              <a:t>16</a:t>
            </a:fld>
            <a:endParaRPr lang="en-US"/>
          </a:p>
        </p:txBody>
      </p:sp>
    </p:spTree>
    <p:extLst>
      <p:ext uri="{BB962C8B-B14F-4D97-AF65-F5344CB8AC3E}">
        <p14:creationId xmlns:p14="http://schemas.microsoft.com/office/powerpoint/2010/main" val="36888589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a:t>
            </a:r>
            <a:r>
              <a:rPr lang="en-US" baseline="0" dirty="0"/>
              <a:t> you would like to calculate multiple statistics in a table format, this can be accomplished using Zonal Statistics as Table. </a:t>
            </a:r>
          </a:p>
          <a:p>
            <a:endParaRPr lang="en-US" baseline="0" dirty="0"/>
          </a:p>
          <a:p>
            <a:r>
              <a:rPr lang="en-US" baseline="0" dirty="0"/>
              <a:t>Instead of producing a raster output for a single statistical measure, a table output is generated that can provide multiple statistical measures.</a:t>
            </a:r>
          </a:p>
          <a:p>
            <a:endParaRPr lang="en-US" baseline="0" dirty="0"/>
          </a:p>
          <a:p>
            <a:r>
              <a:rPr lang="en-US" baseline="0" dirty="0"/>
              <a:t>Each row in the table will correspond to a zone, in this example a specific county. </a:t>
            </a:r>
          </a:p>
          <a:p>
            <a:endParaRPr lang="en-US" baseline="0" dirty="0"/>
          </a:p>
          <a:p>
            <a:r>
              <a:rPr lang="en-US" baseline="0" dirty="0"/>
              <a:t>If you would like to associate these results with the original zones, this can be accomplished using a table join. Here, this table could be joined back to the county vector file using the shared NAME field. </a:t>
            </a:r>
          </a:p>
        </p:txBody>
      </p:sp>
      <p:sp>
        <p:nvSpPr>
          <p:cNvPr id="4" name="Slide Number Placeholder 3"/>
          <p:cNvSpPr>
            <a:spLocks noGrp="1"/>
          </p:cNvSpPr>
          <p:nvPr>
            <p:ph type="sldNum" sz="quarter" idx="10"/>
          </p:nvPr>
        </p:nvSpPr>
        <p:spPr/>
        <p:txBody>
          <a:bodyPr/>
          <a:lstStyle/>
          <a:p>
            <a:fld id="{01F2A70B-78F2-4DCF-B53B-C990D2FAFB8A}" type="slidenum">
              <a:rPr lang="en-US" smtClean="0"/>
              <a:t>17</a:t>
            </a:fld>
            <a:endParaRPr lang="en-US"/>
          </a:p>
        </p:txBody>
      </p:sp>
    </p:spTree>
    <p:extLst>
      <p:ext uri="{BB962C8B-B14F-4D97-AF65-F5344CB8AC3E}">
        <p14:creationId xmlns:p14="http://schemas.microsoft.com/office/powerpoint/2010/main" val="19596808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Zonal Statistics tools are designed to provide summary statistics relative to zones and are generally more applicable for summarizing continuous raster data, such as a digital elevation model.</a:t>
            </a:r>
          </a:p>
          <a:p>
            <a:endParaRPr lang="en-US" baseline="0" dirty="0"/>
          </a:p>
          <a:p>
            <a:r>
              <a:rPr lang="en-US" baseline="0" dirty="0"/>
              <a:t>If you would like to summarize categorical raster data, such as land cover, this can be accomplished using the Tabulate Area Tool. </a:t>
            </a:r>
          </a:p>
          <a:p>
            <a:endParaRPr lang="en-US" baseline="0" dirty="0"/>
          </a:p>
          <a:p>
            <a:r>
              <a:rPr lang="en-US" baseline="0" dirty="0"/>
              <a:t>The output will be a table that provides the land area of each category within each zone. </a:t>
            </a:r>
          </a:p>
          <a:p>
            <a:endParaRPr lang="en-US" baseline="0" dirty="0"/>
          </a:p>
          <a:p>
            <a:r>
              <a:rPr lang="en-US" baseline="0" dirty="0"/>
              <a:t>If you would like to obtain the percentage of the land area as opposed to the area, then you could perform table calculations in new fields.</a:t>
            </a:r>
          </a:p>
          <a:p>
            <a:endParaRPr lang="en-US" baseline="0" dirty="0"/>
          </a:p>
          <a:p>
            <a:r>
              <a:rPr lang="en-US" baseline="0" dirty="0"/>
              <a:t>This table could also be joined to the original zone using a table join for further analysis.</a:t>
            </a:r>
          </a:p>
          <a:p>
            <a:endParaRPr lang="en-US" baseline="0" dirty="0"/>
          </a:p>
          <a:p>
            <a:r>
              <a:rPr lang="en-US" baseline="0" dirty="0"/>
              <a:t>Similar to the Zonal Statistics tools, vector polygon zones will be converted to raster zones to perform the summarization. So, incorrect results will be produced for overlapping polygons.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18</a:t>
            </a:fld>
            <a:endParaRPr lang="en-US"/>
          </a:p>
        </p:txBody>
      </p:sp>
    </p:spTree>
    <p:extLst>
      <p:ext uri="{BB962C8B-B14F-4D97-AF65-F5344CB8AC3E}">
        <p14:creationId xmlns:p14="http://schemas.microsoft.com/office/powerpoint/2010/main" val="10970037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also possible</a:t>
            </a:r>
            <a:r>
              <a:rPr lang="en-US" baseline="0" dirty="0"/>
              <a:t> to extract values at points. The result will be a new field in the attribute table for the point layer that holds the cell value from a raster grid occurring at that location. </a:t>
            </a:r>
          </a:p>
          <a:p>
            <a:endParaRPr lang="en-US" baseline="0" dirty="0"/>
          </a:p>
          <a:p>
            <a:r>
              <a:rPr lang="en-US" baseline="0" dirty="0"/>
              <a:t>This is an easy way to extract cell values at point locations in preparation for later analysis.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19</a:t>
            </a:fld>
            <a:endParaRPr lang="en-US"/>
          </a:p>
        </p:txBody>
      </p:sp>
    </p:spTree>
    <p:extLst>
      <p:ext uri="{BB962C8B-B14F-4D97-AF65-F5344CB8AC3E}">
        <p14:creationId xmlns:p14="http://schemas.microsoft.com/office/powerpoint/2010/main" val="394127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may be interested in obtaining</a:t>
            </a:r>
            <a:r>
              <a:rPr lang="en-US" baseline="0" dirty="0"/>
              <a:t> a raster-based measure of density for point or line features. This can be accomplished using the Point Density or Line Density tools. </a:t>
            </a:r>
          </a:p>
          <a:p>
            <a:endParaRPr lang="en-US" baseline="0" dirty="0"/>
          </a:p>
          <a:p>
            <a:r>
              <a:rPr lang="en-US" baseline="0" dirty="0"/>
              <a:t>These tool are yet another example of methods that make use of neighborhood analysis or moving windows.</a:t>
            </a:r>
          </a:p>
          <a:p>
            <a:endParaRPr lang="en-US" baseline="0" dirty="0"/>
          </a:p>
          <a:p>
            <a:r>
              <a:rPr lang="en-US" baseline="0" dirty="0"/>
              <a:t>The user must define the size and shape of the moving window. The tool then will calculate the number of points or length of lines within the window. </a:t>
            </a:r>
          </a:p>
          <a:p>
            <a:endParaRPr lang="en-US" baseline="0" dirty="0"/>
          </a:p>
          <a:p>
            <a:r>
              <a:rPr lang="en-US" baseline="0" dirty="0"/>
              <a:t>On the center cell for each window, the tool will return a measure of density. For points this will be the number of points per unit area. </a:t>
            </a:r>
          </a:p>
          <a:p>
            <a:endParaRPr lang="en-US" baseline="0" dirty="0"/>
          </a:p>
          <a:p>
            <a:r>
              <a:rPr lang="en-US" baseline="0" dirty="0"/>
              <a:t>For lines, this will be the length of lines per unit area. </a:t>
            </a:r>
          </a:p>
          <a:p>
            <a:endParaRPr lang="en-US" baseline="0" dirty="0"/>
          </a:p>
          <a:p>
            <a:r>
              <a:rPr lang="en-US" baseline="0" dirty="0"/>
              <a:t>The size and shape of the window can have a large impact on the output. More global or generalized patterns will be produced with larger windows whereas more local patterns will be observed if a smaller window is used. </a:t>
            </a:r>
          </a:p>
          <a:p>
            <a:endParaRPr lang="en-US" baseline="0" dirty="0"/>
          </a:p>
          <a:p>
            <a:r>
              <a:rPr lang="en-US" baseline="0" dirty="0"/>
              <a:t>There is not necessarily a correct window size, as this depends on the goals of the analysis. </a:t>
            </a:r>
          </a:p>
        </p:txBody>
      </p:sp>
      <p:sp>
        <p:nvSpPr>
          <p:cNvPr id="4" name="Slide Number Placeholder 3"/>
          <p:cNvSpPr>
            <a:spLocks noGrp="1"/>
          </p:cNvSpPr>
          <p:nvPr>
            <p:ph type="sldNum" sz="quarter" idx="10"/>
          </p:nvPr>
        </p:nvSpPr>
        <p:spPr/>
        <p:txBody>
          <a:bodyPr/>
          <a:lstStyle/>
          <a:p>
            <a:fld id="{01F2A70B-78F2-4DCF-B53B-C990D2FAFB8A}" type="slidenum">
              <a:rPr lang="en-US" smtClean="0"/>
              <a:t>21</a:t>
            </a:fld>
            <a:endParaRPr lang="en-US"/>
          </a:p>
        </p:txBody>
      </p:sp>
    </p:spTree>
    <p:extLst>
      <p:ext uri="{BB962C8B-B14F-4D97-AF65-F5344CB8AC3E}">
        <p14:creationId xmlns:p14="http://schemas.microsoft.com/office/powerpoint/2010/main" val="40767146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Kernel</a:t>
            </a:r>
            <a:r>
              <a:rPr lang="en-US" baseline="0" dirty="0"/>
              <a:t> density is similar to point or line density, accept that a different method is used to calculate density. </a:t>
            </a:r>
          </a:p>
          <a:p>
            <a:endParaRPr lang="en-US" baseline="0" dirty="0"/>
          </a:p>
          <a:p>
            <a:r>
              <a:rPr lang="en-US" baseline="0" dirty="0"/>
              <a:t>Specifically, this method makes use of a kernel function. The next slide provides and explanation of this method.</a:t>
            </a:r>
          </a:p>
          <a:p>
            <a:endParaRPr lang="en-US" baseline="0" dirty="0"/>
          </a:p>
          <a:p>
            <a:r>
              <a:rPr lang="en-US" baseline="0" dirty="0"/>
              <a:t>Please take the time to read through this explanation.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22</a:t>
            </a:fld>
            <a:endParaRPr lang="en-US"/>
          </a:p>
        </p:txBody>
      </p:sp>
    </p:spTree>
    <p:extLst>
      <p:ext uri="{BB962C8B-B14F-4D97-AF65-F5344CB8AC3E}">
        <p14:creationId xmlns:p14="http://schemas.microsoft.com/office/powerpoint/2010/main" val="41001842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extracting</a:t>
            </a:r>
            <a:r>
              <a:rPr lang="en-US" baseline="0" dirty="0"/>
              <a:t> a portion of a raster grid, you might be interested in combining multiple raster grids. This is a common task performed for image data. As another example, multiple digital elevation models could be merged to create an elevation surface that fills a larger spatial extent. This process can be accomplished using the Mosaic to New Raster Tool. </a:t>
            </a:r>
          </a:p>
          <a:p>
            <a:endParaRPr lang="en-US" baseline="0" dirty="0"/>
          </a:p>
          <a:p>
            <a:r>
              <a:rPr lang="en-US" baseline="0" dirty="0"/>
              <a:t>This tool will require you to define a pixel type (8-bit, 16-bit, float, etc.), a file extension (I commonly use Image or TIFF), an output cell size, and the number of bands.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24</a:t>
            </a:fld>
            <a:endParaRPr lang="en-US"/>
          </a:p>
        </p:txBody>
      </p:sp>
    </p:spTree>
    <p:extLst>
      <p:ext uri="{BB962C8B-B14F-4D97-AF65-F5344CB8AC3E}">
        <p14:creationId xmlns:p14="http://schemas.microsoft.com/office/powerpoint/2010/main" val="26392771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extracting</a:t>
            </a:r>
            <a:r>
              <a:rPr lang="en-US" baseline="0" dirty="0"/>
              <a:t> a portion of a raster grid, you might be interested in combining multiple raster grids. This is a common task performed for image data. As another example, multiple digital elevation models could be merged to create an elevation surface that fills a larger spatial extent. This process can be accomplished using the Mosaic to New Raster Tool. </a:t>
            </a:r>
          </a:p>
          <a:p>
            <a:endParaRPr lang="en-US" baseline="0" dirty="0"/>
          </a:p>
          <a:p>
            <a:r>
              <a:rPr lang="en-US" baseline="0" dirty="0"/>
              <a:t>This tool will require you to define a pixel type (8-bit, 16-bit, float, etc.), a file extension (I commonly use Image or TIFF), an output cell size, and the number of bands.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25</a:t>
            </a:fld>
            <a:endParaRPr lang="en-US"/>
          </a:p>
        </p:txBody>
      </p:sp>
    </p:spTree>
    <p:extLst>
      <p:ext uri="{BB962C8B-B14F-4D97-AF65-F5344CB8AC3E}">
        <p14:creationId xmlns:p14="http://schemas.microsoft.com/office/powerpoint/2010/main" val="7891439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have overlapping</a:t>
            </a:r>
            <a:r>
              <a:rPr lang="en-US" baseline="0" dirty="0"/>
              <a:t> values, a method must be applied to obtain the cell value in the overlapping areas. When there is no overlap, the decision is easy, as there is only on cell value. </a:t>
            </a:r>
          </a:p>
          <a:p>
            <a:endParaRPr lang="en-US" baseline="0" dirty="0"/>
          </a:p>
          <a:p>
            <a:r>
              <a:rPr lang="en-US" baseline="0" dirty="0"/>
              <a:t>For continuous data, many methods are available, including first, last, mean, maximum, and minimum. Since categorical data cannot be averaged, first or last are commonly used. </a:t>
            </a:r>
          </a:p>
          <a:p>
            <a:endParaRPr lang="en-US" baseline="0" dirty="0"/>
          </a:p>
          <a:p>
            <a:r>
              <a:rPr lang="en-US" baseline="0" dirty="0"/>
              <a:t>Take some time to review the methods described on the slide.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26</a:t>
            </a:fld>
            <a:endParaRPr lang="en-US"/>
          </a:p>
        </p:txBody>
      </p:sp>
    </p:spTree>
    <p:extLst>
      <p:ext uri="{BB962C8B-B14F-4D97-AF65-F5344CB8AC3E}">
        <p14:creationId xmlns:p14="http://schemas.microsoft.com/office/powerpoint/2010/main" val="16405592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have overlapping</a:t>
            </a:r>
            <a:r>
              <a:rPr lang="en-US" baseline="0" dirty="0"/>
              <a:t> values, a method must be applied to obtain the cell value in the overlapping areas. When there is no overlap, the decision is easy, as there is only on cell value. </a:t>
            </a:r>
          </a:p>
          <a:p>
            <a:endParaRPr lang="en-US" baseline="0" dirty="0"/>
          </a:p>
          <a:p>
            <a:r>
              <a:rPr lang="en-US" baseline="0" dirty="0"/>
              <a:t>For continuous data, many methods are available, including first, last, mean, maximum, and minimum. Since categorical data cannot be averaged, first or last are commonly used. </a:t>
            </a:r>
          </a:p>
          <a:p>
            <a:endParaRPr lang="en-US" baseline="0" dirty="0"/>
          </a:p>
          <a:p>
            <a:r>
              <a:rPr lang="en-US" baseline="0" dirty="0"/>
              <a:t>Take some time to review the methods described on the slide.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27</a:t>
            </a:fld>
            <a:endParaRPr lang="en-US"/>
          </a:p>
        </p:txBody>
      </p:sp>
    </p:spTree>
    <p:extLst>
      <p:ext uri="{BB962C8B-B14F-4D97-AF65-F5344CB8AC3E}">
        <p14:creationId xmlns:p14="http://schemas.microsoft.com/office/powerpoint/2010/main" val="29709599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a:t>
            </a:r>
            <a:r>
              <a:rPr lang="en-US" baseline="0" dirty="0"/>
              <a:t> a note, other tools are available to mosaic raster data. The Mosaic Pro Tool within </a:t>
            </a:r>
            <a:r>
              <a:rPr lang="en-US" baseline="0" dirty="0" err="1"/>
              <a:t>Erdas</a:t>
            </a:r>
            <a:r>
              <a:rPr lang="en-US" baseline="0" dirty="0"/>
              <a:t> Imagine is commonly used to mosaic image data. I have found this tool to be fast. It also offers more advanced color balancing methods that can be of great value when combining images. It also allows you to write the result to multiple files as opposed to a single, continuous dataset. This is valuable if the output will be very large.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28</a:t>
            </a:fld>
            <a:endParaRPr lang="en-US"/>
          </a:p>
        </p:txBody>
      </p:sp>
    </p:spTree>
    <p:extLst>
      <p:ext uri="{BB962C8B-B14F-4D97-AF65-F5344CB8AC3E}">
        <p14:creationId xmlns:p14="http://schemas.microsoft.com/office/powerpoint/2010/main" val="41270788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Raster datasets</a:t>
            </a:r>
            <a:r>
              <a:rPr lang="en-US" baseline="0" dirty="0"/>
              <a:t> can be large files, especially if they cover a large spatial extent and/or have a small cell size. This can result in slow display.</a:t>
            </a:r>
          </a:p>
          <a:p>
            <a:endParaRPr lang="en-US" baseline="0" dirty="0"/>
          </a:p>
          <a:p>
            <a:r>
              <a:rPr lang="en-US" baseline="0" dirty="0"/>
              <a:t>Building pyramid layers provides a means to improve the display speed and performance or raster layers. </a:t>
            </a:r>
          </a:p>
          <a:p>
            <a:endParaRPr lang="en-US" baseline="0" dirty="0"/>
          </a:p>
          <a:p>
            <a:r>
              <a:rPr lang="en-US" baseline="0" dirty="0"/>
              <a:t>Pyramids are reduced spatial resolution versions of the data. When you are zoomed out, the reduce resolution data are drawn. The high spatial resolution data are not drawn until you zoom in. </a:t>
            </a:r>
          </a:p>
          <a:p>
            <a:endParaRPr lang="en-US" baseline="0" dirty="0"/>
          </a:p>
          <a:p>
            <a:r>
              <a:rPr lang="en-US" baseline="0" dirty="0"/>
              <a:t>This can greatly improve display speed as you zoom in and out or pan around. </a:t>
            </a:r>
          </a:p>
          <a:p>
            <a:endParaRPr lang="en-US" baseline="0" dirty="0"/>
          </a:p>
          <a:p>
            <a:r>
              <a:rPr lang="en-US" baseline="0" dirty="0"/>
              <a:t>If you plan to work with raster data, especially if you will need to zoom and pan around the data, such as when digitizing, I highly recommend building pyramids. This process can be slow, but it may save you time in the long run. </a:t>
            </a:r>
          </a:p>
        </p:txBody>
      </p:sp>
      <p:sp>
        <p:nvSpPr>
          <p:cNvPr id="4" name="Slide Number Placeholder 3"/>
          <p:cNvSpPr>
            <a:spLocks noGrp="1"/>
          </p:cNvSpPr>
          <p:nvPr>
            <p:ph type="sldNum" sz="quarter" idx="10"/>
          </p:nvPr>
        </p:nvSpPr>
        <p:spPr/>
        <p:txBody>
          <a:bodyPr/>
          <a:lstStyle/>
          <a:p>
            <a:fld id="{01F2A70B-78F2-4DCF-B53B-C990D2FAFB8A}" type="slidenum">
              <a:rPr lang="en-US" smtClean="0"/>
              <a:t>29</a:t>
            </a:fld>
            <a:endParaRPr lang="en-US"/>
          </a:p>
        </p:txBody>
      </p:sp>
    </p:spTree>
    <p:extLst>
      <p:ext uri="{BB962C8B-B14F-4D97-AF65-F5344CB8AC3E}">
        <p14:creationId xmlns:p14="http://schemas.microsoft.com/office/powerpoint/2010/main" val="2373859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many other environments that are available in</a:t>
            </a:r>
            <a:r>
              <a:rPr lang="en-US" baseline="0" dirty="0"/>
              <a:t> which to perform spatial analysis and work with raster data. </a:t>
            </a:r>
          </a:p>
          <a:p>
            <a:endParaRPr lang="en-US" baseline="0" dirty="0"/>
          </a:p>
          <a:p>
            <a:r>
              <a:rPr lang="en-US" baseline="0" dirty="0"/>
              <a:t>Although we mainly work with ArcGIS Pro in this course, I wanted to take the time to note some other options.</a:t>
            </a:r>
          </a:p>
          <a:p>
            <a:endParaRPr lang="en-US" baseline="0" dirty="0"/>
          </a:p>
          <a:p>
            <a:r>
              <a:rPr lang="en-US" baseline="0" dirty="0"/>
              <a:t>There are several open-source and free software packages that can be used to perform spatial analysis, including QGIS and R.</a:t>
            </a:r>
          </a:p>
          <a:p>
            <a:endParaRPr lang="en-US" baseline="0" dirty="0"/>
          </a:p>
          <a:p>
            <a:r>
              <a:rPr lang="en-US" baseline="0" dirty="0"/>
              <a:t>Additionally, spatial analysis methods focused on imagery are provided by remote sensing software packages, such as </a:t>
            </a:r>
            <a:r>
              <a:rPr lang="en-US" baseline="0" dirty="0" err="1"/>
              <a:t>Erdas</a:t>
            </a:r>
            <a:r>
              <a:rPr lang="en-US" baseline="0" dirty="0"/>
              <a:t> Imagine and ENVI.</a:t>
            </a:r>
          </a:p>
          <a:p>
            <a:endParaRPr lang="en-US" baseline="0" dirty="0"/>
          </a:p>
          <a:p>
            <a:r>
              <a:rPr lang="en-US" baseline="0" dirty="0"/>
              <a:t>You will be introduced to these tools </a:t>
            </a:r>
            <a:r>
              <a:rPr lang="en-US" baseline="0"/>
              <a:t>in our </a:t>
            </a:r>
            <a:r>
              <a:rPr lang="en-US" baseline="0" dirty="0"/>
              <a:t>more advanced courses. </a:t>
            </a:r>
          </a:p>
        </p:txBody>
      </p:sp>
      <p:sp>
        <p:nvSpPr>
          <p:cNvPr id="4" name="Slide Number Placeholder 3"/>
          <p:cNvSpPr>
            <a:spLocks noGrp="1"/>
          </p:cNvSpPr>
          <p:nvPr>
            <p:ph type="sldNum" sz="quarter" idx="10"/>
          </p:nvPr>
        </p:nvSpPr>
        <p:spPr/>
        <p:txBody>
          <a:bodyPr/>
          <a:lstStyle/>
          <a:p>
            <a:fld id="{01F2A70B-78F2-4DCF-B53B-C990D2FAFB8A}" type="slidenum">
              <a:rPr lang="en-US" smtClean="0"/>
              <a:t>31</a:t>
            </a:fld>
            <a:endParaRPr lang="en-US"/>
          </a:p>
        </p:txBody>
      </p:sp>
    </p:spTree>
    <p:extLst>
      <p:ext uri="{BB962C8B-B14F-4D97-AF65-F5344CB8AC3E}">
        <p14:creationId xmlns:p14="http://schemas.microsoft.com/office/powerpoint/2010/main" val="4064916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Lastly,</a:t>
            </a:r>
            <a:r>
              <a:rPr lang="en-US" baseline="0" dirty="0"/>
              <a:t> spatial analysis can be performed in a code-based environment. </a:t>
            </a:r>
          </a:p>
          <a:p>
            <a:endParaRPr lang="en-US" baseline="0" dirty="0"/>
          </a:p>
          <a:p>
            <a:r>
              <a:rPr lang="en-US" baseline="0" dirty="0"/>
              <a:t>Using ESRI products, including ArcGIS Pro, Python can be applied to undertake a variety of tasks.</a:t>
            </a:r>
          </a:p>
          <a:p>
            <a:endParaRPr lang="en-US" baseline="0" dirty="0"/>
          </a:p>
          <a:p>
            <a:r>
              <a:rPr lang="en-US" baseline="0" dirty="0"/>
              <a:t>Python can be especially useful if you need to loop through data layers or automate a sequence of steps. </a:t>
            </a:r>
          </a:p>
          <a:p>
            <a:endParaRPr lang="en-US" baseline="0" dirty="0"/>
          </a:p>
          <a:p>
            <a:r>
              <a:rPr lang="en-US" baseline="0" dirty="0"/>
              <a:t>Python will be investigated in some of our more advanced courses.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32</a:t>
            </a:fld>
            <a:endParaRPr lang="en-US"/>
          </a:p>
        </p:txBody>
      </p:sp>
    </p:spTree>
    <p:extLst>
      <p:ext uri="{BB962C8B-B14F-4D97-AF65-F5344CB8AC3E}">
        <p14:creationId xmlns:p14="http://schemas.microsoft.com/office/powerpoint/2010/main" val="28550331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33</a:t>
            </a:fld>
            <a:endParaRPr lang="en-US"/>
          </a:p>
        </p:txBody>
      </p:sp>
    </p:spTree>
    <p:extLst>
      <p:ext uri="{BB962C8B-B14F-4D97-AF65-F5344CB8AC3E}">
        <p14:creationId xmlns:p14="http://schemas.microsoft.com/office/powerpoint/2010/main" val="2956007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11D767D-17E3-4D1E-96BB-DA35CA15E4FE}" type="datetime1">
              <a:rPr lang="en-US" smtClean="0"/>
              <a:t>11/12/2025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997597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AB21909-3392-4782-9617-9DE5612D5252}" type="datetime1">
              <a:rPr lang="en-US" smtClean="0"/>
              <a:t>11/12/2025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87309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6909207B-903C-4CBB-B0DD-E4DD411966AE}" type="datetime1">
              <a:rPr lang="en-US" smtClean="0"/>
              <a:t>11/12/2025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829021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7649B8-EC05-463A-A66A-E788C1D2E86C}" type="datetime1">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22626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7AE501-F489-46B4-B5B4-B12E557B3139}" type="datetime1">
              <a:rPr lang="en-US" smtClean="0"/>
              <a:t>11/12/2025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074104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1DD6664-E707-48D9-B311-FA9B4261E5A6}" type="datetime1">
              <a:rPr lang="en-US" smtClean="0"/>
              <a:t>11/12/2025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724381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293017-F03B-40B8-AD31-7ED21B4434B8}" type="datetime1">
              <a:rPr lang="en-US" smtClean="0"/>
              <a:t>11/12/2025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7977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5BDE3B4A-8EBA-4FE6-84DB-F2E39CD94E77}" type="datetime1">
              <a:rPr lang="en-US" smtClean="0"/>
              <a:t>11/12/2025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76274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B854E19F-0053-4C74-A527-FD4BB23E2ACC}" type="datetime1">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70542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3E6F1A-C16C-450C-BEFB-8D396364F893}" type="datetime1">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998080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DF49B77D-D3D5-40CA-A8C6-02A8FD74D428}" type="datetime1">
              <a:rPr lang="en-US" smtClean="0"/>
              <a:t>11/12/2025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80397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458F2AB7-D7C2-4FC0-9B77-409FD6AFF150}" type="datetime1">
              <a:rPr lang="en-US" smtClean="0"/>
              <a:t>11/12/2025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4658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C0E9D82E-A9F0-4647-88F9-E986A304FBAF}" type="datetime1">
              <a:rPr lang="en-US" smtClean="0"/>
              <a:t>11/12/2025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8150082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9DD0E878-F76E-4934-9A19-05DE793D2A8C}" type="datetime1">
              <a:rPr lang="en-US" smtClean="0"/>
              <a:t>11/12/2025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594924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6B1B743-59DB-43C7-B951-5342EB9E3BBF}" type="datetime1">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414324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DC93205-BFBB-4436-B6C0-0E1D677B6AC1}" type="datetime1">
              <a:rPr lang="en-US" smtClean="0"/>
              <a:t>11/12/2025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2302467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DC5A297-83F7-4A51-9FEC-585D7ED0CBAA}" type="datetime1">
              <a:rPr lang="en-US" smtClean="0"/>
              <a:t>11/12/2025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8538321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3EC919-DCEA-4797-B84E-1B0E268E8BA9}" type="datetime1">
              <a:rPr lang="en-US" smtClean="0"/>
              <a:t>11/12/2025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8740920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24C8802B-8D22-4029-8D00-88476FD1627A}" type="datetime1">
              <a:rPr lang="en-US" smtClean="0"/>
              <a:t>11/12/2025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4774723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163145CA-56E1-42A8-A67B-556CB7EDF0AA}" type="datetime1">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451475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7FD487-65F4-49B5-952B-819B559FF98A}" type="datetime1">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7123290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2DC45528-D696-4A61-BD89-093665C9EB8C}" type="datetime1">
              <a:rPr lang="en-US" smtClean="0"/>
              <a:t>11/12/2025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49100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06A0FD2F-556E-43A6-BD1A-AE05D71D5ACE}" type="datetime1">
              <a:rPr lang="en-US" smtClean="0"/>
              <a:t>11/12/2025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3347002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C4CA2D96-DD5E-4EE6-BA39-19B5C56AF1F2}" type="datetime1">
              <a:rPr lang="en-US" smtClean="0"/>
              <a:t>11/12/2025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3037842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2C2D4BC3-0B93-4E0B-AE53-3E432262C0E4}" type="datetime1">
              <a:rPr lang="en-US" smtClean="0"/>
              <a:t>11/12/2025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2779892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A5CEA080-6A29-4A4D-90B1-4C73660CABD5}" type="datetime1">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994912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4EFF1D62-0785-460A-9888-5F5908AD45F7}" type="datetime1">
              <a:rPr lang="en-US" smtClean="0"/>
              <a:t>11/12/2025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278003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603F5A6-4790-4338-AC59-416730A16F3C}" type="datetime1">
              <a:rPr lang="en-US" smtClean="0"/>
              <a:t>11/12/2025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421012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F331C8-E8D8-438B-B699-9ACE625F3A09}" type="datetime1">
              <a:rPr lang="en-US" smtClean="0"/>
              <a:t>11/12/2025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5628391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610C12D3-F429-42CB-9467-4C3AFEEA173C}" type="datetime1">
              <a:rPr lang="en-US" smtClean="0"/>
              <a:t>11/12/2025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2932319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283F426E-E29E-4D2E-B32D-412D98F7FC2F}" type="datetime1">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8967197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A0F15864-78C5-4237-8A12-0D1FD4E5F0BD}" type="datetime1">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1365807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AB9BBA17-EAD5-43A8-9481-F99B1E8564DB}" type="datetime1">
              <a:rPr lang="en-US" smtClean="0"/>
              <a:t>11/12/2025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32617035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C6B0FEA4-C6CA-4262-94C7-989766AA3A47}" type="datetime1">
              <a:rPr lang="en-US" smtClean="0"/>
              <a:t>11/12/2025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09333235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6F65A5F7-BE7B-4360-B821-FCDB8E9197AC}" type="datetime1">
              <a:rPr lang="en-US" smtClean="0"/>
              <a:t>11/12/2025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51352223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6145D492-0F60-495A-BAAC-3C877C1D64A2}" type="datetime1">
              <a:rPr lang="en-US" smtClean="0"/>
              <a:t>11/12/2025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5061309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4A322FED-C97B-4E3C-B05B-1278829CCA0F}" type="datetime1">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29800057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1BBF91E7-DD27-45EE-9FAC-A58839C2E3FB}" type="datetime1">
              <a:rPr lang="en-US" smtClean="0"/>
              <a:t>11/12/2025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147128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70DB943-D34E-498D-BB5B-1BC0D01A4C3C}" type="datetime1">
              <a:rPr lang="en-US" smtClean="0"/>
              <a:t>11/12/2025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9745741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F88AC7-A362-47DE-B037-3A7E785BA73D}" type="datetime1">
              <a:rPr lang="en-US" smtClean="0"/>
              <a:t>11/12/2025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50682096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1E09BAED-B7FC-4220-8037-60663F890984}" type="datetime1">
              <a:rPr lang="en-US" smtClean="0"/>
              <a:t>11/12/2025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507857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BB3C0B96-D43B-410F-A514-3967CACDF6C4}" type="datetime1">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1609003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C63DFB46-027F-4778-8182-714012A6E051}" type="datetime1">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2542521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770FD05A-9631-4BEE-9AA4-5575ADA850E9}" type="datetime1">
              <a:rPr lang="en-US" smtClean="0"/>
              <a:t>11/12/2025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9534373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11/12/2025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1844170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11/12/2025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0540908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11/12/2025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6331240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11/12/2025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045425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11/12/2025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2865768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4263335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11/12/2025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5801448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11/12/2025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580424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11/12/2025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1537992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0995597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11/12/2025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4741020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ltLang="zh-CN"/>
              <a:t>Click to edit Master title style</a:t>
            </a:r>
            <a:endParaRPr/>
          </a:p>
        </p:txBody>
      </p:sp>
    </p:spTree>
    <p:extLst>
      <p:ext uri="{BB962C8B-B14F-4D97-AF65-F5344CB8AC3E}">
        <p14:creationId xmlns:p14="http://schemas.microsoft.com/office/powerpoint/2010/main" val="242951814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11/12/2025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9005979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11/12/2025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8954721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11/12/2025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4456920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11/12/2025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8372857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11/12/2025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107235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8257941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11/12/2025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1643329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11/12/2025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98930086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11/12/2025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1776943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22895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11/12/2025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3732158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221878226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11/12/2025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8778936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11/12/2025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1038271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11/12/2025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9568288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11/12/2025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3085812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11/12/2025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491065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0037127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11/12/2025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5098951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11/12/2025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08890966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11/12/2025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2877544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4462954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11/12/2025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11184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theme" Target="../theme/theme5.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theme" Target="../theme/theme6.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6.xml"/><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theme" Target="../theme/theme7.xml"/><Relationship Id="rId2" Type="http://schemas.openxmlformats.org/officeDocument/2006/relationships/slideLayout" Target="../slideLayouts/slideLayout70.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8114C2F-5358-4C76-8C42-8AC3A60E1105}" type="datetime1">
              <a:rPr lang="en-US" smtClean="0"/>
              <a:t>11/12/2025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4406619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18E6E4F-7E83-4AED-9DA1-B735CD4C0E03}" type="datetime1">
              <a:rPr lang="en-US" smtClean="0"/>
              <a:t>11/12/2025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426024275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E7733A4-5D18-4D09-8F94-45F71EE3C7C2}" type="datetime1">
              <a:rPr lang="en-US" smtClean="0"/>
              <a:t>11/12/2025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53630956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8234BEC2-5A9D-42E1-9C16-1E9F257755B7}" type="datetime1">
              <a:rPr lang="en-US" smtClean="0"/>
              <a:t>11/12/2025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42528859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11/12/2025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65762435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11/12/2025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297917300"/>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11/12/2025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4146085375"/>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8.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1.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2.xml"/><Relationship Id="rId5" Type="http://schemas.openxmlformats.org/officeDocument/2006/relationships/image" Target="../media/image13.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3.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8.png"/><Relationship Id="rId4"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 Id="rId5" Type="http://schemas.openxmlformats.org/officeDocument/2006/relationships/image" Target="../media/image19.png"/><Relationship Id="rId4"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20.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22.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2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25.xml"/><Relationship Id="rId4" Type="http://schemas.openxmlformats.org/officeDocument/2006/relationships/image" Target="../media/image27.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26.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8.xml"/><Relationship Id="rId1" Type="http://schemas.openxmlformats.org/officeDocument/2006/relationships/tags" Target="../tags/tag27.xml"/><Relationship Id="rId5" Type="http://schemas.openxmlformats.org/officeDocument/2006/relationships/image" Target="../media/image29.png"/><Relationship Id="rId4"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0.xml"/><Relationship Id="rId1" Type="http://schemas.openxmlformats.org/officeDocument/2006/relationships/tags" Target="../tags/tag29.xml"/><Relationship Id="rId5" Type="http://schemas.openxmlformats.org/officeDocument/2006/relationships/image" Target="../media/image29.png"/><Relationship Id="rId4"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31.xml"/><Relationship Id="rId5" Type="http://schemas.openxmlformats.org/officeDocument/2006/relationships/image" Target="../media/image32.png"/><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2.xml"/></Relationships>
</file>

<file path=ppt/slides/_rels/slide31.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slideLayout" Target="../slideLayouts/slideLayout2.xml"/><Relationship Id="rId7" Type="http://schemas.openxmlformats.org/officeDocument/2006/relationships/image" Target="../media/image35.png"/><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34.jpeg"/><Relationship Id="rId11" Type="http://schemas.openxmlformats.org/officeDocument/2006/relationships/image" Target="../media/image39.png"/><Relationship Id="rId5" Type="http://schemas.openxmlformats.org/officeDocument/2006/relationships/image" Target="../media/image33.gif"/><Relationship Id="rId10" Type="http://schemas.openxmlformats.org/officeDocument/2006/relationships/image" Target="../media/image38.png"/><Relationship Id="rId4" Type="http://schemas.openxmlformats.org/officeDocument/2006/relationships/notesSlide" Target="../notesSlides/notesSlide25.xml"/><Relationship Id="rId9" Type="http://schemas.openxmlformats.org/officeDocument/2006/relationships/image" Target="../media/image37.png"/></Relationships>
</file>

<file path=ppt/slides/_rels/slide32.xml.rels><?xml version="1.0" encoding="UTF-8" standalone="yes"?>
<Relationships xmlns="http://schemas.openxmlformats.org/package/2006/relationships"><Relationship Id="rId8" Type="http://schemas.openxmlformats.org/officeDocument/2006/relationships/hyperlink" Target="https://esripress.esri.com/display/index.cfm?fuseaction=display&amp;websiteID=276&amp;moduleID=0" TargetMode="External"/><Relationship Id="rId3" Type="http://schemas.openxmlformats.org/officeDocument/2006/relationships/tags" Target="../tags/tag37.xml"/><Relationship Id="rId7" Type="http://schemas.openxmlformats.org/officeDocument/2006/relationships/image" Target="../media/image41.png"/><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40.jpeg"/><Relationship Id="rId5" Type="http://schemas.openxmlformats.org/officeDocument/2006/relationships/notesSlide" Target="../notesSlides/notesSlide26.xml"/><Relationship Id="rId4"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565060" y="785709"/>
            <a:ext cx="3076498" cy="1831185"/>
          </a:xfrm>
        </p:spPr>
        <p:txBody>
          <a:bodyPr>
            <a:normAutofit fontScale="90000"/>
          </a:bodyPr>
          <a:lstStyle/>
          <a:p>
            <a:r>
              <a:rPr lang="en-US" sz="2800" dirty="0"/>
              <a:t>Lecture 13</a:t>
            </a:r>
            <a:br>
              <a:rPr lang="en-US" sz="2800" dirty="0"/>
            </a:br>
            <a:r>
              <a:rPr lang="en-US" sz="2800" dirty="0"/>
              <a:t>raster Analysis</a:t>
            </a:r>
            <a:br>
              <a:rPr lang="en-US" sz="2800" dirty="0"/>
            </a:br>
            <a:br>
              <a:rPr lang="en-US" altLang="zh-CN" sz="2800" dirty="0"/>
            </a:br>
            <a:br>
              <a:rPr lang="en-US" sz="2700" dirty="0">
                <a:solidFill>
                  <a:srgbClr val="FFFFFF"/>
                </a:solidFill>
              </a:rPr>
            </a:br>
            <a:r>
              <a:rPr lang="en-US" sz="2700" dirty="0">
                <a:solidFill>
                  <a:srgbClr val="FFFFFF"/>
                </a:solidFill>
              </a:rPr>
              <a:t>lecture</a:t>
            </a: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565060" y="3021937"/>
            <a:ext cx="2916154" cy="1537292"/>
          </a:xfrm>
        </p:spPr>
        <p:txBody>
          <a:bodyPr>
            <a:noAutofit/>
          </a:bodyPr>
          <a:lstStyle/>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189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189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13.1 </a:t>
            </a:r>
            <a:br>
              <a:rPr lang="en-US" sz="4050" dirty="0">
                <a:solidFill>
                  <a:srgbClr val="FFFFFF"/>
                </a:solidFill>
              </a:rPr>
            </a:br>
            <a:r>
              <a:rPr lang="en-US" sz="4050" dirty="0">
                <a:solidFill>
                  <a:srgbClr val="FFFFFF"/>
                </a:solidFill>
              </a:rPr>
              <a:t>raster analysis</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2395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1" y="1029962"/>
            <a:ext cx="7679724" cy="3886200"/>
          </a:xfrm>
        </p:spPr>
        <p:txBody>
          <a:bodyPr>
            <a:normAutofit fontScale="77500" lnSpcReduction="20000"/>
          </a:bodyPr>
          <a:lstStyle/>
          <a:p>
            <a:pPr>
              <a:buFont typeface="Courier New" panose="02070309020205020404" pitchFamily="49" charset="0"/>
              <a:buChar char="o"/>
            </a:pPr>
            <a:r>
              <a:rPr lang="en-US" altLang="en-US" sz="2800" dirty="0"/>
              <a:t>Raster Analysis</a:t>
            </a:r>
          </a:p>
          <a:p>
            <a:pPr lvl="1">
              <a:buFont typeface="Wingdings" panose="05000000000000000000" pitchFamily="2" charset="2"/>
              <a:buChar char="ü"/>
            </a:pPr>
            <a:r>
              <a:rPr lang="en-US" sz="2300" dirty="0"/>
              <a:t>Raster math</a:t>
            </a:r>
          </a:p>
          <a:p>
            <a:pPr lvl="1">
              <a:buFont typeface="Wingdings" panose="05000000000000000000" pitchFamily="2" charset="2"/>
              <a:buChar char="ü"/>
            </a:pPr>
            <a:r>
              <a:rPr lang="en-US" sz="2300" dirty="0"/>
              <a:t>Reclassification</a:t>
            </a:r>
          </a:p>
          <a:p>
            <a:pPr lvl="1">
              <a:buFont typeface="Wingdings" panose="05000000000000000000" pitchFamily="2" charset="2"/>
              <a:buChar char="ü"/>
            </a:pPr>
            <a:r>
              <a:rPr lang="en-US" sz="2300" dirty="0"/>
              <a:t>Extraction</a:t>
            </a:r>
          </a:p>
          <a:p>
            <a:pPr lvl="1">
              <a:buFont typeface="Wingdings" panose="05000000000000000000" pitchFamily="2" charset="2"/>
              <a:buChar char="ü"/>
            </a:pPr>
            <a:r>
              <a:rPr lang="en-US" sz="2300" dirty="0"/>
              <a:t>Neighborhood-based analysis</a:t>
            </a:r>
          </a:p>
          <a:p>
            <a:pPr lvl="1">
              <a:buFont typeface="Wingdings" panose="05000000000000000000" pitchFamily="2" charset="2"/>
              <a:buChar char="ü"/>
            </a:pPr>
            <a:r>
              <a:rPr lang="en-US" sz="2300" dirty="0"/>
              <a:t>Distance</a:t>
            </a:r>
          </a:p>
          <a:p>
            <a:pPr lvl="1">
              <a:buFont typeface="Wingdings" panose="05000000000000000000" pitchFamily="2" charset="2"/>
              <a:buChar char="ü"/>
            </a:pPr>
            <a:r>
              <a:rPr lang="en-US" sz="2300" dirty="0"/>
              <a:t>Raster generalization</a:t>
            </a:r>
          </a:p>
          <a:p>
            <a:pPr lvl="1">
              <a:buFont typeface="Wingdings" panose="05000000000000000000" pitchFamily="2" charset="2"/>
              <a:buChar char="ü"/>
            </a:pPr>
            <a:r>
              <a:rPr lang="en-US" sz="2300" dirty="0"/>
              <a:t>Raster summarization</a:t>
            </a:r>
          </a:p>
          <a:p>
            <a:pPr lvl="1">
              <a:buFont typeface="Wingdings" panose="05000000000000000000" pitchFamily="2" charset="2"/>
              <a:buChar char="ü"/>
            </a:pPr>
            <a:r>
              <a:rPr lang="en-US" altLang="en-US" sz="2300" dirty="0"/>
              <a:t>Estimating density</a:t>
            </a:r>
          </a:p>
          <a:p>
            <a:pPr lvl="1">
              <a:buFont typeface="Wingdings" panose="05000000000000000000" pitchFamily="2" charset="2"/>
              <a:buChar char="ü"/>
            </a:pPr>
            <a:r>
              <a:rPr lang="en-US" altLang="en-US" sz="2300" dirty="0"/>
              <a:t>Mosaic</a:t>
            </a:r>
          </a:p>
          <a:p>
            <a:pPr lvl="1">
              <a:buFont typeface="Wingdings" panose="05000000000000000000" pitchFamily="2" charset="2"/>
              <a:buChar char="ü"/>
            </a:pPr>
            <a:r>
              <a:rPr lang="en-US" altLang="en-US" sz="2300" dirty="0"/>
              <a:t>Spatial analysis tool</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3</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247135" y="20786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Overview</a:t>
            </a:r>
            <a:endParaRPr lang="en-US" sz="2600" i="1" dirty="0">
              <a:solidFill>
                <a:srgbClr val="7030A0"/>
              </a:solidFill>
            </a:endParaRPr>
          </a:p>
        </p:txBody>
      </p:sp>
      <p:pic>
        <p:nvPicPr>
          <p:cNvPr id="6" name="Picture 5" descr="Image showing spatial analysis tools">
            <a:extLst>
              <a:ext uri="{FF2B5EF4-FFF2-40B4-BE49-F238E27FC236}">
                <a16:creationId xmlns:a16="http://schemas.microsoft.com/office/drawing/2014/main" id="{9ACBBEF3-6516-418D-BCD1-952D5057B3DF}"/>
              </a:ext>
            </a:extLst>
          </p:cNvPr>
          <p:cNvPicPr>
            <a:picLocks noChangeAspect="1"/>
          </p:cNvPicPr>
          <p:nvPr/>
        </p:nvPicPr>
        <p:blipFill>
          <a:blip r:embed="rId3"/>
          <a:stretch>
            <a:fillRect/>
          </a:stretch>
        </p:blipFill>
        <p:spPr>
          <a:xfrm>
            <a:off x="4581246" y="1100263"/>
            <a:ext cx="1919153" cy="2633538"/>
          </a:xfrm>
          <a:prstGeom prst="rect">
            <a:avLst/>
          </a:prstGeom>
        </p:spPr>
      </p:pic>
      <p:pic>
        <p:nvPicPr>
          <p:cNvPr id="8" name="Picture 7" descr="Image showing raster tool">
            <a:extLst>
              <a:ext uri="{FF2B5EF4-FFF2-40B4-BE49-F238E27FC236}">
                <a16:creationId xmlns:a16="http://schemas.microsoft.com/office/drawing/2014/main" id="{DA683BAB-1216-4E08-990A-1C4DA8E5A55D}"/>
              </a:ext>
            </a:extLst>
          </p:cNvPr>
          <p:cNvPicPr>
            <a:picLocks noChangeAspect="1"/>
          </p:cNvPicPr>
          <p:nvPr/>
        </p:nvPicPr>
        <p:blipFill>
          <a:blip r:embed="rId4"/>
          <a:stretch>
            <a:fillRect/>
          </a:stretch>
        </p:blipFill>
        <p:spPr>
          <a:xfrm>
            <a:off x="5433683" y="4036321"/>
            <a:ext cx="1709964" cy="931048"/>
          </a:xfrm>
          <a:prstGeom prst="rect">
            <a:avLst/>
          </a:prstGeom>
        </p:spPr>
      </p:pic>
    </p:spTree>
    <p:extLst>
      <p:ext uri="{BB962C8B-B14F-4D97-AF65-F5344CB8AC3E}">
        <p14:creationId xmlns:p14="http://schemas.microsoft.com/office/powerpoint/2010/main" val="3542445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1535518" y="1341059"/>
            <a:ext cx="5158563" cy="1634426"/>
          </a:xfrm>
        </p:spPr>
        <p:txBody>
          <a:bodyPr>
            <a:normAutofit/>
          </a:bodyPr>
          <a:lstStyle/>
          <a:p>
            <a:pPr algn="ctr"/>
            <a:r>
              <a:rPr lang="en-US" dirty="0"/>
              <a:t>Neighborhood function</a:t>
            </a:r>
            <a:br>
              <a:rPr lang="en-US" dirty="0"/>
            </a:br>
            <a:r>
              <a:rPr lang="en-US" dirty="0"/>
              <a:t>Raster Generalization</a:t>
            </a:r>
          </a:p>
        </p:txBody>
      </p:sp>
      <p:sp>
        <p:nvSpPr>
          <p:cNvPr id="3" name="Slide Number Placeholder 2">
            <a:extLst>
              <a:ext uri="{FF2B5EF4-FFF2-40B4-BE49-F238E27FC236}">
                <a16:creationId xmlns:a16="http://schemas.microsoft.com/office/drawing/2014/main" id="{4737EEF5-F3B3-4C6E-94AC-9BA2BCE3010E}"/>
              </a:ext>
            </a:extLst>
          </p:cNvPr>
          <p:cNvSpPr>
            <a:spLocks noGrp="1"/>
          </p:cNvSpPr>
          <p:nvPr>
            <p:ph type="sldNum" sz="quarter" idx="12"/>
          </p:nvPr>
        </p:nvSpPr>
        <p:spPr/>
        <p:txBody>
          <a:bodyPr/>
          <a:lstStyle/>
          <a:p>
            <a:fld id="{127DDC20-79C9-9647-820E-6D40A3D210C3}" type="slidenum">
              <a:rPr lang="en-US" smtClean="0"/>
              <a:pPr/>
              <a:t>4</a:t>
            </a:fld>
            <a:endParaRPr lang="en-US"/>
          </a:p>
        </p:txBody>
      </p:sp>
    </p:spTree>
    <p:extLst>
      <p:ext uri="{BB962C8B-B14F-4D97-AF65-F5344CB8AC3E}">
        <p14:creationId xmlns:p14="http://schemas.microsoft.com/office/powerpoint/2010/main" val="2934916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219123" y="1224617"/>
            <a:ext cx="4715151" cy="3593319"/>
          </a:xfrm>
        </p:spPr>
        <p:txBody>
          <a:bodyPr>
            <a:noAutofit/>
          </a:bodyPr>
          <a:lstStyle/>
          <a:p>
            <a:pPr>
              <a:buFont typeface="Courier New" panose="02070309020205020404" pitchFamily="49" charset="0"/>
              <a:buChar char="o"/>
            </a:pPr>
            <a:r>
              <a:rPr lang="en-US" sz="1600" dirty="0"/>
              <a:t>Only applicable to categorical raster grids</a:t>
            </a:r>
          </a:p>
          <a:p>
            <a:pPr>
              <a:buFont typeface="Courier New" panose="02070309020205020404" pitchFamily="49" charset="0"/>
              <a:buChar char="o"/>
            </a:pPr>
            <a:r>
              <a:rPr lang="en-US" sz="1600" dirty="0"/>
              <a:t>Replace center cell with majority value in 3 x 3 cell window</a:t>
            </a:r>
          </a:p>
          <a:p>
            <a:pPr>
              <a:buFont typeface="Courier New" panose="02070309020205020404" pitchFamily="49" charset="0"/>
              <a:buChar char="o"/>
            </a:pPr>
            <a:r>
              <a:rPr lang="en-US" sz="1600" b="1" dirty="0">
                <a:solidFill>
                  <a:srgbClr val="E3874F"/>
                </a:solidFill>
              </a:rPr>
              <a:t>MAJORITY</a:t>
            </a:r>
            <a:r>
              <a:rPr lang="en-US" sz="1600" dirty="0"/>
              <a:t> vs. </a:t>
            </a:r>
            <a:r>
              <a:rPr lang="en-US" sz="1600" b="1" dirty="0">
                <a:solidFill>
                  <a:srgbClr val="E3874F"/>
                </a:solidFill>
              </a:rPr>
              <a:t>HALF</a:t>
            </a:r>
            <a:r>
              <a:rPr lang="en-US" sz="1600" dirty="0"/>
              <a:t>: Must have a majority or at least half to change value</a:t>
            </a:r>
            <a:endParaRPr lang="en-US" sz="1600" b="1" dirty="0">
              <a:solidFill>
                <a:srgbClr val="E3874F"/>
              </a:solidFill>
            </a:endParaRPr>
          </a:p>
          <a:p>
            <a:pPr>
              <a:buFont typeface="Courier New" panose="02070309020205020404" pitchFamily="49" charset="0"/>
              <a:buChar char="o"/>
            </a:pPr>
            <a:r>
              <a:rPr lang="en-US" sz="1600" b="1" dirty="0">
                <a:solidFill>
                  <a:srgbClr val="E3874F"/>
                </a:solidFill>
              </a:rPr>
              <a:t>FOUR</a:t>
            </a:r>
            <a:r>
              <a:rPr lang="en-US" sz="1600" dirty="0"/>
              <a:t> vs. </a:t>
            </a:r>
            <a:r>
              <a:rPr lang="en-US" sz="1600" b="1" dirty="0">
                <a:solidFill>
                  <a:srgbClr val="E3874F"/>
                </a:solidFill>
              </a:rPr>
              <a:t>EIGHT</a:t>
            </a:r>
            <a:r>
              <a:rPr lang="en-US" sz="1600" dirty="0"/>
              <a:t>: use just orthogonal cells or orthogonal and diagonal cells</a:t>
            </a:r>
          </a:p>
          <a:p>
            <a:pPr lvl="1">
              <a:buFont typeface="Wingdings" panose="05000000000000000000" pitchFamily="2" charset="2"/>
              <a:buChar char="ü"/>
            </a:pPr>
            <a:r>
              <a:rPr lang="en-US" sz="1600" dirty="0"/>
              <a:t>Four:  only orthogonal cells</a:t>
            </a:r>
          </a:p>
          <a:p>
            <a:pPr lvl="1">
              <a:buFont typeface="Wingdings" panose="05000000000000000000" pitchFamily="2" charset="2"/>
              <a:buChar char="ü"/>
            </a:pPr>
            <a:r>
              <a:rPr lang="en-US" sz="1600" dirty="0"/>
              <a:t>Eight: both orthogonal and diagonal</a:t>
            </a:r>
            <a:endParaRPr lang="en-US" sz="1600" b="1" dirty="0">
              <a:solidFill>
                <a:srgbClr val="E3874F"/>
              </a:solidFill>
            </a:endParaRPr>
          </a:p>
          <a:p>
            <a:pPr marL="308610" lvl="1" indent="-308610">
              <a:buFont typeface="Courier New" panose="02070309020205020404" pitchFamily="49" charset="0"/>
              <a:buChar char="o"/>
            </a:pPr>
            <a:r>
              <a:rPr lang="en-US" sz="1600" dirty="0"/>
              <a:t>Salt and pepper effect</a:t>
            </a:r>
          </a:p>
          <a:p>
            <a:pPr marL="0" indent="0">
              <a:buNone/>
            </a:pPr>
            <a:endParaRPr lang="en-US" sz="1600" dirty="0"/>
          </a:p>
        </p:txBody>
      </p:sp>
      <p:sp>
        <p:nvSpPr>
          <p:cNvPr id="3" name="Slide Number Placeholder 2">
            <a:extLst>
              <a:ext uri="{FF2B5EF4-FFF2-40B4-BE49-F238E27FC236}">
                <a16:creationId xmlns:a16="http://schemas.microsoft.com/office/drawing/2014/main" id="{012D7666-741B-428B-A7E3-83E61790DE71}"/>
              </a:ext>
            </a:extLst>
          </p:cNvPr>
          <p:cNvSpPr>
            <a:spLocks noGrp="1"/>
          </p:cNvSpPr>
          <p:nvPr>
            <p:ph type="sldNum" sz="quarter" idx="12"/>
          </p:nvPr>
        </p:nvSpPr>
        <p:spPr/>
        <p:txBody>
          <a:bodyPr/>
          <a:lstStyle/>
          <a:p>
            <a:fld id="{127DDC20-79C9-9647-820E-6D40A3D210C3}" type="slidenum">
              <a:rPr lang="en-US" smtClean="0"/>
              <a:pPr/>
              <a:t>5</a:t>
            </a:fld>
            <a:endParaRPr lang="en-US"/>
          </a:p>
        </p:txBody>
      </p:sp>
      <p:graphicFrame>
        <p:nvGraphicFramePr>
          <p:cNvPr id="2" name="Table 1"/>
          <p:cNvGraphicFramePr>
            <a:graphicFrameLocks noGrp="1"/>
          </p:cNvGraphicFramePr>
          <p:nvPr>
            <p:custDataLst>
              <p:tags r:id="rId2"/>
            </p:custDataLst>
            <p:extLst>
              <p:ext uri="{D42A27DB-BD31-4B8C-83A1-F6EECF244321}">
                <p14:modId xmlns:p14="http://schemas.microsoft.com/office/powerpoint/2010/main" val="2240937161"/>
              </p:ext>
            </p:extLst>
          </p:nvPr>
        </p:nvGraphicFramePr>
        <p:xfrm>
          <a:off x="5092319" y="1851472"/>
          <a:ext cx="2263731" cy="2263731"/>
        </p:xfrm>
        <a:graphic>
          <a:graphicData uri="http://schemas.openxmlformats.org/drawingml/2006/table">
            <a:tbl>
              <a:tblPr>
                <a:tableStyleId>{6E25E649-3F16-4E02-A733-19D2CDBF48F0}</a:tableStyleId>
              </a:tblPr>
              <a:tblGrid>
                <a:gridCol w="754577">
                  <a:extLst>
                    <a:ext uri="{9D8B030D-6E8A-4147-A177-3AD203B41FA5}">
                      <a16:colId xmlns:a16="http://schemas.microsoft.com/office/drawing/2014/main" val="1461948651"/>
                    </a:ext>
                  </a:extLst>
                </a:gridCol>
                <a:gridCol w="754577">
                  <a:extLst>
                    <a:ext uri="{9D8B030D-6E8A-4147-A177-3AD203B41FA5}">
                      <a16:colId xmlns:a16="http://schemas.microsoft.com/office/drawing/2014/main" val="1281458571"/>
                    </a:ext>
                  </a:extLst>
                </a:gridCol>
                <a:gridCol w="754577">
                  <a:extLst>
                    <a:ext uri="{9D8B030D-6E8A-4147-A177-3AD203B41FA5}">
                      <a16:colId xmlns:a16="http://schemas.microsoft.com/office/drawing/2014/main" val="3801611322"/>
                    </a:ext>
                  </a:extLst>
                </a:gridCol>
              </a:tblGrid>
              <a:tr h="754577">
                <a:tc>
                  <a:txBody>
                    <a:bodyPr/>
                    <a:lstStyle/>
                    <a:p>
                      <a:pPr algn="ctr" fontAlgn="b"/>
                      <a:r>
                        <a:rPr lang="en-US" sz="2700" b="0" i="0" u="none" strike="noStrike" dirty="0">
                          <a:solidFill>
                            <a:schemeClr val="tx1"/>
                          </a:solidFill>
                          <a:effectLst/>
                          <a:latin typeface="Calibri" panose="020F0502020204030204" pitchFamily="34" charset="0"/>
                        </a:rPr>
                        <a:t>30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700" b="0" i="0" u="none" strike="noStrike" dirty="0">
                          <a:solidFill>
                            <a:schemeClr val="tx1"/>
                          </a:solidFill>
                          <a:effectLst/>
                          <a:latin typeface="Calibri" panose="020F0502020204030204" pitchFamily="34" charset="0"/>
                        </a:rPr>
                        <a:t>20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700" b="0" i="0" u="none" strike="noStrike" dirty="0">
                          <a:solidFill>
                            <a:schemeClr val="tx1"/>
                          </a:solidFill>
                          <a:effectLst/>
                          <a:latin typeface="Calibri" panose="020F0502020204030204" pitchFamily="34" charset="0"/>
                        </a:rPr>
                        <a:t>30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3140140"/>
                  </a:ext>
                </a:extLst>
              </a:tr>
              <a:tr h="754577">
                <a:tc>
                  <a:txBody>
                    <a:bodyPr/>
                    <a:lstStyle/>
                    <a:p>
                      <a:pPr algn="ctr" fontAlgn="b"/>
                      <a:r>
                        <a:rPr lang="en-US" sz="2700" b="0" i="0" u="none" strike="noStrike" dirty="0">
                          <a:solidFill>
                            <a:schemeClr val="tx1"/>
                          </a:solidFill>
                          <a:effectLst/>
                          <a:latin typeface="Calibri" panose="020F0502020204030204" pitchFamily="34" charset="0"/>
                        </a:rPr>
                        <a:t>30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700" b="0" i="0" u="none" strike="noStrike" dirty="0">
                          <a:solidFill>
                            <a:schemeClr val="tx1"/>
                          </a:solidFill>
                          <a:effectLst/>
                          <a:latin typeface="Calibri" panose="020F0502020204030204" pitchFamily="34" charset="0"/>
                        </a:rPr>
                        <a:t>20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700" b="0" i="0" u="none" strike="noStrike" dirty="0">
                          <a:solidFill>
                            <a:schemeClr val="tx1"/>
                          </a:solidFill>
                          <a:effectLst/>
                          <a:latin typeface="Calibri" panose="020F0502020204030204" pitchFamily="34" charset="0"/>
                        </a:rPr>
                        <a:t>20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2548054"/>
                  </a:ext>
                </a:extLst>
              </a:tr>
              <a:tr h="754577">
                <a:tc>
                  <a:txBody>
                    <a:bodyPr/>
                    <a:lstStyle/>
                    <a:p>
                      <a:pPr algn="ctr" fontAlgn="b"/>
                      <a:r>
                        <a:rPr lang="en-US" sz="2700" b="0" i="0" u="none" strike="noStrike" dirty="0">
                          <a:solidFill>
                            <a:schemeClr val="tx1"/>
                          </a:solidFill>
                          <a:effectLst/>
                          <a:latin typeface="Calibri" panose="020F0502020204030204" pitchFamily="34" charset="0"/>
                        </a:rPr>
                        <a:t>40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700" b="0" i="0" u="none" strike="noStrike" dirty="0">
                          <a:solidFill>
                            <a:schemeClr val="tx1"/>
                          </a:solidFill>
                          <a:effectLst/>
                          <a:latin typeface="Calibri" panose="020F0502020204030204" pitchFamily="34" charset="0"/>
                        </a:rPr>
                        <a:t>30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2700" b="0" i="0" u="none" strike="noStrike" dirty="0">
                          <a:solidFill>
                            <a:schemeClr val="tx1"/>
                          </a:solidFill>
                          <a:effectLst/>
                          <a:latin typeface="Calibri" panose="020F0502020204030204" pitchFamily="34" charset="0"/>
                        </a:rPr>
                        <a:t>20</a:t>
                      </a:r>
                    </a:p>
                  </a:txBody>
                  <a:tcPr marL="3199" marR="3199" marT="319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7694586"/>
                  </a:ext>
                </a:extLst>
              </a:tr>
            </a:tbl>
          </a:graphicData>
        </a:graphic>
      </p:graphicFrame>
      <p:cxnSp>
        <p:nvCxnSpPr>
          <p:cNvPr id="6" name="Straight Connector 5">
            <a:extLst>
              <a:ext uri="{FF2B5EF4-FFF2-40B4-BE49-F238E27FC236}">
                <a16:creationId xmlns:a16="http://schemas.microsoft.com/office/drawing/2014/main" id="{7BDB410D-F721-4B97-9F1F-5D6648C2EA78}"/>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5BE9B631-4600-4B2D-AD06-35E1D9A6B48F}"/>
              </a:ext>
            </a:extLst>
          </p:cNvPr>
          <p:cNvSpPr txBox="1">
            <a:spLocks/>
          </p:cNvSpPr>
          <p:nvPr/>
        </p:nvSpPr>
        <p:spPr>
          <a:xfrm>
            <a:off x="219123" y="17104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Majority Filter</a:t>
            </a:r>
            <a:endParaRPr lang="en-US" sz="2600" dirty="0">
              <a:solidFill>
                <a:srgbClr val="7030A0"/>
              </a:solidFill>
            </a:endParaRPr>
          </a:p>
        </p:txBody>
      </p:sp>
    </p:spTree>
    <p:extLst>
      <p:ext uri="{BB962C8B-B14F-4D97-AF65-F5344CB8AC3E}">
        <p14:creationId xmlns:p14="http://schemas.microsoft.com/office/powerpoint/2010/main" val="1667499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359067" y="983027"/>
            <a:ext cx="7511466" cy="1306273"/>
          </a:xfrm>
        </p:spPr>
        <p:txBody>
          <a:bodyPr>
            <a:noAutofit/>
          </a:bodyPr>
          <a:lstStyle/>
          <a:p>
            <a:pPr>
              <a:buFont typeface="Courier New" panose="02070309020205020404" pitchFamily="49" charset="0"/>
              <a:buChar char="o"/>
            </a:pPr>
            <a:r>
              <a:rPr lang="en-US" sz="2000" dirty="0"/>
              <a:t>Group cells with the same code in a categorical raster and code them with a unique identifier</a:t>
            </a:r>
          </a:p>
          <a:p>
            <a:pPr>
              <a:buFont typeface="Courier New" panose="02070309020205020404" pitchFamily="49" charset="0"/>
              <a:buChar char="o"/>
            </a:pPr>
            <a:r>
              <a:rPr lang="en-US" sz="2000" dirty="0"/>
              <a:t>Identify contiguous regions of the same category</a:t>
            </a:r>
          </a:p>
        </p:txBody>
      </p:sp>
      <p:sp>
        <p:nvSpPr>
          <p:cNvPr id="2" name="Slide Number Placeholder 1">
            <a:extLst>
              <a:ext uri="{FF2B5EF4-FFF2-40B4-BE49-F238E27FC236}">
                <a16:creationId xmlns:a16="http://schemas.microsoft.com/office/drawing/2014/main" id="{69477548-AD3F-44FE-B988-BFA61DD90F59}"/>
              </a:ext>
            </a:extLst>
          </p:cNvPr>
          <p:cNvSpPr>
            <a:spLocks noGrp="1"/>
          </p:cNvSpPr>
          <p:nvPr>
            <p:ph type="sldNum" sz="quarter" idx="12"/>
          </p:nvPr>
        </p:nvSpPr>
        <p:spPr/>
        <p:txBody>
          <a:bodyPr/>
          <a:lstStyle/>
          <a:p>
            <a:fld id="{127DDC20-79C9-9647-820E-6D40A3D210C3}" type="slidenum">
              <a:rPr lang="en-US" smtClean="0"/>
              <a:pPr/>
              <a:t>6</a:t>
            </a:fld>
            <a:endParaRPr lang="en-US"/>
          </a:p>
        </p:txBody>
      </p:sp>
      <p:cxnSp>
        <p:nvCxnSpPr>
          <p:cNvPr id="6" name="Straight Connector 5">
            <a:extLst>
              <a:ext uri="{FF2B5EF4-FFF2-40B4-BE49-F238E27FC236}">
                <a16:creationId xmlns:a16="http://schemas.microsoft.com/office/drawing/2014/main" id="{FF373987-F2EB-423D-BCE1-07650B34D36C}"/>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5172371E-C90C-48CB-B3F7-83C6801553AA}"/>
              </a:ext>
            </a:extLst>
          </p:cNvPr>
          <p:cNvSpPr txBox="1">
            <a:spLocks/>
          </p:cNvSpPr>
          <p:nvPr/>
        </p:nvSpPr>
        <p:spPr>
          <a:xfrm>
            <a:off x="235591" y="23035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Region Group</a:t>
            </a:r>
            <a:endParaRPr lang="en-US" sz="2600" dirty="0">
              <a:solidFill>
                <a:srgbClr val="7030A0"/>
              </a:solidFill>
            </a:endParaRPr>
          </a:p>
        </p:txBody>
      </p:sp>
      <p:pic>
        <p:nvPicPr>
          <p:cNvPr id="8" name="Picture 7" descr="Image showing region group">
            <a:extLst>
              <a:ext uri="{FF2B5EF4-FFF2-40B4-BE49-F238E27FC236}">
                <a16:creationId xmlns:a16="http://schemas.microsoft.com/office/drawing/2014/main" id="{93A78687-0246-478A-AE92-008AE9317A9A}"/>
              </a:ext>
            </a:extLst>
          </p:cNvPr>
          <p:cNvPicPr>
            <a:picLocks noChangeAspect="1"/>
          </p:cNvPicPr>
          <p:nvPr/>
        </p:nvPicPr>
        <p:blipFill>
          <a:blip r:embed="rId4"/>
          <a:stretch>
            <a:fillRect/>
          </a:stretch>
        </p:blipFill>
        <p:spPr>
          <a:xfrm>
            <a:off x="967613" y="2210946"/>
            <a:ext cx="6509668" cy="2481201"/>
          </a:xfrm>
          <a:prstGeom prst="rect">
            <a:avLst/>
          </a:prstGeom>
        </p:spPr>
      </p:pic>
    </p:spTree>
    <p:extLst>
      <p:ext uri="{BB962C8B-B14F-4D97-AF65-F5344CB8AC3E}">
        <p14:creationId xmlns:p14="http://schemas.microsoft.com/office/powerpoint/2010/main" val="85457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359067" y="1089423"/>
            <a:ext cx="7511466" cy="552155"/>
          </a:xfrm>
        </p:spPr>
        <p:txBody>
          <a:bodyPr>
            <a:noAutofit/>
          </a:bodyPr>
          <a:lstStyle/>
          <a:p>
            <a:pPr>
              <a:buFont typeface="Courier New" panose="02070309020205020404" pitchFamily="49" charset="0"/>
              <a:buChar char="o"/>
            </a:pPr>
            <a:r>
              <a:rPr lang="en-US" sz="2000" dirty="0"/>
              <a:t>Group cells with the same code in a categorical raster and code them with a unique identifier</a:t>
            </a:r>
          </a:p>
        </p:txBody>
      </p:sp>
      <p:sp>
        <p:nvSpPr>
          <p:cNvPr id="4" name="Slide Number Placeholder 3">
            <a:extLst>
              <a:ext uri="{FF2B5EF4-FFF2-40B4-BE49-F238E27FC236}">
                <a16:creationId xmlns:a16="http://schemas.microsoft.com/office/drawing/2014/main" id="{717845C7-3A33-4374-91CF-039BD40C5631}"/>
              </a:ext>
            </a:extLst>
          </p:cNvPr>
          <p:cNvSpPr>
            <a:spLocks noGrp="1"/>
          </p:cNvSpPr>
          <p:nvPr>
            <p:ph type="sldNum" sz="quarter" idx="12"/>
          </p:nvPr>
        </p:nvSpPr>
        <p:spPr/>
        <p:txBody>
          <a:bodyPr/>
          <a:lstStyle/>
          <a:p>
            <a:fld id="{127DDC20-79C9-9647-820E-6D40A3D210C3}" type="slidenum">
              <a:rPr lang="en-US" smtClean="0"/>
              <a:pPr/>
              <a:t>7</a:t>
            </a:fld>
            <a:endParaRPr lang="en-US"/>
          </a:p>
        </p:txBody>
      </p:sp>
      <p:pic>
        <p:nvPicPr>
          <p:cNvPr id="2" name="Picture 1" descr="Image showing region group result"/>
          <p:cNvPicPr>
            <a:picLocks noChangeAspect="1"/>
          </p:cNvPicPr>
          <p:nvPr/>
        </p:nvPicPr>
        <p:blipFill>
          <a:blip r:embed="rId4">
            <a:clrChange>
              <a:clrFrom>
                <a:srgbClr val="FF0000"/>
              </a:clrFrom>
              <a:clrTo>
                <a:srgbClr val="FF0000">
                  <a:alpha val="0"/>
                </a:srgbClr>
              </a:clrTo>
            </a:clrChange>
          </a:blip>
          <a:stretch>
            <a:fillRect/>
          </a:stretch>
        </p:blipFill>
        <p:spPr>
          <a:xfrm>
            <a:off x="359067" y="2261154"/>
            <a:ext cx="3283051" cy="2290500"/>
          </a:xfrm>
          <a:prstGeom prst="rect">
            <a:avLst/>
          </a:prstGeom>
        </p:spPr>
      </p:pic>
      <p:pic>
        <p:nvPicPr>
          <p:cNvPr id="3" name="Picture 2" descr="Image showing region group result"/>
          <p:cNvPicPr>
            <a:picLocks noChangeAspect="1"/>
          </p:cNvPicPr>
          <p:nvPr/>
        </p:nvPicPr>
        <p:blipFill>
          <a:blip r:embed="rId5">
            <a:clrChange>
              <a:clrFrom>
                <a:srgbClr val="FF0000"/>
              </a:clrFrom>
              <a:clrTo>
                <a:srgbClr val="FF0000">
                  <a:alpha val="0"/>
                </a:srgbClr>
              </a:clrTo>
            </a:clrChange>
          </a:blip>
          <a:stretch>
            <a:fillRect/>
          </a:stretch>
        </p:blipFill>
        <p:spPr>
          <a:xfrm>
            <a:off x="4423491" y="2261154"/>
            <a:ext cx="3205013" cy="2212281"/>
          </a:xfrm>
          <a:prstGeom prst="rect">
            <a:avLst/>
          </a:prstGeom>
        </p:spPr>
      </p:pic>
      <p:cxnSp>
        <p:nvCxnSpPr>
          <p:cNvPr id="6" name="Straight Connector 5">
            <a:extLst>
              <a:ext uri="{FF2B5EF4-FFF2-40B4-BE49-F238E27FC236}">
                <a16:creationId xmlns:a16="http://schemas.microsoft.com/office/drawing/2014/main" id="{FF373987-F2EB-423D-BCE1-07650B34D36C}"/>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5172371E-C90C-48CB-B3F7-83C6801553AA}"/>
              </a:ext>
            </a:extLst>
          </p:cNvPr>
          <p:cNvSpPr txBox="1">
            <a:spLocks/>
          </p:cNvSpPr>
          <p:nvPr/>
        </p:nvSpPr>
        <p:spPr>
          <a:xfrm>
            <a:off x="294313" y="16475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Region Group</a:t>
            </a:r>
            <a:endParaRPr lang="en-US" sz="2600" dirty="0">
              <a:solidFill>
                <a:srgbClr val="7030A0"/>
              </a:solidFill>
            </a:endParaRPr>
          </a:p>
        </p:txBody>
      </p:sp>
    </p:spTree>
    <p:extLst>
      <p:ext uri="{BB962C8B-B14F-4D97-AF65-F5344CB8AC3E}">
        <p14:creationId xmlns:p14="http://schemas.microsoft.com/office/powerpoint/2010/main" val="1007772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364408" y="1282155"/>
            <a:ext cx="3651537" cy="3758951"/>
          </a:xfrm>
        </p:spPr>
        <p:txBody>
          <a:bodyPr>
            <a:normAutofit/>
          </a:bodyPr>
          <a:lstStyle/>
          <a:p>
            <a:pPr>
              <a:buFont typeface="Courier New" panose="02070309020205020404" pitchFamily="49" charset="0"/>
              <a:buChar char="o"/>
            </a:pPr>
            <a:r>
              <a:rPr lang="en-US" dirty="0"/>
              <a:t>Must decide between the </a:t>
            </a:r>
            <a:r>
              <a:rPr lang="en-US" b="1" dirty="0">
                <a:solidFill>
                  <a:srgbClr val="E3874F"/>
                </a:solidFill>
              </a:rPr>
              <a:t>FOUR</a:t>
            </a:r>
            <a:r>
              <a:rPr lang="en-US" dirty="0"/>
              <a:t> or </a:t>
            </a:r>
            <a:r>
              <a:rPr lang="en-US" b="1" dirty="0">
                <a:solidFill>
                  <a:srgbClr val="E3874F"/>
                </a:solidFill>
              </a:rPr>
              <a:t>EIGHT</a:t>
            </a:r>
            <a:r>
              <a:rPr lang="en-US" dirty="0"/>
              <a:t> method</a:t>
            </a:r>
          </a:p>
          <a:p>
            <a:pPr lvl="1">
              <a:buFont typeface="Wingdings" panose="05000000000000000000" pitchFamily="2" charset="2"/>
              <a:buChar char="ü"/>
            </a:pPr>
            <a:r>
              <a:rPr lang="en-US" sz="2900" b="1" dirty="0">
                <a:solidFill>
                  <a:srgbClr val="E3874F"/>
                </a:solidFill>
              </a:rPr>
              <a:t>Four</a:t>
            </a:r>
            <a:r>
              <a:rPr lang="en-US" dirty="0"/>
              <a:t>: area will only be considered contiguous if the cells share a side</a:t>
            </a:r>
          </a:p>
          <a:p>
            <a:pPr lvl="1">
              <a:buFont typeface="Wingdings" panose="05000000000000000000" pitchFamily="2" charset="2"/>
              <a:buChar char="ü"/>
            </a:pPr>
            <a:r>
              <a:rPr lang="en-US" sz="2900" b="1" dirty="0">
                <a:solidFill>
                  <a:srgbClr val="E3874F"/>
                </a:solidFill>
              </a:rPr>
              <a:t>Eight</a:t>
            </a:r>
            <a:r>
              <a:rPr lang="en-US" dirty="0"/>
              <a:t>: area will be considered contiguous even if the pixels only touch diagonally</a:t>
            </a:r>
          </a:p>
          <a:p>
            <a:pPr>
              <a:buFont typeface="Courier New" panose="02070309020205020404" pitchFamily="49" charset="0"/>
              <a:buChar char="o"/>
            </a:pPr>
            <a:r>
              <a:rPr lang="en-US" dirty="0"/>
              <a:t>Can convert to polygons after regions are grouped</a:t>
            </a:r>
          </a:p>
          <a:p>
            <a:pPr>
              <a:buFont typeface="Courier New" panose="02070309020205020404" pitchFamily="49" charset="0"/>
              <a:buChar char="o"/>
            </a:pPr>
            <a:r>
              <a:rPr lang="en-US" dirty="0"/>
              <a:t>Will needed to decide if you want to simply the polygons</a:t>
            </a:r>
          </a:p>
        </p:txBody>
      </p:sp>
      <p:sp>
        <p:nvSpPr>
          <p:cNvPr id="2" name="Slide Number Placeholder 1">
            <a:extLst>
              <a:ext uri="{FF2B5EF4-FFF2-40B4-BE49-F238E27FC236}">
                <a16:creationId xmlns:a16="http://schemas.microsoft.com/office/drawing/2014/main" id="{96583AAA-2E97-4177-8B66-F16CC3ACC6BE}"/>
              </a:ext>
            </a:extLst>
          </p:cNvPr>
          <p:cNvSpPr>
            <a:spLocks noGrp="1"/>
          </p:cNvSpPr>
          <p:nvPr>
            <p:ph type="sldNum" sz="quarter" idx="12"/>
          </p:nvPr>
        </p:nvSpPr>
        <p:spPr/>
        <p:txBody>
          <a:bodyPr/>
          <a:lstStyle/>
          <a:p>
            <a:fld id="{127DDC20-79C9-9647-820E-6D40A3D210C3}" type="slidenum">
              <a:rPr lang="en-US" smtClean="0"/>
              <a:pPr/>
              <a:t>8</a:t>
            </a:fld>
            <a:endParaRPr lang="en-US"/>
          </a:p>
        </p:txBody>
      </p:sp>
      <p:pic>
        <p:nvPicPr>
          <p:cNvPr id="3" name="Picture 2" descr="Image showing region group result"/>
          <p:cNvPicPr>
            <a:picLocks noChangeAspect="1"/>
          </p:cNvPicPr>
          <p:nvPr/>
        </p:nvPicPr>
        <p:blipFill>
          <a:blip r:embed="rId4">
            <a:clrChange>
              <a:clrFrom>
                <a:srgbClr val="FF0000"/>
              </a:clrFrom>
              <a:clrTo>
                <a:srgbClr val="FF0000">
                  <a:alpha val="0"/>
                </a:srgbClr>
              </a:clrTo>
            </a:clrChange>
          </a:blip>
          <a:stretch>
            <a:fillRect/>
          </a:stretch>
        </p:blipFill>
        <p:spPr>
          <a:xfrm>
            <a:off x="4312206" y="1462349"/>
            <a:ext cx="3505914" cy="2419980"/>
          </a:xfrm>
          <a:prstGeom prst="rect">
            <a:avLst/>
          </a:prstGeom>
        </p:spPr>
      </p:pic>
      <p:cxnSp>
        <p:nvCxnSpPr>
          <p:cNvPr id="6" name="Straight Connector 5">
            <a:extLst>
              <a:ext uri="{FF2B5EF4-FFF2-40B4-BE49-F238E27FC236}">
                <a16:creationId xmlns:a16="http://schemas.microsoft.com/office/drawing/2014/main" id="{6A0B28EC-C9B9-4EE5-93DC-0D99930679B4}"/>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B78108E8-CA3E-4DB5-BECC-D50E3D7EF57E}"/>
              </a:ext>
            </a:extLst>
          </p:cNvPr>
          <p:cNvSpPr txBox="1">
            <a:spLocks/>
          </p:cNvSpPr>
          <p:nvPr/>
        </p:nvSpPr>
        <p:spPr>
          <a:xfrm>
            <a:off x="273606" y="24528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Region Group</a:t>
            </a:r>
            <a:endParaRPr lang="en-US" sz="2600" dirty="0">
              <a:solidFill>
                <a:srgbClr val="7030A0"/>
              </a:solidFill>
            </a:endParaRPr>
          </a:p>
        </p:txBody>
      </p:sp>
    </p:spTree>
    <p:extLst>
      <p:ext uri="{BB962C8B-B14F-4D97-AF65-F5344CB8AC3E}">
        <p14:creationId xmlns:p14="http://schemas.microsoft.com/office/powerpoint/2010/main" val="3586295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136838" y="1131195"/>
            <a:ext cx="7727002" cy="648962"/>
          </a:xfrm>
        </p:spPr>
        <p:txBody>
          <a:bodyPr/>
          <a:lstStyle/>
          <a:p>
            <a:pPr>
              <a:buFont typeface="Courier New" panose="02070309020205020404" pitchFamily="49" charset="0"/>
              <a:buChar char="o"/>
            </a:pPr>
            <a:r>
              <a:rPr lang="en-US" dirty="0"/>
              <a:t>Expand out a specific category in a categorical raster by a specified number of cells</a:t>
            </a:r>
          </a:p>
          <a:p>
            <a:pPr marL="0" indent="0">
              <a:buNone/>
            </a:pPr>
            <a:endParaRPr lang="en-US" dirty="0"/>
          </a:p>
        </p:txBody>
      </p:sp>
      <p:sp>
        <p:nvSpPr>
          <p:cNvPr id="4" name="Slide Number Placeholder 3">
            <a:extLst>
              <a:ext uri="{FF2B5EF4-FFF2-40B4-BE49-F238E27FC236}">
                <a16:creationId xmlns:a16="http://schemas.microsoft.com/office/drawing/2014/main" id="{B5FB177B-6CED-4E7E-9116-A8C8F6453623}"/>
              </a:ext>
            </a:extLst>
          </p:cNvPr>
          <p:cNvSpPr>
            <a:spLocks noGrp="1"/>
          </p:cNvSpPr>
          <p:nvPr>
            <p:ph type="sldNum" sz="quarter" idx="12"/>
          </p:nvPr>
        </p:nvSpPr>
        <p:spPr/>
        <p:txBody>
          <a:bodyPr/>
          <a:lstStyle/>
          <a:p>
            <a:fld id="{127DDC20-79C9-9647-820E-6D40A3D210C3}" type="slidenum">
              <a:rPr lang="en-US" smtClean="0"/>
              <a:pPr/>
              <a:t>9</a:t>
            </a:fld>
            <a:endParaRPr lang="en-US"/>
          </a:p>
        </p:txBody>
      </p:sp>
      <p:pic>
        <p:nvPicPr>
          <p:cNvPr id="2" name="Picture 1" descr="Image showing expand result"/>
          <p:cNvPicPr>
            <a:picLocks noChangeAspect="1"/>
          </p:cNvPicPr>
          <p:nvPr/>
        </p:nvPicPr>
        <p:blipFill>
          <a:blip r:embed="rId5"/>
          <a:stretch>
            <a:fillRect/>
          </a:stretch>
        </p:blipFill>
        <p:spPr>
          <a:xfrm>
            <a:off x="924999" y="2265825"/>
            <a:ext cx="2797507" cy="2259734"/>
          </a:xfrm>
          <a:prstGeom prst="rect">
            <a:avLst/>
          </a:prstGeom>
        </p:spPr>
      </p:pic>
      <p:pic>
        <p:nvPicPr>
          <p:cNvPr id="3" name="Picture 2" descr="Image showing expand result"/>
          <p:cNvPicPr>
            <a:picLocks noChangeAspect="1"/>
          </p:cNvPicPr>
          <p:nvPr/>
        </p:nvPicPr>
        <p:blipFill>
          <a:blip r:embed="rId6"/>
          <a:stretch>
            <a:fillRect/>
          </a:stretch>
        </p:blipFill>
        <p:spPr>
          <a:xfrm>
            <a:off x="4432780" y="2263060"/>
            <a:ext cx="2794529" cy="2262499"/>
          </a:xfrm>
          <a:prstGeom prst="rect">
            <a:avLst/>
          </a:prstGeom>
        </p:spPr>
      </p:pic>
      <p:sp>
        <p:nvSpPr>
          <p:cNvPr id="6" name="TextBox 5"/>
          <p:cNvSpPr txBox="1"/>
          <p:nvPr>
            <p:custDataLst>
              <p:tags r:id="rId2"/>
            </p:custDataLst>
          </p:nvPr>
        </p:nvSpPr>
        <p:spPr>
          <a:xfrm>
            <a:off x="2554913" y="4569671"/>
            <a:ext cx="3755733" cy="316690"/>
          </a:xfrm>
          <a:prstGeom prst="rect">
            <a:avLst/>
          </a:prstGeom>
          <a:noFill/>
        </p:spPr>
        <p:txBody>
          <a:bodyPr wrap="square" rtlCol="0">
            <a:spAutoFit/>
          </a:bodyPr>
          <a:lstStyle/>
          <a:p>
            <a:pPr>
              <a:lnSpc>
                <a:spcPct val="90000"/>
              </a:lnSpc>
            </a:pPr>
            <a:r>
              <a:rPr lang="en-US" sz="1620" dirty="0"/>
              <a:t>Green expanded by 5 30 m pixels</a:t>
            </a:r>
          </a:p>
        </p:txBody>
      </p:sp>
      <p:cxnSp>
        <p:nvCxnSpPr>
          <p:cNvPr id="7" name="Straight Connector 6">
            <a:extLst>
              <a:ext uri="{FF2B5EF4-FFF2-40B4-BE49-F238E27FC236}">
                <a16:creationId xmlns:a16="http://schemas.microsoft.com/office/drawing/2014/main" id="{E79BB0F3-5BEC-47B3-8B38-FE62D83CF834}"/>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D51BA305-CC6A-48D6-9187-3CC5B8652ED6}"/>
              </a:ext>
            </a:extLst>
          </p:cNvPr>
          <p:cNvSpPr txBox="1">
            <a:spLocks/>
          </p:cNvSpPr>
          <p:nvPr/>
        </p:nvSpPr>
        <p:spPr>
          <a:xfrm>
            <a:off x="269147" y="18931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Expand</a:t>
            </a:r>
            <a:endParaRPr lang="en-US" sz="2600" dirty="0">
              <a:solidFill>
                <a:srgbClr val="7030A0"/>
              </a:solidFill>
            </a:endParaRPr>
          </a:p>
        </p:txBody>
      </p:sp>
    </p:spTree>
    <p:extLst>
      <p:ext uri="{BB962C8B-B14F-4D97-AF65-F5344CB8AC3E}">
        <p14:creationId xmlns:p14="http://schemas.microsoft.com/office/powerpoint/2010/main" val="3380543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148421" y="1131195"/>
            <a:ext cx="7771689" cy="1440551"/>
          </a:xfrm>
        </p:spPr>
        <p:txBody>
          <a:bodyPr>
            <a:normAutofit/>
          </a:bodyPr>
          <a:lstStyle/>
          <a:p>
            <a:pPr>
              <a:buFont typeface="Courier New" panose="02070309020205020404" pitchFamily="49" charset="0"/>
              <a:buChar char="o"/>
            </a:pPr>
            <a:r>
              <a:rPr lang="en-US" dirty="0"/>
              <a:t>Shrink a specific category in a categorical raster by a specified number of cells by replacing them with the values of the cell that is most frequent in its neighborhood</a:t>
            </a:r>
          </a:p>
          <a:p>
            <a:pPr marL="0" indent="0">
              <a:buNone/>
            </a:pPr>
            <a:endParaRPr lang="en-US" dirty="0"/>
          </a:p>
        </p:txBody>
      </p:sp>
      <p:sp>
        <p:nvSpPr>
          <p:cNvPr id="4" name="Slide Number Placeholder 3">
            <a:extLst>
              <a:ext uri="{FF2B5EF4-FFF2-40B4-BE49-F238E27FC236}">
                <a16:creationId xmlns:a16="http://schemas.microsoft.com/office/drawing/2014/main" id="{D67EE2AF-DD03-48DA-BA9E-0E552E25B9C5}"/>
              </a:ext>
            </a:extLst>
          </p:cNvPr>
          <p:cNvSpPr>
            <a:spLocks noGrp="1"/>
          </p:cNvSpPr>
          <p:nvPr>
            <p:ph type="sldNum" sz="quarter" idx="12"/>
          </p:nvPr>
        </p:nvSpPr>
        <p:spPr/>
        <p:txBody>
          <a:bodyPr/>
          <a:lstStyle/>
          <a:p>
            <a:fld id="{127DDC20-79C9-9647-820E-6D40A3D210C3}" type="slidenum">
              <a:rPr lang="en-US" smtClean="0"/>
              <a:pPr/>
              <a:t>10</a:t>
            </a:fld>
            <a:endParaRPr lang="en-US"/>
          </a:p>
        </p:txBody>
      </p:sp>
      <p:pic>
        <p:nvPicPr>
          <p:cNvPr id="2" name="Picture 1" descr="Image showing shrink result"/>
          <p:cNvPicPr>
            <a:picLocks noChangeAspect="1"/>
          </p:cNvPicPr>
          <p:nvPr/>
        </p:nvPicPr>
        <p:blipFill>
          <a:blip r:embed="rId5"/>
          <a:stretch>
            <a:fillRect/>
          </a:stretch>
        </p:blipFill>
        <p:spPr>
          <a:xfrm>
            <a:off x="1547119" y="2720871"/>
            <a:ext cx="2563448" cy="2061151"/>
          </a:xfrm>
          <a:prstGeom prst="rect">
            <a:avLst/>
          </a:prstGeom>
        </p:spPr>
      </p:pic>
      <p:pic>
        <p:nvPicPr>
          <p:cNvPr id="3" name="Picture 2" descr="Image showing shrink result"/>
          <p:cNvPicPr>
            <a:picLocks noChangeAspect="1"/>
          </p:cNvPicPr>
          <p:nvPr/>
        </p:nvPicPr>
        <p:blipFill>
          <a:blip r:embed="rId6"/>
          <a:stretch>
            <a:fillRect/>
          </a:stretch>
        </p:blipFill>
        <p:spPr>
          <a:xfrm>
            <a:off x="4428713" y="2693828"/>
            <a:ext cx="2604575" cy="2088194"/>
          </a:xfrm>
          <a:prstGeom prst="rect">
            <a:avLst/>
          </a:prstGeom>
        </p:spPr>
      </p:pic>
      <p:sp>
        <p:nvSpPr>
          <p:cNvPr id="6" name="TextBox 5"/>
          <p:cNvSpPr txBox="1"/>
          <p:nvPr>
            <p:custDataLst>
              <p:tags r:id="rId2"/>
            </p:custDataLst>
          </p:nvPr>
        </p:nvSpPr>
        <p:spPr>
          <a:xfrm>
            <a:off x="1882018" y="4826810"/>
            <a:ext cx="4887598" cy="316690"/>
          </a:xfrm>
          <a:prstGeom prst="rect">
            <a:avLst/>
          </a:prstGeom>
          <a:noFill/>
        </p:spPr>
        <p:txBody>
          <a:bodyPr wrap="square" rtlCol="0">
            <a:spAutoFit/>
          </a:bodyPr>
          <a:lstStyle/>
          <a:p>
            <a:pPr>
              <a:lnSpc>
                <a:spcPct val="90000"/>
              </a:lnSpc>
            </a:pPr>
            <a:r>
              <a:rPr lang="en-US" sz="1620" dirty="0"/>
              <a:t>Green shrank by 5 30 m pixels and replaced with gray</a:t>
            </a:r>
          </a:p>
        </p:txBody>
      </p:sp>
      <p:cxnSp>
        <p:nvCxnSpPr>
          <p:cNvPr id="7" name="Straight Connector 6">
            <a:extLst>
              <a:ext uri="{FF2B5EF4-FFF2-40B4-BE49-F238E27FC236}">
                <a16:creationId xmlns:a16="http://schemas.microsoft.com/office/drawing/2014/main" id="{AA13C779-AA59-4D7B-8FC2-9B0E526A1009}"/>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4CCC73E0-FBCC-480B-BBCB-89E65E46A352}"/>
              </a:ext>
            </a:extLst>
          </p:cNvPr>
          <p:cNvSpPr txBox="1">
            <a:spLocks/>
          </p:cNvSpPr>
          <p:nvPr/>
        </p:nvSpPr>
        <p:spPr>
          <a:xfrm>
            <a:off x="76200" y="290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a:t>
            </a:r>
            <a:r>
              <a:rPr lang="en-US" altLang="zh-CN" sz="3200" dirty="0">
                <a:solidFill>
                  <a:srgbClr val="7030A0"/>
                </a:solidFill>
              </a:rPr>
              <a:t>hrink</a:t>
            </a:r>
            <a:endParaRPr lang="en-US" sz="2600" dirty="0">
              <a:solidFill>
                <a:srgbClr val="7030A0"/>
              </a:solidFill>
            </a:endParaRPr>
          </a:p>
        </p:txBody>
      </p:sp>
    </p:spTree>
    <p:extLst>
      <p:ext uri="{BB962C8B-B14F-4D97-AF65-F5344CB8AC3E}">
        <p14:creationId xmlns:p14="http://schemas.microsoft.com/office/powerpoint/2010/main" val="557245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286190" y="1129768"/>
            <a:ext cx="7246170" cy="1161831"/>
          </a:xfrm>
        </p:spPr>
        <p:txBody>
          <a:bodyPr/>
          <a:lstStyle/>
          <a:p>
            <a:pPr>
              <a:buFont typeface="Courier New" panose="02070309020205020404" pitchFamily="49" charset="0"/>
              <a:buChar char="o"/>
            </a:pPr>
            <a:r>
              <a:rPr lang="en-US" dirty="0"/>
              <a:t>Replace cells of a raster corresponding to a mask with the values of the nearest neighbor</a:t>
            </a:r>
          </a:p>
        </p:txBody>
      </p:sp>
      <p:sp>
        <p:nvSpPr>
          <p:cNvPr id="3" name="Slide Number Placeholder 2">
            <a:extLst>
              <a:ext uri="{FF2B5EF4-FFF2-40B4-BE49-F238E27FC236}">
                <a16:creationId xmlns:a16="http://schemas.microsoft.com/office/drawing/2014/main" id="{264ED8B9-96D0-472C-BDBC-EE19B70967ED}"/>
              </a:ext>
            </a:extLst>
          </p:cNvPr>
          <p:cNvSpPr>
            <a:spLocks noGrp="1"/>
          </p:cNvSpPr>
          <p:nvPr>
            <p:ph type="sldNum" sz="quarter" idx="12"/>
          </p:nvPr>
        </p:nvSpPr>
        <p:spPr/>
        <p:txBody>
          <a:bodyPr/>
          <a:lstStyle/>
          <a:p>
            <a:fld id="{127DDC20-79C9-9647-820E-6D40A3D210C3}" type="slidenum">
              <a:rPr lang="en-US" smtClean="0"/>
              <a:pPr/>
              <a:t>11</a:t>
            </a:fld>
            <a:endParaRPr lang="en-US"/>
          </a:p>
        </p:txBody>
      </p:sp>
      <p:pic>
        <p:nvPicPr>
          <p:cNvPr id="2" name="Picture 1" descr="Image showing nibble result"/>
          <p:cNvPicPr>
            <a:picLocks noChangeAspect="1"/>
          </p:cNvPicPr>
          <p:nvPr/>
        </p:nvPicPr>
        <p:blipFill>
          <a:blip r:embed="rId4"/>
          <a:stretch>
            <a:fillRect/>
          </a:stretch>
        </p:blipFill>
        <p:spPr>
          <a:xfrm>
            <a:off x="470673" y="2571750"/>
            <a:ext cx="3537077" cy="2277789"/>
          </a:xfrm>
          <a:prstGeom prst="rect">
            <a:avLst/>
          </a:prstGeom>
        </p:spPr>
      </p:pic>
      <p:pic>
        <p:nvPicPr>
          <p:cNvPr id="7" name="Picture 6" descr="Image showing nibble result"/>
          <p:cNvPicPr>
            <a:picLocks noChangeAspect="1"/>
          </p:cNvPicPr>
          <p:nvPr/>
        </p:nvPicPr>
        <p:blipFill>
          <a:blip r:embed="rId5"/>
          <a:stretch>
            <a:fillRect/>
          </a:stretch>
        </p:blipFill>
        <p:spPr>
          <a:xfrm>
            <a:off x="4263935" y="2571749"/>
            <a:ext cx="3494992" cy="2277789"/>
          </a:xfrm>
          <a:prstGeom prst="rect">
            <a:avLst/>
          </a:prstGeom>
        </p:spPr>
      </p:pic>
      <p:cxnSp>
        <p:nvCxnSpPr>
          <p:cNvPr id="6" name="Straight Connector 5">
            <a:extLst>
              <a:ext uri="{FF2B5EF4-FFF2-40B4-BE49-F238E27FC236}">
                <a16:creationId xmlns:a16="http://schemas.microsoft.com/office/drawing/2014/main" id="{C1A0D863-516F-4964-8780-6E98098CC731}"/>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AC7ABCD5-BA9C-496C-91E5-8632A97CBC4D}"/>
              </a:ext>
            </a:extLst>
          </p:cNvPr>
          <p:cNvSpPr txBox="1">
            <a:spLocks/>
          </p:cNvSpPr>
          <p:nvPr/>
        </p:nvSpPr>
        <p:spPr>
          <a:xfrm>
            <a:off x="76200" y="290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Nibble</a:t>
            </a:r>
            <a:endParaRPr lang="en-US" sz="2600" dirty="0">
              <a:solidFill>
                <a:srgbClr val="7030A0"/>
              </a:solidFill>
            </a:endParaRPr>
          </a:p>
        </p:txBody>
      </p:sp>
    </p:spTree>
    <p:extLst>
      <p:ext uri="{BB962C8B-B14F-4D97-AF65-F5344CB8AC3E}">
        <p14:creationId xmlns:p14="http://schemas.microsoft.com/office/powerpoint/2010/main" val="536183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323556" y="959556"/>
            <a:ext cx="7392631" cy="2881110"/>
          </a:xfrm>
        </p:spPr>
        <p:txBody>
          <a:bodyPr/>
          <a:lstStyle/>
          <a:p>
            <a:pPr>
              <a:buFont typeface="Courier New" panose="02070309020205020404" pitchFamily="49" charset="0"/>
              <a:buChar char="o"/>
            </a:pPr>
            <a:r>
              <a:rPr lang="en-US" dirty="0"/>
              <a:t>Replace cells of a raster corresponding to a mask with the values of the nearest neighbor</a:t>
            </a:r>
          </a:p>
        </p:txBody>
      </p:sp>
      <p:sp>
        <p:nvSpPr>
          <p:cNvPr id="4" name="Slide Number Placeholder 3">
            <a:extLst>
              <a:ext uri="{FF2B5EF4-FFF2-40B4-BE49-F238E27FC236}">
                <a16:creationId xmlns:a16="http://schemas.microsoft.com/office/drawing/2014/main" id="{27CB993E-4353-41A3-9D25-41D94EC4E886}"/>
              </a:ext>
            </a:extLst>
          </p:cNvPr>
          <p:cNvSpPr>
            <a:spLocks noGrp="1"/>
          </p:cNvSpPr>
          <p:nvPr>
            <p:ph type="sldNum" sz="quarter" idx="12"/>
          </p:nvPr>
        </p:nvSpPr>
        <p:spPr/>
        <p:txBody>
          <a:bodyPr/>
          <a:lstStyle/>
          <a:p>
            <a:fld id="{127DDC20-79C9-9647-820E-6D40A3D210C3}" type="slidenum">
              <a:rPr lang="en-US" smtClean="0"/>
              <a:pPr/>
              <a:t>12</a:t>
            </a:fld>
            <a:endParaRPr lang="en-US"/>
          </a:p>
        </p:txBody>
      </p:sp>
      <p:pic>
        <p:nvPicPr>
          <p:cNvPr id="2" name="Picture 1" descr="Image showing nibble result"/>
          <p:cNvPicPr>
            <a:picLocks noChangeAspect="1"/>
          </p:cNvPicPr>
          <p:nvPr/>
        </p:nvPicPr>
        <p:blipFill>
          <a:blip r:embed="rId4"/>
          <a:stretch>
            <a:fillRect/>
          </a:stretch>
        </p:blipFill>
        <p:spPr>
          <a:xfrm>
            <a:off x="513412" y="2427050"/>
            <a:ext cx="3537077" cy="2277789"/>
          </a:xfrm>
          <a:prstGeom prst="rect">
            <a:avLst/>
          </a:prstGeom>
        </p:spPr>
      </p:pic>
      <p:pic>
        <p:nvPicPr>
          <p:cNvPr id="3" name="Picture 2" descr="Image showing nibble result"/>
          <p:cNvPicPr>
            <a:picLocks noChangeAspect="1"/>
          </p:cNvPicPr>
          <p:nvPr/>
        </p:nvPicPr>
        <p:blipFill>
          <a:blip r:embed="rId5"/>
          <a:stretch>
            <a:fillRect/>
          </a:stretch>
        </p:blipFill>
        <p:spPr>
          <a:xfrm>
            <a:off x="4269145" y="2427050"/>
            <a:ext cx="3492427" cy="2277789"/>
          </a:xfrm>
          <a:prstGeom prst="rect">
            <a:avLst/>
          </a:prstGeom>
        </p:spPr>
      </p:pic>
      <p:cxnSp>
        <p:nvCxnSpPr>
          <p:cNvPr id="6" name="Straight Connector 5">
            <a:extLst>
              <a:ext uri="{FF2B5EF4-FFF2-40B4-BE49-F238E27FC236}">
                <a16:creationId xmlns:a16="http://schemas.microsoft.com/office/drawing/2014/main" id="{3522E117-D67A-46D8-9CD5-4F790F0AE46C}"/>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C55982E6-F81D-407F-88B4-AC5D63BD55A2}"/>
              </a:ext>
            </a:extLst>
          </p:cNvPr>
          <p:cNvSpPr txBox="1">
            <a:spLocks/>
          </p:cNvSpPr>
          <p:nvPr/>
        </p:nvSpPr>
        <p:spPr>
          <a:xfrm>
            <a:off x="76200" y="290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Nibble</a:t>
            </a:r>
            <a:endParaRPr lang="en-US" sz="2600" dirty="0">
              <a:solidFill>
                <a:srgbClr val="7030A0"/>
              </a:solidFill>
            </a:endParaRPr>
          </a:p>
        </p:txBody>
      </p:sp>
    </p:spTree>
    <p:extLst>
      <p:ext uri="{BB962C8B-B14F-4D97-AF65-F5344CB8AC3E}">
        <p14:creationId xmlns:p14="http://schemas.microsoft.com/office/powerpoint/2010/main" val="1941118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267286" y="1542782"/>
            <a:ext cx="3847514" cy="2881110"/>
          </a:xfrm>
        </p:spPr>
        <p:txBody>
          <a:bodyPr>
            <a:normAutofit/>
          </a:bodyPr>
          <a:lstStyle/>
          <a:p>
            <a:pPr>
              <a:buFont typeface="Courier New" panose="02070309020205020404" pitchFamily="49" charset="0"/>
              <a:buChar char="o"/>
            </a:pPr>
            <a:r>
              <a:rPr lang="en-US" dirty="0"/>
              <a:t>Replace regions smaller than a certain size in a categorical raster with the surrounding class</a:t>
            </a:r>
          </a:p>
          <a:p>
            <a:pPr>
              <a:buFont typeface="Courier New" panose="02070309020205020404" pitchFamily="49" charset="0"/>
              <a:buChar char="o"/>
            </a:pPr>
            <a:r>
              <a:rPr lang="en-US" dirty="0"/>
              <a:t>Can be used to approximate a </a:t>
            </a:r>
            <a:r>
              <a:rPr lang="en-US" b="1" dirty="0">
                <a:solidFill>
                  <a:srgbClr val="E3874F"/>
                </a:solidFill>
              </a:rPr>
              <a:t>minimal mapping unit (MMU)</a:t>
            </a:r>
          </a:p>
        </p:txBody>
      </p:sp>
      <p:sp>
        <p:nvSpPr>
          <p:cNvPr id="2" name="Slide Number Placeholder 1">
            <a:extLst>
              <a:ext uri="{FF2B5EF4-FFF2-40B4-BE49-F238E27FC236}">
                <a16:creationId xmlns:a16="http://schemas.microsoft.com/office/drawing/2014/main" id="{F4134140-4AD3-47A5-97E3-7A330C2AB0A3}"/>
              </a:ext>
            </a:extLst>
          </p:cNvPr>
          <p:cNvSpPr>
            <a:spLocks noGrp="1"/>
          </p:cNvSpPr>
          <p:nvPr>
            <p:ph type="sldNum" sz="quarter" idx="12"/>
          </p:nvPr>
        </p:nvSpPr>
        <p:spPr/>
        <p:txBody>
          <a:bodyPr/>
          <a:lstStyle/>
          <a:p>
            <a:fld id="{127DDC20-79C9-9647-820E-6D40A3D210C3}" type="slidenum">
              <a:rPr lang="en-US" smtClean="0"/>
              <a:pPr/>
              <a:t>13</a:t>
            </a:fld>
            <a:endParaRPr lang="en-US"/>
          </a:p>
        </p:txBody>
      </p:sp>
      <p:pic>
        <p:nvPicPr>
          <p:cNvPr id="6" name="Picture 5" descr="Image showing sieving window"/>
          <p:cNvPicPr>
            <a:picLocks noChangeAspect="1"/>
          </p:cNvPicPr>
          <p:nvPr/>
        </p:nvPicPr>
        <p:blipFill>
          <a:blip r:embed="rId4"/>
          <a:stretch>
            <a:fillRect/>
          </a:stretch>
        </p:blipFill>
        <p:spPr>
          <a:xfrm>
            <a:off x="4766282" y="1115248"/>
            <a:ext cx="2823231" cy="2385919"/>
          </a:xfrm>
          <a:prstGeom prst="rect">
            <a:avLst/>
          </a:prstGeom>
        </p:spPr>
      </p:pic>
      <p:cxnSp>
        <p:nvCxnSpPr>
          <p:cNvPr id="7" name="Straight Connector 6">
            <a:extLst>
              <a:ext uri="{FF2B5EF4-FFF2-40B4-BE49-F238E27FC236}">
                <a16:creationId xmlns:a16="http://schemas.microsoft.com/office/drawing/2014/main" id="{B690EF7A-3D30-4812-A517-82FEDAB6FB5D}"/>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7277BCD9-B02D-45BC-A0CC-B9CA9211F5E7}"/>
              </a:ext>
            </a:extLst>
          </p:cNvPr>
          <p:cNvSpPr txBox="1">
            <a:spLocks/>
          </p:cNvSpPr>
          <p:nvPr/>
        </p:nvSpPr>
        <p:spPr>
          <a:xfrm>
            <a:off x="76200" y="290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Sieving</a:t>
            </a:r>
            <a:endParaRPr lang="en-US" sz="2600" dirty="0">
              <a:solidFill>
                <a:srgbClr val="7030A0"/>
              </a:solidFill>
            </a:endParaRPr>
          </a:p>
        </p:txBody>
      </p:sp>
      <p:pic>
        <p:nvPicPr>
          <p:cNvPr id="4" name="Picture 3" descr="Sieving tool">
            <a:extLst>
              <a:ext uri="{FF2B5EF4-FFF2-40B4-BE49-F238E27FC236}">
                <a16:creationId xmlns:a16="http://schemas.microsoft.com/office/drawing/2014/main" id="{1E8BDB2E-871F-4907-8821-487A6E559397}"/>
              </a:ext>
            </a:extLst>
          </p:cNvPr>
          <p:cNvPicPr>
            <a:picLocks noChangeAspect="1"/>
          </p:cNvPicPr>
          <p:nvPr/>
        </p:nvPicPr>
        <p:blipFill>
          <a:blip r:embed="rId5"/>
          <a:stretch>
            <a:fillRect/>
          </a:stretch>
        </p:blipFill>
        <p:spPr>
          <a:xfrm>
            <a:off x="4366204" y="3686625"/>
            <a:ext cx="3451916" cy="1119193"/>
          </a:xfrm>
          <a:prstGeom prst="rect">
            <a:avLst/>
          </a:prstGeom>
        </p:spPr>
      </p:pic>
    </p:spTree>
    <p:extLst>
      <p:ext uri="{BB962C8B-B14F-4D97-AF65-F5344CB8AC3E}">
        <p14:creationId xmlns:p14="http://schemas.microsoft.com/office/powerpoint/2010/main" val="2867407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1696156" y="1936677"/>
            <a:ext cx="5158563" cy="1634426"/>
          </a:xfrm>
        </p:spPr>
        <p:txBody>
          <a:bodyPr>
            <a:normAutofit/>
          </a:bodyPr>
          <a:lstStyle/>
          <a:p>
            <a:pPr algn="ctr"/>
            <a:r>
              <a:rPr lang="en-US" dirty="0"/>
              <a:t>Neighborhood function</a:t>
            </a:r>
            <a:br>
              <a:rPr lang="en-US" dirty="0"/>
            </a:br>
            <a:r>
              <a:rPr lang="en-US" dirty="0"/>
              <a:t>Raster summarization</a:t>
            </a:r>
          </a:p>
        </p:txBody>
      </p:sp>
      <p:sp>
        <p:nvSpPr>
          <p:cNvPr id="3" name="Slide Number Placeholder 2">
            <a:extLst>
              <a:ext uri="{FF2B5EF4-FFF2-40B4-BE49-F238E27FC236}">
                <a16:creationId xmlns:a16="http://schemas.microsoft.com/office/drawing/2014/main" id="{D550568E-FB27-4D2C-A471-42F7E158D5CC}"/>
              </a:ext>
            </a:extLst>
          </p:cNvPr>
          <p:cNvSpPr>
            <a:spLocks noGrp="1"/>
          </p:cNvSpPr>
          <p:nvPr>
            <p:ph type="sldNum" sz="quarter" idx="12"/>
          </p:nvPr>
        </p:nvSpPr>
        <p:spPr/>
        <p:txBody>
          <a:bodyPr/>
          <a:lstStyle/>
          <a:p>
            <a:fld id="{127DDC20-79C9-9647-820E-6D40A3D210C3}" type="slidenum">
              <a:rPr lang="en-US" smtClean="0"/>
              <a:pPr/>
              <a:t>14</a:t>
            </a:fld>
            <a:endParaRPr lang="en-US"/>
          </a:p>
        </p:txBody>
      </p:sp>
    </p:spTree>
    <p:extLst>
      <p:ext uri="{BB962C8B-B14F-4D97-AF65-F5344CB8AC3E}">
        <p14:creationId xmlns:p14="http://schemas.microsoft.com/office/powerpoint/2010/main" val="2033446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204722" y="1209822"/>
            <a:ext cx="2833900" cy="3671740"/>
          </a:xfrm>
        </p:spPr>
        <p:txBody>
          <a:bodyPr>
            <a:normAutofit/>
          </a:bodyPr>
          <a:lstStyle/>
          <a:p>
            <a:pPr>
              <a:buFont typeface="Courier New" panose="02070309020205020404" pitchFamily="49" charset="0"/>
              <a:buChar char="o"/>
            </a:pPr>
            <a:r>
              <a:rPr lang="en-US" dirty="0"/>
              <a:t>Used to obtain statistics from a continuous raster within an area or zone as defined by another raster or a polygon vector layer</a:t>
            </a:r>
          </a:p>
          <a:p>
            <a:pPr>
              <a:buFont typeface="Courier New" panose="02070309020205020404" pitchFamily="49" charset="0"/>
              <a:buChar char="o"/>
            </a:pPr>
            <a:endParaRPr lang="en-US" dirty="0"/>
          </a:p>
          <a:p>
            <a:pPr>
              <a:buFont typeface="Courier New" panose="02070309020205020404" pitchFamily="49" charset="0"/>
              <a:buChar char="o"/>
            </a:pPr>
            <a:r>
              <a:rPr lang="en-US" dirty="0"/>
              <a:t>Can obtain results as a raster surface for a single statistic </a:t>
            </a:r>
          </a:p>
          <a:p>
            <a:pPr>
              <a:buFont typeface="Courier New" panose="02070309020205020404" pitchFamily="49" charset="0"/>
              <a:buChar char="o"/>
            </a:pPr>
            <a:endParaRPr lang="en-US" dirty="0"/>
          </a:p>
          <a:p>
            <a:pPr>
              <a:buFont typeface="Courier New" panose="02070309020205020404" pitchFamily="49" charset="0"/>
              <a:buChar char="o"/>
            </a:pPr>
            <a:r>
              <a:rPr lang="en-US" dirty="0"/>
              <a:t>All cells in the zone have same value</a:t>
            </a:r>
          </a:p>
        </p:txBody>
      </p:sp>
      <p:sp>
        <p:nvSpPr>
          <p:cNvPr id="2" name="Slide Number Placeholder 1">
            <a:extLst>
              <a:ext uri="{FF2B5EF4-FFF2-40B4-BE49-F238E27FC236}">
                <a16:creationId xmlns:a16="http://schemas.microsoft.com/office/drawing/2014/main" id="{C2D6F0D9-C4F1-461B-968F-CE9BCACA062B}"/>
              </a:ext>
            </a:extLst>
          </p:cNvPr>
          <p:cNvSpPr>
            <a:spLocks noGrp="1"/>
          </p:cNvSpPr>
          <p:nvPr>
            <p:ph type="sldNum" sz="quarter" idx="12"/>
          </p:nvPr>
        </p:nvSpPr>
        <p:spPr/>
        <p:txBody>
          <a:bodyPr/>
          <a:lstStyle/>
          <a:p>
            <a:fld id="{127DDC20-79C9-9647-820E-6D40A3D210C3}" type="slidenum">
              <a:rPr lang="en-US" smtClean="0"/>
              <a:pPr/>
              <a:t>15</a:t>
            </a:fld>
            <a:endParaRPr lang="en-US"/>
          </a:p>
        </p:txBody>
      </p:sp>
      <p:cxnSp>
        <p:nvCxnSpPr>
          <p:cNvPr id="9" name="Straight Connector 8">
            <a:extLst>
              <a:ext uri="{FF2B5EF4-FFF2-40B4-BE49-F238E27FC236}">
                <a16:creationId xmlns:a16="http://schemas.microsoft.com/office/drawing/2014/main" id="{070F0041-1310-48B0-AAA2-1B7DDC9B4902}"/>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Title 1">
            <a:extLst>
              <a:ext uri="{FF2B5EF4-FFF2-40B4-BE49-F238E27FC236}">
                <a16:creationId xmlns:a16="http://schemas.microsoft.com/office/drawing/2014/main" id="{1181D3CA-0500-40D0-8206-323CDF339D34}"/>
              </a:ext>
            </a:extLst>
          </p:cNvPr>
          <p:cNvSpPr txBox="1">
            <a:spLocks/>
          </p:cNvSpPr>
          <p:nvPr/>
        </p:nvSpPr>
        <p:spPr>
          <a:xfrm>
            <a:off x="76200" y="290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Z</a:t>
            </a:r>
            <a:r>
              <a:rPr lang="en-US" altLang="zh-CN" sz="3200" dirty="0">
                <a:solidFill>
                  <a:srgbClr val="7030A0"/>
                </a:solidFill>
              </a:rPr>
              <a:t>onal statistics</a:t>
            </a:r>
            <a:endParaRPr lang="en-US" sz="2600" dirty="0">
              <a:solidFill>
                <a:srgbClr val="7030A0"/>
              </a:solidFill>
            </a:endParaRPr>
          </a:p>
        </p:txBody>
      </p:sp>
      <p:pic>
        <p:nvPicPr>
          <p:cNvPr id="13" name="Picture 12" descr="Image showing zonal statistics">
            <a:extLst>
              <a:ext uri="{FF2B5EF4-FFF2-40B4-BE49-F238E27FC236}">
                <a16:creationId xmlns:a16="http://schemas.microsoft.com/office/drawing/2014/main" id="{80F0B6F4-8A00-4869-86F4-0ACD6F1ECE0C}"/>
              </a:ext>
            </a:extLst>
          </p:cNvPr>
          <p:cNvPicPr>
            <a:picLocks noChangeAspect="1"/>
          </p:cNvPicPr>
          <p:nvPr/>
        </p:nvPicPr>
        <p:blipFill>
          <a:blip r:embed="rId4"/>
          <a:stretch>
            <a:fillRect/>
          </a:stretch>
        </p:blipFill>
        <p:spPr>
          <a:xfrm>
            <a:off x="3982459" y="1209822"/>
            <a:ext cx="3770158" cy="3671740"/>
          </a:xfrm>
          <a:prstGeom prst="rect">
            <a:avLst/>
          </a:prstGeom>
        </p:spPr>
      </p:pic>
      <p:sp>
        <p:nvSpPr>
          <p:cNvPr id="15" name="TextBox 14">
            <a:extLst>
              <a:ext uri="{FF2B5EF4-FFF2-40B4-BE49-F238E27FC236}">
                <a16:creationId xmlns:a16="http://schemas.microsoft.com/office/drawing/2014/main" id="{41DBFBB4-3913-4168-BA77-AFB05D4ECA6D}"/>
              </a:ext>
            </a:extLst>
          </p:cNvPr>
          <p:cNvSpPr txBox="1"/>
          <p:nvPr/>
        </p:nvSpPr>
        <p:spPr>
          <a:xfrm>
            <a:off x="3595615" y="4714375"/>
            <a:ext cx="4157002" cy="400110"/>
          </a:xfrm>
          <a:prstGeom prst="rect">
            <a:avLst/>
          </a:prstGeom>
          <a:noFill/>
        </p:spPr>
        <p:txBody>
          <a:bodyPr wrap="square">
            <a:spAutoFit/>
          </a:bodyPr>
          <a:lstStyle/>
          <a:p>
            <a:r>
              <a:rPr lang="en-US" sz="1000" dirty="0">
                <a:solidFill>
                  <a:srgbClr val="7030A0"/>
                </a:solidFill>
              </a:rPr>
              <a:t>https://desktop.arcgis.com/en/arcmap/10.3/tools/spatial-analyst-toolbox/h-how-zonal-statistics-works.htm</a:t>
            </a:r>
          </a:p>
        </p:txBody>
      </p:sp>
    </p:spTree>
    <p:extLst>
      <p:ext uri="{BB962C8B-B14F-4D97-AF65-F5344CB8AC3E}">
        <p14:creationId xmlns:p14="http://schemas.microsoft.com/office/powerpoint/2010/main" val="3285356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070F0041-1310-48B0-AAA2-1B7DDC9B4902}"/>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Title 1">
            <a:extLst>
              <a:ext uri="{FF2B5EF4-FFF2-40B4-BE49-F238E27FC236}">
                <a16:creationId xmlns:a16="http://schemas.microsoft.com/office/drawing/2014/main" id="{1181D3CA-0500-40D0-8206-323CDF339D34}"/>
              </a:ext>
            </a:extLst>
          </p:cNvPr>
          <p:cNvSpPr txBox="1">
            <a:spLocks/>
          </p:cNvSpPr>
          <p:nvPr/>
        </p:nvSpPr>
        <p:spPr>
          <a:xfrm>
            <a:off x="76200" y="290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Z</a:t>
            </a:r>
            <a:r>
              <a:rPr lang="en-US" altLang="zh-CN" sz="3200" dirty="0">
                <a:solidFill>
                  <a:srgbClr val="7030A0"/>
                </a:solidFill>
              </a:rPr>
              <a:t>onal statistics</a:t>
            </a:r>
            <a:endParaRPr lang="en-US" sz="2600" dirty="0">
              <a:solidFill>
                <a:srgbClr val="7030A0"/>
              </a:solidFill>
            </a:endParaRPr>
          </a:p>
        </p:txBody>
      </p:sp>
      <p:pic>
        <p:nvPicPr>
          <p:cNvPr id="7" name="Picture 6" descr="Table, calendar&#10;&#10;Description automatically generated">
            <a:extLst>
              <a:ext uri="{FF2B5EF4-FFF2-40B4-BE49-F238E27FC236}">
                <a16:creationId xmlns:a16="http://schemas.microsoft.com/office/drawing/2014/main" id="{E539EAF3-19E5-4AAD-8942-3F97FA1BDEE4}"/>
              </a:ext>
            </a:extLst>
          </p:cNvPr>
          <p:cNvPicPr>
            <a:picLocks noChangeAspect="1"/>
          </p:cNvPicPr>
          <p:nvPr/>
        </p:nvPicPr>
        <p:blipFill>
          <a:blip r:embed="rId3"/>
          <a:stretch>
            <a:fillRect/>
          </a:stretch>
        </p:blipFill>
        <p:spPr>
          <a:xfrm>
            <a:off x="1482811" y="1210598"/>
            <a:ext cx="5791949" cy="3735194"/>
          </a:xfrm>
          <a:prstGeom prst="rect">
            <a:avLst/>
          </a:prstGeom>
        </p:spPr>
      </p:pic>
      <p:sp>
        <p:nvSpPr>
          <p:cNvPr id="11" name="TextBox 10">
            <a:extLst>
              <a:ext uri="{FF2B5EF4-FFF2-40B4-BE49-F238E27FC236}">
                <a16:creationId xmlns:a16="http://schemas.microsoft.com/office/drawing/2014/main" id="{F54B69F2-4EF0-472F-BEDA-A11B53DFADE6}"/>
              </a:ext>
            </a:extLst>
          </p:cNvPr>
          <p:cNvSpPr txBox="1"/>
          <p:nvPr/>
        </p:nvSpPr>
        <p:spPr>
          <a:xfrm>
            <a:off x="812582" y="4818678"/>
            <a:ext cx="1097608" cy="246221"/>
          </a:xfrm>
          <a:prstGeom prst="rect">
            <a:avLst/>
          </a:prstGeom>
          <a:noFill/>
        </p:spPr>
        <p:txBody>
          <a:bodyPr wrap="square" rtlCol="0">
            <a:spAutoFit/>
          </a:bodyPr>
          <a:lstStyle/>
          <a:p>
            <a:r>
              <a:rPr lang="en-US" sz="1000" dirty="0" err="1">
                <a:solidFill>
                  <a:srgbClr val="7030A0"/>
                </a:solidFill>
              </a:rPr>
              <a:t>Bolstad</a:t>
            </a:r>
            <a:r>
              <a:rPr lang="en-US" sz="1000" dirty="0">
                <a:solidFill>
                  <a:srgbClr val="7030A0"/>
                </a:solidFill>
              </a:rPr>
              <a:t>, 2019</a:t>
            </a:r>
          </a:p>
        </p:txBody>
      </p:sp>
      <p:sp>
        <p:nvSpPr>
          <p:cNvPr id="2" name="Slide Number Placeholder 1">
            <a:extLst>
              <a:ext uri="{FF2B5EF4-FFF2-40B4-BE49-F238E27FC236}">
                <a16:creationId xmlns:a16="http://schemas.microsoft.com/office/drawing/2014/main" id="{C1748F4F-DB9B-44A4-A99C-BE972CC1E935}"/>
              </a:ext>
            </a:extLst>
          </p:cNvPr>
          <p:cNvSpPr>
            <a:spLocks noGrp="1"/>
          </p:cNvSpPr>
          <p:nvPr>
            <p:ph type="sldNum" sz="quarter" idx="12"/>
          </p:nvPr>
        </p:nvSpPr>
        <p:spPr/>
        <p:txBody>
          <a:bodyPr/>
          <a:lstStyle/>
          <a:p>
            <a:fld id="{127DDC20-79C9-9647-820E-6D40A3D210C3}" type="slidenum">
              <a:rPr lang="en-US" smtClean="0"/>
              <a:pPr/>
              <a:t>16</a:t>
            </a:fld>
            <a:endParaRPr lang="en-US"/>
          </a:p>
        </p:txBody>
      </p:sp>
    </p:spTree>
    <p:extLst>
      <p:ext uri="{BB962C8B-B14F-4D97-AF65-F5344CB8AC3E}">
        <p14:creationId xmlns:p14="http://schemas.microsoft.com/office/powerpoint/2010/main" val="764618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204722" y="1186268"/>
            <a:ext cx="4114060" cy="3520254"/>
          </a:xfrm>
        </p:spPr>
        <p:txBody>
          <a:bodyPr>
            <a:normAutofit/>
          </a:bodyPr>
          <a:lstStyle/>
          <a:p>
            <a:pPr>
              <a:buFont typeface="Courier New" panose="02070309020205020404" pitchFamily="49" charset="0"/>
              <a:buChar char="o"/>
            </a:pPr>
            <a:r>
              <a:rPr lang="en-US" dirty="0"/>
              <a:t>Used to obtain statistics from a continuous raster within an area or </a:t>
            </a:r>
            <a:r>
              <a:rPr lang="en-US" sz="2900" dirty="0"/>
              <a:t>zone</a:t>
            </a:r>
            <a:r>
              <a:rPr lang="en-US" dirty="0"/>
              <a:t> as defined by another raster or a polygon vector layer</a:t>
            </a:r>
          </a:p>
          <a:p>
            <a:pPr>
              <a:buFont typeface="Courier New" panose="02070309020205020404" pitchFamily="49" charset="0"/>
              <a:buChar char="o"/>
            </a:pPr>
            <a:r>
              <a:rPr lang="en-US" dirty="0"/>
              <a:t>Can obtain multiple statistics as a table: mean, majority, maximum, median, minimum, minority, range, standard deviation, sum, and variety</a:t>
            </a:r>
          </a:p>
          <a:p>
            <a:pPr>
              <a:buFont typeface="Courier New" panose="02070309020205020404" pitchFamily="49" charset="0"/>
              <a:buChar char="o"/>
            </a:pPr>
            <a:r>
              <a:rPr lang="en-US" dirty="0"/>
              <a:t>Can use table join to join the results back to the zone data</a:t>
            </a:r>
          </a:p>
        </p:txBody>
      </p:sp>
      <p:sp>
        <p:nvSpPr>
          <p:cNvPr id="2" name="Slide Number Placeholder 1">
            <a:extLst>
              <a:ext uri="{FF2B5EF4-FFF2-40B4-BE49-F238E27FC236}">
                <a16:creationId xmlns:a16="http://schemas.microsoft.com/office/drawing/2014/main" id="{2E8271A0-6E88-4B20-85D3-EA15972EB610}"/>
              </a:ext>
            </a:extLst>
          </p:cNvPr>
          <p:cNvSpPr>
            <a:spLocks noGrp="1"/>
          </p:cNvSpPr>
          <p:nvPr>
            <p:ph type="sldNum" sz="quarter" idx="12"/>
          </p:nvPr>
        </p:nvSpPr>
        <p:spPr/>
        <p:txBody>
          <a:bodyPr/>
          <a:lstStyle/>
          <a:p>
            <a:fld id="{127DDC20-79C9-9647-820E-6D40A3D210C3}" type="slidenum">
              <a:rPr lang="en-US" smtClean="0"/>
              <a:pPr/>
              <a:t>17</a:t>
            </a:fld>
            <a:endParaRPr lang="en-US"/>
          </a:p>
        </p:txBody>
      </p:sp>
      <p:sp>
        <p:nvSpPr>
          <p:cNvPr id="8" name="TextBox 7"/>
          <p:cNvSpPr txBox="1"/>
          <p:nvPr>
            <p:custDataLst>
              <p:tags r:id="rId2"/>
            </p:custDataLst>
          </p:nvPr>
        </p:nvSpPr>
        <p:spPr>
          <a:xfrm>
            <a:off x="4896173" y="3833237"/>
            <a:ext cx="3035455" cy="316690"/>
          </a:xfrm>
          <a:prstGeom prst="rect">
            <a:avLst/>
          </a:prstGeom>
          <a:noFill/>
        </p:spPr>
        <p:txBody>
          <a:bodyPr wrap="square" rtlCol="0">
            <a:spAutoFit/>
          </a:bodyPr>
          <a:lstStyle/>
          <a:p>
            <a:pPr>
              <a:lnSpc>
                <a:spcPct val="90000"/>
              </a:lnSpc>
            </a:pPr>
            <a:r>
              <a:rPr lang="en-US" sz="1620" dirty="0"/>
              <a:t>Elevation statistics by county</a:t>
            </a:r>
          </a:p>
        </p:txBody>
      </p:sp>
      <p:pic>
        <p:nvPicPr>
          <p:cNvPr id="3" name="Picture 2" descr="Image showing zonal statistics as table result"/>
          <p:cNvPicPr>
            <a:picLocks noChangeAspect="1"/>
          </p:cNvPicPr>
          <p:nvPr/>
        </p:nvPicPr>
        <p:blipFill>
          <a:blip r:embed="rId5"/>
          <a:stretch>
            <a:fillRect/>
          </a:stretch>
        </p:blipFill>
        <p:spPr>
          <a:xfrm>
            <a:off x="4474939" y="1948915"/>
            <a:ext cx="3456689" cy="1724882"/>
          </a:xfrm>
          <a:prstGeom prst="rect">
            <a:avLst/>
          </a:prstGeom>
        </p:spPr>
      </p:pic>
      <p:cxnSp>
        <p:nvCxnSpPr>
          <p:cNvPr id="6" name="Straight Connector 5">
            <a:extLst>
              <a:ext uri="{FF2B5EF4-FFF2-40B4-BE49-F238E27FC236}">
                <a16:creationId xmlns:a16="http://schemas.microsoft.com/office/drawing/2014/main" id="{565655F2-FC46-4865-9144-1FC12F95B6F2}"/>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9B3258C9-0AB9-4B9F-A613-094053EF412C}"/>
              </a:ext>
            </a:extLst>
          </p:cNvPr>
          <p:cNvSpPr txBox="1">
            <a:spLocks/>
          </p:cNvSpPr>
          <p:nvPr/>
        </p:nvSpPr>
        <p:spPr>
          <a:xfrm>
            <a:off x="76200" y="290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Z</a:t>
            </a:r>
            <a:r>
              <a:rPr lang="en-US" altLang="zh-CN" sz="3200" dirty="0">
                <a:solidFill>
                  <a:srgbClr val="7030A0"/>
                </a:solidFill>
              </a:rPr>
              <a:t>onal Statistics as Table</a:t>
            </a:r>
            <a:endParaRPr lang="en-US" sz="2600" dirty="0">
              <a:solidFill>
                <a:srgbClr val="7030A0"/>
              </a:solidFill>
            </a:endParaRPr>
          </a:p>
        </p:txBody>
      </p:sp>
    </p:spTree>
    <p:extLst>
      <p:ext uri="{BB962C8B-B14F-4D97-AF65-F5344CB8AC3E}">
        <p14:creationId xmlns:p14="http://schemas.microsoft.com/office/powerpoint/2010/main" val="3782695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106712" y="1345833"/>
            <a:ext cx="3336557" cy="3571703"/>
          </a:xfrm>
        </p:spPr>
        <p:txBody>
          <a:bodyPr>
            <a:normAutofit/>
          </a:bodyPr>
          <a:lstStyle/>
          <a:p>
            <a:pPr>
              <a:buFont typeface="Courier New" panose="02070309020205020404" pitchFamily="49" charset="0"/>
              <a:buChar char="o"/>
            </a:pPr>
            <a:r>
              <a:rPr lang="en-US" dirty="0"/>
              <a:t>Used to obtain areas for categories in a categorical raster within an area or zone as defined by another raster or polygon vector layer</a:t>
            </a:r>
          </a:p>
          <a:p>
            <a:pPr>
              <a:buFont typeface="Courier New" panose="02070309020205020404" pitchFamily="49" charset="0"/>
              <a:buChar char="o"/>
            </a:pPr>
            <a:r>
              <a:rPr lang="en-US" dirty="0"/>
              <a:t>Areas will be in square map units</a:t>
            </a:r>
          </a:p>
          <a:p>
            <a:pPr>
              <a:buFont typeface="Courier New" panose="02070309020205020404" pitchFamily="49" charset="0"/>
              <a:buChar char="o"/>
            </a:pPr>
            <a:r>
              <a:rPr lang="en-US" dirty="0"/>
              <a:t>Can use table join to join the results back to the zone data</a:t>
            </a:r>
          </a:p>
        </p:txBody>
      </p:sp>
      <p:sp>
        <p:nvSpPr>
          <p:cNvPr id="3" name="Slide Number Placeholder 2">
            <a:extLst>
              <a:ext uri="{FF2B5EF4-FFF2-40B4-BE49-F238E27FC236}">
                <a16:creationId xmlns:a16="http://schemas.microsoft.com/office/drawing/2014/main" id="{0A92B8B6-8BC6-4927-A73A-BFE37935904B}"/>
              </a:ext>
            </a:extLst>
          </p:cNvPr>
          <p:cNvSpPr>
            <a:spLocks noGrp="1"/>
          </p:cNvSpPr>
          <p:nvPr>
            <p:ph type="sldNum" sz="quarter" idx="12"/>
          </p:nvPr>
        </p:nvSpPr>
        <p:spPr/>
        <p:txBody>
          <a:bodyPr/>
          <a:lstStyle/>
          <a:p>
            <a:fld id="{127DDC20-79C9-9647-820E-6D40A3D210C3}" type="slidenum">
              <a:rPr lang="en-US" smtClean="0"/>
              <a:pPr/>
              <a:t>18</a:t>
            </a:fld>
            <a:endParaRPr lang="en-US"/>
          </a:p>
        </p:txBody>
      </p:sp>
      <p:sp>
        <p:nvSpPr>
          <p:cNvPr id="7" name="TextBox 6"/>
          <p:cNvSpPr txBox="1"/>
          <p:nvPr>
            <p:custDataLst>
              <p:tags r:id="rId2"/>
            </p:custDataLst>
          </p:nvPr>
        </p:nvSpPr>
        <p:spPr>
          <a:xfrm>
            <a:off x="4474939" y="3857960"/>
            <a:ext cx="3035455" cy="316690"/>
          </a:xfrm>
          <a:prstGeom prst="rect">
            <a:avLst/>
          </a:prstGeom>
          <a:noFill/>
        </p:spPr>
        <p:txBody>
          <a:bodyPr wrap="square" rtlCol="0">
            <a:spAutoFit/>
          </a:bodyPr>
          <a:lstStyle/>
          <a:p>
            <a:pPr>
              <a:lnSpc>
                <a:spcPct val="90000"/>
              </a:lnSpc>
            </a:pPr>
            <a:r>
              <a:rPr lang="en-US" sz="1620" dirty="0"/>
              <a:t>Area of land cover by county</a:t>
            </a:r>
          </a:p>
        </p:txBody>
      </p:sp>
      <p:pic>
        <p:nvPicPr>
          <p:cNvPr id="2" name="Picture 1" descr="Image showing tabulate area"/>
          <p:cNvPicPr>
            <a:picLocks noChangeAspect="1"/>
          </p:cNvPicPr>
          <p:nvPr/>
        </p:nvPicPr>
        <p:blipFill>
          <a:blip r:embed="rId5"/>
          <a:stretch>
            <a:fillRect/>
          </a:stretch>
        </p:blipFill>
        <p:spPr>
          <a:xfrm>
            <a:off x="3446624" y="1954369"/>
            <a:ext cx="4676264" cy="1560208"/>
          </a:xfrm>
          <a:prstGeom prst="rect">
            <a:avLst/>
          </a:prstGeom>
        </p:spPr>
      </p:pic>
      <p:cxnSp>
        <p:nvCxnSpPr>
          <p:cNvPr id="6" name="Straight Connector 5">
            <a:extLst>
              <a:ext uri="{FF2B5EF4-FFF2-40B4-BE49-F238E27FC236}">
                <a16:creationId xmlns:a16="http://schemas.microsoft.com/office/drawing/2014/main" id="{3AFABC1C-D2EE-43F6-A2C3-0FE90FA2F5BB}"/>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35EA1F6F-59DB-4AAC-AD6E-6CBBAD1AF0FB}"/>
              </a:ext>
            </a:extLst>
          </p:cNvPr>
          <p:cNvSpPr txBox="1">
            <a:spLocks/>
          </p:cNvSpPr>
          <p:nvPr/>
        </p:nvSpPr>
        <p:spPr>
          <a:xfrm>
            <a:off x="76200" y="290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Tabulate Area</a:t>
            </a:r>
            <a:endParaRPr lang="en-US" sz="2600" dirty="0">
              <a:solidFill>
                <a:srgbClr val="7030A0"/>
              </a:solidFill>
            </a:endParaRPr>
          </a:p>
        </p:txBody>
      </p:sp>
    </p:spTree>
    <p:extLst>
      <p:ext uri="{BB962C8B-B14F-4D97-AF65-F5344CB8AC3E}">
        <p14:creationId xmlns:p14="http://schemas.microsoft.com/office/powerpoint/2010/main" val="3083291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298506" y="946381"/>
            <a:ext cx="7185505" cy="2881110"/>
          </a:xfrm>
        </p:spPr>
        <p:txBody>
          <a:bodyPr/>
          <a:lstStyle/>
          <a:p>
            <a:pPr>
              <a:buFont typeface="Courier New" panose="02070309020205020404" pitchFamily="49" charset="0"/>
              <a:buChar char="o"/>
            </a:pPr>
            <a:r>
              <a:rPr lang="en-US" dirty="0"/>
              <a:t>Extract raster values at point locations and add the data to the attribute table</a:t>
            </a:r>
          </a:p>
          <a:p>
            <a:pPr>
              <a:buFont typeface="Courier New" panose="02070309020205020404" pitchFamily="49" charset="0"/>
              <a:buChar char="o"/>
            </a:pPr>
            <a:r>
              <a:rPr lang="en-US" dirty="0"/>
              <a:t>Can use: Extract Multi Values to Points Tool or Extract Values to Points Tool</a:t>
            </a:r>
          </a:p>
          <a:p>
            <a:pPr marL="0" indent="0">
              <a:buNone/>
            </a:pPr>
            <a:endParaRPr lang="en-US" dirty="0"/>
          </a:p>
        </p:txBody>
      </p:sp>
      <p:sp>
        <p:nvSpPr>
          <p:cNvPr id="4" name="Slide Number Placeholder 3">
            <a:extLst>
              <a:ext uri="{FF2B5EF4-FFF2-40B4-BE49-F238E27FC236}">
                <a16:creationId xmlns:a16="http://schemas.microsoft.com/office/drawing/2014/main" id="{BCE737BD-A59D-4D02-8833-CB97D0C96E44}"/>
              </a:ext>
            </a:extLst>
          </p:cNvPr>
          <p:cNvSpPr>
            <a:spLocks noGrp="1"/>
          </p:cNvSpPr>
          <p:nvPr>
            <p:ph type="sldNum" sz="quarter" idx="12"/>
          </p:nvPr>
        </p:nvSpPr>
        <p:spPr/>
        <p:txBody>
          <a:bodyPr/>
          <a:lstStyle/>
          <a:p>
            <a:fld id="{127DDC20-79C9-9647-820E-6D40A3D210C3}" type="slidenum">
              <a:rPr lang="en-US" smtClean="0"/>
              <a:pPr/>
              <a:t>19</a:t>
            </a:fld>
            <a:endParaRPr lang="en-US"/>
          </a:p>
        </p:txBody>
      </p:sp>
      <p:pic>
        <p:nvPicPr>
          <p:cNvPr id="2" name="Picture 1" descr="Image showing Extract Values to Points window"/>
          <p:cNvPicPr>
            <a:picLocks noChangeAspect="1"/>
          </p:cNvPicPr>
          <p:nvPr/>
        </p:nvPicPr>
        <p:blipFill>
          <a:blip r:embed="rId4"/>
          <a:stretch>
            <a:fillRect/>
          </a:stretch>
        </p:blipFill>
        <p:spPr>
          <a:xfrm>
            <a:off x="613568" y="3006204"/>
            <a:ext cx="2758920" cy="1903591"/>
          </a:xfrm>
          <a:prstGeom prst="rect">
            <a:avLst/>
          </a:prstGeom>
        </p:spPr>
      </p:pic>
      <p:pic>
        <p:nvPicPr>
          <p:cNvPr id="3" name="Picture 2" descr="Image showing extract values to points result"/>
          <p:cNvPicPr>
            <a:picLocks noChangeAspect="1"/>
          </p:cNvPicPr>
          <p:nvPr/>
        </p:nvPicPr>
        <p:blipFill>
          <a:blip r:embed="rId5"/>
          <a:stretch>
            <a:fillRect/>
          </a:stretch>
        </p:blipFill>
        <p:spPr>
          <a:xfrm>
            <a:off x="3786818" y="3006204"/>
            <a:ext cx="450301" cy="2064367"/>
          </a:xfrm>
          <a:prstGeom prst="rect">
            <a:avLst/>
          </a:prstGeom>
        </p:spPr>
      </p:pic>
      <p:pic>
        <p:nvPicPr>
          <p:cNvPr id="7" name="Picture 6" descr="Image showing extract values to points result"/>
          <p:cNvPicPr>
            <a:picLocks noChangeAspect="1"/>
          </p:cNvPicPr>
          <p:nvPr/>
        </p:nvPicPr>
        <p:blipFill>
          <a:blip r:embed="rId6">
            <a:clrChange>
              <a:clrFrom>
                <a:srgbClr val="FFFFFF"/>
              </a:clrFrom>
              <a:clrTo>
                <a:srgbClr val="FFFFFF">
                  <a:alpha val="0"/>
                </a:srgbClr>
              </a:clrTo>
            </a:clrChange>
          </a:blip>
          <a:stretch>
            <a:fillRect/>
          </a:stretch>
        </p:blipFill>
        <p:spPr>
          <a:xfrm>
            <a:off x="4609282" y="2263418"/>
            <a:ext cx="3006750" cy="2646377"/>
          </a:xfrm>
          <a:prstGeom prst="rect">
            <a:avLst/>
          </a:prstGeom>
        </p:spPr>
      </p:pic>
      <p:cxnSp>
        <p:nvCxnSpPr>
          <p:cNvPr id="8" name="Straight Connector 7">
            <a:extLst>
              <a:ext uri="{FF2B5EF4-FFF2-40B4-BE49-F238E27FC236}">
                <a16:creationId xmlns:a16="http://schemas.microsoft.com/office/drawing/2014/main" id="{E1353F28-658E-4480-81AB-FE96EF8FD40C}"/>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1040C803-A237-48AA-8481-5E68E13C7B9A}"/>
              </a:ext>
            </a:extLst>
          </p:cNvPr>
          <p:cNvSpPr txBox="1">
            <a:spLocks/>
          </p:cNvSpPr>
          <p:nvPr/>
        </p:nvSpPr>
        <p:spPr>
          <a:xfrm>
            <a:off x="76200" y="290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Extract Values to Points</a:t>
            </a:r>
            <a:endParaRPr lang="en-US" sz="2600" dirty="0">
              <a:solidFill>
                <a:srgbClr val="7030A0"/>
              </a:solidFill>
            </a:endParaRPr>
          </a:p>
        </p:txBody>
      </p:sp>
    </p:spTree>
    <p:extLst>
      <p:ext uri="{BB962C8B-B14F-4D97-AF65-F5344CB8AC3E}">
        <p14:creationId xmlns:p14="http://schemas.microsoft.com/office/powerpoint/2010/main" val="1649890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custDataLst>
              <p:tags r:id="rId1"/>
            </p:custDataLst>
          </p:nvPr>
        </p:nvSpPr>
        <p:spPr>
          <a:xfrm>
            <a:off x="1773485" y="2140353"/>
            <a:ext cx="5063414" cy="862793"/>
          </a:xfrm>
        </p:spPr>
        <p:txBody>
          <a:bodyPr>
            <a:normAutofit/>
          </a:bodyPr>
          <a:lstStyle/>
          <a:p>
            <a:pPr algn="ctr"/>
            <a:r>
              <a:rPr lang="en-US" dirty="0"/>
              <a:t>Neighborhood function</a:t>
            </a:r>
            <a:br>
              <a:rPr lang="en-US" dirty="0"/>
            </a:br>
            <a:r>
              <a:rPr lang="en-US" dirty="0"/>
              <a:t>Estimating Densities</a:t>
            </a:r>
          </a:p>
        </p:txBody>
      </p:sp>
      <p:sp>
        <p:nvSpPr>
          <p:cNvPr id="2" name="Slide Number Placeholder 1">
            <a:extLst>
              <a:ext uri="{FF2B5EF4-FFF2-40B4-BE49-F238E27FC236}">
                <a16:creationId xmlns:a16="http://schemas.microsoft.com/office/drawing/2014/main" id="{39B9687A-C581-47D1-AADE-81B494AC5C1B}"/>
              </a:ext>
            </a:extLst>
          </p:cNvPr>
          <p:cNvSpPr>
            <a:spLocks noGrp="1"/>
          </p:cNvSpPr>
          <p:nvPr>
            <p:ph type="sldNum" sz="quarter" idx="12"/>
          </p:nvPr>
        </p:nvSpPr>
        <p:spPr/>
        <p:txBody>
          <a:bodyPr/>
          <a:lstStyle/>
          <a:p>
            <a:fld id="{127DDC20-79C9-9647-820E-6D40A3D210C3}" type="slidenum">
              <a:rPr lang="en-US" smtClean="0"/>
              <a:pPr/>
              <a:t>20</a:t>
            </a:fld>
            <a:endParaRPr lang="en-US"/>
          </a:p>
        </p:txBody>
      </p:sp>
    </p:spTree>
    <p:extLst>
      <p:ext uri="{BB962C8B-B14F-4D97-AF65-F5344CB8AC3E}">
        <p14:creationId xmlns:p14="http://schemas.microsoft.com/office/powerpoint/2010/main" val="2026771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76200" y="1270831"/>
            <a:ext cx="4416321" cy="3571697"/>
          </a:xfrm>
        </p:spPr>
        <p:txBody>
          <a:bodyPr>
            <a:normAutofit/>
          </a:bodyPr>
          <a:lstStyle/>
          <a:p>
            <a:pPr>
              <a:buFont typeface="Courier New" panose="02070309020205020404" pitchFamily="49" charset="0"/>
              <a:buChar char="o"/>
            </a:pPr>
            <a:r>
              <a:rPr lang="en-US" dirty="0"/>
              <a:t>Calculates the magnitude per unit area for point or line features that fall within a neighborhood around each cell</a:t>
            </a:r>
          </a:p>
          <a:p>
            <a:pPr>
              <a:buFont typeface="Courier New" panose="02070309020205020404" pitchFamily="49" charset="0"/>
              <a:buChar char="o"/>
            </a:pPr>
            <a:r>
              <a:rPr lang="en-US" dirty="0"/>
              <a:t>Line length/area</a:t>
            </a:r>
          </a:p>
          <a:p>
            <a:pPr>
              <a:buFont typeface="Courier New" panose="02070309020205020404" pitchFamily="49" charset="0"/>
              <a:buChar char="o"/>
            </a:pPr>
            <a:r>
              <a:rPr lang="en-US" dirty="0"/>
              <a:t>Number of points/area</a:t>
            </a:r>
          </a:p>
          <a:p>
            <a:pPr>
              <a:buFont typeface="Courier New" panose="02070309020205020404" pitchFamily="49" charset="0"/>
              <a:buChar char="o"/>
            </a:pPr>
            <a:r>
              <a:rPr lang="en-US" dirty="0"/>
              <a:t>Can incorporate weights</a:t>
            </a:r>
          </a:p>
          <a:p>
            <a:pPr>
              <a:buFont typeface="Courier New" panose="02070309020205020404" pitchFamily="49" charset="0"/>
              <a:buChar char="o"/>
            </a:pPr>
            <a:r>
              <a:rPr lang="en-US" dirty="0"/>
              <a:t>Must specify neighborhood shape and size</a:t>
            </a:r>
          </a:p>
        </p:txBody>
      </p:sp>
      <p:sp>
        <p:nvSpPr>
          <p:cNvPr id="3" name="Slide Number Placeholder 2">
            <a:extLst>
              <a:ext uri="{FF2B5EF4-FFF2-40B4-BE49-F238E27FC236}">
                <a16:creationId xmlns:a16="http://schemas.microsoft.com/office/drawing/2014/main" id="{B2859021-020C-4941-861A-9F64033F5963}"/>
              </a:ext>
            </a:extLst>
          </p:cNvPr>
          <p:cNvSpPr>
            <a:spLocks noGrp="1"/>
          </p:cNvSpPr>
          <p:nvPr>
            <p:ph type="sldNum" sz="quarter" idx="12"/>
          </p:nvPr>
        </p:nvSpPr>
        <p:spPr/>
        <p:txBody>
          <a:bodyPr/>
          <a:lstStyle/>
          <a:p>
            <a:fld id="{127DDC20-79C9-9647-820E-6D40A3D210C3}" type="slidenum">
              <a:rPr lang="en-US" smtClean="0"/>
              <a:pPr/>
              <a:t>21</a:t>
            </a:fld>
            <a:endParaRPr lang="en-US"/>
          </a:p>
        </p:txBody>
      </p:sp>
      <p:pic>
        <p:nvPicPr>
          <p:cNvPr id="2" name="Picture 1" descr="Image showing point density"/>
          <p:cNvPicPr>
            <a:picLocks noChangeAspect="1"/>
          </p:cNvPicPr>
          <p:nvPr/>
        </p:nvPicPr>
        <p:blipFill>
          <a:blip r:embed="rId4">
            <a:clrChange>
              <a:clrFrom>
                <a:srgbClr val="FFFFFF"/>
              </a:clrFrom>
              <a:clrTo>
                <a:srgbClr val="FFFFFF">
                  <a:alpha val="0"/>
                </a:srgbClr>
              </a:clrTo>
            </a:clrChange>
          </a:blip>
          <a:stretch>
            <a:fillRect/>
          </a:stretch>
        </p:blipFill>
        <p:spPr>
          <a:xfrm>
            <a:off x="4526388" y="1645679"/>
            <a:ext cx="3413221" cy="2530618"/>
          </a:xfrm>
          <a:prstGeom prst="rect">
            <a:avLst/>
          </a:prstGeom>
        </p:spPr>
      </p:pic>
      <p:cxnSp>
        <p:nvCxnSpPr>
          <p:cNvPr id="6" name="Straight Connector 5">
            <a:extLst>
              <a:ext uri="{FF2B5EF4-FFF2-40B4-BE49-F238E27FC236}">
                <a16:creationId xmlns:a16="http://schemas.microsoft.com/office/drawing/2014/main" id="{EC32DE7A-6065-42D5-B4DF-292FB678F587}"/>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28EF89F4-54D1-4570-A08C-C704E50F2DB3}"/>
              </a:ext>
            </a:extLst>
          </p:cNvPr>
          <p:cNvSpPr txBox="1">
            <a:spLocks/>
          </p:cNvSpPr>
          <p:nvPr/>
        </p:nvSpPr>
        <p:spPr>
          <a:xfrm>
            <a:off x="76200" y="290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Point Density/ Line Density</a:t>
            </a:r>
            <a:endParaRPr lang="en-US" sz="2600" dirty="0">
              <a:solidFill>
                <a:srgbClr val="7030A0"/>
              </a:solidFill>
            </a:endParaRPr>
          </a:p>
        </p:txBody>
      </p:sp>
    </p:spTree>
    <p:extLst>
      <p:ext uri="{BB962C8B-B14F-4D97-AF65-F5344CB8AC3E}">
        <p14:creationId xmlns:p14="http://schemas.microsoft.com/office/powerpoint/2010/main" val="987665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76200" y="1078717"/>
            <a:ext cx="5164325" cy="1811410"/>
          </a:xfrm>
        </p:spPr>
        <p:txBody>
          <a:bodyPr/>
          <a:lstStyle/>
          <a:p>
            <a:pPr>
              <a:buFont typeface="Courier New" panose="02070309020205020404" pitchFamily="49" charset="0"/>
              <a:buChar char="o"/>
            </a:pPr>
            <a:r>
              <a:rPr lang="en-US" dirty="0"/>
              <a:t>Fits a kernel function to estimate density</a:t>
            </a:r>
          </a:p>
        </p:txBody>
      </p:sp>
      <p:sp>
        <p:nvSpPr>
          <p:cNvPr id="2" name="Slide Number Placeholder 1">
            <a:extLst>
              <a:ext uri="{FF2B5EF4-FFF2-40B4-BE49-F238E27FC236}">
                <a16:creationId xmlns:a16="http://schemas.microsoft.com/office/drawing/2014/main" id="{B6E62AE7-7D3D-4FE6-8D05-F27C0F76CB9D}"/>
              </a:ext>
            </a:extLst>
          </p:cNvPr>
          <p:cNvSpPr>
            <a:spLocks noGrp="1"/>
          </p:cNvSpPr>
          <p:nvPr>
            <p:ph type="sldNum" sz="quarter" idx="12"/>
          </p:nvPr>
        </p:nvSpPr>
        <p:spPr/>
        <p:txBody>
          <a:bodyPr/>
          <a:lstStyle/>
          <a:p>
            <a:fld id="{127DDC20-79C9-9647-820E-6D40A3D210C3}" type="slidenum">
              <a:rPr lang="en-US" smtClean="0"/>
              <a:pPr/>
              <a:t>22</a:t>
            </a:fld>
            <a:endParaRPr lang="en-US"/>
          </a:p>
        </p:txBody>
      </p:sp>
      <p:pic>
        <p:nvPicPr>
          <p:cNvPr id="4" name="Picture 3" descr="Image showing kernel density result"/>
          <p:cNvPicPr>
            <a:picLocks noChangeAspect="1"/>
          </p:cNvPicPr>
          <p:nvPr/>
        </p:nvPicPr>
        <p:blipFill>
          <a:blip r:embed="rId4">
            <a:clrChange>
              <a:clrFrom>
                <a:srgbClr val="FFFFFF"/>
              </a:clrFrom>
              <a:clrTo>
                <a:srgbClr val="FFFFFF">
                  <a:alpha val="0"/>
                </a:srgbClr>
              </a:clrTo>
            </a:clrChange>
          </a:blip>
          <a:stretch>
            <a:fillRect/>
          </a:stretch>
        </p:blipFill>
        <p:spPr>
          <a:xfrm>
            <a:off x="4680732" y="1077037"/>
            <a:ext cx="3228969" cy="2315178"/>
          </a:xfrm>
          <a:prstGeom prst="rect">
            <a:avLst/>
          </a:prstGeom>
        </p:spPr>
      </p:pic>
      <p:pic>
        <p:nvPicPr>
          <p:cNvPr id="7" name="Picture 6" descr="image showing kernel "/>
          <p:cNvPicPr/>
          <p:nvPr/>
        </p:nvPicPr>
        <p:blipFill>
          <a:blip r:embed="rId5"/>
          <a:stretch>
            <a:fillRect/>
          </a:stretch>
        </p:blipFill>
        <p:spPr>
          <a:xfrm>
            <a:off x="330262" y="2396325"/>
            <a:ext cx="4012975" cy="2008202"/>
          </a:xfrm>
          <a:prstGeom prst="rect">
            <a:avLst/>
          </a:prstGeom>
        </p:spPr>
      </p:pic>
      <p:cxnSp>
        <p:nvCxnSpPr>
          <p:cNvPr id="8" name="Straight Connector 7">
            <a:extLst>
              <a:ext uri="{FF2B5EF4-FFF2-40B4-BE49-F238E27FC236}">
                <a16:creationId xmlns:a16="http://schemas.microsoft.com/office/drawing/2014/main" id="{E87B82CD-6CEB-4FF4-B145-4F49D29A7124}"/>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AE1B8FF2-D84D-4306-8BD4-7DF21893A077}"/>
              </a:ext>
            </a:extLst>
          </p:cNvPr>
          <p:cNvSpPr txBox="1">
            <a:spLocks/>
          </p:cNvSpPr>
          <p:nvPr/>
        </p:nvSpPr>
        <p:spPr>
          <a:xfrm>
            <a:off x="76200" y="290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Kernel Density</a:t>
            </a:r>
            <a:endParaRPr lang="en-US" sz="2600" dirty="0">
              <a:solidFill>
                <a:srgbClr val="7030A0"/>
              </a:solidFill>
            </a:endParaRPr>
          </a:p>
        </p:txBody>
      </p:sp>
      <p:pic>
        <p:nvPicPr>
          <p:cNvPr id="10" name="Picture 9" descr="Kernel equation">
            <a:extLst>
              <a:ext uri="{FF2B5EF4-FFF2-40B4-BE49-F238E27FC236}">
                <a16:creationId xmlns:a16="http://schemas.microsoft.com/office/drawing/2014/main" id="{29B3543E-EB10-4FBC-A34C-F65D7FA8D341}"/>
              </a:ext>
            </a:extLst>
          </p:cNvPr>
          <p:cNvPicPr>
            <a:picLocks noChangeAspect="1"/>
          </p:cNvPicPr>
          <p:nvPr/>
        </p:nvPicPr>
        <p:blipFill>
          <a:blip r:embed="rId6"/>
          <a:stretch>
            <a:fillRect/>
          </a:stretch>
        </p:blipFill>
        <p:spPr>
          <a:xfrm>
            <a:off x="4680732" y="3482495"/>
            <a:ext cx="2713440" cy="1421690"/>
          </a:xfrm>
          <a:prstGeom prst="rect">
            <a:avLst/>
          </a:prstGeom>
        </p:spPr>
      </p:pic>
    </p:spTree>
    <p:extLst>
      <p:ext uri="{BB962C8B-B14F-4D97-AF65-F5344CB8AC3E}">
        <p14:creationId xmlns:p14="http://schemas.microsoft.com/office/powerpoint/2010/main" val="2134947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custDataLst>
              <p:tags r:id="rId1"/>
            </p:custDataLst>
          </p:nvPr>
        </p:nvSpPr>
        <p:spPr>
          <a:xfrm>
            <a:off x="3113148" y="2259182"/>
            <a:ext cx="2484463" cy="1138926"/>
          </a:xfrm>
        </p:spPr>
        <p:txBody>
          <a:bodyPr/>
          <a:lstStyle/>
          <a:p>
            <a:r>
              <a:rPr lang="en-US" dirty="0"/>
              <a:t>Mosaic</a:t>
            </a:r>
          </a:p>
        </p:txBody>
      </p:sp>
      <p:sp>
        <p:nvSpPr>
          <p:cNvPr id="2" name="Slide Number Placeholder 1">
            <a:extLst>
              <a:ext uri="{FF2B5EF4-FFF2-40B4-BE49-F238E27FC236}">
                <a16:creationId xmlns:a16="http://schemas.microsoft.com/office/drawing/2014/main" id="{415886E4-0DD4-45F8-9B2F-EEFC87342502}"/>
              </a:ext>
            </a:extLst>
          </p:cNvPr>
          <p:cNvSpPr>
            <a:spLocks noGrp="1"/>
          </p:cNvSpPr>
          <p:nvPr>
            <p:ph type="sldNum" sz="quarter" idx="12"/>
          </p:nvPr>
        </p:nvSpPr>
        <p:spPr/>
        <p:txBody>
          <a:bodyPr/>
          <a:lstStyle/>
          <a:p>
            <a:fld id="{127DDC20-79C9-9647-820E-6D40A3D210C3}" type="slidenum">
              <a:rPr lang="en-US" smtClean="0"/>
              <a:pPr/>
              <a:t>23</a:t>
            </a:fld>
            <a:endParaRPr lang="en-US"/>
          </a:p>
        </p:txBody>
      </p:sp>
    </p:spTree>
    <p:extLst>
      <p:ext uri="{BB962C8B-B14F-4D97-AF65-F5344CB8AC3E}">
        <p14:creationId xmlns:p14="http://schemas.microsoft.com/office/powerpoint/2010/main" val="2348475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139925" y="1197836"/>
            <a:ext cx="4012975" cy="3262310"/>
          </a:xfrm>
        </p:spPr>
        <p:txBody>
          <a:bodyPr>
            <a:normAutofit/>
          </a:bodyPr>
          <a:lstStyle/>
          <a:p>
            <a:pPr>
              <a:buFont typeface="Courier New" panose="02070309020205020404" pitchFamily="49" charset="0"/>
              <a:buChar char="o"/>
            </a:pPr>
            <a:r>
              <a:rPr lang="en-US" dirty="0"/>
              <a:t>Combine single band or multiband raster grids into a single raster</a:t>
            </a:r>
          </a:p>
          <a:p>
            <a:pPr>
              <a:buFont typeface="Courier New" panose="02070309020205020404" pitchFamily="49" charset="0"/>
              <a:buChar char="o"/>
            </a:pPr>
            <a:r>
              <a:rPr lang="en-US" dirty="0"/>
              <a:t>Can be used for all types or raster grids, including images</a:t>
            </a:r>
          </a:p>
        </p:txBody>
      </p:sp>
      <p:sp>
        <p:nvSpPr>
          <p:cNvPr id="2" name="Slide Number Placeholder 1">
            <a:extLst>
              <a:ext uri="{FF2B5EF4-FFF2-40B4-BE49-F238E27FC236}">
                <a16:creationId xmlns:a16="http://schemas.microsoft.com/office/drawing/2014/main" id="{7FCBA26F-9D56-4F7C-8C35-B677CC687CCD}"/>
              </a:ext>
            </a:extLst>
          </p:cNvPr>
          <p:cNvSpPr>
            <a:spLocks noGrp="1"/>
          </p:cNvSpPr>
          <p:nvPr>
            <p:ph type="sldNum" sz="quarter" idx="12"/>
          </p:nvPr>
        </p:nvSpPr>
        <p:spPr/>
        <p:txBody>
          <a:bodyPr/>
          <a:lstStyle/>
          <a:p>
            <a:fld id="{127DDC20-79C9-9647-820E-6D40A3D210C3}" type="slidenum">
              <a:rPr lang="en-US" smtClean="0"/>
              <a:pPr/>
              <a:t>24</a:t>
            </a:fld>
            <a:endParaRPr lang="en-US"/>
          </a:p>
        </p:txBody>
      </p:sp>
      <p:cxnSp>
        <p:nvCxnSpPr>
          <p:cNvPr id="5" name="Straight Connector 4">
            <a:extLst>
              <a:ext uri="{FF2B5EF4-FFF2-40B4-BE49-F238E27FC236}">
                <a16:creationId xmlns:a16="http://schemas.microsoft.com/office/drawing/2014/main" id="{9C673E43-14DD-4BC7-994D-96DDA93D19C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6D93EBFF-FC93-4710-AA3E-2846ADAE9A3B}"/>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Mosaic to New Raster</a:t>
            </a:r>
            <a:endParaRPr lang="en-US" sz="2600" dirty="0">
              <a:solidFill>
                <a:srgbClr val="7030A0"/>
              </a:solidFill>
            </a:endParaRPr>
          </a:p>
        </p:txBody>
      </p:sp>
      <p:pic>
        <p:nvPicPr>
          <p:cNvPr id="1026" name="Picture 2" descr="Mosaic Landsat raster dataset in ArcGIS | Raster, Dataset, Mosaic">
            <a:extLst>
              <a:ext uri="{FF2B5EF4-FFF2-40B4-BE49-F238E27FC236}">
                <a16:creationId xmlns:a16="http://schemas.microsoft.com/office/drawing/2014/main" id="{5427B63E-6A73-4ED9-BCA5-A1354C2B5B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2900" y="1515883"/>
            <a:ext cx="3698391" cy="277379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D3778DE2-0ADF-467F-A170-3944AEF80A96}"/>
              </a:ext>
            </a:extLst>
          </p:cNvPr>
          <p:cNvSpPr txBox="1"/>
          <p:nvPr/>
        </p:nvSpPr>
        <p:spPr>
          <a:xfrm>
            <a:off x="4152900" y="4531972"/>
            <a:ext cx="3361425" cy="246221"/>
          </a:xfrm>
          <a:prstGeom prst="rect">
            <a:avLst/>
          </a:prstGeom>
          <a:noFill/>
        </p:spPr>
        <p:txBody>
          <a:bodyPr wrap="square">
            <a:spAutoFit/>
          </a:bodyPr>
          <a:lstStyle/>
          <a:p>
            <a:r>
              <a:rPr lang="en-US" sz="1000" dirty="0">
                <a:solidFill>
                  <a:srgbClr val="7030A0"/>
                </a:solidFill>
              </a:rPr>
              <a:t>https://www.pinterest.com/pin/326440672980405218/</a:t>
            </a:r>
          </a:p>
        </p:txBody>
      </p:sp>
    </p:spTree>
    <p:extLst>
      <p:ext uri="{BB962C8B-B14F-4D97-AF65-F5344CB8AC3E}">
        <p14:creationId xmlns:p14="http://schemas.microsoft.com/office/powerpoint/2010/main" val="176888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335354" y="1197836"/>
            <a:ext cx="4012975" cy="3262310"/>
          </a:xfrm>
        </p:spPr>
        <p:txBody>
          <a:bodyPr>
            <a:normAutofit/>
          </a:bodyPr>
          <a:lstStyle/>
          <a:p>
            <a:pPr>
              <a:buFont typeface="Courier New" panose="02070309020205020404" pitchFamily="49" charset="0"/>
              <a:buChar char="o"/>
            </a:pPr>
            <a:r>
              <a:rPr lang="en-US" dirty="0"/>
              <a:t>Must specify: file extension, pixel type, cell size, and number of bands</a:t>
            </a:r>
          </a:p>
        </p:txBody>
      </p:sp>
      <p:sp>
        <p:nvSpPr>
          <p:cNvPr id="2" name="Slide Number Placeholder 1">
            <a:extLst>
              <a:ext uri="{FF2B5EF4-FFF2-40B4-BE49-F238E27FC236}">
                <a16:creationId xmlns:a16="http://schemas.microsoft.com/office/drawing/2014/main" id="{0CC4F26B-E820-4606-A48B-D5D33E15993D}"/>
              </a:ext>
            </a:extLst>
          </p:cNvPr>
          <p:cNvSpPr>
            <a:spLocks noGrp="1"/>
          </p:cNvSpPr>
          <p:nvPr>
            <p:ph type="sldNum" sz="quarter" idx="12"/>
          </p:nvPr>
        </p:nvSpPr>
        <p:spPr/>
        <p:txBody>
          <a:bodyPr/>
          <a:lstStyle/>
          <a:p>
            <a:fld id="{127DDC20-79C9-9647-820E-6D40A3D210C3}" type="slidenum">
              <a:rPr lang="en-US" smtClean="0"/>
              <a:pPr/>
              <a:t>25</a:t>
            </a:fld>
            <a:endParaRPr lang="en-US"/>
          </a:p>
        </p:txBody>
      </p:sp>
      <p:pic>
        <p:nvPicPr>
          <p:cNvPr id="4" name="Picture 3" descr="Image showing mosaic to new raster window"/>
          <p:cNvPicPr>
            <a:picLocks noChangeAspect="1"/>
          </p:cNvPicPr>
          <p:nvPr/>
        </p:nvPicPr>
        <p:blipFill>
          <a:blip r:embed="rId4"/>
          <a:stretch>
            <a:fillRect/>
          </a:stretch>
        </p:blipFill>
        <p:spPr>
          <a:xfrm>
            <a:off x="4474939" y="1197836"/>
            <a:ext cx="3249426" cy="3498491"/>
          </a:xfrm>
          <a:prstGeom prst="rect">
            <a:avLst/>
          </a:prstGeom>
        </p:spPr>
      </p:pic>
      <p:cxnSp>
        <p:nvCxnSpPr>
          <p:cNvPr id="5" name="Straight Connector 4">
            <a:extLst>
              <a:ext uri="{FF2B5EF4-FFF2-40B4-BE49-F238E27FC236}">
                <a16:creationId xmlns:a16="http://schemas.microsoft.com/office/drawing/2014/main" id="{9C673E43-14DD-4BC7-994D-96DDA93D19C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6D93EBFF-FC93-4710-AA3E-2846ADAE9A3B}"/>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Mosaic to New Raster</a:t>
            </a:r>
            <a:endParaRPr lang="en-US" sz="2600" dirty="0">
              <a:solidFill>
                <a:srgbClr val="7030A0"/>
              </a:solidFill>
            </a:endParaRPr>
          </a:p>
        </p:txBody>
      </p:sp>
    </p:spTree>
    <p:extLst>
      <p:ext uri="{BB962C8B-B14F-4D97-AF65-F5344CB8AC3E}">
        <p14:creationId xmlns:p14="http://schemas.microsoft.com/office/powerpoint/2010/main" val="2029807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152400" y="1247760"/>
            <a:ext cx="5027170" cy="3498491"/>
          </a:xfrm>
        </p:spPr>
        <p:txBody>
          <a:bodyPr>
            <a:normAutofit/>
          </a:bodyPr>
          <a:lstStyle/>
          <a:p>
            <a:pPr marL="0" indent="0">
              <a:buNone/>
            </a:pPr>
            <a:r>
              <a:rPr lang="en-US" dirty="0"/>
              <a:t>Assigning values at overlapping locations:</a:t>
            </a:r>
          </a:p>
          <a:p>
            <a:pPr>
              <a:buFont typeface="Courier New" panose="02070309020205020404" pitchFamily="49" charset="0"/>
              <a:buChar char="o"/>
            </a:pPr>
            <a:r>
              <a:rPr lang="en-US" b="1" dirty="0">
                <a:solidFill>
                  <a:srgbClr val="E3874F"/>
                </a:solidFill>
              </a:rPr>
              <a:t>FIRST: </a:t>
            </a:r>
            <a:r>
              <a:rPr lang="en-US" dirty="0"/>
              <a:t>The output cell value of the overlapping areas will be the value from the first raster dataset mosaicked into that location.</a:t>
            </a:r>
          </a:p>
          <a:p>
            <a:pPr>
              <a:buFont typeface="Courier New" panose="02070309020205020404" pitchFamily="49" charset="0"/>
              <a:buChar char="o"/>
            </a:pPr>
            <a:r>
              <a:rPr lang="en-US" b="1" dirty="0">
                <a:solidFill>
                  <a:srgbClr val="E3874F"/>
                </a:solidFill>
              </a:rPr>
              <a:t>LAST: </a:t>
            </a:r>
            <a:r>
              <a:rPr lang="en-US" dirty="0"/>
              <a:t>The output cell value of the overlapping areas will be the value from the last raster dataset mosaicked into that location. This is the default.</a:t>
            </a:r>
          </a:p>
          <a:p>
            <a:pPr>
              <a:buFont typeface="Courier New" panose="02070309020205020404" pitchFamily="49" charset="0"/>
              <a:buChar char="o"/>
            </a:pPr>
            <a:r>
              <a:rPr lang="en-US" b="1" dirty="0">
                <a:solidFill>
                  <a:srgbClr val="E3874F"/>
                </a:solidFill>
              </a:rPr>
              <a:t>BLEND: </a:t>
            </a:r>
            <a:r>
              <a:rPr lang="en-US" dirty="0"/>
              <a:t>The output cell value of the overlapping areas will be a horizontally weighted calculation of the values of the cells in the overlapping area.</a:t>
            </a:r>
          </a:p>
          <a:p>
            <a:pPr marL="0" indent="0">
              <a:buNone/>
            </a:pPr>
            <a:endParaRPr lang="en-US" dirty="0"/>
          </a:p>
        </p:txBody>
      </p:sp>
      <p:sp>
        <p:nvSpPr>
          <p:cNvPr id="2" name="Slide Number Placeholder 1">
            <a:extLst>
              <a:ext uri="{FF2B5EF4-FFF2-40B4-BE49-F238E27FC236}">
                <a16:creationId xmlns:a16="http://schemas.microsoft.com/office/drawing/2014/main" id="{80A92426-E6F7-4F34-B93D-468A1362F2F6}"/>
              </a:ext>
            </a:extLst>
          </p:cNvPr>
          <p:cNvSpPr>
            <a:spLocks noGrp="1"/>
          </p:cNvSpPr>
          <p:nvPr>
            <p:ph type="sldNum" sz="quarter" idx="12"/>
          </p:nvPr>
        </p:nvSpPr>
        <p:spPr/>
        <p:txBody>
          <a:bodyPr/>
          <a:lstStyle/>
          <a:p>
            <a:fld id="{127DDC20-79C9-9647-820E-6D40A3D210C3}" type="slidenum">
              <a:rPr lang="en-US" smtClean="0"/>
              <a:pPr/>
              <a:t>26</a:t>
            </a:fld>
            <a:endParaRPr lang="en-US"/>
          </a:p>
        </p:txBody>
      </p:sp>
      <p:pic>
        <p:nvPicPr>
          <p:cNvPr id="5" name="Picture 4" descr="Image showing mosaic results"/>
          <p:cNvPicPr>
            <a:picLocks noChangeAspect="1"/>
          </p:cNvPicPr>
          <p:nvPr/>
        </p:nvPicPr>
        <p:blipFill>
          <a:blip r:embed="rId5">
            <a:clrChange>
              <a:clrFrom>
                <a:srgbClr val="FFFFFF"/>
              </a:clrFrom>
              <a:clrTo>
                <a:srgbClr val="FFFFFF">
                  <a:alpha val="0"/>
                </a:srgbClr>
              </a:clrTo>
            </a:clrChange>
          </a:blip>
          <a:stretch>
            <a:fillRect/>
          </a:stretch>
        </p:blipFill>
        <p:spPr>
          <a:xfrm>
            <a:off x="4838725" y="1366388"/>
            <a:ext cx="3357008" cy="2825088"/>
          </a:xfrm>
          <a:prstGeom prst="rect">
            <a:avLst/>
          </a:prstGeom>
        </p:spPr>
      </p:pic>
      <p:sp>
        <p:nvSpPr>
          <p:cNvPr id="6" name="TextBox 5"/>
          <p:cNvSpPr txBox="1"/>
          <p:nvPr>
            <p:custDataLst>
              <p:tags r:id="rId2"/>
            </p:custDataLst>
          </p:nvPr>
        </p:nvSpPr>
        <p:spPr>
          <a:xfrm>
            <a:off x="5179570" y="4191476"/>
            <a:ext cx="2675317" cy="223203"/>
          </a:xfrm>
          <a:prstGeom prst="rect">
            <a:avLst/>
          </a:prstGeom>
          <a:noFill/>
        </p:spPr>
        <p:txBody>
          <a:bodyPr wrap="square" rtlCol="0">
            <a:spAutoFit/>
          </a:bodyPr>
          <a:lstStyle/>
          <a:p>
            <a:pPr>
              <a:lnSpc>
                <a:spcPct val="90000"/>
              </a:lnSpc>
            </a:pPr>
            <a:r>
              <a:rPr lang="en-US" sz="945" dirty="0"/>
              <a:t>NAIP </a:t>
            </a:r>
            <a:r>
              <a:rPr lang="en-US" sz="945" dirty="0" err="1"/>
              <a:t>Orthophotography</a:t>
            </a:r>
            <a:endParaRPr lang="en-US" sz="945" dirty="0"/>
          </a:p>
        </p:txBody>
      </p:sp>
      <p:cxnSp>
        <p:nvCxnSpPr>
          <p:cNvPr id="7" name="Straight Connector 6">
            <a:extLst>
              <a:ext uri="{FF2B5EF4-FFF2-40B4-BE49-F238E27FC236}">
                <a16:creationId xmlns:a16="http://schemas.microsoft.com/office/drawing/2014/main" id="{8F1464C9-8875-42D7-A332-5856C255297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DEBD524B-0083-4FA8-93CE-E08418175C80}"/>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Mosaic to New Raster</a:t>
            </a:r>
            <a:endParaRPr lang="en-US" sz="2600" dirty="0">
              <a:solidFill>
                <a:srgbClr val="7030A0"/>
              </a:solidFill>
            </a:endParaRPr>
          </a:p>
        </p:txBody>
      </p:sp>
    </p:spTree>
    <p:extLst>
      <p:ext uri="{BB962C8B-B14F-4D97-AF65-F5344CB8AC3E}">
        <p14:creationId xmlns:p14="http://schemas.microsoft.com/office/powerpoint/2010/main" val="3632901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118533" y="1247760"/>
            <a:ext cx="4692617" cy="3498491"/>
          </a:xfrm>
        </p:spPr>
        <p:txBody>
          <a:bodyPr>
            <a:normAutofit/>
          </a:bodyPr>
          <a:lstStyle/>
          <a:p>
            <a:pPr marL="0" indent="0">
              <a:buNone/>
            </a:pPr>
            <a:r>
              <a:rPr lang="en-US" dirty="0"/>
              <a:t>Assigning values at overlapping locations:</a:t>
            </a:r>
          </a:p>
          <a:p>
            <a:pPr>
              <a:buFont typeface="Courier New" panose="02070309020205020404" pitchFamily="49" charset="0"/>
              <a:buChar char="o"/>
            </a:pPr>
            <a:r>
              <a:rPr lang="en-US" b="1" dirty="0">
                <a:solidFill>
                  <a:srgbClr val="E3874F"/>
                </a:solidFill>
              </a:rPr>
              <a:t>MEAN: </a:t>
            </a:r>
            <a:r>
              <a:rPr lang="en-US" dirty="0"/>
              <a:t>The output cell value of the overlapping areas will be the average value of the overlapping cells.</a:t>
            </a:r>
          </a:p>
          <a:p>
            <a:pPr>
              <a:buFont typeface="Courier New" panose="02070309020205020404" pitchFamily="49" charset="0"/>
              <a:buChar char="o"/>
            </a:pPr>
            <a:r>
              <a:rPr lang="en-US" b="1" dirty="0">
                <a:solidFill>
                  <a:srgbClr val="E3874F"/>
                </a:solidFill>
              </a:rPr>
              <a:t>MINIMUM: </a:t>
            </a:r>
            <a:r>
              <a:rPr lang="en-US" dirty="0"/>
              <a:t>The output cell value of the overlapping areas will be the minimum value of the overlapping cells.</a:t>
            </a:r>
          </a:p>
          <a:p>
            <a:pPr>
              <a:buFont typeface="Courier New" panose="02070309020205020404" pitchFamily="49" charset="0"/>
              <a:buChar char="o"/>
            </a:pPr>
            <a:r>
              <a:rPr lang="en-US" b="1" dirty="0">
                <a:solidFill>
                  <a:srgbClr val="E3874F"/>
                </a:solidFill>
              </a:rPr>
              <a:t>MAXIMUM: </a:t>
            </a:r>
            <a:r>
              <a:rPr lang="en-US" dirty="0"/>
              <a:t>The output cell value of the overlapping areas will be the maximum value of the overlapping cells.</a:t>
            </a:r>
          </a:p>
          <a:p>
            <a:pPr>
              <a:buFont typeface="Courier New" panose="02070309020205020404" pitchFamily="49" charset="0"/>
              <a:buChar char="o"/>
            </a:pPr>
            <a:r>
              <a:rPr lang="en-US" b="1" dirty="0">
                <a:solidFill>
                  <a:srgbClr val="E3874F"/>
                </a:solidFill>
              </a:rPr>
              <a:t>SUM: </a:t>
            </a:r>
            <a:r>
              <a:rPr lang="en-US" dirty="0"/>
              <a:t>The output cell value of the overlapping areas will be the total sum of the overlapping cells.</a:t>
            </a:r>
          </a:p>
          <a:p>
            <a:pPr marL="0" indent="0">
              <a:buNone/>
            </a:pPr>
            <a:endParaRPr lang="en-US" dirty="0"/>
          </a:p>
        </p:txBody>
      </p:sp>
      <p:sp>
        <p:nvSpPr>
          <p:cNvPr id="4" name="Slide Number Placeholder 3">
            <a:extLst>
              <a:ext uri="{FF2B5EF4-FFF2-40B4-BE49-F238E27FC236}">
                <a16:creationId xmlns:a16="http://schemas.microsoft.com/office/drawing/2014/main" id="{0876E05A-7D34-4F4F-9446-33BD4F7DF7F6}"/>
              </a:ext>
            </a:extLst>
          </p:cNvPr>
          <p:cNvSpPr>
            <a:spLocks noGrp="1"/>
          </p:cNvSpPr>
          <p:nvPr>
            <p:ph type="sldNum" sz="quarter" idx="12"/>
          </p:nvPr>
        </p:nvSpPr>
        <p:spPr/>
        <p:txBody>
          <a:bodyPr/>
          <a:lstStyle/>
          <a:p>
            <a:fld id="{127DDC20-79C9-9647-820E-6D40A3D210C3}" type="slidenum">
              <a:rPr lang="en-US" smtClean="0"/>
              <a:pPr/>
              <a:t>27</a:t>
            </a:fld>
            <a:endParaRPr lang="en-US"/>
          </a:p>
        </p:txBody>
      </p:sp>
      <p:pic>
        <p:nvPicPr>
          <p:cNvPr id="5" name="Picture 4" descr="Image showing mosaic results"/>
          <p:cNvPicPr>
            <a:picLocks noChangeAspect="1"/>
          </p:cNvPicPr>
          <p:nvPr/>
        </p:nvPicPr>
        <p:blipFill>
          <a:blip r:embed="rId5">
            <a:clrChange>
              <a:clrFrom>
                <a:srgbClr val="FFFFFF"/>
              </a:clrFrom>
              <a:clrTo>
                <a:srgbClr val="FFFFFF">
                  <a:alpha val="0"/>
                </a:srgbClr>
              </a:clrTo>
            </a:clrChange>
          </a:blip>
          <a:stretch>
            <a:fillRect/>
          </a:stretch>
        </p:blipFill>
        <p:spPr>
          <a:xfrm>
            <a:off x="4629284" y="1366388"/>
            <a:ext cx="3357008" cy="2825088"/>
          </a:xfrm>
          <a:prstGeom prst="rect">
            <a:avLst/>
          </a:prstGeom>
        </p:spPr>
      </p:pic>
      <p:sp>
        <p:nvSpPr>
          <p:cNvPr id="6" name="TextBox 5"/>
          <p:cNvSpPr txBox="1"/>
          <p:nvPr>
            <p:custDataLst>
              <p:tags r:id="rId2"/>
            </p:custDataLst>
          </p:nvPr>
        </p:nvSpPr>
        <p:spPr>
          <a:xfrm>
            <a:off x="4970129" y="4191476"/>
            <a:ext cx="2675317" cy="223203"/>
          </a:xfrm>
          <a:prstGeom prst="rect">
            <a:avLst/>
          </a:prstGeom>
          <a:noFill/>
        </p:spPr>
        <p:txBody>
          <a:bodyPr wrap="square" rtlCol="0">
            <a:spAutoFit/>
          </a:bodyPr>
          <a:lstStyle/>
          <a:p>
            <a:pPr>
              <a:lnSpc>
                <a:spcPct val="90000"/>
              </a:lnSpc>
            </a:pPr>
            <a:r>
              <a:rPr lang="en-US" sz="945" dirty="0"/>
              <a:t>NAIP </a:t>
            </a:r>
            <a:r>
              <a:rPr lang="en-US" sz="945" dirty="0" err="1"/>
              <a:t>Orthophotography</a:t>
            </a:r>
            <a:endParaRPr lang="en-US" sz="945" dirty="0"/>
          </a:p>
        </p:txBody>
      </p:sp>
      <p:cxnSp>
        <p:nvCxnSpPr>
          <p:cNvPr id="7" name="Straight Connector 6">
            <a:extLst>
              <a:ext uri="{FF2B5EF4-FFF2-40B4-BE49-F238E27FC236}">
                <a16:creationId xmlns:a16="http://schemas.microsoft.com/office/drawing/2014/main" id="{8F1464C9-8875-42D7-A332-5856C255297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DEBD524B-0083-4FA8-93CE-E08418175C80}"/>
              </a:ext>
            </a:extLst>
          </p:cNvPr>
          <p:cNvSpPr txBox="1">
            <a:spLocks/>
          </p:cNvSpPr>
          <p:nvPr/>
        </p:nvSpPr>
        <p:spPr>
          <a:xfrm>
            <a:off x="118533"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Mosaic to New Raster</a:t>
            </a:r>
            <a:endParaRPr lang="en-US" sz="2600" dirty="0">
              <a:solidFill>
                <a:srgbClr val="7030A0"/>
              </a:solidFill>
            </a:endParaRPr>
          </a:p>
        </p:txBody>
      </p:sp>
      <p:sp>
        <p:nvSpPr>
          <p:cNvPr id="2" name="TextBox 1">
            <a:extLst>
              <a:ext uri="{FF2B5EF4-FFF2-40B4-BE49-F238E27FC236}">
                <a16:creationId xmlns:a16="http://schemas.microsoft.com/office/drawing/2014/main" id="{4EEE639B-7D56-44FD-B9D6-73E12ABC14E6}"/>
              </a:ext>
            </a:extLst>
          </p:cNvPr>
          <p:cNvSpPr txBox="1"/>
          <p:nvPr/>
        </p:nvSpPr>
        <p:spPr>
          <a:xfrm>
            <a:off x="249382" y="4447348"/>
            <a:ext cx="4946072" cy="646331"/>
          </a:xfrm>
          <a:prstGeom prst="rect">
            <a:avLst/>
          </a:prstGeom>
          <a:noFill/>
        </p:spPr>
        <p:txBody>
          <a:bodyPr wrap="square" rtlCol="0">
            <a:spAutoFit/>
          </a:bodyPr>
          <a:lstStyle/>
          <a:p>
            <a:r>
              <a:rPr lang="en-US" dirty="0"/>
              <a:t>Categorical data: first or last are commonly used.</a:t>
            </a:r>
          </a:p>
          <a:p>
            <a:r>
              <a:rPr lang="en-US" dirty="0"/>
              <a:t>Continuous data: All methods are ok</a:t>
            </a:r>
          </a:p>
        </p:txBody>
      </p:sp>
      <p:sp>
        <p:nvSpPr>
          <p:cNvPr id="9" name="TextBox 8">
            <a:extLst>
              <a:ext uri="{FF2B5EF4-FFF2-40B4-BE49-F238E27FC236}">
                <a16:creationId xmlns:a16="http://schemas.microsoft.com/office/drawing/2014/main" id="{AC8DDDB5-2449-4CEB-B4FD-BED5DC197BE2}"/>
              </a:ext>
            </a:extLst>
          </p:cNvPr>
          <p:cNvSpPr txBox="1"/>
          <p:nvPr/>
        </p:nvSpPr>
        <p:spPr>
          <a:xfrm>
            <a:off x="5591053" y="4660352"/>
            <a:ext cx="2193704" cy="369332"/>
          </a:xfrm>
          <a:prstGeom prst="rect">
            <a:avLst/>
          </a:prstGeom>
          <a:noFill/>
        </p:spPr>
        <p:txBody>
          <a:bodyPr wrap="square" rtlCol="0">
            <a:spAutoFit/>
          </a:bodyPr>
          <a:lstStyle/>
          <a:p>
            <a:r>
              <a:rPr lang="en-US" dirty="0">
                <a:solidFill>
                  <a:srgbClr val="FF0000"/>
                </a:solidFill>
              </a:rPr>
              <a:t>Demonstration!</a:t>
            </a:r>
          </a:p>
        </p:txBody>
      </p:sp>
    </p:spTree>
    <p:extLst>
      <p:ext uri="{BB962C8B-B14F-4D97-AF65-F5344CB8AC3E}">
        <p14:creationId xmlns:p14="http://schemas.microsoft.com/office/powerpoint/2010/main" val="2142995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 showing mosaic results"/>
          <p:cNvPicPr>
            <a:picLocks noChangeAspect="1"/>
          </p:cNvPicPr>
          <p:nvPr/>
        </p:nvPicPr>
        <p:blipFill>
          <a:blip r:embed="rId3"/>
          <a:stretch>
            <a:fillRect/>
          </a:stretch>
        </p:blipFill>
        <p:spPr>
          <a:xfrm>
            <a:off x="1691472" y="1402780"/>
            <a:ext cx="4972161" cy="3600685"/>
          </a:xfrm>
          <a:prstGeom prst="rect">
            <a:avLst/>
          </a:prstGeom>
        </p:spPr>
      </p:pic>
      <p:cxnSp>
        <p:nvCxnSpPr>
          <p:cNvPr id="6" name="Straight Connector 5">
            <a:extLst>
              <a:ext uri="{FF2B5EF4-FFF2-40B4-BE49-F238E27FC236}">
                <a16:creationId xmlns:a16="http://schemas.microsoft.com/office/drawing/2014/main" id="{0B2F3FF7-5B64-4C0F-9007-E6470D67D510}"/>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9D381714-2751-4B21-91F7-CAB5E70509CC}"/>
              </a:ext>
            </a:extLst>
          </p:cNvPr>
          <p:cNvSpPr txBox="1">
            <a:spLocks/>
          </p:cNvSpPr>
          <p:nvPr/>
        </p:nvSpPr>
        <p:spPr>
          <a:xfrm>
            <a:off x="76200"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Mosaic Outside of ArcGIS</a:t>
            </a:r>
            <a:endParaRPr lang="en-US" sz="2600" dirty="0">
              <a:solidFill>
                <a:srgbClr val="7030A0"/>
              </a:solidFill>
            </a:endParaRPr>
          </a:p>
        </p:txBody>
      </p:sp>
      <p:sp>
        <p:nvSpPr>
          <p:cNvPr id="8" name="TextBox 7">
            <a:extLst>
              <a:ext uri="{FF2B5EF4-FFF2-40B4-BE49-F238E27FC236}">
                <a16:creationId xmlns:a16="http://schemas.microsoft.com/office/drawing/2014/main" id="{CFECF173-AB9F-4D1C-BC2C-CFE12449794D}"/>
              </a:ext>
            </a:extLst>
          </p:cNvPr>
          <p:cNvSpPr txBox="1"/>
          <p:nvPr/>
        </p:nvSpPr>
        <p:spPr>
          <a:xfrm>
            <a:off x="186019" y="945489"/>
            <a:ext cx="4155140" cy="646331"/>
          </a:xfrm>
          <a:prstGeom prst="rect">
            <a:avLst/>
          </a:prstGeom>
          <a:noFill/>
        </p:spPr>
        <p:txBody>
          <a:bodyPr wrap="square">
            <a:spAutoFit/>
          </a:bodyPr>
          <a:lstStyle/>
          <a:p>
            <a:r>
              <a:rPr lang="en-US" baseline="0" dirty="0" err="1"/>
              <a:t>Erdas</a:t>
            </a:r>
            <a:r>
              <a:rPr lang="en-US" baseline="0" dirty="0"/>
              <a:t> Imagine</a:t>
            </a:r>
          </a:p>
          <a:p>
            <a:r>
              <a:rPr lang="en-US" dirty="0"/>
              <a:t>ENVI</a:t>
            </a:r>
          </a:p>
        </p:txBody>
      </p:sp>
      <p:sp>
        <p:nvSpPr>
          <p:cNvPr id="2" name="Slide Number Placeholder 1">
            <a:extLst>
              <a:ext uri="{FF2B5EF4-FFF2-40B4-BE49-F238E27FC236}">
                <a16:creationId xmlns:a16="http://schemas.microsoft.com/office/drawing/2014/main" id="{292CDAAB-9039-483D-82F2-0966A1E44246}"/>
              </a:ext>
            </a:extLst>
          </p:cNvPr>
          <p:cNvSpPr>
            <a:spLocks noGrp="1"/>
          </p:cNvSpPr>
          <p:nvPr>
            <p:ph type="sldNum" sz="quarter" idx="12"/>
          </p:nvPr>
        </p:nvSpPr>
        <p:spPr/>
        <p:txBody>
          <a:bodyPr/>
          <a:lstStyle/>
          <a:p>
            <a:fld id="{127DDC20-79C9-9647-820E-6D40A3D210C3}" type="slidenum">
              <a:rPr lang="en-US" smtClean="0"/>
              <a:pPr/>
              <a:t>28</a:t>
            </a:fld>
            <a:endParaRPr lang="en-US"/>
          </a:p>
        </p:txBody>
      </p:sp>
    </p:spTree>
    <p:extLst>
      <p:ext uri="{BB962C8B-B14F-4D97-AF65-F5344CB8AC3E}">
        <p14:creationId xmlns:p14="http://schemas.microsoft.com/office/powerpoint/2010/main" val="193172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645780" y="1268983"/>
            <a:ext cx="6751539" cy="2881110"/>
          </a:xfrm>
        </p:spPr>
        <p:txBody>
          <a:bodyPr/>
          <a:lstStyle/>
          <a:p>
            <a:pPr marL="0" indent="0">
              <a:buNone/>
            </a:pPr>
            <a:r>
              <a:rPr lang="en-US" dirty="0"/>
              <a:t>Reduce spatial resolution versions of the data to aid in faster display</a:t>
            </a:r>
          </a:p>
        </p:txBody>
      </p:sp>
      <p:sp>
        <p:nvSpPr>
          <p:cNvPr id="2" name="Slide Number Placeholder 1">
            <a:extLst>
              <a:ext uri="{FF2B5EF4-FFF2-40B4-BE49-F238E27FC236}">
                <a16:creationId xmlns:a16="http://schemas.microsoft.com/office/drawing/2014/main" id="{73DB53C0-04C4-4F14-9A47-0B3E86EDA1A1}"/>
              </a:ext>
            </a:extLst>
          </p:cNvPr>
          <p:cNvSpPr>
            <a:spLocks noGrp="1"/>
          </p:cNvSpPr>
          <p:nvPr>
            <p:ph type="sldNum" sz="quarter" idx="12"/>
          </p:nvPr>
        </p:nvSpPr>
        <p:spPr/>
        <p:txBody>
          <a:bodyPr/>
          <a:lstStyle/>
          <a:p>
            <a:fld id="{127DDC20-79C9-9647-820E-6D40A3D210C3}" type="slidenum">
              <a:rPr lang="en-US" smtClean="0"/>
              <a:pPr/>
              <a:t>29</a:t>
            </a:fld>
            <a:endParaRPr lang="en-US"/>
          </a:p>
        </p:txBody>
      </p:sp>
      <p:pic>
        <p:nvPicPr>
          <p:cNvPr id="4" name="Picture 3" descr="Image showing pyramids window"/>
          <p:cNvPicPr>
            <a:picLocks noChangeAspect="1"/>
          </p:cNvPicPr>
          <p:nvPr/>
        </p:nvPicPr>
        <p:blipFill>
          <a:blip r:embed="rId4"/>
          <a:stretch>
            <a:fillRect/>
          </a:stretch>
        </p:blipFill>
        <p:spPr>
          <a:xfrm>
            <a:off x="442305" y="2709538"/>
            <a:ext cx="2797507" cy="2115815"/>
          </a:xfrm>
          <a:prstGeom prst="rect">
            <a:avLst/>
          </a:prstGeom>
        </p:spPr>
      </p:pic>
      <p:cxnSp>
        <p:nvCxnSpPr>
          <p:cNvPr id="5" name="Straight Connector 4">
            <a:extLst>
              <a:ext uri="{FF2B5EF4-FFF2-40B4-BE49-F238E27FC236}">
                <a16:creationId xmlns:a16="http://schemas.microsoft.com/office/drawing/2014/main" id="{98C5CC8D-2DCC-4BDF-A8EA-BB8DB41DB6B4}"/>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8D786625-FE19-4ED8-92AE-17A1041ABD40}"/>
              </a:ext>
            </a:extLst>
          </p:cNvPr>
          <p:cNvSpPr txBox="1">
            <a:spLocks/>
          </p:cNvSpPr>
          <p:nvPr/>
        </p:nvSpPr>
        <p:spPr>
          <a:xfrm>
            <a:off x="76200" y="430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Pyramids</a:t>
            </a:r>
            <a:endParaRPr lang="en-US" sz="2600" dirty="0">
              <a:solidFill>
                <a:srgbClr val="7030A0"/>
              </a:solidFill>
            </a:endParaRPr>
          </a:p>
        </p:txBody>
      </p:sp>
      <p:pic>
        <p:nvPicPr>
          <p:cNvPr id="10" name="Picture 9" descr="Image showing pyramids result">
            <a:extLst>
              <a:ext uri="{FF2B5EF4-FFF2-40B4-BE49-F238E27FC236}">
                <a16:creationId xmlns:a16="http://schemas.microsoft.com/office/drawing/2014/main" id="{BFA4E23A-C27D-42B5-A26D-830DECC6DDF9}"/>
              </a:ext>
            </a:extLst>
          </p:cNvPr>
          <p:cNvPicPr>
            <a:picLocks noChangeAspect="1"/>
          </p:cNvPicPr>
          <p:nvPr/>
        </p:nvPicPr>
        <p:blipFill>
          <a:blip r:embed="rId5"/>
          <a:stretch>
            <a:fillRect/>
          </a:stretch>
        </p:blipFill>
        <p:spPr>
          <a:xfrm>
            <a:off x="3629788" y="2276476"/>
            <a:ext cx="4157507" cy="2662574"/>
          </a:xfrm>
          <a:prstGeom prst="rect">
            <a:avLst/>
          </a:prstGeom>
        </p:spPr>
      </p:pic>
    </p:spTree>
    <p:extLst>
      <p:ext uri="{BB962C8B-B14F-4D97-AF65-F5344CB8AC3E}">
        <p14:creationId xmlns:p14="http://schemas.microsoft.com/office/powerpoint/2010/main" val="1850808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custDataLst>
              <p:tags r:id="rId1"/>
            </p:custDataLst>
          </p:nvPr>
        </p:nvSpPr>
        <p:spPr>
          <a:xfrm>
            <a:off x="1630337" y="2259182"/>
            <a:ext cx="6173808" cy="1800694"/>
          </a:xfrm>
        </p:spPr>
        <p:txBody>
          <a:bodyPr/>
          <a:lstStyle/>
          <a:p>
            <a:r>
              <a:rPr lang="en-US" dirty="0"/>
              <a:t>Spatial Analysis Tools</a:t>
            </a:r>
          </a:p>
        </p:txBody>
      </p:sp>
      <p:sp>
        <p:nvSpPr>
          <p:cNvPr id="2" name="Slide Number Placeholder 1">
            <a:extLst>
              <a:ext uri="{FF2B5EF4-FFF2-40B4-BE49-F238E27FC236}">
                <a16:creationId xmlns:a16="http://schemas.microsoft.com/office/drawing/2014/main" id="{62AA410D-8445-4D59-A50A-357E2A4A52D8}"/>
              </a:ext>
            </a:extLst>
          </p:cNvPr>
          <p:cNvSpPr>
            <a:spLocks noGrp="1"/>
          </p:cNvSpPr>
          <p:nvPr>
            <p:ph type="sldNum" sz="quarter" idx="12"/>
          </p:nvPr>
        </p:nvSpPr>
        <p:spPr/>
        <p:txBody>
          <a:bodyPr/>
          <a:lstStyle/>
          <a:p>
            <a:fld id="{127DDC20-79C9-9647-820E-6D40A3D210C3}" type="slidenum">
              <a:rPr lang="en-US" smtClean="0"/>
              <a:pPr/>
              <a:t>30</a:t>
            </a:fld>
            <a:endParaRPr lang="en-US"/>
          </a:p>
        </p:txBody>
      </p:sp>
    </p:spTree>
    <p:extLst>
      <p:ext uri="{BB962C8B-B14F-4D97-AF65-F5344CB8AC3E}">
        <p14:creationId xmlns:p14="http://schemas.microsoft.com/office/powerpoint/2010/main" val="3134302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1"/>
            </p:custDataLst>
          </p:nvPr>
        </p:nvSpPr>
        <p:spPr>
          <a:xfrm>
            <a:off x="325823" y="1243584"/>
            <a:ext cx="6173808" cy="2881110"/>
          </a:xfrm>
        </p:spPr>
        <p:txBody>
          <a:bodyPr>
            <a:normAutofit/>
          </a:bodyPr>
          <a:lstStyle/>
          <a:p>
            <a:r>
              <a:rPr lang="en-US" dirty="0"/>
              <a:t>ArcGIS Pro</a:t>
            </a:r>
          </a:p>
          <a:p>
            <a:r>
              <a:rPr lang="en-US" dirty="0"/>
              <a:t>ArcMap</a:t>
            </a:r>
          </a:p>
          <a:p>
            <a:r>
              <a:rPr lang="en-US" dirty="0" err="1"/>
              <a:t>Erdas</a:t>
            </a:r>
            <a:r>
              <a:rPr lang="en-US" dirty="0"/>
              <a:t> Imagine</a:t>
            </a:r>
          </a:p>
          <a:p>
            <a:r>
              <a:rPr lang="en-US" dirty="0"/>
              <a:t>ITT ENVI</a:t>
            </a:r>
          </a:p>
          <a:p>
            <a:r>
              <a:rPr lang="en-US" dirty="0"/>
              <a:t>QGIS/GRASS/SAGA</a:t>
            </a:r>
          </a:p>
          <a:p>
            <a:r>
              <a:rPr lang="en-US" dirty="0"/>
              <a:t>R</a:t>
            </a:r>
          </a:p>
        </p:txBody>
      </p:sp>
      <p:sp>
        <p:nvSpPr>
          <p:cNvPr id="3" name="Slide Number Placeholder 2">
            <a:extLst>
              <a:ext uri="{FF2B5EF4-FFF2-40B4-BE49-F238E27FC236}">
                <a16:creationId xmlns:a16="http://schemas.microsoft.com/office/drawing/2014/main" id="{AA956DFE-CFEC-4586-BDC3-A55499ABCD57}"/>
              </a:ext>
            </a:extLst>
          </p:cNvPr>
          <p:cNvSpPr>
            <a:spLocks noGrp="1"/>
          </p:cNvSpPr>
          <p:nvPr>
            <p:ph type="sldNum" sz="quarter" idx="12"/>
          </p:nvPr>
        </p:nvSpPr>
        <p:spPr/>
        <p:txBody>
          <a:bodyPr/>
          <a:lstStyle/>
          <a:p>
            <a:fld id="{127DDC20-79C9-9647-820E-6D40A3D210C3}" type="slidenum">
              <a:rPr lang="en-US" smtClean="0"/>
              <a:pPr/>
              <a:t>31</a:t>
            </a:fld>
            <a:endParaRPr lang="en-US"/>
          </a:p>
        </p:txBody>
      </p:sp>
      <p:sp>
        <p:nvSpPr>
          <p:cNvPr id="6" name="TextBox 5"/>
          <p:cNvSpPr txBox="1"/>
          <p:nvPr>
            <p:custDataLst>
              <p:tags r:id="rId2"/>
            </p:custDataLst>
          </p:nvPr>
        </p:nvSpPr>
        <p:spPr>
          <a:xfrm>
            <a:off x="3809661" y="4605844"/>
            <a:ext cx="4476011" cy="316690"/>
          </a:xfrm>
          <a:prstGeom prst="rect">
            <a:avLst/>
          </a:prstGeom>
          <a:noFill/>
        </p:spPr>
        <p:txBody>
          <a:bodyPr wrap="square" rtlCol="0">
            <a:spAutoFit/>
          </a:bodyPr>
          <a:lstStyle/>
          <a:p>
            <a:pPr>
              <a:lnSpc>
                <a:spcPct val="90000"/>
              </a:lnSpc>
            </a:pPr>
            <a:r>
              <a:rPr lang="en-US" sz="1620" dirty="0"/>
              <a:t>Logos were obtained from organization websites. </a:t>
            </a:r>
          </a:p>
        </p:txBody>
      </p:sp>
      <p:pic>
        <p:nvPicPr>
          <p:cNvPr id="7" name="Picture 2" descr="Image showing raster analysis too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1764" y="1439885"/>
            <a:ext cx="2270687" cy="101610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0" descr="Image result for ERDAS LOGO"/>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3333" t="18983" r="43810" b="22260"/>
          <a:stretch/>
        </p:blipFill>
        <p:spPr bwMode="auto">
          <a:xfrm>
            <a:off x="6532875" y="1494181"/>
            <a:ext cx="1146904" cy="108041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6" descr="ENVI softwar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08877" y="2837786"/>
            <a:ext cx="1594900" cy="501623"/>
          </a:xfrm>
          <a:prstGeom prst="rect">
            <a:avLst/>
          </a:prstGeom>
          <a:solidFill>
            <a:schemeClr val="tx1"/>
          </a:solidFill>
        </p:spPr>
      </p:pic>
      <p:pic>
        <p:nvPicPr>
          <p:cNvPr id="10" name="Picture 4" descr="QGIS"/>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521187" y="2744624"/>
            <a:ext cx="2308544" cy="68794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Image result"/>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14801" y="3629265"/>
            <a:ext cx="1013749" cy="976578"/>
          </a:xfrm>
          <a:prstGeom prst="rect">
            <a:avLst/>
          </a:prstGeom>
          <a:solidFill>
            <a:schemeClr val="tx1"/>
          </a:solidFill>
        </p:spPr>
      </p:pic>
      <p:pic>
        <p:nvPicPr>
          <p:cNvPr id="12" name="Picture 8" descr="Image result"/>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42711" y="3668089"/>
            <a:ext cx="1922845" cy="91321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4" descr="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64740" y="3584486"/>
            <a:ext cx="1286210" cy="996813"/>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953AB12-22DB-4364-B1EA-BE8E3A8C4420}"/>
              </a:ext>
            </a:extLst>
          </p:cNvPr>
          <p:cNvCxnSpPr/>
          <p:nvPr/>
        </p:nvCxnSpPr>
        <p:spPr>
          <a:xfrm>
            <a:off x="110067"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1638BAF5-B9AB-4B19-9E2D-74435E66F911}"/>
              </a:ext>
            </a:extLst>
          </p:cNvPr>
          <p:cNvSpPr txBox="1">
            <a:spLocks/>
          </p:cNvSpPr>
          <p:nvPr/>
        </p:nvSpPr>
        <p:spPr>
          <a:xfrm>
            <a:off x="76200" y="290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Software Options</a:t>
            </a:r>
            <a:endParaRPr lang="en-US" sz="2600" dirty="0">
              <a:solidFill>
                <a:srgbClr val="7030A0"/>
              </a:solidFill>
            </a:endParaRPr>
          </a:p>
        </p:txBody>
      </p:sp>
    </p:spTree>
    <p:extLst>
      <p:ext uri="{BB962C8B-B14F-4D97-AF65-F5344CB8AC3E}">
        <p14:creationId xmlns:p14="http://schemas.microsoft.com/office/powerpoint/2010/main" val="2005369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Image showing Python"/>
          <p:cNvSpPr>
            <a:spLocks noGrp="1"/>
          </p:cNvSpPr>
          <p:nvPr>
            <p:ph type="title"/>
            <p:custDataLst>
              <p:tags r:id="rId1"/>
            </p:custDataLst>
          </p:nvPr>
        </p:nvSpPr>
        <p:spPr>
          <a:xfrm>
            <a:off x="1027898" y="442001"/>
            <a:ext cx="6173806" cy="689194"/>
          </a:xfrm>
        </p:spPr>
        <p:txBody>
          <a:bodyPr>
            <a:normAutofit/>
          </a:bodyPr>
          <a:lstStyle/>
          <a:p>
            <a:r>
              <a:rPr lang="en-US" dirty="0"/>
              <a:t>Python</a:t>
            </a:r>
          </a:p>
        </p:txBody>
      </p:sp>
      <p:sp>
        <p:nvSpPr>
          <p:cNvPr id="3" name="Slide Number Placeholder 2">
            <a:extLst>
              <a:ext uri="{FF2B5EF4-FFF2-40B4-BE49-F238E27FC236}">
                <a16:creationId xmlns:a16="http://schemas.microsoft.com/office/drawing/2014/main" id="{CDE66BBF-E525-4B04-A94F-E9FD6F32003E}"/>
              </a:ext>
            </a:extLst>
          </p:cNvPr>
          <p:cNvSpPr>
            <a:spLocks noGrp="1"/>
          </p:cNvSpPr>
          <p:nvPr>
            <p:ph type="sldNum" sz="quarter" idx="12"/>
          </p:nvPr>
        </p:nvSpPr>
        <p:spPr/>
        <p:txBody>
          <a:bodyPr/>
          <a:lstStyle/>
          <a:p>
            <a:fld id="{127DDC20-79C9-9647-820E-6D40A3D210C3}" type="slidenum">
              <a:rPr lang="en-US" smtClean="0"/>
              <a:pPr/>
              <a:t>32</a:t>
            </a:fld>
            <a:endParaRPr lang="en-US"/>
          </a:p>
        </p:txBody>
      </p:sp>
      <p:pic>
        <p:nvPicPr>
          <p:cNvPr id="2050" name="Picture 2" descr="Python book"/>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9203" y="1491334"/>
            <a:ext cx="2201991" cy="275248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custDataLst>
              <p:tags r:id="rId2"/>
            </p:custDataLst>
          </p:nvPr>
        </p:nvSpPr>
        <p:spPr>
          <a:xfrm>
            <a:off x="5452459" y="4301941"/>
            <a:ext cx="4113728" cy="279307"/>
          </a:xfrm>
          <a:prstGeom prst="rect">
            <a:avLst/>
          </a:prstGeom>
        </p:spPr>
        <p:txBody>
          <a:bodyPr>
            <a:spAutoFit/>
          </a:bodyPr>
          <a:lstStyle/>
          <a:p>
            <a:r>
              <a:rPr lang="en-US" sz="1215" dirty="0"/>
              <a:t>Script by Jeff Evans</a:t>
            </a:r>
          </a:p>
        </p:txBody>
      </p:sp>
      <p:pic>
        <p:nvPicPr>
          <p:cNvPr id="5" name="Picture 4" descr="Image showing python script."/>
          <p:cNvPicPr>
            <a:picLocks noChangeAspect="1"/>
          </p:cNvPicPr>
          <p:nvPr/>
        </p:nvPicPr>
        <p:blipFill>
          <a:blip r:embed="rId7"/>
          <a:stretch>
            <a:fillRect/>
          </a:stretch>
        </p:blipFill>
        <p:spPr>
          <a:xfrm>
            <a:off x="4783629" y="651784"/>
            <a:ext cx="2870392" cy="3582512"/>
          </a:xfrm>
          <a:prstGeom prst="rect">
            <a:avLst/>
          </a:prstGeom>
        </p:spPr>
      </p:pic>
      <p:sp>
        <p:nvSpPr>
          <p:cNvPr id="7" name="Rectangle 6"/>
          <p:cNvSpPr/>
          <p:nvPr>
            <p:custDataLst>
              <p:tags r:id="rId3"/>
            </p:custDataLst>
          </p:nvPr>
        </p:nvSpPr>
        <p:spPr>
          <a:xfrm>
            <a:off x="410516" y="4346720"/>
            <a:ext cx="4113728" cy="653256"/>
          </a:xfrm>
          <a:prstGeom prst="rect">
            <a:avLst/>
          </a:prstGeom>
        </p:spPr>
        <p:txBody>
          <a:bodyPr>
            <a:spAutoFit/>
          </a:bodyPr>
          <a:lstStyle/>
          <a:p>
            <a:r>
              <a:rPr lang="en-US" sz="1215" dirty="0">
                <a:hlinkClick r:id="rId8"/>
              </a:rPr>
              <a:t>https://esripress.esri.com/display/index.cfm?fuseaction=display&amp;websiteID=276&amp;moduleID=0</a:t>
            </a:r>
            <a:endParaRPr lang="en-US" sz="1215" dirty="0"/>
          </a:p>
          <a:p>
            <a:endParaRPr lang="en-US" sz="1215" dirty="0"/>
          </a:p>
        </p:txBody>
      </p:sp>
    </p:spTree>
    <p:extLst>
      <p:ext uri="{BB962C8B-B14F-4D97-AF65-F5344CB8AC3E}">
        <p14:creationId xmlns:p14="http://schemas.microsoft.com/office/powerpoint/2010/main" val="27186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71305" y="1325254"/>
            <a:ext cx="3286989" cy="830997"/>
          </a:xfrm>
          <a:prstGeom prst="rect">
            <a:avLst/>
          </a:prstGeom>
          <a:noFill/>
        </p:spPr>
        <p:txBody>
          <a:bodyPr wrap="none" lIns="82296" tIns="41148" rIns="82296" bIns="41148">
            <a:spAutoFit/>
          </a:bodyPr>
          <a:lstStyle/>
          <a:p>
            <a:pPr algn="ctr"/>
            <a:r>
              <a:rPr lang="en-US" sz="4860" b="1" spc="180" dirty="0">
                <a:ln w="29210">
                  <a:solidFill>
                    <a:schemeClr val="accent3">
                      <a:tint val="10000"/>
                    </a:schemeClr>
                  </a:solidFill>
                </a:ln>
                <a:solidFill>
                  <a:srgbClr val="008000">
                    <a:alpha val="50000"/>
                  </a:srgbClr>
                </a:solidFill>
                <a:effectLst>
                  <a:innerShdw blurRad="50800" dist="50800" dir="8100000">
                    <a:srgbClr val="7D7D7D">
                      <a:alpha val="73000"/>
                    </a:srgbClr>
                  </a:innerShdw>
                </a:effectLst>
              </a:rPr>
              <a:t>Thank you!</a:t>
            </a:r>
          </a:p>
        </p:txBody>
      </p:sp>
      <p:sp>
        <p:nvSpPr>
          <p:cNvPr id="3" name="Slide Number Placeholder 2">
            <a:extLst>
              <a:ext uri="{FF2B5EF4-FFF2-40B4-BE49-F238E27FC236}">
                <a16:creationId xmlns:a16="http://schemas.microsoft.com/office/drawing/2014/main" id="{863C9EAE-E5B7-4784-94CD-D062E17813E3}"/>
              </a:ext>
            </a:extLst>
          </p:cNvPr>
          <p:cNvSpPr>
            <a:spLocks noGrp="1"/>
          </p:cNvSpPr>
          <p:nvPr>
            <p:ph type="sldNum" sz="quarter" idx="12"/>
          </p:nvPr>
        </p:nvSpPr>
        <p:spPr/>
        <p:txBody>
          <a:bodyPr/>
          <a:lstStyle/>
          <a:p>
            <a:fld id="{127DDC20-79C9-9647-820E-6D40A3D210C3}" type="slidenum">
              <a:rPr lang="en-US" smtClean="0"/>
              <a:pPr/>
              <a:t>33</a:t>
            </a:fld>
            <a:endParaRPr lang="en-US"/>
          </a:p>
        </p:txBody>
      </p:sp>
      <p:pic>
        <p:nvPicPr>
          <p:cNvPr id="6" name="Picture 5" descr="Geography department logo">
            <a:extLst>
              <a:ext uri="{FF2B5EF4-FFF2-40B4-BE49-F238E27FC236}">
                <a16:creationId xmlns:a16="http://schemas.microsoft.com/office/drawing/2014/main" id="{32DE135F-68C6-4911-85BA-92ABB3F9F85C}"/>
              </a:ext>
            </a:extLst>
          </p:cNvPr>
          <p:cNvPicPr/>
          <p:nvPr/>
        </p:nvPicPr>
        <p:blipFill>
          <a:blip r:embed="rId3"/>
          <a:stretch>
            <a:fillRect/>
          </a:stretch>
        </p:blipFill>
        <p:spPr>
          <a:xfrm>
            <a:off x="152400" y="4275667"/>
            <a:ext cx="5915025" cy="758190"/>
          </a:xfrm>
          <a:prstGeom prst="rect">
            <a:avLst/>
          </a:prstGeom>
        </p:spPr>
      </p:pic>
      <p:cxnSp>
        <p:nvCxnSpPr>
          <p:cNvPr id="7" name="Straight Connector 6">
            <a:extLst>
              <a:ext uri="{FF2B5EF4-FFF2-40B4-BE49-F238E27FC236}">
                <a16:creationId xmlns:a16="http://schemas.microsoft.com/office/drawing/2014/main" id="{5ADF13BC-3A5F-4415-94E6-85FAF42998C9}"/>
              </a:ext>
            </a:extLst>
          </p:cNvPr>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52230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7&quot;/&gt;&lt;/TableIndex&gt;&lt;/ShapeTextInfo&gt;"/>
  <p:tag name="HTML_SHAPEINFO" val="&lt;ThreeDShapeInfo&gt;&lt;uuid val=&quot;{A500EF48-AA73-43A9-A54B-DB3935A38C24}&quot;/&gt;&lt;isInvalidForFieldText val=&quot;0&quot;/&gt;&lt;Image&gt;&lt;filename val=&quot;C:\Users\amaxwel6\AppData\Local\Temp\CP8644187751046Session\CPTrustFolder8644187751046\PPTImport8644187799296\data\asimages\{A500EF48-AA73-43A9-A54B-DB3935A38C24}_18.png&quot;/&gt;&lt;left val=&quot;133&quot;/&gt;&lt;top val=&quot;199&quot;/&gt;&lt;width val=&quot;987&quot;/&gt;&lt;height val=&quot;311&quot;/&gt;&lt;hasText val=&quot;1&quot;/&gt;&lt;/Image&gt;&lt;/ThreeDShapeInfo&gt;"/>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1&quot;/&gt;&lt;lineCharCount val=&quot;45&quot;/&gt;&lt;lineCharCount val=&quot;16&quot;/&gt;&lt;lineCharCount val=&quot;1&quot;/&gt;&lt;lineCharCount val=&quot;42&quot;/&gt;&lt;lineCharCount val=&quot;33&quot;/&gt;&lt;lineCharCount val=&quot;1&quot;/&gt;&lt;lineCharCount val=&quot;40&quot;/&gt;&lt;lineCharCount val=&quot;29&quot;/&gt;&lt;lineCharCount val=&quot;1&quot;/&gt;&lt;lineCharCount val=&quot;46&quot;/&gt;&lt;lineCharCount val=&quot;4&quot;/&gt;&lt;/TableIndex&gt;&lt;/ShapeTextInfo&gt;"/>
  <p:tag name="HTML_SHAPEINFO" val="&lt;ThreeDShapeInfo&gt;&lt;uuid val=&quot;{F0EBAAC5-6DD9-47DE-A137-FB1FA70C4C95}&quot;/&gt;&lt;isInvalidForFieldText val=&quot;0&quot;/&gt;&lt;Image&gt;&lt;filename val=&quot;C:\Users\amaxwel6\AppData\Local\Temp\CP8644187751046Session\CPTrustFolder8644187751046\PPTImport8644187799296\data\asimages\{F0EBAAC5-6DD9-47DE-A137-FB1FA70C4C95}_48.png&quot;/&gt;&lt;left val=&quot;151&quot;/&gt;&lt;top val=&quot;188&quot;/&gt;&lt;width val=&quot;564&quot;/&gt;&lt;height val=&quot;507&quot;/&gt;&lt;hasText val=&quot;1&quot;/&gt;&lt;/Image&gt;&lt;/ThreeDShape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TableIndex row=&quot;1&quot; col=&quot;2&quot;&gt;&lt;linesCount val=&quot;1&quot;/&gt;&lt;lineCharCount val=&quot;2&quot;/&gt;&lt;/TableIndex&gt;&lt;TableIndex row=&quot;1&quot; col=&quot;3&quot;&gt;&lt;linesCount val=&quot;1&quot;/&gt;&lt;lineCharCount val=&quot;2&quot;/&gt;&lt;/TableIndex&gt;&lt;TableIndex row=&quot;2&quot; col=&quot;1&quot;&gt;&lt;linesCount val=&quot;1&quot;/&gt;&lt;lineCharCount val=&quot;2&quot;/&gt;&lt;/TableIndex&gt;&lt;TableIndex row=&quot;2&quot; col=&quot;2&quot;&gt;&lt;linesCount val=&quot;1&quot;/&gt;&lt;lineCharCount val=&quot;2&quot;/&gt;&lt;/TableIndex&gt;&lt;TableIndex row=&quot;2&quot; col=&quot;3&quot;&gt;&lt;linesCount val=&quot;1&quot;/&gt;&lt;lineCharCount val=&quot;2&quot;/&gt;&lt;/TableIndex&gt;&lt;TableIndex row=&quot;3&quot; col=&quot;1&quot;&gt;&lt;linesCount val=&quot;1&quot;/&gt;&lt;lineCharCount val=&quot;2&quot;/&gt;&lt;/TableIndex&gt;&lt;TableIndex row=&quot;3&quot; col=&quot;2&quot;&gt;&lt;linesCount val=&quot;1&quot;/&gt;&lt;lineCharCount val=&quot;2&quot;/&gt;&lt;/TableIndex&gt;&lt;TableIndex row=&quot;3&quot; col=&quot;3&quot;&gt;&lt;linesCount val=&quot;1&quot;/&gt;&lt;lineCharCount val=&quot;2&quot;/&gt;&lt;/TableIndex&gt;&lt;/ShapeTextInfo&gt;"/>
  <p:tag name="PRESENTER_SHAPEINFO" val="&lt;ThreeDShapeInfo&gt;&lt;uuid val=&quot;{66D5CD60-466E-404F-A320-BAF59852DCDD}&quot;/&gt;&lt;isInvalidForFieldText val=&quot;0&quot;/&gt;&lt;Image&gt;&lt;filename val=&quot;C:\Users\amaxwel6\AppData\Local\Temp\CP8644187751046Session\CPTrustFolder8644187751046\PPTImport8644187799296\data\asimages\{66D5CD60-466E-404F-A320-BAF59852DCDD}_48.png&quot;/&gt;&lt;left val=&quot;790&quot;/&gt;&lt;top val=&quot;246&quot;/&gt;&lt;width val=&quot;355&quot;/&gt;&lt;height val=&quot;359&quot;/&gt;&lt;hasText val=&quot;1&quot;/&gt;&lt;/Image&gt;&lt;/ThreeDShape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69&quot;/&gt;&lt;lineCharCount val=&quot;24&quot;/&gt;&lt;/TableIndex&gt;&lt;/ShapeTextInfo&gt;"/>
  <p:tag name="HTML_SHAPEINFO" val="&lt;ThreeDShapeInfo&gt;&lt;uuid val=&quot;{F5AECC8D-49C8-48FF-BD53-9F41EBFE61AA}&quot;/&gt;&lt;isInvalidForFieldText val=&quot;0&quot;/&gt;&lt;Image&gt;&lt;filename val=&quot;C:\Users\amaxwel6\AppData\Local\Temp\CP8644187751046Session\CPTrustFolder8644187751046\PPTImport8644187799296\data\asimages\{F5AECC8D-49C8-48FF-BD53-9F41EBFE61AA}_49.png&quot;/&gt;&lt;left val=&quot;149&quot;/&gt;&lt;top val=&quot;190&quot;/&gt;&lt;width val=&quot;971&quot;/&gt;&lt;height val=&quot;457&quot;/&gt;&lt;hasText val=&quot;1&quot;/&gt;&lt;/Image&gt;&lt;/ThreeDShape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69&quot;/&gt;&lt;lineCharCount val=&quot;24&quot;/&gt;&lt;/TableIndex&gt;&lt;/ShapeTextInfo&gt;"/>
  <p:tag name="HTML_SHAPEINFO" val="&lt;ThreeDShapeInfo&gt;&lt;uuid val=&quot;{F5AECC8D-49C8-48FF-BD53-9F41EBFE61AA}&quot;/&gt;&lt;isInvalidForFieldText val=&quot;0&quot;/&gt;&lt;Image&gt;&lt;filename val=&quot;C:\Users\amaxwel6\AppData\Local\Temp\CP8644187751046Session\CPTrustFolder8644187751046\PPTImport8644187799296\data\asimages\{F5AECC8D-49C8-48FF-BD53-9F41EBFE61AA}_49.png&quot;/&gt;&lt;left val=&quot;149&quot;/&gt;&lt;top val=&quot;190&quot;/&gt;&lt;width val=&quot;971&quot;/&gt;&lt;height val=&quot;457&quot;/&gt;&lt;hasText val=&quot;1&quot;/&gt;&lt;/Image&gt;&lt;/ThreeDShape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24&quot;/&gt;&lt;lineCharCount val=&quot;21&quot;/&gt;&lt;lineCharCount val=&quot;30&quot;/&gt;&lt;lineCharCount val=&quot;20&quot;/&gt;&lt;lineCharCount val=&quot;29&quot;/&gt;&lt;lineCharCount val=&quot;27&quot;/&gt;&lt;/TableIndex&gt;&lt;/ShapeTextInfo&gt;"/>
  <p:tag name="HTML_SHAPEINFO" val="&lt;ThreeDShapeInfo&gt;&lt;uuid val=&quot;{B89D749F-7869-4B1F-AF8B-ABA0BA6A9222}&quot;/&gt;&lt;isInvalidForFieldText val=&quot;0&quot;/&gt;&lt;Image&gt;&lt;filename val=&quot;C:\Users\amaxwel6\AppData\Local\Temp\CP8644187751046Session\CPTrustFolder8644187751046\PPTImport8644187799296\data\asimages\{B89D749F-7869-4B1F-AF8B-ABA0BA6A9222}_50.png&quot;/&gt;&lt;left val=&quot;654&quot;/&gt;&lt;top val=&quot;246&quot;/&gt;&lt;width val=&quot;465&quot;/&gt;&lt;height val=&quot;369&quot;/&gt;&lt;hasText val=&quot;1&quot;/&gt;&lt;/Image&gt;&lt;/ThreeDShape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70&quot;/&gt;&lt;lineCharCount val=&quot;16&quot;/&gt;&lt;/TableIndex&gt;&lt;/ShapeTextInfo&gt;"/>
  <p:tag name="HTML_SHAPEINFO" val="&lt;ThreeDShapeInfo&gt;&lt;uuid val=&quot;{35631F5B-C734-4657-8DCA-1E901D3DBEC2}&quot;/&gt;&lt;isInvalidForFieldText val=&quot;0&quot;/&gt;&lt;Image&gt;&lt;filename val=&quot;C:\Users\amaxwel6\AppData\Local\Temp\CP8644187751046Session\CPTrustFolder8644187751046\PPTImport8644187799296\data\asimages\{35631F5B-C734-4657-8DCA-1E901D3DBEC2}_51.png&quot;/&gt;&lt;left val=&quot;149&quot;/&gt;&lt;top val=&quot;190&quot;/&gt;&lt;width val=&quot;971&quot;/&gt;&lt;height val=&quot;457&quot;/&gt;&lt;hasText val=&quot;1&quot;/&gt;&lt;/Image&gt;&lt;/ThreeDShape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 name="HTML_SHAPEINFO" val="&lt;ThreeDShapeInfo&gt;&lt;uuid val=&quot;{81E2520C-F968-4180-8651-0C8C9C3F7323}&quot;/&gt;&lt;isInvalidForFieldText val=&quot;0&quot;/&gt;&lt;Image&gt;&lt;filename val=&quot;C:\Users\amaxwel6\AppData\Local\Temp\CP8644187751046Session\CPTrustFolder8644187751046\PPTImport8644187799296\data\asimages\{81E2520C-F968-4180-8651-0C8C9C3F7323}_51.png&quot;/&gt;&lt;left val=&quot;387&quot;/&gt;&lt;top val=&quot;661&quot;/&gt;&lt;width val=&quot;595&quot;/&gt;&lt;height val=&quot;68&quot;/&gt;&lt;hasText val=&quot;1&quot;/&gt;&lt;/Image&gt;&lt;/ThreeDShape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73&quot;/&gt;&lt;lineCharCount val=&quot;68&quot;/&gt;&lt;lineCharCount val=&quot;29&quot;/&gt;&lt;/TableIndex&gt;&lt;/ShapeTextInfo&gt;"/>
  <p:tag name="HTML_SHAPEINFO" val="&lt;ThreeDShapeInfo&gt;&lt;uuid val=&quot;{0B091A18-9AFF-429A-9569-0FA8CC3F2601}&quot;/&gt;&lt;isInvalidForFieldText val=&quot;0&quot;/&gt;&lt;Image&gt;&lt;filename val=&quot;C:\Users\amaxwel6\AppData\Local\Temp\CP8644187751046Session\CPTrustFolder8644187751046\PPTImport8644187799296\data\asimages\{0B091A18-9AFF-429A-9569-0FA8CC3F2601}_52.png&quot;/&gt;&lt;left val=&quot;149&quot;/&gt;&lt;top val=&quot;190&quot;/&gt;&lt;width val=&quot;971&quot;/&gt;&lt;height val=&quot;457&quot;/&gt;&lt;hasText val=&quot;1&quot;/&gt;&lt;/Image&gt;&lt;/ThreeDShape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2&quot;/&gt;&lt;/TableIndex&gt;&lt;/ShapeTextInfo&gt;"/>
  <p:tag name="HTML_SHAPEINFO" val="&lt;ThreeDShapeInfo&gt;&lt;uuid val=&quot;{6D171EDC-C48D-44BE-8241-B6A501FFAB3F}&quot;/&gt;&lt;isInvalidForFieldText val=&quot;0&quot;/&gt;&lt;Image&gt;&lt;filename val=&quot;C:\Users\amaxwel6\AppData\Local\Temp\CP8644187751046Session\CPTrustFolder8644187751046\PPTImport8644187799296\data\asimages\{6D171EDC-C48D-44BE-8241-B6A501FFAB3F}_52.png&quot;/&gt;&lt;left val=&quot;249&quot;/&gt;&lt;top val=&quot;665&quot;/&gt;&lt;width val=&quot;771&quot;/&gt;&lt;height val=&quot;68&quot;/&gt;&lt;hasText val=&quot;1&quot;/&gt;&lt;/Image&gt;&lt;/ThreeDShape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73&quot;/&gt;&lt;lineCharCount val=&quot;16&quot;/&gt;&lt;/TableIndex&gt;&lt;/ShapeTextInfo&gt;"/>
  <p:tag name="HTML_SHAPEINFO" val="&lt;ThreeDShapeInfo&gt;&lt;uuid val=&quot;{A00F8636-6CBE-4D12-AAFB-F52DE4F68629}&quot;/&gt;&lt;isInvalidForFieldText val=&quot;0&quot;/&gt;&lt;Image&gt;&lt;filename val=&quot;C:\Users\amaxwel6\AppData\Local\Temp\CP8644187751046Session\CPTrustFolder8644187751046\PPTImport8644187799296\data\asimages\{A00F8636-6CBE-4D12-AAFB-F52DE4F68629}_53.png&quot;/&gt;&lt;left val=&quot;149&quot;/&gt;&lt;top val=&quot;190&quot;/&gt;&lt;width val=&quot;973&quot;/&gt;&lt;height val=&quot;457&quot;/&gt;&lt;hasText val=&quot;1&quot;/&gt;&lt;/Image&gt;&lt;/ThreeDShape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73&quot;/&gt;&lt;lineCharCount val=&quot;16&quot;/&gt;&lt;/TableIndex&gt;&lt;/ShapeTextInfo&gt;"/>
  <p:tag name="HTML_SHAPEINFO" val="&lt;ThreeDShapeInfo&gt;&lt;uuid val=&quot;{CB2E30CB-1CC5-46A7-91F0-F30C415F7C1F}&quot;/&gt;&lt;isInvalidForFieldText val=&quot;0&quot;/&gt;&lt;Image&gt;&lt;filename val=&quot;C:\Users\amaxwel6\AppData\Local\Temp\CP8644187751046Session\CPTrustFolder8644187751046\PPTImport8644187799296\data\asimages\{CB2E30CB-1CC5-46A7-91F0-F30C415F7C1F}_54.png&quot;/&gt;&lt;left val=&quot;149&quot;/&gt;&lt;top val=&quot;190&quot;/&gt;&lt;width val=&quot;973&quot;/&gt;&lt;height val=&quot;457&quot;/&gt;&lt;hasText val=&quot;1&quot;/&gt;&lt;/Image&gt;&lt;/ThreeDShape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1&quot;/&gt;&lt;lineCharCount val=&quot;30&quot;/&gt;&lt;lineCharCount val=&quot;34&quot;/&gt;&lt;lineCharCount val=&quot;29&quot;/&gt;&lt;lineCharCount val=&quot;26&quot;/&gt;&lt;/TableIndex&gt;&lt;/ShapeTextInfo&gt;"/>
  <p:tag name="HTML_SHAPEINFO" val="&lt;ThreeDShapeInfo&gt;&lt;uuid val=&quot;{F847C27D-D979-4697-BF5B-D0B80535B331}&quot;/&gt;&lt;isInvalidForFieldText val=&quot;0&quot;/&gt;&lt;Image&gt;&lt;filename val=&quot;C:\Users\amaxwel6\AppData\Local\Temp\CP8644187751046Session\CPTrustFolder8644187751046\PPTImport8644187799296\data\asimages\{F847C27D-D979-4697-BF5B-D0B80535B331}_55.png&quot;/&gt;&lt;left val=&quot;149&quot;/&gt;&lt;top val=&quot;190&quot;/&gt;&lt;width val=&quot;467&quot;/&gt;&lt;height val=&quot;457&quot;/&gt;&lt;hasText val=&quot;1&quot;/&gt;&lt;/Image&gt;&lt;/ThreeDShape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7&quot;/&gt;&lt;/TableIndex&gt;&lt;/ShapeTextInfo&gt;"/>
  <p:tag name="HTML_SHAPEINFO" val="&lt;ThreeDShapeInfo&gt;&lt;uuid val=&quot;{A500EF48-AA73-43A9-A54B-DB3935A38C24}&quot;/&gt;&lt;isInvalidForFieldText val=&quot;0&quot;/&gt;&lt;Image&gt;&lt;filename val=&quot;C:\Users\amaxwel6\AppData\Local\Temp\CP8644187751046Session\CPTrustFolder8644187751046\PPTImport8644187799296\data\asimages\{A500EF48-AA73-43A9-A54B-DB3935A38C24}_18.png&quot;/&gt;&lt;left val=&quot;133&quot;/&gt;&lt;top val=&quot;199&quot;/&gt;&lt;width val=&quot;987&quot;/&gt;&lt;height val=&quot;311&quot;/&gt;&lt;hasText val=&quot;1&quot;/&gt;&lt;/Image&gt;&lt;/ThreeDShape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33&quot;/&gt;&lt;lineCharCount val=&quot;33&quot;/&gt;&lt;lineCharCount val=&quot;30&quot;/&gt;&lt;lineCharCount val=&quot;33&quot;/&gt;&lt;lineCharCount val=&quot;31&quot;/&gt;&lt;lineCharCount val=&quot;31&quot;/&gt;&lt;/TableIndex&gt;&lt;/ShapeTextInfo&gt;"/>
  <p:tag name="HTML_SHAPEINFO" val="&lt;ThreeDShapeInfo&gt;&lt;uuid val=&quot;{F32BD2F6-7719-4818-BC18-957AA27E8781}&quot;/&gt;&lt;isInvalidForFieldText val=&quot;0&quot;/&gt;&lt;Image&gt;&lt;filename val=&quot;C:\Users\amaxwel6\AppData\Local\Temp\CP8644187751046Session\CPTrustFolder8644187751046\PPTImport8644187799296\data\asimages\{F32BD2F6-7719-4818-BC18-957AA27E8781}_57.png&quot;/&gt;&lt;left val=&quot;21&quot;/&gt;&lt;top val=&quot;198&quot;/&gt;&lt;width val=&quot;475&quot;/&gt;&lt;height val=&quot;457&quot;/&gt;&lt;hasText val=&quot;1&quot;/&gt;&lt;/Image&gt;&lt;/ThreeDShape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1&quot;/&gt;&lt;lineCharCount val=&quot;33&quot;/&gt;&lt;lineCharCount val=&quot;33&quot;/&gt;&lt;lineCharCount val=&quot;30&quot;/&gt;&lt;lineCharCount val=&quot;33&quot;/&gt;&lt;lineCharCount val=&quot;36&quot;/&gt;&lt;lineCharCount val=&quot;32&quot;/&gt;&lt;lineCharCount val=&quot;27&quot;/&gt;&lt;lineCharCount val=&quot;32&quot;/&gt;&lt;lineCharCount val=&quot;12&quot;/&gt;&lt;lineCharCount val=&quot;31&quot;/&gt;&lt;lineCharCount val=&quot;29&quot;/&gt;&lt;/TableIndex&gt;&lt;/ShapeTextInfo&gt;"/>
  <p:tag name="HTML_SHAPEINFO" val="&lt;ThreeDShapeInfo&gt;&lt;uuid val=&quot;{A34D3572-A4DF-4EA7-90BA-9655702B257F}&quot;/&gt;&lt;isInvalidForFieldText val=&quot;0&quot;/&gt;&lt;Image&gt;&lt;filename val=&quot;C:\Users\amaxwel6\AppData\Local\Temp\CP8644187751046Session\CPTrustFolder8644187751046\PPTImport8644187799296\data\asimages\{A34D3572-A4DF-4EA7-90BA-9655702B257F}_58.png&quot;/&gt;&lt;left val=&quot;21&quot;/&gt;&lt;top val=&quot;198&quot;/&gt;&lt;width val=&quot;485&quot;/&gt;&lt;height val=&quot;461&quot;/&gt;&lt;hasText val=&quot;1&quot;/&gt;&lt;/Image&gt;&lt;/ThreeDShapeInfo&gt;"/>
</p:tagLst>
</file>

<file path=ppt/tags/tag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0&quot;/&gt;&lt;/TableIndex&gt;&lt;/ShapeTextInfo&gt;"/>
  <p:tag name="HTML_SHAPEINFO" val="&lt;ThreeDShapeInfo&gt;&lt;uuid val=&quot;{F400A61F-60CE-4EF8-9EE7-FBFF3F0F4556}&quot;/&gt;&lt;isInvalidForFieldText val=&quot;0&quot;/&gt;&lt;Image&gt;&lt;filename val=&quot;C:\Users\amaxwel6\AppData\Local\Temp\CP8644187751046Session\CPTrustFolder8644187751046\PPTImport8644187799296\data\asimages\{F400A61F-60CE-4EF8-9EE7-FBFF3F0F4556}_58.png&quot;/&gt;&lt;left val=&quot;685&quot;/&gt;&lt;top val=&quot;550&quot;/&gt;&lt;width val=&quot;483&quot;/&gt;&lt;height val=&quot;68&quot;/&gt;&lt;hasText val=&quot;1&quot;/&gt;&lt;/Image&gt;&lt;/ThreeDShapeInfo&gt;"/>
</p:tagLst>
</file>

<file path=ppt/tags/tag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2&quot;/&gt;&lt;lineCharCount val=&quot;25&quot;/&gt;&lt;lineCharCount val=&quot;16&quot;/&gt;&lt;lineCharCount val=&quot;19&quot;/&gt;&lt;lineCharCount val=&quot;23&quot;/&gt;&lt;lineCharCount val=&quot;22&quot;/&gt;&lt;lineCharCount val=&quot;25&quot;/&gt;&lt;lineCharCount val=&quot;6&quot;/&gt;&lt;lineCharCount val=&quot;24&quot;/&gt;&lt;lineCharCount val=&quot;10&quot;/&gt;&lt;lineCharCount val=&quot;22&quot;/&gt;&lt;lineCharCount val=&quot;25&quot;/&gt;&lt;lineCharCount val=&quot;13&quot;/&gt;&lt;/TableIndex&gt;&lt;/ShapeTextInfo&gt;"/>
  <p:tag name="HTML_SHAPEINFO" val="&lt;ThreeDShapeInfo&gt;&lt;uuid val=&quot;{C4A6E2B3-D777-4803-86C9-2AF5D55EEA24}&quot;/&gt;&lt;isInvalidForFieldText val=&quot;0&quot;/&gt;&lt;Image&gt;&lt;filename val=&quot;C:\Users\amaxwel6\AppData\Local\Temp\CP8644187751046Session\CPTrustFolder8644187751046\PPTImport8644187799296\data\asimages\{C4A6E2B3-D777-4803-86C9-2AF5D55EEA24}_59.png&quot;/&gt;&lt;left val=&quot;61&quot;/&gt;&lt;top val=&quot;187&quot;/&gt;&lt;width val=&quot;361&quot;/&gt;&lt;height val=&quot;460&quot;/&gt;&lt;hasText val=&quot;1&quot;/&gt;&lt;/Image&gt;&lt;/ThreeDShapeInfo&gt;"/>
</p:tagLst>
</file>

<file path=ppt/tags/tag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8&quot;/&gt;&lt;/TableIndex&gt;&lt;/ShapeTextInfo&gt;"/>
  <p:tag name="HTML_SHAPEINFO" val="&lt;ThreeDShapeInfo&gt;&lt;uuid val=&quot;{95751C02-AAB8-4885-8ACB-89281701F8C9}&quot;/&gt;&lt;isInvalidForFieldText val=&quot;0&quot;/&gt;&lt;Image&gt;&lt;filename val=&quot;C:\Users\amaxwel6\AppData\Local\Temp\CP8644187751046Session\CPTrustFolder8644187751046\PPTImport8644187799296\data\asimages\{95751C02-AAB8-4885-8ACB-89281701F8C9}_59.png&quot;/&gt;&lt;left val=&quot;685&quot;/&gt;&lt;top val=&quot;550&quot;/&gt;&lt;width val=&quot;483&quot;/&gt;&lt;height val=&quot;68&quot;/&gt;&lt;hasText val=&quot;1&quot;/&gt;&lt;/Image&gt;&lt;/ThreeDShapeInfo&gt;"/>
</p:tagLst>
</file>

<file path=ppt/tags/tag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75&quot;/&gt;&lt;lineCharCount val=&quot;6&quot;/&gt;&lt;lineCharCount val=&quot;73&quot;/&gt;&lt;lineCharCount val=&quot;5&quot;/&gt;&lt;/TableIndex&gt;&lt;/ShapeTextInfo&gt;"/>
  <p:tag name="HTML_SHAPEINFO" val="&lt;ThreeDShapeInfo&gt;&lt;uuid val=&quot;{ABD07564-5186-41C9-A87E-639876156EAD}&quot;/&gt;&lt;isInvalidForFieldText val=&quot;0&quot;/&gt;&lt;Image&gt;&lt;filename val=&quot;C:\Users\amaxwel6\AppData\Local\Temp\CP8644187751046Session\CPTrustFolder8644187751046\PPTImport8644187799296\data\asimages\{ABD07564-5186-41C9-A87E-639876156EAD}_60.png&quot;/&gt;&lt;left val=&quot;149&quot;/&gt;&lt;top val=&quot;190&quot;/&gt;&lt;width val=&quot;986&quot;/&gt;&lt;height val=&quot;457&quot;/&gt;&lt;hasText val=&quot;1&quot;/&gt;&lt;/Image&gt;&lt;/ThreeDShapeInfo&gt;"/>
</p:tagLst>
</file>

<file path=ppt/tags/tag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HTML_SHAPEINFO" val="&lt;ThreeDShapeInfo&gt;&lt;uuid val=&quot;{DB37579F-E818-4B8A-A43A-64718BA3AAE6}&quot;/&gt;&lt;isInvalidForFieldText val=&quot;0&quot;/&gt;&lt;Image&gt;&lt;filename val=&quot;C:\Users\amaxwel6\AppData\Local\Temp\CP8644187751046Session\CPTrustFolder8644187751046\PPTImport8644187799296\data\asimages\{DB37579F-E818-4B8A-A43A-64718BA3AAE6}_61.png&quot;/&gt;&lt;left val=&quot;133&quot;/&gt;&lt;top val=&quot;199&quot;/&gt;&lt;width val=&quot;987&quot;/&gt;&lt;height val=&quot;311&quot;/&gt;&lt;hasText val=&quot;1&quot;/&gt;&lt;/Image&gt;&lt;/ThreeDShapeInfo&gt;"/>
</p:tagLst>
</file>

<file path=ppt/tags/tag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8&quot;/&gt;&lt;lineCharCount val=&quot;39&quot;/&gt;&lt;lineCharCount val=&quot;44&quot;/&gt;&lt;lineCharCount val=&quot;32&quot;/&gt;&lt;lineCharCount val=&quot;17&quot;/&gt;&lt;lineCharCount val=&quot;22&quot;/&gt;&lt;lineCharCount val=&quot;24&quot;/&gt;&lt;lineCharCount val=&quot;36&quot;/&gt;&lt;lineCharCount val=&quot;4&quot;/&gt;&lt;/TableIndex&gt;&lt;/ShapeTextInfo&gt;"/>
  <p:tag name="HTML_SHAPEINFO" val="&lt;ThreeDShapeInfo&gt;&lt;uuid val=&quot;{786D3F8D-D96F-4F74-AE01-3A2B8244EDCE}&quot;/&gt;&lt;isInvalidForFieldText val=&quot;0&quot;/&gt;&lt;Image&gt;&lt;filename val=&quot;C:\Users\amaxwel6\AppData\Local\Temp\CP8644187751046Session\CPTrustFolder8644187751046\PPTImport8644187799296\data\asimages\{786D3F8D-D96F-4F74-AE01-3A2B8244EDCE}_62.png&quot;/&gt;&lt;left val=&quot;54&quot;/&gt;&lt;top val=&quot;190&quot;/&gt;&lt;width val=&quot;588&quot;/&gt;&lt;height val=&quot;457&quot;/&gt;&lt;hasText val=&quot;1&quot;/&gt;&lt;/Image&gt;&lt;/ThreeDShapeInfo&gt;"/>
</p:tagLst>
</file>

<file path=ppt/tags/tag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2&quot;/&gt;&lt;/TableIndex&gt;&lt;/ShapeTextInfo&gt;"/>
  <p:tag name="HTML_SHAPEINFO" val="&lt;ThreeDShapeInfo&gt;&lt;uuid val=&quot;{E246B4AA-4D6B-4943-920D-53A7C851C0AB}&quot;/&gt;&lt;isInvalidForFieldText val=&quot;0&quot;/&gt;&lt;Image&gt;&lt;filename val=&quot;C:\Users\amaxwel6\AppData\Local\Temp\CP8644187751046Session\CPTrustFolder8644187751046\PPTImport8644187799296\data\asimages\{E246B4AA-4D6B-4943-920D-53A7C851C0AB}_63.png&quot;/&gt;&lt;left val=&quot;149&quot;/&gt;&lt;top val=&quot;190&quot;/&gt;&lt;width val=&quot;971&quot;/&gt;&lt;height val=&quot;457&quot;/&gt;&lt;hasText val=&quot;1&quot;/&gt;&lt;/Image&gt;&lt;/ThreeDShapeInfo&gt;"/>
</p:tagLst>
</file>

<file path=ppt/tags/tag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2&quot;/&gt;&lt;/TableIndex&gt;&lt;/ShapeTextInfo&gt;"/>
  <p:tag name="HTML_SHAPEINFO" val="&lt;ThreeDShapeInfo&gt;&lt;uuid val=&quot;{BB1B369D-BE21-4EF7-B220-FC07979E6D69}&quot;/&gt;&lt;isInvalidForFieldText val=&quot;0&quot;/&gt;&lt;Image&gt;&lt;filename val=&quot;C:\Users\amaxwel6\AppData\Local\Temp\CP8644187751046Session\CPTrustFolder8644187751046\PPTImport8644187799296\data\asimages\{BB1B369D-BE21-4EF7-B220-FC07979E6D69}_65.png&quot;/&gt;&lt;left val=&quot;133&quot;/&gt;&lt;top val=&quot;199&quot;/&gt;&lt;width val=&quot;987&quot;/&gt;&lt;height val=&quot;311&quot;/&gt;&lt;hasText val=&quot;1&quot;/&gt;&lt;/Image&gt;&lt;/ThreeDShapeInfo&gt;"/>
</p:tagLst>
</file>

<file path=ppt/tags/tag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8&quot;/&gt;&lt;lineCharCount val=&quot;23&quot;/&gt;&lt;lineCharCount val=&quot;30&quot;/&gt;&lt;lineCharCount val=&quot;14&quot;/&gt;&lt;lineCharCount val=&quot;36&quot;/&gt;&lt;lineCharCount val=&quot;24&quot;/&gt;&lt;lineCharCount val=&quot;36&quot;/&gt;&lt;lineCharCount val=&quot;31&quot;/&gt;&lt;lineCharCount val=&quot;5&quot;/&gt;&lt;/TableIndex&gt;&lt;/ShapeTextInfo&gt;"/>
  <p:tag name="HTML_SHAPEINFO" val="&lt;ThreeDShapeInfo&gt;&lt;uuid val=&quot;{031AC328-1354-4D60-8701-1E5EB16228D7}&quot;/&gt;&lt;isInvalidForFieldText val=&quot;0&quot;/&gt;&lt;Image&gt;&lt;filename val=&quot;C:\Users\amaxwel6\AppData\Local\Temp\CP8644187751046Session\CPTrustFolder8644187751046\PPTImport8644187799296\data\asimages\{031AC328-1354-4D60-8701-1E5EB16228D7}_9.png&quot;/&gt;&lt;left val=&quot;61&quot;/&gt;&lt;top val=&quot;198&quot;/&gt;&lt;width val=&quot;483&quot;/&gt;&lt;height val=&quot;457&quot;/&gt;&lt;hasText val=&quot;1&quot;/&gt;&lt;/Image&gt;&lt;/ThreeDShapeInfo&gt;"/>
</p:tagLst>
</file>

<file path=ppt/tags/tag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8&quot;/&gt;&lt;lineCharCount val=&quot;23&quot;/&gt;&lt;lineCharCount val=&quot;30&quot;/&gt;&lt;lineCharCount val=&quot;14&quot;/&gt;&lt;lineCharCount val=&quot;36&quot;/&gt;&lt;lineCharCount val=&quot;24&quot;/&gt;&lt;lineCharCount val=&quot;36&quot;/&gt;&lt;lineCharCount val=&quot;31&quot;/&gt;&lt;lineCharCount val=&quot;5&quot;/&gt;&lt;/TableIndex&gt;&lt;/ShapeTextInfo&gt;"/>
  <p:tag name="HTML_SHAPEINFO" val="&lt;ThreeDShapeInfo&gt;&lt;uuid val=&quot;{031AC328-1354-4D60-8701-1E5EB16228D7}&quot;/&gt;&lt;isInvalidForFieldText val=&quot;0&quot;/&gt;&lt;Image&gt;&lt;filename val=&quot;C:\Users\amaxwel6\AppData\Local\Temp\CP8644187751046Session\CPTrustFolder8644187751046\PPTImport8644187799296\data\asimages\{031AC328-1354-4D60-8701-1E5EB16228D7}_9.png&quot;/&gt;&lt;left val=&quot;61&quot;/&gt;&lt;top val=&quot;198&quot;/&gt;&lt;width val=&quot;483&quot;/&gt;&lt;height val=&quot;457&quot;/&gt;&lt;hasText val=&quot;1&quot;/&gt;&lt;/Image&gt;&lt;/ThreeDShapeInfo&gt;"/>
</p:tagLst>
</file>

<file path=ppt/tags/tag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7&quot;/&gt;&lt;lineCharCount val=&quot;43&quot;/&gt;&lt;lineCharCount val=&quot;66&quot;/&gt;&lt;lineCharCount val=&quot;66&quot;/&gt;&lt;lineCharCount val=&quot;65&quot;/&gt;&lt;lineCharCount val=&quot;65&quot;/&gt;&lt;lineCharCount val=&quot;21&quot;/&gt;&lt;lineCharCount val=&quot;64&quot;/&gt;&lt;lineCharCount val=&quot;68&quot;/&gt;&lt;lineCharCount val=&quot;18&quot;/&gt;&lt;lineCharCount val=&quot;65&quot;/&gt;&lt;lineCharCount val=&quot;40&quot;/&gt;&lt;lineCharCount val=&quot;64&quot;/&gt;&lt;lineCharCount val=&quot;44&quot;/&gt;&lt;lineCharCount val=&quot;64&quot;/&gt;&lt;lineCharCount val=&quot;44&quot;/&gt;&lt;lineCharCount val=&quot;64&quot;/&gt;&lt;lineCharCount val=&quot;36&quot;/&gt;&lt;/TableIndex&gt;&lt;/ShapeTextInfo&gt;"/>
  <p:tag name="HTML_SHAPEINFO" val="&lt;ThreeDShapeInfo&gt;&lt;uuid val=&quot;{4B5BB82E-C2B8-4E01-81E1-F275DF2D9608}&quot;/&gt;&lt;isInvalidForFieldText val=&quot;0&quot;/&gt;&lt;Image&gt;&lt;filename val=&quot;C:\Users\amaxwel6\AppData\Local\Temp\CP8644187751046Session\CPTrustFolder8644187751046\PPTImport8644187799296\data\asimages\{4B5BB82E-C2B8-4E01-81E1-F275DF2D9608}_10.png&quot;/&gt;&lt;left val=&quot;35&quot;/&gt;&lt;top val=&quot;166&quot;/&gt;&lt;width val=&quot;641&quot;/&gt;&lt;height val=&quot;554&quot;/&gt;&lt;hasText val=&quot;1&quot;/&gt;&lt;/Image&gt;&lt;/ThreeDShapeInfo&gt;"/>
</p:tagLst>
</file>

<file path=ppt/tags/tag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 name="HTML_SHAPEINFO" val="&lt;ThreeDShapeInfo&gt;&lt;uuid val=&quot;{3D051D82-4022-4A94-9BEC-A831F23D3E9E}&quot;/&gt;&lt;isInvalidForFieldText val=&quot;0&quot;/&gt;&lt;Image&gt;&lt;filename val=&quot;C:\Users\amaxwel6\AppData\Local\Temp\CP8644187751046Session\CPTrustFolder8644187751046\PPTImport8644187799296\data\asimages\{3D051D82-4022-4A94-9BEC-A831F23D3E9E}_10.png&quot;/&gt;&lt;left val=&quot;770&quot;/&gt;&lt;top val=&quot;608&quot;/&gt;&lt;width val=&quot;418&quot;/&gt;&lt;height val=&quot;40&quot;/&gt;&lt;hasText val=&quot;1&quot;/&gt;&lt;/Image&gt;&lt;/ThreeDShapeInfo&gt;"/>
</p:tagLst>
</file>

<file path=ppt/tags/tag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7&quot;/&gt;&lt;lineCharCount val=&quot;43&quot;/&gt;&lt;lineCharCount val=&quot;66&quot;/&gt;&lt;lineCharCount val=&quot;66&quot;/&gt;&lt;lineCharCount val=&quot;65&quot;/&gt;&lt;lineCharCount val=&quot;65&quot;/&gt;&lt;lineCharCount val=&quot;21&quot;/&gt;&lt;lineCharCount val=&quot;64&quot;/&gt;&lt;lineCharCount val=&quot;68&quot;/&gt;&lt;lineCharCount val=&quot;18&quot;/&gt;&lt;lineCharCount val=&quot;65&quot;/&gt;&lt;lineCharCount val=&quot;40&quot;/&gt;&lt;lineCharCount val=&quot;64&quot;/&gt;&lt;lineCharCount val=&quot;44&quot;/&gt;&lt;lineCharCount val=&quot;64&quot;/&gt;&lt;lineCharCount val=&quot;44&quot;/&gt;&lt;lineCharCount val=&quot;64&quot;/&gt;&lt;lineCharCount val=&quot;36&quot;/&gt;&lt;/TableIndex&gt;&lt;/ShapeTextInfo&gt;"/>
  <p:tag name="HTML_SHAPEINFO" val="&lt;ThreeDShapeInfo&gt;&lt;uuid val=&quot;{4B5BB82E-C2B8-4E01-81E1-F275DF2D9608}&quot;/&gt;&lt;isInvalidForFieldText val=&quot;0&quot;/&gt;&lt;Image&gt;&lt;filename val=&quot;C:\Users\amaxwel6\AppData\Local\Temp\CP8644187751046Session\CPTrustFolder8644187751046\PPTImport8644187799296\data\asimages\{4B5BB82E-C2B8-4E01-81E1-F275DF2D9608}_10.png&quot;/&gt;&lt;left val=&quot;35&quot;/&gt;&lt;top val=&quot;166&quot;/&gt;&lt;width val=&quot;641&quot;/&gt;&lt;height val=&quot;554&quot;/&gt;&lt;hasText val=&quot;1&quot;/&gt;&lt;/Image&gt;&lt;/ThreeDShapeInfo&gt;"/>
</p:tagLst>
</file>

<file path=ppt/tags/tag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 name="HTML_SHAPEINFO" val="&lt;ThreeDShapeInfo&gt;&lt;uuid val=&quot;{3D051D82-4022-4A94-9BEC-A831F23D3E9E}&quot;/&gt;&lt;isInvalidForFieldText val=&quot;0&quot;/&gt;&lt;Image&gt;&lt;filename val=&quot;C:\Users\amaxwel6\AppData\Local\Temp\CP8644187751046Session\CPTrustFolder8644187751046\PPTImport8644187799296\data\asimages\{3D051D82-4022-4A94-9BEC-A831F23D3E9E}_10.png&quot;/&gt;&lt;left val=&quot;770&quot;/&gt;&lt;top val=&quot;608&quot;/&gt;&lt;width val=&quot;418&quot;/&gt;&lt;height val=&quot;40&quot;/&gt;&lt;hasText val=&quot;1&quot;/&gt;&lt;/Image&gt;&lt;/ThreeDShapeInfo&gt;"/>
</p:tagLst>
</file>

<file path=ppt/tags/tag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1&quot;/&gt;&lt;/TableIndex&gt;&lt;/ShapeTextInfo&gt;"/>
  <p:tag name="HTML_SHAPEINFO" val="&lt;ThreeDShapeInfo&gt;&lt;uuid val=&quot;{49E2EFDC-4A0E-45A6-AEAC-236526EADE2C}&quot;/&gt;&lt;isInvalidForFieldText val=&quot;0&quot;/&gt;&lt;Image&gt;&lt;filename val=&quot;C:\Users\amaxwel6\AppData\Local\Temp\CP8644187751046Session\CPTrustFolder8644187751046\PPTImport8644187799296\data\asimages\{49E2EFDC-4A0E-45A6-AEAC-236526EADE2C}_13.png&quot;/&gt;&lt;left val=&quot;149&quot;/&gt;&lt;top val=&quot;190&quot;/&gt;&lt;width val=&quot;971&quot;/&gt;&lt;height val=&quot;457&quot;/&gt;&lt;hasText val=&quot;1&quot;/&gt;&lt;/Image&gt;&lt;/ThreeDShapeInfo&gt;"/>
</p:tagLst>
</file>

<file path=ppt/tags/tag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2&quot;/&gt;&lt;/TableIndex&gt;&lt;/ShapeTextInfo&gt;"/>
  <p:tag name="HTML_SHAPEINFO" val="&lt;ThreeDShapeInfo&gt;&lt;uuid val=&quot;{BB1B369D-BE21-4EF7-B220-FC07979E6D69}&quot;/&gt;&lt;isInvalidForFieldText val=&quot;0&quot;/&gt;&lt;Image&gt;&lt;filename val=&quot;C:\Users\amaxwel6\AppData\Local\Temp\CP8644187751046Session\CPTrustFolder8644187751046\PPTImport8644187799296\data\asimages\{BB1B369D-BE21-4EF7-B220-FC07979E6D69}_65.png&quot;/&gt;&lt;left val=&quot;133&quot;/&gt;&lt;top val=&quot;199&quot;/&gt;&lt;width val=&quot;987&quot;/&gt;&lt;height val=&quot;311&quot;/&gt;&lt;hasText val=&quot;1&quot;/&gt;&lt;/Image&gt;&lt;/ThreeDShapeInfo&gt;"/>
</p:tagLst>
</file>

<file path=ppt/tags/tag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11&quot;/&gt;&lt;lineCharCount val=&quot;7&quot;/&gt;&lt;lineCharCount val=&quot;14&quot;/&gt;&lt;lineCharCount val=&quot;9&quot;/&gt;&lt;lineCharCount val=&quot;16&quot;/&gt;&lt;lineCharCount val=&quot;1&quot;/&gt;&lt;/TableIndex&gt;&lt;/ShapeTextInfo&gt;"/>
  <p:tag name="HTML_SHAPEINFO" val="&lt;ThreeDShapeInfo&gt;&lt;uuid val=&quot;{00DECEC6-AA0E-4AEF-8491-220565C9857D}&quot;/&gt;&lt;isInvalidForFieldText val=&quot;0&quot;/&gt;&lt;Image&gt;&lt;filename val=&quot;C:\Users\amaxwel6\AppData\Local\Temp\CP8644187751046Session\CPTrustFolder8644187751046\PPTImport8644187799296\data\asimages\{00DECEC6-AA0E-4AEF-8491-220565C9857D}_66.png&quot;/&gt;&lt;left val=&quot;150&quot;/&gt;&lt;top val=&quot;190&quot;/&gt;&lt;width val=&quot;969&quot;/&gt;&lt;height val=&quot;457&quot;/&gt;&lt;hasText val=&quot;1&quot;/&gt;&lt;/Image&gt;&lt;/ThreeDShapeInfo&gt;"/>
</p:tagLst>
</file>

<file path=ppt/tags/tag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8&quot;/&gt;&lt;/TableIndex&gt;&lt;/ShapeTextInfo&gt;"/>
  <p:tag name="HTML_SHAPEINFO" val="&lt;ThreeDShapeInfo&gt;&lt;uuid val=&quot;{8690C151-5ED6-46DE-BDF0-90D4A38FFDA8}&quot;/&gt;&lt;isInvalidForFieldText val=&quot;0&quot;/&gt;&lt;Image&gt;&lt;filename val=&quot;C:\Users\amaxwel6\AppData\Local\Temp\CP8644187751046Session\CPTrustFolder8644187751046\PPTImport8644187799296\data\asimages\{8690C151-5ED6-46DE-BDF0-90D4A38FFDA8}_66.png&quot;/&gt;&lt;left val=&quot;582&quot;/&gt;&lt;top val=&quot;667&quot;/&gt;&lt;width val=&quot;706&quot;/&gt;&lt;height val=&quot;68&quot;/&gt;&lt;hasText val=&quot;1&quot;/&gt;&lt;/Image&gt;&lt;/ThreeDShapeInfo&gt;"/>
</p:tagLst>
</file>

<file path=ppt/tags/tag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6&quot;/&gt;&lt;/TableIndex&gt;&lt;/ShapeTextInfo&gt;"/>
  <p:tag name="HTML_SHAPEINFO" val="&lt;ThreeDShapeInfo&gt;&lt;uuid val=&quot;{67CF8375-7334-49D5-BB30-D40C4FD351D0}&quot;/&gt;&lt;isInvalidForFieldText val=&quot;0&quot;/&gt;&lt;Image&gt;&lt;filename val=&quot;C:\Users\amaxwel6\AppData\Local\Temp\CP8644187751046Session\CPTrustFolder8644187751046\PPTImport8644187799296\data\asimages\{67CF8375-7334-49D5-BB30-D40C4FD351D0}_67.png&quot;/&gt;&lt;left val=&quot;143&quot;/&gt;&lt;top val=&quot;28&quot;/&gt;&lt;width val=&quot;977&quot;/&gt;&lt;height val=&quot;129&quot;/&gt;&lt;hasText val=&quot;1&quot;/&gt;&lt;/Image&gt;&lt;/ThreeDShapeInfo&gt;"/>
</p:tagLst>
</file>

<file path=ppt/tags/tag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HTML_SHAPEINFO" val="&lt;ThreeDShapeInfo&gt;&lt;uuid val=&quot;{F4B4C0A2-3631-43E9-A65E-3FCCF4F657DE}&quot;/&gt;&lt;isInvalidForFieldText val=&quot;0&quot;/&gt;&lt;Image&gt;&lt;filename val=&quot;C:\Users\amaxwel6\AppData\Local\Temp\CP8644187751046Session\CPTrustFolder8644187751046\PPTImport8644187799296\data\asimages\{F4B4C0A2-3631-43E9-A65E-3FCCF4F657DE}_67.png&quot;/&gt;&lt;left val=&quot;842&quot;/&gt;&lt;top val=&quot;625&quot;/&gt;&lt;width val=&quot;645&quot;/&gt;&lt;height val=&quot;52&quot;/&gt;&lt;hasText val=&quot;1&quot;/&gt;&lt;/Image&gt;&lt;/ThreeDShapeInfo&gt;"/>
</p:tagLst>
</file>

<file path=ppt/tags/tag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62&quot;/&gt;&lt;lineCharCount val=&quot;27&quot;/&gt;&lt;/TableIndex&gt;&lt;/ShapeTextInfo&gt;"/>
  <p:tag name="HTML_SHAPEINFO" val="&lt;ThreeDShapeInfo&gt;&lt;uuid val=&quot;{8DEF29CF-A059-48D1-95F6-42C3FCC2BB76}&quot;/&gt;&lt;isInvalidForFieldText val=&quot;0&quot;/&gt;&lt;Image&gt;&lt;filename val=&quot;C:\Users\amaxwel6\AppData\Local\Temp\CP8644187751046Session\CPTrustFolder8644187751046\PPTImport8644187799296\data\asimages\{8DEF29CF-A059-48D1-95F6-42C3FCC2BB76}_67.png&quot;/&gt;&lt;left val=&quot;58&quot;/&gt;&lt;top val=&quot;632&quot;/&gt;&lt;width val=&quot;645&quot;/&gt;&lt;height val=&quot;100&quot;/&gt;&lt;hasText val=&quot;1&quot;/&gt;&lt;/Image&gt;&lt;/ThreeDShapeInfo&gt;"/>
</p:tagLst>
</file>

<file path=ppt/theme/theme1.xml><?xml version="1.0" encoding="utf-8"?>
<a:theme xmlns:a="http://schemas.openxmlformats.org/drawingml/2006/main" name="7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5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5.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6.xml><?xml version="1.0" encoding="utf-8"?>
<a:theme xmlns:a="http://schemas.openxmlformats.org/drawingml/2006/main" name="6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7.xml><?xml version="1.0" encoding="utf-8"?>
<a:theme xmlns:a="http://schemas.openxmlformats.org/drawingml/2006/main" name="8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Lecture10_GEOG2475_Accuracy</Template>
  <TotalTime>8353</TotalTime>
  <Words>3832</Words>
  <Application>Microsoft Office PowerPoint</Application>
  <PresentationFormat>Custom</PresentationFormat>
  <Paragraphs>371</Paragraphs>
  <Slides>33</Slides>
  <Notes>27</Notes>
  <HiddenSlides>0</HiddenSlides>
  <MMClips>0</MMClips>
  <ScaleCrop>false</ScaleCrop>
  <HeadingPairs>
    <vt:vector size="6" baseType="variant">
      <vt:variant>
        <vt:lpstr>Fonts Used</vt:lpstr>
      </vt:variant>
      <vt:variant>
        <vt:i4>6</vt:i4>
      </vt:variant>
      <vt:variant>
        <vt:lpstr>Theme</vt:lpstr>
      </vt:variant>
      <vt:variant>
        <vt:i4>7</vt:i4>
      </vt:variant>
      <vt:variant>
        <vt:lpstr>Slide Titles</vt:lpstr>
      </vt:variant>
      <vt:variant>
        <vt:i4>33</vt:i4>
      </vt:variant>
    </vt:vector>
  </HeadingPairs>
  <TitlesOfParts>
    <vt:vector size="46" baseType="lpstr">
      <vt:lpstr>Lucida Grande</vt:lpstr>
      <vt:lpstr>Arial Black</vt:lpstr>
      <vt:lpstr>Calibri</vt:lpstr>
      <vt:lpstr>Courier New</vt:lpstr>
      <vt:lpstr>Wingdings</vt:lpstr>
      <vt:lpstr>Wingdings 2</vt:lpstr>
      <vt:lpstr>7_DividendVTI</vt:lpstr>
      <vt:lpstr>5_DividendVTI</vt:lpstr>
      <vt:lpstr>2_DividendVTI</vt:lpstr>
      <vt:lpstr>DividendVTI</vt:lpstr>
      <vt:lpstr>1_DividendVTI</vt:lpstr>
      <vt:lpstr>6_DividendVTI</vt:lpstr>
      <vt:lpstr>8_DividendVTI</vt:lpstr>
      <vt:lpstr>Lecture 13 raster Analysis   lecture</vt:lpstr>
      <vt:lpstr>13.1  raster analysis</vt:lpstr>
      <vt:lpstr>PowerPoint Presentation</vt:lpstr>
      <vt:lpstr>Neighborhood function Raster Generalization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Neighborhood function Raster summarization</vt:lpstr>
      <vt:lpstr>PowerPoint Presentation</vt:lpstr>
      <vt:lpstr>PowerPoint Presentation</vt:lpstr>
      <vt:lpstr>PowerPoint Presentation</vt:lpstr>
      <vt:lpstr>PowerPoint Presentation</vt:lpstr>
      <vt:lpstr>PowerPoint Presentation</vt:lpstr>
      <vt:lpstr>Neighborhood function Estimating Densities</vt:lpstr>
      <vt:lpstr>PowerPoint Presentation</vt:lpstr>
      <vt:lpstr>PowerPoint Presentation</vt:lpstr>
      <vt:lpstr>Mosaic</vt:lpstr>
      <vt:lpstr>PowerPoint Presentation</vt:lpstr>
      <vt:lpstr>PowerPoint Presentation</vt:lpstr>
      <vt:lpstr>PowerPoint Presentation</vt:lpstr>
      <vt:lpstr>PowerPoint Presentation</vt:lpstr>
      <vt:lpstr>PowerPoint Presentation</vt:lpstr>
      <vt:lpstr>PowerPoint Presentation</vt:lpstr>
      <vt:lpstr>Spatial Analysis Tools</vt:lpstr>
      <vt:lpstr>PowerPoint Presentation</vt:lpstr>
      <vt:lpstr>Python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Yanan Wu</cp:lastModifiedBy>
  <cp:revision>588</cp:revision>
  <cp:lastPrinted>2020-03-26T12:59:04Z</cp:lastPrinted>
  <dcterms:created xsi:type="dcterms:W3CDTF">2020-03-24T14:51:54Z</dcterms:created>
  <dcterms:modified xsi:type="dcterms:W3CDTF">2025-11-12T22:24:58Z</dcterms:modified>
</cp:coreProperties>
</file>