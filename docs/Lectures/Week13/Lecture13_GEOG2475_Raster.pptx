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5.xml" ContentType="application/vnd.openxmlformats-officedocument.theme+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heme/theme6.xml" ContentType="application/vnd.openxmlformats-officedocument.theme+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xml" ContentType="application/vnd.openxmlformats-officedocument.presentationml.tags+xml"/>
  <Override PartName="/ppt/notesSlides/notesSlide4.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notesSlides/notesSlide5.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notesSlides/notesSlide6.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notesSlides/notesSlide7.xml" ContentType="application/vnd.openxmlformats-officedocument.presentationml.notesSlide+xml"/>
  <Override PartName="/ppt/tags/tag19.xml" ContentType="application/vnd.openxmlformats-officedocument.presentationml.tags+xml"/>
  <Override PartName="/ppt/notesSlides/notesSlide8.xml" ContentType="application/vnd.openxmlformats-officedocument.presentationml.notesSlid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notesSlides/notesSlide9.xml" ContentType="application/vnd.openxmlformats-officedocument.presentationml.notesSlide+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29.xml" ContentType="application/vnd.openxmlformats-officedocument.presentationml.tags+xml"/>
  <Override PartName="/ppt/notesSlides/notesSlide12.xml" ContentType="application/vnd.openxmlformats-officedocument.presentationml.notesSlide+xml"/>
  <Override PartName="/ppt/tags/tag30.xml" ContentType="application/vnd.openxmlformats-officedocument.presentationml.tags+xml"/>
  <Override PartName="/ppt/notesSlides/notesSlide13.xml" ContentType="application/vnd.openxmlformats-officedocument.presentationml.notesSlide+xml"/>
  <Override PartName="/ppt/tags/tag31.xml" ContentType="application/vnd.openxmlformats-officedocument.presentationml.tags+xml"/>
  <Override PartName="/ppt/notesSlides/notesSlide14.xml" ContentType="application/vnd.openxmlformats-officedocument.presentationml.notesSlide+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notesSlides/notesSlide15.xml" ContentType="application/vnd.openxmlformats-officedocument.presentationml.notesSlide+xml"/>
  <Override PartName="/ppt/tags/tag38.xml" ContentType="application/vnd.openxmlformats-officedocument.presentationml.tags+xml"/>
  <Override PartName="/ppt/tags/tag39.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40.xml" ContentType="application/vnd.openxmlformats-officedocument.presentationml.tags+xml"/>
  <Override PartName="/ppt/notesSlides/notesSlide18.xml" ContentType="application/vnd.openxmlformats-officedocument.presentationml.notesSlide+xml"/>
  <Override PartName="/ppt/tags/tag41.xml" ContentType="application/vnd.openxmlformats-officedocument.presentationml.tags+xml"/>
  <Override PartName="/ppt/notesSlides/notesSlide19.xml" ContentType="application/vnd.openxmlformats-officedocument.presentationml.notesSlide+xml"/>
  <Override PartName="/ppt/tags/tag42.xml" ContentType="application/vnd.openxmlformats-officedocument.presentationml.tag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tags/tag43.xml" ContentType="application/vnd.openxmlformats-officedocument.presentationml.tags+xml"/>
  <Override PartName="/ppt/notesSlides/notesSlide22.xml" ContentType="application/vnd.openxmlformats-officedocument.presentationml.notesSlide+xml"/>
  <Override PartName="/ppt/tags/tag44.xml" ContentType="application/vnd.openxmlformats-officedocument.presentationml.tags+xml"/>
  <Override PartName="/ppt/notesSlides/notesSlide23.xml" ContentType="application/vnd.openxmlformats-officedocument.presentationml.notesSlide+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notesSlides/notesSlide24.xml" ContentType="application/vnd.openxmlformats-officedocument.presentationml.notesSlide+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notesSlides/notesSlide25.xml" ContentType="application/vnd.openxmlformats-officedocument.presentationml.notesSlide+xml"/>
  <Override PartName="/ppt/tags/tag59.xml" ContentType="application/vnd.openxmlformats-officedocument.presentationml.tags+xml"/>
  <Override PartName="/ppt/tags/tag60.xml" ContentType="application/vnd.openxmlformats-officedocument.presentationml.tags+xml"/>
  <Override PartName="/ppt/notesSlides/notesSlide26.xml" ContentType="application/vnd.openxmlformats-officedocument.presentationml.notesSlide+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tags/tag64.xml" ContentType="application/vnd.openxmlformats-officedocument.presentationml.tags+xml"/>
  <Override PartName="/ppt/notesSlides/notesSlide30.xml" ContentType="application/vnd.openxmlformats-officedocument.presentationml.notesSlide+xml"/>
  <Override PartName="/ppt/tags/tag65.xml" ContentType="application/vnd.openxmlformats-officedocument.presentationml.tags+xml"/>
  <Override PartName="/ppt/notesSlides/notesSlide31.xml" ContentType="application/vnd.openxmlformats-officedocument.presentationml.notesSlide+xml"/>
  <Override PartName="/ppt/tags/tag66.xml" ContentType="application/vnd.openxmlformats-officedocument.presentationml.tags+xml"/>
  <Override PartName="/ppt/notesSlides/notesSlide32.xml" ContentType="application/vnd.openxmlformats-officedocument.presentationml.notesSlide+xml"/>
  <Override PartName="/ppt/tags/tag67.xml" ContentType="application/vnd.openxmlformats-officedocument.presentationml.tags+xml"/>
  <Override PartName="/ppt/notesSlides/notesSlide33.xml" ContentType="application/vnd.openxmlformats-officedocument.presentationml.notesSlide+xml"/>
  <Override PartName="/ppt/tags/tag68.xml" ContentType="application/vnd.openxmlformats-officedocument.presentationml.tags+xml"/>
  <Override PartName="/ppt/tags/tag69.xml" ContentType="application/vnd.openxmlformats-officedocument.presentationml.tags+xml"/>
  <Override PartName="/ppt/notesSlides/notesSlide34.xml" ContentType="application/vnd.openxmlformats-officedocument.presentationml.notesSlide+xml"/>
  <Override PartName="/ppt/tags/tag70.xml" ContentType="application/vnd.openxmlformats-officedocument.presentationml.tags+xml"/>
  <Override PartName="/ppt/notesSlides/notesSlide35.xml" ContentType="application/vnd.openxmlformats-officedocument.presentationml.notesSlide+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notesSlides/notesSlide36.xml" ContentType="application/vnd.openxmlformats-officedocument.presentationml.notesSlide+xml"/>
  <Override PartName="/ppt/tags/tag74.xml" ContentType="application/vnd.openxmlformats-officedocument.presentationml.tags+xml"/>
  <Override PartName="/ppt/notesSlides/notesSlide37.xml" ContentType="application/vnd.openxmlformats-officedocument.presentationml.notesSlide+xml"/>
  <Override PartName="/ppt/tags/tag75.xml" ContentType="application/vnd.openxmlformats-officedocument.presentationml.tags+xml"/>
  <Override PartName="/ppt/notesSlides/notesSlide38.xml" ContentType="application/vnd.openxmlformats-officedocument.presentationml.notesSlide+xml"/>
  <Override PartName="/ppt/tags/tag76.xml" ContentType="application/vnd.openxmlformats-officedocument.presentationml.tags+xml"/>
  <Override PartName="/ppt/notesSlides/notesSlide39.xml" ContentType="application/vnd.openxmlformats-officedocument.presentationml.notesSlide+xml"/>
  <Override PartName="/ppt/tags/tag77.xml" ContentType="application/vnd.openxmlformats-officedocument.presentationml.tags+xml"/>
  <Override PartName="/ppt/tags/tag78.xml" ContentType="application/vnd.openxmlformats-officedocument.presentationml.tags+xml"/>
  <Override PartName="/ppt/notesSlides/notesSlide40.xml" ContentType="application/vnd.openxmlformats-officedocument.presentationml.notesSlide+xml"/>
  <Override PartName="/ppt/tags/tag79.xml" ContentType="application/vnd.openxmlformats-officedocument.presentationml.tags+xml"/>
  <Override PartName="/ppt/tags/tag80.xml" ContentType="application/vnd.openxmlformats-officedocument.presentationml.tags+xml"/>
  <Override PartName="/ppt/notesSlides/notesSlide41.xml" ContentType="application/vnd.openxmlformats-officedocument.presentationml.notesSlide+xml"/>
  <Override PartName="/ppt/tags/tag81.xml" ContentType="application/vnd.openxmlformats-officedocument.presentationml.tags+xml"/>
  <Override PartName="/ppt/notesSlides/notesSlide42.xml" ContentType="application/vnd.openxmlformats-officedocument.presentationml.notesSlide+xml"/>
  <Override PartName="/ppt/tags/tag82.xml" ContentType="application/vnd.openxmlformats-officedocument.presentationml.tags+xml"/>
  <Override PartName="/ppt/notesSlides/notesSlide43.xml" ContentType="application/vnd.openxmlformats-officedocument.presentationml.notesSlide+xml"/>
  <Override PartName="/ppt/tags/tag83.xml" ContentType="application/vnd.openxmlformats-officedocument.presentationml.tags+xml"/>
  <Override PartName="/ppt/notesSlides/notesSlide44.xml" ContentType="application/vnd.openxmlformats-officedocument.presentationml.notesSlide+xml"/>
  <Override PartName="/ppt/tags/tag84.xml" ContentType="application/vnd.openxmlformats-officedocument.presentationml.tags+xml"/>
  <Override PartName="/ppt/tags/tag85.xml" ContentType="application/vnd.openxmlformats-officedocument.presentationml.tags+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tags/tag86.xml" ContentType="application/vnd.openxmlformats-officedocument.presentationml.tags+xml"/>
  <Override PartName="/ppt/tags/tag87.xml" ContentType="application/vnd.openxmlformats-officedocument.presentationml.tags+xml"/>
  <Override PartName="/ppt/notesSlides/notesSlide47.xml" ContentType="application/vnd.openxmlformats-officedocument.presentationml.notesSlide+xml"/>
  <Override PartName="/ppt/tags/tag88.xml" ContentType="application/vnd.openxmlformats-officedocument.presentationml.tags+xml"/>
  <Override PartName="/ppt/tags/tag89.xml" ContentType="application/vnd.openxmlformats-officedocument.presentationml.tags+xml"/>
  <Override PartName="/ppt/notesSlides/notesSlide48.xml" ContentType="application/vnd.openxmlformats-officedocument.presentationml.notesSlide+xml"/>
  <Override PartName="/ppt/tags/tag90.xml" ContentType="application/vnd.openxmlformats-officedocument.presentationml.tags+xml"/>
  <Override PartName="/ppt/notesSlides/notesSlide49.xml" ContentType="application/vnd.openxmlformats-officedocument.presentationml.notesSlide+xml"/>
  <Override PartName="/ppt/tags/tag91.xml" ContentType="application/vnd.openxmlformats-officedocument.presentationml.tags+xml"/>
  <Override PartName="/ppt/tags/tag92.xml" ContentType="application/vnd.openxmlformats-officedocument.presentationml.tags+xml"/>
  <Override PartName="/ppt/notesSlides/notesSlide50.xml" ContentType="application/vnd.openxmlformats-officedocument.presentationml.notesSlide+xml"/>
  <Override PartName="/ppt/tags/tag93.xml" ContentType="application/vnd.openxmlformats-officedocument.presentationml.tags+xml"/>
  <Override PartName="/ppt/notesSlides/notesSlide51.xml" ContentType="application/vnd.openxmlformats-officedocument.presentationml.notesSlide+xml"/>
  <Override PartName="/ppt/tags/tag94.xml" ContentType="application/vnd.openxmlformats-officedocument.presentationml.tags+xml"/>
  <Override PartName="/ppt/tags/tag95.xml" ContentType="application/vnd.openxmlformats-officedocument.presentationml.tags+xml"/>
  <Override PartName="/ppt/notesSlides/notesSlide52.xml" ContentType="application/vnd.openxmlformats-officedocument.presentationml.notesSlide+xml"/>
  <Override PartName="/ppt/tags/tag96.xml" ContentType="application/vnd.openxmlformats-officedocument.presentationml.tags+xml"/>
  <Override PartName="/ppt/notesSlides/notesSlide53.xml" ContentType="application/vnd.openxmlformats-officedocument.presentationml.notesSlide+xml"/>
  <Override PartName="/ppt/tags/tag97.xml" ContentType="application/vnd.openxmlformats-officedocument.presentationml.tags+xml"/>
  <Override PartName="/ppt/tags/tag98.xml" ContentType="application/vnd.openxmlformats-officedocument.presentationml.tags+xml"/>
  <Override PartName="/ppt/notesSlides/notesSlide54.xml" ContentType="application/vnd.openxmlformats-officedocument.presentationml.notesSlide+xml"/>
  <Override PartName="/ppt/tags/tag99.xml" ContentType="application/vnd.openxmlformats-officedocument.presentationml.tags+xml"/>
  <Override PartName="/ppt/tags/tag100.xml" ContentType="application/vnd.openxmlformats-officedocument.presentationml.tags+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tags/tag101.xml" ContentType="application/vnd.openxmlformats-officedocument.presentationml.tags+xml"/>
  <Override PartName="/ppt/notesSlides/notesSlide57.xml" ContentType="application/vnd.openxmlformats-officedocument.presentationml.notesSlide+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notesSlides/notesSlide58.xml" ContentType="application/vnd.openxmlformats-officedocument.presentationml.notesSlide+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 id="2147483672" r:id="rId2"/>
    <p:sldMasterId id="2147483684" r:id="rId3"/>
    <p:sldMasterId id="2147483696" r:id="rId4"/>
    <p:sldMasterId id="2147483708" r:id="rId5"/>
    <p:sldMasterId id="2147483721" r:id="rId6"/>
    <p:sldMasterId id="2147483734" r:id="rId7"/>
  </p:sldMasterIdLst>
  <p:notesMasterIdLst>
    <p:notesMasterId r:id="rId84"/>
  </p:notesMasterIdLst>
  <p:sldIdLst>
    <p:sldId id="914" r:id="rId8"/>
    <p:sldId id="1647" r:id="rId9"/>
    <p:sldId id="665" r:id="rId10"/>
    <p:sldId id="693" r:id="rId11"/>
    <p:sldId id="694" r:id="rId12"/>
    <p:sldId id="695" r:id="rId13"/>
    <p:sldId id="697" r:id="rId14"/>
    <p:sldId id="698" r:id="rId15"/>
    <p:sldId id="699" r:id="rId16"/>
    <p:sldId id="709" r:id="rId17"/>
    <p:sldId id="700" r:id="rId18"/>
    <p:sldId id="696" r:id="rId19"/>
    <p:sldId id="706" r:id="rId20"/>
    <p:sldId id="701" r:id="rId21"/>
    <p:sldId id="702" r:id="rId22"/>
    <p:sldId id="703" r:id="rId23"/>
    <p:sldId id="704" r:id="rId24"/>
    <p:sldId id="705" r:id="rId25"/>
    <p:sldId id="674" r:id="rId26"/>
    <p:sldId id="316" r:id="rId27"/>
    <p:sldId id="675" r:id="rId28"/>
    <p:sldId id="711" r:id="rId29"/>
    <p:sldId id="310" r:id="rId30"/>
    <p:sldId id="710" r:id="rId31"/>
    <p:sldId id="712" r:id="rId32"/>
    <p:sldId id="672" r:id="rId33"/>
    <p:sldId id="676" r:id="rId34"/>
    <p:sldId id="317" r:id="rId35"/>
    <p:sldId id="677" r:id="rId36"/>
    <p:sldId id="354" r:id="rId37"/>
    <p:sldId id="355" r:id="rId38"/>
    <p:sldId id="356" r:id="rId39"/>
    <p:sldId id="318" r:id="rId40"/>
    <p:sldId id="319" r:id="rId41"/>
    <p:sldId id="716" r:id="rId42"/>
    <p:sldId id="357" r:id="rId43"/>
    <p:sldId id="713" r:id="rId44"/>
    <p:sldId id="715" r:id="rId45"/>
    <p:sldId id="691" r:id="rId46"/>
    <p:sldId id="320" r:id="rId47"/>
    <p:sldId id="359" r:id="rId48"/>
    <p:sldId id="714" r:id="rId49"/>
    <p:sldId id="717" r:id="rId50"/>
    <p:sldId id="321" r:id="rId51"/>
    <p:sldId id="1648" r:id="rId52"/>
    <p:sldId id="322" r:id="rId53"/>
    <p:sldId id="718" r:id="rId54"/>
    <p:sldId id="330" r:id="rId55"/>
    <p:sldId id="331" r:id="rId56"/>
    <p:sldId id="692" r:id="rId57"/>
    <p:sldId id="364" r:id="rId58"/>
    <p:sldId id="333" r:id="rId59"/>
    <p:sldId id="334" r:id="rId60"/>
    <p:sldId id="365" r:id="rId61"/>
    <p:sldId id="366" r:id="rId62"/>
    <p:sldId id="335" r:id="rId63"/>
    <p:sldId id="719" r:id="rId64"/>
    <p:sldId id="336" r:id="rId65"/>
    <p:sldId id="720" r:id="rId66"/>
    <p:sldId id="683" r:id="rId67"/>
    <p:sldId id="337" r:id="rId68"/>
    <p:sldId id="338" r:id="rId69"/>
    <p:sldId id="684" r:id="rId70"/>
    <p:sldId id="685" r:id="rId71"/>
    <p:sldId id="342" r:id="rId72"/>
    <p:sldId id="721" r:id="rId73"/>
    <p:sldId id="689" r:id="rId74"/>
    <p:sldId id="311" r:id="rId75"/>
    <p:sldId id="670" r:id="rId76"/>
    <p:sldId id="690" r:id="rId77"/>
    <p:sldId id="671" r:id="rId78"/>
    <p:sldId id="673" r:id="rId79"/>
    <p:sldId id="344" r:id="rId80"/>
    <p:sldId id="687" r:id="rId81"/>
    <p:sldId id="688" r:id="rId82"/>
    <p:sldId id="270" r:id="rId83"/>
  </p:sldIdLst>
  <p:sldSz cx="8229600" cy="51435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59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8210" autoAdjust="0"/>
  </p:normalViewPr>
  <p:slideViewPr>
    <p:cSldViewPr snapToGrid="0" snapToObjects="1">
      <p:cViewPr varScale="1">
        <p:scale>
          <a:sx n="114" d="100"/>
          <a:sy n="114" d="100"/>
        </p:scale>
        <p:origin x="1854" y="102"/>
      </p:cViewPr>
      <p:guideLst>
        <p:guide orient="horz" pos="1620"/>
        <p:guide pos="2592"/>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9.xml"/><Relationship Id="rId21" Type="http://schemas.openxmlformats.org/officeDocument/2006/relationships/slide" Target="slides/slide14.xml"/><Relationship Id="rId42" Type="http://schemas.openxmlformats.org/officeDocument/2006/relationships/slide" Target="slides/slide35.xml"/><Relationship Id="rId47" Type="http://schemas.openxmlformats.org/officeDocument/2006/relationships/slide" Target="slides/slide40.xml"/><Relationship Id="rId63" Type="http://schemas.openxmlformats.org/officeDocument/2006/relationships/slide" Target="slides/slide56.xml"/><Relationship Id="rId68" Type="http://schemas.openxmlformats.org/officeDocument/2006/relationships/slide" Target="slides/slide61.xml"/><Relationship Id="rId84" Type="http://schemas.openxmlformats.org/officeDocument/2006/relationships/notesMaster" Target="notesMasters/notesMaster1.xml"/><Relationship Id="rId16" Type="http://schemas.openxmlformats.org/officeDocument/2006/relationships/slide" Target="slides/slide9.xml"/><Relationship Id="rId11" Type="http://schemas.openxmlformats.org/officeDocument/2006/relationships/slide" Target="slides/slide4.xml"/><Relationship Id="rId32" Type="http://schemas.openxmlformats.org/officeDocument/2006/relationships/slide" Target="slides/slide25.xml"/><Relationship Id="rId37" Type="http://schemas.openxmlformats.org/officeDocument/2006/relationships/slide" Target="slides/slide30.xml"/><Relationship Id="rId53" Type="http://schemas.openxmlformats.org/officeDocument/2006/relationships/slide" Target="slides/slide46.xml"/><Relationship Id="rId58" Type="http://schemas.openxmlformats.org/officeDocument/2006/relationships/slide" Target="slides/slide51.xml"/><Relationship Id="rId74" Type="http://schemas.openxmlformats.org/officeDocument/2006/relationships/slide" Target="slides/slide67.xml"/><Relationship Id="rId79" Type="http://schemas.openxmlformats.org/officeDocument/2006/relationships/slide" Target="slides/slide72.xml"/><Relationship Id="rId5" Type="http://schemas.openxmlformats.org/officeDocument/2006/relationships/slideMaster" Target="slideMasters/slideMaster5.xml"/><Relationship Id="rId19" Type="http://schemas.openxmlformats.org/officeDocument/2006/relationships/slide" Target="slides/slide1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slide" Target="slides/slide49.xml"/><Relationship Id="rId64" Type="http://schemas.openxmlformats.org/officeDocument/2006/relationships/slide" Target="slides/slide57.xml"/><Relationship Id="rId69" Type="http://schemas.openxmlformats.org/officeDocument/2006/relationships/slide" Target="slides/slide62.xml"/><Relationship Id="rId77" Type="http://schemas.openxmlformats.org/officeDocument/2006/relationships/slide" Target="slides/slide70.xml"/><Relationship Id="rId8" Type="http://schemas.openxmlformats.org/officeDocument/2006/relationships/slide" Target="slides/slide1.xml"/><Relationship Id="rId51" Type="http://schemas.openxmlformats.org/officeDocument/2006/relationships/slide" Target="slides/slide44.xml"/><Relationship Id="rId72" Type="http://schemas.openxmlformats.org/officeDocument/2006/relationships/slide" Target="slides/slide65.xml"/><Relationship Id="rId80" Type="http://schemas.openxmlformats.org/officeDocument/2006/relationships/slide" Target="slides/slide73.xml"/><Relationship Id="rId85" Type="http://schemas.openxmlformats.org/officeDocument/2006/relationships/presProps" Target="presProps.xml"/><Relationship Id="rId3" Type="http://schemas.openxmlformats.org/officeDocument/2006/relationships/slideMaster" Target="slideMasters/slideMaster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slide" Target="slides/slide52.xml"/><Relationship Id="rId67" Type="http://schemas.openxmlformats.org/officeDocument/2006/relationships/slide" Target="slides/slide60.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slide" Target="slides/slide47.xml"/><Relationship Id="rId62" Type="http://schemas.openxmlformats.org/officeDocument/2006/relationships/slide" Target="slides/slide55.xml"/><Relationship Id="rId70" Type="http://schemas.openxmlformats.org/officeDocument/2006/relationships/slide" Target="slides/slide63.xml"/><Relationship Id="rId75" Type="http://schemas.openxmlformats.org/officeDocument/2006/relationships/slide" Target="slides/slide68.xml"/><Relationship Id="rId83" Type="http://schemas.openxmlformats.org/officeDocument/2006/relationships/slide" Target="slides/slide76.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slide" Target="slides/slide50.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slide" Target="slides/slide53.xml"/><Relationship Id="rId65" Type="http://schemas.openxmlformats.org/officeDocument/2006/relationships/slide" Target="slides/slide58.xml"/><Relationship Id="rId73" Type="http://schemas.openxmlformats.org/officeDocument/2006/relationships/slide" Target="slides/slide66.xml"/><Relationship Id="rId78" Type="http://schemas.openxmlformats.org/officeDocument/2006/relationships/slide" Target="slides/slide71.xml"/><Relationship Id="rId81" Type="http://schemas.openxmlformats.org/officeDocument/2006/relationships/slide" Target="slides/slide74.xml"/><Relationship Id="rId86"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2.xml"/><Relationship Id="rId13" Type="http://schemas.openxmlformats.org/officeDocument/2006/relationships/slide" Target="slides/slide6.xml"/><Relationship Id="rId18" Type="http://schemas.openxmlformats.org/officeDocument/2006/relationships/slide" Target="slides/slide11.xml"/><Relationship Id="rId39" Type="http://schemas.openxmlformats.org/officeDocument/2006/relationships/slide" Target="slides/slide32.xml"/><Relationship Id="rId34" Type="http://schemas.openxmlformats.org/officeDocument/2006/relationships/slide" Target="slides/slide27.xml"/><Relationship Id="rId50" Type="http://schemas.openxmlformats.org/officeDocument/2006/relationships/slide" Target="slides/slide43.xml"/><Relationship Id="rId55" Type="http://schemas.openxmlformats.org/officeDocument/2006/relationships/slide" Target="slides/slide48.xml"/><Relationship Id="rId76" Type="http://schemas.openxmlformats.org/officeDocument/2006/relationships/slide" Target="slides/slide69.xml"/><Relationship Id="rId7" Type="http://schemas.openxmlformats.org/officeDocument/2006/relationships/slideMaster" Target="slideMasters/slideMaster7.xml"/><Relationship Id="rId71" Type="http://schemas.openxmlformats.org/officeDocument/2006/relationships/slide" Target="slides/slide64.xml"/><Relationship Id="rId2" Type="http://schemas.openxmlformats.org/officeDocument/2006/relationships/slideMaster" Target="slideMasters/slideMaster2.xml"/><Relationship Id="rId29" Type="http://schemas.openxmlformats.org/officeDocument/2006/relationships/slide" Target="slides/slide22.xml"/><Relationship Id="rId24" Type="http://schemas.openxmlformats.org/officeDocument/2006/relationships/slide" Target="slides/slide17.xml"/><Relationship Id="rId40" Type="http://schemas.openxmlformats.org/officeDocument/2006/relationships/slide" Target="slides/slide33.xml"/><Relationship Id="rId45" Type="http://schemas.openxmlformats.org/officeDocument/2006/relationships/slide" Target="slides/slide38.xml"/><Relationship Id="rId66" Type="http://schemas.openxmlformats.org/officeDocument/2006/relationships/slide" Target="slides/slide59.xml"/><Relationship Id="rId87" Type="http://schemas.openxmlformats.org/officeDocument/2006/relationships/theme" Target="theme/theme1.xml"/><Relationship Id="rId61" Type="http://schemas.openxmlformats.org/officeDocument/2006/relationships/slide" Target="slides/slide54.xml"/><Relationship Id="rId82" Type="http://schemas.openxmlformats.org/officeDocument/2006/relationships/slide" Target="slides/slide7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66C520B4-85AA-9542-8CF7-3D2DDCE6041D}" type="datetimeFigureOut">
              <a:rPr lang="en-US" smtClean="0"/>
              <a:pPr/>
              <a:t>11/10/2025</a:t>
            </a:fld>
            <a:endParaRPr lang="en-US"/>
          </a:p>
        </p:txBody>
      </p:sp>
      <p:sp>
        <p:nvSpPr>
          <p:cNvPr id="4" name="Slide Image Placeholder 3"/>
          <p:cNvSpPr>
            <a:spLocks noGrp="1" noRot="1" noChangeAspect="1"/>
          </p:cNvSpPr>
          <p:nvPr>
            <p:ph type="sldImg" idx="2"/>
          </p:nvPr>
        </p:nvSpPr>
        <p:spPr>
          <a:xfrm>
            <a:off x="715963" y="696913"/>
            <a:ext cx="5578475"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56507943-197E-CE46-82F0-5A323A24AE7A}" type="slidenum">
              <a:rPr lang="en-US" smtClean="0"/>
              <a:pPr/>
              <a:t>‹#›</a:t>
            </a:fld>
            <a:endParaRPr lang="en-US"/>
          </a:p>
        </p:txBody>
      </p:sp>
    </p:spTree>
    <p:extLst>
      <p:ext uri="{BB962C8B-B14F-4D97-AF65-F5344CB8AC3E}">
        <p14:creationId xmlns:p14="http://schemas.microsoft.com/office/powerpoint/2010/main" val="13487360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6507943-197E-CE46-82F0-5A323A24AE7A}"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5801935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C7E09E1C-40D2-46F9-9F20-07EA588B3A3A}"/>
              </a:ext>
            </a:extLst>
          </p:cNvPr>
          <p:cNvSpPr>
            <a:spLocks noGrp="1" noChangeArrowheads="1"/>
          </p:cNvSpPr>
          <p:nvPr>
            <p:ph type="sldNum" sz="quarter" idx="5"/>
          </p:nvPr>
        </p:nvSpPr>
        <p:spPr>
          <a:ln/>
        </p:spPr>
        <p:txBody>
          <a:bodyPr/>
          <a:lstStyle/>
          <a:p>
            <a:fld id="{0CE062E2-CA43-4035-9E13-AD9908C25B62}" type="slidenum">
              <a:rPr lang="en-US" altLang="en-US"/>
              <a:pPr/>
              <a:t>3</a:t>
            </a:fld>
            <a:endParaRPr lang="en-US" altLang="en-US"/>
          </a:p>
        </p:txBody>
      </p:sp>
      <p:sp>
        <p:nvSpPr>
          <p:cNvPr id="124930" name="Rectangle 2">
            <a:extLst>
              <a:ext uri="{FF2B5EF4-FFF2-40B4-BE49-F238E27FC236}">
                <a16:creationId xmlns:a16="http://schemas.microsoft.com/office/drawing/2014/main" id="{DFA605D2-F657-4B1A-895E-09BF5F2A3B65}"/>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4302226F-D9D5-4ED4-8280-5A95D5D61DC0}"/>
              </a:ext>
            </a:extLst>
          </p:cNvPr>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14130332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4</a:t>
            </a:fld>
            <a:endParaRPr lang="en-US"/>
          </a:p>
        </p:txBody>
      </p:sp>
    </p:spTree>
    <p:extLst>
      <p:ext uri="{BB962C8B-B14F-4D97-AF65-F5344CB8AC3E}">
        <p14:creationId xmlns:p14="http://schemas.microsoft.com/office/powerpoint/2010/main" val="16443863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Raster Calculator</a:t>
            </a:r>
            <a:r>
              <a:rPr lang="en-US" baseline="0" dirty="0"/>
              <a:t> Tool allows you to perform mathematical calculations on a cell-by-cell basis. </a:t>
            </a:r>
          </a:p>
          <a:p>
            <a:endParaRPr lang="en-US" baseline="0" dirty="0"/>
          </a:p>
          <a:p>
            <a:r>
              <a:rPr lang="en-US" baseline="0" dirty="0"/>
              <a:t>This tool is very flexible and can be used to perform a wide variety of raster-based calculations. </a:t>
            </a:r>
          </a:p>
          <a:p>
            <a:endParaRPr lang="en-US" baseline="0" dirty="0"/>
          </a:p>
          <a:p>
            <a:r>
              <a:rPr lang="en-US" baseline="0" dirty="0"/>
              <a:t>Examples will be provided in the following slides. </a:t>
            </a:r>
          </a:p>
        </p:txBody>
      </p:sp>
      <p:sp>
        <p:nvSpPr>
          <p:cNvPr id="4" name="Slide Number Placeholder 3"/>
          <p:cNvSpPr>
            <a:spLocks noGrp="1"/>
          </p:cNvSpPr>
          <p:nvPr>
            <p:ph type="sldNum" sz="quarter" idx="10"/>
          </p:nvPr>
        </p:nvSpPr>
        <p:spPr/>
        <p:txBody>
          <a:bodyPr/>
          <a:lstStyle/>
          <a:p>
            <a:fld id="{01F2A70B-78F2-4DCF-B53B-C990D2FAFB8A}" type="slidenum">
              <a:rPr lang="en-US" smtClean="0"/>
              <a:t>6</a:t>
            </a:fld>
            <a:endParaRPr lang="en-US"/>
          </a:p>
        </p:txBody>
      </p:sp>
    </p:spTree>
    <p:extLst>
      <p:ext uri="{BB962C8B-B14F-4D97-AF65-F5344CB8AC3E}">
        <p14:creationId xmlns:p14="http://schemas.microsoft.com/office/powerpoint/2010/main" val="30835538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Operations</a:t>
            </a:r>
            <a:r>
              <a:rPr lang="en-US" baseline="0" dirty="0"/>
              <a:t> can be performed that only require one raster input. </a:t>
            </a:r>
          </a:p>
          <a:p>
            <a:endParaRPr lang="en-US" baseline="0" dirty="0"/>
          </a:p>
          <a:p>
            <a:r>
              <a:rPr lang="en-US" baseline="0" dirty="0"/>
              <a:t>In the example above, the square root of the elevation value in the input raster will be returned to the output raster. </a:t>
            </a:r>
          </a:p>
          <a:p>
            <a:endParaRPr lang="en-US" baseline="0" dirty="0"/>
          </a:p>
          <a:p>
            <a:r>
              <a:rPr lang="en-US" baseline="0" dirty="0"/>
              <a:t>Other examples include converting grid cells from float to integer, taking the tangent of the cell values, and taking the natural log of the cell values.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7</a:t>
            </a:fld>
            <a:endParaRPr lang="en-US"/>
          </a:p>
        </p:txBody>
      </p:sp>
    </p:spTree>
    <p:extLst>
      <p:ext uri="{BB962C8B-B14F-4D97-AF65-F5344CB8AC3E}">
        <p14:creationId xmlns:p14="http://schemas.microsoft.com/office/powerpoint/2010/main" val="17615022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Operations</a:t>
            </a:r>
            <a:r>
              <a:rPr lang="en-US" baseline="0" dirty="0"/>
              <a:t> can also be performed that require raster grids and constants. </a:t>
            </a:r>
          </a:p>
          <a:p>
            <a:endParaRPr lang="en-US" baseline="0" dirty="0"/>
          </a:p>
          <a:p>
            <a:r>
              <a:rPr lang="en-US" baseline="0" dirty="0"/>
              <a:t>In the example, elevation values in meters are being multiplied by 3.281 to output elevation values in feet. </a:t>
            </a:r>
          </a:p>
          <a:p>
            <a:endParaRPr lang="en-US" baseline="0" dirty="0"/>
          </a:p>
          <a:p>
            <a:r>
              <a:rPr lang="en-US" baseline="0" dirty="0"/>
              <a:t>Unit conversion is a common use of such techniques.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8</a:t>
            </a:fld>
            <a:endParaRPr lang="en-US"/>
          </a:p>
        </p:txBody>
      </p:sp>
    </p:spTree>
    <p:extLst>
      <p:ext uri="{BB962C8B-B14F-4D97-AF65-F5344CB8AC3E}">
        <p14:creationId xmlns:p14="http://schemas.microsoft.com/office/powerpoint/2010/main" val="13424545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a:t>
            </a:r>
            <a:r>
              <a:rPr lang="en-US" baseline="0" dirty="0"/>
              <a:t> is also possible to perform calculations using multiple raster grids. </a:t>
            </a:r>
          </a:p>
          <a:p>
            <a:endParaRPr lang="en-US" baseline="0" dirty="0"/>
          </a:p>
          <a:p>
            <a:r>
              <a:rPr lang="en-US" baseline="0" dirty="0"/>
              <a:t>When multiple raster grids are used, cells that overlap will be involved in calculations. </a:t>
            </a:r>
          </a:p>
          <a:p>
            <a:endParaRPr lang="en-US" baseline="0" dirty="0"/>
          </a:p>
          <a:p>
            <a:r>
              <a:rPr lang="en-US" baseline="0" dirty="0"/>
              <a:t>In the example above, cells are being multiplied and added together. </a:t>
            </a:r>
          </a:p>
          <a:p>
            <a:endParaRPr lang="en-US" baseline="0" dirty="0"/>
          </a:p>
          <a:p>
            <a:r>
              <a:rPr lang="en-US" baseline="0" dirty="0"/>
              <a:t>Note that a </a:t>
            </a:r>
            <a:r>
              <a:rPr lang="en-US" baseline="0" dirty="0" err="1"/>
              <a:t>NoData</a:t>
            </a:r>
            <a:r>
              <a:rPr lang="en-US" baseline="0" dirty="0"/>
              <a:t> result will be returned any time at least on of the grids holds a </a:t>
            </a:r>
            <a:r>
              <a:rPr lang="en-US" baseline="0" dirty="0" err="1"/>
              <a:t>NoData</a:t>
            </a:r>
            <a:r>
              <a:rPr lang="en-US" baseline="0" dirty="0"/>
              <a:t> value at that location. </a:t>
            </a:r>
          </a:p>
          <a:p>
            <a:endParaRPr lang="en-US" baseline="0" dirty="0"/>
          </a:p>
          <a:p>
            <a:r>
              <a:rPr lang="en-US" baseline="0" dirty="0"/>
              <a:t>Calculations can only be performed when values are available for all grids at that location.</a:t>
            </a:r>
          </a:p>
          <a:p>
            <a:endParaRPr lang="en-US" baseline="0" dirty="0"/>
          </a:p>
          <a:p>
            <a:r>
              <a:rPr lang="en-US" baseline="0" dirty="0"/>
              <a:t>When cells do not align properly, how the grids overlay to perform these calculations can be ambiguous. This is one reason to use a snap raster.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9</a:t>
            </a:fld>
            <a:endParaRPr lang="en-US"/>
          </a:p>
        </p:txBody>
      </p:sp>
    </p:spTree>
    <p:extLst>
      <p:ext uri="{BB962C8B-B14F-4D97-AF65-F5344CB8AC3E}">
        <p14:creationId xmlns:p14="http://schemas.microsoft.com/office/powerpoint/2010/main" val="13735288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a:t>
            </a:r>
            <a:r>
              <a:rPr lang="en-US" baseline="0" dirty="0"/>
              <a:t> is also possible to perform calculations using multiple raster grids. </a:t>
            </a:r>
          </a:p>
          <a:p>
            <a:endParaRPr lang="en-US" baseline="0" dirty="0"/>
          </a:p>
          <a:p>
            <a:r>
              <a:rPr lang="en-US" baseline="0" dirty="0"/>
              <a:t>When multiple raster grids are used, cells that overlap will be involved in calculations. </a:t>
            </a:r>
          </a:p>
          <a:p>
            <a:endParaRPr lang="en-US" baseline="0" dirty="0"/>
          </a:p>
          <a:p>
            <a:r>
              <a:rPr lang="en-US" baseline="0" dirty="0"/>
              <a:t>In the example above, cells are being multiplied and added together. </a:t>
            </a:r>
          </a:p>
          <a:p>
            <a:endParaRPr lang="en-US" baseline="0" dirty="0"/>
          </a:p>
          <a:p>
            <a:r>
              <a:rPr lang="en-US" baseline="0" dirty="0"/>
              <a:t>Note that a </a:t>
            </a:r>
            <a:r>
              <a:rPr lang="en-US" baseline="0" dirty="0" err="1"/>
              <a:t>NoData</a:t>
            </a:r>
            <a:r>
              <a:rPr lang="en-US" baseline="0" dirty="0"/>
              <a:t> result will be returned any time at least on of the grids holds a </a:t>
            </a:r>
            <a:r>
              <a:rPr lang="en-US" baseline="0" dirty="0" err="1"/>
              <a:t>NoData</a:t>
            </a:r>
            <a:r>
              <a:rPr lang="en-US" baseline="0" dirty="0"/>
              <a:t> value at that location. </a:t>
            </a:r>
          </a:p>
          <a:p>
            <a:endParaRPr lang="en-US" baseline="0" dirty="0"/>
          </a:p>
          <a:p>
            <a:r>
              <a:rPr lang="en-US" baseline="0" dirty="0"/>
              <a:t>Calculations can only be performed when values are available for all grids at that location.</a:t>
            </a:r>
          </a:p>
          <a:p>
            <a:endParaRPr lang="en-US" baseline="0" dirty="0"/>
          </a:p>
          <a:p>
            <a:r>
              <a:rPr lang="en-US" baseline="0" dirty="0"/>
              <a:t>When cells do not align properly, how the grids overlay to perform these calculations can be ambiguous. This is one reason to use a snap raster.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10</a:t>
            </a:fld>
            <a:endParaRPr lang="en-US"/>
          </a:p>
        </p:txBody>
      </p:sp>
    </p:spTree>
    <p:extLst>
      <p:ext uri="{BB962C8B-B14F-4D97-AF65-F5344CB8AC3E}">
        <p14:creationId xmlns:p14="http://schemas.microsoft.com/office/powerpoint/2010/main" val="21537254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a:t>
            </a:r>
            <a:r>
              <a:rPr lang="en-US" baseline="0" dirty="0"/>
              <a:t> is another example of raster math involving two grids. A binary surface separating forest and not forest is being multiplied by a binary grid representing locations with elevations above 800 meters. The result will return 1 only where the forest and elevation criteria are both true. </a:t>
            </a:r>
          </a:p>
          <a:p>
            <a:endParaRPr lang="en-US" baseline="0" dirty="0"/>
          </a:p>
          <a:p>
            <a:r>
              <a:rPr lang="en-US" baseline="0" dirty="0"/>
              <a:t>So, values of 1 in the output represent locations that are forest at an elevation above 800 meters.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11</a:t>
            </a:fld>
            <a:endParaRPr lang="en-US"/>
          </a:p>
        </p:txBody>
      </p:sp>
    </p:spTree>
    <p:extLst>
      <p:ext uri="{BB962C8B-B14F-4D97-AF65-F5344CB8AC3E}">
        <p14:creationId xmlns:p14="http://schemas.microsoft.com/office/powerpoint/2010/main" val="3569450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Raster</a:t>
            </a:r>
            <a:r>
              <a:rPr lang="en-US" baseline="0" dirty="0"/>
              <a:t> Calculator can be used to produce binary, 0-1, or yes-no surfaces. In these outputs, cells that met the query criteria are coded as 1 and cells that do not meet the criteria are coded as zero. </a:t>
            </a:r>
          </a:p>
          <a:p>
            <a:endParaRPr lang="en-US" baseline="0" dirty="0"/>
          </a:p>
          <a:p>
            <a:r>
              <a:rPr lang="en-US" baseline="0" dirty="0"/>
              <a:t>1 always indicates true while 0 will indicates false. </a:t>
            </a:r>
          </a:p>
          <a:p>
            <a:endParaRPr lang="en-US" baseline="0" dirty="0"/>
          </a:p>
          <a:p>
            <a:r>
              <a:rPr lang="en-US" baseline="0" dirty="0"/>
              <a:t>In this example, I am querying the raster to find all cells in a digital elevation model that have an elevation greater than 800. Cells that hold an elevation value greater than 800 will be coded to 1 in the output. All other cells will be coded to 0.</a:t>
            </a:r>
          </a:p>
          <a:p>
            <a:endParaRPr lang="en-US" baseline="0" dirty="0"/>
          </a:p>
          <a:p>
            <a:r>
              <a:rPr lang="en-US" baseline="0" dirty="0"/>
              <a:t>The result is a binary output.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12</a:t>
            </a:fld>
            <a:endParaRPr lang="en-US"/>
          </a:p>
        </p:txBody>
      </p:sp>
    </p:spTree>
    <p:extLst>
      <p:ext uri="{BB962C8B-B14F-4D97-AF65-F5344CB8AC3E}">
        <p14:creationId xmlns:p14="http://schemas.microsoft.com/office/powerpoint/2010/main" val="34395052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13</a:t>
            </a:fld>
            <a:endParaRPr lang="en-US"/>
          </a:p>
        </p:txBody>
      </p:sp>
    </p:spTree>
    <p:extLst>
      <p:ext uri="{BB962C8B-B14F-4D97-AF65-F5344CB8AC3E}">
        <p14:creationId xmlns:p14="http://schemas.microsoft.com/office/powerpoint/2010/main" val="30155849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functions</a:t>
            </a:r>
            <a:r>
              <a:rPr lang="en-US" baseline="0" dirty="0"/>
              <a:t> are available for use within Raster Calculator. Take some time to review the available functions presented here. Note that these are not the only function available.</a:t>
            </a:r>
          </a:p>
          <a:p>
            <a:endParaRPr lang="en-US" baseline="0" dirty="0"/>
          </a:p>
          <a:p>
            <a:r>
              <a:rPr lang="en-US" baseline="0" dirty="0"/>
              <a:t>These are just examples.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14</a:t>
            </a:fld>
            <a:endParaRPr lang="en-US"/>
          </a:p>
        </p:txBody>
      </p:sp>
    </p:spTree>
    <p:extLst>
      <p:ext uri="{BB962C8B-B14F-4D97-AF65-F5344CB8AC3E}">
        <p14:creationId xmlns:p14="http://schemas.microsoft.com/office/powerpoint/2010/main" val="38414646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some additional functions</a:t>
            </a:r>
            <a:r>
              <a:rPr lang="en-US" baseline="0" dirty="0"/>
              <a:t> available in Raster Calculator. Take some time to look over these functions.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15</a:t>
            </a:fld>
            <a:endParaRPr lang="en-US"/>
          </a:p>
        </p:txBody>
      </p:sp>
    </p:spTree>
    <p:extLst>
      <p:ext uri="{BB962C8B-B14F-4D97-AF65-F5344CB8AC3E}">
        <p14:creationId xmlns:p14="http://schemas.microsoft.com/office/powerpoint/2010/main" val="37184277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Conditional statements can also be integrated</a:t>
            </a:r>
            <a:r>
              <a:rPr lang="en-US" baseline="0" dirty="0"/>
              <a:t> into Raster Calculator syntax. In a conditional statement, the first argument is the condition, the second argument defines what to return if the condition is true, and the last argument defines what to return in the condition is false. </a:t>
            </a:r>
          </a:p>
          <a:p>
            <a:endParaRPr lang="en-US" baseline="0" dirty="0"/>
          </a:p>
          <a:p>
            <a:r>
              <a:rPr lang="en-US" baseline="0" dirty="0"/>
              <a:t>In this example, the condition is that the land cover code must be equal to 41. This code represents deciduous forest. If the condition is met, or the location is coded as deciduous forest, the result will be 1. If the condition is not met, or the result is not deciduous forest, the result will be 0. So, the output here will be a binary output in which 1 indicates deciduous forest and 0 indicated not deciduous forest.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16</a:t>
            </a:fld>
            <a:endParaRPr lang="en-US"/>
          </a:p>
        </p:txBody>
      </p:sp>
    </p:spTree>
    <p:extLst>
      <p:ext uri="{BB962C8B-B14F-4D97-AF65-F5344CB8AC3E}">
        <p14:creationId xmlns:p14="http://schemas.microsoft.com/office/powerpoint/2010/main" val="14594208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a final note on raster calculations,</a:t>
            </a:r>
            <a:r>
              <a:rPr lang="en-US" baseline="0" dirty="0"/>
              <a:t> a result will only be returned when values are available in all grids.</a:t>
            </a:r>
          </a:p>
          <a:p>
            <a:endParaRPr lang="en-US" baseline="0" dirty="0"/>
          </a:p>
          <a:p>
            <a:r>
              <a:rPr lang="en-US" baseline="0" dirty="0"/>
              <a:t>As an example, if you multiply 100 grids together, and they all have cell values at a location except one grid which has a </a:t>
            </a:r>
            <a:r>
              <a:rPr lang="en-US" baseline="0" dirty="0" err="1"/>
              <a:t>NoData</a:t>
            </a:r>
            <a:r>
              <a:rPr lang="en-US" baseline="0" dirty="0"/>
              <a:t> assignment at that location, the result will be </a:t>
            </a:r>
            <a:r>
              <a:rPr lang="en-US" baseline="0" dirty="0" err="1"/>
              <a:t>NoData</a:t>
            </a:r>
            <a:r>
              <a:rPr lang="en-US" baseline="0" dirty="0"/>
              <a:t>. </a:t>
            </a:r>
          </a:p>
          <a:p>
            <a:endParaRPr lang="en-US" baseline="0" dirty="0"/>
          </a:p>
          <a:p>
            <a:r>
              <a:rPr lang="en-US" baseline="0" dirty="0"/>
              <a:t>Values must be available in all grids at a location in order for a calculation to be performed.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17</a:t>
            </a:fld>
            <a:endParaRPr lang="en-US"/>
          </a:p>
        </p:txBody>
      </p:sp>
    </p:spTree>
    <p:extLst>
      <p:ext uri="{BB962C8B-B14F-4D97-AF65-F5344CB8AC3E}">
        <p14:creationId xmlns:p14="http://schemas.microsoft.com/office/powerpoint/2010/main" val="16402824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Reclassification allow you to change</a:t>
            </a:r>
            <a:r>
              <a:rPr lang="en-US" baseline="0" dirty="0"/>
              <a:t> the cell values in a raster. The example in this slide demonstrates changing the cell values for a categorical raster grid, in this case a land cover grid from the National Land Cover Database. Here, all values corresponding to forest types were recoded to 1 and all other types were coded to 0. So, many categories were generalized to forest vs. not forest.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19</a:t>
            </a:fld>
            <a:endParaRPr lang="en-US"/>
          </a:p>
        </p:txBody>
      </p:sp>
    </p:spTree>
    <p:extLst>
      <p:ext uri="{BB962C8B-B14F-4D97-AF65-F5344CB8AC3E}">
        <p14:creationId xmlns:p14="http://schemas.microsoft.com/office/powerpoint/2010/main" val="6051919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a:t>
            </a:r>
            <a:r>
              <a:rPr lang="en-US" baseline="0" dirty="0"/>
              <a:t> is also possible to reclassify continuous raster data. In this example, a digital elevation model is being reclassified into four categories. Each category represents a range of elevation measurements.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20</a:t>
            </a:fld>
            <a:endParaRPr lang="en-US"/>
          </a:p>
        </p:txBody>
      </p:sp>
    </p:spTree>
    <p:extLst>
      <p:ext uri="{BB962C8B-B14F-4D97-AF65-F5344CB8AC3E}">
        <p14:creationId xmlns:p14="http://schemas.microsoft.com/office/powerpoint/2010/main" val="1924969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NoData</a:t>
            </a:r>
            <a:r>
              <a:rPr lang="en-US" dirty="0"/>
              <a:t> cells can also</a:t>
            </a:r>
            <a:r>
              <a:rPr lang="en-US" baseline="0" dirty="0"/>
              <a:t> be reclassified. Or, other cell values can be reclassified to </a:t>
            </a:r>
            <a:r>
              <a:rPr lang="en-US" baseline="0" dirty="0" err="1"/>
              <a:t>NoData</a:t>
            </a:r>
            <a:r>
              <a:rPr lang="en-US" baseline="0" dirty="0"/>
              <a:t>.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21</a:t>
            </a:fld>
            <a:endParaRPr lang="en-US"/>
          </a:p>
        </p:txBody>
      </p:sp>
    </p:spTree>
    <p:extLst>
      <p:ext uri="{BB962C8B-B14F-4D97-AF65-F5344CB8AC3E}">
        <p14:creationId xmlns:p14="http://schemas.microsoft.com/office/powerpoint/2010/main" val="14915151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22</a:t>
            </a:fld>
            <a:endParaRPr lang="en-US"/>
          </a:p>
        </p:txBody>
      </p:sp>
    </p:spTree>
    <p:extLst>
      <p:ext uri="{BB962C8B-B14F-4D97-AF65-F5344CB8AC3E}">
        <p14:creationId xmlns:p14="http://schemas.microsoft.com/office/powerpoint/2010/main" val="37603509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common raster pre-processing task is to extract</a:t>
            </a:r>
            <a:r>
              <a:rPr lang="en-US" baseline="0" dirty="0"/>
              <a:t> a portion of a raster from a larger dataset. In the example here, a portion of a DEM is being extracted from a larger DEM.</a:t>
            </a:r>
          </a:p>
          <a:p>
            <a:endParaRPr lang="en-US" baseline="0" dirty="0"/>
          </a:p>
          <a:p>
            <a:r>
              <a:rPr lang="en-US" baseline="0" dirty="0"/>
              <a:t>A variety of methods are available to extract a portion of a raster grid as defined on the slide. I commonly use Extract by Mask. To use this tool, a polygon mask or raster mask is used. Cells that fall within this mask will be written to a new file. That is how the example on the page was produced. </a:t>
            </a:r>
          </a:p>
          <a:p>
            <a:endParaRPr lang="en-US" baseline="0" dirty="0"/>
          </a:p>
          <a:p>
            <a:r>
              <a:rPr lang="en-US" baseline="0" dirty="0"/>
              <a:t>Take some time here to read through the descriptions of the different extraction methods.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23</a:t>
            </a:fld>
            <a:endParaRPr lang="en-US"/>
          </a:p>
        </p:txBody>
      </p:sp>
    </p:spTree>
    <p:extLst>
      <p:ext uri="{BB962C8B-B14F-4D97-AF65-F5344CB8AC3E}">
        <p14:creationId xmlns:p14="http://schemas.microsoft.com/office/powerpoint/2010/main" val="352343072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common raster pre-processing task is to extract</a:t>
            </a:r>
            <a:r>
              <a:rPr lang="en-US" baseline="0" dirty="0"/>
              <a:t> a portion of a raster from a larger dataset. In the example here, a portion of a DEM is being extracted from a larger DEM.</a:t>
            </a:r>
          </a:p>
          <a:p>
            <a:endParaRPr lang="en-US" baseline="0" dirty="0"/>
          </a:p>
          <a:p>
            <a:r>
              <a:rPr lang="en-US" baseline="0" dirty="0"/>
              <a:t>A variety of methods are available to extract a portion of a raster grid as defined on the slide. I commonly use Extract by Mask. To use this tool, a polygon mask or raster mask is used. Cells that fall within this mask will be written to a new file. That is how the example on the page was produced. </a:t>
            </a:r>
          </a:p>
          <a:p>
            <a:endParaRPr lang="en-US" baseline="0" dirty="0"/>
          </a:p>
          <a:p>
            <a:r>
              <a:rPr lang="en-US" baseline="0" dirty="0"/>
              <a:t>Take some time here to read through the descriptions of the different extraction methods.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24</a:t>
            </a:fld>
            <a:endParaRPr lang="en-US"/>
          </a:p>
        </p:txBody>
      </p:sp>
    </p:spTree>
    <p:extLst>
      <p:ext uri="{BB962C8B-B14F-4D97-AF65-F5344CB8AC3E}">
        <p14:creationId xmlns:p14="http://schemas.microsoft.com/office/powerpoint/2010/main" val="224010830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25</a:t>
            </a:fld>
            <a:endParaRPr lang="en-US"/>
          </a:p>
        </p:txBody>
      </p:sp>
    </p:spTree>
    <p:extLst>
      <p:ext uri="{BB962C8B-B14F-4D97-AF65-F5344CB8AC3E}">
        <p14:creationId xmlns:p14="http://schemas.microsoft.com/office/powerpoint/2010/main" val="273046750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may</a:t>
            </a:r>
            <a:r>
              <a:rPr lang="en-US" baseline="0" dirty="0"/>
              <a:t> have many raster grids that you would like to combine to a single file by stacking the separate grids or bands as a single multiband file. </a:t>
            </a:r>
          </a:p>
          <a:p>
            <a:endParaRPr lang="en-US" baseline="0" dirty="0"/>
          </a:p>
          <a:p>
            <a:r>
              <a:rPr lang="en-US" baseline="0" dirty="0"/>
              <a:t>As an example, when Landsat data are downloaded they are often provided as individual bands. However, you may want to use these data as a multiband image for analysis or symbology. So, you would need to combine the bands into a single raster with multiple bands. </a:t>
            </a:r>
          </a:p>
          <a:p>
            <a:endParaRPr lang="en-US" baseline="0" dirty="0"/>
          </a:p>
          <a:p>
            <a:r>
              <a:rPr lang="en-US" baseline="0" dirty="0"/>
              <a:t>This can be accomplished using the Composite Bands Tool in ArcGIS Pro or the Stack Tool in </a:t>
            </a:r>
            <a:r>
              <a:rPr lang="en-US" baseline="0" dirty="0" err="1"/>
              <a:t>Erdas</a:t>
            </a:r>
            <a:r>
              <a:rPr lang="en-US" baseline="0" dirty="0"/>
              <a:t> Imagine.</a:t>
            </a:r>
          </a:p>
          <a:p>
            <a:endParaRPr lang="en-US" baseline="0" dirty="0"/>
          </a:p>
          <a:p>
            <a:r>
              <a:rPr lang="en-US" baseline="0" dirty="0"/>
              <a:t>Note that it is possible to stack more than just image bands. For example, you could stack a set of topographic variables into a multiband file. I have found this to be useful when preparing data for modeling. </a:t>
            </a:r>
          </a:p>
          <a:p>
            <a:endParaRPr lang="en-US" baseline="0" dirty="0"/>
          </a:p>
          <a:p>
            <a:r>
              <a:rPr lang="en-US" baseline="0" dirty="0"/>
              <a:t>Note that all bands or layers in a stack must have the same pixel type. For example, if you stack three 8-bit grids and one 16-bit grid, all the data will be converted to 16-bit. If one of your input grids is float, then all your grids will be converted to float. </a:t>
            </a:r>
          </a:p>
        </p:txBody>
      </p:sp>
      <p:sp>
        <p:nvSpPr>
          <p:cNvPr id="4" name="Slide Number Placeholder 3"/>
          <p:cNvSpPr>
            <a:spLocks noGrp="1"/>
          </p:cNvSpPr>
          <p:nvPr>
            <p:ph type="sldNum" sz="quarter" idx="10"/>
          </p:nvPr>
        </p:nvSpPr>
        <p:spPr/>
        <p:txBody>
          <a:bodyPr/>
          <a:lstStyle/>
          <a:p>
            <a:fld id="{01F2A70B-78F2-4DCF-B53B-C990D2FAFB8A}" type="slidenum">
              <a:rPr lang="en-US" smtClean="0"/>
              <a:t>26</a:t>
            </a:fld>
            <a:endParaRPr lang="en-US"/>
          </a:p>
        </p:txBody>
      </p:sp>
    </p:spTree>
    <p:extLst>
      <p:ext uri="{BB962C8B-B14F-4D97-AF65-F5344CB8AC3E}">
        <p14:creationId xmlns:p14="http://schemas.microsoft.com/office/powerpoint/2010/main" val="338246532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a:t>
            </a:r>
            <a:r>
              <a:rPr lang="en-US" baseline="0" dirty="0"/>
              <a:t> raster analysis tasks rely on comparing a raster grid cell value to the values in neighboring cells. These types of processes go by many names including neighborhood analysis, moving window analysis, focal operations, and kernel analysis. </a:t>
            </a:r>
          </a:p>
          <a:p>
            <a:fld id="{535A03F9-4C87-411F-9746-655BA8C450D7}" type="slidenum">
              <a:rPr lang="en-US" baseline="0" smtClean="0"/>
              <a:t>28</a:t>
            </a:fld>
            <a:fld id="{886684C5-D1FE-4D62-9851-8A7844765CA2}" type="slidenum">
              <a:rPr lang="en-US" baseline="0" smtClean="0"/>
              <a:t>28</a:t>
            </a:fld>
            <a:endParaRPr lang="en-US" baseline="0" dirty="0"/>
          </a:p>
          <a:p>
            <a:r>
              <a:rPr lang="en-US" baseline="0" dirty="0"/>
              <a:t>Further, these types of processes are not limited to geospatial analysis. Similar techniques are used to  blur or sharpen photographs in digital photo editing software packages. </a:t>
            </a:r>
          </a:p>
          <a:p>
            <a:endParaRPr lang="en-US" baseline="0" dirty="0"/>
          </a:p>
          <a:p>
            <a:r>
              <a:rPr lang="en-US" baseline="0" dirty="0"/>
              <a:t>These methods function by moving a window over the raster surface. A calculation is performed based on the cell values within the moving window. The result is then written to a new raster at the location associated with the cell at the center of the window. </a:t>
            </a:r>
          </a:p>
          <a:p>
            <a:endParaRPr lang="en-US" baseline="0" dirty="0"/>
          </a:p>
          <a:p>
            <a:r>
              <a:rPr lang="en-US" baseline="0" dirty="0"/>
              <a:t>The window then moves on to the next cell, using a different center cell and window. The calculation is performed again and the process continues until all cells have been used as the center cell. </a:t>
            </a:r>
          </a:p>
          <a:p>
            <a:endParaRPr lang="en-US" baseline="0" dirty="0"/>
          </a:p>
          <a:p>
            <a:r>
              <a:rPr lang="en-US" baseline="0" dirty="0"/>
              <a:t>Advance through the following slides to see the progression of the moving window. This 3 by 3 cell window will move over the raster grid and perform a calculation. For example, the mean of the cells within the window could be calculated then returned to a new cell at the location of the center cell in the grid. The window will then move on to the next cell and perform the calculation again.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28</a:t>
            </a:fld>
            <a:endParaRPr lang="en-US"/>
          </a:p>
        </p:txBody>
      </p:sp>
    </p:spTree>
    <p:extLst>
      <p:ext uri="{BB962C8B-B14F-4D97-AF65-F5344CB8AC3E}">
        <p14:creationId xmlns:p14="http://schemas.microsoft.com/office/powerpoint/2010/main" val="380995322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Moving</a:t>
            </a:r>
            <a:r>
              <a:rPr lang="en-US" baseline="0" dirty="0"/>
              <a:t> windows can have different sizes and shapes. The examples here represent rectangular or square windows. The first example measures 3 by 3 cells and the second measures 5 by 5 cells. </a:t>
            </a:r>
          </a:p>
          <a:p>
            <a:endParaRPr lang="en-US" baseline="0" dirty="0"/>
          </a:p>
          <a:p>
            <a:r>
              <a:rPr lang="en-US" baseline="0" dirty="0"/>
              <a:t>Generally, an odd number is used so that there is a center cell.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33</a:t>
            </a:fld>
            <a:endParaRPr lang="en-US"/>
          </a:p>
        </p:txBody>
      </p:sp>
    </p:spTree>
    <p:extLst>
      <p:ext uri="{BB962C8B-B14F-4D97-AF65-F5344CB8AC3E}">
        <p14:creationId xmlns:p14="http://schemas.microsoft.com/office/powerpoint/2010/main" val="55954900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Circular</a:t>
            </a:r>
            <a:r>
              <a:rPr lang="en-US" baseline="0" dirty="0"/>
              <a:t> windows can also be used. When using a circular window, a radius is defined relative to the map units or a number of cells. The examples here represent circular windows with radii of 1 and 2 cells.</a:t>
            </a:r>
          </a:p>
          <a:p>
            <a:endParaRPr lang="en-US" baseline="0" dirty="0"/>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34</a:t>
            </a:fld>
            <a:endParaRPr lang="en-US"/>
          </a:p>
        </p:txBody>
      </p:sp>
    </p:spTree>
    <p:extLst>
      <p:ext uri="{BB962C8B-B14F-4D97-AF65-F5344CB8AC3E}">
        <p14:creationId xmlns:p14="http://schemas.microsoft.com/office/powerpoint/2010/main" val="37175840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Focal</a:t>
            </a:r>
            <a:r>
              <a:rPr lang="en-US" baseline="0" dirty="0"/>
              <a:t> statistics is a type of moving window analysis. As the name implies, this method is used to calculate a statistic within a moving window. </a:t>
            </a:r>
          </a:p>
          <a:p>
            <a:endParaRPr lang="en-US" baseline="0" dirty="0"/>
          </a:p>
          <a:p>
            <a:r>
              <a:rPr lang="en-US" baseline="0" dirty="0"/>
              <a:t>As the window progresses over the raster grid, the resulting statistic is written to a new cell at the center cell location. The process continues to perform the calculation using all the cells in the original grid as the center cell. </a:t>
            </a:r>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36</a:t>
            </a:fld>
            <a:endParaRPr lang="en-US"/>
          </a:p>
        </p:txBody>
      </p:sp>
    </p:spTree>
    <p:extLst>
      <p:ext uri="{BB962C8B-B14F-4D97-AF65-F5344CB8AC3E}">
        <p14:creationId xmlns:p14="http://schemas.microsoft.com/office/powerpoint/2010/main" val="36624347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Circular</a:t>
            </a:r>
            <a:r>
              <a:rPr lang="en-US" baseline="0" dirty="0"/>
              <a:t> windows can also be used. When using a circular window, a radius is defined relative to the map units or a number of cells. The examples here represent circular windows with radii of 1 and 2 cells.</a:t>
            </a:r>
          </a:p>
          <a:p>
            <a:endParaRPr lang="en-US" baseline="0" dirty="0"/>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37</a:t>
            </a:fld>
            <a:endParaRPr lang="en-US"/>
          </a:p>
        </p:txBody>
      </p:sp>
    </p:spTree>
    <p:extLst>
      <p:ext uri="{BB962C8B-B14F-4D97-AF65-F5344CB8AC3E}">
        <p14:creationId xmlns:p14="http://schemas.microsoft.com/office/powerpoint/2010/main" val="372915943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Circular</a:t>
            </a:r>
            <a:r>
              <a:rPr lang="en-US" baseline="0" dirty="0"/>
              <a:t> windows can also be used. When using a circular window, a radius is defined relative to the map units or a number of cells. The examples here represent circular windows with radii of 1 and 2 cells.</a:t>
            </a:r>
          </a:p>
          <a:p>
            <a:endParaRPr lang="en-US" baseline="0" dirty="0"/>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38</a:t>
            </a:fld>
            <a:endParaRPr lang="en-US"/>
          </a:p>
        </p:txBody>
      </p:sp>
    </p:spTree>
    <p:extLst>
      <p:ext uri="{BB962C8B-B14F-4D97-AF65-F5344CB8AC3E}">
        <p14:creationId xmlns:p14="http://schemas.microsoft.com/office/powerpoint/2010/main" val="280426869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variety</a:t>
            </a:r>
            <a:r>
              <a:rPr lang="en-US" baseline="0" dirty="0"/>
              <a:t> of statistics can be calculated using focal statistics. </a:t>
            </a:r>
          </a:p>
          <a:p>
            <a:endParaRPr lang="en-US" baseline="0" dirty="0"/>
          </a:p>
          <a:p>
            <a:r>
              <a:rPr lang="en-US" baseline="0" dirty="0"/>
              <a:t>For a continuous surface, such as a digital elevation model or a topographic slope grid, the mean, maximum, median, minimum, range, standard deviation, or sum may be calculated.</a:t>
            </a:r>
          </a:p>
          <a:p>
            <a:endParaRPr lang="en-US" baseline="0" dirty="0"/>
          </a:p>
          <a:p>
            <a:r>
              <a:rPr lang="en-US" baseline="0" dirty="0"/>
              <a:t>Many statistical values don’t make sense for categorical raster grids, such as land cover. However, the majority, minority, or variety could be calculated. </a:t>
            </a:r>
          </a:p>
          <a:p>
            <a:endParaRPr lang="en-US" baseline="0" dirty="0"/>
          </a:p>
          <a:p>
            <a:r>
              <a:rPr lang="en-US" baseline="0" dirty="0"/>
              <a:t>As an example, the variety measure would calculate the number of unique categories within the moving window. </a:t>
            </a:r>
          </a:p>
          <a:p>
            <a:endParaRPr lang="en-US" baseline="0" dirty="0"/>
          </a:p>
          <a:p>
            <a:r>
              <a:rPr lang="en-US" baseline="0" dirty="0"/>
              <a:t>Take some time to review the available statistics presented on this slide. </a:t>
            </a:r>
          </a:p>
          <a:p>
            <a:endParaRPr lang="en-US" baseline="0" dirty="0"/>
          </a:p>
          <a:p>
            <a:r>
              <a:rPr lang="en-US" baseline="0" dirty="0"/>
              <a:t>As a final note, larger windows sizes are generally used to represent more coarse or generalized patterns while smaller windows are used to represent more local patterns. </a:t>
            </a:r>
          </a:p>
          <a:p>
            <a:endParaRPr lang="en-US" baseline="0" dirty="0"/>
          </a:p>
          <a:p>
            <a:r>
              <a:rPr lang="en-US" baseline="0" dirty="0"/>
              <a:t>There is not necessarily a correct window size. Instead, this depends on the use case. If you are not sure what window size to use, I would recommend experimenting with multiple window sizes. </a:t>
            </a:r>
          </a:p>
          <a:p>
            <a:endParaRPr lang="en-US" baseline="0" dirty="0"/>
          </a:p>
          <a:p>
            <a:r>
              <a:rPr lang="en-US" baseline="0" dirty="0"/>
              <a:t>It is also possible to make a calculation using different window sizes then take an average.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39</a:t>
            </a:fld>
            <a:endParaRPr lang="en-US"/>
          </a:p>
        </p:txBody>
      </p:sp>
    </p:spTree>
    <p:extLst>
      <p:ext uri="{BB962C8B-B14F-4D97-AF65-F5344CB8AC3E}">
        <p14:creationId xmlns:p14="http://schemas.microsoft.com/office/powerpoint/2010/main" val="26956182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Moving</a:t>
            </a:r>
            <a:r>
              <a:rPr lang="en-US" baseline="0" dirty="0"/>
              <a:t> window analyses also have applications in remote sensing.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40</a:t>
            </a:fld>
            <a:endParaRPr lang="en-US"/>
          </a:p>
        </p:txBody>
      </p:sp>
    </p:spTree>
    <p:extLst>
      <p:ext uri="{BB962C8B-B14F-4D97-AF65-F5344CB8AC3E}">
        <p14:creationId xmlns:p14="http://schemas.microsoft.com/office/powerpoint/2010/main" val="1376904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a:t>
            </a:r>
            <a:r>
              <a:rPr lang="en-US" baseline="0" dirty="0"/>
              <a:t> may have occurred to you that cells near the edge of the raster may not have a full set of neighbors as demonstrated in this slide. </a:t>
            </a:r>
          </a:p>
          <a:p>
            <a:endParaRPr lang="en-US" baseline="0" dirty="0"/>
          </a:p>
          <a:p>
            <a:r>
              <a:rPr lang="en-US" baseline="0" dirty="0"/>
              <a:t>In these situations, two options are available. First, the result could be calculated using only the available cells. Second, results could only be calculated for cells that have a full set of neighbors. </a:t>
            </a:r>
          </a:p>
          <a:p>
            <a:endParaRPr lang="en-US" baseline="0" dirty="0"/>
          </a:p>
          <a:p>
            <a:r>
              <a:rPr lang="en-US" baseline="0" dirty="0"/>
              <a:t>If the second option is used, the size of the raster grid, or the number of rows and columns, will be reduced.</a:t>
            </a:r>
          </a:p>
          <a:p>
            <a:endParaRPr lang="en-US" baseline="0" dirty="0"/>
          </a:p>
          <a:p>
            <a:r>
              <a:rPr lang="en-US" baseline="0" dirty="0"/>
              <a:t>If you are concerned with this issue, I would recommend running an analysis using a larger extent than is required. That way, you will always have a full set of cells to cover the extent of interest.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41</a:t>
            </a:fld>
            <a:endParaRPr lang="en-US"/>
          </a:p>
        </p:txBody>
      </p:sp>
    </p:spTree>
    <p:extLst>
      <p:ext uri="{BB962C8B-B14F-4D97-AF65-F5344CB8AC3E}">
        <p14:creationId xmlns:p14="http://schemas.microsoft.com/office/powerpoint/2010/main" val="325447186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a:t>
            </a:r>
            <a:r>
              <a:rPr lang="en-US" baseline="0" dirty="0"/>
              <a:t> may have occurred to you that cells near the edge of the raster may not have a full set of neighbors as demonstrated in this slide. </a:t>
            </a:r>
          </a:p>
          <a:p>
            <a:endParaRPr lang="en-US" baseline="0" dirty="0"/>
          </a:p>
          <a:p>
            <a:r>
              <a:rPr lang="en-US" baseline="0" dirty="0"/>
              <a:t>In these situations, two options are available. First, the result could be calculated using only the available cells. Second, results could only be calculated for cells that have a full set of neighbors. </a:t>
            </a:r>
          </a:p>
          <a:p>
            <a:endParaRPr lang="en-US" baseline="0" dirty="0"/>
          </a:p>
          <a:p>
            <a:r>
              <a:rPr lang="en-US" baseline="0" dirty="0"/>
              <a:t>If the second option is used, the size of the raster grid, or the number of rows and columns, will be reduced.</a:t>
            </a:r>
          </a:p>
          <a:p>
            <a:endParaRPr lang="en-US" baseline="0" dirty="0"/>
          </a:p>
          <a:p>
            <a:r>
              <a:rPr lang="en-US" baseline="0" dirty="0"/>
              <a:t>If you are concerned with this issue, I would recommend running an analysis using a larger extent than is required. That way, you will always have a full set of cells to cover the extent of interest.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42</a:t>
            </a:fld>
            <a:endParaRPr lang="en-US"/>
          </a:p>
        </p:txBody>
      </p:sp>
    </p:spTree>
    <p:extLst>
      <p:ext uri="{BB962C8B-B14F-4D97-AF65-F5344CB8AC3E}">
        <p14:creationId xmlns:p14="http://schemas.microsoft.com/office/powerpoint/2010/main" val="67377144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Euclidean distance simply</a:t>
            </a:r>
            <a:r>
              <a:rPr lang="en-US" baseline="0" dirty="0"/>
              <a:t> represents the straight line distance from a cell to the nearest input feature. As an example, the surface shown here represents the straight line distance from the cell to the nearest major road. </a:t>
            </a:r>
          </a:p>
          <a:p>
            <a:endParaRPr lang="en-US" baseline="0" dirty="0"/>
          </a:p>
          <a:p>
            <a:r>
              <a:rPr lang="en-US" baseline="0" dirty="0"/>
              <a:t>Each cell is coded with the distance to the nearest input feature.</a:t>
            </a:r>
          </a:p>
          <a:p>
            <a:endParaRPr lang="en-US" baseline="0" dirty="0"/>
          </a:p>
          <a:p>
            <a:r>
              <a:rPr lang="en-US" baseline="0" dirty="0"/>
              <a:t>It is also possible to define a maximum distance. If a cell is further then the maximum distance from the nearest input feature, then it will not be calculated.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44</a:t>
            </a:fld>
            <a:endParaRPr lang="en-US"/>
          </a:p>
        </p:txBody>
      </p:sp>
    </p:spTree>
    <p:extLst>
      <p:ext uri="{BB962C8B-B14F-4D97-AF65-F5344CB8AC3E}">
        <p14:creationId xmlns:p14="http://schemas.microsoft.com/office/powerpoint/2010/main" val="286209261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Cost distance is</a:t>
            </a:r>
            <a:r>
              <a:rPr lang="en-US" baseline="0" dirty="0"/>
              <a:t> similar to Euclidean distance. However, it allows for a measure of cost or impedance to be applied. </a:t>
            </a:r>
          </a:p>
          <a:p>
            <a:endParaRPr lang="en-US" baseline="0" dirty="0"/>
          </a:p>
          <a:p>
            <a:r>
              <a:rPr lang="en-US" baseline="0" dirty="0"/>
              <a:t>The example in this slide represents distance from streams weighted by slope. So, topographic slope is being used as a measure of cost or impedance of travel away from streams.</a:t>
            </a:r>
          </a:p>
          <a:p>
            <a:endParaRPr lang="en-US" baseline="0" dirty="0"/>
          </a:p>
          <a:p>
            <a:r>
              <a:rPr lang="en-US" baseline="0" dirty="0"/>
              <a:t>This specific result could be useful for delineating floodplains or riparian areas.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46</a:t>
            </a:fld>
            <a:endParaRPr lang="en-US"/>
          </a:p>
        </p:txBody>
      </p:sp>
    </p:spTree>
    <p:extLst>
      <p:ext uri="{BB962C8B-B14F-4D97-AF65-F5344CB8AC3E}">
        <p14:creationId xmlns:p14="http://schemas.microsoft.com/office/powerpoint/2010/main" val="29955421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raster generalization methods that we will discuss</a:t>
            </a:r>
            <a:r>
              <a:rPr lang="en-US" baseline="0" dirty="0"/>
              <a:t> here are only applicable to categorical raster grids, such as land cover. </a:t>
            </a:r>
          </a:p>
          <a:p>
            <a:endParaRPr lang="en-US" baseline="0" dirty="0"/>
          </a:p>
          <a:p>
            <a:r>
              <a:rPr lang="en-US" baseline="0" dirty="0"/>
              <a:t>First, we will discuss majority filtering. Majority filtering can be used to replace a cell value with a different value based on neighboring cells. </a:t>
            </a:r>
          </a:p>
          <a:p>
            <a:endParaRPr lang="en-US" baseline="0" dirty="0"/>
          </a:p>
          <a:p>
            <a:r>
              <a:rPr lang="en-US" baseline="0" dirty="0"/>
              <a:t>Generally, this is performed using a 3 by 3 moving window, so this is another example of a method that makes use of neighborhood analysis. </a:t>
            </a:r>
          </a:p>
          <a:p>
            <a:endParaRPr lang="en-US" baseline="0" dirty="0"/>
          </a:p>
          <a:p>
            <a:r>
              <a:rPr lang="en-US" baseline="0" dirty="0"/>
              <a:t>Specifically, this method is used to replace a cell value with the majority cell value of the neighboring cells. </a:t>
            </a:r>
          </a:p>
          <a:p>
            <a:endParaRPr lang="en-US" baseline="0" dirty="0"/>
          </a:p>
          <a:p>
            <a:r>
              <a:rPr lang="en-US" baseline="0" dirty="0"/>
              <a:t>If the FOUR method is used, then only orthogonal cells will be considered. These are the cells that share a side with the center cell. </a:t>
            </a:r>
          </a:p>
          <a:p>
            <a:endParaRPr lang="en-US" baseline="0" dirty="0"/>
          </a:p>
          <a:p>
            <a:r>
              <a:rPr lang="en-US" baseline="0" dirty="0"/>
              <a:t>If the EIGHT method is used, then all eight neighboring cells will be considered, or the four orthogonal and four diagonal cells. </a:t>
            </a:r>
          </a:p>
          <a:p>
            <a:endParaRPr lang="en-US" baseline="0" dirty="0"/>
          </a:p>
          <a:p>
            <a:r>
              <a:rPr lang="en-US" baseline="0" dirty="0"/>
              <a:t>If the Majority setting is applied, then the cell value will only be changed if a majority or more than half of the neighbors contain the new cell value.</a:t>
            </a:r>
          </a:p>
          <a:p>
            <a:endParaRPr lang="en-US" baseline="0" dirty="0"/>
          </a:p>
          <a:p>
            <a:r>
              <a:rPr lang="en-US" baseline="0" dirty="0"/>
              <a:t>If the Half setting is used, then at least half of the neighboring cells must contain the cell value. </a:t>
            </a:r>
          </a:p>
          <a:p>
            <a:endParaRPr lang="en-US" baseline="0" dirty="0"/>
          </a:p>
          <a:p>
            <a:r>
              <a:rPr lang="en-US" baseline="0" dirty="0"/>
              <a:t>In the example provided here, if EIGHT and Majority were used then the cell value would be changed to 30. This is because 30 is the majority value in the eight neighboring cells, as five of the eight cells contain this value. </a:t>
            </a:r>
          </a:p>
          <a:p>
            <a:endParaRPr lang="en-US" baseline="0" dirty="0"/>
          </a:p>
          <a:p>
            <a:r>
              <a:rPr lang="en-US" baseline="0" dirty="0"/>
              <a:t>If the FOUR and majority method were used, then the center cell value would be maintained as 20, since there are two 30 and two 20 cells in regards to the orthogonal neighbors, so there is no majority.</a:t>
            </a:r>
          </a:p>
          <a:p>
            <a:endParaRPr lang="en-US" baseline="0" dirty="0"/>
          </a:p>
          <a:p>
            <a:r>
              <a:rPr lang="en-US" baseline="0" dirty="0"/>
              <a:t>Regardless of the settings used, the 3 by 3 moving window will move through the grid to perform this calculation using each cell as the center cell.</a:t>
            </a:r>
          </a:p>
          <a:p>
            <a:endParaRPr lang="en-US" baseline="0" dirty="0"/>
          </a:p>
          <a:p>
            <a:r>
              <a:rPr lang="en-US" baseline="0" dirty="0"/>
              <a:t>A common application of majority filtering is to reduce the salt and pepper effect that commonly results from image classification. Pixels that are different from their neighbors can be recoded to the majority value of their neighbors, thus reducing the salt and pepper issue. </a:t>
            </a:r>
          </a:p>
        </p:txBody>
      </p:sp>
      <p:sp>
        <p:nvSpPr>
          <p:cNvPr id="4" name="Slide Number Placeholder 3"/>
          <p:cNvSpPr>
            <a:spLocks noGrp="1"/>
          </p:cNvSpPr>
          <p:nvPr>
            <p:ph type="sldNum" sz="quarter" idx="10"/>
          </p:nvPr>
        </p:nvSpPr>
        <p:spPr/>
        <p:txBody>
          <a:bodyPr/>
          <a:lstStyle/>
          <a:p>
            <a:fld id="{01F2A70B-78F2-4DCF-B53B-C990D2FAFB8A}" type="slidenum">
              <a:rPr lang="en-US" smtClean="0"/>
              <a:t>48</a:t>
            </a:fld>
            <a:endParaRPr lang="en-US"/>
          </a:p>
        </p:txBody>
      </p:sp>
    </p:spTree>
    <p:extLst>
      <p:ext uri="{BB962C8B-B14F-4D97-AF65-F5344CB8AC3E}">
        <p14:creationId xmlns:p14="http://schemas.microsoft.com/office/powerpoint/2010/main" val="321246160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Region group</a:t>
            </a:r>
            <a:r>
              <a:rPr lang="en-US" baseline="0" dirty="0"/>
              <a:t> is used to code all regions in a categorical raster to a unique code. So, any contiguous set of pixels that have the same code will be grouped, and each of these unique regions will be assigned a unique code. </a:t>
            </a:r>
          </a:p>
          <a:p>
            <a:endParaRPr lang="en-US" baseline="0" dirty="0"/>
          </a:p>
          <a:p>
            <a:r>
              <a:rPr lang="en-US" baseline="0" dirty="0"/>
              <a:t>The goal here is to identify contiguous regions of the same category.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49</a:t>
            </a:fld>
            <a:endParaRPr lang="en-US"/>
          </a:p>
        </p:txBody>
      </p:sp>
    </p:spTree>
    <p:extLst>
      <p:ext uri="{BB962C8B-B14F-4D97-AF65-F5344CB8AC3E}">
        <p14:creationId xmlns:p14="http://schemas.microsoft.com/office/powerpoint/2010/main" val="317264072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50</a:t>
            </a:fld>
            <a:endParaRPr lang="en-US"/>
          </a:p>
        </p:txBody>
      </p:sp>
    </p:spTree>
    <p:extLst>
      <p:ext uri="{BB962C8B-B14F-4D97-AF65-F5344CB8AC3E}">
        <p14:creationId xmlns:p14="http://schemas.microsoft.com/office/powerpoint/2010/main" val="236301259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a:t>
            </a:r>
            <a:r>
              <a:rPr lang="en-US" baseline="0" dirty="0"/>
              <a:t> performing region grouping, similar to majority filtering, the FOUR or EIGHT methods can be applied. </a:t>
            </a:r>
          </a:p>
          <a:p>
            <a:endParaRPr lang="en-US" baseline="0" dirty="0"/>
          </a:p>
          <a:p>
            <a:r>
              <a:rPr lang="en-US" baseline="0" dirty="0"/>
              <a:t>If the EIGHT method is applied, an area of the same code will be considered contiguous even if the pixels only touch diagonally. </a:t>
            </a:r>
          </a:p>
          <a:p>
            <a:endParaRPr lang="en-US" baseline="0" dirty="0"/>
          </a:p>
          <a:p>
            <a:r>
              <a:rPr lang="en-US" baseline="0" dirty="0"/>
              <a:t>In contrast, when using the FOUR method an area will only be considered contiguous if the cells share a side, or are orthogonal. </a:t>
            </a:r>
          </a:p>
          <a:p>
            <a:endParaRPr lang="en-US" baseline="0" dirty="0"/>
          </a:p>
          <a:p>
            <a:r>
              <a:rPr lang="en-US" baseline="0" dirty="0"/>
              <a:t>Generally, the FOUR method will yield more unique regions than the EIGHT method.</a:t>
            </a:r>
          </a:p>
          <a:p>
            <a:endParaRPr lang="en-US" baseline="0" dirty="0"/>
          </a:p>
          <a:p>
            <a:r>
              <a:rPr lang="en-US" baseline="0" dirty="0"/>
              <a:t>Once regions have been assigned unique codes, they can be converted to polygons with or without simplification. </a:t>
            </a:r>
          </a:p>
          <a:p>
            <a:endParaRPr lang="en-US" baseline="0" dirty="0"/>
          </a:p>
          <a:p>
            <a:r>
              <a:rPr lang="en-US" baseline="0" dirty="0"/>
              <a:t>If no simplification is applied, then the polygons will follow the boundaries of the cells. </a:t>
            </a:r>
          </a:p>
          <a:p>
            <a:endParaRPr lang="en-US" baseline="0" dirty="0"/>
          </a:p>
          <a:p>
            <a:r>
              <a:rPr lang="en-US" b="0" i="0" dirty="0">
                <a:solidFill>
                  <a:srgbClr val="4D4D4D"/>
                </a:solidFill>
                <a:effectLst/>
                <a:latin typeface="Lucida Grande"/>
              </a:rPr>
              <a:t>Defines connectivity between cells of the same value only if the cells are directly to the left, right, above, or below each of the four nearest neighbors. If two cells with the same value are diagonal from one another, they are not considered connected.</a:t>
            </a:r>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51</a:t>
            </a:fld>
            <a:endParaRPr lang="en-US"/>
          </a:p>
        </p:txBody>
      </p:sp>
    </p:spTree>
    <p:extLst>
      <p:ext uri="{BB962C8B-B14F-4D97-AF65-F5344CB8AC3E}">
        <p14:creationId xmlns:p14="http://schemas.microsoft.com/office/powerpoint/2010/main" val="385061208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Expand</a:t>
            </a:r>
            <a:r>
              <a:rPr lang="en-US" baseline="0" dirty="0"/>
              <a:t> is used to extend a certain code or category out by a defined number of cells.</a:t>
            </a:r>
          </a:p>
          <a:p>
            <a:endParaRPr lang="en-US" baseline="0" dirty="0"/>
          </a:p>
          <a:p>
            <a:r>
              <a:rPr lang="en-US" baseline="0" dirty="0"/>
              <a:t>In the example provided, the green cells represent forest and the gray cells represent all other categories. </a:t>
            </a:r>
          </a:p>
          <a:p>
            <a:endParaRPr lang="en-US" baseline="0" dirty="0"/>
          </a:p>
          <a:p>
            <a:r>
              <a:rPr lang="en-US" baseline="0" dirty="0"/>
              <a:t>Using Expand, the forest areas have been expand by 5 cells or 150 meters, reducing the area of not forest.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52</a:t>
            </a:fld>
            <a:endParaRPr lang="en-US"/>
          </a:p>
        </p:txBody>
      </p:sp>
    </p:spTree>
    <p:extLst>
      <p:ext uri="{BB962C8B-B14F-4D97-AF65-F5344CB8AC3E}">
        <p14:creationId xmlns:p14="http://schemas.microsoft.com/office/powerpoint/2010/main" val="220598201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Shrink is the opposite</a:t>
            </a:r>
            <a:r>
              <a:rPr lang="en-US" baseline="0" dirty="0"/>
              <a:t> of expand. Instead of expanding areas with a certain code or value, that code or value is reduced. </a:t>
            </a:r>
          </a:p>
          <a:p>
            <a:endParaRPr lang="en-US" baseline="0" dirty="0"/>
          </a:p>
          <a:p>
            <a:r>
              <a:rPr lang="en-US" baseline="0" dirty="0"/>
              <a:t>The areas that are reduced for this class are replaced with the most frequent value or code in its neighborhood.</a:t>
            </a:r>
          </a:p>
          <a:p>
            <a:endParaRPr lang="en-US" baseline="0" dirty="0"/>
          </a:p>
          <a:p>
            <a:r>
              <a:rPr lang="en-US" baseline="0" dirty="0"/>
              <a:t>In the example above, the forest class has been reduced by 5 cells or 150 meters. Cells in these areas have been recoded as not forest.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53</a:t>
            </a:fld>
            <a:endParaRPr lang="en-US"/>
          </a:p>
        </p:txBody>
      </p:sp>
    </p:spTree>
    <p:extLst>
      <p:ext uri="{BB962C8B-B14F-4D97-AF65-F5344CB8AC3E}">
        <p14:creationId xmlns:p14="http://schemas.microsoft.com/office/powerpoint/2010/main" val="340559823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Nibble is used to replace cells values</a:t>
            </a:r>
            <a:r>
              <a:rPr lang="en-US" baseline="0" dirty="0"/>
              <a:t> with the nearest cell value that is not masked out. </a:t>
            </a:r>
          </a:p>
          <a:p>
            <a:endParaRPr lang="en-US" baseline="0" dirty="0"/>
          </a:p>
          <a:p>
            <a:r>
              <a:rPr lang="en-US" baseline="0" dirty="0"/>
              <a:t>In the example above, the red areas indicate some level of development. We would like to remove these areas and replace them with the nearest non-developed category.</a:t>
            </a:r>
          </a:p>
          <a:p>
            <a:endParaRPr lang="en-US" baseline="0" dirty="0"/>
          </a:p>
          <a:p>
            <a:r>
              <a:rPr lang="en-US" baseline="0" dirty="0"/>
              <a:t>To accomplish this task, a mask is produced. This mask is used to mask out all developed areas.</a:t>
            </a:r>
          </a:p>
          <a:p>
            <a:endParaRPr lang="en-US" baseline="0" dirty="0"/>
          </a:p>
          <a:p>
            <a:r>
              <a:rPr lang="en-US" baseline="0" dirty="0"/>
              <a:t>Using this mask, areas that are developed will be recoded as the nearest code that is not developed, since all developed areas were masked out.</a:t>
            </a:r>
          </a:p>
          <a:p>
            <a:endParaRPr lang="en-US" baseline="0" dirty="0"/>
          </a:p>
          <a:p>
            <a:r>
              <a:rPr lang="en-US" baseline="0" dirty="0"/>
              <a:t>Progress to the next slide to see the result.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54</a:t>
            </a:fld>
            <a:endParaRPr lang="en-US"/>
          </a:p>
        </p:txBody>
      </p:sp>
    </p:spTree>
    <p:extLst>
      <p:ext uri="{BB962C8B-B14F-4D97-AF65-F5344CB8AC3E}">
        <p14:creationId xmlns:p14="http://schemas.microsoft.com/office/powerpoint/2010/main" val="370146499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you can see,</a:t>
            </a:r>
            <a:r>
              <a:rPr lang="en-US" baseline="0" dirty="0"/>
              <a:t> the developed cells have now been replaced by the nearest non-developed category, effectively removing this class from the dataset.</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55</a:t>
            </a:fld>
            <a:endParaRPr lang="en-US"/>
          </a:p>
        </p:txBody>
      </p:sp>
    </p:spTree>
    <p:extLst>
      <p:ext uri="{BB962C8B-B14F-4D97-AF65-F5344CB8AC3E}">
        <p14:creationId xmlns:p14="http://schemas.microsoft.com/office/powerpoint/2010/main" val="276973772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a last example of raster generalization methods, sieving can be used to remove areas</a:t>
            </a:r>
            <a:r>
              <a:rPr lang="en-US" baseline="0" dirty="0"/>
              <a:t> of the same category that are smaller than a certain size. </a:t>
            </a:r>
          </a:p>
          <a:p>
            <a:endParaRPr lang="en-US" baseline="0" dirty="0"/>
          </a:p>
          <a:p>
            <a:r>
              <a:rPr lang="en-US" baseline="0" dirty="0"/>
              <a:t>The user must define a minimal size area to maintain as a land area or number of cells. </a:t>
            </a:r>
          </a:p>
          <a:p>
            <a:endParaRPr lang="en-US" baseline="0" dirty="0"/>
          </a:p>
          <a:p>
            <a:r>
              <a:rPr lang="en-US" baseline="0" dirty="0"/>
              <a:t>The tool will then find all contiguous regions that are smaller than this defined size. Once these areas are found they will be removed and assigned to the surrounding class. </a:t>
            </a:r>
          </a:p>
          <a:p>
            <a:endParaRPr lang="en-US" baseline="0" dirty="0"/>
          </a:p>
          <a:p>
            <a:r>
              <a:rPr lang="en-US" baseline="0" dirty="0"/>
              <a:t>As an example, this tool could be used to remove small areas in a land cover classification that are smaller than a defined size. For example, small barren areas within a forested extent could be removed and coded as forest.</a:t>
            </a:r>
          </a:p>
          <a:p>
            <a:endParaRPr lang="en-US" baseline="0" dirty="0"/>
          </a:p>
          <a:p>
            <a:r>
              <a:rPr lang="en-US" baseline="0" dirty="0"/>
              <a:t>This method can be used to remove the salt and pepper effect common in land cover classifications. </a:t>
            </a:r>
          </a:p>
          <a:p>
            <a:endParaRPr lang="en-US" baseline="0" dirty="0"/>
          </a:p>
          <a:p>
            <a:r>
              <a:rPr lang="en-US" baseline="0" dirty="0"/>
              <a:t>Additionally, this method can be used to approximate a minimal mapping unit. Areas smaller than the minimal mapping unit can be recoded and assigned to the surrounding class. </a:t>
            </a:r>
          </a:p>
        </p:txBody>
      </p:sp>
      <p:sp>
        <p:nvSpPr>
          <p:cNvPr id="4" name="Slide Number Placeholder 3"/>
          <p:cNvSpPr>
            <a:spLocks noGrp="1"/>
          </p:cNvSpPr>
          <p:nvPr>
            <p:ph type="sldNum" sz="quarter" idx="10"/>
          </p:nvPr>
        </p:nvSpPr>
        <p:spPr/>
        <p:txBody>
          <a:bodyPr/>
          <a:lstStyle/>
          <a:p>
            <a:fld id="{01F2A70B-78F2-4DCF-B53B-C990D2FAFB8A}" type="slidenum">
              <a:rPr lang="en-US" smtClean="0"/>
              <a:t>56</a:t>
            </a:fld>
            <a:endParaRPr lang="en-US"/>
          </a:p>
        </p:txBody>
      </p:sp>
    </p:spTree>
    <p:extLst>
      <p:ext uri="{BB962C8B-B14F-4D97-AF65-F5344CB8AC3E}">
        <p14:creationId xmlns:p14="http://schemas.microsoft.com/office/powerpoint/2010/main" val="293110193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common spatial analysis task is to summarize raster data relative</a:t>
            </a:r>
            <a:r>
              <a:rPr lang="en-US" baseline="0" dirty="0"/>
              <a:t> to vector data. For example, you may want to summarize continuous raster data relative to polygons.</a:t>
            </a:r>
          </a:p>
          <a:p>
            <a:endParaRPr lang="en-US" baseline="0" dirty="0"/>
          </a:p>
          <a:p>
            <a:r>
              <a:rPr lang="en-US" baseline="0" dirty="0"/>
              <a:t>This can be accomplished using the Zonal Statistics Tool.</a:t>
            </a:r>
          </a:p>
          <a:p>
            <a:endParaRPr lang="en-US" baseline="0" dirty="0"/>
          </a:p>
          <a:p>
            <a:r>
              <a:rPr lang="en-US" baseline="0" dirty="0"/>
              <a:t>This method will calculate a statistical measure, such as the mean, median, standard deviation, minimum, or maximum, from the cell values within a zone. </a:t>
            </a:r>
          </a:p>
          <a:p>
            <a:endParaRPr lang="en-US" baseline="0" dirty="0"/>
          </a:p>
          <a:p>
            <a:r>
              <a:rPr lang="en-US" baseline="0" dirty="0"/>
              <a:t>The zones can be defined using a categorical raster or vector polygons. If vector polygons are used, then they will be converted to raster zones prior to the summarization. </a:t>
            </a:r>
          </a:p>
          <a:p>
            <a:endParaRPr lang="en-US" baseline="0" dirty="0"/>
          </a:p>
          <a:p>
            <a:r>
              <a:rPr lang="en-US" baseline="0" dirty="0"/>
              <a:t>As a result, this method generally will not work correctly if overlapping polygons are used, since only one code can be assigned to each cell. </a:t>
            </a:r>
          </a:p>
          <a:p>
            <a:endParaRPr lang="en-US" baseline="0" dirty="0"/>
          </a:p>
          <a:p>
            <a:r>
              <a:rPr lang="en-US" baseline="0" dirty="0"/>
              <a:t>The result will be a statistical measure that will be the same for each cell within each zone. </a:t>
            </a:r>
          </a:p>
          <a:p>
            <a:endParaRPr lang="en-US" baseline="0" dirty="0"/>
          </a:p>
          <a:p>
            <a:r>
              <a:rPr lang="en-US" baseline="0" dirty="0"/>
              <a:t>The example above shows the range of elevation for each county in West Virginia. Since the zones were defined as counties, all cells in the same county were assigned the same value, in this case the elevation range.</a:t>
            </a:r>
          </a:p>
          <a:p>
            <a:endParaRPr lang="en-US" baseline="0" dirty="0"/>
          </a:p>
          <a:p>
            <a:r>
              <a:rPr lang="en-US" baseline="0" dirty="0"/>
              <a:t>Since a singe band raster is produced, only one statistical measure can be generated at a time. </a:t>
            </a:r>
          </a:p>
        </p:txBody>
      </p:sp>
      <p:sp>
        <p:nvSpPr>
          <p:cNvPr id="4" name="Slide Number Placeholder 3"/>
          <p:cNvSpPr>
            <a:spLocks noGrp="1"/>
          </p:cNvSpPr>
          <p:nvPr>
            <p:ph type="sldNum" sz="quarter" idx="10"/>
          </p:nvPr>
        </p:nvSpPr>
        <p:spPr/>
        <p:txBody>
          <a:bodyPr/>
          <a:lstStyle/>
          <a:p>
            <a:fld id="{01F2A70B-78F2-4DCF-B53B-C990D2FAFB8A}" type="slidenum">
              <a:rPr lang="en-US" smtClean="0"/>
              <a:t>58</a:t>
            </a:fld>
            <a:endParaRPr lang="en-US"/>
          </a:p>
        </p:txBody>
      </p:sp>
    </p:spTree>
    <p:extLst>
      <p:ext uri="{BB962C8B-B14F-4D97-AF65-F5344CB8AC3E}">
        <p14:creationId xmlns:p14="http://schemas.microsoft.com/office/powerpoint/2010/main" val="40494833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common spatial analysis task is to summarize raster data relative</a:t>
            </a:r>
            <a:r>
              <a:rPr lang="en-US" baseline="0" dirty="0"/>
              <a:t> to vector data. For example, you may want to summarize continuous raster data relative to polygons.</a:t>
            </a:r>
          </a:p>
          <a:p>
            <a:endParaRPr lang="en-US" baseline="0" dirty="0"/>
          </a:p>
          <a:p>
            <a:r>
              <a:rPr lang="en-US" baseline="0" dirty="0"/>
              <a:t>This can be accomplished using the Zonal Statistics Tool.</a:t>
            </a:r>
          </a:p>
          <a:p>
            <a:endParaRPr lang="en-US" baseline="0" dirty="0"/>
          </a:p>
          <a:p>
            <a:r>
              <a:rPr lang="en-US" baseline="0" dirty="0"/>
              <a:t>This method will calculate a statistical measure, such as the mean, median, standard deviation, minimum, or maximum, from the cell values within a zone. </a:t>
            </a:r>
          </a:p>
          <a:p>
            <a:endParaRPr lang="en-US" baseline="0" dirty="0"/>
          </a:p>
          <a:p>
            <a:r>
              <a:rPr lang="en-US" baseline="0" dirty="0"/>
              <a:t>The zones can be defined using a categorical raster or vector polygons. If vector polygons are used, then they will be converted to raster zones prior to the summarization. </a:t>
            </a:r>
          </a:p>
          <a:p>
            <a:endParaRPr lang="en-US" baseline="0" dirty="0"/>
          </a:p>
          <a:p>
            <a:r>
              <a:rPr lang="en-US" baseline="0" dirty="0"/>
              <a:t>As a result, this method generally will not work correctly if overlapping polygons are used, since only one code can be assigned to each cell. </a:t>
            </a:r>
          </a:p>
          <a:p>
            <a:endParaRPr lang="en-US" baseline="0" dirty="0"/>
          </a:p>
          <a:p>
            <a:r>
              <a:rPr lang="en-US" baseline="0" dirty="0"/>
              <a:t>The result will be a statistical measure that will be the same for each cell within each zone. </a:t>
            </a:r>
          </a:p>
          <a:p>
            <a:endParaRPr lang="en-US" baseline="0" dirty="0"/>
          </a:p>
          <a:p>
            <a:r>
              <a:rPr lang="en-US" baseline="0" dirty="0"/>
              <a:t>The example above shows the range of elevation for each county in West Virginia. Since the zones were defined as counties, all cells in the same county were assigned the same value, in this case the elevation range.</a:t>
            </a:r>
          </a:p>
          <a:p>
            <a:endParaRPr lang="en-US" baseline="0" dirty="0"/>
          </a:p>
          <a:p>
            <a:r>
              <a:rPr lang="en-US" baseline="0" dirty="0"/>
              <a:t>Since a singe band raster is produced, only one statistical measure can be generated at a time. </a:t>
            </a:r>
          </a:p>
        </p:txBody>
      </p:sp>
      <p:sp>
        <p:nvSpPr>
          <p:cNvPr id="4" name="Slide Number Placeholder 3"/>
          <p:cNvSpPr>
            <a:spLocks noGrp="1"/>
          </p:cNvSpPr>
          <p:nvPr>
            <p:ph type="sldNum" sz="quarter" idx="10"/>
          </p:nvPr>
        </p:nvSpPr>
        <p:spPr/>
        <p:txBody>
          <a:bodyPr/>
          <a:lstStyle/>
          <a:p>
            <a:fld id="{01F2A70B-78F2-4DCF-B53B-C990D2FAFB8A}" type="slidenum">
              <a:rPr lang="en-US" smtClean="0"/>
              <a:t>59</a:t>
            </a:fld>
            <a:endParaRPr lang="en-US"/>
          </a:p>
        </p:txBody>
      </p:sp>
    </p:spTree>
    <p:extLst>
      <p:ext uri="{BB962C8B-B14F-4D97-AF65-F5344CB8AC3E}">
        <p14:creationId xmlns:p14="http://schemas.microsoft.com/office/powerpoint/2010/main" val="368885893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a:t>
            </a:r>
            <a:r>
              <a:rPr lang="en-US" baseline="0" dirty="0"/>
              <a:t> you would like to calculate multiple statistics in a table format, this can be accomplished using Zonal Statistics as Table. </a:t>
            </a:r>
          </a:p>
          <a:p>
            <a:endParaRPr lang="en-US" baseline="0" dirty="0"/>
          </a:p>
          <a:p>
            <a:r>
              <a:rPr lang="en-US" baseline="0" dirty="0"/>
              <a:t>Instead of producing a raster output for a single statistical measure, a table output is generated that can provide multiple statistical measures.</a:t>
            </a:r>
          </a:p>
          <a:p>
            <a:endParaRPr lang="en-US" baseline="0" dirty="0"/>
          </a:p>
          <a:p>
            <a:r>
              <a:rPr lang="en-US" baseline="0" dirty="0"/>
              <a:t>Each row in the table will correspond to a zone, in this example a specific county. </a:t>
            </a:r>
          </a:p>
          <a:p>
            <a:endParaRPr lang="en-US" baseline="0" dirty="0"/>
          </a:p>
          <a:p>
            <a:r>
              <a:rPr lang="en-US" baseline="0" dirty="0"/>
              <a:t>If you would like to associate these results with the original zones, this can be accomplished using a table join. Here, this table could be joined back to the county vector file using the shared NAME field. </a:t>
            </a:r>
          </a:p>
        </p:txBody>
      </p:sp>
      <p:sp>
        <p:nvSpPr>
          <p:cNvPr id="4" name="Slide Number Placeholder 3"/>
          <p:cNvSpPr>
            <a:spLocks noGrp="1"/>
          </p:cNvSpPr>
          <p:nvPr>
            <p:ph type="sldNum" sz="quarter" idx="10"/>
          </p:nvPr>
        </p:nvSpPr>
        <p:spPr/>
        <p:txBody>
          <a:bodyPr/>
          <a:lstStyle/>
          <a:p>
            <a:fld id="{01F2A70B-78F2-4DCF-B53B-C990D2FAFB8A}" type="slidenum">
              <a:rPr lang="en-US" smtClean="0"/>
              <a:t>60</a:t>
            </a:fld>
            <a:endParaRPr lang="en-US"/>
          </a:p>
        </p:txBody>
      </p:sp>
    </p:spTree>
    <p:extLst>
      <p:ext uri="{BB962C8B-B14F-4D97-AF65-F5344CB8AC3E}">
        <p14:creationId xmlns:p14="http://schemas.microsoft.com/office/powerpoint/2010/main" val="195968089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a:t>
            </a:r>
            <a:r>
              <a:rPr lang="en-US" baseline="0" dirty="0"/>
              <a:t> Zonal Statistics tools are designed to provide summary statistics relative to zones and are generally more applicable for summarizing continuous raster data, such as a digital elevation model.</a:t>
            </a:r>
          </a:p>
          <a:p>
            <a:endParaRPr lang="en-US" baseline="0" dirty="0"/>
          </a:p>
          <a:p>
            <a:r>
              <a:rPr lang="en-US" baseline="0" dirty="0"/>
              <a:t>If you would like to summarize categorical raster data, such as land cover, this can be accomplished using the Tabulate Area Tool. </a:t>
            </a:r>
          </a:p>
          <a:p>
            <a:endParaRPr lang="en-US" baseline="0" dirty="0"/>
          </a:p>
          <a:p>
            <a:r>
              <a:rPr lang="en-US" baseline="0" dirty="0"/>
              <a:t>The output will be a table that provides the land area of each category within each zone. </a:t>
            </a:r>
          </a:p>
          <a:p>
            <a:endParaRPr lang="en-US" baseline="0" dirty="0"/>
          </a:p>
          <a:p>
            <a:r>
              <a:rPr lang="en-US" baseline="0" dirty="0"/>
              <a:t>If you would like to obtain the percentage of the land area as opposed to the area, then you could perform table calculations in new fields.</a:t>
            </a:r>
          </a:p>
          <a:p>
            <a:endParaRPr lang="en-US" baseline="0" dirty="0"/>
          </a:p>
          <a:p>
            <a:r>
              <a:rPr lang="en-US" baseline="0" dirty="0"/>
              <a:t>This table could also be joined to the original zone using a table join for further analysis.</a:t>
            </a:r>
          </a:p>
          <a:p>
            <a:endParaRPr lang="en-US" baseline="0" dirty="0"/>
          </a:p>
          <a:p>
            <a:r>
              <a:rPr lang="en-US" baseline="0" dirty="0"/>
              <a:t>Similar to the Zonal Statistics tools, vector polygon zones will be converted to raster zones to perform the summarization. So, incorrect results will be produced for overlapping polygons.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61</a:t>
            </a:fld>
            <a:endParaRPr lang="en-US"/>
          </a:p>
        </p:txBody>
      </p:sp>
    </p:spTree>
    <p:extLst>
      <p:ext uri="{BB962C8B-B14F-4D97-AF65-F5344CB8AC3E}">
        <p14:creationId xmlns:p14="http://schemas.microsoft.com/office/powerpoint/2010/main" val="109700378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is also possible</a:t>
            </a:r>
            <a:r>
              <a:rPr lang="en-US" baseline="0" dirty="0"/>
              <a:t> to extract values at points. The result will be a new field in the attribute table for the point layer that holds the cell value from a raster grid occurring at that location. </a:t>
            </a:r>
          </a:p>
          <a:p>
            <a:endParaRPr lang="en-US" baseline="0" dirty="0"/>
          </a:p>
          <a:p>
            <a:r>
              <a:rPr lang="en-US" baseline="0" dirty="0"/>
              <a:t>This is an easy way to extract cell values at point locations in preparation for later analysis.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62</a:t>
            </a:fld>
            <a:endParaRPr lang="en-US"/>
          </a:p>
        </p:txBody>
      </p:sp>
    </p:spTree>
    <p:extLst>
      <p:ext uri="{BB962C8B-B14F-4D97-AF65-F5344CB8AC3E}">
        <p14:creationId xmlns:p14="http://schemas.microsoft.com/office/powerpoint/2010/main" val="3941277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may be interested in obtaining</a:t>
            </a:r>
            <a:r>
              <a:rPr lang="en-US" baseline="0" dirty="0"/>
              <a:t> a raster-based measure of density for point or line features. This can be accomplished using the Point Density or Line Density tools. </a:t>
            </a:r>
          </a:p>
          <a:p>
            <a:endParaRPr lang="en-US" baseline="0" dirty="0"/>
          </a:p>
          <a:p>
            <a:r>
              <a:rPr lang="en-US" baseline="0" dirty="0"/>
              <a:t>These tool are yet another example of methods that make use of neighborhood analysis or moving windows.</a:t>
            </a:r>
          </a:p>
          <a:p>
            <a:endParaRPr lang="en-US" baseline="0" dirty="0"/>
          </a:p>
          <a:p>
            <a:r>
              <a:rPr lang="en-US" baseline="0" dirty="0"/>
              <a:t>The user must define the size and shape of the moving window. The tool then will calculate the number of points or length of lines within the window. </a:t>
            </a:r>
          </a:p>
          <a:p>
            <a:endParaRPr lang="en-US" baseline="0" dirty="0"/>
          </a:p>
          <a:p>
            <a:r>
              <a:rPr lang="en-US" baseline="0" dirty="0"/>
              <a:t>On the center cell for each window, the tool will return a measure of density. For points this will be the number of points per unit area. </a:t>
            </a:r>
          </a:p>
          <a:p>
            <a:endParaRPr lang="en-US" baseline="0" dirty="0"/>
          </a:p>
          <a:p>
            <a:r>
              <a:rPr lang="en-US" baseline="0" dirty="0"/>
              <a:t>For lines, this will be the length of lines per unit area. </a:t>
            </a:r>
          </a:p>
          <a:p>
            <a:endParaRPr lang="en-US" baseline="0" dirty="0"/>
          </a:p>
          <a:p>
            <a:r>
              <a:rPr lang="en-US" baseline="0" dirty="0"/>
              <a:t>The size and shape of the window can have a large impact on the output. More global or generalized patterns will be produced with larger windows whereas more local patterns will be observed if a smaller window is used. </a:t>
            </a:r>
          </a:p>
          <a:p>
            <a:endParaRPr lang="en-US" baseline="0" dirty="0"/>
          </a:p>
          <a:p>
            <a:r>
              <a:rPr lang="en-US" baseline="0" dirty="0"/>
              <a:t>There is not necessarily a correct window size, as this depends on the goals of the analysis. </a:t>
            </a:r>
          </a:p>
        </p:txBody>
      </p:sp>
      <p:sp>
        <p:nvSpPr>
          <p:cNvPr id="4" name="Slide Number Placeholder 3"/>
          <p:cNvSpPr>
            <a:spLocks noGrp="1"/>
          </p:cNvSpPr>
          <p:nvPr>
            <p:ph type="sldNum" sz="quarter" idx="10"/>
          </p:nvPr>
        </p:nvSpPr>
        <p:spPr/>
        <p:txBody>
          <a:bodyPr/>
          <a:lstStyle/>
          <a:p>
            <a:fld id="{01F2A70B-78F2-4DCF-B53B-C990D2FAFB8A}" type="slidenum">
              <a:rPr lang="en-US" smtClean="0"/>
              <a:t>64</a:t>
            </a:fld>
            <a:endParaRPr lang="en-US"/>
          </a:p>
        </p:txBody>
      </p:sp>
    </p:spTree>
    <p:extLst>
      <p:ext uri="{BB962C8B-B14F-4D97-AF65-F5344CB8AC3E}">
        <p14:creationId xmlns:p14="http://schemas.microsoft.com/office/powerpoint/2010/main" val="407671465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Kernel</a:t>
            </a:r>
            <a:r>
              <a:rPr lang="en-US" baseline="0" dirty="0"/>
              <a:t> density is similar to point or line density, accept that a different method is used to calculate density. </a:t>
            </a:r>
          </a:p>
          <a:p>
            <a:endParaRPr lang="en-US" baseline="0" dirty="0"/>
          </a:p>
          <a:p>
            <a:r>
              <a:rPr lang="en-US" baseline="0" dirty="0"/>
              <a:t>Specifically, this method makes use of a kernel function. The next slide provides and explanation of this method.</a:t>
            </a:r>
          </a:p>
          <a:p>
            <a:endParaRPr lang="en-US" baseline="0" dirty="0"/>
          </a:p>
          <a:p>
            <a:r>
              <a:rPr lang="en-US" baseline="0" dirty="0"/>
              <a:t>Please take the time to read through this explanation.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65</a:t>
            </a:fld>
            <a:endParaRPr lang="en-US"/>
          </a:p>
        </p:txBody>
      </p:sp>
    </p:spTree>
    <p:extLst>
      <p:ext uri="{BB962C8B-B14F-4D97-AF65-F5344CB8AC3E}">
        <p14:creationId xmlns:p14="http://schemas.microsoft.com/office/powerpoint/2010/main" val="410018428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Instead of extracting</a:t>
            </a:r>
            <a:r>
              <a:rPr lang="en-US" baseline="0" dirty="0"/>
              <a:t> a portion of a raster grid, you might be interested in combining multiple raster grids. This is a common task performed for image data. As another example, multiple digital elevation models could be merged to create an elevation surface that fills a larger spatial extent. This process can be accomplished using the Mosaic to New Raster Tool. </a:t>
            </a:r>
          </a:p>
          <a:p>
            <a:endParaRPr lang="en-US" baseline="0" dirty="0"/>
          </a:p>
          <a:p>
            <a:r>
              <a:rPr lang="en-US" baseline="0" dirty="0"/>
              <a:t>This tool will require you to define a pixel type (8-bit, 16-bit, float, etc.), a file extension (I commonly use Image or TIFF), an output cell size, and the number of bands. </a:t>
            </a:r>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67</a:t>
            </a:fld>
            <a:endParaRPr lang="en-US"/>
          </a:p>
        </p:txBody>
      </p:sp>
    </p:spTree>
    <p:extLst>
      <p:ext uri="{BB962C8B-B14F-4D97-AF65-F5344CB8AC3E}">
        <p14:creationId xmlns:p14="http://schemas.microsoft.com/office/powerpoint/2010/main" val="263927718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Instead of extracting</a:t>
            </a:r>
            <a:r>
              <a:rPr lang="en-US" baseline="0" dirty="0"/>
              <a:t> a portion of a raster grid, you might be interested in combining multiple raster grids. This is a common task performed for image data. As another example, multiple digital elevation models could be merged to create an elevation surface that fills a larger spatial extent. This process can be accomplished using the Mosaic to New Raster Tool. </a:t>
            </a:r>
          </a:p>
          <a:p>
            <a:endParaRPr lang="en-US" baseline="0" dirty="0"/>
          </a:p>
          <a:p>
            <a:r>
              <a:rPr lang="en-US" baseline="0" dirty="0"/>
              <a:t>This tool will require you to define a pixel type (8-bit, 16-bit, float, etc.), a file extension (I commonly use Image or TIFF), an output cell size, and the number of bands. </a:t>
            </a:r>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68</a:t>
            </a:fld>
            <a:endParaRPr lang="en-US"/>
          </a:p>
        </p:txBody>
      </p:sp>
    </p:spTree>
    <p:extLst>
      <p:ext uri="{BB962C8B-B14F-4D97-AF65-F5344CB8AC3E}">
        <p14:creationId xmlns:p14="http://schemas.microsoft.com/office/powerpoint/2010/main" val="78914390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you have overlapping</a:t>
            </a:r>
            <a:r>
              <a:rPr lang="en-US" baseline="0" dirty="0"/>
              <a:t> values, a method must be applied to obtain the cell value in the overlapping areas. When there is no overlap, the decision is easy, as there is only on cell value. </a:t>
            </a:r>
          </a:p>
          <a:p>
            <a:endParaRPr lang="en-US" baseline="0" dirty="0"/>
          </a:p>
          <a:p>
            <a:r>
              <a:rPr lang="en-US" baseline="0" dirty="0"/>
              <a:t>For continuous data, many methods are available, including first, last, mean, maximum, and minimum. Since categorical data cannot be averaged, first or last are commonly used. </a:t>
            </a:r>
          </a:p>
          <a:p>
            <a:endParaRPr lang="en-US" baseline="0" dirty="0"/>
          </a:p>
          <a:p>
            <a:r>
              <a:rPr lang="en-US" baseline="0" dirty="0"/>
              <a:t>Take some time to review the methods described on the slide.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69</a:t>
            </a:fld>
            <a:endParaRPr lang="en-US"/>
          </a:p>
        </p:txBody>
      </p:sp>
    </p:spTree>
    <p:extLst>
      <p:ext uri="{BB962C8B-B14F-4D97-AF65-F5344CB8AC3E}">
        <p14:creationId xmlns:p14="http://schemas.microsoft.com/office/powerpoint/2010/main" val="164055921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you have overlapping</a:t>
            </a:r>
            <a:r>
              <a:rPr lang="en-US" baseline="0" dirty="0"/>
              <a:t> values, a method must be applied to obtain the cell value in the overlapping areas. When there is no overlap, the decision is easy, as there is only on cell value. </a:t>
            </a:r>
          </a:p>
          <a:p>
            <a:endParaRPr lang="en-US" baseline="0" dirty="0"/>
          </a:p>
          <a:p>
            <a:r>
              <a:rPr lang="en-US" baseline="0" dirty="0"/>
              <a:t>For continuous data, many methods are available, including first, last, mean, maximum, and minimum. Since categorical data cannot be averaged, first or last are commonly used. </a:t>
            </a:r>
          </a:p>
          <a:p>
            <a:endParaRPr lang="en-US" baseline="0" dirty="0"/>
          </a:p>
          <a:p>
            <a:r>
              <a:rPr lang="en-US" baseline="0" dirty="0"/>
              <a:t>Take some time to review the methods described on the slide.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70</a:t>
            </a:fld>
            <a:endParaRPr lang="en-US"/>
          </a:p>
        </p:txBody>
      </p:sp>
    </p:spTree>
    <p:extLst>
      <p:ext uri="{BB962C8B-B14F-4D97-AF65-F5344CB8AC3E}">
        <p14:creationId xmlns:p14="http://schemas.microsoft.com/office/powerpoint/2010/main" val="297095990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a:t>
            </a:r>
            <a:r>
              <a:rPr lang="en-US" baseline="0" dirty="0"/>
              <a:t> a note, other tools are available to mosaic raster data. The Mosaic Pro Tool within </a:t>
            </a:r>
            <a:r>
              <a:rPr lang="en-US" baseline="0" dirty="0" err="1"/>
              <a:t>Erdas</a:t>
            </a:r>
            <a:r>
              <a:rPr lang="en-US" baseline="0" dirty="0"/>
              <a:t> Imagine is commonly used to mosaic image data. I have found this tool to be fast. It also offers more advanced color balancing methods that can be of great value when combining images. It also allows you to write the result to multiple files as opposed to a single, continuous dataset. This is valuable if the output will be very large.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71</a:t>
            </a:fld>
            <a:endParaRPr lang="en-US"/>
          </a:p>
        </p:txBody>
      </p:sp>
    </p:spTree>
    <p:extLst>
      <p:ext uri="{BB962C8B-B14F-4D97-AF65-F5344CB8AC3E}">
        <p14:creationId xmlns:p14="http://schemas.microsoft.com/office/powerpoint/2010/main" val="412707880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Raster datasets</a:t>
            </a:r>
            <a:r>
              <a:rPr lang="en-US" baseline="0" dirty="0"/>
              <a:t> can be large files, especially if they cover a large spatial extent and/or have a small cell size. This can result in slow display.</a:t>
            </a:r>
          </a:p>
          <a:p>
            <a:endParaRPr lang="en-US" baseline="0" dirty="0"/>
          </a:p>
          <a:p>
            <a:r>
              <a:rPr lang="en-US" baseline="0" dirty="0"/>
              <a:t>Building pyramid layers provides a means to improve the display speed and performance or raster layers. </a:t>
            </a:r>
          </a:p>
          <a:p>
            <a:endParaRPr lang="en-US" baseline="0" dirty="0"/>
          </a:p>
          <a:p>
            <a:r>
              <a:rPr lang="en-US" baseline="0" dirty="0"/>
              <a:t>Pyramids are reduced spatial resolution versions of the data. When you are zoomed out, the reduce resolution data are drawn. The high spatial resolution data are not drawn until you zoom in. </a:t>
            </a:r>
          </a:p>
          <a:p>
            <a:endParaRPr lang="en-US" baseline="0" dirty="0"/>
          </a:p>
          <a:p>
            <a:r>
              <a:rPr lang="en-US" baseline="0" dirty="0"/>
              <a:t>This can greatly improve display speed as you zoom in and out or pan around. </a:t>
            </a:r>
          </a:p>
          <a:p>
            <a:endParaRPr lang="en-US" baseline="0" dirty="0"/>
          </a:p>
          <a:p>
            <a:r>
              <a:rPr lang="en-US" baseline="0" dirty="0"/>
              <a:t>If you plan to work with raster data, especially if you will need to zoom and pan around the data, such as when digitizing, I highly recommend building pyramids. This process can be slow, but it may save you time in the long run. </a:t>
            </a:r>
          </a:p>
        </p:txBody>
      </p:sp>
      <p:sp>
        <p:nvSpPr>
          <p:cNvPr id="4" name="Slide Number Placeholder 3"/>
          <p:cNvSpPr>
            <a:spLocks noGrp="1"/>
          </p:cNvSpPr>
          <p:nvPr>
            <p:ph type="sldNum" sz="quarter" idx="10"/>
          </p:nvPr>
        </p:nvSpPr>
        <p:spPr/>
        <p:txBody>
          <a:bodyPr/>
          <a:lstStyle/>
          <a:p>
            <a:fld id="{01F2A70B-78F2-4DCF-B53B-C990D2FAFB8A}" type="slidenum">
              <a:rPr lang="en-US" smtClean="0"/>
              <a:t>72</a:t>
            </a:fld>
            <a:endParaRPr lang="en-US"/>
          </a:p>
        </p:txBody>
      </p:sp>
    </p:spTree>
    <p:extLst>
      <p:ext uri="{BB962C8B-B14F-4D97-AF65-F5344CB8AC3E}">
        <p14:creationId xmlns:p14="http://schemas.microsoft.com/office/powerpoint/2010/main" val="23738598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many other environments that are available in</a:t>
            </a:r>
            <a:r>
              <a:rPr lang="en-US" baseline="0" dirty="0"/>
              <a:t> which to perform spatial analysis and work with raster data. </a:t>
            </a:r>
          </a:p>
          <a:p>
            <a:endParaRPr lang="en-US" baseline="0" dirty="0"/>
          </a:p>
          <a:p>
            <a:r>
              <a:rPr lang="en-US" baseline="0" dirty="0"/>
              <a:t>Although we mainly work with ArcGIS Pro in this course, I wanted to take the time to note some other options.</a:t>
            </a:r>
          </a:p>
          <a:p>
            <a:endParaRPr lang="en-US" baseline="0" dirty="0"/>
          </a:p>
          <a:p>
            <a:r>
              <a:rPr lang="en-US" baseline="0" dirty="0"/>
              <a:t>There are several open-source and free software packages that can be used to perform spatial analysis, including QGIS and R.</a:t>
            </a:r>
          </a:p>
          <a:p>
            <a:endParaRPr lang="en-US" baseline="0" dirty="0"/>
          </a:p>
          <a:p>
            <a:r>
              <a:rPr lang="en-US" baseline="0" dirty="0"/>
              <a:t>Additionally, spatial analysis methods focused on imagery are provided by remote sensing software packages, such as </a:t>
            </a:r>
            <a:r>
              <a:rPr lang="en-US" baseline="0" dirty="0" err="1"/>
              <a:t>Erdas</a:t>
            </a:r>
            <a:r>
              <a:rPr lang="en-US" baseline="0" dirty="0"/>
              <a:t> Imagine and ENVI.</a:t>
            </a:r>
          </a:p>
          <a:p>
            <a:endParaRPr lang="en-US" baseline="0" dirty="0"/>
          </a:p>
          <a:p>
            <a:r>
              <a:rPr lang="en-US" baseline="0" dirty="0"/>
              <a:t>You will be introduced to these tools </a:t>
            </a:r>
            <a:r>
              <a:rPr lang="en-US" baseline="0"/>
              <a:t>in our </a:t>
            </a:r>
            <a:r>
              <a:rPr lang="en-US" baseline="0" dirty="0"/>
              <a:t>more advanced courses. </a:t>
            </a:r>
          </a:p>
        </p:txBody>
      </p:sp>
      <p:sp>
        <p:nvSpPr>
          <p:cNvPr id="4" name="Slide Number Placeholder 3"/>
          <p:cNvSpPr>
            <a:spLocks noGrp="1"/>
          </p:cNvSpPr>
          <p:nvPr>
            <p:ph type="sldNum" sz="quarter" idx="10"/>
          </p:nvPr>
        </p:nvSpPr>
        <p:spPr/>
        <p:txBody>
          <a:bodyPr/>
          <a:lstStyle/>
          <a:p>
            <a:fld id="{01F2A70B-78F2-4DCF-B53B-C990D2FAFB8A}" type="slidenum">
              <a:rPr lang="en-US" smtClean="0"/>
              <a:t>74</a:t>
            </a:fld>
            <a:endParaRPr lang="en-US"/>
          </a:p>
        </p:txBody>
      </p:sp>
    </p:spTree>
    <p:extLst>
      <p:ext uri="{BB962C8B-B14F-4D97-AF65-F5344CB8AC3E}">
        <p14:creationId xmlns:p14="http://schemas.microsoft.com/office/powerpoint/2010/main" val="40649165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Lastly,</a:t>
            </a:r>
            <a:r>
              <a:rPr lang="en-US" baseline="0" dirty="0"/>
              <a:t> spatial analysis can be performed in a code-based environment. </a:t>
            </a:r>
          </a:p>
          <a:p>
            <a:endParaRPr lang="en-US" baseline="0" dirty="0"/>
          </a:p>
          <a:p>
            <a:r>
              <a:rPr lang="en-US" baseline="0" dirty="0"/>
              <a:t>Using ESRI products, including ArcGIS Pro, Python can be applied to undertake a variety of tasks.</a:t>
            </a:r>
          </a:p>
          <a:p>
            <a:endParaRPr lang="en-US" baseline="0" dirty="0"/>
          </a:p>
          <a:p>
            <a:r>
              <a:rPr lang="en-US" baseline="0" dirty="0"/>
              <a:t>Python can be especially useful if you need to loop through data layers or automate a sequence of steps. </a:t>
            </a:r>
          </a:p>
          <a:p>
            <a:endParaRPr lang="en-US" baseline="0" dirty="0"/>
          </a:p>
          <a:p>
            <a:r>
              <a:rPr lang="en-US" baseline="0" dirty="0"/>
              <a:t>Python will be investigated in some of our more advanced courses.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75</a:t>
            </a:fld>
            <a:endParaRPr lang="en-US"/>
          </a:p>
        </p:txBody>
      </p:sp>
    </p:spTree>
    <p:extLst>
      <p:ext uri="{BB962C8B-B14F-4D97-AF65-F5344CB8AC3E}">
        <p14:creationId xmlns:p14="http://schemas.microsoft.com/office/powerpoint/2010/main" val="285503317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76</a:t>
            </a:fld>
            <a:endParaRPr lang="en-US"/>
          </a:p>
        </p:txBody>
      </p:sp>
    </p:spTree>
    <p:extLst>
      <p:ext uri="{BB962C8B-B14F-4D97-AF65-F5344CB8AC3E}">
        <p14:creationId xmlns:p14="http://schemas.microsoft.com/office/powerpoint/2010/main" val="29560076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11D767D-17E3-4D1E-96BB-DA35CA15E4FE}" type="datetime1">
              <a:rPr lang="en-US" smtClean="0"/>
              <a:t>11/10/2025</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9975976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AB21909-3392-4782-9617-9DE5612D5252}" type="datetime1">
              <a:rPr lang="en-US" smtClean="0"/>
              <a:t>11/10/2025</a:t>
            </a:fld>
            <a:endParaRPr lang="en-US"/>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873094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6909207B-903C-4CBB-B0DD-E4DD411966AE}" type="datetime1">
              <a:rPr lang="en-US" smtClean="0"/>
              <a:t>11/10/2025</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829021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17649B8-EC05-463A-A66A-E788C1D2E86C}" type="datetime1">
              <a:rPr lang="en-US" smtClean="0"/>
              <a:t>11/10/2025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6226261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7AE501-F489-46B4-B5B4-B12E557B3139}" type="datetime1">
              <a:rPr lang="en-US" smtClean="0"/>
              <a:t>11/10/2025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6074104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1DD6664-E707-48D9-B311-FA9B4261E5A6}" type="datetime1">
              <a:rPr lang="en-US" smtClean="0"/>
              <a:t>11/10/2025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7243819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4293017-F03B-40B8-AD31-7ED21B4434B8}" type="datetime1">
              <a:rPr lang="en-US" smtClean="0"/>
              <a:t>11/10/2025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679778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5BDE3B4A-8EBA-4FE6-84DB-F2E39CD94E77}" type="datetime1">
              <a:rPr lang="en-US" smtClean="0"/>
              <a:t>11/10/2025</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6762748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5" name="Date Placeholder 4"/>
          <p:cNvSpPr>
            <a:spLocks noGrp="1"/>
          </p:cNvSpPr>
          <p:nvPr>
            <p:ph type="dt" sz="half" idx="10"/>
          </p:nvPr>
        </p:nvSpPr>
        <p:spPr/>
        <p:txBody>
          <a:bodyPr/>
          <a:lstStyle/>
          <a:p>
            <a:fld id="{B854E19F-0053-4C74-A527-FD4BB23E2ACC}" type="datetime1">
              <a:rPr lang="en-US" smtClean="0"/>
              <a:t>11/10/2025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705428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13E6F1A-C16C-450C-BEFB-8D396364F893}" type="datetime1">
              <a:rPr lang="en-US" smtClean="0"/>
              <a:t>11/10/2025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9980803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DF49B77D-D3D5-40CA-A8C6-02A8FD74D428}" type="datetime1">
              <a:rPr lang="en-US" smtClean="0"/>
              <a:t>11/10/2025</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803975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458F2AB7-D7C2-4FC0-9B77-409FD6AFF150}" type="datetime1">
              <a:rPr lang="en-US" smtClean="0"/>
              <a:t>11/10/2025</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6465856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C0E9D82E-A9F0-4647-88F9-E986A304FBAF}" type="datetime1">
              <a:rPr lang="en-US" smtClean="0"/>
              <a:t>11/10/2025</a:t>
            </a:fld>
            <a:endParaRPr lang="en-US"/>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8150082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9DD0E878-F76E-4934-9A19-05DE793D2A8C}" type="datetime1">
              <a:rPr lang="en-US" smtClean="0"/>
              <a:t>11/10/2025</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0594924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6B1B743-59DB-43C7-B951-5342EB9E3BBF}" type="datetime1">
              <a:rPr lang="en-US" smtClean="0"/>
              <a:t>11/10/2025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9414324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DC93205-BFBB-4436-B6C0-0E1D677B6AC1}" type="datetime1">
              <a:rPr lang="en-US" smtClean="0"/>
              <a:t>11/10/2025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423024673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DC5A297-83F7-4A51-9FEC-585D7ED0CBAA}" type="datetime1">
              <a:rPr lang="en-US" smtClean="0"/>
              <a:t>11/10/2025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8538321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83EC919-DCEA-4797-B84E-1B0E268E8BA9}" type="datetime1">
              <a:rPr lang="en-US" smtClean="0"/>
              <a:t>11/10/2025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87409208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24C8802B-8D22-4029-8D00-88476FD1627A}" type="datetime1">
              <a:rPr lang="en-US" smtClean="0"/>
              <a:t>11/10/2025</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47747232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5" name="Date Placeholder 4"/>
          <p:cNvSpPr>
            <a:spLocks noGrp="1"/>
          </p:cNvSpPr>
          <p:nvPr>
            <p:ph type="dt" sz="half" idx="10"/>
          </p:nvPr>
        </p:nvSpPr>
        <p:spPr/>
        <p:txBody>
          <a:bodyPr/>
          <a:lstStyle/>
          <a:p>
            <a:fld id="{163145CA-56E1-42A8-A67B-556CB7EDF0AA}" type="datetime1">
              <a:rPr lang="en-US" smtClean="0"/>
              <a:t>11/10/2025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34514750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C7FD487-65F4-49B5-952B-819B559FF98A}" type="datetime1">
              <a:rPr lang="en-US" smtClean="0"/>
              <a:t>11/10/2025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71232900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2DC45528-D696-4A61-BD89-093665C9EB8C}" type="datetime1">
              <a:rPr lang="en-US" smtClean="0"/>
              <a:t>11/10/2025</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9491006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ltLang="zh-CN"/>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ltLang="zh-CN"/>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06A0FD2F-556E-43A6-BD1A-AE05D71D5ACE}" type="datetime1">
              <a:rPr lang="en-US" smtClean="0"/>
              <a:t>11/10/2025</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33470021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ltLang="zh-CN"/>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C4CA2D96-DD5E-4EE6-BA39-19B5C56AF1F2}" type="datetime1">
              <a:rPr lang="en-US" smtClean="0"/>
              <a:t>11/10/2025</a:t>
            </a:fld>
            <a:endParaRPr lang="en-US"/>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30378420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ltLang="zh-CN"/>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ltLang="zh-CN"/>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2C2D4BC3-0B93-4E0B-AE53-3E432262C0E4}" type="datetime1">
              <a:rPr lang="en-US" smtClean="0"/>
              <a:t>11/10/2025</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27798926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p:cNvSpPr>
            <a:spLocks noGrp="1"/>
          </p:cNvSpPr>
          <p:nvPr>
            <p:ph type="dt" sz="half" idx="10"/>
          </p:nvPr>
        </p:nvSpPr>
        <p:spPr/>
        <p:txBody>
          <a:bodyPr/>
          <a:lstStyle/>
          <a:p>
            <a:fld id="{A5CEA080-6A29-4A4D-90B1-4C73660CABD5}" type="datetime1">
              <a:rPr lang="en-US" smtClean="0"/>
              <a:t>11/10/2025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09949128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ltLang="zh-CN"/>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ltLang="zh-CN"/>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p:cNvSpPr>
            <a:spLocks noGrp="1"/>
          </p:cNvSpPr>
          <p:nvPr>
            <p:ph type="dt" sz="half" idx="10"/>
          </p:nvPr>
        </p:nvSpPr>
        <p:spPr/>
        <p:txBody>
          <a:bodyPr/>
          <a:lstStyle/>
          <a:p>
            <a:fld id="{4EFF1D62-0785-460A-9888-5F5908AD45F7}" type="datetime1">
              <a:rPr lang="en-US" smtClean="0"/>
              <a:t>11/10/2025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2780032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fld id="{4603F5A6-4790-4338-AC59-416730A16F3C}" type="datetime1">
              <a:rPr lang="en-US" smtClean="0"/>
              <a:t>11/10/2025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9421012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AF331C8-E8D8-438B-B699-9ACE625F3A09}" type="datetime1">
              <a:rPr lang="en-US" smtClean="0"/>
              <a:t>11/10/2025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56283914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ltLang="zh-CN"/>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610C12D3-F429-42CB-9467-4C3AFEEA173C}" type="datetime1">
              <a:rPr lang="en-US" smtClean="0"/>
              <a:t>11/10/2025</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29323191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ltLang="zh-CN"/>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283F426E-E29E-4D2E-B32D-412D98F7FC2F}" type="datetime1">
              <a:rPr lang="en-US" smtClean="0"/>
              <a:t>11/10/2025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89671977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A0F15864-78C5-4237-8A12-0D1FD4E5F0BD}" type="datetime1">
              <a:rPr lang="en-US" smtClean="0"/>
              <a:t>11/10/2025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413658077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AB9BBA17-EAD5-43A8-9481-F99B1E8564DB}" type="datetime1">
              <a:rPr lang="en-US" smtClean="0"/>
              <a:t>11/10/2025</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32617035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ltLang="zh-CN"/>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ltLang="zh-CN"/>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C6B0FEA4-C6CA-4262-94C7-989766AA3A47}" type="datetime1">
              <a:rPr lang="en-US" smtClean="0"/>
              <a:t>11/10/2025</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409333235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ltLang="zh-CN"/>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6F65A5F7-BE7B-4360-B821-FCDB8E9197AC}" type="datetime1">
              <a:rPr lang="en-US" smtClean="0"/>
              <a:t>11/10/2025</a:t>
            </a:fld>
            <a:endParaRPr lang="en-US"/>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51352223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ltLang="zh-CN"/>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ltLang="zh-CN"/>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6145D492-0F60-495A-BAAC-3C877C1D64A2}" type="datetime1">
              <a:rPr lang="en-US" smtClean="0"/>
              <a:t>11/10/2025</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65061309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p:cNvSpPr>
            <a:spLocks noGrp="1"/>
          </p:cNvSpPr>
          <p:nvPr>
            <p:ph type="dt" sz="half" idx="10"/>
          </p:nvPr>
        </p:nvSpPr>
        <p:spPr/>
        <p:txBody>
          <a:bodyPr/>
          <a:lstStyle/>
          <a:p>
            <a:fld id="{4A322FED-C97B-4E3C-B05B-1278829CCA0F}" type="datetime1">
              <a:rPr lang="en-US" smtClean="0"/>
              <a:t>11/10/2025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29800057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ltLang="zh-CN"/>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ltLang="zh-CN"/>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p:cNvSpPr>
            <a:spLocks noGrp="1"/>
          </p:cNvSpPr>
          <p:nvPr>
            <p:ph type="dt" sz="half" idx="10"/>
          </p:nvPr>
        </p:nvSpPr>
        <p:spPr/>
        <p:txBody>
          <a:bodyPr/>
          <a:lstStyle/>
          <a:p>
            <a:fld id="{1BBF91E7-DD27-45EE-9FAC-A58839C2E3FB}" type="datetime1">
              <a:rPr lang="en-US" smtClean="0"/>
              <a:t>11/10/2025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61471281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fld id="{470DB943-D34E-498D-BB5B-1BC0D01A4C3C}" type="datetime1">
              <a:rPr lang="en-US" smtClean="0"/>
              <a:t>11/10/2025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69745741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EF88AC7-A362-47DE-B037-3A7E785BA73D}" type="datetime1">
              <a:rPr lang="en-US" smtClean="0"/>
              <a:t>11/10/2025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50682096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ltLang="zh-CN"/>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1E09BAED-B7FC-4220-8037-60663F890984}" type="datetime1">
              <a:rPr lang="en-US" smtClean="0"/>
              <a:t>11/10/2025</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5078578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ltLang="zh-CN"/>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BB3C0B96-D43B-410F-A514-3967CACDF6C4}" type="datetime1">
              <a:rPr lang="en-US" smtClean="0"/>
              <a:t>11/10/2025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61609003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C63DFB46-027F-4778-8182-714012A6E051}" type="datetime1">
              <a:rPr lang="en-US" smtClean="0"/>
              <a:t>11/10/2025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02542521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770FD05A-9631-4BEE-9AA4-5575ADA850E9}" type="datetime1">
              <a:rPr lang="en-US" smtClean="0"/>
              <a:t>11/10/2025</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69534373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ltLang="zh-CN"/>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ltLang="zh-CN"/>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11/10/2025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81844170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ltLang="zh-CN"/>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11/10/2025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10540908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ltLang="zh-CN"/>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ltLang="zh-CN"/>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11/10/2025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96331240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11/10/2025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045425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ltLang="zh-CN"/>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ltLang="zh-CN"/>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11/10/2025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2865768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11/10/2025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4263335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11/10/2025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55801448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ltLang="zh-CN"/>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11/10/2025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93580424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ltLang="zh-CN"/>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11/10/2025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01537992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11/10/2025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0995597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11/10/2025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4741020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Title and body 1" preserve="1">
  <p:cSld name="Title and body 1">
    <p:spTree>
      <p:nvGrpSpPr>
        <p:cNvPr id="1" name="Shape 11"/>
        <p:cNvGrpSpPr/>
        <p:nvPr/>
      </p:nvGrpSpPr>
      <p:grpSpPr>
        <a:xfrm>
          <a:off x="0" y="0"/>
          <a:ext cx="0" cy="0"/>
          <a:chOff x="0" y="0"/>
          <a:chExt cx="0" cy="0"/>
        </a:xfrm>
      </p:grpSpPr>
      <p:sp>
        <p:nvSpPr>
          <p:cNvPr id="12" name="Google Shape;12;p2"/>
          <p:cNvSpPr txBox="1">
            <a:spLocks noGrp="1"/>
          </p:cNvSpPr>
          <p:nvPr>
            <p:ph type="title"/>
          </p:nvPr>
        </p:nvSpPr>
        <p:spPr>
          <a:xfrm>
            <a:off x="280530" y="597425"/>
            <a:ext cx="766854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200"/>
              <a:buFont typeface="Arial Black"/>
              <a:buNone/>
              <a:defRPr>
                <a:latin typeface="Arial Black"/>
                <a:ea typeface="Arial Black"/>
                <a:cs typeface="Arial Black"/>
                <a:sym typeface="Arial Black"/>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ltLang="zh-CN"/>
              <a:t>Click to edit Master title style</a:t>
            </a:r>
            <a:endParaRPr/>
          </a:p>
        </p:txBody>
      </p:sp>
    </p:spTree>
    <p:extLst>
      <p:ext uri="{BB962C8B-B14F-4D97-AF65-F5344CB8AC3E}">
        <p14:creationId xmlns:p14="http://schemas.microsoft.com/office/powerpoint/2010/main" val="242951814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11/10/2025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89005979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11/10/2025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8954721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11/10/2025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4456920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11/10/2025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83728576"/>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11/10/2025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9107235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11/10/2025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82579415"/>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11/10/2025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816433291"/>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11/10/2025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989300860"/>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11/10/2025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517769430"/>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11/10/2025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22895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11/10/2025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3732158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Title and body 1" preserve="1">
  <p:cSld name="Title and body 1">
    <p:spTree>
      <p:nvGrpSpPr>
        <p:cNvPr id="1" name="Shape 11"/>
        <p:cNvGrpSpPr/>
        <p:nvPr/>
      </p:nvGrpSpPr>
      <p:grpSpPr>
        <a:xfrm>
          <a:off x="0" y="0"/>
          <a:ext cx="0" cy="0"/>
          <a:chOff x="0" y="0"/>
          <a:chExt cx="0" cy="0"/>
        </a:xfrm>
      </p:grpSpPr>
      <p:sp>
        <p:nvSpPr>
          <p:cNvPr id="12" name="Google Shape;12;p2"/>
          <p:cNvSpPr txBox="1">
            <a:spLocks noGrp="1"/>
          </p:cNvSpPr>
          <p:nvPr>
            <p:ph type="title"/>
          </p:nvPr>
        </p:nvSpPr>
        <p:spPr>
          <a:xfrm>
            <a:off x="280530" y="597425"/>
            <a:ext cx="766854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200"/>
              <a:buFont typeface="Arial Black"/>
              <a:buNone/>
              <a:defRPr>
                <a:latin typeface="Arial Black"/>
                <a:ea typeface="Arial Black"/>
                <a:cs typeface="Arial Black"/>
                <a:sym typeface="Arial Black"/>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Tree>
    <p:extLst>
      <p:ext uri="{BB962C8B-B14F-4D97-AF65-F5344CB8AC3E}">
        <p14:creationId xmlns:p14="http://schemas.microsoft.com/office/powerpoint/2010/main" val="2218782265"/>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11/10/2025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87789369"/>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dirty="0"/>
              <a:t>Click to edit Master title style</a:t>
            </a:r>
          </a:p>
        </p:txBody>
      </p:sp>
      <p:sp>
        <p:nvSpPr>
          <p:cNvPr id="3" name="Content Placeholder 2"/>
          <p:cNvSpPr>
            <a:spLocks noGrp="1"/>
          </p:cNvSpPr>
          <p:nvPr>
            <p:ph idx="1"/>
          </p:nvPr>
        </p:nvSpPr>
        <p:spPr>
          <a:xfrm>
            <a:off x="392305" y="1755648"/>
            <a:ext cx="7444990" cy="272586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11/10/2025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10382716"/>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dirty="0"/>
              <a:t>Click to edit Master title style</a:t>
            </a:r>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11/10/2025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195682884"/>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7BFFD690-9426-415D-8B65-26881E07B2D4}" type="datetime1">
              <a:rPr lang="en-US" smtClean="0"/>
              <a:t>11/10/2025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230858120"/>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04C4989A-474C-40DE-95B9-011C28B71673}" type="datetime1">
              <a:rPr lang="en-US" smtClean="0"/>
              <a:t>11/10/2025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34910652"/>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11/10/2025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900371276"/>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11/10/2025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950989514"/>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11/10/2025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4088909669"/>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dirty="0"/>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11/10/2025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828775449"/>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11/10/2025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44629544"/>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11/10/2025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5111846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13" Type="http://schemas.openxmlformats.org/officeDocument/2006/relationships/theme" Target="../theme/theme5.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slideLayout" Target="../slideLayouts/slideLayout56.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4.xml"/><Relationship Id="rId13" Type="http://schemas.openxmlformats.org/officeDocument/2006/relationships/theme" Target="../theme/theme6.xml"/><Relationship Id="rId3" Type="http://schemas.openxmlformats.org/officeDocument/2006/relationships/slideLayout" Target="../slideLayouts/slideLayout59.xml"/><Relationship Id="rId7" Type="http://schemas.openxmlformats.org/officeDocument/2006/relationships/slideLayout" Target="../slideLayouts/slideLayout63.xml"/><Relationship Id="rId12" Type="http://schemas.openxmlformats.org/officeDocument/2006/relationships/slideLayout" Target="../slideLayouts/slideLayout68.xml"/><Relationship Id="rId2" Type="http://schemas.openxmlformats.org/officeDocument/2006/relationships/slideLayout" Target="../slideLayouts/slideLayout58.xml"/><Relationship Id="rId1" Type="http://schemas.openxmlformats.org/officeDocument/2006/relationships/slideLayout" Target="../slideLayouts/slideLayout57.xml"/><Relationship Id="rId6" Type="http://schemas.openxmlformats.org/officeDocument/2006/relationships/slideLayout" Target="../slideLayouts/slideLayout62.xml"/><Relationship Id="rId11" Type="http://schemas.openxmlformats.org/officeDocument/2006/relationships/slideLayout" Target="../slideLayouts/slideLayout67.xml"/><Relationship Id="rId5" Type="http://schemas.openxmlformats.org/officeDocument/2006/relationships/slideLayout" Target="../slideLayouts/slideLayout61.xml"/><Relationship Id="rId10" Type="http://schemas.openxmlformats.org/officeDocument/2006/relationships/slideLayout" Target="../slideLayouts/slideLayout66.xml"/><Relationship Id="rId4" Type="http://schemas.openxmlformats.org/officeDocument/2006/relationships/slideLayout" Target="../slideLayouts/slideLayout60.xml"/><Relationship Id="rId9" Type="http://schemas.openxmlformats.org/officeDocument/2006/relationships/slideLayout" Target="../slideLayouts/slideLayout65.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6.xml"/><Relationship Id="rId3" Type="http://schemas.openxmlformats.org/officeDocument/2006/relationships/slideLayout" Target="../slideLayouts/slideLayout71.xml"/><Relationship Id="rId7" Type="http://schemas.openxmlformats.org/officeDocument/2006/relationships/slideLayout" Target="../slideLayouts/slideLayout75.xml"/><Relationship Id="rId12" Type="http://schemas.openxmlformats.org/officeDocument/2006/relationships/theme" Target="../theme/theme7.xml"/><Relationship Id="rId2" Type="http://schemas.openxmlformats.org/officeDocument/2006/relationships/slideLayout" Target="../slideLayouts/slideLayout70.xml"/><Relationship Id="rId1" Type="http://schemas.openxmlformats.org/officeDocument/2006/relationships/slideLayout" Target="../slideLayouts/slideLayout69.xml"/><Relationship Id="rId6" Type="http://schemas.openxmlformats.org/officeDocument/2006/relationships/slideLayout" Target="../slideLayouts/slideLayout74.xml"/><Relationship Id="rId11" Type="http://schemas.openxmlformats.org/officeDocument/2006/relationships/slideLayout" Target="../slideLayouts/slideLayout79.xml"/><Relationship Id="rId5" Type="http://schemas.openxmlformats.org/officeDocument/2006/relationships/slideLayout" Target="../slideLayouts/slideLayout73.xml"/><Relationship Id="rId10" Type="http://schemas.openxmlformats.org/officeDocument/2006/relationships/slideLayout" Target="../slideLayouts/slideLayout78.xml"/><Relationship Id="rId4" Type="http://schemas.openxmlformats.org/officeDocument/2006/relationships/slideLayout" Target="../slideLayouts/slideLayout72.xml"/><Relationship Id="rId9" Type="http://schemas.openxmlformats.org/officeDocument/2006/relationships/slideLayout" Target="../slideLayouts/slideLayout7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18114C2F-5358-4C76-8C42-8AC3A60E1105}" type="datetime1">
              <a:rPr lang="en-US" smtClean="0"/>
              <a:t>11/10/2025</a:t>
            </a:fld>
            <a:endParaRPr lang="en-US"/>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127DDC20-79C9-9647-820E-6D40A3D210C3}" type="slidenum">
              <a:rPr lang="en-US" smtClean="0"/>
              <a:pPr/>
              <a:t>‹#›</a:t>
            </a:fld>
            <a:endParaRPr lang="en-US"/>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144066193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18E6E4F-7E83-4AED-9DA1-B735CD4C0E03}" type="datetime1">
              <a:rPr lang="en-US" smtClean="0"/>
              <a:t>11/10/2025</a:t>
            </a:fld>
            <a:endParaRPr lang="en-US"/>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127DDC20-79C9-9647-820E-6D40A3D210C3}" type="slidenum">
              <a:rPr lang="en-US" smtClean="0"/>
              <a:pPr/>
              <a:t>‹#›</a:t>
            </a:fld>
            <a:endParaRPr lang="en-US"/>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426024275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ltLang="zh-CN"/>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E7733A4-5D18-4D09-8F94-45F71EE3C7C2}" type="datetime1">
              <a:rPr lang="en-US" smtClean="0"/>
              <a:t>11/10/2025</a:t>
            </a:fld>
            <a:endParaRPr lang="en-US"/>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127DDC20-79C9-9647-820E-6D40A3D210C3}" type="slidenum">
              <a:rPr lang="en-US" smtClean="0"/>
              <a:pPr/>
              <a:t>‹#›</a:t>
            </a:fld>
            <a:endParaRPr lang="en-US"/>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153630956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ltLang="zh-CN"/>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8234BEC2-5A9D-42E1-9C16-1E9F257755B7}" type="datetime1">
              <a:rPr lang="en-US" smtClean="0"/>
              <a:t>11/10/2025</a:t>
            </a:fld>
            <a:endParaRPr lang="en-US"/>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127DDC20-79C9-9647-820E-6D40A3D210C3}" type="slidenum">
              <a:rPr lang="en-US" smtClean="0"/>
              <a:pPr/>
              <a:t>‹#›</a:t>
            </a:fld>
            <a:endParaRPr lang="en-US"/>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2425288595"/>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ltLang="zh-CN"/>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11/10/2025</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657624358"/>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0" r:id="rId12"/>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11/10/2025</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1297917300"/>
      </p:ext>
    </p:extLst>
  </p:cSld>
  <p:clrMap bg1="lt1" tx1="dk1" bg2="lt2" tx2="dk2" accent1="accent1" accent2="accent2" accent3="accent3" accent4="accent4" accent5="accent5" accent6="accent6" hlink="hlink" folHlink="folHlink"/>
  <p:sldLayoutIdLst>
    <p:sldLayoutId id="2147483722" r:id="rId1"/>
    <p:sldLayoutId id="2147483723" r:id="rId2"/>
    <p:sldLayoutId id="2147483724" r:id="rId3"/>
    <p:sldLayoutId id="2147483725" r:id="rId4"/>
    <p:sldLayoutId id="2147483726" r:id="rId5"/>
    <p:sldLayoutId id="2147483727" r:id="rId6"/>
    <p:sldLayoutId id="2147483728" r:id="rId7"/>
    <p:sldLayoutId id="2147483729" r:id="rId8"/>
    <p:sldLayoutId id="2147483730" r:id="rId9"/>
    <p:sldLayoutId id="2147483731" r:id="rId10"/>
    <p:sldLayoutId id="2147483732" r:id="rId11"/>
    <p:sldLayoutId id="2147483733" r:id="rId12"/>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11/10/2025</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4146085375"/>
      </p:ext>
    </p:extLst>
  </p:cSld>
  <p:clrMap bg1="lt1" tx1="dk1" bg2="lt2" tx2="dk2" accent1="accent1" accent2="accent2" accent3="accent3" accent4="accent4" accent5="accent5" accent6="accent6" hlink="hlink" folHlink="folHlink"/>
  <p:sldLayoutIdLst>
    <p:sldLayoutId id="2147483735" r:id="rId1"/>
    <p:sldLayoutId id="2147483736" r:id="rId2"/>
    <p:sldLayoutId id="2147483737" r:id="rId3"/>
    <p:sldLayoutId id="2147483738" r:id="rId4"/>
    <p:sldLayoutId id="2147483739" r:id="rId5"/>
    <p:sldLayoutId id="2147483740" r:id="rId6"/>
    <p:sldLayoutId id="2147483741" r:id="rId7"/>
    <p:sldLayoutId id="2147483742" r:id="rId8"/>
    <p:sldLayoutId id="2147483743" r:id="rId9"/>
    <p:sldLayoutId id="2147483744" r:id="rId10"/>
    <p:sldLayoutId id="2147483745" r:id="rId11"/>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8.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4.xml"/><Relationship Id="rId7" Type="http://schemas.openxmlformats.org/officeDocument/2006/relationships/image" Target="../media/image6.png"/><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notesSlide" Target="../notesSlides/notesSlide5.xml"/><Relationship Id="rId5" Type="http://schemas.openxmlformats.org/officeDocument/2006/relationships/slideLayout" Target="../slideLayouts/slideLayout2.xml"/><Relationship Id="rId4" Type="http://schemas.openxmlformats.org/officeDocument/2006/relationships/tags" Target="../tags/tag5.xml"/></Relationships>
</file>

<file path=ppt/slides/_rels/slide8.xml.rels><?xml version="1.0" encoding="UTF-8" standalone="yes"?>
<Relationships xmlns="http://schemas.openxmlformats.org/package/2006/relationships"><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image" Target="../media/image8.png"/><Relationship Id="rId5" Type="http://schemas.openxmlformats.org/officeDocument/2006/relationships/notesSlide" Target="../notesSlides/notesSlide6.xml"/><Relationship Id="rId4"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tags" Target="../tags/tag16.xml"/><Relationship Id="rId3" Type="http://schemas.openxmlformats.org/officeDocument/2006/relationships/tags" Target="../tags/tag11.xml"/><Relationship Id="rId7" Type="http://schemas.openxmlformats.org/officeDocument/2006/relationships/tags" Target="../tags/tag15.xml"/><Relationship Id="rId12" Type="http://schemas.openxmlformats.org/officeDocument/2006/relationships/notesSlide" Target="../notesSlides/notesSlide7.xml"/><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tags" Target="../tags/tag14.xml"/><Relationship Id="rId11" Type="http://schemas.openxmlformats.org/officeDocument/2006/relationships/slideLayout" Target="../slideLayouts/slideLayout2.xml"/><Relationship Id="rId5" Type="http://schemas.openxmlformats.org/officeDocument/2006/relationships/tags" Target="../tags/tag13.xml"/><Relationship Id="rId10" Type="http://schemas.openxmlformats.org/officeDocument/2006/relationships/tags" Target="../tags/tag18.xml"/><Relationship Id="rId4" Type="http://schemas.openxmlformats.org/officeDocument/2006/relationships/tags" Target="../tags/tag12.xml"/><Relationship Id="rId9" Type="http://schemas.openxmlformats.org/officeDocument/2006/relationships/tags" Target="../tags/tag17.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19.xml"/><Relationship Id="rId4" Type="http://schemas.openxmlformats.org/officeDocument/2006/relationships/image" Target="../media/image9.jpeg"/></Relationships>
</file>

<file path=ppt/slides/_rels/slide11.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tags" Target="../tags/tag22.xml"/><Relationship Id="rId7" Type="http://schemas.openxmlformats.org/officeDocument/2006/relationships/image" Target="../media/image10.png"/><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notesSlide" Target="../notesSlides/notesSlide9.xml"/><Relationship Id="rId5" Type="http://schemas.openxmlformats.org/officeDocument/2006/relationships/slideLayout" Target="../slideLayouts/slideLayout2.xml"/><Relationship Id="rId4" Type="http://schemas.openxmlformats.org/officeDocument/2006/relationships/tags" Target="../tags/tag23.xml"/><Relationship Id="rId9" Type="http://schemas.openxmlformats.org/officeDocument/2006/relationships/image" Target="../media/image12.png"/></Relationships>
</file>

<file path=ppt/slides/_rels/slide1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tags" Target="../tags/tag26.xml"/><Relationship Id="rId7" Type="http://schemas.openxmlformats.org/officeDocument/2006/relationships/notesSlide" Target="../notesSlides/notesSlide10.xml"/><Relationship Id="rId2" Type="http://schemas.openxmlformats.org/officeDocument/2006/relationships/tags" Target="../tags/tag25.xml"/><Relationship Id="rId1" Type="http://schemas.openxmlformats.org/officeDocument/2006/relationships/tags" Target="../tags/tag24.xml"/><Relationship Id="rId6" Type="http://schemas.openxmlformats.org/officeDocument/2006/relationships/slideLayout" Target="../slideLayouts/slideLayout2.xml"/><Relationship Id="rId5" Type="http://schemas.openxmlformats.org/officeDocument/2006/relationships/tags" Target="../tags/tag28.xml"/><Relationship Id="rId4" Type="http://schemas.openxmlformats.org/officeDocument/2006/relationships/tags" Target="../tags/tag27.xml"/><Relationship Id="rId9"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29.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30.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31.xml"/></Relationships>
</file>

<file path=ppt/slides/_rels/slide17.xml.rels><?xml version="1.0" encoding="UTF-8" standalone="yes"?>
<Relationships xmlns="http://schemas.openxmlformats.org/package/2006/relationships"><Relationship Id="rId8" Type="http://schemas.openxmlformats.org/officeDocument/2006/relationships/notesSlide" Target="../notesSlides/notesSlide15.xml"/><Relationship Id="rId3" Type="http://schemas.openxmlformats.org/officeDocument/2006/relationships/tags" Target="../tags/tag34.xml"/><Relationship Id="rId7" Type="http://schemas.openxmlformats.org/officeDocument/2006/relationships/slideLayout" Target="../slideLayouts/slideLayout2.xml"/><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tags" Target="../tags/tag37.xml"/><Relationship Id="rId5" Type="http://schemas.openxmlformats.org/officeDocument/2006/relationships/tags" Target="../tags/tag36.xml"/><Relationship Id="rId4" Type="http://schemas.openxmlformats.org/officeDocument/2006/relationships/tags" Target="../tags/tag35.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38.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39.xml"/><Relationship Id="rId6" Type="http://schemas.openxmlformats.org/officeDocument/2006/relationships/image" Target="../media/image10.png"/><Relationship Id="rId5" Type="http://schemas.openxmlformats.org/officeDocument/2006/relationships/image" Target="../media/image15.png"/><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40.xml"/><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3.xml"/><Relationship Id="rId1" Type="http://schemas.openxmlformats.org/officeDocument/2006/relationships/tags" Target="../tags/tag41.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tags" Target="../tags/tag42.xml"/><Relationship Id="rId4" Type="http://schemas.openxmlformats.org/officeDocument/2006/relationships/image" Target="../media/image20.png"/></Relationships>
</file>

<file path=ppt/slides/_rels/slide24.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3.xml"/><Relationship Id="rId1" Type="http://schemas.openxmlformats.org/officeDocument/2006/relationships/tags" Target="../tags/tag43.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tags" Target="../tags/tag44.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45.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7.xml"/><Relationship Id="rId1" Type="http://schemas.openxmlformats.org/officeDocument/2006/relationships/tags" Target="../tags/tag46.xml"/><Relationship Id="rId5" Type="http://schemas.openxmlformats.org/officeDocument/2006/relationships/image" Target="../media/image25.png"/><Relationship Id="rId4" Type="http://schemas.openxmlformats.org/officeDocument/2006/relationships/notesSlide" Target="../notesSlides/notesSlide24.xml"/></Relationships>
</file>

<file path=ppt/slides/_rels/slide29.xml.rels><?xml version="1.0" encoding="UTF-8" standalone="yes"?>
<Relationships xmlns="http://schemas.openxmlformats.org/package/2006/relationships"><Relationship Id="rId3" Type="http://schemas.openxmlformats.org/officeDocument/2006/relationships/tags" Target="../tags/tag50.xml"/><Relationship Id="rId2" Type="http://schemas.openxmlformats.org/officeDocument/2006/relationships/tags" Target="../tags/tag49.xml"/><Relationship Id="rId1" Type="http://schemas.openxmlformats.org/officeDocument/2006/relationships/tags" Target="../tags/tag48.xml"/><Relationship Id="rId5" Type="http://schemas.openxmlformats.org/officeDocument/2006/relationships/image" Target="../media/image25.png"/><Relationship Id="rId4"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2.xml"/><Relationship Id="rId1" Type="http://schemas.openxmlformats.org/officeDocument/2006/relationships/tags" Target="../tags/tag51.xml"/><Relationship Id="rId4" Type="http://schemas.openxmlformats.org/officeDocument/2006/relationships/image" Target="../media/image25.png"/></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4.xml"/><Relationship Id="rId1" Type="http://schemas.openxmlformats.org/officeDocument/2006/relationships/tags" Target="../tags/tag53.xml"/><Relationship Id="rId4" Type="http://schemas.openxmlformats.org/officeDocument/2006/relationships/image" Target="../media/image25.png"/></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6.xml"/><Relationship Id="rId1" Type="http://schemas.openxmlformats.org/officeDocument/2006/relationships/tags" Target="../tags/tag55.xml"/><Relationship Id="rId4" Type="http://schemas.openxmlformats.org/officeDocument/2006/relationships/image" Target="../media/image25.png"/></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8.xml"/><Relationship Id="rId1" Type="http://schemas.openxmlformats.org/officeDocument/2006/relationships/tags" Target="../tags/tag57.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notesSlide" Target="../notesSlides/notesSlide25.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0.xml"/><Relationship Id="rId1" Type="http://schemas.openxmlformats.org/officeDocument/2006/relationships/tags" Target="../tags/tag59.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notesSlide" Target="../notesSlides/notesSlide26.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61.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32.png"/><Relationship Id="rId2" Type="http://schemas.openxmlformats.org/officeDocument/2006/relationships/tags" Target="../tags/tag63.xml"/><Relationship Id="rId1" Type="http://schemas.openxmlformats.org/officeDocument/2006/relationships/tags" Target="../tags/tag6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notesSlide" Target="../notesSlides/notesSlide27.xml"/></Relationships>
</file>

<file path=ppt/slides/_rels/slide37.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tags" Target="../tags/tag64.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tags" Target="../tags/tag65.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tags" Target="../tags/tag66.xml"/><Relationship Id="rId4" Type="http://schemas.openxmlformats.org/officeDocument/2006/relationships/image" Target="../media/image35.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tags" Target="../tags/tag67.xml"/><Relationship Id="rId4" Type="http://schemas.openxmlformats.org/officeDocument/2006/relationships/image" Target="../media/image36.jpe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68.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tags" Target="../tags/tag69.xml"/><Relationship Id="rId4" Type="http://schemas.openxmlformats.org/officeDocument/2006/relationships/image" Target="../media/image37.gif"/></Relationships>
</file>

<file path=ppt/slides/_rels/slide45.xml.rels><?xml version="1.0" encoding="UTF-8" standalone="yes"?>
<Relationships xmlns="http://schemas.openxmlformats.org/package/2006/relationships"><Relationship Id="rId2" Type="http://schemas.openxmlformats.org/officeDocument/2006/relationships/image" Target="../media/image37.gif"/><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tags" Target="../tags/tag70.xml"/><Relationship Id="rId5" Type="http://schemas.openxmlformats.org/officeDocument/2006/relationships/image" Target="../media/image39.png"/><Relationship Id="rId4" Type="http://schemas.openxmlformats.org/officeDocument/2006/relationships/image" Target="../media/image38.pn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71.xml"/></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3.xml"/><Relationship Id="rId1" Type="http://schemas.openxmlformats.org/officeDocument/2006/relationships/tags" Target="../tags/tag72.xml"/><Relationship Id="rId4" Type="http://schemas.openxmlformats.org/officeDocument/2006/relationships/notesSlide" Target="../notesSlides/notesSlide36.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xml"/><Relationship Id="rId1" Type="http://schemas.openxmlformats.org/officeDocument/2006/relationships/tags" Target="../tags/tag74.xml"/><Relationship Id="rId4" Type="http://schemas.openxmlformats.org/officeDocument/2006/relationships/image" Target="../media/image40.png"/></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2.xml"/><Relationship Id="rId1" Type="http://schemas.openxmlformats.org/officeDocument/2006/relationships/tags" Target="../tags/tag75.xml"/><Relationship Id="rId5" Type="http://schemas.openxmlformats.org/officeDocument/2006/relationships/image" Target="../media/image42.png"/><Relationship Id="rId4" Type="http://schemas.openxmlformats.org/officeDocument/2006/relationships/image" Target="../media/image41.png"/></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2.xml"/><Relationship Id="rId1" Type="http://schemas.openxmlformats.org/officeDocument/2006/relationships/tags" Target="../tags/tag76.xml"/><Relationship Id="rId4" Type="http://schemas.openxmlformats.org/officeDocument/2006/relationships/image" Target="../media/image42.png"/></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8.xml"/><Relationship Id="rId1" Type="http://schemas.openxmlformats.org/officeDocument/2006/relationships/tags" Target="../tags/tag77.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notesSlide" Target="../notesSlides/notesSlide40.xml"/></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0.xml"/><Relationship Id="rId1" Type="http://schemas.openxmlformats.org/officeDocument/2006/relationships/tags" Target="../tags/tag79.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notesSlide" Target="../notesSlides/notesSlide41.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2.xml"/><Relationship Id="rId1" Type="http://schemas.openxmlformats.org/officeDocument/2006/relationships/tags" Target="../tags/tag81.xml"/><Relationship Id="rId5" Type="http://schemas.openxmlformats.org/officeDocument/2006/relationships/image" Target="../media/image48.png"/><Relationship Id="rId4" Type="http://schemas.openxmlformats.org/officeDocument/2006/relationships/image" Target="../media/image47.png"/></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2.xml"/><Relationship Id="rId1" Type="http://schemas.openxmlformats.org/officeDocument/2006/relationships/tags" Target="../tags/tag82.xml"/><Relationship Id="rId5" Type="http://schemas.openxmlformats.org/officeDocument/2006/relationships/image" Target="../media/image49.png"/><Relationship Id="rId4" Type="http://schemas.openxmlformats.org/officeDocument/2006/relationships/image" Target="../media/image47.png"/></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2.xml"/><Relationship Id="rId1" Type="http://schemas.openxmlformats.org/officeDocument/2006/relationships/tags" Target="../tags/tag83.xml"/><Relationship Id="rId5" Type="http://schemas.openxmlformats.org/officeDocument/2006/relationships/image" Target="../media/image51.png"/><Relationship Id="rId4" Type="http://schemas.openxmlformats.org/officeDocument/2006/relationships/image" Target="../media/image50.png"/></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84.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2.xml"/><Relationship Id="rId1" Type="http://schemas.openxmlformats.org/officeDocument/2006/relationships/tags" Target="../tags/tag85.xml"/><Relationship Id="rId4" Type="http://schemas.openxmlformats.org/officeDocument/2006/relationships/image" Target="../media/image52.png"/></Relationships>
</file>

<file path=ppt/slides/_rels/slide59.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7.xml"/><Relationship Id="rId1" Type="http://schemas.openxmlformats.org/officeDocument/2006/relationships/tags" Target="../tags/tag86.xml"/><Relationship Id="rId5" Type="http://schemas.openxmlformats.org/officeDocument/2006/relationships/image" Target="../media/image54.png"/><Relationship Id="rId4" Type="http://schemas.openxmlformats.org/officeDocument/2006/relationships/notesSlide" Target="../notesSlides/notesSlide47.xml"/></Relationships>
</file>

<file path=ppt/slides/_rels/slide6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9.xml"/><Relationship Id="rId1" Type="http://schemas.openxmlformats.org/officeDocument/2006/relationships/tags" Target="../tags/tag88.xml"/><Relationship Id="rId5" Type="http://schemas.openxmlformats.org/officeDocument/2006/relationships/image" Target="../media/image55.png"/><Relationship Id="rId4" Type="http://schemas.openxmlformats.org/officeDocument/2006/relationships/notesSlide" Target="../notesSlides/notesSlide48.xml"/></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2.xml"/><Relationship Id="rId1" Type="http://schemas.openxmlformats.org/officeDocument/2006/relationships/tags" Target="../tags/tag90.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91.xml"/></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2.xml"/><Relationship Id="rId1" Type="http://schemas.openxmlformats.org/officeDocument/2006/relationships/tags" Target="../tags/tag92.xml"/><Relationship Id="rId4" Type="http://schemas.openxmlformats.org/officeDocument/2006/relationships/image" Target="../media/image59.png"/></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2.xml"/><Relationship Id="rId1" Type="http://schemas.openxmlformats.org/officeDocument/2006/relationships/tags" Target="../tags/tag93.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60.png"/></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94.xml"/></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2.xml"/><Relationship Id="rId1" Type="http://schemas.openxmlformats.org/officeDocument/2006/relationships/tags" Target="../tags/tag95.xml"/><Relationship Id="rId4" Type="http://schemas.openxmlformats.org/officeDocument/2006/relationships/image" Target="../media/image63.jpeg"/></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2.xml"/><Relationship Id="rId1" Type="http://schemas.openxmlformats.org/officeDocument/2006/relationships/tags" Target="../tags/tag96.xml"/><Relationship Id="rId4" Type="http://schemas.openxmlformats.org/officeDocument/2006/relationships/image" Target="../media/image64.png"/></Relationships>
</file>

<file path=ppt/slides/_rels/slide6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8.xml"/><Relationship Id="rId1" Type="http://schemas.openxmlformats.org/officeDocument/2006/relationships/tags" Target="../tags/tag97.xml"/><Relationship Id="rId5" Type="http://schemas.openxmlformats.org/officeDocument/2006/relationships/image" Target="../media/image65.png"/><Relationship Id="rId4" Type="http://schemas.openxmlformats.org/officeDocument/2006/relationships/notesSlide" Target="../notesSlides/notesSlide54.xml"/></Relationships>
</file>

<file path=ppt/slides/_rels/slide7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0.xml"/><Relationship Id="rId1" Type="http://schemas.openxmlformats.org/officeDocument/2006/relationships/tags" Target="../tags/tag99.xml"/><Relationship Id="rId5" Type="http://schemas.openxmlformats.org/officeDocument/2006/relationships/image" Target="../media/image65.png"/><Relationship Id="rId4" Type="http://schemas.openxmlformats.org/officeDocument/2006/relationships/notesSlide" Target="../notesSlides/notesSlide55.xml"/></Relationships>
</file>

<file path=ppt/slides/_rels/slide71.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2.xml"/><Relationship Id="rId1" Type="http://schemas.openxmlformats.org/officeDocument/2006/relationships/tags" Target="../tags/tag101.xml"/><Relationship Id="rId5" Type="http://schemas.openxmlformats.org/officeDocument/2006/relationships/image" Target="../media/image68.png"/><Relationship Id="rId4" Type="http://schemas.openxmlformats.org/officeDocument/2006/relationships/image" Target="../media/image67.png"/></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02.xml"/></Relationships>
</file>

<file path=ppt/slides/_rels/slide74.xml.rels><?xml version="1.0" encoding="UTF-8" standalone="yes"?>
<Relationships xmlns="http://schemas.openxmlformats.org/package/2006/relationships"><Relationship Id="rId8" Type="http://schemas.openxmlformats.org/officeDocument/2006/relationships/image" Target="../media/image72.png"/><Relationship Id="rId3" Type="http://schemas.openxmlformats.org/officeDocument/2006/relationships/slideLayout" Target="../slideLayouts/slideLayout2.xml"/><Relationship Id="rId7" Type="http://schemas.openxmlformats.org/officeDocument/2006/relationships/image" Target="../media/image71.png"/><Relationship Id="rId2" Type="http://schemas.openxmlformats.org/officeDocument/2006/relationships/tags" Target="../tags/tag104.xml"/><Relationship Id="rId1" Type="http://schemas.openxmlformats.org/officeDocument/2006/relationships/tags" Target="../tags/tag103.xml"/><Relationship Id="rId6" Type="http://schemas.openxmlformats.org/officeDocument/2006/relationships/image" Target="../media/image70.jpeg"/><Relationship Id="rId11" Type="http://schemas.openxmlformats.org/officeDocument/2006/relationships/image" Target="../media/image75.png"/><Relationship Id="rId5" Type="http://schemas.openxmlformats.org/officeDocument/2006/relationships/image" Target="../media/image69.gif"/><Relationship Id="rId10" Type="http://schemas.openxmlformats.org/officeDocument/2006/relationships/image" Target="../media/image74.png"/><Relationship Id="rId4" Type="http://schemas.openxmlformats.org/officeDocument/2006/relationships/notesSlide" Target="../notesSlides/notesSlide58.xml"/><Relationship Id="rId9" Type="http://schemas.openxmlformats.org/officeDocument/2006/relationships/image" Target="../media/image73.png"/></Relationships>
</file>

<file path=ppt/slides/_rels/slide75.xml.rels><?xml version="1.0" encoding="UTF-8" standalone="yes"?>
<Relationships xmlns="http://schemas.openxmlformats.org/package/2006/relationships"><Relationship Id="rId8" Type="http://schemas.openxmlformats.org/officeDocument/2006/relationships/hyperlink" Target="https://esripress.esri.com/display/index.cfm?fuseaction=display&amp;websiteID=276&amp;moduleID=0" TargetMode="External"/><Relationship Id="rId3" Type="http://schemas.openxmlformats.org/officeDocument/2006/relationships/tags" Target="../tags/tag107.xml"/><Relationship Id="rId7" Type="http://schemas.openxmlformats.org/officeDocument/2006/relationships/image" Target="../media/image77.png"/><Relationship Id="rId2" Type="http://schemas.openxmlformats.org/officeDocument/2006/relationships/tags" Target="../tags/tag106.xml"/><Relationship Id="rId1" Type="http://schemas.openxmlformats.org/officeDocument/2006/relationships/tags" Target="../tags/tag105.xml"/><Relationship Id="rId6" Type="http://schemas.openxmlformats.org/officeDocument/2006/relationships/image" Target="../media/image76.jpeg"/><Relationship Id="rId5" Type="http://schemas.openxmlformats.org/officeDocument/2006/relationships/notesSlide" Target="../notesSlides/notesSlide59.xml"/><Relationship Id="rId4"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75485B9-8EE1-447A-9C08-F7D6B532A8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57176"/>
            <a:ext cx="8229599"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pic>
        <p:nvPicPr>
          <p:cNvPr id="4" name="Picture 3" descr="A colorful background with waves&#10;&#10;Description automatically generated with medium confidence">
            <a:extLst>
              <a:ext uri="{FF2B5EF4-FFF2-40B4-BE49-F238E27FC236}">
                <a16:creationId xmlns:a16="http://schemas.microsoft.com/office/drawing/2014/main" id="{1734BD9E-DDD5-C150-8BA0-0B1B13AE068D}"/>
              </a:ext>
            </a:extLst>
          </p:cNvPr>
          <p:cNvPicPr>
            <a:picLocks noChangeAspect="1"/>
          </p:cNvPicPr>
          <p:nvPr/>
        </p:nvPicPr>
        <p:blipFill>
          <a:blip r:embed="rId2"/>
          <a:srcRect r="11111"/>
          <a:stretch/>
        </p:blipFill>
        <p:spPr>
          <a:xfrm>
            <a:off x="13" y="257175"/>
            <a:ext cx="8229587" cy="4629142"/>
          </a:xfrm>
          <a:prstGeom prst="rect">
            <a:avLst/>
          </a:prstGeom>
        </p:spPr>
      </p:pic>
      <p:sp>
        <p:nvSpPr>
          <p:cNvPr id="11" name="Rectangle 10">
            <a:extLst>
              <a:ext uri="{FF2B5EF4-FFF2-40B4-BE49-F238E27FC236}">
                <a16:creationId xmlns:a16="http://schemas.microsoft.com/office/drawing/2014/main" id="{B963707F-B98C-4143-AFCF-D6B56C975C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6990" y="565785"/>
            <a:ext cx="3382366" cy="6172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13" name="Rectangle 12">
            <a:extLst>
              <a:ext uri="{FF2B5EF4-FFF2-40B4-BE49-F238E27FC236}">
                <a16:creationId xmlns:a16="http://schemas.microsoft.com/office/drawing/2014/main" id="{88D2DFBB-460D-4ECB-BD76-509C99DAD6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8018" y="662983"/>
            <a:ext cx="3381337" cy="39078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2" name="Title 1">
            <a:extLst>
              <a:ext uri="{FF2B5EF4-FFF2-40B4-BE49-F238E27FC236}">
                <a16:creationId xmlns:a16="http://schemas.microsoft.com/office/drawing/2014/main" id="{6DE3439C-E1CA-A039-1552-7B23AB7007A8}"/>
              </a:ext>
            </a:extLst>
          </p:cNvPr>
          <p:cNvSpPr>
            <a:spLocks noGrp="1"/>
          </p:cNvSpPr>
          <p:nvPr>
            <p:ph type="ctrTitle"/>
          </p:nvPr>
        </p:nvSpPr>
        <p:spPr>
          <a:xfrm>
            <a:off x="565060" y="785709"/>
            <a:ext cx="3076498" cy="1831185"/>
          </a:xfrm>
        </p:spPr>
        <p:txBody>
          <a:bodyPr>
            <a:normAutofit fontScale="90000"/>
          </a:bodyPr>
          <a:lstStyle/>
          <a:p>
            <a:r>
              <a:rPr lang="en-US" sz="2800" dirty="0"/>
              <a:t>Lecture 13</a:t>
            </a:r>
            <a:br>
              <a:rPr lang="en-US" sz="2800" dirty="0"/>
            </a:br>
            <a:r>
              <a:rPr lang="en-US" sz="2800" dirty="0"/>
              <a:t>raster Analysis</a:t>
            </a:r>
            <a:br>
              <a:rPr lang="en-US" sz="2800" dirty="0"/>
            </a:br>
            <a:br>
              <a:rPr lang="en-US" altLang="zh-CN" sz="2800" dirty="0"/>
            </a:br>
            <a:br>
              <a:rPr lang="en-US" sz="2700" dirty="0">
                <a:solidFill>
                  <a:srgbClr val="FFFFFF"/>
                </a:solidFill>
              </a:rPr>
            </a:br>
            <a:r>
              <a:rPr lang="en-US" sz="2700" dirty="0">
                <a:solidFill>
                  <a:srgbClr val="FFFFFF"/>
                </a:solidFill>
              </a:rPr>
              <a:t>lecture</a:t>
            </a:r>
          </a:p>
        </p:txBody>
      </p:sp>
      <p:sp>
        <p:nvSpPr>
          <p:cNvPr id="3" name="Subtitle 2">
            <a:extLst>
              <a:ext uri="{FF2B5EF4-FFF2-40B4-BE49-F238E27FC236}">
                <a16:creationId xmlns:a16="http://schemas.microsoft.com/office/drawing/2014/main" id="{78D6AEC8-AD7D-2F2A-F638-325ACB8C9D6F}"/>
              </a:ext>
            </a:extLst>
          </p:cNvPr>
          <p:cNvSpPr>
            <a:spLocks noGrp="1"/>
          </p:cNvSpPr>
          <p:nvPr>
            <p:ph type="subTitle" idx="1"/>
          </p:nvPr>
        </p:nvSpPr>
        <p:spPr>
          <a:xfrm>
            <a:off x="565060" y="3021937"/>
            <a:ext cx="2916154" cy="1537292"/>
          </a:xfrm>
        </p:spPr>
        <p:txBody>
          <a:bodyPr>
            <a:noAutofit/>
          </a:bodyPr>
          <a:lstStyle/>
          <a:p>
            <a:r>
              <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Instructor: Yanan Wu</a:t>
            </a:r>
          </a:p>
          <a:p>
            <a:r>
              <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 </a:t>
            </a:r>
          </a:p>
          <a:p>
            <a:r>
              <a:rPr lang="en-US" sz="1890" dirty="0" err="1">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fALL</a:t>
            </a:r>
            <a:r>
              <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 2025</a:t>
            </a:r>
          </a:p>
          <a:p>
            <a:endPar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endParaRPr>
          </a:p>
          <a:p>
            <a:endParaRPr lang="en-US" sz="189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39130130"/>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DCF4EB5C-ED25-4675-8255-2F5B12CFFC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0" y="565785"/>
            <a:ext cx="2499741" cy="641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38" name="Rectangle 37">
            <a:extLst>
              <a:ext uri="{FF2B5EF4-FFF2-40B4-BE49-F238E27FC236}">
                <a16:creationId xmlns:a16="http://schemas.microsoft.com/office/drawing/2014/main" id="{9514EC6E-A557-42A2-BCDC-3ABFFC5E5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8449" y="563384"/>
            <a:ext cx="2499741" cy="6652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0" name="Rectangle 39">
            <a:extLst>
              <a:ext uri="{FF2B5EF4-FFF2-40B4-BE49-F238E27FC236}">
                <a16:creationId xmlns:a16="http://schemas.microsoft.com/office/drawing/2014/main" id="{905482C9-EB42-4BFE-95BF-7FD661F076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63235" y="565785"/>
            <a:ext cx="2499741" cy="6172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2" name="Rectangle 41">
            <a:extLst>
              <a:ext uri="{FF2B5EF4-FFF2-40B4-BE49-F238E27FC236}">
                <a16:creationId xmlns:a16="http://schemas.microsoft.com/office/drawing/2014/main" id="{7539E646-A625-4A26-86ED-BD90EDD329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1" y="2340066"/>
            <a:ext cx="7626779" cy="225325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useBgFill="1">
        <p:nvSpPr>
          <p:cNvPr id="44" name="Rectangle 43">
            <a:extLst>
              <a:ext uri="{FF2B5EF4-FFF2-40B4-BE49-F238E27FC236}">
                <a16:creationId xmlns:a16="http://schemas.microsoft.com/office/drawing/2014/main" id="{39171204-6A50-40E1-B631-84CEDFC93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7175"/>
            <a:ext cx="8229600"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6" name="Rectangle 45">
            <a:extLst>
              <a:ext uri="{FF2B5EF4-FFF2-40B4-BE49-F238E27FC236}">
                <a16:creationId xmlns:a16="http://schemas.microsoft.com/office/drawing/2014/main" id="{06C973F6-5187-412F-AACC-6E3FF8A6A1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3999" y="592623"/>
            <a:ext cx="746661" cy="395532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8" name="Rectangle 47">
            <a:extLst>
              <a:ext uri="{FF2B5EF4-FFF2-40B4-BE49-F238E27FC236}">
                <a16:creationId xmlns:a16="http://schemas.microsoft.com/office/drawing/2014/main" id="{D11AE14F-1B7E-41E6-B579-2F71D13503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78" y="592621"/>
            <a:ext cx="6723707" cy="248269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2" name="Title 1">
            <a:extLst>
              <a:ext uri="{FF2B5EF4-FFF2-40B4-BE49-F238E27FC236}">
                <a16:creationId xmlns:a16="http://schemas.microsoft.com/office/drawing/2014/main" id="{3778BAB5-C1DE-8DAD-E76F-BECA6F24C1F4}"/>
              </a:ext>
            </a:extLst>
          </p:cNvPr>
          <p:cNvSpPr>
            <a:spLocks noGrp="1"/>
          </p:cNvSpPr>
          <p:nvPr>
            <p:ph type="title"/>
          </p:nvPr>
        </p:nvSpPr>
        <p:spPr>
          <a:xfrm>
            <a:off x="1278258" y="735412"/>
            <a:ext cx="6492542" cy="2247787"/>
          </a:xfrm>
        </p:spPr>
        <p:txBody>
          <a:bodyPr vert="horz" lIns="61722" tIns="30861" rIns="61722" bIns="30861" rtlCol="0" anchor="ctr">
            <a:normAutofit/>
          </a:bodyPr>
          <a:lstStyle/>
          <a:p>
            <a:r>
              <a:rPr lang="en-US" sz="4050" dirty="0">
                <a:solidFill>
                  <a:srgbClr val="FFFFFF"/>
                </a:solidFill>
              </a:rPr>
              <a:t>13.1 </a:t>
            </a:r>
            <a:br>
              <a:rPr lang="en-US" sz="4050" dirty="0">
                <a:solidFill>
                  <a:srgbClr val="FFFFFF"/>
                </a:solidFill>
              </a:rPr>
            </a:br>
            <a:r>
              <a:rPr lang="en-US" sz="4050" dirty="0">
                <a:solidFill>
                  <a:srgbClr val="FFFFFF"/>
                </a:solidFill>
              </a:rPr>
              <a:t>raster analysis</a:t>
            </a:r>
          </a:p>
        </p:txBody>
      </p:sp>
      <p:sp>
        <p:nvSpPr>
          <p:cNvPr id="50" name="Rectangle 49">
            <a:extLst>
              <a:ext uri="{FF2B5EF4-FFF2-40B4-BE49-F238E27FC236}">
                <a16:creationId xmlns:a16="http://schemas.microsoft.com/office/drawing/2014/main" id="{752BB805-F7B7-4B80-A1C5-385D4DAF7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33" y="3149018"/>
            <a:ext cx="6723753" cy="1398925"/>
          </a:xfrm>
          <a:prstGeom prst="rect">
            <a:avLst/>
          </a:prstGeom>
          <a:solidFill>
            <a:srgbClr val="6C7781">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Tree>
    <p:extLst>
      <p:ext uri="{BB962C8B-B14F-4D97-AF65-F5344CB8AC3E}">
        <p14:creationId xmlns:p14="http://schemas.microsoft.com/office/powerpoint/2010/main" val="1239517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1027">
            <a:extLst>
              <a:ext uri="{FF2B5EF4-FFF2-40B4-BE49-F238E27FC236}">
                <a16:creationId xmlns:a16="http://schemas.microsoft.com/office/drawing/2014/main" id="{F91C3C4F-AFA8-48B3-AF1A-33AC2E596FD4}"/>
              </a:ext>
            </a:extLst>
          </p:cNvPr>
          <p:cNvSpPr>
            <a:spLocks noGrp="1" noChangeArrowheads="1"/>
          </p:cNvSpPr>
          <p:nvPr>
            <p:ph idx="1"/>
          </p:nvPr>
        </p:nvSpPr>
        <p:spPr>
          <a:xfrm>
            <a:off x="302741" y="1029962"/>
            <a:ext cx="7679724" cy="3886200"/>
          </a:xfrm>
        </p:spPr>
        <p:txBody>
          <a:bodyPr>
            <a:normAutofit fontScale="77500" lnSpcReduction="20000"/>
          </a:bodyPr>
          <a:lstStyle/>
          <a:p>
            <a:pPr>
              <a:buFont typeface="Courier New" panose="02070309020205020404" pitchFamily="49" charset="0"/>
              <a:buChar char="o"/>
            </a:pPr>
            <a:r>
              <a:rPr lang="en-US" altLang="en-US" sz="2800" dirty="0"/>
              <a:t>Raster Analysis</a:t>
            </a:r>
          </a:p>
          <a:p>
            <a:pPr lvl="1">
              <a:buFont typeface="Wingdings" panose="05000000000000000000" pitchFamily="2" charset="2"/>
              <a:buChar char="ü"/>
            </a:pPr>
            <a:r>
              <a:rPr lang="en-US" sz="2300" dirty="0"/>
              <a:t>Raster math</a:t>
            </a:r>
          </a:p>
          <a:p>
            <a:pPr lvl="1">
              <a:buFont typeface="Wingdings" panose="05000000000000000000" pitchFamily="2" charset="2"/>
              <a:buChar char="ü"/>
            </a:pPr>
            <a:r>
              <a:rPr lang="en-US" sz="2300" dirty="0"/>
              <a:t>Reclassification</a:t>
            </a:r>
          </a:p>
          <a:p>
            <a:pPr lvl="1">
              <a:buFont typeface="Wingdings" panose="05000000000000000000" pitchFamily="2" charset="2"/>
              <a:buChar char="ü"/>
            </a:pPr>
            <a:r>
              <a:rPr lang="en-US" sz="2300" dirty="0"/>
              <a:t>Extraction</a:t>
            </a:r>
          </a:p>
          <a:p>
            <a:pPr lvl="1">
              <a:buFont typeface="Wingdings" panose="05000000000000000000" pitchFamily="2" charset="2"/>
              <a:buChar char="ü"/>
            </a:pPr>
            <a:r>
              <a:rPr lang="en-US" sz="2300" dirty="0"/>
              <a:t>Neighborhood-based analysis</a:t>
            </a:r>
          </a:p>
          <a:p>
            <a:pPr lvl="1">
              <a:buFont typeface="Wingdings" panose="05000000000000000000" pitchFamily="2" charset="2"/>
              <a:buChar char="ü"/>
            </a:pPr>
            <a:r>
              <a:rPr lang="en-US" sz="2300" dirty="0"/>
              <a:t>Distance</a:t>
            </a:r>
          </a:p>
          <a:p>
            <a:pPr lvl="1">
              <a:buFont typeface="Wingdings" panose="05000000000000000000" pitchFamily="2" charset="2"/>
              <a:buChar char="ü"/>
            </a:pPr>
            <a:r>
              <a:rPr lang="en-US" sz="2300" dirty="0"/>
              <a:t>Raster generalization</a:t>
            </a:r>
          </a:p>
          <a:p>
            <a:pPr lvl="1">
              <a:buFont typeface="Wingdings" panose="05000000000000000000" pitchFamily="2" charset="2"/>
              <a:buChar char="ü"/>
            </a:pPr>
            <a:r>
              <a:rPr lang="en-US" sz="2300" dirty="0"/>
              <a:t>Raster summarization</a:t>
            </a:r>
          </a:p>
          <a:p>
            <a:pPr lvl="1">
              <a:buFont typeface="Wingdings" panose="05000000000000000000" pitchFamily="2" charset="2"/>
              <a:buChar char="ü"/>
            </a:pPr>
            <a:r>
              <a:rPr lang="en-US" altLang="en-US" sz="2300" dirty="0"/>
              <a:t>Estimating density</a:t>
            </a:r>
          </a:p>
          <a:p>
            <a:pPr lvl="1">
              <a:buFont typeface="Wingdings" panose="05000000000000000000" pitchFamily="2" charset="2"/>
              <a:buChar char="ü"/>
            </a:pPr>
            <a:r>
              <a:rPr lang="en-US" altLang="en-US" sz="2300" dirty="0"/>
              <a:t>Mosaic</a:t>
            </a:r>
          </a:p>
          <a:p>
            <a:pPr lvl="1">
              <a:buFont typeface="Wingdings" panose="05000000000000000000" pitchFamily="2" charset="2"/>
              <a:buChar char="ü"/>
            </a:pPr>
            <a:r>
              <a:rPr lang="en-US" altLang="en-US" sz="2300" dirty="0"/>
              <a:t>Spatial analysis tool</a:t>
            </a:r>
          </a:p>
        </p:txBody>
      </p:sp>
      <p:sp>
        <p:nvSpPr>
          <p:cNvPr id="2" name="Slide Number Placeholder 1">
            <a:extLst>
              <a:ext uri="{FF2B5EF4-FFF2-40B4-BE49-F238E27FC236}">
                <a16:creationId xmlns:a16="http://schemas.microsoft.com/office/drawing/2014/main" id="{6EDBF9BC-B3FC-4D00-B7E0-B2749A88364A}"/>
              </a:ext>
            </a:extLst>
          </p:cNvPr>
          <p:cNvSpPr>
            <a:spLocks noGrp="1"/>
          </p:cNvSpPr>
          <p:nvPr>
            <p:ph type="sldNum" sz="quarter" idx="12"/>
          </p:nvPr>
        </p:nvSpPr>
        <p:spPr/>
        <p:txBody>
          <a:bodyPr/>
          <a:lstStyle/>
          <a:p>
            <a:fld id="{127DDC20-79C9-9647-820E-6D40A3D210C3}" type="slidenum">
              <a:rPr lang="en-US" smtClean="0"/>
              <a:pPr/>
              <a:t>3</a:t>
            </a:fld>
            <a:endParaRPr lang="en-US"/>
          </a:p>
        </p:txBody>
      </p:sp>
      <p:cxnSp>
        <p:nvCxnSpPr>
          <p:cNvPr id="4" name="Straight Connector 3">
            <a:extLst>
              <a:ext uri="{FF2B5EF4-FFF2-40B4-BE49-F238E27FC236}">
                <a16:creationId xmlns:a16="http://schemas.microsoft.com/office/drawing/2014/main" id="{D4EB9696-B2DB-43F4-B52A-F64A3152234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D7B9A9B-3B1A-4D8A-8275-AAA1205C7D4E}"/>
              </a:ext>
            </a:extLst>
          </p:cNvPr>
          <p:cNvSpPr txBox="1">
            <a:spLocks/>
          </p:cNvSpPr>
          <p:nvPr/>
        </p:nvSpPr>
        <p:spPr>
          <a:xfrm>
            <a:off x="247135" y="20786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Overview</a:t>
            </a:r>
            <a:endParaRPr lang="en-US" sz="2600" i="1" dirty="0">
              <a:solidFill>
                <a:srgbClr val="7030A0"/>
              </a:solidFill>
            </a:endParaRPr>
          </a:p>
        </p:txBody>
      </p:sp>
      <p:pic>
        <p:nvPicPr>
          <p:cNvPr id="6" name="Picture 5" descr="Image showing spatial analysis tools">
            <a:extLst>
              <a:ext uri="{FF2B5EF4-FFF2-40B4-BE49-F238E27FC236}">
                <a16:creationId xmlns:a16="http://schemas.microsoft.com/office/drawing/2014/main" id="{9ACBBEF3-6516-418D-BCD1-952D5057B3DF}"/>
              </a:ext>
            </a:extLst>
          </p:cNvPr>
          <p:cNvPicPr>
            <a:picLocks noChangeAspect="1"/>
          </p:cNvPicPr>
          <p:nvPr/>
        </p:nvPicPr>
        <p:blipFill>
          <a:blip r:embed="rId3"/>
          <a:stretch>
            <a:fillRect/>
          </a:stretch>
        </p:blipFill>
        <p:spPr>
          <a:xfrm>
            <a:off x="4581246" y="1100263"/>
            <a:ext cx="1919153" cy="2633538"/>
          </a:xfrm>
          <a:prstGeom prst="rect">
            <a:avLst/>
          </a:prstGeom>
        </p:spPr>
      </p:pic>
      <p:pic>
        <p:nvPicPr>
          <p:cNvPr id="8" name="Picture 7" descr="Image showing raster tool">
            <a:extLst>
              <a:ext uri="{FF2B5EF4-FFF2-40B4-BE49-F238E27FC236}">
                <a16:creationId xmlns:a16="http://schemas.microsoft.com/office/drawing/2014/main" id="{DA683BAB-1216-4E08-990A-1C4DA8E5A55D}"/>
              </a:ext>
            </a:extLst>
          </p:cNvPr>
          <p:cNvPicPr>
            <a:picLocks noChangeAspect="1"/>
          </p:cNvPicPr>
          <p:nvPr/>
        </p:nvPicPr>
        <p:blipFill>
          <a:blip r:embed="rId4"/>
          <a:stretch>
            <a:fillRect/>
          </a:stretch>
        </p:blipFill>
        <p:spPr>
          <a:xfrm>
            <a:off x="5433683" y="4036321"/>
            <a:ext cx="1709964" cy="931048"/>
          </a:xfrm>
          <a:prstGeom prst="rect">
            <a:avLst/>
          </a:prstGeom>
        </p:spPr>
      </p:pic>
    </p:spTree>
    <p:extLst>
      <p:ext uri="{BB962C8B-B14F-4D97-AF65-F5344CB8AC3E}">
        <p14:creationId xmlns:p14="http://schemas.microsoft.com/office/powerpoint/2010/main" val="35424459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Image showing raster operation type">
            <a:extLst>
              <a:ext uri="{FF2B5EF4-FFF2-40B4-BE49-F238E27FC236}">
                <a16:creationId xmlns:a16="http://schemas.microsoft.com/office/drawing/2014/main" id="{5129B875-59DC-4568-A6C4-531035FF3739}"/>
              </a:ext>
            </a:extLst>
          </p:cNvPr>
          <p:cNvPicPr>
            <a:picLocks noChangeAspect="1"/>
          </p:cNvPicPr>
          <p:nvPr/>
        </p:nvPicPr>
        <p:blipFill>
          <a:blip r:embed="rId3"/>
          <a:stretch>
            <a:fillRect/>
          </a:stretch>
        </p:blipFill>
        <p:spPr>
          <a:xfrm>
            <a:off x="3007643" y="922910"/>
            <a:ext cx="2703678" cy="4131375"/>
          </a:xfrm>
          <a:prstGeom prst="rect">
            <a:avLst/>
          </a:prstGeom>
        </p:spPr>
      </p:pic>
      <p:cxnSp>
        <p:nvCxnSpPr>
          <p:cNvPr id="4" name="Straight Connector 3">
            <a:extLst>
              <a:ext uri="{FF2B5EF4-FFF2-40B4-BE49-F238E27FC236}">
                <a16:creationId xmlns:a16="http://schemas.microsoft.com/office/drawing/2014/main" id="{A8019628-87E1-4DEF-AE97-3A9A607D8766}"/>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802ACC4D-9BC3-41D3-85F9-22F79555EFCC}"/>
              </a:ext>
            </a:extLst>
          </p:cNvPr>
          <p:cNvSpPr txBox="1">
            <a:spLocks/>
          </p:cNvSpPr>
          <p:nvPr/>
        </p:nvSpPr>
        <p:spPr>
          <a:xfrm>
            <a:off x="227202" y="194084"/>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Raster Operation</a:t>
            </a:r>
            <a:endParaRPr lang="en-US" sz="2600" dirty="0">
              <a:solidFill>
                <a:srgbClr val="7030A0"/>
              </a:solidFill>
            </a:endParaRPr>
          </a:p>
        </p:txBody>
      </p:sp>
      <p:sp>
        <p:nvSpPr>
          <p:cNvPr id="6" name="TextBox 5">
            <a:extLst>
              <a:ext uri="{FF2B5EF4-FFF2-40B4-BE49-F238E27FC236}">
                <a16:creationId xmlns:a16="http://schemas.microsoft.com/office/drawing/2014/main" id="{4566E588-ED50-4C7B-B3BB-C58813F47E51}"/>
              </a:ext>
            </a:extLst>
          </p:cNvPr>
          <p:cNvSpPr txBox="1"/>
          <p:nvPr/>
        </p:nvSpPr>
        <p:spPr>
          <a:xfrm>
            <a:off x="1361386" y="4818678"/>
            <a:ext cx="1097608" cy="246221"/>
          </a:xfrm>
          <a:prstGeom prst="rect">
            <a:avLst/>
          </a:prstGeom>
          <a:noFill/>
        </p:spPr>
        <p:txBody>
          <a:bodyPr wrap="square" rtlCol="0">
            <a:spAutoFit/>
          </a:bodyPr>
          <a:lstStyle/>
          <a:p>
            <a:r>
              <a:rPr lang="en-US" sz="1000" dirty="0" err="1">
                <a:solidFill>
                  <a:srgbClr val="7030A0"/>
                </a:solidFill>
              </a:rPr>
              <a:t>Bolstad</a:t>
            </a:r>
            <a:r>
              <a:rPr lang="en-US" sz="1000" dirty="0">
                <a:solidFill>
                  <a:srgbClr val="7030A0"/>
                </a:solidFill>
              </a:rPr>
              <a:t>, 2019</a:t>
            </a:r>
          </a:p>
        </p:txBody>
      </p:sp>
      <p:sp>
        <p:nvSpPr>
          <p:cNvPr id="2" name="Slide Number Placeholder 1">
            <a:extLst>
              <a:ext uri="{FF2B5EF4-FFF2-40B4-BE49-F238E27FC236}">
                <a16:creationId xmlns:a16="http://schemas.microsoft.com/office/drawing/2014/main" id="{CDA0E6EF-D77F-47C3-93F9-6B6ED52FF4C3}"/>
              </a:ext>
            </a:extLst>
          </p:cNvPr>
          <p:cNvSpPr>
            <a:spLocks noGrp="1"/>
          </p:cNvSpPr>
          <p:nvPr>
            <p:ph type="sldNum" sz="quarter" idx="12"/>
          </p:nvPr>
        </p:nvSpPr>
        <p:spPr/>
        <p:txBody>
          <a:bodyPr/>
          <a:lstStyle/>
          <a:p>
            <a:fld id="{127DDC20-79C9-9647-820E-6D40A3D210C3}" type="slidenum">
              <a:rPr lang="en-US" smtClean="0"/>
              <a:pPr/>
              <a:t>4</a:t>
            </a:fld>
            <a:endParaRPr lang="en-US"/>
          </a:p>
        </p:txBody>
      </p:sp>
    </p:spTree>
    <p:extLst>
      <p:ext uri="{BB962C8B-B14F-4D97-AF65-F5344CB8AC3E}">
        <p14:creationId xmlns:p14="http://schemas.microsoft.com/office/powerpoint/2010/main" val="34644973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a:xfrm>
            <a:off x="2293989" y="2147708"/>
            <a:ext cx="3389358" cy="1059726"/>
          </a:xfrm>
        </p:spPr>
        <p:txBody>
          <a:bodyPr>
            <a:normAutofit/>
          </a:bodyPr>
          <a:lstStyle/>
          <a:p>
            <a:pPr algn="ctr"/>
            <a:r>
              <a:rPr lang="en-US" dirty="0"/>
              <a:t>Local function Raster Math</a:t>
            </a:r>
          </a:p>
        </p:txBody>
      </p:sp>
      <p:sp>
        <p:nvSpPr>
          <p:cNvPr id="4" name="Slide Number Placeholder 3">
            <a:extLst>
              <a:ext uri="{FF2B5EF4-FFF2-40B4-BE49-F238E27FC236}">
                <a16:creationId xmlns:a16="http://schemas.microsoft.com/office/drawing/2014/main" id="{3A55474A-5D98-4A31-8720-30ADBF962587}"/>
              </a:ext>
            </a:extLst>
          </p:cNvPr>
          <p:cNvSpPr>
            <a:spLocks noGrp="1"/>
          </p:cNvSpPr>
          <p:nvPr>
            <p:ph type="sldNum" sz="quarter" idx="12"/>
          </p:nvPr>
        </p:nvSpPr>
        <p:spPr/>
        <p:txBody>
          <a:bodyPr/>
          <a:lstStyle/>
          <a:p>
            <a:fld id="{127DDC20-79C9-9647-820E-6D40A3D210C3}" type="slidenum">
              <a:rPr lang="en-US" smtClean="0"/>
              <a:pPr/>
              <a:t>5</a:t>
            </a:fld>
            <a:endParaRPr lang="en-US"/>
          </a:p>
        </p:txBody>
      </p:sp>
      <p:cxnSp>
        <p:nvCxnSpPr>
          <p:cNvPr id="3" name="Straight Connector 2">
            <a:extLst>
              <a:ext uri="{FF2B5EF4-FFF2-40B4-BE49-F238E27FC236}">
                <a16:creationId xmlns:a16="http://schemas.microsoft.com/office/drawing/2014/main" id="{2DE8A090-1807-4E07-8CB8-69A9C3D27FF9}"/>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648484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 showing raster calculator"/>
          <p:cNvPicPr>
            <a:picLocks noChangeAspect="1"/>
          </p:cNvPicPr>
          <p:nvPr/>
        </p:nvPicPr>
        <p:blipFill>
          <a:blip r:embed="rId3"/>
          <a:stretch>
            <a:fillRect/>
          </a:stretch>
        </p:blipFill>
        <p:spPr>
          <a:xfrm>
            <a:off x="1168093" y="2014668"/>
            <a:ext cx="5893413" cy="2573180"/>
          </a:xfrm>
          <a:prstGeom prst="rect">
            <a:avLst/>
          </a:prstGeom>
        </p:spPr>
      </p:pic>
      <p:cxnSp>
        <p:nvCxnSpPr>
          <p:cNvPr id="6" name="Straight Connector 5">
            <a:extLst>
              <a:ext uri="{FF2B5EF4-FFF2-40B4-BE49-F238E27FC236}">
                <a16:creationId xmlns:a16="http://schemas.microsoft.com/office/drawing/2014/main" id="{839562A7-6AF3-44BA-8F4A-C5A4AA245DB6}"/>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7" name="Title 1">
            <a:extLst>
              <a:ext uri="{FF2B5EF4-FFF2-40B4-BE49-F238E27FC236}">
                <a16:creationId xmlns:a16="http://schemas.microsoft.com/office/drawing/2014/main" id="{2E95DD0F-F98B-4644-A000-DD359C3BE282}"/>
              </a:ext>
            </a:extLst>
          </p:cNvPr>
          <p:cNvSpPr txBox="1">
            <a:spLocks/>
          </p:cNvSpPr>
          <p:nvPr/>
        </p:nvSpPr>
        <p:spPr>
          <a:xfrm>
            <a:off x="227202" y="12702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R</a:t>
            </a:r>
            <a:r>
              <a:rPr lang="en-US" altLang="zh-CN" sz="3200" dirty="0">
                <a:solidFill>
                  <a:srgbClr val="7030A0"/>
                </a:solidFill>
              </a:rPr>
              <a:t>aster Calculator</a:t>
            </a:r>
            <a:endParaRPr lang="en-US" sz="2600" dirty="0">
              <a:solidFill>
                <a:srgbClr val="7030A0"/>
              </a:solidFill>
            </a:endParaRPr>
          </a:p>
        </p:txBody>
      </p:sp>
      <p:sp>
        <p:nvSpPr>
          <p:cNvPr id="9" name="TextBox 8">
            <a:extLst>
              <a:ext uri="{FF2B5EF4-FFF2-40B4-BE49-F238E27FC236}">
                <a16:creationId xmlns:a16="http://schemas.microsoft.com/office/drawing/2014/main" id="{CB253913-3897-4F6B-97F4-E1FEE1F2327E}"/>
              </a:ext>
            </a:extLst>
          </p:cNvPr>
          <p:cNvSpPr txBox="1"/>
          <p:nvPr/>
        </p:nvSpPr>
        <p:spPr>
          <a:xfrm>
            <a:off x="110067" y="1237957"/>
            <a:ext cx="7838179" cy="461665"/>
          </a:xfrm>
          <a:prstGeom prst="rect">
            <a:avLst/>
          </a:prstGeom>
          <a:noFill/>
        </p:spPr>
        <p:txBody>
          <a:bodyPr wrap="square" rtlCol="0">
            <a:spAutoFit/>
          </a:bodyPr>
          <a:lstStyle/>
          <a:p>
            <a:pPr marL="457200" indent="-457200">
              <a:buFont typeface="Courier New" panose="02070309020205020404" pitchFamily="49" charset="0"/>
              <a:buChar char="o"/>
            </a:pPr>
            <a:r>
              <a:rPr lang="en-US" sz="2400" dirty="0"/>
              <a:t>Perform mathematical calculations on a cell-by-cell basis</a:t>
            </a:r>
          </a:p>
        </p:txBody>
      </p:sp>
      <p:sp>
        <p:nvSpPr>
          <p:cNvPr id="3" name="Slide Number Placeholder 2">
            <a:extLst>
              <a:ext uri="{FF2B5EF4-FFF2-40B4-BE49-F238E27FC236}">
                <a16:creationId xmlns:a16="http://schemas.microsoft.com/office/drawing/2014/main" id="{18D153DF-519A-4E5B-90C3-D71969FEB6D8}"/>
              </a:ext>
            </a:extLst>
          </p:cNvPr>
          <p:cNvSpPr>
            <a:spLocks noGrp="1"/>
          </p:cNvSpPr>
          <p:nvPr>
            <p:ph type="sldNum" sz="quarter" idx="12"/>
          </p:nvPr>
        </p:nvSpPr>
        <p:spPr/>
        <p:txBody>
          <a:bodyPr/>
          <a:lstStyle/>
          <a:p>
            <a:fld id="{127DDC20-79C9-9647-820E-6D40A3D210C3}" type="slidenum">
              <a:rPr lang="en-US" smtClean="0"/>
              <a:pPr/>
              <a:t>6</a:t>
            </a:fld>
            <a:endParaRPr lang="en-US"/>
          </a:p>
        </p:txBody>
      </p:sp>
    </p:spTree>
    <p:extLst>
      <p:ext uri="{BB962C8B-B14F-4D97-AF65-F5344CB8AC3E}">
        <p14:creationId xmlns:p14="http://schemas.microsoft.com/office/powerpoint/2010/main" val="20276701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custDataLst>
              <p:tags r:id="rId1"/>
            </p:custDataLst>
          </p:nvPr>
        </p:nvSpPr>
        <p:spPr>
          <a:xfrm>
            <a:off x="175556" y="1063709"/>
            <a:ext cx="6173808" cy="605034"/>
          </a:xfrm>
        </p:spPr>
        <p:txBody>
          <a:bodyPr/>
          <a:lstStyle/>
          <a:p>
            <a:pPr marL="0" indent="0">
              <a:buNone/>
            </a:pPr>
            <a:r>
              <a:rPr lang="en-US" dirty="0" err="1"/>
              <a:t>SquareRoot</a:t>
            </a:r>
            <a:r>
              <a:rPr lang="en-US" dirty="0"/>
              <a:t>(“Elevation”)</a:t>
            </a:r>
          </a:p>
        </p:txBody>
      </p:sp>
      <p:sp>
        <p:nvSpPr>
          <p:cNvPr id="3" name="Slide Number Placeholder 2">
            <a:extLst>
              <a:ext uri="{FF2B5EF4-FFF2-40B4-BE49-F238E27FC236}">
                <a16:creationId xmlns:a16="http://schemas.microsoft.com/office/drawing/2014/main" id="{8BB2C2A3-72CC-4203-9E16-FC9989D94785}"/>
              </a:ext>
            </a:extLst>
          </p:cNvPr>
          <p:cNvSpPr>
            <a:spLocks noGrp="1"/>
          </p:cNvSpPr>
          <p:nvPr>
            <p:ph type="sldNum" sz="quarter" idx="12"/>
          </p:nvPr>
        </p:nvSpPr>
        <p:spPr/>
        <p:txBody>
          <a:bodyPr/>
          <a:lstStyle/>
          <a:p>
            <a:fld id="{127DDC20-79C9-9647-820E-6D40A3D210C3}" type="slidenum">
              <a:rPr lang="en-US" smtClean="0"/>
              <a:pPr/>
              <a:t>7</a:t>
            </a:fld>
            <a:endParaRPr lang="en-US"/>
          </a:p>
        </p:txBody>
      </p:sp>
      <p:pic>
        <p:nvPicPr>
          <p:cNvPr id="6" name="Picture 5" descr="Image showing DEM data"/>
          <p:cNvPicPr>
            <a:picLocks noChangeAspect="1"/>
          </p:cNvPicPr>
          <p:nvPr/>
        </p:nvPicPr>
        <p:blipFill>
          <a:blip r:embed="rId7">
            <a:clrChange>
              <a:clrFrom>
                <a:srgbClr val="00C5FF"/>
              </a:clrFrom>
              <a:clrTo>
                <a:srgbClr val="00C5FF">
                  <a:alpha val="0"/>
                </a:srgbClr>
              </a:clrTo>
            </a:clrChange>
          </a:blip>
          <a:stretch>
            <a:fillRect/>
          </a:stretch>
        </p:blipFill>
        <p:spPr>
          <a:xfrm>
            <a:off x="1970996" y="1063709"/>
            <a:ext cx="2263730" cy="3717399"/>
          </a:xfrm>
          <a:prstGeom prst="rect">
            <a:avLst/>
          </a:prstGeom>
        </p:spPr>
      </p:pic>
      <p:sp>
        <p:nvSpPr>
          <p:cNvPr id="7" name="Right Arrow 6"/>
          <p:cNvSpPr/>
          <p:nvPr>
            <p:custDataLst>
              <p:tags r:id="rId2"/>
            </p:custDataLst>
          </p:nvPr>
        </p:nvSpPr>
        <p:spPr>
          <a:xfrm>
            <a:off x="4157133" y="2845235"/>
            <a:ext cx="720278" cy="154345"/>
          </a:xfrm>
          <a:prstGeom prst="rightArrow">
            <a:avLst>
              <a:gd name="adj1" fmla="val 25510"/>
              <a:gd name="adj2" fmla="val 50000"/>
            </a:avLst>
          </a:prstGeom>
          <a:solidFill>
            <a:srgbClr val="C00000"/>
          </a:solidFill>
          <a:ln>
            <a:solidFill>
              <a:srgbClr val="C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pic>
        <p:nvPicPr>
          <p:cNvPr id="2" name="Picture 1" descr="Image showing DEM data after square root"/>
          <p:cNvPicPr>
            <a:picLocks noChangeAspect="1"/>
          </p:cNvPicPr>
          <p:nvPr/>
        </p:nvPicPr>
        <p:blipFill>
          <a:blip r:embed="rId8">
            <a:clrChange>
              <a:clrFrom>
                <a:srgbClr val="00C5FF"/>
              </a:clrFrom>
              <a:clrTo>
                <a:srgbClr val="00C5FF">
                  <a:alpha val="0"/>
                </a:srgbClr>
              </a:clrTo>
            </a:clrChange>
          </a:blip>
          <a:stretch>
            <a:fillRect/>
          </a:stretch>
        </p:blipFill>
        <p:spPr>
          <a:xfrm>
            <a:off x="6166390" y="1116063"/>
            <a:ext cx="1807041" cy="3734549"/>
          </a:xfrm>
          <a:prstGeom prst="rect">
            <a:avLst/>
          </a:prstGeom>
        </p:spPr>
      </p:pic>
      <p:graphicFrame>
        <p:nvGraphicFramePr>
          <p:cNvPr id="9" name="Table 8"/>
          <p:cNvGraphicFramePr>
            <a:graphicFrameLocks noGrp="1"/>
          </p:cNvGraphicFramePr>
          <p:nvPr>
            <p:custDataLst>
              <p:tags r:id="rId3"/>
            </p:custDataLst>
            <p:extLst>
              <p:ext uri="{D42A27DB-BD31-4B8C-83A1-F6EECF244321}">
                <p14:modId xmlns:p14="http://schemas.microsoft.com/office/powerpoint/2010/main" val="2239730926"/>
              </p:ext>
            </p:extLst>
          </p:nvPr>
        </p:nvGraphicFramePr>
        <p:xfrm>
          <a:off x="256169" y="2234745"/>
          <a:ext cx="1394727" cy="1024932"/>
        </p:xfrm>
        <a:graphic>
          <a:graphicData uri="http://schemas.openxmlformats.org/drawingml/2006/table">
            <a:tbl>
              <a:tblPr>
                <a:tableStyleId>{6E25E649-3F16-4E02-A733-19D2CDBF48F0}</a:tableStyleId>
              </a:tblPr>
              <a:tblGrid>
                <a:gridCol w="464909">
                  <a:extLst>
                    <a:ext uri="{9D8B030D-6E8A-4147-A177-3AD203B41FA5}">
                      <a16:colId xmlns:a16="http://schemas.microsoft.com/office/drawing/2014/main" val="2741754113"/>
                    </a:ext>
                  </a:extLst>
                </a:gridCol>
                <a:gridCol w="464909">
                  <a:extLst>
                    <a:ext uri="{9D8B030D-6E8A-4147-A177-3AD203B41FA5}">
                      <a16:colId xmlns:a16="http://schemas.microsoft.com/office/drawing/2014/main" val="3847173035"/>
                    </a:ext>
                  </a:extLst>
                </a:gridCol>
                <a:gridCol w="464909">
                  <a:extLst>
                    <a:ext uri="{9D8B030D-6E8A-4147-A177-3AD203B41FA5}">
                      <a16:colId xmlns:a16="http://schemas.microsoft.com/office/drawing/2014/main" val="2831503961"/>
                    </a:ext>
                  </a:extLst>
                </a:gridCol>
              </a:tblGrid>
              <a:tr h="341644">
                <a:tc>
                  <a:txBody>
                    <a:bodyPr/>
                    <a:lstStyle/>
                    <a:p>
                      <a:pPr algn="ctr" fontAlgn="b"/>
                      <a:r>
                        <a:rPr lang="en-US" sz="1200" b="0" i="0" u="none" strike="noStrike" dirty="0">
                          <a:solidFill>
                            <a:schemeClr val="tx1"/>
                          </a:solidFill>
                          <a:effectLst/>
                          <a:latin typeface="Calibri" panose="020F0502020204030204" pitchFamily="34" charset="0"/>
                        </a:rPr>
                        <a:t>850</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u="none" strike="noStrike" dirty="0">
                          <a:solidFill>
                            <a:schemeClr val="tx1"/>
                          </a:solidFill>
                          <a:effectLst/>
                        </a:rPr>
                        <a:t> 700</a:t>
                      </a:r>
                      <a:endParaRPr lang="en-US" sz="12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u="none" strike="noStrike" dirty="0">
                          <a:solidFill>
                            <a:schemeClr val="tx1"/>
                          </a:solidFill>
                          <a:effectLst/>
                        </a:rPr>
                        <a:t> 820</a:t>
                      </a:r>
                      <a:endParaRPr lang="en-US" sz="12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37826849"/>
                  </a:ext>
                </a:extLst>
              </a:tr>
              <a:tr h="341644">
                <a:tc>
                  <a:txBody>
                    <a:bodyPr/>
                    <a:lstStyle/>
                    <a:p>
                      <a:pPr algn="ctr" fontAlgn="b"/>
                      <a:r>
                        <a:rPr lang="en-US" sz="1200" u="none" strike="noStrike" dirty="0">
                          <a:solidFill>
                            <a:schemeClr val="tx1"/>
                          </a:solidFill>
                          <a:effectLst/>
                        </a:rPr>
                        <a:t> 600</a:t>
                      </a:r>
                      <a:endParaRPr lang="en-US" sz="12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b="0" i="0" u="none" strike="noStrike" dirty="0">
                          <a:solidFill>
                            <a:schemeClr val="tx1"/>
                          </a:solidFill>
                          <a:effectLst/>
                          <a:latin typeface="+mn-lt"/>
                        </a:rPr>
                        <a:t>820</a:t>
                      </a:r>
                      <a:endParaRPr lang="en-US" sz="12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u="none" strike="noStrike" dirty="0">
                          <a:solidFill>
                            <a:schemeClr val="tx1"/>
                          </a:solidFill>
                          <a:effectLst/>
                        </a:rPr>
                        <a:t> 900</a:t>
                      </a:r>
                      <a:endParaRPr lang="en-US" sz="12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56786408"/>
                  </a:ext>
                </a:extLst>
              </a:tr>
              <a:tr h="341644">
                <a:tc>
                  <a:txBody>
                    <a:bodyPr/>
                    <a:lstStyle/>
                    <a:p>
                      <a:pPr algn="ctr" fontAlgn="b"/>
                      <a:r>
                        <a:rPr lang="en-US" sz="1200" u="none" strike="noStrike" dirty="0">
                          <a:solidFill>
                            <a:schemeClr val="tx1"/>
                          </a:solidFill>
                          <a:effectLst/>
                        </a:rPr>
                        <a:t> </a:t>
                      </a:r>
                      <a:r>
                        <a:rPr lang="en-US" sz="900" u="none" strike="noStrike" dirty="0">
                          <a:solidFill>
                            <a:schemeClr val="tx1"/>
                          </a:solidFill>
                          <a:effectLst/>
                        </a:rPr>
                        <a:t>NoData</a:t>
                      </a:r>
                      <a:endParaRPr lang="en-US" sz="9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u="none" strike="noStrike" dirty="0">
                          <a:solidFill>
                            <a:schemeClr val="tx1"/>
                          </a:solidFill>
                          <a:effectLst/>
                        </a:rPr>
                        <a:t> 650</a:t>
                      </a:r>
                      <a:endParaRPr lang="en-US" sz="12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u="none" strike="noStrike" dirty="0">
                          <a:solidFill>
                            <a:schemeClr val="tx1"/>
                          </a:solidFill>
                          <a:effectLst/>
                        </a:rPr>
                        <a:t> 675</a:t>
                      </a:r>
                      <a:endParaRPr lang="en-US" sz="12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75086253"/>
                  </a:ext>
                </a:extLst>
              </a:tr>
            </a:tbl>
          </a:graphicData>
        </a:graphic>
      </p:graphicFrame>
      <p:graphicFrame>
        <p:nvGraphicFramePr>
          <p:cNvPr id="10" name="Table 9"/>
          <p:cNvGraphicFramePr>
            <a:graphicFrameLocks noGrp="1"/>
          </p:cNvGraphicFramePr>
          <p:nvPr>
            <p:custDataLst>
              <p:tags r:id="rId4"/>
            </p:custDataLst>
            <p:extLst>
              <p:ext uri="{D42A27DB-BD31-4B8C-83A1-F6EECF244321}">
                <p14:modId xmlns:p14="http://schemas.microsoft.com/office/powerpoint/2010/main" val="941406426"/>
              </p:ext>
            </p:extLst>
          </p:nvPr>
        </p:nvGraphicFramePr>
        <p:xfrm>
          <a:off x="5114687" y="1301108"/>
          <a:ext cx="1394727" cy="1024932"/>
        </p:xfrm>
        <a:graphic>
          <a:graphicData uri="http://schemas.openxmlformats.org/drawingml/2006/table">
            <a:tbl>
              <a:tblPr>
                <a:tableStyleId>{6E25E649-3F16-4E02-A733-19D2CDBF48F0}</a:tableStyleId>
              </a:tblPr>
              <a:tblGrid>
                <a:gridCol w="464909">
                  <a:extLst>
                    <a:ext uri="{9D8B030D-6E8A-4147-A177-3AD203B41FA5}">
                      <a16:colId xmlns:a16="http://schemas.microsoft.com/office/drawing/2014/main" val="2741754113"/>
                    </a:ext>
                  </a:extLst>
                </a:gridCol>
                <a:gridCol w="464909">
                  <a:extLst>
                    <a:ext uri="{9D8B030D-6E8A-4147-A177-3AD203B41FA5}">
                      <a16:colId xmlns:a16="http://schemas.microsoft.com/office/drawing/2014/main" val="3847173035"/>
                    </a:ext>
                  </a:extLst>
                </a:gridCol>
                <a:gridCol w="464909">
                  <a:extLst>
                    <a:ext uri="{9D8B030D-6E8A-4147-A177-3AD203B41FA5}">
                      <a16:colId xmlns:a16="http://schemas.microsoft.com/office/drawing/2014/main" val="2831503961"/>
                    </a:ext>
                  </a:extLst>
                </a:gridCol>
              </a:tblGrid>
              <a:tr h="341644">
                <a:tc>
                  <a:txBody>
                    <a:bodyPr/>
                    <a:lstStyle/>
                    <a:p>
                      <a:pPr algn="ctr" fontAlgn="b"/>
                      <a:r>
                        <a:rPr lang="en-US" sz="1200" b="0" i="0" u="none" strike="noStrike" dirty="0">
                          <a:solidFill>
                            <a:schemeClr val="tx1"/>
                          </a:solidFill>
                          <a:effectLst/>
                          <a:latin typeface="Calibri" panose="020F0502020204030204" pitchFamily="34" charset="0"/>
                        </a:rPr>
                        <a:t>29.2</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u="none" strike="noStrike" dirty="0">
                          <a:solidFill>
                            <a:schemeClr val="tx1"/>
                          </a:solidFill>
                          <a:effectLst/>
                        </a:rPr>
                        <a:t> 26.5</a:t>
                      </a:r>
                      <a:endParaRPr lang="en-US" sz="12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u="none" strike="noStrike" dirty="0">
                          <a:solidFill>
                            <a:schemeClr val="tx1"/>
                          </a:solidFill>
                          <a:effectLst/>
                        </a:rPr>
                        <a:t> 28.6</a:t>
                      </a:r>
                      <a:endParaRPr lang="en-US" sz="12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37826849"/>
                  </a:ext>
                </a:extLst>
              </a:tr>
              <a:tr h="341644">
                <a:tc>
                  <a:txBody>
                    <a:bodyPr/>
                    <a:lstStyle/>
                    <a:p>
                      <a:pPr algn="ctr" fontAlgn="b"/>
                      <a:r>
                        <a:rPr lang="en-US" sz="1200" b="0" i="0" u="none" strike="noStrike" dirty="0">
                          <a:solidFill>
                            <a:schemeClr val="tx1"/>
                          </a:solidFill>
                          <a:effectLst/>
                          <a:latin typeface="+mn-lt"/>
                        </a:rPr>
                        <a:t>24.5</a:t>
                      </a:r>
                      <a:endParaRPr lang="en-US" sz="12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b="0" i="0" u="none" strike="noStrike" dirty="0">
                          <a:solidFill>
                            <a:schemeClr val="tx1"/>
                          </a:solidFill>
                          <a:effectLst/>
                          <a:latin typeface="+mn-lt"/>
                        </a:rPr>
                        <a:t>28.6</a:t>
                      </a:r>
                      <a:endParaRPr lang="en-US" sz="12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u="none" strike="noStrike" dirty="0">
                          <a:solidFill>
                            <a:schemeClr val="tx1"/>
                          </a:solidFill>
                          <a:effectLst/>
                        </a:rPr>
                        <a:t> 30</a:t>
                      </a:r>
                      <a:endParaRPr lang="en-US" sz="12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56786408"/>
                  </a:ext>
                </a:extLst>
              </a:tr>
              <a:tr h="341644">
                <a:tc>
                  <a:txBody>
                    <a:bodyPr/>
                    <a:lstStyle/>
                    <a:p>
                      <a:pPr algn="ctr" fontAlgn="b"/>
                      <a:r>
                        <a:rPr lang="en-US" sz="1200" u="none" strike="noStrike" dirty="0">
                          <a:solidFill>
                            <a:schemeClr val="tx1"/>
                          </a:solidFill>
                          <a:effectLst/>
                        </a:rPr>
                        <a:t> </a:t>
                      </a:r>
                      <a:r>
                        <a:rPr lang="en-US" sz="900" u="none" strike="noStrike" dirty="0">
                          <a:solidFill>
                            <a:schemeClr val="tx1"/>
                          </a:solidFill>
                          <a:effectLst/>
                        </a:rPr>
                        <a:t>NoData</a:t>
                      </a:r>
                      <a:endParaRPr lang="en-US" sz="9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u="none" strike="noStrike" dirty="0">
                          <a:solidFill>
                            <a:schemeClr val="tx1"/>
                          </a:solidFill>
                          <a:effectLst/>
                        </a:rPr>
                        <a:t> 25.5</a:t>
                      </a:r>
                      <a:endParaRPr lang="en-US" sz="12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u="none" strike="noStrike" dirty="0">
                          <a:solidFill>
                            <a:schemeClr val="tx1"/>
                          </a:solidFill>
                          <a:effectLst/>
                        </a:rPr>
                        <a:t> 26.0</a:t>
                      </a:r>
                      <a:endParaRPr lang="en-US" sz="12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75086253"/>
                  </a:ext>
                </a:extLst>
              </a:tr>
            </a:tbl>
          </a:graphicData>
        </a:graphic>
      </p:graphicFrame>
      <p:cxnSp>
        <p:nvCxnSpPr>
          <p:cNvPr id="11" name="Straight Connector 10">
            <a:extLst>
              <a:ext uri="{FF2B5EF4-FFF2-40B4-BE49-F238E27FC236}">
                <a16:creationId xmlns:a16="http://schemas.microsoft.com/office/drawing/2014/main" id="{3D828253-97B7-4CE0-8D11-325ABF008E1B}"/>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2" name="Title 1">
            <a:extLst>
              <a:ext uri="{FF2B5EF4-FFF2-40B4-BE49-F238E27FC236}">
                <a16:creationId xmlns:a16="http://schemas.microsoft.com/office/drawing/2014/main" id="{B678F6C8-917E-4DC4-8BA5-1ACF24155CA2}"/>
              </a:ext>
            </a:extLst>
          </p:cNvPr>
          <p:cNvSpPr txBox="1">
            <a:spLocks/>
          </p:cNvSpPr>
          <p:nvPr/>
        </p:nvSpPr>
        <p:spPr>
          <a:xfrm>
            <a:off x="142766" y="13606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Operations Involving A single Raster</a:t>
            </a:r>
            <a:endParaRPr lang="en-US" sz="2600" dirty="0">
              <a:solidFill>
                <a:srgbClr val="7030A0"/>
              </a:solidFill>
            </a:endParaRPr>
          </a:p>
        </p:txBody>
      </p:sp>
    </p:spTree>
    <p:extLst>
      <p:ext uri="{BB962C8B-B14F-4D97-AF65-F5344CB8AC3E}">
        <p14:creationId xmlns:p14="http://schemas.microsoft.com/office/powerpoint/2010/main" val="30310026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custDataLst>
              <p:tags r:id="rId1"/>
            </p:custDataLst>
          </p:nvPr>
        </p:nvSpPr>
        <p:spPr>
          <a:xfrm>
            <a:off x="110067" y="1265209"/>
            <a:ext cx="6173808" cy="353130"/>
          </a:xfrm>
        </p:spPr>
        <p:txBody>
          <a:bodyPr/>
          <a:lstStyle/>
          <a:p>
            <a:pPr marL="0" indent="0">
              <a:buNone/>
            </a:pPr>
            <a:r>
              <a:rPr lang="en-US" dirty="0"/>
              <a:t>“Elevation” * 3.281 (meet to feet)</a:t>
            </a:r>
          </a:p>
        </p:txBody>
      </p:sp>
      <p:sp>
        <p:nvSpPr>
          <p:cNvPr id="3" name="Slide Number Placeholder 2">
            <a:extLst>
              <a:ext uri="{FF2B5EF4-FFF2-40B4-BE49-F238E27FC236}">
                <a16:creationId xmlns:a16="http://schemas.microsoft.com/office/drawing/2014/main" id="{8038D202-C8C2-4AF7-8205-71B517F89F17}"/>
              </a:ext>
            </a:extLst>
          </p:cNvPr>
          <p:cNvSpPr>
            <a:spLocks noGrp="1"/>
          </p:cNvSpPr>
          <p:nvPr>
            <p:ph type="sldNum" sz="quarter" idx="12"/>
          </p:nvPr>
        </p:nvSpPr>
        <p:spPr/>
        <p:txBody>
          <a:bodyPr/>
          <a:lstStyle/>
          <a:p>
            <a:fld id="{127DDC20-79C9-9647-820E-6D40A3D210C3}" type="slidenum">
              <a:rPr lang="en-US" smtClean="0"/>
              <a:pPr/>
              <a:t>8</a:t>
            </a:fld>
            <a:endParaRPr lang="en-US"/>
          </a:p>
        </p:txBody>
      </p:sp>
      <p:pic>
        <p:nvPicPr>
          <p:cNvPr id="2" name="Picture 1" descr="Image showing Raster Calculator window"/>
          <p:cNvPicPr>
            <a:picLocks noChangeAspect="1"/>
          </p:cNvPicPr>
          <p:nvPr/>
        </p:nvPicPr>
        <p:blipFill>
          <a:blip r:embed="rId6"/>
          <a:stretch>
            <a:fillRect/>
          </a:stretch>
        </p:blipFill>
        <p:spPr>
          <a:xfrm>
            <a:off x="3666231" y="2204980"/>
            <a:ext cx="4268383" cy="2766781"/>
          </a:xfrm>
          <a:prstGeom prst="rect">
            <a:avLst/>
          </a:prstGeom>
        </p:spPr>
      </p:pic>
      <p:graphicFrame>
        <p:nvGraphicFramePr>
          <p:cNvPr id="6" name="Table 5"/>
          <p:cNvGraphicFramePr>
            <a:graphicFrameLocks noGrp="1"/>
          </p:cNvGraphicFramePr>
          <p:nvPr>
            <p:custDataLst>
              <p:tags r:id="rId2"/>
            </p:custDataLst>
          </p:nvPr>
        </p:nvGraphicFramePr>
        <p:xfrm>
          <a:off x="193731" y="2777544"/>
          <a:ext cx="1394727" cy="1024932"/>
        </p:xfrm>
        <a:graphic>
          <a:graphicData uri="http://schemas.openxmlformats.org/drawingml/2006/table">
            <a:tbl>
              <a:tblPr>
                <a:tableStyleId>{6E25E649-3F16-4E02-A733-19D2CDBF48F0}</a:tableStyleId>
              </a:tblPr>
              <a:tblGrid>
                <a:gridCol w="464909">
                  <a:extLst>
                    <a:ext uri="{9D8B030D-6E8A-4147-A177-3AD203B41FA5}">
                      <a16:colId xmlns:a16="http://schemas.microsoft.com/office/drawing/2014/main" val="2741754113"/>
                    </a:ext>
                  </a:extLst>
                </a:gridCol>
                <a:gridCol w="464909">
                  <a:extLst>
                    <a:ext uri="{9D8B030D-6E8A-4147-A177-3AD203B41FA5}">
                      <a16:colId xmlns:a16="http://schemas.microsoft.com/office/drawing/2014/main" val="3847173035"/>
                    </a:ext>
                  </a:extLst>
                </a:gridCol>
                <a:gridCol w="464909">
                  <a:extLst>
                    <a:ext uri="{9D8B030D-6E8A-4147-A177-3AD203B41FA5}">
                      <a16:colId xmlns:a16="http://schemas.microsoft.com/office/drawing/2014/main" val="2831503961"/>
                    </a:ext>
                  </a:extLst>
                </a:gridCol>
              </a:tblGrid>
              <a:tr h="341644">
                <a:tc>
                  <a:txBody>
                    <a:bodyPr/>
                    <a:lstStyle/>
                    <a:p>
                      <a:pPr algn="ctr" fontAlgn="b"/>
                      <a:r>
                        <a:rPr lang="en-US" sz="1200" b="0" i="0" u="none" strike="noStrike" dirty="0">
                          <a:solidFill>
                            <a:schemeClr val="tx1"/>
                          </a:solidFill>
                          <a:effectLst/>
                          <a:latin typeface="Calibri" panose="020F0502020204030204" pitchFamily="34" charset="0"/>
                        </a:rPr>
                        <a:t>850</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u="none" strike="noStrike" dirty="0">
                          <a:solidFill>
                            <a:schemeClr val="tx1"/>
                          </a:solidFill>
                          <a:effectLst/>
                        </a:rPr>
                        <a:t> 700</a:t>
                      </a:r>
                      <a:endParaRPr lang="en-US" sz="12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u="none" strike="noStrike" dirty="0">
                          <a:solidFill>
                            <a:schemeClr val="tx1"/>
                          </a:solidFill>
                          <a:effectLst/>
                        </a:rPr>
                        <a:t> 820</a:t>
                      </a:r>
                      <a:endParaRPr lang="en-US" sz="12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37826849"/>
                  </a:ext>
                </a:extLst>
              </a:tr>
              <a:tr h="341644">
                <a:tc>
                  <a:txBody>
                    <a:bodyPr/>
                    <a:lstStyle/>
                    <a:p>
                      <a:pPr algn="ctr" fontAlgn="b"/>
                      <a:r>
                        <a:rPr lang="en-US" sz="1200" u="none" strike="noStrike" dirty="0">
                          <a:solidFill>
                            <a:schemeClr val="tx1"/>
                          </a:solidFill>
                          <a:effectLst/>
                        </a:rPr>
                        <a:t> 600</a:t>
                      </a:r>
                      <a:endParaRPr lang="en-US" sz="12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b="0" i="0" u="none" strike="noStrike" dirty="0">
                          <a:solidFill>
                            <a:schemeClr val="tx1"/>
                          </a:solidFill>
                          <a:effectLst/>
                          <a:latin typeface="+mn-lt"/>
                        </a:rPr>
                        <a:t>820</a:t>
                      </a:r>
                      <a:endParaRPr lang="en-US" sz="12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u="none" strike="noStrike" dirty="0">
                          <a:solidFill>
                            <a:schemeClr val="tx1"/>
                          </a:solidFill>
                          <a:effectLst/>
                        </a:rPr>
                        <a:t> 900</a:t>
                      </a:r>
                      <a:endParaRPr lang="en-US" sz="12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56786408"/>
                  </a:ext>
                </a:extLst>
              </a:tr>
              <a:tr h="341644">
                <a:tc>
                  <a:txBody>
                    <a:bodyPr/>
                    <a:lstStyle/>
                    <a:p>
                      <a:pPr algn="ctr" fontAlgn="b"/>
                      <a:r>
                        <a:rPr lang="en-US" sz="1200" u="none" strike="noStrike" dirty="0">
                          <a:solidFill>
                            <a:schemeClr val="tx1"/>
                          </a:solidFill>
                          <a:effectLst/>
                        </a:rPr>
                        <a:t> </a:t>
                      </a:r>
                      <a:r>
                        <a:rPr lang="en-US" sz="900" u="none" strike="noStrike" dirty="0">
                          <a:solidFill>
                            <a:schemeClr val="tx1"/>
                          </a:solidFill>
                          <a:effectLst/>
                        </a:rPr>
                        <a:t>NoData</a:t>
                      </a:r>
                      <a:endParaRPr lang="en-US" sz="9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u="none" strike="noStrike" dirty="0">
                          <a:solidFill>
                            <a:schemeClr val="tx1"/>
                          </a:solidFill>
                          <a:effectLst/>
                        </a:rPr>
                        <a:t> 650</a:t>
                      </a:r>
                      <a:endParaRPr lang="en-US" sz="12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u="none" strike="noStrike" dirty="0">
                          <a:solidFill>
                            <a:schemeClr val="tx1"/>
                          </a:solidFill>
                          <a:effectLst/>
                        </a:rPr>
                        <a:t> 675</a:t>
                      </a:r>
                      <a:endParaRPr lang="en-US" sz="12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75086253"/>
                  </a:ext>
                </a:extLst>
              </a:tr>
            </a:tbl>
          </a:graphicData>
        </a:graphic>
      </p:graphicFrame>
      <p:graphicFrame>
        <p:nvGraphicFramePr>
          <p:cNvPr id="7" name="Table 6"/>
          <p:cNvGraphicFramePr>
            <a:graphicFrameLocks noGrp="1"/>
          </p:cNvGraphicFramePr>
          <p:nvPr>
            <p:custDataLst>
              <p:tags r:id="rId3"/>
            </p:custDataLst>
          </p:nvPr>
        </p:nvGraphicFramePr>
        <p:xfrm>
          <a:off x="1867733" y="3588371"/>
          <a:ext cx="1394727" cy="1024932"/>
        </p:xfrm>
        <a:graphic>
          <a:graphicData uri="http://schemas.openxmlformats.org/drawingml/2006/table">
            <a:tbl>
              <a:tblPr>
                <a:tableStyleId>{6E25E649-3F16-4E02-A733-19D2CDBF48F0}</a:tableStyleId>
              </a:tblPr>
              <a:tblGrid>
                <a:gridCol w="464909">
                  <a:extLst>
                    <a:ext uri="{9D8B030D-6E8A-4147-A177-3AD203B41FA5}">
                      <a16:colId xmlns:a16="http://schemas.microsoft.com/office/drawing/2014/main" val="2741754113"/>
                    </a:ext>
                  </a:extLst>
                </a:gridCol>
                <a:gridCol w="464909">
                  <a:extLst>
                    <a:ext uri="{9D8B030D-6E8A-4147-A177-3AD203B41FA5}">
                      <a16:colId xmlns:a16="http://schemas.microsoft.com/office/drawing/2014/main" val="3847173035"/>
                    </a:ext>
                  </a:extLst>
                </a:gridCol>
                <a:gridCol w="464909">
                  <a:extLst>
                    <a:ext uri="{9D8B030D-6E8A-4147-A177-3AD203B41FA5}">
                      <a16:colId xmlns:a16="http://schemas.microsoft.com/office/drawing/2014/main" val="2831503961"/>
                    </a:ext>
                  </a:extLst>
                </a:gridCol>
              </a:tblGrid>
              <a:tr h="341644">
                <a:tc>
                  <a:txBody>
                    <a:bodyPr/>
                    <a:lstStyle/>
                    <a:p>
                      <a:pPr algn="ctr" fontAlgn="b"/>
                      <a:r>
                        <a:rPr lang="en-US" sz="1200" b="0" i="0" u="none" strike="noStrike" dirty="0">
                          <a:solidFill>
                            <a:schemeClr val="tx1"/>
                          </a:solidFill>
                          <a:effectLst/>
                          <a:latin typeface="Calibri" panose="020F0502020204030204" pitchFamily="34" charset="0"/>
                        </a:rPr>
                        <a:t>2789</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u="none" strike="noStrike" dirty="0">
                          <a:solidFill>
                            <a:schemeClr val="tx1"/>
                          </a:solidFill>
                          <a:effectLst/>
                        </a:rPr>
                        <a:t> 2297</a:t>
                      </a:r>
                      <a:endParaRPr lang="en-US" sz="12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u="none" strike="noStrike" dirty="0">
                          <a:solidFill>
                            <a:schemeClr val="tx1"/>
                          </a:solidFill>
                          <a:effectLst/>
                        </a:rPr>
                        <a:t> 2690</a:t>
                      </a:r>
                      <a:endParaRPr lang="en-US" sz="12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37826849"/>
                  </a:ext>
                </a:extLst>
              </a:tr>
              <a:tr h="341644">
                <a:tc>
                  <a:txBody>
                    <a:bodyPr/>
                    <a:lstStyle/>
                    <a:p>
                      <a:pPr algn="ctr" fontAlgn="b"/>
                      <a:r>
                        <a:rPr lang="en-US" sz="1200" b="0" i="0" u="none" strike="noStrike" dirty="0">
                          <a:solidFill>
                            <a:schemeClr val="tx1"/>
                          </a:solidFill>
                          <a:effectLst/>
                          <a:latin typeface="+mn-lt"/>
                        </a:rPr>
                        <a:t>1969</a:t>
                      </a:r>
                      <a:endParaRPr lang="en-US" sz="12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b="0" i="0" u="none" strike="noStrike" dirty="0">
                          <a:solidFill>
                            <a:schemeClr val="tx1"/>
                          </a:solidFill>
                          <a:effectLst/>
                          <a:latin typeface="+mn-lt"/>
                        </a:rPr>
                        <a:t>2690</a:t>
                      </a:r>
                      <a:endParaRPr lang="en-US" sz="12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u="none" strike="noStrike" dirty="0">
                          <a:solidFill>
                            <a:schemeClr val="tx1"/>
                          </a:solidFill>
                          <a:effectLst/>
                        </a:rPr>
                        <a:t> 2953</a:t>
                      </a:r>
                      <a:endParaRPr lang="en-US" sz="12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56786408"/>
                  </a:ext>
                </a:extLst>
              </a:tr>
              <a:tr h="341644">
                <a:tc>
                  <a:txBody>
                    <a:bodyPr/>
                    <a:lstStyle/>
                    <a:p>
                      <a:pPr algn="ctr" fontAlgn="b"/>
                      <a:r>
                        <a:rPr lang="en-US" sz="1200" u="none" strike="noStrike" dirty="0">
                          <a:solidFill>
                            <a:schemeClr val="tx1"/>
                          </a:solidFill>
                          <a:effectLst/>
                        </a:rPr>
                        <a:t> </a:t>
                      </a:r>
                      <a:r>
                        <a:rPr lang="en-US" sz="900" u="none" strike="noStrike" dirty="0">
                          <a:solidFill>
                            <a:schemeClr val="tx1"/>
                          </a:solidFill>
                          <a:effectLst/>
                        </a:rPr>
                        <a:t>NoData</a:t>
                      </a:r>
                      <a:endParaRPr lang="en-US" sz="9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u="none" strike="noStrike" dirty="0">
                          <a:solidFill>
                            <a:schemeClr val="tx1"/>
                          </a:solidFill>
                          <a:effectLst/>
                        </a:rPr>
                        <a:t> 2133</a:t>
                      </a:r>
                      <a:endParaRPr lang="en-US" sz="12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u="none" strike="noStrike" dirty="0">
                          <a:solidFill>
                            <a:schemeClr val="tx1"/>
                          </a:solidFill>
                          <a:effectLst/>
                        </a:rPr>
                        <a:t> 2215</a:t>
                      </a:r>
                      <a:endParaRPr lang="en-US" sz="12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75086253"/>
                  </a:ext>
                </a:extLst>
              </a:tr>
            </a:tbl>
          </a:graphicData>
        </a:graphic>
      </p:graphicFrame>
      <p:cxnSp>
        <p:nvCxnSpPr>
          <p:cNvPr id="8" name="Straight Connector 7">
            <a:extLst>
              <a:ext uri="{FF2B5EF4-FFF2-40B4-BE49-F238E27FC236}">
                <a16:creationId xmlns:a16="http://schemas.microsoft.com/office/drawing/2014/main" id="{E7ED0CCA-E742-4B35-9FC2-12767F8E5C3F}"/>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9" name="Title 1">
            <a:extLst>
              <a:ext uri="{FF2B5EF4-FFF2-40B4-BE49-F238E27FC236}">
                <a16:creationId xmlns:a16="http://schemas.microsoft.com/office/drawing/2014/main" id="{36FBACAC-75B9-4C44-A7BF-801FF1BD30DE}"/>
              </a:ext>
            </a:extLst>
          </p:cNvPr>
          <p:cNvSpPr txBox="1">
            <a:spLocks/>
          </p:cNvSpPr>
          <p:nvPr/>
        </p:nvSpPr>
        <p:spPr>
          <a:xfrm>
            <a:off x="193731" y="174449"/>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Operations Involving Constants</a:t>
            </a:r>
            <a:endParaRPr lang="en-US" sz="2600" dirty="0">
              <a:solidFill>
                <a:srgbClr val="7030A0"/>
              </a:solidFill>
            </a:endParaRPr>
          </a:p>
        </p:txBody>
      </p:sp>
    </p:spTree>
    <p:extLst>
      <p:ext uri="{BB962C8B-B14F-4D97-AF65-F5344CB8AC3E}">
        <p14:creationId xmlns:p14="http://schemas.microsoft.com/office/powerpoint/2010/main" val="150655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p:cNvGraphicFramePr>
            <a:graphicFrameLocks noGrp="1"/>
          </p:cNvGraphicFramePr>
          <p:nvPr>
            <p:custDataLst>
              <p:tags r:id="rId1"/>
            </p:custDataLst>
          </p:nvPr>
        </p:nvGraphicFramePr>
        <p:xfrm>
          <a:off x="330533" y="1542782"/>
          <a:ext cx="1394727" cy="1024932"/>
        </p:xfrm>
        <a:graphic>
          <a:graphicData uri="http://schemas.openxmlformats.org/drawingml/2006/table">
            <a:tbl>
              <a:tblPr>
                <a:tableStyleId>{6E25E649-3F16-4E02-A733-19D2CDBF48F0}</a:tableStyleId>
              </a:tblPr>
              <a:tblGrid>
                <a:gridCol w="464909">
                  <a:extLst>
                    <a:ext uri="{9D8B030D-6E8A-4147-A177-3AD203B41FA5}">
                      <a16:colId xmlns:a16="http://schemas.microsoft.com/office/drawing/2014/main" val="2741754113"/>
                    </a:ext>
                  </a:extLst>
                </a:gridCol>
                <a:gridCol w="464909">
                  <a:extLst>
                    <a:ext uri="{9D8B030D-6E8A-4147-A177-3AD203B41FA5}">
                      <a16:colId xmlns:a16="http://schemas.microsoft.com/office/drawing/2014/main" val="3847173035"/>
                    </a:ext>
                  </a:extLst>
                </a:gridCol>
                <a:gridCol w="464909">
                  <a:extLst>
                    <a:ext uri="{9D8B030D-6E8A-4147-A177-3AD203B41FA5}">
                      <a16:colId xmlns:a16="http://schemas.microsoft.com/office/drawing/2014/main" val="2831503961"/>
                    </a:ext>
                  </a:extLst>
                </a:gridCol>
              </a:tblGrid>
              <a:tr h="341644">
                <a:tc>
                  <a:txBody>
                    <a:bodyPr/>
                    <a:lstStyle/>
                    <a:p>
                      <a:pPr algn="ctr" fontAlgn="b"/>
                      <a:r>
                        <a:rPr lang="en-US" sz="1200" b="0" i="0" u="none" strike="noStrike" dirty="0">
                          <a:solidFill>
                            <a:schemeClr val="tx1"/>
                          </a:solidFill>
                          <a:effectLst/>
                          <a:latin typeface="Calibri" panose="020F0502020204030204" pitchFamily="34" charset="0"/>
                        </a:rPr>
                        <a:t>1</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b="0" i="0" u="none" strike="noStrike" dirty="0">
                          <a:solidFill>
                            <a:schemeClr val="tx1"/>
                          </a:solidFill>
                          <a:effectLst/>
                          <a:latin typeface="Calibri" panose="020F0502020204030204" pitchFamily="34" charset="0"/>
                        </a:rPr>
                        <a:t>0</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b="0" i="0" u="none" strike="noStrike" dirty="0">
                          <a:solidFill>
                            <a:schemeClr val="tx1"/>
                          </a:solidFill>
                          <a:effectLst/>
                          <a:latin typeface="Calibri" panose="020F0502020204030204" pitchFamily="34" charset="0"/>
                        </a:rPr>
                        <a:t>1</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37826849"/>
                  </a:ext>
                </a:extLst>
              </a:tr>
              <a:tr h="341644">
                <a:tc>
                  <a:txBody>
                    <a:bodyPr/>
                    <a:lstStyle/>
                    <a:p>
                      <a:pPr algn="ctr" fontAlgn="b"/>
                      <a:r>
                        <a:rPr lang="en-US" sz="1200" b="0" i="0" u="none" strike="noStrike" dirty="0">
                          <a:solidFill>
                            <a:schemeClr val="tx1"/>
                          </a:solidFill>
                          <a:effectLst/>
                          <a:latin typeface="Calibri" panose="020F0502020204030204" pitchFamily="34" charset="0"/>
                        </a:rPr>
                        <a:t>0</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b="0" i="0" u="none" strike="noStrike" dirty="0">
                          <a:solidFill>
                            <a:schemeClr val="tx1"/>
                          </a:solidFill>
                          <a:effectLst/>
                          <a:latin typeface="Calibri" panose="020F0502020204030204" pitchFamily="34" charset="0"/>
                        </a:rPr>
                        <a:t>0</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b="0" i="0" u="none" strike="noStrike" dirty="0">
                          <a:solidFill>
                            <a:schemeClr val="tx1"/>
                          </a:solidFill>
                          <a:effectLst/>
                          <a:latin typeface="Calibri" panose="020F0502020204030204" pitchFamily="34" charset="0"/>
                        </a:rPr>
                        <a:t>1</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56786408"/>
                  </a:ext>
                </a:extLst>
              </a:tr>
              <a:tr h="341644">
                <a:tc>
                  <a:txBody>
                    <a:bodyPr/>
                    <a:lstStyle/>
                    <a:p>
                      <a:pPr algn="ctr" fontAlgn="b"/>
                      <a:r>
                        <a:rPr lang="en-US" sz="1200" u="none" strike="noStrike" dirty="0">
                          <a:solidFill>
                            <a:schemeClr val="tx1"/>
                          </a:solidFill>
                          <a:effectLst/>
                        </a:rPr>
                        <a:t> </a:t>
                      </a:r>
                      <a:r>
                        <a:rPr lang="en-US" sz="900" u="none" strike="noStrike" dirty="0">
                          <a:solidFill>
                            <a:schemeClr val="tx1"/>
                          </a:solidFill>
                          <a:effectLst/>
                        </a:rPr>
                        <a:t>NoData</a:t>
                      </a:r>
                      <a:endParaRPr lang="en-US" sz="9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b="0" i="0" u="none" strike="noStrike" dirty="0">
                          <a:solidFill>
                            <a:schemeClr val="tx1"/>
                          </a:solidFill>
                          <a:effectLst/>
                          <a:latin typeface="Calibri" panose="020F0502020204030204" pitchFamily="34" charset="0"/>
                        </a:rPr>
                        <a:t>1</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b="0" i="0" u="none" strike="noStrike" dirty="0">
                          <a:solidFill>
                            <a:schemeClr val="tx1"/>
                          </a:solidFill>
                          <a:effectLst/>
                          <a:latin typeface="Calibri" panose="020F0502020204030204" pitchFamily="34" charset="0"/>
                        </a:rPr>
                        <a:t>1</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75086253"/>
                  </a:ext>
                </a:extLst>
              </a:tr>
            </a:tbl>
          </a:graphicData>
        </a:graphic>
      </p:graphicFrame>
      <p:graphicFrame>
        <p:nvGraphicFramePr>
          <p:cNvPr id="7" name="Table 6"/>
          <p:cNvGraphicFramePr>
            <a:graphicFrameLocks noGrp="1"/>
          </p:cNvGraphicFramePr>
          <p:nvPr>
            <p:custDataLst>
              <p:tags r:id="rId2"/>
            </p:custDataLst>
          </p:nvPr>
        </p:nvGraphicFramePr>
        <p:xfrm>
          <a:off x="2468451" y="1542782"/>
          <a:ext cx="1394727" cy="1024932"/>
        </p:xfrm>
        <a:graphic>
          <a:graphicData uri="http://schemas.openxmlformats.org/drawingml/2006/table">
            <a:tbl>
              <a:tblPr>
                <a:tableStyleId>{6E25E649-3F16-4E02-A733-19D2CDBF48F0}</a:tableStyleId>
              </a:tblPr>
              <a:tblGrid>
                <a:gridCol w="464909">
                  <a:extLst>
                    <a:ext uri="{9D8B030D-6E8A-4147-A177-3AD203B41FA5}">
                      <a16:colId xmlns:a16="http://schemas.microsoft.com/office/drawing/2014/main" val="2741754113"/>
                    </a:ext>
                  </a:extLst>
                </a:gridCol>
                <a:gridCol w="464909">
                  <a:extLst>
                    <a:ext uri="{9D8B030D-6E8A-4147-A177-3AD203B41FA5}">
                      <a16:colId xmlns:a16="http://schemas.microsoft.com/office/drawing/2014/main" val="3847173035"/>
                    </a:ext>
                  </a:extLst>
                </a:gridCol>
                <a:gridCol w="464909">
                  <a:extLst>
                    <a:ext uri="{9D8B030D-6E8A-4147-A177-3AD203B41FA5}">
                      <a16:colId xmlns:a16="http://schemas.microsoft.com/office/drawing/2014/main" val="2831503961"/>
                    </a:ext>
                  </a:extLst>
                </a:gridCol>
              </a:tblGrid>
              <a:tr h="341644">
                <a:tc>
                  <a:txBody>
                    <a:bodyPr/>
                    <a:lstStyle/>
                    <a:p>
                      <a:pPr algn="ctr" fontAlgn="b"/>
                      <a:r>
                        <a:rPr lang="en-US" sz="1200" b="0" i="0" u="none" strike="noStrike" dirty="0">
                          <a:solidFill>
                            <a:schemeClr val="tx1"/>
                          </a:solidFill>
                          <a:effectLst/>
                          <a:latin typeface="Calibri" panose="020F0502020204030204" pitchFamily="34" charset="0"/>
                        </a:rPr>
                        <a:t>1</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900" b="0" i="0" u="none" strike="noStrike" dirty="0">
                          <a:solidFill>
                            <a:schemeClr val="tx1"/>
                          </a:solidFill>
                          <a:effectLst/>
                          <a:latin typeface="Calibri" panose="020F0502020204030204" pitchFamily="34" charset="0"/>
                        </a:rPr>
                        <a:t>NoData</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b="0" i="0" u="none" strike="noStrike" dirty="0">
                          <a:solidFill>
                            <a:schemeClr val="tx1"/>
                          </a:solidFill>
                          <a:effectLst/>
                          <a:latin typeface="Calibri" panose="020F0502020204030204" pitchFamily="34" charset="0"/>
                        </a:rPr>
                        <a:t>1</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37826849"/>
                  </a:ext>
                </a:extLst>
              </a:tr>
              <a:tr h="341644">
                <a:tc>
                  <a:txBody>
                    <a:bodyPr/>
                    <a:lstStyle/>
                    <a:p>
                      <a:pPr algn="ctr" fontAlgn="b"/>
                      <a:r>
                        <a:rPr lang="en-US" sz="1200" b="0" i="0" u="none" strike="noStrike" dirty="0">
                          <a:solidFill>
                            <a:schemeClr val="tx1"/>
                          </a:solidFill>
                          <a:effectLst/>
                          <a:latin typeface="Calibri" panose="020F0502020204030204" pitchFamily="34" charset="0"/>
                        </a:rPr>
                        <a:t>0</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b="0" i="0" u="none" strike="noStrike" dirty="0">
                          <a:solidFill>
                            <a:schemeClr val="tx1"/>
                          </a:solidFill>
                          <a:effectLst/>
                          <a:latin typeface="Calibri" panose="020F0502020204030204" pitchFamily="34" charset="0"/>
                        </a:rPr>
                        <a:t>1</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b="0" i="0" u="none" strike="noStrike" dirty="0">
                          <a:solidFill>
                            <a:schemeClr val="tx1"/>
                          </a:solidFill>
                          <a:effectLst/>
                          <a:latin typeface="Calibri" panose="020F0502020204030204" pitchFamily="34" charset="0"/>
                        </a:rPr>
                        <a:t>0</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56786408"/>
                  </a:ext>
                </a:extLst>
              </a:tr>
              <a:tr h="341644">
                <a:tc>
                  <a:txBody>
                    <a:bodyPr/>
                    <a:lstStyle/>
                    <a:p>
                      <a:pPr algn="ctr" fontAlgn="b"/>
                      <a:r>
                        <a:rPr lang="en-US" sz="1200" u="none" strike="noStrike" dirty="0">
                          <a:solidFill>
                            <a:schemeClr val="tx1"/>
                          </a:solidFill>
                          <a:effectLst/>
                        </a:rPr>
                        <a:t> </a:t>
                      </a:r>
                      <a:r>
                        <a:rPr lang="en-US" sz="900" u="none" strike="noStrike" dirty="0">
                          <a:solidFill>
                            <a:schemeClr val="tx1"/>
                          </a:solidFill>
                          <a:effectLst/>
                        </a:rPr>
                        <a:t>NoData</a:t>
                      </a:r>
                      <a:endParaRPr lang="en-US" sz="9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b="0" i="0" u="none" strike="noStrike" dirty="0">
                          <a:solidFill>
                            <a:schemeClr val="tx1"/>
                          </a:solidFill>
                          <a:effectLst/>
                          <a:latin typeface="Calibri" panose="020F0502020204030204" pitchFamily="34" charset="0"/>
                        </a:rPr>
                        <a:t>1</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900" b="0" i="0" u="none" strike="noStrike" dirty="0">
                          <a:solidFill>
                            <a:schemeClr val="tx1"/>
                          </a:solidFill>
                          <a:effectLst/>
                          <a:latin typeface="Calibri" panose="020F0502020204030204" pitchFamily="34" charset="0"/>
                        </a:rPr>
                        <a:t>NoData</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75086253"/>
                  </a:ext>
                </a:extLst>
              </a:tr>
            </a:tbl>
          </a:graphicData>
        </a:graphic>
      </p:graphicFrame>
      <p:graphicFrame>
        <p:nvGraphicFramePr>
          <p:cNvPr id="8" name="Table 7"/>
          <p:cNvGraphicFramePr>
            <a:graphicFrameLocks noGrp="1"/>
          </p:cNvGraphicFramePr>
          <p:nvPr>
            <p:custDataLst>
              <p:tags r:id="rId3"/>
            </p:custDataLst>
          </p:nvPr>
        </p:nvGraphicFramePr>
        <p:xfrm>
          <a:off x="5452458" y="1542782"/>
          <a:ext cx="1394727" cy="1024932"/>
        </p:xfrm>
        <a:graphic>
          <a:graphicData uri="http://schemas.openxmlformats.org/drawingml/2006/table">
            <a:tbl>
              <a:tblPr>
                <a:tableStyleId>{6E25E649-3F16-4E02-A733-19D2CDBF48F0}</a:tableStyleId>
              </a:tblPr>
              <a:tblGrid>
                <a:gridCol w="464909">
                  <a:extLst>
                    <a:ext uri="{9D8B030D-6E8A-4147-A177-3AD203B41FA5}">
                      <a16:colId xmlns:a16="http://schemas.microsoft.com/office/drawing/2014/main" val="2741754113"/>
                    </a:ext>
                  </a:extLst>
                </a:gridCol>
                <a:gridCol w="464909">
                  <a:extLst>
                    <a:ext uri="{9D8B030D-6E8A-4147-A177-3AD203B41FA5}">
                      <a16:colId xmlns:a16="http://schemas.microsoft.com/office/drawing/2014/main" val="3847173035"/>
                    </a:ext>
                  </a:extLst>
                </a:gridCol>
                <a:gridCol w="464909">
                  <a:extLst>
                    <a:ext uri="{9D8B030D-6E8A-4147-A177-3AD203B41FA5}">
                      <a16:colId xmlns:a16="http://schemas.microsoft.com/office/drawing/2014/main" val="2831503961"/>
                    </a:ext>
                  </a:extLst>
                </a:gridCol>
              </a:tblGrid>
              <a:tr h="341644">
                <a:tc>
                  <a:txBody>
                    <a:bodyPr/>
                    <a:lstStyle/>
                    <a:p>
                      <a:pPr algn="ctr" fontAlgn="b"/>
                      <a:r>
                        <a:rPr lang="en-US" sz="1200" b="0" i="0" u="none" strike="noStrike" dirty="0">
                          <a:solidFill>
                            <a:schemeClr val="tx1"/>
                          </a:solidFill>
                          <a:effectLst/>
                          <a:latin typeface="Calibri" panose="020F0502020204030204" pitchFamily="34" charset="0"/>
                        </a:rPr>
                        <a:t>1</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900" b="0" i="0" u="none" strike="noStrike" dirty="0">
                          <a:solidFill>
                            <a:schemeClr val="tx1"/>
                          </a:solidFill>
                          <a:effectLst/>
                          <a:latin typeface="Calibri" panose="020F0502020204030204" pitchFamily="34" charset="0"/>
                        </a:rPr>
                        <a:t>NoData</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b="0" i="0" u="none" strike="noStrike" dirty="0">
                          <a:solidFill>
                            <a:schemeClr val="tx1"/>
                          </a:solidFill>
                          <a:effectLst/>
                          <a:latin typeface="Calibri" panose="020F0502020204030204" pitchFamily="34" charset="0"/>
                        </a:rPr>
                        <a:t>1</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37826849"/>
                  </a:ext>
                </a:extLst>
              </a:tr>
              <a:tr h="341644">
                <a:tc>
                  <a:txBody>
                    <a:bodyPr/>
                    <a:lstStyle/>
                    <a:p>
                      <a:pPr algn="ctr" fontAlgn="b"/>
                      <a:r>
                        <a:rPr lang="en-US" sz="1200" b="0" i="0" u="none" strike="noStrike" dirty="0">
                          <a:solidFill>
                            <a:schemeClr val="tx1"/>
                          </a:solidFill>
                          <a:effectLst/>
                          <a:latin typeface="Calibri" panose="020F0502020204030204" pitchFamily="34" charset="0"/>
                        </a:rPr>
                        <a:t>0</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b="0" i="0" u="none" strike="noStrike" dirty="0">
                          <a:solidFill>
                            <a:schemeClr val="tx1"/>
                          </a:solidFill>
                          <a:effectLst/>
                          <a:latin typeface="Calibri" panose="020F0502020204030204" pitchFamily="34" charset="0"/>
                        </a:rPr>
                        <a:t>0</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b="0" i="0" u="none" strike="noStrike" dirty="0">
                          <a:solidFill>
                            <a:schemeClr val="tx1"/>
                          </a:solidFill>
                          <a:effectLst/>
                          <a:latin typeface="Calibri" panose="020F0502020204030204" pitchFamily="34" charset="0"/>
                        </a:rPr>
                        <a:t>0</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56786408"/>
                  </a:ext>
                </a:extLst>
              </a:tr>
              <a:tr h="341644">
                <a:tc>
                  <a:txBody>
                    <a:bodyPr/>
                    <a:lstStyle/>
                    <a:p>
                      <a:pPr algn="ctr" fontAlgn="b"/>
                      <a:r>
                        <a:rPr lang="en-US" sz="900" b="0" i="0" u="none" strike="noStrike" dirty="0">
                          <a:solidFill>
                            <a:schemeClr val="tx1"/>
                          </a:solidFill>
                          <a:effectLst/>
                          <a:latin typeface="Calibri" panose="020F0502020204030204" pitchFamily="34" charset="0"/>
                        </a:rPr>
                        <a:t>NoData</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b="0" i="0" u="none" strike="noStrike" dirty="0">
                          <a:solidFill>
                            <a:schemeClr val="tx1"/>
                          </a:solidFill>
                          <a:effectLst/>
                          <a:latin typeface="Calibri" panose="020F0502020204030204" pitchFamily="34" charset="0"/>
                        </a:rPr>
                        <a:t>1</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900" b="0" i="0" u="none" strike="noStrike" dirty="0">
                          <a:solidFill>
                            <a:schemeClr val="tx1"/>
                          </a:solidFill>
                          <a:effectLst/>
                          <a:latin typeface="Calibri" panose="020F0502020204030204" pitchFamily="34" charset="0"/>
                        </a:rPr>
                        <a:t>NoData</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75086253"/>
                  </a:ext>
                </a:extLst>
              </a:tr>
            </a:tbl>
          </a:graphicData>
        </a:graphic>
      </p:graphicFrame>
      <p:sp>
        <p:nvSpPr>
          <p:cNvPr id="2" name="TextBox 1"/>
          <p:cNvSpPr txBox="1"/>
          <p:nvPr>
            <p:custDataLst>
              <p:tags r:id="rId4"/>
            </p:custDataLst>
          </p:nvPr>
        </p:nvSpPr>
        <p:spPr>
          <a:xfrm>
            <a:off x="1834731" y="1650030"/>
            <a:ext cx="514484" cy="840551"/>
          </a:xfrm>
          <a:prstGeom prst="rect">
            <a:avLst/>
          </a:prstGeom>
          <a:noFill/>
        </p:spPr>
        <p:txBody>
          <a:bodyPr wrap="square" rtlCol="0">
            <a:spAutoFit/>
          </a:bodyPr>
          <a:lstStyle/>
          <a:p>
            <a:pPr>
              <a:lnSpc>
                <a:spcPct val="90000"/>
              </a:lnSpc>
            </a:pPr>
            <a:r>
              <a:rPr lang="en-US" sz="5402" dirty="0"/>
              <a:t>x</a:t>
            </a:r>
          </a:p>
        </p:txBody>
      </p:sp>
      <p:sp>
        <p:nvSpPr>
          <p:cNvPr id="9" name="TextBox 8"/>
          <p:cNvSpPr txBox="1"/>
          <p:nvPr>
            <p:custDataLst>
              <p:tags r:id="rId5"/>
            </p:custDataLst>
          </p:nvPr>
        </p:nvSpPr>
        <p:spPr>
          <a:xfrm>
            <a:off x="4349127" y="1650029"/>
            <a:ext cx="514484" cy="840551"/>
          </a:xfrm>
          <a:prstGeom prst="rect">
            <a:avLst/>
          </a:prstGeom>
          <a:noFill/>
        </p:spPr>
        <p:txBody>
          <a:bodyPr wrap="square" rtlCol="0">
            <a:spAutoFit/>
          </a:bodyPr>
          <a:lstStyle/>
          <a:p>
            <a:pPr>
              <a:lnSpc>
                <a:spcPct val="90000"/>
              </a:lnSpc>
            </a:pPr>
            <a:r>
              <a:rPr lang="en-US" sz="5402" dirty="0"/>
              <a:t>=</a:t>
            </a:r>
          </a:p>
        </p:txBody>
      </p:sp>
      <p:graphicFrame>
        <p:nvGraphicFramePr>
          <p:cNvPr id="10" name="Table 9"/>
          <p:cNvGraphicFramePr>
            <a:graphicFrameLocks noGrp="1"/>
          </p:cNvGraphicFramePr>
          <p:nvPr>
            <p:custDataLst>
              <p:tags r:id="rId6"/>
            </p:custDataLst>
          </p:nvPr>
        </p:nvGraphicFramePr>
        <p:xfrm>
          <a:off x="330533" y="3086547"/>
          <a:ext cx="1394727" cy="1024932"/>
        </p:xfrm>
        <a:graphic>
          <a:graphicData uri="http://schemas.openxmlformats.org/drawingml/2006/table">
            <a:tbl>
              <a:tblPr>
                <a:tableStyleId>{6E25E649-3F16-4E02-A733-19D2CDBF48F0}</a:tableStyleId>
              </a:tblPr>
              <a:tblGrid>
                <a:gridCol w="464909">
                  <a:extLst>
                    <a:ext uri="{9D8B030D-6E8A-4147-A177-3AD203B41FA5}">
                      <a16:colId xmlns:a16="http://schemas.microsoft.com/office/drawing/2014/main" val="2741754113"/>
                    </a:ext>
                  </a:extLst>
                </a:gridCol>
                <a:gridCol w="464909">
                  <a:extLst>
                    <a:ext uri="{9D8B030D-6E8A-4147-A177-3AD203B41FA5}">
                      <a16:colId xmlns:a16="http://schemas.microsoft.com/office/drawing/2014/main" val="3847173035"/>
                    </a:ext>
                  </a:extLst>
                </a:gridCol>
                <a:gridCol w="464909">
                  <a:extLst>
                    <a:ext uri="{9D8B030D-6E8A-4147-A177-3AD203B41FA5}">
                      <a16:colId xmlns:a16="http://schemas.microsoft.com/office/drawing/2014/main" val="2831503961"/>
                    </a:ext>
                  </a:extLst>
                </a:gridCol>
              </a:tblGrid>
              <a:tr h="341644">
                <a:tc>
                  <a:txBody>
                    <a:bodyPr/>
                    <a:lstStyle/>
                    <a:p>
                      <a:pPr algn="ctr" fontAlgn="b"/>
                      <a:r>
                        <a:rPr lang="en-US" sz="1200" b="0" i="0" u="none" strike="noStrike" dirty="0">
                          <a:solidFill>
                            <a:schemeClr val="tx1"/>
                          </a:solidFill>
                          <a:effectLst/>
                          <a:latin typeface="Calibri" panose="020F0502020204030204" pitchFamily="34" charset="0"/>
                        </a:rPr>
                        <a:t>1</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b="0" i="0" u="none" strike="noStrike" dirty="0">
                          <a:solidFill>
                            <a:schemeClr val="tx1"/>
                          </a:solidFill>
                          <a:effectLst/>
                          <a:latin typeface="Calibri" panose="020F0502020204030204" pitchFamily="34" charset="0"/>
                        </a:rPr>
                        <a:t>0</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b="0" i="0" u="none" strike="noStrike" dirty="0">
                          <a:solidFill>
                            <a:schemeClr val="tx1"/>
                          </a:solidFill>
                          <a:effectLst/>
                          <a:latin typeface="Calibri" panose="020F0502020204030204" pitchFamily="34" charset="0"/>
                        </a:rPr>
                        <a:t>1</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37826849"/>
                  </a:ext>
                </a:extLst>
              </a:tr>
              <a:tr h="341644">
                <a:tc>
                  <a:txBody>
                    <a:bodyPr/>
                    <a:lstStyle/>
                    <a:p>
                      <a:pPr algn="ctr" fontAlgn="b"/>
                      <a:r>
                        <a:rPr lang="en-US" sz="1200" b="0" i="0" u="none" strike="noStrike" dirty="0">
                          <a:solidFill>
                            <a:schemeClr val="tx1"/>
                          </a:solidFill>
                          <a:effectLst/>
                          <a:latin typeface="Calibri" panose="020F0502020204030204" pitchFamily="34" charset="0"/>
                        </a:rPr>
                        <a:t>0</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b="0" i="0" u="none" strike="noStrike" dirty="0">
                          <a:solidFill>
                            <a:schemeClr val="tx1"/>
                          </a:solidFill>
                          <a:effectLst/>
                          <a:latin typeface="Calibri" panose="020F0502020204030204" pitchFamily="34" charset="0"/>
                        </a:rPr>
                        <a:t>0</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b="0" i="0" u="none" strike="noStrike" dirty="0">
                          <a:solidFill>
                            <a:schemeClr val="tx1"/>
                          </a:solidFill>
                          <a:effectLst/>
                          <a:latin typeface="Calibri" panose="020F0502020204030204" pitchFamily="34" charset="0"/>
                        </a:rPr>
                        <a:t>1</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56786408"/>
                  </a:ext>
                </a:extLst>
              </a:tr>
              <a:tr h="341644">
                <a:tc>
                  <a:txBody>
                    <a:bodyPr/>
                    <a:lstStyle/>
                    <a:p>
                      <a:pPr algn="ctr" fontAlgn="b"/>
                      <a:r>
                        <a:rPr lang="en-US" sz="1200" u="none" strike="noStrike" dirty="0">
                          <a:solidFill>
                            <a:schemeClr val="tx1"/>
                          </a:solidFill>
                          <a:effectLst/>
                        </a:rPr>
                        <a:t> </a:t>
                      </a:r>
                      <a:r>
                        <a:rPr lang="en-US" sz="900" u="none" strike="noStrike" dirty="0">
                          <a:solidFill>
                            <a:schemeClr val="tx1"/>
                          </a:solidFill>
                          <a:effectLst/>
                        </a:rPr>
                        <a:t>NoData</a:t>
                      </a:r>
                      <a:endParaRPr lang="en-US" sz="9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b="0" i="0" u="none" strike="noStrike" dirty="0">
                          <a:solidFill>
                            <a:schemeClr val="tx1"/>
                          </a:solidFill>
                          <a:effectLst/>
                          <a:latin typeface="Calibri" panose="020F0502020204030204" pitchFamily="34" charset="0"/>
                        </a:rPr>
                        <a:t>1</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b="0" i="0" u="none" strike="noStrike" dirty="0">
                          <a:solidFill>
                            <a:schemeClr val="tx1"/>
                          </a:solidFill>
                          <a:effectLst/>
                          <a:latin typeface="Calibri" panose="020F0502020204030204" pitchFamily="34" charset="0"/>
                        </a:rPr>
                        <a:t>1</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75086253"/>
                  </a:ext>
                </a:extLst>
              </a:tr>
            </a:tbl>
          </a:graphicData>
        </a:graphic>
      </p:graphicFrame>
      <p:graphicFrame>
        <p:nvGraphicFramePr>
          <p:cNvPr id="11" name="Table 10"/>
          <p:cNvGraphicFramePr>
            <a:graphicFrameLocks noGrp="1"/>
          </p:cNvGraphicFramePr>
          <p:nvPr>
            <p:custDataLst>
              <p:tags r:id="rId7"/>
            </p:custDataLst>
          </p:nvPr>
        </p:nvGraphicFramePr>
        <p:xfrm>
          <a:off x="2468451" y="3086546"/>
          <a:ext cx="1394727" cy="1024932"/>
        </p:xfrm>
        <a:graphic>
          <a:graphicData uri="http://schemas.openxmlformats.org/drawingml/2006/table">
            <a:tbl>
              <a:tblPr>
                <a:tableStyleId>{6E25E649-3F16-4E02-A733-19D2CDBF48F0}</a:tableStyleId>
              </a:tblPr>
              <a:tblGrid>
                <a:gridCol w="464909">
                  <a:extLst>
                    <a:ext uri="{9D8B030D-6E8A-4147-A177-3AD203B41FA5}">
                      <a16:colId xmlns:a16="http://schemas.microsoft.com/office/drawing/2014/main" val="2741754113"/>
                    </a:ext>
                  </a:extLst>
                </a:gridCol>
                <a:gridCol w="464909">
                  <a:extLst>
                    <a:ext uri="{9D8B030D-6E8A-4147-A177-3AD203B41FA5}">
                      <a16:colId xmlns:a16="http://schemas.microsoft.com/office/drawing/2014/main" val="3847173035"/>
                    </a:ext>
                  </a:extLst>
                </a:gridCol>
                <a:gridCol w="464909">
                  <a:extLst>
                    <a:ext uri="{9D8B030D-6E8A-4147-A177-3AD203B41FA5}">
                      <a16:colId xmlns:a16="http://schemas.microsoft.com/office/drawing/2014/main" val="2831503961"/>
                    </a:ext>
                  </a:extLst>
                </a:gridCol>
              </a:tblGrid>
              <a:tr h="341644">
                <a:tc>
                  <a:txBody>
                    <a:bodyPr/>
                    <a:lstStyle/>
                    <a:p>
                      <a:pPr algn="ctr" fontAlgn="b"/>
                      <a:r>
                        <a:rPr lang="en-US" sz="1200" b="0" i="0" u="none" strike="noStrike" dirty="0">
                          <a:solidFill>
                            <a:schemeClr val="tx1"/>
                          </a:solidFill>
                          <a:effectLst/>
                          <a:latin typeface="Calibri" panose="020F0502020204030204" pitchFamily="34" charset="0"/>
                        </a:rPr>
                        <a:t>1</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900" b="0" i="0" u="none" strike="noStrike" dirty="0">
                          <a:solidFill>
                            <a:schemeClr val="tx1"/>
                          </a:solidFill>
                          <a:effectLst/>
                          <a:latin typeface="Calibri" panose="020F0502020204030204" pitchFamily="34" charset="0"/>
                        </a:rPr>
                        <a:t>NoData</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b="0" i="0" u="none" strike="noStrike" dirty="0">
                          <a:solidFill>
                            <a:schemeClr val="tx1"/>
                          </a:solidFill>
                          <a:effectLst/>
                          <a:latin typeface="Calibri" panose="020F0502020204030204" pitchFamily="34" charset="0"/>
                        </a:rPr>
                        <a:t>1</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37826849"/>
                  </a:ext>
                </a:extLst>
              </a:tr>
              <a:tr h="341644">
                <a:tc>
                  <a:txBody>
                    <a:bodyPr/>
                    <a:lstStyle/>
                    <a:p>
                      <a:pPr algn="ctr" fontAlgn="b"/>
                      <a:r>
                        <a:rPr lang="en-US" sz="1200" b="0" i="0" u="none" strike="noStrike" dirty="0">
                          <a:solidFill>
                            <a:schemeClr val="tx1"/>
                          </a:solidFill>
                          <a:effectLst/>
                          <a:latin typeface="Calibri" panose="020F0502020204030204" pitchFamily="34" charset="0"/>
                        </a:rPr>
                        <a:t>0</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b="0" i="0" u="none" strike="noStrike" dirty="0">
                          <a:solidFill>
                            <a:schemeClr val="tx1"/>
                          </a:solidFill>
                          <a:effectLst/>
                          <a:latin typeface="Calibri" panose="020F0502020204030204" pitchFamily="34" charset="0"/>
                        </a:rPr>
                        <a:t>1</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b="0" i="0" u="none" strike="noStrike" dirty="0">
                          <a:solidFill>
                            <a:schemeClr val="tx1"/>
                          </a:solidFill>
                          <a:effectLst/>
                          <a:latin typeface="Calibri" panose="020F0502020204030204" pitchFamily="34" charset="0"/>
                        </a:rPr>
                        <a:t>0</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56786408"/>
                  </a:ext>
                </a:extLst>
              </a:tr>
              <a:tr h="341644">
                <a:tc>
                  <a:txBody>
                    <a:bodyPr/>
                    <a:lstStyle/>
                    <a:p>
                      <a:pPr algn="ctr" fontAlgn="b"/>
                      <a:r>
                        <a:rPr lang="en-US" sz="1200" u="none" strike="noStrike" dirty="0">
                          <a:solidFill>
                            <a:schemeClr val="tx1"/>
                          </a:solidFill>
                          <a:effectLst/>
                        </a:rPr>
                        <a:t> </a:t>
                      </a:r>
                      <a:r>
                        <a:rPr lang="en-US" sz="900" u="none" strike="noStrike" dirty="0">
                          <a:solidFill>
                            <a:schemeClr val="tx1"/>
                          </a:solidFill>
                          <a:effectLst/>
                        </a:rPr>
                        <a:t>NoData</a:t>
                      </a:r>
                      <a:endParaRPr lang="en-US" sz="9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b="0" i="0" u="none" strike="noStrike" dirty="0">
                          <a:solidFill>
                            <a:schemeClr val="tx1"/>
                          </a:solidFill>
                          <a:effectLst/>
                          <a:latin typeface="Calibri" panose="020F0502020204030204" pitchFamily="34" charset="0"/>
                        </a:rPr>
                        <a:t>1</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900" b="0" i="0" u="none" strike="noStrike" dirty="0">
                          <a:solidFill>
                            <a:schemeClr val="tx1"/>
                          </a:solidFill>
                          <a:effectLst/>
                          <a:latin typeface="Calibri" panose="020F0502020204030204" pitchFamily="34" charset="0"/>
                        </a:rPr>
                        <a:t>NoData</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75086253"/>
                  </a:ext>
                </a:extLst>
              </a:tr>
            </a:tbl>
          </a:graphicData>
        </a:graphic>
      </p:graphicFrame>
      <p:graphicFrame>
        <p:nvGraphicFramePr>
          <p:cNvPr id="12" name="Table 11"/>
          <p:cNvGraphicFramePr>
            <a:graphicFrameLocks noGrp="1"/>
          </p:cNvGraphicFramePr>
          <p:nvPr>
            <p:custDataLst>
              <p:tags r:id="rId8"/>
            </p:custDataLst>
          </p:nvPr>
        </p:nvGraphicFramePr>
        <p:xfrm>
          <a:off x="5452458" y="3086547"/>
          <a:ext cx="1394727" cy="1024932"/>
        </p:xfrm>
        <a:graphic>
          <a:graphicData uri="http://schemas.openxmlformats.org/drawingml/2006/table">
            <a:tbl>
              <a:tblPr>
                <a:tableStyleId>{6E25E649-3F16-4E02-A733-19D2CDBF48F0}</a:tableStyleId>
              </a:tblPr>
              <a:tblGrid>
                <a:gridCol w="464909">
                  <a:extLst>
                    <a:ext uri="{9D8B030D-6E8A-4147-A177-3AD203B41FA5}">
                      <a16:colId xmlns:a16="http://schemas.microsoft.com/office/drawing/2014/main" val="2741754113"/>
                    </a:ext>
                  </a:extLst>
                </a:gridCol>
                <a:gridCol w="464909">
                  <a:extLst>
                    <a:ext uri="{9D8B030D-6E8A-4147-A177-3AD203B41FA5}">
                      <a16:colId xmlns:a16="http://schemas.microsoft.com/office/drawing/2014/main" val="3847173035"/>
                    </a:ext>
                  </a:extLst>
                </a:gridCol>
                <a:gridCol w="464909">
                  <a:extLst>
                    <a:ext uri="{9D8B030D-6E8A-4147-A177-3AD203B41FA5}">
                      <a16:colId xmlns:a16="http://schemas.microsoft.com/office/drawing/2014/main" val="2831503961"/>
                    </a:ext>
                  </a:extLst>
                </a:gridCol>
              </a:tblGrid>
              <a:tr h="341644">
                <a:tc>
                  <a:txBody>
                    <a:bodyPr/>
                    <a:lstStyle/>
                    <a:p>
                      <a:pPr algn="ctr" fontAlgn="b"/>
                      <a:r>
                        <a:rPr lang="en-US" sz="1200" b="0" i="0" u="none" strike="noStrike" dirty="0">
                          <a:solidFill>
                            <a:schemeClr val="tx1"/>
                          </a:solidFill>
                          <a:effectLst/>
                          <a:latin typeface="Calibri" panose="020F0502020204030204" pitchFamily="34" charset="0"/>
                        </a:rPr>
                        <a:t>2</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900" b="0" i="0" u="none" strike="noStrike" dirty="0">
                          <a:solidFill>
                            <a:schemeClr val="tx1"/>
                          </a:solidFill>
                          <a:effectLst/>
                          <a:latin typeface="Calibri" panose="020F0502020204030204" pitchFamily="34" charset="0"/>
                        </a:rPr>
                        <a:t>NoData</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b="0" i="0" u="none" strike="noStrike" dirty="0">
                          <a:solidFill>
                            <a:schemeClr val="tx1"/>
                          </a:solidFill>
                          <a:effectLst/>
                          <a:latin typeface="Calibri" panose="020F0502020204030204" pitchFamily="34" charset="0"/>
                        </a:rPr>
                        <a:t>2</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37826849"/>
                  </a:ext>
                </a:extLst>
              </a:tr>
              <a:tr h="341644">
                <a:tc>
                  <a:txBody>
                    <a:bodyPr/>
                    <a:lstStyle/>
                    <a:p>
                      <a:pPr algn="ctr" fontAlgn="b"/>
                      <a:r>
                        <a:rPr lang="en-US" sz="1200" b="0" i="0" u="none" strike="noStrike" dirty="0">
                          <a:solidFill>
                            <a:schemeClr val="tx1"/>
                          </a:solidFill>
                          <a:effectLst/>
                          <a:latin typeface="Calibri" panose="020F0502020204030204" pitchFamily="34" charset="0"/>
                        </a:rPr>
                        <a:t>0</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b="0" i="0" u="none" strike="noStrike" dirty="0">
                          <a:solidFill>
                            <a:schemeClr val="tx1"/>
                          </a:solidFill>
                          <a:effectLst/>
                          <a:latin typeface="Calibri" panose="020F0502020204030204" pitchFamily="34" charset="0"/>
                        </a:rPr>
                        <a:t>1</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b="0" i="0" u="none" strike="noStrike" dirty="0">
                          <a:solidFill>
                            <a:schemeClr val="tx1"/>
                          </a:solidFill>
                          <a:effectLst/>
                          <a:latin typeface="Calibri" panose="020F0502020204030204" pitchFamily="34" charset="0"/>
                        </a:rPr>
                        <a:t>1</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56786408"/>
                  </a:ext>
                </a:extLst>
              </a:tr>
              <a:tr h="341644">
                <a:tc>
                  <a:txBody>
                    <a:bodyPr/>
                    <a:lstStyle/>
                    <a:p>
                      <a:pPr algn="ctr" fontAlgn="b"/>
                      <a:r>
                        <a:rPr lang="en-US" sz="900" b="0" i="0" u="none" strike="noStrike" dirty="0">
                          <a:solidFill>
                            <a:schemeClr val="tx1"/>
                          </a:solidFill>
                          <a:effectLst/>
                          <a:latin typeface="Calibri" panose="020F0502020204030204" pitchFamily="34" charset="0"/>
                        </a:rPr>
                        <a:t>NoData</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b="0" i="0" u="none" strike="noStrike" dirty="0">
                          <a:solidFill>
                            <a:schemeClr val="tx1"/>
                          </a:solidFill>
                          <a:effectLst/>
                          <a:latin typeface="Calibri" panose="020F0502020204030204" pitchFamily="34" charset="0"/>
                        </a:rPr>
                        <a:t>2</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900" b="0" i="0" u="none" strike="noStrike" dirty="0">
                          <a:solidFill>
                            <a:schemeClr val="tx1"/>
                          </a:solidFill>
                          <a:effectLst/>
                          <a:latin typeface="Calibri" panose="020F0502020204030204" pitchFamily="34" charset="0"/>
                        </a:rPr>
                        <a:t>NoData</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75086253"/>
                  </a:ext>
                </a:extLst>
              </a:tr>
            </a:tbl>
          </a:graphicData>
        </a:graphic>
      </p:graphicFrame>
      <p:sp>
        <p:nvSpPr>
          <p:cNvPr id="13" name="TextBox 12"/>
          <p:cNvSpPr txBox="1"/>
          <p:nvPr>
            <p:custDataLst>
              <p:tags r:id="rId9"/>
            </p:custDataLst>
          </p:nvPr>
        </p:nvSpPr>
        <p:spPr>
          <a:xfrm>
            <a:off x="1834731" y="3193794"/>
            <a:ext cx="514484" cy="840551"/>
          </a:xfrm>
          <a:prstGeom prst="rect">
            <a:avLst/>
          </a:prstGeom>
          <a:noFill/>
        </p:spPr>
        <p:txBody>
          <a:bodyPr wrap="square" rtlCol="0">
            <a:spAutoFit/>
          </a:bodyPr>
          <a:lstStyle/>
          <a:p>
            <a:pPr>
              <a:lnSpc>
                <a:spcPct val="90000"/>
              </a:lnSpc>
            </a:pPr>
            <a:r>
              <a:rPr lang="en-US" sz="5402" dirty="0"/>
              <a:t>+</a:t>
            </a:r>
          </a:p>
        </p:txBody>
      </p:sp>
      <p:sp>
        <p:nvSpPr>
          <p:cNvPr id="14" name="TextBox 13"/>
          <p:cNvSpPr txBox="1"/>
          <p:nvPr>
            <p:custDataLst>
              <p:tags r:id="rId10"/>
            </p:custDataLst>
          </p:nvPr>
        </p:nvSpPr>
        <p:spPr>
          <a:xfrm>
            <a:off x="4349127" y="3193794"/>
            <a:ext cx="514484" cy="840551"/>
          </a:xfrm>
          <a:prstGeom prst="rect">
            <a:avLst/>
          </a:prstGeom>
          <a:noFill/>
        </p:spPr>
        <p:txBody>
          <a:bodyPr wrap="square" rtlCol="0">
            <a:spAutoFit/>
          </a:bodyPr>
          <a:lstStyle/>
          <a:p>
            <a:pPr>
              <a:lnSpc>
                <a:spcPct val="90000"/>
              </a:lnSpc>
            </a:pPr>
            <a:r>
              <a:rPr lang="en-US" sz="5402" dirty="0"/>
              <a:t>=</a:t>
            </a:r>
          </a:p>
        </p:txBody>
      </p:sp>
      <p:cxnSp>
        <p:nvCxnSpPr>
          <p:cNvPr id="15" name="Straight Connector 14">
            <a:extLst>
              <a:ext uri="{FF2B5EF4-FFF2-40B4-BE49-F238E27FC236}">
                <a16:creationId xmlns:a16="http://schemas.microsoft.com/office/drawing/2014/main" id="{D271A5D4-BC8D-46DE-B348-D98BEE1B09F8}"/>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6" name="Title 1">
            <a:extLst>
              <a:ext uri="{FF2B5EF4-FFF2-40B4-BE49-F238E27FC236}">
                <a16:creationId xmlns:a16="http://schemas.microsoft.com/office/drawing/2014/main" id="{D10A46D1-932D-4811-AEAE-33092C4AAD6B}"/>
              </a:ext>
            </a:extLst>
          </p:cNvPr>
          <p:cNvSpPr txBox="1">
            <a:spLocks/>
          </p:cNvSpPr>
          <p:nvPr/>
        </p:nvSpPr>
        <p:spPr>
          <a:xfrm>
            <a:off x="152400" y="194259"/>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Operations Involving Multiple Raster</a:t>
            </a:r>
            <a:endParaRPr lang="en-US" sz="2600" dirty="0">
              <a:solidFill>
                <a:srgbClr val="7030A0"/>
              </a:solidFill>
            </a:endParaRPr>
          </a:p>
        </p:txBody>
      </p:sp>
      <p:sp>
        <p:nvSpPr>
          <p:cNvPr id="3" name="Slide Number Placeholder 2">
            <a:extLst>
              <a:ext uri="{FF2B5EF4-FFF2-40B4-BE49-F238E27FC236}">
                <a16:creationId xmlns:a16="http://schemas.microsoft.com/office/drawing/2014/main" id="{9466852D-35C0-4A1A-9107-1E7D743F31EA}"/>
              </a:ext>
            </a:extLst>
          </p:cNvPr>
          <p:cNvSpPr>
            <a:spLocks noGrp="1"/>
          </p:cNvSpPr>
          <p:nvPr>
            <p:ph type="sldNum" sz="quarter" idx="12"/>
          </p:nvPr>
        </p:nvSpPr>
        <p:spPr/>
        <p:txBody>
          <a:bodyPr/>
          <a:lstStyle/>
          <a:p>
            <a:fld id="{127DDC20-79C9-9647-820E-6D40A3D210C3}" type="slidenum">
              <a:rPr lang="en-US" smtClean="0"/>
              <a:pPr/>
              <a:t>9</a:t>
            </a:fld>
            <a:endParaRPr lang="en-US"/>
          </a:p>
        </p:txBody>
      </p:sp>
    </p:spTree>
    <p:extLst>
      <p:ext uri="{BB962C8B-B14F-4D97-AF65-F5344CB8AC3E}">
        <p14:creationId xmlns:p14="http://schemas.microsoft.com/office/powerpoint/2010/main" val="2628704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Straight Connector 14">
            <a:extLst>
              <a:ext uri="{FF2B5EF4-FFF2-40B4-BE49-F238E27FC236}">
                <a16:creationId xmlns:a16="http://schemas.microsoft.com/office/drawing/2014/main" id="{D271A5D4-BC8D-46DE-B348-D98BEE1B09F8}"/>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6" name="Title 1">
            <a:extLst>
              <a:ext uri="{FF2B5EF4-FFF2-40B4-BE49-F238E27FC236}">
                <a16:creationId xmlns:a16="http://schemas.microsoft.com/office/drawing/2014/main" id="{D10A46D1-932D-4811-AEAE-33092C4AAD6B}"/>
              </a:ext>
            </a:extLst>
          </p:cNvPr>
          <p:cNvSpPr txBox="1">
            <a:spLocks/>
          </p:cNvSpPr>
          <p:nvPr/>
        </p:nvSpPr>
        <p:spPr>
          <a:xfrm>
            <a:off x="152400" y="13686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Operations Involving Multiple Raster</a:t>
            </a:r>
            <a:endParaRPr lang="en-US" sz="2600" dirty="0">
              <a:solidFill>
                <a:srgbClr val="7030A0"/>
              </a:solidFill>
            </a:endParaRPr>
          </a:p>
        </p:txBody>
      </p:sp>
      <p:pic>
        <p:nvPicPr>
          <p:cNvPr id="4" name="Picture 3" descr="A picture containing text, electronics&#10;&#10;Description automatically generated">
            <a:extLst>
              <a:ext uri="{FF2B5EF4-FFF2-40B4-BE49-F238E27FC236}">
                <a16:creationId xmlns:a16="http://schemas.microsoft.com/office/drawing/2014/main" id="{01756D82-4132-4195-82D0-CEE726C0A5B9}"/>
              </a:ext>
            </a:extLst>
          </p:cNvPr>
          <p:cNvPicPr>
            <a:picLocks noChangeAspect="1"/>
          </p:cNvPicPr>
          <p:nvPr/>
        </p:nvPicPr>
        <p:blipFill>
          <a:blip r:embed="rId4"/>
          <a:stretch>
            <a:fillRect/>
          </a:stretch>
        </p:blipFill>
        <p:spPr>
          <a:xfrm>
            <a:off x="1940585" y="1612846"/>
            <a:ext cx="5905386" cy="3365548"/>
          </a:xfrm>
          <a:prstGeom prst="rect">
            <a:avLst/>
          </a:prstGeom>
        </p:spPr>
      </p:pic>
      <p:sp>
        <p:nvSpPr>
          <p:cNvPr id="17" name="Content Placeholder 4">
            <a:extLst>
              <a:ext uri="{FF2B5EF4-FFF2-40B4-BE49-F238E27FC236}">
                <a16:creationId xmlns:a16="http://schemas.microsoft.com/office/drawing/2014/main" id="{30B1520E-D059-4191-ABF8-9F617D890122}"/>
              </a:ext>
            </a:extLst>
          </p:cNvPr>
          <p:cNvSpPr txBox="1">
            <a:spLocks/>
          </p:cNvSpPr>
          <p:nvPr>
            <p:custDataLst>
              <p:tags r:id="rId1"/>
            </p:custDataLst>
          </p:nvPr>
        </p:nvSpPr>
        <p:spPr>
          <a:xfrm>
            <a:off x="110067" y="957845"/>
            <a:ext cx="7587618" cy="747782"/>
          </a:xfrm>
          <a:prstGeom prst="rect">
            <a:avLst/>
          </a:prstGeom>
        </p:spPr>
        <p:txBody>
          <a:bodyPr vert="horz" lIns="91440" tIns="45720" rIns="91440" bIns="45720" rtlCol="0" anchor="b">
            <a:normAutofit/>
          </a:bodyPr>
          <a:lstStyle>
            <a:lvl1pPr marL="0" indent="0" algn="l" defTabSz="411480" rtl="0" eaLnBrk="1" latinLnBrk="0" hangingPunct="1">
              <a:spcBef>
                <a:spcPct val="20000"/>
              </a:spcBef>
              <a:buFont typeface="Arial"/>
              <a:buNone/>
              <a:defRPr sz="1800" kern="1200">
                <a:solidFill>
                  <a:schemeClr val="tx1">
                    <a:tint val="75000"/>
                  </a:schemeClr>
                </a:solidFill>
                <a:latin typeface="+mn-lt"/>
                <a:ea typeface="+mn-ea"/>
                <a:cs typeface="+mn-cs"/>
              </a:defRPr>
            </a:lvl1pPr>
            <a:lvl2pPr marL="411480" indent="0" algn="l" defTabSz="411480" rtl="0" eaLnBrk="1" latinLnBrk="0" hangingPunct="1">
              <a:spcBef>
                <a:spcPct val="20000"/>
              </a:spcBef>
              <a:buFont typeface="Arial"/>
              <a:buNone/>
              <a:defRPr sz="1620" kern="1200">
                <a:solidFill>
                  <a:schemeClr val="tx1">
                    <a:tint val="75000"/>
                  </a:schemeClr>
                </a:solidFill>
                <a:latin typeface="+mn-lt"/>
                <a:ea typeface="+mn-ea"/>
                <a:cs typeface="+mn-cs"/>
              </a:defRPr>
            </a:lvl2pPr>
            <a:lvl3pPr marL="822960" indent="0" algn="l" defTabSz="411480" rtl="0" eaLnBrk="1" latinLnBrk="0" hangingPunct="1">
              <a:spcBef>
                <a:spcPct val="20000"/>
              </a:spcBef>
              <a:buFont typeface="Arial"/>
              <a:buNone/>
              <a:defRPr sz="1440" kern="1200">
                <a:solidFill>
                  <a:schemeClr val="tx1">
                    <a:tint val="75000"/>
                  </a:schemeClr>
                </a:solidFill>
                <a:latin typeface="+mn-lt"/>
                <a:ea typeface="+mn-ea"/>
                <a:cs typeface="+mn-cs"/>
              </a:defRPr>
            </a:lvl3pPr>
            <a:lvl4pPr marL="1234440" indent="0" algn="l" defTabSz="411480" rtl="0" eaLnBrk="1" latinLnBrk="0" hangingPunct="1">
              <a:spcBef>
                <a:spcPct val="20000"/>
              </a:spcBef>
              <a:buFont typeface="Arial"/>
              <a:buNone/>
              <a:defRPr sz="1260" kern="1200">
                <a:solidFill>
                  <a:schemeClr val="tx1">
                    <a:tint val="75000"/>
                  </a:schemeClr>
                </a:solidFill>
                <a:latin typeface="+mn-lt"/>
                <a:ea typeface="+mn-ea"/>
                <a:cs typeface="+mn-cs"/>
              </a:defRPr>
            </a:lvl4pPr>
            <a:lvl5pPr marL="1645920" indent="0" algn="l" defTabSz="411480" rtl="0" eaLnBrk="1" latinLnBrk="0" hangingPunct="1">
              <a:spcBef>
                <a:spcPct val="20000"/>
              </a:spcBef>
              <a:buFont typeface="Arial"/>
              <a:buNone/>
              <a:defRPr sz="1260" kern="1200">
                <a:solidFill>
                  <a:schemeClr val="tx1">
                    <a:tint val="75000"/>
                  </a:schemeClr>
                </a:solidFill>
                <a:latin typeface="+mn-lt"/>
                <a:ea typeface="+mn-ea"/>
                <a:cs typeface="+mn-cs"/>
              </a:defRPr>
            </a:lvl5pPr>
            <a:lvl6pPr marL="2057400" indent="0" algn="l" defTabSz="411480" rtl="0" eaLnBrk="1" latinLnBrk="0" hangingPunct="1">
              <a:spcBef>
                <a:spcPct val="20000"/>
              </a:spcBef>
              <a:buFont typeface="Arial"/>
              <a:buNone/>
              <a:defRPr sz="1260" kern="1200">
                <a:solidFill>
                  <a:schemeClr val="tx1">
                    <a:tint val="75000"/>
                  </a:schemeClr>
                </a:solidFill>
                <a:latin typeface="+mn-lt"/>
                <a:ea typeface="+mn-ea"/>
                <a:cs typeface="+mn-cs"/>
              </a:defRPr>
            </a:lvl6pPr>
            <a:lvl7pPr marL="2468880" indent="0" algn="l" defTabSz="411480" rtl="0" eaLnBrk="1" latinLnBrk="0" hangingPunct="1">
              <a:spcBef>
                <a:spcPct val="20000"/>
              </a:spcBef>
              <a:buFont typeface="Arial"/>
              <a:buNone/>
              <a:defRPr sz="1260" kern="1200">
                <a:solidFill>
                  <a:schemeClr val="tx1">
                    <a:tint val="75000"/>
                  </a:schemeClr>
                </a:solidFill>
                <a:latin typeface="+mn-lt"/>
                <a:ea typeface="+mn-ea"/>
                <a:cs typeface="+mn-cs"/>
              </a:defRPr>
            </a:lvl7pPr>
            <a:lvl8pPr marL="2880360" indent="0" algn="l" defTabSz="411480" rtl="0" eaLnBrk="1" latinLnBrk="0" hangingPunct="1">
              <a:spcBef>
                <a:spcPct val="20000"/>
              </a:spcBef>
              <a:buFont typeface="Arial"/>
              <a:buNone/>
              <a:defRPr sz="1260" kern="1200">
                <a:solidFill>
                  <a:schemeClr val="tx1">
                    <a:tint val="75000"/>
                  </a:schemeClr>
                </a:solidFill>
                <a:latin typeface="+mn-lt"/>
                <a:ea typeface="+mn-ea"/>
                <a:cs typeface="+mn-cs"/>
              </a:defRPr>
            </a:lvl8pPr>
            <a:lvl9pPr marL="3291840" indent="0" algn="l" defTabSz="411480" rtl="0" eaLnBrk="1" latinLnBrk="0" hangingPunct="1">
              <a:spcBef>
                <a:spcPct val="20000"/>
              </a:spcBef>
              <a:buFont typeface="Arial"/>
              <a:buNone/>
              <a:defRPr sz="1260" kern="1200">
                <a:solidFill>
                  <a:schemeClr val="tx1">
                    <a:tint val="75000"/>
                  </a:schemeClr>
                </a:solidFill>
                <a:latin typeface="+mn-lt"/>
                <a:ea typeface="+mn-ea"/>
                <a:cs typeface="+mn-cs"/>
              </a:defRPr>
            </a:lvl9pPr>
          </a:lstStyle>
          <a:p>
            <a:pPr marL="285750" indent="-285750">
              <a:buFont typeface="Courier New" panose="02070309020205020404" pitchFamily="49" charset="0"/>
              <a:buChar char="o"/>
            </a:pPr>
            <a:r>
              <a:rPr lang="en-US" dirty="0">
                <a:solidFill>
                  <a:schemeClr val="tx1"/>
                </a:solidFill>
              </a:rPr>
              <a:t>Raster addition will lead to ambiguous output when different combinations of inputs lead to identical output combinations</a:t>
            </a:r>
          </a:p>
        </p:txBody>
      </p:sp>
      <p:sp>
        <p:nvSpPr>
          <p:cNvPr id="6" name="TextBox 5">
            <a:extLst>
              <a:ext uri="{FF2B5EF4-FFF2-40B4-BE49-F238E27FC236}">
                <a16:creationId xmlns:a16="http://schemas.microsoft.com/office/drawing/2014/main" id="{B27D4F20-0792-428A-9D29-9D7D12010F31}"/>
              </a:ext>
            </a:extLst>
          </p:cNvPr>
          <p:cNvSpPr txBox="1"/>
          <p:nvPr/>
        </p:nvSpPr>
        <p:spPr>
          <a:xfrm>
            <a:off x="1361386" y="4818678"/>
            <a:ext cx="1097608" cy="246221"/>
          </a:xfrm>
          <a:prstGeom prst="rect">
            <a:avLst/>
          </a:prstGeom>
          <a:noFill/>
        </p:spPr>
        <p:txBody>
          <a:bodyPr wrap="square" rtlCol="0">
            <a:spAutoFit/>
          </a:bodyPr>
          <a:lstStyle/>
          <a:p>
            <a:r>
              <a:rPr lang="en-US" sz="1000" dirty="0" err="1">
                <a:solidFill>
                  <a:srgbClr val="7030A0"/>
                </a:solidFill>
              </a:rPr>
              <a:t>Bolstad</a:t>
            </a:r>
            <a:r>
              <a:rPr lang="en-US" sz="1000" dirty="0">
                <a:solidFill>
                  <a:srgbClr val="7030A0"/>
                </a:solidFill>
              </a:rPr>
              <a:t>, 2019</a:t>
            </a:r>
          </a:p>
        </p:txBody>
      </p:sp>
      <p:sp>
        <p:nvSpPr>
          <p:cNvPr id="2" name="Slide Number Placeholder 1">
            <a:extLst>
              <a:ext uri="{FF2B5EF4-FFF2-40B4-BE49-F238E27FC236}">
                <a16:creationId xmlns:a16="http://schemas.microsoft.com/office/drawing/2014/main" id="{1F5E50DD-4047-46E1-9776-9FF35C122C60}"/>
              </a:ext>
            </a:extLst>
          </p:cNvPr>
          <p:cNvSpPr>
            <a:spLocks noGrp="1"/>
          </p:cNvSpPr>
          <p:nvPr>
            <p:ph type="sldNum" sz="quarter" idx="12"/>
          </p:nvPr>
        </p:nvSpPr>
        <p:spPr/>
        <p:txBody>
          <a:bodyPr/>
          <a:lstStyle/>
          <a:p>
            <a:fld id="{127DDC20-79C9-9647-820E-6D40A3D210C3}" type="slidenum">
              <a:rPr lang="en-US" smtClean="0"/>
              <a:pPr/>
              <a:t>10</a:t>
            </a:fld>
            <a:endParaRPr lang="en-US"/>
          </a:p>
        </p:txBody>
      </p:sp>
    </p:spTree>
    <p:extLst>
      <p:ext uri="{BB962C8B-B14F-4D97-AF65-F5344CB8AC3E}">
        <p14:creationId xmlns:p14="http://schemas.microsoft.com/office/powerpoint/2010/main" val="7044841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p:cNvSpPr txBox="1"/>
          <p:nvPr>
            <p:custDataLst>
              <p:tags r:id="rId1"/>
            </p:custDataLst>
          </p:nvPr>
        </p:nvSpPr>
        <p:spPr>
          <a:xfrm>
            <a:off x="2417003" y="2468853"/>
            <a:ext cx="514484" cy="840551"/>
          </a:xfrm>
          <a:prstGeom prst="rect">
            <a:avLst/>
          </a:prstGeom>
          <a:noFill/>
        </p:spPr>
        <p:txBody>
          <a:bodyPr wrap="square" rtlCol="0">
            <a:spAutoFit/>
          </a:bodyPr>
          <a:lstStyle/>
          <a:p>
            <a:pPr>
              <a:lnSpc>
                <a:spcPct val="90000"/>
              </a:lnSpc>
            </a:pPr>
            <a:r>
              <a:rPr lang="en-US" sz="5402" dirty="0"/>
              <a:t>X</a:t>
            </a:r>
          </a:p>
        </p:txBody>
      </p:sp>
      <p:sp>
        <p:nvSpPr>
          <p:cNvPr id="18" name="TextBox 17"/>
          <p:cNvSpPr txBox="1"/>
          <p:nvPr>
            <p:custDataLst>
              <p:tags r:id="rId2"/>
            </p:custDataLst>
          </p:nvPr>
        </p:nvSpPr>
        <p:spPr>
          <a:xfrm>
            <a:off x="5401010" y="2466948"/>
            <a:ext cx="514484" cy="840551"/>
          </a:xfrm>
          <a:prstGeom prst="rect">
            <a:avLst/>
          </a:prstGeom>
          <a:noFill/>
        </p:spPr>
        <p:txBody>
          <a:bodyPr wrap="square" rtlCol="0">
            <a:spAutoFit/>
          </a:bodyPr>
          <a:lstStyle/>
          <a:p>
            <a:pPr>
              <a:lnSpc>
                <a:spcPct val="90000"/>
              </a:lnSpc>
            </a:pPr>
            <a:r>
              <a:rPr lang="en-US" sz="5402" dirty="0"/>
              <a:t>=</a:t>
            </a:r>
          </a:p>
        </p:txBody>
      </p:sp>
      <p:pic>
        <p:nvPicPr>
          <p:cNvPr id="19" name="Picture 18" descr="Image showing forest"/>
          <p:cNvPicPr>
            <a:picLocks noChangeAspect="1"/>
          </p:cNvPicPr>
          <p:nvPr/>
        </p:nvPicPr>
        <p:blipFill>
          <a:blip r:embed="rId7">
            <a:clrChange>
              <a:clrFrom>
                <a:srgbClr val="00C5FF"/>
              </a:clrFrom>
              <a:clrTo>
                <a:srgbClr val="00C5FF">
                  <a:alpha val="0"/>
                </a:srgbClr>
              </a:clrTo>
            </a:clrChange>
          </a:blip>
          <a:stretch>
            <a:fillRect/>
          </a:stretch>
        </p:blipFill>
        <p:spPr>
          <a:xfrm>
            <a:off x="513413" y="1285540"/>
            <a:ext cx="1802624" cy="3459805"/>
          </a:xfrm>
          <a:prstGeom prst="rect">
            <a:avLst/>
          </a:prstGeom>
        </p:spPr>
      </p:pic>
      <p:pic>
        <p:nvPicPr>
          <p:cNvPr id="20" name="Picture 19" descr="Image showing elevation data"/>
          <p:cNvPicPr>
            <a:picLocks noChangeAspect="1"/>
          </p:cNvPicPr>
          <p:nvPr/>
        </p:nvPicPr>
        <p:blipFill>
          <a:blip r:embed="rId8">
            <a:clrChange>
              <a:clrFrom>
                <a:srgbClr val="00C5FF"/>
              </a:clrFrom>
              <a:clrTo>
                <a:srgbClr val="00C5FF">
                  <a:alpha val="0"/>
                </a:srgbClr>
              </a:clrTo>
            </a:clrChange>
          </a:blip>
          <a:stretch>
            <a:fillRect/>
          </a:stretch>
        </p:blipFill>
        <p:spPr>
          <a:xfrm>
            <a:off x="3123361" y="1075456"/>
            <a:ext cx="1982879" cy="3811472"/>
          </a:xfrm>
          <a:prstGeom prst="rect">
            <a:avLst/>
          </a:prstGeom>
        </p:spPr>
      </p:pic>
      <p:sp>
        <p:nvSpPr>
          <p:cNvPr id="3" name="TextBox 2"/>
          <p:cNvSpPr txBox="1"/>
          <p:nvPr>
            <p:custDataLst>
              <p:tags r:id="rId3"/>
            </p:custDataLst>
          </p:nvPr>
        </p:nvSpPr>
        <p:spPr>
          <a:xfrm>
            <a:off x="4617480" y="4317185"/>
            <a:ext cx="977520" cy="541046"/>
          </a:xfrm>
          <a:prstGeom prst="rect">
            <a:avLst/>
          </a:prstGeom>
          <a:noFill/>
        </p:spPr>
        <p:txBody>
          <a:bodyPr wrap="square" rtlCol="0">
            <a:spAutoFit/>
          </a:bodyPr>
          <a:lstStyle/>
          <a:p>
            <a:pPr>
              <a:lnSpc>
                <a:spcPct val="90000"/>
              </a:lnSpc>
            </a:pPr>
            <a:r>
              <a:rPr lang="en-US" sz="1620" dirty="0"/>
              <a:t>Elevation &gt; 800 m</a:t>
            </a:r>
          </a:p>
        </p:txBody>
      </p:sp>
      <p:sp>
        <p:nvSpPr>
          <p:cNvPr id="21" name="TextBox 20"/>
          <p:cNvSpPr txBox="1"/>
          <p:nvPr>
            <p:custDataLst>
              <p:tags r:id="rId4"/>
            </p:custDataLst>
          </p:nvPr>
        </p:nvSpPr>
        <p:spPr>
          <a:xfrm>
            <a:off x="2056864" y="4320996"/>
            <a:ext cx="977520" cy="316690"/>
          </a:xfrm>
          <a:prstGeom prst="rect">
            <a:avLst/>
          </a:prstGeom>
          <a:noFill/>
        </p:spPr>
        <p:txBody>
          <a:bodyPr wrap="square" rtlCol="0">
            <a:spAutoFit/>
          </a:bodyPr>
          <a:lstStyle/>
          <a:p>
            <a:pPr>
              <a:lnSpc>
                <a:spcPct val="90000"/>
              </a:lnSpc>
            </a:pPr>
            <a:r>
              <a:rPr lang="en-US" sz="1620" dirty="0"/>
              <a:t>Forest</a:t>
            </a:r>
          </a:p>
        </p:txBody>
      </p:sp>
      <p:pic>
        <p:nvPicPr>
          <p:cNvPr id="5" name="Picture 4" descr="Image showing results of forest x elevation"/>
          <p:cNvPicPr>
            <a:picLocks noChangeAspect="1"/>
          </p:cNvPicPr>
          <p:nvPr/>
        </p:nvPicPr>
        <p:blipFill>
          <a:blip r:embed="rId9">
            <a:clrChange>
              <a:clrFrom>
                <a:srgbClr val="00C5FF"/>
              </a:clrFrom>
              <a:clrTo>
                <a:srgbClr val="00C5FF">
                  <a:alpha val="0"/>
                </a:srgbClr>
              </a:clrTo>
            </a:clrChange>
          </a:blip>
          <a:stretch>
            <a:fillRect/>
          </a:stretch>
        </p:blipFill>
        <p:spPr>
          <a:xfrm>
            <a:off x="6013315" y="951117"/>
            <a:ext cx="1865369" cy="3877264"/>
          </a:xfrm>
          <a:prstGeom prst="rect">
            <a:avLst/>
          </a:prstGeom>
        </p:spPr>
      </p:pic>
      <p:cxnSp>
        <p:nvCxnSpPr>
          <p:cNvPr id="10" name="Straight Connector 9">
            <a:extLst>
              <a:ext uri="{FF2B5EF4-FFF2-40B4-BE49-F238E27FC236}">
                <a16:creationId xmlns:a16="http://schemas.microsoft.com/office/drawing/2014/main" id="{BA7E34A2-2BE3-413D-BE7B-5F4331EDF668}"/>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1" name="Title 1">
            <a:extLst>
              <a:ext uri="{FF2B5EF4-FFF2-40B4-BE49-F238E27FC236}">
                <a16:creationId xmlns:a16="http://schemas.microsoft.com/office/drawing/2014/main" id="{CCB9E9BE-C171-4034-AE94-1FAFB4F5B29D}"/>
              </a:ext>
            </a:extLst>
          </p:cNvPr>
          <p:cNvSpPr txBox="1">
            <a:spLocks/>
          </p:cNvSpPr>
          <p:nvPr/>
        </p:nvSpPr>
        <p:spPr>
          <a:xfrm>
            <a:off x="118533" y="16489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Operations Involving Multiple Raster</a:t>
            </a:r>
            <a:endParaRPr lang="en-US" sz="2600" dirty="0">
              <a:solidFill>
                <a:srgbClr val="7030A0"/>
              </a:solidFill>
            </a:endParaRPr>
          </a:p>
        </p:txBody>
      </p:sp>
      <p:sp>
        <p:nvSpPr>
          <p:cNvPr id="15" name="TextBox 14">
            <a:extLst>
              <a:ext uri="{FF2B5EF4-FFF2-40B4-BE49-F238E27FC236}">
                <a16:creationId xmlns:a16="http://schemas.microsoft.com/office/drawing/2014/main" id="{9E027934-BE8C-4CB4-89AC-A09F70F3EDDA}"/>
              </a:ext>
            </a:extLst>
          </p:cNvPr>
          <p:cNvSpPr txBox="1"/>
          <p:nvPr/>
        </p:nvSpPr>
        <p:spPr>
          <a:xfrm>
            <a:off x="6013315" y="4575626"/>
            <a:ext cx="2216285" cy="646331"/>
          </a:xfrm>
          <a:prstGeom prst="rect">
            <a:avLst/>
          </a:prstGeom>
          <a:noFill/>
        </p:spPr>
        <p:txBody>
          <a:bodyPr wrap="square">
            <a:spAutoFit/>
          </a:bodyPr>
          <a:lstStyle/>
          <a:p>
            <a:r>
              <a:rPr lang="en-US" dirty="0"/>
              <a:t>F</a:t>
            </a:r>
            <a:r>
              <a:rPr lang="en-US" baseline="0" dirty="0"/>
              <a:t>orest at an elevation above 800 meters</a:t>
            </a:r>
            <a:endParaRPr lang="en-US" dirty="0"/>
          </a:p>
        </p:txBody>
      </p:sp>
      <p:sp>
        <p:nvSpPr>
          <p:cNvPr id="2" name="Slide Number Placeholder 1">
            <a:extLst>
              <a:ext uri="{FF2B5EF4-FFF2-40B4-BE49-F238E27FC236}">
                <a16:creationId xmlns:a16="http://schemas.microsoft.com/office/drawing/2014/main" id="{F534EDED-5015-4C5D-BBDA-B18859B05B7B}"/>
              </a:ext>
            </a:extLst>
          </p:cNvPr>
          <p:cNvSpPr>
            <a:spLocks noGrp="1"/>
          </p:cNvSpPr>
          <p:nvPr>
            <p:ph type="sldNum" sz="quarter" idx="12"/>
          </p:nvPr>
        </p:nvSpPr>
        <p:spPr/>
        <p:txBody>
          <a:bodyPr/>
          <a:lstStyle/>
          <a:p>
            <a:fld id="{127DDC20-79C9-9647-820E-6D40A3D210C3}" type="slidenum">
              <a:rPr lang="en-US" smtClean="0"/>
              <a:pPr/>
              <a:t>11</a:t>
            </a:fld>
            <a:endParaRPr lang="en-US"/>
          </a:p>
        </p:txBody>
      </p:sp>
    </p:spTree>
    <p:extLst>
      <p:ext uri="{BB962C8B-B14F-4D97-AF65-F5344CB8AC3E}">
        <p14:creationId xmlns:p14="http://schemas.microsoft.com/office/powerpoint/2010/main" val="39243080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custDataLst>
              <p:tags r:id="rId1"/>
            </p:custDataLst>
          </p:nvPr>
        </p:nvSpPr>
        <p:spPr>
          <a:xfrm>
            <a:off x="176881" y="1033773"/>
            <a:ext cx="6173808" cy="1140937"/>
          </a:xfrm>
        </p:spPr>
        <p:txBody>
          <a:bodyPr/>
          <a:lstStyle/>
          <a:p>
            <a:pPr marL="0" indent="0">
              <a:buNone/>
            </a:pPr>
            <a:r>
              <a:rPr lang="en-US" dirty="0"/>
              <a:t>“Elevation” &gt; 800</a:t>
            </a:r>
          </a:p>
          <a:p>
            <a:pPr marL="0" indent="0">
              <a:buNone/>
            </a:pPr>
            <a:r>
              <a:rPr lang="en-US" dirty="0"/>
              <a:t>1 = Yes = True</a:t>
            </a:r>
          </a:p>
          <a:p>
            <a:pPr marL="0" indent="0">
              <a:buNone/>
            </a:pPr>
            <a:r>
              <a:rPr lang="en-US" dirty="0"/>
              <a:t>0 = No = False</a:t>
            </a:r>
          </a:p>
        </p:txBody>
      </p:sp>
      <p:sp>
        <p:nvSpPr>
          <p:cNvPr id="4" name="Slide Number Placeholder 3">
            <a:extLst>
              <a:ext uri="{FF2B5EF4-FFF2-40B4-BE49-F238E27FC236}">
                <a16:creationId xmlns:a16="http://schemas.microsoft.com/office/drawing/2014/main" id="{BD3BF31A-7066-481E-8D81-DED5384A0411}"/>
              </a:ext>
            </a:extLst>
          </p:cNvPr>
          <p:cNvSpPr>
            <a:spLocks noGrp="1"/>
          </p:cNvSpPr>
          <p:nvPr>
            <p:ph type="sldNum" sz="quarter" idx="12"/>
          </p:nvPr>
        </p:nvSpPr>
        <p:spPr/>
        <p:txBody>
          <a:bodyPr/>
          <a:lstStyle/>
          <a:p>
            <a:fld id="{127DDC20-79C9-9647-820E-6D40A3D210C3}" type="slidenum">
              <a:rPr lang="en-US" smtClean="0"/>
              <a:pPr/>
              <a:t>12</a:t>
            </a:fld>
            <a:endParaRPr lang="en-US"/>
          </a:p>
        </p:txBody>
      </p:sp>
      <p:pic>
        <p:nvPicPr>
          <p:cNvPr id="2" name="Picture 1" descr="Image showing DEM data"/>
          <p:cNvPicPr>
            <a:picLocks noChangeAspect="1"/>
          </p:cNvPicPr>
          <p:nvPr/>
        </p:nvPicPr>
        <p:blipFill>
          <a:blip r:embed="rId8">
            <a:clrChange>
              <a:clrFrom>
                <a:srgbClr val="00C5FF"/>
              </a:clrFrom>
              <a:clrTo>
                <a:srgbClr val="00C5FF">
                  <a:alpha val="0"/>
                </a:srgbClr>
              </a:clrTo>
            </a:clrChange>
          </a:blip>
          <a:stretch>
            <a:fillRect/>
          </a:stretch>
        </p:blipFill>
        <p:spPr>
          <a:xfrm>
            <a:off x="3526836" y="1084555"/>
            <a:ext cx="2263730" cy="3717399"/>
          </a:xfrm>
          <a:prstGeom prst="rect">
            <a:avLst/>
          </a:prstGeom>
        </p:spPr>
      </p:pic>
      <p:pic>
        <p:nvPicPr>
          <p:cNvPr id="3" name="Picture 2" descr="Image showing DEM after logical operation"/>
          <p:cNvPicPr>
            <a:picLocks noChangeAspect="1"/>
          </p:cNvPicPr>
          <p:nvPr/>
        </p:nvPicPr>
        <p:blipFill>
          <a:blip r:embed="rId9">
            <a:clrChange>
              <a:clrFrom>
                <a:srgbClr val="00C5FF"/>
              </a:clrFrom>
              <a:clrTo>
                <a:srgbClr val="00C5FF">
                  <a:alpha val="0"/>
                </a:srgbClr>
              </a:clrTo>
            </a:clrChange>
          </a:blip>
          <a:stretch>
            <a:fillRect/>
          </a:stretch>
        </p:blipFill>
        <p:spPr>
          <a:xfrm>
            <a:off x="6069840" y="1131195"/>
            <a:ext cx="1982879" cy="3811472"/>
          </a:xfrm>
          <a:prstGeom prst="rect">
            <a:avLst/>
          </a:prstGeom>
        </p:spPr>
      </p:pic>
      <p:sp>
        <p:nvSpPr>
          <p:cNvPr id="6" name="Right Arrow 5"/>
          <p:cNvSpPr/>
          <p:nvPr>
            <p:custDataLst>
              <p:tags r:id="rId2"/>
            </p:custDataLst>
          </p:nvPr>
        </p:nvSpPr>
        <p:spPr>
          <a:xfrm>
            <a:off x="5349562" y="2959564"/>
            <a:ext cx="720278" cy="154345"/>
          </a:xfrm>
          <a:prstGeom prst="rightArrow">
            <a:avLst>
              <a:gd name="adj1" fmla="val 25510"/>
              <a:gd name="adj2" fmla="val 50000"/>
            </a:avLst>
          </a:prstGeom>
          <a:solidFill>
            <a:srgbClr val="C00000"/>
          </a:solidFill>
          <a:ln>
            <a:solidFill>
              <a:srgbClr val="C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graphicFrame>
        <p:nvGraphicFramePr>
          <p:cNvPr id="7" name="Table 6"/>
          <p:cNvGraphicFramePr>
            <a:graphicFrameLocks noGrp="1"/>
          </p:cNvGraphicFramePr>
          <p:nvPr>
            <p:custDataLst>
              <p:tags r:id="rId3"/>
            </p:custDataLst>
            <p:extLst>
              <p:ext uri="{D42A27DB-BD31-4B8C-83A1-F6EECF244321}">
                <p14:modId xmlns:p14="http://schemas.microsoft.com/office/powerpoint/2010/main" val="550931232"/>
              </p:ext>
            </p:extLst>
          </p:nvPr>
        </p:nvGraphicFramePr>
        <p:xfrm>
          <a:off x="449211" y="2260045"/>
          <a:ext cx="1394727" cy="1024932"/>
        </p:xfrm>
        <a:graphic>
          <a:graphicData uri="http://schemas.openxmlformats.org/drawingml/2006/table">
            <a:tbl>
              <a:tblPr>
                <a:tableStyleId>{6E25E649-3F16-4E02-A733-19D2CDBF48F0}</a:tableStyleId>
              </a:tblPr>
              <a:tblGrid>
                <a:gridCol w="464909">
                  <a:extLst>
                    <a:ext uri="{9D8B030D-6E8A-4147-A177-3AD203B41FA5}">
                      <a16:colId xmlns:a16="http://schemas.microsoft.com/office/drawing/2014/main" val="2741754113"/>
                    </a:ext>
                  </a:extLst>
                </a:gridCol>
                <a:gridCol w="464909">
                  <a:extLst>
                    <a:ext uri="{9D8B030D-6E8A-4147-A177-3AD203B41FA5}">
                      <a16:colId xmlns:a16="http://schemas.microsoft.com/office/drawing/2014/main" val="3847173035"/>
                    </a:ext>
                  </a:extLst>
                </a:gridCol>
                <a:gridCol w="464909">
                  <a:extLst>
                    <a:ext uri="{9D8B030D-6E8A-4147-A177-3AD203B41FA5}">
                      <a16:colId xmlns:a16="http://schemas.microsoft.com/office/drawing/2014/main" val="2831503961"/>
                    </a:ext>
                  </a:extLst>
                </a:gridCol>
              </a:tblGrid>
              <a:tr h="341644">
                <a:tc>
                  <a:txBody>
                    <a:bodyPr/>
                    <a:lstStyle/>
                    <a:p>
                      <a:pPr algn="ctr" fontAlgn="b"/>
                      <a:r>
                        <a:rPr lang="en-US" sz="1200" b="0" i="0" u="none" strike="noStrike" dirty="0">
                          <a:solidFill>
                            <a:schemeClr val="tx1"/>
                          </a:solidFill>
                          <a:effectLst/>
                          <a:latin typeface="Calibri" panose="020F0502020204030204" pitchFamily="34" charset="0"/>
                        </a:rPr>
                        <a:t>850</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u="none" strike="noStrike" dirty="0">
                          <a:solidFill>
                            <a:schemeClr val="tx1"/>
                          </a:solidFill>
                          <a:effectLst/>
                        </a:rPr>
                        <a:t> 700</a:t>
                      </a:r>
                      <a:endParaRPr lang="en-US" sz="12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u="none" strike="noStrike" dirty="0">
                          <a:solidFill>
                            <a:schemeClr val="tx1"/>
                          </a:solidFill>
                          <a:effectLst/>
                        </a:rPr>
                        <a:t> 820</a:t>
                      </a:r>
                      <a:endParaRPr lang="en-US" sz="12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37826849"/>
                  </a:ext>
                </a:extLst>
              </a:tr>
              <a:tr h="341644">
                <a:tc>
                  <a:txBody>
                    <a:bodyPr/>
                    <a:lstStyle/>
                    <a:p>
                      <a:pPr algn="ctr" fontAlgn="b"/>
                      <a:r>
                        <a:rPr lang="en-US" sz="1200" u="none" strike="noStrike" dirty="0">
                          <a:solidFill>
                            <a:schemeClr val="tx1"/>
                          </a:solidFill>
                          <a:effectLst/>
                        </a:rPr>
                        <a:t> 600</a:t>
                      </a:r>
                      <a:endParaRPr lang="en-US" sz="12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b="0" i="0" u="none" strike="noStrike" dirty="0">
                          <a:solidFill>
                            <a:schemeClr val="tx1"/>
                          </a:solidFill>
                          <a:effectLst/>
                          <a:latin typeface="+mn-lt"/>
                        </a:rPr>
                        <a:t>820</a:t>
                      </a:r>
                      <a:endParaRPr lang="en-US" sz="12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u="none" strike="noStrike" dirty="0">
                          <a:solidFill>
                            <a:schemeClr val="tx1"/>
                          </a:solidFill>
                          <a:effectLst/>
                        </a:rPr>
                        <a:t> 900</a:t>
                      </a:r>
                      <a:endParaRPr lang="en-US" sz="12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56786408"/>
                  </a:ext>
                </a:extLst>
              </a:tr>
              <a:tr h="341644">
                <a:tc>
                  <a:txBody>
                    <a:bodyPr/>
                    <a:lstStyle/>
                    <a:p>
                      <a:pPr algn="ctr" fontAlgn="b"/>
                      <a:r>
                        <a:rPr lang="en-US" sz="1200" u="none" strike="noStrike" dirty="0">
                          <a:solidFill>
                            <a:schemeClr val="tx1"/>
                          </a:solidFill>
                          <a:effectLst/>
                        </a:rPr>
                        <a:t> </a:t>
                      </a:r>
                      <a:r>
                        <a:rPr lang="en-US" sz="900" u="none" strike="noStrike" dirty="0">
                          <a:solidFill>
                            <a:schemeClr val="tx1"/>
                          </a:solidFill>
                          <a:effectLst/>
                        </a:rPr>
                        <a:t>NoData</a:t>
                      </a:r>
                      <a:endParaRPr lang="en-US" sz="9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u="none" strike="noStrike" dirty="0">
                          <a:solidFill>
                            <a:schemeClr val="tx1"/>
                          </a:solidFill>
                          <a:effectLst/>
                        </a:rPr>
                        <a:t> 650</a:t>
                      </a:r>
                      <a:endParaRPr lang="en-US" sz="12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u="none" strike="noStrike" dirty="0">
                          <a:solidFill>
                            <a:schemeClr val="tx1"/>
                          </a:solidFill>
                          <a:effectLst/>
                        </a:rPr>
                        <a:t> 675</a:t>
                      </a:r>
                      <a:endParaRPr lang="en-US" sz="12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75086253"/>
                  </a:ext>
                </a:extLst>
              </a:tr>
            </a:tbl>
          </a:graphicData>
        </a:graphic>
      </p:graphicFrame>
      <p:sp>
        <p:nvSpPr>
          <p:cNvPr id="8" name="Rectangle 7"/>
          <p:cNvSpPr/>
          <p:nvPr>
            <p:custDataLst>
              <p:tags r:id="rId4"/>
            </p:custDataLst>
          </p:nvPr>
        </p:nvSpPr>
        <p:spPr>
          <a:xfrm>
            <a:off x="2057937" y="2260045"/>
            <a:ext cx="4113728" cy="653256"/>
          </a:xfrm>
          <a:prstGeom prst="rect">
            <a:avLst/>
          </a:prstGeom>
        </p:spPr>
        <p:txBody>
          <a:bodyPr>
            <a:spAutoFit/>
          </a:bodyPr>
          <a:lstStyle/>
          <a:p>
            <a:r>
              <a:rPr lang="en-US" sz="1215" dirty="0"/>
              <a:t>		</a:t>
            </a:r>
          </a:p>
          <a:p>
            <a:r>
              <a:rPr lang="en-US" sz="1215" dirty="0"/>
              <a:t>		</a:t>
            </a:r>
          </a:p>
          <a:p>
            <a:r>
              <a:rPr lang="en-US" sz="1215" dirty="0"/>
              <a:t>		</a:t>
            </a:r>
          </a:p>
        </p:txBody>
      </p:sp>
      <p:graphicFrame>
        <p:nvGraphicFramePr>
          <p:cNvPr id="9" name="Table 8"/>
          <p:cNvGraphicFramePr>
            <a:graphicFrameLocks noGrp="1"/>
          </p:cNvGraphicFramePr>
          <p:nvPr>
            <p:custDataLst>
              <p:tags r:id="rId5"/>
            </p:custDataLst>
            <p:extLst>
              <p:ext uri="{D42A27DB-BD31-4B8C-83A1-F6EECF244321}">
                <p14:modId xmlns:p14="http://schemas.microsoft.com/office/powerpoint/2010/main" val="46487082"/>
              </p:ext>
            </p:extLst>
          </p:nvPr>
        </p:nvGraphicFramePr>
        <p:xfrm>
          <a:off x="1873103" y="3494019"/>
          <a:ext cx="1394727" cy="1024932"/>
        </p:xfrm>
        <a:graphic>
          <a:graphicData uri="http://schemas.openxmlformats.org/drawingml/2006/table">
            <a:tbl>
              <a:tblPr>
                <a:tableStyleId>{6E25E649-3F16-4E02-A733-19D2CDBF48F0}</a:tableStyleId>
              </a:tblPr>
              <a:tblGrid>
                <a:gridCol w="464909">
                  <a:extLst>
                    <a:ext uri="{9D8B030D-6E8A-4147-A177-3AD203B41FA5}">
                      <a16:colId xmlns:a16="http://schemas.microsoft.com/office/drawing/2014/main" val="2741754113"/>
                    </a:ext>
                  </a:extLst>
                </a:gridCol>
                <a:gridCol w="464909">
                  <a:extLst>
                    <a:ext uri="{9D8B030D-6E8A-4147-A177-3AD203B41FA5}">
                      <a16:colId xmlns:a16="http://schemas.microsoft.com/office/drawing/2014/main" val="3847173035"/>
                    </a:ext>
                  </a:extLst>
                </a:gridCol>
                <a:gridCol w="464909">
                  <a:extLst>
                    <a:ext uri="{9D8B030D-6E8A-4147-A177-3AD203B41FA5}">
                      <a16:colId xmlns:a16="http://schemas.microsoft.com/office/drawing/2014/main" val="2831503961"/>
                    </a:ext>
                  </a:extLst>
                </a:gridCol>
              </a:tblGrid>
              <a:tr h="341644">
                <a:tc>
                  <a:txBody>
                    <a:bodyPr/>
                    <a:lstStyle/>
                    <a:p>
                      <a:pPr algn="ctr" fontAlgn="b"/>
                      <a:r>
                        <a:rPr lang="en-US" sz="1200" b="0" i="0" u="none" strike="noStrike" dirty="0">
                          <a:solidFill>
                            <a:schemeClr val="tx1"/>
                          </a:solidFill>
                          <a:effectLst/>
                          <a:latin typeface="Calibri" panose="020F0502020204030204" pitchFamily="34" charset="0"/>
                        </a:rPr>
                        <a:t>1</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u="none" strike="noStrike" dirty="0">
                          <a:solidFill>
                            <a:schemeClr val="tx1"/>
                          </a:solidFill>
                          <a:effectLst/>
                        </a:rPr>
                        <a:t> 0</a:t>
                      </a:r>
                      <a:endParaRPr lang="en-US" sz="12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u="none" strike="noStrike" dirty="0">
                          <a:solidFill>
                            <a:schemeClr val="tx1"/>
                          </a:solidFill>
                          <a:effectLst/>
                        </a:rPr>
                        <a:t> 1</a:t>
                      </a:r>
                      <a:endParaRPr lang="en-US" sz="12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37826849"/>
                  </a:ext>
                </a:extLst>
              </a:tr>
              <a:tr h="341644">
                <a:tc>
                  <a:txBody>
                    <a:bodyPr/>
                    <a:lstStyle/>
                    <a:p>
                      <a:pPr algn="ctr" fontAlgn="b"/>
                      <a:r>
                        <a:rPr lang="en-US" sz="1200" b="0" i="0" u="none" strike="noStrike" dirty="0">
                          <a:solidFill>
                            <a:schemeClr val="tx1"/>
                          </a:solidFill>
                          <a:effectLst/>
                          <a:latin typeface="+mn-lt"/>
                        </a:rPr>
                        <a:t>0</a:t>
                      </a:r>
                      <a:endParaRPr lang="en-US" sz="12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b="0" i="0" u="none" strike="noStrike" dirty="0">
                          <a:solidFill>
                            <a:schemeClr val="tx1"/>
                          </a:solidFill>
                          <a:effectLst/>
                          <a:latin typeface="+mn-lt"/>
                        </a:rPr>
                        <a:t>1</a:t>
                      </a:r>
                      <a:endParaRPr lang="en-US" sz="12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u="none" strike="noStrike" dirty="0">
                          <a:solidFill>
                            <a:schemeClr val="tx1"/>
                          </a:solidFill>
                          <a:effectLst/>
                        </a:rPr>
                        <a:t> 1</a:t>
                      </a:r>
                      <a:endParaRPr lang="en-US" sz="12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56786408"/>
                  </a:ext>
                </a:extLst>
              </a:tr>
              <a:tr h="341644">
                <a:tc>
                  <a:txBody>
                    <a:bodyPr/>
                    <a:lstStyle/>
                    <a:p>
                      <a:pPr algn="ctr" fontAlgn="b"/>
                      <a:r>
                        <a:rPr lang="en-US" sz="1200" u="none" strike="noStrike" dirty="0">
                          <a:solidFill>
                            <a:schemeClr val="tx1"/>
                          </a:solidFill>
                          <a:effectLst/>
                        </a:rPr>
                        <a:t> </a:t>
                      </a:r>
                      <a:r>
                        <a:rPr lang="en-US" sz="900" u="none" strike="noStrike" dirty="0">
                          <a:solidFill>
                            <a:schemeClr val="tx1"/>
                          </a:solidFill>
                          <a:effectLst/>
                        </a:rPr>
                        <a:t>NoData</a:t>
                      </a:r>
                      <a:endParaRPr lang="en-US" sz="9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u="none" strike="noStrike" dirty="0">
                          <a:solidFill>
                            <a:schemeClr val="tx1"/>
                          </a:solidFill>
                          <a:effectLst/>
                        </a:rPr>
                        <a:t> 0</a:t>
                      </a:r>
                      <a:endParaRPr lang="en-US" sz="12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u="none" strike="noStrike" dirty="0">
                          <a:solidFill>
                            <a:schemeClr val="tx1"/>
                          </a:solidFill>
                          <a:effectLst/>
                        </a:rPr>
                        <a:t> 0</a:t>
                      </a:r>
                      <a:endParaRPr lang="en-US" sz="12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75086253"/>
                  </a:ext>
                </a:extLst>
              </a:tr>
            </a:tbl>
          </a:graphicData>
        </a:graphic>
      </p:graphicFrame>
      <p:cxnSp>
        <p:nvCxnSpPr>
          <p:cNvPr id="10" name="Straight Connector 9">
            <a:extLst>
              <a:ext uri="{FF2B5EF4-FFF2-40B4-BE49-F238E27FC236}">
                <a16:creationId xmlns:a16="http://schemas.microsoft.com/office/drawing/2014/main" id="{1C162254-31A1-4007-9D0D-277E47CA7A5D}"/>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1" name="Title 1">
            <a:extLst>
              <a:ext uri="{FF2B5EF4-FFF2-40B4-BE49-F238E27FC236}">
                <a16:creationId xmlns:a16="http://schemas.microsoft.com/office/drawing/2014/main" id="{9DB891FC-3B4A-49D1-991E-9F9762AE90DA}"/>
              </a:ext>
            </a:extLst>
          </p:cNvPr>
          <p:cNvSpPr txBox="1">
            <a:spLocks/>
          </p:cNvSpPr>
          <p:nvPr/>
        </p:nvSpPr>
        <p:spPr>
          <a:xfrm>
            <a:off x="199101" y="12483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Logical operations</a:t>
            </a:r>
            <a:endParaRPr lang="en-US" sz="2600" dirty="0">
              <a:solidFill>
                <a:srgbClr val="7030A0"/>
              </a:solidFill>
            </a:endParaRPr>
          </a:p>
        </p:txBody>
      </p:sp>
    </p:spTree>
    <p:extLst>
      <p:ext uri="{BB962C8B-B14F-4D97-AF65-F5344CB8AC3E}">
        <p14:creationId xmlns:p14="http://schemas.microsoft.com/office/powerpoint/2010/main" val="23718512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BA7E34A2-2BE3-413D-BE7B-5F4331EDF668}"/>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1" name="Title 1">
            <a:extLst>
              <a:ext uri="{FF2B5EF4-FFF2-40B4-BE49-F238E27FC236}">
                <a16:creationId xmlns:a16="http://schemas.microsoft.com/office/drawing/2014/main" id="{CCB9E9BE-C171-4034-AE94-1FAFB4F5B29D}"/>
              </a:ext>
            </a:extLst>
          </p:cNvPr>
          <p:cNvSpPr txBox="1">
            <a:spLocks/>
          </p:cNvSpPr>
          <p:nvPr/>
        </p:nvSpPr>
        <p:spPr>
          <a:xfrm>
            <a:off x="152400" y="183066"/>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Logical operations</a:t>
            </a:r>
            <a:endParaRPr lang="en-US" sz="2600" dirty="0">
              <a:solidFill>
                <a:srgbClr val="7030A0"/>
              </a:solidFill>
            </a:endParaRPr>
          </a:p>
        </p:txBody>
      </p:sp>
      <p:pic>
        <p:nvPicPr>
          <p:cNvPr id="4" name="Picture 3" descr="Calendar&#10;&#10;Description automatically generated">
            <a:extLst>
              <a:ext uri="{FF2B5EF4-FFF2-40B4-BE49-F238E27FC236}">
                <a16:creationId xmlns:a16="http://schemas.microsoft.com/office/drawing/2014/main" id="{801DB74A-4BFE-401C-9E7C-1C6865B2C611}"/>
              </a:ext>
            </a:extLst>
          </p:cNvPr>
          <p:cNvPicPr>
            <a:picLocks noChangeAspect="1"/>
          </p:cNvPicPr>
          <p:nvPr/>
        </p:nvPicPr>
        <p:blipFill>
          <a:blip r:embed="rId3"/>
          <a:stretch>
            <a:fillRect/>
          </a:stretch>
        </p:blipFill>
        <p:spPr>
          <a:xfrm>
            <a:off x="1556950" y="1040316"/>
            <a:ext cx="4314653" cy="4060102"/>
          </a:xfrm>
          <a:prstGeom prst="rect">
            <a:avLst/>
          </a:prstGeom>
        </p:spPr>
      </p:pic>
      <p:sp>
        <p:nvSpPr>
          <p:cNvPr id="7" name="TextBox 6">
            <a:extLst>
              <a:ext uri="{FF2B5EF4-FFF2-40B4-BE49-F238E27FC236}">
                <a16:creationId xmlns:a16="http://schemas.microsoft.com/office/drawing/2014/main" id="{C0823FFC-66EE-43DB-9BA0-8B2FDE594E13}"/>
              </a:ext>
            </a:extLst>
          </p:cNvPr>
          <p:cNvSpPr txBox="1"/>
          <p:nvPr/>
        </p:nvSpPr>
        <p:spPr>
          <a:xfrm>
            <a:off x="5735678" y="4695568"/>
            <a:ext cx="1097608" cy="246221"/>
          </a:xfrm>
          <a:prstGeom prst="rect">
            <a:avLst/>
          </a:prstGeom>
          <a:noFill/>
        </p:spPr>
        <p:txBody>
          <a:bodyPr wrap="square" rtlCol="0">
            <a:spAutoFit/>
          </a:bodyPr>
          <a:lstStyle/>
          <a:p>
            <a:r>
              <a:rPr lang="en-US" sz="1000" dirty="0" err="1">
                <a:solidFill>
                  <a:srgbClr val="7030A0"/>
                </a:solidFill>
              </a:rPr>
              <a:t>Bolstad</a:t>
            </a:r>
            <a:r>
              <a:rPr lang="en-US" sz="1000" dirty="0">
                <a:solidFill>
                  <a:srgbClr val="7030A0"/>
                </a:solidFill>
              </a:rPr>
              <a:t>, 2019</a:t>
            </a:r>
          </a:p>
        </p:txBody>
      </p:sp>
      <p:sp>
        <p:nvSpPr>
          <p:cNvPr id="2" name="Slide Number Placeholder 1">
            <a:extLst>
              <a:ext uri="{FF2B5EF4-FFF2-40B4-BE49-F238E27FC236}">
                <a16:creationId xmlns:a16="http://schemas.microsoft.com/office/drawing/2014/main" id="{0C8A3177-13AD-4005-B402-BA8EA4A73F73}"/>
              </a:ext>
            </a:extLst>
          </p:cNvPr>
          <p:cNvSpPr>
            <a:spLocks noGrp="1"/>
          </p:cNvSpPr>
          <p:nvPr>
            <p:ph type="sldNum" sz="quarter" idx="12"/>
          </p:nvPr>
        </p:nvSpPr>
        <p:spPr/>
        <p:txBody>
          <a:bodyPr/>
          <a:lstStyle/>
          <a:p>
            <a:fld id="{127DDC20-79C9-9647-820E-6D40A3D210C3}" type="slidenum">
              <a:rPr lang="en-US" smtClean="0"/>
              <a:pPr/>
              <a:t>13</a:t>
            </a:fld>
            <a:endParaRPr lang="en-US"/>
          </a:p>
        </p:txBody>
      </p:sp>
    </p:spTree>
    <p:extLst>
      <p:ext uri="{BB962C8B-B14F-4D97-AF65-F5344CB8AC3E}">
        <p14:creationId xmlns:p14="http://schemas.microsoft.com/office/powerpoint/2010/main" val="20203001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custDataLst>
              <p:tags r:id="rId1"/>
            </p:custDataLst>
          </p:nvPr>
        </p:nvSpPr>
        <p:spPr>
          <a:xfrm>
            <a:off x="679216" y="1104221"/>
            <a:ext cx="7158081" cy="3735846"/>
          </a:xfrm>
        </p:spPr>
        <p:txBody>
          <a:bodyPr numCol="2">
            <a:noAutofit/>
          </a:bodyPr>
          <a:lstStyle/>
          <a:p>
            <a:pPr marL="0" indent="0">
              <a:buNone/>
            </a:pPr>
            <a:r>
              <a:rPr lang="en-US" sz="2400" b="1" dirty="0">
                <a:solidFill>
                  <a:srgbClr val="E3874F"/>
                </a:solidFill>
              </a:rPr>
              <a:t>+:</a:t>
            </a:r>
            <a:r>
              <a:rPr lang="en-US" sz="2400" dirty="0"/>
              <a:t> Add</a:t>
            </a:r>
          </a:p>
          <a:p>
            <a:pPr marL="0" indent="0">
              <a:buNone/>
            </a:pPr>
            <a:r>
              <a:rPr lang="en-US" sz="2400" b="1" dirty="0">
                <a:solidFill>
                  <a:srgbClr val="E3874F"/>
                </a:solidFill>
              </a:rPr>
              <a:t>-: </a:t>
            </a:r>
            <a:r>
              <a:rPr lang="en-US" sz="2400" dirty="0"/>
              <a:t>Subtract</a:t>
            </a:r>
          </a:p>
          <a:p>
            <a:pPr marL="0" indent="0">
              <a:buNone/>
            </a:pPr>
            <a:r>
              <a:rPr lang="en-US" sz="2400" b="1" dirty="0">
                <a:solidFill>
                  <a:srgbClr val="E3874F"/>
                </a:solidFill>
              </a:rPr>
              <a:t>*:</a:t>
            </a:r>
            <a:r>
              <a:rPr lang="en-US" sz="2400" dirty="0"/>
              <a:t> Multiply</a:t>
            </a:r>
          </a:p>
          <a:p>
            <a:pPr marL="0" indent="0">
              <a:buNone/>
            </a:pPr>
            <a:r>
              <a:rPr lang="en-US" sz="2400" b="1" dirty="0">
                <a:solidFill>
                  <a:srgbClr val="E3874F"/>
                </a:solidFill>
              </a:rPr>
              <a:t>/:</a:t>
            </a:r>
            <a:r>
              <a:rPr lang="en-US" sz="2400" dirty="0"/>
              <a:t> Divide</a:t>
            </a:r>
          </a:p>
          <a:p>
            <a:pPr marL="0" indent="0">
              <a:buNone/>
            </a:pPr>
            <a:r>
              <a:rPr lang="en-US" sz="2400" b="1" dirty="0">
                <a:solidFill>
                  <a:srgbClr val="E3874F"/>
                </a:solidFill>
              </a:rPr>
              <a:t>==: </a:t>
            </a:r>
            <a:r>
              <a:rPr lang="en-US" sz="2400" dirty="0"/>
              <a:t>Equal to</a:t>
            </a:r>
          </a:p>
          <a:p>
            <a:pPr marL="0" indent="0">
              <a:buNone/>
            </a:pPr>
            <a:r>
              <a:rPr lang="en-US" sz="2400" b="1" dirty="0">
                <a:solidFill>
                  <a:srgbClr val="E3874F"/>
                </a:solidFill>
              </a:rPr>
              <a:t>!=:</a:t>
            </a:r>
            <a:r>
              <a:rPr lang="en-US" sz="2400" dirty="0"/>
              <a:t> Not equal to</a:t>
            </a:r>
          </a:p>
          <a:p>
            <a:pPr marL="0" indent="0">
              <a:buNone/>
            </a:pPr>
            <a:r>
              <a:rPr lang="en-US" sz="2400" b="1" dirty="0">
                <a:solidFill>
                  <a:srgbClr val="E3874F"/>
                </a:solidFill>
              </a:rPr>
              <a:t>&gt;:</a:t>
            </a:r>
            <a:r>
              <a:rPr lang="en-US" sz="2400" dirty="0"/>
              <a:t> Greater than</a:t>
            </a:r>
          </a:p>
          <a:p>
            <a:pPr marL="0" indent="0">
              <a:buNone/>
            </a:pPr>
            <a:r>
              <a:rPr lang="en-US" sz="2400" b="1" dirty="0">
                <a:solidFill>
                  <a:srgbClr val="E3874F"/>
                </a:solidFill>
              </a:rPr>
              <a:t>&gt;=:</a:t>
            </a:r>
            <a:r>
              <a:rPr lang="en-US" sz="2400" dirty="0"/>
              <a:t> Greater than or equal to</a:t>
            </a:r>
          </a:p>
          <a:p>
            <a:pPr marL="0" indent="0">
              <a:buNone/>
            </a:pPr>
            <a:r>
              <a:rPr lang="en-US" sz="2400" b="1" dirty="0">
                <a:solidFill>
                  <a:srgbClr val="E3874F"/>
                </a:solidFill>
              </a:rPr>
              <a:t>&lt;:</a:t>
            </a:r>
            <a:r>
              <a:rPr lang="en-US" sz="2400" dirty="0"/>
              <a:t> Less than</a:t>
            </a:r>
          </a:p>
          <a:p>
            <a:pPr marL="0" indent="0">
              <a:buNone/>
            </a:pPr>
            <a:r>
              <a:rPr lang="en-US" sz="2400" b="1" dirty="0">
                <a:solidFill>
                  <a:srgbClr val="E3874F"/>
                </a:solidFill>
              </a:rPr>
              <a:t>&lt;=: </a:t>
            </a:r>
            <a:r>
              <a:rPr lang="en-US" sz="2400" dirty="0"/>
              <a:t>Less than or equal to</a:t>
            </a:r>
          </a:p>
          <a:p>
            <a:pPr marL="0" indent="0">
              <a:buNone/>
            </a:pPr>
            <a:r>
              <a:rPr lang="en-US" sz="2400" b="1" dirty="0">
                <a:solidFill>
                  <a:srgbClr val="E3874F"/>
                </a:solidFill>
              </a:rPr>
              <a:t>&amp;:</a:t>
            </a:r>
            <a:r>
              <a:rPr lang="en-US" sz="2400" dirty="0"/>
              <a:t> Boolean And</a:t>
            </a:r>
          </a:p>
          <a:p>
            <a:pPr marL="0" indent="0">
              <a:buNone/>
            </a:pPr>
            <a:r>
              <a:rPr lang="en-US" sz="2400" b="1" dirty="0">
                <a:solidFill>
                  <a:srgbClr val="E3874F"/>
                </a:solidFill>
              </a:rPr>
              <a:t>|:</a:t>
            </a:r>
            <a:r>
              <a:rPr lang="en-US" sz="2400" dirty="0"/>
              <a:t> Boolean Or</a:t>
            </a:r>
          </a:p>
          <a:p>
            <a:pPr marL="0" indent="0">
              <a:buNone/>
            </a:pPr>
            <a:r>
              <a:rPr lang="en-US" sz="2400" b="1" dirty="0">
                <a:solidFill>
                  <a:srgbClr val="E3874F"/>
                </a:solidFill>
              </a:rPr>
              <a:t>^:</a:t>
            </a:r>
            <a:r>
              <a:rPr lang="en-US" sz="2400" dirty="0"/>
              <a:t> Boolean </a:t>
            </a:r>
            <a:r>
              <a:rPr lang="en-US" sz="2400" dirty="0" err="1"/>
              <a:t>XOr</a:t>
            </a:r>
            <a:endParaRPr lang="en-US" sz="2400" dirty="0"/>
          </a:p>
          <a:p>
            <a:pPr marL="0" indent="0">
              <a:buNone/>
            </a:pPr>
            <a:r>
              <a:rPr lang="en-US" sz="2400" b="1" dirty="0">
                <a:solidFill>
                  <a:srgbClr val="E3874F"/>
                </a:solidFill>
              </a:rPr>
              <a:t>~:</a:t>
            </a:r>
            <a:r>
              <a:rPr lang="en-US" sz="2400" dirty="0"/>
              <a:t> Boolean Not</a:t>
            </a:r>
          </a:p>
          <a:p>
            <a:endParaRPr lang="en-US" sz="2400" dirty="0"/>
          </a:p>
        </p:txBody>
      </p:sp>
      <p:sp>
        <p:nvSpPr>
          <p:cNvPr id="2" name="Slide Number Placeholder 1">
            <a:extLst>
              <a:ext uri="{FF2B5EF4-FFF2-40B4-BE49-F238E27FC236}">
                <a16:creationId xmlns:a16="http://schemas.microsoft.com/office/drawing/2014/main" id="{200B4756-8019-4F63-9F70-C9FA640BEEB7}"/>
              </a:ext>
            </a:extLst>
          </p:cNvPr>
          <p:cNvSpPr>
            <a:spLocks noGrp="1"/>
          </p:cNvSpPr>
          <p:nvPr>
            <p:ph type="sldNum" sz="quarter" idx="12"/>
          </p:nvPr>
        </p:nvSpPr>
        <p:spPr/>
        <p:txBody>
          <a:bodyPr/>
          <a:lstStyle/>
          <a:p>
            <a:fld id="{127DDC20-79C9-9647-820E-6D40A3D210C3}" type="slidenum">
              <a:rPr lang="en-US" smtClean="0"/>
              <a:pPr/>
              <a:t>14</a:t>
            </a:fld>
            <a:endParaRPr lang="en-US"/>
          </a:p>
        </p:txBody>
      </p:sp>
      <p:cxnSp>
        <p:nvCxnSpPr>
          <p:cNvPr id="4" name="Straight Connector 3">
            <a:extLst>
              <a:ext uri="{FF2B5EF4-FFF2-40B4-BE49-F238E27FC236}">
                <a16:creationId xmlns:a16="http://schemas.microsoft.com/office/drawing/2014/main" id="{475593AF-EE6D-400B-A5EB-A49779F72582}"/>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16837E5-C9FD-464E-A7EF-0A647232BB5F}"/>
              </a:ext>
            </a:extLst>
          </p:cNvPr>
          <p:cNvSpPr txBox="1">
            <a:spLocks/>
          </p:cNvSpPr>
          <p:nvPr/>
        </p:nvSpPr>
        <p:spPr>
          <a:xfrm>
            <a:off x="189218" y="177306"/>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Some useful functions</a:t>
            </a:r>
            <a:endParaRPr lang="en-US" sz="2600" dirty="0">
              <a:solidFill>
                <a:srgbClr val="7030A0"/>
              </a:solidFill>
            </a:endParaRPr>
          </a:p>
        </p:txBody>
      </p:sp>
    </p:spTree>
    <p:extLst>
      <p:ext uri="{BB962C8B-B14F-4D97-AF65-F5344CB8AC3E}">
        <p14:creationId xmlns:p14="http://schemas.microsoft.com/office/powerpoint/2010/main" val="40064968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custDataLst>
              <p:tags r:id="rId1"/>
            </p:custDataLst>
          </p:nvPr>
        </p:nvSpPr>
        <p:spPr>
          <a:xfrm>
            <a:off x="618979" y="1105779"/>
            <a:ext cx="7244862" cy="3310571"/>
          </a:xfrm>
        </p:spPr>
        <p:txBody>
          <a:bodyPr numCol="2">
            <a:normAutofit/>
          </a:bodyPr>
          <a:lstStyle/>
          <a:p>
            <a:pPr marL="0" indent="0">
              <a:buNone/>
            </a:pPr>
            <a:r>
              <a:rPr lang="en-US" sz="2000" b="1" dirty="0">
                <a:solidFill>
                  <a:srgbClr val="E3874F"/>
                </a:solidFill>
              </a:rPr>
              <a:t>Abs: </a:t>
            </a:r>
            <a:r>
              <a:rPr lang="en-US" sz="2000" dirty="0"/>
              <a:t>Absolute value</a:t>
            </a:r>
          </a:p>
          <a:p>
            <a:pPr marL="0" indent="0">
              <a:buNone/>
            </a:pPr>
            <a:r>
              <a:rPr lang="en-US" sz="2000" b="1" dirty="0" err="1">
                <a:solidFill>
                  <a:srgbClr val="E3874F"/>
                </a:solidFill>
              </a:rPr>
              <a:t>Exp</a:t>
            </a:r>
            <a:r>
              <a:rPr lang="en-US" sz="2000" b="1" dirty="0">
                <a:solidFill>
                  <a:srgbClr val="E3874F"/>
                </a:solidFill>
              </a:rPr>
              <a:t>: </a:t>
            </a:r>
            <a:r>
              <a:rPr lang="en-US" sz="2000" dirty="0"/>
              <a:t>Base e exponential</a:t>
            </a:r>
          </a:p>
          <a:p>
            <a:pPr marL="0" indent="0">
              <a:buNone/>
            </a:pPr>
            <a:r>
              <a:rPr lang="en-US" sz="2000" b="1" dirty="0">
                <a:solidFill>
                  <a:srgbClr val="E3874F"/>
                </a:solidFill>
              </a:rPr>
              <a:t>Exp10: </a:t>
            </a:r>
            <a:r>
              <a:rPr lang="en-US" sz="2000" dirty="0"/>
              <a:t>Base 10 exponential</a:t>
            </a:r>
          </a:p>
          <a:p>
            <a:pPr marL="0" indent="0">
              <a:buNone/>
            </a:pPr>
            <a:r>
              <a:rPr lang="en-US" sz="2000" b="1" dirty="0">
                <a:solidFill>
                  <a:srgbClr val="E3874F"/>
                </a:solidFill>
              </a:rPr>
              <a:t>Exp2: </a:t>
            </a:r>
            <a:r>
              <a:rPr lang="en-US" sz="2000" dirty="0"/>
              <a:t>Base 2 exponential</a:t>
            </a:r>
          </a:p>
          <a:p>
            <a:pPr marL="0" indent="0">
              <a:buNone/>
            </a:pPr>
            <a:r>
              <a:rPr lang="en-US" sz="2000" b="1" dirty="0">
                <a:solidFill>
                  <a:srgbClr val="E3874F"/>
                </a:solidFill>
              </a:rPr>
              <a:t>Float: </a:t>
            </a:r>
            <a:r>
              <a:rPr lang="en-US" sz="2000" dirty="0"/>
              <a:t>Convert from integer to float</a:t>
            </a:r>
          </a:p>
          <a:p>
            <a:pPr marL="0" indent="0">
              <a:buNone/>
            </a:pPr>
            <a:r>
              <a:rPr lang="en-US" sz="2000" b="1" dirty="0" err="1">
                <a:solidFill>
                  <a:srgbClr val="E3874F"/>
                </a:solidFill>
              </a:rPr>
              <a:t>Int</a:t>
            </a:r>
            <a:r>
              <a:rPr lang="en-US" sz="2000" b="1" dirty="0">
                <a:solidFill>
                  <a:srgbClr val="E3874F"/>
                </a:solidFill>
              </a:rPr>
              <a:t>: </a:t>
            </a:r>
            <a:r>
              <a:rPr lang="en-US" sz="2000" dirty="0"/>
              <a:t>Convert from float to integer</a:t>
            </a:r>
          </a:p>
          <a:p>
            <a:pPr marL="0" indent="0">
              <a:buNone/>
            </a:pPr>
            <a:r>
              <a:rPr lang="en-US" sz="2000" b="1" dirty="0">
                <a:solidFill>
                  <a:srgbClr val="E3874F"/>
                </a:solidFill>
              </a:rPr>
              <a:t>Ln: </a:t>
            </a:r>
            <a:r>
              <a:rPr lang="en-US" sz="2000" dirty="0"/>
              <a:t>Natural log</a:t>
            </a:r>
          </a:p>
          <a:p>
            <a:pPr marL="0" indent="0">
              <a:buNone/>
            </a:pPr>
            <a:r>
              <a:rPr lang="en-US" sz="2000" b="1" dirty="0">
                <a:solidFill>
                  <a:srgbClr val="E3874F"/>
                </a:solidFill>
              </a:rPr>
              <a:t>Log10: </a:t>
            </a:r>
            <a:r>
              <a:rPr lang="en-US" sz="2000" dirty="0"/>
              <a:t>Base 10 log</a:t>
            </a:r>
          </a:p>
          <a:p>
            <a:pPr marL="0" indent="0">
              <a:buNone/>
            </a:pPr>
            <a:r>
              <a:rPr lang="en-US" sz="2000" b="1" dirty="0">
                <a:solidFill>
                  <a:srgbClr val="E3874F"/>
                </a:solidFill>
              </a:rPr>
              <a:t>Log: </a:t>
            </a:r>
            <a:r>
              <a:rPr lang="en-US" sz="2000" dirty="0"/>
              <a:t>Bas 2 log</a:t>
            </a:r>
          </a:p>
          <a:p>
            <a:pPr marL="0" indent="0">
              <a:buNone/>
            </a:pPr>
            <a:r>
              <a:rPr lang="en-US" sz="2000" b="1" dirty="0">
                <a:solidFill>
                  <a:srgbClr val="E3874F"/>
                </a:solidFill>
              </a:rPr>
              <a:t>Square: </a:t>
            </a:r>
            <a:r>
              <a:rPr lang="en-US" sz="2000" dirty="0"/>
              <a:t>Calculates square</a:t>
            </a:r>
          </a:p>
          <a:p>
            <a:pPr marL="0" indent="0">
              <a:buNone/>
            </a:pPr>
            <a:r>
              <a:rPr lang="en-US" sz="2000" b="1" dirty="0" err="1">
                <a:solidFill>
                  <a:srgbClr val="E3874F"/>
                </a:solidFill>
              </a:rPr>
              <a:t>SquareRoot</a:t>
            </a:r>
            <a:r>
              <a:rPr lang="en-US" sz="2000" b="1" dirty="0">
                <a:solidFill>
                  <a:srgbClr val="E3874F"/>
                </a:solidFill>
              </a:rPr>
              <a:t>: </a:t>
            </a:r>
            <a:r>
              <a:rPr lang="en-US" sz="2000" dirty="0"/>
              <a:t>Calculates square root</a:t>
            </a:r>
          </a:p>
          <a:p>
            <a:pPr marL="0" indent="0">
              <a:buNone/>
            </a:pPr>
            <a:r>
              <a:rPr lang="en-US" sz="2000" b="1" dirty="0" err="1">
                <a:solidFill>
                  <a:srgbClr val="E3874F"/>
                </a:solidFill>
              </a:rPr>
              <a:t>IsNull</a:t>
            </a:r>
            <a:r>
              <a:rPr lang="en-US" sz="2000" b="1" dirty="0">
                <a:solidFill>
                  <a:srgbClr val="E3874F"/>
                </a:solidFill>
              </a:rPr>
              <a:t>: </a:t>
            </a:r>
            <a:r>
              <a:rPr lang="en-US" sz="2000" dirty="0"/>
              <a:t>Identifies NoData cells</a:t>
            </a:r>
          </a:p>
          <a:p>
            <a:pPr marL="0" indent="0">
              <a:buNone/>
            </a:pPr>
            <a:endParaRPr lang="en-US" sz="2000" dirty="0"/>
          </a:p>
        </p:txBody>
      </p:sp>
      <p:sp>
        <p:nvSpPr>
          <p:cNvPr id="2" name="Slide Number Placeholder 1">
            <a:extLst>
              <a:ext uri="{FF2B5EF4-FFF2-40B4-BE49-F238E27FC236}">
                <a16:creationId xmlns:a16="http://schemas.microsoft.com/office/drawing/2014/main" id="{AEC9F4A8-673A-47BE-B564-2EF5F1955A43}"/>
              </a:ext>
            </a:extLst>
          </p:cNvPr>
          <p:cNvSpPr>
            <a:spLocks noGrp="1"/>
          </p:cNvSpPr>
          <p:nvPr>
            <p:ph type="sldNum" sz="quarter" idx="12"/>
          </p:nvPr>
        </p:nvSpPr>
        <p:spPr/>
        <p:txBody>
          <a:bodyPr/>
          <a:lstStyle/>
          <a:p>
            <a:fld id="{127DDC20-79C9-9647-820E-6D40A3D210C3}" type="slidenum">
              <a:rPr lang="en-US" smtClean="0"/>
              <a:pPr/>
              <a:t>15</a:t>
            </a:fld>
            <a:endParaRPr lang="en-US"/>
          </a:p>
        </p:txBody>
      </p:sp>
      <p:cxnSp>
        <p:nvCxnSpPr>
          <p:cNvPr id="5" name="Straight Connector 4">
            <a:extLst>
              <a:ext uri="{FF2B5EF4-FFF2-40B4-BE49-F238E27FC236}">
                <a16:creationId xmlns:a16="http://schemas.microsoft.com/office/drawing/2014/main" id="{8F7DD521-2471-4036-8C51-0CAD3D621FBA}"/>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 name="Title 1">
            <a:extLst>
              <a:ext uri="{FF2B5EF4-FFF2-40B4-BE49-F238E27FC236}">
                <a16:creationId xmlns:a16="http://schemas.microsoft.com/office/drawing/2014/main" id="{A5D8F606-C548-406E-85AE-FBA813F68AA9}"/>
              </a:ext>
            </a:extLst>
          </p:cNvPr>
          <p:cNvSpPr txBox="1">
            <a:spLocks/>
          </p:cNvSpPr>
          <p:nvPr/>
        </p:nvSpPr>
        <p:spPr>
          <a:xfrm>
            <a:off x="202810" y="185695"/>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Some useful functions</a:t>
            </a:r>
            <a:endParaRPr lang="en-US" sz="2600" dirty="0">
              <a:solidFill>
                <a:srgbClr val="7030A0"/>
              </a:solidFill>
            </a:endParaRPr>
          </a:p>
        </p:txBody>
      </p:sp>
    </p:spTree>
    <p:extLst>
      <p:ext uri="{BB962C8B-B14F-4D97-AF65-F5344CB8AC3E}">
        <p14:creationId xmlns:p14="http://schemas.microsoft.com/office/powerpoint/2010/main" val="40201469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custDataLst>
              <p:tags r:id="rId1"/>
            </p:custDataLst>
          </p:nvPr>
        </p:nvSpPr>
        <p:spPr>
          <a:xfrm>
            <a:off x="281354" y="1107347"/>
            <a:ext cx="7829713" cy="3852595"/>
          </a:xfrm>
        </p:spPr>
        <p:txBody>
          <a:bodyPr>
            <a:noAutofit/>
          </a:bodyPr>
          <a:lstStyle/>
          <a:p>
            <a:pPr>
              <a:buFont typeface="Courier New" panose="02070309020205020404" pitchFamily="49" charset="0"/>
              <a:buChar char="o"/>
            </a:pPr>
            <a:r>
              <a:rPr lang="en-US" sz="2400" dirty="0"/>
              <a:t>Con(set condition, what to return if true, what to return if false)</a:t>
            </a:r>
          </a:p>
          <a:p>
            <a:pPr marL="0" indent="0">
              <a:buNone/>
            </a:pPr>
            <a:endParaRPr lang="en-US" sz="2400" dirty="0"/>
          </a:p>
          <a:p>
            <a:pPr marL="0" indent="0">
              <a:buNone/>
            </a:pPr>
            <a:r>
              <a:rPr lang="en-US" sz="2400" dirty="0"/>
              <a:t>Example:</a:t>
            </a:r>
          </a:p>
          <a:p>
            <a:pPr marL="0" indent="0">
              <a:buNone/>
            </a:pPr>
            <a:r>
              <a:rPr lang="en-US" sz="2400" dirty="0"/>
              <a:t> Con(“</a:t>
            </a:r>
            <a:r>
              <a:rPr lang="en-US" sz="2400" dirty="0" err="1"/>
              <a:t>Land_Cover</a:t>
            </a:r>
            <a:r>
              <a:rPr lang="en-US" sz="2400" dirty="0"/>
              <a:t>" = 41, 1, 0)</a:t>
            </a:r>
          </a:p>
          <a:p>
            <a:pPr marL="0" indent="0">
              <a:buNone/>
            </a:pPr>
            <a:r>
              <a:rPr lang="en-US" sz="2400" dirty="0"/>
              <a:t>If the land cover raster grid is assigned a value of 41 (deciduous forest), return 1. If the land cover grid is assigned any other value, return 0.</a:t>
            </a:r>
          </a:p>
          <a:p>
            <a:pPr marL="0" indent="0">
              <a:buNone/>
            </a:pPr>
            <a:endParaRPr lang="en-US" sz="2400" dirty="0"/>
          </a:p>
        </p:txBody>
      </p:sp>
      <p:sp>
        <p:nvSpPr>
          <p:cNvPr id="2" name="Slide Number Placeholder 1">
            <a:extLst>
              <a:ext uri="{FF2B5EF4-FFF2-40B4-BE49-F238E27FC236}">
                <a16:creationId xmlns:a16="http://schemas.microsoft.com/office/drawing/2014/main" id="{0348C5CB-4A1A-4F09-A83C-2F375F159CCE}"/>
              </a:ext>
            </a:extLst>
          </p:cNvPr>
          <p:cNvSpPr>
            <a:spLocks noGrp="1"/>
          </p:cNvSpPr>
          <p:nvPr>
            <p:ph type="sldNum" sz="quarter" idx="12"/>
          </p:nvPr>
        </p:nvSpPr>
        <p:spPr/>
        <p:txBody>
          <a:bodyPr/>
          <a:lstStyle/>
          <a:p>
            <a:fld id="{127DDC20-79C9-9647-820E-6D40A3D210C3}" type="slidenum">
              <a:rPr lang="en-US" smtClean="0"/>
              <a:pPr/>
              <a:t>16</a:t>
            </a:fld>
            <a:endParaRPr lang="en-US"/>
          </a:p>
        </p:txBody>
      </p:sp>
      <p:cxnSp>
        <p:nvCxnSpPr>
          <p:cNvPr id="4" name="Straight Connector 3">
            <a:extLst>
              <a:ext uri="{FF2B5EF4-FFF2-40B4-BE49-F238E27FC236}">
                <a16:creationId xmlns:a16="http://schemas.microsoft.com/office/drawing/2014/main" id="{4CD6371B-6DDE-4AC9-8B83-5DAE055218E0}"/>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09D4732C-4EAA-41F5-B3F2-A92297ED5256}"/>
              </a:ext>
            </a:extLst>
          </p:cNvPr>
          <p:cNvSpPr txBox="1">
            <a:spLocks/>
          </p:cNvSpPr>
          <p:nvPr/>
        </p:nvSpPr>
        <p:spPr>
          <a:xfrm>
            <a:off x="157610" y="18355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Conditional statements</a:t>
            </a:r>
            <a:endParaRPr lang="en-US" sz="2600" dirty="0">
              <a:solidFill>
                <a:srgbClr val="7030A0"/>
              </a:solidFill>
            </a:endParaRPr>
          </a:p>
        </p:txBody>
      </p:sp>
    </p:spTree>
    <p:extLst>
      <p:ext uri="{BB962C8B-B14F-4D97-AF65-F5344CB8AC3E}">
        <p14:creationId xmlns:p14="http://schemas.microsoft.com/office/powerpoint/2010/main" val="31936483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custDataLst>
              <p:tags r:id="rId1"/>
            </p:custDataLst>
          </p:nvPr>
        </p:nvSpPr>
        <p:spPr>
          <a:xfrm>
            <a:off x="319043" y="1083843"/>
            <a:ext cx="6807810" cy="1487905"/>
          </a:xfrm>
        </p:spPr>
        <p:txBody>
          <a:bodyPr>
            <a:noAutofit/>
          </a:bodyPr>
          <a:lstStyle/>
          <a:p>
            <a:pPr>
              <a:buFont typeface="Courier New" panose="02070309020205020404" pitchFamily="49" charset="0"/>
              <a:buChar char="o"/>
            </a:pPr>
            <a:r>
              <a:rPr lang="en-US" sz="2400" dirty="0"/>
              <a:t>NoData cells return </a:t>
            </a:r>
            <a:r>
              <a:rPr lang="en-US" sz="2400" dirty="0" err="1"/>
              <a:t>NoData</a:t>
            </a:r>
            <a:r>
              <a:rPr lang="en-US" sz="2400" dirty="0"/>
              <a:t>!!!!!!</a:t>
            </a:r>
          </a:p>
          <a:p>
            <a:pPr>
              <a:buFont typeface="Courier New" panose="02070309020205020404" pitchFamily="49" charset="0"/>
              <a:buChar char="o"/>
            </a:pPr>
            <a:r>
              <a:rPr lang="en-US" sz="2400" dirty="0"/>
              <a:t>Operations are only completed where all cell values are available</a:t>
            </a:r>
          </a:p>
        </p:txBody>
      </p:sp>
      <p:sp>
        <p:nvSpPr>
          <p:cNvPr id="2" name="Slide Number Placeholder 1">
            <a:extLst>
              <a:ext uri="{FF2B5EF4-FFF2-40B4-BE49-F238E27FC236}">
                <a16:creationId xmlns:a16="http://schemas.microsoft.com/office/drawing/2014/main" id="{F7086647-C7C3-46C1-A85E-12E7C2C9677D}"/>
              </a:ext>
            </a:extLst>
          </p:cNvPr>
          <p:cNvSpPr>
            <a:spLocks noGrp="1"/>
          </p:cNvSpPr>
          <p:nvPr>
            <p:ph type="sldNum" sz="quarter" idx="12"/>
          </p:nvPr>
        </p:nvSpPr>
        <p:spPr/>
        <p:txBody>
          <a:bodyPr/>
          <a:lstStyle/>
          <a:p>
            <a:fld id="{127DDC20-79C9-9647-820E-6D40A3D210C3}" type="slidenum">
              <a:rPr lang="en-US" smtClean="0"/>
              <a:pPr/>
              <a:t>17</a:t>
            </a:fld>
            <a:endParaRPr lang="en-US"/>
          </a:p>
        </p:txBody>
      </p:sp>
      <p:graphicFrame>
        <p:nvGraphicFramePr>
          <p:cNvPr id="6" name="Table 5"/>
          <p:cNvGraphicFramePr>
            <a:graphicFrameLocks noGrp="1"/>
          </p:cNvGraphicFramePr>
          <p:nvPr>
            <p:custDataLst>
              <p:tags r:id="rId2"/>
            </p:custDataLst>
          </p:nvPr>
        </p:nvGraphicFramePr>
        <p:xfrm>
          <a:off x="1027895" y="3398960"/>
          <a:ext cx="1394727" cy="1024932"/>
        </p:xfrm>
        <a:graphic>
          <a:graphicData uri="http://schemas.openxmlformats.org/drawingml/2006/table">
            <a:tbl>
              <a:tblPr>
                <a:tableStyleId>{6E25E649-3F16-4E02-A733-19D2CDBF48F0}</a:tableStyleId>
              </a:tblPr>
              <a:tblGrid>
                <a:gridCol w="464909">
                  <a:extLst>
                    <a:ext uri="{9D8B030D-6E8A-4147-A177-3AD203B41FA5}">
                      <a16:colId xmlns:a16="http://schemas.microsoft.com/office/drawing/2014/main" val="2741754113"/>
                    </a:ext>
                  </a:extLst>
                </a:gridCol>
                <a:gridCol w="464909">
                  <a:extLst>
                    <a:ext uri="{9D8B030D-6E8A-4147-A177-3AD203B41FA5}">
                      <a16:colId xmlns:a16="http://schemas.microsoft.com/office/drawing/2014/main" val="3847173035"/>
                    </a:ext>
                  </a:extLst>
                </a:gridCol>
                <a:gridCol w="464909">
                  <a:extLst>
                    <a:ext uri="{9D8B030D-6E8A-4147-A177-3AD203B41FA5}">
                      <a16:colId xmlns:a16="http://schemas.microsoft.com/office/drawing/2014/main" val="2831503961"/>
                    </a:ext>
                  </a:extLst>
                </a:gridCol>
              </a:tblGrid>
              <a:tr h="341644">
                <a:tc>
                  <a:txBody>
                    <a:bodyPr/>
                    <a:lstStyle/>
                    <a:p>
                      <a:pPr algn="ctr" fontAlgn="b"/>
                      <a:r>
                        <a:rPr lang="en-US" sz="1200" b="0" i="0" u="none" strike="noStrike" dirty="0">
                          <a:solidFill>
                            <a:schemeClr val="tx1"/>
                          </a:solidFill>
                          <a:effectLst/>
                          <a:latin typeface="Calibri" panose="020F0502020204030204" pitchFamily="34" charset="0"/>
                        </a:rPr>
                        <a:t>1</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b="0" i="0" u="none" strike="noStrike" dirty="0">
                          <a:solidFill>
                            <a:schemeClr val="tx1"/>
                          </a:solidFill>
                          <a:effectLst/>
                          <a:latin typeface="Calibri" panose="020F0502020204030204" pitchFamily="34" charset="0"/>
                        </a:rPr>
                        <a:t>0</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b="0" i="0" u="none" strike="noStrike" dirty="0">
                          <a:solidFill>
                            <a:schemeClr val="tx1"/>
                          </a:solidFill>
                          <a:effectLst/>
                          <a:latin typeface="Calibri" panose="020F0502020204030204" pitchFamily="34" charset="0"/>
                        </a:rPr>
                        <a:t>1</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37826849"/>
                  </a:ext>
                </a:extLst>
              </a:tr>
              <a:tr h="341644">
                <a:tc>
                  <a:txBody>
                    <a:bodyPr/>
                    <a:lstStyle/>
                    <a:p>
                      <a:pPr algn="ctr" fontAlgn="b"/>
                      <a:r>
                        <a:rPr lang="en-US" sz="1200" b="0" i="0" u="none" strike="noStrike" dirty="0">
                          <a:solidFill>
                            <a:schemeClr val="tx1"/>
                          </a:solidFill>
                          <a:effectLst/>
                          <a:latin typeface="Calibri" panose="020F0502020204030204" pitchFamily="34" charset="0"/>
                        </a:rPr>
                        <a:t>0</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b="0" i="0" u="none" strike="noStrike" dirty="0">
                          <a:solidFill>
                            <a:schemeClr val="tx1"/>
                          </a:solidFill>
                          <a:effectLst/>
                          <a:latin typeface="Calibri" panose="020F0502020204030204" pitchFamily="34" charset="0"/>
                        </a:rPr>
                        <a:t>0</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b="0" i="0" u="none" strike="noStrike" dirty="0">
                          <a:solidFill>
                            <a:schemeClr val="tx1"/>
                          </a:solidFill>
                          <a:effectLst/>
                          <a:latin typeface="Calibri" panose="020F0502020204030204" pitchFamily="34" charset="0"/>
                        </a:rPr>
                        <a:t>1</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56786408"/>
                  </a:ext>
                </a:extLst>
              </a:tr>
              <a:tr h="341644">
                <a:tc>
                  <a:txBody>
                    <a:bodyPr/>
                    <a:lstStyle/>
                    <a:p>
                      <a:pPr algn="ctr" fontAlgn="b"/>
                      <a:r>
                        <a:rPr lang="en-US" sz="1200" u="none" strike="noStrike" dirty="0">
                          <a:solidFill>
                            <a:schemeClr val="tx1"/>
                          </a:solidFill>
                          <a:effectLst/>
                        </a:rPr>
                        <a:t> </a:t>
                      </a:r>
                      <a:r>
                        <a:rPr lang="en-US" sz="900" u="none" strike="noStrike" dirty="0">
                          <a:solidFill>
                            <a:schemeClr val="tx1"/>
                          </a:solidFill>
                          <a:effectLst/>
                        </a:rPr>
                        <a:t>NoData</a:t>
                      </a:r>
                      <a:endParaRPr lang="en-US" sz="9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b="0" i="0" u="none" strike="noStrike" dirty="0">
                          <a:solidFill>
                            <a:schemeClr val="tx1"/>
                          </a:solidFill>
                          <a:effectLst/>
                          <a:latin typeface="Calibri" panose="020F0502020204030204" pitchFamily="34" charset="0"/>
                        </a:rPr>
                        <a:t>1</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b="0" i="0" u="none" strike="noStrike" dirty="0">
                          <a:solidFill>
                            <a:schemeClr val="tx1"/>
                          </a:solidFill>
                          <a:effectLst/>
                          <a:latin typeface="Calibri" panose="020F0502020204030204" pitchFamily="34" charset="0"/>
                        </a:rPr>
                        <a:t>1</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75086253"/>
                  </a:ext>
                </a:extLst>
              </a:tr>
            </a:tbl>
          </a:graphicData>
        </a:graphic>
      </p:graphicFrame>
      <p:graphicFrame>
        <p:nvGraphicFramePr>
          <p:cNvPr id="7" name="Table 6"/>
          <p:cNvGraphicFramePr>
            <a:graphicFrameLocks noGrp="1"/>
          </p:cNvGraphicFramePr>
          <p:nvPr>
            <p:custDataLst>
              <p:tags r:id="rId3"/>
            </p:custDataLst>
          </p:nvPr>
        </p:nvGraphicFramePr>
        <p:xfrm>
          <a:off x="3165813" y="3398959"/>
          <a:ext cx="1394727" cy="1024932"/>
        </p:xfrm>
        <a:graphic>
          <a:graphicData uri="http://schemas.openxmlformats.org/drawingml/2006/table">
            <a:tbl>
              <a:tblPr>
                <a:tableStyleId>{6E25E649-3F16-4E02-A733-19D2CDBF48F0}</a:tableStyleId>
              </a:tblPr>
              <a:tblGrid>
                <a:gridCol w="464909">
                  <a:extLst>
                    <a:ext uri="{9D8B030D-6E8A-4147-A177-3AD203B41FA5}">
                      <a16:colId xmlns:a16="http://schemas.microsoft.com/office/drawing/2014/main" val="2741754113"/>
                    </a:ext>
                  </a:extLst>
                </a:gridCol>
                <a:gridCol w="464909">
                  <a:extLst>
                    <a:ext uri="{9D8B030D-6E8A-4147-A177-3AD203B41FA5}">
                      <a16:colId xmlns:a16="http://schemas.microsoft.com/office/drawing/2014/main" val="3847173035"/>
                    </a:ext>
                  </a:extLst>
                </a:gridCol>
                <a:gridCol w="464909">
                  <a:extLst>
                    <a:ext uri="{9D8B030D-6E8A-4147-A177-3AD203B41FA5}">
                      <a16:colId xmlns:a16="http://schemas.microsoft.com/office/drawing/2014/main" val="2831503961"/>
                    </a:ext>
                  </a:extLst>
                </a:gridCol>
              </a:tblGrid>
              <a:tr h="341644">
                <a:tc>
                  <a:txBody>
                    <a:bodyPr/>
                    <a:lstStyle/>
                    <a:p>
                      <a:pPr algn="ctr" fontAlgn="b"/>
                      <a:r>
                        <a:rPr lang="en-US" sz="1200" b="0" i="0" u="none" strike="noStrike" dirty="0">
                          <a:solidFill>
                            <a:schemeClr val="tx1"/>
                          </a:solidFill>
                          <a:effectLst/>
                          <a:latin typeface="Calibri" panose="020F0502020204030204" pitchFamily="34" charset="0"/>
                        </a:rPr>
                        <a:t>1</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900" b="0" i="0" u="none" strike="noStrike" dirty="0">
                          <a:solidFill>
                            <a:schemeClr val="tx1"/>
                          </a:solidFill>
                          <a:effectLst/>
                          <a:latin typeface="Calibri" panose="020F0502020204030204" pitchFamily="34" charset="0"/>
                        </a:rPr>
                        <a:t>NoData</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b="0" i="0" u="none" strike="noStrike" dirty="0">
                          <a:solidFill>
                            <a:schemeClr val="tx1"/>
                          </a:solidFill>
                          <a:effectLst/>
                          <a:latin typeface="Calibri" panose="020F0502020204030204" pitchFamily="34" charset="0"/>
                        </a:rPr>
                        <a:t>1</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37826849"/>
                  </a:ext>
                </a:extLst>
              </a:tr>
              <a:tr h="341644">
                <a:tc>
                  <a:txBody>
                    <a:bodyPr/>
                    <a:lstStyle/>
                    <a:p>
                      <a:pPr algn="ctr" fontAlgn="b"/>
                      <a:r>
                        <a:rPr lang="en-US" sz="1200" b="0" i="0" u="none" strike="noStrike" dirty="0">
                          <a:solidFill>
                            <a:schemeClr val="tx1"/>
                          </a:solidFill>
                          <a:effectLst/>
                          <a:latin typeface="Calibri" panose="020F0502020204030204" pitchFamily="34" charset="0"/>
                        </a:rPr>
                        <a:t>0</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b="0" i="0" u="none" strike="noStrike" dirty="0">
                          <a:solidFill>
                            <a:schemeClr val="tx1"/>
                          </a:solidFill>
                          <a:effectLst/>
                          <a:latin typeface="Calibri" panose="020F0502020204030204" pitchFamily="34" charset="0"/>
                        </a:rPr>
                        <a:t>1</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b="0" i="0" u="none" strike="noStrike" dirty="0">
                          <a:solidFill>
                            <a:schemeClr val="tx1"/>
                          </a:solidFill>
                          <a:effectLst/>
                          <a:latin typeface="Calibri" panose="020F0502020204030204" pitchFamily="34" charset="0"/>
                        </a:rPr>
                        <a:t>0</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56786408"/>
                  </a:ext>
                </a:extLst>
              </a:tr>
              <a:tr h="341644">
                <a:tc>
                  <a:txBody>
                    <a:bodyPr/>
                    <a:lstStyle/>
                    <a:p>
                      <a:pPr algn="ctr" fontAlgn="b"/>
                      <a:r>
                        <a:rPr lang="en-US" sz="1200" u="none" strike="noStrike" dirty="0">
                          <a:solidFill>
                            <a:schemeClr val="tx1"/>
                          </a:solidFill>
                          <a:effectLst/>
                        </a:rPr>
                        <a:t> </a:t>
                      </a:r>
                      <a:r>
                        <a:rPr lang="en-US" sz="900" u="none" strike="noStrike" dirty="0">
                          <a:solidFill>
                            <a:schemeClr val="tx1"/>
                          </a:solidFill>
                          <a:effectLst/>
                        </a:rPr>
                        <a:t>NoData</a:t>
                      </a:r>
                      <a:endParaRPr lang="en-US" sz="900" b="0" i="0" u="none" strike="noStrike" dirty="0">
                        <a:solidFill>
                          <a:schemeClr val="tx1"/>
                        </a:solidFill>
                        <a:effectLst/>
                        <a:latin typeface="Calibri" panose="020F0502020204030204" pitchFamily="34" charset="0"/>
                      </a:endParaRP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b="0" i="0" u="none" strike="noStrike" dirty="0">
                          <a:solidFill>
                            <a:schemeClr val="tx1"/>
                          </a:solidFill>
                          <a:effectLst/>
                          <a:latin typeface="Calibri" panose="020F0502020204030204" pitchFamily="34" charset="0"/>
                        </a:rPr>
                        <a:t>1</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900" b="0" i="0" u="none" strike="noStrike" dirty="0">
                          <a:solidFill>
                            <a:schemeClr val="tx1"/>
                          </a:solidFill>
                          <a:effectLst/>
                          <a:latin typeface="Calibri" panose="020F0502020204030204" pitchFamily="34" charset="0"/>
                        </a:rPr>
                        <a:t>NoData</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75086253"/>
                  </a:ext>
                </a:extLst>
              </a:tr>
            </a:tbl>
          </a:graphicData>
        </a:graphic>
      </p:graphicFrame>
      <p:graphicFrame>
        <p:nvGraphicFramePr>
          <p:cNvPr id="8" name="Table 7"/>
          <p:cNvGraphicFramePr>
            <a:graphicFrameLocks noGrp="1"/>
          </p:cNvGraphicFramePr>
          <p:nvPr>
            <p:custDataLst>
              <p:tags r:id="rId4"/>
            </p:custDataLst>
          </p:nvPr>
        </p:nvGraphicFramePr>
        <p:xfrm>
          <a:off x="6149820" y="3398960"/>
          <a:ext cx="1394727" cy="1024932"/>
        </p:xfrm>
        <a:graphic>
          <a:graphicData uri="http://schemas.openxmlformats.org/drawingml/2006/table">
            <a:tbl>
              <a:tblPr>
                <a:tableStyleId>{6E25E649-3F16-4E02-A733-19D2CDBF48F0}</a:tableStyleId>
              </a:tblPr>
              <a:tblGrid>
                <a:gridCol w="464909">
                  <a:extLst>
                    <a:ext uri="{9D8B030D-6E8A-4147-A177-3AD203B41FA5}">
                      <a16:colId xmlns:a16="http://schemas.microsoft.com/office/drawing/2014/main" val="2741754113"/>
                    </a:ext>
                  </a:extLst>
                </a:gridCol>
                <a:gridCol w="464909">
                  <a:extLst>
                    <a:ext uri="{9D8B030D-6E8A-4147-A177-3AD203B41FA5}">
                      <a16:colId xmlns:a16="http://schemas.microsoft.com/office/drawing/2014/main" val="3847173035"/>
                    </a:ext>
                  </a:extLst>
                </a:gridCol>
                <a:gridCol w="464909">
                  <a:extLst>
                    <a:ext uri="{9D8B030D-6E8A-4147-A177-3AD203B41FA5}">
                      <a16:colId xmlns:a16="http://schemas.microsoft.com/office/drawing/2014/main" val="2831503961"/>
                    </a:ext>
                  </a:extLst>
                </a:gridCol>
              </a:tblGrid>
              <a:tr h="341644">
                <a:tc>
                  <a:txBody>
                    <a:bodyPr/>
                    <a:lstStyle/>
                    <a:p>
                      <a:pPr algn="ctr" fontAlgn="b"/>
                      <a:r>
                        <a:rPr lang="en-US" sz="1200" b="0" i="0" u="none" strike="noStrike" dirty="0">
                          <a:solidFill>
                            <a:schemeClr val="tx1"/>
                          </a:solidFill>
                          <a:effectLst/>
                          <a:latin typeface="Calibri" panose="020F0502020204030204" pitchFamily="34" charset="0"/>
                        </a:rPr>
                        <a:t>1</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900" b="0" i="0" u="none" strike="noStrike" dirty="0">
                          <a:solidFill>
                            <a:schemeClr val="tx1"/>
                          </a:solidFill>
                          <a:effectLst/>
                          <a:latin typeface="Calibri" panose="020F0502020204030204" pitchFamily="34" charset="0"/>
                        </a:rPr>
                        <a:t>NoData</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b="0" i="0" u="none" strike="noStrike" dirty="0">
                          <a:solidFill>
                            <a:schemeClr val="tx1"/>
                          </a:solidFill>
                          <a:effectLst/>
                          <a:latin typeface="Calibri" panose="020F0502020204030204" pitchFamily="34" charset="0"/>
                        </a:rPr>
                        <a:t>1</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37826849"/>
                  </a:ext>
                </a:extLst>
              </a:tr>
              <a:tr h="341644">
                <a:tc>
                  <a:txBody>
                    <a:bodyPr/>
                    <a:lstStyle/>
                    <a:p>
                      <a:pPr algn="ctr" fontAlgn="b"/>
                      <a:r>
                        <a:rPr lang="en-US" sz="1200" b="0" i="0" u="none" strike="noStrike" dirty="0">
                          <a:solidFill>
                            <a:schemeClr val="tx1"/>
                          </a:solidFill>
                          <a:effectLst/>
                          <a:latin typeface="Calibri" panose="020F0502020204030204" pitchFamily="34" charset="0"/>
                        </a:rPr>
                        <a:t>0</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b="0" i="0" u="none" strike="noStrike" dirty="0">
                          <a:solidFill>
                            <a:schemeClr val="tx1"/>
                          </a:solidFill>
                          <a:effectLst/>
                          <a:latin typeface="Calibri" panose="020F0502020204030204" pitchFamily="34" charset="0"/>
                        </a:rPr>
                        <a:t>0</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b="0" i="0" u="none" strike="noStrike" dirty="0">
                          <a:solidFill>
                            <a:schemeClr val="tx1"/>
                          </a:solidFill>
                          <a:effectLst/>
                          <a:latin typeface="Calibri" panose="020F0502020204030204" pitchFamily="34" charset="0"/>
                        </a:rPr>
                        <a:t>0</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56786408"/>
                  </a:ext>
                </a:extLst>
              </a:tr>
              <a:tr h="341644">
                <a:tc>
                  <a:txBody>
                    <a:bodyPr/>
                    <a:lstStyle/>
                    <a:p>
                      <a:pPr algn="ctr" fontAlgn="b"/>
                      <a:r>
                        <a:rPr lang="en-US" sz="900" b="0" i="0" u="none" strike="noStrike" dirty="0">
                          <a:solidFill>
                            <a:schemeClr val="tx1"/>
                          </a:solidFill>
                          <a:effectLst/>
                          <a:latin typeface="Calibri" panose="020F0502020204030204" pitchFamily="34" charset="0"/>
                        </a:rPr>
                        <a:t>NoData</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b="0" i="0" u="none" strike="noStrike" dirty="0">
                          <a:solidFill>
                            <a:schemeClr val="tx1"/>
                          </a:solidFill>
                          <a:effectLst/>
                          <a:latin typeface="Calibri" panose="020F0502020204030204" pitchFamily="34" charset="0"/>
                        </a:rPr>
                        <a:t>1</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900" b="0" i="0" u="none" strike="noStrike" dirty="0">
                          <a:solidFill>
                            <a:schemeClr val="tx1"/>
                          </a:solidFill>
                          <a:effectLst/>
                          <a:latin typeface="Calibri" panose="020F0502020204030204" pitchFamily="34" charset="0"/>
                        </a:rPr>
                        <a:t>NoData</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75086253"/>
                  </a:ext>
                </a:extLst>
              </a:tr>
            </a:tbl>
          </a:graphicData>
        </a:graphic>
      </p:graphicFrame>
      <p:sp>
        <p:nvSpPr>
          <p:cNvPr id="9" name="TextBox 8"/>
          <p:cNvSpPr txBox="1"/>
          <p:nvPr>
            <p:custDataLst>
              <p:tags r:id="rId5"/>
            </p:custDataLst>
          </p:nvPr>
        </p:nvSpPr>
        <p:spPr>
          <a:xfrm>
            <a:off x="2532092" y="3506207"/>
            <a:ext cx="514484" cy="840551"/>
          </a:xfrm>
          <a:prstGeom prst="rect">
            <a:avLst/>
          </a:prstGeom>
          <a:noFill/>
        </p:spPr>
        <p:txBody>
          <a:bodyPr wrap="square" rtlCol="0">
            <a:spAutoFit/>
          </a:bodyPr>
          <a:lstStyle/>
          <a:p>
            <a:pPr>
              <a:lnSpc>
                <a:spcPct val="90000"/>
              </a:lnSpc>
            </a:pPr>
            <a:r>
              <a:rPr lang="en-US" sz="5402" dirty="0"/>
              <a:t>x</a:t>
            </a:r>
          </a:p>
        </p:txBody>
      </p:sp>
      <p:sp>
        <p:nvSpPr>
          <p:cNvPr id="10" name="TextBox 9"/>
          <p:cNvSpPr txBox="1"/>
          <p:nvPr>
            <p:custDataLst>
              <p:tags r:id="rId6"/>
            </p:custDataLst>
          </p:nvPr>
        </p:nvSpPr>
        <p:spPr>
          <a:xfrm>
            <a:off x="5046488" y="3506207"/>
            <a:ext cx="514484" cy="840551"/>
          </a:xfrm>
          <a:prstGeom prst="rect">
            <a:avLst/>
          </a:prstGeom>
          <a:noFill/>
        </p:spPr>
        <p:txBody>
          <a:bodyPr wrap="square" rtlCol="0">
            <a:spAutoFit/>
          </a:bodyPr>
          <a:lstStyle/>
          <a:p>
            <a:pPr>
              <a:lnSpc>
                <a:spcPct val="90000"/>
              </a:lnSpc>
            </a:pPr>
            <a:r>
              <a:rPr lang="en-US" sz="5402" dirty="0"/>
              <a:t>=</a:t>
            </a:r>
          </a:p>
        </p:txBody>
      </p:sp>
      <p:cxnSp>
        <p:nvCxnSpPr>
          <p:cNvPr id="11" name="Straight Connector 10">
            <a:extLst>
              <a:ext uri="{FF2B5EF4-FFF2-40B4-BE49-F238E27FC236}">
                <a16:creationId xmlns:a16="http://schemas.microsoft.com/office/drawing/2014/main" id="{EE2837C8-C623-49A8-BCCB-3906D285F9AE}"/>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2" name="Title 1">
            <a:extLst>
              <a:ext uri="{FF2B5EF4-FFF2-40B4-BE49-F238E27FC236}">
                <a16:creationId xmlns:a16="http://schemas.microsoft.com/office/drawing/2014/main" id="{3E02BC43-7971-4D0B-93E0-277AB1A027C5}"/>
              </a:ext>
            </a:extLst>
          </p:cNvPr>
          <p:cNvSpPr txBox="1">
            <a:spLocks/>
          </p:cNvSpPr>
          <p:nvPr/>
        </p:nvSpPr>
        <p:spPr>
          <a:xfrm>
            <a:off x="152400" y="26985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Impacts of </a:t>
            </a:r>
            <a:r>
              <a:rPr lang="en-US" sz="3200" dirty="0" err="1">
                <a:solidFill>
                  <a:srgbClr val="7030A0"/>
                </a:solidFill>
              </a:rPr>
              <a:t>NoData</a:t>
            </a:r>
            <a:r>
              <a:rPr lang="en-US" sz="3200" dirty="0">
                <a:solidFill>
                  <a:srgbClr val="7030A0"/>
                </a:solidFill>
              </a:rPr>
              <a:t> on Raster Math</a:t>
            </a:r>
            <a:endParaRPr lang="en-US" sz="2600" dirty="0">
              <a:solidFill>
                <a:srgbClr val="7030A0"/>
              </a:solidFill>
            </a:endParaRPr>
          </a:p>
        </p:txBody>
      </p:sp>
    </p:spTree>
    <p:extLst>
      <p:ext uri="{BB962C8B-B14F-4D97-AF65-F5344CB8AC3E}">
        <p14:creationId xmlns:p14="http://schemas.microsoft.com/office/powerpoint/2010/main" val="7418371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a:xfrm>
            <a:off x="2415888" y="1048877"/>
            <a:ext cx="3389358" cy="1059726"/>
          </a:xfrm>
        </p:spPr>
        <p:txBody>
          <a:bodyPr>
            <a:normAutofit/>
          </a:bodyPr>
          <a:lstStyle/>
          <a:p>
            <a:pPr algn="ctr"/>
            <a:r>
              <a:rPr lang="en-US" dirty="0"/>
              <a:t>Local function reclassification</a:t>
            </a:r>
          </a:p>
        </p:txBody>
      </p:sp>
      <p:sp>
        <p:nvSpPr>
          <p:cNvPr id="4" name="Slide Number Placeholder 3">
            <a:extLst>
              <a:ext uri="{FF2B5EF4-FFF2-40B4-BE49-F238E27FC236}">
                <a16:creationId xmlns:a16="http://schemas.microsoft.com/office/drawing/2014/main" id="{D6707542-1592-4B5E-9E2E-66E9CC252E08}"/>
              </a:ext>
            </a:extLst>
          </p:cNvPr>
          <p:cNvSpPr>
            <a:spLocks noGrp="1"/>
          </p:cNvSpPr>
          <p:nvPr>
            <p:ph type="sldNum" sz="quarter" idx="12"/>
          </p:nvPr>
        </p:nvSpPr>
        <p:spPr/>
        <p:txBody>
          <a:bodyPr/>
          <a:lstStyle/>
          <a:p>
            <a:fld id="{127DDC20-79C9-9647-820E-6D40A3D210C3}" type="slidenum">
              <a:rPr lang="en-US" smtClean="0"/>
              <a:pPr/>
              <a:t>18</a:t>
            </a:fld>
            <a:endParaRPr lang="en-US"/>
          </a:p>
        </p:txBody>
      </p:sp>
      <p:cxnSp>
        <p:nvCxnSpPr>
          <p:cNvPr id="3" name="Straight Connector 2">
            <a:extLst>
              <a:ext uri="{FF2B5EF4-FFF2-40B4-BE49-F238E27FC236}">
                <a16:creationId xmlns:a16="http://schemas.microsoft.com/office/drawing/2014/main" id="{2DE8A090-1807-4E07-8CB8-69A9C3D27FF9}"/>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58253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custDataLst>
              <p:tags r:id="rId1"/>
            </p:custDataLst>
          </p:nvPr>
        </p:nvSpPr>
        <p:spPr>
          <a:xfrm>
            <a:off x="6069839" y="4475341"/>
            <a:ext cx="2984007" cy="308690"/>
          </a:xfrm>
        </p:spPr>
        <p:txBody>
          <a:bodyPr>
            <a:normAutofit/>
          </a:bodyPr>
          <a:lstStyle/>
          <a:p>
            <a:pPr marL="0" indent="0">
              <a:buNone/>
            </a:pPr>
            <a:r>
              <a:rPr lang="en-US" dirty="0"/>
              <a:t>Change cell values</a:t>
            </a:r>
          </a:p>
        </p:txBody>
      </p:sp>
      <p:sp>
        <p:nvSpPr>
          <p:cNvPr id="9" name="Slide Number Placeholder 8">
            <a:extLst>
              <a:ext uri="{FF2B5EF4-FFF2-40B4-BE49-F238E27FC236}">
                <a16:creationId xmlns:a16="http://schemas.microsoft.com/office/drawing/2014/main" id="{818F667E-53CC-4A16-BB17-6A085B393BA9}"/>
              </a:ext>
            </a:extLst>
          </p:cNvPr>
          <p:cNvSpPr>
            <a:spLocks noGrp="1"/>
          </p:cNvSpPr>
          <p:nvPr>
            <p:ph type="sldNum" sz="quarter" idx="12"/>
          </p:nvPr>
        </p:nvSpPr>
        <p:spPr/>
        <p:txBody>
          <a:bodyPr/>
          <a:lstStyle/>
          <a:p>
            <a:fld id="{127DDC20-79C9-9647-820E-6D40A3D210C3}" type="slidenum">
              <a:rPr lang="en-US" smtClean="0"/>
              <a:pPr/>
              <a:t>19</a:t>
            </a:fld>
            <a:endParaRPr lang="en-US"/>
          </a:p>
        </p:txBody>
      </p:sp>
      <p:pic>
        <p:nvPicPr>
          <p:cNvPr id="2" name="Picture 1" descr="Image showing land cover data"/>
          <p:cNvPicPr>
            <a:picLocks noChangeAspect="1"/>
          </p:cNvPicPr>
          <p:nvPr/>
        </p:nvPicPr>
        <p:blipFill>
          <a:blip r:embed="rId4">
            <a:clrChange>
              <a:clrFrom>
                <a:srgbClr val="00C5FF"/>
              </a:clrFrom>
              <a:clrTo>
                <a:srgbClr val="00C5FF">
                  <a:alpha val="0"/>
                </a:srgbClr>
              </a:clrTo>
            </a:clrChange>
          </a:blip>
          <a:stretch>
            <a:fillRect/>
          </a:stretch>
        </p:blipFill>
        <p:spPr>
          <a:xfrm>
            <a:off x="227391" y="1395575"/>
            <a:ext cx="1832728" cy="3376301"/>
          </a:xfrm>
          <a:prstGeom prst="rect">
            <a:avLst/>
          </a:prstGeom>
        </p:spPr>
      </p:pic>
      <p:pic>
        <p:nvPicPr>
          <p:cNvPr id="3" name="Picture 2" descr="Reclassify window"/>
          <p:cNvPicPr>
            <a:picLocks noChangeAspect="1"/>
          </p:cNvPicPr>
          <p:nvPr/>
        </p:nvPicPr>
        <p:blipFill>
          <a:blip r:embed="rId5"/>
          <a:stretch>
            <a:fillRect/>
          </a:stretch>
        </p:blipFill>
        <p:spPr>
          <a:xfrm>
            <a:off x="2670855" y="1450027"/>
            <a:ext cx="2610075" cy="3574537"/>
          </a:xfrm>
          <a:prstGeom prst="rect">
            <a:avLst/>
          </a:prstGeom>
        </p:spPr>
      </p:pic>
      <p:pic>
        <p:nvPicPr>
          <p:cNvPr id="6" name="Picture 5" descr="image showing reclassified results"/>
          <p:cNvPicPr>
            <a:picLocks noChangeAspect="1"/>
          </p:cNvPicPr>
          <p:nvPr/>
        </p:nvPicPr>
        <p:blipFill>
          <a:blip r:embed="rId6">
            <a:clrChange>
              <a:clrFrom>
                <a:srgbClr val="00C5FF"/>
              </a:clrFrom>
              <a:clrTo>
                <a:srgbClr val="00C5FF">
                  <a:alpha val="0"/>
                </a:srgbClr>
              </a:clrTo>
            </a:clrChange>
          </a:blip>
          <a:stretch>
            <a:fillRect/>
          </a:stretch>
        </p:blipFill>
        <p:spPr>
          <a:xfrm>
            <a:off x="5759218" y="1015536"/>
            <a:ext cx="1802624" cy="3459805"/>
          </a:xfrm>
          <a:prstGeom prst="rect">
            <a:avLst/>
          </a:prstGeom>
        </p:spPr>
      </p:pic>
      <p:cxnSp>
        <p:nvCxnSpPr>
          <p:cNvPr id="7" name="Straight Connector 6">
            <a:extLst>
              <a:ext uri="{FF2B5EF4-FFF2-40B4-BE49-F238E27FC236}">
                <a16:creationId xmlns:a16="http://schemas.microsoft.com/office/drawing/2014/main" id="{0FC199A8-FE6E-4078-A4DC-FD9CD2E48482}"/>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itle 1">
            <a:extLst>
              <a:ext uri="{FF2B5EF4-FFF2-40B4-BE49-F238E27FC236}">
                <a16:creationId xmlns:a16="http://schemas.microsoft.com/office/drawing/2014/main" id="{6F3AF8E2-1EF3-4C78-82CF-F1ADDAF312D1}"/>
              </a:ext>
            </a:extLst>
          </p:cNvPr>
          <p:cNvSpPr txBox="1">
            <a:spLocks/>
          </p:cNvSpPr>
          <p:nvPr/>
        </p:nvSpPr>
        <p:spPr>
          <a:xfrm>
            <a:off x="152400" y="165989"/>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Reclassify Categorical Raster Data</a:t>
            </a:r>
            <a:endParaRPr lang="en-US" sz="2600" dirty="0">
              <a:solidFill>
                <a:srgbClr val="7030A0"/>
              </a:solidFill>
            </a:endParaRPr>
          </a:p>
        </p:txBody>
      </p:sp>
      <p:sp>
        <p:nvSpPr>
          <p:cNvPr id="4" name="TextBox 3">
            <a:extLst>
              <a:ext uri="{FF2B5EF4-FFF2-40B4-BE49-F238E27FC236}">
                <a16:creationId xmlns:a16="http://schemas.microsoft.com/office/drawing/2014/main" id="{14AF49A1-E01B-4E8D-A34F-A450F6780C2D}"/>
              </a:ext>
            </a:extLst>
          </p:cNvPr>
          <p:cNvSpPr txBox="1"/>
          <p:nvPr/>
        </p:nvSpPr>
        <p:spPr>
          <a:xfrm>
            <a:off x="2896318" y="1080695"/>
            <a:ext cx="2384612" cy="369332"/>
          </a:xfrm>
          <a:prstGeom prst="rect">
            <a:avLst/>
          </a:prstGeom>
          <a:noFill/>
        </p:spPr>
        <p:txBody>
          <a:bodyPr wrap="square" rtlCol="0">
            <a:spAutoFit/>
          </a:bodyPr>
          <a:lstStyle/>
          <a:p>
            <a:r>
              <a:rPr lang="en-US" dirty="0"/>
              <a:t>Forest =1; Non forest=0</a:t>
            </a:r>
          </a:p>
        </p:txBody>
      </p:sp>
      <p:sp>
        <p:nvSpPr>
          <p:cNvPr id="10" name="TextBox 9">
            <a:extLst>
              <a:ext uri="{FF2B5EF4-FFF2-40B4-BE49-F238E27FC236}">
                <a16:creationId xmlns:a16="http://schemas.microsoft.com/office/drawing/2014/main" id="{E39C77DE-B134-4038-AB17-96864258D351}"/>
              </a:ext>
            </a:extLst>
          </p:cNvPr>
          <p:cNvSpPr txBox="1"/>
          <p:nvPr/>
        </p:nvSpPr>
        <p:spPr>
          <a:xfrm>
            <a:off x="227391" y="1080695"/>
            <a:ext cx="1389529" cy="369332"/>
          </a:xfrm>
          <a:prstGeom prst="rect">
            <a:avLst/>
          </a:prstGeom>
          <a:noFill/>
        </p:spPr>
        <p:txBody>
          <a:bodyPr wrap="square" rtlCol="0">
            <a:spAutoFit/>
          </a:bodyPr>
          <a:lstStyle/>
          <a:p>
            <a:r>
              <a:rPr lang="en-US" dirty="0"/>
              <a:t>Land cover </a:t>
            </a:r>
          </a:p>
        </p:txBody>
      </p:sp>
    </p:spTree>
    <p:extLst>
      <p:ext uri="{BB962C8B-B14F-4D97-AF65-F5344CB8AC3E}">
        <p14:creationId xmlns:p14="http://schemas.microsoft.com/office/powerpoint/2010/main" val="35757170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Image showing DEM data"/>
          <p:cNvPicPr>
            <a:picLocks noChangeAspect="1"/>
          </p:cNvPicPr>
          <p:nvPr/>
        </p:nvPicPr>
        <p:blipFill>
          <a:blip r:embed="rId3">
            <a:clrChange>
              <a:clrFrom>
                <a:srgbClr val="00C5FF"/>
              </a:clrFrom>
              <a:clrTo>
                <a:srgbClr val="00C5FF">
                  <a:alpha val="0"/>
                </a:srgbClr>
              </a:clrTo>
            </a:clrChange>
          </a:blip>
          <a:stretch>
            <a:fillRect/>
          </a:stretch>
        </p:blipFill>
        <p:spPr>
          <a:xfrm>
            <a:off x="564861" y="976850"/>
            <a:ext cx="2109384" cy="3825599"/>
          </a:xfrm>
          <a:prstGeom prst="rect">
            <a:avLst/>
          </a:prstGeom>
        </p:spPr>
      </p:pic>
      <p:pic>
        <p:nvPicPr>
          <p:cNvPr id="5" name="Picture 4" descr="Reclassify window"/>
          <p:cNvPicPr>
            <a:picLocks noChangeAspect="1"/>
          </p:cNvPicPr>
          <p:nvPr/>
        </p:nvPicPr>
        <p:blipFill>
          <a:blip r:embed="rId4"/>
          <a:stretch>
            <a:fillRect/>
          </a:stretch>
        </p:blipFill>
        <p:spPr>
          <a:xfrm>
            <a:off x="2700989" y="1266189"/>
            <a:ext cx="3067586" cy="3372924"/>
          </a:xfrm>
          <a:prstGeom prst="rect">
            <a:avLst/>
          </a:prstGeom>
        </p:spPr>
      </p:pic>
      <p:pic>
        <p:nvPicPr>
          <p:cNvPr id="6" name="Picture 5" descr="Image showing DEM reclassify result"/>
          <p:cNvPicPr>
            <a:picLocks noChangeAspect="1"/>
          </p:cNvPicPr>
          <p:nvPr/>
        </p:nvPicPr>
        <p:blipFill>
          <a:blip r:embed="rId5">
            <a:clrChange>
              <a:clrFrom>
                <a:srgbClr val="00C5FF"/>
              </a:clrFrom>
              <a:clrTo>
                <a:srgbClr val="00C5FF">
                  <a:alpha val="0"/>
                </a:srgbClr>
              </a:clrTo>
            </a:clrChange>
          </a:blip>
          <a:stretch>
            <a:fillRect/>
          </a:stretch>
        </p:blipFill>
        <p:spPr>
          <a:xfrm>
            <a:off x="5555356" y="883708"/>
            <a:ext cx="2463092" cy="4090148"/>
          </a:xfrm>
          <a:prstGeom prst="rect">
            <a:avLst/>
          </a:prstGeom>
        </p:spPr>
      </p:pic>
      <p:cxnSp>
        <p:nvCxnSpPr>
          <p:cNvPr id="7" name="Straight Connector 6">
            <a:extLst>
              <a:ext uri="{FF2B5EF4-FFF2-40B4-BE49-F238E27FC236}">
                <a16:creationId xmlns:a16="http://schemas.microsoft.com/office/drawing/2014/main" id="{D4668566-9FBB-4618-85CB-96E4E503793B}"/>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itle 1">
            <a:extLst>
              <a:ext uri="{FF2B5EF4-FFF2-40B4-BE49-F238E27FC236}">
                <a16:creationId xmlns:a16="http://schemas.microsoft.com/office/drawing/2014/main" id="{635FE82B-A2C4-427B-AB45-8AF66FD06684}"/>
              </a:ext>
            </a:extLst>
          </p:cNvPr>
          <p:cNvSpPr txBox="1">
            <a:spLocks/>
          </p:cNvSpPr>
          <p:nvPr/>
        </p:nvSpPr>
        <p:spPr>
          <a:xfrm>
            <a:off x="152400" y="169644"/>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Reclassify Continuous Raster Data</a:t>
            </a:r>
            <a:endParaRPr lang="en-US" sz="2600" dirty="0">
              <a:solidFill>
                <a:srgbClr val="7030A0"/>
              </a:solidFill>
            </a:endParaRPr>
          </a:p>
        </p:txBody>
      </p:sp>
      <p:sp>
        <p:nvSpPr>
          <p:cNvPr id="2" name="TextBox 1">
            <a:extLst>
              <a:ext uri="{FF2B5EF4-FFF2-40B4-BE49-F238E27FC236}">
                <a16:creationId xmlns:a16="http://schemas.microsoft.com/office/drawing/2014/main" id="{7E500FA7-2AAD-4E70-BB2A-04AE89901406}"/>
              </a:ext>
            </a:extLst>
          </p:cNvPr>
          <p:cNvSpPr txBox="1"/>
          <p:nvPr/>
        </p:nvSpPr>
        <p:spPr>
          <a:xfrm>
            <a:off x="403412" y="1165412"/>
            <a:ext cx="950259" cy="369332"/>
          </a:xfrm>
          <a:prstGeom prst="rect">
            <a:avLst/>
          </a:prstGeom>
          <a:noFill/>
        </p:spPr>
        <p:txBody>
          <a:bodyPr wrap="square" rtlCol="0">
            <a:spAutoFit/>
          </a:bodyPr>
          <a:lstStyle/>
          <a:p>
            <a:r>
              <a:rPr lang="en-US" dirty="0"/>
              <a:t>DEM</a:t>
            </a:r>
          </a:p>
        </p:txBody>
      </p:sp>
      <p:sp>
        <p:nvSpPr>
          <p:cNvPr id="3" name="Slide Number Placeholder 2">
            <a:extLst>
              <a:ext uri="{FF2B5EF4-FFF2-40B4-BE49-F238E27FC236}">
                <a16:creationId xmlns:a16="http://schemas.microsoft.com/office/drawing/2014/main" id="{45B25D46-D2DC-41B5-8401-829B21E50C4B}"/>
              </a:ext>
            </a:extLst>
          </p:cNvPr>
          <p:cNvSpPr>
            <a:spLocks noGrp="1"/>
          </p:cNvSpPr>
          <p:nvPr>
            <p:ph type="sldNum" sz="quarter" idx="12"/>
          </p:nvPr>
        </p:nvSpPr>
        <p:spPr/>
        <p:txBody>
          <a:bodyPr/>
          <a:lstStyle/>
          <a:p>
            <a:fld id="{127DDC20-79C9-9647-820E-6D40A3D210C3}" type="slidenum">
              <a:rPr lang="en-US" smtClean="0"/>
              <a:pPr/>
              <a:t>20</a:t>
            </a:fld>
            <a:endParaRPr lang="en-US"/>
          </a:p>
        </p:txBody>
      </p:sp>
    </p:spTree>
    <p:extLst>
      <p:ext uri="{BB962C8B-B14F-4D97-AF65-F5344CB8AC3E}">
        <p14:creationId xmlns:p14="http://schemas.microsoft.com/office/powerpoint/2010/main" val="2560621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custDataLst>
              <p:tags r:id="rId1"/>
            </p:custDataLst>
          </p:nvPr>
        </p:nvSpPr>
        <p:spPr>
          <a:xfrm>
            <a:off x="410515" y="1542782"/>
            <a:ext cx="2778212" cy="2881110"/>
          </a:xfrm>
        </p:spPr>
        <p:txBody>
          <a:bodyPr>
            <a:normAutofit/>
          </a:bodyPr>
          <a:lstStyle/>
          <a:p>
            <a:pPr>
              <a:buFont typeface="Courier New" panose="02070309020205020404" pitchFamily="49" charset="0"/>
              <a:buChar char="o"/>
            </a:pPr>
            <a:r>
              <a:rPr lang="en-US" sz="2000" dirty="0"/>
              <a:t>Can reclassify NoData to a new value</a:t>
            </a:r>
          </a:p>
        </p:txBody>
      </p:sp>
      <p:sp>
        <p:nvSpPr>
          <p:cNvPr id="2" name="Slide Number Placeholder 1">
            <a:extLst>
              <a:ext uri="{FF2B5EF4-FFF2-40B4-BE49-F238E27FC236}">
                <a16:creationId xmlns:a16="http://schemas.microsoft.com/office/drawing/2014/main" id="{4C8BF637-5F44-458B-A241-DE598DBB23F4}"/>
              </a:ext>
            </a:extLst>
          </p:cNvPr>
          <p:cNvSpPr>
            <a:spLocks noGrp="1"/>
          </p:cNvSpPr>
          <p:nvPr>
            <p:ph type="sldNum" sz="quarter" idx="12"/>
          </p:nvPr>
        </p:nvSpPr>
        <p:spPr/>
        <p:txBody>
          <a:bodyPr/>
          <a:lstStyle/>
          <a:p>
            <a:fld id="{127DDC20-79C9-9647-820E-6D40A3D210C3}" type="slidenum">
              <a:rPr lang="en-US" smtClean="0"/>
              <a:pPr/>
              <a:t>21</a:t>
            </a:fld>
            <a:endParaRPr lang="en-US"/>
          </a:p>
        </p:txBody>
      </p:sp>
      <p:cxnSp>
        <p:nvCxnSpPr>
          <p:cNvPr id="6" name="Straight Connector 5">
            <a:extLst>
              <a:ext uri="{FF2B5EF4-FFF2-40B4-BE49-F238E27FC236}">
                <a16:creationId xmlns:a16="http://schemas.microsoft.com/office/drawing/2014/main" id="{4E4DC745-0BFF-446D-A64F-EB525314D401}"/>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7" name="Title 1">
            <a:extLst>
              <a:ext uri="{FF2B5EF4-FFF2-40B4-BE49-F238E27FC236}">
                <a16:creationId xmlns:a16="http://schemas.microsoft.com/office/drawing/2014/main" id="{03D16238-026B-4625-8FD2-5D9639B5DD04}"/>
              </a:ext>
            </a:extLst>
          </p:cNvPr>
          <p:cNvSpPr txBox="1">
            <a:spLocks/>
          </p:cNvSpPr>
          <p:nvPr/>
        </p:nvSpPr>
        <p:spPr>
          <a:xfrm>
            <a:off x="311073" y="181978"/>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Reclassify </a:t>
            </a:r>
            <a:r>
              <a:rPr lang="en-US" sz="3200" dirty="0" err="1">
                <a:solidFill>
                  <a:srgbClr val="7030A0"/>
                </a:solidFill>
              </a:rPr>
              <a:t>NoData</a:t>
            </a:r>
            <a:endParaRPr lang="en-US" sz="2600" dirty="0">
              <a:solidFill>
                <a:srgbClr val="7030A0"/>
              </a:solidFill>
            </a:endParaRPr>
          </a:p>
        </p:txBody>
      </p:sp>
      <p:pic>
        <p:nvPicPr>
          <p:cNvPr id="10" name="Picture 9" descr="Image showing sierra leona">
            <a:extLst>
              <a:ext uri="{FF2B5EF4-FFF2-40B4-BE49-F238E27FC236}">
                <a16:creationId xmlns:a16="http://schemas.microsoft.com/office/drawing/2014/main" id="{FB86F6F7-99C4-4DE2-8773-B5161CECE5FB}"/>
              </a:ext>
            </a:extLst>
          </p:cNvPr>
          <p:cNvPicPr>
            <a:picLocks noChangeAspect="1"/>
          </p:cNvPicPr>
          <p:nvPr/>
        </p:nvPicPr>
        <p:blipFill>
          <a:blip r:embed="rId4"/>
          <a:stretch>
            <a:fillRect/>
          </a:stretch>
        </p:blipFill>
        <p:spPr>
          <a:xfrm>
            <a:off x="4110567" y="1145446"/>
            <a:ext cx="3573104" cy="3457843"/>
          </a:xfrm>
          <a:prstGeom prst="rect">
            <a:avLst/>
          </a:prstGeom>
        </p:spPr>
      </p:pic>
      <p:sp>
        <p:nvSpPr>
          <p:cNvPr id="11" name="TextBox 10">
            <a:extLst>
              <a:ext uri="{FF2B5EF4-FFF2-40B4-BE49-F238E27FC236}">
                <a16:creationId xmlns:a16="http://schemas.microsoft.com/office/drawing/2014/main" id="{507124CD-63E1-4E87-A6F4-C3C7E42D6512}"/>
              </a:ext>
            </a:extLst>
          </p:cNvPr>
          <p:cNvSpPr txBox="1"/>
          <p:nvPr/>
        </p:nvSpPr>
        <p:spPr>
          <a:xfrm>
            <a:off x="4349673" y="4603289"/>
            <a:ext cx="1547446" cy="369332"/>
          </a:xfrm>
          <a:prstGeom prst="rect">
            <a:avLst/>
          </a:prstGeom>
          <a:noFill/>
        </p:spPr>
        <p:txBody>
          <a:bodyPr wrap="square" rtlCol="0">
            <a:spAutoFit/>
          </a:bodyPr>
          <a:lstStyle/>
          <a:p>
            <a:r>
              <a:rPr lang="en-US" dirty="0"/>
              <a:t>S</a:t>
            </a:r>
            <a:r>
              <a:rPr lang="en-US" altLang="zh-CN" dirty="0"/>
              <a:t>ierra Leona</a:t>
            </a:r>
            <a:endParaRPr lang="en-US" dirty="0"/>
          </a:p>
        </p:txBody>
      </p:sp>
    </p:spTree>
    <p:extLst>
      <p:ext uri="{BB962C8B-B14F-4D97-AF65-F5344CB8AC3E}">
        <p14:creationId xmlns:p14="http://schemas.microsoft.com/office/powerpoint/2010/main" val="2249556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a:xfrm>
            <a:off x="2289177" y="1419057"/>
            <a:ext cx="3651245" cy="1269501"/>
          </a:xfrm>
        </p:spPr>
        <p:txBody>
          <a:bodyPr/>
          <a:lstStyle/>
          <a:p>
            <a:pPr algn="ctr"/>
            <a:r>
              <a:rPr lang="en-US" dirty="0"/>
              <a:t>Local function Extraction</a:t>
            </a:r>
          </a:p>
        </p:txBody>
      </p:sp>
      <p:sp>
        <p:nvSpPr>
          <p:cNvPr id="3" name="Slide Number Placeholder 2">
            <a:extLst>
              <a:ext uri="{FF2B5EF4-FFF2-40B4-BE49-F238E27FC236}">
                <a16:creationId xmlns:a16="http://schemas.microsoft.com/office/drawing/2014/main" id="{0911153A-8230-4EDF-970A-D22BC90516DA}"/>
              </a:ext>
            </a:extLst>
          </p:cNvPr>
          <p:cNvSpPr>
            <a:spLocks noGrp="1"/>
          </p:cNvSpPr>
          <p:nvPr>
            <p:ph type="sldNum" sz="quarter" idx="12"/>
          </p:nvPr>
        </p:nvSpPr>
        <p:spPr/>
        <p:txBody>
          <a:bodyPr/>
          <a:lstStyle/>
          <a:p>
            <a:fld id="{127DDC20-79C9-9647-820E-6D40A3D210C3}" type="slidenum">
              <a:rPr lang="en-US" smtClean="0"/>
              <a:pPr/>
              <a:t>22</a:t>
            </a:fld>
            <a:endParaRPr lang="en-US"/>
          </a:p>
        </p:txBody>
      </p:sp>
    </p:spTree>
    <p:extLst>
      <p:ext uri="{BB962C8B-B14F-4D97-AF65-F5344CB8AC3E}">
        <p14:creationId xmlns:p14="http://schemas.microsoft.com/office/powerpoint/2010/main" val="5046648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custDataLst>
              <p:tags r:id="rId1"/>
            </p:custDataLst>
          </p:nvPr>
        </p:nvSpPr>
        <p:spPr>
          <a:xfrm>
            <a:off x="153273" y="1131195"/>
            <a:ext cx="7823110" cy="1666875"/>
          </a:xfrm>
        </p:spPr>
        <p:txBody>
          <a:bodyPr>
            <a:normAutofit/>
          </a:bodyPr>
          <a:lstStyle/>
          <a:p>
            <a:pPr>
              <a:buFont typeface="Courier New" panose="02070309020205020404" pitchFamily="49" charset="0"/>
              <a:buChar char="o"/>
            </a:pPr>
            <a:r>
              <a:rPr lang="en-US" sz="1400" b="1" dirty="0">
                <a:solidFill>
                  <a:srgbClr val="E3874F"/>
                </a:solidFill>
              </a:rPr>
              <a:t>Extract by Circle: </a:t>
            </a:r>
            <a:r>
              <a:rPr lang="en-US" sz="1400" dirty="0"/>
              <a:t>extract cells that fall into a circle that is defined by a center coordinate and radius</a:t>
            </a:r>
          </a:p>
          <a:p>
            <a:pPr>
              <a:buFont typeface="Courier New" panose="02070309020205020404" pitchFamily="49" charset="0"/>
              <a:buChar char="o"/>
            </a:pPr>
            <a:r>
              <a:rPr lang="en-US" sz="1400" b="1" dirty="0">
                <a:solidFill>
                  <a:srgbClr val="E3874F"/>
                </a:solidFill>
              </a:rPr>
              <a:t>Extract by Mask: </a:t>
            </a:r>
            <a:r>
              <a:rPr lang="en-US" sz="1400" dirty="0"/>
              <a:t>extract cells that fall within a raster or polygon mask</a:t>
            </a:r>
          </a:p>
          <a:p>
            <a:pPr>
              <a:buFont typeface="Courier New" panose="02070309020205020404" pitchFamily="49" charset="0"/>
              <a:buChar char="o"/>
            </a:pPr>
            <a:r>
              <a:rPr lang="en-US" sz="1400" b="1" dirty="0">
                <a:solidFill>
                  <a:srgbClr val="E3874F"/>
                </a:solidFill>
              </a:rPr>
              <a:t>Extract by Point: </a:t>
            </a:r>
            <a:r>
              <a:rPr lang="en-US" sz="1400" dirty="0"/>
              <a:t>extract cells at point locations</a:t>
            </a:r>
          </a:p>
          <a:p>
            <a:pPr>
              <a:buFont typeface="Courier New" panose="02070309020205020404" pitchFamily="49" charset="0"/>
              <a:buChar char="o"/>
            </a:pPr>
            <a:r>
              <a:rPr lang="en-US" sz="1400" b="1" dirty="0">
                <a:solidFill>
                  <a:srgbClr val="E3874F"/>
                </a:solidFill>
              </a:rPr>
              <a:t>Extract by Polygon: </a:t>
            </a:r>
            <a:r>
              <a:rPr lang="en-US" sz="1400" dirty="0"/>
              <a:t>extract cells that fall within the extent of a polygon as defined by its vertices</a:t>
            </a:r>
          </a:p>
          <a:p>
            <a:pPr>
              <a:buFont typeface="Courier New" panose="02070309020205020404" pitchFamily="49" charset="0"/>
              <a:buChar char="o"/>
            </a:pPr>
            <a:r>
              <a:rPr lang="en-US" sz="1400" b="1" dirty="0">
                <a:solidFill>
                  <a:srgbClr val="E3874F"/>
                </a:solidFill>
              </a:rPr>
              <a:t>Extract by Rectangle: </a:t>
            </a:r>
            <a:r>
              <a:rPr lang="en-US" sz="1400" dirty="0"/>
              <a:t>extract cells that fall within a rectangular extent</a:t>
            </a:r>
          </a:p>
          <a:p>
            <a:pPr marL="0" indent="0">
              <a:buNone/>
            </a:pPr>
            <a:endParaRPr lang="en-US" dirty="0"/>
          </a:p>
        </p:txBody>
      </p:sp>
      <p:sp>
        <p:nvSpPr>
          <p:cNvPr id="4" name="Slide Number Placeholder 3">
            <a:extLst>
              <a:ext uri="{FF2B5EF4-FFF2-40B4-BE49-F238E27FC236}">
                <a16:creationId xmlns:a16="http://schemas.microsoft.com/office/drawing/2014/main" id="{C45250F4-7AB4-4E5E-8D75-E4DED85EA42C}"/>
              </a:ext>
            </a:extLst>
          </p:cNvPr>
          <p:cNvSpPr>
            <a:spLocks noGrp="1"/>
          </p:cNvSpPr>
          <p:nvPr>
            <p:ph type="sldNum" sz="quarter" idx="12"/>
          </p:nvPr>
        </p:nvSpPr>
        <p:spPr/>
        <p:txBody>
          <a:bodyPr/>
          <a:lstStyle/>
          <a:p>
            <a:fld id="{127DDC20-79C9-9647-820E-6D40A3D210C3}" type="slidenum">
              <a:rPr lang="en-US" smtClean="0"/>
              <a:pPr/>
              <a:t>23</a:t>
            </a:fld>
            <a:endParaRPr lang="en-US"/>
          </a:p>
        </p:txBody>
      </p:sp>
      <p:cxnSp>
        <p:nvCxnSpPr>
          <p:cNvPr id="8" name="Straight Connector 7">
            <a:extLst>
              <a:ext uri="{FF2B5EF4-FFF2-40B4-BE49-F238E27FC236}">
                <a16:creationId xmlns:a16="http://schemas.microsoft.com/office/drawing/2014/main" id="{F05ED891-9FEB-4D29-8CF7-68E8994814CA}"/>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9" name="Title 1">
            <a:extLst>
              <a:ext uri="{FF2B5EF4-FFF2-40B4-BE49-F238E27FC236}">
                <a16:creationId xmlns:a16="http://schemas.microsoft.com/office/drawing/2014/main" id="{61BF75DF-6CF1-4C54-A051-D2A0513B1DE6}"/>
              </a:ext>
            </a:extLst>
          </p:cNvPr>
          <p:cNvSpPr txBox="1">
            <a:spLocks/>
          </p:cNvSpPr>
          <p:nvPr/>
        </p:nvSpPr>
        <p:spPr>
          <a:xfrm>
            <a:off x="216875" y="11735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Extraction Methods</a:t>
            </a:r>
            <a:endParaRPr lang="en-US" sz="2600" dirty="0">
              <a:solidFill>
                <a:srgbClr val="7030A0"/>
              </a:solidFill>
            </a:endParaRPr>
          </a:p>
        </p:txBody>
      </p:sp>
      <p:pic>
        <p:nvPicPr>
          <p:cNvPr id="12" name="Picture 11" descr="Image showing extraction">
            <a:extLst>
              <a:ext uri="{FF2B5EF4-FFF2-40B4-BE49-F238E27FC236}">
                <a16:creationId xmlns:a16="http://schemas.microsoft.com/office/drawing/2014/main" id="{7C761CA6-7DD0-4EE4-9493-A46A24D10A7F}"/>
              </a:ext>
            </a:extLst>
          </p:cNvPr>
          <p:cNvPicPr>
            <a:picLocks noChangeAspect="1"/>
          </p:cNvPicPr>
          <p:nvPr/>
        </p:nvPicPr>
        <p:blipFill>
          <a:blip r:embed="rId4"/>
          <a:stretch>
            <a:fillRect/>
          </a:stretch>
        </p:blipFill>
        <p:spPr>
          <a:xfrm>
            <a:off x="955063" y="3387152"/>
            <a:ext cx="6600825" cy="1666875"/>
          </a:xfrm>
          <a:prstGeom prst="rect">
            <a:avLst/>
          </a:prstGeom>
        </p:spPr>
      </p:pic>
      <p:sp>
        <p:nvSpPr>
          <p:cNvPr id="2" name="TextBox 1">
            <a:extLst>
              <a:ext uri="{FF2B5EF4-FFF2-40B4-BE49-F238E27FC236}">
                <a16:creationId xmlns:a16="http://schemas.microsoft.com/office/drawing/2014/main" id="{1E202D13-B624-4B21-B8DF-143BB478EC13}"/>
              </a:ext>
            </a:extLst>
          </p:cNvPr>
          <p:cNvSpPr txBox="1"/>
          <p:nvPr/>
        </p:nvSpPr>
        <p:spPr>
          <a:xfrm>
            <a:off x="4912659" y="3254189"/>
            <a:ext cx="1013012" cy="369332"/>
          </a:xfrm>
          <a:prstGeom prst="rect">
            <a:avLst/>
          </a:prstGeom>
          <a:noFill/>
        </p:spPr>
        <p:txBody>
          <a:bodyPr wrap="square" rtlCol="0">
            <a:spAutoFit/>
          </a:bodyPr>
          <a:lstStyle/>
          <a:p>
            <a:r>
              <a:rPr lang="en-US" dirty="0"/>
              <a:t>Angola</a:t>
            </a:r>
          </a:p>
        </p:txBody>
      </p:sp>
      <p:sp>
        <p:nvSpPr>
          <p:cNvPr id="3" name="TextBox 2">
            <a:extLst>
              <a:ext uri="{FF2B5EF4-FFF2-40B4-BE49-F238E27FC236}">
                <a16:creationId xmlns:a16="http://schemas.microsoft.com/office/drawing/2014/main" id="{8CBB77F0-351D-47A5-8371-CD265FA975B8}"/>
              </a:ext>
            </a:extLst>
          </p:cNvPr>
          <p:cNvSpPr txBox="1"/>
          <p:nvPr/>
        </p:nvSpPr>
        <p:spPr>
          <a:xfrm>
            <a:off x="2233572" y="3136005"/>
            <a:ext cx="1013012" cy="369332"/>
          </a:xfrm>
          <a:prstGeom prst="rect">
            <a:avLst/>
          </a:prstGeom>
          <a:noFill/>
        </p:spPr>
        <p:txBody>
          <a:bodyPr wrap="square" rtlCol="0">
            <a:spAutoFit/>
          </a:bodyPr>
          <a:lstStyle/>
          <a:p>
            <a:r>
              <a:rPr lang="en-US" dirty="0"/>
              <a:t>NDVI</a:t>
            </a:r>
          </a:p>
        </p:txBody>
      </p:sp>
    </p:spTree>
    <p:extLst>
      <p:ext uri="{BB962C8B-B14F-4D97-AF65-F5344CB8AC3E}">
        <p14:creationId xmlns:p14="http://schemas.microsoft.com/office/powerpoint/2010/main" val="34773516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F05ED891-9FEB-4D29-8CF7-68E8994814CA}"/>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9" name="Title 1">
            <a:extLst>
              <a:ext uri="{FF2B5EF4-FFF2-40B4-BE49-F238E27FC236}">
                <a16:creationId xmlns:a16="http://schemas.microsoft.com/office/drawing/2014/main" id="{61BF75DF-6CF1-4C54-A051-D2A0513B1DE6}"/>
              </a:ext>
            </a:extLst>
          </p:cNvPr>
          <p:cNvSpPr txBox="1">
            <a:spLocks/>
          </p:cNvSpPr>
          <p:nvPr/>
        </p:nvSpPr>
        <p:spPr>
          <a:xfrm>
            <a:off x="179381" y="184884"/>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Extraction Methods</a:t>
            </a:r>
            <a:endParaRPr lang="en-US" sz="2600" dirty="0">
              <a:solidFill>
                <a:srgbClr val="7030A0"/>
              </a:solidFill>
            </a:endParaRPr>
          </a:p>
        </p:txBody>
      </p:sp>
      <p:pic>
        <p:nvPicPr>
          <p:cNvPr id="10" name="Picture 9" descr="A picture containing text, electronics&#10;&#10;Description automatically generated">
            <a:extLst>
              <a:ext uri="{FF2B5EF4-FFF2-40B4-BE49-F238E27FC236}">
                <a16:creationId xmlns:a16="http://schemas.microsoft.com/office/drawing/2014/main" id="{B319D084-490E-4D4A-9678-16B4779C82B8}"/>
              </a:ext>
            </a:extLst>
          </p:cNvPr>
          <p:cNvPicPr>
            <a:picLocks noChangeAspect="1"/>
          </p:cNvPicPr>
          <p:nvPr/>
        </p:nvPicPr>
        <p:blipFill>
          <a:blip r:embed="rId3"/>
          <a:stretch>
            <a:fillRect/>
          </a:stretch>
        </p:blipFill>
        <p:spPr>
          <a:xfrm>
            <a:off x="2994581" y="1505818"/>
            <a:ext cx="4345334" cy="3312860"/>
          </a:xfrm>
          <a:prstGeom prst="rect">
            <a:avLst/>
          </a:prstGeom>
        </p:spPr>
      </p:pic>
      <p:sp>
        <p:nvSpPr>
          <p:cNvPr id="13" name="TextBox 12">
            <a:extLst>
              <a:ext uri="{FF2B5EF4-FFF2-40B4-BE49-F238E27FC236}">
                <a16:creationId xmlns:a16="http://schemas.microsoft.com/office/drawing/2014/main" id="{FB985146-A5CE-48A6-AF81-FA531EC53FE8}"/>
              </a:ext>
            </a:extLst>
          </p:cNvPr>
          <p:cNvSpPr txBox="1"/>
          <p:nvPr/>
        </p:nvSpPr>
        <p:spPr>
          <a:xfrm>
            <a:off x="1361386" y="4818678"/>
            <a:ext cx="1097608" cy="246221"/>
          </a:xfrm>
          <a:prstGeom prst="rect">
            <a:avLst/>
          </a:prstGeom>
          <a:noFill/>
        </p:spPr>
        <p:txBody>
          <a:bodyPr wrap="square" rtlCol="0">
            <a:spAutoFit/>
          </a:bodyPr>
          <a:lstStyle/>
          <a:p>
            <a:r>
              <a:rPr lang="en-US" sz="1000" dirty="0" err="1">
                <a:solidFill>
                  <a:srgbClr val="7030A0"/>
                </a:solidFill>
              </a:rPr>
              <a:t>Bolstad</a:t>
            </a:r>
            <a:r>
              <a:rPr lang="en-US" sz="1000" dirty="0">
                <a:solidFill>
                  <a:srgbClr val="7030A0"/>
                </a:solidFill>
              </a:rPr>
              <a:t>, 2019</a:t>
            </a:r>
          </a:p>
        </p:txBody>
      </p:sp>
      <p:sp>
        <p:nvSpPr>
          <p:cNvPr id="11" name="TextBox 10">
            <a:extLst>
              <a:ext uri="{FF2B5EF4-FFF2-40B4-BE49-F238E27FC236}">
                <a16:creationId xmlns:a16="http://schemas.microsoft.com/office/drawing/2014/main" id="{BD12E1C9-A7F2-4CA8-A477-1AB3A9591464}"/>
              </a:ext>
            </a:extLst>
          </p:cNvPr>
          <p:cNvSpPr txBox="1"/>
          <p:nvPr/>
        </p:nvSpPr>
        <p:spPr>
          <a:xfrm>
            <a:off x="179381" y="1161356"/>
            <a:ext cx="2693774" cy="1477328"/>
          </a:xfrm>
          <a:prstGeom prst="rect">
            <a:avLst/>
          </a:prstGeom>
          <a:noFill/>
        </p:spPr>
        <p:txBody>
          <a:bodyPr wrap="square" rtlCol="0">
            <a:spAutoFit/>
          </a:bodyPr>
          <a:lstStyle/>
          <a:p>
            <a:pPr marL="285750" indent="-285750">
              <a:buFont typeface="Courier New" panose="02070309020205020404" pitchFamily="49" charset="0"/>
              <a:buChar char="o"/>
            </a:pPr>
            <a:r>
              <a:rPr lang="en-US" dirty="0"/>
              <a:t>A raster clip/extraction operation may be performed via multiplication of a binary mask</a:t>
            </a:r>
          </a:p>
        </p:txBody>
      </p:sp>
      <p:sp>
        <p:nvSpPr>
          <p:cNvPr id="2" name="Slide Number Placeholder 1">
            <a:extLst>
              <a:ext uri="{FF2B5EF4-FFF2-40B4-BE49-F238E27FC236}">
                <a16:creationId xmlns:a16="http://schemas.microsoft.com/office/drawing/2014/main" id="{703723ED-A5F4-4FAF-9CAB-67F0A8612387}"/>
              </a:ext>
            </a:extLst>
          </p:cNvPr>
          <p:cNvSpPr>
            <a:spLocks noGrp="1"/>
          </p:cNvSpPr>
          <p:nvPr>
            <p:ph type="sldNum" sz="quarter" idx="12"/>
          </p:nvPr>
        </p:nvSpPr>
        <p:spPr/>
        <p:txBody>
          <a:bodyPr/>
          <a:lstStyle/>
          <a:p>
            <a:fld id="{127DDC20-79C9-9647-820E-6D40A3D210C3}" type="slidenum">
              <a:rPr lang="en-US" smtClean="0"/>
              <a:pPr/>
              <a:t>24</a:t>
            </a:fld>
            <a:endParaRPr lang="en-US"/>
          </a:p>
        </p:txBody>
      </p:sp>
    </p:spTree>
    <p:extLst>
      <p:ext uri="{BB962C8B-B14F-4D97-AF65-F5344CB8AC3E}">
        <p14:creationId xmlns:p14="http://schemas.microsoft.com/office/powerpoint/2010/main" val="924383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a:xfrm>
            <a:off x="2289177" y="2165677"/>
            <a:ext cx="3651245" cy="661413"/>
          </a:xfrm>
        </p:spPr>
        <p:txBody>
          <a:bodyPr/>
          <a:lstStyle/>
          <a:p>
            <a:pPr algn="ctr"/>
            <a:r>
              <a:rPr lang="en-US" dirty="0"/>
              <a:t>Local function Stack</a:t>
            </a:r>
          </a:p>
        </p:txBody>
      </p:sp>
      <p:sp>
        <p:nvSpPr>
          <p:cNvPr id="3" name="Slide Number Placeholder 2">
            <a:extLst>
              <a:ext uri="{FF2B5EF4-FFF2-40B4-BE49-F238E27FC236}">
                <a16:creationId xmlns:a16="http://schemas.microsoft.com/office/drawing/2014/main" id="{73EF17C7-717D-476C-9832-9780B4E851DD}"/>
              </a:ext>
            </a:extLst>
          </p:cNvPr>
          <p:cNvSpPr>
            <a:spLocks noGrp="1"/>
          </p:cNvSpPr>
          <p:nvPr>
            <p:ph type="sldNum" sz="quarter" idx="12"/>
          </p:nvPr>
        </p:nvSpPr>
        <p:spPr/>
        <p:txBody>
          <a:bodyPr/>
          <a:lstStyle/>
          <a:p>
            <a:fld id="{127DDC20-79C9-9647-820E-6D40A3D210C3}" type="slidenum">
              <a:rPr lang="en-US" smtClean="0"/>
              <a:pPr/>
              <a:t>25</a:t>
            </a:fld>
            <a:endParaRPr lang="en-US"/>
          </a:p>
        </p:txBody>
      </p:sp>
    </p:spTree>
    <p:extLst>
      <p:ext uri="{BB962C8B-B14F-4D97-AF65-F5344CB8AC3E}">
        <p14:creationId xmlns:p14="http://schemas.microsoft.com/office/powerpoint/2010/main" val="6960271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custDataLst>
              <p:tags r:id="rId1"/>
            </p:custDataLst>
          </p:nvPr>
        </p:nvSpPr>
        <p:spPr>
          <a:xfrm>
            <a:off x="152400" y="951018"/>
            <a:ext cx="5039137" cy="2597525"/>
          </a:xfrm>
        </p:spPr>
        <p:txBody>
          <a:bodyPr>
            <a:normAutofit/>
          </a:bodyPr>
          <a:lstStyle/>
          <a:p>
            <a:pPr>
              <a:buFont typeface="Courier New" panose="02070309020205020404" pitchFamily="49" charset="0"/>
              <a:buChar char="o"/>
            </a:pPr>
            <a:r>
              <a:rPr lang="en-US" sz="1800" dirty="0"/>
              <a:t>Stack or combine individual grids into a multiband raster</a:t>
            </a:r>
          </a:p>
          <a:p>
            <a:pPr>
              <a:buFont typeface="Courier New" panose="02070309020205020404" pitchFamily="49" charset="0"/>
              <a:buChar char="o"/>
            </a:pPr>
            <a:r>
              <a:rPr lang="en-US" sz="1800" dirty="0"/>
              <a:t>Commonly used for image data</a:t>
            </a:r>
          </a:p>
          <a:p>
            <a:pPr>
              <a:buFont typeface="Courier New" panose="02070309020205020404" pitchFamily="49" charset="0"/>
              <a:buChar char="o"/>
            </a:pPr>
            <a:r>
              <a:rPr lang="en-US" sz="1800" dirty="0"/>
              <a:t>Can be used for all raster data, not just images</a:t>
            </a:r>
          </a:p>
          <a:p>
            <a:pPr>
              <a:buFont typeface="Courier New" panose="02070309020205020404" pitchFamily="49" charset="0"/>
              <a:buChar char="o"/>
            </a:pPr>
            <a:r>
              <a:rPr lang="en-US" sz="1800" dirty="0"/>
              <a:t>Output bands or layers will all have the same pixel type (e.g., 8-bit+16-bit</a:t>
            </a:r>
            <a:r>
              <a:rPr lang="en-US" sz="1800" dirty="0">
                <a:sym typeface="Wingdings" panose="05000000000000000000" pitchFamily="2" charset="2"/>
              </a:rPr>
              <a:t>16-bit</a:t>
            </a:r>
            <a:r>
              <a:rPr lang="en-US" sz="1800" dirty="0"/>
              <a:t>)</a:t>
            </a:r>
          </a:p>
          <a:p>
            <a:pPr>
              <a:buFont typeface="Courier New" panose="02070309020205020404" pitchFamily="49" charset="0"/>
              <a:buChar char="o"/>
            </a:pPr>
            <a:r>
              <a:rPr lang="en-US" sz="1800" dirty="0"/>
              <a:t>Bands will be layered in the order provided</a:t>
            </a:r>
          </a:p>
        </p:txBody>
      </p:sp>
      <p:sp>
        <p:nvSpPr>
          <p:cNvPr id="2" name="Slide Number Placeholder 1">
            <a:extLst>
              <a:ext uri="{FF2B5EF4-FFF2-40B4-BE49-F238E27FC236}">
                <a16:creationId xmlns:a16="http://schemas.microsoft.com/office/drawing/2014/main" id="{F2D6F304-6C42-4702-B637-F6D9732A9303}"/>
              </a:ext>
            </a:extLst>
          </p:cNvPr>
          <p:cNvSpPr>
            <a:spLocks noGrp="1"/>
          </p:cNvSpPr>
          <p:nvPr>
            <p:ph type="sldNum" sz="quarter" idx="12"/>
          </p:nvPr>
        </p:nvSpPr>
        <p:spPr/>
        <p:txBody>
          <a:bodyPr/>
          <a:lstStyle/>
          <a:p>
            <a:fld id="{127DDC20-79C9-9647-820E-6D40A3D210C3}" type="slidenum">
              <a:rPr lang="en-US" smtClean="0"/>
              <a:pPr/>
              <a:t>26</a:t>
            </a:fld>
            <a:endParaRPr lang="en-US"/>
          </a:p>
        </p:txBody>
      </p:sp>
      <p:pic>
        <p:nvPicPr>
          <p:cNvPr id="4" name="Picture 3" descr="Image showing composite bands tool"/>
          <p:cNvPicPr>
            <a:picLocks noChangeAspect="1"/>
          </p:cNvPicPr>
          <p:nvPr/>
        </p:nvPicPr>
        <p:blipFill>
          <a:blip r:embed="rId4"/>
          <a:stretch>
            <a:fillRect/>
          </a:stretch>
        </p:blipFill>
        <p:spPr>
          <a:xfrm>
            <a:off x="5626294" y="1299533"/>
            <a:ext cx="1924843" cy="1451448"/>
          </a:xfrm>
          <a:prstGeom prst="rect">
            <a:avLst/>
          </a:prstGeom>
        </p:spPr>
      </p:pic>
      <p:pic>
        <p:nvPicPr>
          <p:cNvPr id="5" name="Picture 4" descr="Image showing stack tool"/>
          <p:cNvPicPr>
            <a:picLocks noChangeAspect="1"/>
          </p:cNvPicPr>
          <p:nvPr/>
        </p:nvPicPr>
        <p:blipFill>
          <a:blip r:embed="rId5"/>
          <a:stretch>
            <a:fillRect/>
          </a:stretch>
        </p:blipFill>
        <p:spPr>
          <a:xfrm>
            <a:off x="5626294" y="3362450"/>
            <a:ext cx="1924843" cy="1669972"/>
          </a:xfrm>
          <a:prstGeom prst="rect">
            <a:avLst/>
          </a:prstGeom>
        </p:spPr>
      </p:pic>
      <p:pic>
        <p:nvPicPr>
          <p:cNvPr id="6" name="Picture 5" descr="Image showing stack example"/>
          <p:cNvPicPr>
            <a:picLocks noChangeAspect="1"/>
          </p:cNvPicPr>
          <p:nvPr/>
        </p:nvPicPr>
        <p:blipFill>
          <a:blip r:embed="rId6">
            <a:clrChange>
              <a:clrFrom>
                <a:srgbClr val="FFFFFF"/>
              </a:clrFrom>
              <a:clrTo>
                <a:srgbClr val="FFFFFF">
                  <a:alpha val="0"/>
                </a:srgbClr>
              </a:clrTo>
            </a:clrChange>
          </a:blip>
          <a:stretch>
            <a:fillRect/>
          </a:stretch>
        </p:blipFill>
        <p:spPr>
          <a:xfrm>
            <a:off x="2260444" y="3763106"/>
            <a:ext cx="1188838" cy="1219947"/>
          </a:xfrm>
          <a:prstGeom prst="rect">
            <a:avLst/>
          </a:prstGeom>
        </p:spPr>
      </p:pic>
      <p:cxnSp>
        <p:nvCxnSpPr>
          <p:cNvPr id="7" name="Straight Connector 6">
            <a:extLst>
              <a:ext uri="{FF2B5EF4-FFF2-40B4-BE49-F238E27FC236}">
                <a16:creationId xmlns:a16="http://schemas.microsoft.com/office/drawing/2014/main" id="{936B4D3C-C89F-4B5E-B69A-1DC2814ED3B9}"/>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itle 1">
            <a:extLst>
              <a:ext uri="{FF2B5EF4-FFF2-40B4-BE49-F238E27FC236}">
                <a16:creationId xmlns:a16="http://schemas.microsoft.com/office/drawing/2014/main" id="{259BD903-FB64-4352-A983-714D3BB71FD5}"/>
              </a:ext>
            </a:extLst>
          </p:cNvPr>
          <p:cNvSpPr txBox="1">
            <a:spLocks/>
          </p:cNvSpPr>
          <p:nvPr/>
        </p:nvSpPr>
        <p:spPr>
          <a:xfrm>
            <a:off x="243980" y="20059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Stack Grids</a:t>
            </a:r>
            <a:endParaRPr lang="en-US" sz="2600" dirty="0">
              <a:solidFill>
                <a:srgbClr val="7030A0"/>
              </a:solidFill>
            </a:endParaRPr>
          </a:p>
        </p:txBody>
      </p:sp>
      <p:sp>
        <p:nvSpPr>
          <p:cNvPr id="9" name="TextBox 8">
            <a:extLst>
              <a:ext uri="{FF2B5EF4-FFF2-40B4-BE49-F238E27FC236}">
                <a16:creationId xmlns:a16="http://schemas.microsoft.com/office/drawing/2014/main" id="{4CB844EA-F821-4504-9331-BE0689CF20FF}"/>
              </a:ext>
            </a:extLst>
          </p:cNvPr>
          <p:cNvSpPr txBox="1"/>
          <p:nvPr/>
        </p:nvSpPr>
        <p:spPr>
          <a:xfrm>
            <a:off x="5999630" y="2942937"/>
            <a:ext cx="1199029" cy="369332"/>
          </a:xfrm>
          <a:prstGeom prst="rect">
            <a:avLst/>
          </a:prstGeom>
          <a:noFill/>
        </p:spPr>
        <p:txBody>
          <a:bodyPr wrap="square">
            <a:spAutoFit/>
          </a:bodyPr>
          <a:lstStyle/>
          <a:p>
            <a:r>
              <a:rPr lang="en-US" baseline="0" dirty="0"/>
              <a:t>Stack Tool </a:t>
            </a:r>
            <a:endParaRPr lang="en-US" dirty="0"/>
          </a:p>
        </p:txBody>
      </p:sp>
      <p:sp>
        <p:nvSpPr>
          <p:cNvPr id="11" name="TextBox 10">
            <a:extLst>
              <a:ext uri="{FF2B5EF4-FFF2-40B4-BE49-F238E27FC236}">
                <a16:creationId xmlns:a16="http://schemas.microsoft.com/office/drawing/2014/main" id="{8CF93979-86F2-45E7-A600-A999E70C00F3}"/>
              </a:ext>
            </a:extLst>
          </p:cNvPr>
          <p:cNvSpPr txBox="1"/>
          <p:nvPr/>
        </p:nvSpPr>
        <p:spPr>
          <a:xfrm>
            <a:off x="5473567" y="934952"/>
            <a:ext cx="2325727" cy="369332"/>
          </a:xfrm>
          <a:prstGeom prst="rect">
            <a:avLst/>
          </a:prstGeom>
          <a:noFill/>
        </p:spPr>
        <p:txBody>
          <a:bodyPr wrap="square">
            <a:spAutoFit/>
          </a:bodyPr>
          <a:lstStyle/>
          <a:p>
            <a:r>
              <a:rPr lang="en-US" baseline="0" dirty="0"/>
              <a:t>Composite Bands Tool</a:t>
            </a:r>
            <a:endParaRPr lang="en-US" dirty="0"/>
          </a:p>
        </p:txBody>
      </p:sp>
      <p:sp>
        <p:nvSpPr>
          <p:cNvPr id="10" name="TextBox 9">
            <a:extLst>
              <a:ext uri="{FF2B5EF4-FFF2-40B4-BE49-F238E27FC236}">
                <a16:creationId xmlns:a16="http://schemas.microsoft.com/office/drawing/2014/main" id="{C5BA8892-12C9-4DF4-999F-770B83C1EAA8}"/>
              </a:ext>
            </a:extLst>
          </p:cNvPr>
          <p:cNvSpPr txBox="1"/>
          <p:nvPr/>
        </p:nvSpPr>
        <p:spPr>
          <a:xfrm>
            <a:off x="427674" y="4626077"/>
            <a:ext cx="1832770" cy="369332"/>
          </a:xfrm>
          <a:prstGeom prst="rect">
            <a:avLst/>
          </a:prstGeom>
          <a:noFill/>
        </p:spPr>
        <p:txBody>
          <a:bodyPr wrap="square" rtlCol="0">
            <a:spAutoFit/>
          </a:bodyPr>
          <a:lstStyle/>
          <a:p>
            <a:r>
              <a:rPr lang="en-US" dirty="0">
                <a:solidFill>
                  <a:srgbClr val="FF0000"/>
                </a:solidFill>
              </a:rPr>
              <a:t>Demonstration!</a:t>
            </a:r>
          </a:p>
        </p:txBody>
      </p:sp>
    </p:spTree>
    <p:extLst>
      <p:ext uri="{BB962C8B-B14F-4D97-AF65-F5344CB8AC3E}">
        <p14:creationId xmlns:p14="http://schemas.microsoft.com/office/powerpoint/2010/main" val="5045048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a:xfrm>
            <a:off x="710896" y="1936677"/>
            <a:ext cx="6807808" cy="919065"/>
          </a:xfrm>
        </p:spPr>
        <p:txBody>
          <a:bodyPr/>
          <a:lstStyle/>
          <a:p>
            <a:r>
              <a:rPr lang="en-US" dirty="0"/>
              <a:t>Neighborhood-Based Analysis</a:t>
            </a:r>
          </a:p>
        </p:txBody>
      </p:sp>
      <p:sp>
        <p:nvSpPr>
          <p:cNvPr id="3" name="Slide Number Placeholder 2">
            <a:extLst>
              <a:ext uri="{FF2B5EF4-FFF2-40B4-BE49-F238E27FC236}">
                <a16:creationId xmlns:a16="http://schemas.microsoft.com/office/drawing/2014/main" id="{AAAB5147-0B13-4812-8E3B-A4AD34C56C89}"/>
              </a:ext>
            </a:extLst>
          </p:cNvPr>
          <p:cNvSpPr>
            <a:spLocks noGrp="1"/>
          </p:cNvSpPr>
          <p:nvPr>
            <p:ph type="sldNum" sz="quarter" idx="12"/>
          </p:nvPr>
        </p:nvSpPr>
        <p:spPr/>
        <p:txBody>
          <a:bodyPr/>
          <a:lstStyle/>
          <a:p>
            <a:fld id="{127DDC20-79C9-9647-820E-6D40A3D210C3}" type="slidenum">
              <a:rPr lang="en-US" smtClean="0"/>
              <a:pPr/>
              <a:t>27</a:t>
            </a:fld>
            <a:endParaRPr lang="en-US"/>
          </a:p>
        </p:txBody>
      </p:sp>
    </p:spTree>
    <p:extLst>
      <p:ext uri="{BB962C8B-B14F-4D97-AF65-F5344CB8AC3E}">
        <p14:creationId xmlns:p14="http://schemas.microsoft.com/office/powerpoint/2010/main" val="33450751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custDataLst>
              <p:tags r:id="rId1"/>
            </p:custDataLst>
          </p:nvPr>
        </p:nvSpPr>
        <p:spPr>
          <a:xfrm>
            <a:off x="211015" y="1542782"/>
            <a:ext cx="4006682" cy="2550914"/>
          </a:xfrm>
        </p:spPr>
        <p:txBody>
          <a:bodyPr>
            <a:normAutofit/>
          </a:bodyPr>
          <a:lstStyle/>
          <a:p>
            <a:pPr>
              <a:buFont typeface="Courier New" panose="02070309020205020404" pitchFamily="49" charset="0"/>
              <a:buChar char="o"/>
            </a:pPr>
            <a:r>
              <a:rPr lang="en-US" sz="1800" dirty="0"/>
              <a:t>Neighborhood analysis, moving window analysis, focal operation, kernel analysis</a:t>
            </a:r>
          </a:p>
          <a:p>
            <a:pPr>
              <a:buFont typeface="Courier New" panose="02070309020205020404" pitchFamily="49" charset="0"/>
              <a:buChar char="o"/>
            </a:pPr>
            <a:r>
              <a:rPr lang="en-US" sz="1800" dirty="0"/>
              <a:t>Make calculation or compare cell values around a center cell</a:t>
            </a:r>
          </a:p>
        </p:txBody>
      </p:sp>
      <p:sp>
        <p:nvSpPr>
          <p:cNvPr id="4" name="Slide Number Placeholder 3">
            <a:extLst>
              <a:ext uri="{FF2B5EF4-FFF2-40B4-BE49-F238E27FC236}">
                <a16:creationId xmlns:a16="http://schemas.microsoft.com/office/drawing/2014/main" id="{C4012B53-91F6-475F-812F-6A97E4ADE07B}"/>
              </a:ext>
            </a:extLst>
          </p:cNvPr>
          <p:cNvSpPr>
            <a:spLocks noGrp="1"/>
          </p:cNvSpPr>
          <p:nvPr>
            <p:ph type="sldNum" sz="quarter" idx="12"/>
          </p:nvPr>
        </p:nvSpPr>
        <p:spPr/>
        <p:txBody>
          <a:bodyPr/>
          <a:lstStyle/>
          <a:p>
            <a:fld id="{127DDC20-79C9-9647-820E-6D40A3D210C3}" type="slidenum">
              <a:rPr lang="en-US" smtClean="0"/>
              <a:pPr/>
              <a:t>28</a:t>
            </a:fld>
            <a:endParaRPr lang="en-US"/>
          </a:p>
        </p:txBody>
      </p:sp>
      <p:pic>
        <p:nvPicPr>
          <p:cNvPr id="2" name="Picture 1" descr="Image showing moving window"/>
          <p:cNvPicPr>
            <a:picLocks noChangeAspect="1"/>
          </p:cNvPicPr>
          <p:nvPr/>
        </p:nvPicPr>
        <p:blipFill>
          <a:blip r:embed="rId5"/>
          <a:stretch>
            <a:fillRect/>
          </a:stretch>
        </p:blipFill>
        <p:spPr>
          <a:xfrm>
            <a:off x="4217697" y="1439885"/>
            <a:ext cx="3138352" cy="3187474"/>
          </a:xfrm>
          <a:prstGeom prst="rect">
            <a:avLst/>
          </a:prstGeom>
        </p:spPr>
      </p:pic>
      <p:sp>
        <p:nvSpPr>
          <p:cNvPr id="3" name="Rectangle 2" descr="Image showing square"/>
          <p:cNvSpPr/>
          <p:nvPr>
            <p:custDataLst>
              <p:tags r:id="rId2"/>
            </p:custDataLst>
          </p:nvPr>
        </p:nvSpPr>
        <p:spPr>
          <a:xfrm>
            <a:off x="4320593" y="1542782"/>
            <a:ext cx="874623" cy="926071"/>
          </a:xfrm>
          <a:prstGeom prst="rect">
            <a:avLst/>
          </a:prstGeom>
          <a:solidFill>
            <a:schemeClr val="accent1">
              <a:alpha val="50000"/>
            </a:schemeClr>
          </a:solidFill>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cxnSp>
        <p:nvCxnSpPr>
          <p:cNvPr id="6" name="Straight Connector 5">
            <a:extLst>
              <a:ext uri="{FF2B5EF4-FFF2-40B4-BE49-F238E27FC236}">
                <a16:creationId xmlns:a16="http://schemas.microsoft.com/office/drawing/2014/main" id="{FC85D87D-DE6C-476C-8102-9475BAE411BA}"/>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7" name="Title 1">
            <a:extLst>
              <a:ext uri="{FF2B5EF4-FFF2-40B4-BE49-F238E27FC236}">
                <a16:creationId xmlns:a16="http://schemas.microsoft.com/office/drawing/2014/main" id="{9B827186-D0DD-43C1-A1B3-652BDC9DAE31}"/>
              </a:ext>
            </a:extLst>
          </p:cNvPr>
          <p:cNvSpPr txBox="1">
            <a:spLocks/>
          </p:cNvSpPr>
          <p:nvPr/>
        </p:nvSpPr>
        <p:spPr>
          <a:xfrm>
            <a:off x="281993" y="189496"/>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What is a neighborhood?</a:t>
            </a:r>
            <a:endParaRPr lang="en-US" sz="2600" dirty="0">
              <a:solidFill>
                <a:srgbClr val="7030A0"/>
              </a:solidFill>
            </a:endParaRPr>
          </a:p>
        </p:txBody>
      </p:sp>
      <p:sp>
        <p:nvSpPr>
          <p:cNvPr id="8" name="Star: 5 Points 7">
            <a:extLst>
              <a:ext uri="{FF2B5EF4-FFF2-40B4-BE49-F238E27FC236}">
                <a16:creationId xmlns:a16="http://schemas.microsoft.com/office/drawing/2014/main" id="{464880E8-8A7D-46E0-32B7-118CD2550796}"/>
              </a:ext>
            </a:extLst>
          </p:cNvPr>
          <p:cNvSpPr/>
          <p:nvPr/>
        </p:nvSpPr>
        <p:spPr>
          <a:xfrm>
            <a:off x="4724348" y="1971653"/>
            <a:ext cx="117446" cy="102897"/>
          </a:xfrm>
          <a:prstGeom prst="star5">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457876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 showing moving window"/>
          <p:cNvPicPr>
            <a:picLocks noChangeAspect="1"/>
          </p:cNvPicPr>
          <p:nvPr/>
        </p:nvPicPr>
        <p:blipFill>
          <a:blip r:embed="rId5"/>
          <a:stretch>
            <a:fillRect/>
          </a:stretch>
        </p:blipFill>
        <p:spPr>
          <a:xfrm>
            <a:off x="4217697" y="1439885"/>
            <a:ext cx="3138352" cy="3187474"/>
          </a:xfrm>
          <a:prstGeom prst="rect">
            <a:avLst/>
          </a:prstGeom>
        </p:spPr>
      </p:pic>
      <p:sp>
        <p:nvSpPr>
          <p:cNvPr id="3" name="Rectangle 2" descr="Image showing square"/>
          <p:cNvSpPr/>
          <p:nvPr>
            <p:custDataLst>
              <p:tags r:id="rId1"/>
            </p:custDataLst>
          </p:nvPr>
        </p:nvSpPr>
        <p:spPr>
          <a:xfrm>
            <a:off x="4629284" y="1538971"/>
            <a:ext cx="874623" cy="926071"/>
          </a:xfrm>
          <a:prstGeom prst="rect">
            <a:avLst/>
          </a:prstGeom>
          <a:solidFill>
            <a:schemeClr val="accent1">
              <a:alpha val="50000"/>
            </a:schemeClr>
          </a:solidFill>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cxnSp>
        <p:nvCxnSpPr>
          <p:cNvPr id="8" name="Straight Connector 7">
            <a:extLst>
              <a:ext uri="{FF2B5EF4-FFF2-40B4-BE49-F238E27FC236}">
                <a16:creationId xmlns:a16="http://schemas.microsoft.com/office/drawing/2014/main" id="{3B9E5930-3D6A-49A1-8B12-30140038DF3A}"/>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9" name="Title 1">
            <a:extLst>
              <a:ext uri="{FF2B5EF4-FFF2-40B4-BE49-F238E27FC236}">
                <a16:creationId xmlns:a16="http://schemas.microsoft.com/office/drawing/2014/main" id="{9843DF0E-E7D8-4F15-98BC-1D02F6D13407}"/>
              </a:ext>
            </a:extLst>
          </p:cNvPr>
          <p:cNvSpPr txBox="1">
            <a:spLocks/>
          </p:cNvSpPr>
          <p:nvPr/>
        </p:nvSpPr>
        <p:spPr>
          <a:xfrm>
            <a:off x="211015" y="192554"/>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What is a neighborhood?</a:t>
            </a:r>
            <a:endParaRPr lang="en-US" sz="2600" dirty="0">
              <a:solidFill>
                <a:srgbClr val="7030A0"/>
              </a:solidFill>
            </a:endParaRPr>
          </a:p>
        </p:txBody>
      </p:sp>
      <p:sp>
        <p:nvSpPr>
          <p:cNvPr id="12" name="Content Placeholder 4">
            <a:extLst>
              <a:ext uri="{FF2B5EF4-FFF2-40B4-BE49-F238E27FC236}">
                <a16:creationId xmlns:a16="http://schemas.microsoft.com/office/drawing/2014/main" id="{3387C59B-D26D-4F1D-B883-7687CABC9C20}"/>
              </a:ext>
            </a:extLst>
          </p:cNvPr>
          <p:cNvSpPr>
            <a:spLocks noGrp="1"/>
          </p:cNvSpPr>
          <p:nvPr>
            <p:ph idx="1"/>
            <p:custDataLst>
              <p:tags r:id="rId2"/>
            </p:custDataLst>
          </p:nvPr>
        </p:nvSpPr>
        <p:spPr>
          <a:xfrm>
            <a:off x="211015" y="1032894"/>
            <a:ext cx="4006682" cy="2550914"/>
          </a:xfrm>
        </p:spPr>
        <p:txBody>
          <a:bodyPr>
            <a:normAutofit/>
          </a:bodyPr>
          <a:lstStyle/>
          <a:p>
            <a:pPr>
              <a:buFont typeface="Courier New" panose="02070309020205020404" pitchFamily="49" charset="0"/>
              <a:buChar char="o"/>
            </a:pPr>
            <a:r>
              <a:rPr lang="en-US" sz="1800" dirty="0"/>
              <a:t>Neighborhood analysis, moving window analysis, focal operation, kernel analysis</a:t>
            </a:r>
          </a:p>
          <a:p>
            <a:pPr>
              <a:buFont typeface="Courier New" panose="02070309020205020404" pitchFamily="49" charset="0"/>
              <a:buChar char="o"/>
            </a:pPr>
            <a:r>
              <a:rPr lang="en-US" sz="1800" dirty="0"/>
              <a:t>Make calculation or compare cell values around a center cell</a:t>
            </a:r>
          </a:p>
        </p:txBody>
      </p:sp>
      <p:sp>
        <p:nvSpPr>
          <p:cNvPr id="4" name="Slide Number Placeholder 3">
            <a:extLst>
              <a:ext uri="{FF2B5EF4-FFF2-40B4-BE49-F238E27FC236}">
                <a16:creationId xmlns:a16="http://schemas.microsoft.com/office/drawing/2014/main" id="{5455B09E-F15F-4904-B3E4-EF3494DB2FA0}"/>
              </a:ext>
            </a:extLst>
          </p:cNvPr>
          <p:cNvSpPr>
            <a:spLocks noGrp="1"/>
          </p:cNvSpPr>
          <p:nvPr>
            <p:ph type="sldNum" sz="quarter" idx="12"/>
          </p:nvPr>
        </p:nvSpPr>
        <p:spPr/>
        <p:txBody>
          <a:bodyPr/>
          <a:lstStyle/>
          <a:p>
            <a:fld id="{127DDC20-79C9-9647-820E-6D40A3D210C3}" type="slidenum">
              <a:rPr lang="en-US" smtClean="0"/>
              <a:pPr/>
              <a:t>29</a:t>
            </a:fld>
            <a:endParaRPr lang="en-US"/>
          </a:p>
        </p:txBody>
      </p:sp>
      <p:sp>
        <p:nvSpPr>
          <p:cNvPr id="5" name="Star: 5 Points 4">
            <a:extLst>
              <a:ext uri="{FF2B5EF4-FFF2-40B4-BE49-F238E27FC236}">
                <a16:creationId xmlns:a16="http://schemas.microsoft.com/office/drawing/2014/main" id="{A356C1A5-EA05-0A8E-3B20-9D659545D538}"/>
              </a:ext>
            </a:extLst>
          </p:cNvPr>
          <p:cNvSpPr/>
          <p:nvPr/>
        </p:nvSpPr>
        <p:spPr>
          <a:xfrm>
            <a:off x="5007872" y="1920204"/>
            <a:ext cx="117446" cy="102897"/>
          </a:xfrm>
          <a:prstGeom prst="star5">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descr="Image showing square">
            <a:extLst>
              <a:ext uri="{FF2B5EF4-FFF2-40B4-BE49-F238E27FC236}">
                <a16:creationId xmlns:a16="http://schemas.microsoft.com/office/drawing/2014/main" id="{78A8CE0A-6EF8-59F6-B399-7C90FBF2F97A}"/>
              </a:ext>
            </a:extLst>
          </p:cNvPr>
          <p:cNvSpPr/>
          <p:nvPr>
            <p:custDataLst>
              <p:tags r:id="rId3"/>
            </p:custDataLst>
          </p:nvPr>
        </p:nvSpPr>
        <p:spPr>
          <a:xfrm>
            <a:off x="4344372" y="1538971"/>
            <a:ext cx="874623" cy="926071"/>
          </a:xfrm>
          <a:prstGeom prst="rect">
            <a:avLst/>
          </a:prstGeom>
          <a:solidFill>
            <a:schemeClr val="accent1">
              <a:alpha val="50000"/>
            </a:schemeClr>
          </a:solidFill>
          <a:ln>
            <a:prstDash val="dash"/>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spTree>
    <p:extLst>
      <p:ext uri="{BB962C8B-B14F-4D97-AF65-F5344CB8AC3E}">
        <p14:creationId xmlns:p14="http://schemas.microsoft.com/office/powerpoint/2010/main" val="812697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 showing moving window"/>
          <p:cNvPicPr>
            <a:picLocks noChangeAspect="1"/>
          </p:cNvPicPr>
          <p:nvPr/>
        </p:nvPicPr>
        <p:blipFill>
          <a:blip r:embed="rId4"/>
          <a:stretch>
            <a:fillRect/>
          </a:stretch>
        </p:blipFill>
        <p:spPr>
          <a:xfrm>
            <a:off x="4217697" y="1439885"/>
            <a:ext cx="3138352" cy="3187474"/>
          </a:xfrm>
          <a:prstGeom prst="rect">
            <a:avLst/>
          </a:prstGeom>
        </p:spPr>
      </p:pic>
      <p:sp>
        <p:nvSpPr>
          <p:cNvPr id="3" name="Rectangle 2" descr="Image showing square"/>
          <p:cNvSpPr/>
          <p:nvPr>
            <p:custDataLst>
              <p:tags r:id="rId1"/>
            </p:custDataLst>
          </p:nvPr>
        </p:nvSpPr>
        <p:spPr>
          <a:xfrm>
            <a:off x="4905461" y="1542782"/>
            <a:ext cx="874623" cy="926071"/>
          </a:xfrm>
          <a:prstGeom prst="rect">
            <a:avLst/>
          </a:prstGeom>
          <a:solidFill>
            <a:schemeClr val="accent1">
              <a:alpha val="50000"/>
            </a:schemeClr>
          </a:solidFill>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cxnSp>
        <p:nvCxnSpPr>
          <p:cNvPr id="8" name="Straight Connector 7">
            <a:extLst>
              <a:ext uri="{FF2B5EF4-FFF2-40B4-BE49-F238E27FC236}">
                <a16:creationId xmlns:a16="http://schemas.microsoft.com/office/drawing/2014/main" id="{5CDC2290-BBB7-4087-B9D5-CC6B0175F99C}"/>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9" name="Title 1">
            <a:extLst>
              <a:ext uri="{FF2B5EF4-FFF2-40B4-BE49-F238E27FC236}">
                <a16:creationId xmlns:a16="http://schemas.microsoft.com/office/drawing/2014/main" id="{AE432AF9-699E-4BAF-AB63-A325C9448ED8}"/>
              </a:ext>
            </a:extLst>
          </p:cNvPr>
          <p:cNvSpPr txBox="1">
            <a:spLocks/>
          </p:cNvSpPr>
          <p:nvPr/>
        </p:nvSpPr>
        <p:spPr>
          <a:xfrm>
            <a:off x="179097" y="208169"/>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What is a neighborhood?</a:t>
            </a:r>
            <a:endParaRPr lang="en-US" sz="2600" dirty="0">
              <a:solidFill>
                <a:srgbClr val="7030A0"/>
              </a:solidFill>
            </a:endParaRPr>
          </a:p>
        </p:txBody>
      </p:sp>
      <p:sp>
        <p:nvSpPr>
          <p:cNvPr id="12" name="Content Placeholder 4">
            <a:extLst>
              <a:ext uri="{FF2B5EF4-FFF2-40B4-BE49-F238E27FC236}">
                <a16:creationId xmlns:a16="http://schemas.microsoft.com/office/drawing/2014/main" id="{55F8DC72-8812-41E9-B179-1682E8665788}"/>
              </a:ext>
            </a:extLst>
          </p:cNvPr>
          <p:cNvSpPr>
            <a:spLocks noGrp="1"/>
          </p:cNvSpPr>
          <p:nvPr>
            <p:ph idx="1"/>
            <p:custDataLst>
              <p:tags r:id="rId2"/>
            </p:custDataLst>
          </p:nvPr>
        </p:nvSpPr>
        <p:spPr>
          <a:xfrm>
            <a:off x="179097" y="1341446"/>
            <a:ext cx="4006682" cy="2131596"/>
          </a:xfrm>
        </p:spPr>
        <p:txBody>
          <a:bodyPr>
            <a:normAutofit/>
          </a:bodyPr>
          <a:lstStyle/>
          <a:p>
            <a:pPr>
              <a:buFont typeface="Courier New" panose="02070309020205020404" pitchFamily="49" charset="0"/>
              <a:buChar char="o"/>
            </a:pPr>
            <a:r>
              <a:rPr lang="en-US" sz="2000" dirty="0"/>
              <a:t>Neighborhood analysis, moving window analysis, focal operation, kernel analysis</a:t>
            </a:r>
          </a:p>
          <a:p>
            <a:pPr>
              <a:buFont typeface="Courier New" panose="02070309020205020404" pitchFamily="49" charset="0"/>
              <a:buChar char="o"/>
            </a:pPr>
            <a:r>
              <a:rPr lang="en-US" sz="2000" dirty="0"/>
              <a:t>Make calculation or compare cell values around a center cell</a:t>
            </a:r>
          </a:p>
        </p:txBody>
      </p:sp>
      <p:sp>
        <p:nvSpPr>
          <p:cNvPr id="4" name="Slide Number Placeholder 3">
            <a:extLst>
              <a:ext uri="{FF2B5EF4-FFF2-40B4-BE49-F238E27FC236}">
                <a16:creationId xmlns:a16="http://schemas.microsoft.com/office/drawing/2014/main" id="{9DFA7B05-00A3-4F97-9ED9-E85A1730DD39}"/>
              </a:ext>
            </a:extLst>
          </p:cNvPr>
          <p:cNvSpPr>
            <a:spLocks noGrp="1"/>
          </p:cNvSpPr>
          <p:nvPr>
            <p:ph type="sldNum" sz="quarter" idx="12"/>
          </p:nvPr>
        </p:nvSpPr>
        <p:spPr/>
        <p:txBody>
          <a:bodyPr/>
          <a:lstStyle/>
          <a:p>
            <a:fld id="{127DDC20-79C9-9647-820E-6D40A3D210C3}" type="slidenum">
              <a:rPr lang="en-US" smtClean="0"/>
              <a:pPr/>
              <a:t>30</a:t>
            </a:fld>
            <a:endParaRPr lang="en-US"/>
          </a:p>
        </p:txBody>
      </p:sp>
      <p:sp>
        <p:nvSpPr>
          <p:cNvPr id="5" name="Star: 5 Points 4">
            <a:extLst>
              <a:ext uri="{FF2B5EF4-FFF2-40B4-BE49-F238E27FC236}">
                <a16:creationId xmlns:a16="http://schemas.microsoft.com/office/drawing/2014/main" id="{29B811CE-94A4-45F2-D3FE-3CFCA9461307}"/>
              </a:ext>
            </a:extLst>
          </p:cNvPr>
          <p:cNvSpPr/>
          <p:nvPr/>
        </p:nvSpPr>
        <p:spPr>
          <a:xfrm>
            <a:off x="5342772" y="1971653"/>
            <a:ext cx="117446" cy="102897"/>
          </a:xfrm>
          <a:prstGeom prst="star5">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614721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 showing moving window"/>
          <p:cNvPicPr>
            <a:picLocks noChangeAspect="1"/>
          </p:cNvPicPr>
          <p:nvPr/>
        </p:nvPicPr>
        <p:blipFill>
          <a:blip r:embed="rId4"/>
          <a:stretch>
            <a:fillRect/>
          </a:stretch>
        </p:blipFill>
        <p:spPr>
          <a:xfrm>
            <a:off x="4217697" y="1439885"/>
            <a:ext cx="3138352" cy="3187474"/>
          </a:xfrm>
          <a:prstGeom prst="rect">
            <a:avLst/>
          </a:prstGeom>
        </p:spPr>
      </p:pic>
      <p:sp>
        <p:nvSpPr>
          <p:cNvPr id="3" name="Rectangle 2" descr="Image showing square"/>
          <p:cNvSpPr/>
          <p:nvPr>
            <p:custDataLst>
              <p:tags r:id="rId1"/>
            </p:custDataLst>
          </p:nvPr>
        </p:nvSpPr>
        <p:spPr>
          <a:xfrm>
            <a:off x="5195216" y="1542782"/>
            <a:ext cx="874623" cy="926071"/>
          </a:xfrm>
          <a:prstGeom prst="rect">
            <a:avLst/>
          </a:prstGeom>
          <a:solidFill>
            <a:schemeClr val="accent1">
              <a:alpha val="50000"/>
            </a:schemeClr>
          </a:solidFill>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cxnSp>
        <p:nvCxnSpPr>
          <p:cNvPr id="8" name="Straight Connector 7">
            <a:extLst>
              <a:ext uri="{FF2B5EF4-FFF2-40B4-BE49-F238E27FC236}">
                <a16:creationId xmlns:a16="http://schemas.microsoft.com/office/drawing/2014/main" id="{5627CCB2-48C5-43B3-B754-0AC33FDEA685}"/>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9" name="Title 1">
            <a:extLst>
              <a:ext uri="{FF2B5EF4-FFF2-40B4-BE49-F238E27FC236}">
                <a16:creationId xmlns:a16="http://schemas.microsoft.com/office/drawing/2014/main" id="{7AE7F471-A1C7-41C0-BB5B-C4D2771D9847}"/>
              </a:ext>
            </a:extLst>
          </p:cNvPr>
          <p:cNvSpPr txBox="1">
            <a:spLocks/>
          </p:cNvSpPr>
          <p:nvPr/>
        </p:nvSpPr>
        <p:spPr>
          <a:xfrm>
            <a:off x="211015" y="18110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What is a neighborhood?</a:t>
            </a:r>
            <a:endParaRPr lang="en-US" sz="2600" dirty="0">
              <a:solidFill>
                <a:srgbClr val="7030A0"/>
              </a:solidFill>
            </a:endParaRPr>
          </a:p>
        </p:txBody>
      </p:sp>
      <p:sp>
        <p:nvSpPr>
          <p:cNvPr id="12" name="Content Placeholder 4">
            <a:extLst>
              <a:ext uri="{FF2B5EF4-FFF2-40B4-BE49-F238E27FC236}">
                <a16:creationId xmlns:a16="http://schemas.microsoft.com/office/drawing/2014/main" id="{C60BEA17-60C9-4AF0-8BC9-A37A4B79C352}"/>
              </a:ext>
            </a:extLst>
          </p:cNvPr>
          <p:cNvSpPr>
            <a:spLocks noGrp="1"/>
          </p:cNvSpPr>
          <p:nvPr>
            <p:ph idx="1"/>
            <p:custDataLst>
              <p:tags r:id="rId2"/>
            </p:custDataLst>
          </p:nvPr>
        </p:nvSpPr>
        <p:spPr>
          <a:xfrm>
            <a:off x="211015" y="1542782"/>
            <a:ext cx="4006682" cy="2550914"/>
          </a:xfrm>
        </p:spPr>
        <p:txBody>
          <a:bodyPr>
            <a:normAutofit/>
          </a:bodyPr>
          <a:lstStyle/>
          <a:p>
            <a:pPr>
              <a:buFont typeface="Courier New" panose="02070309020205020404" pitchFamily="49" charset="0"/>
              <a:buChar char="o"/>
            </a:pPr>
            <a:r>
              <a:rPr lang="en-US" dirty="0"/>
              <a:t>Neighborhood analysis, moving window analysis, focal operation, kernel analysis</a:t>
            </a:r>
          </a:p>
          <a:p>
            <a:pPr>
              <a:buFont typeface="Courier New" panose="02070309020205020404" pitchFamily="49" charset="0"/>
              <a:buChar char="o"/>
            </a:pPr>
            <a:r>
              <a:rPr lang="en-US" dirty="0"/>
              <a:t>Make calculation or compare cell values around a center cell</a:t>
            </a:r>
          </a:p>
        </p:txBody>
      </p:sp>
      <p:sp>
        <p:nvSpPr>
          <p:cNvPr id="4" name="Slide Number Placeholder 3">
            <a:extLst>
              <a:ext uri="{FF2B5EF4-FFF2-40B4-BE49-F238E27FC236}">
                <a16:creationId xmlns:a16="http://schemas.microsoft.com/office/drawing/2014/main" id="{029926F2-DF81-4F03-8CC0-923DFF427A5D}"/>
              </a:ext>
            </a:extLst>
          </p:cNvPr>
          <p:cNvSpPr>
            <a:spLocks noGrp="1"/>
          </p:cNvSpPr>
          <p:nvPr>
            <p:ph type="sldNum" sz="quarter" idx="12"/>
          </p:nvPr>
        </p:nvSpPr>
        <p:spPr/>
        <p:txBody>
          <a:bodyPr/>
          <a:lstStyle/>
          <a:p>
            <a:fld id="{127DDC20-79C9-9647-820E-6D40A3D210C3}" type="slidenum">
              <a:rPr lang="en-US" smtClean="0"/>
              <a:pPr/>
              <a:t>31</a:t>
            </a:fld>
            <a:endParaRPr lang="en-US"/>
          </a:p>
        </p:txBody>
      </p:sp>
      <p:sp>
        <p:nvSpPr>
          <p:cNvPr id="6" name="Star: 5 Points 5">
            <a:extLst>
              <a:ext uri="{FF2B5EF4-FFF2-40B4-BE49-F238E27FC236}">
                <a16:creationId xmlns:a16="http://schemas.microsoft.com/office/drawing/2014/main" id="{EA9FC347-AB13-9808-769A-BBCE0C635011}"/>
              </a:ext>
            </a:extLst>
          </p:cNvPr>
          <p:cNvSpPr/>
          <p:nvPr/>
        </p:nvSpPr>
        <p:spPr>
          <a:xfrm>
            <a:off x="5610704" y="1954368"/>
            <a:ext cx="117446" cy="102897"/>
          </a:xfrm>
          <a:prstGeom prst="star5">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21791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 showing moving window"/>
          <p:cNvPicPr>
            <a:picLocks noChangeAspect="1"/>
          </p:cNvPicPr>
          <p:nvPr/>
        </p:nvPicPr>
        <p:blipFill>
          <a:blip r:embed="rId4"/>
          <a:stretch>
            <a:fillRect/>
          </a:stretch>
        </p:blipFill>
        <p:spPr>
          <a:xfrm>
            <a:off x="4217697" y="1439885"/>
            <a:ext cx="3138352" cy="3187474"/>
          </a:xfrm>
          <a:prstGeom prst="rect">
            <a:avLst/>
          </a:prstGeom>
        </p:spPr>
      </p:pic>
      <p:sp>
        <p:nvSpPr>
          <p:cNvPr id="3" name="Rectangle 2" descr="Image showing square"/>
          <p:cNvSpPr/>
          <p:nvPr>
            <p:custDataLst>
              <p:tags r:id="rId1"/>
            </p:custDataLst>
          </p:nvPr>
        </p:nvSpPr>
        <p:spPr>
          <a:xfrm>
            <a:off x="5503907" y="1542782"/>
            <a:ext cx="874623" cy="926071"/>
          </a:xfrm>
          <a:prstGeom prst="rect">
            <a:avLst/>
          </a:prstGeom>
          <a:solidFill>
            <a:schemeClr val="accent1">
              <a:alpha val="50000"/>
            </a:schemeClr>
          </a:solidFill>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sp>
        <p:nvSpPr>
          <p:cNvPr id="8" name="Content Placeholder 4">
            <a:extLst>
              <a:ext uri="{FF2B5EF4-FFF2-40B4-BE49-F238E27FC236}">
                <a16:creationId xmlns:a16="http://schemas.microsoft.com/office/drawing/2014/main" id="{FADE7D4B-5D21-491C-BE4F-A83D7017B2F8}"/>
              </a:ext>
            </a:extLst>
          </p:cNvPr>
          <p:cNvSpPr>
            <a:spLocks noGrp="1"/>
          </p:cNvSpPr>
          <p:nvPr>
            <p:ph idx="1"/>
            <p:custDataLst>
              <p:tags r:id="rId2"/>
            </p:custDataLst>
          </p:nvPr>
        </p:nvSpPr>
        <p:spPr>
          <a:xfrm>
            <a:off x="179213" y="1021579"/>
            <a:ext cx="4006682" cy="2550914"/>
          </a:xfrm>
        </p:spPr>
        <p:txBody>
          <a:bodyPr>
            <a:normAutofit/>
          </a:bodyPr>
          <a:lstStyle/>
          <a:p>
            <a:pPr>
              <a:buFont typeface="Courier New" panose="02070309020205020404" pitchFamily="49" charset="0"/>
              <a:buChar char="o"/>
            </a:pPr>
            <a:r>
              <a:rPr lang="en-US" sz="2000" dirty="0"/>
              <a:t>Neighborhood analysis, moving window analysis, focal operation, kernel analysis</a:t>
            </a:r>
          </a:p>
          <a:p>
            <a:pPr>
              <a:buFont typeface="Courier New" panose="02070309020205020404" pitchFamily="49" charset="0"/>
              <a:buChar char="o"/>
            </a:pPr>
            <a:r>
              <a:rPr lang="en-US" sz="2000" dirty="0"/>
              <a:t>Make calculation or compare cell values around a center cell</a:t>
            </a:r>
          </a:p>
        </p:txBody>
      </p:sp>
      <p:sp>
        <p:nvSpPr>
          <p:cNvPr id="4" name="Slide Number Placeholder 3">
            <a:extLst>
              <a:ext uri="{FF2B5EF4-FFF2-40B4-BE49-F238E27FC236}">
                <a16:creationId xmlns:a16="http://schemas.microsoft.com/office/drawing/2014/main" id="{49B0F788-EBCF-430B-9148-11FAF67DD06E}"/>
              </a:ext>
            </a:extLst>
          </p:cNvPr>
          <p:cNvSpPr>
            <a:spLocks noGrp="1"/>
          </p:cNvSpPr>
          <p:nvPr>
            <p:ph type="sldNum" sz="quarter" idx="12"/>
          </p:nvPr>
        </p:nvSpPr>
        <p:spPr/>
        <p:txBody>
          <a:bodyPr/>
          <a:lstStyle/>
          <a:p>
            <a:fld id="{127DDC20-79C9-9647-820E-6D40A3D210C3}" type="slidenum">
              <a:rPr lang="en-US" smtClean="0"/>
              <a:pPr/>
              <a:t>32</a:t>
            </a:fld>
            <a:endParaRPr lang="en-US"/>
          </a:p>
        </p:txBody>
      </p:sp>
      <p:cxnSp>
        <p:nvCxnSpPr>
          <p:cNvPr id="11" name="Straight Connector 10">
            <a:extLst>
              <a:ext uri="{FF2B5EF4-FFF2-40B4-BE49-F238E27FC236}">
                <a16:creationId xmlns:a16="http://schemas.microsoft.com/office/drawing/2014/main" id="{3B3675A2-4D74-47B1-84FA-20ABDB1C94B3}"/>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2" name="Title 1">
            <a:extLst>
              <a:ext uri="{FF2B5EF4-FFF2-40B4-BE49-F238E27FC236}">
                <a16:creationId xmlns:a16="http://schemas.microsoft.com/office/drawing/2014/main" id="{858EE359-B50D-4EB9-8066-399CED31D0BF}"/>
              </a:ext>
            </a:extLst>
          </p:cNvPr>
          <p:cNvSpPr txBox="1">
            <a:spLocks/>
          </p:cNvSpPr>
          <p:nvPr/>
        </p:nvSpPr>
        <p:spPr>
          <a:xfrm>
            <a:off x="211015" y="164329"/>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What is a neighborhood?</a:t>
            </a:r>
            <a:endParaRPr lang="en-US" sz="2600" dirty="0">
              <a:solidFill>
                <a:srgbClr val="7030A0"/>
              </a:solidFill>
            </a:endParaRPr>
          </a:p>
        </p:txBody>
      </p:sp>
      <p:sp>
        <p:nvSpPr>
          <p:cNvPr id="5" name="Star: 5 Points 4">
            <a:extLst>
              <a:ext uri="{FF2B5EF4-FFF2-40B4-BE49-F238E27FC236}">
                <a16:creationId xmlns:a16="http://schemas.microsoft.com/office/drawing/2014/main" id="{FD6379DF-505F-3411-ABF9-847835E2CEB9}"/>
              </a:ext>
            </a:extLst>
          </p:cNvPr>
          <p:cNvSpPr/>
          <p:nvPr/>
        </p:nvSpPr>
        <p:spPr>
          <a:xfrm>
            <a:off x="5882495" y="1946486"/>
            <a:ext cx="117446" cy="102897"/>
          </a:xfrm>
          <a:prstGeom prst="star5">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132607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 showing moving window"/>
          <p:cNvPicPr>
            <a:picLocks noChangeAspect="1"/>
          </p:cNvPicPr>
          <p:nvPr/>
        </p:nvPicPr>
        <p:blipFill>
          <a:blip r:embed="rId5">
            <a:clrChange>
              <a:clrFrom>
                <a:srgbClr val="FFFFFF"/>
              </a:clrFrom>
              <a:clrTo>
                <a:srgbClr val="FFFFFF">
                  <a:alpha val="0"/>
                </a:srgbClr>
              </a:clrTo>
            </a:clrChange>
          </a:blip>
          <a:stretch>
            <a:fillRect/>
          </a:stretch>
        </p:blipFill>
        <p:spPr>
          <a:xfrm>
            <a:off x="1182241" y="1542782"/>
            <a:ext cx="2881110" cy="2860604"/>
          </a:xfrm>
          <a:prstGeom prst="rect">
            <a:avLst/>
          </a:prstGeom>
        </p:spPr>
      </p:pic>
      <p:pic>
        <p:nvPicPr>
          <p:cNvPr id="3" name="Picture 2" descr="Image showing moving window"/>
          <p:cNvPicPr>
            <a:picLocks noChangeAspect="1"/>
          </p:cNvPicPr>
          <p:nvPr/>
        </p:nvPicPr>
        <p:blipFill>
          <a:blip r:embed="rId6">
            <a:clrChange>
              <a:clrFrom>
                <a:srgbClr val="FFFFFF"/>
              </a:clrFrom>
              <a:clrTo>
                <a:srgbClr val="FFFFFF">
                  <a:alpha val="0"/>
                </a:srgbClr>
              </a:clrTo>
            </a:clrChange>
          </a:blip>
          <a:stretch>
            <a:fillRect/>
          </a:stretch>
        </p:blipFill>
        <p:spPr>
          <a:xfrm>
            <a:off x="4423490" y="1494425"/>
            <a:ext cx="2920287" cy="2961129"/>
          </a:xfrm>
          <a:prstGeom prst="rect">
            <a:avLst/>
          </a:prstGeom>
        </p:spPr>
      </p:pic>
      <p:sp>
        <p:nvSpPr>
          <p:cNvPr id="6" name="TextBox 5"/>
          <p:cNvSpPr txBox="1"/>
          <p:nvPr>
            <p:custDataLst>
              <p:tags r:id="rId1"/>
            </p:custDataLst>
          </p:nvPr>
        </p:nvSpPr>
        <p:spPr>
          <a:xfrm>
            <a:off x="667757" y="4496986"/>
            <a:ext cx="3755733" cy="316690"/>
          </a:xfrm>
          <a:prstGeom prst="rect">
            <a:avLst/>
          </a:prstGeom>
          <a:noFill/>
        </p:spPr>
        <p:txBody>
          <a:bodyPr wrap="square" rtlCol="0">
            <a:spAutoFit/>
          </a:bodyPr>
          <a:lstStyle/>
          <a:p>
            <a:pPr>
              <a:lnSpc>
                <a:spcPct val="90000"/>
              </a:lnSpc>
            </a:pPr>
            <a:r>
              <a:rPr lang="en-US" sz="1620" b="1" dirty="0">
                <a:solidFill>
                  <a:srgbClr val="E3874F"/>
                </a:solidFill>
              </a:rPr>
              <a:t>Rectangle</a:t>
            </a:r>
            <a:r>
              <a:rPr lang="en-US" sz="1620" dirty="0"/>
              <a:t>, Width = 3 cells Height = 3 cells</a:t>
            </a:r>
          </a:p>
        </p:txBody>
      </p:sp>
      <p:sp>
        <p:nvSpPr>
          <p:cNvPr id="7" name="TextBox 6"/>
          <p:cNvSpPr txBox="1"/>
          <p:nvPr>
            <p:custDataLst>
              <p:tags r:id="rId2"/>
            </p:custDataLst>
          </p:nvPr>
        </p:nvSpPr>
        <p:spPr>
          <a:xfrm>
            <a:off x="4269145" y="4496986"/>
            <a:ext cx="3755733" cy="316690"/>
          </a:xfrm>
          <a:prstGeom prst="rect">
            <a:avLst/>
          </a:prstGeom>
          <a:noFill/>
        </p:spPr>
        <p:txBody>
          <a:bodyPr wrap="square" rtlCol="0">
            <a:spAutoFit/>
          </a:bodyPr>
          <a:lstStyle/>
          <a:p>
            <a:pPr>
              <a:lnSpc>
                <a:spcPct val="90000"/>
              </a:lnSpc>
            </a:pPr>
            <a:r>
              <a:rPr lang="en-US" sz="1620" b="1" dirty="0">
                <a:solidFill>
                  <a:srgbClr val="E3874F"/>
                </a:solidFill>
              </a:rPr>
              <a:t>Rectangle</a:t>
            </a:r>
            <a:r>
              <a:rPr lang="en-US" sz="1620" dirty="0"/>
              <a:t>, Width = 5 cells Height = 5 cells</a:t>
            </a:r>
          </a:p>
        </p:txBody>
      </p:sp>
      <p:cxnSp>
        <p:nvCxnSpPr>
          <p:cNvPr id="8" name="Straight Connector 7">
            <a:extLst>
              <a:ext uri="{FF2B5EF4-FFF2-40B4-BE49-F238E27FC236}">
                <a16:creationId xmlns:a16="http://schemas.microsoft.com/office/drawing/2014/main" id="{D2314580-4863-44DA-8D69-6700C7A733BD}"/>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9" name="Title 1">
            <a:extLst>
              <a:ext uri="{FF2B5EF4-FFF2-40B4-BE49-F238E27FC236}">
                <a16:creationId xmlns:a16="http://schemas.microsoft.com/office/drawing/2014/main" id="{1CDE8D9D-B226-4E3E-B756-B7242BB3B060}"/>
              </a:ext>
            </a:extLst>
          </p:cNvPr>
          <p:cNvSpPr txBox="1">
            <a:spLocks/>
          </p:cNvSpPr>
          <p:nvPr/>
        </p:nvSpPr>
        <p:spPr>
          <a:xfrm>
            <a:off x="230545" y="16175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Defining a Neighborhood</a:t>
            </a:r>
            <a:endParaRPr lang="en-US" sz="2600" dirty="0">
              <a:solidFill>
                <a:srgbClr val="7030A0"/>
              </a:solidFill>
            </a:endParaRPr>
          </a:p>
        </p:txBody>
      </p:sp>
      <p:sp>
        <p:nvSpPr>
          <p:cNvPr id="4" name="Slide Number Placeholder 3">
            <a:extLst>
              <a:ext uri="{FF2B5EF4-FFF2-40B4-BE49-F238E27FC236}">
                <a16:creationId xmlns:a16="http://schemas.microsoft.com/office/drawing/2014/main" id="{3F132292-6A0F-459B-BFCA-4F8CB34C51C6}"/>
              </a:ext>
            </a:extLst>
          </p:cNvPr>
          <p:cNvSpPr>
            <a:spLocks noGrp="1"/>
          </p:cNvSpPr>
          <p:nvPr>
            <p:ph type="sldNum" sz="quarter" idx="12"/>
          </p:nvPr>
        </p:nvSpPr>
        <p:spPr/>
        <p:txBody>
          <a:bodyPr/>
          <a:lstStyle/>
          <a:p>
            <a:fld id="{127DDC20-79C9-9647-820E-6D40A3D210C3}" type="slidenum">
              <a:rPr lang="en-US" smtClean="0"/>
              <a:pPr/>
              <a:t>33</a:t>
            </a:fld>
            <a:endParaRPr lang="en-US"/>
          </a:p>
        </p:txBody>
      </p:sp>
    </p:spTree>
    <p:extLst>
      <p:ext uri="{BB962C8B-B14F-4D97-AF65-F5344CB8AC3E}">
        <p14:creationId xmlns:p14="http://schemas.microsoft.com/office/powerpoint/2010/main" val="6179208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 showing moving window"/>
          <p:cNvPicPr>
            <a:picLocks noChangeAspect="1"/>
          </p:cNvPicPr>
          <p:nvPr/>
        </p:nvPicPr>
        <p:blipFill>
          <a:blip r:embed="rId5">
            <a:clrChange>
              <a:clrFrom>
                <a:srgbClr val="FFFFFF"/>
              </a:clrFrom>
              <a:clrTo>
                <a:srgbClr val="FFFFFF">
                  <a:alpha val="0"/>
                </a:srgbClr>
              </a:clrTo>
            </a:clrChange>
          </a:blip>
          <a:stretch>
            <a:fillRect/>
          </a:stretch>
        </p:blipFill>
        <p:spPr>
          <a:xfrm>
            <a:off x="1027898" y="1439885"/>
            <a:ext cx="2932557" cy="2937676"/>
          </a:xfrm>
          <a:prstGeom prst="rect">
            <a:avLst/>
          </a:prstGeom>
        </p:spPr>
      </p:pic>
      <p:pic>
        <p:nvPicPr>
          <p:cNvPr id="3" name="Picture 2" descr="Image showing moving window"/>
          <p:cNvPicPr>
            <a:picLocks noChangeAspect="1"/>
          </p:cNvPicPr>
          <p:nvPr/>
        </p:nvPicPr>
        <p:blipFill>
          <a:blip r:embed="rId6">
            <a:clrChange>
              <a:clrFrom>
                <a:srgbClr val="FFFFFF"/>
              </a:clrFrom>
              <a:clrTo>
                <a:srgbClr val="FFFFFF">
                  <a:alpha val="0"/>
                </a:srgbClr>
              </a:clrTo>
            </a:clrChange>
          </a:blip>
          <a:stretch>
            <a:fillRect/>
          </a:stretch>
        </p:blipFill>
        <p:spPr>
          <a:xfrm>
            <a:off x="4330559" y="1439885"/>
            <a:ext cx="2994169" cy="2937675"/>
          </a:xfrm>
          <a:prstGeom prst="rect">
            <a:avLst/>
          </a:prstGeom>
        </p:spPr>
      </p:pic>
      <p:sp>
        <p:nvSpPr>
          <p:cNvPr id="8" name="TextBox 7"/>
          <p:cNvSpPr txBox="1"/>
          <p:nvPr>
            <p:custDataLst>
              <p:tags r:id="rId1"/>
            </p:custDataLst>
          </p:nvPr>
        </p:nvSpPr>
        <p:spPr>
          <a:xfrm>
            <a:off x="1439483" y="4475341"/>
            <a:ext cx="3755733" cy="316690"/>
          </a:xfrm>
          <a:prstGeom prst="rect">
            <a:avLst/>
          </a:prstGeom>
          <a:noFill/>
        </p:spPr>
        <p:txBody>
          <a:bodyPr wrap="square" rtlCol="0">
            <a:spAutoFit/>
          </a:bodyPr>
          <a:lstStyle/>
          <a:p>
            <a:pPr>
              <a:lnSpc>
                <a:spcPct val="90000"/>
              </a:lnSpc>
            </a:pPr>
            <a:r>
              <a:rPr lang="en-US" sz="1620" b="1" dirty="0">
                <a:solidFill>
                  <a:srgbClr val="E3874F"/>
                </a:solidFill>
              </a:rPr>
              <a:t>Circle</a:t>
            </a:r>
            <a:r>
              <a:rPr lang="en-US" sz="1620" dirty="0"/>
              <a:t>, Radius = 1.5 cell</a:t>
            </a:r>
          </a:p>
        </p:txBody>
      </p:sp>
      <p:sp>
        <p:nvSpPr>
          <p:cNvPr id="9" name="TextBox 8"/>
          <p:cNvSpPr txBox="1"/>
          <p:nvPr>
            <p:custDataLst>
              <p:tags r:id="rId2"/>
            </p:custDataLst>
          </p:nvPr>
        </p:nvSpPr>
        <p:spPr>
          <a:xfrm>
            <a:off x="4989423" y="4475341"/>
            <a:ext cx="3755733" cy="316690"/>
          </a:xfrm>
          <a:prstGeom prst="rect">
            <a:avLst/>
          </a:prstGeom>
          <a:noFill/>
        </p:spPr>
        <p:txBody>
          <a:bodyPr wrap="square" rtlCol="0">
            <a:spAutoFit/>
          </a:bodyPr>
          <a:lstStyle/>
          <a:p>
            <a:pPr>
              <a:lnSpc>
                <a:spcPct val="90000"/>
              </a:lnSpc>
            </a:pPr>
            <a:r>
              <a:rPr lang="en-US" sz="1620" b="1" dirty="0">
                <a:solidFill>
                  <a:srgbClr val="E3874F"/>
                </a:solidFill>
              </a:rPr>
              <a:t>Circle</a:t>
            </a:r>
            <a:r>
              <a:rPr lang="en-US" sz="1620" dirty="0"/>
              <a:t>, Radius = 2.5 cells</a:t>
            </a:r>
          </a:p>
        </p:txBody>
      </p:sp>
      <p:cxnSp>
        <p:nvCxnSpPr>
          <p:cNvPr id="7" name="Straight Connector 6">
            <a:extLst>
              <a:ext uri="{FF2B5EF4-FFF2-40B4-BE49-F238E27FC236}">
                <a16:creationId xmlns:a16="http://schemas.microsoft.com/office/drawing/2014/main" id="{C007D5A5-5186-4BB4-AFA2-0304FD3BDA90}"/>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0" name="Title 1">
            <a:extLst>
              <a:ext uri="{FF2B5EF4-FFF2-40B4-BE49-F238E27FC236}">
                <a16:creationId xmlns:a16="http://schemas.microsoft.com/office/drawing/2014/main" id="{F52637B9-FA05-4EDE-8598-5726395CB848}"/>
              </a:ext>
            </a:extLst>
          </p:cNvPr>
          <p:cNvSpPr txBox="1">
            <a:spLocks/>
          </p:cNvSpPr>
          <p:nvPr/>
        </p:nvSpPr>
        <p:spPr>
          <a:xfrm>
            <a:off x="152400" y="15215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Defining a Neighborhood</a:t>
            </a:r>
            <a:endParaRPr lang="en-US" sz="2600" dirty="0">
              <a:solidFill>
                <a:srgbClr val="7030A0"/>
              </a:solidFill>
            </a:endParaRPr>
          </a:p>
        </p:txBody>
      </p:sp>
      <p:sp>
        <p:nvSpPr>
          <p:cNvPr id="4" name="Slide Number Placeholder 3">
            <a:extLst>
              <a:ext uri="{FF2B5EF4-FFF2-40B4-BE49-F238E27FC236}">
                <a16:creationId xmlns:a16="http://schemas.microsoft.com/office/drawing/2014/main" id="{41EF1712-E534-46C5-ADA2-2F0303A10305}"/>
              </a:ext>
            </a:extLst>
          </p:cNvPr>
          <p:cNvSpPr>
            <a:spLocks noGrp="1"/>
          </p:cNvSpPr>
          <p:nvPr>
            <p:ph type="sldNum" sz="quarter" idx="12"/>
          </p:nvPr>
        </p:nvSpPr>
        <p:spPr/>
        <p:txBody>
          <a:bodyPr/>
          <a:lstStyle/>
          <a:p>
            <a:fld id="{127DDC20-79C9-9647-820E-6D40A3D210C3}" type="slidenum">
              <a:rPr lang="en-US" smtClean="0"/>
              <a:pPr/>
              <a:t>34</a:t>
            </a:fld>
            <a:endParaRPr lang="en-US"/>
          </a:p>
        </p:txBody>
      </p:sp>
    </p:spTree>
    <p:extLst>
      <p:ext uri="{BB962C8B-B14F-4D97-AF65-F5344CB8AC3E}">
        <p14:creationId xmlns:p14="http://schemas.microsoft.com/office/powerpoint/2010/main" val="9099867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a:xfrm>
            <a:off x="1535518" y="995930"/>
            <a:ext cx="5158563" cy="919065"/>
          </a:xfrm>
        </p:spPr>
        <p:txBody>
          <a:bodyPr>
            <a:normAutofit/>
          </a:bodyPr>
          <a:lstStyle/>
          <a:p>
            <a:pPr algn="ctr"/>
            <a:r>
              <a:rPr lang="en-US" dirty="0"/>
              <a:t>Neighborhood function</a:t>
            </a:r>
            <a:br>
              <a:rPr lang="en-US" dirty="0"/>
            </a:br>
            <a:r>
              <a:rPr lang="en-US" dirty="0"/>
              <a:t>Focal STATISTICS</a:t>
            </a:r>
          </a:p>
        </p:txBody>
      </p:sp>
      <p:sp>
        <p:nvSpPr>
          <p:cNvPr id="3" name="Slide Number Placeholder 2">
            <a:extLst>
              <a:ext uri="{FF2B5EF4-FFF2-40B4-BE49-F238E27FC236}">
                <a16:creationId xmlns:a16="http://schemas.microsoft.com/office/drawing/2014/main" id="{01460B17-ABEC-49F4-8877-C6C55524F42F}"/>
              </a:ext>
            </a:extLst>
          </p:cNvPr>
          <p:cNvSpPr>
            <a:spLocks noGrp="1"/>
          </p:cNvSpPr>
          <p:nvPr>
            <p:ph type="sldNum" sz="quarter" idx="12"/>
          </p:nvPr>
        </p:nvSpPr>
        <p:spPr/>
        <p:txBody>
          <a:bodyPr/>
          <a:lstStyle/>
          <a:p>
            <a:fld id="{127DDC20-79C9-9647-820E-6D40A3D210C3}" type="slidenum">
              <a:rPr lang="en-US" smtClean="0"/>
              <a:pPr/>
              <a:t>35</a:t>
            </a:fld>
            <a:endParaRPr lang="en-US"/>
          </a:p>
        </p:txBody>
      </p:sp>
    </p:spTree>
    <p:extLst>
      <p:ext uri="{BB962C8B-B14F-4D97-AF65-F5344CB8AC3E}">
        <p14:creationId xmlns:p14="http://schemas.microsoft.com/office/powerpoint/2010/main" val="41407477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custDataLst>
              <p:tags r:id="rId1"/>
            </p:custDataLst>
          </p:nvPr>
        </p:nvSpPr>
        <p:spPr>
          <a:xfrm>
            <a:off x="247567" y="1159677"/>
            <a:ext cx="6173808" cy="1581036"/>
          </a:xfrm>
        </p:spPr>
        <p:txBody>
          <a:bodyPr>
            <a:normAutofit/>
          </a:bodyPr>
          <a:lstStyle/>
          <a:p>
            <a:pPr>
              <a:buFont typeface="Courier New" panose="02070309020205020404" pitchFamily="49" charset="0"/>
              <a:buChar char="o"/>
            </a:pPr>
            <a:r>
              <a:rPr lang="en-US" sz="1800" dirty="0"/>
              <a:t>A type of window analysis</a:t>
            </a:r>
          </a:p>
          <a:p>
            <a:pPr>
              <a:buFont typeface="Courier New" panose="02070309020205020404" pitchFamily="49" charset="0"/>
              <a:buChar char="o"/>
            </a:pPr>
            <a:r>
              <a:rPr lang="en-US" sz="1800" dirty="0"/>
              <a:t>Calculates a statistic within the window</a:t>
            </a:r>
          </a:p>
          <a:p>
            <a:pPr>
              <a:buFont typeface="Courier New" panose="02070309020205020404" pitchFamily="49" charset="0"/>
              <a:buChar char="o"/>
            </a:pPr>
            <a:r>
              <a:rPr lang="en-US" sz="1800" dirty="0"/>
              <a:t>Stores result on center cell in new output</a:t>
            </a:r>
          </a:p>
          <a:p>
            <a:pPr>
              <a:buFont typeface="Courier New" panose="02070309020205020404" pitchFamily="49" charset="0"/>
              <a:buChar char="o"/>
            </a:pPr>
            <a:r>
              <a:rPr lang="en-US" sz="1800" dirty="0"/>
              <a:t>Completes operations for all cells</a:t>
            </a:r>
          </a:p>
          <a:p>
            <a:pPr marL="0" indent="0">
              <a:buNone/>
            </a:pPr>
            <a:endParaRPr lang="en-US" dirty="0"/>
          </a:p>
        </p:txBody>
      </p:sp>
      <p:sp>
        <p:nvSpPr>
          <p:cNvPr id="2" name="Slide Number Placeholder 1">
            <a:extLst>
              <a:ext uri="{FF2B5EF4-FFF2-40B4-BE49-F238E27FC236}">
                <a16:creationId xmlns:a16="http://schemas.microsoft.com/office/drawing/2014/main" id="{85D20CF2-2B34-4CD0-8A26-CD13DD98BF84}"/>
              </a:ext>
            </a:extLst>
          </p:cNvPr>
          <p:cNvSpPr>
            <a:spLocks noGrp="1"/>
          </p:cNvSpPr>
          <p:nvPr>
            <p:ph type="sldNum" sz="quarter" idx="12"/>
          </p:nvPr>
        </p:nvSpPr>
        <p:spPr/>
        <p:txBody>
          <a:bodyPr/>
          <a:lstStyle/>
          <a:p>
            <a:fld id="{127DDC20-79C9-9647-820E-6D40A3D210C3}" type="slidenum">
              <a:rPr lang="en-US" smtClean="0"/>
              <a:pPr/>
              <a:t>36</a:t>
            </a:fld>
            <a:endParaRPr lang="en-US"/>
          </a:p>
        </p:txBody>
      </p:sp>
      <p:pic>
        <p:nvPicPr>
          <p:cNvPr id="5" name="Picture 4" descr="Image showing DEM data"/>
          <p:cNvPicPr>
            <a:picLocks noChangeAspect="1"/>
          </p:cNvPicPr>
          <p:nvPr/>
        </p:nvPicPr>
        <p:blipFill>
          <a:blip r:embed="rId5">
            <a:clrChange>
              <a:clrFrom>
                <a:srgbClr val="00C5FF"/>
              </a:clrFrom>
              <a:clrTo>
                <a:srgbClr val="00C5FF">
                  <a:alpha val="0"/>
                </a:srgbClr>
              </a:clrTo>
            </a:clrChange>
          </a:blip>
          <a:stretch>
            <a:fillRect/>
          </a:stretch>
        </p:blipFill>
        <p:spPr>
          <a:xfrm>
            <a:off x="564861" y="2586370"/>
            <a:ext cx="1286210" cy="2249110"/>
          </a:xfrm>
          <a:prstGeom prst="rect">
            <a:avLst/>
          </a:prstGeom>
        </p:spPr>
      </p:pic>
      <p:sp>
        <p:nvSpPr>
          <p:cNvPr id="6" name="Right Arrow 5" descr="Image showing arrow"/>
          <p:cNvSpPr/>
          <p:nvPr>
            <p:custDataLst>
              <p:tags r:id="rId2"/>
            </p:custDataLst>
          </p:nvPr>
        </p:nvSpPr>
        <p:spPr>
          <a:xfrm>
            <a:off x="1851070" y="3710924"/>
            <a:ext cx="720278" cy="154345"/>
          </a:xfrm>
          <a:prstGeom prst="rightArrow">
            <a:avLst>
              <a:gd name="adj1" fmla="val 25510"/>
              <a:gd name="adj2" fmla="val 50000"/>
            </a:avLst>
          </a:prstGeom>
          <a:solidFill>
            <a:srgbClr val="C00000"/>
          </a:solidFill>
          <a:ln>
            <a:solidFill>
              <a:srgbClr val="C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pic>
        <p:nvPicPr>
          <p:cNvPr id="7" name="Picture 6" descr="Image showing DEM data after focal statistics"/>
          <p:cNvPicPr>
            <a:picLocks noChangeAspect="1"/>
          </p:cNvPicPr>
          <p:nvPr/>
        </p:nvPicPr>
        <p:blipFill>
          <a:blip r:embed="rId6">
            <a:clrChange>
              <a:clrFrom>
                <a:srgbClr val="00C5FF"/>
              </a:clrFrom>
              <a:clrTo>
                <a:srgbClr val="00C5FF">
                  <a:alpha val="0"/>
                </a:srgbClr>
              </a:clrTo>
            </a:clrChange>
          </a:blip>
          <a:stretch>
            <a:fillRect/>
          </a:stretch>
        </p:blipFill>
        <p:spPr>
          <a:xfrm>
            <a:off x="2721637" y="2654266"/>
            <a:ext cx="1084472" cy="2158347"/>
          </a:xfrm>
          <a:prstGeom prst="rect">
            <a:avLst/>
          </a:prstGeom>
        </p:spPr>
      </p:pic>
      <p:pic>
        <p:nvPicPr>
          <p:cNvPr id="8" name="Picture 7" descr="Image showing focal statistics window"/>
          <p:cNvPicPr>
            <a:picLocks noChangeAspect="1"/>
          </p:cNvPicPr>
          <p:nvPr/>
        </p:nvPicPr>
        <p:blipFill>
          <a:blip r:embed="rId7"/>
          <a:stretch>
            <a:fillRect/>
          </a:stretch>
        </p:blipFill>
        <p:spPr>
          <a:xfrm>
            <a:off x="5521809" y="2541128"/>
            <a:ext cx="2460224" cy="2058670"/>
          </a:xfrm>
          <a:prstGeom prst="rect">
            <a:avLst/>
          </a:prstGeom>
        </p:spPr>
      </p:pic>
      <p:cxnSp>
        <p:nvCxnSpPr>
          <p:cNvPr id="9" name="Straight Connector 8">
            <a:extLst>
              <a:ext uri="{FF2B5EF4-FFF2-40B4-BE49-F238E27FC236}">
                <a16:creationId xmlns:a16="http://schemas.microsoft.com/office/drawing/2014/main" id="{69A0A476-980D-4B48-B3F2-DA7FF5353D97}"/>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0" name="Title 1">
            <a:extLst>
              <a:ext uri="{FF2B5EF4-FFF2-40B4-BE49-F238E27FC236}">
                <a16:creationId xmlns:a16="http://schemas.microsoft.com/office/drawing/2014/main" id="{619CE9E3-55DE-4A5E-9DDF-D4CE5896FAFA}"/>
              </a:ext>
            </a:extLst>
          </p:cNvPr>
          <p:cNvSpPr txBox="1">
            <a:spLocks/>
          </p:cNvSpPr>
          <p:nvPr/>
        </p:nvSpPr>
        <p:spPr>
          <a:xfrm>
            <a:off x="247567" y="184044"/>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Focal Statistics</a:t>
            </a:r>
            <a:endParaRPr lang="en-US" sz="2600" dirty="0">
              <a:solidFill>
                <a:srgbClr val="7030A0"/>
              </a:solidFill>
            </a:endParaRPr>
          </a:p>
        </p:txBody>
      </p:sp>
    </p:spTree>
    <p:extLst>
      <p:ext uri="{BB962C8B-B14F-4D97-AF65-F5344CB8AC3E}">
        <p14:creationId xmlns:p14="http://schemas.microsoft.com/office/powerpoint/2010/main" val="40434528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C007D5A5-5186-4BB4-AFA2-0304FD3BDA90}"/>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0" name="Title 1">
            <a:extLst>
              <a:ext uri="{FF2B5EF4-FFF2-40B4-BE49-F238E27FC236}">
                <a16:creationId xmlns:a16="http://schemas.microsoft.com/office/drawing/2014/main" id="{F52637B9-FA05-4EDE-8598-5726395CB848}"/>
              </a:ext>
            </a:extLst>
          </p:cNvPr>
          <p:cNvSpPr txBox="1">
            <a:spLocks/>
          </p:cNvSpPr>
          <p:nvPr/>
        </p:nvSpPr>
        <p:spPr>
          <a:xfrm>
            <a:off x="118533" y="15408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Focal Statistics</a:t>
            </a:r>
            <a:endParaRPr lang="en-US" sz="2600" dirty="0">
              <a:solidFill>
                <a:srgbClr val="7030A0"/>
              </a:solidFill>
            </a:endParaRPr>
          </a:p>
        </p:txBody>
      </p:sp>
      <p:pic>
        <p:nvPicPr>
          <p:cNvPr id="5" name="Picture 4" descr="Diagram&#10;&#10;Description automatically generated">
            <a:extLst>
              <a:ext uri="{FF2B5EF4-FFF2-40B4-BE49-F238E27FC236}">
                <a16:creationId xmlns:a16="http://schemas.microsoft.com/office/drawing/2014/main" id="{0A58AEDC-8231-4A81-8DE7-D3369612F08A}"/>
              </a:ext>
            </a:extLst>
          </p:cNvPr>
          <p:cNvPicPr>
            <a:picLocks noChangeAspect="1"/>
          </p:cNvPicPr>
          <p:nvPr/>
        </p:nvPicPr>
        <p:blipFill>
          <a:blip r:embed="rId3"/>
          <a:stretch>
            <a:fillRect/>
          </a:stretch>
        </p:blipFill>
        <p:spPr>
          <a:xfrm>
            <a:off x="2295483" y="1099751"/>
            <a:ext cx="3630167" cy="3870753"/>
          </a:xfrm>
          <a:prstGeom prst="rect">
            <a:avLst/>
          </a:prstGeom>
        </p:spPr>
      </p:pic>
      <p:sp>
        <p:nvSpPr>
          <p:cNvPr id="11" name="TextBox 10">
            <a:extLst>
              <a:ext uri="{FF2B5EF4-FFF2-40B4-BE49-F238E27FC236}">
                <a16:creationId xmlns:a16="http://schemas.microsoft.com/office/drawing/2014/main" id="{86C18652-2672-4AAB-8258-C8F69E6321F6}"/>
              </a:ext>
            </a:extLst>
          </p:cNvPr>
          <p:cNvSpPr txBox="1"/>
          <p:nvPr/>
        </p:nvSpPr>
        <p:spPr>
          <a:xfrm>
            <a:off x="812582" y="4818678"/>
            <a:ext cx="1097608" cy="246221"/>
          </a:xfrm>
          <a:prstGeom prst="rect">
            <a:avLst/>
          </a:prstGeom>
          <a:noFill/>
        </p:spPr>
        <p:txBody>
          <a:bodyPr wrap="square" rtlCol="0">
            <a:spAutoFit/>
          </a:bodyPr>
          <a:lstStyle/>
          <a:p>
            <a:r>
              <a:rPr lang="en-US" sz="1000" dirty="0" err="1">
                <a:solidFill>
                  <a:srgbClr val="7030A0"/>
                </a:solidFill>
              </a:rPr>
              <a:t>Bolstad</a:t>
            </a:r>
            <a:r>
              <a:rPr lang="en-US" sz="1000" dirty="0">
                <a:solidFill>
                  <a:srgbClr val="7030A0"/>
                </a:solidFill>
              </a:rPr>
              <a:t>, 2019</a:t>
            </a:r>
          </a:p>
        </p:txBody>
      </p:sp>
      <p:sp>
        <p:nvSpPr>
          <p:cNvPr id="2" name="Slide Number Placeholder 1">
            <a:extLst>
              <a:ext uri="{FF2B5EF4-FFF2-40B4-BE49-F238E27FC236}">
                <a16:creationId xmlns:a16="http://schemas.microsoft.com/office/drawing/2014/main" id="{62FFADA9-087F-4758-9158-7BB8B676FB22}"/>
              </a:ext>
            </a:extLst>
          </p:cNvPr>
          <p:cNvSpPr>
            <a:spLocks noGrp="1"/>
          </p:cNvSpPr>
          <p:nvPr>
            <p:ph type="sldNum" sz="quarter" idx="12"/>
          </p:nvPr>
        </p:nvSpPr>
        <p:spPr/>
        <p:txBody>
          <a:bodyPr/>
          <a:lstStyle/>
          <a:p>
            <a:fld id="{127DDC20-79C9-9647-820E-6D40A3D210C3}" type="slidenum">
              <a:rPr lang="en-US" smtClean="0"/>
              <a:pPr/>
              <a:t>37</a:t>
            </a:fld>
            <a:endParaRPr lang="en-US"/>
          </a:p>
        </p:txBody>
      </p:sp>
    </p:spTree>
    <p:extLst>
      <p:ext uri="{BB962C8B-B14F-4D97-AF65-F5344CB8AC3E}">
        <p14:creationId xmlns:p14="http://schemas.microsoft.com/office/powerpoint/2010/main" val="20574872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C007D5A5-5186-4BB4-AFA2-0304FD3BDA90}"/>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0" name="Title 1">
            <a:extLst>
              <a:ext uri="{FF2B5EF4-FFF2-40B4-BE49-F238E27FC236}">
                <a16:creationId xmlns:a16="http://schemas.microsoft.com/office/drawing/2014/main" id="{F52637B9-FA05-4EDE-8598-5726395CB848}"/>
              </a:ext>
            </a:extLst>
          </p:cNvPr>
          <p:cNvSpPr txBox="1">
            <a:spLocks/>
          </p:cNvSpPr>
          <p:nvPr/>
        </p:nvSpPr>
        <p:spPr>
          <a:xfrm>
            <a:off x="152400" y="16624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Focal Statistics</a:t>
            </a:r>
            <a:endParaRPr lang="en-US" sz="2600" dirty="0">
              <a:solidFill>
                <a:srgbClr val="7030A0"/>
              </a:solidFill>
            </a:endParaRPr>
          </a:p>
        </p:txBody>
      </p:sp>
      <p:sp>
        <p:nvSpPr>
          <p:cNvPr id="11" name="TextBox 10">
            <a:extLst>
              <a:ext uri="{FF2B5EF4-FFF2-40B4-BE49-F238E27FC236}">
                <a16:creationId xmlns:a16="http://schemas.microsoft.com/office/drawing/2014/main" id="{86C18652-2672-4AAB-8258-C8F69E6321F6}"/>
              </a:ext>
            </a:extLst>
          </p:cNvPr>
          <p:cNvSpPr txBox="1"/>
          <p:nvPr/>
        </p:nvSpPr>
        <p:spPr>
          <a:xfrm>
            <a:off x="812582" y="4818678"/>
            <a:ext cx="1097608" cy="246221"/>
          </a:xfrm>
          <a:prstGeom prst="rect">
            <a:avLst/>
          </a:prstGeom>
          <a:noFill/>
        </p:spPr>
        <p:txBody>
          <a:bodyPr wrap="square" rtlCol="0">
            <a:spAutoFit/>
          </a:bodyPr>
          <a:lstStyle/>
          <a:p>
            <a:r>
              <a:rPr lang="en-US" sz="1000" dirty="0" err="1">
                <a:solidFill>
                  <a:srgbClr val="7030A0"/>
                </a:solidFill>
              </a:rPr>
              <a:t>Bolstad</a:t>
            </a:r>
            <a:r>
              <a:rPr lang="en-US" sz="1000" dirty="0">
                <a:solidFill>
                  <a:srgbClr val="7030A0"/>
                </a:solidFill>
              </a:rPr>
              <a:t>, 2019</a:t>
            </a:r>
          </a:p>
        </p:txBody>
      </p:sp>
      <p:pic>
        <p:nvPicPr>
          <p:cNvPr id="3" name="Picture 2" descr="Table&#10;&#10;Description automatically generated">
            <a:extLst>
              <a:ext uri="{FF2B5EF4-FFF2-40B4-BE49-F238E27FC236}">
                <a16:creationId xmlns:a16="http://schemas.microsoft.com/office/drawing/2014/main" id="{5ACAEF73-BF55-4B25-A5BA-35C4DA155FEC}"/>
              </a:ext>
            </a:extLst>
          </p:cNvPr>
          <p:cNvPicPr>
            <a:picLocks noChangeAspect="1"/>
          </p:cNvPicPr>
          <p:nvPr/>
        </p:nvPicPr>
        <p:blipFill>
          <a:blip r:embed="rId3"/>
          <a:stretch>
            <a:fillRect/>
          </a:stretch>
        </p:blipFill>
        <p:spPr>
          <a:xfrm>
            <a:off x="1568439" y="1175002"/>
            <a:ext cx="5848579" cy="3718904"/>
          </a:xfrm>
          <a:prstGeom prst="rect">
            <a:avLst/>
          </a:prstGeom>
        </p:spPr>
      </p:pic>
      <p:sp>
        <p:nvSpPr>
          <p:cNvPr id="2" name="Slide Number Placeholder 1">
            <a:extLst>
              <a:ext uri="{FF2B5EF4-FFF2-40B4-BE49-F238E27FC236}">
                <a16:creationId xmlns:a16="http://schemas.microsoft.com/office/drawing/2014/main" id="{A479DC78-F370-4EF6-8646-46F3F298D612}"/>
              </a:ext>
            </a:extLst>
          </p:cNvPr>
          <p:cNvSpPr>
            <a:spLocks noGrp="1"/>
          </p:cNvSpPr>
          <p:nvPr>
            <p:ph type="sldNum" sz="quarter" idx="12"/>
          </p:nvPr>
        </p:nvSpPr>
        <p:spPr/>
        <p:txBody>
          <a:bodyPr/>
          <a:lstStyle/>
          <a:p>
            <a:fld id="{127DDC20-79C9-9647-820E-6D40A3D210C3}" type="slidenum">
              <a:rPr lang="en-US" smtClean="0"/>
              <a:pPr/>
              <a:t>38</a:t>
            </a:fld>
            <a:endParaRPr lang="en-US"/>
          </a:p>
        </p:txBody>
      </p:sp>
    </p:spTree>
    <p:extLst>
      <p:ext uri="{BB962C8B-B14F-4D97-AF65-F5344CB8AC3E}">
        <p14:creationId xmlns:p14="http://schemas.microsoft.com/office/powerpoint/2010/main" val="559864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custDataLst>
              <p:tags r:id="rId1"/>
            </p:custDataLst>
          </p:nvPr>
        </p:nvSpPr>
        <p:spPr>
          <a:xfrm>
            <a:off x="256170" y="1097287"/>
            <a:ext cx="7665811" cy="3474714"/>
          </a:xfrm>
        </p:spPr>
        <p:txBody>
          <a:bodyPr>
            <a:normAutofit/>
          </a:bodyPr>
          <a:lstStyle/>
          <a:p>
            <a:pPr marL="0" indent="0">
              <a:buNone/>
            </a:pPr>
            <a:r>
              <a:rPr lang="en-US" sz="1600" b="1" dirty="0">
                <a:solidFill>
                  <a:srgbClr val="E3874F"/>
                </a:solidFill>
              </a:rPr>
              <a:t>MEAN: </a:t>
            </a:r>
            <a:r>
              <a:rPr lang="en-US" sz="1600" dirty="0"/>
              <a:t>Calculates the mean (average value) of the cells in the neighborhood.</a:t>
            </a:r>
          </a:p>
          <a:p>
            <a:pPr marL="0" indent="0">
              <a:buNone/>
            </a:pPr>
            <a:r>
              <a:rPr lang="en-US" sz="1600" b="1" dirty="0">
                <a:solidFill>
                  <a:srgbClr val="E3874F"/>
                </a:solidFill>
              </a:rPr>
              <a:t>MAJORITY: </a:t>
            </a:r>
            <a:r>
              <a:rPr lang="en-US" sz="1600" dirty="0"/>
              <a:t>Calculates the majority (value that occurs most often) of the cells in the neighborhood.</a:t>
            </a:r>
          </a:p>
          <a:p>
            <a:pPr marL="0" indent="0">
              <a:buNone/>
            </a:pPr>
            <a:r>
              <a:rPr lang="en-US" sz="1600" b="1" dirty="0">
                <a:solidFill>
                  <a:srgbClr val="E3874F"/>
                </a:solidFill>
              </a:rPr>
              <a:t>MAXIMUM: </a:t>
            </a:r>
            <a:r>
              <a:rPr lang="en-US" sz="1600" dirty="0"/>
              <a:t>Calculates the maximum (largest value) of the cells in the neighborhood.</a:t>
            </a:r>
          </a:p>
          <a:p>
            <a:pPr marL="0" indent="0">
              <a:buNone/>
            </a:pPr>
            <a:r>
              <a:rPr lang="en-US" sz="1600" b="1" dirty="0">
                <a:solidFill>
                  <a:srgbClr val="E3874F"/>
                </a:solidFill>
              </a:rPr>
              <a:t>MEDIAN: </a:t>
            </a:r>
            <a:r>
              <a:rPr lang="en-US" sz="1600" dirty="0"/>
              <a:t>Calculates the median of the cells in the neighborhood.</a:t>
            </a:r>
          </a:p>
          <a:p>
            <a:pPr marL="0" indent="0">
              <a:buNone/>
            </a:pPr>
            <a:r>
              <a:rPr lang="en-US" sz="1600" b="1" dirty="0">
                <a:solidFill>
                  <a:srgbClr val="E3874F"/>
                </a:solidFill>
              </a:rPr>
              <a:t>MINIMUM: </a:t>
            </a:r>
            <a:r>
              <a:rPr lang="en-US" sz="1600" dirty="0"/>
              <a:t>Calculates the minimum (smallest value) of the cells in the neighborhood.</a:t>
            </a:r>
          </a:p>
          <a:p>
            <a:pPr marL="0" indent="0">
              <a:buNone/>
            </a:pPr>
            <a:r>
              <a:rPr lang="en-US" sz="1600" b="1" dirty="0">
                <a:solidFill>
                  <a:srgbClr val="E3874F"/>
                </a:solidFill>
              </a:rPr>
              <a:t>MINORITY: </a:t>
            </a:r>
            <a:r>
              <a:rPr lang="en-US" sz="1600" dirty="0"/>
              <a:t>Calculates the minority (value that occurs least often) of the cells in the neighborhood.</a:t>
            </a:r>
          </a:p>
          <a:p>
            <a:endParaRPr lang="en-US" sz="1600" dirty="0"/>
          </a:p>
        </p:txBody>
      </p:sp>
      <p:sp>
        <p:nvSpPr>
          <p:cNvPr id="2" name="Slide Number Placeholder 1">
            <a:extLst>
              <a:ext uri="{FF2B5EF4-FFF2-40B4-BE49-F238E27FC236}">
                <a16:creationId xmlns:a16="http://schemas.microsoft.com/office/drawing/2014/main" id="{AD9D56C7-B1B0-45B2-B365-CB35BF514392}"/>
              </a:ext>
            </a:extLst>
          </p:cNvPr>
          <p:cNvSpPr>
            <a:spLocks noGrp="1"/>
          </p:cNvSpPr>
          <p:nvPr>
            <p:ph type="sldNum" sz="quarter" idx="12"/>
          </p:nvPr>
        </p:nvSpPr>
        <p:spPr/>
        <p:txBody>
          <a:bodyPr/>
          <a:lstStyle/>
          <a:p>
            <a:fld id="{127DDC20-79C9-9647-820E-6D40A3D210C3}" type="slidenum">
              <a:rPr lang="en-US" smtClean="0"/>
              <a:pPr/>
              <a:t>39</a:t>
            </a:fld>
            <a:endParaRPr lang="en-US"/>
          </a:p>
        </p:txBody>
      </p:sp>
      <p:cxnSp>
        <p:nvCxnSpPr>
          <p:cNvPr id="6" name="Straight Connector 5">
            <a:extLst>
              <a:ext uri="{FF2B5EF4-FFF2-40B4-BE49-F238E27FC236}">
                <a16:creationId xmlns:a16="http://schemas.microsoft.com/office/drawing/2014/main" id="{6EF22F3B-8A68-4A15-AF4E-B822C6B39ACE}"/>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7" name="Title 1">
            <a:extLst>
              <a:ext uri="{FF2B5EF4-FFF2-40B4-BE49-F238E27FC236}">
                <a16:creationId xmlns:a16="http://schemas.microsoft.com/office/drawing/2014/main" id="{C99D1AFD-3327-4C38-9B6B-9DE759E23B15}"/>
              </a:ext>
            </a:extLst>
          </p:cNvPr>
          <p:cNvSpPr txBox="1">
            <a:spLocks/>
          </p:cNvSpPr>
          <p:nvPr/>
        </p:nvSpPr>
        <p:spPr>
          <a:xfrm>
            <a:off x="256170" y="24003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Focal Statistics</a:t>
            </a:r>
            <a:endParaRPr lang="en-US" sz="2600" dirty="0">
              <a:solidFill>
                <a:srgbClr val="7030A0"/>
              </a:solidFill>
            </a:endParaRPr>
          </a:p>
        </p:txBody>
      </p:sp>
    </p:spTree>
    <p:extLst>
      <p:ext uri="{BB962C8B-B14F-4D97-AF65-F5344CB8AC3E}">
        <p14:creationId xmlns:p14="http://schemas.microsoft.com/office/powerpoint/2010/main" val="16993827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custDataLst>
              <p:tags r:id="rId1"/>
            </p:custDataLst>
          </p:nvPr>
        </p:nvSpPr>
        <p:spPr>
          <a:xfrm>
            <a:off x="256170" y="1097287"/>
            <a:ext cx="7665811" cy="3474714"/>
          </a:xfrm>
        </p:spPr>
        <p:txBody>
          <a:bodyPr>
            <a:normAutofit/>
          </a:bodyPr>
          <a:lstStyle/>
          <a:p>
            <a:pPr marL="0" indent="0">
              <a:buNone/>
            </a:pPr>
            <a:r>
              <a:rPr lang="en-US" sz="2000" b="1" dirty="0">
                <a:solidFill>
                  <a:srgbClr val="E3874F"/>
                </a:solidFill>
              </a:rPr>
              <a:t>RANGE: </a:t>
            </a:r>
            <a:r>
              <a:rPr lang="en-US" sz="2000" dirty="0"/>
              <a:t>Calculates the range (difference between largest and smallest value) of the cells in the neighborhood.</a:t>
            </a:r>
          </a:p>
          <a:p>
            <a:pPr marL="0" indent="0">
              <a:buNone/>
            </a:pPr>
            <a:r>
              <a:rPr lang="en-US" sz="2000" b="1" dirty="0">
                <a:solidFill>
                  <a:srgbClr val="E3874F"/>
                </a:solidFill>
              </a:rPr>
              <a:t>STD: </a:t>
            </a:r>
            <a:r>
              <a:rPr lang="en-US" sz="2000" dirty="0"/>
              <a:t>Calculates the standard deviation of the cells in the neighborhood.</a:t>
            </a:r>
          </a:p>
          <a:p>
            <a:pPr marL="0" indent="0">
              <a:buNone/>
            </a:pPr>
            <a:r>
              <a:rPr lang="en-US" sz="2000" b="1" dirty="0">
                <a:solidFill>
                  <a:srgbClr val="E3874F"/>
                </a:solidFill>
              </a:rPr>
              <a:t>SUM: </a:t>
            </a:r>
            <a:r>
              <a:rPr lang="en-US" sz="2000" dirty="0"/>
              <a:t>Calculates the sum (total of all values) of the cells in the neighborhood.</a:t>
            </a:r>
          </a:p>
          <a:p>
            <a:pPr marL="0" indent="0">
              <a:buNone/>
            </a:pPr>
            <a:r>
              <a:rPr lang="en-US" sz="2000" b="1" dirty="0">
                <a:solidFill>
                  <a:srgbClr val="E3874F"/>
                </a:solidFill>
              </a:rPr>
              <a:t>VARIETY: </a:t>
            </a:r>
            <a:r>
              <a:rPr lang="en-US" sz="2000" dirty="0"/>
              <a:t>Calculates the variety (the number of unique values) of the cells in the neighborhood.</a:t>
            </a:r>
          </a:p>
          <a:p>
            <a:endParaRPr lang="en-US" sz="2000" dirty="0"/>
          </a:p>
        </p:txBody>
      </p:sp>
      <p:sp>
        <p:nvSpPr>
          <p:cNvPr id="2" name="Slide Number Placeholder 1">
            <a:extLst>
              <a:ext uri="{FF2B5EF4-FFF2-40B4-BE49-F238E27FC236}">
                <a16:creationId xmlns:a16="http://schemas.microsoft.com/office/drawing/2014/main" id="{F8209F68-7A94-4342-99C8-FE5072C9051E}"/>
              </a:ext>
            </a:extLst>
          </p:cNvPr>
          <p:cNvSpPr>
            <a:spLocks noGrp="1"/>
          </p:cNvSpPr>
          <p:nvPr>
            <p:ph type="sldNum" sz="quarter" idx="12"/>
          </p:nvPr>
        </p:nvSpPr>
        <p:spPr/>
        <p:txBody>
          <a:bodyPr/>
          <a:lstStyle/>
          <a:p>
            <a:fld id="{127DDC20-79C9-9647-820E-6D40A3D210C3}" type="slidenum">
              <a:rPr lang="en-US" smtClean="0"/>
              <a:pPr/>
              <a:t>40</a:t>
            </a:fld>
            <a:endParaRPr lang="en-US"/>
          </a:p>
        </p:txBody>
      </p:sp>
      <p:cxnSp>
        <p:nvCxnSpPr>
          <p:cNvPr id="6" name="Straight Connector 5">
            <a:extLst>
              <a:ext uri="{FF2B5EF4-FFF2-40B4-BE49-F238E27FC236}">
                <a16:creationId xmlns:a16="http://schemas.microsoft.com/office/drawing/2014/main" id="{6EF22F3B-8A68-4A15-AF4E-B822C6B39ACE}"/>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7" name="Title 1">
            <a:extLst>
              <a:ext uri="{FF2B5EF4-FFF2-40B4-BE49-F238E27FC236}">
                <a16:creationId xmlns:a16="http://schemas.microsoft.com/office/drawing/2014/main" id="{C99D1AFD-3327-4C38-9B6B-9DE759E23B15}"/>
              </a:ext>
            </a:extLst>
          </p:cNvPr>
          <p:cNvSpPr txBox="1">
            <a:spLocks/>
          </p:cNvSpPr>
          <p:nvPr/>
        </p:nvSpPr>
        <p:spPr>
          <a:xfrm>
            <a:off x="256170" y="152849"/>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Focal Statistics</a:t>
            </a:r>
            <a:endParaRPr lang="en-US" sz="2600" dirty="0">
              <a:solidFill>
                <a:srgbClr val="7030A0"/>
              </a:solidFill>
            </a:endParaRPr>
          </a:p>
        </p:txBody>
      </p:sp>
    </p:spTree>
    <p:extLst>
      <p:ext uri="{BB962C8B-B14F-4D97-AF65-F5344CB8AC3E}">
        <p14:creationId xmlns:p14="http://schemas.microsoft.com/office/powerpoint/2010/main" val="28643819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custDataLst>
              <p:tags r:id="rId1"/>
            </p:custDataLst>
          </p:nvPr>
        </p:nvSpPr>
        <p:spPr>
          <a:xfrm>
            <a:off x="192947" y="1131194"/>
            <a:ext cx="4656960" cy="3588525"/>
          </a:xfrm>
        </p:spPr>
        <p:txBody>
          <a:bodyPr>
            <a:normAutofit/>
          </a:bodyPr>
          <a:lstStyle/>
          <a:p>
            <a:pPr>
              <a:buFont typeface="Courier New" panose="02070309020205020404" pitchFamily="49" charset="0"/>
              <a:buChar char="o"/>
            </a:pPr>
            <a:r>
              <a:rPr lang="en-US" sz="1800" dirty="0"/>
              <a:t>Edge cells will not have a full set of neighbors</a:t>
            </a:r>
          </a:p>
          <a:p>
            <a:pPr lvl="1">
              <a:buFont typeface="Wingdings" panose="05000000000000000000" pitchFamily="2" charset="2"/>
              <a:buChar char="ü"/>
            </a:pPr>
            <a:r>
              <a:rPr lang="en-US" sz="1800" baseline="0" dirty="0"/>
              <a:t>calculated using only the available cells</a:t>
            </a:r>
          </a:p>
          <a:p>
            <a:pPr lvl="1">
              <a:buFont typeface="Wingdings" panose="05000000000000000000" pitchFamily="2" charset="2"/>
              <a:buChar char="ü"/>
            </a:pPr>
            <a:r>
              <a:rPr lang="en-US" sz="1800" baseline="0" dirty="0"/>
              <a:t>calculated for cells that have a full set of neighbors</a:t>
            </a:r>
            <a:r>
              <a:rPr lang="en-US" sz="1800" dirty="0"/>
              <a:t> (the size of the raster will be reduced)</a:t>
            </a:r>
          </a:p>
          <a:p>
            <a:pPr lvl="1">
              <a:buFont typeface="Wingdings" panose="05000000000000000000" pitchFamily="2" charset="2"/>
              <a:buChar char="ü"/>
            </a:pPr>
            <a:r>
              <a:rPr lang="en-US" altLang="zh-CN" sz="1800" baseline="0" dirty="0"/>
              <a:t>calculated larger area to </a:t>
            </a:r>
            <a:r>
              <a:rPr lang="en-US" altLang="zh-CN" sz="1800" dirty="0"/>
              <a:t>cover the study region</a:t>
            </a:r>
            <a:endParaRPr lang="en-US" sz="1800" baseline="0" dirty="0"/>
          </a:p>
          <a:p>
            <a:pPr lvl="1">
              <a:buFont typeface="Wingdings" panose="05000000000000000000" pitchFamily="2" charset="2"/>
              <a:buChar char="ü"/>
            </a:pPr>
            <a:endParaRPr lang="en-US" sz="1800" dirty="0"/>
          </a:p>
        </p:txBody>
      </p:sp>
      <p:sp>
        <p:nvSpPr>
          <p:cNvPr id="2" name="Slide Number Placeholder 1">
            <a:extLst>
              <a:ext uri="{FF2B5EF4-FFF2-40B4-BE49-F238E27FC236}">
                <a16:creationId xmlns:a16="http://schemas.microsoft.com/office/drawing/2014/main" id="{0587E9C9-5930-4978-B889-3B5AE9733E38}"/>
              </a:ext>
            </a:extLst>
          </p:cNvPr>
          <p:cNvSpPr>
            <a:spLocks noGrp="1"/>
          </p:cNvSpPr>
          <p:nvPr>
            <p:ph type="sldNum" sz="quarter" idx="12"/>
          </p:nvPr>
        </p:nvSpPr>
        <p:spPr/>
        <p:txBody>
          <a:bodyPr/>
          <a:lstStyle/>
          <a:p>
            <a:fld id="{127DDC20-79C9-9647-820E-6D40A3D210C3}" type="slidenum">
              <a:rPr lang="en-US" smtClean="0"/>
              <a:pPr/>
              <a:t>41</a:t>
            </a:fld>
            <a:endParaRPr lang="en-US"/>
          </a:p>
        </p:txBody>
      </p:sp>
      <p:pic>
        <p:nvPicPr>
          <p:cNvPr id="4" name="Picture 3" descr="Image showing moving window"/>
          <p:cNvPicPr>
            <a:picLocks noChangeAspect="1"/>
          </p:cNvPicPr>
          <p:nvPr/>
        </p:nvPicPr>
        <p:blipFill>
          <a:blip r:embed="rId4">
            <a:clrChange>
              <a:clrFrom>
                <a:srgbClr val="FFFFFF"/>
              </a:clrFrom>
              <a:clrTo>
                <a:srgbClr val="FFFFFF">
                  <a:alpha val="0"/>
                </a:srgbClr>
              </a:clrTo>
            </a:clrChange>
          </a:blip>
          <a:stretch>
            <a:fillRect/>
          </a:stretch>
        </p:blipFill>
        <p:spPr>
          <a:xfrm>
            <a:off x="4732181" y="1491334"/>
            <a:ext cx="3134309" cy="3228387"/>
          </a:xfrm>
          <a:prstGeom prst="rect">
            <a:avLst/>
          </a:prstGeom>
        </p:spPr>
      </p:pic>
      <p:cxnSp>
        <p:nvCxnSpPr>
          <p:cNvPr id="5" name="Straight Connector 4">
            <a:extLst>
              <a:ext uri="{FF2B5EF4-FFF2-40B4-BE49-F238E27FC236}">
                <a16:creationId xmlns:a16="http://schemas.microsoft.com/office/drawing/2014/main" id="{4323010F-78CE-4824-A40B-DC18212ACFD3}"/>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 name="Title 1">
            <a:extLst>
              <a:ext uri="{FF2B5EF4-FFF2-40B4-BE49-F238E27FC236}">
                <a16:creationId xmlns:a16="http://schemas.microsoft.com/office/drawing/2014/main" id="{67EF667E-6EE6-4D6E-BD8E-E10C64ACFA8B}"/>
              </a:ext>
            </a:extLst>
          </p:cNvPr>
          <p:cNvSpPr txBox="1">
            <a:spLocks/>
          </p:cNvSpPr>
          <p:nvPr/>
        </p:nvSpPr>
        <p:spPr>
          <a:xfrm>
            <a:off x="260758" y="22483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Edge Cells</a:t>
            </a:r>
            <a:endParaRPr lang="en-US" sz="2600" dirty="0">
              <a:solidFill>
                <a:srgbClr val="7030A0"/>
              </a:solidFill>
            </a:endParaRPr>
          </a:p>
        </p:txBody>
      </p:sp>
    </p:spTree>
    <p:extLst>
      <p:ext uri="{BB962C8B-B14F-4D97-AF65-F5344CB8AC3E}">
        <p14:creationId xmlns:p14="http://schemas.microsoft.com/office/powerpoint/2010/main" val="3570384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custDataLst>
              <p:tags r:id="rId1"/>
            </p:custDataLst>
          </p:nvPr>
        </p:nvSpPr>
        <p:spPr>
          <a:xfrm>
            <a:off x="363110" y="1131194"/>
            <a:ext cx="7547708" cy="857251"/>
          </a:xfrm>
        </p:spPr>
        <p:txBody>
          <a:bodyPr>
            <a:normAutofit fontScale="92500" lnSpcReduction="20000"/>
          </a:bodyPr>
          <a:lstStyle/>
          <a:p>
            <a:pPr>
              <a:buFont typeface="Courier New" panose="02070309020205020404" pitchFamily="49" charset="0"/>
              <a:buChar char="o"/>
            </a:pPr>
            <a:r>
              <a:rPr lang="en-US" sz="2400" dirty="0"/>
              <a:t>Edge cells will not have a full set of neighbors</a:t>
            </a:r>
          </a:p>
          <a:p>
            <a:pPr lvl="1">
              <a:buFont typeface="Wingdings" panose="05000000000000000000" pitchFamily="2" charset="2"/>
              <a:buChar char="ü"/>
            </a:pPr>
            <a:r>
              <a:rPr lang="en-US" sz="2400" baseline="0" dirty="0"/>
              <a:t>Using different kernel in the edge</a:t>
            </a:r>
          </a:p>
          <a:p>
            <a:pPr lvl="1">
              <a:buFont typeface="Wingdings" panose="05000000000000000000" pitchFamily="2" charset="2"/>
              <a:buChar char="ü"/>
            </a:pPr>
            <a:endParaRPr lang="en-US" dirty="0"/>
          </a:p>
        </p:txBody>
      </p:sp>
      <p:sp>
        <p:nvSpPr>
          <p:cNvPr id="2" name="Slide Number Placeholder 1">
            <a:extLst>
              <a:ext uri="{FF2B5EF4-FFF2-40B4-BE49-F238E27FC236}">
                <a16:creationId xmlns:a16="http://schemas.microsoft.com/office/drawing/2014/main" id="{105FBE36-7A8B-41A4-9F5E-CDE0256D7A00}"/>
              </a:ext>
            </a:extLst>
          </p:cNvPr>
          <p:cNvSpPr>
            <a:spLocks noGrp="1"/>
          </p:cNvSpPr>
          <p:nvPr>
            <p:ph type="sldNum" sz="quarter" idx="12"/>
          </p:nvPr>
        </p:nvSpPr>
        <p:spPr/>
        <p:txBody>
          <a:bodyPr/>
          <a:lstStyle/>
          <a:p>
            <a:fld id="{127DDC20-79C9-9647-820E-6D40A3D210C3}" type="slidenum">
              <a:rPr lang="en-US" smtClean="0"/>
              <a:pPr/>
              <a:t>42</a:t>
            </a:fld>
            <a:endParaRPr lang="en-US"/>
          </a:p>
        </p:txBody>
      </p:sp>
      <p:cxnSp>
        <p:nvCxnSpPr>
          <p:cNvPr id="5" name="Straight Connector 4">
            <a:extLst>
              <a:ext uri="{FF2B5EF4-FFF2-40B4-BE49-F238E27FC236}">
                <a16:creationId xmlns:a16="http://schemas.microsoft.com/office/drawing/2014/main" id="{4323010F-78CE-4824-A40B-DC18212ACFD3}"/>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 name="Title 1">
            <a:extLst>
              <a:ext uri="{FF2B5EF4-FFF2-40B4-BE49-F238E27FC236}">
                <a16:creationId xmlns:a16="http://schemas.microsoft.com/office/drawing/2014/main" id="{67EF667E-6EE6-4D6E-BD8E-E10C64ACFA8B}"/>
              </a:ext>
            </a:extLst>
          </p:cNvPr>
          <p:cNvSpPr txBox="1">
            <a:spLocks/>
          </p:cNvSpPr>
          <p:nvPr/>
        </p:nvSpPr>
        <p:spPr>
          <a:xfrm>
            <a:off x="152400" y="175106"/>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Edge Cells</a:t>
            </a:r>
            <a:endParaRPr lang="en-US" sz="2600" dirty="0">
              <a:solidFill>
                <a:srgbClr val="7030A0"/>
              </a:solidFill>
            </a:endParaRPr>
          </a:p>
        </p:txBody>
      </p:sp>
      <p:pic>
        <p:nvPicPr>
          <p:cNvPr id="7" name="Picture 6" descr="A picture containing calendar&#10;&#10;Description automatically generated">
            <a:extLst>
              <a:ext uri="{FF2B5EF4-FFF2-40B4-BE49-F238E27FC236}">
                <a16:creationId xmlns:a16="http://schemas.microsoft.com/office/drawing/2014/main" id="{7DC44BB9-2BB1-404F-B7B2-2242F5866353}"/>
              </a:ext>
            </a:extLst>
          </p:cNvPr>
          <p:cNvPicPr>
            <a:picLocks noChangeAspect="1"/>
          </p:cNvPicPr>
          <p:nvPr/>
        </p:nvPicPr>
        <p:blipFill>
          <a:blip r:embed="rId4"/>
          <a:stretch>
            <a:fillRect/>
          </a:stretch>
        </p:blipFill>
        <p:spPr>
          <a:xfrm>
            <a:off x="1910190" y="1879272"/>
            <a:ext cx="5430511" cy="3047837"/>
          </a:xfrm>
          <a:prstGeom prst="rect">
            <a:avLst/>
          </a:prstGeom>
        </p:spPr>
      </p:pic>
      <p:sp>
        <p:nvSpPr>
          <p:cNvPr id="8" name="TextBox 7">
            <a:extLst>
              <a:ext uri="{FF2B5EF4-FFF2-40B4-BE49-F238E27FC236}">
                <a16:creationId xmlns:a16="http://schemas.microsoft.com/office/drawing/2014/main" id="{433A3726-D520-4B31-B5F5-1306F9114FBC}"/>
              </a:ext>
            </a:extLst>
          </p:cNvPr>
          <p:cNvSpPr txBox="1"/>
          <p:nvPr/>
        </p:nvSpPr>
        <p:spPr>
          <a:xfrm>
            <a:off x="812582" y="4818678"/>
            <a:ext cx="1097608" cy="246221"/>
          </a:xfrm>
          <a:prstGeom prst="rect">
            <a:avLst/>
          </a:prstGeom>
          <a:noFill/>
        </p:spPr>
        <p:txBody>
          <a:bodyPr wrap="square" rtlCol="0">
            <a:spAutoFit/>
          </a:bodyPr>
          <a:lstStyle/>
          <a:p>
            <a:r>
              <a:rPr lang="en-US" sz="1000" dirty="0" err="1">
                <a:solidFill>
                  <a:srgbClr val="7030A0"/>
                </a:solidFill>
              </a:rPr>
              <a:t>Bolstad</a:t>
            </a:r>
            <a:r>
              <a:rPr lang="en-US" sz="1000" dirty="0">
                <a:solidFill>
                  <a:srgbClr val="7030A0"/>
                </a:solidFill>
              </a:rPr>
              <a:t>, 2019</a:t>
            </a:r>
          </a:p>
        </p:txBody>
      </p:sp>
    </p:spTree>
    <p:extLst>
      <p:ext uri="{BB962C8B-B14F-4D97-AF65-F5344CB8AC3E}">
        <p14:creationId xmlns:p14="http://schemas.microsoft.com/office/powerpoint/2010/main" val="4759783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a:xfrm>
            <a:off x="1535518" y="1936677"/>
            <a:ext cx="5158563" cy="919065"/>
          </a:xfrm>
        </p:spPr>
        <p:txBody>
          <a:bodyPr>
            <a:normAutofit/>
          </a:bodyPr>
          <a:lstStyle/>
          <a:p>
            <a:pPr algn="ctr"/>
            <a:r>
              <a:rPr lang="en-US" dirty="0"/>
              <a:t>Neighborhood function</a:t>
            </a:r>
            <a:br>
              <a:rPr lang="en-US" dirty="0"/>
            </a:br>
            <a:r>
              <a:rPr lang="en-US" dirty="0"/>
              <a:t>distance</a:t>
            </a:r>
          </a:p>
        </p:txBody>
      </p:sp>
      <p:sp>
        <p:nvSpPr>
          <p:cNvPr id="3" name="Slide Number Placeholder 2">
            <a:extLst>
              <a:ext uri="{FF2B5EF4-FFF2-40B4-BE49-F238E27FC236}">
                <a16:creationId xmlns:a16="http://schemas.microsoft.com/office/drawing/2014/main" id="{5E351253-D166-44F7-9F84-3637602BD1DF}"/>
              </a:ext>
            </a:extLst>
          </p:cNvPr>
          <p:cNvSpPr>
            <a:spLocks noGrp="1"/>
          </p:cNvSpPr>
          <p:nvPr>
            <p:ph type="sldNum" sz="quarter" idx="12"/>
          </p:nvPr>
        </p:nvSpPr>
        <p:spPr/>
        <p:txBody>
          <a:bodyPr/>
          <a:lstStyle/>
          <a:p>
            <a:fld id="{127DDC20-79C9-9647-820E-6D40A3D210C3}" type="slidenum">
              <a:rPr lang="en-US" smtClean="0"/>
              <a:pPr/>
              <a:t>43</a:t>
            </a:fld>
            <a:endParaRPr lang="en-US"/>
          </a:p>
        </p:txBody>
      </p:sp>
    </p:spTree>
    <p:extLst>
      <p:ext uri="{BB962C8B-B14F-4D97-AF65-F5344CB8AC3E}">
        <p14:creationId xmlns:p14="http://schemas.microsoft.com/office/powerpoint/2010/main" val="25698308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custDataLst>
              <p:tags r:id="rId1"/>
            </p:custDataLst>
          </p:nvPr>
        </p:nvSpPr>
        <p:spPr>
          <a:xfrm>
            <a:off x="195485" y="1131195"/>
            <a:ext cx="7565719" cy="462713"/>
          </a:xfrm>
        </p:spPr>
        <p:txBody>
          <a:bodyPr>
            <a:normAutofit/>
          </a:bodyPr>
          <a:lstStyle/>
          <a:p>
            <a:pPr marL="0" indent="0">
              <a:buNone/>
            </a:pPr>
            <a:r>
              <a:rPr lang="en-US" sz="2400" dirty="0"/>
              <a:t>Straight line or Euclidean distance from the cell to a source</a:t>
            </a:r>
          </a:p>
        </p:txBody>
      </p:sp>
      <p:sp>
        <p:nvSpPr>
          <p:cNvPr id="2" name="Slide Number Placeholder 1">
            <a:extLst>
              <a:ext uri="{FF2B5EF4-FFF2-40B4-BE49-F238E27FC236}">
                <a16:creationId xmlns:a16="http://schemas.microsoft.com/office/drawing/2014/main" id="{196BD1B7-7137-4B21-981B-44FD4889EF71}"/>
              </a:ext>
            </a:extLst>
          </p:cNvPr>
          <p:cNvSpPr>
            <a:spLocks noGrp="1"/>
          </p:cNvSpPr>
          <p:nvPr>
            <p:ph type="sldNum" sz="quarter" idx="12"/>
          </p:nvPr>
        </p:nvSpPr>
        <p:spPr/>
        <p:txBody>
          <a:bodyPr/>
          <a:lstStyle/>
          <a:p>
            <a:fld id="{127DDC20-79C9-9647-820E-6D40A3D210C3}" type="slidenum">
              <a:rPr lang="en-US" smtClean="0"/>
              <a:pPr/>
              <a:t>44</a:t>
            </a:fld>
            <a:endParaRPr lang="en-US"/>
          </a:p>
        </p:txBody>
      </p:sp>
      <p:cxnSp>
        <p:nvCxnSpPr>
          <p:cNvPr id="7" name="Straight Connector 6">
            <a:extLst>
              <a:ext uri="{FF2B5EF4-FFF2-40B4-BE49-F238E27FC236}">
                <a16:creationId xmlns:a16="http://schemas.microsoft.com/office/drawing/2014/main" id="{898EC6E8-C4EB-4B9B-BD63-71DCF19E182B}"/>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itle 1">
            <a:extLst>
              <a:ext uri="{FF2B5EF4-FFF2-40B4-BE49-F238E27FC236}">
                <a16:creationId xmlns:a16="http://schemas.microsoft.com/office/drawing/2014/main" id="{969C31A1-82C7-4714-B76F-6E53DF668BD6}"/>
              </a:ext>
            </a:extLst>
          </p:cNvPr>
          <p:cNvSpPr txBox="1">
            <a:spLocks/>
          </p:cNvSpPr>
          <p:nvPr/>
        </p:nvSpPr>
        <p:spPr>
          <a:xfrm>
            <a:off x="196665" y="158005"/>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E</a:t>
            </a:r>
            <a:r>
              <a:rPr lang="en-US" altLang="zh-CN" sz="3200" dirty="0">
                <a:solidFill>
                  <a:srgbClr val="7030A0"/>
                </a:solidFill>
              </a:rPr>
              <a:t>uclidean Distance</a:t>
            </a:r>
            <a:endParaRPr lang="en-US" sz="2600" dirty="0">
              <a:solidFill>
                <a:srgbClr val="7030A0"/>
              </a:solidFill>
            </a:endParaRPr>
          </a:p>
        </p:txBody>
      </p:sp>
      <p:pic>
        <p:nvPicPr>
          <p:cNvPr id="2050" name="Picture 2" descr="Euclidean distance example">
            <a:extLst>
              <a:ext uri="{FF2B5EF4-FFF2-40B4-BE49-F238E27FC236}">
                <a16:creationId xmlns:a16="http://schemas.microsoft.com/office/drawing/2014/main" id="{5B672095-7C91-4C03-9B57-DC6BDD5DA18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2113" y="1780160"/>
            <a:ext cx="2943225" cy="2809875"/>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34375955-58A1-479A-AB7A-333A098B3A2D}"/>
              </a:ext>
            </a:extLst>
          </p:cNvPr>
          <p:cNvSpPr txBox="1"/>
          <p:nvPr/>
        </p:nvSpPr>
        <p:spPr>
          <a:xfrm>
            <a:off x="196665" y="4796807"/>
            <a:ext cx="4902289" cy="276999"/>
          </a:xfrm>
          <a:prstGeom prst="rect">
            <a:avLst/>
          </a:prstGeom>
          <a:noFill/>
        </p:spPr>
        <p:txBody>
          <a:bodyPr wrap="square">
            <a:spAutoFit/>
          </a:bodyPr>
          <a:lstStyle/>
          <a:p>
            <a:r>
              <a:rPr lang="en-US" sz="1200" b="0" i="0" dirty="0">
                <a:solidFill>
                  <a:srgbClr val="4D4D4D"/>
                </a:solidFill>
                <a:effectLst/>
                <a:latin typeface="Lucida Grande"/>
              </a:rPr>
              <a:t>Map showing the distance to the nearest town for each location</a:t>
            </a:r>
            <a:endParaRPr lang="en-US" sz="1200" dirty="0"/>
          </a:p>
        </p:txBody>
      </p:sp>
      <p:sp>
        <p:nvSpPr>
          <p:cNvPr id="6" name="TextBox 5">
            <a:extLst>
              <a:ext uri="{FF2B5EF4-FFF2-40B4-BE49-F238E27FC236}">
                <a16:creationId xmlns:a16="http://schemas.microsoft.com/office/drawing/2014/main" id="{EAC68AFD-0426-D40C-B01E-9EDBB3A1F54A}"/>
              </a:ext>
            </a:extLst>
          </p:cNvPr>
          <p:cNvSpPr txBox="1"/>
          <p:nvPr/>
        </p:nvSpPr>
        <p:spPr>
          <a:xfrm>
            <a:off x="3782348" y="1713854"/>
            <a:ext cx="4135772" cy="646331"/>
          </a:xfrm>
          <a:prstGeom prst="rect">
            <a:avLst/>
          </a:prstGeom>
          <a:noFill/>
        </p:spPr>
        <p:txBody>
          <a:bodyPr wrap="square">
            <a:spAutoFit/>
          </a:bodyPr>
          <a:lstStyle/>
          <a:p>
            <a:r>
              <a:rPr lang="en-US" b="0" i="0" dirty="0">
                <a:effectLst/>
                <a:latin typeface="Avenir Next W01"/>
              </a:rPr>
              <a:t>Map showing the distance to the nearest town for each location</a:t>
            </a:r>
            <a:endParaRPr lang="en-US" dirty="0"/>
          </a:p>
        </p:txBody>
      </p:sp>
    </p:spTree>
    <p:extLst>
      <p:ext uri="{BB962C8B-B14F-4D97-AF65-F5344CB8AC3E}">
        <p14:creationId xmlns:p14="http://schemas.microsoft.com/office/powerpoint/2010/main" val="34020260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9D223E2-6100-CD61-8DA3-69AC9BE4A8C3}"/>
              </a:ext>
            </a:extLst>
          </p:cNvPr>
          <p:cNvSpPr>
            <a:spLocks noGrp="1"/>
          </p:cNvSpPr>
          <p:nvPr>
            <p:ph type="sldNum" sz="quarter" idx="12"/>
          </p:nvPr>
        </p:nvSpPr>
        <p:spPr/>
        <p:txBody>
          <a:bodyPr/>
          <a:lstStyle/>
          <a:p>
            <a:fld id="{127DDC20-79C9-9647-820E-6D40A3D210C3}" type="slidenum">
              <a:rPr lang="en-US" smtClean="0"/>
              <a:pPr/>
              <a:t>45</a:t>
            </a:fld>
            <a:endParaRPr lang="en-US"/>
          </a:p>
        </p:txBody>
      </p:sp>
      <p:sp>
        <p:nvSpPr>
          <p:cNvPr id="6" name="Title 1">
            <a:extLst>
              <a:ext uri="{FF2B5EF4-FFF2-40B4-BE49-F238E27FC236}">
                <a16:creationId xmlns:a16="http://schemas.microsoft.com/office/drawing/2014/main" id="{60ACEDFA-03AF-CAB8-FB16-8F0BD484E642}"/>
              </a:ext>
            </a:extLst>
          </p:cNvPr>
          <p:cNvSpPr txBox="1">
            <a:spLocks/>
          </p:cNvSpPr>
          <p:nvPr/>
        </p:nvSpPr>
        <p:spPr>
          <a:xfrm>
            <a:off x="196665" y="158005"/>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E</a:t>
            </a:r>
            <a:r>
              <a:rPr lang="en-US" altLang="zh-CN" sz="3200" dirty="0">
                <a:solidFill>
                  <a:srgbClr val="7030A0"/>
                </a:solidFill>
              </a:rPr>
              <a:t>uclidean Distance</a:t>
            </a:r>
            <a:endParaRPr lang="en-US" sz="2600" dirty="0">
              <a:solidFill>
                <a:srgbClr val="7030A0"/>
              </a:solidFill>
            </a:endParaRPr>
          </a:p>
        </p:txBody>
      </p:sp>
      <p:pic>
        <p:nvPicPr>
          <p:cNvPr id="11" name="Picture 2" descr="Euclidean distance example">
            <a:extLst>
              <a:ext uri="{FF2B5EF4-FFF2-40B4-BE49-F238E27FC236}">
                <a16:creationId xmlns:a16="http://schemas.microsoft.com/office/drawing/2014/main" id="{46E4DF79-A539-4CEE-5EDA-C5ADCC58B8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25358" y="890927"/>
            <a:ext cx="3911272" cy="3734062"/>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15163218-50BB-D08F-72B4-13F474C0E9A8}"/>
              </a:ext>
            </a:extLst>
          </p:cNvPr>
          <p:cNvSpPr txBox="1"/>
          <p:nvPr/>
        </p:nvSpPr>
        <p:spPr>
          <a:xfrm>
            <a:off x="5389927" y="2030136"/>
            <a:ext cx="595618" cy="369332"/>
          </a:xfrm>
          <a:prstGeom prst="rect">
            <a:avLst/>
          </a:prstGeom>
          <a:noFill/>
        </p:spPr>
        <p:txBody>
          <a:bodyPr wrap="square" rtlCol="0">
            <a:spAutoFit/>
          </a:bodyPr>
          <a:lstStyle/>
          <a:p>
            <a:r>
              <a:rPr lang="en-US" b="1" dirty="0">
                <a:solidFill>
                  <a:schemeClr val="bg1"/>
                </a:solidFill>
              </a:rPr>
              <a:t>A</a:t>
            </a:r>
          </a:p>
        </p:txBody>
      </p:sp>
      <p:sp>
        <p:nvSpPr>
          <p:cNvPr id="13" name="TextBox 12">
            <a:extLst>
              <a:ext uri="{FF2B5EF4-FFF2-40B4-BE49-F238E27FC236}">
                <a16:creationId xmlns:a16="http://schemas.microsoft.com/office/drawing/2014/main" id="{9F5C905D-B9F6-FDD8-77C7-E36C4F54DA55}"/>
              </a:ext>
            </a:extLst>
          </p:cNvPr>
          <p:cNvSpPr txBox="1"/>
          <p:nvPr/>
        </p:nvSpPr>
        <p:spPr>
          <a:xfrm>
            <a:off x="5163085" y="1748177"/>
            <a:ext cx="595618" cy="369332"/>
          </a:xfrm>
          <a:prstGeom prst="rect">
            <a:avLst/>
          </a:prstGeom>
          <a:noFill/>
        </p:spPr>
        <p:txBody>
          <a:bodyPr wrap="square" rtlCol="0">
            <a:spAutoFit/>
          </a:bodyPr>
          <a:lstStyle/>
          <a:p>
            <a:r>
              <a:rPr lang="en-US" b="1" dirty="0">
                <a:solidFill>
                  <a:schemeClr val="bg1"/>
                </a:solidFill>
              </a:rPr>
              <a:t>B</a:t>
            </a:r>
          </a:p>
        </p:txBody>
      </p:sp>
      <p:sp>
        <p:nvSpPr>
          <p:cNvPr id="14" name="TextBox 13">
            <a:extLst>
              <a:ext uri="{FF2B5EF4-FFF2-40B4-BE49-F238E27FC236}">
                <a16:creationId xmlns:a16="http://schemas.microsoft.com/office/drawing/2014/main" id="{E1BE5A48-29EE-62A1-E39C-FB8100D6CE0C}"/>
              </a:ext>
            </a:extLst>
          </p:cNvPr>
          <p:cNvSpPr txBox="1"/>
          <p:nvPr/>
        </p:nvSpPr>
        <p:spPr>
          <a:xfrm>
            <a:off x="352337" y="1286512"/>
            <a:ext cx="2648602" cy="646331"/>
          </a:xfrm>
          <a:prstGeom prst="rect">
            <a:avLst/>
          </a:prstGeom>
          <a:noFill/>
        </p:spPr>
        <p:txBody>
          <a:bodyPr wrap="square" rtlCol="0">
            <a:spAutoFit/>
          </a:bodyPr>
          <a:lstStyle/>
          <a:p>
            <a:r>
              <a:rPr lang="en-US" dirty="0"/>
              <a:t>1. W</a:t>
            </a:r>
            <a:r>
              <a:rPr lang="en-US" altLang="zh-CN" dirty="0"/>
              <a:t>hich location is closer to the town? A or B?</a:t>
            </a:r>
            <a:endParaRPr lang="en-US" dirty="0"/>
          </a:p>
        </p:txBody>
      </p:sp>
      <p:sp>
        <p:nvSpPr>
          <p:cNvPr id="15" name="TextBox 14">
            <a:extLst>
              <a:ext uri="{FF2B5EF4-FFF2-40B4-BE49-F238E27FC236}">
                <a16:creationId xmlns:a16="http://schemas.microsoft.com/office/drawing/2014/main" id="{8BB5E91A-F31D-EFA1-6906-0E28D103A517}"/>
              </a:ext>
            </a:extLst>
          </p:cNvPr>
          <p:cNvSpPr txBox="1"/>
          <p:nvPr/>
        </p:nvSpPr>
        <p:spPr>
          <a:xfrm>
            <a:off x="352337" y="2542643"/>
            <a:ext cx="2648602" cy="646331"/>
          </a:xfrm>
          <a:prstGeom prst="rect">
            <a:avLst/>
          </a:prstGeom>
          <a:noFill/>
        </p:spPr>
        <p:txBody>
          <a:bodyPr wrap="square" rtlCol="0">
            <a:spAutoFit/>
          </a:bodyPr>
          <a:lstStyle/>
          <a:p>
            <a:r>
              <a:rPr lang="en-US" dirty="0"/>
              <a:t>1. W</a:t>
            </a:r>
            <a:r>
              <a:rPr lang="en-US" altLang="zh-CN" dirty="0"/>
              <a:t>hich location is closer to the town? C or D?</a:t>
            </a:r>
            <a:endParaRPr lang="en-US" dirty="0"/>
          </a:p>
        </p:txBody>
      </p:sp>
      <p:sp>
        <p:nvSpPr>
          <p:cNvPr id="16" name="TextBox 15">
            <a:extLst>
              <a:ext uri="{FF2B5EF4-FFF2-40B4-BE49-F238E27FC236}">
                <a16:creationId xmlns:a16="http://schemas.microsoft.com/office/drawing/2014/main" id="{8D815C78-0274-665D-9F4F-579683584FCF}"/>
              </a:ext>
            </a:extLst>
          </p:cNvPr>
          <p:cNvSpPr txBox="1"/>
          <p:nvPr/>
        </p:nvSpPr>
        <p:spPr>
          <a:xfrm>
            <a:off x="5460894" y="3994558"/>
            <a:ext cx="595618" cy="369332"/>
          </a:xfrm>
          <a:prstGeom prst="rect">
            <a:avLst/>
          </a:prstGeom>
          <a:noFill/>
        </p:spPr>
        <p:txBody>
          <a:bodyPr wrap="square" rtlCol="0">
            <a:spAutoFit/>
          </a:bodyPr>
          <a:lstStyle/>
          <a:p>
            <a:r>
              <a:rPr lang="en-US" b="1" dirty="0"/>
              <a:t>C</a:t>
            </a:r>
          </a:p>
        </p:txBody>
      </p:sp>
      <p:sp>
        <p:nvSpPr>
          <p:cNvPr id="17" name="TextBox 16">
            <a:extLst>
              <a:ext uri="{FF2B5EF4-FFF2-40B4-BE49-F238E27FC236}">
                <a16:creationId xmlns:a16="http://schemas.microsoft.com/office/drawing/2014/main" id="{E53FDEA4-7376-B26D-B93A-ABDB5C3A8C82}"/>
              </a:ext>
            </a:extLst>
          </p:cNvPr>
          <p:cNvSpPr txBox="1"/>
          <p:nvPr/>
        </p:nvSpPr>
        <p:spPr>
          <a:xfrm>
            <a:off x="3785183" y="2030136"/>
            <a:ext cx="595618" cy="369332"/>
          </a:xfrm>
          <a:prstGeom prst="rect">
            <a:avLst/>
          </a:prstGeom>
          <a:noFill/>
        </p:spPr>
        <p:txBody>
          <a:bodyPr wrap="square" rtlCol="0">
            <a:spAutoFit/>
          </a:bodyPr>
          <a:lstStyle/>
          <a:p>
            <a:r>
              <a:rPr lang="en-US" b="1" dirty="0"/>
              <a:t>D</a:t>
            </a:r>
          </a:p>
        </p:txBody>
      </p:sp>
    </p:spTree>
    <p:extLst>
      <p:ext uri="{BB962C8B-B14F-4D97-AF65-F5344CB8AC3E}">
        <p14:creationId xmlns:p14="http://schemas.microsoft.com/office/powerpoint/2010/main" val="109953773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custDataLst>
              <p:tags r:id="rId1"/>
            </p:custDataLst>
          </p:nvPr>
        </p:nvSpPr>
        <p:spPr>
          <a:xfrm>
            <a:off x="110067" y="1131195"/>
            <a:ext cx="5141441" cy="2881110"/>
          </a:xfrm>
        </p:spPr>
        <p:txBody>
          <a:bodyPr>
            <a:normAutofit/>
          </a:bodyPr>
          <a:lstStyle/>
          <a:p>
            <a:pPr>
              <a:buFont typeface="Courier New" panose="02070309020205020404" pitchFamily="49" charset="0"/>
              <a:buChar char="o"/>
            </a:pPr>
            <a:r>
              <a:rPr lang="en-US" sz="2000" dirty="0"/>
              <a:t>Euclidean distance but with a cost or impedance applied</a:t>
            </a:r>
          </a:p>
          <a:p>
            <a:pPr marL="0" indent="0">
              <a:buNone/>
            </a:pPr>
            <a:endParaRPr lang="en-US" sz="2000" dirty="0"/>
          </a:p>
          <a:p>
            <a:pPr marL="0" indent="0">
              <a:buNone/>
            </a:pPr>
            <a:r>
              <a:rPr lang="en-US" sz="2000" dirty="0"/>
              <a:t>Example: Distance from streams weighted by slope</a:t>
            </a:r>
          </a:p>
          <a:p>
            <a:pPr>
              <a:buFont typeface="Wingdings" panose="05000000000000000000" pitchFamily="2" charset="2"/>
              <a:buChar char="ü"/>
            </a:pPr>
            <a:r>
              <a:rPr lang="en-US" sz="2000" dirty="0"/>
              <a:t>Slope is used as a measure of cost or impedance of travel away from streams</a:t>
            </a:r>
          </a:p>
        </p:txBody>
      </p:sp>
      <p:sp>
        <p:nvSpPr>
          <p:cNvPr id="2" name="Slide Number Placeholder 1">
            <a:extLst>
              <a:ext uri="{FF2B5EF4-FFF2-40B4-BE49-F238E27FC236}">
                <a16:creationId xmlns:a16="http://schemas.microsoft.com/office/drawing/2014/main" id="{BA8EF664-A47B-407E-BADD-15D7E6B66745}"/>
              </a:ext>
            </a:extLst>
          </p:cNvPr>
          <p:cNvSpPr>
            <a:spLocks noGrp="1"/>
          </p:cNvSpPr>
          <p:nvPr>
            <p:ph type="sldNum" sz="quarter" idx="12"/>
          </p:nvPr>
        </p:nvSpPr>
        <p:spPr/>
        <p:txBody>
          <a:bodyPr/>
          <a:lstStyle/>
          <a:p>
            <a:fld id="{127DDC20-79C9-9647-820E-6D40A3D210C3}" type="slidenum">
              <a:rPr lang="en-US" smtClean="0"/>
              <a:pPr/>
              <a:t>46</a:t>
            </a:fld>
            <a:endParaRPr lang="en-US"/>
          </a:p>
        </p:txBody>
      </p:sp>
      <p:pic>
        <p:nvPicPr>
          <p:cNvPr id="6" name="Picture 3" descr="Image showing cost distance exampl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97237" y="983373"/>
            <a:ext cx="2159963" cy="18584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7" name="Straight Connector 6">
            <a:extLst>
              <a:ext uri="{FF2B5EF4-FFF2-40B4-BE49-F238E27FC236}">
                <a16:creationId xmlns:a16="http://schemas.microsoft.com/office/drawing/2014/main" id="{0D57BE1E-C79B-4A32-8E0F-E53F2100CB48}"/>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itle 1">
            <a:extLst>
              <a:ext uri="{FF2B5EF4-FFF2-40B4-BE49-F238E27FC236}">
                <a16:creationId xmlns:a16="http://schemas.microsoft.com/office/drawing/2014/main" id="{77B559B1-7C4F-4513-9F96-530DFB2EC3F5}"/>
              </a:ext>
            </a:extLst>
          </p:cNvPr>
          <p:cNvSpPr txBox="1">
            <a:spLocks/>
          </p:cNvSpPr>
          <p:nvPr/>
        </p:nvSpPr>
        <p:spPr>
          <a:xfrm>
            <a:off x="243980" y="171985"/>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Cost</a:t>
            </a:r>
            <a:r>
              <a:rPr lang="en-US" altLang="zh-CN" sz="3200" dirty="0">
                <a:solidFill>
                  <a:srgbClr val="7030A0"/>
                </a:solidFill>
              </a:rPr>
              <a:t> Distance</a:t>
            </a:r>
            <a:endParaRPr lang="en-US" sz="2600" dirty="0">
              <a:solidFill>
                <a:srgbClr val="7030A0"/>
              </a:solidFill>
            </a:endParaRPr>
          </a:p>
        </p:txBody>
      </p:sp>
      <p:pic>
        <p:nvPicPr>
          <p:cNvPr id="3" name="Picture 2" descr="Image showing cost distance results">
            <a:extLst>
              <a:ext uri="{FF2B5EF4-FFF2-40B4-BE49-F238E27FC236}">
                <a16:creationId xmlns:a16="http://schemas.microsoft.com/office/drawing/2014/main" id="{E9B1F2D8-9F56-4B2B-AF91-9A5BEAEB2CCB}"/>
              </a:ext>
            </a:extLst>
          </p:cNvPr>
          <p:cNvPicPr>
            <a:picLocks noChangeAspect="1"/>
          </p:cNvPicPr>
          <p:nvPr/>
        </p:nvPicPr>
        <p:blipFill>
          <a:blip r:embed="rId5"/>
          <a:stretch>
            <a:fillRect/>
          </a:stretch>
        </p:blipFill>
        <p:spPr>
          <a:xfrm>
            <a:off x="5597237" y="3014712"/>
            <a:ext cx="1985530" cy="1940146"/>
          </a:xfrm>
          <a:prstGeom prst="rect">
            <a:avLst/>
          </a:prstGeom>
        </p:spPr>
      </p:pic>
    </p:spTree>
    <p:extLst>
      <p:ext uri="{BB962C8B-B14F-4D97-AF65-F5344CB8AC3E}">
        <p14:creationId xmlns:p14="http://schemas.microsoft.com/office/powerpoint/2010/main" val="14658802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a:xfrm>
            <a:off x="1696156" y="1936677"/>
            <a:ext cx="5158563" cy="1634426"/>
          </a:xfrm>
        </p:spPr>
        <p:txBody>
          <a:bodyPr>
            <a:normAutofit/>
          </a:bodyPr>
          <a:lstStyle/>
          <a:p>
            <a:pPr algn="ctr"/>
            <a:r>
              <a:rPr lang="en-US" dirty="0"/>
              <a:t>Neighborhood function</a:t>
            </a:r>
            <a:br>
              <a:rPr lang="en-US" dirty="0"/>
            </a:br>
            <a:r>
              <a:rPr lang="en-US" dirty="0"/>
              <a:t>Raster Generalization</a:t>
            </a:r>
          </a:p>
        </p:txBody>
      </p:sp>
      <p:sp>
        <p:nvSpPr>
          <p:cNvPr id="3" name="Slide Number Placeholder 2">
            <a:extLst>
              <a:ext uri="{FF2B5EF4-FFF2-40B4-BE49-F238E27FC236}">
                <a16:creationId xmlns:a16="http://schemas.microsoft.com/office/drawing/2014/main" id="{4737EEF5-F3B3-4C6E-94AC-9BA2BCE3010E}"/>
              </a:ext>
            </a:extLst>
          </p:cNvPr>
          <p:cNvSpPr>
            <a:spLocks noGrp="1"/>
          </p:cNvSpPr>
          <p:nvPr>
            <p:ph type="sldNum" sz="quarter" idx="12"/>
          </p:nvPr>
        </p:nvSpPr>
        <p:spPr/>
        <p:txBody>
          <a:bodyPr/>
          <a:lstStyle/>
          <a:p>
            <a:fld id="{127DDC20-79C9-9647-820E-6D40A3D210C3}" type="slidenum">
              <a:rPr lang="en-US" smtClean="0"/>
              <a:pPr/>
              <a:t>47</a:t>
            </a:fld>
            <a:endParaRPr lang="en-US"/>
          </a:p>
        </p:txBody>
      </p:sp>
    </p:spTree>
    <p:extLst>
      <p:ext uri="{BB962C8B-B14F-4D97-AF65-F5344CB8AC3E}">
        <p14:creationId xmlns:p14="http://schemas.microsoft.com/office/powerpoint/2010/main" val="29349166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custDataLst>
              <p:tags r:id="rId1"/>
            </p:custDataLst>
          </p:nvPr>
        </p:nvSpPr>
        <p:spPr>
          <a:xfrm>
            <a:off x="219123" y="1224617"/>
            <a:ext cx="4715151" cy="3593319"/>
          </a:xfrm>
        </p:spPr>
        <p:txBody>
          <a:bodyPr>
            <a:noAutofit/>
          </a:bodyPr>
          <a:lstStyle/>
          <a:p>
            <a:pPr>
              <a:buFont typeface="Courier New" panose="02070309020205020404" pitchFamily="49" charset="0"/>
              <a:buChar char="o"/>
            </a:pPr>
            <a:r>
              <a:rPr lang="en-US" sz="1600" dirty="0"/>
              <a:t>Only applicable to categorical raster grids</a:t>
            </a:r>
          </a:p>
          <a:p>
            <a:pPr>
              <a:buFont typeface="Courier New" panose="02070309020205020404" pitchFamily="49" charset="0"/>
              <a:buChar char="o"/>
            </a:pPr>
            <a:r>
              <a:rPr lang="en-US" sz="1600" dirty="0"/>
              <a:t>Replace center cell with majority value in 3 x 3 cell window</a:t>
            </a:r>
          </a:p>
          <a:p>
            <a:pPr>
              <a:buFont typeface="Courier New" panose="02070309020205020404" pitchFamily="49" charset="0"/>
              <a:buChar char="o"/>
            </a:pPr>
            <a:r>
              <a:rPr lang="en-US" sz="1600" b="1" dirty="0">
                <a:solidFill>
                  <a:srgbClr val="E3874F"/>
                </a:solidFill>
              </a:rPr>
              <a:t>MAJORITY</a:t>
            </a:r>
            <a:r>
              <a:rPr lang="en-US" sz="1600" dirty="0"/>
              <a:t> vs. </a:t>
            </a:r>
            <a:r>
              <a:rPr lang="en-US" sz="1600" b="1" dirty="0">
                <a:solidFill>
                  <a:srgbClr val="E3874F"/>
                </a:solidFill>
              </a:rPr>
              <a:t>HALF</a:t>
            </a:r>
            <a:r>
              <a:rPr lang="en-US" sz="1600" dirty="0"/>
              <a:t>: Must have a majority or at least half to change value</a:t>
            </a:r>
            <a:endParaRPr lang="en-US" sz="1600" b="1" dirty="0">
              <a:solidFill>
                <a:srgbClr val="E3874F"/>
              </a:solidFill>
            </a:endParaRPr>
          </a:p>
          <a:p>
            <a:pPr>
              <a:buFont typeface="Courier New" panose="02070309020205020404" pitchFamily="49" charset="0"/>
              <a:buChar char="o"/>
            </a:pPr>
            <a:r>
              <a:rPr lang="en-US" sz="1600" b="1" dirty="0">
                <a:solidFill>
                  <a:srgbClr val="E3874F"/>
                </a:solidFill>
              </a:rPr>
              <a:t>FOUR</a:t>
            </a:r>
            <a:r>
              <a:rPr lang="en-US" sz="1600" dirty="0"/>
              <a:t> vs. </a:t>
            </a:r>
            <a:r>
              <a:rPr lang="en-US" sz="1600" b="1" dirty="0">
                <a:solidFill>
                  <a:srgbClr val="E3874F"/>
                </a:solidFill>
              </a:rPr>
              <a:t>EIGHT</a:t>
            </a:r>
            <a:r>
              <a:rPr lang="en-US" sz="1600" dirty="0"/>
              <a:t>: use just orthogonal cells or orthogonal and diagonal cells</a:t>
            </a:r>
          </a:p>
          <a:p>
            <a:pPr lvl="1">
              <a:buFont typeface="Wingdings" panose="05000000000000000000" pitchFamily="2" charset="2"/>
              <a:buChar char="ü"/>
            </a:pPr>
            <a:r>
              <a:rPr lang="en-US" sz="1600" dirty="0"/>
              <a:t>Four:  only orthogonal cells</a:t>
            </a:r>
          </a:p>
          <a:p>
            <a:pPr lvl="1">
              <a:buFont typeface="Wingdings" panose="05000000000000000000" pitchFamily="2" charset="2"/>
              <a:buChar char="ü"/>
            </a:pPr>
            <a:r>
              <a:rPr lang="en-US" sz="1600" dirty="0"/>
              <a:t>Eight: both orthogonal and diagonal</a:t>
            </a:r>
            <a:endParaRPr lang="en-US" sz="1600" b="1" dirty="0">
              <a:solidFill>
                <a:srgbClr val="E3874F"/>
              </a:solidFill>
            </a:endParaRPr>
          </a:p>
          <a:p>
            <a:pPr marL="308610" lvl="1" indent="-308610">
              <a:buFont typeface="Courier New" panose="02070309020205020404" pitchFamily="49" charset="0"/>
              <a:buChar char="o"/>
            </a:pPr>
            <a:r>
              <a:rPr lang="en-US" sz="1600" dirty="0"/>
              <a:t>Salt and pepper effect</a:t>
            </a:r>
          </a:p>
          <a:p>
            <a:pPr marL="0" indent="0">
              <a:buNone/>
            </a:pPr>
            <a:endParaRPr lang="en-US" sz="1600" dirty="0"/>
          </a:p>
        </p:txBody>
      </p:sp>
      <p:sp>
        <p:nvSpPr>
          <p:cNvPr id="3" name="Slide Number Placeholder 2">
            <a:extLst>
              <a:ext uri="{FF2B5EF4-FFF2-40B4-BE49-F238E27FC236}">
                <a16:creationId xmlns:a16="http://schemas.microsoft.com/office/drawing/2014/main" id="{012D7666-741B-428B-A7E3-83E61790DE71}"/>
              </a:ext>
            </a:extLst>
          </p:cNvPr>
          <p:cNvSpPr>
            <a:spLocks noGrp="1"/>
          </p:cNvSpPr>
          <p:nvPr>
            <p:ph type="sldNum" sz="quarter" idx="12"/>
          </p:nvPr>
        </p:nvSpPr>
        <p:spPr/>
        <p:txBody>
          <a:bodyPr/>
          <a:lstStyle/>
          <a:p>
            <a:fld id="{127DDC20-79C9-9647-820E-6D40A3D210C3}" type="slidenum">
              <a:rPr lang="en-US" smtClean="0"/>
              <a:pPr/>
              <a:t>48</a:t>
            </a:fld>
            <a:endParaRPr lang="en-US"/>
          </a:p>
        </p:txBody>
      </p:sp>
      <p:graphicFrame>
        <p:nvGraphicFramePr>
          <p:cNvPr id="2" name="Table 1"/>
          <p:cNvGraphicFramePr>
            <a:graphicFrameLocks noGrp="1"/>
          </p:cNvGraphicFramePr>
          <p:nvPr>
            <p:custDataLst>
              <p:tags r:id="rId2"/>
            </p:custDataLst>
            <p:extLst>
              <p:ext uri="{D42A27DB-BD31-4B8C-83A1-F6EECF244321}">
                <p14:modId xmlns:p14="http://schemas.microsoft.com/office/powerpoint/2010/main" val="2240937161"/>
              </p:ext>
            </p:extLst>
          </p:nvPr>
        </p:nvGraphicFramePr>
        <p:xfrm>
          <a:off x="5092319" y="1851472"/>
          <a:ext cx="2263731" cy="2263731"/>
        </p:xfrm>
        <a:graphic>
          <a:graphicData uri="http://schemas.openxmlformats.org/drawingml/2006/table">
            <a:tbl>
              <a:tblPr>
                <a:tableStyleId>{6E25E649-3F16-4E02-A733-19D2CDBF48F0}</a:tableStyleId>
              </a:tblPr>
              <a:tblGrid>
                <a:gridCol w="754577">
                  <a:extLst>
                    <a:ext uri="{9D8B030D-6E8A-4147-A177-3AD203B41FA5}">
                      <a16:colId xmlns:a16="http://schemas.microsoft.com/office/drawing/2014/main" val="1461948651"/>
                    </a:ext>
                  </a:extLst>
                </a:gridCol>
                <a:gridCol w="754577">
                  <a:extLst>
                    <a:ext uri="{9D8B030D-6E8A-4147-A177-3AD203B41FA5}">
                      <a16:colId xmlns:a16="http://schemas.microsoft.com/office/drawing/2014/main" val="1281458571"/>
                    </a:ext>
                  </a:extLst>
                </a:gridCol>
                <a:gridCol w="754577">
                  <a:extLst>
                    <a:ext uri="{9D8B030D-6E8A-4147-A177-3AD203B41FA5}">
                      <a16:colId xmlns:a16="http://schemas.microsoft.com/office/drawing/2014/main" val="3801611322"/>
                    </a:ext>
                  </a:extLst>
                </a:gridCol>
              </a:tblGrid>
              <a:tr h="754577">
                <a:tc>
                  <a:txBody>
                    <a:bodyPr/>
                    <a:lstStyle/>
                    <a:p>
                      <a:pPr algn="ctr" fontAlgn="b"/>
                      <a:r>
                        <a:rPr lang="en-US" sz="2700" b="0" i="0" u="none" strike="noStrike" dirty="0">
                          <a:solidFill>
                            <a:schemeClr val="tx1"/>
                          </a:solidFill>
                          <a:effectLst/>
                          <a:latin typeface="Calibri" panose="020F0502020204030204" pitchFamily="34" charset="0"/>
                        </a:rPr>
                        <a:t>30</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2700" b="0" i="0" u="none" strike="noStrike" dirty="0">
                          <a:solidFill>
                            <a:schemeClr val="tx1"/>
                          </a:solidFill>
                          <a:effectLst/>
                          <a:latin typeface="Calibri" panose="020F0502020204030204" pitchFamily="34" charset="0"/>
                        </a:rPr>
                        <a:t>20</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2700" b="0" i="0" u="none" strike="noStrike" dirty="0">
                          <a:solidFill>
                            <a:schemeClr val="tx1"/>
                          </a:solidFill>
                          <a:effectLst/>
                          <a:latin typeface="Calibri" panose="020F0502020204030204" pitchFamily="34" charset="0"/>
                        </a:rPr>
                        <a:t>30</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53140140"/>
                  </a:ext>
                </a:extLst>
              </a:tr>
              <a:tr h="754577">
                <a:tc>
                  <a:txBody>
                    <a:bodyPr/>
                    <a:lstStyle/>
                    <a:p>
                      <a:pPr algn="ctr" fontAlgn="b"/>
                      <a:r>
                        <a:rPr lang="en-US" sz="2700" b="0" i="0" u="none" strike="noStrike" dirty="0">
                          <a:solidFill>
                            <a:schemeClr val="tx1"/>
                          </a:solidFill>
                          <a:effectLst/>
                          <a:latin typeface="Calibri" panose="020F0502020204030204" pitchFamily="34" charset="0"/>
                        </a:rPr>
                        <a:t>30</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2700" b="0" i="0" u="none" strike="noStrike" dirty="0">
                          <a:solidFill>
                            <a:schemeClr val="tx1"/>
                          </a:solidFill>
                          <a:effectLst/>
                          <a:latin typeface="Calibri" panose="020F0502020204030204" pitchFamily="34" charset="0"/>
                        </a:rPr>
                        <a:t>20</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2700" b="0" i="0" u="none" strike="noStrike" dirty="0">
                          <a:solidFill>
                            <a:schemeClr val="tx1"/>
                          </a:solidFill>
                          <a:effectLst/>
                          <a:latin typeface="Calibri" panose="020F0502020204030204" pitchFamily="34" charset="0"/>
                        </a:rPr>
                        <a:t>20</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42548054"/>
                  </a:ext>
                </a:extLst>
              </a:tr>
              <a:tr h="754577">
                <a:tc>
                  <a:txBody>
                    <a:bodyPr/>
                    <a:lstStyle/>
                    <a:p>
                      <a:pPr algn="ctr" fontAlgn="b"/>
                      <a:r>
                        <a:rPr lang="en-US" sz="2700" b="0" i="0" u="none" strike="noStrike" dirty="0">
                          <a:solidFill>
                            <a:schemeClr val="tx1"/>
                          </a:solidFill>
                          <a:effectLst/>
                          <a:latin typeface="Calibri" panose="020F0502020204030204" pitchFamily="34" charset="0"/>
                        </a:rPr>
                        <a:t>40</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2700" b="0" i="0" u="none" strike="noStrike" dirty="0">
                          <a:solidFill>
                            <a:schemeClr val="tx1"/>
                          </a:solidFill>
                          <a:effectLst/>
                          <a:latin typeface="Calibri" panose="020F0502020204030204" pitchFamily="34" charset="0"/>
                        </a:rPr>
                        <a:t>30</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2700" b="0" i="0" u="none" strike="noStrike" dirty="0">
                          <a:solidFill>
                            <a:schemeClr val="tx1"/>
                          </a:solidFill>
                          <a:effectLst/>
                          <a:latin typeface="Calibri" panose="020F0502020204030204" pitchFamily="34" charset="0"/>
                        </a:rPr>
                        <a:t>20</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97694586"/>
                  </a:ext>
                </a:extLst>
              </a:tr>
            </a:tbl>
          </a:graphicData>
        </a:graphic>
      </p:graphicFrame>
      <p:cxnSp>
        <p:nvCxnSpPr>
          <p:cNvPr id="6" name="Straight Connector 5">
            <a:extLst>
              <a:ext uri="{FF2B5EF4-FFF2-40B4-BE49-F238E27FC236}">
                <a16:creationId xmlns:a16="http://schemas.microsoft.com/office/drawing/2014/main" id="{7BDB410D-F721-4B97-9F1F-5D6648C2EA78}"/>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7" name="Title 1">
            <a:extLst>
              <a:ext uri="{FF2B5EF4-FFF2-40B4-BE49-F238E27FC236}">
                <a16:creationId xmlns:a16="http://schemas.microsoft.com/office/drawing/2014/main" id="{5BE9B631-4600-4B2D-AD06-35E1D9A6B48F}"/>
              </a:ext>
            </a:extLst>
          </p:cNvPr>
          <p:cNvSpPr txBox="1">
            <a:spLocks/>
          </p:cNvSpPr>
          <p:nvPr/>
        </p:nvSpPr>
        <p:spPr>
          <a:xfrm>
            <a:off x="219123" y="17104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Majority Filter</a:t>
            </a:r>
            <a:endParaRPr lang="en-US" sz="2600" dirty="0">
              <a:solidFill>
                <a:srgbClr val="7030A0"/>
              </a:solidFill>
            </a:endParaRPr>
          </a:p>
        </p:txBody>
      </p:sp>
    </p:spTree>
    <p:extLst>
      <p:ext uri="{BB962C8B-B14F-4D97-AF65-F5344CB8AC3E}">
        <p14:creationId xmlns:p14="http://schemas.microsoft.com/office/powerpoint/2010/main" val="16674998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custDataLst>
              <p:tags r:id="rId1"/>
            </p:custDataLst>
          </p:nvPr>
        </p:nvSpPr>
        <p:spPr>
          <a:xfrm>
            <a:off x="359067" y="983027"/>
            <a:ext cx="7511466" cy="1306273"/>
          </a:xfrm>
        </p:spPr>
        <p:txBody>
          <a:bodyPr>
            <a:noAutofit/>
          </a:bodyPr>
          <a:lstStyle/>
          <a:p>
            <a:pPr>
              <a:buFont typeface="Courier New" panose="02070309020205020404" pitchFamily="49" charset="0"/>
              <a:buChar char="o"/>
            </a:pPr>
            <a:r>
              <a:rPr lang="en-US" sz="2000" dirty="0"/>
              <a:t>Group cells with the same code in a categorical raster and code them with a unique identifier</a:t>
            </a:r>
          </a:p>
          <a:p>
            <a:pPr>
              <a:buFont typeface="Courier New" panose="02070309020205020404" pitchFamily="49" charset="0"/>
              <a:buChar char="o"/>
            </a:pPr>
            <a:r>
              <a:rPr lang="en-US" sz="2000" dirty="0"/>
              <a:t>Identify contiguous regions of the same category</a:t>
            </a:r>
          </a:p>
        </p:txBody>
      </p:sp>
      <p:sp>
        <p:nvSpPr>
          <p:cNvPr id="2" name="Slide Number Placeholder 1">
            <a:extLst>
              <a:ext uri="{FF2B5EF4-FFF2-40B4-BE49-F238E27FC236}">
                <a16:creationId xmlns:a16="http://schemas.microsoft.com/office/drawing/2014/main" id="{69477548-AD3F-44FE-B988-BFA61DD90F59}"/>
              </a:ext>
            </a:extLst>
          </p:cNvPr>
          <p:cNvSpPr>
            <a:spLocks noGrp="1"/>
          </p:cNvSpPr>
          <p:nvPr>
            <p:ph type="sldNum" sz="quarter" idx="12"/>
          </p:nvPr>
        </p:nvSpPr>
        <p:spPr/>
        <p:txBody>
          <a:bodyPr/>
          <a:lstStyle/>
          <a:p>
            <a:fld id="{127DDC20-79C9-9647-820E-6D40A3D210C3}" type="slidenum">
              <a:rPr lang="en-US" smtClean="0"/>
              <a:pPr/>
              <a:t>49</a:t>
            </a:fld>
            <a:endParaRPr lang="en-US"/>
          </a:p>
        </p:txBody>
      </p:sp>
      <p:cxnSp>
        <p:nvCxnSpPr>
          <p:cNvPr id="6" name="Straight Connector 5">
            <a:extLst>
              <a:ext uri="{FF2B5EF4-FFF2-40B4-BE49-F238E27FC236}">
                <a16:creationId xmlns:a16="http://schemas.microsoft.com/office/drawing/2014/main" id="{FF373987-F2EB-423D-BCE1-07650B34D36C}"/>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7" name="Title 1">
            <a:extLst>
              <a:ext uri="{FF2B5EF4-FFF2-40B4-BE49-F238E27FC236}">
                <a16:creationId xmlns:a16="http://schemas.microsoft.com/office/drawing/2014/main" id="{5172371E-C90C-48CB-B3F7-83C6801553AA}"/>
              </a:ext>
            </a:extLst>
          </p:cNvPr>
          <p:cNvSpPr txBox="1">
            <a:spLocks/>
          </p:cNvSpPr>
          <p:nvPr/>
        </p:nvSpPr>
        <p:spPr>
          <a:xfrm>
            <a:off x="235591" y="23035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Region Group</a:t>
            </a:r>
            <a:endParaRPr lang="en-US" sz="2600" dirty="0">
              <a:solidFill>
                <a:srgbClr val="7030A0"/>
              </a:solidFill>
            </a:endParaRPr>
          </a:p>
        </p:txBody>
      </p:sp>
      <p:pic>
        <p:nvPicPr>
          <p:cNvPr id="8" name="Picture 7" descr="Image showing region group">
            <a:extLst>
              <a:ext uri="{FF2B5EF4-FFF2-40B4-BE49-F238E27FC236}">
                <a16:creationId xmlns:a16="http://schemas.microsoft.com/office/drawing/2014/main" id="{93A78687-0246-478A-AE92-008AE9317A9A}"/>
              </a:ext>
            </a:extLst>
          </p:cNvPr>
          <p:cNvPicPr>
            <a:picLocks noChangeAspect="1"/>
          </p:cNvPicPr>
          <p:nvPr/>
        </p:nvPicPr>
        <p:blipFill>
          <a:blip r:embed="rId4"/>
          <a:stretch>
            <a:fillRect/>
          </a:stretch>
        </p:blipFill>
        <p:spPr>
          <a:xfrm>
            <a:off x="967613" y="2210946"/>
            <a:ext cx="6509668" cy="2481201"/>
          </a:xfrm>
          <a:prstGeom prst="rect">
            <a:avLst/>
          </a:prstGeom>
        </p:spPr>
      </p:pic>
    </p:spTree>
    <p:extLst>
      <p:ext uri="{BB962C8B-B14F-4D97-AF65-F5344CB8AC3E}">
        <p14:creationId xmlns:p14="http://schemas.microsoft.com/office/powerpoint/2010/main" val="854574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custDataLst>
              <p:tags r:id="rId1"/>
            </p:custDataLst>
          </p:nvPr>
        </p:nvSpPr>
        <p:spPr>
          <a:xfrm>
            <a:off x="359067" y="1089423"/>
            <a:ext cx="7511466" cy="552155"/>
          </a:xfrm>
        </p:spPr>
        <p:txBody>
          <a:bodyPr>
            <a:noAutofit/>
          </a:bodyPr>
          <a:lstStyle/>
          <a:p>
            <a:pPr>
              <a:buFont typeface="Courier New" panose="02070309020205020404" pitchFamily="49" charset="0"/>
              <a:buChar char="o"/>
            </a:pPr>
            <a:r>
              <a:rPr lang="en-US" sz="2000" dirty="0"/>
              <a:t>Group cells with the same code in a categorical raster and code them with a unique identifier</a:t>
            </a:r>
          </a:p>
        </p:txBody>
      </p:sp>
      <p:sp>
        <p:nvSpPr>
          <p:cNvPr id="4" name="Slide Number Placeholder 3">
            <a:extLst>
              <a:ext uri="{FF2B5EF4-FFF2-40B4-BE49-F238E27FC236}">
                <a16:creationId xmlns:a16="http://schemas.microsoft.com/office/drawing/2014/main" id="{717845C7-3A33-4374-91CF-039BD40C5631}"/>
              </a:ext>
            </a:extLst>
          </p:cNvPr>
          <p:cNvSpPr>
            <a:spLocks noGrp="1"/>
          </p:cNvSpPr>
          <p:nvPr>
            <p:ph type="sldNum" sz="quarter" idx="12"/>
          </p:nvPr>
        </p:nvSpPr>
        <p:spPr/>
        <p:txBody>
          <a:bodyPr/>
          <a:lstStyle/>
          <a:p>
            <a:fld id="{127DDC20-79C9-9647-820E-6D40A3D210C3}" type="slidenum">
              <a:rPr lang="en-US" smtClean="0"/>
              <a:pPr/>
              <a:t>50</a:t>
            </a:fld>
            <a:endParaRPr lang="en-US"/>
          </a:p>
        </p:txBody>
      </p:sp>
      <p:pic>
        <p:nvPicPr>
          <p:cNvPr id="2" name="Picture 1" descr="Image showing region group result"/>
          <p:cNvPicPr>
            <a:picLocks noChangeAspect="1"/>
          </p:cNvPicPr>
          <p:nvPr/>
        </p:nvPicPr>
        <p:blipFill>
          <a:blip r:embed="rId4">
            <a:clrChange>
              <a:clrFrom>
                <a:srgbClr val="FF0000"/>
              </a:clrFrom>
              <a:clrTo>
                <a:srgbClr val="FF0000">
                  <a:alpha val="0"/>
                </a:srgbClr>
              </a:clrTo>
            </a:clrChange>
          </a:blip>
          <a:stretch>
            <a:fillRect/>
          </a:stretch>
        </p:blipFill>
        <p:spPr>
          <a:xfrm>
            <a:off x="359067" y="2261154"/>
            <a:ext cx="3283051" cy="2290500"/>
          </a:xfrm>
          <a:prstGeom prst="rect">
            <a:avLst/>
          </a:prstGeom>
        </p:spPr>
      </p:pic>
      <p:pic>
        <p:nvPicPr>
          <p:cNvPr id="3" name="Picture 2" descr="Image showing region group result"/>
          <p:cNvPicPr>
            <a:picLocks noChangeAspect="1"/>
          </p:cNvPicPr>
          <p:nvPr/>
        </p:nvPicPr>
        <p:blipFill>
          <a:blip r:embed="rId5">
            <a:clrChange>
              <a:clrFrom>
                <a:srgbClr val="FF0000"/>
              </a:clrFrom>
              <a:clrTo>
                <a:srgbClr val="FF0000">
                  <a:alpha val="0"/>
                </a:srgbClr>
              </a:clrTo>
            </a:clrChange>
          </a:blip>
          <a:stretch>
            <a:fillRect/>
          </a:stretch>
        </p:blipFill>
        <p:spPr>
          <a:xfrm>
            <a:off x="4423491" y="2261154"/>
            <a:ext cx="3205013" cy="2212281"/>
          </a:xfrm>
          <a:prstGeom prst="rect">
            <a:avLst/>
          </a:prstGeom>
        </p:spPr>
      </p:pic>
      <p:cxnSp>
        <p:nvCxnSpPr>
          <p:cNvPr id="6" name="Straight Connector 5">
            <a:extLst>
              <a:ext uri="{FF2B5EF4-FFF2-40B4-BE49-F238E27FC236}">
                <a16:creationId xmlns:a16="http://schemas.microsoft.com/office/drawing/2014/main" id="{FF373987-F2EB-423D-BCE1-07650B34D36C}"/>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7" name="Title 1">
            <a:extLst>
              <a:ext uri="{FF2B5EF4-FFF2-40B4-BE49-F238E27FC236}">
                <a16:creationId xmlns:a16="http://schemas.microsoft.com/office/drawing/2014/main" id="{5172371E-C90C-48CB-B3F7-83C6801553AA}"/>
              </a:ext>
            </a:extLst>
          </p:cNvPr>
          <p:cNvSpPr txBox="1">
            <a:spLocks/>
          </p:cNvSpPr>
          <p:nvPr/>
        </p:nvSpPr>
        <p:spPr>
          <a:xfrm>
            <a:off x="294313" y="164754"/>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Region Group</a:t>
            </a:r>
            <a:endParaRPr lang="en-US" sz="2600" dirty="0">
              <a:solidFill>
                <a:srgbClr val="7030A0"/>
              </a:solidFill>
            </a:endParaRPr>
          </a:p>
        </p:txBody>
      </p:sp>
    </p:spTree>
    <p:extLst>
      <p:ext uri="{BB962C8B-B14F-4D97-AF65-F5344CB8AC3E}">
        <p14:creationId xmlns:p14="http://schemas.microsoft.com/office/powerpoint/2010/main" val="10077720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custDataLst>
              <p:tags r:id="rId1"/>
            </p:custDataLst>
          </p:nvPr>
        </p:nvSpPr>
        <p:spPr>
          <a:xfrm>
            <a:off x="364408" y="1282155"/>
            <a:ext cx="3651537" cy="3758951"/>
          </a:xfrm>
        </p:spPr>
        <p:txBody>
          <a:bodyPr>
            <a:normAutofit/>
          </a:bodyPr>
          <a:lstStyle/>
          <a:p>
            <a:pPr>
              <a:buFont typeface="Courier New" panose="02070309020205020404" pitchFamily="49" charset="0"/>
              <a:buChar char="o"/>
            </a:pPr>
            <a:r>
              <a:rPr lang="en-US" dirty="0"/>
              <a:t>Must decide between the </a:t>
            </a:r>
            <a:r>
              <a:rPr lang="en-US" b="1" dirty="0">
                <a:solidFill>
                  <a:srgbClr val="E3874F"/>
                </a:solidFill>
              </a:rPr>
              <a:t>FOUR</a:t>
            </a:r>
            <a:r>
              <a:rPr lang="en-US" dirty="0"/>
              <a:t> or </a:t>
            </a:r>
            <a:r>
              <a:rPr lang="en-US" b="1" dirty="0">
                <a:solidFill>
                  <a:srgbClr val="E3874F"/>
                </a:solidFill>
              </a:rPr>
              <a:t>EIGHT</a:t>
            </a:r>
            <a:r>
              <a:rPr lang="en-US" dirty="0"/>
              <a:t> method</a:t>
            </a:r>
          </a:p>
          <a:p>
            <a:pPr lvl="1">
              <a:buFont typeface="Wingdings" panose="05000000000000000000" pitchFamily="2" charset="2"/>
              <a:buChar char="ü"/>
            </a:pPr>
            <a:r>
              <a:rPr lang="en-US" sz="2900" b="1" dirty="0">
                <a:solidFill>
                  <a:srgbClr val="E3874F"/>
                </a:solidFill>
              </a:rPr>
              <a:t>Four</a:t>
            </a:r>
            <a:r>
              <a:rPr lang="en-US" dirty="0"/>
              <a:t>: area will only be considered contiguous if the cells share a side</a:t>
            </a:r>
          </a:p>
          <a:p>
            <a:pPr lvl="1">
              <a:buFont typeface="Wingdings" panose="05000000000000000000" pitchFamily="2" charset="2"/>
              <a:buChar char="ü"/>
            </a:pPr>
            <a:r>
              <a:rPr lang="en-US" sz="2900" b="1" dirty="0">
                <a:solidFill>
                  <a:srgbClr val="E3874F"/>
                </a:solidFill>
              </a:rPr>
              <a:t>Eight</a:t>
            </a:r>
            <a:r>
              <a:rPr lang="en-US" dirty="0"/>
              <a:t>: area will be considered contiguous even if the pixels only touch diagonally</a:t>
            </a:r>
          </a:p>
          <a:p>
            <a:pPr>
              <a:buFont typeface="Courier New" panose="02070309020205020404" pitchFamily="49" charset="0"/>
              <a:buChar char="o"/>
            </a:pPr>
            <a:r>
              <a:rPr lang="en-US" dirty="0"/>
              <a:t>Can convert to polygons after regions are grouped</a:t>
            </a:r>
          </a:p>
          <a:p>
            <a:pPr>
              <a:buFont typeface="Courier New" panose="02070309020205020404" pitchFamily="49" charset="0"/>
              <a:buChar char="o"/>
            </a:pPr>
            <a:r>
              <a:rPr lang="en-US" dirty="0"/>
              <a:t>Will needed to decide if you want to simply the polygons</a:t>
            </a:r>
          </a:p>
        </p:txBody>
      </p:sp>
      <p:sp>
        <p:nvSpPr>
          <p:cNvPr id="2" name="Slide Number Placeholder 1">
            <a:extLst>
              <a:ext uri="{FF2B5EF4-FFF2-40B4-BE49-F238E27FC236}">
                <a16:creationId xmlns:a16="http://schemas.microsoft.com/office/drawing/2014/main" id="{96583AAA-2E97-4177-8B66-F16CC3ACC6BE}"/>
              </a:ext>
            </a:extLst>
          </p:cNvPr>
          <p:cNvSpPr>
            <a:spLocks noGrp="1"/>
          </p:cNvSpPr>
          <p:nvPr>
            <p:ph type="sldNum" sz="quarter" idx="12"/>
          </p:nvPr>
        </p:nvSpPr>
        <p:spPr/>
        <p:txBody>
          <a:bodyPr/>
          <a:lstStyle/>
          <a:p>
            <a:fld id="{127DDC20-79C9-9647-820E-6D40A3D210C3}" type="slidenum">
              <a:rPr lang="en-US" smtClean="0"/>
              <a:pPr/>
              <a:t>51</a:t>
            </a:fld>
            <a:endParaRPr lang="en-US"/>
          </a:p>
        </p:txBody>
      </p:sp>
      <p:pic>
        <p:nvPicPr>
          <p:cNvPr id="3" name="Picture 2" descr="Image showing region group result"/>
          <p:cNvPicPr>
            <a:picLocks noChangeAspect="1"/>
          </p:cNvPicPr>
          <p:nvPr/>
        </p:nvPicPr>
        <p:blipFill>
          <a:blip r:embed="rId4">
            <a:clrChange>
              <a:clrFrom>
                <a:srgbClr val="FF0000"/>
              </a:clrFrom>
              <a:clrTo>
                <a:srgbClr val="FF0000">
                  <a:alpha val="0"/>
                </a:srgbClr>
              </a:clrTo>
            </a:clrChange>
          </a:blip>
          <a:stretch>
            <a:fillRect/>
          </a:stretch>
        </p:blipFill>
        <p:spPr>
          <a:xfrm>
            <a:off x="4312206" y="1462349"/>
            <a:ext cx="3505914" cy="2419980"/>
          </a:xfrm>
          <a:prstGeom prst="rect">
            <a:avLst/>
          </a:prstGeom>
        </p:spPr>
      </p:pic>
      <p:cxnSp>
        <p:nvCxnSpPr>
          <p:cNvPr id="6" name="Straight Connector 5">
            <a:extLst>
              <a:ext uri="{FF2B5EF4-FFF2-40B4-BE49-F238E27FC236}">
                <a16:creationId xmlns:a16="http://schemas.microsoft.com/office/drawing/2014/main" id="{6A0B28EC-C9B9-4EE5-93DC-0D99930679B4}"/>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7" name="Title 1">
            <a:extLst>
              <a:ext uri="{FF2B5EF4-FFF2-40B4-BE49-F238E27FC236}">
                <a16:creationId xmlns:a16="http://schemas.microsoft.com/office/drawing/2014/main" id="{B78108E8-CA3E-4DB5-BECC-D50E3D7EF57E}"/>
              </a:ext>
            </a:extLst>
          </p:cNvPr>
          <p:cNvSpPr txBox="1">
            <a:spLocks/>
          </p:cNvSpPr>
          <p:nvPr/>
        </p:nvSpPr>
        <p:spPr>
          <a:xfrm>
            <a:off x="273606" y="24528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Region Group</a:t>
            </a:r>
            <a:endParaRPr lang="en-US" sz="2600" dirty="0">
              <a:solidFill>
                <a:srgbClr val="7030A0"/>
              </a:solidFill>
            </a:endParaRPr>
          </a:p>
        </p:txBody>
      </p:sp>
    </p:spTree>
    <p:extLst>
      <p:ext uri="{BB962C8B-B14F-4D97-AF65-F5344CB8AC3E}">
        <p14:creationId xmlns:p14="http://schemas.microsoft.com/office/powerpoint/2010/main" val="35862950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custDataLst>
              <p:tags r:id="rId1"/>
            </p:custDataLst>
          </p:nvPr>
        </p:nvSpPr>
        <p:spPr>
          <a:xfrm>
            <a:off x="136838" y="1131195"/>
            <a:ext cx="7727002" cy="2881110"/>
          </a:xfrm>
        </p:spPr>
        <p:txBody>
          <a:bodyPr/>
          <a:lstStyle/>
          <a:p>
            <a:pPr>
              <a:buFont typeface="Courier New" panose="02070309020205020404" pitchFamily="49" charset="0"/>
              <a:buChar char="o"/>
            </a:pPr>
            <a:r>
              <a:rPr lang="en-US" dirty="0"/>
              <a:t>Expand out a specific category in a categorical raster by a specified number of cells</a:t>
            </a:r>
          </a:p>
          <a:p>
            <a:pPr marL="0" indent="0">
              <a:buNone/>
            </a:pPr>
            <a:endParaRPr lang="en-US" dirty="0"/>
          </a:p>
        </p:txBody>
      </p:sp>
      <p:sp>
        <p:nvSpPr>
          <p:cNvPr id="4" name="Slide Number Placeholder 3">
            <a:extLst>
              <a:ext uri="{FF2B5EF4-FFF2-40B4-BE49-F238E27FC236}">
                <a16:creationId xmlns:a16="http://schemas.microsoft.com/office/drawing/2014/main" id="{B5FB177B-6CED-4E7E-9116-A8C8F6453623}"/>
              </a:ext>
            </a:extLst>
          </p:cNvPr>
          <p:cNvSpPr>
            <a:spLocks noGrp="1"/>
          </p:cNvSpPr>
          <p:nvPr>
            <p:ph type="sldNum" sz="quarter" idx="12"/>
          </p:nvPr>
        </p:nvSpPr>
        <p:spPr/>
        <p:txBody>
          <a:bodyPr/>
          <a:lstStyle/>
          <a:p>
            <a:fld id="{127DDC20-79C9-9647-820E-6D40A3D210C3}" type="slidenum">
              <a:rPr lang="en-US" smtClean="0"/>
              <a:pPr/>
              <a:t>52</a:t>
            </a:fld>
            <a:endParaRPr lang="en-US"/>
          </a:p>
        </p:txBody>
      </p:sp>
      <p:pic>
        <p:nvPicPr>
          <p:cNvPr id="2" name="Picture 1" descr="Image showing expand result"/>
          <p:cNvPicPr>
            <a:picLocks noChangeAspect="1"/>
          </p:cNvPicPr>
          <p:nvPr/>
        </p:nvPicPr>
        <p:blipFill>
          <a:blip r:embed="rId5"/>
          <a:stretch>
            <a:fillRect/>
          </a:stretch>
        </p:blipFill>
        <p:spPr>
          <a:xfrm>
            <a:off x="924999" y="2265825"/>
            <a:ext cx="2797507" cy="2259734"/>
          </a:xfrm>
          <a:prstGeom prst="rect">
            <a:avLst/>
          </a:prstGeom>
        </p:spPr>
      </p:pic>
      <p:pic>
        <p:nvPicPr>
          <p:cNvPr id="3" name="Picture 2" descr="Image showing expand result"/>
          <p:cNvPicPr>
            <a:picLocks noChangeAspect="1"/>
          </p:cNvPicPr>
          <p:nvPr/>
        </p:nvPicPr>
        <p:blipFill>
          <a:blip r:embed="rId6"/>
          <a:stretch>
            <a:fillRect/>
          </a:stretch>
        </p:blipFill>
        <p:spPr>
          <a:xfrm>
            <a:off x="4432780" y="2263060"/>
            <a:ext cx="2794529" cy="2262499"/>
          </a:xfrm>
          <a:prstGeom prst="rect">
            <a:avLst/>
          </a:prstGeom>
        </p:spPr>
      </p:pic>
      <p:sp>
        <p:nvSpPr>
          <p:cNvPr id="6" name="TextBox 5"/>
          <p:cNvSpPr txBox="1"/>
          <p:nvPr>
            <p:custDataLst>
              <p:tags r:id="rId2"/>
            </p:custDataLst>
          </p:nvPr>
        </p:nvSpPr>
        <p:spPr>
          <a:xfrm>
            <a:off x="2554913" y="4569671"/>
            <a:ext cx="3755733" cy="316690"/>
          </a:xfrm>
          <a:prstGeom prst="rect">
            <a:avLst/>
          </a:prstGeom>
          <a:noFill/>
        </p:spPr>
        <p:txBody>
          <a:bodyPr wrap="square" rtlCol="0">
            <a:spAutoFit/>
          </a:bodyPr>
          <a:lstStyle/>
          <a:p>
            <a:pPr>
              <a:lnSpc>
                <a:spcPct val="90000"/>
              </a:lnSpc>
            </a:pPr>
            <a:r>
              <a:rPr lang="en-US" sz="1620" dirty="0"/>
              <a:t>Green expanded by 5 30 m pixels</a:t>
            </a:r>
          </a:p>
        </p:txBody>
      </p:sp>
      <p:cxnSp>
        <p:nvCxnSpPr>
          <p:cNvPr id="7" name="Straight Connector 6">
            <a:extLst>
              <a:ext uri="{FF2B5EF4-FFF2-40B4-BE49-F238E27FC236}">
                <a16:creationId xmlns:a16="http://schemas.microsoft.com/office/drawing/2014/main" id="{E79BB0F3-5BEC-47B3-8B38-FE62D83CF834}"/>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itle 1">
            <a:extLst>
              <a:ext uri="{FF2B5EF4-FFF2-40B4-BE49-F238E27FC236}">
                <a16:creationId xmlns:a16="http://schemas.microsoft.com/office/drawing/2014/main" id="{D51BA305-CC6A-48D6-9187-3CC5B8652ED6}"/>
              </a:ext>
            </a:extLst>
          </p:cNvPr>
          <p:cNvSpPr txBox="1">
            <a:spLocks/>
          </p:cNvSpPr>
          <p:nvPr/>
        </p:nvSpPr>
        <p:spPr>
          <a:xfrm>
            <a:off x="269147" y="189316"/>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Expand</a:t>
            </a:r>
            <a:endParaRPr lang="en-US" sz="2600" dirty="0">
              <a:solidFill>
                <a:srgbClr val="7030A0"/>
              </a:solidFill>
            </a:endParaRPr>
          </a:p>
        </p:txBody>
      </p:sp>
    </p:spTree>
    <p:extLst>
      <p:ext uri="{BB962C8B-B14F-4D97-AF65-F5344CB8AC3E}">
        <p14:creationId xmlns:p14="http://schemas.microsoft.com/office/powerpoint/2010/main" val="33805434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custDataLst>
              <p:tags r:id="rId1"/>
            </p:custDataLst>
          </p:nvPr>
        </p:nvSpPr>
        <p:spPr>
          <a:xfrm>
            <a:off x="148421" y="1131195"/>
            <a:ext cx="7771689" cy="1440551"/>
          </a:xfrm>
        </p:spPr>
        <p:txBody>
          <a:bodyPr>
            <a:normAutofit/>
          </a:bodyPr>
          <a:lstStyle/>
          <a:p>
            <a:pPr>
              <a:buFont typeface="Courier New" panose="02070309020205020404" pitchFamily="49" charset="0"/>
              <a:buChar char="o"/>
            </a:pPr>
            <a:r>
              <a:rPr lang="en-US" dirty="0"/>
              <a:t>Shrink a specific category in a categorical raster by a specified number of cells by replacing them with the values of the cell that is most frequent in its neighborhood</a:t>
            </a:r>
          </a:p>
          <a:p>
            <a:pPr marL="0" indent="0">
              <a:buNone/>
            </a:pPr>
            <a:endParaRPr lang="en-US" dirty="0"/>
          </a:p>
        </p:txBody>
      </p:sp>
      <p:sp>
        <p:nvSpPr>
          <p:cNvPr id="4" name="Slide Number Placeholder 3">
            <a:extLst>
              <a:ext uri="{FF2B5EF4-FFF2-40B4-BE49-F238E27FC236}">
                <a16:creationId xmlns:a16="http://schemas.microsoft.com/office/drawing/2014/main" id="{D67EE2AF-DD03-48DA-BA9E-0E552E25B9C5}"/>
              </a:ext>
            </a:extLst>
          </p:cNvPr>
          <p:cNvSpPr>
            <a:spLocks noGrp="1"/>
          </p:cNvSpPr>
          <p:nvPr>
            <p:ph type="sldNum" sz="quarter" idx="12"/>
          </p:nvPr>
        </p:nvSpPr>
        <p:spPr/>
        <p:txBody>
          <a:bodyPr/>
          <a:lstStyle/>
          <a:p>
            <a:fld id="{127DDC20-79C9-9647-820E-6D40A3D210C3}" type="slidenum">
              <a:rPr lang="en-US" smtClean="0"/>
              <a:pPr/>
              <a:t>53</a:t>
            </a:fld>
            <a:endParaRPr lang="en-US"/>
          </a:p>
        </p:txBody>
      </p:sp>
      <p:pic>
        <p:nvPicPr>
          <p:cNvPr id="2" name="Picture 1" descr="Image showing shrink result"/>
          <p:cNvPicPr>
            <a:picLocks noChangeAspect="1"/>
          </p:cNvPicPr>
          <p:nvPr/>
        </p:nvPicPr>
        <p:blipFill>
          <a:blip r:embed="rId5"/>
          <a:stretch>
            <a:fillRect/>
          </a:stretch>
        </p:blipFill>
        <p:spPr>
          <a:xfrm>
            <a:off x="1547119" y="2720871"/>
            <a:ext cx="2563448" cy="2061151"/>
          </a:xfrm>
          <a:prstGeom prst="rect">
            <a:avLst/>
          </a:prstGeom>
        </p:spPr>
      </p:pic>
      <p:pic>
        <p:nvPicPr>
          <p:cNvPr id="3" name="Picture 2" descr="Image showing shrink result"/>
          <p:cNvPicPr>
            <a:picLocks noChangeAspect="1"/>
          </p:cNvPicPr>
          <p:nvPr/>
        </p:nvPicPr>
        <p:blipFill>
          <a:blip r:embed="rId6"/>
          <a:stretch>
            <a:fillRect/>
          </a:stretch>
        </p:blipFill>
        <p:spPr>
          <a:xfrm>
            <a:off x="4428713" y="2693828"/>
            <a:ext cx="2604575" cy="2088194"/>
          </a:xfrm>
          <a:prstGeom prst="rect">
            <a:avLst/>
          </a:prstGeom>
        </p:spPr>
      </p:pic>
      <p:sp>
        <p:nvSpPr>
          <p:cNvPr id="6" name="TextBox 5"/>
          <p:cNvSpPr txBox="1"/>
          <p:nvPr>
            <p:custDataLst>
              <p:tags r:id="rId2"/>
            </p:custDataLst>
          </p:nvPr>
        </p:nvSpPr>
        <p:spPr>
          <a:xfrm>
            <a:off x="1882018" y="4826810"/>
            <a:ext cx="4887598" cy="316690"/>
          </a:xfrm>
          <a:prstGeom prst="rect">
            <a:avLst/>
          </a:prstGeom>
          <a:noFill/>
        </p:spPr>
        <p:txBody>
          <a:bodyPr wrap="square" rtlCol="0">
            <a:spAutoFit/>
          </a:bodyPr>
          <a:lstStyle/>
          <a:p>
            <a:pPr>
              <a:lnSpc>
                <a:spcPct val="90000"/>
              </a:lnSpc>
            </a:pPr>
            <a:r>
              <a:rPr lang="en-US" sz="1620" dirty="0"/>
              <a:t>Green shrank by 5 30 m pixels and replaced with gray</a:t>
            </a:r>
          </a:p>
        </p:txBody>
      </p:sp>
      <p:cxnSp>
        <p:nvCxnSpPr>
          <p:cNvPr id="7" name="Straight Connector 6">
            <a:extLst>
              <a:ext uri="{FF2B5EF4-FFF2-40B4-BE49-F238E27FC236}">
                <a16:creationId xmlns:a16="http://schemas.microsoft.com/office/drawing/2014/main" id="{AA13C779-AA59-4D7B-8FC2-9B0E526A1009}"/>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itle 1">
            <a:extLst>
              <a:ext uri="{FF2B5EF4-FFF2-40B4-BE49-F238E27FC236}">
                <a16:creationId xmlns:a16="http://schemas.microsoft.com/office/drawing/2014/main" id="{4CCC73E0-FBCC-480B-BBCB-89E65E46A352}"/>
              </a:ext>
            </a:extLst>
          </p:cNvPr>
          <p:cNvSpPr txBox="1">
            <a:spLocks/>
          </p:cNvSpPr>
          <p:nvPr/>
        </p:nvSpPr>
        <p:spPr>
          <a:xfrm>
            <a:off x="76200" y="29015"/>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S</a:t>
            </a:r>
            <a:r>
              <a:rPr lang="en-US" altLang="zh-CN" sz="3200" dirty="0">
                <a:solidFill>
                  <a:srgbClr val="7030A0"/>
                </a:solidFill>
              </a:rPr>
              <a:t>hrink</a:t>
            </a:r>
            <a:endParaRPr lang="en-US" sz="2600" dirty="0">
              <a:solidFill>
                <a:srgbClr val="7030A0"/>
              </a:solidFill>
            </a:endParaRPr>
          </a:p>
        </p:txBody>
      </p:sp>
    </p:spTree>
    <p:extLst>
      <p:ext uri="{BB962C8B-B14F-4D97-AF65-F5344CB8AC3E}">
        <p14:creationId xmlns:p14="http://schemas.microsoft.com/office/powerpoint/2010/main" val="5572456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custDataLst>
              <p:tags r:id="rId1"/>
            </p:custDataLst>
          </p:nvPr>
        </p:nvSpPr>
        <p:spPr>
          <a:xfrm>
            <a:off x="286190" y="1129768"/>
            <a:ext cx="7246170" cy="1161831"/>
          </a:xfrm>
        </p:spPr>
        <p:txBody>
          <a:bodyPr/>
          <a:lstStyle/>
          <a:p>
            <a:pPr>
              <a:buFont typeface="Courier New" panose="02070309020205020404" pitchFamily="49" charset="0"/>
              <a:buChar char="o"/>
            </a:pPr>
            <a:r>
              <a:rPr lang="en-US" dirty="0"/>
              <a:t>Replace cells of a raster corresponding to a mask with the values of the nearest neighbor</a:t>
            </a:r>
          </a:p>
        </p:txBody>
      </p:sp>
      <p:sp>
        <p:nvSpPr>
          <p:cNvPr id="3" name="Slide Number Placeholder 2">
            <a:extLst>
              <a:ext uri="{FF2B5EF4-FFF2-40B4-BE49-F238E27FC236}">
                <a16:creationId xmlns:a16="http://schemas.microsoft.com/office/drawing/2014/main" id="{264ED8B9-96D0-472C-BDBC-EE19B70967ED}"/>
              </a:ext>
            </a:extLst>
          </p:cNvPr>
          <p:cNvSpPr>
            <a:spLocks noGrp="1"/>
          </p:cNvSpPr>
          <p:nvPr>
            <p:ph type="sldNum" sz="quarter" idx="12"/>
          </p:nvPr>
        </p:nvSpPr>
        <p:spPr/>
        <p:txBody>
          <a:bodyPr/>
          <a:lstStyle/>
          <a:p>
            <a:fld id="{127DDC20-79C9-9647-820E-6D40A3D210C3}" type="slidenum">
              <a:rPr lang="en-US" smtClean="0"/>
              <a:pPr/>
              <a:t>54</a:t>
            </a:fld>
            <a:endParaRPr lang="en-US"/>
          </a:p>
        </p:txBody>
      </p:sp>
      <p:pic>
        <p:nvPicPr>
          <p:cNvPr id="2" name="Picture 1" descr="Image showing nibble result"/>
          <p:cNvPicPr>
            <a:picLocks noChangeAspect="1"/>
          </p:cNvPicPr>
          <p:nvPr/>
        </p:nvPicPr>
        <p:blipFill>
          <a:blip r:embed="rId4"/>
          <a:stretch>
            <a:fillRect/>
          </a:stretch>
        </p:blipFill>
        <p:spPr>
          <a:xfrm>
            <a:off x="470673" y="2571750"/>
            <a:ext cx="3537077" cy="2277789"/>
          </a:xfrm>
          <a:prstGeom prst="rect">
            <a:avLst/>
          </a:prstGeom>
        </p:spPr>
      </p:pic>
      <p:pic>
        <p:nvPicPr>
          <p:cNvPr id="7" name="Picture 6" descr="Image showing nibble result"/>
          <p:cNvPicPr>
            <a:picLocks noChangeAspect="1"/>
          </p:cNvPicPr>
          <p:nvPr/>
        </p:nvPicPr>
        <p:blipFill>
          <a:blip r:embed="rId5"/>
          <a:stretch>
            <a:fillRect/>
          </a:stretch>
        </p:blipFill>
        <p:spPr>
          <a:xfrm>
            <a:off x="4263935" y="2571749"/>
            <a:ext cx="3494992" cy="2277789"/>
          </a:xfrm>
          <a:prstGeom prst="rect">
            <a:avLst/>
          </a:prstGeom>
        </p:spPr>
      </p:pic>
      <p:cxnSp>
        <p:nvCxnSpPr>
          <p:cNvPr id="6" name="Straight Connector 5">
            <a:extLst>
              <a:ext uri="{FF2B5EF4-FFF2-40B4-BE49-F238E27FC236}">
                <a16:creationId xmlns:a16="http://schemas.microsoft.com/office/drawing/2014/main" id="{C1A0D863-516F-4964-8780-6E98098CC731}"/>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itle 1">
            <a:extLst>
              <a:ext uri="{FF2B5EF4-FFF2-40B4-BE49-F238E27FC236}">
                <a16:creationId xmlns:a16="http://schemas.microsoft.com/office/drawing/2014/main" id="{AC7ABCD5-BA9C-496C-91E5-8632A97CBC4D}"/>
              </a:ext>
            </a:extLst>
          </p:cNvPr>
          <p:cNvSpPr txBox="1">
            <a:spLocks/>
          </p:cNvSpPr>
          <p:nvPr/>
        </p:nvSpPr>
        <p:spPr>
          <a:xfrm>
            <a:off x="76200" y="29015"/>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Nibble</a:t>
            </a:r>
            <a:endParaRPr lang="en-US" sz="2600" dirty="0">
              <a:solidFill>
                <a:srgbClr val="7030A0"/>
              </a:solidFill>
            </a:endParaRPr>
          </a:p>
        </p:txBody>
      </p:sp>
    </p:spTree>
    <p:extLst>
      <p:ext uri="{BB962C8B-B14F-4D97-AF65-F5344CB8AC3E}">
        <p14:creationId xmlns:p14="http://schemas.microsoft.com/office/powerpoint/2010/main" val="5361835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custDataLst>
              <p:tags r:id="rId1"/>
            </p:custDataLst>
          </p:nvPr>
        </p:nvSpPr>
        <p:spPr>
          <a:xfrm>
            <a:off x="323556" y="959556"/>
            <a:ext cx="7392631" cy="2881110"/>
          </a:xfrm>
        </p:spPr>
        <p:txBody>
          <a:bodyPr/>
          <a:lstStyle/>
          <a:p>
            <a:pPr>
              <a:buFont typeface="Courier New" panose="02070309020205020404" pitchFamily="49" charset="0"/>
              <a:buChar char="o"/>
            </a:pPr>
            <a:r>
              <a:rPr lang="en-US" dirty="0"/>
              <a:t>Replace cells of a raster corresponding to a mask with the values of the nearest neighbor</a:t>
            </a:r>
          </a:p>
        </p:txBody>
      </p:sp>
      <p:sp>
        <p:nvSpPr>
          <p:cNvPr id="4" name="Slide Number Placeholder 3">
            <a:extLst>
              <a:ext uri="{FF2B5EF4-FFF2-40B4-BE49-F238E27FC236}">
                <a16:creationId xmlns:a16="http://schemas.microsoft.com/office/drawing/2014/main" id="{27CB993E-4353-41A3-9D25-41D94EC4E886}"/>
              </a:ext>
            </a:extLst>
          </p:cNvPr>
          <p:cNvSpPr>
            <a:spLocks noGrp="1"/>
          </p:cNvSpPr>
          <p:nvPr>
            <p:ph type="sldNum" sz="quarter" idx="12"/>
          </p:nvPr>
        </p:nvSpPr>
        <p:spPr/>
        <p:txBody>
          <a:bodyPr/>
          <a:lstStyle/>
          <a:p>
            <a:fld id="{127DDC20-79C9-9647-820E-6D40A3D210C3}" type="slidenum">
              <a:rPr lang="en-US" smtClean="0"/>
              <a:pPr/>
              <a:t>55</a:t>
            </a:fld>
            <a:endParaRPr lang="en-US"/>
          </a:p>
        </p:txBody>
      </p:sp>
      <p:pic>
        <p:nvPicPr>
          <p:cNvPr id="2" name="Picture 1" descr="Image showing nibble result"/>
          <p:cNvPicPr>
            <a:picLocks noChangeAspect="1"/>
          </p:cNvPicPr>
          <p:nvPr/>
        </p:nvPicPr>
        <p:blipFill>
          <a:blip r:embed="rId4"/>
          <a:stretch>
            <a:fillRect/>
          </a:stretch>
        </p:blipFill>
        <p:spPr>
          <a:xfrm>
            <a:off x="513412" y="2427050"/>
            <a:ext cx="3537077" cy="2277789"/>
          </a:xfrm>
          <a:prstGeom prst="rect">
            <a:avLst/>
          </a:prstGeom>
        </p:spPr>
      </p:pic>
      <p:pic>
        <p:nvPicPr>
          <p:cNvPr id="3" name="Picture 2" descr="Image showing nibble result"/>
          <p:cNvPicPr>
            <a:picLocks noChangeAspect="1"/>
          </p:cNvPicPr>
          <p:nvPr/>
        </p:nvPicPr>
        <p:blipFill>
          <a:blip r:embed="rId5"/>
          <a:stretch>
            <a:fillRect/>
          </a:stretch>
        </p:blipFill>
        <p:spPr>
          <a:xfrm>
            <a:off x="4269145" y="2427050"/>
            <a:ext cx="3492427" cy="2277789"/>
          </a:xfrm>
          <a:prstGeom prst="rect">
            <a:avLst/>
          </a:prstGeom>
        </p:spPr>
      </p:pic>
      <p:cxnSp>
        <p:nvCxnSpPr>
          <p:cNvPr id="6" name="Straight Connector 5">
            <a:extLst>
              <a:ext uri="{FF2B5EF4-FFF2-40B4-BE49-F238E27FC236}">
                <a16:creationId xmlns:a16="http://schemas.microsoft.com/office/drawing/2014/main" id="{3522E117-D67A-46D8-9CD5-4F790F0AE46C}"/>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7" name="Title 1">
            <a:extLst>
              <a:ext uri="{FF2B5EF4-FFF2-40B4-BE49-F238E27FC236}">
                <a16:creationId xmlns:a16="http://schemas.microsoft.com/office/drawing/2014/main" id="{C55982E6-F81D-407F-88B4-AC5D63BD55A2}"/>
              </a:ext>
            </a:extLst>
          </p:cNvPr>
          <p:cNvSpPr txBox="1">
            <a:spLocks/>
          </p:cNvSpPr>
          <p:nvPr/>
        </p:nvSpPr>
        <p:spPr>
          <a:xfrm>
            <a:off x="76200" y="29015"/>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Nibble</a:t>
            </a:r>
            <a:endParaRPr lang="en-US" sz="2600" dirty="0">
              <a:solidFill>
                <a:srgbClr val="7030A0"/>
              </a:solidFill>
            </a:endParaRPr>
          </a:p>
        </p:txBody>
      </p:sp>
    </p:spTree>
    <p:extLst>
      <p:ext uri="{BB962C8B-B14F-4D97-AF65-F5344CB8AC3E}">
        <p14:creationId xmlns:p14="http://schemas.microsoft.com/office/powerpoint/2010/main" val="1941118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custDataLst>
              <p:tags r:id="rId1"/>
            </p:custDataLst>
          </p:nvPr>
        </p:nvSpPr>
        <p:spPr>
          <a:xfrm>
            <a:off x="267286" y="1542782"/>
            <a:ext cx="3847514" cy="2881110"/>
          </a:xfrm>
        </p:spPr>
        <p:txBody>
          <a:bodyPr>
            <a:normAutofit/>
          </a:bodyPr>
          <a:lstStyle/>
          <a:p>
            <a:pPr>
              <a:buFont typeface="Courier New" panose="02070309020205020404" pitchFamily="49" charset="0"/>
              <a:buChar char="o"/>
            </a:pPr>
            <a:r>
              <a:rPr lang="en-US" dirty="0"/>
              <a:t>Replace regions smaller than a certain size in a categorical raster with the surrounding class</a:t>
            </a:r>
          </a:p>
          <a:p>
            <a:pPr>
              <a:buFont typeface="Courier New" panose="02070309020205020404" pitchFamily="49" charset="0"/>
              <a:buChar char="o"/>
            </a:pPr>
            <a:r>
              <a:rPr lang="en-US" dirty="0"/>
              <a:t>Can be used to approximate a </a:t>
            </a:r>
            <a:r>
              <a:rPr lang="en-US" b="1" dirty="0">
                <a:solidFill>
                  <a:srgbClr val="E3874F"/>
                </a:solidFill>
              </a:rPr>
              <a:t>minimal mapping unit (MMU)</a:t>
            </a:r>
          </a:p>
        </p:txBody>
      </p:sp>
      <p:sp>
        <p:nvSpPr>
          <p:cNvPr id="2" name="Slide Number Placeholder 1">
            <a:extLst>
              <a:ext uri="{FF2B5EF4-FFF2-40B4-BE49-F238E27FC236}">
                <a16:creationId xmlns:a16="http://schemas.microsoft.com/office/drawing/2014/main" id="{F4134140-4AD3-47A5-97E3-7A330C2AB0A3}"/>
              </a:ext>
            </a:extLst>
          </p:cNvPr>
          <p:cNvSpPr>
            <a:spLocks noGrp="1"/>
          </p:cNvSpPr>
          <p:nvPr>
            <p:ph type="sldNum" sz="quarter" idx="12"/>
          </p:nvPr>
        </p:nvSpPr>
        <p:spPr/>
        <p:txBody>
          <a:bodyPr/>
          <a:lstStyle/>
          <a:p>
            <a:fld id="{127DDC20-79C9-9647-820E-6D40A3D210C3}" type="slidenum">
              <a:rPr lang="en-US" smtClean="0"/>
              <a:pPr/>
              <a:t>56</a:t>
            </a:fld>
            <a:endParaRPr lang="en-US"/>
          </a:p>
        </p:txBody>
      </p:sp>
      <p:pic>
        <p:nvPicPr>
          <p:cNvPr id="6" name="Picture 5" descr="Image showing sieving window"/>
          <p:cNvPicPr>
            <a:picLocks noChangeAspect="1"/>
          </p:cNvPicPr>
          <p:nvPr/>
        </p:nvPicPr>
        <p:blipFill>
          <a:blip r:embed="rId4"/>
          <a:stretch>
            <a:fillRect/>
          </a:stretch>
        </p:blipFill>
        <p:spPr>
          <a:xfrm>
            <a:off x="4766282" y="1115248"/>
            <a:ext cx="2823231" cy="2385919"/>
          </a:xfrm>
          <a:prstGeom prst="rect">
            <a:avLst/>
          </a:prstGeom>
        </p:spPr>
      </p:pic>
      <p:cxnSp>
        <p:nvCxnSpPr>
          <p:cNvPr id="7" name="Straight Connector 6">
            <a:extLst>
              <a:ext uri="{FF2B5EF4-FFF2-40B4-BE49-F238E27FC236}">
                <a16:creationId xmlns:a16="http://schemas.microsoft.com/office/drawing/2014/main" id="{B690EF7A-3D30-4812-A517-82FEDAB6FB5D}"/>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itle 1">
            <a:extLst>
              <a:ext uri="{FF2B5EF4-FFF2-40B4-BE49-F238E27FC236}">
                <a16:creationId xmlns:a16="http://schemas.microsoft.com/office/drawing/2014/main" id="{7277BCD9-B02D-45BC-A0CC-B9CA9211F5E7}"/>
              </a:ext>
            </a:extLst>
          </p:cNvPr>
          <p:cNvSpPr txBox="1">
            <a:spLocks/>
          </p:cNvSpPr>
          <p:nvPr/>
        </p:nvSpPr>
        <p:spPr>
          <a:xfrm>
            <a:off x="76200" y="29015"/>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Sieving</a:t>
            </a:r>
            <a:endParaRPr lang="en-US" sz="2600" dirty="0">
              <a:solidFill>
                <a:srgbClr val="7030A0"/>
              </a:solidFill>
            </a:endParaRPr>
          </a:p>
        </p:txBody>
      </p:sp>
      <p:pic>
        <p:nvPicPr>
          <p:cNvPr id="4" name="Picture 3" descr="Sieving tool">
            <a:extLst>
              <a:ext uri="{FF2B5EF4-FFF2-40B4-BE49-F238E27FC236}">
                <a16:creationId xmlns:a16="http://schemas.microsoft.com/office/drawing/2014/main" id="{1E8BDB2E-871F-4907-8821-487A6E559397}"/>
              </a:ext>
            </a:extLst>
          </p:cNvPr>
          <p:cNvPicPr>
            <a:picLocks noChangeAspect="1"/>
          </p:cNvPicPr>
          <p:nvPr/>
        </p:nvPicPr>
        <p:blipFill>
          <a:blip r:embed="rId5"/>
          <a:stretch>
            <a:fillRect/>
          </a:stretch>
        </p:blipFill>
        <p:spPr>
          <a:xfrm>
            <a:off x="4366204" y="3686625"/>
            <a:ext cx="3451916" cy="1119193"/>
          </a:xfrm>
          <a:prstGeom prst="rect">
            <a:avLst/>
          </a:prstGeom>
        </p:spPr>
      </p:pic>
    </p:spTree>
    <p:extLst>
      <p:ext uri="{BB962C8B-B14F-4D97-AF65-F5344CB8AC3E}">
        <p14:creationId xmlns:p14="http://schemas.microsoft.com/office/powerpoint/2010/main" val="28674071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a:xfrm>
            <a:off x="1696156" y="1936677"/>
            <a:ext cx="5158563" cy="1634426"/>
          </a:xfrm>
        </p:spPr>
        <p:txBody>
          <a:bodyPr>
            <a:normAutofit/>
          </a:bodyPr>
          <a:lstStyle/>
          <a:p>
            <a:pPr algn="ctr"/>
            <a:r>
              <a:rPr lang="en-US" dirty="0"/>
              <a:t>Neighborhood function</a:t>
            </a:r>
            <a:br>
              <a:rPr lang="en-US" dirty="0"/>
            </a:br>
            <a:r>
              <a:rPr lang="en-US" dirty="0"/>
              <a:t>Raster summarization</a:t>
            </a:r>
          </a:p>
        </p:txBody>
      </p:sp>
      <p:sp>
        <p:nvSpPr>
          <p:cNvPr id="3" name="Slide Number Placeholder 2">
            <a:extLst>
              <a:ext uri="{FF2B5EF4-FFF2-40B4-BE49-F238E27FC236}">
                <a16:creationId xmlns:a16="http://schemas.microsoft.com/office/drawing/2014/main" id="{D550568E-FB27-4D2C-A471-42F7E158D5CC}"/>
              </a:ext>
            </a:extLst>
          </p:cNvPr>
          <p:cNvSpPr>
            <a:spLocks noGrp="1"/>
          </p:cNvSpPr>
          <p:nvPr>
            <p:ph type="sldNum" sz="quarter" idx="12"/>
          </p:nvPr>
        </p:nvSpPr>
        <p:spPr/>
        <p:txBody>
          <a:bodyPr/>
          <a:lstStyle/>
          <a:p>
            <a:fld id="{127DDC20-79C9-9647-820E-6D40A3D210C3}" type="slidenum">
              <a:rPr lang="en-US" smtClean="0"/>
              <a:pPr/>
              <a:t>57</a:t>
            </a:fld>
            <a:endParaRPr lang="en-US"/>
          </a:p>
        </p:txBody>
      </p:sp>
    </p:spTree>
    <p:extLst>
      <p:ext uri="{BB962C8B-B14F-4D97-AF65-F5344CB8AC3E}">
        <p14:creationId xmlns:p14="http://schemas.microsoft.com/office/powerpoint/2010/main" val="20334460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custDataLst>
              <p:tags r:id="rId1"/>
            </p:custDataLst>
          </p:nvPr>
        </p:nvSpPr>
        <p:spPr>
          <a:xfrm>
            <a:off x="204722" y="1209822"/>
            <a:ext cx="2833900" cy="3671740"/>
          </a:xfrm>
        </p:spPr>
        <p:txBody>
          <a:bodyPr>
            <a:normAutofit/>
          </a:bodyPr>
          <a:lstStyle/>
          <a:p>
            <a:pPr>
              <a:buFont typeface="Courier New" panose="02070309020205020404" pitchFamily="49" charset="0"/>
              <a:buChar char="o"/>
            </a:pPr>
            <a:r>
              <a:rPr lang="en-US" dirty="0"/>
              <a:t>Used to obtain statistics from a continuous raster within an area or zone as defined by another raster or a polygon vector layer</a:t>
            </a:r>
          </a:p>
          <a:p>
            <a:pPr>
              <a:buFont typeface="Courier New" panose="02070309020205020404" pitchFamily="49" charset="0"/>
              <a:buChar char="o"/>
            </a:pPr>
            <a:endParaRPr lang="en-US" dirty="0"/>
          </a:p>
          <a:p>
            <a:pPr>
              <a:buFont typeface="Courier New" panose="02070309020205020404" pitchFamily="49" charset="0"/>
              <a:buChar char="o"/>
            </a:pPr>
            <a:r>
              <a:rPr lang="en-US" dirty="0"/>
              <a:t>Can obtain results as a raster surface for a single statistic </a:t>
            </a:r>
          </a:p>
          <a:p>
            <a:pPr>
              <a:buFont typeface="Courier New" panose="02070309020205020404" pitchFamily="49" charset="0"/>
              <a:buChar char="o"/>
            </a:pPr>
            <a:endParaRPr lang="en-US" dirty="0"/>
          </a:p>
          <a:p>
            <a:pPr>
              <a:buFont typeface="Courier New" panose="02070309020205020404" pitchFamily="49" charset="0"/>
              <a:buChar char="o"/>
            </a:pPr>
            <a:r>
              <a:rPr lang="en-US" dirty="0"/>
              <a:t>All cells in the zone have same value</a:t>
            </a:r>
          </a:p>
        </p:txBody>
      </p:sp>
      <p:sp>
        <p:nvSpPr>
          <p:cNvPr id="2" name="Slide Number Placeholder 1">
            <a:extLst>
              <a:ext uri="{FF2B5EF4-FFF2-40B4-BE49-F238E27FC236}">
                <a16:creationId xmlns:a16="http://schemas.microsoft.com/office/drawing/2014/main" id="{C2D6F0D9-C4F1-461B-968F-CE9BCACA062B}"/>
              </a:ext>
            </a:extLst>
          </p:cNvPr>
          <p:cNvSpPr>
            <a:spLocks noGrp="1"/>
          </p:cNvSpPr>
          <p:nvPr>
            <p:ph type="sldNum" sz="quarter" idx="12"/>
          </p:nvPr>
        </p:nvSpPr>
        <p:spPr/>
        <p:txBody>
          <a:bodyPr/>
          <a:lstStyle/>
          <a:p>
            <a:fld id="{127DDC20-79C9-9647-820E-6D40A3D210C3}" type="slidenum">
              <a:rPr lang="en-US" smtClean="0"/>
              <a:pPr/>
              <a:t>58</a:t>
            </a:fld>
            <a:endParaRPr lang="en-US"/>
          </a:p>
        </p:txBody>
      </p:sp>
      <p:cxnSp>
        <p:nvCxnSpPr>
          <p:cNvPr id="9" name="Straight Connector 8">
            <a:extLst>
              <a:ext uri="{FF2B5EF4-FFF2-40B4-BE49-F238E27FC236}">
                <a16:creationId xmlns:a16="http://schemas.microsoft.com/office/drawing/2014/main" id="{070F0041-1310-48B0-AAA2-1B7DDC9B4902}"/>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 name="Title 1">
            <a:extLst>
              <a:ext uri="{FF2B5EF4-FFF2-40B4-BE49-F238E27FC236}">
                <a16:creationId xmlns:a16="http://schemas.microsoft.com/office/drawing/2014/main" id="{1181D3CA-0500-40D0-8206-323CDF339D34}"/>
              </a:ext>
            </a:extLst>
          </p:cNvPr>
          <p:cNvSpPr txBox="1">
            <a:spLocks/>
          </p:cNvSpPr>
          <p:nvPr/>
        </p:nvSpPr>
        <p:spPr>
          <a:xfrm>
            <a:off x="76200" y="29015"/>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Z</a:t>
            </a:r>
            <a:r>
              <a:rPr lang="en-US" altLang="zh-CN" sz="3200" dirty="0">
                <a:solidFill>
                  <a:srgbClr val="7030A0"/>
                </a:solidFill>
              </a:rPr>
              <a:t>onal statistics</a:t>
            </a:r>
            <a:endParaRPr lang="en-US" sz="2600" dirty="0">
              <a:solidFill>
                <a:srgbClr val="7030A0"/>
              </a:solidFill>
            </a:endParaRPr>
          </a:p>
        </p:txBody>
      </p:sp>
      <p:pic>
        <p:nvPicPr>
          <p:cNvPr id="13" name="Picture 12" descr="Image showing zonal statistics">
            <a:extLst>
              <a:ext uri="{FF2B5EF4-FFF2-40B4-BE49-F238E27FC236}">
                <a16:creationId xmlns:a16="http://schemas.microsoft.com/office/drawing/2014/main" id="{80F0B6F4-8A00-4869-86F4-0ACD6F1ECE0C}"/>
              </a:ext>
            </a:extLst>
          </p:cNvPr>
          <p:cNvPicPr>
            <a:picLocks noChangeAspect="1"/>
          </p:cNvPicPr>
          <p:nvPr/>
        </p:nvPicPr>
        <p:blipFill>
          <a:blip r:embed="rId4"/>
          <a:stretch>
            <a:fillRect/>
          </a:stretch>
        </p:blipFill>
        <p:spPr>
          <a:xfrm>
            <a:off x="3982459" y="1209822"/>
            <a:ext cx="3770158" cy="3671740"/>
          </a:xfrm>
          <a:prstGeom prst="rect">
            <a:avLst/>
          </a:prstGeom>
        </p:spPr>
      </p:pic>
      <p:sp>
        <p:nvSpPr>
          <p:cNvPr id="15" name="TextBox 14">
            <a:extLst>
              <a:ext uri="{FF2B5EF4-FFF2-40B4-BE49-F238E27FC236}">
                <a16:creationId xmlns:a16="http://schemas.microsoft.com/office/drawing/2014/main" id="{41DBFBB4-3913-4168-BA77-AFB05D4ECA6D}"/>
              </a:ext>
            </a:extLst>
          </p:cNvPr>
          <p:cNvSpPr txBox="1"/>
          <p:nvPr/>
        </p:nvSpPr>
        <p:spPr>
          <a:xfrm>
            <a:off x="3595615" y="4714375"/>
            <a:ext cx="4157002" cy="400110"/>
          </a:xfrm>
          <a:prstGeom prst="rect">
            <a:avLst/>
          </a:prstGeom>
          <a:noFill/>
        </p:spPr>
        <p:txBody>
          <a:bodyPr wrap="square">
            <a:spAutoFit/>
          </a:bodyPr>
          <a:lstStyle/>
          <a:p>
            <a:r>
              <a:rPr lang="en-US" sz="1000" dirty="0">
                <a:solidFill>
                  <a:srgbClr val="7030A0"/>
                </a:solidFill>
              </a:rPr>
              <a:t>https://desktop.arcgis.com/en/arcmap/10.3/tools/spatial-analyst-toolbox/h-how-zonal-statistics-works.htm</a:t>
            </a:r>
          </a:p>
        </p:txBody>
      </p:sp>
    </p:spTree>
    <p:extLst>
      <p:ext uri="{BB962C8B-B14F-4D97-AF65-F5344CB8AC3E}">
        <p14:creationId xmlns:p14="http://schemas.microsoft.com/office/powerpoint/2010/main" val="32853564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070F0041-1310-48B0-AAA2-1B7DDC9B4902}"/>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 name="Title 1">
            <a:extLst>
              <a:ext uri="{FF2B5EF4-FFF2-40B4-BE49-F238E27FC236}">
                <a16:creationId xmlns:a16="http://schemas.microsoft.com/office/drawing/2014/main" id="{1181D3CA-0500-40D0-8206-323CDF339D34}"/>
              </a:ext>
            </a:extLst>
          </p:cNvPr>
          <p:cNvSpPr txBox="1">
            <a:spLocks/>
          </p:cNvSpPr>
          <p:nvPr/>
        </p:nvSpPr>
        <p:spPr>
          <a:xfrm>
            <a:off x="76200" y="29015"/>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Z</a:t>
            </a:r>
            <a:r>
              <a:rPr lang="en-US" altLang="zh-CN" sz="3200" dirty="0">
                <a:solidFill>
                  <a:srgbClr val="7030A0"/>
                </a:solidFill>
              </a:rPr>
              <a:t>onal statistics</a:t>
            </a:r>
            <a:endParaRPr lang="en-US" sz="2600" dirty="0">
              <a:solidFill>
                <a:srgbClr val="7030A0"/>
              </a:solidFill>
            </a:endParaRPr>
          </a:p>
        </p:txBody>
      </p:sp>
      <p:pic>
        <p:nvPicPr>
          <p:cNvPr id="7" name="Picture 6" descr="Table, calendar&#10;&#10;Description automatically generated">
            <a:extLst>
              <a:ext uri="{FF2B5EF4-FFF2-40B4-BE49-F238E27FC236}">
                <a16:creationId xmlns:a16="http://schemas.microsoft.com/office/drawing/2014/main" id="{E539EAF3-19E5-4AAD-8942-3F97FA1BDEE4}"/>
              </a:ext>
            </a:extLst>
          </p:cNvPr>
          <p:cNvPicPr>
            <a:picLocks noChangeAspect="1"/>
          </p:cNvPicPr>
          <p:nvPr/>
        </p:nvPicPr>
        <p:blipFill>
          <a:blip r:embed="rId3"/>
          <a:stretch>
            <a:fillRect/>
          </a:stretch>
        </p:blipFill>
        <p:spPr>
          <a:xfrm>
            <a:off x="1482811" y="1210598"/>
            <a:ext cx="5791949" cy="3735194"/>
          </a:xfrm>
          <a:prstGeom prst="rect">
            <a:avLst/>
          </a:prstGeom>
        </p:spPr>
      </p:pic>
      <p:sp>
        <p:nvSpPr>
          <p:cNvPr id="11" name="TextBox 10">
            <a:extLst>
              <a:ext uri="{FF2B5EF4-FFF2-40B4-BE49-F238E27FC236}">
                <a16:creationId xmlns:a16="http://schemas.microsoft.com/office/drawing/2014/main" id="{F54B69F2-4EF0-472F-BEDA-A11B53DFADE6}"/>
              </a:ext>
            </a:extLst>
          </p:cNvPr>
          <p:cNvSpPr txBox="1"/>
          <p:nvPr/>
        </p:nvSpPr>
        <p:spPr>
          <a:xfrm>
            <a:off x="812582" y="4818678"/>
            <a:ext cx="1097608" cy="246221"/>
          </a:xfrm>
          <a:prstGeom prst="rect">
            <a:avLst/>
          </a:prstGeom>
          <a:noFill/>
        </p:spPr>
        <p:txBody>
          <a:bodyPr wrap="square" rtlCol="0">
            <a:spAutoFit/>
          </a:bodyPr>
          <a:lstStyle/>
          <a:p>
            <a:r>
              <a:rPr lang="en-US" sz="1000" dirty="0" err="1">
                <a:solidFill>
                  <a:srgbClr val="7030A0"/>
                </a:solidFill>
              </a:rPr>
              <a:t>Bolstad</a:t>
            </a:r>
            <a:r>
              <a:rPr lang="en-US" sz="1000" dirty="0">
                <a:solidFill>
                  <a:srgbClr val="7030A0"/>
                </a:solidFill>
              </a:rPr>
              <a:t>, 2019</a:t>
            </a:r>
          </a:p>
        </p:txBody>
      </p:sp>
      <p:sp>
        <p:nvSpPr>
          <p:cNvPr id="2" name="Slide Number Placeholder 1">
            <a:extLst>
              <a:ext uri="{FF2B5EF4-FFF2-40B4-BE49-F238E27FC236}">
                <a16:creationId xmlns:a16="http://schemas.microsoft.com/office/drawing/2014/main" id="{C1748F4F-DB9B-44A4-A99C-BE972CC1E935}"/>
              </a:ext>
            </a:extLst>
          </p:cNvPr>
          <p:cNvSpPr>
            <a:spLocks noGrp="1"/>
          </p:cNvSpPr>
          <p:nvPr>
            <p:ph type="sldNum" sz="quarter" idx="12"/>
          </p:nvPr>
        </p:nvSpPr>
        <p:spPr/>
        <p:txBody>
          <a:bodyPr/>
          <a:lstStyle/>
          <a:p>
            <a:fld id="{127DDC20-79C9-9647-820E-6D40A3D210C3}" type="slidenum">
              <a:rPr lang="en-US" smtClean="0"/>
              <a:pPr/>
              <a:t>59</a:t>
            </a:fld>
            <a:endParaRPr lang="en-US"/>
          </a:p>
        </p:txBody>
      </p:sp>
    </p:spTree>
    <p:extLst>
      <p:ext uri="{BB962C8B-B14F-4D97-AF65-F5344CB8AC3E}">
        <p14:creationId xmlns:p14="http://schemas.microsoft.com/office/powerpoint/2010/main" val="7646181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custDataLst>
              <p:tags r:id="rId1"/>
            </p:custDataLst>
          </p:nvPr>
        </p:nvSpPr>
        <p:spPr>
          <a:xfrm>
            <a:off x="204722" y="1186268"/>
            <a:ext cx="4114060" cy="3520254"/>
          </a:xfrm>
        </p:spPr>
        <p:txBody>
          <a:bodyPr>
            <a:normAutofit/>
          </a:bodyPr>
          <a:lstStyle/>
          <a:p>
            <a:pPr>
              <a:buFont typeface="Courier New" panose="02070309020205020404" pitchFamily="49" charset="0"/>
              <a:buChar char="o"/>
            </a:pPr>
            <a:r>
              <a:rPr lang="en-US" dirty="0"/>
              <a:t>Used to obtain statistics from a continuous raster within an area or </a:t>
            </a:r>
            <a:r>
              <a:rPr lang="en-US" sz="2900" dirty="0"/>
              <a:t>zone</a:t>
            </a:r>
            <a:r>
              <a:rPr lang="en-US" dirty="0"/>
              <a:t> as defined by another raster or a polygon vector layer</a:t>
            </a:r>
          </a:p>
          <a:p>
            <a:pPr>
              <a:buFont typeface="Courier New" panose="02070309020205020404" pitchFamily="49" charset="0"/>
              <a:buChar char="o"/>
            </a:pPr>
            <a:r>
              <a:rPr lang="en-US" dirty="0"/>
              <a:t>Can obtain multiple statistics as a table: mean, majority, maximum, median, minimum, minority, range, standard deviation, sum, and variety</a:t>
            </a:r>
          </a:p>
          <a:p>
            <a:pPr>
              <a:buFont typeface="Courier New" panose="02070309020205020404" pitchFamily="49" charset="0"/>
              <a:buChar char="o"/>
            </a:pPr>
            <a:r>
              <a:rPr lang="en-US" dirty="0"/>
              <a:t>Can use table join to join the results back to the zone data</a:t>
            </a:r>
          </a:p>
        </p:txBody>
      </p:sp>
      <p:sp>
        <p:nvSpPr>
          <p:cNvPr id="2" name="Slide Number Placeholder 1">
            <a:extLst>
              <a:ext uri="{FF2B5EF4-FFF2-40B4-BE49-F238E27FC236}">
                <a16:creationId xmlns:a16="http://schemas.microsoft.com/office/drawing/2014/main" id="{2E8271A0-6E88-4B20-85D3-EA15972EB610}"/>
              </a:ext>
            </a:extLst>
          </p:cNvPr>
          <p:cNvSpPr>
            <a:spLocks noGrp="1"/>
          </p:cNvSpPr>
          <p:nvPr>
            <p:ph type="sldNum" sz="quarter" idx="12"/>
          </p:nvPr>
        </p:nvSpPr>
        <p:spPr/>
        <p:txBody>
          <a:bodyPr/>
          <a:lstStyle/>
          <a:p>
            <a:fld id="{127DDC20-79C9-9647-820E-6D40A3D210C3}" type="slidenum">
              <a:rPr lang="en-US" smtClean="0"/>
              <a:pPr/>
              <a:t>60</a:t>
            </a:fld>
            <a:endParaRPr lang="en-US"/>
          </a:p>
        </p:txBody>
      </p:sp>
      <p:sp>
        <p:nvSpPr>
          <p:cNvPr id="8" name="TextBox 7"/>
          <p:cNvSpPr txBox="1"/>
          <p:nvPr>
            <p:custDataLst>
              <p:tags r:id="rId2"/>
            </p:custDataLst>
          </p:nvPr>
        </p:nvSpPr>
        <p:spPr>
          <a:xfrm>
            <a:off x="4896173" y="3833237"/>
            <a:ext cx="3035455" cy="316690"/>
          </a:xfrm>
          <a:prstGeom prst="rect">
            <a:avLst/>
          </a:prstGeom>
          <a:noFill/>
        </p:spPr>
        <p:txBody>
          <a:bodyPr wrap="square" rtlCol="0">
            <a:spAutoFit/>
          </a:bodyPr>
          <a:lstStyle/>
          <a:p>
            <a:pPr>
              <a:lnSpc>
                <a:spcPct val="90000"/>
              </a:lnSpc>
            </a:pPr>
            <a:r>
              <a:rPr lang="en-US" sz="1620" dirty="0"/>
              <a:t>Elevation statistics by county</a:t>
            </a:r>
          </a:p>
        </p:txBody>
      </p:sp>
      <p:pic>
        <p:nvPicPr>
          <p:cNvPr id="3" name="Picture 2" descr="Image showing zonal statistics as table result"/>
          <p:cNvPicPr>
            <a:picLocks noChangeAspect="1"/>
          </p:cNvPicPr>
          <p:nvPr/>
        </p:nvPicPr>
        <p:blipFill>
          <a:blip r:embed="rId5"/>
          <a:stretch>
            <a:fillRect/>
          </a:stretch>
        </p:blipFill>
        <p:spPr>
          <a:xfrm>
            <a:off x="4474939" y="1948915"/>
            <a:ext cx="3456689" cy="1724882"/>
          </a:xfrm>
          <a:prstGeom prst="rect">
            <a:avLst/>
          </a:prstGeom>
        </p:spPr>
      </p:pic>
      <p:cxnSp>
        <p:nvCxnSpPr>
          <p:cNvPr id="6" name="Straight Connector 5">
            <a:extLst>
              <a:ext uri="{FF2B5EF4-FFF2-40B4-BE49-F238E27FC236}">
                <a16:creationId xmlns:a16="http://schemas.microsoft.com/office/drawing/2014/main" id="{565655F2-FC46-4865-9144-1FC12F95B6F2}"/>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7" name="Title 1">
            <a:extLst>
              <a:ext uri="{FF2B5EF4-FFF2-40B4-BE49-F238E27FC236}">
                <a16:creationId xmlns:a16="http://schemas.microsoft.com/office/drawing/2014/main" id="{9B3258C9-0AB9-4B9F-A613-094053EF412C}"/>
              </a:ext>
            </a:extLst>
          </p:cNvPr>
          <p:cNvSpPr txBox="1">
            <a:spLocks/>
          </p:cNvSpPr>
          <p:nvPr/>
        </p:nvSpPr>
        <p:spPr>
          <a:xfrm>
            <a:off x="76200" y="29015"/>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Z</a:t>
            </a:r>
            <a:r>
              <a:rPr lang="en-US" altLang="zh-CN" sz="3200" dirty="0">
                <a:solidFill>
                  <a:srgbClr val="7030A0"/>
                </a:solidFill>
              </a:rPr>
              <a:t>onal Statistics as Table</a:t>
            </a:r>
            <a:endParaRPr lang="en-US" sz="2600" dirty="0">
              <a:solidFill>
                <a:srgbClr val="7030A0"/>
              </a:solidFill>
            </a:endParaRPr>
          </a:p>
        </p:txBody>
      </p:sp>
    </p:spTree>
    <p:extLst>
      <p:ext uri="{BB962C8B-B14F-4D97-AF65-F5344CB8AC3E}">
        <p14:creationId xmlns:p14="http://schemas.microsoft.com/office/powerpoint/2010/main" val="37826955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custDataLst>
              <p:tags r:id="rId1"/>
            </p:custDataLst>
          </p:nvPr>
        </p:nvSpPr>
        <p:spPr>
          <a:xfrm>
            <a:off x="106712" y="1345833"/>
            <a:ext cx="3336557" cy="3571703"/>
          </a:xfrm>
        </p:spPr>
        <p:txBody>
          <a:bodyPr>
            <a:normAutofit/>
          </a:bodyPr>
          <a:lstStyle/>
          <a:p>
            <a:pPr>
              <a:buFont typeface="Courier New" panose="02070309020205020404" pitchFamily="49" charset="0"/>
              <a:buChar char="o"/>
            </a:pPr>
            <a:r>
              <a:rPr lang="en-US" dirty="0"/>
              <a:t>Used to obtain areas for categories in a categorical raster within an area or zone as defined by another raster or polygon vector layer</a:t>
            </a:r>
          </a:p>
          <a:p>
            <a:pPr>
              <a:buFont typeface="Courier New" panose="02070309020205020404" pitchFamily="49" charset="0"/>
              <a:buChar char="o"/>
            </a:pPr>
            <a:r>
              <a:rPr lang="en-US" dirty="0"/>
              <a:t>Areas will be in square map units</a:t>
            </a:r>
          </a:p>
          <a:p>
            <a:pPr>
              <a:buFont typeface="Courier New" panose="02070309020205020404" pitchFamily="49" charset="0"/>
              <a:buChar char="o"/>
            </a:pPr>
            <a:r>
              <a:rPr lang="en-US" dirty="0"/>
              <a:t>Can use table join to join the results back to the zone data</a:t>
            </a:r>
          </a:p>
        </p:txBody>
      </p:sp>
      <p:sp>
        <p:nvSpPr>
          <p:cNvPr id="3" name="Slide Number Placeholder 2">
            <a:extLst>
              <a:ext uri="{FF2B5EF4-FFF2-40B4-BE49-F238E27FC236}">
                <a16:creationId xmlns:a16="http://schemas.microsoft.com/office/drawing/2014/main" id="{0A92B8B6-8BC6-4927-A73A-BFE37935904B}"/>
              </a:ext>
            </a:extLst>
          </p:cNvPr>
          <p:cNvSpPr>
            <a:spLocks noGrp="1"/>
          </p:cNvSpPr>
          <p:nvPr>
            <p:ph type="sldNum" sz="quarter" idx="12"/>
          </p:nvPr>
        </p:nvSpPr>
        <p:spPr/>
        <p:txBody>
          <a:bodyPr/>
          <a:lstStyle/>
          <a:p>
            <a:fld id="{127DDC20-79C9-9647-820E-6D40A3D210C3}" type="slidenum">
              <a:rPr lang="en-US" smtClean="0"/>
              <a:pPr/>
              <a:t>61</a:t>
            </a:fld>
            <a:endParaRPr lang="en-US"/>
          </a:p>
        </p:txBody>
      </p:sp>
      <p:sp>
        <p:nvSpPr>
          <p:cNvPr id="7" name="TextBox 6"/>
          <p:cNvSpPr txBox="1"/>
          <p:nvPr>
            <p:custDataLst>
              <p:tags r:id="rId2"/>
            </p:custDataLst>
          </p:nvPr>
        </p:nvSpPr>
        <p:spPr>
          <a:xfrm>
            <a:off x="4474939" y="3857960"/>
            <a:ext cx="3035455" cy="316690"/>
          </a:xfrm>
          <a:prstGeom prst="rect">
            <a:avLst/>
          </a:prstGeom>
          <a:noFill/>
        </p:spPr>
        <p:txBody>
          <a:bodyPr wrap="square" rtlCol="0">
            <a:spAutoFit/>
          </a:bodyPr>
          <a:lstStyle/>
          <a:p>
            <a:pPr>
              <a:lnSpc>
                <a:spcPct val="90000"/>
              </a:lnSpc>
            </a:pPr>
            <a:r>
              <a:rPr lang="en-US" sz="1620" dirty="0"/>
              <a:t>Area of land cover by county</a:t>
            </a:r>
          </a:p>
        </p:txBody>
      </p:sp>
      <p:pic>
        <p:nvPicPr>
          <p:cNvPr id="2" name="Picture 1" descr="Image showing tabulate area"/>
          <p:cNvPicPr>
            <a:picLocks noChangeAspect="1"/>
          </p:cNvPicPr>
          <p:nvPr/>
        </p:nvPicPr>
        <p:blipFill>
          <a:blip r:embed="rId5"/>
          <a:stretch>
            <a:fillRect/>
          </a:stretch>
        </p:blipFill>
        <p:spPr>
          <a:xfrm>
            <a:off x="3446624" y="1954369"/>
            <a:ext cx="4676264" cy="1560208"/>
          </a:xfrm>
          <a:prstGeom prst="rect">
            <a:avLst/>
          </a:prstGeom>
        </p:spPr>
      </p:pic>
      <p:cxnSp>
        <p:nvCxnSpPr>
          <p:cNvPr id="6" name="Straight Connector 5">
            <a:extLst>
              <a:ext uri="{FF2B5EF4-FFF2-40B4-BE49-F238E27FC236}">
                <a16:creationId xmlns:a16="http://schemas.microsoft.com/office/drawing/2014/main" id="{3AFABC1C-D2EE-43F6-A2C3-0FE90FA2F5BB}"/>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itle 1">
            <a:extLst>
              <a:ext uri="{FF2B5EF4-FFF2-40B4-BE49-F238E27FC236}">
                <a16:creationId xmlns:a16="http://schemas.microsoft.com/office/drawing/2014/main" id="{35EA1F6F-59DB-4AAC-AD6E-6CBBAD1AF0FB}"/>
              </a:ext>
            </a:extLst>
          </p:cNvPr>
          <p:cNvSpPr txBox="1">
            <a:spLocks/>
          </p:cNvSpPr>
          <p:nvPr/>
        </p:nvSpPr>
        <p:spPr>
          <a:xfrm>
            <a:off x="76200" y="29015"/>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Tabulate Area</a:t>
            </a:r>
            <a:endParaRPr lang="en-US" sz="2600" dirty="0">
              <a:solidFill>
                <a:srgbClr val="7030A0"/>
              </a:solidFill>
            </a:endParaRPr>
          </a:p>
        </p:txBody>
      </p:sp>
    </p:spTree>
    <p:extLst>
      <p:ext uri="{BB962C8B-B14F-4D97-AF65-F5344CB8AC3E}">
        <p14:creationId xmlns:p14="http://schemas.microsoft.com/office/powerpoint/2010/main" val="30832913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custDataLst>
              <p:tags r:id="rId1"/>
            </p:custDataLst>
          </p:nvPr>
        </p:nvSpPr>
        <p:spPr>
          <a:xfrm>
            <a:off x="298506" y="946381"/>
            <a:ext cx="7185505" cy="2881110"/>
          </a:xfrm>
        </p:spPr>
        <p:txBody>
          <a:bodyPr/>
          <a:lstStyle/>
          <a:p>
            <a:pPr>
              <a:buFont typeface="Courier New" panose="02070309020205020404" pitchFamily="49" charset="0"/>
              <a:buChar char="o"/>
            </a:pPr>
            <a:r>
              <a:rPr lang="en-US" dirty="0"/>
              <a:t>Extract raster values at point locations and add the data to the attribute table</a:t>
            </a:r>
          </a:p>
          <a:p>
            <a:pPr>
              <a:buFont typeface="Courier New" panose="02070309020205020404" pitchFamily="49" charset="0"/>
              <a:buChar char="o"/>
            </a:pPr>
            <a:r>
              <a:rPr lang="en-US" dirty="0"/>
              <a:t>Can use: Extract Multi Values to Points Tool or Extract Values to Points Tool</a:t>
            </a:r>
          </a:p>
          <a:p>
            <a:pPr marL="0" indent="0">
              <a:buNone/>
            </a:pPr>
            <a:endParaRPr lang="en-US" dirty="0"/>
          </a:p>
        </p:txBody>
      </p:sp>
      <p:sp>
        <p:nvSpPr>
          <p:cNvPr id="4" name="Slide Number Placeholder 3">
            <a:extLst>
              <a:ext uri="{FF2B5EF4-FFF2-40B4-BE49-F238E27FC236}">
                <a16:creationId xmlns:a16="http://schemas.microsoft.com/office/drawing/2014/main" id="{BCE737BD-A59D-4D02-8833-CB97D0C96E44}"/>
              </a:ext>
            </a:extLst>
          </p:cNvPr>
          <p:cNvSpPr>
            <a:spLocks noGrp="1"/>
          </p:cNvSpPr>
          <p:nvPr>
            <p:ph type="sldNum" sz="quarter" idx="12"/>
          </p:nvPr>
        </p:nvSpPr>
        <p:spPr/>
        <p:txBody>
          <a:bodyPr/>
          <a:lstStyle/>
          <a:p>
            <a:fld id="{127DDC20-79C9-9647-820E-6D40A3D210C3}" type="slidenum">
              <a:rPr lang="en-US" smtClean="0"/>
              <a:pPr/>
              <a:t>62</a:t>
            </a:fld>
            <a:endParaRPr lang="en-US"/>
          </a:p>
        </p:txBody>
      </p:sp>
      <p:pic>
        <p:nvPicPr>
          <p:cNvPr id="2" name="Picture 1" descr="Image showing Extract Values to Points window"/>
          <p:cNvPicPr>
            <a:picLocks noChangeAspect="1"/>
          </p:cNvPicPr>
          <p:nvPr/>
        </p:nvPicPr>
        <p:blipFill>
          <a:blip r:embed="rId4"/>
          <a:stretch>
            <a:fillRect/>
          </a:stretch>
        </p:blipFill>
        <p:spPr>
          <a:xfrm>
            <a:off x="613568" y="3006204"/>
            <a:ext cx="2758920" cy="1903591"/>
          </a:xfrm>
          <a:prstGeom prst="rect">
            <a:avLst/>
          </a:prstGeom>
        </p:spPr>
      </p:pic>
      <p:pic>
        <p:nvPicPr>
          <p:cNvPr id="3" name="Picture 2" descr="Image showing extract values to points result"/>
          <p:cNvPicPr>
            <a:picLocks noChangeAspect="1"/>
          </p:cNvPicPr>
          <p:nvPr/>
        </p:nvPicPr>
        <p:blipFill>
          <a:blip r:embed="rId5"/>
          <a:stretch>
            <a:fillRect/>
          </a:stretch>
        </p:blipFill>
        <p:spPr>
          <a:xfrm>
            <a:off x="3786818" y="3006204"/>
            <a:ext cx="450301" cy="2064367"/>
          </a:xfrm>
          <a:prstGeom prst="rect">
            <a:avLst/>
          </a:prstGeom>
        </p:spPr>
      </p:pic>
      <p:pic>
        <p:nvPicPr>
          <p:cNvPr id="7" name="Picture 6" descr="Image showing extract values to points result"/>
          <p:cNvPicPr>
            <a:picLocks noChangeAspect="1"/>
          </p:cNvPicPr>
          <p:nvPr/>
        </p:nvPicPr>
        <p:blipFill>
          <a:blip r:embed="rId6">
            <a:clrChange>
              <a:clrFrom>
                <a:srgbClr val="FFFFFF"/>
              </a:clrFrom>
              <a:clrTo>
                <a:srgbClr val="FFFFFF">
                  <a:alpha val="0"/>
                </a:srgbClr>
              </a:clrTo>
            </a:clrChange>
          </a:blip>
          <a:stretch>
            <a:fillRect/>
          </a:stretch>
        </p:blipFill>
        <p:spPr>
          <a:xfrm>
            <a:off x="4609282" y="2263418"/>
            <a:ext cx="3006750" cy="2646377"/>
          </a:xfrm>
          <a:prstGeom prst="rect">
            <a:avLst/>
          </a:prstGeom>
        </p:spPr>
      </p:pic>
      <p:cxnSp>
        <p:nvCxnSpPr>
          <p:cNvPr id="8" name="Straight Connector 7">
            <a:extLst>
              <a:ext uri="{FF2B5EF4-FFF2-40B4-BE49-F238E27FC236}">
                <a16:creationId xmlns:a16="http://schemas.microsoft.com/office/drawing/2014/main" id="{E1353F28-658E-4480-81AB-FE96EF8FD40C}"/>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9" name="Title 1">
            <a:extLst>
              <a:ext uri="{FF2B5EF4-FFF2-40B4-BE49-F238E27FC236}">
                <a16:creationId xmlns:a16="http://schemas.microsoft.com/office/drawing/2014/main" id="{1040C803-A237-48AA-8481-5E68E13C7B9A}"/>
              </a:ext>
            </a:extLst>
          </p:cNvPr>
          <p:cNvSpPr txBox="1">
            <a:spLocks/>
          </p:cNvSpPr>
          <p:nvPr/>
        </p:nvSpPr>
        <p:spPr>
          <a:xfrm>
            <a:off x="76200" y="29015"/>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Extract Values to Points</a:t>
            </a:r>
            <a:endParaRPr lang="en-US" sz="2600" dirty="0">
              <a:solidFill>
                <a:srgbClr val="7030A0"/>
              </a:solidFill>
            </a:endParaRPr>
          </a:p>
        </p:txBody>
      </p:sp>
    </p:spTree>
    <p:extLst>
      <p:ext uri="{BB962C8B-B14F-4D97-AF65-F5344CB8AC3E}">
        <p14:creationId xmlns:p14="http://schemas.microsoft.com/office/powerpoint/2010/main" val="16498907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custDataLst>
              <p:tags r:id="rId1"/>
            </p:custDataLst>
          </p:nvPr>
        </p:nvSpPr>
        <p:spPr>
          <a:xfrm>
            <a:off x="1773485" y="2140353"/>
            <a:ext cx="5063414" cy="862793"/>
          </a:xfrm>
        </p:spPr>
        <p:txBody>
          <a:bodyPr>
            <a:normAutofit/>
          </a:bodyPr>
          <a:lstStyle/>
          <a:p>
            <a:pPr algn="ctr"/>
            <a:r>
              <a:rPr lang="en-US" dirty="0"/>
              <a:t>Neighborhood function</a:t>
            </a:r>
            <a:br>
              <a:rPr lang="en-US" dirty="0"/>
            </a:br>
            <a:r>
              <a:rPr lang="en-US" dirty="0"/>
              <a:t>Estimating Densities</a:t>
            </a:r>
          </a:p>
        </p:txBody>
      </p:sp>
      <p:sp>
        <p:nvSpPr>
          <p:cNvPr id="2" name="Slide Number Placeholder 1">
            <a:extLst>
              <a:ext uri="{FF2B5EF4-FFF2-40B4-BE49-F238E27FC236}">
                <a16:creationId xmlns:a16="http://schemas.microsoft.com/office/drawing/2014/main" id="{39B9687A-C581-47D1-AADE-81B494AC5C1B}"/>
              </a:ext>
            </a:extLst>
          </p:cNvPr>
          <p:cNvSpPr>
            <a:spLocks noGrp="1"/>
          </p:cNvSpPr>
          <p:nvPr>
            <p:ph type="sldNum" sz="quarter" idx="12"/>
          </p:nvPr>
        </p:nvSpPr>
        <p:spPr/>
        <p:txBody>
          <a:bodyPr/>
          <a:lstStyle/>
          <a:p>
            <a:fld id="{127DDC20-79C9-9647-820E-6D40A3D210C3}" type="slidenum">
              <a:rPr lang="en-US" smtClean="0"/>
              <a:pPr/>
              <a:t>63</a:t>
            </a:fld>
            <a:endParaRPr lang="en-US"/>
          </a:p>
        </p:txBody>
      </p:sp>
    </p:spTree>
    <p:extLst>
      <p:ext uri="{BB962C8B-B14F-4D97-AF65-F5344CB8AC3E}">
        <p14:creationId xmlns:p14="http://schemas.microsoft.com/office/powerpoint/2010/main" val="20267712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custDataLst>
              <p:tags r:id="rId1"/>
            </p:custDataLst>
          </p:nvPr>
        </p:nvSpPr>
        <p:spPr>
          <a:xfrm>
            <a:off x="76200" y="1270831"/>
            <a:ext cx="4416321" cy="3571697"/>
          </a:xfrm>
        </p:spPr>
        <p:txBody>
          <a:bodyPr>
            <a:normAutofit/>
          </a:bodyPr>
          <a:lstStyle/>
          <a:p>
            <a:pPr>
              <a:buFont typeface="Courier New" panose="02070309020205020404" pitchFamily="49" charset="0"/>
              <a:buChar char="o"/>
            </a:pPr>
            <a:r>
              <a:rPr lang="en-US" dirty="0"/>
              <a:t>Calculates the magnitude per unit area for point or line features that fall within a neighborhood around each cell</a:t>
            </a:r>
          </a:p>
          <a:p>
            <a:pPr>
              <a:buFont typeface="Courier New" panose="02070309020205020404" pitchFamily="49" charset="0"/>
              <a:buChar char="o"/>
            </a:pPr>
            <a:r>
              <a:rPr lang="en-US" dirty="0"/>
              <a:t>Line length/area</a:t>
            </a:r>
          </a:p>
          <a:p>
            <a:pPr>
              <a:buFont typeface="Courier New" panose="02070309020205020404" pitchFamily="49" charset="0"/>
              <a:buChar char="o"/>
            </a:pPr>
            <a:r>
              <a:rPr lang="en-US" dirty="0"/>
              <a:t>Number of points/area</a:t>
            </a:r>
          </a:p>
          <a:p>
            <a:pPr>
              <a:buFont typeface="Courier New" panose="02070309020205020404" pitchFamily="49" charset="0"/>
              <a:buChar char="o"/>
            </a:pPr>
            <a:r>
              <a:rPr lang="en-US" dirty="0"/>
              <a:t>Can incorporate weights</a:t>
            </a:r>
          </a:p>
          <a:p>
            <a:pPr>
              <a:buFont typeface="Courier New" panose="02070309020205020404" pitchFamily="49" charset="0"/>
              <a:buChar char="o"/>
            </a:pPr>
            <a:r>
              <a:rPr lang="en-US" dirty="0"/>
              <a:t>Must specify neighborhood shape and size</a:t>
            </a:r>
          </a:p>
        </p:txBody>
      </p:sp>
      <p:sp>
        <p:nvSpPr>
          <p:cNvPr id="3" name="Slide Number Placeholder 2">
            <a:extLst>
              <a:ext uri="{FF2B5EF4-FFF2-40B4-BE49-F238E27FC236}">
                <a16:creationId xmlns:a16="http://schemas.microsoft.com/office/drawing/2014/main" id="{B2859021-020C-4941-861A-9F64033F5963}"/>
              </a:ext>
            </a:extLst>
          </p:cNvPr>
          <p:cNvSpPr>
            <a:spLocks noGrp="1"/>
          </p:cNvSpPr>
          <p:nvPr>
            <p:ph type="sldNum" sz="quarter" idx="12"/>
          </p:nvPr>
        </p:nvSpPr>
        <p:spPr/>
        <p:txBody>
          <a:bodyPr/>
          <a:lstStyle/>
          <a:p>
            <a:fld id="{127DDC20-79C9-9647-820E-6D40A3D210C3}" type="slidenum">
              <a:rPr lang="en-US" smtClean="0"/>
              <a:pPr/>
              <a:t>64</a:t>
            </a:fld>
            <a:endParaRPr lang="en-US"/>
          </a:p>
        </p:txBody>
      </p:sp>
      <p:pic>
        <p:nvPicPr>
          <p:cNvPr id="2" name="Picture 1" descr="Image showing point density"/>
          <p:cNvPicPr>
            <a:picLocks noChangeAspect="1"/>
          </p:cNvPicPr>
          <p:nvPr/>
        </p:nvPicPr>
        <p:blipFill>
          <a:blip r:embed="rId4">
            <a:clrChange>
              <a:clrFrom>
                <a:srgbClr val="FFFFFF"/>
              </a:clrFrom>
              <a:clrTo>
                <a:srgbClr val="FFFFFF">
                  <a:alpha val="0"/>
                </a:srgbClr>
              </a:clrTo>
            </a:clrChange>
          </a:blip>
          <a:stretch>
            <a:fillRect/>
          </a:stretch>
        </p:blipFill>
        <p:spPr>
          <a:xfrm>
            <a:off x="4526388" y="1645679"/>
            <a:ext cx="3413221" cy="2530618"/>
          </a:xfrm>
          <a:prstGeom prst="rect">
            <a:avLst/>
          </a:prstGeom>
        </p:spPr>
      </p:pic>
      <p:cxnSp>
        <p:nvCxnSpPr>
          <p:cNvPr id="6" name="Straight Connector 5">
            <a:extLst>
              <a:ext uri="{FF2B5EF4-FFF2-40B4-BE49-F238E27FC236}">
                <a16:creationId xmlns:a16="http://schemas.microsoft.com/office/drawing/2014/main" id="{EC32DE7A-6065-42D5-B4DF-292FB678F587}"/>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7" name="Title 1">
            <a:extLst>
              <a:ext uri="{FF2B5EF4-FFF2-40B4-BE49-F238E27FC236}">
                <a16:creationId xmlns:a16="http://schemas.microsoft.com/office/drawing/2014/main" id="{28EF89F4-54D1-4570-A08C-C704E50F2DB3}"/>
              </a:ext>
            </a:extLst>
          </p:cNvPr>
          <p:cNvSpPr txBox="1">
            <a:spLocks/>
          </p:cNvSpPr>
          <p:nvPr/>
        </p:nvSpPr>
        <p:spPr>
          <a:xfrm>
            <a:off x="76200" y="29015"/>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Point Density/ Line Density</a:t>
            </a:r>
            <a:endParaRPr lang="en-US" sz="2600" dirty="0">
              <a:solidFill>
                <a:srgbClr val="7030A0"/>
              </a:solidFill>
            </a:endParaRPr>
          </a:p>
        </p:txBody>
      </p:sp>
    </p:spTree>
    <p:extLst>
      <p:ext uri="{BB962C8B-B14F-4D97-AF65-F5344CB8AC3E}">
        <p14:creationId xmlns:p14="http://schemas.microsoft.com/office/powerpoint/2010/main" val="9876655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custDataLst>
              <p:tags r:id="rId1"/>
            </p:custDataLst>
          </p:nvPr>
        </p:nvSpPr>
        <p:spPr>
          <a:xfrm>
            <a:off x="76200" y="1078717"/>
            <a:ext cx="5164325" cy="1811410"/>
          </a:xfrm>
        </p:spPr>
        <p:txBody>
          <a:bodyPr/>
          <a:lstStyle/>
          <a:p>
            <a:pPr>
              <a:buFont typeface="Courier New" panose="02070309020205020404" pitchFamily="49" charset="0"/>
              <a:buChar char="o"/>
            </a:pPr>
            <a:r>
              <a:rPr lang="en-US" dirty="0"/>
              <a:t>Fits a kernel function to estimate density</a:t>
            </a:r>
          </a:p>
        </p:txBody>
      </p:sp>
      <p:sp>
        <p:nvSpPr>
          <p:cNvPr id="2" name="Slide Number Placeholder 1">
            <a:extLst>
              <a:ext uri="{FF2B5EF4-FFF2-40B4-BE49-F238E27FC236}">
                <a16:creationId xmlns:a16="http://schemas.microsoft.com/office/drawing/2014/main" id="{B6E62AE7-7D3D-4FE6-8D05-F27C0F76CB9D}"/>
              </a:ext>
            </a:extLst>
          </p:cNvPr>
          <p:cNvSpPr>
            <a:spLocks noGrp="1"/>
          </p:cNvSpPr>
          <p:nvPr>
            <p:ph type="sldNum" sz="quarter" idx="12"/>
          </p:nvPr>
        </p:nvSpPr>
        <p:spPr/>
        <p:txBody>
          <a:bodyPr/>
          <a:lstStyle/>
          <a:p>
            <a:fld id="{127DDC20-79C9-9647-820E-6D40A3D210C3}" type="slidenum">
              <a:rPr lang="en-US" smtClean="0"/>
              <a:pPr/>
              <a:t>65</a:t>
            </a:fld>
            <a:endParaRPr lang="en-US"/>
          </a:p>
        </p:txBody>
      </p:sp>
      <p:pic>
        <p:nvPicPr>
          <p:cNvPr id="4" name="Picture 3" descr="Image showing kernel density result"/>
          <p:cNvPicPr>
            <a:picLocks noChangeAspect="1"/>
          </p:cNvPicPr>
          <p:nvPr/>
        </p:nvPicPr>
        <p:blipFill>
          <a:blip r:embed="rId4">
            <a:clrChange>
              <a:clrFrom>
                <a:srgbClr val="FFFFFF"/>
              </a:clrFrom>
              <a:clrTo>
                <a:srgbClr val="FFFFFF">
                  <a:alpha val="0"/>
                </a:srgbClr>
              </a:clrTo>
            </a:clrChange>
          </a:blip>
          <a:stretch>
            <a:fillRect/>
          </a:stretch>
        </p:blipFill>
        <p:spPr>
          <a:xfrm>
            <a:off x="4680732" y="1077037"/>
            <a:ext cx="3228969" cy="2315178"/>
          </a:xfrm>
          <a:prstGeom prst="rect">
            <a:avLst/>
          </a:prstGeom>
        </p:spPr>
      </p:pic>
      <p:pic>
        <p:nvPicPr>
          <p:cNvPr id="7" name="Picture 6" descr="image showing kernel "/>
          <p:cNvPicPr/>
          <p:nvPr/>
        </p:nvPicPr>
        <p:blipFill>
          <a:blip r:embed="rId5"/>
          <a:stretch>
            <a:fillRect/>
          </a:stretch>
        </p:blipFill>
        <p:spPr>
          <a:xfrm>
            <a:off x="330262" y="2396325"/>
            <a:ext cx="4012975" cy="2008202"/>
          </a:xfrm>
          <a:prstGeom prst="rect">
            <a:avLst/>
          </a:prstGeom>
        </p:spPr>
      </p:pic>
      <p:cxnSp>
        <p:nvCxnSpPr>
          <p:cNvPr id="8" name="Straight Connector 7">
            <a:extLst>
              <a:ext uri="{FF2B5EF4-FFF2-40B4-BE49-F238E27FC236}">
                <a16:creationId xmlns:a16="http://schemas.microsoft.com/office/drawing/2014/main" id="{E87B82CD-6CEB-4FF4-B145-4F49D29A7124}"/>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9" name="Title 1">
            <a:extLst>
              <a:ext uri="{FF2B5EF4-FFF2-40B4-BE49-F238E27FC236}">
                <a16:creationId xmlns:a16="http://schemas.microsoft.com/office/drawing/2014/main" id="{AE1B8FF2-D84D-4306-8BD4-7DF21893A077}"/>
              </a:ext>
            </a:extLst>
          </p:cNvPr>
          <p:cNvSpPr txBox="1">
            <a:spLocks/>
          </p:cNvSpPr>
          <p:nvPr/>
        </p:nvSpPr>
        <p:spPr>
          <a:xfrm>
            <a:off x="76200" y="29015"/>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Kernel Density</a:t>
            </a:r>
            <a:endParaRPr lang="en-US" sz="2600" dirty="0">
              <a:solidFill>
                <a:srgbClr val="7030A0"/>
              </a:solidFill>
            </a:endParaRPr>
          </a:p>
        </p:txBody>
      </p:sp>
      <p:pic>
        <p:nvPicPr>
          <p:cNvPr id="10" name="Picture 9" descr="Kernel equation">
            <a:extLst>
              <a:ext uri="{FF2B5EF4-FFF2-40B4-BE49-F238E27FC236}">
                <a16:creationId xmlns:a16="http://schemas.microsoft.com/office/drawing/2014/main" id="{29B3543E-EB10-4FBC-A34C-F65D7FA8D341}"/>
              </a:ext>
            </a:extLst>
          </p:cNvPr>
          <p:cNvPicPr>
            <a:picLocks noChangeAspect="1"/>
          </p:cNvPicPr>
          <p:nvPr/>
        </p:nvPicPr>
        <p:blipFill>
          <a:blip r:embed="rId6"/>
          <a:stretch>
            <a:fillRect/>
          </a:stretch>
        </p:blipFill>
        <p:spPr>
          <a:xfrm>
            <a:off x="4680732" y="3482495"/>
            <a:ext cx="2713440" cy="1421690"/>
          </a:xfrm>
          <a:prstGeom prst="rect">
            <a:avLst/>
          </a:prstGeom>
        </p:spPr>
      </p:pic>
    </p:spTree>
    <p:extLst>
      <p:ext uri="{BB962C8B-B14F-4D97-AF65-F5344CB8AC3E}">
        <p14:creationId xmlns:p14="http://schemas.microsoft.com/office/powerpoint/2010/main" val="21349477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custDataLst>
              <p:tags r:id="rId1"/>
            </p:custDataLst>
          </p:nvPr>
        </p:nvSpPr>
        <p:spPr>
          <a:xfrm>
            <a:off x="3113148" y="2259182"/>
            <a:ext cx="2484463" cy="1138926"/>
          </a:xfrm>
        </p:spPr>
        <p:txBody>
          <a:bodyPr/>
          <a:lstStyle/>
          <a:p>
            <a:r>
              <a:rPr lang="en-US" dirty="0"/>
              <a:t>Mosaic</a:t>
            </a:r>
          </a:p>
        </p:txBody>
      </p:sp>
      <p:sp>
        <p:nvSpPr>
          <p:cNvPr id="2" name="Slide Number Placeholder 1">
            <a:extLst>
              <a:ext uri="{FF2B5EF4-FFF2-40B4-BE49-F238E27FC236}">
                <a16:creationId xmlns:a16="http://schemas.microsoft.com/office/drawing/2014/main" id="{415886E4-0DD4-45F8-9B2F-EEFC87342502}"/>
              </a:ext>
            </a:extLst>
          </p:cNvPr>
          <p:cNvSpPr>
            <a:spLocks noGrp="1"/>
          </p:cNvSpPr>
          <p:nvPr>
            <p:ph type="sldNum" sz="quarter" idx="12"/>
          </p:nvPr>
        </p:nvSpPr>
        <p:spPr/>
        <p:txBody>
          <a:bodyPr/>
          <a:lstStyle/>
          <a:p>
            <a:fld id="{127DDC20-79C9-9647-820E-6D40A3D210C3}" type="slidenum">
              <a:rPr lang="en-US" smtClean="0"/>
              <a:pPr/>
              <a:t>66</a:t>
            </a:fld>
            <a:endParaRPr lang="en-US"/>
          </a:p>
        </p:txBody>
      </p:sp>
    </p:spTree>
    <p:extLst>
      <p:ext uri="{BB962C8B-B14F-4D97-AF65-F5344CB8AC3E}">
        <p14:creationId xmlns:p14="http://schemas.microsoft.com/office/powerpoint/2010/main" val="2348475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custDataLst>
              <p:tags r:id="rId1"/>
            </p:custDataLst>
          </p:nvPr>
        </p:nvSpPr>
        <p:spPr>
          <a:xfrm>
            <a:off x="139925" y="1197836"/>
            <a:ext cx="4012975" cy="3262310"/>
          </a:xfrm>
        </p:spPr>
        <p:txBody>
          <a:bodyPr>
            <a:normAutofit/>
          </a:bodyPr>
          <a:lstStyle/>
          <a:p>
            <a:pPr>
              <a:buFont typeface="Courier New" panose="02070309020205020404" pitchFamily="49" charset="0"/>
              <a:buChar char="o"/>
            </a:pPr>
            <a:r>
              <a:rPr lang="en-US" dirty="0"/>
              <a:t>Combine single band or multiband raster grids into a single raster</a:t>
            </a:r>
          </a:p>
          <a:p>
            <a:pPr>
              <a:buFont typeface="Courier New" panose="02070309020205020404" pitchFamily="49" charset="0"/>
              <a:buChar char="o"/>
            </a:pPr>
            <a:r>
              <a:rPr lang="en-US" dirty="0"/>
              <a:t>Can be used for all types or raster grids, including images</a:t>
            </a:r>
          </a:p>
        </p:txBody>
      </p:sp>
      <p:sp>
        <p:nvSpPr>
          <p:cNvPr id="2" name="Slide Number Placeholder 1">
            <a:extLst>
              <a:ext uri="{FF2B5EF4-FFF2-40B4-BE49-F238E27FC236}">
                <a16:creationId xmlns:a16="http://schemas.microsoft.com/office/drawing/2014/main" id="{7FCBA26F-9D56-4F7C-8C35-B677CC687CCD}"/>
              </a:ext>
            </a:extLst>
          </p:cNvPr>
          <p:cNvSpPr>
            <a:spLocks noGrp="1"/>
          </p:cNvSpPr>
          <p:nvPr>
            <p:ph type="sldNum" sz="quarter" idx="12"/>
          </p:nvPr>
        </p:nvSpPr>
        <p:spPr/>
        <p:txBody>
          <a:bodyPr/>
          <a:lstStyle/>
          <a:p>
            <a:fld id="{127DDC20-79C9-9647-820E-6D40A3D210C3}" type="slidenum">
              <a:rPr lang="en-US" smtClean="0"/>
              <a:pPr/>
              <a:t>67</a:t>
            </a:fld>
            <a:endParaRPr lang="en-US"/>
          </a:p>
        </p:txBody>
      </p:sp>
      <p:cxnSp>
        <p:nvCxnSpPr>
          <p:cNvPr id="5" name="Straight Connector 4">
            <a:extLst>
              <a:ext uri="{FF2B5EF4-FFF2-40B4-BE49-F238E27FC236}">
                <a16:creationId xmlns:a16="http://schemas.microsoft.com/office/drawing/2014/main" id="{9C673E43-14DD-4BC7-994D-96DDA93D19C1}"/>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 name="Title 1">
            <a:extLst>
              <a:ext uri="{FF2B5EF4-FFF2-40B4-BE49-F238E27FC236}">
                <a16:creationId xmlns:a16="http://schemas.microsoft.com/office/drawing/2014/main" id="{6D93EBFF-FC93-4710-AA3E-2846ADAE9A3B}"/>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Mosaic to New Raster</a:t>
            </a:r>
            <a:endParaRPr lang="en-US" sz="2600" dirty="0">
              <a:solidFill>
                <a:srgbClr val="7030A0"/>
              </a:solidFill>
            </a:endParaRPr>
          </a:p>
        </p:txBody>
      </p:sp>
      <p:pic>
        <p:nvPicPr>
          <p:cNvPr id="1026" name="Picture 2" descr="Mosaic Landsat raster dataset in ArcGIS | Raster, Dataset, Mosaic">
            <a:extLst>
              <a:ext uri="{FF2B5EF4-FFF2-40B4-BE49-F238E27FC236}">
                <a16:creationId xmlns:a16="http://schemas.microsoft.com/office/drawing/2014/main" id="{5427B63E-6A73-4ED9-BCA5-A1354C2B5BA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52900" y="1515883"/>
            <a:ext cx="3698391" cy="2773793"/>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D3778DE2-0ADF-467F-A170-3944AEF80A96}"/>
              </a:ext>
            </a:extLst>
          </p:cNvPr>
          <p:cNvSpPr txBox="1"/>
          <p:nvPr/>
        </p:nvSpPr>
        <p:spPr>
          <a:xfrm>
            <a:off x="4152900" y="4531972"/>
            <a:ext cx="3361425" cy="246221"/>
          </a:xfrm>
          <a:prstGeom prst="rect">
            <a:avLst/>
          </a:prstGeom>
          <a:noFill/>
        </p:spPr>
        <p:txBody>
          <a:bodyPr wrap="square">
            <a:spAutoFit/>
          </a:bodyPr>
          <a:lstStyle/>
          <a:p>
            <a:r>
              <a:rPr lang="en-US" sz="1000" dirty="0">
                <a:solidFill>
                  <a:srgbClr val="7030A0"/>
                </a:solidFill>
              </a:rPr>
              <a:t>https://www.pinterest.com/pin/326440672980405218/</a:t>
            </a:r>
          </a:p>
        </p:txBody>
      </p:sp>
    </p:spTree>
    <p:extLst>
      <p:ext uri="{BB962C8B-B14F-4D97-AF65-F5344CB8AC3E}">
        <p14:creationId xmlns:p14="http://schemas.microsoft.com/office/powerpoint/2010/main" val="17688845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custDataLst>
              <p:tags r:id="rId1"/>
            </p:custDataLst>
          </p:nvPr>
        </p:nvSpPr>
        <p:spPr>
          <a:xfrm>
            <a:off x="335354" y="1197836"/>
            <a:ext cx="4012975" cy="3262310"/>
          </a:xfrm>
        </p:spPr>
        <p:txBody>
          <a:bodyPr>
            <a:normAutofit/>
          </a:bodyPr>
          <a:lstStyle/>
          <a:p>
            <a:pPr>
              <a:buFont typeface="Courier New" panose="02070309020205020404" pitchFamily="49" charset="0"/>
              <a:buChar char="o"/>
            </a:pPr>
            <a:r>
              <a:rPr lang="en-US" dirty="0"/>
              <a:t>Must specify: file extension, pixel type, cell size, and number of bands</a:t>
            </a:r>
          </a:p>
        </p:txBody>
      </p:sp>
      <p:sp>
        <p:nvSpPr>
          <p:cNvPr id="2" name="Slide Number Placeholder 1">
            <a:extLst>
              <a:ext uri="{FF2B5EF4-FFF2-40B4-BE49-F238E27FC236}">
                <a16:creationId xmlns:a16="http://schemas.microsoft.com/office/drawing/2014/main" id="{0CC4F26B-E820-4606-A48B-D5D33E15993D}"/>
              </a:ext>
            </a:extLst>
          </p:cNvPr>
          <p:cNvSpPr>
            <a:spLocks noGrp="1"/>
          </p:cNvSpPr>
          <p:nvPr>
            <p:ph type="sldNum" sz="quarter" idx="12"/>
          </p:nvPr>
        </p:nvSpPr>
        <p:spPr/>
        <p:txBody>
          <a:bodyPr/>
          <a:lstStyle/>
          <a:p>
            <a:fld id="{127DDC20-79C9-9647-820E-6D40A3D210C3}" type="slidenum">
              <a:rPr lang="en-US" smtClean="0"/>
              <a:pPr/>
              <a:t>68</a:t>
            </a:fld>
            <a:endParaRPr lang="en-US"/>
          </a:p>
        </p:txBody>
      </p:sp>
      <p:pic>
        <p:nvPicPr>
          <p:cNvPr id="4" name="Picture 3" descr="Image showing mosaic to new raster window"/>
          <p:cNvPicPr>
            <a:picLocks noChangeAspect="1"/>
          </p:cNvPicPr>
          <p:nvPr/>
        </p:nvPicPr>
        <p:blipFill>
          <a:blip r:embed="rId4"/>
          <a:stretch>
            <a:fillRect/>
          </a:stretch>
        </p:blipFill>
        <p:spPr>
          <a:xfrm>
            <a:off x="4474939" y="1197836"/>
            <a:ext cx="3249426" cy="3498491"/>
          </a:xfrm>
          <a:prstGeom prst="rect">
            <a:avLst/>
          </a:prstGeom>
        </p:spPr>
      </p:pic>
      <p:cxnSp>
        <p:nvCxnSpPr>
          <p:cNvPr id="5" name="Straight Connector 4">
            <a:extLst>
              <a:ext uri="{FF2B5EF4-FFF2-40B4-BE49-F238E27FC236}">
                <a16:creationId xmlns:a16="http://schemas.microsoft.com/office/drawing/2014/main" id="{9C673E43-14DD-4BC7-994D-96DDA93D19C1}"/>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 name="Title 1">
            <a:extLst>
              <a:ext uri="{FF2B5EF4-FFF2-40B4-BE49-F238E27FC236}">
                <a16:creationId xmlns:a16="http://schemas.microsoft.com/office/drawing/2014/main" id="{6D93EBFF-FC93-4710-AA3E-2846ADAE9A3B}"/>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Mosaic to New Raster</a:t>
            </a:r>
            <a:endParaRPr lang="en-US" sz="2600" dirty="0">
              <a:solidFill>
                <a:srgbClr val="7030A0"/>
              </a:solidFill>
            </a:endParaRPr>
          </a:p>
        </p:txBody>
      </p:sp>
    </p:spTree>
    <p:extLst>
      <p:ext uri="{BB962C8B-B14F-4D97-AF65-F5344CB8AC3E}">
        <p14:creationId xmlns:p14="http://schemas.microsoft.com/office/powerpoint/2010/main" val="20298077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custDataLst>
              <p:tags r:id="rId1"/>
            </p:custDataLst>
          </p:nvPr>
        </p:nvSpPr>
        <p:spPr>
          <a:xfrm>
            <a:off x="152400" y="1247760"/>
            <a:ext cx="5027170" cy="3498491"/>
          </a:xfrm>
        </p:spPr>
        <p:txBody>
          <a:bodyPr>
            <a:normAutofit/>
          </a:bodyPr>
          <a:lstStyle/>
          <a:p>
            <a:pPr marL="0" indent="0">
              <a:buNone/>
            </a:pPr>
            <a:r>
              <a:rPr lang="en-US" dirty="0"/>
              <a:t>Assigning values at overlapping locations:</a:t>
            </a:r>
          </a:p>
          <a:p>
            <a:pPr>
              <a:buFont typeface="Courier New" panose="02070309020205020404" pitchFamily="49" charset="0"/>
              <a:buChar char="o"/>
            </a:pPr>
            <a:r>
              <a:rPr lang="en-US" b="1" dirty="0">
                <a:solidFill>
                  <a:srgbClr val="E3874F"/>
                </a:solidFill>
              </a:rPr>
              <a:t>FIRST: </a:t>
            </a:r>
            <a:r>
              <a:rPr lang="en-US" dirty="0"/>
              <a:t>The output cell value of the overlapping areas will be the value from the first raster dataset mosaicked into that location.</a:t>
            </a:r>
          </a:p>
          <a:p>
            <a:pPr>
              <a:buFont typeface="Courier New" panose="02070309020205020404" pitchFamily="49" charset="0"/>
              <a:buChar char="o"/>
            </a:pPr>
            <a:r>
              <a:rPr lang="en-US" b="1" dirty="0">
                <a:solidFill>
                  <a:srgbClr val="E3874F"/>
                </a:solidFill>
              </a:rPr>
              <a:t>LAST: </a:t>
            </a:r>
            <a:r>
              <a:rPr lang="en-US" dirty="0"/>
              <a:t>The output cell value of the overlapping areas will be the value from the last raster dataset mosaicked into that location. This is the default.</a:t>
            </a:r>
          </a:p>
          <a:p>
            <a:pPr>
              <a:buFont typeface="Courier New" panose="02070309020205020404" pitchFamily="49" charset="0"/>
              <a:buChar char="o"/>
            </a:pPr>
            <a:r>
              <a:rPr lang="en-US" b="1" dirty="0">
                <a:solidFill>
                  <a:srgbClr val="E3874F"/>
                </a:solidFill>
              </a:rPr>
              <a:t>BLEND: </a:t>
            </a:r>
            <a:r>
              <a:rPr lang="en-US" dirty="0"/>
              <a:t>The output cell value of the overlapping areas will be a horizontally weighted calculation of the values of the cells in the overlapping area.</a:t>
            </a:r>
          </a:p>
          <a:p>
            <a:pPr marL="0" indent="0">
              <a:buNone/>
            </a:pPr>
            <a:endParaRPr lang="en-US" dirty="0"/>
          </a:p>
        </p:txBody>
      </p:sp>
      <p:sp>
        <p:nvSpPr>
          <p:cNvPr id="2" name="Slide Number Placeholder 1">
            <a:extLst>
              <a:ext uri="{FF2B5EF4-FFF2-40B4-BE49-F238E27FC236}">
                <a16:creationId xmlns:a16="http://schemas.microsoft.com/office/drawing/2014/main" id="{80A92426-E6F7-4F34-B93D-468A1362F2F6}"/>
              </a:ext>
            </a:extLst>
          </p:cNvPr>
          <p:cNvSpPr>
            <a:spLocks noGrp="1"/>
          </p:cNvSpPr>
          <p:nvPr>
            <p:ph type="sldNum" sz="quarter" idx="12"/>
          </p:nvPr>
        </p:nvSpPr>
        <p:spPr/>
        <p:txBody>
          <a:bodyPr/>
          <a:lstStyle/>
          <a:p>
            <a:fld id="{127DDC20-79C9-9647-820E-6D40A3D210C3}" type="slidenum">
              <a:rPr lang="en-US" smtClean="0"/>
              <a:pPr/>
              <a:t>69</a:t>
            </a:fld>
            <a:endParaRPr lang="en-US"/>
          </a:p>
        </p:txBody>
      </p:sp>
      <p:pic>
        <p:nvPicPr>
          <p:cNvPr id="5" name="Picture 4" descr="Image showing mosaic results"/>
          <p:cNvPicPr>
            <a:picLocks noChangeAspect="1"/>
          </p:cNvPicPr>
          <p:nvPr/>
        </p:nvPicPr>
        <p:blipFill>
          <a:blip r:embed="rId5">
            <a:clrChange>
              <a:clrFrom>
                <a:srgbClr val="FFFFFF"/>
              </a:clrFrom>
              <a:clrTo>
                <a:srgbClr val="FFFFFF">
                  <a:alpha val="0"/>
                </a:srgbClr>
              </a:clrTo>
            </a:clrChange>
          </a:blip>
          <a:stretch>
            <a:fillRect/>
          </a:stretch>
        </p:blipFill>
        <p:spPr>
          <a:xfrm>
            <a:off x="4838725" y="1366388"/>
            <a:ext cx="3357008" cy="2825088"/>
          </a:xfrm>
          <a:prstGeom prst="rect">
            <a:avLst/>
          </a:prstGeom>
        </p:spPr>
      </p:pic>
      <p:sp>
        <p:nvSpPr>
          <p:cNvPr id="6" name="TextBox 5"/>
          <p:cNvSpPr txBox="1"/>
          <p:nvPr>
            <p:custDataLst>
              <p:tags r:id="rId2"/>
            </p:custDataLst>
          </p:nvPr>
        </p:nvSpPr>
        <p:spPr>
          <a:xfrm>
            <a:off x="5179570" y="4191476"/>
            <a:ext cx="2675317" cy="223203"/>
          </a:xfrm>
          <a:prstGeom prst="rect">
            <a:avLst/>
          </a:prstGeom>
          <a:noFill/>
        </p:spPr>
        <p:txBody>
          <a:bodyPr wrap="square" rtlCol="0">
            <a:spAutoFit/>
          </a:bodyPr>
          <a:lstStyle/>
          <a:p>
            <a:pPr>
              <a:lnSpc>
                <a:spcPct val="90000"/>
              </a:lnSpc>
            </a:pPr>
            <a:r>
              <a:rPr lang="en-US" sz="945" dirty="0"/>
              <a:t>NAIP </a:t>
            </a:r>
            <a:r>
              <a:rPr lang="en-US" sz="945" dirty="0" err="1"/>
              <a:t>Orthophotography</a:t>
            </a:r>
            <a:endParaRPr lang="en-US" sz="945" dirty="0"/>
          </a:p>
        </p:txBody>
      </p:sp>
      <p:cxnSp>
        <p:nvCxnSpPr>
          <p:cNvPr id="7" name="Straight Connector 6">
            <a:extLst>
              <a:ext uri="{FF2B5EF4-FFF2-40B4-BE49-F238E27FC236}">
                <a16:creationId xmlns:a16="http://schemas.microsoft.com/office/drawing/2014/main" id="{8F1464C9-8875-42D7-A332-5856C2552978}"/>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itle 1">
            <a:extLst>
              <a:ext uri="{FF2B5EF4-FFF2-40B4-BE49-F238E27FC236}">
                <a16:creationId xmlns:a16="http://schemas.microsoft.com/office/drawing/2014/main" id="{DEBD524B-0083-4FA8-93CE-E08418175C80}"/>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Mosaic to New Raster</a:t>
            </a:r>
            <a:endParaRPr lang="en-US" sz="2600" dirty="0">
              <a:solidFill>
                <a:srgbClr val="7030A0"/>
              </a:solidFill>
            </a:endParaRPr>
          </a:p>
        </p:txBody>
      </p:sp>
    </p:spTree>
    <p:extLst>
      <p:ext uri="{BB962C8B-B14F-4D97-AF65-F5344CB8AC3E}">
        <p14:creationId xmlns:p14="http://schemas.microsoft.com/office/powerpoint/2010/main" val="3632901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custDataLst>
              <p:tags r:id="rId1"/>
            </p:custDataLst>
          </p:nvPr>
        </p:nvSpPr>
        <p:spPr>
          <a:xfrm>
            <a:off x="118533" y="1247760"/>
            <a:ext cx="4692617" cy="3498491"/>
          </a:xfrm>
        </p:spPr>
        <p:txBody>
          <a:bodyPr>
            <a:normAutofit/>
          </a:bodyPr>
          <a:lstStyle/>
          <a:p>
            <a:pPr marL="0" indent="0">
              <a:buNone/>
            </a:pPr>
            <a:r>
              <a:rPr lang="en-US" dirty="0"/>
              <a:t>Assigning values at overlapping locations:</a:t>
            </a:r>
          </a:p>
          <a:p>
            <a:pPr>
              <a:buFont typeface="Courier New" panose="02070309020205020404" pitchFamily="49" charset="0"/>
              <a:buChar char="o"/>
            </a:pPr>
            <a:r>
              <a:rPr lang="en-US" b="1" dirty="0">
                <a:solidFill>
                  <a:srgbClr val="E3874F"/>
                </a:solidFill>
              </a:rPr>
              <a:t>MEAN: </a:t>
            </a:r>
            <a:r>
              <a:rPr lang="en-US" dirty="0"/>
              <a:t>The output cell value of the overlapping areas will be the average value of the overlapping cells.</a:t>
            </a:r>
          </a:p>
          <a:p>
            <a:pPr>
              <a:buFont typeface="Courier New" panose="02070309020205020404" pitchFamily="49" charset="0"/>
              <a:buChar char="o"/>
            </a:pPr>
            <a:r>
              <a:rPr lang="en-US" b="1" dirty="0">
                <a:solidFill>
                  <a:srgbClr val="E3874F"/>
                </a:solidFill>
              </a:rPr>
              <a:t>MINIMUM: </a:t>
            </a:r>
            <a:r>
              <a:rPr lang="en-US" dirty="0"/>
              <a:t>The output cell value of the overlapping areas will be the minimum value of the overlapping cells.</a:t>
            </a:r>
          </a:p>
          <a:p>
            <a:pPr>
              <a:buFont typeface="Courier New" panose="02070309020205020404" pitchFamily="49" charset="0"/>
              <a:buChar char="o"/>
            </a:pPr>
            <a:r>
              <a:rPr lang="en-US" b="1" dirty="0">
                <a:solidFill>
                  <a:srgbClr val="E3874F"/>
                </a:solidFill>
              </a:rPr>
              <a:t>MAXIMUM: </a:t>
            </a:r>
            <a:r>
              <a:rPr lang="en-US" dirty="0"/>
              <a:t>The output cell value of the overlapping areas will be the maximum value of the overlapping cells.</a:t>
            </a:r>
          </a:p>
          <a:p>
            <a:pPr>
              <a:buFont typeface="Courier New" panose="02070309020205020404" pitchFamily="49" charset="0"/>
              <a:buChar char="o"/>
            </a:pPr>
            <a:r>
              <a:rPr lang="en-US" b="1" dirty="0">
                <a:solidFill>
                  <a:srgbClr val="E3874F"/>
                </a:solidFill>
              </a:rPr>
              <a:t>SUM: </a:t>
            </a:r>
            <a:r>
              <a:rPr lang="en-US" dirty="0"/>
              <a:t>The output cell value of the overlapping areas will be the total sum of the overlapping cells.</a:t>
            </a:r>
          </a:p>
          <a:p>
            <a:pPr marL="0" indent="0">
              <a:buNone/>
            </a:pPr>
            <a:endParaRPr lang="en-US" dirty="0"/>
          </a:p>
        </p:txBody>
      </p:sp>
      <p:sp>
        <p:nvSpPr>
          <p:cNvPr id="4" name="Slide Number Placeholder 3">
            <a:extLst>
              <a:ext uri="{FF2B5EF4-FFF2-40B4-BE49-F238E27FC236}">
                <a16:creationId xmlns:a16="http://schemas.microsoft.com/office/drawing/2014/main" id="{0876E05A-7D34-4F4F-9446-33BD4F7DF7F6}"/>
              </a:ext>
            </a:extLst>
          </p:cNvPr>
          <p:cNvSpPr>
            <a:spLocks noGrp="1"/>
          </p:cNvSpPr>
          <p:nvPr>
            <p:ph type="sldNum" sz="quarter" idx="12"/>
          </p:nvPr>
        </p:nvSpPr>
        <p:spPr/>
        <p:txBody>
          <a:bodyPr/>
          <a:lstStyle/>
          <a:p>
            <a:fld id="{127DDC20-79C9-9647-820E-6D40A3D210C3}" type="slidenum">
              <a:rPr lang="en-US" smtClean="0"/>
              <a:pPr/>
              <a:t>70</a:t>
            </a:fld>
            <a:endParaRPr lang="en-US"/>
          </a:p>
        </p:txBody>
      </p:sp>
      <p:pic>
        <p:nvPicPr>
          <p:cNvPr id="5" name="Picture 4" descr="Image showing mosaic results"/>
          <p:cNvPicPr>
            <a:picLocks noChangeAspect="1"/>
          </p:cNvPicPr>
          <p:nvPr/>
        </p:nvPicPr>
        <p:blipFill>
          <a:blip r:embed="rId5">
            <a:clrChange>
              <a:clrFrom>
                <a:srgbClr val="FFFFFF"/>
              </a:clrFrom>
              <a:clrTo>
                <a:srgbClr val="FFFFFF">
                  <a:alpha val="0"/>
                </a:srgbClr>
              </a:clrTo>
            </a:clrChange>
          </a:blip>
          <a:stretch>
            <a:fillRect/>
          </a:stretch>
        </p:blipFill>
        <p:spPr>
          <a:xfrm>
            <a:off x="4629284" y="1366388"/>
            <a:ext cx="3357008" cy="2825088"/>
          </a:xfrm>
          <a:prstGeom prst="rect">
            <a:avLst/>
          </a:prstGeom>
        </p:spPr>
      </p:pic>
      <p:sp>
        <p:nvSpPr>
          <p:cNvPr id="6" name="TextBox 5"/>
          <p:cNvSpPr txBox="1"/>
          <p:nvPr>
            <p:custDataLst>
              <p:tags r:id="rId2"/>
            </p:custDataLst>
          </p:nvPr>
        </p:nvSpPr>
        <p:spPr>
          <a:xfrm>
            <a:off x="4970129" y="4191476"/>
            <a:ext cx="2675317" cy="223203"/>
          </a:xfrm>
          <a:prstGeom prst="rect">
            <a:avLst/>
          </a:prstGeom>
          <a:noFill/>
        </p:spPr>
        <p:txBody>
          <a:bodyPr wrap="square" rtlCol="0">
            <a:spAutoFit/>
          </a:bodyPr>
          <a:lstStyle/>
          <a:p>
            <a:pPr>
              <a:lnSpc>
                <a:spcPct val="90000"/>
              </a:lnSpc>
            </a:pPr>
            <a:r>
              <a:rPr lang="en-US" sz="945" dirty="0"/>
              <a:t>NAIP </a:t>
            </a:r>
            <a:r>
              <a:rPr lang="en-US" sz="945" dirty="0" err="1"/>
              <a:t>Orthophotography</a:t>
            </a:r>
            <a:endParaRPr lang="en-US" sz="945" dirty="0"/>
          </a:p>
        </p:txBody>
      </p:sp>
      <p:cxnSp>
        <p:nvCxnSpPr>
          <p:cNvPr id="7" name="Straight Connector 6">
            <a:extLst>
              <a:ext uri="{FF2B5EF4-FFF2-40B4-BE49-F238E27FC236}">
                <a16:creationId xmlns:a16="http://schemas.microsoft.com/office/drawing/2014/main" id="{8F1464C9-8875-42D7-A332-5856C2552978}"/>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itle 1">
            <a:extLst>
              <a:ext uri="{FF2B5EF4-FFF2-40B4-BE49-F238E27FC236}">
                <a16:creationId xmlns:a16="http://schemas.microsoft.com/office/drawing/2014/main" id="{DEBD524B-0083-4FA8-93CE-E08418175C80}"/>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Mosaic to New Raster</a:t>
            </a:r>
            <a:endParaRPr lang="en-US" sz="2600" dirty="0">
              <a:solidFill>
                <a:srgbClr val="7030A0"/>
              </a:solidFill>
            </a:endParaRPr>
          </a:p>
        </p:txBody>
      </p:sp>
      <p:sp>
        <p:nvSpPr>
          <p:cNvPr id="2" name="TextBox 1">
            <a:extLst>
              <a:ext uri="{FF2B5EF4-FFF2-40B4-BE49-F238E27FC236}">
                <a16:creationId xmlns:a16="http://schemas.microsoft.com/office/drawing/2014/main" id="{4EEE639B-7D56-44FD-B9D6-73E12ABC14E6}"/>
              </a:ext>
            </a:extLst>
          </p:cNvPr>
          <p:cNvSpPr txBox="1"/>
          <p:nvPr/>
        </p:nvSpPr>
        <p:spPr>
          <a:xfrm>
            <a:off x="249382" y="4447348"/>
            <a:ext cx="4946072" cy="646331"/>
          </a:xfrm>
          <a:prstGeom prst="rect">
            <a:avLst/>
          </a:prstGeom>
          <a:noFill/>
        </p:spPr>
        <p:txBody>
          <a:bodyPr wrap="square" rtlCol="0">
            <a:spAutoFit/>
          </a:bodyPr>
          <a:lstStyle/>
          <a:p>
            <a:r>
              <a:rPr lang="en-US" dirty="0"/>
              <a:t>Categorical data: first or last are commonly used.</a:t>
            </a:r>
          </a:p>
          <a:p>
            <a:r>
              <a:rPr lang="en-US" dirty="0"/>
              <a:t>Continuous data: All methods are ok</a:t>
            </a:r>
          </a:p>
        </p:txBody>
      </p:sp>
      <p:sp>
        <p:nvSpPr>
          <p:cNvPr id="9" name="TextBox 8">
            <a:extLst>
              <a:ext uri="{FF2B5EF4-FFF2-40B4-BE49-F238E27FC236}">
                <a16:creationId xmlns:a16="http://schemas.microsoft.com/office/drawing/2014/main" id="{AC8DDDB5-2449-4CEB-B4FD-BED5DC197BE2}"/>
              </a:ext>
            </a:extLst>
          </p:cNvPr>
          <p:cNvSpPr txBox="1"/>
          <p:nvPr/>
        </p:nvSpPr>
        <p:spPr>
          <a:xfrm>
            <a:off x="5591053" y="4660352"/>
            <a:ext cx="2193704" cy="369332"/>
          </a:xfrm>
          <a:prstGeom prst="rect">
            <a:avLst/>
          </a:prstGeom>
          <a:noFill/>
        </p:spPr>
        <p:txBody>
          <a:bodyPr wrap="square" rtlCol="0">
            <a:spAutoFit/>
          </a:bodyPr>
          <a:lstStyle/>
          <a:p>
            <a:r>
              <a:rPr lang="en-US" dirty="0">
                <a:solidFill>
                  <a:srgbClr val="FF0000"/>
                </a:solidFill>
              </a:rPr>
              <a:t>Demonstration!</a:t>
            </a:r>
          </a:p>
        </p:txBody>
      </p:sp>
    </p:spTree>
    <p:extLst>
      <p:ext uri="{BB962C8B-B14F-4D97-AF65-F5344CB8AC3E}">
        <p14:creationId xmlns:p14="http://schemas.microsoft.com/office/powerpoint/2010/main" val="21429958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Image showing mosaic results"/>
          <p:cNvPicPr>
            <a:picLocks noChangeAspect="1"/>
          </p:cNvPicPr>
          <p:nvPr/>
        </p:nvPicPr>
        <p:blipFill>
          <a:blip r:embed="rId3"/>
          <a:stretch>
            <a:fillRect/>
          </a:stretch>
        </p:blipFill>
        <p:spPr>
          <a:xfrm>
            <a:off x="1691472" y="1402780"/>
            <a:ext cx="4972161" cy="3600685"/>
          </a:xfrm>
          <a:prstGeom prst="rect">
            <a:avLst/>
          </a:prstGeom>
        </p:spPr>
      </p:pic>
      <p:cxnSp>
        <p:nvCxnSpPr>
          <p:cNvPr id="6" name="Straight Connector 5">
            <a:extLst>
              <a:ext uri="{FF2B5EF4-FFF2-40B4-BE49-F238E27FC236}">
                <a16:creationId xmlns:a16="http://schemas.microsoft.com/office/drawing/2014/main" id="{0B2F3FF7-5B64-4C0F-9007-E6470D67D510}"/>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7" name="Title 1">
            <a:extLst>
              <a:ext uri="{FF2B5EF4-FFF2-40B4-BE49-F238E27FC236}">
                <a16:creationId xmlns:a16="http://schemas.microsoft.com/office/drawing/2014/main" id="{9D381714-2751-4B21-91F7-CAB5E70509CC}"/>
              </a:ext>
            </a:extLst>
          </p:cNvPr>
          <p:cNvSpPr txBox="1">
            <a:spLocks/>
          </p:cNvSpPr>
          <p:nvPr/>
        </p:nvSpPr>
        <p:spPr>
          <a:xfrm>
            <a:off x="76200"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Mosaic Outside of ArcGIS</a:t>
            </a:r>
            <a:endParaRPr lang="en-US" sz="2600" dirty="0">
              <a:solidFill>
                <a:srgbClr val="7030A0"/>
              </a:solidFill>
            </a:endParaRPr>
          </a:p>
        </p:txBody>
      </p:sp>
      <p:sp>
        <p:nvSpPr>
          <p:cNvPr id="8" name="TextBox 7">
            <a:extLst>
              <a:ext uri="{FF2B5EF4-FFF2-40B4-BE49-F238E27FC236}">
                <a16:creationId xmlns:a16="http://schemas.microsoft.com/office/drawing/2014/main" id="{CFECF173-AB9F-4D1C-BC2C-CFE12449794D}"/>
              </a:ext>
            </a:extLst>
          </p:cNvPr>
          <p:cNvSpPr txBox="1"/>
          <p:nvPr/>
        </p:nvSpPr>
        <p:spPr>
          <a:xfrm>
            <a:off x="186019" y="945489"/>
            <a:ext cx="4155140" cy="646331"/>
          </a:xfrm>
          <a:prstGeom prst="rect">
            <a:avLst/>
          </a:prstGeom>
          <a:noFill/>
        </p:spPr>
        <p:txBody>
          <a:bodyPr wrap="square">
            <a:spAutoFit/>
          </a:bodyPr>
          <a:lstStyle/>
          <a:p>
            <a:r>
              <a:rPr lang="en-US" baseline="0" dirty="0" err="1"/>
              <a:t>Erdas</a:t>
            </a:r>
            <a:r>
              <a:rPr lang="en-US" baseline="0" dirty="0"/>
              <a:t> Imagine</a:t>
            </a:r>
          </a:p>
          <a:p>
            <a:r>
              <a:rPr lang="en-US" dirty="0"/>
              <a:t>ENVI</a:t>
            </a:r>
          </a:p>
        </p:txBody>
      </p:sp>
      <p:sp>
        <p:nvSpPr>
          <p:cNvPr id="2" name="Slide Number Placeholder 1">
            <a:extLst>
              <a:ext uri="{FF2B5EF4-FFF2-40B4-BE49-F238E27FC236}">
                <a16:creationId xmlns:a16="http://schemas.microsoft.com/office/drawing/2014/main" id="{292CDAAB-9039-483D-82F2-0966A1E44246}"/>
              </a:ext>
            </a:extLst>
          </p:cNvPr>
          <p:cNvSpPr>
            <a:spLocks noGrp="1"/>
          </p:cNvSpPr>
          <p:nvPr>
            <p:ph type="sldNum" sz="quarter" idx="12"/>
          </p:nvPr>
        </p:nvSpPr>
        <p:spPr/>
        <p:txBody>
          <a:bodyPr/>
          <a:lstStyle/>
          <a:p>
            <a:fld id="{127DDC20-79C9-9647-820E-6D40A3D210C3}" type="slidenum">
              <a:rPr lang="en-US" smtClean="0"/>
              <a:pPr/>
              <a:t>71</a:t>
            </a:fld>
            <a:endParaRPr lang="en-US"/>
          </a:p>
        </p:txBody>
      </p:sp>
    </p:spTree>
    <p:extLst>
      <p:ext uri="{BB962C8B-B14F-4D97-AF65-F5344CB8AC3E}">
        <p14:creationId xmlns:p14="http://schemas.microsoft.com/office/powerpoint/2010/main" val="1931722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custDataLst>
              <p:tags r:id="rId1"/>
            </p:custDataLst>
          </p:nvPr>
        </p:nvSpPr>
        <p:spPr>
          <a:xfrm>
            <a:off x="645780" y="1268983"/>
            <a:ext cx="6751539" cy="2881110"/>
          </a:xfrm>
        </p:spPr>
        <p:txBody>
          <a:bodyPr/>
          <a:lstStyle/>
          <a:p>
            <a:pPr marL="0" indent="0">
              <a:buNone/>
            </a:pPr>
            <a:r>
              <a:rPr lang="en-US" dirty="0"/>
              <a:t>Reduce spatial resolution versions of the data to aid in faster display</a:t>
            </a:r>
          </a:p>
        </p:txBody>
      </p:sp>
      <p:sp>
        <p:nvSpPr>
          <p:cNvPr id="2" name="Slide Number Placeholder 1">
            <a:extLst>
              <a:ext uri="{FF2B5EF4-FFF2-40B4-BE49-F238E27FC236}">
                <a16:creationId xmlns:a16="http://schemas.microsoft.com/office/drawing/2014/main" id="{73DB53C0-04C4-4F14-9A47-0B3E86EDA1A1}"/>
              </a:ext>
            </a:extLst>
          </p:cNvPr>
          <p:cNvSpPr>
            <a:spLocks noGrp="1"/>
          </p:cNvSpPr>
          <p:nvPr>
            <p:ph type="sldNum" sz="quarter" idx="12"/>
          </p:nvPr>
        </p:nvSpPr>
        <p:spPr/>
        <p:txBody>
          <a:bodyPr/>
          <a:lstStyle/>
          <a:p>
            <a:fld id="{127DDC20-79C9-9647-820E-6D40A3D210C3}" type="slidenum">
              <a:rPr lang="en-US" smtClean="0"/>
              <a:pPr/>
              <a:t>72</a:t>
            </a:fld>
            <a:endParaRPr lang="en-US"/>
          </a:p>
        </p:txBody>
      </p:sp>
      <p:pic>
        <p:nvPicPr>
          <p:cNvPr id="4" name="Picture 3" descr="Image showing pyramids window"/>
          <p:cNvPicPr>
            <a:picLocks noChangeAspect="1"/>
          </p:cNvPicPr>
          <p:nvPr/>
        </p:nvPicPr>
        <p:blipFill>
          <a:blip r:embed="rId4"/>
          <a:stretch>
            <a:fillRect/>
          </a:stretch>
        </p:blipFill>
        <p:spPr>
          <a:xfrm>
            <a:off x="442305" y="2709538"/>
            <a:ext cx="2797507" cy="2115815"/>
          </a:xfrm>
          <a:prstGeom prst="rect">
            <a:avLst/>
          </a:prstGeom>
        </p:spPr>
      </p:pic>
      <p:cxnSp>
        <p:nvCxnSpPr>
          <p:cNvPr id="5" name="Straight Connector 4">
            <a:extLst>
              <a:ext uri="{FF2B5EF4-FFF2-40B4-BE49-F238E27FC236}">
                <a16:creationId xmlns:a16="http://schemas.microsoft.com/office/drawing/2014/main" id="{98C5CC8D-2DCC-4BDF-A8EA-BB8DB41DB6B4}"/>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 name="Title 1">
            <a:extLst>
              <a:ext uri="{FF2B5EF4-FFF2-40B4-BE49-F238E27FC236}">
                <a16:creationId xmlns:a16="http://schemas.microsoft.com/office/drawing/2014/main" id="{8D786625-FE19-4ED8-92AE-17A1041ABD40}"/>
              </a:ext>
            </a:extLst>
          </p:cNvPr>
          <p:cNvSpPr txBox="1">
            <a:spLocks/>
          </p:cNvSpPr>
          <p:nvPr/>
        </p:nvSpPr>
        <p:spPr>
          <a:xfrm>
            <a:off x="76200"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Pyramids</a:t>
            </a:r>
            <a:endParaRPr lang="en-US" sz="2600" dirty="0">
              <a:solidFill>
                <a:srgbClr val="7030A0"/>
              </a:solidFill>
            </a:endParaRPr>
          </a:p>
        </p:txBody>
      </p:sp>
      <p:pic>
        <p:nvPicPr>
          <p:cNvPr id="10" name="Picture 9" descr="Image showing pyramids result">
            <a:extLst>
              <a:ext uri="{FF2B5EF4-FFF2-40B4-BE49-F238E27FC236}">
                <a16:creationId xmlns:a16="http://schemas.microsoft.com/office/drawing/2014/main" id="{BFA4E23A-C27D-42B5-A26D-830DECC6DDF9}"/>
              </a:ext>
            </a:extLst>
          </p:cNvPr>
          <p:cNvPicPr>
            <a:picLocks noChangeAspect="1"/>
          </p:cNvPicPr>
          <p:nvPr/>
        </p:nvPicPr>
        <p:blipFill>
          <a:blip r:embed="rId5"/>
          <a:stretch>
            <a:fillRect/>
          </a:stretch>
        </p:blipFill>
        <p:spPr>
          <a:xfrm>
            <a:off x="3629788" y="2276476"/>
            <a:ext cx="4157507" cy="2662574"/>
          </a:xfrm>
          <a:prstGeom prst="rect">
            <a:avLst/>
          </a:prstGeom>
        </p:spPr>
      </p:pic>
    </p:spTree>
    <p:extLst>
      <p:ext uri="{BB962C8B-B14F-4D97-AF65-F5344CB8AC3E}">
        <p14:creationId xmlns:p14="http://schemas.microsoft.com/office/powerpoint/2010/main" val="18508089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custDataLst>
              <p:tags r:id="rId1"/>
            </p:custDataLst>
          </p:nvPr>
        </p:nvSpPr>
        <p:spPr>
          <a:xfrm>
            <a:off x="1630337" y="2259182"/>
            <a:ext cx="6173808" cy="1800694"/>
          </a:xfrm>
        </p:spPr>
        <p:txBody>
          <a:bodyPr/>
          <a:lstStyle/>
          <a:p>
            <a:r>
              <a:rPr lang="en-US" dirty="0"/>
              <a:t>Spatial Analysis Tools</a:t>
            </a:r>
          </a:p>
        </p:txBody>
      </p:sp>
      <p:sp>
        <p:nvSpPr>
          <p:cNvPr id="2" name="Slide Number Placeholder 1">
            <a:extLst>
              <a:ext uri="{FF2B5EF4-FFF2-40B4-BE49-F238E27FC236}">
                <a16:creationId xmlns:a16="http://schemas.microsoft.com/office/drawing/2014/main" id="{62AA410D-8445-4D59-A50A-357E2A4A52D8}"/>
              </a:ext>
            </a:extLst>
          </p:cNvPr>
          <p:cNvSpPr>
            <a:spLocks noGrp="1"/>
          </p:cNvSpPr>
          <p:nvPr>
            <p:ph type="sldNum" sz="quarter" idx="12"/>
          </p:nvPr>
        </p:nvSpPr>
        <p:spPr/>
        <p:txBody>
          <a:bodyPr/>
          <a:lstStyle/>
          <a:p>
            <a:fld id="{127DDC20-79C9-9647-820E-6D40A3D210C3}" type="slidenum">
              <a:rPr lang="en-US" smtClean="0"/>
              <a:pPr/>
              <a:t>73</a:t>
            </a:fld>
            <a:endParaRPr lang="en-US"/>
          </a:p>
        </p:txBody>
      </p:sp>
    </p:spTree>
    <p:extLst>
      <p:ext uri="{BB962C8B-B14F-4D97-AF65-F5344CB8AC3E}">
        <p14:creationId xmlns:p14="http://schemas.microsoft.com/office/powerpoint/2010/main" val="31343028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custDataLst>
              <p:tags r:id="rId1"/>
            </p:custDataLst>
          </p:nvPr>
        </p:nvSpPr>
        <p:spPr>
          <a:xfrm>
            <a:off x="325823" y="1243584"/>
            <a:ext cx="6173808" cy="2881110"/>
          </a:xfrm>
        </p:spPr>
        <p:txBody>
          <a:bodyPr>
            <a:normAutofit/>
          </a:bodyPr>
          <a:lstStyle/>
          <a:p>
            <a:r>
              <a:rPr lang="en-US" dirty="0"/>
              <a:t>ArcGIS Pro</a:t>
            </a:r>
          </a:p>
          <a:p>
            <a:r>
              <a:rPr lang="en-US" dirty="0"/>
              <a:t>ArcMap</a:t>
            </a:r>
          </a:p>
          <a:p>
            <a:r>
              <a:rPr lang="en-US" dirty="0" err="1"/>
              <a:t>Erdas</a:t>
            </a:r>
            <a:r>
              <a:rPr lang="en-US" dirty="0"/>
              <a:t> Imagine</a:t>
            </a:r>
          </a:p>
          <a:p>
            <a:r>
              <a:rPr lang="en-US" dirty="0"/>
              <a:t>ITT ENVI</a:t>
            </a:r>
          </a:p>
          <a:p>
            <a:r>
              <a:rPr lang="en-US" dirty="0"/>
              <a:t>QGIS/GRASS/SAGA</a:t>
            </a:r>
          </a:p>
          <a:p>
            <a:r>
              <a:rPr lang="en-US" dirty="0"/>
              <a:t>R</a:t>
            </a:r>
          </a:p>
        </p:txBody>
      </p:sp>
      <p:sp>
        <p:nvSpPr>
          <p:cNvPr id="3" name="Slide Number Placeholder 2">
            <a:extLst>
              <a:ext uri="{FF2B5EF4-FFF2-40B4-BE49-F238E27FC236}">
                <a16:creationId xmlns:a16="http://schemas.microsoft.com/office/drawing/2014/main" id="{AA956DFE-CFEC-4586-BDC3-A55499ABCD57}"/>
              </a:ext>
            </a:extLst>
          </p:cNvPr>
          <p:cNvSpPr>
            <a:spLocks noGrp="1"/>
          </p:cNvSpPr>
          <p:nvPr>
            <p:ph type="sldNum" sz="quarter" idx="12"/>
          </p:nvPr>
        </p:nvSpPr>
        <p:spPr/>
        <p:txBody>
          <a:bodyPr/>
          <a:lstStyle/>
          <a:p>
            <a:fld id="{127DDC20-79C9-9647-820E-6D40A3D210C3}" type="slidenum">
              <a:rPr lang="en-US" smtClean="0"/>
              <a:pPr/>
              <a:t>74</a:t>
            </a:fld>
            <a:endParaRPr lang="en-US"/>
          </a:p>
        </p:txBody>
      </p:sp>
      <p:sp>
        <p:nvSpPr>
          <p:cNvPr id="6" name="TextBox 5"/>
          <p:cNvSpPr txBox="1"/>
          <p:nvPr>
            <p:custDataLst>
              <p:tags r:id="rId2"/>
            </p:custDataLst>
          </p:nvPr>
        </p:nvSpPr>
        <p:spPr>
          <a:xfrm>
            <a:off x="3809661" y="4605844"/>
            <a:ext cx="4476011" cy="316690"/>
          </a:xfrm>
          <a:prstGeom prst="rect">
            <a:avLst/>
          </a:prstGeom>
          <a:noFill/>
        </p:spPr>
        <p:txBody>
          <a:bodyPr wrap="square" rtlCol="0">
            <a:spAutoFit/>
          </a:bodyPr>
          <a:lstStyle/>
          <a:p>
            <a:pPr>
              <a:lnSpc>
                <a:spcPct val="90000"/>
              </a:lnSpc>
            </a:pPr>
            <a:r>
              <a:rPr lang="en-US" sz="1620" dirty="0"/>
              <a:t>Logos were obtained from organization websites. </a:t>
            </a:r>
          </a:p>
        </p:txBody>
      </p:sp>
      <p:pic>
        <p:nvPicPr>
          <p:cNvPr id="7" name="Picture 2" descr="Image showing raster analysis tool"/>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51764" y="1439885"/>
            <a:ext cx="2270687" cy="1016107"/>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10" descr="Image result for ERDAS LOGO"/>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23333" t="18983" r="43810" b="22260"/>
          <a:stretch/>
        </p:blipFill>
        <p:spPr bwMode="auto">
          <a:xfrm>
            <a:off x="6532875" y="1494181"/>
            <a:ext cx="1146904" cy="1080416"/>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16" descr="ENVI softwar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08877" y="2837786"/>
            <a:ext cx="1594900" cy="501623"/>
          </a:xfrm>
          <a:prstGeom prst="rect">
            <a:avLst/>
          </a:prstGeom>
          <a:solidFill>
            <a:schemeClr val="tx1"/>
          </a:solidFill>
        </p:spPr>
      </p:pic>
      <p:pic>
        <p:nvPicPr>
          <p:cNvPr id="10" name="Picture 4" descr="QGIS"/>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521187" y="2744624"/>
            <a:ext cx="2308544" cy="687946"/>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6" descr="Image result"/>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114801" y="3629265"/>
            <a:ext cx="1013749" cy="976578"/>
          </a:xfrm>
          <a:prstGeom prst="rect">
            <a:avLst/>
          </a:prstGeom>
          <a:solidFill>
            <a:schemeClr val="tx1"/>
          </a:solidFill>
        </p:spPr>
      </p:pic>
      <p:pic>
        <p:nvPicPr>
          <p:cNvPr id="12" name="Picture 8" descr="Image result"/>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742711" y="3668089"/>
            <a:ext cx="1922845" cy="913210"/>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4" descr="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364740" y="3584486"/>
            <a:ext cx="1286210" cy="996813"/>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5953AB12-22DB-4364-B1EA-BE8E3A8C4420}"/>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1638BAF5-B9AB-4B19-9E2D-74435E66F911}"/>
              </a:ext>
            </a:extLst>
          </p:cNvPr>
          <p:cNvSpPr txBox="1">
            <a:spLocks/>
          </p:cNvSpPr>
          <p:nvPr/>
        </p:nvSpPr>
        <p:spPr>
          <a:xfrm>
            <a:off x="76200" y="29015"/>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Software Options</a:t>
            </a:r>
            <a:endParaRPr lang="en-US" sz="2600" dirty="0">
              <a:solidFill>
                <a:srgbClr val="7030A0"/>
              </a:solidFill>
            </a:endParaRPr>
          </a:p>
        </p:txBody>
      </p:sp>
    </p:spTree>
    <p:extLst>
      <p:ext uri="{BB962C8B-B14F-4D97-AF65-F5344CB8AC3E}">
        <p14:creationId xmlns:p14="http://schemas.microsoft.com/office/powerpoint/2010/main" val="20053695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descr="Image showing Python"/>
          <p:cNvSpPr>
            <a:spLocks noGrp="1"/>
          </p:cNvSpPr>
          <p:nvPr>
            <p:ph type="title"/>
            <p:custDataLst>
              <p:tags r:id="rId1"/>
            </p:custDataLst>
          </p:nvPr>
        </p:nvSpPr>
        <p:spPr>
          <a:xfrm>
            <a:off x="1027898" y="442001"/>
            <a:ext cx="6173806" cy="689194"/>
          </a:xfrm>
        </p:spPr>
        <p:txBody>
          <a:bodyPr>
            <a:normAutofit/>
          </a:bodyPr>
          <a:lstStyle/>
          <a:p>
            <a:r>
              <a:rPr lang="en-US" dirty="0"/>
              <a:t>Python</a:t>
            </a:r>
          </a:p>
        </p:txBody>
      </p:sp>
      <p:sp>
        <p:nvSpPr>
          <p:cNvPr id="3" name="Slide Number Placeholder 2">
            <a:extLst>
              <a:ext uri="{FF2B5EF4-FFF2-40B4-BE49-F238E27FC236}">
                <a16:creationId xmlns:a16="http://schemas.microsoft.com/office/drawing/2014/main" id="{CDE66BBF-E525-4B04-A94F-E9FD6F32003E}"/>
              </a:ext>
            </a:extLst>
          </p:cNvPr>
          <p:cNvSpPr>
            <a:spLocks noGrp="1"/>
          </p:cNvSpPr>
          <p:nvPr>
            <p:ph type="sldNum" sz="quarter" idx="12"/>
          </p:nvPr>
        </p:nvSpPr>
        <p:spPr/>
        <p:txBody>
          <a:bodyPr/>
          <a:lstStyle/>
          <a:p>
            <a:fld id="{127DDC20-79C9-9647-820E-6D40A3D210C3}" type="slidenum">
              <a:rPr lang="en-US" smtClean="0"/>
              <a:pPr/>
              <a:t>75</a:t>
            </a:fld>
            <a:endParaRPr lang="en-US"/>
          </a:p>
        </p:txBody>
      </p:sp>
      <p:pic>
        <p:nvPicPr>
          <p:cNvPr id="2050" name="Picture 2" descr="Python book"/>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19203" y="1491334"/>
            <a:ext cx="2201991" cy="2752489"/>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custDataLst>
              <p:tags r:id="rId2"/>
            </p:custDataLst>
          </p:nvPr>
        </p:nvSpPr>
        <p:spPr>
          <a:xfrm>
            <a:off x="5452459" y="4301941"/>
            <a:ext cx="4113728" cy="279307"/>
          </a:xfrm>
          <a:prstGeom prst="rect">
            <a:avLst/>
          </a:prstGeom>
        </p:spPr>
        <p:txBody>
          <a:bodyPr>
            <a:spAutoFit/>
          </a:bodyPr>
          <a:lstStyle/>
          <a:p>
            <a:r>
              <a:rPr lang="en-US" sz="1215" dirty="0"/>
              <a:t>Script by Jeff Evans</a:t>
            </a:r>
          </a:p>
        </p:txBody>
      </p:sp>
      <p:pic>
        <p:nvPicPr>
          <p:cNvPr id="5" name="Picture 4" descr="Image showing python script."/>
          <p:cNvPicPr>
            <a:picLocks noChangeAspect="1"/>
          </p:cNvPicPr>
          <p:nvPr/>
        </p:nvPicPr>
        <p:blipFill>
          <a:blip r:embed="rId7"/>
          <a:stretch>
            <a:fillRect/>
          </a:stretch>
        </p:blipFill>
        <p:spPr>
          <a:xfrm>
            <a:off x="4783629" y="651784"/>
            <a:ext cx="2870392" cy="3582512"/>
          </a:xfrm>
          <a:prstGeom prst="rect">
            <a:avLst/>
          </a:prstGeom>
        </p:spPr>
      </p:pic>
      <p:sp>
        <p:nvSpPr>
          <p:cNvPr id="7" name="Rectangle 6"/>
          <p:cNvSpPr/>
          <p:nvPr>
            <p:custDataLst>
              <p:tags r:id="rId3"/>
            </p:custDataLst>
          </p:nvPr>
        </p:nvSpPr>
        <p:spPr>
          <a:xfrm>
            <a:off x="410516" y="4346720"/>
            <a:ext cx="4113728" cy="653256"/>
          </a:xfrm>
          <a:prstGeom prst="rect">
            <a:avLst/>
          </a:prstGeom>
        </p:spPr>
        <p:txBody>
          <a:bodyPr>
            <a:spAutoFit/>
          </a:bodyPr>
          <a:lstStyle/>
          <a:p>
            <a:r>
              <a:rPr lang="en-US" sz="1215" dirty="0">
                <a:hlinkClick r:id="rId8"/>
              </a:rPr>
              <a:t>https://esripress.esri.com/display/index.cfm?fuseaction=display&amp;websiteID=276&amp;moduleID=0</a:t>
            </a:r>
            <a:endParaRPr lang="en-US" sz="1215" dirty="0"/>
          </a:p>
          <a:p>
            <a:endParaRPr lang="en-US" sz="1215" dirty="0"/>
          </a:p>
        </p:txBody>
      </p:sp>
    </p:spTree>
    <p:extLst>
      <p:ext uri="{BB962C8B-B14F-4D97-AF65-F5344CB8AC3E}">
        <p14:creationId xmlns:p14="http://schemas.microsoft.com/office/powerpoint/2010/main" val="271862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471305" y="1325254"/>
            <a:ext cx="3286989" cy="830997"/>
          </a:xfrm>
          <a:prstGeom prst="rect">
            <a:avLst/>
          </a:prstGeom>
          <a:noFill/>
        </p:spPr>
        <p:txBody>
          <a:bodyPr wrap="none" lIns="82296" tIns="41148" rIns="82296" bIns="41148">
            <a:spAutoFit/>
          </a:bodyPr>
          <a:lstStyle/>
          <a:p>
            <a:pPr algn="ctr"/>
            <a:r>
              <a:rPr lang="en-US" sz="4860" b="1" spc="180" dirty="0">
                <a:ln w="29210">
                  <a:solidFill>
                    <a:schemeClr val="accent3">
                      <a:tint val="10000"/>
                    </a:schemeClr>
                  </a:solidFill>
                </a:ln>
                <a:solidFill>
                  <a:srgbClr val="008000">
                    <a:alpha val="50000"/>
                  </a:srgbClr>
                </a:solidFill>
                <a:effectLst>
                  <a:innerShdw blurRad="50800" dist="50800" dir="8100000">
                    <a:srgbClr val="7D7D7D">
                      <a:alpha val="73000"/>
                    </a:srgbClr>
                  </a:innerShdw>
                </a:effectLst>
              </a:rPr>
              <a:t>Thank you!</a:t>
            </a:r>
          </a:p>
        </p:txBody>
      </p:sp>
      <p:sp>
        <p:nvSpPr>
          <p:cNvPr id="3" name="Slide Number Placeholder 2">
            <a:extLst>
              <a:ext uri="{FF2B5EF4-FFF2-40B4-BE49-F238E27FC236}">
                <a16:creationId xmlns:a16="http://schemas.microsoft.com/office/drawing/2014/main" id="{863C9EAE-E5B7-4784-94CD-D062E17813E3}"/>
              </a:ext>
            </a:extLst>
          </p:cNvPr>
          <p:cNvSpPr>
            <a:spLocks noGrp="1"/>
          </p:cNvSpPr>
          <p:nvPr>
            <p:ph type="sldNum" sz="quarter" idx="12"/>
          </p:nvPr>
        </p:nvSpPr>
        <p:spPr/>
        <p:txBody>
          <a:bodyPr/>
          <a:lstStyle/>
          <a:p>
            <a:fld id="{127DDC20-79C9-9647-820E-6D40A3D210C3}" type="slidenum">
              <a:rPr lang="en-US" smtClean="0"/>
              <a:pPr/>
              <a:t>76</a:t>
            </a:fld>
            <a:endParaRPr lang="en-US"/>
          </a:p>
        </p:txBody>
      </p:sp>
      <p:pic>
        <p:nvPicPr>
          <p:cNvPr id="6" name="Picture 5" descr="Geography department logo">
            <a:extLst>
              <a:ext uri="{FF2B5EF4-FFF2-40B4-BE49-F238E27FC236}">
                <a16:creationId xmlns:a16="http://schemas.microsoft.com/office/drawing/2014/main" id="{32DE135F-68C6-4911-85BA-92ABB3F9F85C}"/>
              </a:ext>
            </a:extLst>
          </p:cNvPr>
          <p:cNvPicPr/>
          <p:nvPr/>
        </p:nvPicPr>
        <p:blipFill>
          <a:blip r:embed="rId3"/>
          <a:stretch>
            <a:fillRect/>
          </a:stretch>
        </p:blipFill>
        <p:spPr>
          <a:xfrm>
            <a:off x="152400" y="4275667"/>
            <a:ext cx="5915025" cy="758190"/>
          </a:xfrm>
          <a:prstGeom prst="rect">
            <a:avLst/>
          </a:prstGeom>
        </p:spPr>
      </p:pic>
      <p:cxnSp>
        <p:nvCxnSpPr>
          <p:cNvPr id="7" name="Straight Connector 6">
            <a:extLst>
              <a:ext uri="{FF2B5EF4-FFF2-40B4-BE49-F238E27FC236}">
                <a16:creationId xmlns:a16="http://schemas.microsoft.com/office/drawing/2014/main" id="{5ADF13BC-3A5F-4415-94E6-85FAF42998C9}"/>
              </a:ext>
            </a:extLst>
          </p:cNvPr>
          <p:cNvCxnSpPr/>
          <p:nvPr/>
        </p:nvCxnSpPr>
        <p:spPr>
          <a:xfrm>
            <a:off x="152400" y="4182575"/>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3522301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1&quot;/&gt;&lt;/TableIndex&gt;&lt;/ShapeTextInfo&gt;"/>
  <p:tag name="HTML_SHAPEINFO" val="&lt;ThreeDShapeInfo&gt;&lt;uuid val=&quot;{199DBAA3-5EC2-46E4-AC87-FE53F2E43421}&quot;/&gt;&lt;isInvalidForFieldText val=&quot;0&quot;/&gt;&lt;Image&gt;&lt;filename val=&quot;C:\Users\amaxwel6\AppData\Local\Temp\CP8644187751046Session\CPTrustFolder8644187751046\PPTImport8644187799296\data\asimages\{199DBAA3-5EC2-46E4-AC87-FE53F2E43421}_36.png&quot;/&gt;&lt;left val=&quot;133&quot;/&gt;&lt;top val=&quot;199&quot;/&gt;&lt;width val=&quot;987&quot;/&gt;&lt;height val=&quot;311&quot;/&gt;&lt;hasText val=&quot;1&quot;/&gt;&lt;/Image&gt;&lt;/ThreeDShapeInfo&gt;"/>
</p:tagLst>
</file>

<file path=ppt/tags/tag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3&quot;/&gt;&lt;/TableIndex&gt;&lt;/ShapeTextInfo&gt;"/>
  <p:tag name="HTML_SHAPEINFO" val="&lt;ThreeDShapeInfo&gt;&lt;uuid val=&quot;{C42BE1E2-0D2D-477E-98A8-E71F0595FC09}&quot;/&gt;&lt;isInvalidForFieldText val=&quot;0&quot;/&gt;&lt;Image&gt;&lt;filename val=&quot;C:\Users\amaxwel6\AppData\Local\Temp\CP8644187751046Session\CPTrustFolder8644187751046\PPTImport8644187799296\data\asimages\{C42BE1E2-0D2D-477E-98A8-E71F0595FC09}_39.png&quot;/&gt;&lt;left val=&quot;149&quot;/&gt;&lt;top val=&quot;190&quot;/&gt;&lt;width val=&quot;971&quot;/&gt;&lt;height val=&quot;457&quot;/&gt;&lt;hasText val=&quot;1&quot;/&gt;&lt;/Image&gt;&lt;/ThreeDShapeInfo&gt;"/>
</p:tagLst>
</file>

<file path=ppt/tags/tag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TableIndex row=&quot;1&quot; col=&quot;2&quot;&gt;&lt;linesCount val=&quot;1&quot;/&gt;&lt;lineCharCount val=&quot;4&quot;/&gt;&lt;/TableIndex&gt;&lt;TableIndex row=&quot;1&quot; col=&quot;3&quot;&gt;&lt;linesCount val=&quot;1&quot;/&gt;&lt;lineCharCount val=&quot;4&quot;/&gt;&lt;/TableIndex&gt;&lt;TableIndex row=&quot;2&quot; col=&quot;1&quot;&gt;&lt;linesCount val=&quot;1&quot;/&gt;&lt;lineCharCount val=&quot;4&quot;/&gt;&lt;/TableIndex&gt;&lt;TableIndex row=&quot;2&quot; col=&quot;2&quot;&gt;&lt;linesCount val=&quot;1&quot;/&gt;&lt;lineCharCount val=&quot;3&quot;/&gt;&lt;/TableIndex&gt;&lt;TableIndex row=&quot;2&quot; col=&quot;3&quot;&gt;&lt;linesCount val=&quot;1&quot;/&gt;&lt;lineCharCount val=&quot;4&quot;/&gt;&lt;/TableIndex&gt;&lt;TableIndex row=&quot;3&quot; col=&quot;1&quot;&gt;&lt;linesCount val=&quot;1&quot;/&gt;&lt;lineCharCount val=&quot;7&quot;/&gt;&lt;/TableIndex&gt;&lt;TableIndex row=&quot;3&quot; col=&quot;2&quot;&gt;&lt;linesCount val=&quot;1&quot;/&gt;&lt;lineCharCount val=&quot;4&quot;/&gt;&lt;/TableIndex&gt;&lt;TableIndex row=&quot;3&quot; col=&quot;3&quot;&gt;&lt;linesCount val=&quot;1&quot;/&gt;&lt;lineCharCount val=&quot;4&quot;/&gt;&lt;/TableIndex&gt;&lt;/ShapeTextInfo&gt;"/>
  <p:tag name="PRESENTER_SHAPEINFO" val="&lt;ThreeDShapeInfo&gt;&lt;uuid val=&quot;{6C6C34A2-B8C1-462E-8458-8E549AB1B869}&quot;/&gt;&lt;isInvalidForFieldText val=&quot;0&quot;/&gt;&lt;Image&gt;&lt;filename val=&quot;C:\Users\amaxwel6\AppData\Local\Temp\CP8644187751046Session\CPTrustFolder8644187751046\PPTImport8644187799296\data\asimages\{6C6C34A2-B8C1-462E-8458-8E549AB1B869}_39.png&quot;/&gt;&lt;left val=&quot;28&quot;/&gt;&lt;top val=&quot;390&quot;/&gt;&lt;width val=&quot;220&quot;/&gt;&lt;height val=&quot;164&quot;/&gt;&lt;hasText val=&quot;1&quot;/&gt;&lt;/Image&gt;&lt;/ThreeDShapeInfo&gt;"/>
</p:tagLst>
</file>

<file path=ppt/tags/tag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quot;/&gt;&lt;/TableIndex&gt;&lt;TableIndex row=&quot;1&quot; col=&quot;2&quot;&gt;&lt;linesCount val=&quot;1&quot;/&gt;&lt;lineCharCount val=&quot;5&quot;/&gt;&lt;/TableIndex&gt;&lt;TableIndex row=&quot;1&quot; col=&quot;3&quot;&gt;&lt;linesCount val=&quot;1&quot;/&gt;&lt;lineCharCount val=&quot;5&quot;/&gt;&lt;/TableIndex&gt;&lt;TableIndex row=&quot;2&quot; col=&quot;1&quot;&gt;&lt;linesCount val=&quot;1&quot;/&gt;&lt;lineCharCount val=&quot;4&quot;/&gt;&lt;/TableIndex&gt;&lt;TableIndex row=&quot;2&quot; col=&quot;2&quot;&gt;&lt;linesCount val=&quot;1&quot;/&gt;&lt;lineCharCount val=&quot;4&quot;/&gt;&lt;/TableIndex&gt;&lt;TableIndex row=&quot;2&quot; col=&quot;3&quot;&gt;&lt;linesCount val=&quot;1&quot;/&gt;&lt;lineCharCount val=&quot;3&quot;/&gt;&lt;/TableIndex&gt;&lt;TableIndex row=&quot;3&quot; col=&quot;1&quot;&gt;&lt;linesCount val=&quot;1&quot;/&gt;&lt;lineCharCount val=&quot;7&quot;/&gt;&lt;/TableIndex&gt;&lt;TableIndex row=&quot;3&quot; col=&quot;2&quot;&gt;&lt;linesCount val=&quot;1&quot;/&gt;&lt;lineCharCount val=&quot;5&quot;/&gt;&lt;/TableIndex&gt;&lt;TableIndex row=&quot;3&quot; col=&quot;3&quot;&gt;&lt;linesCount val=&quot;1&quot;/&gt;&lt;lineCharCount val=&quot;5&quot;/&gt;&lt;/TableIndex&gt;&lt;/ShapeTextInfo&gt;"/>
  <p:tag name="PRESENTER_SHAPEINFO" val="&lt;ThreeDShapeInfo&gt;&lt;uuid val=&quot;{E4C5B367-7D21-481D-9E1D-F583318663C6}&quot;/&gt;&lt;isInvalidForFieldText val=&quot;0&quot;/&gt;&lt;Image&gt;&lt;filename val=&quot;C:\Users\amaxwel6\AppData\Local\Temp\CP8644187751046Session\CPTrustFolder8644187751046\PPTImport8644187799296\data\asimages\{E4C5B367-7D21-481D-9E1D-F583318663C6}_39.png&quot;/&gt;&lt;left val=&quot;288&quot;/&gt;&lt;top val=&quot;516&quot;/&gt;&lt;width val=&quot;220&quot;/&gt;&lt;height val=&quot;164&quot;/&gt;&lt;hasText val=&quot;1&quot;/&gt;&lt;/Image&gt;&lt;/ThreeDShapeInfo&gt;"/>
</p:tagLst>
</file>

<file path=ppt/tags/tag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9&quot;/&gt;&lt;/TableIndex&gt;&lt;/ShapeTextInfo&gt;"/>
  <p:tag name="HTML_SHAPEINFO" val="&lt;ThreeDShapeInfo&gt;&lt;uuid val=&quot;{881EEE02-52D7-48F9-8A43-DF9041E20C4A}&quot;/&gt;&lt;isInvalidForFieldText val=&quot;0&quot;/&gt;&lt;Image&gt;&lt;filename val=&quot;C:\Users\amaxwel6\AppData\Local\Temp\CP8644187751046Session\CPTrustFolder8644187751046\PPTImport8644187799296\data\asimages\{881EEE02-52D7-48F9-8A43-DF9041E20C4A}_40.png&quot;/&gt;&lt;left val=&quot;149&quot;/&gt;&lt;top val=&quot;190&quot;/&gt;&lt;width val=&quot;971&quot;/&gt;&lt;height val=&quot;457&quot;/&gt;&lt;hasText val=&quot;1&quot;/&gt;&lt;/Image&gt;&lt;/ThreeDShapeInfo&gt;"/>
</p:tagLst>
</file>

<file path=ppt/tags/tag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TableIndex row=&quot;1&quot; col=&quot;2&quot;&gt;&lt;linesCount val=&quot;1&quot;/&gt;&lt;lineCharCount val=&quot;4&quot;/&gt;&lt;/TableIndex&gt;&lt;TableIndex row=&quot;1&quot; col=&quot;3&quot;&gt;&lt;linesCount val=&quot;1&quot;/&gt;&lt;lineCharCount val=&quot;4&quot;/&gt;&lt;/TableIndex&gt;&lt;TableIndex row=&quot;2&quot; col=&quot;1&quot;&gt;&lt;linesCount val=&quot;1&quot;/&gt;&lt;lineCharCount val=&quot;4&quot;/&gt;&lt;/TableIndex&gt;&lt;TableIndex row=&quot;2&quot; col=&quot;2&quot;&gt;&lt;linesCount val=&quot;1&quot;/&gt;&lt;lineCharCount val=&quot;3&quot;/&gt;&lt;/TableIndex&gt;&lt;TableIndex row=&quot;2&quot; col=&quot;3&quot;&gt;&lt;linesCount val=&quot;1&quot;/&gt;&lt;lineCharCount val=&quot;4&quot;/&gt;&lt;/TableIndex&gt;&lt;TableIndex row=&quot;3&quot; col=&quot;1&quot;&gt;&lt;linesCount val=&quot;1&quot;/&gt;&lt;lineCharCount val=&quot;7&quot;/&gt;&lt;/TableIndex&gt;&lt;TableIndex row=&quot;3&quot; col=&quot;2&quot;&gt;&lt;linesCount val=&quot;1&quot;/&gt;&lt;lineCharCount val=&quot;4&quot;/&gt;&lt;/TableIndex&gt;&lt;TableIndex row=&quot;3&quot; col=&quot;3&quot;&gt;&lt;linesCount val=&quot;1&quot;/&gt;&lt;lineCharCount val=&quot;4&quot;/&gt;&lt;/TableIndex&gt;&lt;/ShapeTextInfo&gt;"/>
  <p:tag name="PRESENTER_SHAPEINFO" val="&lt;ThreeDShapeInfo&gt;&lt;uuid val=&quot;{CC201F2B-9303-450A-98E2-D5283F1F8AD2}&quot;/&gt;&lt;isInvalidForFieldText val=&quot;0&quot;/&gt;&lt;Image&gt;&lt;filename val=&quot;C:\Users\amaxwel6\AppData\Local\Temp\CP8644187751046Session\CPTrustFolder8644187751046\PPTImport8644187799296\data\asimages\{CC201F2B-9303-450A-98E2-D5283F1F8AD2}_40.png&quot;/&gt;&lt;left val=&quot;28&quot;/&gt;&lt;top val=&quot;390&quot;/&gt;&lt;width val=&quot;220&quot;/&gt;&lt;height val=&quot;164&quot;/&gt;&lt;hasText val=&quot;1&quot;/&gt;&lt;/Image&gt;&lt;/ThreeDShapeInfo&gt;"/>
</p:tagLst>
</file>

<file path=ppt/tags/tag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quot;/&gt;&lt;/TableIndex&gt;&lt;TableIndex row=&quot;1&quot; col=&quot;2&quot;&gt;&lt;linesCount val=&quot;1&quot;/&gt;&lt;lineCharCount val=&quot;5&quot;/&gt;&lt;/TableIndex&gt;&lt;TableIndex row=&quot;1&quot; col=&quot;3&quot;&gt;&lt;linesCount val=&quot;1&quot;/&gt;&lt;lineCharCount val=&quot;5&quot;/&gt;&lt;/TableIndex&gt;&lt;TableIndex row=&quot;2&quot; col=&quot;1&quot;&gt;&lt;linesCount val=&quot;1&quot;/&gt;&lt;lineCharCount val=&quot;4&quot;/&gt;&lt;/TableIndex&gt;&lt;TableIndex row=&quot;2&quot; col=&quot;2&quot;&gt;&lt;linesCount val=&quot;1&quot;/&gt;&lt;lineCharCount val=&quot;4&quot;/&gt;&lt;/TableIndex&gt;&lt;TableIndex row=&quot;2&quot; col=&quot;3&quot;&gt;&lt;linesCount val=&quot;1&quot;/&gt;&lt;lineCharCount val=&quot;5&quot;/&gt;&lt;/TableIndex&gt;&lt;TableIndex row=&quot;3&quot; col=&quot;1&quot;&gt;&lt;linesCount val=&quot;1&quot;/&gt;&lt;lineCharCount val=&quot;7&quot;/&gt;&lt;/TableIndex&gt;&lt;TableIndex row=&quot;3&quot; col=&quot;2&quot;&gt;&lt;linesCount val=&quot;1&quot;/&gt;&lt;lineCharCount val=&quot;5&quot;/&gt;&lt;/TableIndex&gt;&lt;TableIndex row=&quot;3&quot; col=&quot;3&quot;&gt;&lt;linesCount val=&quot;1&quot;/&gt;&lt;lineCharCount val=&quot;5&quot;/&gt;&lt;/TableIndex&gt;&lt;/ShapeTextInfo&gt;"/>
  <p:tag name="PRESENTER_SHAPEINFO" val="&lt;ThreeDShapeInfo&gt;&lt;uuid val=&quot;{41A66FA2-02ED-4629-82E7-B9C59135A7ED}&quot;/&gt;&lt;isInvalidForFieldText val=&quot;0&quot;/&gt;&lt;Image&gt;&lt;filename val=&quot;C:\Users\amaxwel6\AppData\Local\Temp\CP8644187751046Session\CPTrustFolder8644187751046\PPTImport8644187799296\data\asimages\{41A66FA2-02ED-4629-82E7-B9C59135A7ED}_40.png&quot;/&gt;&lt;left val=&quot;288&quot;/&gt;&lt;top val=&quot;516&quot;/&gt;&lt;width val=&quot;220&quot;/&gt;&lt;height val=&quot;164&quot;/&gt;&lt;hasText val=&quot;1&quot;/&gt;&lt;/Image&gt;&lt;/ThreeDShapeInfo&gt;"/>
</p:tagLst>
</file>

<file path=ppt/tags/tag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TableIndex row=&quot;1&quot; col=&quot;2&quot;&gt;&lt;linesCount val=&quot;1&quot;/&gt;&lt;lineCharCount val=&quot;1&quot;/&gt;&lt;/TableIndex&gt;&lt;TableIndex row=&quot;1&quot; col=&quot;3&quot;&gt;&lt;linesCount val=&quot;1&quot;/&gt;&lt;lineCharCount val=&quot;1&quot;/&gt;&lt;/TableIndex&gt;&lt;TableIndex row=&quot;2&quot; col=&quot;1&quot;&gt;&lt;linesCount val=&quot;1&quot;/&gt;&lt;lineCharCount val=&quot;1&quot;/&gt;&lt;/TableIndex&gt;&lt;TableIndex row=&quot;2&quot; col=&quot;2&quot;&gt;&lt;linesCount val=&quot;1&quot;/&gt;&lt;lineCharCount val=&quot;1&quot;/&gt;&lt;/TableIndex&gt;&lt;TableIndex row=&quot;2&quot; col=&quot;3&quot;&gt;&lt;linesCount val=&quot;1&quot;/&gt;&lt;lineCharCount val=&quot;1&quot;/&gt;&lt;/TableIndex&gt;&lt;TableIndex row=&quot;3&quot; col=&quot;1&quot;&gt;&lt;linesCount val=&quot;1&quot;/&gt;&lt;lineCharCount val=&quot;7&quot;/&gt;&lt;/TableIndex&gt;&lt;TableIndex row=&quot;3&quot; col=&quot;2&quot;&gt;&lt;linesCount val=&quot;1&quot;/&gt;&lt;lineCharCount val=&quot;1&quot;/&gt;&lt;/TableIndex&gt;&lt;TableIndex row=&quot;3&quot; col=&quot;3&quot;&gt;&lt;linesCount val=&quot;1&quot;/&gt;&lt;lineCharCount val=&quot;1&quot;/&gt;&lt;/TableIndex&gt;&lt;/ShapeTextInfo&gt;"/>
  <p:tag name="PRESENTER_SHAPEINFO" val="&lt;ThreeDShapeInfo&gt;&lt;uuid val=&quot;{AFA0938A-99D9-4F4A-86FF-18F1589021E8}&quot;/&gt;&lt;isInvalidForFieldText val=&quot;0&quot;/&gt;&lt;Image&gt;&lt;filename val=&quot;C:\Users\amaxwel6\AppData\Local\Temp\CP8644187751046Session\CPTrustFolder8644187751046\PPTImport8644187799296\data\asimages\{AFA0938A-99D9-4F4A-86FF-18F1589021E8}_41.png&quot;/&gt;&lt;left val=&quot;50&quot;/&gt;&lt;top val=&quot;198&quot;/&gt;&lt;width val=&quot;220&quot;/&gt;&lt;height val=&quot;164&quot;/&gt;&lt;hasText val=&quot;1&quot;/&gt;&lt;/Image&gt;&lt;/ThreeDShapeInfo&gt;"/>
</p:tagLst>
</file>

<file path=ppt/tags/tag1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TableIndex row=&quot;1&quot; col=&quot;2&quot;&gt;&lt;linesCount val=&quot;1&quot;/&gt;&lt;lineCharCount val=&quot;6&quot;/&gt;&lt;/TableIndex&gt;&lt;TableIndex row=&quot;1&quot; col=&quot;3&quot;&gt;&lt;linesCount val=&quot;1&quot;/&gt;&lt;lineCharCount val=&quot;1&quot;/&gt;&lt;/TableIndex&gt;&lt;TableIndex row=&quot;2&quot; col=&quot;1&quot;&gt;&lt;linesCount val=&quot;1&quot;/&gt;&lt;lineCharCount val=&quot;1&quot;/&gt;&lt;/TableIndex&gt;&lt;TableIndex row=&quot;2&quot; col=&quot;2&quot;&gt;&lt;linesCount val=&quot;1&quot;/&gt;&lt;lineCharCount val=&quot;1&quot;/&gt;&lt;/TableIndex&gt;&lt;TableIndex row=&quot;2&quot; col=&quot;3&quot;&gt;&lt;linesCount val=&quot;1&quot;/&gt;&lt;lineCharCount val=&quot;1&quot;/&gt;&lt;/TableIndex&gt;&lt;TableIndex row=&quot;3&quot; col=&quot;1&quot;&gt;&lt;linesCount val=&quot;1&quot;/&gt;&lt;lineCharCount val=&quot;7&quot;/&gt;&lt;/TableIndex&gt;&lt;TableIndex row=&quot;3&quot; col=&quot;2&quot;&gt;&lt;linesCount val=&quot;1&quot;/&gt;&lt;lineCharCount val=&quot;1&quot;/&gt;&lt;/TableIndex&gt;&lt;TableIndex row=&quot;3&quot; col=&quot;3&quot;&gt;&lt;linesCount val=&quot;1&quot;/&gt;&lt;lineCharCount val=&quot;6&quot;/&gt;&lt;/TableIndex&gt;&lt;/ShapeTextInfo&gt;"/>
  <p:tag name="PRESENTER_SHAPEINFO" val="&lt;ThreeDShapeInfo&gt;&lt;uuid val=&quot;{5F8369CC-CBDF-4DF3-8532-031A161559E4}&quot;/&gt;&lt;isInvalidForFieldText val=&quot;0&quot;/&gt;&lt;Image&gt;&lt;filename val=&quot;C:\Users\amaxwel6\AppData\Local\Temp\CP8644187751046Session\CPTrustFolder8644187751046\PPTImport8644187799296\data\asimages\{5F8369CC-CBDF-4DF3-8532-031A161559E4}_41.png&quot;/&gt;&lt;left val=&quot;382&quot;/&gt;&lt;top val=&quot;198&quot;/&gt;&lt;width val=&quot;220&quot;/&gt;&lt;height val=&quot;164&quot;/&gt;&lt;hasText val=&quot;1&quot;/&gt;&lt;/Image&gt;&lt;/ThreeDShapeInfo&gt;"/>
</p:tagLst>
</file>

<file path=ppt/tags/tag1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TableIndex row=&quot;1&quot; col=&quot;2&quot;&gt;&lt;linesCount val=&quot;1&quot;/&gt;&lt;lineCharCount val=&quot;6&quot;/&gt;&lt;/TableIndex&gt;&lt;TableIndex row=&quot;1&quot; col=&quot;3&quot;&gt;&lt;linesCount val=&quot;1&quot;/&gt;&lt;lineCharCount val=&quot;1&quot;/&gt;&lt;/TableIndex&gt;&lt;TableIndex row=&quot;2&quot; col=&quot;1&quot;&gt;&lt;linesCount val=&quot;1&quot;/&gt;&lt;lineCharCount val=&quot;1&quot;/&gt;&lt;/TableIndex&gt;&lt;TableIndex row=&quot;2&quot; col=&quot;2&quot;&gt;&lt;linesCount val=&quot;1&quot;/&gt;&lt;lineCharCount val=&quot;1&quot;/&gt;&lt;/TableIndex&gt;&lt;TableIndex row=&quot;2&quot; col=&quot;3&quot;&gt;&lt;linesCount val=&quot;1&quot;/&gt;&lt;lineCharCount val=&quot;1&quot;/&gt;&lt;/TableIndex&gt;&lt;TableIndex row=&quot;3&quot; col=&quot;1&quot;&gt;&lt;linesCount val=&quot;1&quot;/&gt;&lt;lineCharCount val=&quot;6&quot;/&gt;&lt;/TableIndex&gt;&lt;TableIndex row=&quot;3&quot; col=&quot;2&quot;&gt;&lt;linesCount val=&quot;1&quot;/&gt;&lt;lineCharCount val=&quot;1&quot;/&gt;&lt;/TableIndex&gt;&lt;TableIndex row=&quot;3&quot; col=&quot;3&quot;&gt;&lt;linesCount val=&quot;1&quot;/&gt;&lt;lineCharCount val=&quot;6&quot;/&gt;&lt;/TableIndex&gt;&lt;/ShapeTextInfo&gt;"/>
  <p:tag name="PRESENTER_SHAPEINFO" val="&lt;ThreeDShapeInfo&gt;&lt;uuid val=&quot;{CC9DC69D-96D5-44CF-B897-DB16BAC6E599}&quot;/&gt;&lt;isInvalidForFieldText val=&quot;0&quot;/&gt;&lt;Image&gt;&lt;filename val=&quot;C:\Users\amaxwel6\AppData\Local\Temp\CP8644187751046Session\CPTrustFolder8644187751046\PPTImport8644187799296\data\asimages\{CC9DC69D-96D5-44CF-B897-DB16BAC6E599}_41.png&quot;/&gt;&lt;left val=&quot;846&quot;/&gt;&lt;top val=&quot;198&quot;/&gt;&lt;width val=&quot;220&quot;/&gt;&lt;height val=&quot;164&quot;/&gt;&lt;hasText val=&quot;1&quot;/&gt;&lt;/Image&gt;&lt;/ThreeDShapeInfo&gt;"/>
</p:tagLst>
</file>

<file path=ppt/tags/tag1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 name="HTML_SHAPEINFO" val="&lt;ThreeDShapeInfo&gt;&lt;uuid val=&quot;{6DB09000-72E4-49D7-9E6C-000E66257DCC}&quot;/&gt;&lt;isInvalidForFieldText val=&quot;0&quot;/&gt;&lt;Image&gt;&lt;filename val=&quot;C:\Users\amaxwel6\AppData\Local\Temp\CP8644187751046Session\CPTrustFolder8644187751046\PPTImport8644187799296\data\asimages\{6DB09000-72E4-49D7-9E6C-000E66257DCC}_41.png&quot;/&gt;&lt;left val=&quot;230&quot;/&gt;&lt;top val=&quot;175&quot;/&gt;&lt;width val=&quot;177&quot;/&gt;&lt;height val=&quot;225&quot;/&gt;&lt;hasText val=&quot;1&quot;/&gt;&lt;/Image&gt;&lt;/ThreeDShapeInfo&gt;"/>
</p:tagLst>
</file>

<file path=ppt/tags/tag1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 name="HTML_SHAPEINFO" val="&lt;ThreeDShapeInfo&gt;&lt;uuid val=&quot;{24AE3CE8-DB93-4BF7-B962-2405638E830C}&quot;/&gt;&lt;isInvalidForFieldText val=&quot;0&quot;/&gt;&lt;Image&gt;&lt;filename val=&quot;C:\Users\amaxwel6\AppData\Local\Temp\CP8644187751046Session\CPTrustFolder8644187751046\PPTImport8644187799296\data\asimages\{24AE3CE8-DB93-4BF7-B962-2405638E830C}_41.png&quot;/&gt;&lt;left val=&quot;621&quot;/&gt;&lt;top val=&quot;175&quot;/&gt;&lt;width val=&quot;184&quot;/&gt;&lt;height val=&quot;225&quot;/&gt;&lt;hasText val=&quot;1&quot;/&gt;&lt;/Image&gt;&lt;/ThreeDShapeInfo&gt;"/>
</p:tagLst>
</file>

<file path=ppt/tags/tag1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TableIndex row=&quot;1&quot; col=&quot;2&quot;&gt;&lt;linesCount val=&quot;1&quot;/&gt;&lt;lineCharCount val=&quot;1&quot;/&gt;&lt;/TableIndex&gt;&lt;TableIndex row=&quot;1&quot; col=&quot;3&quot;&gt;&lt;linesCount val=&quot;1&quot;/&gt;&lt;lineCharCount val=&quot;1&quot;/&gt;&lt;/TableIndex&gt;&lt;TableIndex row=&quot;2&quot; col=&quot;1&quot;&gt;&lt;linesCount val=&quot;1&quot;/&gt;&lt;lineCharCount val=&quot;1&quot;/&gt;&lt;/TableIndex&gt;&lt;TableIndex row=&quot;2&quot; col=&quot;2&quot;&gt;&lt;linesCount val=&quot;1&quot;/&gt;&lt;lineCharCount val=&quot;1&quot;/&gt;&lt;/TableIndex&gt;&lt;TableIndex row=&quot;2&quot; col=&quot;3&quot;&gt;&lt;linesCount val=&quot;1&quot;/&gt;&lt;lineCharCount val=&quot;1&quot;/&gt;&lt;/TableIndex&gt;&lt;TableIndex row=&quot;3&quot; col=&quot;1&quot;&gt;&lt;linesCount val=&quot;1&quot;/&gt;&lt;lineCharCount val=&quot;7&quot;/&gt;&lt;/TableIndex&gt;&lt;TableIndex row=&quot;3&quot; col=&quot;2&quot;&gt;&lt;linesCount val=&quot;1&quot;/&gt;&lt;lineCharCount val=&quot;1&quot;/&gt;&lt;/TableIndex&gt;&lt;TableIndex row=&quot;3&quot; col=&quot;3&quot;&gt;&lt;linesCount val=&quot;1&quot;/&gt;&lt;lineCharCount val=&quot;1&quot;/&gt;&lt;/TableIndex&gt;&lt;/ShapeTextInfo&gt;"/>
  <p:tag name="PRESENTER_SHAPEINFO" val="&lt;ThreeDShapeInfo&gt;&lt;uuid val=&quot;{D96CB486-5DFA-448D-8836-0239EC45E1E9}&quot;/&gt;&lt;isInvalidForFieldText val=&quot;0&quot;/&gt;&lt;Image&gt;&lt;filename val=&quot;C:\Users\amaxwel6\AppData\Local\Temp\CP8644187751046Session\CPTrustFolder8644187751046\PPTImport8644187799296\data\asimages\{D96CB486-5DFA-448D-8836-0239EC45E1E9}_41.png&quot;/&gt;&lt;left val=&quot;50&quot;/&gt;&lt;top val=&quot;438&quot;/&gt;&lt;width val=&quot;220&quot;/&gt;&lt;height val=&quot;164&quot;/&gt;&lt;hasText val=&quot;1&quot;/&gt;&lt;/Image&gt;&lt;/ThreeDShapeInfo&gt;"/>
</p:tagLst>
</file>

<file path=ppt/tags/tag1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TableIndex row=&quot;1&quot; col=&quot;2&quot;&gt;&lt;linesCount val=&quot;1&quot;/&gt;&lt;lineCharCount val=&quot;6&quot;/&gt;&lt;/TableIndex&gt;&lt;TableIndex row=&quot;1&quot; col=&quot;3&quot;&gt;&lt;linesCount val=&quot;1&quot;/&gt;&lt;lineCharCount val=&quot;1&quot;/&gt;&lt;/TableIndex&gt;&lt;TableIndex row=&quot;2&quot; col=&quot;1&quot;&gt;&lt;linesCount val=&quot;1&quot;/&gt;&lt;lineCharCount val=&quot;1&quot;/&gt;&lt;/TableIndex&gt;&lt;TableIndex row=&quot;2&quot; col=&quot;2&quot;&gt;&lt;linesCount val=&quot;1&quot;/&gt;&lt;lineCharCount val=&quot;1&quot;/&gt;&lt;/TableIndex&gt;&lt;TableIndex row=&quot;2&quot; col=&quot;3&quot;&gt;&lt;linesCount val=&quot;1&quot;/&gt;&lt;lineCharCount val=&quot;1&quot;/&gt;&lt;/TableIndex&gt;&lt;TableIndex row=&quot;3&quot; col=&quot;1&quot;&gt;&lt;linesCount val=&quot;1&quot;/&gt;&lt;lineCharCount val=&quot;7&quot;/&gt;&lt;/TableIndex&gt;&lt;TableIndex row=&quot;3&quot; col=&quot;2&quot;&gt;&lt;linesCount val=&quot;1&quot;/&gt;&lt;lineCharCount val=&quot;1&quot;/&gt;&lt;/TableIndex&gt;&lt;TableIndex row=&quot;3&quot; col=&quot;3&quot;&gt;&lt;linesCount val=&quot;1&quot;/&gt;&lt;lineCharCount val=&quot;6&quot;/&gt;&lt;/TableIndex&gt;&lt;/ShapeTextInfo&gt;"/>
  <p:tag name="PRESENTER_SHAPEINFO" val="&lt;ThreeDShapeInfo&gt;&lt;uuid val=&quot;{14A230ED-AABF-4F57-A937-59132983753C}&quot;/&gt;&lt;isInvalidForFieldText val=&quot;0&quot;/&gt;&lt;Image&gt;&lt;filename val=&quot;C:\Users\amaxwel6\AppData\Local\Temp\CP8644187751046Session\CPTrustFolder8644187751046\PPTImport8644187799296\data\asimages\{14A230ED-AABF-4F57-A937-59132983753C}_41.png&quot;/&gt;&lt;left val=&quot;382&quot;/&gt;&lt;top val=&quot;438&quot;/&gt;&lt;width val=&quot;220&quot;/&gt;&lt;height val=&quot;164&quot;/&gt;&lt;hasText val=&quot;1&quot;/&gt;&lt;/Image&gt;&lt;/ThreeDShapeInfo&gt;"/>
</p:tagLst>
</file>

<file path=ppt/tags/tag1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TableIndex row=&quot;1&quot; col=&quot;2&quot;&gt;&lt;linesCount val=&quot;1&quot;/&gt;&lt;lineCharCount val=&quot;6&quot;/&gt;&lt;/TableIndex&gt;&lt;TableIndex row=&quot;1&quot; col=&quot;3&quot;&gt;&lt;linesCount val=&quot;1&quot;/&gt;&lt;lineCharCount val=&quot;1&quot;/&gt;&lt;/TableIndex&gt;&lt;TableIndex row=&quot;2&quot; col=&quot;1&quot;&gt;&lt;linesCount val=&quot;1&quot;/&gt;&lt;lineCharCount val=&quot;1&quot;/&gt;&lt;/TableIndex&gt;&lt;TableIndex row=&quot;2&quot; col=&quot;2&quot;&gt;&lt;linesCount val=&quot;1&quot;/&gt;&lt;lineCharCount val=&quot;1&quot;/&gt;&lt;/TableIndex&gt;&lt;TableIndex row=&quot;2&quot; col=&quot;3&quot;&gt;&lt;linesCount val=&quot;1&quot;/&gt;&lt;lineCharCount val=&quot;1&quot;/&gt;&lt;/TableIndex&gt;&lt;TableIndex row=&quot;3&quot; col=&quot;1&quot;&gt;&lt;linesCount val=&quot;1&quot;/&gt;&lt;lineCharCount val=&quot;6&quot;/&gt;&lt;/TableIndex&gt;&lt;TableIndex row=&quot;3&quot; col=&quot;2&quot;&gt;&lt;linesCount val=&quot;1&quot;/&gt;&lt;lineCharCount val=&quot;1&quot;/&gt;&lt;/TableIndex&gt;&lt;TableIndex row=&quot;3&quot; col=&quot;3&quot;&gt;&lt;linesCount val=&quot;1&quot;/&gt;&lt;lineCharCount val=&quot;6&quot;/&gt;&lt;/TableIndex&gt;&lt;/ShapeTextInfo&gt;"/>
  <p:tag name="PRESENTER_SHAPEINFO" val="&lt;ThreeDShapeInfo&gt;&lt;uuid val=&quot;{18F00915-D89A-4CE8-B887-8430DF34C09A}&quot;/&gt;&lt;isInvalidForFieldText val=&quot;0&quot;/&gt;&lt;Image&gt;&lt;filename val=&quot;C:\Users\amaxwel6\AppData\Local\Temp\CP8644187751046Session\CPTrustFolder8644187751046\PPTImport8644187799296\data\asimages\{18F00915-D89A-4CE8-B887-8430DF34C09A}_41.png&quot;/&gt;&lt;left val=&quot;846&quot;/&gt;&lt;top val=&quot;438&quot;/&gt;&lt;width val=&quot;220&quot;/&gt;&lt;height val=&quot;164&quot;/&gt;&lt;hasText val=&quot;1&quot;/&gt;&lt;/Image&gt;&lt;/ThreeDShapeInfo&gt;"/>
</p:tagLst>
</file>

<file path=ppt/tags/tag1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 name="HTML_SHAPEINFO" val="&lt;ThreeDShapeInfo&gt;&lt;uuid val=&quot;{1CE2FC56-D5F8-45D5-8E6A-6974058AA428}&quot;/&gt;&lt;isInvalidForFieldText val=&quot;0&quot;/&gt;&lt;Image&gt;&lt;filename val=&quot;C:\Users\amaxwel6\AppData\Local\Temp\CP8644187751046Session\CPTrustFolder8644187751046\PPTImport8644187799296\data\asimages\{1CE2FC56-D5F8-45D5-8E6A-6974058AA428}_41.png&quot;/&gt;&lt;left val=&quot;230&quot;/&gt;&lt;top val=&quot;416&quot;/&gt;&lt;width val=&quot;184&quot;/&gt;&lt;height val=&quot;225&quot;/&gt;&lt;hasText val=&quot;1&quot;/&gt;&lt;/Image&gt;&lt;/ThreeDShapeInfo&gt;"/>
</p:tagLst>
</file>

<file path=ppt/tags/tag1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 name="HTML_SHAPEINFO" val="&lt;ThreeDShapeInfo&gt;&lt;uuid val=&quot;{64151491-C901-41C0-9621-9A62BCA49920}&quot;/&gt;&lt;isInvalidForFieldText val=&quot;0&quot;/&gt;&lt;Image&gt;&lt;filename val=&quot;C:\Users\amaxwel6\AppData\Local\Temp\CP8644187751046Session\CPTrustFolder8644187751046\PPTImport8644187799296\data\asimages\{64151491-C901-41C0-9621-9A62BCA49920}_41.png&quot;/&gt;&lt;left val=&quot;621&quot;/&gt;&lt;top val=&quot;416&quot;/&gt;&lt;width val=&quot;184&quot;/&gt;&lt;height val=&quot;225&quot;/&gt;&lt;hasText val=&quot;1&quot;/&gt;&lt;/Image&gt;&lt;/ThreeDShapeInfo&gt;"/>
</p:tagLst>
</file>

<file path=ppt/tags/tag1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33&quot;/&gt;&lt;lineCharCount val=&quot;65&quot;/&gt;&lt;/TableIndex&gt;&lt;/ShapeTextInfo&gt;"/>
  <p:tag name="HTML_SHAPEINFO" val="&lt;ThreeDShapeInfo&gt;&lt;uuid val=&quot;{0CD06129-9EA6-4E36-9984-5DA91917B34A}&quot;/&gt;&lt;isInvalidForFieldText val=&quot;0&quot;/&gt;&lt;Image&gt;&lt;filename val=&quot;C:\Users\amaxwel6\AppData\Local\Temp\CP8644187751046Session\CPTrustFolder8644187751046\PPTImport8644187799296\data\asimages\{0CD06129-9EA6-4E36-9984-5DA91917B34A}_46.png&quot;/&gt;&lt;left val=&quot;149&quot;/&gt;&lt;top val=&quot;190&quot;/&gt;&lt;width val=&quot;971&quot;/&gt;&lt;height val=&quot;457&quot;/&gt;&lt;hasText val=&quot;1&quot;/&gt;&lt;/Image&gt;&lt;/ThreeDShapeInfo&gt;"/>
</p:tagLst>
</file>

<file path=ppt/tags/tag2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 name="HTML_SHAPEINFO" val="&lt;ThreeDShapeInfo&gt;&lt;uuid val=&quot;{04B2C334-CD26-40D6-94CB-0F2121467270}&quot;/&gt;&lt;isInvalidForFieldText val=&quot;0&quot;/&gt;&lt;Image&gt;&lt;filename val=&quot;C:\Users\amaxwel6\AppData\Local\Temp\CP8644187751046Session\CPTrustFolder8644187751046\PPTImport8644187799296\data\asimages\{04B2C334-CD26-40D6-94CB-0F2121467270}_42.png&quot;/&gt;&lt;left val=&quot;320&quot;/&gt;&lt;top val=&quot;303&quot;/&gt;&lt;width val=&quot;191&quot;/&gt;&lt;height val=&quot;225&quot;/&gt;&lt;hasText val=&quot;1&quot;/&gt;&lt;/Image&gt;&lt;/ThreeDShapeInfo&gt;"/>
</p:tagLst>
</file>

<file path=ppt/tags/tag2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 name="HTML_SHAPEINFO" val="&lt;ThreeDShapeInfo&gt;&lt;uuid val=&quot;{EC9C5B1F-C33E-4CFE-ACB6-1F908F4D6559}&quot;/&gt;&lt;isInvalidForFieldText val=&quot;0&quot;/&gt;&lt;Image&gt;&lt;filename val=&quot;C:\Users\amaxwel6\AppData\Local\Temp\CP8644187751046Session\CPTrustFolder8644187751046\PPTImport8644187799296\data\asimages\{EC9C5B1F-C33E-4CFE-ACB6-1F908F4D6559}_42.png&quot;/&gt;&lt;left val=&quot;784&quot;/&gt;&lt;top val=&quot;303&quot;/&gt;&lt;width val=&quot;184&quot;/&gt;&lt;height val=&quot;225&quot;/&gt;&lt;hasText val=&quot;1&quot;/&gt;&lt;/Image&gt;&lt;/ThreeDShapeInfo&gt;"/>
</p:tagLst>
</file>

<file path=ppt/tags/tag2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10&quot;/&gt;&lt;lineCharCount val=&quot;7&quot;/&gt;&lt;/TableIndex&gt;&lt;/ShapeTextInfo&gt;"/>
  <p:tag name="HTML_SHAPEINFO" val="&lt;ThreeDShapeInfo&gt;&lt;uuid val=&quot;{6AF26FDE-79A3-4E95-A10B-3B95777D875E}&quot;/&gt;&lt;isInvalidForFieldText val=&quot;0&quot;/&gt;&lt;Image&gt;&lt;filename val=&quot;C:\Users\amaxwel6\AppData\Local\Temp\CP8644187751046Session\CPTrustFolder8644187751046\PPTImport8644187799296\data\asimages\{6AF26FDE-79A3-4E95-A10B-3B95777D875E}_42.png&quot;/&gt;&lt;left val=&quot;707&quot;/&gt;&lt;top val=&quot;622&quot;/&gt;&lt;width val=&quot;170&quot;/&gt;&lt;height val=&quot;103&quot;/&gt;&lt;hasText val=&quot;1&quot;/&gt;&lt;/Image&gt;&lt;/ThreeDShapeInfo&gt;"/>
</p:tagLst>
</file>

<file path=ppt/tags/tag2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6&quot;/&gt;&lt;/TableIndex&gt;&lt;/ShapeTextInfo&gt;"/>
  <p:tag name="HTML_SHAPEINFO" val="&lt;ThreeDShapeInfo&gt;&lt;uuid val=&quot;{08977B0B-1EBA-4CB8-8D31-A7C5F9392E09}&quot;/&gt;&lt;isInvalidForFieldText val=&quot;0&quot;/&gt;&lt;Image&gt;&lt;filename val=&quot;C:\Users\amaxwel6\AppData\Local\Temp\CP8644187751046Session\CPTrustFolder8644187751046\PPTImport8644187799296\data\asimages\{08977B0B-1EBA-4CB8-8D31-A7C5F9392E09}_42.png&quot;/&gt;&lt;left val=&quot;309&quot;/&gt;&lt;top val=&quot;622&quot;/&gt;&lt;width val=&quot;163&quot;/&gt;&lt;height val=&quot;68&quot;/&gt;&lt;hasText val=&quot;1&quot;/&gt;&lt;/Image&gt;&lt;/ThreeDShapeInfo&gt;"/>
</p:tagLst>
</file>

<file path=ppt/tags/tag2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3&quot;/&gt;&lt;lineCharCount val=&quot;18&quot;/&gt;&lt;lineCharCount val=&quot;15&quot;/&gt;&lt;lineCharCount val=&quot;14&quot;/&gt;&lt;/TableIndex&gt;&lt;/ShapeTextInfo&gt;"/>
  <p:tag name="HTML_SHAPEINFO" val="&lt;ThreeDShapeInfo&gt;&lt;uuid val=&quot;{C258B934-DE60-4EAF-9610-21147AAE0F8F}&quot;/&gt;&lt;isInvalidForFieldText val=&quot;0&quot;/&gt;&lt;Image&gt;&lt;filename val=&quot;C:\Users\amaxwel6\AppData\Local\Temp\CP8644187751046Session\CPTrustFolder8644187751046\PPTImport8644187799296\data\asimages\{C258B934-DE60-4EAF-9610-21147AAE0F8F}_38.png&quot;/&gt;&lt;left val=&quot;61&quot;/&gt;&lt;top val=&quot;191&quot;/&gt;&lt;width val=&quot;971&quot;/&gt;&lt;height val=&quot;457&quot;/&gt;&lt;hasText val=&quot;1&quot;/&gt;&lt;/Image&gt;&lt;/ThreeDShapeInfo&gt;"/>
</p:tagLst>
</file>

<file path=ppt/tags/tag2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TableIndex row=&quot;1&quot; col=&quot;2&quot;&gt;&lt;linesCount val=&quot;1&quot;/&gt;&lt;lineCharCount val=&quot;4&quot;/&gt;&lt;/TableIndex&gt;&lt;TableIndex row=&quot;1&quot; col=&quot;3&quot;&gt;&lt;linesCount val=&quot;1&quot;/&gt;&lt;lineCharCount val=&quot;4&quot;/&gt;&lt;/TableIndex&gt;&lt;TableIndex row=&quot;2&quot; col=&quot;1&quot;&gt;&lt;linesCount val=&quot;1&quot;/&gt;&lt;lineCharCount val=&quot;4&quot;/&gt;&lt;/TableIndex&gt;&lt;TableIndex row=&quot;2&quot; col=&quot;2&quot;&gt;&lt;linesCount val=&quot;1&quot;/&gt;&lt;lineCharCount val=&quot;3&quot;/&gt;&lt;/TableIndex&gt;&lt;TableIndex row=&quot;2&quot; col=&quot;3&quot;&gt;&lt;linesCount val=&quot;1&quot;/&gt;&lt;lineCharCount val=&quot;4&quot;/&gt;&lt;/TableIndex&gt;&lt;TableIndex row=&quot;3&quot; col=&quot;1&quot;&gt;&lt;linesCount val=&quot;1&quot;/&gt;&lt;lineCharCount val=&quot;7&quot;/&gt;&lt;/TableIndex&gt;&lt;TableIndex row=&quot;3&quot; col=&quot;2&quot;&gt;&lt;linesCount val=&quot;1&quot;/&gt;&lt;lineCharCount val=&quot;4&quot;/&gt;&lt;/TableIndex&gt;&lt;TableIndex row=&quot;3&quot; col=&quot;3&quot;&gt;&lt;linesCount val=&quot;1&quot;/&gt;&lt;lineCharCount val=&quot;4&quot;/&gt;&lt;/TableIndex&gt;&lt;/ShapeTextInfo&gt;"/>
  <p:tag name="PRESENTER_SHAPEINFO" val="&lt;ThreeDShapeInfo&gt;&lt;uuid val=&quot;{30BB1245-B622-47D2-9E6A-89909264A000}&quot;/&gt;&lt;isInvalidForFieldText val=&quot;0&quot;/&gt;&lt;Image&gt;&lt;filename val=&quot;C:\Users\amaxwel6\AppData\Local\Temp\CP8644187751046Session\CPTrustFolder8644187751046\PPTImport8644187799296\data\asimages\{30BB1245-B622-47D2-9E6A-89909264A000}_38.png&quot;/&gt;&lt;left val=&quot;28&quot;/&gt;&lt;top val=&quot;390&quot;/&gt;&lt;width val=&quot;220&quot;/&gt;&lt;height val=&quot;164&quot;/&gt;&lt;hasText val=&quot;1&quot;/&gt;&lt;/Image&gt;&lt;/ThreeDShapeInfo&gt;"/>
</p:tagLst>
</file>

<file path=ppt/tags/tag2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3&quot;/&gt;&lt;lineCharCount val=&quot;3&quot;/&gt;&lt;lineCharCount val=&quot;3&quot;/&gt;&lt;lineCharCount val=&quot;2&quot;/&gt;&lt;/TableIndex&gt;&lt;/ShapeTextInfo&gt;"/>
  <p:tag name="HTML_SHAPEINFO" val="&lt;ThreeDShapeInfo&gt;&lt;uuid val=&quot;{FF38D0A4-BFFE-41ED-A34D-C4CDD8A9783B}&quot;/&gt;&lt;isInvalidForFieldText val=&quot;0&quot;/&gt;&lt;Image&gt;&lt;filename val=&quot;C:\Users\amaxwel6\AppData\Local\Temp\CP8644187751046Session\CPTrustFolder8644187751046\PPTImport8644187799296\data\asimages\{FF38D0A4-BFFE-41ED-A34D-C4CDD8A9783B}_38.png&quot;/&gt;&lt;left val=&quot;319&quot;/&gt;&lt;top val=&quot;310&quot;/&gt;&lt;width val=&quot;640&quot;/&gt;&lt;height val=&quot;98&quot;/&gt;&lt;hasText val=&quot;1&quot;/&gt;&lt;/Image&gt;&lt;/ThreeDShapeInfo&gt;"/>
</p:tagLst>
</file>

<file path=ppt/tags/tag2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TableIndex row=&quot;1&quot; col=&quot;2&quot;&gt;&lt;linesCount val=&quot;1&quot;/&gt;&lt;lineCharCount val=&quot;2&quot;/&gt;&lt;/TableIndex&gt;&lt;TableIndex row=&quot;1&quot; col=&quot;3&quot;&gt;&lt;linesCount val=&quot;1&quot;/&gt;&lt;lineCharCount val=&quot;2&quot;/&gt;&lt;/TableIndex&gt;&lt;TableIndex row=&quot;2&quot; col=&quot;1&quot;&gt;&lt;linesCount val=&quot;1&quot;/&gt;&lt;lineCharCount val=&quot;1&quot;/&gt;&lt;/TableIndex&gt;&lt;TableIndex row=&quot;2&quot; col=&quot;2&quot;&gt;&lt;linesCount val=&quot;1&quot;/&gt;&lt;lineCharCount val=&quot;1&quot;/&gt;&lt;/TableIndex&gt;&lt;TableIndex row=&quot;2&quot; col=&quot;3&quot;&gt;&lt;linesCount val=&quot;1&quot;/&gt;&lt;lineCharCount val=&quot;2&quot;/&gt;&lt;/TableIndex&gt;&lt;TableIndex row=&quot;3&quot; col=&quot;1&quot;&gt;&lt;linesCount val=&quot;1&quot;/&gt;&lt;lineCharCount val=&quot;7&quot;/&gt;&lt;/TableIndex&gt;&lt;TableIndex row=&quot;3&quot; col=&quot;2&quot;&gt;&lt;linesCount val=&quot;1&quot;/&gt;&lt;lineCharCount val=&quot;2&quot;/&gt;&lt;/TableIndex&gt;&lt;TableIndex row=&quot;3&quot; col=&quot;3&quot;&gt;&lt;linesCount val=&quot;1&quot;/&gt;&lt;lineCharCount val=&quot;2&quot;/&gt;&lt;/TableIndex&gt;&lt;/ShapeTextInfo&gt;"/>
  <p:tag name="PRESENTER_SHAPEINFO" val="&lt;ThreeDShapeInfo&gt;&lt;uuid val=&quot;{272EC979-2D8A-4BD1-A508-3DE228C43A38}&quot;/&gt;&lt;isInvalidForFieldText val=&quot;0&quot;/&gt;&lt;Image&gt;&lt;filename val=&quot;C:\Users\amaxwel6\AppData\Local\Temp\CP8644187751046Session\CPTrustFolder8644187751046\PPTImport8644187799296\data\asimages\{272EC979-2D8A-4BD1-A508-3DE228C43A38}_38.png&quot;/&gt;&lt;left val=&quot;288&quot;/&gt;&lt;top val=&quot;516&quot;/&gt;&lt;width val=&quot;220&quot;/&gt;&lt;height val=&quot;164&quot;/&gt;&lt;hasText val=&quot;1&quot;/&gt;&lt;/Image&gt;&lt;/ThreeDShapeInfo&gt;"/>
</p:tagLst>
</file>

<file path=ppt/tags/tag2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4&quot;/&gt;&lt;lineCharCount val=&quot;7&quot;/&gt;&lt;lineCharCount val=&quot;12&quot;/&gt;&lt;lineCharCount val=&quot;12&quot;/&gt;&lt;lineCharCount val=&quot;10&quot;/&gt;&lt;lineCharCount val=&quot;13&quot;/&gt;&lt;lineCharCount val=&quot;17&quot;/&gt;&lt;lineCharCount val=&quot;16&quot;/&gt;&lt;lineCharCount val=&quot;29&quot;/&gt;&lt;lineCharCount val=&quot;13&quot;/&gt;&lt;lineCharCount val=&quot;26&quot;/&gt;&lt;lineCharCount val=&quot;15&quot;/&gt;&lt;lineCharCount val=&quot;14&quot;/&gt;&lt;lineCharCount val=&quot;15&quot;/&gt;&lt;lineCharCount val=&quot;15&quot;/&gt;&lt;/TableIndex&gt;&lt;/ShapeTextInfo&gt;"/>
  <p:tag name="HTML_SHAPEINFO" val="&lt;ThreeDShapeInfo&gt;&lt;uuid val=&quot;{2DB92B80-4983-4980-B3BC-88E650E14554}&quot;/&gt;&lt;isInvalidForFieldText val=&quot;0&quot;/&gt;&lt;Image&gt;&lt;filename val=&quot;C:\Users\amaxwel6\AppData\Local\Temp\CP8644187751046Session\CPTrustFolder8644187751046\PPTImport8644187799296\data\asimages\{2DB92B80-4983-4980-B3BC-88E650E14554}_43.png&quot;/&gt;&lt;left val=&quot;149&quot;/&gt;&lt;top val=&quot;187&quot;/&gt;&lt;width val=&quot;971&quot;/&gt;&lt;height val=&quot;460&quot;/&gt;&lt;hasText val=&quot;1&quot;/&gt;&lt;/Image&gt;&lt;/ThreeDShapeInfo&gt;"/>
</p:tagLst>
</file>

<file path=ppt/tags/tag3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4&quot;/&gt;&lt;lineCharCount val=&quot;20&quot;/&gt;&lt;lineCharCount val=&quot;15&quot;/&gt;&lt;lineCharCount val=&quot;24&quot;/&gt;&lt;lineCharCount val=&quot;27&quot;/&gt;&lt;lineCharCount val=&quot;25&quot;/&gt;&lt;lineCharCount val=&quot;37&quot;/&gt;&lt;lineCharCount val=&quot;35&quot;/&gt;&lt;lineCharCount val=&quot;16&quot;/&gt;&lt;lineCharCount val=&quot;19&quot;/&gt;&lt;lineCharCount val=&quot;15&quot;/&gt;&lt;lineCharCount val=&quot;26&quot;/&gt;&lt;lineCharCount val=&quot;30&quot;/&gt;&lt;lineCharCount val=&quot;5&quot;/&gt;&lt;lineCharCount val=&quot;32&quot;/&gt;&lt;/TableIndex&gt;&lt;/ShapeTextInfo&gt;"/>
  <p:tag name="HTML_SHAPEINFO" val="&lt;ThreeDShapeInfo&gt;&lt;uuid val=&quot;{AA78315D-D25A-4549-87DF-E87A8FF168A8}&quot;/&gt;&lt;isInvalidForFieldText val=&quot;0&quot;/&gt;&lt;Image&gt;&lt;filename val=&quot;C:\Users\amaxwel6\AppData\Local\Temp\CP8644187751046Session\CPTrustFolder8644187751046\PPTImport8644187799296\data\asimages\{AA78315D-D25A-4549-87DF-E87A8FF168A8}_44.png&quot;/&gt;&lt;left val=&quot;149&quot;/&gt;&lt;top val=&quot;190&quot;/&gt;&lt;width val=&quot;971&quot;/&gt;&lt;height val=&quot;457&quot;/&gt;&lt;hasText val=&quot;1&quot;/&gt;&lt;/Image&gt;&lt;/ThreeDShapeInfo&gt;"/>
</p:tagLst>
</file>

<file path=ppt/tags/tag3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6&quot;/&gt;&lt;lineCharCount val=&quot;68&quot;/&gt;&lt;lineCharCount val=&quot;1&quot;/&gt;&lt;lineCharCount val=&quot;9&quot;/&gt;&lt;lineCharCount val=&quot;30&quot;/&gt;&lt;lineCharCount val=&quot;76&quot;/&gt;&lt;lineCharCount val=&quot;72&quot;/&gt;&lt;/TableIndex&gt;&lt;/ShapeTextInfo&gt;"/>
  <p:tag name="HTML_SHAPEINFO" val="&lt;ThreeDShapeInfo&gt;&lt;uuid val=&quot;{9ABCD685-4E27-4649-AE10-5163347204CE}&quot;/&gt;&lt;isInvalidForFieldText val=&quot;0&quot;/&gt;&lt;Image&gt;&lt;filename val=&quot;C:\Users\amaxwel6\AppData\Local\Temp\CP8644187751046Session\CPTrustFolder8644187751046\PPTImport8644187799296\data\asimages\{9ABCD685-4E27-4649-AE10-5163347204CE}_45.png&quot;/&gt;&lt;left val=&quot;149&quot;/&gt;&lt;top val=&quot;190&quot;/&gt;&lt;width val=&quot;971&quot;/&gt;&lt;height val=&quot;457&quot;/&gt;&lt;hasText val=&quot;1&quot;/&gt;&lt;/Image&gt;&lt;/ThreeDShapeInfo&gt;"/>
</p:tagLst>
</file>

<file path=ppt/tags/tag3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33&quot;/&gt;&lt;lineCharCount val=&quot;65&quot;/&gt;&lt;/TableIndex&gt;&lt;/ShapeTextInfo&gt;"/>
  <p:tag name="HTML_SHAPEINFO" val="&lt;ThreeDShapeInfo&gt;&lt;uuid val=&quot;{0CD06129-9EA6-4E36-9984-5DA91917B34A}&quot;/&gt;&lt;isInvalidForFieldText val=&quot;0&quot;/&gt;&lt;Image&gt;&lt;filename val=&quot;C:\Users\amaxwel6\AppData\Local\Temp\CP8644187751046Session\CPTrustFolder8644187751046\PPTImport8644187799296\data\asimages\{0CD06129-9EA6-4E36-9984-5DA91917B34A}_46.png&quot;/&gt;&lt;left val=&quot;149&quot;/&gt;&lt;top val=&quot;190&quot;/&gt;&lt;width val=&quot;971&quot;/&gt;&lt;height val=&quot;457&quot;/&gt;&lt;hasText val=&quot;1&quot;/&gt;&lt;/Image&gt;&lt;/ThreeDShapeInfo&gt;"/>
</p:tagLst>
</file>

<file path=ppt/tags/tag3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TableIndex row=&quot;1&quot; col=&quot;2&quot;&gt;&lt;linesCount val=&quot;1&quot;/&gt;&lt;lineCharCount val=&quot;1&quot;/&gt;&lt;/TableIndex&gt;&lt;TableIndex row=&quot;1&quot; col=&quot;3&quot;&gt;&lt;linesCount val=&quot;1&quot;/&gt;&lt;lineCharCount val=&quot;1&quot;/&gt;&lt;/TableIndex&gt;&lt;TableIndex row=&quot;2&quot; col=&quot;1&quot;&gt;&lt;linesCount val=&quot;1&quot;/&gt;&lt;lineCharCount val=&quot;1&quot;/&gt;&lt;/TableIndex&gt;&lt;TableIndex row=&quot;2&quot; col=&quot;2&quot;&gt;&lt;linesCount val=&quot;1&quot;/&gt;&lt;lineCharCount val=&quot;1&quot;/&gt;&lt;/TableIndex&gt;&lt;TableIndex row=&quot;2&quot; col=&quot;3&quot;&gt;&lt;linesCount val=&quot;1&quot;/&gt;&lt;lineCharCount val=&quot;1&quot;/&gt;&lt;/TableIndex&gt;&lt;TableIndex row=&quot;3&quot; col=&quot;1&quot;&gt;&lt;linesCount val=&quot;1&quot;/&gt;&lt;lineCharCount val=&quot;7&quot;/&gt;&lt;/TableIndex&gt;&lt;TableIndex row=&quot;3&quot; col=&quot;2&quot;&gt;&lt;linesCount val=&quot;1&quot;/&gt;&lt;lineCharCount val=&quot;1&quot;/&gt;&lt;/TableIndex&gt;&lt;TableIndex row=&quot;3&quot; col=&quot;3&quot;&gt;&lt;linesCount val=&quot;1&quot;/&gt;&lt;lineCharCount val=&quot;1&quot;/&gt;&lt;/TableIndex&gt;&lt;/ShapeTextInfo&gt;"/>
  <p:tag name="PRESENTER_SHAPEINFO" val="&lt;ThreeDShapeInfo&gt;&lt;uuid val=&quot;{C2B8BA8D-1239-4DAD-BCCD-0ED9DD605EA6}&quot;/&gt;&lt;isInvalidForFieldText val=&quot;0&quot;/&gt;&lt;Image&gt;&lt;filename val=&quot;C:\Users\amaxwel6\AppData\Local\Temp\CP8644187751046Session\CPTrustFolder8644187751046\PPTImport8644187799296\data\asimages\{C2B8BA8D-1239-4DAD-BCCD-0ED9DD605EA6}_46.png&quot;/&gt;&lt;left val=&quot;126&quot;/&gt;&lt;top val=&quot;390&quot;/&gt;&lt;width val=&quot;220&quot;/&gt;&lt;height val=&quot;164&quot;/&gt;&lt;hasText val=&quot;1&quot;/&gt;&lt;/Image&gt;&lt;/ThreeDShapeInfo&gt;"/>
</p:tagLst>
</file>

<file path=ppt/tags/tag3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TableIndex row=&quot;1&quot; col=&quot;2&quot;&gt;&lt;linesCount val=&quot;1&quot;/&gt;&lt;lineCharCount val=&quot;6&quot;/&gt;&lt;/TableIndex&gt;&lt;TableIndex row=&quot;1&quot; col=&quot;3&quot;&gt;&lt;linesCount val=&quot;1&quot;/&gt;&lt;lineCharCount val=&quot;1&quot;/&gt;&lt;/TableIndex&gt;&lt;TableIndex row=&quot;2&quot; col=&quot;1&quot;&gt;&lt;linesCount val=&quot;1&quot;/&gt;&lt;lineCharCount val=&quot;1&quot;/&gt;&lt;/TableIndex&gt;&lt;TableIndex row=&quot;2&quot; col=&quot;2&quot;&gt;&lt;linesCount val=&quot;1&quot;/&gt;&lt;lineCharCount val=&quot;1&quot;/&gt;&lt;/TableIndex&gt;&lt;TableIndex row=&quot;2&quot; col=&quot;3&quot;&gt;&lt;linesCount val=&quot;1&quot;/&gt;&lt;lineCharCount val=&quot;1&quot;/&gt;&lt;/TableIndex&gt;&lt;TableIndex row=&quot;3&quot; col=&quot;1&quot;&gt;&lt;linesCount val=&quot;1&quot;/&gt;&lt;lineCharCount val=&quot;7&quot;/&gt;&lt;/TableIndex&gt;&lt;TableIndex row=&quot;3&quot; col=&quot;2&quot;&gt;&lt;linesCount val=&quot;1&quot;/&gt;&lt;lineCharCount val=&quot;1&quot;/&gt;&lt;/TableIndex&gt;&lt;TableIndex row=&quot;3&quot; col=&quot;3&quot;&gt;&lt;linesCount val=&quot;1&quot;/&gt;&lt;lineCharCount val=&quot;6&quot;/&gt;&lt;/TableIndex&gt;&lt;/ShapeTextInfo&gt;"/>
  <p:tag name="PRESENTER_SHAPEINFO" val="&lt;ThreeDShapeInfo&gt;&lt;uuid val=&quot;{2D3AFACC-30D9-4920-8104-8E8CC6C5F088}&quot;/&gt;&lt;isInvalidForFieldText val=&quot;0&quot;/&gt;&lt;Image&gt;&lt;filename val=&quot;C:\Users\amaxwel6\AppData\Local\Temp\CP8644187751046Session\CPTrustFolder8644187751046\PPTImport8644187799296\data\asimages\{2D3AFACC-30D9-4920-8104-8E8CC6C5F088}_46.png&quot;/&gt;&lt;left val=&quot;458&quot;/&gt;&lt;top val=&quot;390&quot;/&gt;&lt;width val=&quot;220&quot;/&gt;&lt;height val=&quot;164&quot;/&gt;&lt;hasText val=&quot;1&quot;/&gt;&lt;/Image&gt;&lt;/ThreeDShapeInfo&gt;"/>
</p:tagLst>
</file>

<file path=ppt/tags/tag3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TableIndex row=&quot;1&quot; col=&quot;2&quot;&gt;&lt;linesCount val=&quot;1&quot;/&gt;&lt;lineCharCount val=&quot;6&quot;/&gt;&lt;/TableIndex&gt;&lt;TableIndex row=&quot;1&quot; col=&quot;3&quot;&gt;&lt;linesCount val=&quot;1&quot;/&gt;&lt;lineCharCount val=&quot;1&quot;/&gt;&lt;/TableIndex&gt;&lt;TableIndex row=&quot;2&quot; col=&quot;1&quot;&gt;&lt;linesCount val=&quot;1&quot;/&gt;&lt;lineCharCount val=&quot;1&quot;/&gt;&lt;/TableIndex&gt;&lt;TableIndex row=&quot;2&quot; col=&quot;2&quot;&gt;&lt;linesCount val=&quot;1&quot;/&gt;&lt;lineCharCount val=&quot;1&quot;/&gt;&lt;/TableIndex&gt;&lt;TableIndex row=&quot;2&quot; col=&quot;3&quot;&gt;&lt;linesCount val=&quot;1&quot;/&gt;&lt;lineCharCount val=&quot;1&quot;/&gt;&lt;/TableIndex&gt;&lt;TableIndex row=&quot;3&quot; col=&quot;1&quot;&gt;&lt;linesCount val=&quot;1&quot;/&gt;&lt;lineCharCount val=&quot;6&quot;/&gt;&lt;/TableIndex&gt;&lt;TableIndex row=&quot;3&quot; col=&quot;2&quot;&gt;&lt;linesCount val=&quot;1&quot;/&gt;&lt;lineCharCount val=&quot;1&quot;/&gt;&lt;/TableIndex&gt;&lt;TableIndex row=&quot;3&quot; col=&quot;3&quot;&gt;&lt;linesCount val=&quot;1&quot;/&gt;&lt;lineCharCount val=&quot;6&quot;/&gt;&lt;/TableIndex&gt;&lt;/ShapeTextInfo&gt;"/>
  <p:tag name="PRESENTER_SHAPEINFO" val="&lt;ThreeDShapeInfo&gt;&lt;uuid val=&quot;{B862319A-9F46-4AC8-99C4-EE247D2F135B}&quot;/&gt;&lt;isInvalidForFieldText val=&quot;0&quot;/&gt;&lt;Image&gt;&lt;filename val=&quot;C:\Users\amaxwel6\AppData\Local\Temp\CP8644187751046Session\CPTrustFolder8644187751046\PPTImport8644187799296\data\asimages\{B862319A-9F46-4AC8-99C4-EE247D2F135B}_46.png&quot;/&gt;&lt;left val=&quot;922&quot;/&gt;&lt;top val=&quot;390&quot;/&gt;&lt;width val=&quot;220&quot;/&gt;&lt;height val=&quot;164&quot;/&gt;&lt;hasText val=&quot;1&quot;/&gt;&lt;/Image&gt;&lt;/ThreeDShapeInfo&gt;"/>
</p:tagLst>
</file>

<file path=ppt/tags/tag3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 name="HTML_SHAPEINFO" val="&lt;ThreeDShapeInfo&gt;&lt;uuid val=&quot;{343EE301-34B3-4D0D-8BC0-4F11F85A3C94}&quot;/&gt;&lt;isInvalidForFieldText val=&quot;0&quot;/&gt;&lt;Image&gt;&lt;filename val=&quot;C:\Users\amaxwel6\AppData\Local\Temp\CP8644187751046Session\CPTrustFolder8644187751046\PPTImport8644187799296\data\asimages\{343EE301-34B3-4D0D-8BC0-4F11F85A3C94}_46.png&quot;/&gt;&lt;left val=&quot;306&quot;/&gt;&lt;top val=&quot;367&quot;/&gt;&lt;width val=&quot;177&quot;/&gt;&lt;height val=&quot;225&quot;/&gt;&lt;hasText val=&quot;1&quot;/&gt;&lt;/Image&gt;&lt;/ThreeDShapeInfo&gt;"/>
</p:tagLst>
</file>

<file path=ppt/tags/tag3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 name="HTML_SHAPEINFO" val="&lt;ThreeDShapeInfo&gt;&lt;uuid val=&quot;{5799D747-4E40-43D1-AA53-ADBE17B8CC9C}&quot;/&gt;&lt;isInvalidForFieldText val=&quot;0&quot;/&gt;&lt;Image&gt;&lt;filename val=&quot;C:\Users\amaxwel6\AppData\Local\Temp\CP8644187751046Session\CPTrustFolder8644187751046\PPTImport8644187799296\data\asimages\{5799D747-4E40-43D1-AA53-ADBE17B8CC9C}_46.png&quot;/&gt;&lt;left val=&quot;697&quot;/&gt;&lt;top val=&quot;367&quot;/&gt;&lt;width val=&quot;184&quot;/&gt;&lt;height val=&quot;225&quot;/&gt;&lt;hasText val=&quot;1&quot;/&gt;&lt;/Image&gt;&lt;/ThreeDShapeInfo&gt;"/>
</p:tagLst>
</file>

<file path=ppt/tags/tag3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1&quot;/&gt;&lt;/TableIndex&gt;&lt;/ShapeTextInfo&gt;"/>
  <p:tag name="HTML_SHAPEINFO" val="&lt;ThreeDShapeInfo&gt;&lt;uuid val=&quot;{199DBAA3-5EC2-46E4-AC87-FE53F2E43421}&quot;/&gt;&lt;isInvalidForFieldText val=&quot;0&quot;/&gt;&lt;Image&gt;&lt;filename val=&quot;C:\Users\amaxwel6\AppData\Local\Temp\CP8644187751046Session\CPTrustFolder8644187751046\PPTImport8644187799296\data\asimages\{199DBAA3-5EC2-46E4-AC87-FE53F2E43421}_36.png&quot;/&gt;&lt;left val=&quot;133&quot;/&gt;&lt;top val=&quot;199&quot;/&gt;&lt;width val=&quot;987&quot;/&gt;&lt;height val=&quot;311&quot;/&gt;&lt;hasText val=&quot;1&quot;/&gt;&lt;/Image&gt;&lt;/ThreeDShapeInfo&gt;"/>
</p:tagLst>
</file>

<file path=ppt/tags/tag3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8&quot;/&gt;&lt;/TableIndex&gt;&lt;/ShapeTextInfo&gt;"/>
  <p:tag name="HTML_SHAPEINFO" val="&lt;ThreeDShapeInfo&gt;&lt;uuid val=&quot;{59823A75-FC3F-47BB-BD82-95C4C67FC09F}&quot;/&gt;&lt;isInvalidForFieldText val=&quot;0&quot;/&gt;&lt;Image&gt;&lt;filename val=&quot;C:\Users\amaxwel6\AppData\Local\Temp\CP8644187751046Session\CPTrustFolder8644187751046\PPTImport8644187799296\data\asimages\{59823A75-FC3F-47BB-BD82-95C4C67FC09F}_15.png&quot;/&gt;&lt;left val=&quot;933&quot;/&gt;&lt;top val=&quot;646&quot;/&gt;&lt;width val=&quot;475&quot;/&gt;&lt;height val=&quot;68&quot;/&gt;&lt;hasText val=&quot;1&quot;/&gt;&lt;/Image&gt;&lt;/ThreeDShapeInfo&gt;"/>
</p:tagLst>
</file>

<file path=ppt/tags/tag4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31&quot;/&gt;&lt;lineCharCount val=&quot;5&quot;/&gt;&lt;/TableIndex&gt;&lt;/ShapeTextInfo&gt;"/>
  <p:tag name="HTML_SHAPEINFO" val="&lt;ThreeDShapeInfo&gt;&lt;uuid val=&quot;{E5F02D0A-74BE-43F5-AD62-8755267255ED}&quot;/&gt;&lt;isInvalidForFieldText val=&quot;0&quot;/&gt;&lt;Image&gt;&lt;filename val=&quot;C:\Users\amaxwel6\AppData\Local\Temp\CP8644187751046Session\CPTrustFolder8644187751046\PPTImport8644187799296\data\asimages\{E5F02D0A-74BE-43F5-AD62-8755267255ED}_17.png&quot;/&gt;&lt;left val=&quot;53&quot;/&gt;&lt;top val=&quot;190&quot;/&gt;&lt;width val=&quot;454&quot;/&gt;&lt;height val=&quot;457&quot;/&gt;&lt;hasText val=&quot;1&quot;/&gt;&lt;/Image&gt;&lt;/ThreeDShapeInfo&gt;"/>
</p:tagLst>
</file>

<file path=ppt/tags/tag4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1&quot;/&gt;&lt;/TableIndex&gt;&lt;/ShapeTextInfo&gt;"/>
  <p:tag name="HTML_SHAPEINFO" val="&lt;ThreeDShapeInfo&gt;&lt;uuid val=&quot;{DD0FA19A-343C-44FF-A376-07C9E7F31F09}&quot;/&gt;&lt;isInvalidForFieldText val=&quot;0&quot;/&gt;&lt;Image&gt;&lt;filename val=&quot;C:\Users\amaxwel6\AppData\Local\Temp\CP8644187751046Session\CPTrustFolder8644187751046\PPTImport8644187799296\data\asimages\{DD0FA19A-343C-44FF-A376-07C9E7F31F09}_7.png&quot;/&gt;&lt;left val=&quot;133&quot;/&gt;&lt;top val=&quot;199&quot;/&gt;&lt;width val=&quot;987&quot;/&gt;&lt;height val=&quot;311&quot;/&gt;&lt;hasText val=&quot;1&quot;/&gt;&lt;/Image&gt;&lt;/ThreeDShapeInfo&gt;"/>
</p:tagLst>
</file>

<file path=ppt/tags/tag4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9&quot;/&gt;&lt;lineCharCount val=&quot;57&quot;/&gt;&lt;lineCharCount val=&quot;50&quot;/&gt;&lt;lineCharCount val=&quot;50&quot;/&gt;&lt;lineCharCount val=&quot;23&quot;/&gt;&lt;lineCharCount val=&quot;51&quot;/&gt;&lt;lineCharCount val=&quot;51&quot;/&gt;&lt;lineCharCount val=&quot;51&quot;/&gt;&lt;lineCharCount val=&quot;53&quot;/&gt;&lt;lineCharCount val=&quot;21&quot;/&gt;&lt;/TableIndex&gt;&lt;/ShapeTextInfo&gt;"/>
  <p:tag name="HTML_SHAPEINFO" val="&lt;ThreeDShapeInfo&gt;&lt;uuid val=&quot;{C6E2D632-85DD-4EB1-AFAD-CABDC7C0E825}&quot;/&gt;&lt;isInvalidForFieldText val=&quot;0&quot;/&gt;&lt;Image&gt;&lt;filename val=&quot;C:\Users\amaxwel6\AppData\Local\Temp\CP8644187751046Session\CPTrustFolder8644187751046\PPTImport8644187799296\data\asimages\{C6E2D632-85DD-4EB1-AFAD-CABDC7C0E825}_8.png&quot;/&gt;&lt;left val=&quot;15&quot;/&gt;&lt;top val=&quot;183&quot;/&gt;&lt;width val=&quot;649&quot;/&gt;&lt;height val=&quot;456&quot;/&gt;&lt;hasText val=&quot;1&quot;/&gt;&lt;/Image&gt;&lt;/ThreeDShapeInfo&gt;"/>
</p:tagLst>
</file>

<file path=ppt/tags/tag4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1&quot;/&gt;&lt;/TableIndex&gt;&lt;/ShapeTextInfo&gt;"/>
  <p:tag name="HTML_SHAPEINFO" val="&lt;ThreeDShapeInfo&gt;&lt;uuid val=&quot;{DD0FA19A-343C-44FF-A376-07C9E7F31F09}&quot;/&gt;&lt;isInvalidForFieldText val=&quot;0&quot;/&gt;&lt;Image&gt;&lt;filename val=&quot;C:\Users\amaxwel6\AppData\Local\Temp\CP8644187751046Session\CPTrustFolder8644187751046\PPTImport8644187799296\data\asimages\{DD0FA19A-343C-44FF-A376-07C9E7F31F09}_7.png&quot;/&gt;&lt;left val=&quot;133&quot;/&gt;&lt;top val=&quot;199&quot;/&gt;&lt;width val=&quot;987&quot;/&gt;&lt;height val=&quot;311&quot;/&gt;&lt;hasText val=&quot;1&quot;/&gt;&lt;/Image&gt;&lt;/ThreeDShapeInfo&gt;"/>
</p:tagLst>
</file>

<file path=ppt/tags/tag4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58&quot;/&gt;&lt;lineCharCount val=&quot;29&quot;/&gt;&lt;lineCharCount val=&quot;49&quot;/&gt;&lt;lineCharCount val=&quot;57&quot;/&gt;&lt;lineCharCount val=&quot;43&quot;/&gt;&lt;/TableIndex&gt;&lt;/ShapeTextInfo&gt;"/>
  <p:tag name="HTML_SHAPEINFO" val="&lt;ThreeDShapeInfo&gt;&lt;uuid val=&quot;{159A6672-2B8B-4222-99BB-8F63AF091E3C}&quot;/&gt;&lt;isInvalidForFieldText val=&quot;0&quot;/&gt;&lt;Image&gt;&lt;filename val=&quot;C:\Users\amaxwel6\AppData\Local\Temp\CP8644187751046Session\CPTrustFolder8644187751046\PPTImport8644187799296\data\asimages\{159A6672-2B8B-4222-99BB-8F63AF091E3C}_12.png&quot;/&gt;&lt;left val=&quot;29&quot;/&gt;&lt;top val=&quot;174&quot;/&gt;&lt;width val=&quot;971&quot;/&gt;&lt;height val=&quot;457&quot;/&gt;&lt;hasText val=&quot;1&quot;/&gt;&lt;/Image&gt;&lt;/ThreeDShapeInfo&gt;"/>
</p:tagLst>
</file>

<file path=ppt/tags/tag4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7&quot;/&gt;&lt;/TableIndex&gt;&lt;/ShapeTextInfo&gt;"/>
  <p:tag name="HTML_SHAPEINFO" val="&lt;ThreeDShapeInfo&gt;&lt;uuid val=&quot;{A500EF48-AA73-43A9-A54B-DB3935A38C24}&quot;/&gt;&lt;isInvalidForFieldText val=&quot;0&quot;/&gt;&lt;Image&gt;&lt;filename val=&quot;C:\Users\amaxwel6\AppData\Local\Temp\CP8644187751046Session\CPTrustFolder8644187751046\PPTImport8644187799296\data\asimages\{A500EF48-AA73-43A9-A54B-DB3935A38C24}_18.png&quot;/&gt;&lt;left val=&quot;133&quot;/&gt;&lt;top val=&quot;199&quot;/&gt;&lt;width val=&quot;987&quot;/&gt;&lt;height val=&quot;311&quot;/&gt;&lt;hasText val=&quot;1&quot;/&gt;&lt;/Image&gt;&lt;/ThreeDShapeInfo&gt;"/>
</p:tagLst>
</file>

<file path=ppt/tags/tag4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7&quot;/&gt;&lt;lineCharCount val=&quot;23&quot;/&gt;&lt;lineCharCount val=&quot;14&quot;/&gt;&lt;lineCharCount val=&quot;27&quot;/&gt;&lt;lineCharCount val=&quot;16&quot;/&gt;&lt;lineCharCount val=&quot;20&quot;/&gt;&lt;lineCharCount val=&quot;20&quot;/&gt;&lt;lineCharCount val=&quot;20&quot;/&gt;&lt;/TableIndex&gt;&lt;/ShapeTextInfo&gt;"/>
  <p:tag name="HTML_SHAPEINFO" val="&lt;ThreeDShapeInfo&gt;&lt;uuid val=&quot;{3F849593-D51F-4D0B-A917-E6A61B1F257F}&quot;/&gt;&lt;isInvalidForFieldText val=&quot;0&quot;/&gt;&lt;Image&gt;&lt;filename val=&quot;C:\Users\amaxwel6\AppData\Local\Temp\CP8644187751046Session\CPTrustFolder8644187751046\PPTImport8644187799296\data\asimages\{3F849593-D51F-4D0B-A917-E6A61B1F257F}_19.png&quot;/&gt;&lt;left val=&quot;62&quot;/&gt;&lt;top val=&quot;190&quot;/&gt;&lt;width val=&quot;400&quot;/&gt;&lt;height val=&quot;457&quot;/&gt;&lt;hasText val=&quot;1&quot;/&gt;&lt;/Image&gt;&lt;/ThreeDShapeInfo&gt;"/>
</p:tagLst>
</file>

<file path=ppt/tags/tag4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7&quot;/&gt;&lt;lineCharCount val=&quot;23&quot;/&gt;&lt;lineCharCount val=&quot;14&quot;/&gt;&lt;lineCharCount val=&quot;27&quot;/&gt;&lt;lineCharCount val=&quot;16&quot;/&gt;&lt;lineCharCount val=&quot;20&quot;/&gt;&lt;lineCharCount val=&quot;20&quot;/&gt;&lt;lineCharCount val=&quot;20&quot;/&gt;&lt;/TableIndex&gt;&lt;/ShapeTextInfo&gt;"/>
  <p:tag name="HTML_SHAPEINFO" val="&lt;ThreeDShapeInfo&gt;&lt;uuid val=&quot;{3F849593-D51F-4D0B-A917-E6A61B1F257F}&quot;/&gt;&lt;isInvalidForFieldText val=&quot;0&quot;/&gt;&lt;Image&gt;&lt;filename val=&quot;C:\Users\amaxwel6\AppData\Local\Temp\CP8644187751046Session\CPTrustFolder8644187751046\PPTImport8644187799296\data\asimages\{3F849593-D51F-4D0B-A917-E6A61B1F257F}_19.png&quot;/&gt;&lt;left val=&quot;62&quot;/&gt;&lt;top val=&quot;190&quot;/&gt;&lt;width val=&quot;400&quot;/&gt;&lt;height val=&quot;457&quot;/&gt;&lt;hasText val=&quot;1&quot;/&gt;&lt;/Image&gt;&lt;/ThreeDShapeInfo&gt;"/>
</p:tagLst>
</file>

<file path=ppt/tags/tag5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7&quot;/&gt;&lt;lineCharCount val=&quot;23&quot;/&gt;&lt;lineCharCount val=&quot;14&quot;/&gt;&lt;lineCharCount val=&quot;27&quot;/&gt;&lt;lineCharCount val=&quot;16&quot;/&gt;&lt;lineCharCount val=&quot;20&quot;/&gt;&lt;lineCharCount val=&quot;20&quot;/&gt;&lt;lineCharCount val=&quot;20&quot;/&gt;&lt;/TableIndex&gt;&lt;/ShapeTextInfo&gt;"/>
  <p:tag name="HTML_SHAPEINFO" val="&lt;ThreeDShapeInfo&gt;&lt;uuid val=&quot;{3F849593-D51F-4D0B-A917-E6A61B1F257F}&quot;/&gt;&lt;isInvalidForFieldText val=&quot;0&quot;/&gt;&lt;Image&gt;&lt;filename val=&quot;C:\Users\amaxwel6\AppData\Local\Temp\CP8644187751046Session\CPTrustFolder8644187751046\PPTImport8644187799296\data\asimages\{3F849593-D51F-4D0B-A917-E6A61B1F257F}_19.png&quot;/&gt;&lt;left val=&quot;62&quot;/&gt;&lt;top val=&quot;190&quot;/&gt;&lt;width val=&quot;400&quot;/&gt;&lt;height val=&quot;457&quot;/&gt;&lt;hasText val=&quot;1&quot;/&gt;&lt;/Image&gt;&lt;/ThreeDShapeInfo&gt;"/>
</p:tagLst>
</file>

<file path=ppt/tags/tag5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7&quot;/&gt;&lt;lineCharCount val=&quot;23&quot;/&gt;&lt;lineCharCount val=&quot;14&quot;/&gt;&lt;lineCharCount val=&quot;27&quot;/&gt;&lt;lineCharCount val=&quot;16&quot;/&gt;&lt;lineCharCount val=&quot;20&quot;/&gt;&lt;lineCharCount val=&quot;20&quot;/&gt;&lt;lineCharCount val=&quot;20&quot;/&gt;&lt;/TableIndex&gt;&lt;/ShapeTextInfo&gt;"/>
  <p:tag name="HTML_SHAPEINFO" val="&lt;ThreeDShapeInfo&gt;&lt;uuid val=&quot;{3F849593-D51F-4D0B-A917-E6A61B1F257F}&quot;/&gt;&lt;isInvalidForFieldText val=&quot;0&quot;/&gt;&lt;Image&gt;&lt;filename val=&quot;C:\Users\amaxwel6\AppData\Local\Temp\CP8644187751046Session\CPTrustFolder8644187751046\PPTImport8644187799296\data\asimages\{3F849593-D51F-4D0B-A917-E6A61B1F257F}_19.png&quot;/&gt;&lt;left val=&quot;62&quot;/&gt;&lt;top val=&quot;190&quot;/&gt;&lt;width val=&quot;400&quot;/&gt;&lt;height val=&quot;457&quot;/&gt;&lt;hasText val=&quot;1&quot;/&gt;&lt;/Image&gt;&lt;/ThreeDShapeInfo&gt;"/>
</p:tagLst>
</file>

<file path=ppt/tags/tag5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7&quot;/&gt;&lt;lineCharCount val=&quot;23&quot;/&gt;&lt;lineCharCount val=&quot;14&quot;/&gt;&lt;lineCharCount val=&quot;27&quot;/&gt;&lt;lineCharCount val=&quot;16&quot;/&gt;&lt;lineCharCount val=&quot;20&quot;/&gt;&lt;lineCharCount val=&quot;20&quot;/&gt;&lt;lineCharCount val=&quot;20&quot;/&gt;&lt;/TableIndex&gt;&lt;/ShapeTextInfo&gt;"/>
  <p:tag name="HTML_SHAPEINFO" val="&lt;ThreeDShapeInfo&gt;&lt;uuid val=&quot;{3F849593-D51F-4D0B-A917-E6A61B1F257F}&quot;/&gt;&lt;isInvalidForFieldText val=&quot;0&quot;/&gt;&lt;Image&gt;&lt;filename val=&quot;C:\Users\amaxwel6\AppData\Local\Temp\CP8644187751046Session\CPTrustFolder8644187751046\PPTImport8644187799296\data\asimages\{3F849593-D51F-4D0B-A917-E6A61B1F257F}_19.png&quot;/&gt;&lt;left val=&quot;62&quot;/&gt;&lt;top val=&quot;190&quot;/&gt;&lt;width val=&quot;400&quot;/&gt;&lt;height val=&quot;457&quot;/&gt;&lt;hasText val=&quot;1&quot;/&gt;&lt;/Image&gt;&lt;/ThreeDShapeInfo&gt;"/>
</p:tagLst>
</file>

<file path=ppt/tags/tag5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3&quot;/&gt;&lt;/TableIndex&gt;&lt;/ShapeTextInfo&gt;"/>
  <p:tag name="HTML_SHAPEINFO" val="&lt;ThreeDShapeInfo&gt;&lt;uuid val=&quot;{978DE4D1-22A6-4E53-8C3D-9726009376EA}&quot;/&gt;&lt;isInvalidForFieldText val=&quot;0&quot;/&gt;&lt;Image&gt;&lt;filename val=&quot;C:\Users\amaxwel6\AppData\Local\Temp\CP8644187751046Session\CPTrustFolder8644187751046\PPTImport8644187799296\data\asimages\{978DE4D1-22A6-4E53-8C3D-9726009376EA}_25.png&quot;/&gt;&lt;left val=&quot;93&quot;/&gt;&lt;top val=&quot;650&quot;/&gt;&lt;width val=&quot;595&quot;/&gt;&lt;height val=&quot;68&quot;/&gt;&lt;hasText val=&quot;1&quot;/&gt;&lt;/Image&gt;&lt;/ThreeDShapeInfo&gt;"/>
</p:tagLst>
</file>

<file path=ppt/tags/tag5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3&quot;/&gt;&lt;/TableIndex&gt;&lt;/ShapeTextInfo&gt;"/>
  <p:tag name="HTML_SHAPEINFO" val="&lt;ThreeDShapeInfo&gt;&lt;uuid val=&quot;{1B82E587-A70B-45E7-871D-82C912A2BDA6}&quot;/&gt;&lt;isInvalidForFieldText val=&quot;0&quot;/&gt;&lt;Image&gt;&lt;filename val=&quot;C:\Users\amaxwel6\AppData\Local\Temp\CP8644187751046Session\CPTrustFolder8644187751046\PPTImport8644187799296\data\asimages\{1B82E587-A70B-45E7-871D-82C912A2BDA6}_25.png&quot;/&gt;&lt;left val=&quot;653&quot;/&gt;&lt;top val=&quot;650&quot;/&gt;&lt;width val=&quot;595&quot;/&gt;&lt;height val=&quot;68&quot;/&gt;&lt;hasText val=&quot;1&quot;/&gt;&lt;/Image&gt;&lt;/ThreeDShapeInfo&gt;"/>
</p:tagLst>
</file>

<file path=ppt/tags/tag5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3&quot;/&gt;&lt;/TableIndex&gt;&lt;/ShapeTextInfo&gt;"/>
  <p:tag name="HTML_SHAPEINFO" val="&lt;ThreeDShapeInfo&gt;&lt;uuid val=&quot;{B380F15C-ED32-42A0-AADD-3B762F03D708}&quot;/&gt;&lt;isInvalidForFieldText val=&quot;0&quot;/&gt;&lt;Image&gt;&lt;filename val=&quot;C:\Users\amaxwel6\AppData\Local\Temp\CP8644187751046Session\CPTrustFolder8644187751046\PPTImport8644187799296\data\asimages\{B380F15C-ED32-42A0-AADD-3B762F03D708}_26.png&quot;/&gt;&lt;left val=&quot;213&quot;/&gt;&lt;top val=&quot;646&quot;/&gt;&lt;width val=&quot;595&quot;/&gt;&lt;height val=&quot;68&quot;/&gt;&lt;hasText val=&quot;1&quot;/&gt;&lt;/Image&gt;&lt;/ThreeDShapeInfo&gt;"/>
</p:tagLst>
</file>

<file path=ppt/tags/tag6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4&quot;/&gt;&lt;/TableIndex&gt;&lt;/ShapeTextInfo&gt;"/>
  <p:tag name="HTML_SHAPEINFO" val="&lt;ThreeDShapeInfo&gt;&lt;uuid val=&quot;{6D1095D6-7590-4EBD-ADC4-76E9F35C2D5E}&quot;/&gt;&lt;isInvalidForFieldText val=&quot;0&quot;/&gt;&lt;Image&gt;&lt;filename val=&quot;C:\Users\amaxwel6\AppData\Local\Temp\CP8644187751046Session\CPTrustFolder8644187751046\PPTImport8644187799296\data\asimages\{6D1095D6-7590-4EBD-ADC4-76E9F35C2D5E}_26.png&quot;/&gt;&lt;left val=&quot;765&quot;/&gt;&lt;top val=&quot;646&quot;/&gt;&lt;width val=&quot;595&quot;/&gt;&lt;height val=&quot;68&quot;/&gt;&lt;hasText val=&quot;1&quot;/&gt;&lt;/Image&gt;&lt;/ThreeDShapeInfo&gt;"/>
</p:tagLst>
</file>

<file path=ppt/tags/tag6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7&quot;/&gt;&lt;/TableIndex&gt;&lt;/ShapeTextInfo&gt;"/>
  <p:tag name="HTML_SHAPEINFO" val="&lt;ThreeDShapeInfo&gt;&lt;uuid val=&quot;{A500EF48-AA73-43A9-A54B-DB3935A38C24}&quot;/&gt;&lt;isInvalidForFieldText val=&quot;0&quot;/&gt;&lt;Image&gt;&lt;filename val=&quot;C:\Users\amaxwel6\AppData\Local\Temp\CP8644187751046Session\CPTrustFolder8644187751046\PPTImport8644187799296\data\asimages\{A500EF48-AA73-43A9-A54B-DB3935A38C24}_18.png&quot;/&gt;&lt;left val=&quot;133&quot;/&gt;&lt;top val=&quot;199&quot;/&gt;&lt;width val=&quot;987&quot;/&gt;&lt;height val=&quot;311&quot;/&gt;&lt;hasText val=&quot;1&quot;/&gt;&lt;/Image&gt;&lt;/ThreeDShapeInfo&gt;"/>
</p:tagLst>
</file>

<file path=ppt/tags/tag6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3&quot;/&gt;&lt;lineCharCount val=&quot;41&quot;/&gt;&lt;lineCharCount val=&quot;43&quot;/&gt;&lt;lineCharCount val=&quot;35&quot;/&gt;&lt;/TableIndex&gt;&lt;/ShapeTextInfo&gt;"/>
  <p:tag name="HTML_SHAPEINFO" val="&lt;ThreeDShapeInfo&gt;&lt;uuid val=&quot;{18EABB7B-5AAC-41A9-85CD-3CC23218E9B8}&quot;/&gt;&lt;isInvalidForFieldText val=&quot;0&quot;/&gt;&lt;Image&gt;&lt;filename val=&quot;C:\Users\amaxwel6\AppData\Local\Temp\CP8644187751046Session\CPTrustFolder8644187751046\PPTImport8644187799296\data\asimages\{18EABB7B-5AAC-41A9-85CD-3CC23218E9B8}_28.png&quot;/&gt;&lt;left val=&quot;38&quot;/&gt;&lt;top val=&quot;190&quot;/&gt;&lt;width val=&quot;969&quot;/&gt;&lt;height val=&quot;457&quot;/&gt;&lt;hasText val=&quot;1&quot;/&gt;&lt;/Image&gt;&lt;/ThreeDShapeInfo&gt;"/>
</p:tagLst>
</file>

<file path=ppt/tags/tag6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1&quot;/&gt;&lt;lineCharCount val=&quot;76&quot;/&gt;&lt;lineCharCount val=&quot;99&quot;/&gt;&lt;lineCharCount val=&quot;82&quot;/&gt;&lt;lineCharCount val=&quot;64&quot;/&gt;&lt;lineCharCount val=&quot;83&quot;/&gt;&lt;lineCharCount val=&quot;100&quot;/&gt;&lt;lineCharCount val=&quot;96&quot;/&gt;&lt;lineCharCount val=&quot;14&quot;/&gt;&lt;lineCharCount val=&quot;73&quot;/&gt;&lt;lineCharCount val=&quot;80&quot;/&gt;&lt;lineCharCount val=&quot;96&quot;/&gt;&lt;/TableIndex&gt;&lt;/ShapeTextInfo&gt;"/>
  <p:tag name="HTML_SHAPEINFO" val="&lt;ThreeDShapeInfo&gt;&lt;uuid val=&quot;{A9BF0650-A847-4BA8-8562-5C4957B32B8A}&quot;/&gt;&lt;isInvalidForFieldText val=&quot;0&quot;/&gt;&lt;Image&gt;&lt;filename val=&quot;C:\Users\amaxwel6\AppData\Local\Temp\CP8644187751046Session\CPTrustFolder8644187751046\PPTImport8644187799296\data\asimages\{A9BF0650-A847-4BA8-8562-5C4957B32B8A}_29.png&quot;/&gt;&lt;left val=&quot;32&quot;/&gt;&lt;top val=&quot;171&quot;/&gt;&lt;width val=&quot;1199&quot;/&gt;&lt;height val=&quot;516&quot;/&gt;&lt;hasText val=&quot;1&quot;/&gt;&lt;/Image&gt;&lt;/ThreeDShapeInfo&gt;"/>
</p:tagLst>
</file>

<file path=ppt/tags/tag6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1&quot;/&gt;&lt;lineCharCount val=&quot;76&quot;/&gt;&lt;lineCharCount val=&quot;99&quot;/&gt;&lt;lineCharCount val=&quot;82&quot;/&gt;&lt;lineCharCount val=&quot;64&quot;/&gt;&lt;lineCharCount val=&quot;83&quot;/&gt;&lt;lineCharCount val=&quot;100&quot;/&gt;&lt;lineCharCount val=&quot;96&quot;/&gt;&lt;lineCharCount val=&quot;14&quot;/&gt;&lt;lineCharCount val=&quot;73&quot;/&gt;&lt;lineCharCount val=&quot;80&quot;/&gt;&lt;lineCharCount val=&quot;96&quot;/&gt;&lt;/TableIndex&gt;&lt;/ShapeTextInfo&gt;"/>
  <p:tag name="HTML_SHAPEINFO" val="&lt;ThreeDShapeInfo&gt;&lt;uuid val=&quot;{A9BF0650-A847-4BA8-8562-5C4957B32B8A}&quot;/&gt;&lt;isInvalidForFieldText val=&quot;0&quot;/&gt;&lt;Image&gt;&lt;filename val=&quot;C:\Users\amaxwel6\AppData\Local\Temp\CP8644187751046Session\CPTrustFolder8644187751046\PPTImport8644187799296\data\asimages\{A9BF0650-A847-4BA8-8562-5C4957B32B8A}_29.png&quot;/&gt;&lt;left val=&quot;32&quot;/&gt;&lt;top val=&quot;171&quot;/&gt;&lt;width val=&quot;1199&quot;/&gt;&lt;height val=&quot;516&quot;/&gt;&lt;hasText val=&quot;1&quot;/&gt;&lt;/Image&gt;&lt;/ThreeDShapeInfo&gt;"/>
</p:tagLst>
</file>

<file path=ppt/tags/tag6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8&quot;/&gt;&lt;/TableIndex&gt;&lt;/ShapeTextInfo&gt;"/>
  <p:tag name="HTML_SHAPEINFO" val="&lt;ThreeDShapeInfo&gt;&lt;uuid val=&quot;{F5620151-007F-4EC2-ADB7-02DFF55AC520}&quot;/&gt;&lt;isInvalidForFieldText val=&quot;0&quot;/&gt;&lt;Image&gt;&lt;filename val=&quot;C:\Users\amaxwel6\AppData\Local\Temp\CP8644187751046Session\CPTrustFolder8644187751046\PPTImport8644187799296\data\asimages\{F5620151-007F-4EC2-ADB7-02DFF55AC520}_31.png&quot;/&gt;&lt;left val=&quot;149&quot;/&gt;&lt;top val=&quot;190&quot;/&gt;&lt;width val=&quot;971&quot;/&gt;&lt;height val=&quot;457&quot;/&gt;&lt;hasText val=&quot;1&quot;/&gt;&lt;/Image&gt;&lt;/ThreeDShapeInfo&gt;"/>
</p:tagLst>
</file>

<file path=ppt/tags/tag6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8&quot;/&gt;&lt;/TableIndex&gt;&lt;/ShapeTextInfo&gt;"/>
  <p:tag name="HTML_SHAPEINFO" val="&lt;ThreeDShapeInfo&gt;&lt;uuid val=&quot;{F5620151-007F-4EC2-ADB7-02DFF55AC520}&quot;/&gt;&lt;isInvalidForFieldText val=&quot;0&quot;/&gt;&lt;Image&gt;&lt;filename val=&quot;C:\Users\amaxwel6\AppData\Local\Temp\CP8644187751046Session\CPTrustFolder8644187751046\PPTImport8644187799296\data\asimages\{F5620151-007F-4EC2-ADB7-02DFF55AC520}_31.png&quot;/&gt;&lt;left val=&quot;149&quot;/&gt;&lt;top val=&quot;190&quot;/&gt;&lt;width val=&quot;971&quot;/&gt;&lt;height val=&quot;457&quot;/&gt;&lt;hasText val=&quot;1&quot;/&gt;&lt;/Image&gt;&lt;/ThreeDShapeInfo&gt;"/>
</p:tagLst>
</file>

<file path=ppt/tags/tag6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7&quot;/&gt;&lt;/TableIndex&gt;&lt;/ShapeTextInfo&gt;"/>
  <p:tag name="HTML_SHAPEINFO" val="&lt;ThreeDShapeInfo&gt;&lt;uuid val=&quot;{A500EF48-AA73-43A9-A54B-DB3935A38C24}&quot;/&gt;&lt;isInvalidForFieldText val=&quot;0&quot;/&gt;&lt;Image&gt;&lt;filename val=&quot;C:\Users\amaxwel6\AppData\Local\Temp\CP8644187751046Session\CPTrustFolder8644187751046\PPTImport8644187799296\data\asimages\{A500EF48-AA73-43A9-A54B-DB3935A38C24}_18.png&quot;/&gt;&lt;left val=&quot;133&quot;/&gt;&lt;top val=&quot;199&quot;/&gt;&lt;width val=&quot;987&quot;/&gt;&lt;height val=&quot;311&quot;/&gt;&lt;hasText val=&quot;1&quot;/&gt;&lt;/Image&gt;&lt;/ThreeDShapeInfo&gt;"/>
</p:tagLst>
</file>

<file path=ppt/tags/tag6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61&quot;/&gt;&lt;/TableIndex&gt;&lt;/ShapeTextInfo&gt;"/>
  <p:tag name="HTML_SHAPEINFO" val="&lt;ThreeDShapeInfo&gt;&lt;uuid val=&quot;{B1C87B41-9BCC-46A8-B11F-8B53E5962458}&quot;/&gt;&lt;isInvalidForFieldText val=&quot;0&quot;/&gt;&lt;Image&gt;&lt;filename val=&quot;C:\Users\amaxwel6\AppData\Local\Temp\CP8644187751046Session\CPTrustFolder8644187751046\PPTImport8644187799296\data\asimages\{B1C87B41-9BCC-46A8-B11F-8B53E5962458}_33.png&quot;/&gt;&lt;left val=&quot;149&quot;/&gt;&lt;top val=&quot;190&quot;/&gt;&lt;width val=&quot;971&quot;/&gt;&lt;height val=&quot;457&quot;/&gt;&lt;hasText val=&quot;1&quot;/&gt;&lt;/Image&gt;&lt;/ThreeDShapeInfo&gt;"/>
</p:tagLst>
</file>

<file path=ppt/tags/tag7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7&quot;/&gt;&lt;lineCharCount val=&quot;30&quot;/&gt;&lt;lineCharCount val=&quot;26&quot;/&gt;&lt;lineCharCount val=&quot;1&quot;/&gt;&lt;lineCharCount val=&quot;1&quot;/&gt;&lt;lineCharCount val=&quot;1&quot;/&gt;&lt;lineCharCount val=&quot;31&quot;/&gt;&lt;lineCharCount val=&quot;17&quot;/&gt;&lt;/TableIndex&gt;&lt;/ShapeTextInfo&gt;"/>
  <p:tag name="HTML_SHAPEINFO" val="&lt;ThreeDShapeInfo&gt;&lt;uuid val=&quot;{67D14B34-C91C-412E-B12F-7E13809D5283}&quot;/&gt;&lt;isInvalidForFieldText val=&quot;0&quot;/&gt;&lt;Image&gt;&lt;filename val=&quot;C:\Users\amaxwel6\AppData\Local\Temp\CP8644187751046Session\CPTrustFolder8644187751046\PPTImport8644187799296\data\asimages\{67D14B34-C91C-412E-B12F-7E13809D5283}_35.png&quot;/&gt;&lt;left val=&quot;149&quot;/&gt;&lt;top val=&quot;190&quot;/&gt;&lt;width val=&quot;474&quot;/&gt;&lt;height val=&quot;457&quot;/&gt;&lt;hasText val=&quot;1&quot;/&gt;&lt;/Image&gt;&lt;/ThreeDShapeInfo&gt;"/>
</p:tagLst>
</file>

<file path=ppt/tags/tag7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7&quot;/&gt;&lt;/TableIndex&gt;&lt;/ShapeTextInfo&gt;"/>
  <p:tag name="HTML_SHAPEINFO" val="&lt;ThreeDShapeInfo&gt;&lt;uuid val=&quot;{A500EF48-AA73-43A9-A54B-DB3935A38C24}&quot;/&gt;&lt;isInvalidForFieldText val=&quot;0&quot;/&gt;&lt;Image&gt;&lt;filename val=&quot;C:\Users\amaxwel6\AppData\Local\Temp\CP8644187751046Session\CPTrustFolder8644187751046\PPTImport8644187799296\data\asimages\{A500EF48-AA73-43A9-A54B-DB3935A38C24}_18.png&quot;/&gt;&lt;left val=&quot;133&quot;/&gt;&lt;top val=&quot;199&quot;/&gt;&lt;width val=&quot;987&quot;/&gt;&lt;height val=&quot;311&quot;/&gt;&lt;hasText val=&quot;1&quot;/&gt;&lt;/Image&gt;&lt;/ThreeDShapeInfo&gt;"/>
</p:tagLst>
</file>

<file path=ppt/tags/tag7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1&quot;/&gt;&lt;lineCharCount val=&quot;45&quot;/&gt;&lt;lineCharCount val=&quot;16&quot;/&gt;&lt;lineCharCount val=&quot;1&quot;/&gt;&lt;lineCharCount val=&quot;42&quot;/&gt;&lt;lineCharCount val=&quot;33&quot;/&gt;&lt;lineCharCount val=&quot;1&quot;/&gt;&lt;lineCharCount val=&quot;40&quot;/&gt;&lt;lineCharCount val=&quot;29&quot;/&gt;&lt;lineCharCount val=&quot;1&quot;/&gt;&lt;lineCharCount val=&quot;46&quot;/&gt;&lt;lineCharCount val=&quot;4&quot;/&gt;&lt;/TableIndex&gt;&lt;/ShapeTextInfo&gt;"/>
  <p:tag name="HTML_SHAPEINFO" val="&lt;ThreeDShapeInfo&gt;&lt;uuid val=&quot;{F0EBAAC5-6DD9-47DE-A137-FB1FA70C4C95}&quot;/&gt;&lt;isInvalidForFieldText val=&quot;0&quot;/&gt;&lt;Image&gt;&lt;filename val=&quot;C:\Users\amaxwel6\AppData\Local\Temp\CP8644187751046Session\CPTrustFolder8644187751046\PPTImport8644187799296\data\asimages\{F0EBAAC5-6DD9-47DE-A137-FB1FA70C4C95}_48.png&quot;/&gt;&lt;left val=&quot;151&quot;/&gt;&lt;top val=&quot;188&quot;/&gt;&lt;width val=&quot;564&quot;/&gt;&lt;height val=&quot;507&quot;/&gt;&lt;hasText val=&quot;1&quot;/&gt;&lt;/Image&gt;&lt;/ThreeDShapeInfo&gt;"/>
</p:tagLst>
</file>

<file path=ppt/tags/tag7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TableIndex row=&quot;1&quot; col=&quot;2&quot;&gt;&lt;linesCount val=&quot;1&quot;/&gt;&lt;lineCharCount val=&quot;2&quot;/&gt;&lt;/TableIndex&gt;&lt;TableIndex row=&quot;1&quot; col=&quot;3&quot;&gt;&lt;linesCount val=&quot;1&quot;/&gt;&lt;lineCharCount val=&quot;2&quot;/&gt;&lt;/TableIndex&gt;&lt;TableIndex row=&quot;2&quot; col=&quot;1&quot;&gt;&lt;linesCount val=&quot;1&quot;/&gt;&lt;lineCharCount val=&quot;2&quot;/&gt;&lt;/TableIndex&gt;&lt;TableIndex row=&quot;2&quot; col=&quot;2&quot;&gt;&lt;linesCount val=&quot;1&quot;/&gt;&lt;lineCharCount val=&quot;2&quot;/&gt;&lt;/TableIndex&gt;&lt;TableIndex row=&quot;2&quot; col=&quot;3&quot;&gt;&lt;linesCount val=&quot;1&quot;/&gt;&lt;lineCharCount val=&quot;2&quot;/&gt;&lt;/TableIndex&gt;&lt;TableIndex row=&quot;3&quot; col=&quot;1&quot;&gt;&lt;linesCount val=&quot;1&quot;/&gt;&lt;lineCharCount val=&quot;2&quot;/&gt;&lt;/TableIndex&gt;&lt;TableIndex row=&quot;3&quot; col=&quot;2&quot;&gt;&lt;linesCount val=&quot;1&quot;/&gt;&lt;lineCharCount val=&quot;2&quot;/&gt;&lt;/TableIndex&gt;&lt;TableIndex row=&quot;3&quot; col=&quot;3&quot;&gt;&lt;linesCount val=&quot;1&quot;/&gt;&lt;lineCharCount val=&quot;2&quot;/&gt;&lt;/TableIndex&gt;&lt;/ShapeTextInfo&gt;"/>
  <p:tag name="PRESENTER_SHAPEINFO" val="&lt;ThreeDShapeInfo&gt;&lt;uuid val=&quot;{66D5CD60-466E-404F-A320-BAF59852DCDD}&quot;/&gt;&lt;isInvalidForFieldText val=&quot;0&quot;/&gt;&lt;Image&gt;&lt;filename val=&quot;C:\Users\amaxwel6\AppData\Local\Temp\CP8644187751046Session\CPTrustFolder8644187751046\PPTImport8644187799296\data\asimages\{66D5CD60-466E-404F-A320-BAF59852DCDD}_48.png&quot;/&gt;&lt;left val=&quot;790&quot;/&gt;&lt;top val=&quot;246&quot;/&gt;&lt;width val=&quot;355&quot;/&gt;&lt;height val=&quot;359&quot;/&gt;&lt;hasText val=&quot;1&quot;/&gt;&lt;/Image&gt;&lt;/ThreeDShapeInfo&gt;"/>
</p:tagLst>
</file>

<file path=ppt/tags/tag7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69&quot;/&gt;&lt;lineCharCount val=&quot;24&quot;/&gt;&lt;/TableIndex&gt;&lt;/ShapeTextInfo&gt;"/>
  <p:tag name="HTML_SHAPEINFO" val="&lt;ThreeDShapeInfo&gt;&lt;uuid val=&quot;{F5AECC8D-49C8-48FF-BD53-9F41EBFE61AA}&quot;/&gt;&lt;isInvalidForFieldText val=&quot;0&quot;/&gt;&lt;Image&gt;&lt;filename val=&quot;C:\Users\amaxwel6\AppData\Local\Temp\CP8644187751046Session\CPTrustFolder8644187751046\PPTImport8644187799296\data\asimages\{F5AECC8D-49C8-48FF-BD53-9F41EBFE61AA}_49.png&quot;/&gt;&lt;left val=&quot;149&quot;/&gt;&lt;top val=&quot;190&quot;/&gt;&lt;width val=&quot;971&quot;/&gt;&lt;height val=&quot;457&quot;/&gt;&lt;hasText val=&quot;1&quot;/&gt;&lt;/Image&gt;&lt;/ThreeDShapeInfo&gt;"/>
</p:tagLst>
</file>

<file path=ppt/tags/tag7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69&quot;/&gt;&lt;lineCharCount val=&quot;24&quot;/&gt;&lt;/TableIndex&gt;&lt;/ShapeTextInfo&gt;"/>
  <p:tag name="HTML_SHAPEINFO" val="&lt;ThreeDShapeInfo&gt;&lt;uuid val=&quot;{F5AECC8D-49C8-48FF-BD53-9F41EBFE61AA}&quot;/&gt;&lt;isInvalidForFieldText val=&quot;0&quot;/&gt;&lt;Image&gt;&lt;filename val=&quot;C:\Users\amaxwel6\AppData\Local\Temp\CP8644187751046Session\CPTrustFolder8644187751046\PPTImport8644187799296\data\asimages\{F5AECC8D-49C8-48FF-BD53-9F41EBFE61AA}_49.png&quot;/&gt;&lt;left val=&quot;149&quot;/&gt;&lt;top val=&quot;190&quot;/&gt;&lt;width val=&quot;971&quot;/&gt;&lt;height val=&quot;457&quot;/&gt;&lt;hasText val=&quot;1&quot;/&gt;&lt;/Image&gt;&lt;/ThreeDShapeInfo&gt;"/>
</p:tagLst>
</file>

<file path=ppt/tags/tag7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6&quot;/&gt;&lt;lineCharCount val=&quot;24&quot;/&gt;&lt;lineCharCount val=&quot;21&quot;/&gt;&lt;lineCharCount val=&quot;30&quot;/&gt;&lt;lineCharCount val=&quot;20&quot;/&gt;&lt;lineCharCount val=&quot;29&quot;/&gt;&lt;lineCharCount val=&quot;27&quot;/&gt;&lt;/TableIndex&gt;&lt;/ShapeTextInfo&gt;"/>
  <p:tag name="HTML_SHAPEINFO" val="&lt;ThreeDShapeInfo&gt;&lt;uuid val=&quot;{B89D749F-7869-4B1F-AF8B-ABA0BA6A9222}&quot;/&gt;&lt;isInvalidForFieldText val=&quot;0&quot;/&gt;&lt;Image&gt;&lt;filename val=&quot;C:\Users\amaxwel6\AppData\Local\Temp\CP8644187751046Session\CPTrustFolder8644187751046\PPTImport8644187799296\data\asimages\{B89D749F-7869-4B1F-AF8B-ABA0BA6A9222}_50.png&quot;/&gt;&lt;left val=&quot;654&quot;/&gt;&lt;top val=&quot;246&quot;/&gt;&lt;width val=&quot;465&quot;/&gt;&lt;height val=&quot;369&quot;/&gt;&lt;hasText val=&quot;1&quot;/&gt;&lt;/Image&gt;&lt;/ThreeDShapeInfo&gt;"/>
</p:tagLst>
</file>

<file path=ppt/tags/tag7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70&quot;/&gt;&lt;lineCharCount val=&quot;16&quot;/&gt;&lt;/TableIndex&gt;&lt;/ShapeTextInfo&gt;"/>
  <p:tag name="HTML_SHAPEINFO" val="&lt;ThreeDShapeInfo&gt;&lt;uuid val=&quot;{35631F5B-C734-4657-8DCA-1E901D3DBEC2}&quot;/&gt;&lt;isInvalidForFieldText val=&quot;0&quot;/&gt;&lt;Image&gt;&lt;filename val=&quot;C:\Users\amaxwel6\AppData\Local\Temp\CP8644187751046Session\CPTrustFolder8644187751046\PPTImport8644187799296\data\asimages\{35631F5B-C734-4657-8DCA-1E901D3DBEC2}_51.png&quot;/&gt;&lt;left val=&quot;149&quot;/&gt;&lt;top val=&quot;190&quot;/&gt;&lt;width val=&quot;971&quot;/&gt;&lt;height val=&quot;457&quot;/&gt;&lt;hasText val=&quot;1&quot;/&gt;&lt;/Image&gt;&lt;/ThreeDShapeInfo&gt;"/>
</p:tagLst>
</file>

<file path=ppt/tags/tag7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1&quot;/&gt;&lt;/TableIndex&gt;&lt;/ShapeTextInfo&gt;"/>
  <p:tag name="HTML_SHAPEINFO" val="&lt;ThreeDShapeInfo&gt;&lt;uuid val=&quot;{81E2520C-F968-4180-8651-0C8C9C3F7323}&quot;/&gt;&lt;isInvalidForFieldText val=&quot;0&quot;/&gt;&lt;Image&gt;&lt;filename val=&quot;C:\Users\amaxwel6\AppData\Local\Temp\CP8644187751046Session\CPTrustFolder8644187751046\PPTImport8644187799296\data\asimages\{81E2520C-F968-4180-8651-0C8C9C3F7323}_51.png&quot;/&gt;&lt;left val=&quot;387&quot;/&gt;&lt;top val=&quot;661&quot;/&gt;&lt;width val=&quot;595&quot;/&gt;&lt;height val=&quot;68&quot;/&gt;&lt;hasText val=&quot;1&quot;/&gt;&lt;/Image&gt;&lt;/ThreeDShapeInfo&gt;"/>
</p:tagLst>
</file>

<file path=ppt/tags/tag7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3&quot;/&gt;&lt;lineCharCount val=&quot;73&quot;/&gt;&lt;lineCharCount val=&quot;68&quot;/&gt;&lt;lineCharCount val=&quot;29&quot;/&gt;&lt;/TableIndex&gt;&lt;/ShapeTextInfo&gt;"/>
  <p:tag name="HTML_SHAPEINFO" val="&lt;ThreeDShapeInfo&gt;&lt;uuid val=&quot;{0B091A18-9AFF-429A-9569-0FA8CC3F2601}&quot;/&gt;&lt;isInvalidForFieldText val=&quot;0&quot;/&gt;&lt;Image&gt;&lt;filename val=&quot;C:\Users\amaxwel6\AppData\Local\Temp\CP8644187751046Session\CPTrustFolder8644187751046\PPTImport8644187799296\data\asimages\{0B091A18-9AFF-429A-9569-0FA8CC3F2601}_52.png&quot;/&gt;&lt;left val=&quot;149&quot;/&gt;&lt;top val=&quot;190&quot;/&gt;&lt;width val=&quot;971&quot;/&gt;&lt;height val=&quot;457&quot;/&gt;&lt;hasText val=&quot;1&quot;/&gt;&lt;/Image&gt;&lt;/ThreeDShapeInfo&gt;"/>
</p:tagLst>
</file>

<file path=ppt/tags/tag8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52&quot;/&gt;&lt;/TableIndex&gt;&lt;/ShapeTextInfo&gt;"/>
  <p:tag name="HTML_SHAPEINFO" val="&lt;ThreeDShapeInfo&gt;&lt;uuid val=&quot;{6D171EDC-C48D-44BE-8241-B6A501FFAB3F}&quot;/&gt;&lt;isInvalidForFieldText val=&quot;0&quot;/&gt;&lt;Image&gt;&lt;filename val=&quot;C:\Users\amaxwel6\AppData\Local\Temp\CP8644187751046Session\CPTrustFolder8644187751046\PPTImport8644187799296\data\asimages\{6D171EDC-C48D-44BE-8241-B6A501FFAB3F}_52.png&quot;/&gt;&lt;left val=&quot;249&quot;/&gt;&lt;top val=&quot;665&quot;/&gt;&lt;width val=&quot;771&quot;/&gt;&lt;height val=&quot;68&quot;/&gt;&lt;hasText val=&quot;1&quot;/&gt;&lt;/Image&gt;&lt;/ThreeDShapeInfo&gt;"/>
</p:tagLst>
</file>

<file path=ppt/tags/tag8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73&quot;/&gt;&lt;lineCharCount val=&quot;16&quot;/&gt;&lt;/TableIndex&gt;&lt;/ShapeTextInfo&gt;"/>
  <p:tag name="HTML_SHAPEINFO" val="&lt;ThreeDShapeInfo&gt;&lt;uuid val=&quot;{A00F8636-6CBE-4D12-AAFB-F52DE4F68629}&quot;/&gt;&lt;isInvalidForFieldText val=&quot;0&quot;/&gt;&lt;Image&gt;&lt;filename val=&quot;C:\Users\amaxwel6\AppData\Local\Temp\CP8644187751046Session\CPTrustFolder8644187751046\PPTImport8644187799296\data\asimages\{A00F8636-6CBE-4D12-AAFB-F52DE4F68629}_53.png&quot;/&gt;&lt;left val=&quot;149&quot;/&gt;&lt;top val=&quot;190&quot;/&gt;&lt;width val=&quot;973&quot;/&gt;&lt;height val=&quot;457&quot;/&gt;&lt;hasText val=&quot;1&quot;/&gt;&lt;/Image&gt;&lt;/ThreeDShapeInfo&gt;"/>
</p:tagLst>
</file>

<file path=ppt/tags/tag8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73&quot;/&gt;&lt;lineCharCount val=&quot;16&quot;/&gt;&lt;/TableIndex&gt;&lt;/ShapeTextInfo&gt;"/>
  <p:tag name="HTML_SHAPEINFO" val="&lt;ThreeDShapeInfo&gt;&lt;uuid val=&quot;{CB2E30CB-1CC5-46A7-91F0-F30C415F7C1F}&quot;/&gt;&lt;isInvalidForFieldText val=&quot;0&quot;/&gt;&lt;Image&gt;&lt;filename val=&quot;C:\Users\amaxwel6\AppData\Local\Temp\CP8644187751046Session\CPTrustFolder8644187751046\PPTImport8644187799296\data\asimages\{CB2E30CB-1CC5-46A7-91F0-F30C415F7C1F}_54.png&quot;/&gt;&lt;left val=&quot;149&quot;/&gt;&lt;top val=&quot;190&quot;/&gt;&lt;width val=&quot;973&quot;/&gt;&lt;height val=&quot;457&quot;/&gt;&lt;hasText val=&quot;1&quot;/&gt;&lt;/Image&gt;&lt;/ThreeDShapeInfo&gt;"/>
</p:tagLst>
</file>

<file path=ppt/tags/tag8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31&quot;/&gt;&lt;lineCharCount val=&quot;30&quot;/&gt;&lt;lineCharCount val=&quot;34&quot;/&gt;&lt;lineCharCount val=&quot;29&quot;/&gt;&lt;lineCharCount val=&quot;26&quot;/&gt;&lt;/TableIndex&gt;&lt;/ShapeTextInfo&gt;"/>
  <p:tag name="HTML_SHAPEINFO" val="&lt;ThreeDShapeInfo&gt;&lt;uuid val=&quot;{F847C27D-D979-4697-BF5B-D0B80535B331}&quot;/&gt;&lt;isInvalidForFieldText val=&quot;0&quot;/&gt;&lt;Image&gt;&lt;filename val=&quot;C:\Users\amaxwel6\AppData\Local\Temp\CP8644187751046Session\CPTrustFolder8644187751046\PPTImport8644187799296\data\asimages\{F847C27D-D979-4697-BF5B-D0B80535B331}_55.png&quot;/&gt;&lt;left val=&quot;149&quot;/&gt;&lt;top val=&quot;190&quot;/&gt;&lt;width val=&quot;467&quot;/&gt;&lt;height val=&quot;457&quot;/&gt;&lt;hasText val=&quot;1&quot;/&gt;&lt;/Image&gt;&lt;/ThreeDShapeInfo&gt;"/>
</p:tagLst>
</file>

<file path=ppt/tags/tag8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7&quot;/&gt;&lt;/TableIndex&gt;&lt;/ShapeTextInfo&gt;"/>
  <p:tag name="HTML_SHAPEINFO" val="&lt;ThreeDShapeInfo&gt;&lt;uuid val=&quot;{A500EF48-AA73-43A9-A54B-DB3935A38C24}&quot;/&gt;&lt;isInvalidForFieldText val=&quot;0&quot;/&gt;&lt;Image&gt;&lt;filename val=&quot;C:\Users\amaxwel6\AppData\Local\Temp\CP8644187751046Session\CPTrustFolder8644187751046\PPTImport8644187799296\data\asimages\{A500EF48-AA73-43A9-A54B-DB3935A38C24}_18.png&quot;/&gt;&lt;left val=&quot;133&quot;/&gt;&lt;top val=&quot;199&quot;/&gt;&lt;width val=&quot;987&quot;/&gt;&lt;height val=&quot;311&quot;/&gt;&lt;hasText val=&quot;1&quot;/&gt;&lt;/Image&gt;&lt;/ThreeDShapeInfo&gt;"/>
</p:tagLst>
</file>

<file path=ppt/tags/tag8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6&quot;/&gt;&lt;lineCharCount val=&quot;33&quot;/&gt;&lt;lineCharCount val=&quot;33&quot;/&gt;&lt;lineCharCount val=&quot;30&quot;/&gt;&lt;lineCharCount val=&quot;33&quot;/&gt;&lt;lineCharCount val=&quot;31&quot;/&gt;&lt;lineCharCount val=&quot;31&quot;/&gt;&lt;/TableIndex&gt;&lt;/ShapeTextInfo&gt;"/>
  <p:tag name="HTML_SHAPEINFO" val="&lt;ThreeDShapeInfo&gt;&lt;uuid val=&quot;{F32BD2F6-7719-4818-BC18-957AA27E8781}&quot;/&gt;&lt;isInvalidForFieldText val=&quot;0&quot;/&gt;&lt;Image&gt;&lt;filename val=&quot;C:\Users\amaxwel6\AppData\Local\Temp\CP8644187751046Session\CPTrustFolder8644187751046\PPTImport8644187799296\data\asimages\{F32BD2F6-7719-4818-BC18-957AA27E8781}_57.png&quot;/&gt;&lt;left val=&quot;21&quot;/&gt;&lt;top val=&quot;198&quot;/&gt;&lt;width val=&quot;475&quot;/&gt;&lt;height val=&quot;457&quot;/&gt;&lt;hasText val=&quot;1&quot;/&gt;&lt;/Image&gt;&lt;/ThreeDShapeInfo&gt;"/>
</p:tagLst>
</file>

<file path=ppt/tags/tag8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1&quot;/&gt;&lt;lineCharCount val=&quot;33&quot;/&gt;&lt;lineCharCount val=&quot;33&quot;/&gt;&lt;lineCharCount val=&quot;30&quot;/&gt;&lt;lineCharCount val=&quot;33&quot;/&gt;&lt;lineCharCount val=&quot;36&quot;/&gt;&lt;lineCharCount val=&quot;32&quot;/&gt;&lt;lineCharCount val=&quot;27&quot;/&gt;&lt;lineCharCount val=&quot;32&quot;/&gt;&lt;lineCharCount val=&quot;12&quot;/&gt;&lt;lineCharCount val=&quot;31&quot;/&gt;&lt;lineCharCount val=&quot;29&quot;/&gt;&lt;/TableIndex&gt;&lt;/ShapeTextInfo&gt;"/>
  <p:tag name="HTML_SHAPEINFO" val="&lt;ThreeDShapeInfo&gt;&lt;uuid val=&quot;{A34D3572-A4DF-4EA7-90BA-9655702B257F}&quot;/&gt;&lt;isInvalidForFieldText val=&quot;0&quot;/&gt;&lt;Image&gt;&lt;filename val=&quot;C:\Users\amaxwel6\AppData\Local\Temp\CP8644187751046Session\CPTrustFolder8644187751046\PPTImport8644187799296\data\asimages\{A34D3572-A4DF-4EA7-90BA-9655702B257F}_58.png&quot;/&gt;&lt;left val=&quot;21&quot;/&gt;&lt;top val=&quot;198&quot;/&gt;&lt;width val=&quot;485&quot;/&gt;&lt;height val=&quot;461&quot;/&gt;&lt;hasText val=&quot;1&quot;/&gt;&lt;/Image&gt;&lt;/ThreeDShapeInfo&gt;"/>
</p:tagLst>
</file>

<file path=ppt/tags/tag8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0&quot;/&gt;&lt;/TableIndex&gt;&lt;/ShapeTextInfo&gt;"/>
  <p:tag name="HTML_SHAPEINFO" val="&lt;ThreeDShapeInfo&gt;&lt;uuid val=&quot;{F400A61F-60CE-4EF8-9EE7-FBFF3F0F4556}&quot;/&gt;&lt;isInvalidForFieldText val=&quot;0&quot;/&gt;&lt;Image&gt;&lt;filename val=&quot;C:\Users\amaxwel6\AppData\Local\Temp\CP8644187751046Session\CPTrustFolder8644187751046\PPTImport8644187799296\data\asimages\{F400A61F-60CE-4EF8-9EE7-FBFF3F0F4556}_58.png&quot;/&gt;&lt;left val=&quot;685&quot;/&gt;&lt;top val=&quot;550&quot;/&gt;&lt;width val=&quot;483&quot;/&gt;&lt;height val=&quot;68&quot;/&gt;&lt;hasText val=&quot;1&quot;/&gt;&lt;/Image&gt;&lt;/ThreeDShapeInfo&gt;"/>
</p:tagLst>
</file>

<file path=ppt/tags/tag8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2&quot;/&gt;&lt;lineCharCount val=&quot;25&quot;/&gt;&lt;lineCharCount val=&quot;16&quot;/&gt;&lt;lineCharCount val=&quot;19&quot;/&gt;&lt;lineCharCount val=&quot;23&quot;/&gt;&lt;lineCharCount val=&quot;22&quot;/&gt;&lt;lineCharCount val=&quot;25&quot;/&gt;&lt;lineCharCount val=&quot;6&quot;/&gt;&lt;lineCharCount val=&quot;24&quot;/&gt;&lt;lineCharCount val=&quot;10&quot;/&gt;&lt;lineCharCount val=&quot;22&quot;/&gt;&lt;lineCharCount val=&quot;25&quot;/&gt;&lt;lineCharCount val=&quot;13&quot;/&gt;&lt;/TableIndex&gt;&lt;/ShapeTextInfo&gt;"/>
  <p:tag name="HTML_SHAPEINFO" val="&lt;ThreeDShapeInfo&gt;&lt;uuid val=&quot;{C4A6E2B3-D777-4803-86C9-2AF5D55EEA24}&quot;/&gt;&lt;isInvalidForFieldText val=&quot;0&quot;/&gt;&lt;Image&gt;&lt;filename val=&quot;C:\Users\amaxwel6\AppData\Local\Temp\CP8644187751046Session\CPTrustFolder8644187751046\PPTImport8644187799296\data\asimages\{C4A6E2B3-D777-4803-86C9-2AF5D55EEA24}_59.png&quot;/&gt;&lt;left val=&quot;61&quot;/&gt;&lt;top val=&quot;187&quot;/&gt;&lt;width val=&quot;361&quot;/&gt;&lt;height val=&quot;460&quot;/&gt;&lt;hasText val=&quot;1&quot;/&gt;&lt;/Image&gt;&lt;/ThreeDShapeInfo&gt;"/>
</p:tagLst>
</file>

<file path=ppt/tags/tag8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8&quot;/&gt;&lt;/TableIndex&gt;&lt;/ShapeTextInfo&gt;"/>
  <p:tag name="HTML_SHAPEINFO" val="&lt;ThreeDShapeInfo&gt;&lt;uuid val=&quot;{95751C02-AAB8-4885-8ACB-89281701F8C9}&quot;/&gt;&lt;isInvalidForFieldText val=&quot;0&quot;/&gt;&lt;Image&gt;&lt;filename val=&quot;C:\Users\amaxwel6\AppData\Local\Temp\CP8644187751046Session\CPTrustFolder8644187751046\PPTImport8644187799296\data\asimages\{95751C02-AAB8-4885-8ACB-89281701F8C9}_59.png&quot;/&gt;&lt;left val=&quot;685&quot;/&gt;&lt;top val=&quot;550&quot;/&gt;&lt;width val=&quot;483&quot;/&gt;&lt;height val=&quot;68&quot;/&gt;&lt;hasText val=&quot;1&quot;/&gt;&lt;/Image&gt;&lt;/ThreeDShapeInfo&gt;"/>
</p:tagLst>
</file>

<file path=ppt/tags/tag9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4&quot;/&gt;&lt;lineCharCount val=&quot;75&quot;/&gt;&lt;lineCharCount val=&quot;6&quot;/&gt;&lt;lineCharCount val=&quot;73&quot;/&gt;&lt;lineCharCount val=&quot;5&quot;/&gt;&lt;/TableIndex&gt;&lt;/ShapeTextInfo&gt;"/>
  <p:tag name="HTML_SHAPEINFO" val="&lt;ThreeDShapeInfo&gt;&lt;uuid val=&quot;{ABD07564-5186-41C9-A87E-639876156EAD}&quot;/&gt;&lt;isInvalidForFieldText val=&quot;0&quot;/&gt;&lt;Image&gt;&lt;filename val=&quot;C:\Users\amaxwel6\AppData\Local\Temp\CP8644187751046Session\CPTrustFolder8644187751046\PPTImport8644187799296\data\asimages\{ABD07564-5186-41C9-A87E-639876156EAD}_60.png&quot;/&gt;&lt;left val=&quot;149&quot;/&gt;&lt;top val=&quot;190&quot;/&gt;&lt;width val=&quot;986&quot;/&gt;&lt;height val=&quot;457&quot;/&gt;&lt;hasText val=&quot;1&quot;/&gt;&lt;/Image&gt;&lt;/ThreeDShapeInfo&gt;"/>
</p:tagLst>
</file>

<file path=ppt/tags/tag9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0&quot;/&gt;&lt;/TableIndex&gt;&lt;/ShapeTextInfo&gt;"/>
  <p:tag name="HTML_SHAPEINFO" val="&lt;ThreeDShapeInfo&gt;&lt;uuid val=&quot;{DB37579F-E818-4B8A-A43A-64718BA3AAE6}&quot;/&gt;&lt;isInvalidForFieldText val=&quot;0&quot;/&gt;&lt;Image&gt;&lt;filename val=&quot;C:\Users\amaxwel6\AppData\Local\Temp\CP8644187751046Session\CPTrustFolder8644187751046\PPTImport8644187799296\data\asimages\{DB37579F-E818-4B8A-A43A-64718BA3AAE6}_61.png&quot;/&gt;&lt;left val=&quot;133&quot;/&gt;&lt;top val=&quot;199&quot;/&gt;&lt;width val=&quot;987&quot;/&gt;&lt;height val=&quot;311&quot;/&gt;&lt;hasText val=&quot;1&quot;/&gt;&lt;/Image&gt;&lt;/ThreeDShapeInfo&gt;"/>
</p:tagLst>
</file>

<file path=ppt/tags/tag9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8&quot;/&gt;&lt;lineCharCount val=&quot;39&quot;/&gt;&lt;lineCharCount val=&quot;44&quot;/&gt;&lt;lineCharCount val=&quot;32&quot;/&gt;&lt;lineCharCount val=&quot;17&quot;/&gt;&lt;lineCharCount val=&quot;22&quot;/&gt;&lt;lineCharCount val=&quot;24&quot;/&gt;&lt;lineCharCount val=&quot;36&quot;/&gt;&lt;lineCharCount val=&quot;4&quot;/&gt;&lt;/TableIndex&gt;&lt;/ShapeTextInfo&gt;"/>
  <p:tag name="HTML_SHAPEINFO" val="&lt;ThreeDShapeInfo&gt;&lt;uuid val=&quot;{786D3F8D-D96F-4F74-AE01-3A2B8244EDCE}&quot;/&gt;&lt;isInvalidForFieldText val=&quot;0&quot;/&gt;&lt;Image&gt;&lt;filename val=&quot;C:\Users\amaxwel6\AppData\Local\Temp\CP8644187751046Session\CPTrustFolder8644187751046\PPTImport8644187799296\data\asimages\{786D3F8D-D96F-4F74-AE01-3A2B8244EDCE}_62.png&quot;/&gt;&lt;left val=&quot;54&quot;/&gt;&lt;top val=&quot;190&quot;/&gt;&lt;width val=&quot;588&quot;/&gt;&lt;height val=&quot;457&quot;/&gt;&lt;hasText val=&quot;1&quot;/&gt;&lt;/Image&gt;&lt;/ThreeDShapeInfo&gt;"/>
</p:tagLst>
</file>

<file path=ppt/tags/tag9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2&quot;/&gt;&lt;/TableIndex&gt;&lt;/ShapeTextInfo&gt;"/>
  <p:tag name="HTML_SHAPEINFO" val="&lt;ThreeDShapeInfo&gt;&lt;uuid val=&quot;{E246B4AA-4D6B-4943-920D-53A7C851C0AB}&quot;/&gt;&lt;isInvalidForFieldText val=&quot;0&quot;/&gt;&lt;Image&gt;&lt;filename val=&quot;C:\Users\amaxwel6\AppData\Local\Temp\CP8644187751046Session\CPTrustFolder8644187751046\PPTImport8644187799296\data\asimages\{E246B4AA-4D6B-4943-920D-53A7C851C0AB}_63.png&quot;/&gt;&lt;left val=&quot;149&quot;/&gt;&lt;top val=&quot;190&quot;/&gt;&lt;width val=&quot;971&quot;/&gt;&lt;height val=&quot;457&quot;/&gt;&lt;hasText val=&quot;1&quot;/&gt;&lt;/Image&gt;&lt;/ThreeDShapeInfo&gt;"/>
</p:tagLst>
</file>

<file path=ppt/tags/tag9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2&quot;/&gt;&lt;/TableIndex&gt;&lt;/ShapeTextInfo&gt;"/>
  <p:tag name="HTML_SHAPEINFO" val="&lt;ThreeDShapeInfo&gt;&lt;uuid val=&quot;{BB1B369D-BE21-4EF7-B220-FC07979E6D69}&quot;/&gt;&lt;isInvalidForFieldText val=&quot;0&quot;/&gt;&lt;Image&gt;&lt;filename val=&quot;C:\Users\amaxwel6\AppData\Local\Temp\CP8644187751046Session\CPTrustFolder8644187751046\PPTImport8644187799296\data\asimages\{BB1B369D-BE21-4EF7-B220-FC07979E6D69}_65.png&quot;/&gt;&lt;left val=&quot;133&quot;/&gt;&lt;top val=&quot;199&quot;/&gt;&lt;width val=&quot;987&quot;/&gt;&lt;height val=&quot;311&quot;/&gt;&lt;hasText val=&quot;1&quot;/&gt;&lt;/Image&gt;&lt;/ThreeDShapeInfo&gt;"/>
</p:tagLst>
</file>

<file path=ppt/tags/tag9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8&quot;/&gt;&lt;lineCharCount val=&quot;23&quot;/&gt;&lt;lineCharCount val=&quot;30&quot;/&gt;&lt;lineCharCount val=&quot;14&quot;/&gt;&lt;lineCharCount val=&quot;36&quot;/&gt;&lt;lineCharCount val=&quot;24&quot;/&gt;&lt;lineCharCount val=&quot;36&quot;/&gt;&lt;lineCharCount val=&quot;31&quot;/&gt;&lt;lineCharCount val=&quot;5&quot;/&gt;&lt;/TableIndex&gt;&lt;/ShapeTextInfo&gt;"/>
  <p:tag name="HTML_SHAPEINFO" val="&lt;ThreeDShapeInfo&gt;&lt;uuid val=&quot;{031AC328-1354-4D60-8701-1E5EB16228D7}&quot;/&gt;&lt;isInvalidForFieldText val=&quot;0&quot;/&gt;&lt;Image&gt;&lt;filename val=&quot;C:\Users\amaxwel6\AppData\Local\Temp\CP8644187751046Session\CPTrustFolder8644187751046\PPTImport8644187799296\data\asimages\{031AC328-1354-4D60-8701-1E5EB16228D7}_9.png&quot;/&gt;&lt;left val=&quot;61&quot;/&gt;&lt;top val=&quot;198&quot;/&gt;&lt;width val=&quot;483&quot;/&gt;&lt;height val=&quot;457&quot;/&gt;&lt;hasText val=&quot;1&quot;/&gt;&lt;/Image&gt;&lt;/ThreeDShapeInfo&gt;"/>
</p:tagLst>
</file>

<file path=ppt/tags/tag9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8&quot;/&gt;&lt;lineCharCount val=&quot;23&quot;/&gt;&lt;lineCharCount val=&quot;30&quot;/&gt;&lt;lineCharCount val=&quot;14&quot;/&gt;&lt;lineCharCount val=&quot;36&quot;/&gt;&lt;lineCharCount val=&quot;24&quot;/&gt;&lt;lineCharCount val=&quot;36&quot;/&gt;&lt;lineCharCount val=&quot;31&quot;/&gt;&lt;lineCharCount val=&quot;5&quot;/&gt;&lt;/TableIndex&gt;&lt;/ShapeTextInfo&gt;"/>
  <p:tag name="HTML_SHAPEINFO" val="&lt;ThreeDShapeInfo&gt;&lt;uuid val=&quot;{031AC328-1354-4D60-8701-1E5EB16228D7}&quot;/&gt;&lt;isInvalidForFieldText val=&quot;0&quot;/&gt;&lt;Image&gt;&lt;filename val=&quot;C:\Users\amaxwel6\AppData\Local\Temp\CP8644187751046Session\CPTrustFolder8644187751046\PPTImport8644187799296\data\asimages\{031AC328-1354-4D60-8701-1E5EB16228D7}_9.png&quot;/&gt;&lt;left val=&quot;61&quot;/&gt;&lt;top val=&quot;198&quot;/&gt;&lt;width val=&quot;483&quot;/&gt;&lt;height val=&quot;457&quot;/&gt;&lt;hasText val=&quot;1&quot;/&gt;&lt;/Image&gt;&lt;/ThreeDShapeInfo&gt;"/>
</p:tagLst>
</file>

<file path=ppt/tags/tag9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7&quot;/&gt;&lt;lineCharCount val=&quot;43&quot;/&gt;&lt;lineCharCount val=&quot;66&quot;/&gt;&lt;lineCharCount val=&quot;66&quot;/&gt;&lt;lineCharCount val=&quot;65&quot;/&gt;&lt;lineCharCount val=&quot;65&quot;/&gt;&lt;lineCharCount val=&quot;21&quot;/&gt;&lt;lineCharCount val=&quot;64&quot;/&gt;&lt;lineCharCount val=&quot;68&quot;/&gt;&lt;lineCharCount val=&quot;18&quot;/&gt;&lt;lineCharCount val=&quot;65&quot;/&gt;&lt;lineCharCount val=&quot;40&quot;/&gt;&lt;lineCharCount val=&quot;64&quot;/&gt;&lt;lineCharCount val=&quot;44&quot;/&gt;&lt;lineCharCount val=&quot;64&quot;/&gt;&lt;lineCharCount val=&quot;44&quot;/&gt;&lt;lineCharCount val=&quot;64&quot;/&gt;&lt;lineCharCount val=&quot;36&quot;/&gt;&lt;/TableIndex&gt;&lt;/ShapeTextInfo&gt;"/>
  <p:tag name="HTML_SHAPEINFO" val="&lt;ThreeDShapeInfo&gt;&lt;uuid val=&quot;{4B5BB82E-C2B8-4E01-81E1-F275DF2D9608}&quot;/&gt;&lt;isInvalidForFieldText val=&quot;0&quot;/&gt;&lt;Image&gt;&lt;filename val=&quot;C:\Users\amaxwel6\AppData\Local\Temp\CP8644187751046Session\CPTrustFolder8644187751046\PPTImport8644187799296\data\asimages\{4B5BB82E-C2B8-4E01-81E1-F275DF2D9608}_10.png&quot;/&gt;&lt;left val=&quot;35&quot;/&gt;&lt;top val=&quot;166&quot;/&gt;&lt;width val=&quot;641&quot;/&gt;&lt;height val=&quot;554&quot;/&gt;&lt;hasText val=&quot;1&quot;/&gt;&lt;/Image&gt;&lt;/ThreeDShapeInfo&gt;"/>
</p:tagLst>
</file>

<file path=ppt/tags/tag9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1&quot;/&gt;&lt;/TableIndex&gt;&lt;/ShapeTextInfo&gt;"/>
  <p:tag name="HTML_SHAPEINFO" val="&lt;ThreeDShapeInfo&gt;&lt;uuid val=&quot;{3D051D82-4022-4A94-9BEC-A831F23D3E9E}&quot;/&gt;&lt;isInvalidForFieldText val=&quot;0&quot;/&gt;&lt;Image&gt;&lt;filename val=&quot;C:\Users\amaxwel6\AppData\Local\Temp\CP8644187751046Session\CPTrustFolder8644187751046\PPTImport8644187799296\data\asimages\{3D051D82-4022-4A94-9BEC-A831F23D3E9E}_10.png&quot;/&gt;&lt;left val=&quot;770&quot;/&gt;&lt;top val=&quot;608&quot;/&gt;&lt;width val=&quot;418&quot;/&gt;&lt;height val=&quot;40&quot;/&gt;&lt;hasText val=&quot;1&quot;/&gt;&lt;/Image&gt;&lt;/ThreeDShapeInfo&gt;"/>
</p:tagLst>
</file>

<file path=ppt/tags/tag9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7&quot;/&gt;&lt;lineCharCount val=&quot;43&quot;/&gt;&lt;lineCharCount val=&quot;66&quot;/&gt;&lt;lineCharCount val=&quot;66&quot;/&gt;&lt;lineCharCount val=&quot;65&quot;/&gt;&lt;lineCharCount val=&quot;65&quot;/&gt;&lt;lineCharCount val=&quot;21&quot;/&gt;&lt;lineCharCount val=&quot;64&quot;/&gt;&lt;lineCharCount val=&quot;68&quot;/&gt;&lt;lineCharCount val=&quot;18&quot;/&gt;&lt;lineCharCount val=&quot;65&quot;/&gt;&lt;lineCharCount val=&quot;40&quot;/&gt;&lt;lineCharCount val=&quot;64&quot;/&gt;&lt;lineCharCount val=&quot;44&quot;/&gt;&lt;lineCharCount val=&quot;64&quot;/&gt;&lt;lineCharCount val=&quot;44&quot;/&gt;&lt;lineCharCount val=&quot;64&quot;/&gt;&lt;lineCharCount val=&quot;36&quot;/&gt;&lt;/TableIndex&gt;&lt;/ShapeTextInfo&gt;"/>
  <p:tag name="HTML_SHAPEINFO" val="&lt;ThreeDShapeInfo&gt;&lt;uuid val=&quot;{4B5BB82E-C2B8-4E01-81E1-F275DF2D9608}&quot;/&gt;&lt;isInvalidForFieldText val=&quot;0&quot;/&gt;&lt;Image&gt;&lt;filename val=&quot;C:\Users\amaxwel6\AppData\Local\Temp\CP8644187751046Session\CPTrustFolder8644187751046\PPTImport8644187799296\data\asimages\{4B5BB82E-C2B8-4E01-81E1-F275DF2D9608}_10.png&quot;/&gt;&lt;left val=&quot;35&quot;/&gt;&lt;top val=&quot;166&quot;/&gt;&lt;width val=&quot;641&quot;/&gt;&lt;height val=&quot;554&quot;/&gt;&lt;hasText val=&quot;1&quot;/&gt;&lt;/Image&gt;&lt;/ThreeDShapeInfo&gt;"/>
</p:tagLst>
</file>

<file path=ppt/tags/tag10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1&quot;/&gt;&lt;/TableIndex&gt;&lt;/ShapeTextInfo&gt;"/>
  <p:tag name="HTML_SHAPEINFO" val="&lt;ThreeDShapeInfo&gt;&lt;uuid val=&quot;{3D051D82-4022-4A94-9BEC-A831F23D3E9E}&quot;/&gt;&lt;isInvalidForFieldText val=&quot;0&quot;/&gt;&lt;Image&gt;&lt;filename val=&quot;C:\Users\amaxwel6\AppData\Local\Temp\CP8644187751046Session\CPTrustFolder8644187751046\PPTImport8644187799296\data\asimages\{3D051D82-4022-4A94-9BEC-A831F23D3E9E}_10.png&quot;/&gt;&lt;left val=&quot;770&quot;/&gt;&lt;top val=&quot;608&quot;/&gt;&lt;width val=&quot;418&quot;/&gt;&lt;height val=&quot;40&quot;/&gt;&lt;hasText val=&quot;1&quot;/&gt;&lt;/Image&gt;&lt;/ThreeDShapeInfo&gt;"/>
</p:tagLst>
</file>

<file path=ppt/tags/tag10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71&quot;/&gt;&lt;/TableIndex&gt;&lt;/ShapeTextInfo&gt;"/>
  <p:tag name="HTML_SHAPEINFO" val="&lt;ThreeDShapeInfo&gt;&lt;uuid val=&quot;{49E2EFDC-4A0E-45A6-AEAC-236526EADE2C}&quot;/&gt;&lt;isInvalidForFieldText val=&quot;0&quot;/&gt;&lt;Image&gt;&lt;filename val=&quot;C:\Users\amaxwel6\AppData\Local\Temp\CP8644187751046Session\CPTrustFolder8644187751046\PPTImport8644187799296\data\asimages\{49E2EFDC-4A0E-45A6-AEAC-236526EADE2C}_13.png&quot;/&gt;&lt;left val=&quot;149&quot;/&gt;&lt;top val=&quot;190&quot;/&gt;&lt;width val=&quot;971&quot;/&gt;&lt;height val=&quot;457&quot;/&gt;&lt;hasText val=&quot;1&quot;/&gt;&lt;/Image&gt;&lt;/ThreeDShapeInfo&gt;"/>
</p:tagLst>
</file>

<file path=ppt/tags/tag10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2&quot;/&gt;&lt;/TableIndex&gt;&lt;/ShapeTextInfo&gt;"/>
  <p:tag name="HTML_SHAPEINFO" val="&lt;ThreeDShapeInfo&gt;&lt;uuid val=&quot;{BB1B369D-BE21-4EF7-B220-FC07979E6D69}&quot;/&gt;&lt;isInvalidForFieldText val=&quot;0&quot;/&gt;&lt;Image&gt;&lt;filename val=&quot;C:\Users\amaxwel6\AppData\Local\Temp\CP8644187751046Session\CPTrustFolder8644187751046\PPTImport8644187799296\data\asimages\{BB1B369D-BE21-4EF7-B220-FC07979E6D69}_65.png&quot;/&gt;&lt;left val=&quot;133&quot;/&gt;&lt;top val=&quot;199&quot;/&gt;&lt;width val=&quot;987&quot;/&gt;&lt;height val=&quot;311&quot;/&gt;&lt;hasText val=&quot;1&quot;/&gt;&lt;/Image&gt;&lt;/ThreeDShapeInfo&gt;"/>
</p:tagLst>
</file>

<file path=ppt/tags/tag10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6&quot;/&gt;&lt;lineCharCount val=&quot;11&quot;/&gt;&lt;lineCharCount val=&quot;7&quot;/&gt;&lt;lineCharCount val=&quot;14&quot;/&gt;&lt;lineCharCount val=&quot;9&quot;/&gt;&lt;lineCharCount val=&quot;16&quot;/&gt;&lt;lineCharCount val=&quot;1&quot;/&gt;&lt;/TableIndex&gt;&lt;/ShapeTextInfo&gt;"/>
  <p:tag name="HTML_SHAPEINFO" val="&lt;ThreeDShapeInfo&gt;&lt;uuid val=&quot;{00DECEC6-AA0E-4AEF-8491-220565C9857D}&quot;/&gt;&lt;isInvalidForFieldText val=&quot;0&quot;/&gt;&lt;Image&gt;&lt;filename val=&quot;C:\Users\amaxwel6\AppData\Local\Temp\CP8644187751046Session\CPTrustFolder8644187751046\PPTImport8644187799296\data\asimages\{00DECEC6-AA0E-4AEF-8491-220565C9857D}_66.png&quot;/&gt;&lt;left val=&quot;150&quot;/&gt;&lt;top val=&quot;190&quot;/&gt;&lt;width val=&quot;969&quot;/&gt;&lt;height val=&quot;457&quot;/&gt;&lt;hasText val=&quot;1&quot;/&gt;&lt;/Image&gt;&lt;/ThreeDShapeInfo&gt;"/>
</p:tagLst>
</file>

<file path=ppt/tags/tag10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8&quot;/&gt;&lt;/TableIndex&gt;&lt;/ShapeTextInfo&gt;"/>
  <p:tag name="HTML_SHAPEINFO" val="&lt;ThreeDShapeInfo&gt;&lt;uuid val=&quot;{8690C151-5ED6-46DE-BDF0-90D4A38FFDA8}&quot;/&gt;&lt;isInvalidForFieldText val=&quot;0&quot;/&gt;&lt;Image&gt;&lt;filename val=&quot;C:\Users\amaxwel6\AppData\Local\Temp\CP8644187751046Session\CPTrustFolder8644187751046\PPTImport8644187799296\data\asimages\{8690C151-5ED6-46DE-BDF0-90D4A38FFDA8}_66.png&quot;/&gt;&lt;left val=&quot;582&quot;/&gt;&lt;top val=&quot;667&quot;/&gt;&lt;width val=&quot;706&quot;/&gt;&lt;height val=&quot;68&quot;/&gt;&lt;hasText val=&quot;1&quot;/&gt;&lt;/Image&gt;&lt;/ThreeDShapeInfo&gt;"/>
</p:tagLst>
</file>

<file path=ppt/tags/tag10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6&quot;/&gt;&lt;/TableIndex&gt;&lt;/ShapeTextInfo&gt;"/>
  <p:tag name="HTML_SHAPEINFO" val="&lt;ThreeDShapeInfo&gt;&lt;uuid val=&quot;{67CF8375-7334-49D5-BB30-D40C4FD351D0}&quot;/&gt;&lt;isInvalidForFieldText val=&quot;0&quot;/&gt;&lt;Image&gt;&lt;filename val=&quot;C:\Users\amaxwel6\AppData\Local\Temp\CP8644187751046Session\CPTrustFolder8644187751046\PPTImport8644187799296\data\asimages\{67CF8375-7334-49D5-BB30-D40C4FD351D0}_67.png&quot;/&gt;&lt;left val=&quot;143&quot;/&gt;&lt;top val=&quot;28&quot;/&gt;&lt;width val=&quot;977&quot;/&gt;&lt;height val=&quot;129&quot;/&gt;&lt;hasText val=&quot;1&quot;/&gt;&lt;/Image&gt;&lt;/ThreeDShapeInfo&gt;"/>
</p:tagLst>
</file>

<file path=ppt/tags/tag10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0&quot;/&gt;&lt;/TableIndex&gt;&lt;/ShapeTextInfo&gt;"/>
  <p:tag name="HTML_SHAPEINFO" val="&lt;ThreeDShapeInfo&gt;&lt;uuid val=&quot;{F4B4C0A2-3631-43E9-A65E-3FCCF4F657DE}&quot;/&gt;&lt;isInvalidForFieldText val=&quot;0&quot;/&gt;&lt;Image&gt;&lt;filename val=&quot;C:\Users\amaxwel6\AppData\Local\Temp\CP8644187751046Session\CPTrustFolder8644187751046\PPTImport8644187799296\data\asimages\{F4B4C0A2-3631-43E9-A65E-3FCCF4F657DE}_67.png&quot;/&gt;&lt;left val=&quot;842&quot;/&gt;&lt;top val=&quot;625&quot;/&gt;&lt;width val=&quot;645&quot;/&gt;&lt;height val=&quot;52&quot;/&gt;&lt;hasText val=&quot;1&quot;/&gt;&lt;/Image&gt;&lt;/ThreeDShapeInfo&gt;"/>
</p:tagLst>
</file>

<file path=ppt/tags/tag10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62&quot;/&gt;&lt;lineCharCount val=&quot;27&quot;/&gt;&lt;/TableIndex&gt;&lt;/ShapeTextInfo&gt;"/>
  <p:tag name="HTML_SHAPEINFO" val="&lt;ThreeDShapeInfo&gt;&lt;uuid val=&quot;{8DEF29CF-A059-48D1-95F6-42C3FCC2BB76}&quot;/&gt;&lt;isInvalidForFieldText val=&quot;0&quot;/&gt;&lt;Image&gt;&lt;filename val=&quot;C:\Users\amaxwel6\AppData\Local\Temp\CP8644187751046Session\CPTrustFolder8644187751046\PPTImport8644187799296\data\asimages\{8DEF29CF-A059-48D1-95F6-42C3FCC2BB76}_67.png&quot;/&gt;&lt;left val=&quot;58&quot;/&gt;&lt;top val=&quot;632&quot;/&gt;&lt;width val=&quot;645&quot;/&gt;&lt;height val=&quot;100&quot;/&gt;&lt;hasText val=&quot;1&quot;/&gt;&lt;/Image&gt;&lt;/ThreeDShapeInfo&gt;"/>
</p:tagLst>
</file>

<file path=ppt/theme/theme1.xml><?xml version="1.0" encoding="utf-8"?>
<a:theme xmlns:a="http://schemas.openxmlformats.org/drawingml/2006/main" name="7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5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3.xml><?xml version="1.0" encoding="utf-8"?>
<a:theme xmlns:a="http://schemas.openxmlformats.org/drawingml/2006/main" name="2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4.xml><?xml version="1.0" encoding="utf-8"?>
<a:theme xmlns:a="http://schemas.openxmlformats.org/drawingml/2006/main" name="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5.xml><?xml version="1.0" encoding="utf-8"?>
<a:theme xmlns:a="http://schemas.openxmlformats.org/drawingml/2006/main" name="1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1">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6.xml><?xml version="1.0" encoding="utf-8"?>
<a:theme xmlns:a="http://schemas.openxmlformats.org/drawingml/2006/main" name="6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1">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7.xml><?xml version="1.0" encoding="utf-8"?>
<a:theme xmlns:a="http://schemas.openxmlformats.org/drawingml/2006/main" name="8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Lecture10_GEOG2475_Accuracy</Template>
  <TotalTime>8251</TotalTime>
  <Words>7670</Words>
  <Application>Microsoft Office PowerPoint</Application>
  <PresentationFormat>Custom</PresentationFormat>
  <Paragraphs>894</Paragraphs>
  <Slides>76</Slides>
  <Notes>60</Notes>
  <HiddenSlides>0</HiddenSlides>
  <MMClips>0</MMClips>
  <ScaleCrop>false</ScaleCrop>
  <HeadingPairs>
    <vt:vector size="6" baseType="variant">
      <vt:variant>
        <vt:lpstr>Fonts Used</vt:lpstr>
      </vt:variant>
      <vt:variant>
        <vt:i4>7</vt:i4>
      </vt:variant>
      <vt:variant>
        <vt:lpstr>Theme</vt:lpstr>
      </vt:variant>
      <vt:variant>
        <vt:i4>7</vt:i4>
      </vt:variant>
      <vt:variant>
        <vt:lpstr>Slide Titles</vt:lpstr>
      </vt:variant>
      <vt:variant>
        <vt:i4>76</vt:i4>
      </vt:variant>
    </vt:vector>
  </HeadingPairs>
  <TitlesOfParts>
    <vt:vector size="90" baseType="lpstr">
      <vt:lpstr>Avenir Next W01</vt:lpstr>
      <vt:lpstr>Lucida Grande</vt:lpstr>
      <vt:lpstr>Arial Black</vt:lpstr>
      <vt:lpstr>Calibri</vt:lpstr>
      <vt:lpstr>Courier New</vt:lpstr>
      <vt:lpstr>Wingdings</vt:lpstr>
      <vt:lpstr>Wingdings 2</vt:lpstr>
      <vt:lpstr>7_DividendVTI</vt:lpstr>
      <vt:lpstr>5_DividendVTI</vt:lpstr>
      <vt:lpstr>2_DividendVTI</vt:lpstr>
      <vt:lpstr>DividendVTI</vt:lpstr>
      <vt:lpstr>1_DividendVTI</vt:lpstr>
      <vt:lpstr>6_DividendVTI</vt:lpstr>
      <vt:lpstr>8_DividendVTI</vt:lpstr>
      <vt:lpstr>Lecture 13 raster Analysis   lecture</vt:lpstr>
      <vt:lpstr>13.1  raster analysis</vt:lpstr>
      <vt:lpstr>PowerPoint Presentation</vt:lpstr>
      <vt:lpstr>PowerPoint Presentation</vt:lpstr>
      <vt:lpstr>Local function Raster Math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Local function reclassification</vt:lpstr>
      <vt:lpstr>PowerPoint Presentation</vt:lpstr>
      <vt:lpstr>PowerPoint Presentation</vt:lpstr>
      <vt:lpstr>PowerPoint Presentation</vt:lpstr>
      <vt:lpstr>Local function Extraction</vt:lpstr>
      <vt:lpstr>PowerPoint Presentation</vt:lpstr>
      <vt:lpstr>PowerPoint Presentation</vt:lpstr>
      <vt:lpstr>Local function Stack</vt:lpstr>
      <vt:lpstr>PowerPoint Presentation</vt:lpstr>
      <vt:lpstr>Neighborhood-Based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Neighborhood function Focal STATISTICS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Neighborhood function distance</vt:lpstr>
      <vt:lpstr>PowerPoint Presentation</vt:lpstr>
      <vt:lpstr>PowerPoint Presentation</vt:lpstr>
      <vt:lpstr>PowerPoint Presentation</vt:lpstr>
      <vt:lpstr>Neighborhood function Raster Generalization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Neighborhood function Raster summarization</vt:lpstr>
      <vt:lpstr>PowerPoint Presentation</vt:lpstr>
      <vt:lpstr>PowerPoint Presentation</vt:lpstr>
      <vt:lpstr>PowerPoint Presentation</vt:lpstr>
      <vt:lpstr>PowerPoint Presentation</vt:lpstr>
      <vt:lpstr>PowerPoint Presentation</vt:lpstr>
      <vt:lpstr>Neighborhood function Estimating Densities</vt:lpstr>
      <vt:lpstr>PowerPoint Presentation</vt:lpstr>
      <vt:lpstr>PowerPoint Presentation</vt:lpstr>
      <vt:lpstr>Mosaic</vt:lpstr>
      <vt:lpstr>PowerPoint Presentation</vt:lpstr>
      <vt:lpstr>PowerPoint Presentation</vt:lpstr>
      <vt:lpstr>PowerPoint Presentation</vt:lpstr>
      <vt:lpstr>PowerPoint Presentation</vt:lpstr>
      <vt:lpstr>PowerPoint Presentation</vt:lpstr>
      <vt:lpstr>PowerPoint Presentation</vt:lpstr>
      <vt:lpstr>Spatial Analysis Tools</vt:lpstr>
      <vt:lpstr>PowerPoint Presentation</vt:lpstr>
      <vt:lpstr>Python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Geographic Information Science Introduction</dc:title>
  <dc:creator>Yaqian He</dc:creator>
  <cp:lastModifiedBy>Yanan Wu</cp:lastModifiedBy>
  <cp:revision>581</cp:revision>
  <cp:lastPrinted>2020-03-26T12:59:04Z</cp:lastPrinted>
  <dcterms:created xsi:type="dcterms:W3CDTF">2020-03-24T14:51:54Z</dcterms:created>
  <dcterms:modified xsi:type="dcterms:W3CDTF">2025-11-11T04:54:19Z</dcterms:modified>
</cp:coreProperties>
</file>