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8.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8" r:id="rId5"/>
    <p:sldMasterId id="2147483720" r:id="rId6"/>
    <p:sldMasterId id="2147483733" r:id="rId7"/>
    <p:sldMasterId id="2147483746" r:id="rId8"/>
    <p:sldMasterId id="2147483759" r:id="rId9"/>
  </p:sldMasterIdLst>
  <p:notesMasterIdLst>
    <p:notesMasterId r:id="rId37"/>
  </p:notesMasterIdLst>
  <p:sldIdLst>
    <p:sldId id="914" r:id="rId10"/>
    <p:sldId id="1647" r:id="rId11"/>
    <p:sldId id="665" r:id="rId12"/>
    <p:sldId id="666" r:id="rId13"/>
    <p:sldId id="296" r:id="rId14"/>
    <p:sldId id="669" r:id="rId15"/>
    <p:sldId id="670" r:id="rId16"/>
    <p:sldId id="671" r:id="rId17"/>
    <p:sldId id="673" r:id="rId18"/>
    <p:sldId id="672" r:id="rId19"/>
    <p:sldId id="674" r:id="rId20"/>
    <p:sldId id="675" r:id="rId21"/>
    <p:sldId id="676" r:id="rId22"/>
    <p:sldId id="678" r:id="rId23"/>
    <p:sldId id="677" r:id="rId24"/>
    <p:sldId id="679" r:id="rId25"/>
    <p:sldId id="680" r:id="rId26"/>
    <p:sldId id="681" r:id="rId27"/>
    <p:sldId id="689" r:id="rId28"/>
    <p:sldId id="682" r:id="rId29"/>
    <p:sldId id="683" r:id="rId30"/>
    <p:sldId id="684" r:id="rId31"/>
    <p:sldId id="688" r:id="rId32"/>
    <p:sldId id="685" r:id="rId33"/>
    <p:sldId id="686" r:id="rId34"/>
    <p:sldId id="1648" r:id="rId35"/>
    <p:sldId id="270" r:id="rId36"/>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81818" autoAdjust="0"/>
  </p:normalViewPr>
  <p:slideViewPr>
    <p:cSldViewPr snapToGrid="0" snapToObjects="1">
      <p:cViewPr varScale="1">
        <p:scale>
          <a:sx n="119" d="100"/>
          <a:sy n="119" d="100"/>
        </p:scale>
        <p:origin x="1722" y="108"/>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viewProps" Target="viewProps.xml"/><Relationship Id="rId21" Type="http://schemas.openxmlformats.org/officeDocument/2006/relationships/slide" Target="slides/slide12.xml"/><Relationship Id="rId34" Type="http://schemas.openxmlformats.org/officeDocument/2006/relationships/slide" Target="slides/slide25.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11/5/2025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413033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521595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4086291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862627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498649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4161080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1334688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2443143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lane</a:t>
            </a:r>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1747972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1340554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5408439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658487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1384594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1597220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12584310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10888069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37085096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4759256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38800228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16651484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27535692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26350215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27954196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27</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B771416A-4FA2-4BC6-AD02-FC62E2EB537B}" type="datetime1">
              <a:rPr lang="en-US" smtClean="0"/>
              <a:t>11/5/2025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19039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A53E52A6-65E0-4C57-A17E-B64EB7F24D27}" type="datetime1">
              <a:rPr lang="en-US" smtClean="0"/>
              <a:t>11/5/2025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13677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1F2C58D2-10B7-49F3-895D-A16367B13E92}" type="datetime1">
              <a:rPr lang="en-US" smtClean="0"/>
              <a:t>11/5/2025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59782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7CCCB0-43DA-4C40-A467-5973D43A0338}" type="datetime1">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7149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530106-BE81-4E5A-8C39-9A8985CECEF3}" type="datetime1">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63872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72FD10-9497-4827-ABB9-9E3B94BED0E4}" type="datetime1">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965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E234C3-F188-4E3A-83B9-0CEFC6429E06}" type="datetime1">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60100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341BD1F2-20F1-4F40-8112-EC494B61E001}" type="datetime1">
              <a:rPr lang="en-US" smtClean="0"/>
              <a:t>11/5/2025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79614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EF39F1AC-95A0-41C9-932F-34509B8DC8E9}" type="datetime1">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62372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F292BF-94B3-474B-98F9-2D896A24DDFC}" type="datetime1">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31842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D91C2DFC-9303-4BEF-B96E-CC54239EDA10}" type="datetime1">
              <a:rPr lang="en-US" smtClean="0"/>
              <a:t>11/5/2025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23130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B771416A-4FA2-4BC6-AD02-FC62E2EB537B}" type="datetime1">
              <a:rPr lang="en-US" smtClean="0"/>
              <a:t>11/5/2025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35586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A53E52A6-65E0-4C57-A17E-B64EB7F24D27}" type="datetime1">
              <a:rPr lang="en-US" smtClean="0"/>
              <a:t>11/5/2025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550598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1F2C58D2-10B7-49F3-895D-A16367B13E92}" type="datetime1">
              <a:rPr lang="en-US" smtClean="0"/>
              <a:t>11/5/2025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47699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3B7CCCB0-43DA-4C40-A467-5973D43A0338}" type="datetime1">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527502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2C530106-BE81-4E5A-8C39-9A8985CECEF3}" type="datetime1">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858237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6972FD10-9497-4827-ABB9-9E3B94BED0E4}" type="datetime1">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687954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E234C3-F188-4E3A-83B9-0CEFC6429E06}" type="datetime1">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677438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341BD1F2-20F1-4F40-8112-EC494B61E001}" type="datetime1">
              <a:rPr lang="en-US" smtClean="0"/>
              <a:t>11/5/2025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751878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EF39F1AC-95A0-41C9-932F-34509B8DC8E9}" type="datetime1">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537220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9EF292BF-94B3-474B-98F9-2D896A24DDFC}" type="datetime1">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14048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D91C2DFC-9303-4BEF-B96E-CC54239EDA10}" type="datetime1">
              <a:rPr lang="en-US" smtClean="0"/>
              <a:t>11/5/2025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400369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0B820CE-B148-45DC-B1F4-C6D7A412B18C}" type="datetime1">
              <a:rPr lang="en-US" smtClean="0"/>
              <a:t>11/5/2025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305672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6217A2D-4697-45F9-B456-6F41C271EA23}" type="datetime1">
              <a:rPr lang="en-US" smtClean="0"/>
              <a:t>11/5/2025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171634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72275FA-1176-482D-89DB-1BECA8A9E900}" type="datetime1">
              <a:rPr lang="en-US" smtClean="0"/>
              <a:t>11/5/2025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834612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B489F1B3-7391-4D9B-BF55-8F9F90900E0F}" type="datetime1">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683954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3193EC4F-A052-40F8-9DD4-466F1C40115C}" type="datetime1">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875547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274D10B7-D3C1-4214-BDCA-01BBB3DB90F8}" type="datetime1">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465462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0670BA-1561-4CCE-8764-4C8B3832F4FB}" type="datetime1">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923098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A488E77D-1EBC-4F57-BD58-E22A435F61EA}" type="datetime1">
              <a:rPr lang="en-US" smtClean="0"/>
              <a:t>11/5/2025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280151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86176DD-5979-40E1-A68A-A63D9FD6A3EA}" type="datetime1">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788198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8C987901-C162-4F42-BC7D-9497877AE2BA}" type="datetime1">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621306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3AAF78D1-5DF2-46C5-87F7-8CCF7159B52F}" type="datetime1">
              <a:rPr lang="en-US" smtClean="0"/>
              <a:t>11/5/2025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497315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6A0FD2F-556E-43A6-BD1A-AE05D71D5ACE}" type="datetime1">
              <a:rPr lang="en-US" smtClean="0"/>
              <a:t>11/5/2025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655436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4CA2D96-DD5E-4EE6-BA39-19B5C56AF1F2}" type="datetime1">
              <a:rPr lang="en-US" smtClean="0"/>
              <a:t>11/5/2025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939498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2C2D4BC3-0B93-4E0B-AE53-3E432262C0E4}" type="datetime1">
              <a:rPr lang="en-US" smtClean="0"/>
              <a:t>11/5/2025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864772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A5CEA080-6A29-4A4D-90B1-4C73660CABD5}" type="datetime1">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149696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EFF1D62-0785-460A-9888-5F5908AD45F7}" type="datetime1">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956737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603F5A6-4790-4338-AC59-416730A16F3C}" type="datetime1">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363169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397647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610C12D3-F429-42CB-9467-4C3AFEEA173C}" type="datetime1">
              <a:rPr lang="en-US" smtClean="0"/>
              <a:t>11/5/2025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860020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973391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A0F15864-78C5-4237-8A12-0D1FD4E5F0BD}" type="datetime1">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442005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B9BBA17-EAD5-43A8-9481-F99B1E8564DB}" type="datetime1">
              <a:rPr lang="en-US" smtClean="0"/>
              <a:t>11/5/2025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183487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11/5/2025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516662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11/5/2025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825719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11/5/2025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854651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544344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611258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157024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185503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11/5/2025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7134334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250626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7988375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11/5/2025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2828806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11/5/2025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8556069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11/5/2025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566173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11/5/2025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340399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7494933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49715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78761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0711642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11/5/2025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0910234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11/5/2025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4822872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7390211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11/5/2025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3483619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405948803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11/5/2025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1292998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11/5/2025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7492459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11/5/2025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09543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1579994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9227682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9105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374139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11/5/2025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5295545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11/5/2025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061377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359218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11/5/2025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799836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105133977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11/5/2025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0556398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11/5/2025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4037261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11/5/2025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9440447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082136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954202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1574317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9269566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11/5/2025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32993950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11/5/2025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50032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7204255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11/5/2025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039076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92758916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11/5/2025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7972208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11/5/2025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8531863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11/5/2025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837639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6418200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539343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9810538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770803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11/5/2025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25528311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11/5/2025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589151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3694962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11/5/2025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09436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theme" Target="../theme/theme6.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theme" Target="../theme/theme7.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theme" Target="../theme/theme8.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9.xml"/><Relationship Id="rId3" Type="http://schemas.openxmlformats.org/officeDocument/2006/relationships/slideLayout" Target="../slideLayouts/slideLayout94.xml"/><Relationship Id="rId7" Type="http://schemas.openxmlformats.org/officeDocument/2006/relationships/slideLayout" Target="../slideLayouts/slideLayout98.xml"/><Relationship Id="rId12" Type="http://schemas.openxmlformats.org/officeDocument/2006/relationships/theme" Target="../theme/theme9.xml"/><Relationship Id="rId2" Type="http://schemas.openxmlformats.org/officeDocument/2006/relationships/slideLayout" Target="../slideLayouts/slideLayout93.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5" Type="http://schemas.openxmlformats.org/officeDocument/2006/relationships/slideLayout" Target="../slideLayouts/slideLayout96.xml"/><Relationship Id="rId10" Type="http://schemas.openxmlformats.org/officeDocument/2006/relationships/slideLayout" Target="../slideLayouts/slideLayout101.xml"/><Relationship Id="rId4" Type="http://schemas.openxmlformats.org/officeDocument/2006/relationships/slideLayout" Target="../slideLayouts/slideLayout95.xml"/><Relationship Id="rId9" Type="http://schemas.openxmlformats.org/officeDocument/2006/relationships/slideLayout" Target="../slideLayouts/slideLayout10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4199989E-35DE-44B7-B35E-E0E64E12EC86}" type="datetime1">
              <a:rPr lang="en-US" smtClean="0"/>
              <a:t>11/5/2025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728300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4199989E-35DE-44B7-B35E-E0E64E12EC86}" type="datetime1">
              <a:rPr lang="en-US" smtClean="0"/>
              <a:t>11/5/2025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0369858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E2E9440-3DFA-4FE6-8145-2E7243E55A26}" type="datetime1">
              <a:rPr lang="en-US" smtClean="0"/>
              <a:t>11/5/2025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0536312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E7733A4-5D18-4D09-8F94-45F71EE3C7C2}" type="datetime1">
              <a:rPr lang="en-US" smtClean="0"/>
              <a:t>11/5/2025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6050610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11/5/2025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58368224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11/5/2025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15906575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11/5/2025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574608048"/>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11/5/2025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041004582"/>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11/5/2025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574143894"/>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076498" cy="1831185"/>
          </a:xfrm>
        </p:spPr>
        <p:txBody>
          <a:bodyPr>
            <a:normAutofit fontScale="90000"/>
          </a:bodyPr>
          <a:lstStyle/>
          <a:p>
            <a:r>
              <a:rPr lang="en-US" sz="2800" dirty="0"/>
              <a:t>Lecture 12</a:t>
            </a:r>
            <a:br>
              <a:rPr lang="en-US" sz="2800" dirty="0"/>
            </a:br>
            <a:r>
              <a:rPr lang="en-US" altLang="zh-CN" sz="2800" dirty="0"/>
              <a:t>geocoding</a:t>
            </a:r>
            <a:br>
              <a:rPr lang="en-US" sz="2800" dirty="0"/>
            </a:br>
            <a:br>
              <a:rPr lang="en-US" altLang="zh-CN" sz="2800" dirty="0"/>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3021937"/>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12.1 </a:t>
            </a:r>
            <a:br>
              <a:rPr lang="en-US" sz="4050" dirty="0">
                <a:solidFill>
                  <a:srgbClr val="FFFFFF"/>
                </a:solidFill>
              </a:rPr>
            </a:br>
            <a:r>
              <a:rPr lang="en-US" sz="4050" dirty="0">
                <a:solidFill>
                  <a:srgbClr val="FFFFFF"/>
                </a:solidFill>
              </a:rPr>
              <a:t>geocoding</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a:bodyPr>
          <a:lstStyle/>
          <a:p>
            <a:pPr>
              <a:buFont typeface="Courier New" panose="02070309020205020404" pitchFamily="49" charset="0"/>
              <a:buChar char="o"/>
            </a:pPr>
            <a:r>
              <a:rPr lang="en-US" altLang="en-US" sz="2800" dirty="0"/>
              <a:t> What is geocoding?</a:t>
            </a:r>
          </a:p>
          <a:p>
            <a:pPr>
              <a:buFont typeface="Courier New" panose="02070309020205020404" pitchFamily="49" charset="0"/>
              <a:buChar char="o"/>
            </a:pPr>
            <a:r>
              <a:rPr lang="en-US" altLang="en-US" sz="2800" dirty="0"/>
              <a:t> Why geocoding?</a:t>
            </a:r>
          </a:p>
          <a:p>
            <a:pPr>
              <a:buFont typeface="Courier New" panose="02070309020205020404" pitchFamily="49" charset="0"/>
              <a:buChar char="o"/>
            </a:pPr>
            <a:r>
              <a:rPr lang="en-US" altLang="en-US" sz="2800" dirty="0"/>
              <a:t> Geocoding requirement</a:t>
            </a:r>
          </a:p>
          <a:p>
            <a:pPr>
              <a:buFont typeface="Courier New" panose="02070309020205020404" pitchFamily="49" charset="0"/>
              <a:buChar char="o"/>
            </a:pPr>
            <a:r>
              <a:rPr lang="en-US" altLang="en-US" sz="2800" dirty="0"/>
              <a:t> Geocoding process</a:t>
            </a:r>
          </a:p>
          <a:p>
            <a:pPr marL="308610" lvl="2" indent="-308610">
              <a:buFont typeface="Courier New" panose="02070309020205020404" pitchFamily="49" charset="0"/>
              <a:buChar char="o"/>
            </a:pPr>
            <a:r>
              <a:rPr lang="en-US" altLang="en-US" sz="2800" dirty="0"/>
              <a:t>Geocoding errors and solutions</a:t>
            </a:r>
          </a:p>
          <a:p>
            <a:pPr marL="308610" lvl="2" indent="-308610">
              <a:buFont typeface="Courier New" panose="02070309020205020404" pitchFamily="49" charset="0"/>
              <a:buChar char="o"/>
            </a:pPr>
            <a:r>
              <a:rPr lang="en-US" altLang="en-US" sz="2800" dirty="0"/>
              <a:t>Other geocoding layers</a:t>
            </a:r>
          </a:p>
          <a:p>
            <a:pPr marL="817245" lvl="2" indent="-457200">
              <a:buFont typeface="Wingdings" panose="05000000000000000000" pitchFamily="2" charset="2"/>
              <a:buChar char="ü"/>
            </a:pPr>
            <a:endParaRPr lang="en-US" sz="2440"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354244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22807" y="17382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geocoding?</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391162" y="1368595"/>
            <a:ext cx="7446135" cy="2248899"/>
          </a:xfrm>
        </p:spPr>
        <p:txBody>
          <a:bodyPr>
            <a:normAutofit/>
          </a:bodyPr>
          <a:lstStyle/>
          <a:p>
            <a:pPr fontAlgn="auto">
              <a:spcAft>
                <a:spcPts val="0"/>
              </a:spcAft>
              <a:buFont typeface="Courier New" panose="02070309020205020404" pitchFamily="49" charset="0"/>
              <a:buChar char="o"/>
              <a:defRPr/>
            </a:pPr>
            <a:r>
              <a:rPr lang="en-US" sz="2000" dirty="0"/>
              <a:t>Geocoding is the process of converting location descriptions, such as addresses, into geographic coordinates that can be displayed on a map.</a:t>
            </a:r>
          </a:p>
          <a:p>
            <a:pPr fontAlgn="auto">
              <a:spcAft>
                <a:spcPts val="0"/>
              </a:spcAft>
              <a:buFont typeface="Courier New" panose="02070309020205020404" pitchFamily="49" charset="0"/>
              <a:buChar char="o"/>
              <a:defRPr/>
            </a:pPr>
            <a:endParaRPr lang="en-US" sz="2000" dirty="0"/>
          </a:p>
          <a:p>
            <a:pPr fontAlgn="auto">
              <a:spcAft>
                <a:spcPts val="0"/>
              </a:spcAft>
              <a:buFont typeface="Courier New" panose="02070309020205020404" pitchFamily="49" charset="0"/>
              <a:buChar char="o"/>
              <a:defRPr/>
            </a:pPr>
            <a:r>
              <a:rPr lang="en-US" sz="2000" i="1" dirty="0"/>
              <a:t>Address Matching </a:t>
            </a:r>
            <a:r>
              <a:rPr lang="en-US" sz="2000" dirty="0"/>
              <a:t>assigns </a:t>
            </a:r>
            <a:r>
              <a:rPr lang="en-US" sz="2000" dirty="0">
                <a:solidFill>
                  <a:srgbClr val="7030A0"/>
                </a:solidFill>
              </a:rPr>
              <a:t>spatial coordinates </a:t>
            </a:r>
            <a:r>
              <a:rPr lang="en-US" sz="2000" dirty="0"/>
              <a:t>(explicit location) to the </a:t>
            </a:r>
            <a:r>
              <a:rPr lang="en-US" sz="2000" dirty="0">
                <a:solidFill>
                  <a:srgbClr val="7030A0"/>
                </a:solidFill>
              </a:rPr>
              <a:t>Addresses</a:t>
            </a:r>
            <a:r>
              <a:rPr lang="en-US" sz="2000" dirty="0"/>
              <a:t> (implicit location).</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3199477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52400" y="16766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geocoding?</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152400" y="1104539"/>
            <a:ext cx="7446135" cy="915291"/>
          </a:xfrm>
        </p:spPr>
        <p:txBody>
          <a:bodyPr>
            <a:noAutofit/>
          </a:bodyPr>
          <a:lstStyle/>
          <a:p>
            <a:pPr fontAlgn="auto">
              <a:spcAft>
                <a:spcPts val="0"/>
              </a:spcAft>
              <a:buFont typeface="Courier New" panose="02070309020205020404" pitchFamily="49" charset="0"/>
              <a:buChar char="o"/>
              <a:defRPr/>
            </a:pPr>
            <a:r>
              <a:rPr lang="en-US" sz="2800" dirty="0"/>
              <a:t>Displays tabular data containing addresses as points on a map.</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5</a:t>
            </a:fld>
            <a:endParaRPr lang="en-US"/>
          </a:p>
        </p:txBody>
      </p:sp>
      <p:sp>
        <p:nvSpPr>
          <p:cNvPr id="5" name="TextBox 4">
            <a:extLst>
              <a:ext uri="{FF2B5EF4-FFF2-40B4-BE49-F238E27FC236}">
                <a16:creationId xmlns:a16="http://schemas.microsoft.com/office/drawing/2014/main" id="{568612F0-90C4-0452-5B90-DD91CEB382F4}"/>
              </a:ext>
            </a:extLst>
          </p:cNvPr>
          <p:cNvSpPr txBox="1"/>
          <p:nvPr/>
        </p:nvSpPr>
        <p:spPr>
          <a:xfrm>
            <a:off x="5139381" y="4860419"/>
            <a:ext cx="2575775" cy="230832"/>
          </a:xfrm>
          <a:prstGeom prst="rect">
            <a:avLst/>
          </a:prstGeom>
          <a:noFill/>
        </p:spPr>
        <p:txBody>
          <a:bodyPr wrap="square" rtlCol="0">
            <a:spAutoFit/>
          </a:bodyPr>
          <a:lstStyle/>
          <a:p>
            <a:r>
              <a:rPr lang="en-US" sz="900" dirty="0">
                <a:solidFill>
                  <a:srgbClr val="7030A0"/>
                </a:solidFill>
              </a:rPr>
              <a:t>https://guides.library.illinois.edu/Geocoding</a:t>
            </a:r>
          </a:p>
        </p:txBody>
      </p:sp>
      <p:pic>
        <p:nvPicPr>
          <p:cNvPr id="4" name="Picture 3">
            <a:extLst>
              <a:ext uri="{FF2B5EF4-FFF2-40B4-BE49-F238E27FC236}">
                <a16:creationId xmlns:a16="http://schemas.microsoft.com/office/drawing/2014/main" id="{BDBF26A4-1E8D-C1B5-1B89-ED21F074B335}"/>
              </a:ext>
            </a:extLst>
          </p:cNvPr>
          <p:cNvPicPr>
            <a:picLocks noChangeAspect="1"/>
          </p:cNvPicPr>
          <p:nvPr/>
        </p:nvPicPr>
        <p:blipFill>
          <a:blip r:embed="rId3"/>
          <a:stretch>
            <a:fillRect/>
          </a:stretch>
        </p:blipFill>
        <p:spPr>
          <a:xfrm>
            <a:off x="534698" y="1980425"/>
            <a:ext cx="6681537" cy="2837511"/>
          </a:xfrm>
          <a:prstGeom prst="rect">
            <a:avLst/>
          </a:prstGeom>
        </p:spPr>
      </p:pic>
    </p:spTree>
    <p:extLst>
      <p:ext uri="{BB962C8B-B14F-4D97-AF65-F5344CB8AC3E}">
        <p14:creationId xmlns:p14="http://schemas.microsoft.com/office/powerpoint/2010/main" val="3413593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70933" y="2349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152400" y="1092234"/>
            <a:ext cx="7446135" cy="3167062"/>
          </a:xfrm>
        </p:spPr>
        <p:txBody>
          <a:bodyPr>
            <a:normAutofit/>
          </a:bodyPr>
          <a:lstStyle/>
          <a:p>
            <a:pPr fontAlgn="auto">
              <a:spcAft>
                <a:spcPts val="0"/>
              </a:spcAft>
              <a:buFont typeface="Courier New" panose="02070309020205020404" pitchFamily="49" charset="0"/>
              <a:buChar char="o"/>
              <a:defRPr/>
            </a:pPr>
            <a:r>
              <a:rPr lang="en-US" sz="2400" dirty="0"/>
              <a:t>Geocoding requires two sets of data</a:t>
            </a:r>
          </a:p>
          <a:p>
            <a:pPr lvl="1">
              <a:buFont typeface="Wingdings" panose="05000000000000000000" pitchFamily="2" charset="2"/>
              <a:buChar char="ü"/>
              <a:defRPr/>
            </a:pPr>
            <a:r>
              <a:rPr lang="en-US" sz="2400" dirty="0"/>
              <a:t>A tabular address: individual street address is in a table.</a:t>
            </a:r>
          </a:p>
          <a:p>
            <a:pPr lvl="1">
              <a:buFont typeface="Wingdings" panose="05000000000000000000" pitchFamily="2" charset="2"/>
              <a:buChar char="ü"/>
              <a:defRPr/>
            </a:pPr>
            <a:r>
              <a:rPr lang="en-US" sz="2400" dirty="0"/>
              <a:t>A reference database: consists of a street map and attributes for each street segment such as the street name, address ranges, and ZIP codes.</a:t>
            </a:r>
          </a:p>
          <a:p>
            <a:pPr fontAlgn="auto">
              <a:spcAft>
                <a:spcPts val="0"/>
              </a:spcAft>
              <a:buFont typeface="Courier New" panose="02070309020205020404" pitchFamily="49" charset="0"/>
              <a:buChar char="o"/>
              <a:defRPr/>
            </a:pPr>
            <a:endParaRPr lang="en-US" sz="2400" dirty="0"/>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2159732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94996" y="21034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152400" y="1092233"/>
            <a:ext cx="7446135" cy="3948873"/>
          </a:xfrm>
        </p:spPr>
        <p:txBody>
          <a:bodyPr>
            <a:normAutofit/>
          </a:bodyPr>
          <a:lstStyle/>
          <a:p>
            <a:pPr fontAlgn="auto">
              <a:spcAft>
                <a:spcPts val="0"/>
              </a:spcAft>
              <a:buFont typeface="Courier New" panose="02070309020205020404" pitchFamily="49" charset="0"/>
              <a:buChar char="o"/>
              <a:defRPr/>
            </a:pPr>
            <a:r>
              <a:rPr lang="en-US" sz="1800" dirty="0"/>
              <a:t>Geocoding requires two sets of data</a:t>
            </a:r>
          </a:p>
          <a:p>
            <a:pPr lvl="1">
              <a:buFont typeface="Wingdings" panose="05000000000000000000" pitchFamily="2" charset="2"/>
              <a:buChar char="ü"/>
              <a:defRPr/>
            </a:pPr>
            <a:r>
              <a:rPr lang="en-US" sz="1800" dirty="0"/>
              <a:t>A tabular address: source data</a:t>
            </a:r>
          </a:p>
          <a:p>
            <a:pPr lvl="2">
              <a:buFont typeface="Arial" panose="020B0604020202020204" pitchFamily="34" charset="0"/>
              <a:buChar char="•"/>
              <a:defRPr/>
            </a:pPr>
            <a:r>
              <a:rPr lang="en-US" sz="1800" dirty="0"/>
              <a:t>Formatted</a:t>
            </a:r>
          </a:p>
          <a:p>
            <a:pPr lvl="2">
              <a:buFont typeface="Arial" panose="020B0604020202020204" pitchFamily="34" charset="0"/>
              <a:buChar char="•"/>
              <a:defRPr/>
            </a:pPr>
            <a:r>
              <a:rPr lang="en-US" sz="1800" dirty="0"/>
              <a:t>Abbreviations should be standardized and grammatical errors corrected</a:t>
            </a:r>
          </a:p>
          <a:p>
            <a:pPr lvl="2">
              <a:buFont typeface="Arial" panose="020B0604020202020204" pitchFamily="34" charset="0"/>
              <a:buChar char="•"/>
              <a:defRPr/>
            </a:pPr>
            <a:r>
              <a:rPr lang="en-US" sz="1800" dirty="0"/>
              <a:t>When geocoding street addresses, data must include an address field with street number and name, and can include one or more of the following:</a:t>
            </a:r>
          </a:p>
          <a:p>
            <a:pPr lvl="3">
              <a:buFont typeface="Wingdings" panose="05000000000000000000" pitchFamily="2" charset="2"/>
              <a:buChar char="Ø"/>
              <a:defRPr/>
            </a:pPr>
            <a:r>
              <a:rPr lang="en-US" sz="1800" dirty="0"/>
              <a:t>Street prefix direction (</a:t>
            </a:r>
            <a:r>
              <a:rPr lang="en-US" sz="1800" dirty="0">
                <a:solidFill>
                  <a:srgbClr val="7030A0"/>
                </a:solidFill>
              </a:rPr>
              <a:t>W</a:t>
            </a:r>
            <a:r>
              <a:rPr lang="en-US" sz="1800" dirty="0"/>
              <a:t>. Redlands Blvd.)</a:t>
            </a:r>
          </a:p>
          <a:p>
            <a:pPr lvl="3">
              <a:buFont typeface="Wingdings" panose="05000000000000000000" pitchFamily="2" charset="2"/>
              <a:buChar char="Ø"/>
              <a:defRPr/>
            </a:pPr>
            <a:r>
              <a:rPr lang="en-US" sz="1800" dirty="0"/>
              <a:t>prefix type (</a:t>
            </a:r>
            <a:r>
              <a:rPr lang="en-US" sz="1800" dirty="0">
                <a:solidFill>
                  <a:srgbClr val="7030A0"/>
                </a:solidFill>
              </a:rPr>
              <a:t>Avenue</a:t>
            </a:r>
            <a:r>
              <a:rPr lang="en-US" sz="1800" dirty="0"/>
              <a:t> B)</a:t>
            </a:r>
          </a:p>
          <a:p>
            <a:pPr lvl="3">
              <a:buFont typeface="Wingdings" panose="05000000000000000000" pitchFamily="2" charset="2"/>
              <a:buChar char="Ø"/>
              <a:defRPr/>
            </a:pPr>
            <a:r>
              <a:rPr lang="en-US" sz="1800" dirty="0"/>
              <a:t>street type (W. Redlands </a:t>
            </a:r>
            <a:r>
              <a:rPr lang="en-US" sz="1800" dirty="0">
                <a:solidFill>
                  <a:srgbClr val="7030A0"/>
                </a:solidFill>
              </a:rPr>
              <a:t>Blvd.</a:t>
            </a:r>
            <a:r>
              <a:rPr lang="en-US" sz="1800" dirty="0"/>
              <a:t>)</a:t>
            </a:r>
          </a:p>
          <a:p>
            <a:pPr lvl="3">
              <a:buFont typeface="Wingdings" panose="05000000000000000000" pitchFamily="2" charset="2"/>
              <a:buChar char="Ø"/>
              <a:defRPr/>
            </a:pPr>
            <a:r>
              <a:rPr lang="en-US" sz="1800" dirty="0"/>
              <a:t>suffix direction (Park Ave. </a:t>
            </a:r>
            <a:r>
              <a:rPr lang="en-US" sz="1800" dirty="0">
                <a:solidFill>
                  <a:srgbClr val="7030A0"/>
                </a:solidFill>
              </a:rPr>
              <a:t>West.</a:t>
            </a:r>
            <a:r>
              <a:rPr lang="en-US" sz="1800" dirty="0"/>
              <a:t>)</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1558640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38848" y="2393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152400" y="1092233"/>
            <a:ext cx="7446135" cy="1410334"/>
          </a:xfrm>
        </p:spPr>
        <p:txBody>
          <a:bodyPr>
            <a:noAutofit/>
          </a:bodyPr>
          <a:lstStyle/>
          <a:p>
            <a:pPr fontAlgn="auto">
              <a:spcAft>
                <a:spcPts val="0"/>
              </a:spcAft>
              <a:buFont typeface="Courier New" panose="02070309020205020404" pitchFamily="49" charset="0"/>
              <a:buChar char="o"/>
              <a:defRPr/>
            </a:pPr>
            <a:r>
              <a:rPr lang="en-US" sz="1800" dirty="0"/>
              <a:t>Geocoding requires two sets of data</a:t>
            </a:r>
          </a:p>
          <a:p>
            <a:pPr lvl="1">
              <a:buFont typeface="Wingdings" panose="05000000000000000000" pitchFamily="2" charset="2"/>
              <a:buChar char="ü"/>
              <a:defRPr/>
            </a:pPr>
            <a:r>
              <a:rPr lang="en-US" sz="1800" dirty="0"/>
              <a:t>A tabular address: source data</a:t>
            </a:r>
          </a:p>
          <a:p>
            <a:pPr lvl="2">
              <a:buFont typeface="Arial" panose="020B0604020202020204" pitchFamily="34" charset="0"/>
              <a:buChar char="•"/>
              <a:defRPr/>
            </a:pPr>
            <a:r>
              <a:rPr lang="en-US" sz="1800" dirty="0"/>
              <a:t>Street intersections may also be included in the address field. (</a:t>
            </a:r>
            <a:r>
              <a:rPr lang="en-US" sz="1800" dirty="0">
                <a:solidFill>
                  <a:srgbClr val="7030A0"/>
                </a:solidFill>
              </a:rPr>
              <a:t>Main St. &amp; Ave A</a:t>
            </a:r>
            <a:r>
              <a:rPr lang="en-US" sz="1800" dirty="0"/>
              <a:t>)</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8" name="Picture 7" descr="Tabular address example">
            <a:extLst>
              <a:ext uri="{FF2B5EF4-FFF2-40B4-BE49-F238E27FC236}">
                <a16:creationId xmlns:a16="http://schemas.microsoft.com/office/drawing/2014/main" id="{539FDDCB-9231-8DF1-9AFE-66CFF37F995B}"/>
              </a:ext>
            </a:extLst>
          </p:cNvPr>
          <p:cNvPicPr>
            <a:picLocks noChangeAspect="1"/>
          </p:cNvPicPr>
          <p:nvPr/>
        </p:nvPicPr>
        <p:blipFill>
          <a:blip r:embed="rId3"/>
          <a:stretch>
            <a:fillRect/>
          </a:stretch>
        </p:blipFill>
        <p:spPr>
          <a:xfrm>
            <a:off x="1695112" y="2502567"/>
            <a:ext cx="4839375" cy="2114845"/>
          </a:xfrm>
          <a:prstGeom prst="rect">
            <a:avLst/>
          </a:prstGeom>
        </p:spPr>
      </p:pic>
    </p:spTree>
    <p:extLst>
      <p:ext uri="{BB962C8B-B14F-4D97-AF65-F5344CB8AC3E}">
        <p14:creationId xmlns:p14="http://schemas.microsoft.com/office/powerpoint/2010/main" val="3402995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52400" y="18430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216568" y="922910"/>
            <a:ext cx="7860632" cy="1322104"/>
          </a:xfrm>
        </p:spPr>
        <p:txBody>
          <a:bodyPr>
            <a:noAutofit/>
          </a:bodyPr>
          <a:lstStyle/>
          <a:p>
            <a:pPr fontAlgn="auto">
              <a:spcAft>
                <a:spcPts val="0"/>
              </a:spcAft>
              <a:buFont typeface="Courier New" panose="02070309020205020404" pitchFamily="49" charset="0"/>
              <a:buChar char="o"/>
              <a:defRPr/>
            </a:pPr>
            <a:r>
              <a:rPr lang="en-US" sz="1800" dirty="0"/>
              <a:t>Geocoding requires two sets of data</a:t>
            </a:r>
          </a:p>
          <a:p>
            <a:pPr lvl="1">
              <a:buFont typeface="Wingdings" panose="05000000000000000000" pitchFamily="2" charset="2"/>
              <a:buChar char="ü"/>
              <a:defRPr/>
            </a:pPr>
            <a:r>
              <a:rPr lang="en-US" sz="1800" dirty="0"/>
              <a:t>A tabular address: source data</a:t>
            </a:r>
          </a:p>
          <a:p>
            <a:pPr lvl="2">
              <a:buFont typeface="Arial" panose="020B0604020202020204" pitchFamily="34" charset="0"/>
              <a:buChar char="•"/>
              <a:defRPr/>
            </a:pPr>
            <a:r>
              <a:rPr lang="en-US" sz="1800" dirty="0"/>
              <a:t>ArcGIS require your address information to be contained in </a:t>
            </a:r>
            <a:r>
              <a:rPr lang="en-US" sz="1800" dirty="0">
                <a:solidFill>
                  <a:srgbClr val="7030A0"/>
                </a:solidFill>
              </a:rPr>
              <a:t>a single field</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5" name="Picture 4" descr="Tabular address example">
            <a:extLst>
              <a:ext uri="{FF2B5EF4-FFF2-40B4-BE49-F238E27FC236}">
                <a16:creationId xmlns:a16="http://schemas.microsoft.com/office/drawing/2014/main" id="{6BEC170A-C9F6-647C-19F2-9B2FC4DDDE71}"/>
              </a:ext>
            </a:extLst>
          </p:cNvPr>
          <p:cNvPicPr>
            <a:picLocks noChangeAspect="1"/>
          </p:cNvPicPr>
          <p:nvPr/>
        </p:nvPicPr>
        <p:blipFill>
          <a:blip r:embed="rId3"/>
          <a:stretch>
            <a:fillRect/>
          </a:stretch>
        </p:blipFill>
        <p:spPr>
          <a:xfrm>
            <a:off x="2726205" y="2268695"/>
            <a:ext cx="4822762" cy="2352923"/>
          </a:xfrm>
          <a:prstGeom prst="rect">
            <a:avLst/>
          </a:prstGeom>
        </p:spPr>
      </p:pic>
      <p:sp>
        <p:nvSpPr>
          <p:cNvPr id="6" name="TextBox 5">
            <a:extLst>
              <a:ext uri="{FF2B5EF4-FFF2-40B4-BE49-F238E27FC236}">
                <a16:creationId xmlns:a16="http://schemas.microsoft.com/office/drawing/2014/main" id="{EE83798A-485D-7405-1E50-69575E06E823}"/>
              </a:ext>
            </a:extLst>
          </p:cNvPr>
          <p:cNvSpPr txBox="1"/>
          <p:nvPr/>
        </p:nvSpPr>
        <p:spPr>
          <a:xfrm>
            <a:off x="152400" y="4829037"/>
            <a:ext cx="6096000" cy="230832"/>
          </a:xfrm>
          <a:prstGeom prst="rect">
            <a:avLst/>
          </a:prstGeom>
          <a:noFill/>
        </p:spPr>
        <p:txBody>
          <a:bodyPr wrap="square" rtlCol="0">
            <a:spAutoFit/>
          </a:bodyPr>
          <a:lstStyle/>
          <a:p>
            <a:r>
              <a:rPr lang="en-US" sz="900" dirty="0">
                <a:solidFill>
                  <a:srgbClr val="7030A0"/>
                </a:solidFill>
              </a:rPr>
              <a:t>https://www.slideserve.com/nysa/geocoding-1313468-powerpoint-ppt-presentation</a:t>
            </a:r>
          </a:p>
        </p:txBody>
      </p:sp>
    </p:spTree>
    <p:extLst>
      <p:ext uri="{BB962C8B-B14F-4D97-AF65-F5344CB8AC3E}">
        <p14:creationId xmlns:p14="http://schemas.microsoft.com/office/powerpoint/2010/main" val="20564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38849" y="15032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328863" y="1148381"/>
            <a:ext cx="7446135" cy="3167062"/>
          </a:xfrm>
        </p:spPr>
        <p:txBody>
          <a:bodyPr>
            <a:normAutofit/>
          </a:bodyPr>
          <a:lstStyle/>
          <a:p>
            <a:pPr fontAlgn="auto">
              <a:spcAft>
                <a:spcPts val="0"/>
              </a:spcAft>
              <a:buFont typeface="Courier New" panose="02070309020205020404" pitchFamily="49" charset="0"/>
              <a:buChar char="o"/>
              <a:defRPr/>
            </a:pPr>
            <a:r>
              <a:rPr lang="en-US" sz="2000" dirty="0"/>
              <a:t>Geocoding requires two sets of data</a:t>
            </a:r>
          </a:p>
          <a:p>
            <a:pPr lvl="1">
              <a:buFont typeface="Wingdings" panose="05000000000000000000" pitchFamily="2" charset="2"/>
              <a:buChar char="ü"/>
              <a:defRPr/>
            </a:pPr>
            <a:r>
              <a:rPr lang="en-US" sz="2000" dirty="0"/>
              <a:t>A reference database: destination data</a:t>
            </a:r>
          </a:p>
          <a:p>
            <a:pPr lvl="2">
              <a:buFont typeface="Arial" panose="020B0604020202020204" pitchFamily="34" charset="0"/>
              <a:buChar char="•"/>
              <a:defRPr/>
            </a:pPr>
            <a:r>
              <a:rPr lang="en-US" sz="2000" dirty="0"/>
              <a:t>In most cases, the reference database in the U.S. is some variant of the Topologically Integrated Geographic Encoding and Referencing (TIGER) files produced by the U.S. Census Bureau.</a:t>
            </a:r>
          </a:p>
          <a:p>
            <a:pPr lvl="2">
              <a:buFont typeface="Arial" panose="020B0604020202020204" pitchFamily="34" charset="0"/>
              <a:buChar char="•"/>
              <a:defRPr/>
            </a:pPr>
            <a:r>
              <a:rPr lang="en-US" sz="2000" dirty="0"/>
              <a:t>TIGER/Line files provide information on streets, rivers, railroads, and other line features, where they intersect, and the areas they enclose, in a form that can be processed by a computer. </a:t>
            </a:r>
          </a:p>
          <a:p>
            <a:pPr marL="0" indent="0" fontAlgn="auto">
              <a:spcAft>
                <a:spcPts val="0"/>
              </a:spcAft>
              <a:buNone/>
              <a:defRPr/>
            </a:pPr>
            <a:endParaRPr lang="en-US" sz="2000" dirty="0"/>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739591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54891" y="26681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152400" y="973584"/>
            <a:ext cx="7446135" cy="1225850"/>
          </a:xfrm>
        </p:spPr>
        <p:txBody>
          <a:bodyPr>
            <a:noAutofit/>
          </a:bodyPr>
          <a:lstStyle/>
          <a:p>
            <a:pPr fontAlgn="auto">
              <a:spcAft>
                <a:spcPts val="0"/>
              </a:spcAft>
              <a:buFont typeface="Courier New" panose="02070309020205020404" pitchFamily="49" charset="0"/>
              <a:buChar char="o"/>
              <a:defRPr/>
            </a:pPr>
            <a:r>
              <a:rPr lang="en-US" sz="2000" dirty="0"/>
              <a:t>Geocoding requires two sets of data</a:t>
            </a:r>
          </a:p>
          <a:p>
            <a:pPr lvl="1">
              <a:buFont typeface="Wingdings" panose="05000000000000000000" pitchFamily="2" charset="2"/>
              <a:buChar char="ü"/>
              <a:defRPr/>
            </a:pPr>
            <a:r>
              <a:rPr lang="en-US" sz="2000" dirty="0"/>
              <a:t>A reference database</a:t>
            </a:r>
          </a:p>
          <a:p>
            <a:pPr lvl="2">
              <a:buFont typeface="Arial" panose="020B0604020202020204" pitchFamily="34" charset="0"/>
              <a:buChar char="•"/>
              <a:defRPr/>
            </a:pPr>
            <a:r>
              <a:rPr lang="en-US" sz="2000" dirty="0"/>
              <a:t>TIGER/Line files to maintain the Topology</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4" name="Picture 3" descr="Reference example">
            <a:extLst>
              <a:ext uri="{FF2B5EF4-FFF2-40B4-BE49-F238E27FC236}">
                <a16:creationId xmlns:a16="http://schemas.microsoft.com/office/drawing/2014/main" id="{85ECC7F2-1ECF-6C27-19F3-83FBAE3AA41E}"/>
              </a:ext>
            </a:extLst>
          </p:cNvPr>
          <p:cNvPicPr>
            <a:picLocks noChangeAspect="1"/>
          </p:cNvPicPr>
          <p:nvPr/>
        </p:nvPicPr>
        <p:blipFill>
          <a:blip r:embed="rId3"/>
          <a:stretch>
            <a:fillRect/>
          </a:stretch>
        </p:blipFill>
        <p:spPr>
          <a:xfrm>
            <a:off x="832974" y="2433312"/>
            <a:ext cx="6639852" cy="2333951"/>
          </a:xfrm>
          <a:prstGeom prst="rect">
            <a:avLst/>
          </a:prstGeom>
        </p:spPr>
      </p:pic>
    </p:spTree>
    <p:extLst>
      <p:ext uri="{BB962C8B-B14F-4D97-AF65-F5344CB8AC3E}">
        <p14:creationId xmlns:p14="http://schemas.microsoft.com/office/powerpoint/2010/main" val="332031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47650" y="2349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247650" y="1020044"/>
            <a:ext cx="7446135" cy="1009280"/>
          </a:xfrm>
        </p:spPr>
        <p:txBody>
          <a:bodyPr>
            <a:noAutofit/>
          </a:bodyPr>
          <a:lstStyle/>
          <a:p>
            <a:pPr fontAlgn="auto">
              <a:spcAft>
                <a:spcPts val="0"/>
              </a:spcAft>
              <a:buFont typeface="Courier New" panose="02070309020205020404" pitchFamily="49" charset="0"/>
              <a:buChar char="o"/>
              <a:defRPr/>
            </a:pPr>
            <a:r>
              <a:rPr lang="en-US" sz="2000" dirty="0"/>
              <a:t>Geocoding requires two sets of data</a:t>
            </a:r>
          </a:p>
          <a:p>
            <a:pPr lvl="1">
              <a:buFont typeface="Wingdings" panose="05000000000000000000" pitchFamily="2" charset="2"/>
              <a:buChar char="ü"/>
              <a:defRPr/>
            </a:pPr>
            <a:r>
              <a:rPr lang="en-US" sz="2000" dirty="0"/>
              <a:t>A reference database</a:t>
            </a:r>
          </a:p>
          <a:p>
            <a:pPr lvl="2">
              <a:buFont typeface="Arial" panose="020B0604020202020204" pitchFamily="34" charset="0"/>
              <a:buChar char="•"/>
              <a:defRPr/>
            </a:pPr>
            <a:r>
              <a:rPr lang="en-US" sz="2000" dirty="0"/>
              <a:t>TIGER/Line files</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12</a:t>
            </a:fld>
            <a:endParaRPr lang="en-US"/>
          </a:p>
        </p:txBody>
      </p:sp>
      <p:pic>
        <p:nvPicPr>
          <p:cNvPr id="5" name="Picture 4" descr="Reference example">
            <a:extLst>
              <a:ext uri="{FF2B5EF4-FFF2-40B4-BE49-F238E27FC236}">
                <a16:creationId xmlns:a16="http://schemas.microsoft.com/office/drawing/2014/main" id="{34E43B7E-BA81-76B5-606A-80A5EFD9948B}"/>
              </a:ext>
            </a:extLst>
          </p:cNvPr>
          <p:cNvPicPr>
            <a:picLocks noChangeAspect="1"/>
          </p:cNvPicPr>
          <p:nvPr/>
        </p:nvPicPr>
        <p:blipFill>
          <a:blip r:embed="rId3"/>
          <a:stretch>
            <a:fillRect/>
          </a:stretch>
        </p:blipFill>
        <p:spPr>
          <a:xfrm>
            <a:off x="1714499" y="2125404"/>
            <a:ext cx="5825289" cy="2778782"/>
          </a:xfrm>
          <a:prstGeom prst="rect">
            <a:avLst/>
          </a:prstGeom>
        </p:spPr>
      </p:pic>
    </p:spTree>
    <p:extLst>
      <p:ext uri="{BB962C8B-B14F-4D97-AF65-F5344CB8AC3E}">
        <p14:creationId xmlns:p14="http://schemas.microsoft.com/office/powerpoint/2010/main" val="534863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52400" y="18431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152400" y="974786"/>
            <a:ext cx="7446135" cy="1346166"/>
          </a:xfrm>
        </p:spPr>
        <p:txBody>
          <a:bodyPr>
            <a:normAutofit/>
          </a:bodyPr>
          <a:lstStyle/>
          <a:p>
            <a:pPr fontAlgn="auto">
              <a:spcAft>
                <a:spcPts val="0"/>
              </a:spcAft>
              <a:buFont typeface="Courier New" panose="02070309020205020404" pitchFamily="49" charset="0"/>
              <a:buChar char="o"/>
              <a:defRPr/>
            </a:pPr>
            <a:r>
              <a:rPr lang="en-US" sz="2000" dirty="0"/>
              <a:t>Geocoding requires two sets of data</a:t>
            </a:r>
          </a:p>
          <a:p>
            <a:pPr lvl="1">
              <a:buFont typeface="Wingdings" panose="05000000000000000000" pitchFamily="2" charset="2"/>
              <a:buChar char="ü"/>
              <a:defRPr/>
            </a:pPr>
            <a:r>
              <a:rPr lang="en-US" sz="2000" dirty="0"/>
              <a:t>A reference database</a:t>
            </a:r>
          </a:p>
          <a:p>
            <a:pPr lvl="2">
              <a:buFont typeface="Arial" panose="020B0604020202020204" pitchFamily="34" charset="0"/>
              <a:buChar char="•"/>
              <a:defRPr/>
            </a:pPr>
            <a:r>
              <a:rPr lang="en-US" sz="2000" dirty="0"/>
              <a:t>TIGER/Line files</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2050" name="Picture 2" descr="Reference example">
            <a:extLst>
              <a:ext uri="{FF2B5EF4-FFF2-40B4-BE49-F238E27FC236}">
                <a16:creationId xmlns:a16="http://schemas.microsoft.com/office/drawing/2014/main" id="{894E482A-24F1-1AB3-57D5-43E275BBB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8778" y="1698542"/>
            <a:ext cx="3789757" cy="334256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402F755-0EA4-BBC8-B3A0-389F124649CD}"/>
              </a:ext>
            </a:extLst>
          </p:cNvPr>
          <p:cNvSpPr txBox="1"/>
          <p:nvPr/>
        </p:nvSpPr>
        <p:spPr>
          <a:xfrm>
            <a:off x="152400" y="4714596"/>
            <a:ext cx="3379781" cy="369332"/>
          </a:xfrm>
          <a:prstGeom prst="rect">
            <a:avLst/>
          </a:prstGeom>
          <a:noFill/>
        </p:spPr>
        <p:txBody>
          <a:bodyPr wrap="square" rtlCol="0">
            <a:spAutoFit/>
          </a:bodyPr>
          <a:lstStyle/>
          <a:p>
            <a:r>
              <a:rPr lang="en-US" sz="900" dirty="0">
                <a:solidFill>
                  <a:srgbClr val="7030A0"/>
                </a:solidFill>
              </a:rPr>
              <a:t>https://www.e-education.psu.edu/natureofgeoinfo/book/export/html/1730</a:t>
            </a:r>
          </a:p>
        </p:txBody>
      </p:sp>
    </p:spTree>
    <p:extLst>
      <p:ext uri="{BB962C8B-B14F-4D97-AF65-F5344CB8AC3E}">
        <p14:creationId xmlns:p14="http://schemas.microsoft.com/office/powerpoint/2010/main" val="3574898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14786" y="2349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process</a:t>
            </a:r>
            <a:endParaRPr lang="en-US" sz="2600" i="1" dirty="0">
              <a:solidFill>
                <a:srgbClr val="7030A0"/>
              </a:solidFill>
            </a:endParaRPr>
          </a:p>
        </p:txBody>
      </p:sp>
      <p:sp>
        <p:nvSpPr>
          <p:cNvPr id="2" name="Content Placeholder 2">
            <a:extLst>
              <a:ext uri="{FF2B5EF4-FFF2-40B4-BE49-F238E27FC236}">
                <a16:creationId xmlns:a16="http://schemas.microsoft.com/office/drawing/2014/main" id="{5ECED4F8-A2C3-77DB-8325-C74E243A9856}"/>
              </a:ext>
            </a:extLst>
          </p:cNvPr>
          <p:cNvSpPr>
            <a:spLocks noGrp="1"/>
          </p:cNvSpPr>
          <p:nvPr>
            <p:ph idx="1"/>
          </p:nvPr>
        </p:nvSpPr>
        <p:spPr>
          <a:xfrm>
            <a:off x="429832" y="1092234"/>
            <a:ext cx="7446135" cy="3167062"/>
          </a:xfrm>
        </p:spPr>
        <p:txBody>
          <a:bodyPr>
            <a:normAutofit/>
          </a:bodyPr>
          <a:lstStyle/>
          <a:p>
            <a:pPr fontAlgn="auto">
              <a:spcAft>
                <a:spcPts val="0"/>
              </a:spcAft>
              <a:buFont typeface="Courier New" panose="02070309020205020404" pitchFamily="49" charset="0"/>
              <a:buChar char="o"/>
              <a:defRPr/>
            </a:pPr>
            <a:r>
              <a:rPr lang="en-US" sz="2000" dirty="0"/>
              <a:t>Address matching process consists of three phases: preprocessing, matching, and plotting.</a:t>
            </a:r>
          </a:p>
          <a:p>
            <a:pPr lvl="1">
              <a:buFont typeface="Wingdings" panose="05000000000000000000" pitchFamily="2" charset="2"/>
              <a:buChar char="ü"/>
              <a:defRPr/>
            </a:pPr>
            <a:r>
              <a:rPr lang="en-US" sz="2000" dirty="0"/>
              <a:t>The preprocessing phase involves parsing and addressing standardization</a:t>
            </a:r>
          </a:p>
          <a:p>
            <a:pPr lvl="1">
              <a:buFont typeface="Wingdings" panose="05000000000000000000" pitchFamily="2" charset="2"/>
              <a:buChar char="ü"/>
              <a:defRPr/>
            </a:pPr>
            <a:r>
              <a:rPr lang="en-US" sz="2000" dirty="0"/>
              <a:t>In the matching phase, the geocoding engine matches the address against a reference database</a:t>
            </a:r>
          </a:p>
          <a:p>
            <a:pPr lvl="1">
              <a:buFont typeface="Wingdings" panose="05000000000000000000" pitchFamily="2" charset="2"/>
              <a:buChar char="ü"/>
              <a:defRPr/>
            </a:pPr>
            <a:r>
              <a:rPr lang="en-US" sz="2000" dirty="0"/>
              <a:t>If an address is judged to be matched, it is plotted as a point feature by interpolating where the address falls within the address range</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extLst>
      <p:ext uri="{BB962C8B-B14F-4D97-AF65-F5344CB8AC3E}">
        <p14:creationId xmlns:p14="http://schemas.microsoft.com/office/powerpoint/2010/main" val="2057385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52400" y="2042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process</a:t>
            </a:r>
            <a:endParaRPr lang="en-US" sz="2600" i="1" dirty="0">
              <a:solidFill>
                <a:srgbClr val="7030A0"/>
              </a:solidFill>
            </a:endParaRP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15</a:t>
            </a:fld>
            <a:endParaRPr lang="en-US"/>
          </a:p>
        </p:txBody>
      </p:sp>
      <p:pic>
        <p:nvPicPr>
          <p:cNvPr id="7" name="Picture 6" descr="Geocoding process">
            <a:extLst>
              <a:ext uri="{FF2B5EF4-FFF2-40B4-BE49-F238E27FC236}">
                <a16:creationId xmlns:a16="http://schemas.microsoft.com/office/drawing/2014/main" id="{257B0256-DFFC-6885-D4EE-1CCF41877E1B}"/>
              </a:ext>
            </a:extLst>
          </p:cNvPr>
          <p:cNvPicPr>
            <a:picLocks noChangeAspect="1"/>
          </p:cNvPicPr>
          <p:nvPr/>
        </p:nvPicPr>
        <p:blipFill>
          <a:blip r:embed="rId3"/>
          <a:stretch>
            <a:fillRect/>
          </a:stretch>
        </p:blipFill>
        <p:spPr>
          <a:xfrm>
            <a:off x="1486128" y="1200150"/>
            <a:ext cx="5257344" cy="3567113"/>
          </a:xfrm>
          <a:prstGeom prst="rect">
            <a:avLst/>
          </a:prstGeom>
        </p:spPr>
      </p:pic>
    </p:spTree>
    <p:extLst>
      <p:ext uri="{BB962C8B-B14F-4D97-AF65-F5344CB8AC3E}">
        <p14:creationId xmlns:p14="http://schemas.microsoft.com/office/powerpoint/2010/main" val="3033806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30828" y="17141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process</a:t>
            </a:r>
            <a:endParaRPr lang="en-US" sz="2600" i="1" dirty="0">
              <a:solidFill>
                <a:srgbClr val="7030A0"/>
              </a:solidFill>
            </a:endParaRP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3" name="Picture 2" descr="Geocoding process">
            <a:extLst>
              <a:ext uri="{FF2B5EF4-FFF2-40B4-BE49-F238E27FC236}">
                <a16:creationId xmlns:a16="http://schemas.microsoft.com/office/drawing/2014/main" id="{BA5CA33E-EBE8-9D81-308B-EDC4A64B7EEF}"/>
              </a:ext>
            </a:extLst>
          </p:cNvPr>
          <p:cNvPicPr>
            <a:picLocks noChangeAspect="1"/>
          </p:cNvPicPr>
          <p:nvPr/>
        </p:nvPicPr>
        <p:blipFill>
          <a:blip r:embed="rId3"/>
          <a:stretch>
            <a:fillRect/>
          </a:stretch>
        </p:blipFill>
        <p:spPr>
          <a:xfrm>
            <a:off x="869549" y="1305684"/>
            <a:ext cx="6490502" cy="2770527"/>
          </a:xfrm>
          <a:prstGeom prst="rect">
            <a:avLst/>
          </a:prstGeom>
        </p:spPr>
      </p:pic>
    </p:spTree>
    <p:extLst>
      <p:ext uri="{BB962C8B-B14F-4D97-AF65-F5344CB8AC3E}">
        <p14:creationId xmlns:p14="http://schemas.microsoft.com/office/powerpoint/2010/main" val="1239933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66687" y="1828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process</a:t>
            </a:r>
            <a:endParaRPr lang="en-US" sz="2600" i="1" dirty="0">
              <a:solidFill>
                <a:srgbClr val="7030A0"/>
              </a:solidFill>
            </a:endParaRP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17</a:t>
            </a:fld>
            <a:endParaRPr lang="en-US"/>
          </a:p>
        </p:txBody>
      </p:sp>
      <p:pic>
        <p:nvPicPr>
          <p:cNvPr id="4" name="Picture 3" descr="Geocoding process">
            <a:extLst>
              <a:ext uri="{FF2B5EF4-FFF2-40B4-BE49-F238E27FC236}">
                <a16:creationId xmlns:a16="http://schemas.microsoft.com/office/drawing/2014/main" id="{EA283BD4-3D06-52BE-59F8-ED39D3C2D4E4}"/>
              </a:ext>
            </a:extLst>
          </p:cNvPr>
          <p:cNvPicPr>
            <a:picLocks noChangeAspect="1"/>
          </p:cNvPicPr>
          <p:nvPr/>
        </p:nvPicPr>
        <p:blipFill>
          <a:blip r:embed="rId3"/>
          <a:stretch>
            <a:fillRect/>
          </a:stretch>
        </p:blipFill>
        <p:spPr>
          <a:xfrm>
            <a:off x="2042977" y="2186262"/>
            <a:ext cx="4524387" cy="2774388"/>
          </a:xfrm>
          <a:prstGeom prst="rect">
            <a:avLst/>
          </a:prstGeom>
        </p:spPr>
      </p:pic>
      <p:sp>
        <p:nvSpPr>
          <p:cNvPr id="5" name="TextBox 4">
            <a:extLst>
              <a:ext uri="{FF2B5EF4-FFF2-40B4-BE49-F238E27FC236}">
                <a16:creationId xmlns:a16="http://schemas.microsoft.com/office/drawing/2014/main" id="{F8EB5B7A-2048-13F4-31F4-70FBDD122C00}"/>
              </a:ext>
            </a:extLst>
          </p:cNvPr>
          <p:cNvSpPr txBox="1"/>
          <p:nvPr/>
        </p:nvSpPr>
        <p:spPr>
          <a:xfrm>
            <a:off x="257175" y="954422"/>
            <a:ext cx="7896225" cy="1200329"/>
          </a:xfrm>
          <a:prstGeom prst="rect">
            <a:avLst/>
          </a:prstGeom>
          <a:noFill/>
        </p:spPr>
        <p:txBody>
          <a:bodyPr wrap="square" rtlCol="0">
            <a:spAutoFit/>
          </a:bodyPr>
          <a:lstStyle/>
          <a:p>
            <a:pPr marL="285750" indent="-285750">
              <a:buFont typeface="Courier New" panose="02070309020205020404" pitchFamily="49" charset="0"/>
              <a:buChar char="o"/>
            </a:pPr>
            <a:r>
              <a:rPr lang="en-US" dirty="0"/>
              <a:t>A geocoding engine has provisions for relaxing the matching conditions but uses a scoring system to quantify the matches at the same time.</a:t>
            </a:r>
          </a:p>
          <a:p>
            <a:pPr marL="285750" indent="-285750">
              <a:buFont typeface="Courier New" panose="02070309020205020404" pitchFamily="49" charset="0"/>
              <a:buChar char="o"/>
            </a:pPr>
            <a:r>
              <a:rPr lang="en-US" dirty="0"/>
              <a:t>Because of the various matching options, we can expect to run the geocoding process more than once.</a:t>
            </a:r>
          </a:p>
        </p:txBody>
      </p:sp>
    </p:spTree>
    <p:extLst>
      <p:ext uri="{BB962C8B-B14F-4D97-AF65-F5344CB8AC3E}">
        <p14:creationId xmlns:p14="http://schemas.microsoft.com/office/powerpoint/2010/main" val="2289798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66687" y="18284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process</a:t>
            </a:r>
            <a:endParaRPr lang="en-US" sz="2600" i="1" dirty="0">
              <a:solidFill>
                <a:srgbClr val="7030A0"/>
              </a:solidFill>
            </a:endParaRP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3" name="Picture 2" descr="Geocoding process">
            <a:extLst>
              <a:ext uri="{FF2B5EF4-FFF2-40B4-BE49-F238E27FC236}">
                <a16:creationId xmlns:a16="http://schemas.microsoft.com/office/drawing/2014/main" id="{8D1BDBFF-9035-7BF9-E93C-8E4E092C6955}"/>
              </a:ext>
            </a:extLst>
          </p:cNvPr>
          <p:cNvPicPr>
            <a:picLocks noChangeAspect="1"/>
          </p:cNvPicPr>
          <p:nvPr/>
        </p:nvPicPr>
        <p:blipFill>
          <a:blip r:embed="rId3"/>
          <a:stretch>
            <a:fillRect/>
          </a:stretch>
        </p:blipFill>
        <p:spPr>
          <a:xfrm>
            <a:off x="1698113" y="1803619"/>
            <a:ext cx="5604091" cy="3405357"/>
          </a:xfrm>
          <a:prstGeom prst="rect">
            <a:avLst/>
          </a:prstGeom>
        </p:spPr>
      </p:pic>
      <p:sp>
        <p:nvSpPr>
          <p:cNvPr id="5" name="TextBox 4">
            <a:extLst>
              <a:ext uri="{FF2B5EF4-FFF2-40B4-BE49-F238E27FC236}">
                <a16:creationId xmlns:a16="http://schemas.microsoft.com/office/drawing/2014/main" id="{1449313A-9498-405E-4993-76DE60080476}"/>
              </a:ext>
            </a:extLst>
          </p:cNvPr>
          <p:cNvSpPr txBox="1"/>
          <p:nvPr/>
        </p:nvSpPr>
        <p:spPr>
          <a:xfrm>
            <a:off x="257175" y="1157288"/>
            <a:ext cx="7896225" cy="646331"/>
          </a:xfrm>
          <a:prstGeom prst="rect">
            <a:avLst/>
          </a:prstGeom>
          <a:noFill/>
        </p:spPr>
        <p:txBody>
          <a:bodyPr wrap="square" rtlCol="0">
            <a:spAutoFit/>
          </a:bodyPr>
          <a:lstStyle/>
          <a:p>
            <a:pPr marL="285750" indent="-285750">
              <a:buFont typeface="Courier New" panose="02070309020205020404" pitchFamily="49" charset="0"/>
              <a:buChar char="o"/>
            </a:pPr>
            <a:r>
              <a:rPr lang="en-US" dirty="0"/>
              <a:t>(125-101)/(199-101) =  0.24</a:t>
            </a:r>
          </a:p>
          <a:p>
            <a:pPr marL="285750" indent="-285750">
              <a:buFont typeface="Courier New" panose="02070309020205020404" pitchFamily="49" charset="0"/>
              <a:buChar char="o"/>
            </a:pPr>
            <a:r>
              <a:rPr lang="en-US" dirty="0"/>
              <a:t>So, it is placed 24% along the given length for the segment</a:t>
            </a:r>
          </a:p>
        </p:txBody>
      </p:sp>
      <p:sp>
        <p:nvSpPr>
          <p:cNvPr id="2" name="TextBox 1">
            <a:extLst>
              <a:ext uri="{FF2B5EF4-FFF2-40B4-BE49-F238E27FC236}">
                <a16:creationId xmlns:a16="http://schemas.microsoft.com/office/drawing/2014/main" id="{87070547-61A7-A962-FC7B-62EE98ADF789}"/>
              </a:ext>
            </a:extLst>
          </p:cNvPr>
          <p:cNvSpPr txBox="1"/>
          <p:nvPr/>
        </p:nvSpPr>
        <p:spPr>
          <a:xfrm>
            <a:off x="4500158" y="4101610"/>
            <a:ext cx="437880" cy="276999"/>
          </a:xfrm>
          <a:prstGeom prst="rect">
            <a:avLst/>
          </a:prstGeom>
          <a:solidFill>
            <a:srgbClr val="7030A0"/>
          </a:solidFill>
        </p:spPr>
        <p:txBody>
          <a:bodyPr wrap="square" rtlCol="0">
            <a:spAutoFit/>
          </a:bodyPr>
          <a:lstStyle/>
          <a:p>
            <a:r>
              <a:rPr lang="en-US" sz="1200" dirty="0"/>
              <a:t>125</a:t>
            </a:r>
          </a:p>
        </p:txBody>
      </p:sp>
    </p:spTree>
    <p:extLst>
      <p:ext uri="{BB962C8B-B14F-4D97-AF65-F5344CB8AC3E}">
        <p14:creationId xmlns:p14="http://schemas.microsoft.com/office/powerpoint/2010/main" val="2568276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57175" y="15212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Individual activity 12-1</a:t>
            </a:r>
            <a:endParaRPr lang="en-US" sz="2600" i="1" dirty="0">
              <a:solidFill>
                <a:srgbClr val="7030A0"/>
              </a:solidFill>
            </a:endParaRP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3" name="Picture 2" descr="Geocoding calculation">
            <a:extLst>
              <a:ext uri="{FF2B5EF4-FFF2-40B4-BE49-F238E27FC236}">
                <a16:creationId xmlns:a16="http://schemas.microsoft.com/office/drawing/2014/main" id="{8D1BDBFF-9035-7BF9-E93C-8E4E092C6955}"/>
              </a:ext>
            </a:extLst>
          </p:cNvPr>
          <p:cNvPicPr>
            <a:picLocks noChangeAspect="1"/>
          </p:cNvPicPr>
          <p:nvPr/>
        </p:nvPicPr>
        <p:blipFill rotWithShape="1">
          <a:blip r:embed="rId3"/>
          <a:srcRect t="37802"/>
          <a:stretch/>
        </p:blipFill>
        <p:spPr>
          <a:xfrm>
            <a:off x="1312754" y="2164856"/>
            <a:ext cx="5604091" cy="2118046"/>
          </a:xfrm>
          <a:prstGeom prst="rect">
            <a:avLst/>
          </a:prstGeom>
        </p:spPr>
      </p:pic>
      <p:sp>
        <p:nvSpPr>
          <p:cNvPr id="5" name="TextBox 4">
            <a:extLst>
              <a:ext uri="{FF2B5EF4-FFF2-40B4-BE49-F238E27FC236}">
                <a16:creationId xmlns:a16="http://schemas.microsoft.com/office/drawing/2014/main" id="{1449313A-9498-405E-4993-76DE60080476}"/>
              </a:ext>
            </a:extLst>
          </p:cNvPr>
          <p:cNvSpPr txBox="1"/>
          <p:nvPr/>
        </p:nvSpPr>
        <p:spPr>
          <a:xfrm>
            <a:off x="257175" y="1157288"/>
            <a:ext cx="7896225" cy="492443"/>
          </a:xfrm>
          <a:prstGeom prst="rect">
            <a:avLst/>
          </a:prstGeom>
          <a:noFill/>
        </p:spPr>
        <p:txBody>
          <a:bodyPr wrap="square" rtlCol="0">
            <a:spAutoFit/>
          </a:bodyPr>
          <a:lstStyle/>
          <a:p>
            <a:pPr marL="285750" indent="-285750">
              <a:buFont typeface="Courier New" panose="02070309020205020404" pitchFamily="49" charset="0"/>
              <a:buChar char="o"/>
            </a:pPr>
            <a:r>
              <a:rPr lang="en-US" sz="2600" dirty="0"/>
              <a:t>If the </a:t>
            </a:r>
            <a:r>
              <a:rPr lang="en-US" sz="2600" dirty="0" err="1"/>
              <a:t>HN</a:t>
            </a:r>
            <a:r>
              <a:rPr lang="en-US" sz="2600" dirty="0"/>
              <a:t> is 160, where it should be placed?</a:t>
            </a:r>
          </a:p>
        </p:txBody>
      </p:sp>
      <p:sp>
        <p:nvSpPr>
          <p:cNvPr id="2" name="TextBox 1">
            <a:extLst>
              <a:ext uri="{FF2B5EF4-FFF2-40B4-BE49-F238E27FC236}">
                <a16:creationId xmlns:a16="http://schemas.microsoft.com/office/drawing/2014/main" id="{87070547-61A7-A962-FC7B-62EE98ADF789}"/>
              </a:ext>
            </a:extLst>
          </p:cNvPr>
          <p:cNvSpPr txBox="1"/>
          <p:nvPr/>
        </p:nvSpPr>
        <p:spPr>
          <a:xfrm>
            <a:off x="3999361" y="3004528"/>
            <a:ext cx="612283" cy="276999"/>
          </a:xfrm>
          <a:prstGeom prst="rect">
            <a:avLst/>
          </a:prstGeom>
          <a:solidFill>
            <a:srgbClr val="7030A0"/>
          </a:solidFill>
        </p:spPr>
        <p:txBody>
          <a:bodyPr wrap="square" rtlCol="0">
            <a:spAutoFit/>
          </a:bodyPr>
          <a:lstStyle/>
          <a:p>
            <a:endParaRPr lang="en-US" sz="1200" dirty="0">
              <a:solidFill>
                <a:srgbClr val="7030A0"/>
              </a:solidFill>
            </a:endParaRPr>
          </a:p>
        </p:txBody>
      </p:sp>
    </p:spTree>
    <p:extLst>
      <p:ext uri="{BB962C8B-B14F-4D97-AF65-F5344CB8AC3E}">
        <p14:creationId xmlns:p14="http://schemas.microsoft.com/office/powerpoint/2010/main" val="4238167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52400" y="12843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process</a:t>
            </a:r>
            <a:endParaRPr lang="en-US" sz="2600" i="1" dirty="0">
              <a:solidFill>
                <a:srgbClr val="7030A0"/>
              </a:solidFill>
            </a:endParaRPr>
          </a:p>
        </p:txBody>
      </p:sp>
      <p:sp>
        <p:nvSpPr>
          <p:cNvPr id="2" name="Content Placeholder 2">
            <a:extLst>
              <a:ext uri="{FF2B5EF4-FFF2-40B4-BE49-F238E27FC236}">
                <a16:creationId xmlns:a16="http://schemas.microsoft.com/office/drawing/2014/main" id="{8200332D-956E-E3B7-1A3B-2C9BA6000261}"/>
              </a:ext>
            </a:extLst>
          </p:cNvPr>
          <p:cNvSpPr>
            <a:spLocks noGrp="1"/>
          </p:cNvSpPr>
          <p:nvPr>
            <p:ph idx="1"/>
          </p:nvPr>
        </p:nvSpPr>
        <p:spPr>
          <a:xfrm>
            <a:off x="152400" y="990239"/>
            <a:ext cx="7446135" cy="1108041"/>
          </a:xfrm>
        </p:spPr>
        <p:txBody>
          <a:bodyPr>
            <a:noAutofit/>
          </a:bodyPr>
          <a:lstStyle/>
          <a:p>
            <a:pPr fontAlgn="auto">
              <a:spcAft>
                <a:spcPts val="0"/>
              </a:spcAft>
              <a:buFont typeface="Courier New" panose="02070309020205020404" pitchFamily="49" charset="0"/>
              <a:buChar char="o"/>
              <a:defRPr/>
            </a:pPr>
            <a:r>
              <a:rPr lang="en-US" sz="1600" dirty="0"/>
              <a:t>Address matching requires an Address Locator which establishes explicit methods for matching (geocoding) address data to a specified reference database.</a:t>
            </a:r>
          </a:p>
          <a:p>
            <a:pPr fontAlgn="auto">
              <a:spcAft>
                <a:spcPts val="0"/>
              </a:spcAft>
              <a:buFont typeface="Courier New" panose="02070309020205020404" pitchFamily="49" charset="0"/>
              <a:buChar char="o"/>
              <a:defRPr/>
            </a:pPr>
            <a:r>
              <a:rPr lang="en-US" sz="1600" dirty="0"/>
              <a:t>The result of geocoding is expressed as the percentage of addresses matched</a:t>
            </a:r>
          </a:p>
          <a:p>
            <a:pPr fontAlgn="auto">
              <a:spcAft>
                <a:spcPts val="0"/>
              </a:spcAft>
              <a:buFont typeface="Courier New" panose="02070309020205020404" pitchFamily="49" charset="0"/>
              <a:buChar char="o"/>
              <a:defRPr/>
            </a:pPr>
            <a:r>
              <a:rPr lang="en-US" sz="1600" dirty="0"/>
              <a:t>For crime mapping and analysis, 85% matching score is required.</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4" name="Picture Placeholder 4" descr="The Geoprocessing group shows the Create Address Locator tool.  Under the Parameters option there is a drop-down box for Address locator style. Below this are two other drop-downs for Reference data and Role. The lower portion of the window contains a list of options for Field map, Field name and Alias name. They are as follows: Feature I D, asterisk From left, asterisk To left, asterisk To right, Left parity, Right parity, Full street name, Prefix direction, and Prefix type. To the very bottom is the field for Output address locator and a checkbox for Enable suggestions.">
            <a:extLst>
              <a:ext uri="{FF2B5EF4-FFF2-40B4-BE49-F238E27FC236}">
                <a16:creationId xmlns:a16="http://schemas.microsoft.com/office/drawing/2014/main" id="{436B98CF-15A4-9E31-1C81-D335F41D05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573" y="2140964"/>
            <a:ext cx="2038687" cy="2900143"/>
          </a:xfrm>
          <a:prstGeom prst="rect">
            <a:avLst/>
          </a:prstGeom>
        </p:spPr>
      </p:pic>
      <p:pic>
        <p:nvPicPr>
          <p:cNvPr id="5" name="Picture Placeholder 5" descr="A screenshot shows the Locator Properties: Roads Locator. The window is divided into two sections. To the left is a list of options as follows: About the locator, Reference data tables, Place name alias table, Input fields, Outputs, Geocoding options, and Performance. Geocoding options is highlighted. To the right is a list of options seen as follows: Minimum match score, Minimum candidate score, Match if best candidates tie, Spelling sensitivity, Side offset, and so on. This portion contains a scroll bar.">
            <a:extLst>
              <a:ext uri="{FF2B5EF4-FFF2-40B4-BE49-F238E27FC236}">
                <a16:creationId xmlns:a16="http://schemas.microsoft.com/office/drawing/2014/main" id="{431B2671-BA97-0F12-6C3C-27C3A6EC8C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6976" y="2298910"/>
            <a:ext cx="4028843" cy="2481856"/>
          </a:xfrm>
          <a:prstGeom prst="rect">
            <a:avLst/>
          </a:prstGeom>
        </p:spPr>
      </p:pic>
    </p:spTree>
    <p:extLst>
      <p:ext uri="{BB962C8B-B14F-4D97-AF65-F5344CB8AC3E}">
        <p14:creationId xmlns:p14="http://schemas.microsoft.com/office/powerpoint/2010/main" val="368786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38849" y="20350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errors and solutions</a:t>
            </a:r>
            <a:endParaRPr lang="en-US" sz="2600" i="1" dirty="0">
              <a:solidFill>
                <a:srgbClr val="7030A0"/>
              </a:solidFill>
            </a:endParaRPr>
          </a:p>
        </p:txBody>
      </p:sp>
      <p:sp>
        <p:nvSpPr>
          <p:cNvPr id="2" name="Content Placeholder 2">
            <a:extLst>
              <a:ext uri="{FF2B5EF4-FFF2-40B4-BE49-F238E27FC236}">
                <a16:creationId xmlns:a16="http://schemas.microsoft.com/office/drawing/2014/main" id="{8200332D-956E-E3B7-1A3B-2C9BA6000261}"/>
              </a:ext>
            </a:extLst>
          </p:cNvPr>
          <p:cNvSpPr>
            <a:spLocks noGrp="1"/>
          </p:cNvSpPr>
          <p:nvPr>
            <p:ph idx="1"/>
          </p:nvPr>
        </p:nvSpPr>
        <p:spPr>
          <a:xfrm>
            <a:off x="429832" y="1421097"/>
            <a:ext cx="7446135" cy="3822666"/>
          </a:xfrm>
        </p:spPr>
        <p:txBody>
          <a:bodyPr>
            <a:normAutofit fontScale="77500" lnSpcReduction="20000"/>
          </a:bodyPr>
          <a:lstStyle/>
          <a:p>
            <a:pPr fontAlgn="auto">
              <a:spcAft>
                <a:spcPts val="0"/>
              </a:spcAft>
              <a:buFont typeface="Courier New" panose="02070309020205020404" pitchFamily="49" charset="0"/>
              <a:buChar char="o"/>
              <a:defRPr/>
            </a:pPr>
            <a:r>
              <a:rPr lang="en-US" dirty="0"/>
              <a:t>Variations in street names</a:t>
            </a:r>
          </a:p>
          <a:p>
            <a:pPr lvl="1">
              <a:buFont typeface="Wingdings" panose="05000000000000000000" pitchFamily="2" charset="2"/>
              <a:buChar char="ü"/>
              <a:defRPr/>
            </a:pPr>
            <a:r>
              <a:rPr lang="en-US" dirty="0"/>
              <a:t>Fifth Avenue, Fifth Ave. 5</a:t>
            </a:r>
            <a:r>
              <a:rPr lang="en-US" baseline="30000" dirty="0"/>
              <a:t>th</a:t>
            </a:r>
            <a:r>
              <a:rPr lang="en-US" dirty="0"/>
              <a:t> AV</a:t>
            </a:r>
          </a:p>
          <a:p>
            <a:pPr lvl="1">
              <a:buFont typeface="Wingdings" panose="05000000000000000000" pitchFamily="2" charset="2"/>
              <a:buChar char="ü"/>
              <a:defRPr/>
            </a:pPr>
            <a:r>
              <a:rPr lang="en-US" dirty="0"/>
              <a:t>Saw Mill Run, Route 51</a:t>
            </a:r>
          </a:p>
          <a:p>
            <a:pPr marL="308610" lvl="1" indent="-308610">
              <a:buFont typeface="Courier New" panose="02070309020205020404" pitchFamily="49" charset="0"/>
              <a:buChar char="o"/>
              <a:defRPr/>
            </a:pPr>
            <a:r>
              <a:rPr lang="en-US" sz="2900" dirty="0"/>
              <a:t>Data Entry Errors</a:t>
            </a:r>
          </a:p>
          <a:p>
            <a:pPr lvl="1">
              <a:buFont typeface="Wingdings" panose="05000000000000000000" pitchFamily="2" charset="2"/>
              <a:buChar char="ü"/>
              <a:defRPr/>
            </a:pPr>
            <a:r>
              <a:rPr lang="en-US" sz="2500" dirty="0" err="1"/>
              <a:t>Fidth</a:t>
            </a:r>
            <a:r>
              <a:rPr lang="en-US" sz="2500" dirty="0"/>
              <a:t> Avenue</a:t>
            </a:r>
          </a:p>
          <a:p>
            <a:pPr lvl="1">
              <a:buFont typeface="Wingdings" panose="05000000000000000000" pitchFamily="2" charset="2"/>
              <a:buChar char="ü"/>
              <a:defRPr/>
            </a:pPr>
            <a:r>
              <a:rPr lang="en-US" sz="2500" dirty="0"/>
              <a:t>Sawmill Run</a:t>
            </a:r>
          </a:p>
          <a:p>
            <a:pPr marL="308610" lvl="1" indent="-308610">
              <a:buFont typeface="Courier New" panose="02070309020205020404" pitchFamily="49" charset="0"/>
              <a:buChar char="o"/>
              <a:defRPr/>
            </a:pPr>
            <a:r>
              <a:rPr lang="en-US" sz="2900" dirty="0"/>
              <a:t>Place Names</a:t>
            </a:r>
          </a:p>
          <a:p>
            <a:pPr lvl="1">
              <a:buFont typeface="Wingdings" panose="05000000000000000000" pitchFamily="2" charset="2"/>
              <a:buChar char="ü"/>
              <a:defRPr/>
            </a:pPr>
            <a:r>
              <a:rPr lang="en-US" sz="2500" dirty="0"/>
              <a:t>White House, Heinz Field, Empire State Building</a:t>
            </a:r>
          </a:p>
          <a:p>
            <a:pPr marL="308610" lvl="1" indent="-308610">
              <a:buFont typeface="Courier New" panose="02070309020205020404" pitchFamily="49" charset="0"/>
              <a:buChar char="o"/>
              <a:defRPr/>
            </a:pPr>
            <a:r>
              <a:rPr lang="en-US" sz="2900" dirty="0"/>
              <a:t>Intersections</a:t>
            </a:r>
          </a:p>
          <a:p>
            <a:pPr lvl="1">
              <a:buFont typeface="Wingdings" panose="05000000000000000000" pitchFamily="2" charset="2"/>
              <a:buChar char="ü"/>
              <a:defRPr/>
            </a:pPr>
            <a:r>
              <a:rPr lang="en-US" sz="2500" dirty="0"/>
              <a:t>5th AV and Craig ST</a:t>
            </a:r>
          </a:p>
          <a:p>
            <a:pPr marL="308610" lvl="1" indent="-308610">
              <a:buFont typeface="Courier New" panose="02070309020205020404" pitchFamily="49" charset="0"/>
              <a:buChar char="o"/>
              <a:defRPr/>
            </a:pPr>
            <a:r>
              <a:rPr lang="en-US" sz="2900" dirty="0"/>
              <a:t>Post Office Boxes</a:t>
            </a:r>
          </a:p>
          <a:p>
            <a:pPr lvl="1">
              <a:buFont typeface="Wingdings" panose="05000000000000000000" pitchFamily="2" charset="2"/>
              <a:buChar char="ü"/>
              <a:defRPr/>
            </a:pPr>
            <a:r>
              <a:rPr lang="en-US" sz="2500" dirty="0" err="1"/>
              <a:t>P.X.Box</a:t>
            </a:r>
            <a:r>
              <a:rPr lang="en-US" sz="2500" dirty="0"/>
              <a:t> 125</a:t>
            </a:r>
          </a:p>
          <a:p>
            <a:pPr marL="308610" lvl="1" indent="-308610">
              <a:buFont typeface="Courier New" panose="02070309020205020404" pitchFamily="49" charset="0"/>
              <a:buChar char="o"/>
              <a:defRPr/>
            </a:pPr>
            <a:endParaRPr lang="en-US" sz="2900" dirty="0"/>
          </a:p>
          <a:p>
            <a:pPr marL="308610" lvl="1" indent="-308610">
              <a:buFont typeface="Courier New" panose="02070309020205020404" pitchFamily="49" charset="0"/>
              <a:buChar char="o"/>
              <a:defRPr/>
            </a:pPr>
            <a:endParaRPr lang="en-US" sz="2900" dirty="0"/>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3645170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30828" y="22634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errors and solutions</a:t>
            </a:r>
            <a:endParaRPr lang="en-US" sz="2600" i="1" dirty="0">
              <a:solidFill>
                <a:srgbClr val="7030A0"/>
              </a:solidFill>
            </a:endParaRPr>
          </a:p>
        </p:txBody>
      </p:sp>
      <p:sp>
        <p:nvSpPr>
          <p:cNvPr id="2" name="Content Placeholder 2">
            <a:extLst>
              <a:ext uri="{FF2B5EF4-FFF2-40B4-BE49-F238E27FC236}">
                <a16:creationId xmlns:a16="http://schemas.microsoft.com/office/drawing/2014/main" id="{8200332D-956E-E3B7-1A3B-2C9BA6000261}"/>
              </a:ext>
            </a:extLst>
          </p:cNvPr>
          <p:cNvSpPr>
            <a:spLocks noGrp="1"/>
          </p:cNvSpPr>
          <p:nvPr>
            <p:ph idx="1"/>
          </p:nvPr>
        </p:nvSpPr>
        <p:spPr>
          <a:xfrm>
            <a:off x="152400" y="1092233"/>
            <a:ext cx="7446135" cy="4008183"/>
          </a:xfrm>
        </p:spPr>
        <p:txBody>
          <a:bodyPr>
            <a:normAutofit fontScale="70000" lnSpcReduction="20000"/>
          </a:bodyPr>
          <a:lstStyle/>
          <a:p>
            <a:pPr fontAlgn="auto">
              <a:spcAft>
                <a:spcPts val="0"/>
              </a:spcAft>
              <a:buFont typeface="Courier New" panose="02070309020205020404" pitchFamily="49" charset="0"/>
              <a:buChar char="o"/>
              <a:defRPr/>
            </a:pPr>
            <a:r>
              <a:rPr lang="en-US" dirty="0"/>
              <a:t>Clean your data before geocoding</a:t>
            </a:r>
          </a:p>
          <a:p>
            <a:pPr marL="308610" lvl="1" indent="-308610">
              <a:buFont typeface="Courier New" panose="02070309020205020404" pitchFamily="49" charset="0"/>
              <a:buChar char="o"/>
              <a:defRPr/>
            </a:pPr>
            <a:r>
              <a:rPr lang="en-US" sz="2900" dirty="0"/>
              <a:t>Use postal address standards</a:t>
            </a:r>
          </a:p>
          <a:p>
            <a:pPr lvl="1">
              <a:buFont typeface="Wingdings" panose="05000000000000000000" pitchFamily="2" charset="2"/>
              <a:buChar char="ü"/>
              <a:defRPr/>
            </a:pPr>
            <a:r>
              <a:rPr lang="en-US" sz="2500" dirty="0"/>
              <a:t>Publication 28 of the U.S. Post office provides standard street address formats</a:t>
            </a:r>
          </a:p>
          <a:p>
            <a:pPr marL="308610" lvl="1" indent="-308610">
              <a:buFont typeface="Courier New" panose="02070309020205020404" pitchFamily="49" charset="0"/>
              <a:buChar char="o"/>
              <a:defRPr/>
            </a:pPr>
            <a:r>
              <a:rPr lang="en-US" sz="2900" dirty="0"/>
              <a:t>Use standard intersection connectors</a:t>
            </a:r>
          </a:p>
          <a:p>
            <a:pPr lvl="1">
              <a:buFont typeface="Wingdings" panose="05000000000000000000" pitchFamily="2" charset="2"/>
              <a:buChar char="ü"/>
              <a:defRPr/>
            </a:pPr>
            <a:r>
              <a:rPr lang="en-US" sz="2500" dirty="0"/>
              <a:t>&amp; | @</a:t>
            </a:r>
          </a:p>
          <a:p>
            <a:pPr marL="308610" lvl="1" indent="-308610">
              <a:buFont typeface="Courier New" panose="02070309020205020404" pitchFamily="49" charset="0"/>
              <a:buChar char="o"/>
              <a:defRPr/>
            </a:pPr>
            <a:r>
              <a:rPr lang="en-US" sz="2900" dirty="0"/>
              <a:t>Put street intersections in the address field</a:t>
            </a:r>
          </a:p>
          <a:p>
            <a:pPr lvl="1">
              <a:buFont typeface="Wingdings" panose="05000000000000000000" pitchFamily="2" charset="2"/>
              <a:buChar char="ü"/>
              <a:defRPr/>
            </a:pPr>
            <a:r>
              <a:rPr lang="en-US" sz="2500" dirty="0"/>
              <a:t>Forbes AV &amp; Craig ST</a:t>
            </a:r>
          </a:p>
          <a:p>
            <a:pPr lvl="1">
              <a:buFont typeface="Wingdings" panose="05000000000000000000" pitchFamily="2" charset="2"/>
              <a:buChar char="ü"/>
              <a:defRPr/>
            </a:pPr>
            <a:r>
              <a:rPr lang="en-US" sz="2500" dirty="0"/>
              <a:t>Grant ST &amp; 5</a:t>
            </a:r>
            <a:r>
              <a:rPr lang="en-US" sz="2500" baseline="30000" dirty="0"/>
              <a:t>th</a:t>
            </a:r>
            <a:r>
              <a:rPr lang="en-US" sz="2500" dirty="0"/>
              <a:t> AV</a:t>
            </a:r>
          </a:p>
          <a:p>
            <a:pPr lvl="1">
              <a:buFont typeface="Wingdings" panose="05000000000000000000" pitchFamily="2" charset="2"/>
              <a:buChar char="ü"/>
              <a:defRPr/>
            </a:pPr>
            <a:r>
              <a:rPr lang="en-US" sz="2500" dirty="0"/>
              <a:t>E North Star RD &amp; Duncan AV</a:t>
            </a:r>
          </a:p>
          <a:p>
            <a:pPr marL="308610" lvl="1" indent="-308610">
              <a:buFont typeface="Courier New" panose="02070309020205020404" pitchFamily="49" charset="0"/>
              <a:buChar char="o"/>
              <a:defRPr/>
            </a:pPr>
            <a:r>
              <a:rPr lang="en-US" sz="2900" dirty="0"/>
              <a:t>Connectors</a:t>
            </a:r>
          </a:p>
          <a:p>
            <a:pPr lvl="1">
              <a:buFont typeface="Wingdings" panose="05000000000000000000" pitchFamily="2" charset="2"/>
              <a:buChar char="ü"/>
              <a:defRPr/>
            </a:pPr>
            <a:r>
              <a:rPr lang="en-US" sz="2900" dirty="0"/>
              <a:t>Any unusual character (e.g., &amp;, @, |) be consistent</a:t>
            </a:r>
          </a:p>
          <a:p>
            <a:pPr marL="308610" lvl="1" indent="-308610">
              <a:buFont typeface="Courier New" panose="02070309020205020404" pitchFamily="49" charset="0"/>
              <a:buChar char="o"/>
              <a:defRPr/>
            </a:pPr>
            <a:endParaRPr lang="en-US" sz="2900" dirty="0"/>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22</a:t>
            </a:fld>
            <a:endParaRPr lang="en-US"/>
          </a:p>
        </p:txBody>
      </p:sp>
    </p:spTree>
    <p:extLst>
      <p:ext uri="{BB962C8B-B14F-4D97-AF65-F5344CB8AC3E}">
        <p14:creationId xmlns:p14="http://schemas.microsoft.com/office/powerpoint/2010/main" val="2209154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38849" y="1503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Polygon Geocoding</a:t>
            </a:r>
            <a:endParaRPr lang="en-US" sz="2600" i="1" dirty="0">
              <a:solidFill>
                <a:srgbClr val="7030A0"/>
              </a:solidFill>
            </a:endParaRPr>
          </a:p>
        </p:txBody>
      </p:sp>
      <p:sp>
        <p:nvSpPr>
          <p:cNvPr id="2" name="Content Placeholder 2">
            <a:extLst>
              <a:ext uri="{FF2B5EF4-FFF2-40B4-BE49-F238E27FC236}">
                <a16:creationId xmlns:a16="http://schemas.microsoft.com/office/drawing/2014/main" id="{8200332D-956E-E3B7-1A3B-2C9BA6000261}"/>
              </a:ext>
            </a:extLst>
          </p:cNvPr>
          <p:cNvSpPr>
            <a:spLocks noGrp="1"/>
          </p:cNvSpPr>
          <p:nvPr>
            <p:ph idx="1"/>
          </p:nvPr>
        </p:nvSpPr>
        <p:spPr>
          <a:xfrm>
            <a:off x="152400" y="1092234"/>
            <a:ext cx="7446135" cy="544062"/>
          </a:xfrm>
        </p:spPr>
        <p:txBody>
          <a:bodyPr>
            <a:normAutofit/>
          </a:bodyPr>
          <a:lstStyle/>
          <a:p>
            <a:pPr fontAlgn="auto">
              <a:spcAft>
                <a:spcPts val="0"/>
              </a:spcAft>
              <a:buFont typeface="Courier New" panose="02070309020205020404" pitchFamily="49" charset="0"/>
              <a:buChar char="o"/>
              <a:defRPr/>
            </a:pPr>
            <a:r>
              <a:rPr lang="en-US" sz="2000" dirty="0"/>
              <a:t>Points created at zip code centroids</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23</a:t>
            </a:fld>
            <a:endParaRPr lang="en-US"/>
          </a:p>
        </p:txBody>
      </p:sp>
      <p:pic>
        <p:nvPicPr>
          <p:cNvPr id="4" name="Picture 3" descr="polygon geocoding">
            <a:extLst>
              <a:ext uri="{FF2B5EF4-FFF2-40B4-BE49-F238E27FC236}">
                <a16:creationId xmlns:a16="http://schemas.microsoft.com/office/drawing/2014/main" id="{B0339507-E0AA-FFB9-CB81-F3AC42FEAC60}"/>
              </a:ext>
            </a:extLst>
          </p:cNvPr>
          <p:cNvPicPr>
            <a:picLocks noChangeAspect="1"/>
          </p:cNvPicPr>
          <p:nvPr/>
        </p:nvPicPr>
        <p:blipFill>
          <a:blip r:embed="rId3"/>
          <a:stretch>
            <a:fillRect/>
          </a:stretch>
        </p:blipFill>
        <p:spPr>
          <a:xfrm>
            <a:off x="1439922" y="1780160"/>
            <a:ext cx="5906229" cy="2953115"/>
          </a:xfrm>
          <a:prstGeom prst="rect">
            <a:avLst/>
          </a:prstGeom>
        </p:spPr>
      </p:pic>
    </p:spTree>
    <p:extLst>
      <p:ext uri="{BB962C8B-B14F-4D97-AF65-F5344CB8AC3E}">
        <p14:creationId xmlns:p14="http://schemas.microsoft.com/office/powerpoint/2010/main" val="2572597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66762" y="1738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errors and solutions</a:t>
            </a:r>
            <a:endParaRPr lang="en-US" sz="2600" i="1" dirty="0">
              <a:solidFill>
                <a:srgbClr val="7030A0"/>
              </a:solidFill>
            </a:endParaRPr>
          </a:p>
        </p:txBody>
      </p:sp>
      <p:sp>
        <p:nvSpPr>
          <p:cNvPr id="2" name="Content Placeholder 2">
            <a:extLst>
              <a:ext uri="{FF2B5EF4-FFF2-40B4-BE49-F238E27FC236}">
                <a16:creationId xmlns:a16="http://schemas.microsoft.com/office/drawing/2014/main" id="{8200332D-956E-E3B7-1A3B-2C9BA6000261}"/>
              </a:ext>
            </a:extLst>
          </p:cNvPr>
          <p:cNvSpPr>
            <a:spLocks noGrp="1"/>
          </p:cNvSpPr>
          <p:nvPr>
            <p:ph idx="1"/>
          </p:nvPr>
        </p:nvSpPr>
        <p:spPr>
          <a:xfrm>
            <a:off x="293419" y="1220057"/>
            <a:ext cx="7446135" cy="579765"/>
          </a:xfrm>
        </p:spPr>
        <p:txBody>
          <a:bodyPr>
            <a:normAutofit/>
          </a:bodyPr>
          <a:lstStyle/>
          <a:p>
            <a:pPr fontAlgn="auto">
              <a:spcAft>
                <a:spcPts val="0"/>
              </a:spcAft>
              <a:buFont typeface="Courier New" panose="02070309020205020404" pitchFamily="49" charset="0"/>
              <a:buChar char="o"/>
              <a:defRPr/>
            </a:pPr>
            <a:r>
              <a:rPr lang="en-US" sz="2000" dirty="0"/>
              <a:t>Use Alias Table</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4" name="Picture 3" descr="Alias table">
            <a:extLst>
              <a:ext uri="{FF2B5EF4-FFF2-40B4-BE49-F238E27FC236}">
                <a16:creationId xmlns:a16="http://schemas.microsoft.com/office/drawing/2014/main" id="{5B3E53DC-A10E-A2F1-F9AB-8257CCF64DF2}"/>
              </a:ext>
            </a:extLst>
          </p:cNvPr>
          <p:cNvPicPr>
            <a:picLocks noChangeAspect="1"/>
          </p:cNvPicPr>
          <p:nvPr/>
        </p:nvPicPr>
        <p:blipFill>
          <a:blip r:embed="rId3"/>
          <a:stretch>
            <a:fillRect/>
          </a:stretch>
        </p:blipFill>
        <p:spPr>
          <a:xfrm>
            <a:off x="688703" y="2017181"/>
            <a:ext cx="7148594" cy="2137724"/>
          </a:xfrm>
          <a:prstGeom prst="rect">
            <a:avLst/>
          </a:prstGeom>
        </p:spPr>
      </p:pic>
    </p:spTree>
    <p:extLst>
      <p:ext uri="{BB962C8B-B14F-4D97-AF65-F5344CB8AC3E}">
        <p14:creationId xmlns:p14="http://schemas.microsoft.com/office/powerpoint/2010/main" val="3025011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52400" y="22634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Polygon Geocoding</a:t>
            </a:r>
            <a:endParaRPr lang="en-US" sz="2600" i="1" dirty="0">
              <a:solidFill>
                <a:srgbClr val="7030A0"/>
              </a:solidFill>
            </a:endParaRPr>
          </a:p>
        </p:txBody>
      </p:sp>
      <p:sp>
        <p:nvSpPr>
          <p:cNvPr id="2" name="Content Placeholder 2">
            <a:extLst>
              <a:ext uri="{FF2B5EF4-FFF2-40B4-BE49-F238E27FC236}">
                <a16:creationId xmlns:a16="http://schemas.microsoft.com/office/drawing/2014/main" id="{8200332D-956E-E3B7-1A3B-2C9BA6000261}"/>
              </a:ext>
            </a:extLst>
          </p:cNvPr>
          <p:cNvSpPr>
            <a:spLocks noGrp="1"/>
          </p:cNvSpPr>
          <p:nvPr>
            <p:ph idx="1"/>
          </p:nvPr>
        </p:nvSpPr>
        <p:spPr>
          <a:xfrm>
            <a:off x="152400" y="932409"/>
            <a:ext cx="7446135" cy="997397"/>
          </a:xfrm>
        </p:spPr>
        <p:txBody>
          <a:bodyPr>
            <a:normAutofit/>
          </a:bodyPr>
          <a:lstStyle/>
          <a:p>
            <a:pPr fontAlgn="auto">
              <a:spcAft>
                <a:spcPts val="0"/>
              </a:spcAft>
              <a:buFont typeface="Courier New" panose="02070309020205020404" pitchFamily="49" charset="0"/>
              <a:buChar char="o"/>
              <a:defRPr/>
            </a:pPr>
            <a:r>
              <a:rPr lang="en-US" sz="2400" dirty="0"/>
              <a:t>Polygon features can be identified by their parcel numbers, postal zip, or zip +4 codes</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5" name="Picture 4" descr="polygon geocoding">
            <a:extLst>
              <a:ext uri="{FF2B5EF4-FFF2-40B4-BE49-F238E27FC236}">
                <a16:creationId xmlns:a16="http://schemas.microsoft.com/office/drawing/2014/main" id="{1DA9CD42-83EE-0546-60A7-50C90AC81686}"/>
              </a:ext>
            </a:extLst>
          </p:cNvPr>
          <p:cNvPicPr>
            <a:picLocks noChangeAspect="1"/>
          </p:cNvPicPr>
          <p:nvPr/>
        </p:nvPicPr>
        <p:blipFill>
          <a:blip r:embed="rId3"/>
          <a:stretch>
            <a:fillRect/>
          </a:stretch>
        </p:blipFill>
        <p:spPr>
          <a:xfrm>
            <a:off x="1218567" y="2078931"/>
            <a:ext cx="5575263" cy="2794253"/>
          </a:xfrm>
          <a:prstGeom prst="rect">
            <a:avLst/>
          </a:prstGeom>
        </p:spPr>
      </p:pic>
    </p:spTree>
    <p:extLst>
      <p:ext uri="{BB962C8B-B14F-4D97-AF65-F5344CB8AC3E}">
        <p14:creationId xmlns:p14="http://schemas.microsoft.com/office/powerpoint/2010/main" val="274843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1599C-FCC9-6979-E068-4959E8D2FA6C}"/>
              </a:ext>
            </a:extLst>
          </p:cNvPr>
          <p:cNvSpPr>
            <a:spLocks noGrp="1"/>
          </p:cNvSpPr>
          <p:nvPr>
            <p:ph type="title"/>
          </p:nvPr>
        </p:nvSpPr>
        <p:spPr>
          <a:xfrm>
            <a:off x="392305" y="526617"/>
            <a:ext cx="7444991" cy="419867"/>
          </a:xfrm>
        </p:spPr>
        <p:txBody>
          <a:bodyPr/>
          <a:lstStyle/>
          <a:p>
            <a:r>
              <a:rPr lang="en-US" dirty="0"/>
              <a:t>In-class activity</a:t>
            </a:r>
          </a:p>
        </p:txBody>
      </p:sp>
      <p:pic>
        <p:nvPicPr>
          <p:cNvPr id="6" name="Content Placeholder 5">
            <a:extLst>
              <a:ext uri="{FF2B5EF4-FFF2-40B4-BE49-F238E27FC236}">
                <a16:creationId xmlns:a16="http://schemas.microsoft.com/office/drawing/2014/main" id="{FDAD0CFA-C66D-61BE-DD69-E79B9480A280}"/>
              </a:ext>
            </a:extLst>
          </p:cNvPr>
          <p:cNvPicPr>
            <a:picLocks noGrp="1" noChangeAspect="1"/>
          </p:cNvPicPr>
          <p:nvPr>
            <p:ph idx="1"/>
          </p:nvPr>
        </p:nvPicPr>
        <p:blipFill>
          <a:blip r:embed="rId2"/>
          <a:stretch>
            <a:fillRect/>
          </a:stretch>
        </p:blipFill>
        <p:spPr>
          <a:xfrm>
            <a:off x="5177128" y="553870"/>
            <a:ext cx="2380671" cy="4063013"/>
          </a:xfrm>
          <a:prstGeom prst="rect">
            <a:avLst/>
          </a:prstGeom>
        </p:spPr>
      </p:pic>
      <p:sp>
        <p:nvSpPr>
          <p:cNvPr id="4" name="Slide Number Placeholder 3">
            <a:extLst>
              <a:ext uri="{FF2B5EF4-FFF2-40B4-BE49-F238E27FC236}">
                <a16:creationId xmlns:a16="http://schemas.microsoft.com/office/drawing/2014/main" id="{922905D0-2BA7-AAF4-603F-B15552AEF7F1}"/>
              </a:ext>
            </a:extLst>
          </p:cNvPr>
          <p:cNvSpPr>
            <a:spLocks noGrp="1"/>
          </p:cNvSpPr>
          <p:nvPr>
            <p:ph type="sldNum" sz="quarter" idx="12"/>
          </p:nvPr>
        </p:nvSpPr>
        <p:spPr/>
        <p:txBody>
          <a:bodyPr/>
          <a:lstStyle/>
          <a:p>
            <a:fld id="{127DDC20-79C9-9647-820E-6D40A3D210C3}" type="slidenum">
              <a:rPr lang="en-US" smtClean="0"/>
              <a:pPr/>
              <a:t>26</a:t>
            </a:fld>
            <a:endParaRPr lang="en-US"/>
          </a:p>
        </p:txBody>
      </p:sp>
      <p:sp>
        <p:nvSpPr>
          <p:cNvPr id="7" name="TextBox 6">
            <a:extLst>
              <a:ext uri="{FF2B5EF4-FFF2-40B4-BE49-F238E27FC236}">
                <a16:creationId xmlns:a16="http://schemas.microsoft.com/office/drawing/2014/main" id="{98B555DB-4B4B-B240-69A0-8D7E690A07A8}"/>
              </a:ext>
            </a:extLst>
          </p:cNvPr>
          <p:cNvSpPr txBox="1"/>
          <p:nvPr/>
        </p:nvSpPr>
        <p:spPr>
          <a:xfrm>
            <a:off x="392305" y="1147482"/>
            <a:ext cx="2671010" cy="400110"/>
          </a:xfrm>
          <a:prstGeom prst="rect">
            <a:avLst/>
          </a:prstGeom>
          <a:noFill/>
        </p:spPr>
        <p:txBody>
          <a:bodyPr wrap="square" rtlCol="0">
            <a:spAutoFit/>
          </a:bodyPr>
          <a:lstStyle/>
          <a:p>
            <a:r>
              <a:rPr lang="en-US" sz="2000" dirty="0"/>
              <a:t>Geocode Address</a:t>
            </a:r>
          </a:p>
        </p:txBody>
      </p:sp>
    </p:spTree>
    <p:extLst>
      <p:ext uri="{BB962C8B-B14F-4D97-AF65-F5344CB8AC3E}">
        <p14:creationId xmlns:p14="http://schemas.microsoft.com/office/powerpoint/2010/main" val="3749056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27</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8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7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8.xml><?xml version="1.0" encoding="utf-8"?>
<a:theme xmlns:a="http://schemas.openxmlformats.org/drawingml/2006/main" name="9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9.xml><?xml version="1.0" encoding="utf-8"?>
<a:theme xmlns:a="http://schemas.openxmlformats.org/drawingml/2006/main" name="10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Lecture12_GEOG2475_Tuesday</Template>
  <TotalTime>11108</TotalTime>
  <Words>894</Words>
  <Application>Microsoft Office PowerPoint</Application>
  <PresentationFormat>Custom</PresentationFormat>
  <Paragraphs>165</Paragraphs>
  <Slides>27</Slides>
  <Notes>25</Notes>
  <HiddenSlides>0</HiddenSlides>
  <MMClips>0</MMClips>
  <ScaleCrop>false</ScaleCrop>
  <HeadingPairs>
    <vt:vector size="6" baseType="variant">
      <vt:variant>
        <vt:lpstr>Fonts Used</vt:lpstr>
      </vt:variant>
      <vt:variant>
        <vt:i4>6</vt:i4>
      </vt:variant>
      <vt:variant>
        <vt:lpstr>Theme</vt:lpstr>
      </vt:variant>
      <vt:variant>
        <vt:i4>9</vt:i4>
      </vt:variant>
      <vt:variant>
        <vt:lpstr>Slide Titles</vt:lpstr>
      </vt:variant>
      <vt:variant>
        <vt:i4>27</vt:i4>
      </vt:variant>
    </vt:vector>
  </HeadingPairs>
  <TitlesOfParts>
    <vt:vector size="42" baseType="lpstr">
      <vt:lpstr>Arial</vt:lpstr>
      <vt:lpstr>Arial Black</vt:lpstr>
      <vt:lpstr>Calibri</vt:lpstr>
      <vt:lpstr>Courier New</vt:lpstr>
      <vt:lpstr>Wingdings</vt:lpstr>
      <vt:lpstr>Wingdings 2</vt:lpstr>
      <vt:lpstr>8_DividendVTI</vt:lpstr>
      <vt:lpstr>7_DividendVTI</vt:lpstr>
      <vt:lpstr>5_DividendVTI</vt:lpstr>
      <vt:lpstr>2_DividendVTI</vt:lpstr>
      <vt:lpstr>DividendVTI</vt:lpstr>
      <vt:lpstr>1_DividendVTI</vt:lpstr>
      <vt:lpstr>6_DividendVTI</vt:lpstr>
      <vt:lpstr>9_DividendVTI</vt:lpstr>
      <vt:lpstr>10_DividendVTI</vt:lpstr>
      <vt:lpstr>Lecture 12 geocoding   lecture</vt:lpstr>
      <vt:lpstr>12.1  geocoding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In-class activity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600</cp:revision>
  <cp:lastPrinted>2020-03-26T12:59:04Z</cp:lastPrinted>
  <dcterms:created xsi:type="dcterms:W3CDTF">2020-03-24T14:51:54Z</dcterms:created>
  <dcterms:modified xsi:type="dcterms:W3CDTF">2025-11-06T04:00:24Z</dcterms:modified>
</cp:coreProperties>
</file>