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30"/>
  </p:notesMasterIdLst>
  <p:sldIdLst>
    <p:sldId id="602" r:id="rId2"/>
    <p:sldId id="665" r:id="rId3"/>
    <p:sldId id="666" r:id="rId4"/>
    <p:sldId id="296" r:id="rId5"/>
    <p:sldId id="668" r:id="rId6"/>
    <p:sldId id="667" r:id="rId7"/>
    <p:sldId id="669" r:id="rId8"/>
    <p:sldId id="670" r:id="rId9"/>
    <p:sldId id="671" r:id="rId10"/>
    <p:sldId id="673" r:id="rId11"/>
    <p:sldId id="672" r:id="rId12"/>
    <p:sldId id="674" r:id="rId13"/>
    <p:sldId id="675" r:id="rId14"/>
    <p:sldId id="676" r:id="rId15"/>
    <p:sldId id="678" r:id="rId16"/>
    <p:sldId id="677" r:id="rId17"/>
    <p:sldId id="679" r:id="rId18"/>
    <p:sldId id="680" r:id="rId19"/>
    <p:sldId id="681" r:id="rId20"/>
    <p:sldId id="689" r:id="rId21"/>
    <p:sldId id="682" r:id="rId22"/>
    <p:sldId id="683" r:id="rId23"/>
    <p:sldId id="684" r:id="rId24"/>
    <p:sldId id="685" r:id="rId25"/>
    <p:sldId id="687" r:id="rId26"/>
    <p:sldId id="686" r:id="rId27"/>
    <p:sldId id="688" r:id="rId28"/>
    <p:sldId id="270" r:id="rId29"/>
  </p:sldIdLst>
  <p:sldSz cx="8229600" cy="51435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15" autoAdjust="0"/>
    <p:restoredTop sz="81818" autoAdjust="0"/>
  </p:normalViewPr>
  <p:slideViewPr>
    <p:cSldViewPr snapToGrid="0" snapToObjects="1">
      <p:cViewPr varScale="1">
        <p:scale>
          <a:sx n="74" d="100"/>
          <a:sy n="74" d="100"/>
        </p:scale>
        <p:origin x="822" y="66"/>
      </p:cViewPr>
      <p:guideLst>
        <p:guide orient="horz" pos="1620"/>
        <p:guide pos="25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11/15/2022</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5963" y="696913"/>
            <a:ext cx="5578475" cy="3486150"/>
          </a:xfrm>
        </p:spPr>
      </p:sp>
      <p:sp>
        <p:nvSpPr>
          <p:cNvPr id="3" name="Notes Placeholder 2"/>
          <p:cNvSpPr>
            <a:spLocks noGrp="1"/>
          </p:cNvSpPr>
          <p:nvPr>
            <p:ph type="body" idx="1"/>
          </p:nvPr>
        </p:nvSpPr>
        <p:spPr/>
        <p:txBody>
          <a:bodyPr/>
          <a:lstStyle/>
          <a:p>
            <a:pPr defTabSz="465887">
              <a:defRPr/>
            </a:pPr>
            <a:endParaRPr lang="en-US" dirty="0"/>
          </a:p>
        </p:txBody>
      </p:sp>
      <p:sp>
        <p:nvSpPr>
          <p:cNvPr id="4" name="Slide Number Placeholder 3"/>
          <p:cNvSpPr>
            <a:spLocks noGrp="1"/>
          </p:cNvSpPr>
          <p:nvPr>
            <p:ph type="sldNum" sz="quarter" idx="10"/>
          </p:nvPr>
        </p:nvSpPr>
        <p:spPr/>
        <p:txBody>
          <a:bodyPr/>
          <a:lstStyle/>
          <a:p>
            <a:fld id="{56507943-197E-CE46-82F0-5A323A24AE7A}" type="slidenum">
              <a:rPr lang="en-US" smtClean="0"/>
              <a:pPr/>
              <a:t>1</a:t>
            </a:fld>
            <a:endParaRPr lang="en-US"/>
          </a:p>
        </p:txBody>
      </p:sp>
    </p:spTree>
    <p:extLst>
      <p:ext uri="{BB962C8B-B14F-4D97-AF65-F5344CB8AC3E}">
        <p14:creationId xmlns:p14="http://schemas.microsoft.com/office/powerpoint/2010/main" val="19735089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4130332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a:t>
            </a:fld>
            <a:endParaRPr lang="en-US"/>
          </a:p>
        </p:txBody>
      </p:sp>
    </p:spTree>
    <p:extLst>
      <p:ext uri="{BB962C8B-B14F-4D97-AF65-F5344CB8AC3E}">
        <p14:creationId xmlns:p14="http://schemas.microsoft.com/office/powerpoint/2010/main" val="15215955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a:t>
            </a:fld>
            <a:endParaRPr lang="en-US"/>
          </a:p>
        </p:txBody>
      </p:sp>
    </p:spTree>
    <p:extLst>
      <p:ext uri="{BB962C8B-B14F-4D97-AF65-F5344CB8AC3E}">
        <p14:creationId xmlns:p14="http://schemas.microsoft.com/office/powerpoint/2010/main" val="40862911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a:t>
            </a:fld>
            <a:endParaRPr lang="en-US"/>
          </a:p>
        </p:txBody>
      </p:sp>
    </p:spTree>
    <p:extLst>
      <p:ext uri="{BB962C8B-B14F-4D97-AF65-F5344CB8AC3E}">
        <p14:creationId xmlns:p14="http://schemas.microsoft.com/office/powerpoint/2010/main" val="39661713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6</a:t>
            </a:fld>
            <a:endParaRPr lang="en-US"/>
          </a:p>
        </p:txBody>
      </p:sp>
    </p:spTree>
    <p:extLst>
      <p:ext uri="{BB962C8B-B14F-4D97-AF65-F5344CB8AC3E}">
        <p14:creationId xmlns:p14="http://schemas.microsoft.com/office/powerpoint/2010/main" val="40893667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7</a:t>
            </a:fld>
            <a:endParaRPr lang="en-US"/>
          </a:p>
        </p:txBody>
      </p:sp>
    </p:spTree>
    <p:extLst>
      <p:ext uri="{BB962C8B-B14F-4D97-AF65-F5344CB8AC3E}">
        <p14:creationId xmlns:p14="http://schemas.microsoft.com/office/powerpoint/2010/main" val="8626277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8</a:t>
            </a:fld>
            <a:endParaRPr lang="en-US"/>
          </a:p>
        </p:txBody>
      </p:sp>
    </p:spTree>
    <p:extLst>
      <p:ext uri="{BB962C8B-B14F-4D97-AF65-F5344CB8AC3E}">
        <p14:creationId xmlns:p14="http://schemas.microsoft.com/office/powerpoint/2010/main" val="4986494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9</a:t>
            </a:fld>
            <a:endParaRPr lang="en-US"/>
          </a:p>
        </p:txBody>
      </p:sp>
    </p:spTree>
    <p:extLst>
      <p:ext uri="{BB962C8B-B14F-4D97-AF65-F5344CB8AC3E}">
        <p14:creationId xmlns:p14="http://schemas.microsoft.com/office/powerpoint/2010/main" val="41610802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10</a:t>
            </a:fld>
            <a:endParaRPr lang="en-US"/>
          </a:p>
        </p:txBody>
      </p:sp>
    </p:spTree>
    <p:extLst>
      <p:ext uri="{BB962C8B-B14F-4D97-AF65-F5344CB8AC3E}">
        <p14:creationId xmlns:p14="http://schemas.microsoft.com/office/powerpoint/2010/main" val="13346885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11</a:t>
            </a:fld>
            <a:endParaRPr lang="en-US"/>
          </a:p>
        </p:txBody>
      </p:sp>
    </p:spTree>
    <p:extLst>
      <p:ext uri="{BB962C8B-B14F-4D97-AF65-F5344CB8AC3E}">
        <p14:creationId xmlns:p14="http://schemas.microsoft.com/office/powerpoint/2010/main" val="24431437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lane</a:t>
            </a:r>
          </a:p>
        </p:txBody>
      </p:sp>
      <p:sp>
        <p:nvSpPr>
          <p:cNvPr id="4" name="Slide Number Placeholder 3"/>
          <p:cNvSpPr>
            <a:spLocks noGrp="1"/>
          </p:cNvSpPr>
          <p:nvPr>
            <p:ph type="sldNum" sz="quarter" idx="10"/>
          </p:nvPr>
        </p:nvSpPr>
        <p:spPr/>
        <p:txBody>
          <a:bodyPr/>
          <a:lstStyle/>
          <a:p>
            <a:fld id="{01F2A70B-78F2-4DCF-B53B-C990D2FAFB8A}" type="slidenum">
              <a:rPr lang="en-US" smtClean="0"/>
              <a:t>12</a:t>
            </a:fld>
            <a:endParaRPr lang="en-US"/>
          </a:p>
        </p:txBody>
      </p:sp>
    </p:spTree>
    <p:extLst>
      <p:ext uri="{BB962C8B-B14F-4D97-AF65-F5344CB8AC3E}">
        <p14:creationId xmlns:p14="http://schemas.microsoft.com/office/powerpoint/2010/main" val="17479720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13</a:t>
            </a:fld>
            <a:endParaRPr lang="en-US"/>
          </a:p>
        </p:txBody>
      </p:sp>
    </p:spTree>
    <p:extLst>
      <p:ext uri="{BB962C8B-B14F-4D97-AF65-F5344CB8AC3E}">
        <p14:creationId xmlns:p14="http://schemas.microsoft.com/office/powerpoint/2010/main" val="13405548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14</a:t>
            </a:fld>
            <a:endParaRPr lang="en-US"/>
          </a:p>
        </p:txBody>
      </p:sp>
    </p:spTree>
    <p:extLst>
      <p:ext uri="{BB962C8B-B14F-4D97-AF65-F5344CB8AC3E}">
        <p14:creationId xmlns:p14="http://schemas.microsoft.com/office/powerpoint/2010/main" val="54084396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15</a:t>
            </a:fld>
            <a:endParaRPr lang="en-US"/>
          </a:p>
        </p:txBody>
      </p:sp>
    </p:spTree>
    <p:extLst>
      <p:ext uri="{BB962C8B-B14F-4D97-AF65-F5344CB8AC3E}">
        <p14:creationId xmlns:p14="http://schemas.microsoft.com/office/powerpoint/2010/main" val="6584879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16</a:t>
            </a:fld>
            <a:endParaRPr lang="en-US"/>
          </a:p>
        </p:txBody>
      </p:sp>
    </p:spTree>
    <p:extLst>
      <p:ext uri="{BB962C8B-B14F-4D97-AF65-F5344CB8AC3E}">
        <p14:creationId xmlns:p14="http://schemas.microsoft.com/office/powerpoint/2010/main" val="138459482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17</a:t>
            </a:fld>
            <a:endParaRPr lang="en-US"/>
          </a:p>
        </p:txBody>
      </p:sp>
    </p:spTree>
    <p:extLst>
      <p:ext uri="{BB962C8B-B14F-4D97-AF65-F5344CB8AC3E}">
        <p14:creationId xmlns:p14="http://schemas.microsoft.com/office/powerpoint/2010/main" val="15972205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18</a:t>
            </a:fld>
            <a:endParaRPr lang="en-US"/>
          </a:p>
        </p:txBody>
      </p:sp>
    </p:spTree>
    <p:extLst>
      <p:ext uri="{BB962C8B-B14F-4D97-AF65-F5344CB8AC3E}">
        <p14:creationId xmlns:p14="http://schemas.microsoft.com/office/powerpoint/2010/main" val="12584310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19</a:t>
            </a:fld>
            <a:endParaRPr lang="en-US"/>
          </a:p>
        </p:txBody>
      </p:sp>
    </p:spTree>
    <p:extLst>
      <p:ext uri="{BB962C8B-B14F-4D97-AF65-F5344CB8AC3E}">
        <p14:creationId xmlns:p14="http://schemas.microsoft.com/office/powerpoint/2010/main" val="10888069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20</a:t>
            </a:fld>
            <a:endParaRPr lang="en-US"/>
          </a:p>
        </p:txBody>
      </p:sp>
    </p:spTree>
    <p:extLst>
      <p:ext uri="{BB962C8B-B14F-4D97-AF65-F5344CB8AC3E}">
        <p14:creationId xmlns:p14="http://schemas.microsoft.com/office/powerpoint/2010/main" val="37085096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21</a:t>
            </a:fld>
            <a:endParaRPr lang="en-US"/>
          </a:p>
        </p:txBody>
      </p:sp>
    </p:spTree>
    <p:extLst>
      <p:ext uri="{BB962C8B-B14F-4D97-AF65-F5344CB8AC3E}">
        <p14:creationId xmlns:p14="http://schemas.microsoft.com/office/powerpoint/2010/main" val="4759256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22</a:t>
            </a:fld>
            <a:endParaRPr lang="en-US"/>
          </a:p>
        </p:txBody>
      </p:sp>
    </p:spTree>
    <p:extLst>
      <p:ext uri="{BB962C8B-B14F-4D97-AF65-F5344CB8AC3E}">
        <p14:creationId xmlns:p14="http://schemas.microsoft.com/office/powerpoint/2010/main" val="388002280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23</a:t>
            </a:fld>
            <a:endParaRPr lang="en-US"/>
          </a:p>
        </p:txBody>
      </p:sp>
    </p:spTree>
    <p:extLst>
      <p:ext uri="{BB962C8B-B14F-4D97-AF65-F5344CB8AC3E}">
        <p14:creationId xmlns:p14="http://schemas.microsoft.com/office/powerpoint/2010/main" val="16651484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24</a:t>
            </a:fld>
            <a:endParaRPr lang="en-US"/>
          </a:p>
        </p:txBody>
      </p:sp>
    </p:spTree>
    <p:extLst>
      <p:ext uri="{BB962C8B-B14F-4D97-AF65-F5344CB8AC3E}">
        <p14:creationId xmlns:p14="http://schemas.microsoft.com/office/powerpoint/2010/main" val="26350215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25</a:t>
            </a:fld>
            <a:endParaRPr lang="en-US"/>
          </a:p>
        </p:txBody>
      </p:sp>
    </p:spTree>
    <p:extLst>
      <p:ext uri="{BB962C8B-B14F-4D97-AF65-F5344CB8AC3E}">
        <p14:creationId xmlns:p14="http://schemas.microsoft.com/office/powerpoint/2010/main" val="35545089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26</a:t>
            </a:fld>
            <a:endParaRPr lang="en-US"/>
          </a:p>
        </p:txBody>
      </p:sp>
    </p:spTree>
    <p:extLst>
      <p:ext uri="{BB962C8B-B14F-4D97-AF65-F5344CB8AC3E}">
        <p14:creationId xmlns:p14="http://schemas.microsoft.com/office/powerpoint/2010/main" val="27954196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27</a:t>
            </a:fld>
            <a:endParaRPr lang="en-US"/>
          </a:p>
        </p:txBody>
      </p:sp>
    </p:spTree>
    <p:extLst>
      <p:ext uri="{BB962C8B-B14F-4D97-AF65-F5344CB8AC3E}">
        <p14:creationId xmlns:p14="http://schemas.microsoft.com/office/powerpoint/2010/main" val="27535692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28</a:t>
            </a:fld>
            <a:endParaRPr lang="en-US"/>
          </a:p>
        </p:txBody>
      </p:sp>
    </p:spTree>
    <p:extLst>
      <p:ext uri="{BB962C8B-B14F-4D97-AF65-F5344CB8AC3E}">
        <p14:creationId xmlns:p14="http://schemas.microsoft.com/office/powerpoint/2010/main" val="2956007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17220" y="1597820"/>
            <a:ext cx="6995160" cy="1102519"/>
          </a:xfrm>
        </p:spPr>
        <p:txBody>
          <a:bodyPr/>
          <a:lstStyle/>
          <a:p>
            <a:r>
              <a:rPr lang="en-US"/>
              <a:t>Click to edit Master title style</a:t>
            </a:r>
          </a:p>
        </p:txBody>
      </p:sp>
      <p:sp>
        <p:nvSpPr>
          <p:cNvPr id="3" name="Subtitle 2"/>
          <p:cNvSpPr>
            <a:spLocks noGrp="1"/>
          </p:cNvSpPr>
          <p:nvPr>
            <p:ph type="subTitle" idx="1"/>
          </p:nvPr>
        </p:nvSpPr>
        <p:spPr>
          <a:xfrm>
            <a:off x="1234440" y="2914650"/>
            <a:ext cx="5760720" cy="1314450"/>
          </a:xfrm>
        </p:spPr>
        <p:txBody>
          <a:bodyPr/>
          <a:lstStyle>
            <a:lvl1pPr marL="0" indent="0" algn="ctr">
              <a:buNone/>
              <a:defRPr>
                <a:solidFill>
                  <a:schemeClr val="tx1">
                    <a:tint val="75000"/>
                  </a:schemeClr>
                </a:solidFill>
              </a:defRPr>
            </a:lvl1pPr>
            <a:lvl2pPr marL="411480" indent="0" algn="ctr">
              <a:buNone/>
              <a:defRPr>
                <a:solidFill>
                  <a:schemeClr val="tx1">
                    <a:tint val="75000"/>
                  </a:schemeClr>
                </a:solidFill>
              </a:defRPr>
            </a:lvl2pPr>
            <a:lvl3pPr marL="822960" indent="0" algn="ctr">
              <a:buNone/>
              <a:defRPr>
                <a:solidFill>
                  <a:schemeClr val="tx1">
                    <a:tint val="75000"/>
                  </a:schemeClr>
                </a:solidFill>
              </a:defRPr>
            </a:lvl3pPr>
            <a:lvl4pPr marL="1234440" indent="0" algn="ctr">
              <a:buNone/>
              <a:defRPr>
                <a:solidFill>
                  <a:schemeClr val="tx1">
                    <a:tint val="75000"/>
                  </a:schemeClr>
                </a:solidFill>
              </a:defRPr>
            </a:lvl4pPr>
            <a:lvl5pPr marL="1645920" indent="0" algn="ctr">
              <a:buNone/>
              <a:defRPr>
                <a:solidFill>
                  <a:schemeClr val="tx1">
                    <a:tint val="75000"/>
                  </a:schemeClr>
                </a:solidFill>
              </a:defRPr>
            </a:lvl5pPr>
            <a:lvl6pPr marL="2057400" indent="0" algn="ctr">
              <a:buNone/>
              <a:defRPr>
                <a:solidFill>
                  <a:schemeClr val="tx1">
                    <a:tint val="75000"/>
                  </a:schemeClr>
                </a:solidFill>
              </a:defRPr>
            </a:lvl6pPr>
            <a:lvl7pPr marL="2468880" indent="0" algn="ctr">
              <a:buNone/>
              <a:defRPr>
                <a:solidFill>
                  <a:schemeClr val="tx1">
                    <a:tint val="75000"/>
                  </a:schemeClr>
                </a:solidFill>
              </a:defRPr>
            </a:lvl7pPr>
            <a:lvl8pPr marL="2880360" indent="0" algn="ctr">
              <a:buNone/>
              <a:defRPr>
                <a:solidFill>
                  <a:schemeClr val="tx1">
                    <a:tint val="75000"/>
                  </a:schemeClr>
                </a:solidFill>
              </a:defRPr>
            </a:lvl8pPr>
            <a:lvl9pPr marL="329184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B771416A-4FA2-4BC6-AD02-FC62E2EB537B}" type="datetime1">
              <a:rPr lang="en-US" smtClean="0"/>
              <a:t>11/15/2022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4459162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53E52A6-65E0-4C57-A17E-B64EB7F24D27}" type="datetime1">
              <a:rPr lang="en-US" smtClean="0"/>
              <a:t>11/15/2022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2824698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50082" y="3305176"/>
            <a:ext cx="6995160" cy="1021556"/>
          </a:xfrm>
        </p:spPr>
        <p:txBody>
          <a:bodyPr anchor="t"/>
          <a:lstStyle>
            <a:lvl1pPr algn="l">
              <a:defRPr sz="3600" b="1" cap="all"/>
            </a:lvl1pPr>
          </a:lstStyle>
          <a:p>
            <a:r>
              <a:rPr lang="en-US"/>
              <a:t>Click to edit Master title style</a:t>
            </a:r>
          </a:p>
        </p:txBody>
      </p:sp>
      <p:sp>
        <p:nvSpPr>
          <p:cNvPr id="3" name="Text Placeholder 2"/>
          <p:cNvSpPr>
            <a:spLocks noGrp="1"/>
          </p:cNvSpPr>
          <p:nvPr>
            <p:ph type="body" idx="1"/>
          </p:nvPr>
        </p:nvSpPr>
        <p:spPr>
          <a:xfrm>
            <a:off x="650082" y="2180035"/>
            <a:ext cx="6995160" cy="1125140"/>
          </a:xfrm>
        </p:spPr>
        <p:txBody>
          <a:bodyPr anchor="b"/>
          <a:lstStyle>
            <a:lvl1pPr marL="0" indent="0">
              <a:buNone/>
              <a:defRPr sz="1800">
                <a:solidFill>
                  <a:schemeClr val="tx1">
                    <a:tint val="75000"/>
                  </a:schemeClr>
                </a:solidFill>
              </a:defRPr>
            </a:lvl1pPr>
            <a:lvl2pPr marL="411480" indent="0">
              <a:buNone/>
              <a:defRPr sz="1620">
                <a:solidFill>
                  <a:schemeClr val="tx1">
                    <a:tint val="75000"/>
                  </a:schemeClr>
                </a:solidFill>
              </a:defRPr>
            </a:lvl2pPr>
            <a:lvl3pPr marL="822960" indent="0">
              <a:buNone/>
              <a:defRPr sz="1440">
                <a:solidFill>
                  <a:schemeClr val="tx1">
                    <a:tint val="75000"/>
                  </a:schemeClr>
                </a:solidFill>
              </a:defRPr>
            </a:lvl3pPr>
            <a:lvl4pPr marL="1234440" indent="0">
              <a:buNone/>
              <a:defRPr sz="1260">
                <a:solidFill>
                  <a:schemeClr val="tx1">
                    <a:tint val="75000"/>
                  </a:schemeClr>
                </a:solidFill>
              </a:defRPr>
            </a:lvl4pPr>
            <a:lvl5pPr marL="1645920" indent="0">
              <a:buNone/>
              <a:defRPr sz="1260">
                <a:solidFill>
                  <a:schemeClr val="tx1">
                    <a:tint val="75000"/>
                  </a:schemeClr>
                </a:solidFill>
              </a:defRPr>
            </a:lvl5pPr>
            <a:lvl6pPr marL="2057400" indent="0">
              <a:buNone/>
              <a:defRPr sz="1260">
                <a:solidFill>
                  <a:schemeClr val="tx1">
                    <a:tint val="75000"/>
                  </a:schemeClr>
                </a:solidFill>
              </a:defRPr>
            </a:lvl6pPr>
            <a:lvl7pPr marL="2468880" indent="0">
              <a:buNone/>
              <a:defRPr sz="1260">
                <a:solidFill>
                  <a:schemeClr val="tx1">
                    <a:tint val="75000"/>
                  </a:schemeClr>
                </a:solidFill>
              </a:defRPr>
            </a:lvl7pPr>
            <a:lvl8pPr marL="2880360" indent="0">
              <a:buNone/>
              <a:defRPr sz="1260">
                <a:solidFill>
                  <a:schemeClr val="tx1">
                    <a:tint val="75000"/>
                  </a:schemeClr>
                </a:solidFill>
              </a:defRPr>
            </a:lvl8pPr>
            <a:lvl9pPr marL="3291840" indent="0">
              <a:buNone/>
              <a:defRPr sz="12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F2C58D2-10B7-49F3-895D-A16367B13E92}" type="datetime1">
              <a:rPr lang="en-US" smtClean="0"/>
              <a:t>11/15/2022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04146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11480" y="1200151"/>
            <a:ext cx="3634740" cy="3394472"/>
          </a:xfrm>
        </p:spPr>
        <p:txBody>
          <a:bodyPr/>
          <a:lstStyle>
            <a:lvl1pPr>
              <a:defRPr sz="2520"/>
            </a:lvl1pPr>
            <a:lvl2pPr>
              <a:defRPr sz="2160"/>
            </a:lvl2pPr>
            <a:lvl3pPr>
              <a:defRPr sz="1800"/>
            </a:lvl3pPr>
            <a:lvl4pPr>
              <a:defRPr sz="1620"/>
            </a:lvl4pPr>
            <a:lvl5pPr>
              <a:defRPr sz="1620"/>
            </a:lvl5pPr>
            <a:lvl6pPr>
              <a:defRPr sz="1620"/>
            </a:lvl6pPr>
            <a:lvl7pPr>
              <a:defRPr sz="1620"/>
            </a:lvl7pPr>
            <a:lvl8pPr>
              <a:defRPr sz="1620"/>
            </a:lvl8pPr>
            <a:lvl9pPr>
              <a:defRPr sz="162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183380" y="1200151"/>
            <a:ext cx="3634740" cy="3394472"/>
          </a:xfrm>
        </p:spPr>
        <p:txBody>
          <a:bodyPr/>
          <a:lstStyle>
            <a:lvl1pPr>
              <a:defRPr sz="2520"/>
            </a:lvl1pPr>
            <a:lvl2pPr>
              <a:defRPr sz="2160"/>
            </a:lvl2pPr>
            <a:lvl3pPr>
              <a:defRPr sz="1800"/>
            </a:lvl3pPr>
            <a:lvl4pPr>
              <a:defRPr sz="1620"/>
            </a:lvl4pPr>
            <a:lvl5pPr>
              <a:defRPr sz="1620"/>
            </a:lvl5pPr>
            <a:lvl6pPr>
              <a:defRPr sz="1620"/>
            </a:lvl6pPr>
            <a:lvl7pPr>
              <a:defRPr sz="1620"/>
            </a:lvl7pPr>
            <a:lvl8pPr>
              <a:defRPr sz="1620"/>
            </a:lvl8pPr>
            <a:lvl9pPr>
              <a:defRPr sz="162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B7CCCB0-43DA-4C40-A467-5973D43A0338}" type="datetime1">
              <a:rPr lang="en-US" smtClean="0"/>
              <a:t>11/15/2022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0520448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11480" y="1151335"/>
            <a:ext cx="3636169" cy="479822"/>
          </a:xfrm>
        </p:spPr>
        <p:txBody>
          <a:bodyPr anchor="b"/>
          <a:lstStyle>
            <a:lvl1pPr marL="0" indent="0">
              <a:buNone/>
              <a:defRPr sz="2160" b="1"/>
            </a:lvl1pPr>
            <a:lvl2pPr marL="411480" indent="0">
              <a:buNone/>
              <a:defRPr sz="1800" b="1"/>
            </a:lvl2pPr>
            <a:lvl3pPr marL="822960" indent="0">
              <a:buNone/>
              <a:defRPr sz="1620" b="1"/>
            </a:lvl3pPr>
            <a:lvl4pPr marL="1234440" indent="0">
              <a:buNone/>
              <a:defRPr sz="1440" b="1"/>
            </a:lvl4pPr>
            <a:lvl5pPr marL="1645920" indent="0">
              <a:buNone/>
              <a:defRPr sz="1440" b="1"/>
            </a:lvl5pPr>
            <a:lvl6pPr marL="2057400" indent="0">
              <a:buNone/>
              <a:defRPr sz="1440" b="1"/>
            </a:lvl6pPr>
            <a:lvl7pPr marL="2468880" indent="0">
              <a:buNone/>
              <a:defRPr sz="1440" b="1"/>
            </a:lvl7pPr>
            <a:lvl8pPr marL="2880360" indent="0">
              <a:buNone/>
              <a:defRPr sz="1440" b="1"/>
            </a:lvl8pPr>
            <a:lvl9pPr marL="3291840" indent="0">
              <a:buNone/>
              <a:defRPr sz="1440" b="1"/>
            </a:lvl9pPr>
          </a:lstStyle>
          <a:p>
            <a:pPr lvl="0"/>
            <a:r>
              <a:rPr lang="en-US"/>
              <a:t>Click to edit Master text styles</a:t>
            </a:r>
          </a:p>
        </p:txBody>
      </p:sp>
      <p:sp>
        <p:nvSpPr>
          <p:cNvPr id="4" name="Content Placeholder 3"/>
          <p:cNvSpPr>
            <a:spLocks noGrp="1"/>
          </p:cNvSpPr>
          <p:nvPr>
            <p:ph sz="half" idx="2"/>
          </p:nvPr>
        </p:nvSpPr>
        <p:spPr>
          <a:xfrm>
            <a:off x="411480" y="1631156"/>
            <a:ext cx="3636169" cy="2963466"/>
          </a:xfrm>
        </p:spPr>
        <p:txBody>
          <a:bodyPr/>
          <a:lstStyle>
            <a:lvl1pPr>
              <a:defRPr sz="2160"/>
            </a:lvl1pPr>
            <a:lvl2pPr>
              <a:defRPr sz="1800"/>
            </a:lvl2pPr>
            <a:lvl3pPr>
              <a:defRPr sz="1620"/>
            </a:lvl3pPr>
            <a:lvl4pPr>
              <a:defRPr sz="1440"/>
            </a:lvl4pPr>
            <a:lvl5pPr>
              <a:defRPr sz="1440"/>
            </a:lvl5pPr>
            <a:lvl6pPr>
              <a:defRPr sz="1440"/>
            </a:lvl6pPr>
            <a:lvl7pPr>
              <a:defRPr sz="1440"/>
            </a:lvl7pPr>
            <a:lvl8pPr>
              <a:defRPr sz="1440"/>
            </a:lvl8pPr>
            <a:lvl9pPr>
              <a:defRPr sz="14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180524" y="1151335"/>
            <a:ext cx="3637598" cy="479822"/>
          </a:xfrm>
        </p:spPr>
        <p:txBody>
          <a:bodyPr anchor="b"/>
          <a:lstStyle>
            <a:lvl1pPr marL="0" indent="0">
              <a:buNone/>
              <a:defRPr sz="2160" b="1"/>
            </a:lvl1pPr>
            <a:lvl2pPr marL="411480" indent="0">
              <a:buNone/>
              <a:defRPr sz="1800" b="1"/>
            </a:lvl2pPr>
            <a:lvl3pPr marL="822960" indent="0">
              <a:buNone/>
              <a:defRPr sz="1620" b="1"/>
            </a:lvl3pPr>
            <a:lvl4pPr marL="1234440" indent="0">
              <a:buNone/>
              <a:defRPr sz="1440" b="1"/>
            </a:lvl4pPr>
            <a:lvl5pPr marL="1645920" indent="0">
              <a:buNone/>
              <a:defRPr sz="1440" b="1"/>
            </a:lvl5pPr>
            <a:lvl6pPr marL="2057400" indent="0">
              <a:buNone/>
              <a:defRPr sz="1440" b="1"/>
            </a:lvl6pPr>
            <a:lvl7pPr marL="2468880" indent="0">
              <a:buNone/>
              <a:defRPr sz="1440" b="1"/>
            </a:lvl7pPr>
            <a:lvl8pPr marL="2880360" indent="0">
              <a:buNone/>
              <a:defRPr sz="1440" b="1"/>
            </a:lvl8pPr>
            <a:lvl9pPr marL="3291840" indent="0">
              <a:buNone/>
              <a:defRPr sz="1440" b="1"/>
            </a:lvl9pPr>
          </a:lstStyle>
          <a:p>
            <a:pPr lvl="0"/>
            <a:r>
              <a:rPr lang="en-US"/>
              <a:t>Click to edit Master text styles</a:t>
            </a:r>
          </a:p>
        </p:txBody>
      </p:sp>
      <p:sp>
        <p:nvSpPr>
          <p:cNvPr id="6" name="Content Placeholder 5"/>
          <p:cNvSpPr>
            <a:spLocks noGrp="1"/>
          </p:cNvSpPr>
          <p:nvPr>
            <p:ph sz="quarter" idx="4"/>
          </p:nvPr>
        </p:nvSpPr>
        <p:spPr>
          <a:xfrm>
            <a:off x="4180524" y="1631156"/>
            <a:ext cx="3637598" cy="2963466"/>
          </a:xfrm>
        </p:spPr>
        <p:txBody>
          <a:bodyPr/>
          <a:lstStyle>
            <a:lvl1pPr>
              <a:defRPr sz="2160"/>
            </a:lvl1pPr>
            <a:lvl2pPr>
              <a:defRPr sz="1800"/>
            </a:lvl2pPr>
            <a:lvl3pPr>
              <a:defRPr sz="1620"/>
            </a:lvl3pPr>
            <a:lvl4pPr>
              <a:defRPr sz="1440"/>
            </a:lvl4pPr>
            <a:lvl5pPr>
              <a:defRPr sz="1440"/>
            </a:lvl5pPr>
            <a:lvl6pPr>
              <a:defRPr sz="1440"/>
            </a:lvl6pPr>
            <a:lvl7pPr>
              <a:defRPr sz="1440"/>
            </a:lvl7pPr>
            <a:lvl8pPr>
              <a:defRPr sz="1440"/>
            </a:lvl8pPr>
            <a:lvl9pPr>
              <a:defRPr sz="14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C530106-BE81-4E5A-8C39-9A8985CECEF3}" type="datetime1">
              <a:rPr lang="en-US" smtClean="0"/>
              <a:t>11/15/2022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734329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972FD10-9497-4827-ABB9-9E3B94BED0E4}" type="datetime1">
              <a:rPr lang="en-US" smtClean="0"/>
              <a:t>11/15/2022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5744294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8E234C3-F188-4E3A-83B9-0CEFC6429E06}" type="datetime1">
              <a:rPr lang="en-US" smtClean="0"/>
              <a:t>11/15/2022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2048352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11481" y="204787"/>
            <a:ext cx="2707482" cy="871538"/>
          </a:xfrm>
        </p:spPr>
        <p:txBody>
          <a:bodyPr anchor="b"/>
          <a:lstStyle>
            <a:lvl1pPr algn="l">
              <a:defRPr sz="1800" b="1"/>
            </a:lvl1pPr>
          </a:lstStyle>
          <a:p>
            <a:r>
              <a:rPr lang="en-US"/>
              <a:t>Click to edit Master title style</a:t>
            </a:r>
          </a:p>
        </p:txBody>
      </p:sp>
      <p:sp>
        <p:nvSpPr>
          <p:cNvPr id="3" name="Content Placeholder 2"/>
          <p:cNvSpPr>
            <a:spLocks noGrp="1"/>
          </p:cNvSpPr>
          <p:nvPr>
            <p:ph idx="1"/>
          </p:nvPr>
        </p:nvSpPr>
        <p:spPr>
          <a:xfrm>
            <a:off x="3217545" y="204789"/>
            <a:ext cx="4600575" cy="4389835"/>
          </a:xfrm>
        </p:spPr>
        <p:txBody>
          <a:bodyPr/>
          <a:lstStyle>
            <a:lvl1pPr>
              <a:defRPr sz="2880"/>
            </a:lvl1pPr>
            <a:lvl2pPr>
              <a:defRPr sz="2520"/>
            </a:lvl2pPr>
            <a:lvl3pPr>
              <a:defRPr sz="216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11481" y="1076327"/>
            <a:ext cx="2707482" cy="3518297"/>
          </a:xfrm>
        </p:spPr>
        <p:txBody>
          <a:bodyPr/>
          <a:lstStyle>
            <a:lvl1pPr marL="0" indent="0">
              <a:buNone/>
              <a:defRPr sz="1260"/>
            </a:lvl1pPr>
            <a:lvl2pPr marL="411480" indent="0">
              <a:buNone/>
              <a:defRPr sz="1080"/>
            </a:lvl2pPr>
            <a:lvl3pPr marL="822960" indent="0">
              <a:buNone/>
              <a:defRPr sz="900"/>
            </a:lvl3pPr>
            <a:lvl4pPr marL="1234440" indent="0">
              <a:buNone/>
              <a:defRPr sz="810"/>
            </a:lvl4pPr>
            <a:lvl5pPr marL="1645920" indent="0">
              <a:buNone/>
              <a:defRPr sz="810"/>
            </a:lvl5pPr>
            <a:lvl6pPr marL="2057400" indent="0">
              <a:buNone/>
              <a:defRPr sz="810"/>
            </a:lvl6pPr>
            <a:lvl7pPr marL="2468880" indent="0">
              <a:buNone/>
              <a:defRPr sz="810"/>
            </a:lvl7pPr>
            <a:lvl8pPr marL="2880360" indent="0">
              <a:buNone/>
              <a:defRPr sz="810"/>
            </a:lvl8pPr>
            <a:lvl9pPr marL="3291840" indent="0">
              <a:buNone/>
              <a:defRPr sz="810"/>
            </a:lvl9pPr>
          </a:lstStyle>
          <a:p>
            <a:pPr lvl="0"/>
            <a:r>
              <a:rPr lang="en-US"/>
              <a:t>Click to edit Master text styles</a:t>
            </a:r>
          </a:p>
        </p:txBody>
      </p:sp>
      <p:sp>
        <p:nvSpPr>
          <p:cNvPr id="5" name="Date Placeholder 4"/>
          <p:cNvSpPr>
            <a:spLocks noGrp="1"/>
          </p:cNvSpPr>
          <p:nvPr>
            <p:ph type="dt" sz="half" idx="10"/>
          </p:nvPr>
        </p:nvSpPr>
        <p:spPr/>
        <p:txBody>
          <a:bodyPr/>
          <a:lstStyle/>
          <a:p>
            <a:fld id="{341BD1F2-20F1-4F40-8112-EC494B61E001}" type="datetime1">
              <a:rPr lang="en-US" smtClean="0"/>
              <a:t>11/15/2022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641847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13059" y="3600450"/>
            <a:ext cx="4937760" cy="425054"/>
          </a:xfrm>
        </p:spPr>
        <p:txBody>
          <a:bodyPr anchor="b"/>
          <a:lstStyle>
            <a:lvl1pPr algn="l">
              <a:defRPr sz="1800" b="1"/>
            </a:lvl1pPr>
          </a:lstStyle>
          <a:p>
            <a:r>
              <a:rPr lang="en-US"/>
              <a:t>Click to edit Master title style</a:t>
            </a:r>
          </a:p>
        </p:txBody>
      </p:sp>
      <p:sp>
        <p:nvSpPr>
          <p:cNvPr id="3" name="Picture Placeholder 2"/>
          <p:cNvSpPr>
            <a:spLocks noGrp="1"/>
          </p:cNvSpPr>
          <p:nvPr>
            <p:ph type="pic" idx="1"/>
          </p:nvPr>
        </p:nvSpPr>
        <p:spPr>
          <a:xfrm>
            <a:off x="1613059" y="459581"/>
            <a:ext cx="4937760" cy="3086100"/>
          </a:xfrm>
        </p:spPr>
        <p:txBody>
          <a:bodyPr/>
          <a:lstStyle>
            <a:lvl1pPr marL="0" indent="0">
              <a:buNone/>
              <a:defRPr sz="2880"/>
            </a:lvl1pPr>
            <a:lvl2pPr marL="411480" indent="0">
              <a:buNone/>
              <a:defRPr sz="2520"/>
            </a:lvl2pPr>
            <a:lvl3pPr marL="822960" indent="0">
              <a:buNone/>
              <a:defRPr sz="2160"/>
            </a:lvl3pPr>
            <a:lvl4pPr marL="1234440" indent="0">
              <a:buNone/>
              <a:defRPr sz="1800"/>
            </a:lvl4pPr>
            <a:lvl5pPr marL="1645920" indent="0">
              <a:buNone/>
              <a:defRPr sz="1800"/>
            </a:lvl5pPr>
            <a:lvl6pPr marL="2057400" indent="0">
              <a:buNone/>
              <a:defRPr sz="1800"/>
            </a:lvl6pPr>
            <a:lvl7pPr marL="2468880" indent="0">
              <a:buNone/>
              <a:defRPr sz="1800"/>
            </a:lvl7pPr>
            <a:lvl8pPr marL="2880360" indent="0">
              <a:buNone/>
              <a:defRPr sz="1800"/>
            </a:lvl8pPr>
            <a:lvl9pPr marL="3291840" indent="0">
              <a:buNone/>
              <a:defRPr sz="1800"/>
            </a:lvl9pPr>
          </a:lstStyle>
          <a:p>
            <a:endParaRPr lang="en-US"/>
          </a:p>
        </p:txBody>
      </p:sp>
      <p:sp>
        <p:nvSpPr>
          <p:cNvPr id="4" name="Text Placeholder 3"/>
          <p:cNvSpPr>
            <a:spLocks noGrp="1"/>
          </p:cNvSpPr>
          <p:nvPr>
            <p:ph type="body" sz="half" idx="2"/>
          </p:nvPr>
        </p:nvSpPr>
        <p:spPr>
          <a:xfrm>
            <a:off x="1613059" y="4025504"/>
            <a:ext cx="4937760" cy="603647"/>
          </a:xfrm>
        </p:spPr>
        <p:txBody>
          <a:bodyPr/>
          <a:lstStyle>
            <a:lvl1pPr marL="0" indent="0">
              <a:buNone/>
              <a:defRPr sz="1260"/>
            </a:lvl1pPr>
            <a:lvl2pPr marL="411480" indent="0">
              <a:buNone/>
              <a:defRPr sz="1080"/>
            </a:lvl2pPr>
            <a:lvl3pPr marL="822960" indent="0">
              <a:buNone/>
              <a:defRPr sz="900"/>
            </a:lvl3pPr>
            <a:lvl4pPr marL="1234440" indent="0">
              <a:buNone/>
              <a:defRPr sz="810"/>
            </a:lvl4pPr>
            <a:lvl5pPr marL="1645920" indent="0">
              <a:buNone/>
              <a:defRPr sz="810"/>
            </a:lvl5pPr>
            <a:lvl6pPr marL="2057400" indent="0">
              <a:buNone/>
              <a:defRPr sz="810"/>
            </a:lvl6pPr>
            <a:lvl7pPr marL="2468880" indent="0">
              <a:buNone/>
              <a:defRPr sz="810"/>
            </a:lvl7pPr>
            <a:lvl8pPr marL="2880360" indent="0">
              <a:buNone/>
              <a:defRPr sz="810"/>
            </a:lvl8pPr>
            <a:lvl9pPr marL="3291840" indent="0">
              <a:buNone/>
              <a:defRPr sz="810"/>
            </a:lvl9pPr>
          </a:lstStyle>
          <a:p>
            <a:pPr lvl="0"/>
            <a:r>
              <a:rPr lang="en-US"/>
              <a:t>Click to edit Master text styles</a:t>
            </a:r>
          </a:p>
        </p:txBody>
      </p:sp>
      <p:sp>
        <p:nvSpPr>
          <p:cNvPr id="5" name="Date Placeholder 4"/>
          <p:cNvSpPr>
            <a:spLocks noGrp="1"/>
          </p:cNvSpPr>
          <p:nvPr>
            <p:ph type="dt" sz="half" idx="10"/>
          </p:nvPr>
        </p:nvSpPr>
        <p:spPr/>
        <p:txBody>
          <a:bodyPr/>
          <a:lstStyle/>
          <a:p>
            <a:fld id="{EF39F1AC-95A0-41C9-932F-34509B8DC8E9}" type="datetime1">
              <a:rPr lang="en-US" smtClean="0"/>
              <a:t>11/15/2022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760312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EF292BF-94B3-474B-98F9-2D896A24DDFC}" type="datetime1">
              <a:rPr lang="en-US" smtClean="0"/>
              <a:t>11/15/2022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5509109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66460" y="205979"/>
            <a:ext cx="185166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11480" y="205979"/>
            <a:ext cx="541782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91C2DFC-9303-4BEF-B96E-CC54239EDA10}" type="datetime1">
              <a:rPr lang="en-US" smtClean="0"/>
              <a:t>11/15/2022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645966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11480" y="205979"/>
            <a:ext cx="740664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11480" y="1200151"/>
            <a:ext cx="740664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11480" y="4767263"/>
            <a:ext cx="1920240" cy="273844"/>
          </a:xfrm>
          <a:prstGeom prst="rect">
            <a:avLst/>
          </a:prstGeom>
        </p:spPr>
        <p:txBody>
          <a:bodyPr vert="horz" lIns="91440" tIns="45720" rIns="91440" bIns="45720" rtlCol="0" anchor="ctr"/>
          <a:lstStyle>
            <a:lvl1pPr algn="l">
              <a:defRPr sz="1080">
                <a:solidFill>
                  <a:schemeClr val="tx1">
                    <a:tint val="75000"/>
                  </a:schemeClr>
                </a:solidFill>
              </a:defRPr>
            </a:lvl1pPr>
          </a:lstStyle>
          <a:p>
            <a:fld id="{4199989E-35DE-44B7-B35E-E0E64E12EC86}" type="datetime1">
              <a:rPr lang="en-US" smtClean="0"/>
              <a:t>11/15/2022</a:t>
            </a:fld>
            <a:endParaRPr lang="en-US"/>
          </a:p>
        </p:txBody>
      </p:sp>
      <p:sp>
        <p:nvSpPr>
          <p:cNvPr id="5" name="Footer Placeholder 4"/>
          <p:cNvSpPr>
            <a:spLocks noGrp="1"/>
          </p:cNvSpPr>
          <p:nvPr>
            <p:ph type="ftr" sz="quarter" idx="3"/>
          </p:nvPr>
        </p:nvSpPr>
        <p:spPr>
          <a:xfrm>
            <a:off x="2811780" y="4767263"/>
            <a:ext cx="2606040" cy="273844"/>
          </a:xfrm>
          <a:prstGeom prst="rect">
            <a:avLst/>
          </a:prstGeom>
        </p:spPr>
        <p:txBody>
          <a:bodyPr vert="horz" lIns="91440" tIns="45720" rIns="91440" bIns="45720" rtlCol="0" anchor="ctr"/>
          <a:lstStyle>
            <a:lvl1pPr algn="ctr">
              <a:defRPr sz="108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897880" y="4767263"/>
            <a:ext cx="1920240" cy="273844"/>
          </a:xfrm>
          <a:prstGeom prst="rect">
            <a:avLst/>
          </a:prstGeom>
        </p:spPr>
        <p:txBody>
          <a:bodyPr vert="horz" lIns="91440" tIns="45720" rIns="91440" bIns="45720" rtlCol="0" anchor="ctr"/>
          <a:lstStyle>
            <a:lvl1pPr algn="r">
              <a:defRPr sz="1080">
                <a:solidFill>
                  <a:schemeClr val="tx1">
                    <a:tint val="75000"/>
                  </a:schemeClr>
                </a:solidFill>
              </a:defRPr>
            </a:lvl1pPr>
          </a:lstStyle>
          <a:p>
            <a:fld id="{127DDC20-79C9-9647-820E-6D40A3D210C3}" type="slidenum">
              <a:rPr lang="en-US" smtClean="0"/>
              <a:pPr/>
              <a:t>‹#›</a:t>
            </a:fld>
            <a:endParaRPr lang="en-US"/>
          </a:p>
        </p:txBody>
      </p:sp>
    </p:spTree>
    <p:extLst>
      <p:ext uri="{BB962C8B-B14F-4D97-AF65-F5344CB8AC3E}">
        <p14:creationId xmlns:p14="http://schemas.microsoft.com/office/powerpoint/2010/main" val="14283940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11480" rtl="0" eaLnBrk="1" latinLnBrk="0" hangingPunct="1">
        <a:spcBef>
          <a:spcPct val="0"/>
        </a:spcBef>
        <a:buNone/>
        <a:defRPr sz="3960" kern="1200">
          <a:solidFill>
            <a:schemeClr val="tx1"/>
          </a:solidFill>
          <a:latin typeface="+mj-lt"/>
          <a:ea typeface="+mj-ea"/>
          <a:cs typeface="+mj-cs"/>
        </a:defRPr>
      </a:lvl1pPr>
    </p:titleStyle>
    <p:body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p:bodyStyle>
    <p:otherStyle>
      <a:defPPr>
        <a:defRPr lang="en-US"/>
      </a:defPPr>
      <a:lvl1pPr marL="0" algn="l" defTabSz="411480" rtl="0" eaLnBrk="1" latinLnBrk="0" hangingPunct="1">
        <a:defRPr sz="1620" kern="1200">
          <a:solidFill>
            <a:schemeClr val="tx1"/>
          </a:solidFill>
          <a:latin typeface="+mn-lt"/>
          <a:ea typeface="+mn-ea"/>
          <a:cs typeface="+mn-cs"/>
        </a:defRPr>
      </a:lvl1pPr>
      <a:lvl2pPr marL="411480" algn="l" defTabSz="411480" rtl="0" eaLnBrk="1" latinLnBrk="0" hangingPunct="1">
        <a:defRPr sz="1620" kern="1200">
          <a:solidFill>
            <a:schemeClr val="tx1"/>
          </a:solidFill>
          <a:latin typeface="+mn-lt"/>
          <a:ea typeface="+mn-ea"/>
          <a:cs typeface="+mn-cs"/>
        </a:defRPr>
      </a:lvl2pPr>
      <a:lvl3pPr marL="822960" algn="l" defTabSz="411480" rtl="0" eaLnBrk="1" latinLnBrk="0" hangingPunct="1">
        <a:defRPr sz="1620" kern="1200">
          <a:solidFill>
            <a:schemeClr val="tx1"/>
          </a:solidFill>
          <a:latin typeface="+mn-lt"/>
          <a:ea typeface="+mn-ea"/>
          <a:cs typeface="+mn-cs"/>
        </a:defRPr>
      </a:lvl3pPr>
      <a:lvl4pPr marL="1234440" algn="l" defTabSz="411480" rtl="0" eaLnBrk="1" latinLnBrk="0" hangingPunct="1">
        <a:defRPr sz="1620" kern="1200">
          <a:solidFill>
            <a:schemeClr val="tx1"/>
          </a:solidFill>
          <a:latin typeface="+mn-lt"/>
          <a:ea typeface="+mn-ea"/>
          <a:cs typeface="+mn-cs"/>
        </a:defRPr>
      </a:lvl4pPr>
      <a:lvl5pPr marL="1645920" algn="l" defTabSz="411480" rtl="0" eaLnBrk="1" latinLnBrk="0" hangingPunct="1">
        <a:defRPr sz="1620" kern="1200">
          <a:solidFill>
            <a:schemeClr val="tx1"/>
          </a:solidFill>
          <a:latin typeface="+mn-lt"/>
          <a:ea typeface="+mn-ea"/>
          <a:cs typeface="+mn-cs"/>
        </a:defRPr>
      </a:lvl5pPr>
      <a:lvl6pPr marL="2057400" algn="l" defTabSz="411480" rtl="0" eaLnBrk="1" latinLnBrk="0" hangingPunct="1">
        <a:defRPr sz="1620" kern="1200">
          <a:solidFill>
            <a:schemeClr val="tx1"/>
          </a:solidFill>
          <a:latin typeface="+mn-lt"/>
          <a:ea typeface="+mn-ea"/>
          <a:cs typeface="+mn-cs"/>
        </a:defRPr>
      </a:lvl6pPr>
      <a:lvl7pPr marL="2468880" algn="l" defTabSz="411480" rtl="0" eaLnBrk="1" latinLnBrk="0" hangingPunct="1">
        <a:defRPr sz="1620" kern="1200">
          <a:solidFill>
            <a:schemeClr val="tx1"/>
          </a:solidFill>
          <a:latin typeface="+mn-lt"/>
          <a:ea typeface="+mn-ea"/>
          <a:cs typeface="+mn-cs"/>
        </a:defRPr>
      </a:lvl7pPr>
      <a:lvl8pPr marL="2880360" algn="l" defTabSz="411480" rtl="0" eaLnBrk="1" latinLnBrk="0" hangingPunct="1">
        <a:defRPr sz="1620" kern="1200">
          <a:solidFill>
            <a:schemeClr val="tx1"/>
          </a:solidFill>
          <a:latin typeface="+mn-lt"/>
          <a:ea typeface="+mn-ea"/>
          <a:cs typeface="+mn-cs"/>
        </a:defRPr>
      </a:lvl8pPr>
      <a:lvl9pPr marL="3291840" algn="l" defTabSz="411480" rtl="0" eaLnBrk="1" latinLnBrk="0" hangingPunct="1">
        <a:defRPr sz="162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gif"/><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95091" y="158778"/>
            <a:ext cx="8001000" cy="1549772"/>
          </a:xfrm>
        </p:spPr>
        <p:txBody>
          <a:bodyPr>
            <a:normAutofit/>
          </a:bodyPr>
          <a:lstStyle/>
          <a:p>
            <a:r>
              <a:rPr lang="en-US" sz="3600" dirty="0" err="1"/>
              <a:t>GEOG</a:t>
            </a:r>
            <a:r>
              <a:rPr lang="en-US" sz="3600" dirty="0"/>
              <a:t> 2475: Geographic Information Systems I</a:t>
            </a:r>
          </a:p>
        </p:txBody>
      </p:sp>
      <p:sp>
        <p:nvSpPr>
          <p:cNvPr id="6" name="Subtitle 2"/>
          <p:cNvSpPr txBox="1">
            <a:spLocks/>
          </p:cNvSpPr>
          <p:nvPr/>
        </p:nvSpPr>
        <p:spPr>
          <a:xfrm>
            <a:off x="1257018" y="2967511"/>
            <a:ext cx="5760720" cy="1171497"/>
          </a:xfrm>
          <a:prstGeom prst="rect">
            <a:avLst/>
          </a:prstGeom>
        </p:spPr>
        <p:txBody>
          <a:bodyPr vert="horz" lIns="82296" tIns="41148" rIns="82296" bIns="41148" rtlCol="0">
            <a:normAutofit fontScale="25000" lnSpcReduction="20000"/>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8000" dirty="0">
                <a:solidFill>
                  <a:schemeClr val="tx1"/>
                </a:solidFill>
              </a:rPr>
              <a:t>Yaqian He, PhD</a:t>
            </a:r>
          </a:p>
          <a:p>
            <a:r>
              <a:rPr lang="en-US" sz="8000" dirty="0">
                <a:solidFill>
                  <a:schemeClr val="tx1"/>
                </a:solidFill>
              </a:rPr>
              <a:t>Assistant Professor</a:t>
            </a:r>
          </a:p>
          <a:p>
            <a:r>
              <a:rPr lang="en-US" sz="8000" dirty="0">
                <a:solidFill>
                  <a:schemeClr val="tx1"/>
                </a:solidFill>
              </a:rPr>
              <a:t>Department of Geography</a:t>
            </a:r>
          </a:p>
          <a:p>
            <a:endParaRPr lang="en-US" sz="2880" dirty="0"/>
          </a:p>
        </p:txBody>
      </p:sp>
      <p:cxnSp>
        <p:nvCxnSpPr>
          <p:cNvPr id="15" name="Straight Connector 14"/>
          <p:cNvCxnSpPr/>
          <p:nvPr/>
        </p:nvCxnSpPr>
        <p:spPr>
          <a:xfrm>
            <a:off x="152400" y="4182575"/>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2" name="矩形 11"/>
          <p:cNvSpPr/>
          <p:nvPr/>
        </p:nvSpPr>
        <p:spPr>
          <a:xfrm>
            <a:off x="2072922" y="4416072"/>
            <a:ext cx="279753" cy="481132"/>
          </a:xfrm>
          <a:prstGeom prst="rect">
            <a:avLst/>
          </a:prstGeom>
          <a:solidFill>
            <a:schemeClr val="bg1"/>
          </a:solidFill>
          <a:ln>
            <a:solidFill>
              <a:schemeClr val="bg1"/>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4" name="TextBox 3">
            <a:extLst>
              <a:ext uri="{FF2B5EF4-FFF2-40B4-BE49-F238E27FC236}">
                <a16:creationId xmlns:a16="http://schemas.microsoft.com/office/drawing/2014/main" id="{9C8852E4-0F7F-41A7-9B32-F40B4D3A753B}"/>
              </a:ext>
            </a:extLst>
          </p:cNvPr>
          <p:cNvSpPr txBox="1"/>
          <p:nvPr/>
        </p:nvSpPr>
        <p:spPr>
          <a:xfrm>
            <a:off x="-1" y="1708550"/>
            <a:ext cx="8196091" cy="646331"/>
          </a:xfrm>
          <a:prstGeom prst="rect">
            <a:avLst/>
          </a:prstGeom>
          <a:noFill/>
        </p:spPr>
        <p:txBody>
          <a:bodyPr wrap="square" rtlCol="0">
            <a:spAutoFit/>
          </a:bodyPr>
          <a:lstStyle/>
          <a:p>
            <a:pPr algn="ctr"/>
            <a:r>
              <a:rPr lang="en-US" sz="3600" dirty="0"/>
              <a:t>Lecture 12 Geocoding</a:t>
            </a:r>
          </a:p>
        </p:txBody>
      </p:sp>
      <p:pic>
        <p:nvPicPr>
          <p:cNvPr id="13" name="Picture 12">
            <a:extLst>
              <a:ext uri="{FF2B5EF4-FFF2-40B4-BE49-F238E27FC236}">
                <a16:creationId xmlns:a16="http://schemas.microsoft.com/office/drawing/2014/main" id="{AE401581-7A56-448D-8256-F61D9515AE30}"/>
              </a:ext>
            </a:extLst>
          </p:cNvPr>
          <p:cNvPicPr/>
          <p:nvPr/>
        </p:nvPicPr>
        <p:blipFill>
          <a:blip r:embed="rId3"/>
          <a:stretch>
            <a:fillRect/>
          </a:stretch>
        </p:blipFill>
        <p:spPr>
          <a:xfrm>
            <a:off x="152400" y="4275667"/>
            <a:ext cx="5915025" cy="758190"/>
          </a:xfrm>
          <a:prstGeom prst="rect">
            <a:avLst/>
          </a:prstGeom>
        </p:spPr>
      </p:pic>
    </p:spTree>
    <p:extLst>
      <p:ext uri="{BB962C8B-B14F-4D97-AF65-F5344CB8AC3E}">
        <p14:creationId xmlns:p14="http://schemas.microsoft.com/office/powerpoint/2010/main" val="23492193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altLang="en-US" sz="2800" dirty="0"/>
              <a:t>What is geocoding?</a:t>
            </a:r>
          </a:p>
          <a:p>
            <a:pPr>
              <a:buFont typeface="Courier New" panose="02070309020205020404" pitchFamily="49" charset="0"/>
              <a:buChar char="o"/>
            </a:pPr>
            <a:r>
              <a:rPr lang="en-US" altLang="en-US" sz="2800" dirty="0"/>
              <a:t>Why geocoding?</a:t>
            </a:r>
          </a:p>
          <a:p>
            <a:pPr>
              <a:buFont typeface="Courier New" panose="02070309020205020404" pitchFamily="49" charset="0"/>
              <a:buChar char="o"/>
            </a:pPr>
            <a:r>
              <a:rPr lang="en-US" altLang="en-US" sz="2800" dirty="0"/>
              <a:t>Geocoding requirement</a:t>
            </a:r>
          </a:p>
          <a:p>
            <a:pPr>
              <a:buFont typeface="Courier New" panose="02070309020205020404" pitchFamily="49" charset="0"/>
              <a:buChar char="o"/>
            </a:pPr>
            <a:r>
              <a:rPr lang="en-US" altLang="en-US" sz="2800" dirty="0"/>
              <a:t>Geocoding process</a:t>
            </a:r>
          </a:p>
          <a:p>
            <a:pPr marL="308610" lvl="2" indent="-308610">
              <a:buFont typeface="Courier New" panose="02070309020205020404" pitchFamily="49" charset="0"/>
              <a:buChar char="o"/>
            </a:pPr>
            <a:r>
              <a:rPr lang="en-US" altLang="en-US" sz="2800" dirty="0"/>
              <a:t>Geocoding errors and solutions</a:t>
            </a:r>
          </a:p>
          <a:p>
            <a:pPr marL="308610" lvl="2" indent="-308610">
              <a:buFont typeface="Courier New" panose="02070309020205020404" pitchFamily="49" charset="0"/>
              <a:buChar char="o"/>
            </a:pPr>
            <a:r>
              <a:rPr lang="en-US" altLang="en-US" sz="2800" dirty="0"/>
              <a:t>Other geocoding layers</a:t>
            </a:r>
          </a:p>
          <a:p>
            <a:pPr marL="817245" lvl="2" indent="-457200">
              <a:buFont typeface="Wingdings" panose="05000000000000000000" pitchFamily="2" charset="2"/>
              <a:buChar char="ü"/>
            </a:pPr>
            <a:endParaRPr lang="en-US" sz="2440" dirty="0"/>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Overview</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a:t>
            </a:fld>
            <a:endParaRPr lang="en-US"/>
          </a:p>
        </p:txBody>
      </p:sp>
    </p:spTree>
    <p:extLst>
      <p:ext uri="{BB962C8B-B14F-4D97-AF65-F5344CB8AC3E}">
        <p14:creationId xmlns:p14="http://schemas.microsoft.com/office/powerpoint/2010/main" val="35424459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What is geocoding?</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3</a:t>
            </a:fld>
            <a:endParaRPr lang="en-US"/>
          </a:p>
        </p:txBody>
      </p:sp>
      <p:sp>
        <p:nvSpPr>
          <p:cNvPr id="2" name="Content Placeholder 2">
            <a:extLst>
              <a:ext uri="{FF2B5EF4-FFF2-40B4-BE49-F238E27FC236}">
                <a16:creationId xmlns:a16="http://schemas.microsoft.com/office/drawing/2014/main" id="{CB409A7B-95E0-720F-DBF5-FBCE115DFDC4}"/>
              </a:ext>
            </a:extLst>
          </p:cNvPr>
          <p:cNvSpPr>
            <a:spLocks noGrp="1"/>
          </p:cNvSpPr>
          <p:nvPr>
            <p:ph idx="1"/>
          </p:nvPr>
        </p:nvSpPr>
        <p:spPr>
          <a:xfrm>
            <a:off x="152400" y="1078712"/>
            <a:ext cx="7446135" cy="3167062"/>
          </a:xfrm>
        </p:spPr>
        <p:txBody>
          <a:bodyPr>
            <a:normAutofit lnSpcReduction="10000"/>
          </a:bodyPr>
          <a:lstStyle/>
          <a:p>
            <a:pPr fontAlgn="auto">
              <a:spcAft>
                <a:spcPts val="0"/>
              </a:spcAft>
              <a:buFont typeface="Courier New" panose="02070309020205020404" pitchFamily="49" charset="0"/>
              <a:buChar char="o"/>
              <a:defRPr/>
            </a:pPr>
            <a:r>
              <a:rPr lang="en-US" u="sng" dirty="0"/>
              <a:t>Geocoding</a:t>
            </a:r>
            <a:r>
              <a:rPr lang="en-US" dirty="0"/>
              <a:t> is the process of spatially referencing features based on their addresses to their locations on Earth.</a:t>
            </a:r>
          </a:p>
          <a:p>
            <a:pPr fontAlgn="auto">
              <a:spcAft>
                <a:spcPts val="0"/>
              </a:spcAft>
              <a:buFont typeface="Courier New" panose="02070309020205020404" pitchFamily="49" charset="0"/>
              <a:buChar char="o"/>
              <a:defRPr/>
            </a:pPr>
            <a:endParaRPr lang="en-US" dirty="0"/>
          </a:p>
          <a:p>
            <a:pPr fontAlgn="auto">
              <a:spcAft>
                <a:spcPts val="0"/>
              </a:spcAft>
              <a:buFont typeface="Courier New" panose="02070309020205020404" pitchFamily="49" charset="0"/>
              <a:buChar char="o"/>
              <a:defRPr/>
            </a:pPr>
            <a:r>
              <a:rPr lang="en-US" i="1" dirty="0"/>
              <a:t>Address Matching </a:t>
            </a:r>
            <a:r>
              <a:rPr lang="en-US" dirty="0"/>
              <a:t>assigns </a:t>
            </a:r>
            <a:r>
              <a:rPr lang="en-US" dirty="0">
                <a:solidFill>
                  <a:srgbClr val="7030A0"/>
                </a:solidFill>
              </a:rPr>
              <a:t>spatial coordinates </a:t>
            </a:r>
            <a:r>
              <a:rPr lang="en-US" dirty="0"/>
              <a:t>(explicit location) to the </a:t>
            </a:r>
            <a:r>
              <a:rPr lang="en-US" dirty="0">
                <a:solidFill>
                  <a:srgbClr val="7030A0"/>
                </a:solidFill>
              </a:rPr>
              <a:t>Addresses</a:t>
            </a:r>
            <a:r>
              <a:rPr lang="en-US" dirty="0"/>
              <a:t> (implicit location).</a:t>
            </a:r>
          </a:p>
        </p:txBody>
      </p:sp>
    </p:spTree>
    <p:extLst>
      <p:ext uri="{BB962C8B-B14F-4D97-AF65-F5344CB8AC3E}">
        <p14:creationId xmlns:p14="http://schemas.microsoft.com/office/powerpoint/2010/main" val="3199477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What is geocoding?</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4</a:t>
            </a:fld>
            <a:endParaRPr lang="en-US"/>
          </a:p>
        </p:txBody>
      </p:sp>
      <p:sp>
        <p:nvSpPr>
          <p:cNvPr id="2" name="Content Placeholder 2">
            <a:extLst>
              <a:ext uri="{FF2B5EF4-FFF2-40B4-BE49-F238E27FC236}">
                <a16:creationId xmlns:a16="http://schemas.microsoft.com/office/drawing/2014/main" id="{CB409A7B-95E0-720F-DBF5-FBCE115DFDC4}"/>
              </a:ext>
            </a:extLst>
          </p:cNvPr>
          <p:cNvSpPr>
            <a:spLocks noGrp="1"/>
          </p:cNvSpPr>
          <p:nvPr>
            <p:ph idx="1"/>
          </p:nvPr>
        </p:nvSpPr>
        <p:spPr>
          <a:xfrm>
            <a:off x="152400" y="1104539"/>
            <a:ext cx="7446135" cy="3167062"/>
          </a:xfrm>
        </p:spPr>
        <p:txBody>
          <a:bodyPr>
            <a:normAutofit/>
          </a:bodyPr>
          <a:lstStyle/>
          <a:p>
            <a:pPr fontAlgn="auto">
              <a:spcAft>
                <a:spcPts val="0"/>
              </a:spcAft>
              <a:buFont typeface="Courier New" panose="02070309020205020404" pitchFamily="49" charset="0"/>
              <a:buChar char="o"/>
              <a:defRPr/>
            </a:pPr>
            <a:r>
              <a:rPr lang="en-US" dirty="0"/>
              <a:t>Displays tabular data containing addresses as points on a map.</a:t>
            </a:r>
          </a:p>
        </p:txBody>
      </p:sp>
      <p:pic>
        <p:nvPicPr>
          <p:cNvPr id="1026" name="Picture 2" descr="Address geocoding by streets">
            <a:extLst>
              <a:ext uri="{FF2B5EF4-FFF2-40B4-BE49-F238E27FC236}">
                <a16:creationId xmlns:a16="http://schemas.microsoft.com/office/drawing/2014/main" id="{C993E4B3-1908-5366-8E91-5E43BFBAFB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00180" y="2189153"/>
            <a:ext cx="3597700" cy="240878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68612F0-90C4-0452-5B90-DD91CEB382F4}"/>
              </a:ext>
            </a:extLst>
          </p:cNvPr>
          <p:cNvSpPr txBox="1"/>
          <p:nvPr/>
        </p:nvSpPr>
        <p:spPr>
          <a:xfrm>
            <a:off x="4609992" y="4767263"/>
            <a:ext cx="2575775" cy="230832"/>
          </a:xfrm>
          <a:prstGeom prst="rect">
            <a:avLst/>
          </a:prstGeom>
          <a:noFill/>
        </p:spPr>
        <p:txBody>
          <a:bodyPr wrap="square" rtlCol="0">
            <a:spAutoFit/>
          </a:bodyPr>
          <a:lstStyle/>
          <a:p>
            <a:r>
              <a:rPr lang="en-US" sz="900" dirty="0">
                <a:solidFill>
                  <a:srgbClr val="7030A0"/>
                </a:solidFill>
              </a:rPr>
              <a:t>https://guides.library.illinois.edu/Geocoding</a:t>
            </a:r>
          </a:p>
        </p:txBody>
      </p:sp>
    </p:spTree>
    <p:extLst>
      <p:ext uri="{BB962C8B-B14F-4D97-AF65-F5344CB8AC3E}">
        <p14:creationId xmlns:p14="http://schemas.microsoft.com/office/powerpoint/2010/main" val="34135937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Why geocoding?</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5</a:t>
            </a:fld>
            <a:endParaRPr lang="en-US"/>
          </a:p>
        </p:txBody>
      </p:sp>
      <p:sp>
        <p:nvSpPr>
          <p:cNvPr id="2" name="Content Placeholder 2">
            <a:extLst>
              <a:ext uri="{FF2B5EF4-FFF2-40B4-BE49-F238E27FC236}">
                <a16:creationId xmlns:a16="http://schemas.microsoft.com/office/drawing/2014/main" id="{CB409A7B-95E0-720F-DBF5-FBCE115DFDC4}"/>
              </a:ext>
            </a:extLst>
          </p:cNvPr>
          <p:cNvSpPr>
            <a:spLocks noGrp="1"/>
          </p:cNvSpPr>
          <p:nvPr>
            <p:ph idx="1"/>
          </p:nvPr>
        </p:nvSpPr>
        <p:spPr>
          <a:xfrm>
            <a:off x="152400" y="1092234"/>
            <a:ext cx="7446135" cy="3167062"/>
          </a:xfrm>
        </p:spPr>
        <p:txBody>
          <a:bodyPr>
            <a:normAutofit fontScale="85000" lnSpcReduction="20000"/>
          </a:bodyPr>
          <a:lstStyle/>
          <a:p>
            <a:pPr fontAlgn="auto">
              <a:spcAft>
                <a:spcPts val="0"/>
              </a:spcAft>
              <a:buFont typeface="Courier New" panose="02070309020205020404" pitchFamily="49" charset="0"/>
              <a:buChar char="o"/>
              <a:defRPr/>
            </a:pPr>
            <a:r>
              <a:rPr lang="en-US" dirty="0"/>
              <a:t>Geocoding of address data allows it to be ‘overlaid’ with other explicit spatial data for spatial analysis. Examples:</a:t>
            </a:r>
          </a:p>
          <a:p>
            <a:pPr fontAlgn="auto">
              <a:spcAft>
                <a:spcPts val="0"/>
              </a:spcAft>
              <a:buFont typeface="Courier New" panose="02070309020205020404" pitchFamily="49" charset="0"/>
              <a:buChar char="o"/>
              <a:defRPr/>
            </a:pPr>
            <a:endParaRPr lang="en-US" dirty="0"/>
          </a:p>
          <a:p>
            <a:pPr lvl="1">
              <a:buFont typeface="Wingdings" panose="05000000000000000000" pitchFamily="2" charset="2"/>
              <a:buChar char="ü"/>
              <a:defRPr/>
            </a:pPr>
            <a:r>
              <a:rPr lang="en-US" dirty="0"/>
              <a:t>Geocoded the location of Nursing homes in Connecticut</a:t>
            </a:r>
          </a:p>
          <a:p>
            <a:pPr lvl="1">
              <a:buFont typeface="Wingdings" panose="05000000000000000000" pitchFamily="2" charset="2"/>
              <a:buChar char="ü"/>
              <a:defRPr/>
            </a:pPr>
            <a:r>
              <a:rPr lang="en-US" dirty="0"/>
              <a:t>From the locations of hospitals, create a map that describes the distance from the nearest hospital at any given point in the state</a:t>
            </a:r>
          </a:p>
          <a:p>
            <a:pPr lvl="1">
              <a:buFont typeface="Wingdings" panose="05000000000000000000" pitchFamily="2" charset="2"/>
              <a:buChar char="ü"/>
              <a:defRPr/>
            </a:pPr>
            <a:r>
              <a:rPr lang="en-US" dirty="0"/>
              <a:t>‘Overlaying’ the geocoded nursing home locations on the distance map, one can create a new attribute for each of the nursing homes that describes its proximity to a hospital</a:t>
            </a:r>
          </a:p>
        </p:txBody>
      </p:sp>
    </p:spTree>
    <p:extLst>
      <p:ext uri="{BB962C8B-B14F-4D97-AF65-F5344CB8AC3E}">
        <p14:creationId xmlns:p14="http://schemas.microsoft.com/office/powerpoint/2010/main" val="40894348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Why geocoding?</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6</a:t>
            </a:fld>
            <a:endParaRPr lang="en-US"/>
          </a:p>
        </p:txBody>
      </p:sp>
      <p:sp>
        <p:nvSpPr>
          <p:cNvPr id="2" name="Content Placeholder 2">
            <a:extLst>
              <a:ext uri="{FF2B5EF4-FFF2-40B4-BE49-F238E27FC236}">
                <a16:creationId xmlns:a16="http://schemas.microsoft.com/office/drawing/2014/main" id="{CB409A7B-95E0-720F-DBF5-FBCE115DFDC4}"/>
              </a:ext>
            </a:extLst>
          </p:cNvPr>
          <p:cNvSpPr>
            <a:spLocks noGrp="1"/>
          </p:cNvSpPr>
          <p:nvPr>
            <p:ph idx="1"/>
          </p:nvPr>
        </p:nvSpPr>
        <p:spPr>
          <a:xfrm>
            <a:off x="152400" y="1092234"/>
            <a:ext cx="7446135" cy="3167062"/>
          </a:xfrm>
        </p:spPr>
        <p:txBody>
          <a:bodyPr>
            <a:normAutofit fontScale="85000" lnSpcReduction="20000"/>
          </a:bodyPr>
          <a:lstStyle/>
          <a:p>
            <a:pPr fontAlgn="auto">
              <a:spcAft>
                <a:spcPts val="0"/>
              </a:spcAft>
              <a:buFont typeface="Courier New" panose="02070309020205020404" pitchFamily="49" charset="0"/>
              <a:buChar char="o"/>
              <a:defRPr/>
            </a:pPr>
            <a:r>
              <a:rPr lang="en-US" dirty="0"/>
              <a:t>Geocoding of address data allows it to be ‘overlaid’ with other explicit spatial data for spatial analysis. Examples:</a:t>
            </a:r>
          </a:p>
          <a:p>
            <a:pPr fontAlgn="auto">
              <a:spcAft>
                <a:spcPts val="0"/>
              </a:spcAft>
              <a:buFont typeface="Courier New" panose="02070309020205020404" pitchFamily="49" charset="0"/>
              <a:buChar char="o"/>
              <a:defRPr/>
            </a:pPr>
            <a:endParaRPr lang="en-US" dirty="0"/>
          </a:p>
          <a:p>
            <a:pPr lvl="2">
              <a:buFont typeface="Wingdings" panose="05000000000000000000" pitchFamily="2" charset="2"/>
              <a:buChar char="ü"/>
              <a:defRPr/>
            </a:pPr>
            <a:r>
              <a:rPr lang="en-US" sz="2500" dirty="0"/>
              <a:t>Emergency dispatch operators geocode an address to determine who should respond to an emergency call</a:t>
            </a:r>
          </a:p>
          <a:p>
            <a:pPr lvl="2">
              <a:buFont typeface="Wingdings" panose="05000000000000000000" pitchFamily="2" charset="2"/>
              <a:buChar char="ü"/>
              <a:defRPr/>
            </a:pPr>
            <a:r>
              <a:rPr lang="en-US" sz="2500" dirty="0"/>
              <a:t>County health director maps personal care and nursing homes and compares them to the elderly population by neighborhood</a:t>
            </a:r>
          </a:p>
          <a:p>
            <a:pPr lvl="2">
              <a:buFont typeface="Wingdings" panose="05000000000000000000" pitchFamily="2" charset="2"/>
              <a:buChar char="ü"/>
              <a:defRPr/>
            </a:pPr>
            <a:r>
              <a:rPr lang="en-US" sz="2500" dirty="0"/>
              <a:t>Business maps store locations and compares to competitor locations</a:t>
            </a:r>
          </a:p>
        </p:txBody>
      </p:sp>
    </p:spTree>
    <p:extLst>
      <p:ext uri="{BB962C8B-B14F-4D97-AF65-F5344CB8AC3E}">
        <p14:creationId xmlns:p14="http://schemas.microsoft.com/office/powerpoint/2010/main" val="41585391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Geocoding requirement</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7</a:t>
            </a:fld>
            <a:endParaRPr lang="en-US"/>
          </a:p>
        </p:txBody>
      </p:sp>
      <p:sp>
        <p:nvSpPr>
          <p:cNvPr id="2" name="Content Placeholder 2">
            <a:extLst>
              <a:ext uri="{FF2B5EF4-FFF2-40B4-BE49-F238E27FC236}">
                <a16:creationId xmlns:a16="http://schemas.microsoft.com/office/drawing/2014/main" id="{CB409A7B-95E0-720F-DBF5-FBCE115DFDC4}"/>
              </a:ext>
            </a:extLst>
          </p:cNvPr>
          <p:cNvSpPr>
            <a:spLocks noGrp="1"/>
          </p:cNvSpPr>
          <p:nvPr>
            <p:ph idx="1"/>
          </p:nvPr>
        </p:nvSpPr>
        <p:spPr>
          <a:xfrm>
            <a:off x="152400" y="1092234"/>
            <a:ext cx="7446135" cy="3167062"/>
          </a:xfrm>
        </p:spPr>
        <p:txBody>
          <a:bodyPr>
            <a:normAutofit/>
          </a:bodyPr>
          <a:lstStyle/>
          <a:p>
            <a:pPr fontAlgn="auto">
              <a:spcAft>
                <a:spcPts val="0"/>
              </a:spcAft>
              <a:buFont typeface="Courier New" panose="02070309020205020404" pitchFamily="49" charset="0"/>
              <a:buChar char="o"/>
              <a:defRPr/>
            </a:pPr>
            <a:r>
              <a:rPr lang="en-US" dirty="0"/>
              <a:t>Geocoding requires two sets of data</a:t>
            </a:r>
          </a:p>
          <a:p>
            <a:pPr lvl="1">
              <a:buFont typeface="Wingdings" panose="05000000000000000000" pitchFamily="2" charset="2"/>
              <a:buChar char="ü"/>
              <a:defRPr/>
            </a:pPr>
            <a:r>
              <a:rPr lang="en-US" dirty="0"/>
              <a:t>A tabular address: individual street address is in a table.</a:t>
            </a:r>
          </a:p>
          <a:p>
            <a:pPr lvl="1">
              <a:buFont typeface="Wingdings" panose="05000000000000000000" pitchFamily="2" charset="2"/>
              <a:buChar char="ü"/>
              <a:defRPr/>
            </a:pPr>
            <a:r>
              <a:rPr lang="en-US" dirty="0"/>
              <a:t>A reference database: consists of a street map and attributes for each street segment such as the street name, address ranges, and ZIP codes.</a:t>
            </a:r>
          </a:p>
          <a:p>
            <a:pPr fontAlgn="auto">
              <a:spcAft>
                <a:spcPts val="0"/>
              </a:spcAft>
              <a:buFont typeface="Courier New" panose="02070309020205020404" pitchFamily="49" charset="0"/>
              <a:buChar char="o"/>
              <a:defRPr/>
            </a:pPr>
            <a:endParaRPr lang="en-US" dirty="0"/>
          </a:p>
        </p:txBody>
      </p:sp>
    </p:spTree>
    <p:extLst>
      <p:ext uri="{BB962C8B-B14F-4D97-AF65-F5344CB8AC3E}">
        <p14:creationId xmlns:p14="http://schemas.microsoft.com/office/powerpoint/2010/main" val="21597321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Geocoding requirement</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8</a:t>
            </a:fld>
            <a:endParaRPr lang="en-US"/>
          </a:p>
        </p:txBody>
      </p:sp>
      <p:sp>
        <p:nvSpPr>
          <p:cNvPr id="2" name="Content Placeholder 2">
            <a:extLst>
              <a:ext uri="{FF2B5EF4-FFF2-40B4-BE49-F238E27FC236}">
                <a16:creationId xmlns:a16="http://schemas.microsoft.com/office/drawing/2014/main" id="{CB409A7B-95E0-720F-DBF5-FBCE115DFDC4}"/>
              </a:ext>
            </a:extLst>
          </p:cNvPr>
          <p:cNvSpPr>
            <a:spLocks noGrp="1"/>
          </p:cNvSpPr>
          <p:nvPr>
            <p:ph idx="1"/>
          </p:nvPr>
        </p:nvSpPr>
        <p:spPr>
          <a:xfrm>
            <a:off x="152400" y="1092233"/>
            <a:ext cx="7446135" cy="3948873"/>
          </a:xfrm>
        </p:spPr>
        <p:txBody>
          <a:bodyPr>
            <a:normAutofit fontScale="92500" lnSpcReduction="10000"/>
          </a:bodyPr>
          <a:lstStyle/>
          <a:p>
            <a:pPr fontAlgn="auto">
              <a:spcAft>
                <a:spcPts val="0"/>
              </a:spcAft>
              <a:buFont typeface="Courier New" panose="02070309020205020404" pitchFamily="49" charset="0"/>
              <a:buChar char="o"/>
              <a:defRPr/>
            </a:pPr>
            <a:r>
              <a:rPr lang="en-US" dirty="0"/>
              <a:t>Geocoding requires two sets of data</a:t>
            </a:r>
          </a:p>
          <a:p>
            <a:pPr lvl="1">
              <a:buFont typeface="Wingdings" panose="05000000000000000000" pitchFamily="2" charset="2"/>
              <a:buChar char="ü"/>
              <a:defRPr/>
            </a:pPr>
            <a:r>
              <a:rPr lang="en-US" dirty="0"/>
              <a:t>A tabular address: source data</a:t>
            </a:r>
          </a:p>
          <a:p>
            <a:pPr lvl="2">
              <a:buFont typeface="Arial" panose="020B0604020202020204" pitchFamily="34" charset="0"/>
              <a:buChar char="•"/>
              <a:defRPr/>
            </a:pPr>
            <a:r>
              <a:rPr lang="en-US" dirty="0"/>
              <a:t>Formatted</a:t>
            </a:r>
          </a:p>
          <a:p>
            <a:pPr lvl="2">
              <a:buFont typeface="Arial" panose="020B0604020202020204" pitchFamily="34" charset="0"/>
              <a:buChar char="•"/>
              <a:defRPr/>
            </a:pPr>
            <a:r>
              <a:rPr lang="en-US" dirty="0"/>
              <a:t>Abbreviations should be standardized and grammatical errors corrected</a:t>
            </a:r>
          </a:p>
          <a:p>
            <a:pPr lvl="2">
              <a:buFont typeface="Arial" panose="020B0604020202020204" pitchFamily="34" charset="0"/>
              <a:buChar char="•"/>
              <a:defRPr/>
            </a:pPr>
            <a:r>
              <a:rPr lang="en-US" dirty="0"/>
              <a:t>When geocoding street addresses, data must include an address field with street number and name, and can include one or more of the following:</a:t>
            </a:r>
          </a:p>
          <a:p>
            <a:pPr lvl="3">
              <a:buFont typeface="Wingdings" panose="05000000000000000000" pitchFamily="2" charset="2"/>
              <a:buChar char="Ø"/>
              <a:defRPr/>
            </a:pPr>
            <a:r>
              <a:rPr lang="en-US" dirty="0"/>
              <a:t>Street prefix direction (</a:t>
            </a:r>
            <a:r>
              <a:rPr lang="en-US" dirty="0">
                <a:solidFill>
                  <a:srgbClr val="7030A0"/>
                </a:solidFill>
              </a:rPr>
              <a:t>W</a:t>
            </a:r>
            <a:r>
              <a:rPr lang="en-US" dirty="0"/>
              <a:t>. Redlands Blvd.)</a:t>
            </a:r>
          </a:p>
          <a:p>
            <a:pPr lvl="3">
              <a:buFont typeface="Wingdings" panose="05000000000000000000" pitchFamily="2" charset="2"/>
              <a:buChar char="Ø"/>
              <a:defRPr/>
            </a:pPr>
            <a:r>
              <a:rPr lang="en-US" dirty="0"/>
              <a:t>prefix type (</a:t>
            </a:r>
            <a:r>
              <a:rPr lang="en-US" dirty="0">
                <a:solidFill>
                  <a:srgbClr val="7030A0"/>
                </a:solidFill>
              </a:rPr>
              <a:t>Avenue</a:t>
            </a:r>
            <a:r>
              <a:rPr lang="en-US" dirty="0"/>
              <a:t> B)</a:t>
            </a:r>
          </a:p>
          <a:p>
            <a:pPr lvl="3">
              <a:buFont typeface="Wingdings" panose="05000000000000000000" pitchFamily="2" charset="2"/>
              <a:buChar char="Ø"/>
              <a:defRPr/>
            </a:pPr>
            <a:r>
              <a:rPr lang="en-US" dirty="0"/>
              <a:t>street type (W. Redlands </a:t>
            </a:r>
            <a:r>
              <a:rPr lang="en-US" dirty="0">
                <a:solidFill>
                  <a:srgbClr val="7030A0"/>
                </a:solidFill>
              </a:rPr>
              <a:t>Blvd.</a:t>
            </a:r>
            <a:r>
              <a:rPr lang="en-US" dirty="0"/>
              <a:t>)</a:t>
            </a:r>
          </a:p>
          <a:p>
            <a:pPr lvl="3">
              <a:buFont typeface="Wingdings" panose="05000000000000000000" pitchFamily="2" charset="2"/>
              <a:buChar char="Ø"/>
              <a:defRPr/>
            </a:pPr>
            <a:r>
              <a:rPr lang="en-US" dirty="0"/>
              <a:t>suffix direction (Park Ave. </a:t>
            </a:r>
            <a:r>
              <a:rPr lang="en-US" dirty="0">
                <a:solidFill>
                  <a:srgbClr val="7030A0"/>
                </a:solidFill>
              </a:rPr>
              <a:t>West.</a:t>
            </a:r>
            <a:r>
              <a:rPr lang="en-US" dirty="0"/>
              <a:t>)</a:t>
            </a:r>
          </a:p>
        </p:txBody>
      </p:sp>
    </p:spTree>
    <p:extLst>
      <p:ext uri="{BB962C8B-B14F-4D97-AF65-F5344CB8AC3E}">
        <p14:creationId xmlns:p14="http://schemas.microsoft.com/office/powerpoint/2010/main" val="15586404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Geocoding requirement</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9</a:t>
            </a:fld>
            <a:endParaRPr lang="en-US"/>
          </a:p>
        </p:txBody>
      </p:sp>
      <p:sp>
        <p:nvSpPr>
          <p:cNvPr id="2" name="Content Placeholder 2">
            <a:extLst>
              <a:ext uri="{FF2B5EF4-FFF2-40B4-BE49-F238E27FC236}">
                <a16:creationId xmlns:a16="http://schemas.microsoft.com/office/drawing/2014/main" id="{CB409A7B-95E0-720F-DBF5-FBCE115DFDC4}"/>
              </a:ext>
            </a:extLst>
          </p:cNvPr>
          <p:cNvSpPr>
            <a:spLocks noGrp="1"/>
          </p:cNvSpPr>
          <p:nvPr>
            <p:ph idx="1"/>
          </p:nvPr>
        </p:nvSpPr>
        <p:spPr>
          <a:xfrm>
            <a:off x="152400" y="1092233"/>
            <a:ext cx="7446135" cy="3948873"/>
          </a:xfrm>
        </p:spPr>
        <p:txBody>
          <a:bodyPr>
            <a:normAutofit/>
          </a:bodyPr>
          <a:lstStyle/>
          <a:p>
            <a:pPr fontAlgn="auto">
              <a:spcAft>
                <a:spcPts val="0"/>
              </a:spcAft>
              <a:buFont typeface="Courier New" panose="02070309020205020404" pitchFamily="49" charset="0"/>
              <a:buChar char="o"/>
              <a:defRPr/>
            </a:pPr>
            <a:r>
              <a:rPr lang="en-US" dirty="0"/>
              <a:t>Geocoding requires two sets of data</a:t>
            </a:r>
          </a:p>
          <a:p>
            <a:pPr lvl="1">
              <a:buFont typeface="Wingdings" panose="05000000000000000000" pitchFamily="2" charset="2"/>
              <a:buChar char="ü"/>
              <a:defRPr/>
            </a:pPr>
            <a:r>
              <a:rPr lang="en-US" dirty="0"/>
              <a:t>A tabular address: source data</a:t>
            </a:r>
          </a:p>
          <a:p>
            <a:pPr lvl="2">
              <a:buFont typeface="Arial" panose="020B0604020202020204" pitchFamily="34" charset="0"/>
              <a:buChar char="•"/>
              <a:defRPr/>
            </a:pPr>
            <a:r>
              <a:rPr lang="en-US" dirty="0"/>
              <a:t>Street intersections may also be included in the address field. (</a:t>
            </a:r>
            <a:r>
              <a:rPr lang="en-US" dirty="0">
                <a:solidFill>
                  <a:srgbClr val="7030A0"/>
                </a:solidFill>
              </a:rPr>
              <a:t>Main St. &amp; Ave A</a:t>
            </a:r>
            <a:r>
              <a:rPr lang="en-US" dirty="0"/>
              <a:t>)</a:t>
            </a:r>
          </a:p>
        </p:txBody>
      </p:sp>
      <p:pic>
        <p:nvPicPr>
          <p:cNvPr id="8" name="Picture 7" descr="Tabular address example">
            <a:extLst>
              <a:ext uri="{FF2B5EF4-FFF2-40B4-BE49-F238E27FC236}">
                <a16:creationId xmlns:a16="http://schemas.microsoft.com/office/drawing/2014/main" id="{539FDDCB-9231-8DF1-9AFE-66CFF37F995B}"/>
              </a:ext>
            </a:extLst>
          </p:cNvPr>
          <p:cNvPicPr>
            <a:picLocks noChangeAspect="1"/>
          </p:cNvPicPr>
          <p:nvPr/>
        </p:nvPicPr>
        <p:blipFill>
          <a:blip r:embed="rId3"/>
          <a:stretch>
            <a:fillRect/>
          </a:stretch>
        </p:blipFill>
        <p:spPr>
          <a:xfrm>
            <a:off x="2018625" y="2789340"/>
            <a:ext cx="4839375" cy="2114845"/>
          </a:xfrm>
          <a:prstGeom prst="rect">
            <a:avLst/>
          </a:prstGeom>
        </p:spPr>
      </p:pic>
    </p:spTree>
    <p:extLst>
      <p:ext uri="{BB962C8B-B14F-4D97-AF65-F5344CB8AC3E}">
        <p14:creationId xmlns:p14="http://schemas.microsoft.com/office/powerpoint/2010/main" val="34029950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Geocoding requirement</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10</a:t>
            </a:fld>
            <a:endParaRPr lang="en-US"/>
          </a:p>
        </p:txBody>
      </p:sp>
      <p:sp>
        <p:nvSpPr>
          <p:cNvPr id="2" name="Content Placeholder 2">
            <a:extLst>
              <a:ext uri="{FF2B5EF4-FFF2-40B4-BE49-F238E27FC236}">
                <a16:creationId xmlns:a16="http://schemas.microsoft.com/office/drawing/2014/main" id="{CB409A7B-95E0-720F-DBF5-FBCE115DFDC4}"/>
              </a:ext>
            </a:extLst>
          </p:cNvPr>
          <p:cNvSpPr>
            <a:spLocks noGrp="1"/>
          </p:cNvSpPr>
          <p:nvPr>
            <p:ph idx="1"/>
          </p:nvPr>
        </p:nvSpPr>
        <p:spPr>
          <a:xfrm>
            <a:off x="152400" y="1092233"/>
            <a:ext cx="7446135" cy="3948873"/>
          </a:xfrm>
        </p:spPr>
        <p:txBody>
          <a:bodyPr>
            <a:normAutofit/>
          </a:bodyPr>
          <a:lstStyle/>
          <a:p>
            <a:pPr fontAlgn="auto">
              <a:spcAft>
                <a:spcPts val="0"/>
              </a:spcAft>
              <a:buFont typeface="Courier New" panose="02070309020205020404" pitchFamily="49" charset="0"/>
              <a:buChar char="o"/>
              <a:defRPr/>
            </a:pPr>
            <a:r>
              <a:rPr lang="en-US" dirty="0"/>
              <a:t>Geocoding requires two sets of data</a:t>
            </a:r>
          </a:p>
          <a:p>
            <a:pPr lvl="1">
              <a:buFont typeface="Wingdings" panose="05000000000000000000" pitchFamily="2" charset="2"/>
              <a:buChar char="ü"/>
              <a:defRPr/>
            </a:pPr>
            <a:r>
              <a:rPr lang="en-US" dirty="0"/>
              <a:t>A tabular address: source data</a:t>
            </a:r>
          </a:p>
          <a:p>
            <a:pPr lvl="2">
              <a:buFont typeface="Arial" panose="020B0604020202020204" pitchFamily="34" charset="0"/>
              <a:buChar char="•"/>
              <a:defRPr/>
            </a:pPr>
            <a:r>
              <a:rPr lang="en-US" dirty="0"/>
              <a:t>ArcGIS require your address information to be contained in </a:t>
            </a:r>
            <a:r>
              <a:rPr lang="en-US" dirty="0">
                <a:solidFill>
                  <a:srgbClr val="7030A0"/>
                </a:solidFill>
              </a:rPr>
              <a:t>a single field</a:t>
            </a:r>
          </a:p>
          <a:p>
            <a:pPr lvl="2">
              <a:buFont typeface="Arial" panose="020B0604020202020204" pitchFamily="34" charset="0"/>
              <a:buChar char="•"/>
              <a:defRPr/>
            </a:pPr>
            <a:endParaRPr lang="en-US" dirty="0"/>
          </a:p>
        </p:txBody>
      </p:sp>
      <p:pic>
        <p:nvPicPr>
          <p:cNvPr id="5" name="Picture 4" descr="Tabular address example">
            <a:extLst>
              <a:ext uri="{FF2B5EF4-FFF2-40B4-BE49-F238E27FC236}">
                <a16:creationId xmlns:a16="http://schemas.microsoft.com/office/drawing/2014/main" id="{6BEC170A-C9F6-647C-19F2-9B2FC4DDDE71}"/>
              </a:ext>
            </a:extLst>
          </p:cNvPr>
          <p:cNvPicPr>
            <a:picLocks noChangeAspect="1"/>
          </p:cNvPicPr>
          <p:nvPr/>
        </p:nvPicPr>
        <p:blipFill>
          <a:blip r:embed="rId3"/>
          <a:stretch>
            <a:fillRect/>
          </a:stretch>
        </p:blipFill>
        <p:spPr>
          <a:xfrm>
            <a:off x="2132648" y="2903415"/>
            <a:ext cx="4040504" cy="1971276"/>
          </a:xfrm>
          <a:prstGeom prst="rect">
            <a:avLst/>
          </a:prstGeom>
        </p:spPr>
      </p:pic>
      <p:sp>
        <p:nvSpPr>
          <p:cNvPr id="6" name="TextBox 5">
            <a:extLst>
              <a:ext uri="{FF2B5EF4-FFF2-40B4-BE49-F238E27FC236}">
                <a16:creationId xmlns:a16="http://schemas.microsoft.com/office/drawing/2014/main" id="{EE83798A-485D-7405-1E50-69575E06E823}"/>
              </a:ext>
            </a:extLst>
          </p:cNvPr>
          <p:cNvSpPr txBox="1"/>
          <p:nvPr/>
        </p:nvSpPr>
        <p:spPr>
          <a:xfrm>
            <a:off x="152400" y="4620776"/>
            <a:ext cx="2075645" cy="507831"/>
          </a:xfrm>
          <a:prstGeom prst="rect">
            <a:avLst/>
          </a:prstGeom>
          <a:noFill/>
        </p:spPr>
        <p:txBody>
          <a:bodyPr wrap="square" rtlCol="0">
            <a:spAutoFit/>
          </a:bodyPr>
          <a:lstStyle/>
          <a:p>
            <a:r>
              <a:rPr lang="en-US" sz="900" dirty="0">
                <a:solidFill>
                  <a:srgbClr val="7030A0"/>
                </a:solidFill>
              </a:rPr>
              <a:t>https://www.slideserve.com/nysa/geocoding-1313468-powerpoint-ppt-presentation</a:t>
            </a:r>
          </a:p>
        </p:txBody>
      </p:sp>
    </p:spTree>
    <p:extLst>
      <p:ext uri="{BB962C8B-B14F-4D97-AF65-F5344CB8AC3E}">
        <p14:creationId xmlns:p14="http://schemas.microsoft.com/office/powerpoint/2010/main" val="20564291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Geocoding requirement</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11</a:t>
            </a:fld>
            <a:endParaRPr lang="en-US"/>
          </a:p>
        </p:txBody>
      </p:sp>
      <p:sp>
        <p:nvSpPr>
          <p:cNvPr id="2" name="Content Placeholder 2">
            <a:extLst>
              <a:ext uri="{FF2B5EF4-FFF2-40B4-BE49-F238E27FC236}">
                <a16:creationId xmlns:a16="http://schemas.microsoft.com/office/drawing/2014/main" id="{CB409A7B-95E0-720F-DBF5-FBCE115DFDC4}"/>
              </a:ext>
            </a:extLst>
          </p:cNvPr>
          <p:cNvSpPr>
            <a:spLocks noGrp="1"/>
          </p:cNvSpPr>
          <p:nvPr>
            <p:ph idx="1"/>
          </p:nvPr>
        </p:nvSpPr>
        <p:spPr>
          <a:xfrm>
            <a:off x="152400" y="1092234"/>
            <a:ext cx="7446135" cy="3167062"/>
          </a:xfrm>
        </p:spPr>
        <p:txBody>
          <a:bodyPr>
            <a:normAutofit fontScale="92500" lnSpcReduction="10000"/>
          </a:bodyPr>
          <a:lstStyle/>
          <a:p>
            <a:pPr fontAlgn="auto">
              <a:spcAft>
                <a:spcPts val="0"/>
              </a:spcAft>
              <a:buFont typeface="Courier New" panose="02070309020205020404" pitchFamily="49" charset="0"/>
              <a:buChar char="o"/>
              <a:defRPr/>
            </a:pPr>
            <a:r>
              <a:rPr lang="en-US" dirty="0"/>
              <a:t>Geocoding requires two sets of data</a:t>
            </a:r>
          </a:p>
          <a:p>
            <a:pPr lvl="1">
              <a:buFont typeface="Wingdings" panose="05000000000000000000" pitchFamily="2" charset="2"/>
              <a:buChar char="ü"/>
              <a:defRPr/>
            </a:pPr>
            <a:r>
              <a:rPr lang="en-US" dirty="0"/>
              <a:t>A reference database: destination data</a:t>
            </a:r>
          </a:p>
          <a:p>
            <a:pPr lvl="2">
              <a:buFont typeface="Arial" panose="020B0604020202020204" pitchFamily="34" charset="0"/>
              <a:buChar char="•"/>
              <a:defRPr/>
            </a:pPr>
            <a:r>
              <a:rPr lang="en-US" dirty="0"/>
              <a:t>In most cases, the reference database in the U.S. is some variant of the Topologically Integrated Geographic Encoding and Referencing (TIGER) files produced by the U.S. Census Bureau.</a:t>
            </a:r>
          </a:p>
          <a:p>
            <a:pPr lvl="2">
              <a:buFont typeface="Arial" panose="020B0604020202020204" pitchFamily="34" charset="0"/>
              <a:buChar char="•"/>
              <a:defRPr/>
            </a:pPr>
            <a:r>
              <a:rPr lang="en-US" dirty="0"/>
              <a:t>TIGER/Line files provide information on streets, rivers, railroads, and other line features, where they intersect, and the areas they enclose, in a form that can be processed by a computer. </a:t>
            </a:r>
          </a:p>
          <a:p>
            <a:pPr fontAlgn="auto">
              <a:spcAft>
                <a:spcPts val="0"/>
              </a:spcAft>
              <a:buFont typeface="Courier New" panose="02070309020205020404" pitchFamily="49" charset="0"/>
              <a:buChar char="o"/>
              <a:defRPr/>
            </a:pPr>
            <a:endParaRPr lang="en-US" dirty="0"/>
          </a:p>
        </p:txBody>
      </p:sp>
    </p:spTree>
    <p:extLst>
      <p:ext uri="{BB962C8B-B14F-4D97-AF65-F5344CB8AC3E}">
        <p14:creationId xmlns:p14="http://schemas.microsoft.com/office/powerpoint/2010/main" val="7395915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Geocoding requirement</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12</a:t>
            </a:fld>
            <a:endParaRPr lang="en-US"/>
          </a:p>
        </p:txBody>
      </p:sp>
      <p:sp>
        <p:nvSpPr>
          <p:cNvPr id="2" name="Content Placeholder 2">
            <a:extLst>
              <a:ext uri="{FF2B5EF4-FFF2-40B4-BE49-F238E27FC236}">
                <a16:creationId xmlns:a16="http://schemas.microsoft.com/office/drawing/2014/main" id="{CB409A7B-95E0-720F-DBF5-FBCE115DFDC4}"/>
              </a:ext>
            </a:extLst>
          </p:cNvPr>
          <p:cNvSpPr>
            <a:spLocks noGrp="1"/>
          </p:cNvSpPr>
          <p:nvPr>
            <p:ph idx="1"/>
          </p:nvPr>
        </p:nvSpPr>
        <p:spPr>
          <a:xfrm>
            <a:off x="152400" y="1092234"/>
            <a:ext cx="7446135" cy="3167062"/>
          </a:xfrm>
        </p:spPr>
        <p:txBody>
          <a:bodyPr>
            <a:normAutofit/>
          </a:bodyPr>
          <a:lstStyle/>
          <a:p>
            <a:pPr fontAlgn="auto">
              <a:spcAft>
                <a:spcPts val="0"/>
              </a:spcAft>
              <a:buFont typeface="Courier New" panose="02070309020205020404" pitchFamily="49" charset="0"/>
              <a:buChar char="o"/>
              <a:defRPr/>
            </a:pPr>
            <a:r>
              <a:rPr lang="en-US" dirty="0"/>
              <a:t>Geocoding requires two sets of data</a:t>
            </a:r>
          </a:p>
          <a:p>
            <a:pPr lvl="1">
              <a:buFont typeface="Wingdings" panose="05000000000000000000" pitchFamily="2" charset="2"/>
              <a:buChar char="ü"/>
              <a:defRPr/>
            </a:pPr>
            <a:r>
              <a:rPr lang="en-US" dirty="0"/>
              <a:t>A reference database</a:t>
            </a:r>
          </a:p>
          <a:p>
            <a:pPr lvl="2">
              <a:buFont typeface="Arial" panose="020B0604020202020204" pitchFamily="34" charset="0"/>
              <a:buChar char="•"/>
              <a:defRPr/>
            </a:pPr>
            <a:r>
              <a:rPr lang="en-US" dirty="0"/>
              <a:t>TIGER/Line files to maintain the Topology</a:t>
            </a:r>
          </a:p>
        </p:txBody>
      </p:sp>
      <p:pic>
        <p:nvPicPr>
          <p:cNvPr id="4" name="Picture 3" descr="Reference example">
            <a:extLst>
              <a:ext uri="{FF2B5EF4-FFF2-40B4-BE49-F238E27FC236}">
                <a16:creationId xmlns:a16="http://schemas.microsoft.com/office/drawing/2014/main" id="{85ECC7F2-1ECF-6C27-19F3-83FBAE3AA41E}"/>
              </a:ext>
            </a:extLst>
          </p:cNvPr>
          <p:cNvPicPr>
            <a:picLocks noChangeAspect="1"/>
          </p:cNvPicPr>
          <p:nvPr/>
        </p:nvPicPr>
        <p:blipFill>
          <a:blip r:embed="rId3"/>
          <a:stretch>
            <a:fillRect/>
          </a:stretch>
        </p:blipFill>
        <p:spPr>
          <a:xfrm>
            <a:off x="832974" y="2433312"/>
            <a:ext cx="6639852" cy="2333951"/>
          </a:xfrm>
          <a:prstGeom prst="rect">
            <a:avLst/>
          </a:prstGeom>
        </p:spPr>
      </p:pic>
    </p:spTree>
    <p:extLst>
      <p:ext uri="{BB962C8B-B14F-4D97-AF65-F5344CB8AC3E}">
        <p14:creationId xmlns:p14="http://schemas.microsoft.com/office/powerpoint/2010/main" val="33203199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Geocoding requirement</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13</a:t>
            </a:fld>
            <a:endParaRPr lang="en-US"/>
          </a:p>
        </p:txBody>
      </p:sp>
      <p:sp>
        <p:nvSpPr>
          <p:cNvPr id="2" name="Content Placeholder 2">
            <a:extLst>
              <a:ext uri="{FF2B5EF4-FFF2-40B4-BE49-F238E27FC236}">
                <a16:creationId xmlns:a16="http://schemas.microsoft.com/office/drawing/2014/main" id="{CB409A7B-95E0-720F-DBF5-FBCE115DFDC4}"/>
              </a:ext>
            </a:extLst>
          </p:cNvPr>
          <p:cNvSpPr>
            <a:spLocks noGrp="1"/>
          </p:cNvSpPr>
          <p:nvPr>
            <p:ph idx="1"/>
          </p:nvPr>
        </p:nvSpPr>
        <p:spPr>
          <a:xfrm>
            <a:off x="152400" y="1092234"/>
            <a:ext cx="7446135" cy="3167062"/>
          </a:xfrm>
        </p:spPr>
        <p:txBody>
          <a:bodyPr>
            <a:normAutofit/>
          </a:bodyPr>
          <a:lstStyle/>
          <a:p>
            <a:pPr fontAlgn="auto">
              <a:spcAft>
                <a:spcPts val="0"/>
              </a:spcAft>
              <a:buFont typeface="Courier New" panose="02070309020205020404" pitchFamily="49" charset="0"/>
              <a:buChar char="o"/>
              <a:defRPr/>
            </a:pPr>
            <a:r>
              <a:rPr lang="en-US" dirty="0"/>
              <a:t>Geocoding requires two sets of data</a:t>
            </a:r>
          </a:p>
          <a:p>
            <a:pPr lvl="1">
              <a:buFont typeface="Wingdings" panose="05000000000000000000" pitchFamily="2" charset="2"/>
              <a:buChar char="ü"/>
              <a:defRPr/>
            </a:pPr>
            <a:r>
              <a:rPr lang="en-US" dirty="0"/>
              <a:t>A reference database</a:t>
            </a:r>
          </a:p>
          <a:p>
            <a:pPr lvl="2">
              <a:buFont typeface="Arial" panose="020B0604020202020204" pitchFamily="34" charset="0"/>
              <a:buChar char="•"/>
              <a:defRPr/>
            </a:pPr>
            <a:r>
              <a:rPr lang="en-US" dirty="0"/>
              <a:t>TIGER/Line files</a:t>
            </a:r>
          </a:p>
        </p:txBody>
      </p:sp>
      <p:pic>
        <p:nvPicPr>
          <p:cNvPr id="5" name="Picture 4" descr="Reference example">
            <a:extLst>
              <a:ext uri="{FF2B5EF4-FFF2-40B4-BE49-F238E27FC236}">
                <a16:creationId xmlns:a16="http://schemas.microsoft.com/office/drawing/2014/main" id="{34E43B7E-BA81-76B5-606A-80A5EFD9948B}"/>
              </a:ext>
            </a:extLst>
          </p:cNvPr>
          <p:cNvPicPr>
            <a:picLocks noChangeAspect="1"/>
          </p:cNvPicPr>
          <p:nvPr/>
        </p:nvPicPr>
        <p:blipFill>
          <a:blip r:embed="rId3"/>
          <a:stretch>
            <a:fillRect/>
          </a:stretch>
        </p:blipFill>
        <p:spPr>
          <a:xfrm>
            <a:off x="1714500" y="2450630"/>
            <a:ext cx="5143500" cy="2453555"/>
          </a:xfrm>
          <a:prstGeom prst="rect">
            <a:avLst/>
          </a:prstGeom>
        </p:spPr>
      </p:pic>
    </p:spTree>
    <p:extLst>
      <p:ext uri="{BB962C8B-B14F-4D97-AF65-F5344CB8AC3E}">
        <p14:creationId xmlns:p14="http://schemas.microsoft.com/office/powerpoint/2010/main" val="5348634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Geocoding requirement</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14</a:t>
            </a:fld>
            <a:endParaRPr lang="en-US"/>
          </a:p>
        </p:txBody>
      </p:sp>
      <p:sp>
        <p:nvSpPr>
          <p:cNvPr id="2" name="Content Placeholder 2">
            <a:extLst>
              <a:ext uri="{FF2B5EF4-FFF2-40B4-BE49-F238E27FC236}">
                <a16:creationId xmlns:a16="http://schemas.microsoft.com/office/drawing/2014/main" id="{CB409A7B-95E0-720F-DBF5-FBCE115DFDC4}"/>
              </a:ext>
            </a:extLst>
          </p:cNvPr>
          <p:cNvSpPr>
            <a:spLocks noGrp="1"/>
          </p:cNvSpPr>
          <p:nvPr>
            <p:ph idx="1"/>
          </p:nvPr>
        </p:nvSpPr>
        <p:spPr>
          <a:xfrm>
            <a:off x="152400" y="1092234"/>
            <a:ext cx="7446135" cy="3167062"/>
          </a:xfrm>
        </p:spPr>
        <p:txBody>
          <a:bodyPr>
            <a:normAutofit/>
          </a:bodyPr>
          <a:lstStyle/>
          <a:p>
            <a:pPr fontAlgn="auto">
              <a:spcAft>
                <a:spcPts val="0"/>
              </a:spcAft>
              <a:buFont typeface="Courier New" panose="02070309020205020404" pitchFamily="49" charset="0"/>
              <a:buChar char="o"/>
              <a:defRPr/>
            </a:pPr>
            <a:r>
              <a:rPr lang="en-US" dirty="0"/>
              <a:t>Geocoding requires two sets of data</a:t>
            </a:r>
          </a:p>
          <a:p>
            <a:pPr lvl="1">
              <a:buFont typeface="Wingdings" panose="05000000000000000000" pitchFamily="2" charset="2"/>
              <a:buChar char="ü"/>
              <a:defRPr/>
            </a:pPr>
            <a:r>
              <a:rPr lang="en-US" dirty="0"/>
              <a:t>A reference database</a:t>
            </a:r>
          </a:p>
          <a:p>
            <a:pPr lvl="2">
              <a:buFont typeface="Arial" panose="020B0604020202020204" pitchFamily="34" charset="0"/>
              <a:buChar char="•"/>
              <a:defRPr/>
            </a:pPr>
            <a:r>
              <a:rPr lang="en-US" dirty="0"/>
              <a:t>TIGER/Line files</a:t>
            </a:r>
          </a:p>
        </p:txBody>
      </p:sp>
      <p:pic>
        <p:nvPicPr>
          <p:cNvPr id="2050" name="Picture 2" descr="Reference example">
            <a:extLst>
              <a:ext uri="{FF2B5EF4-FFF2-40B4-BE49-F238E27FC236}">
                <a16:creationId xmlns:a16="http://schemas.microsoft.com/office/drawing/2014/main" id="{894E482A-24F1-1AB3-57D5-43E275BBB7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08778" y="1698542"/>
            <a:ext cx="3789757" cy="334256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402F755-0EA4-BBC8-B3A0-389F124649CD}"/>
              </a:ext>
            </a:extLst>
          </p:cNvPr>
          <p:cNvSpPr txBox="1"/>
          <p:nvPr/>
        </p:nvSpPr>
        <p:spPr>
          <a:xfrm>
            <a:off x="152400" y="4714596"/>
            <a:ext cx="3379781" cy="369332"/>
          </a:xfrm>
          <a:prstGeom prst="rect">
            <a:avLst/>
          </a:prstGeom>
          <a:noFill/>
        </p:spPr>
        <p:txBody>
          <a:bodyPr wrap="square" rtlCol="0">
            <a:spAutoFit/>
          </a:bodyPr>
          <a:lstStyle/>
          <a:p>
            <a:r>
              <a:rPr lang="en-US" sz="900" dirty="0">
                <a:solidFill>
                  <a:srgbClr val="7030A0"/>
                </a:solidFill>
              </a:rPr>
              <a:t>https://www.e-education.psu.edu/natureofgeoinfo/book/export/html/1730</a:t>
            </a:r>
          </a:p>
        </p:txBody>
      </p:sp>
    </p:spTree>
    <p:extLst>
      <p:ext uri="{BB962C8B-B14F-4D97-AF65-F5344CB8AC3E}">
        <p14:creationId xmlns:p14="http://schemas.microsoft.com/office/powerpoint/2010/main" val="35748983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Geocoding process</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15</a:t>
            </a:fld>
            <a:endParaRPr lang="en-US"/>
          </a:p>
        </p:txBody>
      </p:sp>
      <p:sp>
        <p:nvSpPr>
          <p:cNvPr id="2" name="Content Placeholder 2">
            <a:extLst>
              <a:ext uri="{FF2B5EF4-FFF2-40B4-BE49-F238E27FC236}">
                <a16:creationId xmlns:a16="http://schemas.microsoft.com/office/drawing/2014/main" id="{5ECED4F8-A2C3-77DB-8325-C74E243A9856}"/>
              </a:ext>
            </a:extLst>
          </p:cNvPr>
          <p:cNvSpPr>
            <a:spLocks noGrp="1"/>
          </p:cNvSpPr>
          <p:nvPr>
            <p:ph idx="1"/>
          </p:nvPr>
        </p:nvSpPr>
        <p:spPr>
          <a:xfrm>
            <a:off x="152400" y="1092234"/>
            <a:ext cx="7446135" cy="3167062"/>
          </a:xfrm>
        </p:spPr>
        <p:txBody>
          <a:bodyPr>
            <a:normAutofit fontScale="92500" lnSpcReduction="20000"/>
          </a:bodyPr>
          <a:lstStyle/>
          <a:p>
            <a:pPr fontAlgn="auto">
              <a:spcAft>
                <a:spcPts val="0"/>
              </a:spcAft>
              <a:buFont typeface="Courier New" panose="02070309020205020404" pitchFamily="49" charset="0"/>
              <a:buChar char="o"/>
              <a:defRPr/>
            </a:pPr>
            <a:r>
              <a:rPr lang="en-US" dirty="0"/>
              <a:t>Address matching process consists of three phases: preprocessing, matching, and plotting.</a:t>
            </a:r>
          </a:p>
          <a:p>
            <a:pPr lvl="1">
              <a:buFont typeface="Wingdings" panose="05000000000000000000" pitchFamily="2" charset="2"/>
              <a:buChar char="ü"/>
              <a:defRPr/>
            </a:pPr>
            <a:r>
              <a:rPr lang="en-US" dirty="0"/>
              <a:t>The preprocessing phase involves parsing and addressing standardization</a:t>
            </a:r>
          </a:p>
          <a:p>
            <a:pPr lvl="1">
              <a:buFont typeface="Wingdings" panose="05000000000000000000" pitchFamily="2" charset="2"/>
              <a:buChar char="ü"/>
              <a:defRPr/>
            </a:pPr>
            <a:r>
              <a:rPr lang="en-US" dirty="0"/>
              <a:t>In the matching phase, the geocoding engine matches the address against a reference database</a:t>
            </a:r>
          </a:p>
          <a:p>
            <a:pPr lvl="1">
              <a:buFont typeface="Wingdings" panose="05000000000000000000" pitchFamily="2" charset="2"/>
              <a:buChar char="ü"/>
              <a:defRPr/>
            </a:pPr>
            <a:r>
              <a:rPr lang="en-US" dirty="0"/>
              <a:t>If an address is judged to be matched, it is plotted as a point feature by interpolating where the address falls within the address range</a:t>
            </a:r>
          </a:p>
        </p:txBody>
      </p:sp>
    </p:spTree>
    <p:extLst>
      <p:ext uri="{BB962C8B-B14F-4D97-AF65-F5344CB8AC3E}">
        <p14:creationId xmlns:p14="http://schemas.microsoft.com/office/powerpoint/2010/main" val="20573857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Geocoding process</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16</a:t>
            </a:fld>
            <a:endParaRPr lang="en-US"/>
          </a:p>
        </p:txBody>
      </p:sp>
      <p:pic>
        <p:nvPicPr>
          <p:cNvPr id="7" name="Picture 6" descr="Geocoding process">
            <a:extLst>
              <a:ext uri="{FF2B5EF4-FFF2-40B4-BE49-F238E27FC236}">
                <a16:creationId xmlns:a16="http://schemas.microsoft.com/office/drawing/2014/main" id="{257B0256-DFFC-6885-D4EE-1CCF41877E1B}"/>
              </a:ext>
            </a:extLst>
          </p:cNvPr>
          <p:cNvPicPr>
            <a:picLocks noChangeAspect="1"/>
          </p:cNvPicPr>
          <p:nvPr/>
        </p:nvPicPr>
        <p:blipFill>
          <a:blip r:embed="rId3"/>
          <a:stretch>
            <a:fillRect/>
          </a:stretch>
        </p:blipFill>
        <p:spPr>
          <a:xfrm>
            <a:off x="1486128" y="1200150"/>
            <a:ext cx="5257344" cy="3567113"/>
          </a:xfrm>
          <a:prstGeom prst="rect">
            <a:avLst/>
          </a:prstGeom>
        </p:spPr>
      </p:pic>
    </p:spTree>
    <p:extLst>
      <p:ext uri="{BB962C8B-B14F-4D97-AF65-F5344CB8AC3E}">
        <p14:creationId xmlns:p14="http://schemas.microsoft.com/office/powerpoint/2010/main" val="30338063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Geocoding process</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17</a:t>
            </a:fld>
            <a:endParaRPr lang="en-US"/>
          </a:p>
        </p:txBody>
      </p:sp>
      <p:pic>
        <p:nvPicPr>
          <p:cNvPr id="3" name="Picture 2" descr="Geocoding process">
            <a:extLst>
              <a:ext uri="{FF2B5EF4-FFF2-40B4-BE49-F238E27FC236}">
                <a16:creationId xmlns:a16="http://schemas.microsoft.com/office/drawing/2014/main" id="{BA5CA33E-EBE8-9D81-308B-EDC4A64B7EEF}"/>
              </a:ext>
            </a:extLst>
          </p:cNvPr>
          <p:cNvPicPr>
            <a:picLocks noChangeAspect="1"/>
          </p:cNvPicPr>
          <p:nvPr/>
        </p:nvPicPr>
        <p:blipFill>
          <a:blip r:embed="rId3"/>
          <a:stretch>
            <a:fillRect/>
          </a:stretch>
        </p:blipFill>
        <p:spPr>
          <a:xfrm>
            <a:off x="869549" y="1450063"/>
            <a:ext cx="6490502" cy="2770527"/>
          </a:xfrm>
          <a:prstGeom prst="rect">
            <a:avLst/>
          </a:prstGeom>
        </p:spPr>
      </p:pic>
    </p:spTree>
    <p:extLst>
      <p:ext uri="{BB962C8B-B14F-4D97-AF65-F5344CB8AC3E}">
        <p14:creationId xmlns:p14="http://schemas.microsoft.com/office/powerpoint/2010/main" val="12399331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Geocoding process</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18</a:t>
            </a:fld>
            <a:endParaRPr lang="en-US"/>
          </a:p>
        </p:txBody>
      </p:sp>
      <p:pic>
        <p:nvPicPr>
          <p:cNvPr id="4" name="Picture 3" descr="Geocoding process">
            <a:extLst>
              <a:ext uri="{FF2B5EF4-FFF2-40B4-BE49-F238E27FC236}">
                <a16:creationId xmlns:a16="http://schemas.microsoft.com/office/drawing/2014/main" id="{EA283BD4-3D06-52BE-59F8-ED39D3C2D4E4}"/>
              </a:ext>
            </a:extLst>
          </p:cNvPr>
          <p:cNvPicPr>
            <a:picLocks noChangeAspect="1"/>
          </p:cNvPicPr>
          <p:nvPr/>
        </p:nvPicPr>
        <p:blipFill>
          <a:blip r:embed="rId3"/>
          <a:stretch>
            <a:fillRect/>
          </a:stretch>
        </p:blipFill>
        <p:spPr>
          <a:xfrm>
            <a:off x="2200275" y="2448530"/>
            <a:ext cx="4324618" cy="2651888"/>
          </a:xfrm>
          <a:prstGeom prst="rect">
            <a:avLst/>
          </a:prstGeom>
        </p:spPr>
      </p:pic>
      <p:sp>
        <p:nvSpPr>
          <p:cNvPr id="5" name="TextBox 4">
            <a:extLst>
              <a:ext uri="{FF2B5EF4-FFF2-40B4-BE49-F238E27FC236}">
                <a16:creationId xmlns:a16="http://schemas.microsoft.com/office/drawing/2014/main" id="{F8EB5B7A-2048-13F4-31F4-70FBDD122C00}"/>
              </a:ext>
            </a:extLst>
          </p:cNvPr>
          <p:cNvSpPr txBox="1"/>
          <p:nvPr/>
        </p:nvSpPr>
        <p:spPr>
          <a:xfrm>
            <a:off x="257175" y="1157288"/>
            <a:ext cx="7896225" cy="1200329"/>
          </a:xfrm>
          <a:prstGeom prst="rect">
            <a:avLst/>
          </a:prstGeom>
          <a:noFill/>
        </p:spPr>
        <p:txBody>
          <a:bodyPr wrap="square" rtlCol="0">
            <a:spAutoFit/>
          </a:bodyPr>
          <a:lstStyle/>
          <a:p>
            <a:pPr marL="285750" indent="-285750">
              <a:buFont typeface="Courier New" panose="02070309020205020404" pitchFamily="49" charset="0"/>
              <a:buChar char="o"/>
            </a:pPr>
            <a:r>
              <a:rPr lang="en-US" dirty="0"/>
              <a:t>A geocoding engine has provisions for relaxing the matching conditions but uses a scoring system to quantify the matches at the same time.</a:t>
            </a:r>
          </a:p>
          <a:p>
            <a:pPr marL="285750" indent="-285750">
              <a:buFont typeface="Courier New" panose="02070309020205020404" pitchFamily="49" charset="0"/>
              <a:buChar char="o"/>
            </a:pPr>
            <a:r>
              <a:rPr lang="en-US" dirty="0"/>
              <a:t>Because of the various matching options, we can expect to run the geocoding process more than once.</a:t>
            </a:r>
          </a:p>
        </p:txBody>
      </p:sp>
    </p:spTree>
    <p:extLst>
      <p:ext uri="{BB962C8B-B14F-4D97-AF65-F5344CB8AC3E}">
        <p14:creationId xmlns:p14="http://schemas.microsoft.com/office/powerpoint/2010/main" val="22897985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Geocoding process</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19</a:t>
            </a:fld>
            <a:endParaRPr lang="en-US"/>
          </a:p>
        </p:txBody>
      </p:sp>
      <p:pic>
        <p:nvPicPr>
          <p:cNvPr id="3" name="Picture 2" descr="Geocoding process">
            <a:extLst>
              <a:ext uri="{FF2B5EF4-FFF2-40B4-BE49-F238E27FC236}">
                <a16:creationId xmlns:a16="http://schemas.microsoft.com/office/drawing/2014/main" id="{8D1BDBFF-9035-7BF9-E93C-8E4E092C6955}"/>
              </a:ext>
            </a:extLst>
          </p:cNvPr>
          <p:cNvPicPr>
            <a:picLocks noChangeAspect="1"/>
          </p:cNvPicPr>
          <p:nvPr/>
        </p:nvPicPr>
        <p:blipFill>
          <a:blip r:embed="rId3"/>
          <a:stretch>
            <a:fillRect/>
          </a:stretch>
        </p:blipFill>
        <p:spPr>
          <a:xfrm>
            <a:off x="1698113" y="1803619"/>
            <a:ext cx="5604091" cy="3405357"/>
          </a:xfrm>
          <a:prstGeom prst="rect">
            <a:avLst/>
          </a:prstGeom>
        </p:spPr>
      </p:pic>
      <p:sp>
        <p:nvSpPr>
          <p:cNvPr id="5" name="TextBox 4">
            <a:extLst>
              <a:ext uri="{FF2B5EF4-FFF2-40B4-BE49-F238E27FC236}">
                <a16:creationId xmlns:a16="http://schemas.microsoft.com/office/drawing/2014/main" id="{1449313A-9498-405E-4993-76DE60080476}"/>
              </a:ext>
            </a:extLst>
          </p:cNvPr>
          <p:cNvSpPr txBox="1"/>
          <p:nvPr/>
        </p:nvSpPr>
        <p:spPr>
          <a:xfrm>
            <a:off x="257175" y="1157288"/>
            <a:ext cx="7896225" cy="646331"/>
          </a:xfrm>
          <a:prstGeom prst="rect">
            <a:avLst/>
          </a:prstGeom>
          <a:noFill/>
        </p:spPr>
        <p:txBody>
          <a:bodyPr wrap="square" rtlCol="0">
            <a:spAutoFit/>
          </a:bodyPr>
          <a:lstStyle/>
          <a:p>
            <a:pPr marL="285750" indent="-285750">
              <a:buFont typeface="Courier New" panose="02070309020205020404" pitchFamily="49" charset="0"/>
              <a:buChar char="o"/>
            </a:pPr>
            <a:r>
              <a:rPr lang="en-US" dirty="0"/>
              <a:t>(125-101)/(199-101) =  0.24</a:t>
            </a:r>
          </a:p>
          <a:p>
            <a:pPr marL="285750" indent="-285750">
              <a:buFont typeface="Courier New" panose="02070309020205020404" pitchFamily="49" charset="0"/>
              <a:buChar char="o"/>
            </a:pPr>
            <a:r>
              <a:rPr lang="en-US" dirty="0"/>
              <a:t>So, it is placed 24% along the given length for the segment</a:t>
            </a:r>
          </a:p>
        </p:txBody>
      </p:sp>
      <p:sp>
        <p:nvSpPr>
          <p:cNvPr id="2" name="TextBox 1">
            <a:extLst>
              <a:ext uri="{FF2B5EF4-FFF2-40B4-BE49-F238E27FC236}">
                <a16:creationId xmlns:a16="http://schemas.microsoft.com/office/drawing/2014/main" id="{87070547-61A7-A962-FC7B-62EE98ADF789}"/>
              </a:ext>
            </a:extLst>
          </p:cNvPr>
          <p:cNvSpPr txBox="1"/>
          <p:nvPr/>
        </p:nvSpPr>
        <p:spPr>
          <a:xfrm>
            <a:off x="4500158" y="4101610"/>
            <a:ext cx="437880" cy="276999"/>
          </a:xfrm>
          <a:prstGeom prst="rect">
            <a:avLst/>
          </a:prstGeom>
          <a:solidFill>
            <a:srgbClr val="7030A0"/>
          </a:solidFill>
        </p:spPr>
        <p:txBody>
          <a:bodyPr wrap="square" rtlCol="0">
            <a:spAutoFit/>
          </a:bodyPr>
          <a:lstStyle/>
          <a:p>
            <a:r>
              <a:rPr lang="en-US" sz="1200" dirty="0"/>
              <a:t>125</a:t>
            </a:r>
          </a:p>
        </p:txBody>
      </p:sp>
    </p:spTree>
    <p:extLst>
      <p:ext uri="{BB962C8B-B14F-4D97-AF65-F5344CB8AC3E}">
        <p14:creationId xmlns:p14="http://schemas.microsoft.com/office/powerpoint/2010/main" val="2568276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Individual activity 12-1</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20</a:t>
            </a:fld>
            <a:endParaRPr lang="en-US"/>
          </a:p>
        </p:txBody>
      </p:sp>
      <p:pic>
        <p:nvPicPr>
          <p:cNvPr id="3" name="Picture 2" descr="Geocoding calculation">
            <a:extLst>
              <a:ext uri="{FF2B5EF4-FFF2-40B4-BE49-F238E27FC236}">
                <a16:creationId xmlns:a16="http://schemas.microsoft.com/office/drawing/2014/main" id="{8D1BDBFF-9035-7BF9-E93C-8E4E092C6955}"/>
              </a:ext>
            </a:extLst>
          </p:cNvPr>
          <p:cNvPicPr>
            <a:picLocks noChangeAspect="1"/>
          </p:cNvPicPr>
          <p:nvPr/>
        </p:nvPicPr>
        <p:blipFill rotWithShape="1">
          <a:blip r:embed="rId3"/>
          <a:srcRect t="37802"/>
          <a:stretch/>
        </p:blipFill>
        <p:spPr>
          <a:xfrm>
            <a:off x="1312754" y="2164856"/>
            <a:ext cx="5604091" cy="2118046"/>
          </a:xfrm>
          <a:prstGeom prst="rect">
            <a:avLst/>
          </a:prstGeom>
        </p:spPr>
      </p:pic>
      <p:sp>
        <p:nvSpPr>
          <p:cNvPr id="5" name="TextBox 4">
            <a:extLst>
              <a:ext uri="{FF2B5EF4-FFF2-40B4-BE49-F238E27FC236}">
                <a16:creationId xmlns:a16="http://schemas.microsoft.com/office/drawing/2014/main" id="{1449313A-9498-405E-4993-76DE60080476}"/>
              </a:ext>
            </a:extLst>
          </p:cNvPr>
          <p:cNvSpPr txBox="1"/>
          <p:nvPr/>
        </p:nvSpPr>
        <p:spPr>
          <a:xfrm>
            <a:off x="257175" y="1157288"/>
            <a:ext cx="7896225" cy="492443"/>
          </a:xfrm>
          <a:prstGeom prst="rect">
            <a:avLst/>
          </a:prstGeom>
          <a:noFill/>
        </p:spPr>
        <p:txBody>
          <a:bodyPr wrap="square" rtlCol="0">
            <a:spAutoFit/>
          </a:bodyPr>
          <a:lstStyle/>
          <a:p>
            <a:pPr marL="285750" indent="-285750">
              <a:buFont typeface="Courier New" panose="02070309020205020404" pitchFamily="49" charset="0"/>
              <a:buChar char="o"/>
            </a:pPr>
            <a:r>
              <a:rPr lang="en-US" sz="2600" dirty="0"/>
              <a:t>If the </a:t>
            </a:r>
            <a:r>
              <a:rPr lang="en-US" sz="2600" dirty="0" err="1"/>
              <a:t>HN</a:t>
            </a:r>
            <a:r>
              <a:rPr lang="en-US" sz="2600" dirty="0"/>
              <a:t> is 160, where it should be placed?</a:t>
            </a:r>
          </a:p>
        </p:txBody>
      </p:sp>
      <p:sp>
        <p:nvSpPr>
          <p:cNvPr id="2" name="TextBox 1">
            <a:extLst>
              <a:ext uri="{FF2B5EF4-FFF2-40B4-BE49-F238E27FC236}">
                <a16:creationId xmlns:a16="http://schemas.microsoft.com/office/drawing/2014/main" id="{87070547-61A7-A962-FC7B-62EE98ADF789}"/>
              </a:ext>
            </a:extLst>
          </p:cNvPr>
          <p:cNvSpPr txBox="1"/>
          <p:nvPr/>
        </p:nvSpPr>
        <p:spPr>
          <a:xfrm>
            <a:off x="3999361" y="3004528"/>
            <a:ext cx="612283" cy="276999"/>
          </a:xfrm>
          <a:prstGeom prst="rect">
            <a:avLst/>
          </a:prstGeom>
          <a:solidFill>
            <a:srgbClr val="7030A0"/>
          </a:solidFill>
        </p:spPr>
        <p:txBody>
          <a:bodyPr wrap="square" rtlCol="0">
            <a:spAutoFit/>
          </a:bodyPr>
          <a:lstStyle/>
          <a:p>
            <a:endParaRPr lang="en-US" sz="1200" dirty="0">
              <a:solidFill>
                <a:srgbClr val="7030A0"/>
              </a:solidFill>
            </a:endParaRPr>
          </a:p>
        </p:txBody>
      </p:sp>
    </p:spTree>
    <p:extLst>
      <p:ext uri="{BB962C8B-B14F-4D97-AF65-F5344CB8AC3E}">
        <p14:creationId xmlns:p14="http://schemas.microsoft.com/office/powerpoint/2010/main" val="4238167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Geocoding process</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21</a:t>
            </a:fld>
            <a:endParaRPr lang="en-US"/>
          </a:p>
        </p:txBody>
      </p:sp>
      <p:sp>
        <p:nvSpPr>
          <p:cNvPr id="2" name="Content Placeholder 2">
            <a:extLst>
              <a:ext uri="{FF2B5EF4-FFF2-40B4-BE49-F238E27FC236}">
                <a16:creationId xmlns:a16="http://schemas.microsoft.com/office/drawing/2014/main" id="{8200332D-956E-E3B7-1A3B-2C9BA6000261}"/>
              </a:ext>
            </a:extLst>
          </p:cNvPr>
          <p:cNvSpPr>
            <a:spLocks noGrp="1"/>
          </p:cNvSpPr>
          <p:nvPr>
            <p:ph idx="1"/>
          </p:nvPr>
        </p:nvSpPr>
        <p:spPr>
          <a:xfrm>
            <a:off x="152400" y="1092234"/>
            <a:ext cx="7446135" cy="1108041"/>
          </a:xfrm>
        </p:spPr>
        <p:txBody>
          <a:bodyPr>
            <a:normAutofit fontScale="55000" lnSpcReduction="20000"/>
          </a:bodyPr>
          <a:lstStyle/>
          <a:p>
            <a:pPr fontAlgn="auto">
              <a:spcAft>
                <a:spcPts val="0"/>
              </a:spcAft>
              <a:buFont typeface="Courier New" panose="02070309020205020404" pitchFamily="49" charset="0"/>
              <a:buChar char="o"/>
              <a:defRPr/>
            </a:pPr>
            <a:r>
              <a:rPr lang="en-US" dirty="0"/>
              <a:t>Address matching requires an Address Locator which establishes explicit methods for matching (geocoding) address data to a specified reference database.</a:t>
            </a:r>
          </a:p>
          <a:p>
            <a:pPr fontAlgn="auto">
              <a:spcAft>
                <a:spcPts val="0"/>
              </a:spcAft>
              <a:buFont typeface="Courier New" panose="02070309020205020404" pitchFamily="49" charset="0"/>
              <a:buChar char="o"/>
              <a:defRPr/>
            </a:pPr>
            <a:r>
              <a:rPr lang="en-US" dirty="0"/>
              <a:t>The result of geocoding is expressed as the percentage of addresses matched</a:t>
            </a:r>
          </a:p>
          <a:p>
            <a:pPr fontAlgn="auto">
              <a:spcAft>
                <a:spcPts val="0"/>
              </a:spcAft>
              <a:buFont typeface="Courier New" panose="02070309020205020404" pitchFamily="49" charset="0"/>
              <a:buChar char="o"/>
              <a:defRPr/>
            </a:pPr>
            <a:r>
              <a:rPr lang="en-US" dirty="0"/>
              <a:t>For crime mapping and analysis, 85% matching score is required.</a:t>
            </a:r>
          </a:p>
        </p:txBody>
      </p:sp>
      <p:pic>
        <p:nvPicPr>
          <p:cNvPr id="4" name="Picture Placeholder 4" descr="The Geoprocessing group shows the Create Address Locator tool.  Under the Parameters option there is a drop-down box for Address locator style. Below this are two other drop-downs for Reference data and Role. The lower portion of the window contains a list of options for Field map, Field name and Alias name. They are as follows: Feature I D, asterisk From left, asterisk To left, asterisk To right, Left parity, Right parity, Full street name, Prefix direction, and Prefix type. To the very bottom is the field for Output address locator and a checkbox for Enable suggestions.">
            <a:extLst>
              <a:ext uri="{FF2B5EF4-FFF2-40B4-BE49-F238E27FC236}">
                <a16:creationId xmlns:a16="http://schemas.microsoft.com/office/drawing/2014/main" id="{436B98CF-15A4-9E31-1C81-D335F41D05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5573" y="2140964"/>
            <a:ext cx="2038687" cy="2900143"/>
          </a:xfrm>
          <a:prstGeom prst="rect">
            <a:avLst/>
          </a:prstGeom>
        </p:spPr>
      </p:pic>
      <p:pic>
        <p:nvPicPr>
          <p:cNvPr id="5" name="Picture Placeholder 5" descr="A screenshot shows the Locator Properties: Roads Locator. The window is divided into two sections. To the left is a list of options as follows: About the locator, Reference data tables, Place name alias table, Input fields, Outputs, Geocoding options, and Performance. Geocoding options is highlighted. To the right is a list of options seen as follows: Minimum match score, Minimum candidate score, Match if best candidates tie, Spelling sensitivity, Side offset, and so on. This portion contains a scroll bar.">
            <a:extLst>
              <a:ext uri="{FF2B5EF4-FFF2-40B4-BE49-F238E27FC236}">
                <a16:creationId xmlns:a16="http://schemas.microsoft.com/office/drawing/2014/main" id="{431B2671-BA97-0F12-6C3C-27C3A6EC8CD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16976" y="2298910"/>
            <a:ext cx="4028843" cy="2481856"/>
          </a:xfrm>
          <a:prstGeom prst="rect">
            <a:avLst/>
          </a:prstGeom>
        </p:spPr>
      </p:pic>
    </p:spTree>
    <p:extLst>
      <p:ext uri="{BB962C8B-B14F-4D97-AF65-F5344CB8AC3E}">
        <p14:creationId xmlns:p14="http://schemas.microsoft.com/office/powerpoint/2010/main" val="3687867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Geocoding errors and solutions</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22</a:t>
            </a:fld>
            <a:endParaRPr lang="en-US"/>
          </a:p>
        </p:txBody>
      </p:sp>
      <p:sp>
        <p:nvSpPr>
          <p:cNvPr id="2" name="Content Placeholder 2">
            <a:extLst>
              <a:ext uri="{FF2B5EF4-FFF2-40B4-BE49-F238E27FC236}">
                <a16:creationId xmlns:a16="http://schemas.microsoft.com/office/drawing/2014/main" id="{8200332D-956E-E3B7-1A3B-2C9BA6000261}"/>
              </a:ext>
            </a:extLst>
          </p:cNvPr>
          <p:cNvSpPr>
            <a:spLocks noGrp="1"/>
          </p:cNvSpPr>
          <p:nvPr>
            <p:ph idx="1"/>
          </p:nvPr>
        </p:nvSpPr>
        <p:spPr>
          <a:xfrm>
            <a:off x="152400" y="1092234"/>
            <a:ext cx="7446135" cy="3822666"/>
          </a:xfrm>
        </p:spPr>
        <p:txBody>
          <a:bodyPr>
            <a:normAutofit fontScale="77500" lnSpcReduction="20000"/>
          </a:bodyPr>
          <a:lstStyle/>
          <a:p>
            <a:pPr fontAlgn="auto">
              <a:spcAft>
                <a:spcPts val="0"/>
              </a:spcAft>
              <a:buFont typeface="Courier New" panose="02070309020205020404" pitchFamily="49" charset="0"/>
              <a:buChar char="o"/>
              <a:defRPr/>
            </a:pPr>
            <a:r>
              <a:rPr lang="en-US" dirty="0"/>
              <a:t>Variations in street names</a:t>
            </a:r>
          </a:p>
          <a:p>
            <a:pPr lvl="1">
              <a:buFont typeface="Wingdings" panose="05000000000000000000" pitchFamily="2" charset="2"/>
              <a:buChar char="ü"/>
              <a:defRPr/>
            </a:pPr>
            <a:r>
              <a:rPr lang="en-US" dirty="0"/>
              <a:t>Fifth Avenue, Fifth Ave. 5</a:t>
            </a:r>
            <a:r>
              <a:rPr lang="en-US" baseline="30000" dirty="0"/>
              <a:t>th</a:t>
            </a:r>
            <a:r>
              <a:rPr lang="en-US" dirty="0"/>
              <a:t> AV</a:t>
            </a:r>
          </a:p>
          <a:p>
            <a:pPr lvl="1">
              <a:buFont typeface="Wingdings" panose="05000000000000000000" pitchFamily="2" charset="2"/>
              <a:buChar char="ü"/>
              <a:defRPr/>
            </a:pPr>
            <a:r>
              <a:rPr lang="en-US" dirty="0"/>
              <a:t>Saw Mill Run, Route 51</a:t>
            </a:r>
          </a:p>
          <a:p>
            <a:pPr marL="308610" lvl="1" indent="-308610">
              <a:buFont typeface="Courier New" panose="02070309020205020404" pitchFamily="49" charset="0"/>
              <a:buChar char="o"/>
              <a:defRPr/>
            </a:pPr>
            <a:r>
              <a:rPr lang="en-US" sz="2900" dirty="0"/>
              <a:t>Data Entry Errors</a:t>
            </a:r>
          </a:p>
          <a:p>
            <a:pPr lvl="1">
              <a:buFont typeface="Wingdings" panose="05000000000000000000" pitchFamily="2" charset="2"/>
              <a:buChar char="ü"/>
              <a:defRPr/>
            </a:pPr>
            <a:r>
              <a:rPr lang="en-US" sz="2500" dirty="0" err="1"/>
              <a:t>Fidth</a:t>
            </a:r>
            <a:r>
              <a:rPr lang="en-US" sz="2500" dirty="0"/>
              <a:t> Avenue</a:t>
            </a:r>
          </a:p>
          <a:p>
            <a:pPr lvl="1">
              <a:buFont typeface="Wingdings" panose="05000000000000000000" pitchFamily="2" charset="2"/>
              <a:buChar char="ü"/>
              <a:defRPr/>
            </a:pPr>
            <a:r>
              <a:rPr lang="en-US" sz="2500" dirty="0"/>
              <a:t>Sawmill Run</a:t>
            </a:r>
          </a:p>
          <a:p>
            <a:pPr marL="308610" lvl="1" indent="-308610">
              <a:buFont typeface="Courier New" panose="02070309020205020404" pitchFamily="49" charset="0"/>
              <a:buChar char="o"/>
              <a:defRPr/>
            </a:pPr>
            <a:r>
              <a:rPr lang="en-US" sz="2900" dirty="0"/>
              <a:t>Place Names</a:t>
            </a:r>
          </a:p>
          <a:p>
            <a:pPr lvl="1">
              <a:buFont typeface="Wingdings" panose="05000000000000000000" pitchFamily="2" charset="2"/>
              <a:buChar char="ü"/>
              <a:defRPr/>
            </a:pPr>
            <a:r>
              <a:rPr lang="en-US" sz="2500" dirty="0"/>
              <a:t>White House, Heinz Field, Empire State Building</a:t>
            </a:r>
          </a:p>
          <a:p>
            <a:pPr marL="308610" lvl="1" indent="-308610">
              <a:buFont typeface="Courier New" panose="02070309020205020404" pitchFamily="49" charset="0"/>
              <a:buChar char="o"/>
              <a:defRPr/>
            </a:pPr>
            <a:r>
              <a:rPr lang="en-US" sz="2900" dirty="0"/>
              <a:t>Intersections</a:t>
            </a:r>
          </a:p>
          <a:p>
            <a:pPr lvl="1">
              <a:buFont typeface="Wingdings" panose="05000000000000000000" pitchFamily="2" charset="2"/>
              <a:buChar char="ü"/>
              <a:defRPr/>
            </a:pPr>
            <a:r>
              <a:rPr lang="en-US" sz="2500" dirty="0"/>
              <a:t>5th AV and Craig ST</a:t>
            </a:r>
          </a:p>
          <a:p>
            <a:pPr marL="308610" lvl="1" indent="-308610">
              <a:buFont typeface="Courier New" panose="02070309020205020404" pitchFamily="49" charset="0"/>
              <a:buChar char="o"/>
              <a:defRPr/>
            </a:pPr>
            <a:r>
              <a:rPr lang="en-US" sz="2900" dirty="0"/>
              <a:t>Post Office Boxes</a:t>
            </a:r>
          </a:p>
          <a:p>
            <a:pPr lvl="1">
              <a:buFont typeface="Wingdings" panose="05000000000000000000" pitchFamily="2" charset="2"/>
              <a:buChar char="ü"/>
              <a:defRPr/>
            </a:pPr>
            <a:r>
              <a:rPr lang="en-US" sz="2500" dirty="0" err="1"/>
              <a:t>P.X.Box</a:t>
            </a:r>
            <a:r>
              <a:rPr lang="en-US" sz="2500" dirty="0"/>
              <a:t> 125</a:t>
            </a:r>
          </a:p>
          <a:p>
            <a:pPr marL="308610" lvl="1" indent="-308610">
              <a:buFont typeface="Courier New" panose="02070309020205020404" pitchFamily="49" charset="0"/>
              <a:buChar char="o"/>
              <a:defRPr/>
            </a:pPr>
            <a:endParaRPr lang="en-US" sz="2900" dirty="0"/>
          </a:p>
          <a:p>
            <a:pPr marL="308610" lvl="1" indent="-308610">
              <a:buFont typeface="Courier New" panose="02070309020205020404" pitchFamily="49" charset="0"/>
              <a:buChar char="o"/>
              <a:defRPr/>
            </a:pPr>
            <a:endParaRPr lang="en-US" sz="2900" dirty="0"/>
          </a:p>
        </p:txBody>
      </p:sp>
    </p:spTree>
    <p:extLst>
      <p:ext uri="{BB962C8B-B14F-4D97-AF65-F5344CB8AC3E}">
        <p14:creationId xmlns:p14="http://schemas.microsoft.com/office/powerpoint/2010/main" val="36451708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Geocoding errors and solutions</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23</a:t>
            </a:fld>
            <a:endParaRPr lang="en-US"/>
          </a:p>
        </p:txBody>
      </p:sp>
      <p:sp>
        <p:nvSpPr>
          <p:cNvPr id="2" name="Content Placeholder 2">
            <a:extLst>
              <a:ext uri="{FF2B5EF4-FFF2-40B4-BE49-F238E27FC236}">
                <a16:creationId xmlns:a16="http://schemas.microsoft.com/office/drawing/2014/main" id="{8200332D-956E-E3B7-1A3B-2C9BA6000261}"/>
              </a:ext>
            </a:extLst>
          </p:cNvPr>
          <p:cNvSpPr>
            <a:spLocks noGrp="1"/>
          </p:cNvSpPr>
          <p:nvPr>
            <p:ph idx="1"/>
          </p:nvPr>
        </p:nvSpPr>
        <p:spPr>
          <a:xfrm>
            <a:off x="152400" y="1092233"/>
            <a:ext cx="7446135" cy="4008183"/>
          </a:xfrm>
        </p:spPr>
        <p:txBody>
          <a:bodyPr>
            <a:normAutofit fontScale="77500" lnSpcReduction="20000"/>
          </a:bodyPr>
          <a:lstStyle/>
          <a:p>
            <a:pPr fontAlgn="auto">
              <a:spcAft>
                <a:spcPts val="0"/>
              </a:spcAft>
              <a:buFont typeface="Courier New" panose="02070309020205020404" pitchFamily="49" charset="0"/>
              <a:buChar char="o"/>
              <a:defRPr/>
            </a:pPr>
            <a:r>
              <a:rPr lang="en-US" dirty="0"/>
              <a:t>Clean your data before geocoding</a:t>
            </a:r>
          </a:p>
          <a:p>
            <a:pPr marL="308610" lvl="1" indent="-308610">
              <a:buFont typeface="Courier New" panose="02070309020205020404" pitchFamily="49" charset="0"/>
              <a:buChar char="o"/>
              <a:defRPr/>
            </a:pPr>
            <a:r>
              <a:rPr lang="en-US" sz="2900" dirty="0"/>
              <a:t>Use postal address standards</a:t>
            </a:r>
          </a:p>
          <a:p>
            <a:pPr lvl="1">
              <a:buFont typeface="Wingdings" panose="05000000000000000000" pitchFamily="2" charset="2"/>
              <a:buChar char="ü"/>
              <a:defRPr/>
            </a:pPr>
            <a:r>
              <a:rPr lang="en-US" sz="2500" dirty="0"/>
              <a:t>Publication 28 of the U.S. Post office provides standard street address formats</a:t>
            </a:r>
          </a:p>
          <a:p>
            <a:pPr marL="308610" lvl="1" indent="-308610">
              <a:buFont typeface="Courier New" panose="02070309020205020404" pitchFamily="49" charset="0"/>
              <a:buChar char="o"/>
              <a:defRPr/>
            </a:pPr>
            <a:r>
              <a:rPr lang="en-US" sz="2900" dirty="0"/>
              <a:t>Use standard intersection connectors</a:t>
            </a:r>
          </a:p>
          <a:p>
            <a:pPr lvl="1">
              <a:buFont typeface="Wingdings" panose="05000000000000000000" pitchFamily="2" charset="2"/>
              <a:buChar char="ü"/>
              <a:defRPr/>
            </a:pPr>
            <a:r>
              <a:rPr lang="en-US" sz="2500" dirty="0"/>
              <a:t>&amp; | @</a:t>
            </a:r>
          </a:p>
          <a:p>
            <a:pPr marL="308610" lvl="1" indent="-308610">
              <a:buFont typeface="Courier New" panose="02070309020205020404" pitchFamily="49" charset="0"/>
              <a:buChar char="o"/>
              <a:defRPr/>
            </a:pPr>
            <a:r>
              <a:rPr lang="en-US" sz="2900" dirty="0"/>
              <a:t>Put street intersections in the address field</a:t>
            </a:r>
          </a:p>
          <a:p>
            <a:pPr lvl="1">
              <a:buFont typeface="Wingdings" panose="05000000000000000000" pitchFamily="2" charset="2"/>
              <a:buChar char="ü"/>
              <a:defRPr/>
            </a:pPr>
            <a:r>
              <a:rPr lang="en-US" sz="2500" dirty="0"/>
              <a:t>Forbes AV &amp; Craig ST</a:t>
            </a:r>
          </a:p>
          <a:p>
            <a:pPr lvl="1">
              <a:buFont typeface="Wingdings" panose="05000000000000000000" pitchFamily="2" charset="2"/>
              <a:buChar char="ü"/>
              <a:defRPr/>
            </a:pPr>
            <a:r>
              <a:rPr lang="en-US" sz="2500" dirty="0"/>
              <a:t>Grant ST &amp; 5</a:t>
            </a:r>
            <a:r>
              <a:rPr lang="en-US" sz="2500" baseline="30000" dirty="0"/>
              <a:t>th</a:t>
            </a:r>
            <a:r>
              <a:rPr lang="en-US" sz="2500" dirty="0"/>
              <a:t> AV</a:t>
            </a:r>
          </a:p>
          <a:p>
            <a:pPr lvl="1">
              <a:buFont typeface="Wingdings" panose="05000000000000000000" pitchFamily="2" charset="2"/>
              <a:buChar char="ü"/>
              <a:defRPr/>
            </a:pPr>
            <a:r>
              <a:rPr lang="en-US" sz="2500" dirty="0"/>
              <a:t>E North Star RD &amp; Duncan AV</a:t>
            </a:r>
          </a:p>
          <a:p>
            <a:pPr marL="308610" lvl="1" indent="-308610">
              <a:buFont typeface="Courier New" panose="02070309020205020404" pitchFamily="49" charset="0"/>
              <a:buChar char="o"/>
              <a:defRPr/>
            </a:pPr>
            <a:r>
              <a:rPr lang="en-US" sz="2900" dirty="0"/>
              <a:t>Connectors</a:t>
            </a:r>
          </a:p>
          <a:p>
            <a:pPr lvl="1">
              <a:buFont typeface="Wingdings" panose="05000000000000000000" pitchFamily="2" charset="2"/>
              <a:buChar char="ü"/>
              <a:defRPr/>
            </a:pPr>
            <a:r>
              <a:rPr lang="en-US" sz="2900" dirty="0"/>
              <a:t>Any unusual character (e.g., &amp;, @, |) be consistent</a:t>
            </a:r>
          </a:p>
          <a:p>
            <a:pPr marL="308610" lvl="1" indent="-308610">
              <a:buFont typeface="Courier New" panose="02070309020205020404" pitchFamily="49" charset="0"/>
              <a:buChar char="o"/>
              <a:defRPr/>
            </a:pPr>
            <a:endParaRPr lang="en-US" sz="2900" dirty="0"/>
          </a:p>
        </p:txBody>
      </p:sp>
    </p:spTree>
    <p:extLst>
      <p:ext uri="{BB962C8B-B14F-4D97-AF65-F5344CB8AC3E}">
        <p14:creationId xmlns:p14="http://schemas.microsoft.com/office/powerpoint/2010/main" val="22091548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Geocoding errors and solutions</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24</a:t>
            </a:fld>
            <a:endParaRPr lang="en-US"/>
          </a:p>
        </p:txBody>
      </p:sp>
      <p:sp>
        <p:nvSpPr>
          <p:cNvPr id="2" name="Content Placeholder 2">
            <a:extLst>
              <a:ext uri="{FF2B5EF4-FFF2-40B4-BE49-F238E27FC236}">
                <a16:creationId xmlns:a16="http://schemas.microsoft.com/office/drawing/2014/main" id="{8200332D-956E-E3B7-1A3B-2C9BA6000261}"/>
              </a:ext>
            </a:extLst>
          </p:cNvPr>
          <p:cNvSpPr>
            <a:spLocks noGrp="1"/>
          </p:cNvSpPr>
          <p:nvPr>
            <p:ph idx="1"/>
          </p:nvPr>
        </p:nvSpPr>
        <p:spPr>
          <a:xfrm>
            <a:off x="152400" y="1092233"/>
            <a:ext cx="7446135" cy="4008183"/>
          </a:xfrm>
        </p:spPr>
        <p:txBody>
          <a:bodyPr>
            <a:normAutofit/>
          </a:bodyPr>
          <a:lstStyle/>
          <a:p>
            <a:pPr fontAlgn="auto">
              <a:spcAft>
                <a:spcPts val="0"/>
              </a:spcAft>
              <a:buFont typeface="Courier New" panose="02070309020205020404" pitchFamily="49" charset="0"/>
              <a:buChar char="o"/>
              <a:defRPr/>
            </a:pPr>
            <a:r>
              <a:rPr lang="en-US" dirty="0"/>
              <a:t>Use Alias Table</a:t>
            </a:r>
          </a:p>
          <a:p>
            <a:pPr fontAlgn="auto">
              <a:spcAft>
                <a:spcPts val="0"/>
              </a:spcAft>
              <a:buFont typeface="Courier New" panose="02070309020205020404" pitchFamily="49" charset="0"/>
              <a:buChar char="o"/>
              <a:defRPr/>
            </a:pPr>
            <a:endParaRPr lang="en-US" dirty="0"/>
          </a:p>
          <a:p>
            <a:pPr marL="308610" lvl="1" indent="-308610">
              <a:buFont typeface="Courier New" panose="02070309020205020404" pitchFamily="49" charset="0"/>
              <a:buChar char="o"/>
              <a:defRPr/>
            </a:pPr>
            <a:endParaRPr lang="en-US" sz="2900" dirty="0"/>
          </a:p>
        </p:txBody>
      </p:sp>
      <p:pic>
        <p:nvPicPr>
          <p:cNvPr id="4" name="Picture 3" descr="Alias table">
            <a:extLst>
              <a:ext uri="{FF2B5EF4-FFF2-40B4-BE49-F238E27FC236}">
                <a16:creationId xmlns:a16="http://schemas.microsoft.com/office/drawing/2014/main" id="{5B3E53DC-A10E-A2F1-F9AB-8257CCF64DF2}"/>
              </a:ext>
            </a:extLst>
          </p:cNvPr>
          <p:cNvPicPr>
            <a:picLocks noChangeAspect="1"/>
          </p:cNvPicPr>
          <p:nvPr/>
        </p:nvPicPr>
        <p:blipFill>
          <a:blip r:embed="rId3"/>
          <a:stretch>
            <a:fillRect/>
          </a:stretch>
        </p:blipFill>
        <p:spPr>
          <a:xfrm>
            <a:off x="631065" y="1902487"/>
            <a:ext cx="7148594" cy="1814644"/>
          </a:xfrm>
          <a:prstGeom prst="rect">
            <a:avLst/>
          </a:prstGeom>
        </p:spPr>
      </p:pic>
    </p:spTree>
    <p:extLst>
      <p:ext uri="{BB962C8B-B14F-4D97-AF65-F5344CB8AC3E}">
        <p14:creationId xmlns:p14="http://schemas.microsoft.com/office/powerpoint/2010/main" val="30250119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Polygon Geocoding</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25</a:t>
            </a:fld>
            <a:endParaRPr lang="en-US"/>
          </a:p>
        </p:txBody>
      </p:sp>
      <p:sp>
        <p:nvSpPr>
          <p:cNvPr id="2" name="Content Placeholder 2">
            <a:extLst>
              <a:ext uri="{FF2B5EF4-FFF2-40B4-BE49-F238E27FC236}">
                <a16:creationId xmlns:a16="http://schemas.microsoft.com/office/drawing/2014/main" id="{8200332D-956E-E3B7-1A3B-2C9BA6000261}"/>
              </a:ext>
            </a:extLst>
          </p:cNvPr>
          <p:cNvSpPr>
            <a:spLocks noGrp="1"/>
          </p:cNvSpPr>
          <p:nvPr>
            <p:ph idx="1"/>
          </p:nvPr>
        </p:nvSpPr>
        <p:spPr>
          <a:xfrm>
            <a:off x="152400" y="1092233"/>
            <a:ext cx="7446135" cy="4008183"/>
          </a:xfrm>
        </p:spPr>
        <p:txBody>
          <a:bodyPr>
            <a:normAutofit/>
          </a:bodyPr>
          <a:lstStyle/>
          <a:p>
            <a:pPr fontAlgn="auto">
              <a:spcAft>
                <a:spcPts val="0"/>
              </a:spcAft>
              <a:buFont typeface="Courier New" panose="02070309020205020404" pitchFamily="49" charset="0"/>
              <a:buChar char="o"/>
              <a:defRPr/>
            </a:pPr>
            <a:r>
              <a:rPr lang="en-US" dirty="0"/>
              <a:t>Points created at zip code centroids</a:t>
            </a:r>
          </a:p>
          <a:p>
            <a:pPr fontAlgn="auto">
              <a:spcAft>
                <a:spcPts val="0"/>
              </a:spcAft>
              <a:buFont typeface="Courier New" panose="02070309020205020404" pitchFamily="49" charset="0"/>
              <a:buChar char="o"/>
              <a:defRPr/>
            </a:pPr>
            <a:endParaRPr lang="en-US" dirty="0"/>
          </a:p>
          <a:p>
            <a:pPr marL="308610" lvl="1" indent="-308610">
              <a:buFont typeface="Courier New" panose="02070309020205020404" pitchFamily="49" charset="0"/>
              <a:buChar char="o"/>
              <a:defRPr/>
            </a:pPr>
            <a:endParaRPr lang="en-US" sz="2900" dirty="0"/>
          </a:p>
        </p:txBody>
      </p:sp>
      <p:pic>
        <p:nvPicPr>
          <p:cNvPr id="4" name="Picture 3" descr="polygon geocoding">
            <a:extLst>
              <a:ext uri="{FF2B5EF4-FFF2-40B4-BE49-F238E27FC236}">
                <a16:creationId xmlns:a16="http://schemas.microsoft.com/office/drawing/2014/main" id="{72CF6915-1708-9A8F-4653-030EAC983C8B}"/>
              </a:ext>
            </a:extLst>
          </p:cNvPr>
          <p:cNvPicPr>
            <a:picLocks noChangeAspect="1"/>
          </p:cNvPicPr>
          <p:nvPr/>
        </p:nvPicPr>
        <p:blipFill>
          <a:blip r:embed="rId3"/>
          <a:stretch>
            <a:fillRect/>
          </a:stretch>
        </p:blipFill>
        <p:spPr>
          <a:xfrm>
            <a:off x="1232282" y="1686553"/>
            <a:ext cx="5625718" cy="2819541"/>
          </a:xfrm>
          <a:prstGeom prst="rect">
            <a:avLst/>
          </a:prstGeom>
        </p:spPr>
      </p:pic>
    </p:spTree>
    <p:extLst>
      <p:ext uri="{BB962C8B-B14F-4D97-AF65-F5344CB8AC3E}">
        <p14:creationId xmlns:p14="http://schemas.microsoft.com/office/powerpoint/2010/main" val="14166881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Polygon Geocoding</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26</a:t>
            </a:fld>
            <a:endParaRPr lang="en-US"/>
          </a:p>
        </p:txBody>
      </p:sp>
      <p:sp>
        <p:nvSpPr>
          <p:cNvPr id="2" name="Content Placeholder 2">
            <a:extLst>
              <a:ext uri="{FF2B5EF4-FFF2-40B4-BE49-F238E27FC236}">
                <a16:creationId xmlns:a16="http://schemas.microsoft.com/office/drawing/2014/main" id="{8200332D-956E-E3B7-1A3B-2C9BA6000261}"/>
              </a:ext>
            </a:extLst>
          </p:cNvPr>
          <p:cNvSpPr>
            <a:spLocks noGrp="1"/>
          </p:cNvSpPr>
          <p:nvPr>
            <p:ph idx="1"/>
          </p:nvPr>
        </p:nvSpPr>
        <p:spPr>
          <a:xfrm>
            <a:off x="152400" y="1092233"/>
            <a:ext cx="7446135" cy="4008183"/>
          </a:xfrm>
        </p:spPr>
        <p:txBody>
          <a:bodyPr>
            <a:normAutofit/>
          </a:bodyPr>
          <a:lstStyle/>
          <a:p>
            <a:pPr fontAlgn="auto">
              <a:spcAft>
                <a:spcPts val="0"/>
              </a:spcAft>
              <a:buFont typeface="Courier New" panose="02070309020205020404" pitchFamily="49" charset="0"/>
              <a:buChar char="o"/>
              <a:defRPr/>
            </a:pPr>
            <a:r>
              <a:rPr lang="en-US" dirty="0"/>
              <a:t>Polygon features can be identified by their parcel numbers, postal zip, or zip +4 codes</a:t>
            </a:r>
          </a:p>
          <a:p>
            <a:pPr fontAlgn="auto">
              <a:spcAft>
                <a:spcPts val="0"/>
              </a:spcAft>
              <a:buFont typeface="Courier New" panose="02070309020205020404" pitchFamily="49" charset="0"/>
              <a:buChar char="o"/>
              <a:defRPr/>
            </a:pPr>
            <a:endParaRPr lang="en-US" dirty="0"/>
          </a:p>
          <a:p>
            <a:pPr marL="308610" lvl="1" indent="-308610">
              <a:buFont typeface="Courier New" panose="02070309020205020404" pitchFamily="49" charset="0"/>
              <a:buChar char="o"/>
              <a:defRPr/>
            </a:pPr>
            <a:endParaRPr lang="en-US" sz="2900" dirty="0"/>
          </a:p>
        </p:txBody>
      </p:sp>
      <p:pic>
        <p:nvPicPr>
          <p:cNvPr id="5" name="Picture 4" descr="polygon geocoding">
            <a:extLst>
              <a:ext uri="{FF2B5EF4-FFF2-40B4-BE49-F238E27FC236}">
                <a16:creationId xmlns:a16="http://schemas.microsoft.com/office/drawing/2014/main" id="{1DA9CD42-83EE-0546-60A7-50C90AC81686}"/>
              </a:ext>
            </a:extLst>
          </p:cNvPr>
          <p:cNvPicPr>
            <a:picLocks noChangeAspect="1"/>
          </p:cNvPicPr>
          <p:nvPr/>
        </p:nvPicPr>
        <p:blipFill>
          <a:blip r:embed="rId3"/>
          <a:stretch>
            <a:fillRect/>
          </a:stretch>
        </p:blipFill>
        <p:spPr>
          <a:xfrm>
            <a:off x="1467221" y="2250317"/>
            <a:ext cx="5295158" cy="2653868"/>
          </a:xfrm>
          <a:prstGeom prst="rect">
            <a:avLst/>
          </a:prstGeom>
        </p:spPr>
      </p:pic>
    </p:spTree>
    <p:extLst>
      <p:ext uri="{BB962C8B-B14F-4D97-AF65-F5344CB8AC3E}">
        <p14:creationId xmlns:p14="http://schemas.microsoft.com/office/powerpoint/2010/main" val="27484319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Polygon Geocoding</a:t>
            </a:r>
            <a:endParaRPr lang="en-US" sz="2600" i="1" dirty="0">
              <a:solidFill>
                <a:srgbClr val="7030A0"/>
              </a:solidFill>
            </a:endParaRPr>
          </a:p>
        </p:txBody>
      </p:sp>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27</a:t>
            </a:fld>
            <a:endParaRPr lang="en-US"/>
          </a:p>
        </p:txBody>
      </p:sp>
      <p:sp>
        <p:nvSpPr>
          <p:cNvPr id="2" name="Content Placeholder 2">
            <a:extLst>
              <a:ext uri="{FF2B5EF4-FFF2-40B4-BE49-F238E27FC236}">
                <a16:creationId xmlns:a16="http://schemas.microsoft.com/office/drawing/2014/main" id="{8200332D-956E-E3B7-1A3B-2C9BA6000261}"/>
              </a:ext>
            </a:extLst>
          </p:cNvPr>
          <p:cNvSpPr>
            <a:spLocks noGrp="1"/>
          </p:cNvSpPr>
          <p:nvPr>
            <p:ph idx="1"/>
          </p:nvPr>
        </p:nvSpPr>
        <p:spPr>
          <a:xfrm>
            <a:off x="152400" y="1092233"/>
            <a:ext cx="7446135" cy="4008183"/>
          </a:xfrm>
        </p:spPr>
        <p:txBody>
          <a:bodyPr>
            <a:normAutofit/>
          </a:bodyPr>
          <a:lstStyle/>
          <a:p>
            <a:pPr fontAlgn="auto">
              <a:spcAft>
                <a:spcPts val="0"/>
              </a:spcAft>
              <a:buFont typeface="Courier New" panose="02070309020205020404" pitchFamily="49" charset="0"/>
              <a:buChar char="o"/>
              <a:defRPr/>
            </a:pPr>
            <a:r>
              <a:rPr lang="en-US" dirty="0"/>
              <a:t>Points created at zip code </a:t>
            </a:r>
            <a:r>
              <a:rPr lang="en-US" dirty="0" err="1"/>
              <a:t>controids</a:t>
            </a:r>
            <a:endParaRPr lang="en-US" dirty="0"/>
          </a:p>
          <a:p>
            <a:pPr fontAlgn="auto">
              <a:spcAft>
                <a:spcPts val="0"/>
              </a:spcAft>
              <a:buFont typeface="Courier New" panose="02070309020205020404" pitchFamily="49" charset="0"/>
              <a:buChar char="o"/>
              <a:defRPr/>
            </a:pPr>
            <a:endParaRPr lang="en-US" dirty="0"/>
          </a:p>
          <a:p>
            <a:pPr marL="308610" lvl="1" indent="-308610">
              <a:buFont typeface="Courier New" panose="02070309020205020404" pitchFamily="49" charset="0"/>
              <a:buChar char="o"/>
              <a:defRPr/>
            </a:pPr>
            <a:endParaRPr lang="en-US" sz="2900" dirty="0"/>
          </a:p>
        </p:txBody>
      </p:sp>
      <p:pic>
        <p:nvPicPr>
          <p:cNvPr id="4" name="Picture 3" descr="polygon geocoding">
            <a:extLst>
              <a:ext uri="{FF2B5EF4-FFF2-40B4-BE49-F238E27FC236}">
                <a16:creationId xmlns:a16="http://schemas.microsoft.com/office/drawing/2014/main" id="{B0339507-E0AA-FFB9-CB81-F3AC42FEAC60}"/>
              </a:ext>
            </a:extLst>
          </p:cNvPr>
          <p:cNvPicPr>
            <a:picLocks noChangeAspect="1"/>
          </p:cNvPicPr>
          <p:nvPr/>
        </p:nvPicPr>
        <p:blipFill>
          <a:blip r:embed="rId3"/>
          <a:stretch>
            <a:fillRect/>
          </a:stretch>
        </p:blipFill>
        <p:spPr>
          <a:xfrm>
            <a:off x="1552217" y="1908644"/>
            <a:ext cx="5125165" cy="2562583"/>
          </a:xfrm>
          <a:prstGeom prst="rect">
            <a:avLst/>
          </a:prstGeom>
        </p:spPr>
      </p:pic>
    </p:spTree>
    <p:extLst>
      <p:ext uri="{BB962C8B-B14F-4D97-AF65-F5344CB8AC3E}">
        <p14:creationId xmlns:p14="http://schemas.microsoft.com/office/powerpoint/2010/main" val="25725974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471305" y="1325254"/>
            <a:ext cx="3286989" cy="830997"/>
          </a:xfrm>
          <a:prstGeom prst="rect">
            <a:avLst/>
          </a:prstGeom>
          <a:noFill/>
        </p:spPr>
        <p:txBody>
          <a:bodyPr wrap="none" lIns="82296" tIns="41148" rIns="82296" bIns="41148">
            <a:spAutoFit/>
          </a:bodyPr>
          <a:lstStyle/>
          <a:p>
            <a:pPr algn="ctr"/>
            <a:r>
              <a:rPr lang="en-US" sz="4860" b="1" spc="180" dirty="0">
                <a:ln w="29210">
                  <a:solidFill>
                    <a:schemeClr val="accent3">
                      <a:tint val="10000"/>
                    </a:schemeClr>
                  </a:solidFill>
                </a:ln>
                <a:solidFill>
                  <a:srgbClr val="008000">
                    <a:alpha val="50000"/>
                  </a:srgbClr>
                </a:solidFill>
                <a:effectLst>
                  <a:innerShdw blurRad="50800" dist="50800" dir="8100000">
                    <a:srgbClr val="7D7D7D">
                      <a:alpha val="73000"/>
                    </a:srgbClr>
                  </a:innerShdw>
                </a:effectLst>
              </a:rPr>
              <a:t>Thank you!</a:t>
            </a:r>
          </a:p>
        </p:txBody>
      </p:sp>
      <p:sp>
        <p:nvSpPr>
          <p:cNvPr id="3" name="Slide Number Placeholder 2">
            <a:extLst>
              <a:ext uri="{FF2B5EF4-FFF2-40B4-BE49-F238E27FC236}">
                <a16:creationId xmlns:a16="http://schemas.microsoft.com/office/drawing/2014/main" id="{863C9EAE-E5B7-4784-94CD-D062E17813E3}"/>
              </a:ext>
            </a:extLst>
          </p:cNvPr>
          <p:cNvSpPr>
            <a:spLocks noGrp="1"/>
          </p:cNvSpPr>
          <p:nvPr>
            <p:ph type="sldNum" sz="quarter" idx="12"/>
          </p:nvPr>
        </p:nvSpPr>
        <p:spPr/>
        <p:txBody>
          <a:bodyPr/>
          <a:lstStyle/>
          <a:p>
            <a:fld id="{127DDC20-79C9-9647-820E-6D40A3D210C3}" type="slidenum">
              <a:rPr lang="en-US" smtClean="0"/>
              <a:pPr/>
              <a:t>28</a:t>
            </a:fld>
            <a:endParaRPr lang="en-US"/>
          </a:p>
        </p:txBody>
      </p:sp>
      <p:pic>
        <p:nvPicPr>
          <p:cNvPr id="6" name="Picture 5">
            <a:extLst>
              <a:ext uri="{FF2B5EF4-FFF2-40B4-BE49-F238E27FC236}">
                <a16:creationId xmlns:a16="http://schemas.microsoft.com/office/drawing/2014/main" id="{32DE135F-68C6-4911-85BA-92ABB3F9F85C}"/>
              </a:ext>
            </a:extLst>
          </p:cNvPr>
          <p:cNvPicPr/>
          <p:nvPr/>
        </p:nvPicPr>
        <p:blipFill>
          <a:blip r:embed="rId3"/>
          <a:stretch>
            <a:fillRect/>
          </a:stretch>
        </p:blipFill>
        <p:spPr>
          <a:xfrm>
            <a:off x="152400" y="4275667"/>
            <a:ext cx="5915025" cy="758190"/>
          </a:xfrm>
          <a:prstGeom prst="rect">
            <a:avLst/>
          </a:prstGeom>
        </p:spPr>
      </p:pic>
      <p:cxnSp>
        <p:nvCxnSpPr>
          <p:cNvPr id="7" name="Straight Connector 6">
            <a:extLst>
              <a:ext uri="{FF2B5EF4-FFF2-40B4-BE49-F238E27FC236}">
                <a16:creationId xmlns:a16="http://schemas.microsoft.com/office/drawing/2014/main" id="{5ADF13BC-3A5F-4415-94E6-85FAF42998C9}"/>
              </a:ext>
            </a:extLst>
          </p:cNvPr>
          <p:cNvCxnSpPr/>
          <p:nvPr/>
        </p:nvCxnSpPr>
        <p:spPr>
          <a:xfrm>
            <a:off x="152400" y="4182575"/>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352230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10968</TotalTime>
  <Words>1050</Words>
  <Application>Microsoft Office PowerPoint</Application>
  <PresentationFormat>Custom</PresentationFormat>
  <Paragraphs>182</Paragraphs>
  <Slides>28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Courier New</vt:lpstr>
      <vt:lpstr>Wingdings</vt:lpstr>
      <vt:lpstr>Office Theme</vt:lpstr>
      <vt:lpstr>GEOG 2475: Geographic Information Systems 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Yaqian He</cp:lastModifiedBy>
  <cp:revision>597</cp:revision>
  <cp:lastPrinted>2020-03-26T12:59:04Z</cp:lastPrinted>
  <dcterms:created xsi:type="dcterms:W3CDTF">2020-03-24T14:51:54Z</dcterms:created>
  <dcterms:modified xsi:type="dcterms:W3CDTF">2022-11-15T14:43:19Z</dcterms:modified>
</cp:coreProperties>
</file>