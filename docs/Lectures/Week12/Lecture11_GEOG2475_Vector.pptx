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1" r:id="rId6"/>
    <p:sldMasterId id="2147483734" r:id="rId7"/>
    <p:sldMasterId id="2147483746" r:id="rId8"/>
  </p:sldMasterIdLst>
  <p:notesMasterIdLst>
    <p:notesMasterId r:id="rId63"/>
  </p:notesMasterIdLst>
  <p:sldIdLst>
    <p:sldId id="914" r:id="rId9"/>
    <p:sldId id="1647" r:id="rId10"/>
    <p:sldId id="665" r:id="rId11"/>
    <p:sldId id="296" r:id="rId12"/>
    <p:sldId id="313" r:id="rId13"/>
    <p:sldId id="282" r:id="rId14"/>
    <p:sldId id="391" r:id="rId15"/>
    <p:sldId id="667" r:id="rId16"/>
    <p:sldId id="668" r:id="rId17"/>
    <p:sldId id="669" r:id="rId18"/>
    <p:sldId id="283" r:id="rId19"/>
    <p:sldId id="670" r:id="rId20"/>
    <p:sldId id="345" r:id="rId21"/>
    <p:sldId id="1650" r:id="rId22"/>
    <p:sldId id="1648" r:id="rId23"/>
    <p:sldId id="1649" r:id="rId24"/>
    <p:sldId id="1651" r:id="rId25"/>
    <p:sldId id="1652" r:id="rId26"/>
    <p:sldId id="1653" r:id="rId27"/>
    <p:sldId id="1654" r:id="rId28"/>
    <p:sldId id="1655" r:id="rId29"/>
    <p:sldId id="1656" r:id="rId30"/>
    <p:sldId id="346" r:id="rId31"/>
    <p:sldId id="347" r:id="rId32"/>
    <p:sldId id="1657" r:id="rId33"/>
    <p:sldId id="302" r:id="rId34"/>
    <p:sldId id="367" r:id="rId35"/>
    <p:sldId id="368" r:id="rId36"/>
    <p:sldId id="369" r:id="rId37"/>
    <p:sldId id="671" r:id="rId38"/>
    <p:sldId id="285" r:id="rId39"/>
    <p:sldId id="370" r:id="rId40"/>
    <p:sldId id="672" r:id="rId41"/>
    <p:sldId id="303" r:id="rId42"/>
    <p:sldId id="371" r:id="rId43"/>
    <p:sldId id="372" r:id="rId44"/>
    <p:sldId id="373" r:id="rId45"/>
    <p:sldId id="673" r:id="rId46"/>
    <p:sldId id="675" r:id="rId47"/>
    <p:sldId id="351" r:id="rId48"/>
    <p:sldId id="304" r:id="rId49"/>
    <p:sldId id="674" r:id="rId50"/>
    <p:sldId id="305" r:id="rId51"/>
    <p:sldId id="387" r:id="rId52"/>
    <p:sldId id="353" r:id="rId53"/>
    <p:sldId id="348" r:id="rId54"/>
    <p:sldId id="349" r:id="rId55"/>
    <p:sldId id="376" r:id="rId56"/>
    <p:sldId id="388" r:id="rId57"/>
    <p:sldId id="377" r:id="rId58"/>
    <p:sldId id="378" r:id="rId59"/>
    <p:sldId id="315" r:id="rId60"/>
    <p:sldId id="290" r:id="rId61"/>
    <p:sldId id="270" r:id="rId62"/>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81818" autoAdjust="0"/>
  </p:normalViewPr>
  <p:slideViewPr>
    <p:cSldViewPr snapToGrid="0" snapToObjects="1">
      <p:cViewPr varScale="1">
        <p:scale>
          <a:sx n="119" d="100"/>
          <a:sy n="119" d="100"/>
        </p:scale>
        <p:origin x="1722" y="10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11/3/2025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Analyst Toolbox provides access to a wide variety of vector analysis tools. This toolbox is embedded into ArcGIS Pro and does not require an additional license. </a:t>
            </a:r>
          </a:p>
          <a:p>
            <a:endParaRPr lang="en-US" baseline="0" dirty="0"/>
          </a:p>
          <a:p>
            <a:r>
              <a:rPr lang="en-US" baseline="0" dirty="0"/>
              <a:t>In contrast, the Spatial Analyst Toolbox is used primarily for raster-based analysis and does require an additional license.</a:t>
            </a:r>
          </a:p>
          <a:p>
            <a:endParaRPr lang="en-US" baseline="0" dirty="0"/>
          </a:p>
          <a:p>
            <a:r>
              <a:rPr lang="en-US" baseline="0" dirty="0"/>
              <a:t>In this lecture, we will discuss many of the tools available in the Analyst Toolbox. However, we will not limit our discussion to these tools. Many other toolboxes provide access to tools that are of value when working with vector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4086291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visualizing data or making map layouts, it is not always </a:t>
            </a:r>
            <a:r>
              <a:rPr lang="en-US" baseline="0" dirty="0"/>
              <a:t>necessary to have all data layers in the same projection since ArcGIS Pro is capable of on-the-fly projection. </a:t>
            </a:r>
          </a:p>
          <a:p>
            <a:endParaRPr lang="en-US" baseline="0" dirty="0"/>
          </a:p>
          <a:p>
            <a:r>
              <a:rPr lang="en-US" baseline="0" dirty="0"/>
              <a:t>However, if your goal is to perform spatial analysis with the data layers, I would recommend using the same projection for all layers. This may require </a:t>
            </a:r>
            <a:r>
              <a:rPr lang="en-US" baseline="0" dirty="0" err="1"/>
              <a:t>reprojection</a:t>
            </a:r>
            <a:r>
              <a:rPr lang="en-US" baseline="0" dirty="0"/>
              <a:t>. </a:t>
            </a:r>
          </a:p>
          <a:p>
            <a:endParaRPr lang="en-US" baseline="0" dirty="0"/>
          </a:p>
          <a:p>
            <a:r>
              <a:rPr lang="en-US" baseline="0" dirty="0"/>
              <a:t>Again, this is best practice when performing spatial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225478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Dissolve</a:t>
            </a:r>
            <a:r>
              <a:rPr lang="en-US" baseline="0" dirty="0"/>
              <a:t> is one of the most common tools that I use. </a:t>
            </a:r>
          </a:p>
          <a:p>
            <a:endParaRPr lang="en-US" baseline="0" dirty="0"/>
          </a:p>
          <a:p>
            <a:r>
              <a:rPr lang="en-US" baseline="0" dirty="0"/>
              <a:t>This tool is specifically used for boundary generalization. Detailed boundaries can be combined to less detailed boundaries. </a:t>
            </a:r>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716869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obtain this result, all</a:t>
            </a:r>
            <a:r>
              <a:rPr lang="en-US" baseline="0" dirty="0"/>
              <a:t> counties that shared the same state attribute were dissolved to one feature. Or, counties were dissolved to states. </a:t>
            </a:r>
          </a:p>
          <a:p>
            <a:endParaRPr lang="en-US" baseline="0" dirty="0"/>
          </a:p>
          <a:p>
            <a:r>
              <a:rPr lang="en-US" baseline="0" dirty="0"/>
              <a:t>If an attribute column is not defined on which to group the features, then all features will be dissolved to a single feature. In this case, the result would have been the country boundary as opposed to state boundaries.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495875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3141839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3124460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124341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Buffer is a form of</a:t>
            </a:r>
            <a:r>
              <a:rPr lang="en-US" baseline="0" dirty="0"/>
              <a:t> proximity analysis. The goal is to find all the land area that is within a defined distance of an input feature. </a:t>
            </a:r>
          </a:p>
          <a:p>
            <a:endParaRPr lang="en-US" baseline="0" dirty="0"/>
          </a:p>
          <a:p>
            <a:r>
              <a:rPr lang="en-US" baseline="0" dirty="0"/>
              <a:t>If you buffer a point, the result will be a circular polygon. If you buffer a line, the result will be a polygon, and if you buffer a polygon the result will be a polygon. </a:t>
            </a:r>
          </a:p>
          <a:p>
            <a:endParaRPr lang="en-US" baseline="0" dirty="0"/>
          </a:p>
          <a:p>
            <a:r>
              <a:rPr lang="en-US" baseline="0" dirty="0"/>
              <a:t>So, the result of buffer is always a polygon or area. </a:t>
            </a:r>
          </a:p>
          <a:p>
            <a:endParaRPr lang="en-US" baseline="0" dirty="0"/>
          </a:p>
          <a:p>
            <a:r>
              <a:rPr lang="en-US" baseline="0" dirty="0"/>
              <a:t>All of the area within the polygon will be within the defined distance or proximity to the input feature.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1848908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679564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 to create multiple</a:t>
            </a:r>
            <a:r>
              <a:rPr lang="en-US" baseline="0" dirty="0"/>
              <a:t> ring buffers. In this case, multiple distance will be defined and buffers will be produced for each of these distances.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67543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 is used to relate features</a:t>
            </a:r>
            <a:r>
              <a:rPr lang="en-US" baseline="0" dirty="0"/>
              <a:t> in the input layer with the nearest feature in the near layer. </a:t>
            </a:r>
          </a:p>
          <a:p>
            <a:endParaRPr lang="en-US" baseline="0" dirty="0"/>
          </a:p>
          <a:p>
            <a:r>
              <a:rPr lang="en-US" baseline="0" dirty="0"/>
              <a:t>It calculates the distance and additional proximity measures between the input features and the closest feature in another layer or feature class.</a:t>
            </a:r>
          </a:p>
          <a:p>
            <a:endParaRPr lang="en-US" baseline="0" dirty="0"/>
          </a:p>
          <a:p>
            <a:r>
              <a:rPr lang="en-US" baseline="0" dirty="0"/>
              <a:t>In the provided example, the input layer contains points representing towns. New attributes will be calculated for each town relating to the nearest hospital, including the distance to the nearest hospital, x- and y-coordinates of the nearest hospital, and the angle or compass bearing to the nearest hospital.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1153859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Thiessen (</a:t>
            </a:r>
            <a:r>
              <a:rPr lang="en-US" dirty="0" err="1"/>
              <a:t>Voronoi</a:t>
            </a:r>
            <a:r>
              <a:rPr lang="en-US" dirty="0"/>
              <a:t>) Polygons represent</a:t>
            </a:r>
            <a:r>
              <a:rPr lang="en-US" baseline="0" dirty="0"/>
              <a:t> the area that is closer to one point than any other points in a dataset. </a:t>
            </a:r>
          </a:p>
          <a:p>
            <a:endParaRPr lang="en-US" baseline="0" dirty="0"/>
          </a:p>
          <a:p>
            <a:r>
              <a:rPr lang="en-US" baseline="0" dirty="0"/>
              <a:t>The polygon can be attributed with the attributes of the input point layer. </a:t>
            </a:r>
          </a:p>
          <a:p>
            <a:endParaRPr lang="en-US" baseline="0" dirty="0"/>
          </a:p>
          <a:p>
            <a:r>
              <a:rPr lang="en-US" baseline="0" dirty="0"/>
              <a:t>This method is a simple spatial interpolation method. It allow for a continuous surface of polygons to be generated from discrete point measurements. </a:t>
            </a:r>
          </a:p>
          <a:p>
            <a:endParaRPr lang="en-US" baseline="0" dirty="0"/>
          </a:p>
          <a:p>
            <a:r>
              <a:rPr lang="en-US" baseline="0" dirty="0"/>
              <a:t>In the examples provided, Thiessen polygons and point measurements in Ontario that represent weather stations are being used to estimate mean annual temperature for the entire province.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3225265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is probably</a:t>
            </a:r>
            <a:r>
              <a:rPr lang="en-US" baseline="0" dirty="0"/>
              <a:t> the vector analysis tool I use most often. </a:t>
            </a:r>
          </a:p>
          <a:p>
            <a:endParaRPr lang="en-US" baseline="0" dirty="0"/>
          </a:p>
          <a:p>
            <a:r>
              <a:rPr lang="en-US" baseline="0" dirty="0"/>
              <a:t>You can think of clip as a cookie cutter. Features or portions of features that wall within another feature will be extracted to a new file or layer. </a:t>
            </a:r>
          </a:p>
          <a:p>
            <a:endParaRPr lang="en-US" baseline="0" dirty="0"/>
          </a:p>
          <a:p>
            <a:r>
              <a:rPr lang="en-US" baseline="0" dirty="0"/>
              <a:t>In this example, the points within the circle are being clipped or extracted. The points are the input feature, or the features we are attempting to extract, and the circle is the clip feature, or the area being used to extract the points. It is the cookie cutter. </a:t>
            </a:r>
          </a:p>
          <a:p>
            <a:endParaRPr lang="en-US" baseline="0" dirty="0"/>
          </a:p>
          <a:p>
            <a:r>
              <a:rPr lang="en-US" baseline="0" dirty="0"/>
              <a:t>Input features can be points, lines, or polygons. However, the clip feature must be a polygon. When points are clipped, points that fall within the clip feature will be returned. When lines are clipped, the portion of the lines that fall within the clip feature will be returned. When a polygon is clipped, the portion of the polygon within the clip feature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490562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 example of performing a clip between two polygon features. In this example, the input feature is the triangle and the clip feature is the circle. </a:t>
            </a:r>
          </a:p>
          <a:p>
            <a:endParaRPr lang="en-US" baseline="0" dirty="0"/>
          </a:p>
          <a:p>
            <a:r>
              <a:rPr lang="en-US" baseline="0" dirty="0"/>
              <a:t>The result will be the portion of the triangle in the circle. Only the attributes for the triangle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3820230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 example of clipping a line feature. </a:t>
            </a:r>
          </a:p>
          <a:p>
            <a:endParaRPr lang="en-US" baseline="0" dirty="0"/>
          </a:p>
          <a:p>
            <a:r>
              <a:rPr lang="en-US" baseline="0" dirty="0"/>
              <a:t>In this example, the line is the input feature and the circle is the clip feature. </a:t>
            </a:r>
          </a:p>
          <a:p>
            <a:endParaRPr lang="en-US" baseline="0" dirty="0"/>
          </a:p>
          <a:p>
            <a:r>
              <a:rPr lang="en-US" baseline="0" dirty="0"/>
              <a:t>The portion of the line in the triangle will be returned. Only the line attributes will be included in the output.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9154466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a clip is performed, only the attributes from the input feature will be returned. The attributes from the clip feature will not be added to the output. </a:t>
            </a:r>
          </a:p>
          <a:p>
            <a:endParaRPr lang="en-US" baseline="0" dirty="0"/>
          </a:p>
          <a:p>
            <a:r>
              <a:rPr lang="en-US" baseline="0" dirty="0"/>
              <a:t>Only the geometry of the clip feature is used to perform the clip. The attributes are not used and will not be added to the output. </a:t>
            </a:r>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586753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a clip is performed, only the attributes from the input feature will be returned. The attributes from the clip feature will not be added to the output. </a:t>
            </a:r>
          </a:p>
          <a:p>
            <a:endParaRPr lang="en-US" baseline="0" dirty="0"/>
          </a:p>
          <a:p>
            <a:r>
              <a:rPr lang="en-US" baseline="0" dirty="0"/>
              <a:t>Only the geometry of the clip feature is used to perform the clip. The attributes are not used and will not be added to the output. </a:t>
            </a:r>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45802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Erase is the opposite</a:t>
            </a:r>
            <a:r>
              <a:rPr lang="en-US" baseline="0" dirty="0"/>
              <a:t> of clip. Instead of maintaining features within the erase feature, those features are removed. </a:t>
            </a:r>
          </a:p>
          <a:p>
            <a:endParaRPr lang="en-US" baseline="0" dirty="0"/>
          </a:p>
          <a:p>
            <a:r>
              <a:rPr lang="en-US" baseline="0" dirty="0"/>
              <a:t>In this example the input feature is the points and the erase feature is the circle. The points outside of the circle are returned. </a:t>
            </a:r>
          </a:p>
          <a:p>
            <a:endParaRPr lang="en-US" baseline="0" dirty="0"/>
          </a:p>
          <a:p>
            <a:r>
              <a:rPr lang="en-US" baseline="0" dirty="0"/>
              <a:t>Similar to clip, the erase feature attributes will not be added to the output. So in this example, only the point attributes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628612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performing</a:t>
            </a:r>
            <a:r>
              <a:rPr lang="en-US" baseline="0" dirty="0"/>
              <a:t> erase for two polygons. </a:t>
            </a:r>
          </a:p>
          <a:p>
            <a:endParaRPr lang="en-US" baseline="0" dirty="0"/>
          </a:p>
          <a:p>
            <a:r>
              <a:rPr lang="en-US" baseline="0" dirty="0"/>
              <a:t>The triangle is the input feature and the circle is the erase feature. </a:t>
            </a:r>
          </a:p>
          <a:p>
            <a:endParaRPr lang="en-US" baseline="0" dirty="0"/>
          </a:p>
          <a:p>
            <a:r>
              <a:rPr lang="en-US" baseline="0" dirty="0"/>
              <a:t>The portion of the triangle outside the circle is maintained. </a:t>
            </a:r>
          </a:p>
          <a:p>
            <a:endParaRPr lang="en-US" baseline="0" dirty="0"/>
          </a:p>
          <a:p>
            <a:r>
              <a:rPr lang="en-US" baseline="0" dirty="0"/>
              <a:t>Only the triangle attributes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0644119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2872395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Intersect can</a:t>
            </a:r>
            <a:r>
              <a:rPr lang="en-US" baseline="0" dirty="0"/>
              <a:t> be thought of as a spatial AND. </a:t>
            </a:r>
          </a:p>
          <a:p>
            <a:endParaRPr lang="en-US" baseline="0" dirty="0"/>
          </a:p>
          <a:p>
            <a:r>
              <a:rPr lang="en-US" baseline="0" dirty="0"/>
              <a:t>In this case, only the shared area between input features will be maintained. </a:t>
            </a:r>
          </a:p>
          <a:p>
            <a:endParaRPr lang="en-US" baseline="0" dirty="0"/>
          </a:p>
          <a:p>
            <a:r>
              <a:rPr lang="en-US" baseline="0" dirty="0"/>
              <a:t>So, geometrically, this is the same output as clip. </a:t>
            </a:r>
          </a:p>
          <a:p>
            <a:endParaRPr lang="en-US" baseline="0" dirty="0"/>
          </a:p>
          <a:p>
            <a:r>
              <a:rPr lang="en-US" baseline="0" dirty="0"/>
              <a:t>However, in this case the attributes from both inputs, in this case the triangle and circle, will be maintained. </a:t>
            </a:r>
          </a:p>
          <a:p>
            <a:endParaRPr lang="en-US" baseline="0" dirty="0"/>
          </a:p>
          <a:p>
            <a:r>
              <a:rPr lang="en-US" baseline="0" dirty="0"/>
              <a:t>The shared geometry is returned and the total set of attributes. </a:t>
            </a:r>
          </a:p>
          <a:p>
            <a:endParaRPr lang="en-US" baseline="0" dirty="0"/>
          </a:p>
          <a:p>
            <a:r>
              <a:rPr lang="en-US" baseline="0" dirty="0"/>
              <a:t>It is also possible to intersect more than two features. </a:t>
            </a:r>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3976593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another example of intersect</a:t>
            </a:r>
            <a:r>
              <a:rPr lang="en-US" baseline="0" dirty="0"/>
              <a:t> in which points are being intersected with a circle.</a:t>
            </a:r>
          </a:p>
          <a:p>
            <a:endParaRPr lang="en-US" baseline="0" dirty="0"/>
          </a:p>
          <a:p>
            <a:r>
              <a:rPr lang="en-US" baseline="0" dirty="0"/>
              <a:t>The output geometry will be the same as clip: the points within the circle. </a:t>
            </a:r>
          </a:p>
          <a:p>
            <a:endParaRPr lang="en-US" baseline="0" dirty="0"/>
          </a:p>
          <a:p>
            <a:r>
              <a:rPr lang="en-US" baseline="0" dirty="0"/>
              <a:t>However, now the points will have the attributes for the circle associated with them.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952972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this example, a line and circle are being intersected. </a:t>
            </a:r>
          </a:p>
          <a:p>
            <a:endParaRPr lang="en-US" baseline="0" dirty="0"/>
          </a:p>
          <a:p>
            <a:r>
              <a:rPr lang="en-US" baseline="0" dirty="0"/>
              <a:t>The output geometry is the same as that for clip: the portion of the line within the circle. </a:t>
            </a:r>
          </a:p>
          <a:p>
            <a:endParaRPr lang="en-US" baseline="0" dirty="0"/>
          </a:p>
          <a:p>
            <a:r>
              <a:rPr lang="en-US" baseline="0" dirty="0"/>
              <a:t>However, now the line and circle attributes will be returned as oppose to just the line attributes.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40511836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a union involving three input polygons. </a:t>
            </a:r>
          </a:p>
          <a:p>
            <a:endParaRPr lang="en-US" dirty="0"/>
          </a:p>
          <a:p>
            <a:r>
              <a:rPr lang="en-US" dirty="0"/>
              <a:t>The output will be the area shared by all three features</a:t>
            </a:r>
            <a:r>
              <a:rPr lang="en-US" baseline="0" dirty="0"/>
              <a:t> and all attributes will be returned.</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713283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this example, a line and circle are being intersected. </a:t>
            </a:r>
          </a:p>
          <a:p>
            <a:endParaRPr lang="en-US" baseline="0" dirty="0"/>
          </a:p>
          <a:p>
            <a:r>
              <a:rPr lang="en-US" baseline="0" dirty="0"/>
              <a:t>The output geometry is the same as that for clip: the portion of the line within the circle. </a:t>
            </a:r>
          </a:p>
          <a:p>
            <a:endParaRPr lang="en-US" baseline="0" dirty="0"/>
          </a:p>
          <a:p>
            <a:r>
              <a:rPr lang="en-US" baseline="0" dirty="0"/>
              <a:t>However, now the line and circle attributes will be returned as oppose to just the line attributes.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2404369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3859265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Symmetrical</a:t>
            </a:r>
            <a:r>
              <a:rPr lang="en-US" baseline="0" dirty="0"/>
              <a:t> difference is a spatial XOR. Only areas that occur in one feature but not the other will be returned. Areas that occur in both features will not be returned or will be removed.</a:t>
            </a:r>
          </a:p>
          <a:p>
            <a:endParaRPr lang="en-US" baseline="0" dirty="0"/>
          </a:p>
          <a:p>
            <a:r>
              <a:rPr lang="en-US" baseline="0" dirty="0"/>
              <a:t>In this example, the portion of the circle that is not within the triangle is returned along with the portion of the triangle not in the circle. </a:t>
            </a:r>
          </a:p>
          <a:p>
            <a:endParaRPr lang="en-US" baseline="0" dirty="0"/>
          </a:p>
          <a:p>
            <a:r>
              <a:rPr lang="en-US" baseline="0" dirty="0"/>
              <a:t>The shared area is not returned., and all attributes will be maintained.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13330832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Union is a spatial OR. </a:t>
            </a:r>
          </a:p>
          <a:p>
            <a:endParaRPr lang="en-US" dirty="0"/>
          </a:p>
          <a:p>
            <a:r>
              <a:rPr lang="en-US" dirty="0"/>
              <a:t>In</a:t>
            </a:r>
            <a:r>
              <a:rPr lang="en-US" baseline="0" dirty="0"/>
              <a:t> this case, all areas of all the features will be returned, but they will be sliced up along the intersecting boundaries. </a:t>
            </a:r>
          </a:p>
          <a:p>
            <a:endParaRPr lang="en-US" baseline="0" dirty="0"/>
          </a:p>
          <a:p>
            <a:r>
              <a:rPr lang="en-US" baseline="0" dirty="0"/>
              <a:t>In this example, a circle, rectangle, and triangle are inputs to union. The output is the full spatial extent of all three features, now sliced up along the intersections. </a:t>
            </a:r>
          </a:p>
          <a:p>
            <a:endParaRPr lang="en-US" baseline="0" dirty="0"/>
          </a:p>
          <a:p>
            <a:r>
              <a:rPr lang="en-US" baseline="0" dirty="0"/>
              <a:t>All attributes from all features will be returned. </a:t>
            </a:r>
          </a:p>
          <a:p>
            <a:endParaRPr lang="en-US" baseline="0" dirty="0"/>
          </a:p>
          <a:p>
            <a:r>
              <a:rPr lang="en-US" baseline="0" dirty="0"/>
              <a:t>Note that union is only performed for polygons. Lines and points cannot be inputs to union.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29520433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42</a:t>
            </a:fld>
            <a:endParaRPr lang="en-US"/>
          </a:p>
        </p:txBody>
      </p:sp>
    </p:spTree>
    <p:extLst>
      <p:ext uri="{BB962C8B-B14F-4D97-AF65-F5344CB8AC3E}">
        <p14:creationId xmlns:p14="http://schemas.microsoft.com/office/powerpoint/2010/main" val="32394840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is often</a:t>
            </a:r>
            <a:r>
              <a:rPr lang="en-US" baseline="0" dirty="0"/>
              <a:t> confused with union. However, in this case no spatial intersections are being performed. Instead. Features from multiple files are simply being combined to a single file.</a:t>
            </a:r>
          </a:p>
          <a:p>
            <a:endParaRPr lang="en-US" baseline="0" dirty="0"/>
          </a:p>
          <a:p>
            <a:r>
              <a:rPr lang="en-US" baseline="0" dirty="0"/>
              <a:t>This would be similar to copying all the text from one text document and all the text from a second text document into a combined new document. </a:t>
            </a:r>
          </a:p>
          <a:p>
            <a:endParaRPr lang="en-US" baseline="0" dirty="0"/>
          </a:p>
          <a:p>
            <a:r>
              <a:rPr lang="en-US" baseline="0" dirty="0"/>
              <a:t>A spatial example would be combining all the roads in Pennsylvania with all the roads in New York into a new file that contains all the roads. </a:t>
            </a:r>
          </a:p>
          <a:p>
            <a:endParaRPr lang="en-US" baseline="0" dirty="0"/>
          </a:p>
          <a:p>
            <a:r>
              <a:rPr lang="en-US" baseline="0" dirty="0"/>
              <a:t>Merge is more of a data management tool as opposed to an analysis tool.</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43</a:t>
            </a:fld>
            <a:endParaRPr lang="en-US"/>
          </a:p>
        </p:txBody>
      </p:sp>
    </p:spTree>
    <p:extLst>
      <p:ext uri="{BB962C8B-B14F-4D97-AF65-F5344CB8AC3E}">
        <p14:creationId xmlns:p14="http://schemas.microsoft.com/office/powerpoint/2010/main" val="41696126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 is very similar</a:t>
            </a:r>
            <a:r>
              <a:rPr lang="en-US" baseline="0" dirty="0"/>
              <a:t> to merge. However, instead of created a new file, features from one file are added to the features in an existing file.</a:t>
            </a:r>
          </a:p>
          <a:p>
            <a:endParaRPr lang="en-US" baseline="0" dirty="0"/>
          </a:p>
          <a:p>
            <a:r>
              <a:rPr lang="en-US" baseline="0" dirty="0"/>
              <a:t>This would be similar to copying the content from one text document into another document that already contains text.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44</a:t>
            </a:fld>
            <a:endParaRPr lang="en-US"/>
          </a:p>
        </p:txBody>
      </p:sp>
    </p:spTree>
    <p:extLst>
      <p:ext uri="{BB962C8B-B14F-4D97-AF65-F5344CB8AC3E}">
        <p14:creationId xmlns:p14="http://schemas.microsoft.com/office/powerpoint/2010/main" val="31842828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Within</a:t>
            </a:r>
            <a:r>
              <a:rPr lang="en-US" baseline="0" dirty="0"/>
              <a:t> is used to summarize vector data relative to polygons. </a:t>
            </a:r>
          </a:p>
          <a:p>
            <a:endParaRPr lang="en-US" baseline="0" dirty="0"/>
          </a:p>
          <a:p>
            <a:r>
              <a:rPr lang="en-US" baseline="0" dirty="0"/>
              <a:t>It can be used to calculated the number of points in polygons, the length of lines in polygons, or the area of polygons within another polygon.</a:t>
            </a:r>
          </a:p>
          <a:p>
            <a:endParaRPr lang="en-US" baseline="0" dirty="0"/>
          </a:p>
          <a:p>
            <a:r>
              <a:rPr lang="en-US" baseline="0" dirty="0"/>
              <a:t>You can also generate summary statistics for provide attributes. </a:t>
            </a:r>
          </a:p>
          <a:p>
            <a:endParaRPr lang="en-US" baseline="0" dirty="0"/>
          </a:p>
          <a:p>
            <a:r>
              <a:rPr lang="en-US" baseline="0" dirty="0"/>
              <a:t>Note that this tool is not used to summarize raster data relative to zones or polygons. We will discuss methods for summarizing raster grids in the raster analysis module.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45</a:t>
            </a:fld>
            <a:endParaRPr lang="en-US"/>
          </a:p>
        </p:txBody>
      </p:sp>
    </p:spTree>
    <p:extLst>
      <p:ext uri="{BB962C8B-B14F-4D97-AF65-F5344CB8AC3E}">
        <p14:creationId xmlns:p14="http://schemas.microsoft.com/office/powerpoint/2010/main" val="21760070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Generalization methods are generally used for cartographic design. You may want to smooth or generalize</a:t>
            </a:r>
            <a:r>
              <a:rPr lang="en-US" baseline="0" dirty="0"/>
              <a:t> features for cartographic generalization. </a:t>
            </a:r>
          </a:p>
          <a:p>
            <a:endParaRPr lang="en-US" baseline="0" dirty="0"/>
          </a:p>
          <a:p>
            <a:r>
              <a:rPr lang="en-US" baseline="0" dirty="0"/>
              <a:t>For line features, simplify is used to remove vertices while smooth is used to smooth curves in the lines. In the provided example, the yellow line represents a smoothed version of the red line, which may be deemed more appropriate for cartographic visualization.</a:t>
            </a:r>
          </a:p>
          <a:p>
            <a:endParaRPr lang="en-US" baseline="0" dirty="0"/>
          </a:p>
          <a:p>
            <a:r>
              <a:rPr lang="en-US" baseline="0" dirty="0"/>
              <a:t>In order to apply simplification or smoothing, an algorithm is used. You may have to experiment with the provided settings to obtain the desired result. This is often accomplished using trial-and-error.</a:t>
            </a:r>
          </a:p>
        </p:txBody>
      </p:sp>
      <p:sp>
        <p:nvSpPr>
          <p:cNvPr id="4" name="Slide Number Placeholder 3"/>
          <p:cNvSpPr>
            <a:spLocks noGrp="1"/>
          </p:cNvSpPr>
          <p:nvPr>
            <p:ph type="sldNum" sz="quarter" idx="10"/>
          </p:nvPr>
        </p:nvSpPr>
        <p:spPr/>
        <p:txBody>
          <a:bodyPr/>
          <a:lstStyle/>
          <a:p>
            <a:fld id="{01F2A70B-78F2-4DCF-B53B-C990D2FAFB8A}" type="slidenum">
              <a:rPr lang="en-US" smtClean="0"/>
              <a:t>46</a:t>
            </a:fld>
            <a:endParaRPr lang="en-US"/>
          </a:p>
        </p:txBody>
      </p:sp>
    </p:spTree>
    <p:extLst>
      <p:ext uri="{BB962C8B-B14F-4D97-AF65-F5344CB8AC3E}">
        <p14:creationId xmlns:p14="http://schemas.microsoft.com/office/powerpoint/2010/main" val="2120717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Polygons</a:t>
            </a:r>
            <a:r>
              <a:rPr lang="en-US" baseline="0" dirty="0"/>
              <a:t> can also be simplified or smooth to remove vertices or smooth curves, respectively. </a:t>
            </a:r>
          </a:p>
          <a:p>
            <a:endParaRPr lang="en-US" baseline="0" dirty="0"/>
          </a:p>
          <a:p>
            <a:r>
              <a:rPr lang="en-US" baseline="0" dirty="0"/>
              <a:t>It is also possible to aggregate smaller polygons into larger polygons for cartographic generalization. For example, polygons representing smaller neighborhoods could be aggregated into a larger polygons representing a generalization of the smaller neighborhood boundaries.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47</a:t>
            </a:fld>
            <a:endParaRPr lang="en-US"/>
          </a:p>
        </p:txBody>
      </p:sp>
    </p:spTree>
    <p:extLst>
      <p:ext uri="{BB962C8B-B14F-4D97-AF65-F5344CB8AC3E}">
        <p14:creationId xmlns:p14="http://schemas.microsoft.com/office/powerpoint/2010/main" val="4212571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can be aggregated</a:t>
            </a:r>
            <a:r>
              <a:rPr lang="en-US" baseline="0" dirty="0"/>
              <a:t> into polygons. </a:t>
            </a:r>
          </a:p>
          <a:p>
            <a:endParaRPr lang="en-US" baseline="0" dirty="0"/>
          </a:p>
          <a:p>
            <a:r>
              <a:rPr lang="en-US" baseline="0" dirty="0"/>
              <a:t>Based on an algorithm and specified settings, near points will be used to define a new polygon extent.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48</a:t>
            </a:fld>
            <a:endParaRPr lang="en-US"/>
          </a:p>
        </p:txBody>
      </p:sp>
    </p:spTree>
    <p:extLst>
      <p:ext uri="{BB962C8B-B14F-4D97-AF65-F5344CB8AC3E}">
        <p14:creationId xmlns:p14="http://schemas.microsoft.com/office/powerpoint/2010/main" val="25358915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to point</a:t>
            </a:r>
            <a:r>
              <a:rPr lang="en-US" baseline="0" dirty="0"/>
              <a:t> will generate a point for each input feature. </a:t>
            </a:r>
          </a:p>
          <a:p>
            <a:endParaRPr lang="en-US" baseline="0" dirty="0"/>
          </a:p>
          <a:p>
            <a:r>
              <a:rPr lang="en-US" baseline="0" dirty="0"/>
              <a:t>The input can be multipoint, line, or polygon features. The output will always be points. </a:t>
            </a:r>
          </a:p>
          <a:p>
            <a:endParaRPr lang="en-US" baseline="0" dirty="0"/>
          </a:p>
          <a:p>
            <a:r>
              <a:rPr lang="en-US" baseline="0" dirty="0"/>
              <a:t>This slide provides explanations as to how points are generated for different input features. </a:t>
            </a:r>
          </a:p>
        </p:txBody>
      </p:sp>
      <p:sp>
        <p:nvSpPr>
          <p:cNvPr id="4" name="Slide Number Placeholder 3"/>
          <p:cNvSpPr>
            <a:spLocks noGrp="1"/>
          </p:cNvSpPr>
          <p:nvPr>
            <p:ph type="sldNum" sz="quarter" idx="10"/>
          </p:nvPr>
        </p:nvSpPr>
        <p:spPr/>
        <p:txBody>
          <a:bodyPr/>
          <a:lstStyle/>
          <a:p>
            <a:fld id="{01F2A70B-78F2-4DCF-B53B-C990D2FAFB8A}" type="slidenum">
              <a:rPr lang="en-US" smtClean="0"/>
              <a:t>49</a:t>
            </a:fld>
            <a:endParaRPr lang="en-US"/>
          </a:p>
        </p:txBody>
      </p:sp>
    </p:spTree>
    <p:extLst>
      <p:ext uri="{BB962C8B-B14F-4D97-AF65-F5344CB8AC3E}">
        <p14:creationId xmlns:p14="http://schemas.microsoft.com/office/powerpoint/2010/main" val="4111457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a:t>
            </a:r>
            <a:r>
              <a:rPr lang="en-US" baseline="0" dirty="0"/>
              <a:t> bounding polygons represent a specified minimal bounding geometry that encloses an input feature or group of input features. </a:t>
            </a:r>
          </a:p>
          <a:p>
            <a:endParaRPr lang="en-US" baseline="0" dirty="0"/>
          </a:p>
          <a:p>
            <a:r>
              <a:rPr lang="en-US" baseline="0" dirty="0"/>
              <a:t>A convex hull represents the area that encompasses a set of input features without any concave angles or sides. This can be conceptualized as stretching a rubber band between the outlying features or points.</a:t>
            </a:r>
          </a:p>
          <a:p>
            <a:endParaRPr lang="en-US" baseline="0" dirty="0"/>
          </a:p>
          <a:p>
            <a:r>
              <a:rPr lang="en-US" baseline="0" dirty="0"/>
              <a:t>A minimal bounding rectangle can be defined based on minimal area or minimal width. If area is used, then the rectangle with the smallest area that completely encompasses the input feature or features will be returned. Using width, the rectangle with the smallest width will be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50</a:t>
            </a:fld>
            <a:endParaRPr lang="en-US"/>
          </a:p>
        </p:txBody>
      </p:sp>
    </p:spTree>
    <p:extLst>
      <p:ext uri="{BB962C8B-B14F-4D97-AF65-F5344CB8AC3E}">
        <p14:creationId xmlns:p14="http://schemas.microsoft.com/office/powerpoint/2010/main" val="41018214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minimal bounding envelope is often confused with the minimal bounding rectangle. The minimal bounding envelop is different from the minimal bounding rectangle because the sides of the rectangle must occur along the cardinal directions (north-south and east-west). It cannot be rotated relative to these directions. </a:t>
            </a:r>
          </a:p>
          <a:p>
            <a:endParaRPr lang="en-US" baseline="0" dirty="0"/>
          </a:p>
          <a:p>
            <a:r>
              <a:rPr lang="en-US" baseline="0" dirty="0"/>
              <a:t>The minimal bounding circle represents the smallest circle, based or radius, that encompasses the input feature or features.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51</a:t>
            </a:fld>
            <a:endParaRPr lang="en-US"/>
          </a:p>
        </p:txBody>
      </p:sp>
    </p:spTree>
    <p:extLst>
      <p:ext uri="{BB962C8B-B14F-4D97-AF65-F5344CB8AC3E}">
        <p14:creationId xmlns:p14="http://schemas.microsoft.com/office/powerpoint/2010/main" val="28933354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Slivers represent</a:t>
            </a:r>
            <a:r>
              <a:rPr lang="en-US" baseline="0" dirty="0"/>
              <a:t> noise in vector overlay processes. They represent areas of non-overlap between features that could represent real patterns or result from digitizing errors or scale difference in the input data. </a:t>
            </a:r>
          </a:p>
          <a:p>
            <a:endParaRPr lang="en-US" baseline="0" dirty="0"/>
          </a:p>
          <a:p>
            <a:r>
              <a:rPr lang="en-US" baseline="0" dirty="0"/>
              <a:t>When you perform analyses that combine vector extents, such as union, slivers are often generated. </a:t>
            </a:r>
          </a:p>
          <a:p>
            <a:endParaRPr lang="en-US" baseline="0" dirty="0"/>
          </a:p>
          <a:p>
            <a:r>
              <a:rPr lang="en-US" baseline="0" dirty="0"/>
              <a:t>For example, if you perform a union of a state boundary generated a 1:100,000 scale with the same state boundary generated at 1:24,000 scale, the extents will likely not be the same, as the 1:100,000 scale boundary will be more generalized. </a:t>
            </a:r>
          </a:p>
          <a:p>
            <a:endParaRPr lang="en-US" baseline="0" dirty="0"/>
          </a:p>
          <a:p>
            <a:r>
              <a:rPr lang="en-US" baseline="0" dirty="0"/>
              <a:t>So, the result from the union operation will contain areas that (1) occur in both features, (2) occur in the 1:100,000 scale feature but not the 1:24,000 scale feature, and (3) occur in the 1:24,000 scale feature but not the 1:100,000 scale feature.</a:t>
            </a:r>
          </a:p>
          <a:p>
            <a:endParaRPr lang="en-US" baseline="0" dirty="0"/>
          </a:p>
          <a:p>
            <a:r>
              <a:rPr lang="en-US" baseline="0" dirty="0"/>
              <a:t>Method are available to deal with this issue. You could choose to simply ignore the issue or include the slivers in the analysis. As another option, you could remove areas that are smaller than a defined size, potentially based on a minimal mapping unit. Or, you could merge features that are smaller than a certain size with adjacent larger features. </a:t>
            </a:r>
          </a:p>
        </p:txBody>
      </p:sp>
      <p:sp>
        <p:nvSpPr>
          <p:cNvPr id="4" name="Slide Number Placeholder 3"/>
          <p:cNvSpPr>
            <a:spLocks noGrp="1"/>
          </p:cNvSpPr>
          <p:nvPr>
            <p:ph type="sldNum" sz="quarter" idx="10"/>
          </p:nvPr>
        </p:nvSpPr>
        <p:spPr/>
        <p:txBody>
          <a:bodyPr/>
          <a:lstStyle/>
          <a:p>
            <a:fld id="{01F2A70B-78F2-4DCF-B53B-C990D2FAFB8A}" type="slidenum">
              <a:rPr lang="en-US" smtClean="0"/>
              <a:t>52</a:t>
            </a:fld>
            <a:endParaRPr lang="en-US"/>
          </a:p>
        </p:txBody>
      </p:sp>
    </p:spTree>
    <p:extLst>
      <p:ext uri="{BB962C8B-B14F-4D97-AF65-F5344CB8AC3E}">
        <p14:creationId xmlns:p14="http://schemas.microsoft.com/office/powerpoint/2010/main" val="3254884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an important consideration. </a:t>
            </a:r>
          </a:p>
          <a:p>
            <a:endParaRPr lang="en-US" baseline="0" dirty="0"/>
          </a:p>
          <a:p>
            <a:r>
              <a:rPr lang="en-US" baseline="0" dirty="0"/>
              <a:t>Fields in attribute tables that contain geometric measures, such as length, area, or perimeter, are not automatically updated following </a:t>
            </a:r>
            <a:r>
              <a:rPr lang="en-US" baseline="0" dirty="0" err="1"/>
              <a:t>geoprocessing</a:t>
            </a:r>
            <a:r>
              <a:rPr lang="en-US" baseline="0" dirty="0"/>
              <a:t> operations. </a:t>
            </a:r>
          </a:p>
          <a:p>
            <a:endParaRPr lang="en-US" baseline="0" dirty="0"/>
          </a:p>
          <a:p>
            <a:r>
              <a:rPr lang="en-US" baseline="0" dirty="0"/>
              <a:t>For example, if Interstate 68 was clipped using the West Virginia boundary so that only the portion of the interstate within West Virginia was returned, length fields in the attribute table would not be automatically updated. </a:t>
            </a:r>
          </a:p>
          <a:p>
            <a:endParaRPr lang="en-US" baseline="0" dirty="0"/>
          </a:p>
          <a:p>
            <a:r>
              <a:rPr lang="en-US" baseline="0" dirty="0"/>
              <a:t>So, they would be wrong. </a:t>
            </a:r>
          </a:p>
          <a:p>
            <a:endParaRPr lang="en-US" baseline="0" dirty="0"/>
          </a:p>
          <a:p>
            <a:r>
              <a:rPr lang="en-US" baseline="0" dirty="0"/>
              <a:t>For this reason, my general rule is to not trust geometric measures in attribute tables. If you need these measures to complete your analysis, they should be recalculated to make sure they are correct.</a:t>
            </a:r>
          </a:p>
          <a:p>
            <a:endParaRPr lang="en-US" baseline="0" dirty="0"/>
          </a:p>
          <a:p>
            <a:r>
              <a:rPr lang="en-US" baseline="0" dirty="0"/>
              <a:t>One exception to this issue are fields that are automatically generated for feature classes in geodatabases when a new feature class is created, such as </a:t>
            </a:r>
            <a:r>
              <a:rPr lang="en-US" baseline="0" dirty="0" err="1"/>
              <a:t>Shape_Length</a:t>
            </a:r>
            <a:r>
              <a:rPr lang="en-US" baseline="0" dirty="0"/>
              <a:t> or </a:t>
            </a:r>
            <a:r>
              <a:rPr lang="en-US" baseline="0" dirty="0" err="1"/>
              <a:t>Shape_Area</a:t>
            </a:r>
            <a:r>
              <a:rPr lang="en-US" baseline="0" dirty="0"/>
              <a:t>. </a:t>
            </a:r>
          </a:p>
          <a:p>
            <a:endParaRPr lang="en-US" baseline="0" dirty="0"/>
          </a:p>
          <a:p>
            <a:r>
              <a:rPr lang="en-US" baseline="0" dirty="0"/>
              <a:t>In summary, make sure that geometric fields are correct before using the information provided. It is very simple to perform these calculations, so there is no excuse for not making sure the numbers are correct. </a:t>
            </a:r>
          </a:p>
        </p:txBody>
      </p:sp>
      <p:sp>
        <p:nvSpPr>
          <p:cNvPr id="4" name="Slide Number Placeholder 3"/>
          <p:cNvSpPr>
            <a:spLocks noGrp="1"/>
          </p:cNvSpPr>
          <p:nvPr>
            <p:ph type="sldNum" sz="quarter" idx="10"/>
          </p:nvPr>
        </p:nvSpPr>
        <p:spPr/>
        <p:txBody>
          <a:bodyPr/>
          <a:lstStyle/>
          <a:p>
            <a:fld id="{01F2A70B-78F2-4DCF-B53B-C990D2FAFB8A}" type="slidenum">
              <a:rPr lang="en-US" smtClean="0"/>
              <a:t>53</a:t>
            </a:fld>
            <a:endParaRPr lang="en-US"/>
          </a:p>
        </p:txBody>
      </p:sp>
    </p:spTree>
    <p:extLst>
      <p:ext uri="{BB962C8B-B14F-4D97-AF65-F5344CB8AC3E}">
        <p14:creationId xmlns:p14="http://schemas.microsoft.com/office/powerpoint/2010/main" val="11170056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54</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771416A-4FA2-4BC6-AD02-FC62E2EB537B}" type="datetime1">
              <a:rPr lang="en-US" smtClean="0"/>
              <a:t>11/3/2025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470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A53E52A6-65E0-4C57-A17E-B64EB7F24D27}" type="datetime1">
              <a:rPr lang="en-US" smtClean="0"/>
              <a:t>11/3/2025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772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1F2C58D2-10B7-49F3-895D-A16367B13E92}" type="datetime1">
              <a:rPr lang="en-US" smtClean="0"/>
              <a:t>11/3/2025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37377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3B7CCCB0-43DA-4C40-A467-5973D43A0338}"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8311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2C530106-BE81-4E5A-8C39-9A8985CECEF3}"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61020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6972FD10-9497-4827-ABB9-9E3B94BED0E4}" type="datetime1">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2944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234C3-F188-4E3A-83B9-0CEFC6429E06}"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870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41BD1F2-20F1-4F40-8112-EC494B61E001}" type="datetime1">
              <a:rPr lang="en-US" smtClean="0"/>
              <a:t>11/3/2025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7518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EF39F1AC-95A0-41C9-932F-34509B8DC8E9}"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438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9EF292BF-94B3-474B-98F9-2D896A24DDFC}"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95936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91C2DFC-9303-4BEF-B96E-CC54239EDA10}" type="datetime1">
              <a:rPr lang="en-US" smtClean="0"/>
              <a:t>11/3/2025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0891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11/3/2025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55129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11/3/2025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40848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11/3/2025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67025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73419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69561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90394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55780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11/3/2025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757207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18551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762189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11/3/2025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017077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34313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2028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0168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052819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36624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270267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124341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667342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714384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299122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327187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597599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901442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84693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31809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305775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731830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767374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082035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44035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113993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084361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43490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23605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79355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63351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308483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15672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303864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894220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34318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83736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50345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9641335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97894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046547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49797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35188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81673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542117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95654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933162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136997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354938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6682510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15786775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506215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29710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199513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42997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937958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8064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31501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0057213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789954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31216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34135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591091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060562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015122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075237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93711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406529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022886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7709057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6062695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9501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90741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4038313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theme" Target="../theme/theme8.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4199989E-35DE-44B7-B35E-E0E64E12EC86}" type="datetime1">
              <a:rPr lang="en-US" smtClean="0"/>
              <a:t>11/3/2025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6993733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11/3/2025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158109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68474721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99169918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5851613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7888293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58582192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217403611"/>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aylordotorg.github.io/text_essentials-of-geographic-information-systems/s11-geospatial-analysis-i-vector-o.html"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aps.littlerock.gov/webapps/lr_land_use_viewe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hyperlink" Target="https://cfbrasz.github.io/Voronoi.html"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12</a:t>
            </a:r>
            <a:br>
              <a:rPr lang="en-US" sz="2800" dirty="0"/>
            </a:br>
            <a:r>
              <a:rPr lang="en-US" sz="2800" dirty="0"/>
              <a:t>Vector Analysis</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sz="4050" dirty="0">
                <a:solidFill>
                  <a:srgbClr val="FFFFFF"/>
                </a:solidFill>
              </a:rPr>
              <a:t>MAP ELEMENTS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70000" lnSpcReduction="20000"/>
          </a:bodyPr>
          <a:lstStyle/>
          <a:p>
            <a:pPr>
              <a:buFont typeface="Courier New" panose="02070309020205020404" pitchFamily="49" charset="0"/>
              <a:buChar char="o"/>
            </a:pPr>
            <a:r>
              <a:rPr lang="en-US" altLang="en-US" sz="2800" dirty="0"/>
              <a:t>Vector Analysis</a:t>
            </a:r>
          </a:p>
          <a:p>
            <a:pPr lvl="1">
              <a:buFont typeface="Wingdings" panose="05000000000000000000" pitchFamily="2" charset="2"/>
              <a:buChar char="ü"/>
            </a:pPr>
            <a:r>
              <a:rPr lang="en-US" altLang="en-US" sz="2300" dirty="0"/>
              <a:t>Join</a:t>
            </a:r>
          </a:p>
          <a:p>
            <a:pPr lvl="1">
              <a:buFont typeface="Wingdings" panose="05000000000000000000" pitchFamily="2" charset="2"/>
              <a:buChar char="ü"/>
            </a:pPr>
            <a:r>
              <a:rPr lang="en-US" altLang="en-US" sz="2300" dirty="0"/>
              <a:t>Query</a:t>
            </a:r>
          </a:p>
          <a:p>
            <a:pPr lvl="1">
              <a:buFont typeface="Wingdings" panose="05000000000000000000" pitchFamily="2" charset="2"/>
              <a:buChar char="ü"/>
            </a:pPr>
            <a:r>
              <a:rPr lang="en-US" sz="2300" dirty="0"/>
              <a:t>Generalization</a:t>
            </a:r>
          </a:p>
          <a:p>
            <a:pPr lvl="1">
              <a:buFont typeface="Wingdings" panose="05000000000000000000" pitchFamily="2" charset="2"/>
              <a:buChar char="ü"/>
            </a:pPr>
            <a:r>
              <a:rPr lang="en-US" sz="2300" dirty="0"/>
              <a:t>Proximity analysis</a:t>
            </a:r>
          </a:p>
          <a:p>
            <a:pPr lvl="1">
              <a:buFont typeface="Wingdings" panose="05000000000000000000" pitchFamily="2" charset="2"/>
              <a:buChar char="ü"/>
            </a:pPr>
            <a:r>
              <a:rPr lang="en-US" sz="2300" dirty="0"/>
              <a:t>Extract</a:t>
            </a:r>
          </a:p>
          <a:p>
            <a:pPr lvl="1">
              <a:buFont typeface="Wingdings" panose="05000000000000000000" pitchFamily="2" charset="2"/>
              <a:buChar char="ü"/>
            </a:pPr>
            <a:r>
              <a:rPr lang="en-US" sz="2300" dirty="0"/>
              <a:t>Overlay</a:t>
            </a:r>
          </a:p>
          <a:p>
            <a:pPr lvl="1">
              <a:buFont typeface="Wingdings" panose="05000000000000000000" pitchFamily="2" charset="2"/>
              <a:buChar char="ü"/>
            </a:pPr>
            <a:r>
              <a:rPr lang="en-US" sz="2300" dirty="0"/>
              <a:t>General</a:t>
            </a:r>
          </a:p>
          <a:p>
            <a:pPr lvl="1">
              <a:buFont typeface="Wingdings" panose="05000000000000000000" pitchFamily="2" charset="2"/>
              <a:buChar char="ü"/>
            </a:pPr>
            <a:r>
              <a:rPr lang="en-US" altLang="en-US" sz="2300" dirty="0"/>
              <a:t>Statistics</a:t>
            </a:r>
          </a:p>
          <a:p>
            <a:pPr lvl="1">
              <a:buFont typeface="Wingdings" panose="05000000000000000000" pitchFamily="2" charset="2"/>
              <a:buChar char="ü"/>
            </a:pPr>
            <a:r>
              <a:rPr lang="en-US" altLang="en-US" sz="2300" dirty="0"/>
              <a:t>Cartography refinement</a:t>
            </a:r>
          </a:p>
          <a:p>
            <a:pPr lvl="1">
              <a:buFont typeface="Wingdings" panose="05000000000000000000" pitchFamily="2" charset="2"/>
              <a:buChar char="ü"/>
            </a:pPr>
            <a:r>
              <a:rPr lang="en-US" sz="2300" dirty="0"/>
              <a:t>Feature to points</a:t>
            </a:r>
            <a:endParaRPr lang="en-US" altLang="en-US" sz="2300" dirty="0"/>
          </a:p>
          <a:p>
            <a:pPr lvl="1">
              <a:buFont typeface="Wingdings" panose="05000000000000000000" pitchFamily="2" charset="2"/>
              <a:buChar char="ü"/>
            </a:pPr>
            <a:r>
              <a:rPr lang="en-US" altLang="en-US" sz="2300" dirty="0"/>
              <a:t>Minimum bounding geometry</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2807" y="1043095"/>
            <a:ext cx="7748338" cy="397032"/>
          </a:xfrm>
          <a:prstGeom prst="rect">
            <a:avLst/>
          </a:prstGeom>
          <a:noFill/>
        </p:spPr>
        <p:txBody>
          <a:bodyPr wrap="square" rtlCol="0">
            <a:spAutoFit/>
          </a:bodyPr>
          <a:lstStyle/>
          <a:p>
            <a:pPr>
              <a:lnSpc>
                <a:spcPct val="90000"/>
              </a:lnSpc>
            </a:pPr>
            <a:r>
              <a:rPr lang="en-US" sz="2200" dirty="0"/>
              <a:t>Spatial Analyst Toolbox for </a:t>
            </a:r>
            <a:r>
              <a:rPr lang="en-US" sz="2200" b="1" dirty="0"/>
              <a:t>Vector</a:t>
            </a:r>
            <a:r>
              <a:rPr lang="en-US" sz="2200" dirty="0"/>
              <a:t> and </a:t>
            </a:r>
            <a:r>
              <a:rPr lang="en-US" sz="2200" b="1" dirty="0"/>
              <a:t>Raster Spatial Analys</a:t>
            </a:r>
            <a:r>
              <a:rPr lang="en-US" sz="2200" dirty="0"/>
              <a:t>is</a:t>
            </a:r>
          </a:p>
        </p:txBody>
      </p:sp>
      <p:cxnSp>
        <p:nvCxnSpPr>
          <p:cNvPr id="35" name="Straight Connector 34">
            <a:extLst>
              <a:ext uri="{FF2B5EF4-FFF2-40B4-BE49-F238E27FC236}">
                <a16:creationId xmlns:a16="http://schemas.microsoft.com/office/drawing/2014/main" id="{20A7114C-6502-4101-B831-03DE68DE26C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5" name="Title 1">
            <a:extLst>
              <a:ext uri="{FF2B5EF4-FFF2-40B4-BE49-F238E27FC236}">
                <a16:creationId xmlns:a16="http://schemas.microsoft.com/office/drawing/2014/main" id="{A38212E7-AE74-4E2C-B39A-5A121EFF2E6D}"/>
              </a:ext>
            </a:extLst>
          </p:cNvPr>
          <p:cNvSpPr txBox="1">
            <a:spLocks/>
          </p:cNvSpPr>
          <p:nvPr/>
        </p:nvSpPr>
        <p:spPr>
          <a:xfrm>
            <a:off x="222807" y="18584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Spatial Analysis in ArcGIS</a:t>
            </a:r>
            <a:endParaRPr lang="en-US" sz="2600" i="1" dirty="0">
              <a:solidFill>
                <a:srgbClr val="7030A0"/>
              </a:solidFill>
            </a:endParaRPr>
          </a:p>
        </p:txBody>
      </p:sp>
      <p:pic>
        <p:nvPicPr>
          <p:cNvPr id="8" name="Picture 7" descr="Image showing spatial analysis">
            <a:extLst>
              <a:ext uri="{FF2B5EF4-FFF2-40B4-BE49-F238E27FC236}">
                <a16:creationId xmlns:a16="http://schemas.microsoft.com/office/drawing/2014/main" id="{75D32708-73D6-459C-AC3E-993930581331}"/>
              </a:ext>
            </a:extLst>
          </p:cNvPr>
          <p:cNvPicPr>
            <a:picLocks noChangeAspect="1"/>
          </p:cNvPicPr>
          <p:nvPr/>
        </p:nvPicPr>
        <p:blipFill>
          <a:blip r:embed="rId3"/>
          <a:stretch>
            <a:fillRect/>
          </a:stretch>
        </p:blipFill>
        <p:spPr>
          <a:xfrm>
            <a:off x="980664" y="1440127"/>
            <a:ext cx="2709020" cy="3517285"/>
          </a:xfrm>
          <a:prstGeom prst="rect">
            <a:avLst/>
          </a:prstGeom>
        </p:spPr>
      </p:pic>
      <p:sp>
        <p:nvSpPr>
          <p:cNvPr id="9" name="Slide Number Placeholder 8">
            <a:extLst>
              <a:ext uri="{FF2B5EF4-FFF2-40B4-BE49-F238E27FC236}">
                <a16:creationId xmlns:a16="http://schemas.microsoft.com/office/drawing/2014/main" id="{3E81CBCB-3C57-4F26-A37A-D48D8188945F}"/>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41359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 y="1131195"/>
            <a:ext cx="4208505" cy="2881110"/>
          </a:xfrm>
        </p:spPr>
        <p:txBody>
          <a:bodyPr>
            <a:normAutofit/>
          </a:bodyPr>
          <a:lstStyle/>
          <a:p>
            <a:pPr>
              <a:buFont typeface="Courier New" panose="02070309020205020404" pitchFamily="49" charset="0"/>
              <a:buChar char="o"/>
            </a:pPr>
            <a:r>
              <a:rPr lang="en-US" sz="2000" dirty="0"/>
              <a:t>A note on spatial reference and projection</a:t>
            </a:r>
          </a:p>
          <a:p>
            <a:pPr lvl="1">
              <a:buFont typeface="Wingdings" panose="05000000000000000000" pitchFamily="2" charset="2"/>
              <a:buChar char="ü"/>
            </a:pPr>
            <a:r>
              <a:rPr lang="en-US" sz="2000" dirty="0"/>
              <a:t>When undertaking spatial analysis, it is best if your data are all in the same spatial reference or projection</a:t>
            </a:r>
          </a:p>
        </p:txBody>
      </p:sp>
      <p:sp>
        <p:nvSpPr>
          <p:cNvPr id="2" name="Slide Number Placeholder 1">
            <a:extLst>
              <a:ext uri="{FF2B5EF4-FFF2-40B4-BE49-F238E27FC236}">
                <a16:creationId xmlns:a16="http://schemas.microsoft.com/office/drawing/2014/main" id="{15EB0155-0552-4DBD-A202-87AE28240B4C}"/>
              </a:ext>
            </a:extLst>
          </p:cNvPr>
          <p:cNvSpPr>
            <a:spLocks noGrp="1"/>
          </p:cNvSpPr>
          <p:nvPr>
            <p:ph type="sldNum" sz="quarter" idx="12"/>
          </p:nvPr>
        </p:nvSpPr>
        <p:spPr/>
        <p:txBody>
          <a:bodyPr/>
          <a:lstStyle/>
          <a:p>
            <a:fld id="{127DDC20-79C9-9647-820E-6D40A3D210C3}" type="slidenum">
              <a:rPr lang="en-US" smtClean="0"/>
              <a:pPr/>
              <a:t>5</a:t>
            </a:fld>
            <a:endParaRPr lang="en-US"/>
          </a:p>
        </p:txBody>
      </p:sp>
      <p:pic>
        <p:nvPicPr>
          <p:cNvPr id="5" name="Picture 4" descr="Image showing spatial reference"/>
          <p:cNvPicPr>
            <a:picLocks noChangeAspect="1"/>
          </p:cNvPicPr>
          <p:nvPr/>
        </p:nvPicPr>
        <p:blipFill>
          <a:blip r:embed="rId3"/>
          <a:stretch>
            <a:fillRect/>
          </a:stretch>
        </p:blipFill>
        <p:spPr>
          <a:xfrm>
            <a:off x="5089769" y="1088082"/>
            <a:ext cx="3005857" cy="3061180"/>
          </a:xfrm>
          <a:prstGeom prst="rect">
            <a:avLst/>
          </a:prstGeom>
        </p:spPr>
      </p:pic>
      <p:cxnSp>
        <p:nvCxnSpPr>
          <p:cNvPr id="6" name="Straight Connector 5">
            <a:extLst>
              <a:ext uri="{FF2B5EF4-FFF2-40B4-BE49-F238E27FC236}">
                <a16:creationId xmlns:a16="http://schemas.microsoft.com/office/drawing/2014/main" id="{D3AE7454-9A56-4996-AEB2-445E1BA52E2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67E971D-BD5E-4A0E-B489-975BC5727E4F}"/>
              </a:ext>
            </a:extLst>
          </p:cNvPr>
          <p:cNvSpPr txBox="1">
            <a:spLocks/>
          </p:cNvSpPr>
          <p:nvPr/>
        </p:nvSpPr>
        <p:spPr>
          <a:xfrm>
            <a:off x="190500" y="16980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Spatial Analysis in ArcGIS</a:t>
            </a:r>
            <a:endParaRPr lang="en-US" sz="2600" i="1" dirty="0">
              <a:solidFill>
                <a:srgbClr val="7030A0"/>
              </a:solidFill>
            </a:endParaRPr>
          </a:p>
        </p:txBody>
      </p:sp>
    </p:spTree>
    <p:extLst>
      <p:ext uri="{BB962C8B-B14F-4D97-AF65-F5344CB8AC3E}">
        <p14:creationId xmlns:p14="http://schemas.microsoft.com/office/powerpoint/2010/main" val="3896102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52400" y="1131195"/>
            <a:ext cx="4073611" cy="1796489"/>
          </a:xfrm>
        </p:spPr>
        <p:txBody>
          <a:bodyPr>
            <a:noAutofit/>
          </a:bodyPr>
          <a:lstStyle/>
          <a:p>
            <a:pPr marL="0" lvl="1">
              <a:buFont typeface="Courier New" panose="02070309020205020404" pitchFamily="49" charset="0"/>
              <a:buChar char="o"/>
            </a:pPr>
            <a:r>
              <a:rPr lang="en-US" sz="2000" dirty="0"/>
              <a:t>Generalize boundaries</a:t>
            </a:r>
          </a:p>
          <a:p>
            <a:pPr marL="0" lvl="1">
              <a:buFont typeface="Courier New" panose="02070309020205020404" pitchFamily="49" charset="0"/>
              <a:buChar char="o"/>
            </a:pPr>
            <a:r>
              <a:rPr lang="en-US" sz="2000" dirty="0"/>
              <a:t>Combine all features to one feature</a:t>
            </a:r>
          </a:p>
          <a:p>
            <a:pPr marL="0" lvl="1">
              <a:buFont typeface="Courier New" panose="02070309020205020404" pitchFamily="49" charset="0"/>
              <a:buChar char="o"/>
            </a:pPr>
            <a:r>
              <a:rPr lang="en-US" sz="2000" dirty="0"/>
              <a:t>Adjacent polygons may have identical values for an attribute</a:t>
            </a:r>
          </a:p>
        </p:txBody>
      </p:sp>
      <p:sp>
        <p:nvSpPr>
          <p:cNvPr id="2" name="Slide Number Placeholder 1">
            <a:extLst>
              <a:ext uri="{FF2B5EF4-FFF2-40B4-BE49-F238E27FC236}">
                <a16:creationId xmlns:a16="http://schemas.microsoft.com/office/drawing/2014/main" id="{8FA7CEA9-B518-4635-9EF0-4179F3CA8B71}"/>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itle 1">
            <a:extLst>
              <a:ext uri="{FF2B5EF4-FFF2-40B4-BE49-F238E27FC236}">
                <a16:creationId xmlns:a16="http://schemas.microsoft.com/office/drawing/2014/main" id="{71B5F394-87F2-4043-8AEE-67683BBC9F52}"/>
              </a:ext>
            </a:extLst>
          </p:cNvPr>
          <p:cNvSpPr txBox="1">
            <a:spLocks/>
          </p:cNvSpPr>
          <p:nvPr/>
        </p:nvSpPr>
        <p:spPr>
          <a:xfrm>
            <a:off x="187411" y="2287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6" name="Straight Connector 5">
            <a:extLst>
              <a:ext uri="{FF2B5EF4-FFF2-40B4-BE49-F238E27FC236}">
                <a16:creationId xmlns:a16="http://schemas.microsoft.com/office/drawing/2014/main" id="{8487D1FC-AD42-4591-A8A2-BF5B6EB30F0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Image showing generalization">
            <a:extLst>
              <a:ext uri="{FF2B5EF4-FFF2-40B4-BE49-F238E27FC236}">
                <a16:creationId xmlns:a16="http://schemas.microsoft.com/office/drawing/2014/main" id="{557779B1-A520-463A-B7E3-0A8B3DF712DF}"/>
              </a:ext>
            </a:extLst>
          </p:cNvPr>
          <p:cNvPicPr>
            <a:picLocks noChangeAspect="1"/>
          </p:cNvPicPr>
          <p:nvPr/>
        </p:nvPicPr>
        <p:blipFill>
          <a:blip r:embed="rId3"/>
          <a:stretch>
            <a:fillRect/>
          </a:stretch>
        </p:blipFill>
        <p:spPr>
          <a:xfrm>
            <a:off x="780448" y="2972911"/>
            <a:ext cx="2538393" cy="1330808"/>
          </a:xfrm>
          <a:prstGeom prst="rect">
            <a:avLst/>
          </a:prstGeom>
        </p:spPr>
      </p:pic>
      <p:pic>
        <p:nvPicPr>
          <p:cNvPr id="9" name="Picture 8" descr="Map&#10;&#10;Description automatically generated">
            <a:extLst>
              <a:ext uri="{FF2B5EF4-FFF2-40B4-BE49-F238E27FC236}">
                <a16:creationId xmlns:a16="http://schemas.microsoft.com/office/drawing/2014/main" id="{AA86BDCC-DAB7-4985-A834-FC6F467DF95F}"/>
              </a:ext>
            </a:extLst>
          </p:cNvPr>
          <p:cNvPicPr>
            <a:picLocks noChangeAspect="1"/>
          </p:cNvPicPr>
          <p:nvPr/>
        </p:nvPicPr>
        <p:blipFill>
          <a:blip r:embed="rId4"/>
          <a:stretch>
            <a:fillRect/>
          </a:stretch>
        </p:blipFill>
        <p:spPr>
          <a:xfrm>
            <a:off x="4323026" y="1314783"/>
            <a:ext cx="3754174" cy="2881110"/>
          </a:xfrm>
          <a:prstGeom prst="rect">
            <a:avLst/>
          </a:prstGeom>
        </p:spPr>
      </p:pic>
      <p:sp>
        <p:nvSpPr>
          <p:cNvPr id="10" name="TextBox 9">
            <a:extLst>
              <a:ext uri="{FF2B5EF4-FFF2-40B4-BE49-F238E27FC236}">
                <a16:creationId xmlns:a16="http://schemas.microsoft.com/office/drawing/2014/main" id="{F51187D8-562E-4622-8BCF-E6B0B4A804EC}"/>
              </a:ext>
            </a:extLst>
          </p:cNvPr>
          <p:cNvSpPr txBox="1"/>
          <p:nvPr/>
        </p:nvSpPr>
        <p:spPr>
          <a:xfrm>
            <a:off x="6240162" y="4668561"/>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56230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showing after dissolve"/>
          <p:cNvPicPr>
            <a:picLocks noChangeAspect="1"/>
          </p:cNvPicPr>
          <p:nvPr/>
        </p:nvPicPr>
        <p:blipFill>
          <a:blip r:embed="rId3">
            <a:clrChange>
              <a:clrFrom>
                <a:srgbClr val="FFFFFF"/>
              </a:clrFrom>
              <a:clrTo>
                <a:srgbClr val="FFFFFF">
                  <a:alpha val="0"/>
                </a:srgbClr>
              </a:clrTo>
            </a:clrChange>
          </a:blip>
          <a:stretch>
            <a:fillRect/>
          </a:stretch>
        </p:blipFill>
        <p:spPr>
          <a:xfrm>
            <a:off x="4745556" y="3218006"/>
            <a:ext cx="2888273" cy="1930805"/>
          </a:xfrm>
          <a:prstGeom prst="rect">
            <a:avLst/>
          </a:prstGeom>
        </p:spPr>
      </p:pic>
      <p:sp>
        <p:nvSpPr>
          <p:cNvPr id="11" name="Title 1">
            <a:extLst>
              <a:ext uri="{FF2B5EF4-FFF2-40B4-BE49-F238E27FC236}">
                <a16:creationId xmlns:a16="http://schemas.microsoft.com/office/drawing/2014/main" id="{87F6526D-6E88-4F8A-9655-36F87A9A43F3}"/>
              </a:ext>
            </a:extLst>
          </p:cNvPr>
          <p:cNvSpPr txBox="1">
            <a:spLocks/>
          </p:cNvSpPr>
          <p:nvPr/>
        </p:nvSpPr>
        <p:spPr>
          <a:xfrm>
            <a:off x="187411" y="1645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31195"/>
            <a:ext cx="4073611" cy="1850225"/>
          </a:xfrm>
        </p:spPr>
        <p:txBody>
          <a:bodyPr>
            <a:normAutofit/>
          </a:bodyPr>
          <a:lstStyle/>
          <a:p>
            <a:pPr marL="0" lvl="1">
              <a:buFont typeface="Courier New" panose="02070309020205020404" pitchFamily="49" charset="0"/>
              <a:buChar char="o"/>
            </a:pPr>
            <a:r>
              <a:rPr lang="en-US" sz="1800" dirty="0"/>
              <a:t>Generalize boundaries</a:t>
            </a:r>
          </a:p>
          <a:p>
            <a:pPr marL="0" lvl="1">
              <a:buFont typeface="Courier New" panose="02070309020205020404" pitchFamily="49" charset="0"/>
              <a:buChar char="o"/>
            </a:pPr>
            <a:r>
              <a:rPr lang="en-US" sz="1800" dirty="0"/>
              <a:t>Combine all features to one feature</a:t>
            </a:r>
          </a:p>
          <a:p>
            <a:pPr marL="0" lvl="1">
              <a:buFont typeface="Courier New" panose="02070309020205020404" pitchFamily="49" charset="0"/>
              <a:buChar char="o"/>
            </a:pPr>
            <a:r>
              <a:rPr lang="en-US" sz="1800" dirty="0"/>
              <a:t>Adjacent polygons may have identical values for an attribute</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7" name="Picture 6" descr="Image showing generalization tool">
            <a:extLst>
              <a:ext uri="{FF2B5EF4-FFF2-40B4-BE49-F238E27FC236}">
                <a16:creationId xmlns:a16="http://schemas.microsoft.com/office/drawing/2014/main" id="{A94E614A-0975-4931-A45B-4FE2A67E8DE7}"/>
              </a:ext>
            </a:extLst>
          </p:cNvPr>
          <p:cNvPicPr>
            <a:picLocks noChangeAspect="1"/>
          </p:cNvPicPr>
          <p:nvPr/>
        </p:nvPicPr>
        <p:blipFill>
          <a:blip r:embed="rId4"/>
          <a:stretch>
            <a:fillRect/>
          </a:stretch>
        </p:blipFill>
        <p:spPr>
          <a:xfrm>
            <a:off x="760468" y="2981420"/>
            <a:ext cx="2962873" cy="1553351"/>
          </a:xfrm>
          <a:prstGeom prst="rect">
            <a:avLst/>
          </a:prstGeom>
        </p:spPr>
      </p:pic>
      <p:pic>
        <p:nvPicPr>
          <p:cNvPr id="8" name="Picture 7" descr="Image showing before dissolve">
            <a:extLst>
              <a:ext uri="{FF2B5EF4-FFF2-40B4-BE49-F238E27FC236}">
                <a16:creationId xmlns:a16="http://schemas.microsoft.com/office/drawing/2014/main" id="{EA9FE67C-4656-4A16-9A1E-9FB767D8D509}"/>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758499" y="1343482"/>
            <a:ext cx="2723576" cy="1850226"/>
          </a:xfrm>
          <a:prstGeom prst="rect">
            <a:avLst/>
          </a:prstGeom>
        </p:spPr>
      </p:pic>
      <p:sp>
        <p:nvSpPr>
          <p:cNvPr id="3" name="TextBox 2">
            <a:extLst>
              <a:ext uri="{FF2B5EF4-FFF2-40B4-BE49-F238E27FC236}">
                <a16:creationId xmlns:a16="http://schemas.microsoft.com/office/drawing/2014/main" id="{E22CC4AF-40EE-4B03-90E6-1E09BBFE3894}"/>
              </a:ext>
            </a:extLst>
          </p:cNvPr>
          <p:cNvSpPr txBox="1"/>
          <p:nvPr/>
        </p:nvSpPr>
        <p:spPr>
          <a:xfrm>
            <a:off x="4745556" y="1017263"/>
            <a:ext cx="1152324" cy="369332"/>
          </a:xfrm>
          <a:prstGeom prst="rect">
            <a:avLst/>
          </a:prstGeom>
          <a:noFill/>
        </p:spPr>
        <p:txBody>
          <a:bodyPr wrap="square" rtlCol="0">
            <a:spAutoFit/>
          </a:bodyPr>
          <a:lstStyle/>
          <a:p>
            <a:r>
              <a:rPr lang="en-US" dirty="0"/>
              <a:t>Before</a:t>
            </a:r>
          </a:p>
        </p:txBody>
      </p:sp>
      <p:sp>
        <p:nvSpPr>
          <p:cNvPr id="10" name="TextBox 9">
            <a:extLst>
              <a:ext uri="{FF2B5EF4-FFF2-40B4-BE49-F238E27FC236}">
                <a16:creationId xmlns:a16="http://schemas.microsoft.com/office/drawing/2014/main" id="{196A8BFC-CCF1-4BBB-B77B-EDF7F029B5E5}"/>
              </a:ext>
            </a:extLst>
          </p:cNvPr>
          <p:cNvSpPr txBox="1"/>
          <p:nvPr/>
        </p:nvSpPr>
        <p:spPr>
          <a:xfrm>
            <a:off x="4745556" y="2935852"/>
            <a:ext cx="1152324" cy="369332"/>
          </a:xfrm>
          <a:prstGeom prst="rect">
            <a:avLst/>
          </a:prstGeom>
          <a:noFill/>
        </p:spPr>
        <p:txBody>
          <a:bodyPr wrap="square" rtlCol="0">
            <a:spAutoFit/>
          </a:bodyPr>
          <a:lstStyle/>
          <a:p>
            <a:r>
              <a:rPr lang="en-US" dirty="0"/>
              <a:t>After</a:t>
            </a:r>
          </a:p>
        </p:txBody>
      </p:sp>
    </p:spTree>
    <p:extLst>
      <p:ext uri="{BB962C8B-B14F-4D97-AF65-F5344CB8AC3E}">
        <p14:creationId xmlns:p14="http://schemas.microsoft.com/office/powerpoint/2010/main" val="137824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7F6526D-6E88-4F8A-9655-36F87A9A43F3}"/>
              </a:ext>
            </a:extLst>
          </p:cNvPr>
          <p:cNvSpPr txBox="1">
            <a:spLocks/>
          </p:cNvSpPr>
          <p:nvPr/>
        </p:nvSpPr>
        <p:spPr>
          <a:xfrm>
            <a:off x="187411" y="2287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31195"/>
            <a:ext cx="4073611" cy="1740340"/>
          </a:xfrm>
        </p:spPr>
        <p:txBody>
          <a:bodyPr>
            <a:normAutofit/>
          </a:bodyPr>
          <a:lstStyle/>
          <a:p>
            <a:pPr marL="0" lvl="1">
              <a:buFont typeface="Courier New" panose="02070309020205020404" pitchFamily="49" charset="0"/>
              <a:buChar char="o"/>
            </a:pPr>
            <a:r>
              <a:rPr lang="en-US" sz="1800" dirty="0"/>
              <a:t>Generalize boundaries</a:t>
            </a:r>
          </a:p>
          <a:p>
            <a:pPr marL="0" lvl="1">
              <a:buFont typeface="Courier New" panose="02070309020205020404" pitchFamily="49" charset="0"/>
              <a:buChar char="o"/>
            </a:pPr>
            <a:r>
              <a:rPr lang="en-US" sz="1800" dirty="0"/>
              <a:t>Combine all features to one feature</a:t>
            </a:r>
          </a:p>
          <a:p>
            <a:pPr marL="0" lvl="1">
              <a:buFont typeface="Courier New" panose="02070309020205020404" pitchFamily="49" charset="0"/>
              <a:buChar char="o"/>
            </a:pPr>
            <a:r>
              <a:rPr lang="en-US" sz="1800" dirty="0"/>
              <a:t>Adjacent polygons may have identical values for an attribute</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7" name="Picture 6" descr="Image showing generalization tool">
            <a:extLst>
              <a:ext uri="{FF2B5EF4-FFF2-40B4-BE49-F238E27FC236}">
                <a16:creationId xmlns:a16="http://schemas.microsoft.com/office/drawing/2014/main" id="{A94E614A-0975-4931-A45B-4FE2A67E8DE7}"/>
              </a:ext>
            </a:extLst>
          </p:cNvPr>
          <p:cNvPicPr>
            <a:picLocks noChangeAspect="1"/>
          </p:cNvPicPr>
          <p:nvPr/>
        </p:nvPicPr>
        <p:blipFill>
          <a:blip r:embed="rId3"/>
          <a:stretch>
            <a:fillRect/>
          </a:stretch>
        </p:blipFill>
        <p:spPr>
          <a:xfrm>
            <a:off x="642440" y="3032643"/>
            <a:ext cx="2800225" cy="1468079"/>
          </a:xfrm>
          <a:prstGeom prst="rect">
            <a:avLst/>
          </a:prstGeom>
        </p:spPr>
      </p:pic>
      <p:pic>
        <p:nvPicPr>
          <p:cNvPr id="6" name="Picture 5" descr="Diagram&#10;&#10;Description automatically generated">
            <a:extLst>
              <a:ext uri="{FF2B5EF4-FFF2-40B4-BE49-F238E27FC236}">
                <a16:creationId xmlns:a16="http://schemas.microsoft.com/office/drawing/2014/main" id="{A4192869-B264-42A4-8A10-F209ADBFA972}"/>
              </a:ext>
            </a:extLst>
          </p:cNvPr>
          <p:cNvPicPr>
            <a:picLocks noChangeAspect="1"/>
          </p:cNvPicPr>
          <p:nvPr/>
        </p:nvPicPr>
        <p:blipFill>
          <a:blip r:embed="rId4"/>
          <a:stretch>
            <a:fillRect/>
          </a:stretch>
        </p:blipFill>
        <p:spPr>
          <a:xfrm>
            <a:off x="4204096" y="1080328"/>
            <a:ext cx="3682025" cy="3576693"/>
          </a:xfrm>
          <a:prstGeom prst="rect">
            <a:avLst/>
          </a:prstGeom>
        </p:spPr>
      </p:pic>
      <p:sp>
        <p:nvSpPr>
          <p:cNvPr id="13" name="TextBox 12">
            <a:extLst>
              <a:ext uri="{FF2B5EF4-FFF2-40B4-BE49-F238E27FC236}">
                <a16:creationId xmlns:a16="http://schemas.microsoft.com/office/drawing/2014/main" id="{F8DCE461-A43E-48BA-8C36-DE07BDBCEF58}"/>
              </a:ext>
            </a:extLst>
          </p:cNvPr>
          <p:cNvSpPr txBox="1"/>
          <p:nvPr/>
        </p:nvSpPr>
        <p:spPr>
          <a:xfrm>
            <a:off x="5710773" y="4767262"/>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66358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7F6526D-6E88-4F8A-9655-36F87A9A43F3}"/>
              </a:ext>
            </a:extLst>
          </p:cNvPr>
          <p:cNvSpPr txBox="1">
            <a:spLocks/>
          </p:cNvSpPr>
          <p:nvPr/>
        </p:nvSpPr>
        <p:spPr>
          <a:xfrm>
            <a:off x="201827"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31195"/>
            <a:ext cx="8176054" cy="537182"/>
          </a:xfrm>
        </p:spPr>
        <p:txBody>
          <a:bodyPr>
            <a:noAutofit/>
          </a:bodyPr>
          <a:lstStyle/>
          <a:p>
            <a:pPr marL="0" lvl="1">
              <a:buFont typeface="Courier New" panose="02070309020205020404" pitchFamily="49" charset="0"/>
              <a:buChar char="o"/>
            </a:pPr>
            <a:r>
              <a:rPr lang="en-US" sz="1800" dirty="0"/>
              <a:t>Attribute aggregation: we may sum, average, calculate the range, maximum, minimum, etc. and assign these to the output polygons</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9</a:t>
            </a:fld>
            <a:endParaRPr lang="en-US"/>
          </a:p>
        </p:txBody>
      </p:sp>
      <p:sp>
        <p:nvSpPr>
          <p:cNvPr id="13" name="TextBox 12">
            <a:extLst>
              <a:ext uri="{FF2B5EF4-FFF2-40B4-BE49-F238E27FC236}">
                <a16:creationId xmlns:a16="http://schemas.microsoft.com/office/drawing/2014/main" id="{F8DCE461-A43E-48BA-8C36-DE07BDBCEF58}"/>
              </a:ext>
            </a:extLst>
          </p:cNvPr>
          <p:cNvSpPr txBox="1"/>
          <p:nvPr/>
        </p:nvSpPr>
        <p:spPr>
          <a:xfrm>
            <a:off x="815546" y="4794886"/>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pic>
        <p:nvPicPr>
          <p:cNvPr id="4" name="Picture 3" descr="Diagram&#10;&#10;Description automatically generated">
            <a:extLst>
              <a:ext uri="{FF2B5EF4-FFF2-40B4-BE49-F238E27FC236}">
                <a16:creationId xmlns:a16="http://schemas.microsoft.com/office/drawing/2014/main" id="{1DC12341-6EC3-4B38-AFB5-374D878C8ADD}"/>
              </a:ext>
            </a:extLst>
          </p:cNvPr>
          <p:cNvPicPr>
            <a:picLocks noChangeAspect="1"/>
          </p:cNvPicPr>
          <p:nvPr/>
        </p:nvPicPr>
        <p:blipFill>
          <a:blip r:embed="rId3"/>
          <a:stretch>
            <a:fillRect/>
          </a:stretch>
        </p:blipFill>
        <p:spPr>
          <a:xfrm>
            <a:off x="2948496" y="1827336"/>
            <a:ext cx="4621427" cy="3043755"/>
          </a:xfrm>
          <a:prstGeom prst="rect">
            <a:avLst/>
          </a:prstGeom>
        </p:spPr>
      </p:pic>
    </p:spTree>
    <p:extLst>
      <p:ext uri="{BB962C8B-B14F-4D97-AF65-F5344CB8AC3E}">
        <p14:creationId xmlns:p14="http://schemas.microsoft.com/office/powerpoint/2010/main" val="3500178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7F6526D-6E88-4F8A-9655-36F87A9A43F3}"/>
              </a:ext>
            </a:extLst>
          </p:cNvPr>
          <p:cNvSpPr txBox="1">
            <a:spLocks/>
          </p:cNvSpPr>
          <p:nvPr/>
        </p:nvSpPr>
        <p:spPr>
          <a:xfrm>
            <a:off x="251254" y="19339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Generalization: Dissolve</a:t>
            </a:r>
          </a:p>
        </p:txBody>
      </p:sp>
      <p:cxnSp>
        <p:nvCxnSpPr>
          <p:cNvPr id="12" name="Straight Connector 11">
            <a:extLst>
              <a:ext uri="{FF2B5EF4-FFF2-40B4-BE49-F238E27FC236}">
                <a16:creationId xmlns:a16="http://schemas.microsoft.com/office/drawing/2014/main" id="{4D76ACD1-B92F-4BA4-9EA5-0FEAB10158A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Content Placeholder 2">
            <a:extLst>
              <a:ext uri="{FF2B5EF4-FFF2-40B4-BE49-F238E27FC236}">
                <a16:creationId xmlns:a16="http://schemas.microsoft.com/office/drawing/2014/main" id="{D7AC9415-F021-4D68-9AA5-9E914C5255AE}"/>
              </a:ext>
            </a:extLst>
          </p:cNvPr>
          <p:cNvSpPr>
            <a:spLocks noGrp="1"/>
          </p:cNvSpPr>
          <p:nvPr>
            <p:ph idx="1"/>
          </p:nvPr>
        </p:nvSpPr>
        <p:spPr>
          <a:xfrm>
            <a:off x="152400" y="1107132"/>
            <a:ext cx="8176054" cy="505100"/>
          </a:xfrm>
        </p:spPr>
        <p:txBody>
          <a:bodyPr>
            <a:noAutofit/>
          </a:bodyPr>
          <a:lstStyle/>
          <a:p>
            <a:pPr marL="0" lvl="1">
              <a:buFont typeface="Courier New" panose="02070309020205020404" pitchFamily="49" charset="0"/>
              <a:buChar char="o"/>
            </a:pPr>
            <a:r>
              <a:rPr lang="en-US" sz="1600" dirty="0"/>
              <a:t>Attribute aggregation: we may sum, average, calculate the range, maximum, minimum, etc. and assign these to the output polygons</a:t>
            </a:r>
          </a:p>
        </p:txBody>
      </p:sp>
      <p:sp>
        <p:nvSpPr>
          <p:cNvPr id="2" name="Slide Number Placeholder 1">
            <a:extLst>
              <a:ext uri="{FF2B5EF4-FFF2-40B4-BE49-F238E27FC236}">
                <a16:creationId xmlns:a16="http://schemas.microsoft.com/office/drawing/2014/main" id="{093D66F0-A082-4F78-A6E7-A1B0B2BCE2C8}"/>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13" name="TextBox 12">
            <a:extLst>
              <a:ext uri="{FF2B5EF4-FFF2-40B4-BE49-F238E27FC236}">
                <a16:creationId xmlns:a16="http://schemas.microsoft.com/office/drawing/2014/main" id="{F8DCE461-A43E-48BA-8C36-DE07BDBCEF58}"/>
              </a:ext>
            </a:extLst>
          </p:cNvPr>
          <p:cNvSpPr txBox="1"/>
          <p:nvPr/>
        </p:nvSpPr>
        <p:spPr>
          <a:xfrm>
            <a:off x="815546" y="4794886"/>
            <a:ext cx="896399" cy="246221"/>
          </a:xfrm>
          <a:prstGeom prst="rect">
            <a:avLst/>
          </a:prstGeom>
          <a:noFill/>
        </p:spPr>
        <p:txBody>
          <a:bodyPr wrap="none" rtlCol="0">
            <a:spAutoFit/>
          </a:bodyPr>
          <a:lstStyle/>
          <a:p>
            <a:r>
              <a:rPr lang="en-US" sz="1000" dirty="0" err="1">
                <a:solidFill>
                  <a:srgbClr val="7030A0"/>
                </a:solidFill>
              </a:rPr>
              <a:t>Bolstad</a:t>
            </a:r>
            <a:r>
              <a:rPr lang="en-US" sz="1000" dirty="0">
                <a:solidFill>
                  <a:srgbClr val="7030A0"/>
                </a:solidFill>
              </a:rPr>
              <a:t>, 2019</a:t>
            </a:r>
          </a:p>
        </p:txBody>
      </p:sp>
      <p:pic>
        <p:nvPicPr>
          <p:cNvPr id="5" name="Picture 4" descr="Diagram&#10;&#10;Description automatically generated">
            <a:extLst>
              <a:ext uri="{FF2B5EF4-FFF2-40B4-BE49-F238E27FC236}">
                <a16:creationId xmlns:a16="http://schemas.microsoft.com/office/drawing/2014/main" id="{EF040074-2E68-44C0-826F-D3C9E3760CB9}"/>
              </a:ext>
            </a:extLst>
          </p:cNvPr>
          <p:cNvPicPr>
            <a:picLocks noChangeAspect="1"/>
          </p:cNvPicPr>
          <p:nvPr/>
        </p:nvPicPr>
        <p:blipFill>
          <a:blip r:embed="rId3"/>
          <a:stretch>
            <a:fillRect/>
          </a:stretch>
        </p:blipFill>
        <p:spPr>
          <a:xfrm>
            <a:off x="2582562" y="1999690"/>
            <a:ext cx="4652255" cy="3041417"/>
          </a:xfrm>
          <a:prstGeom prst="rect">
            <a:avLst/>
          </a:prstGeom>
        </p:spPr>
      </p:pic>
    </p:spTree>
    <p:extLst>
      <p:ext uri="{BB962C8B-B14F-4D97-AF65-F5344CB8AC3E}">
        <p14:creationId xmlns:p14="http://schemas.microsoft.com/office/powerpoint/2010/main" val="18645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 showing buffer"/>
          <p:cNvPicPr>
            <a:picLocks noChangeAspect="1"/>
          </p:cNvPicPr>
          <p:nvPr/>
        </p:nvPicPr>
        <p:blipFill>
          <a:blip r:embed="rId3"/>
          <a:stretch>
            <a:fillRect/>
          </a:stretch>
        </p:blipFill>
        <p:spPr>
          <a:xfrm>
            <a:off x="311491" y="2512634"/>
            <a:ext cx="2496455" cy="2471238"/>
          </a:xfrm>
          <a:prstGeom prst="rect">
            <a:avLst/>
          </a:prstGeom>
        </p:spPr>
      </p:pic>
      <p:sp>
        <p:nvSpPr>
          <p:cNvPr id="7" name="Title 1">
            <a:extLst>
              <a:ext uri="{FF2B5EF4-FFF2-40B4-BE49-F238E27FC236}">
                <a16:creationId xmlns:a16="http://schemas.microsoft.com/office/drawing/2014/main" id="{C1CDF916-8E17-4AC7-9353-34210D7EA564}"/>
              </a:ext>
            </a:extLst>
          </p:cNvPr>
          <p:cNvSpPr txBox="1">
            <a:spLocks/>
          </p:cNvSpPr>
          <p:nvPr/>
        </p:nvSpPr>
        <p:spPr>
          <a:xfrm>
            <a:off x="311491" y="2082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Buffer</a:t>
            </a:r>
          </a:p>
        </p:txBody>
      </p:sp>
      <p:cxnSp>
        <p:nvCxnSpPr>
          <p:cNvPr id="10" name="Straight Connector 9">
            <a:extLst>
              <a:ext uri="{FF2B5EF4-FFF2-40B4-BE49-F238E27FC236}">
                <a16:creationId xmlns:a16="http://schemas.microsoft.com/office/drawing/2014/main" id="{0A761485-B84C-45DE-868E-3EE8A887F3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384FF3D-0BCF-448D-98F3-037C591CEE81}"/>
              </a:ext>
            </a:extLst>
          </p:cNvPr>
          <p:cNvSpPr txBox="1"/>
          <p:nvPr/>
        </p:nvSpPr>
        <p:spPr>
          <a:xfrm>
            <a:off x="114300" y="1007241"/>
            <a:ext cx="8077200" cy="1323439"/>
          </a:xfrm>
          <a:prstGeom prst="rect">
            <a:avLst/>
          </a:prstGeom>
          <a:noFill/>
        </p:spPr>
        <p:txBody>
          <a:bodyPr wrap="square">
            <a:spAutoFit/>
          </a:bodyPr>
          <a:lstStyle/>
          <a:p>
            <a:pPr marL="457200" indent="-457200">
              <a:buFont typeface="Courier New" panose="02070309020205020404" pitchFamily="49" charset="0"/>
              <a:buChar char="o"/>
            </a:pPr>
            <a:r>
              <a:rPr lang="en-US" sz="2000" b="1" dirty="0"/>
              <a:t>Buffering</a:t>
            </a:r>
            <a:r>
              <a:rPr lang="en-US" sz="2000" dirty="0"/>
              <a:t> is the process of creating an output polygon layer containing a zone (or zones) of a specified width around an input point, line, or polygon feature.</a:t>
            </a:r>
            <a:endParaRPr lang="en-US" sz="2000" baseline="0" dirty="0"/>
          </a:p>
          <a:p>
            <a:pPr marL="457200" indent="-457200">
              <a:buFont typeface="Courier New" panose="02070309020205020404" pitchFamily="49" charset="0"/>
              <a:buChar char="o"/>
            </a:pPr>
            <a:r>
              <a:rPr lang="en-US" sz="2000" dirty="0"/>
              <a:t>The result of buffer is </a:t>
            </a:r>
            <a:r>
              <a:rPr lang="en-US" sz="2000" dirty="0">
                <a:solidFill>
                  <a:srgbClr val="FF0000"/>
                </a:solidFill>
              </a:rPr>
              <a:t>always a polygon</a:t>
            </a:r>
            <a:r>
              <a:rPr lang="en-US" sz="2000" baseline="0" dirty="0"/>
              <a:t> </a:t>
            </a:r>
            <a:endParaRPr lang="en-US" sz="2000" dirty="0"/>
          </a:p>
        </p:txBody>
      </p:sp>
      <p:sp>
        <p:nvSpPr>
          <p:cNvPr id="2" name="Slide Number Placeholder 1">
            <a:extLst>
              <a:ext uri="{FF2B5EF4-FFF2-40B4-BE49-F238E27FC236}">
                <a16:creationId xmlns:a16="http://schemas.microsoft.com/office/drawing/2014/main" id="{8F39FFBE-5517-4BBC-A1B6-C1CF008FDCC7}"/>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6" name="Picture 5" descr="A picture containing diagram&#10;&#10;Description automatically generated">
            <a:extLst>
              <a:ext uri="{FF2B5EF4-FFF2-40B4-BE49-F238E27FC236}">
                <a16:creationId xmlns:a16="http://schemas.microsoft.com/office/drawing/2014/main" id="{529F75C4-2A53-4403-A49F-1E8F965AD625}"/>
              </a:ext>
            </a:extLst>
          </p:cNvPr>
          <p:cNvPicPr>
            <a:picLocks noChangeAspect="1"/>
          </p:cNvPicPr>
          <p:nvPr/>
        </p:nvPicPr>
        <p:blipFill>
          <a:blip r:embed="rId4"/>
          <a:stretch>
            <a:fillRect/>
          </a:stretch>
        </p:blipFill>
        <p:spPr>
          <a:xfrm>
            <a:off x="3163331" y="2302603"/>
            <a:ext cx="3968150" cy="2607223"/>
          </a:xfrm>
          <a:prstGeom prst="rect">
            <a:avLst/>
          </a:prstGeom>
        </p:spPr>
      </p:pic>
      <p:sp>
        <p:nvSpPr>
          <p:cNvPr id="13" name="TextBox 12">
            <a:extLst>
              <a:ext uri="{FF2B5EF4-FFF2-40B4-BE49-F238E27FC236}">
                <a16:creationId xmlns:a16="http://schemas.microsoft.com/office/drawing/2014/main" id="{26A2DA84-40DF-4D22-8E48-A3A1993C5510}"/>
              </a:ext>
            </a:extLst>
          </p:cNvPr>
          <p:cNvSpPr txBox="1"/>
          <p:nvPr/>
        </p:nvSpPr>
        <p:spPr>
          <a:xfrm>
            <a:off x="6409800" y="486076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39552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1CDF916-8E17-4AC7-9353-34210D7EA564}"/>
              </a:ext>
            </a:extLst>
          </p:cNvPr>
          <p:cNvSpPr txBox="1">
            <a:spLocks/>
          </p:cNvSpPr>
          <p:nvPr/>
        </p:nvSpPr>
        <p:spPr>
          <a:xfrm>
            <a:off x="246870" y="1596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Variable Width Buffers</a:t>
            </a:r>
          </a:p>
        </p:txBody>
      </p:sp>
      <p:cxnSp>
        <p:nvCxnSpPr>
          <p:cNvPr id="10" name="Straight Connector 9">
            <a:extLst>
              <a:ext uri="{FF2B5EF4-FFF2-40B4-BE49-F238E27FC236}">
                <a16:creationId xmlns:a16="http://schemas.microsoft.com/office/drawing/2014/main" id="{0A761485-B84C-45DE-868E-3EE8A887F3E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384FF3D-0BCF-448D-98F3-037C591CEE81}"/>
              </a:ext>
            </a:extLst>
          </p:cNvPr>
          <p:cNvSpPr txBox="1"/>
          <p:nvPr/>
        </p:nvSpPr>
        <p:spPr>
          <a:xfrm>
            <a:off x="152400" y="1000084"/>
            <a:ext cx="8077200" cy="867930"/>
          </a:xfrm>
          <a:prstGeom prst="rect">
            <a:avLst/>
          </a:prstGeom>
          <a:noFill/>
        </p:spPr>
        <p:txBody>
          <a:bodyPr wrap="square">
            <a:spAutoFit/>
          </a:bodyPr>
          <a:lstStyle/>
          <a:p>
            <a:pPr marL="457200" indent="-457200">
              <a:buFont typeface="Courier New" panose="02070309020205020404" pitchFamily="49" charset="0"/>
              <a:buChar char="o"/>
            </a:pPr>
            <a:r>
              <a:rPr lang="en-US" sz="2520" baseline="0" dirty="0"/>
              <a:t>Distance represent buffer width of all features based on a field</a:t>
            </a:r>
          </a:p>
        </p:txBody>
      </p:sp>
      <p:sp>
        <p:nvSpPr>
          <p:cNvPr id="2" name="Slide Number Placeholder 1">
            <a:extLst>
              <a:ext uri="{FF2B5EF4-FFF2-40B4-BE49-F238E27FC236}">
                <a16:creationId xmlns:a16="http://schemas.microsoft.com/office/drawing/2014/main" id="{8F39FFBE-5517-4BBC-A1B6-C1CF008FDCC7}"/>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13" name="TextBox 12">
            <a:extLst>
              <a:ext uri="{FF2B5EF4-FFF2-40B4-BE49-F238E27FC236}">
                <a16:creationId xmlns:a16="http://schemas.microsoft.com/office/drawing/2014/main" id="{26A2DA84-40DF-4D22-8E48-A3A1993C5510}"/>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pic>
        <p:nvPicPr>
          <p:cNvPr id="8" name="Picture 7" descr="Map&#10;&#10;Description automatically generated">
            <a:extLst>
              <a:ext uri="{FF2B5EF4-FFF2-40B4-BE49-F238E27FC236}">
                <a16:creationId xmlns:a16="http://schemas.microsoft.com/office/drawing/2014/main" id="{9F92A0C5-32A0-4EC4-A44F-68CD8F1B6F37}"/>
              </a:ext>
            </a:extLst>
          </p:cNvPr>
          <p:cNvPicPr>
            <a:picLocks noChangeAspect="1"/>
          </p:cNvPicPr>
          <p:nvPr/>
        </p:nvPicPr>
        <p:blipFill>
          <a:blip r:embed="rId3"/>
          <a:stretch>
            <a:fillRect/>
          </a:stretch>
        </p:blipFill>
        <p:spPr>
          <a:xfrm>
            <a:off x="928370" y="1914805"/>
            <a:ext cx="5481430" cy="2948550"/>
          </a:xfrm>
          <a:prstGeom prst="rect">
            <a:avLst/>
          </a:prstGeom>
        </p:spPr>
      </p:pic>
    </p:spTree>
    <p:extLst>
      <p:ext uri="{BB962C8B-B14F-4D97-AF65-F5344CB8AC3E}">
        <p14:creationId xmlns:p14="http://schemas.microsoft.com/office/powerpoint/2010/main" val="136638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73535"/>
            <a:ext cx="7406640" cy="433190"/>
          </a:xfrm>
        </p:spPr>
        <p:txBody>
          <a:bodyPr>
            <a:normAutofit/>
          </a:bodyPr>
          <a:lstStyle/>
          <a:p>
            <a:pPr>
              <a:buFont typeface="Courier New" panose="02070309020205020404" pitchFamily="49" charset="0"/>
              <a:buChar char="o"/>
            </a:pPr>
            <a:r>
              <a:rPr lang="en-US" sz="2000" dirty="0"/>
              <a:t>Multiple Ring Buffer</a:t>
            </a:r>
          </a:p>
        </p:txBody>
      </p:sp>
      <p:sp>
        <p:nvSpPr>
          <p:cNvPr id="2" name="Slide Number Placeholder 1">
            <a:extLst>
              <a:ext uri="{FF2B5EF4-FFF2-40B4-BE49-F238E27FC236}">
                <a16:creationId xmlns:a16="http://schemas.microsoft.com/office/drawing/2014/main" id="{F8C6E3A3-6A7F-4863-8739-FA5A2BC0DEB9}"/>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descr="Image showing image ring buffer"/>
          <p:cNvPicPr>
            <a:picLocks noChangeAspect="1"/>
          </p:cNvPicPr>
          <p:nvPr/>
        </p:nvPicPr>
        <p:blipFill>
          <a:blip r:embed="rId3">
            <a:clrChange>
              <a:clrFrom>
                <a:srgbClr val="00A9E6"/>
              </a:clrFrom>
              <a:clrTo>
                <a:srgbClr val="00A9E6">
                  <a:alpha val="0"/>
                </a:srgbClr>
              </a:clrTo>
            </a:clrChange>
          </a:blip>
          <a:stretch>
            <a:fillRect/>
          </a:stretch>
        </p:blipFill>
        <p:spPr>
          <a:xfrm>
            <a:off x="1130793" y="1874552"/>
            <a:ext cx="2932559" cy="2894780"/>
          </a:xfrm>
          <a:prstGeom prst="rect">
            <a:avLst/>
          </a:prstGeom>
        </p:spPr>
      </p:pic>
      <p:pic>
        <p:nvPicPr>
          <p:cNvPr id="5" name="Picture 4" descr="Image showing multiple ring buffer"/>
          <p:cNvPicPr>
            <a:picLocks noChangeAspect="1"/>
          </p:cNvPicPr>
          <p:nvPr/>
        </p:nvPicPr>
        <p:blipFill>
          <a:blip r:embed="rId4"/>
          <a:stretch>
            <a:fillRect/>
          </a:stretch>
        </p:blipFill>
        <p:spPr>
          <a:xfrm>
            <a:off x="5219491" y="1657350"/>
            <a:ext cx="2456731" cy="3150917"/>
          </a:xfrm>
          <a:prstGeom prst="rect">
            <a:avLst/>
          </a:prstGeom>
        </p:spPr>
      </p:pic>
      <p:sp>
        <p:nvSpPr>
          <p:cNvPr id="6" name="Title 1">
            <a:extLst>
              <a:ext uri="{FF2B5EF4-FFF2-40B4-BE49-F238E27FC236}">
                <a16:creationId xmlns:a16="http://schemas.microsoft.com/office/drawing/2014/main" id="{CE7A44FF-8F8C-4225-8073-E4639456EC1B}"/>
              </a:ext>
            </a:extLst>
          </p:cNvPr>
          <p:cNvSpPr txBox="1">
            <a:spLocks/>
          </p:cNvSpPr>
          <p:nvPr/>
        </p:nvSpPr>
        <p:spPr>
          <a:xfrm>
            <a:off x="152400" y="2162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Buffer</a:t>
            </a:r>
          </a:p>
        </p:txBody>
      </p:sp>
      <p:cxnSp>
        <p:nvCxnSpPr>
          <p:cNvPr id="7" name="Straight Connector 6">
            <a:extLst>
              <a:ext uri="{FF2B5EF4-FFF2-40B4-BE49-F238E27FC236}">
                <a16:creationId xmlns:a16="http://schemas.microsoft.com/office/drawing/2014/main" id="{A8AA4DB4-BA45-4378-88EC-D1094EF8D6A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698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426F9CA-E540-A09A-BCB4-D8FA045678B5}"/>
              </a:ext>
            </a:extLst>
          </p:cNvPr>
          <p:cNvPicPr>
            <a:picLocks noGrp="1" noChangeAspect="1"/>
          </p:cNvPicPr>
          <p:nvPr>
            <p:ph idx="1"/>
          </p:nvPr>
        </p:nvPicPr>
        <p:blipFill>
          <a:blip r:embed="rId2"/>
          <a:stretch>
            <a:fillRect/>
          </a:stretch>
        </p:blipFill>
        <p:spPr>
          <a:xfrm>
            <a:off x="5043384" y="1898116"/>
            <a:ext cx="2361905" cy="2095238"/>
          </a:xfrm>
          <a:prstGeom prst="rect">
            <a:avLst/>
          </a:prstGeom>
        </p:spPr>
      </p:pic>
      <p:sp>
        <p:nvSpPr>
          <p:cNvPr id="4" name="Slide Number Placeholder 3">
            <a:extLst>
              <a:ext uri="{FF2B5EF4-FFF2-40B4-BE49-F238E27FC236}">
                <a16:creationId xmlns:a16="http://schemas.microsoft.com/office/drawing/2014/main" id="{0E194686-1E69-09EC-6406-634A81BA53AB}"/>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5" name="Title 1">
            <a:extLst>
              <a:ext uri="{FF2B5EF4-FFF2-40B4-BE49-F238E27FC236}">
                <a16:creationId xmlns:a16="http://schemas.microsoft.com/office/drawing/2014/main" id="{511A110C-3391-7EBF-069F-22DC09837026}"/>
              </a:ext>
            </a:extLst>
          </p:cNvPr>
          <p:cNvSpPr txBox="1">
            <a:spLocks/>
          </p:cNvSpPr>
          <p:nvPr/>
        </p:nvSpPr>
        <p:spPr>
          <a:xfrm>
            <a:off x="152400" y="2162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Doughnut Buffer</a:t>
            </a:r>
          </a:p>
        </p:txBody>
      </p:sp>
    </p:spTree>
    <p:extLst>
      <p:ext uri="{BB962C8B-B14F-4D97-AF65-F5344CB8AC3E}">
        <p14:creationId xmlns:p14="http://schemas.microsoft.com/office/powerpoint/2010/main" val="1621948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D6BA3C-9EEA-A957-F005-C4137C46F575}"/>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7" name="Title 1">
            <a:extLst>
              <a:ext uri="{FF2B5EF4-FFF2-40B4-BE49-F238E27FC236}">
                <a16:creationId xmlns:a16="http://schemas.microsoft.com/office/drawing/2014/main" id="{EE389F97-3EF4-FBF9-210C-E9A688389CE6}"/>
              </a:ext>
            </a:extLst>
          </p:cNvPr>
          <p:cNvSpPr txBox="1">
            <a:spLocks/>
          </p:cNvSpPr>
          <p:nvPr/>
        </p:nvSpPr>
        <p:spPr>
          <a:xfrm>
            <a:off x="152400" y="21628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Setback buffer</a:t>
            </a:r>
          </a:p>
        </p:txBody>
      </p:sp>
      <p:sp>
        <p:nvSpPr>
          <p:cNvPr id="9" name="TextBox 8">
            <a:extLst>
              <a:ext uri="{FF2B5EF4-FFF2-40B4-BE49-F238E27FC236}">
                <a16:creationId xmlns:a16="http://schemas.microsoft.com/office/drawing/2014/main" id="{5A62D0F6-0EDF-A60B-D315-9E72E8E0C981}"/>
              </a:ext>
            </a:extLst>
          </p:cNvPr>
          <p:cNvSpPr txBox="1"/>
          <p:nvPr/>
        </p:nvSpPr>
        <p:spPr>
          <a:xfrm>
            <a:off x="282409" y="1025049"/>
            <a:ext cx="7209254" cy="400110"/>
          </a:xfrm>
          <a:prstGeom prst="rect">
            <a:avLst/>
          </a:prstGeom>
          <a:noFill/>
        </p:spPr>
        <p:txBody>
          <a:bodyPr wrap="square">
            <a:spAutoFit/>
          </a:bodyPr>
          <a:lstStyle/>
          <a:p>
            <a:pPr marL="206550" indent="-206550" defTabSz="308610">
              <a:spcBef>
                <a:spcPct val="20000"/>
              </a:spcBef>
              <a:spcAft>
                <a:spcPts val="405"/>
              </a:spcAft>
              <a:buClr>
                <a:schemeClr val="accent1"/>
              </a:buClr>
              <a:buSzPct val="92000"/>
              <a:buFont typeface="Courier New" panose="02070309020205020404" pitchFamily="49" charset="0"/>
              <a:buChar char="o"/>
            </a:pPr>
            <a:r>
              <a:rPr lang="en-US" sz="2000" dirty="0"/>
              <a:t>Only buffer the area inside of the polygon boundary.</a:t>
            </a:r>
            <a:endParaRPr lang="en-US" sz="2000" dirty="0">
              <a:solidFill>
                <a:schemeClr val="tx1">
                  <a:lumMod val="75000"/>
                  <a:lumOff val="25000"/>
                </a:schemeClr>
              </a:solidFill>
            </a:endParaRPr>
          </a:p>
        </p:txBody>
      </p:sp>
      <p:pic>
        <p:nvPicPr>
          <p:cNvPr id="13" name="Picture 12">
            <a:extLst>
              <a:ext uri="{FF2B5EF4-FFF2-40B4-BE49-F238E27FC236}">
                <a16:creationId xmlns:a16="http://schemas.microsoft.com/office/drawing/2014/main" id="{8BDA6307-F7FC-A002-04BB-963C68DCE1B5}"/>
              </a:ext>
            </a:extLst>
          </p:cNvPr>
          <p:cNvPicPr>
            <a:picLocks noChangeAspect="1"/>
          </p:cNvPicPr>
          <p:nvPr/>
        </p:nvPicPr>
        <p:blipFill>
          <a:blip r:embed="rId2"/>
          <a:stretch>
            <a:fillRect/>
          </a:stretch>
        </p:blipFill>
        <p:spPr>
          <a:xfrm>
            <a:off x="2914588" y="1848265"/>
            <a:ext cx="2821194" cy="2546564"/>
          </a:xfrm>
          <a:prstGeom prst="rect">
            <a:avLst/>
          </a:prstGeom>
        </p:spPr>
      </p:pic>
    </p:spTree>
    <p:extLst>
      <p:ext uri="{BB962C8B-B14F-4D97-AF65-F5344CB8AC3E}">
        <p14:creationId xmlns:p14="http://schemas.microsoft.com/office/powerpoint/2010/main" val="79260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CF87973-0C59-355F-44AB-49A1666C7E2B}"/>
              </a:ext>
            </a:extLst>
          </p:cNvPr>
          <p:cNvPicPr>
            <a:picLocks noGrp="1" noChangeAspect="1"/>
          </p:cNvPicPr>
          <p:nvPr>
            <p:ph idx="1"/>
          </p:nvPr>
        </p:nvPicPr>
        <p:blipFill>
          <a:blip r:embed="rId2"/>
          <a:stretch>
            <a:fillRect/>
          </a:stretch>
        </p:blipFill>
        <p:spPr>
          <a:xfrm>
            <a:off x="1296709" y="1146770"/>
            <a:ext cx="6091223" cy="2691471"/>
          </a:xfrm>
          <a:prstGeom prst="rect">
            <a:avLst/>
          </a:prstGeom>
        </p:spPr>
      </p:pic>
      <p:sp>
        <p:nvSpPr>
          <p:cNvPr id="4" name="Slide Number Placeholder 3">
            <a:extLst>
              <a:ext uri="{FF2B5EF4-FFF2-40B4-BE49-F238E27FC236}">
                <a16:creationId xmlns:a16="http://schemas.microsoft.com/office/drawing/2014/main" id="{CA6251B7-1175-F0AD-2771-72246AA664E1}"/>
              </a:ext>
            </a:extLst>
          </p:cNvPr>
          <p:cNvSpPr>
            <a:spLocks noGrp="1"/>
          </p:cNvSpPr>
          <p:nvPr>
            <p:ph type="sldNum" sz="quarter" idx="12"/>
          </p:nvPr>
        </p:nvSpPr>
        <p:spPr/>
        <p:txBody>
          <a:bodyPr/>
          <a:lstStyle/>
          <a:p>
            <a:fld id="{127DDC20-79C9-9647-820E-6D40A3D210C3}" type="slidenum">
              <a:rPr lang="en-US" smtClean="0"/>
              <a:pPr/>
              <a:t>16</a:t>
            </a:fld>
            <a:endParaRPr lang="en-US"/>
          </a:p>
        </p:txBody>
      </p:sp>
      <p:sp>
        <p:nvSpPr>
          <p:cNvPr id="7" name="Title 1">
            <a:extLst>
              <a:ext uri="{FF2B5EF4-FFF2-40B4-BE49-F238E27FC236}">
                <a16:creationId xmlns:a16="http://schemas.microsoft.com/office/drawing/2014/main" id="{585EE4BF-BFDA-784B-84A3-6159D821793D}"/>
              </a:ext>
            </a:extLst>
          </p:cNvPr>
          <p:cNvSpPr txBox="1">
            <a:spLocks/>
          </p:cNvSpPr>
          <p:nvPr/>
        </p:nvSpPr>
        <p:spPr>
          <a:xfrm>
            <a:off x="152400" y="28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a:t>
            </a:r>
            <a:r>
              <a:rPr lang="en-US" sz="2600" dirty="0" err="1">
                <a:solidFill>
                  <a:srgbClr val="7030A0"/>
                </a:solidFill>
              </a:rPr>
              <a:t>Nondissolved</a:t>
            </a:r>
            <a:r>
              <a:rPr lang="en-US" sz="2600" dirty="0">
                <a:solidFill>
                  <a:srgbClr val="7030A0"/>
                </a:solidFill>
              </a:rPr>
              <a:t> Buffer &amp; Dissolved Buffer</a:t>
            </a:r>
          </a:p>
        </p:txBody>
      </p:sp>
      <p:sp>
        <p:nvSpPr>
          <p:cNvPr id="8" name="TextBox 7">
            <a:extLst>
              <a:ext uri="{FF2B5EF4-FFF2-40B4-BE49-F238E27FC236}">
                <a16:creationId xmlns:a16="http://schemas.microsoft.com/office/drawing/2014/main" id="{9B08641C-E4A8-424C-019C-5977EC372BE7}"/>
              </a:ext>
            </a:extLst>
          </p:cNvPr>
          <p:cNvSpPr txBox="1"/>
          <p:nvPr/>
        </p:nvSpPr>
        <p:spPr>
          <a:xfrm>
            <a:off x="296778" y="4669314"/>
            <a:ext cx="6665495" cy="369332"/>
          </a:xfrm>
          <a:prstGeom prst="rect">
            <a:avLst/>
          </a:prstGeom>
          <a:noFill/>
        </p:spPr>
        <p:txBody>
          <a:bodyPr wrap="square" rtlCol="0">
            <a:spAutoFit/>
          </a:bodyPr>
          <a:lstStyle/>
          <a:p>
            <a:r>
              <a:rPr lang="en-US" dirty="0">
                <a:hlinkClick r:id="rId3"/>
              </a:rPr>
              <a:t>Map Source</a:t>
            </a:r>
            <a:endParaRPr lang="en-US" dirty="0"/>
          </a:p>
        </p:txBody>
      </p:sp>
    </p:spTree>
    <p:extLst>
      <p:ext uri="{BB962C8B-B14F-4D97-AF65-F5344CB8AC3E}">
        <p14:creationId xmlns:p14="http://schemas.microsoft.com/office/powerpoint/2010/main" val="37943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2D45D-A948-01BE-C62E-5401633922B0}"/>
              </a:ext>
            </a:extLst>
          </p:cNvPr>
          <p:cNvSpPr>
            <a:spLocks noGrp="1"/>
          </p:cNvSpPr>
          <p:nvPr>
            <p:ph type="title"/>
          </p:nvPr>
        </p:nvSpPr>
        <p:spPr>
          <a:xfrm>
            <a:off x="392305" y="526617"/>
            <a:ext cx="7444991" cy="492057"/>
          </a:xfrm>
        </p:spPr>
        <p:txBody>
          <a:bodyPr>
            <a:normAutofit/>
          </a:bodyPr>
          <a:lstStyle/>
          <a:p>
            <a:r>
              <a:rPr lang="en-US" sz="2400" dirty="0"/>
              <a:t>Class Discussions</a:t>
            </a:r>
          </a:p>
        </p:txBody>
      </p:sp>
      <p:sp>
        <p:nvSpPr>
          <p:cNvPr id="3" name="Content Placeholder 2">
            <a:extLst>
              <a:ext uri="{FF2B5EF4-FFF2-40B4-BE49-F238E27FC236}">
                <a16:creationId xmlns:a16="http://schemas.microsoft.com/office/drawing/2014/main" id="{F23FED68-07CC-1ED7-0A01-832836532E36}"/>
              </a:ext>
            </a:extLst>
          </p:cNvPr>
          <p:cNvSpPr>
            <a:spLocks noGrp="1"/>
          </p:cNvSpPr>
          <p:nvPr>
            <p:ph idx="1"/>
          </p:nvPr>
        </p:nvSpPr>
        <p:spPr>
          <a:xfrm>
            <a:off x="392307" y="1105461"/>
            <a:ext cx="7444990" cy="2368018"/>
          </a:xfrm>
        </p:spPr>
        <p:txBody>
          <a:bodyPr>
            <a:noAutofit/>
          </a:bodyPr>
          <a:lstStyle/>
          <a:p>
            <a:r>
              <a:rPr lang="en-US" sz="1800" dirty="0"/>
              <a:t>A highway runs through Conway and Little Rock. You want to analyze how far highway noise may influence nearby neighborhoods and schools.</a:t>
            </a:r>
          </a:p>
          <a:p>
            <a:pPr marL="447300" lvl="1" indent="-228600">
              <a:buFont typeface="+mj-lt"/>
              <a:buAutoNum type="alphaLcPeriod"/>
            </a:pPr>
            <a:r>
              <a:rPr lang="en-US" sz="1800" b="1" dirty="0"/>
              <a:t>Question:</a:t>
            </a:r>
          </a:p>
          <a:p>
            <a:pPr marL="400950" lvl="2" indent="0">
              <a:buNone/>
            </a:pPr>
            <a:r>
              <a:rPr lang="en-US" sz="1665" dirty="0"/>
              <a:t>What is the name of this highway?</a:t>
            </a:r>
          </a:p>
          <a:p>
            <a:pPr marL="447300" lvl="1" indent="-228600">
              <a:buFont typeface="+mj-lt"/>
              <a:buAutoNum type="alphaLcPeriod"/>
            </a:pPr>
            <a:r>
              <a:rPr lang="en-US" sz="1800" b="1" dirty="0"/>
              <a:t>Question:</a:t>
            </a:r>
            <a:br>
              <a:rPr lang="en-US" sz="1800" dirty="0"/>
            </a:br>
            <a:r>
              <a:rPr lang="en-US" sz="1800" dirty="0"/>
              <a:t>Which buffer type best shows how noise levels decrease at different distances (e.g., 200 m, 400 m, 600 m) from the highway corridor?</a:t>
            </a:r>
          </a:p>
        </p:txBody>
      </p:sp>
      <p:sp>
        <p:nvSpPr>
          <p:cNvPr id="4" name="Slide Number Placeholder 3">
            <a:extLst>
              <a:ext uri="{FF2B5EF4-FFF2-40B4-BE49-F238E27FC236}">
                <a16:creationId xmlns:a16="http://schemas.microsoft.com/office/drawing/2014/main" id="{4B1801E6-0764-8046-7E64-27EB984A4FF5}"/>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6" name="TextBox 5">
            <a:extLst>
              <a:ext uri="{FF2B5EF4-FFF2-40B4-BE49-F238E27FC236}">
                <a16:creationId xmlns:a16="http://schemas.microsoft.com/office/drawing/2014/main" id="{D093FA97-ED3A-3A7B-72FB-FA971BE5F5AF}"/>
              </a:ext>
            </a:extLst>
          </p:cNvPr>
          <p:cNvSpPr txBox="1"/>
          <p:nvPr/>
        </p:nvSpPr>
        <p:spPr>
          <a:xfrm>
            <a:off x="1876202" y="1805100"/>
            <a:ext cx="4114800" cy="369332"/>
          </a:xfrm>
          <a:prstGeom prst="rect">
            <a:avLst/>
          </a:prstGeom>
          <a:noFill/>
        </p:spPr>
        <p:txBody>
          <a:bodyPr wrap="square">
            <a:spAutoFit/>
          </a:bodyPr>
          <a:lstStyle/>
          <a:p>
            <a:r>
              <a:rPr lang="en-US" dirty="0"/>
              <a:t>🤔</a:t>
            </a:r>
          </a:p>
        </p:txBody>
      </p:sp>
      <p:sp>
        <p:nvSpPr>
          <p:cNvPr id="8" name="TextBox 7">
            <a:extLst>
              <a:ext uri="{FF2B5EF4-FFF2-40B4-BE49-F238E27FC236}">
                <a16:creationId xmlns:a16="http://schemas.microsoft.com/office/drawing/2014/main" id="{6F5C241C-F9EF-58FB-70FF-C82EBD513266}"/>
              </a:ext>
            </a:extLst>
          </p:cNvPr>
          <p:cNvSpPr txBox="1"/>
          <p:nvPr/>
        </p:nvSpPr>
        <p:spPr>
          <a:xfrm>
            <a:off x="2658979" y="3560266"/>
            <a:ext cx="4114800" cy="1200329"/>
          </a:xfrm>
          <a:prstGeom prst="rect">
            <a:avLst/>
          </a:prstGeom>
          <a:noFill/>
        </p:spPr>
        <p:txBody>
          <a:bodyPr wrap="square">
            <a:spAutoFit/>
          </a:bodyPr>
          <a:lstStyle/>
          <a:p>
            <a:pPr marL="342900" indent="-342900">
              <a:buFont typeface="+mj-lt"/>
              <a:buAutoNum type="alphaLcParenR"/>
            </a:pPr>
            <a:r>
              <a:rPr lang="en-US" dirty="0"/>
              <a:t>Variable Width Buffer</a:t>
            </a:r>
          </a:p>
          <a:p>
            <a:pPr marL="342900" indent="-342900">
              <a:buFont typeface="+mj-lt"/>
              <a:buAutoNum type="alphaLcParenR"/>
            </a:pPr>
            <a:r>
              <a:rPr lang="en-US" dirty="0"/>
              <a:t>Multiple Ring Buffer</a:t>
            </a:r>
          </a:p>
          <a:p>
            <a:pPr marL="342900" indent="-342900">
              <a:buFont typeface="+mj-lt"/>
              <a:buAutoNum type="alphaLcParenR"/>
            </a:pPr>
            <a:r>
              <a:rPr lang="en-US" dirty="0"/>
              <a:t>Doughnut Buffer</a:t>
            </a:r>
          </a:p>
          <a:p>
            <a:pPr marL="342900" indent="-342900">
              <a:buFont typeface="+mj-lt"/>
              <a:buAutoNum type="alphaLcParenR"/>
            </a:pPr>
            <a:r>
              <a:rPr lang="en-US" dirty="0"/>
              <a:t>Dissolved Buffer</a:t>
            </a:r>
          </a:p>
        </p:txBody>
      </p:sp>
    </p:spTree>
    <p:extLst>
      <p:ext uri="{BB962C8B-B14F-4D97-AF65-F5344CB8AC3E}">
        <p14:creationId xmlns:p14="http://schemas.microsoft.com/office/powerpoint/2010/main" val="410844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A920-69BE-2031-F060-5A3BDD5EBDF5}"/>
              </a:ext>
            </a:extLst>
          </p:cNvPr>
          <p:cNvSpPr>
            <a:spLocks noGrp="1"/>
          </p:cNvSpPr>
          <p:nvPr>
            <p:ph type="title"/>
          </p:nvPr>
        </p:nvSpPr>
        <p:spPr>
          <a:xfrm>
            <a:off x="392305" y="526617"/>
            <a:ext cx="7444991" cy="476015"/>
          </a:xfrm>
        </p:spPr>
        <p:txBody>
          <a:bodyPr/>
          <a:lstStyle/>
          <a:p>
            <a:r>
              <a:rPr lang="en-US" sz="2000" dirty="0"/>
              <a:t>Class Discussions</a:t>
            </a:r>
            <a:endParaRPr lang="en-US" dirty="0"/>
          </a:p>
        </p:txBody>
      </p:sp>
      <p:sp>
        <p:nvSpPr>
          <p:cNvPr id="3" name="Content Placeholder 2">
            <a:extLst>
              <a:ext uri="{FF2B5EF4-FFF2-40B4-BE49-F238E27FC236}">
                <a16:creationId xmlns:a16="http://schemas.microsoft.com/office/drawing/2014/main" id="{F9592393-BA34-C9A2-A4F9-AABF147FFCFA}"/>
              </a:ext>
            </a:extLst>
          </p:cNvPr>
          <p:cNvSpPr>
            <a:spLocks noGrp="1"/>
          </p:cNvSpPr>
          <p:nvPr>
            <p:ph idx="1"/>
          </p:nvPr>
        </p:nvSpPr>
        <p:spPr>
          <a:xfrm>
            <a:off x="392307" y="1195138"/>
            <a:ext cx="7444990" cy="2351408"/>
          </a:xfrm>
        </p:spPr>
        <p:txBody>
          <a:bodyPr>
            <a:noAutofit/>
          </a:bodyPr>
          <a:lstStyle/>
          <a:p>
            <a:r>
              <a:rPr lang="en-US" sz="1600" dirty="0"/>
              <a:t>You’re studying air-quality patterns near the </a:t>
            </a:r>
            <a:r>
              <a:rPr lang="en-US" sz="1600" dirty="0">
                <a:hlinkClick r:id="rId2">
                  <a:extLst>
                    <a:ext uri="{A12FA001-AC4F-418D-AE19-62706E023703}">
                      <ahyp:hlinkClr xmlns:ahyp="http://schemas.microsoft.com/office/drawing/2018/hyperlinkcolor" val="tx"/>
                    </a:ext>
                  </a:extLst>
                </a:hlinkClick>
              </a:rPr>
              <a:t>industrial zone of Little Rock</a:t>
            </a:r>
            <a:r>
              <a:rPr lang="en-US" sz="1600" dirty="0"/>
              <a:t>. Pollution is severe within 500 m, moderate between 500–1000 m, and negligible beyond that.</a:t>
            </a:r>
          </a:p>
          <a:p>
            <a:pPr marL="342900" indent="-342900">
              <a:buFont typeface="+mj-lt"/>
              <a:buAutoNum type="alphaLcPeriod"/>
            </a:pPr>
            <a:r>
              <a:rPr lang="en-US" sz="1600" dirty="0"/>
              <a:t>Question:</a:t>
            </a:r>
          </a:p>
          <a:p>
            <a:pPr marL="473850" lvl="4" indent="0">
              <a:buNone/>
            </a:pPr>
            <a:r>
              <a:rPr lang="en-US" sz="1600" dirty="0"/>
              <a:t>Which regions of little rock have more industrial zone based on land use zone map?</a:t>
            </a:r>
          </a:p>
          <a:p>
            <a:pPr marL="342900" indent="-342900">
              <a:buFont typeface="+mj-lt"/>
              <a:buAutoNum type="alphaLcPeriod"/>
            </a:pPr>
            <a:r>
              <a:rPr lang="en-US" sz="1600" dirty="0"/>
              <a:t>Question:</a:t>
            </a:r>
          </a:p>
          <a:p>
            <a:pPr marL="400950" lvl="2" indent="0">
              <a:buNone/>
            </a:pPr>
            <a:r>
              <a:rPr lang="en-US" sz="1600" dirty="0"/>
              <a:t>If you only want to study the “moderate-impact zone” (500–1000 m), which buffer type should you use?</a:t>
            </a:r>
          </a:p>
        </p:txBody>
      </p:sp>
      <p:sp>
        <p:nvSpPr>
          <p:cNvPr id="4" name="Slide Number Placeholder 3">
            <a:extLst>
              <a:ext uri="{FF2B5EF4-FFF2-40B4-BE49-F238E27FC236}">
                <a16:creationId xmlns:a16="http://schemas.microsoft.com/office/drawing/2014/main" id="{7B9A7E56-202C-5244-8B53-133AC5984417}"/>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5" name="TextBox 4">
            <a:extLst>
              <a:ext uri="{FF2B5EF4-FFF2-40B4-BE49-F238E27FC236}">
                <a16:creationId xmlns:a16="http://schemas.microsoft.com/office/drawing/2014/main" id="{A05AD64E-7AD6-AE66-53B6-A8014068B115}"/>
              </a:ext>
            </a:extLst>
          </p:cNvPr>
          <p:cNvSpPr txBox="1"/>
          <p:nvPr/>
        </p:nvSpPr>
        <p:spPr>
          <a:xfrm>
            <a:off x="2994382" y="3739052"/>
            <a:ext cx="2553904" cy="1200329"/>
          </a:xfrm>
          <a:prstGeom prst="rect">
            <a:avLst/>
          </a:prstGeom>
          <a:noFill/>
        </p:spPr>
        <p:txBody>
          <a:bodyPr wrap="none" rtlCol="0">
            <a:spAutoFit/>
          </a:bodyPr>
          <a:lstStyle/>
          <a:p>
            <a:pPr marL="342900" indent="-342900" algn="just">
              <a:buFont typeface="+mj-lt"/>
              <a:buAutoNum type="alphaLcParenR"/>
            </a:pPr>
            <a:r>
              <a:rPr lang="en-US" dirty="0"/>
              <a:t>Multiple Ring Buffer</a:t>
            </a:r>
          </a:p>
          <a:p>
            <a:pPr marL="342900" indent="-342900" algn="just">
              <a:buFont typeface="+mj-lt"/>
              <a:buAutoNum type="alphaLcParenR"/>
            </a:pPr>
            <a:r>
              <a:rPr lang="en-US" dirty="0"/>
              <a:t>Doughnut Buffer</a:t>
            </a:r>
          </a:p>
          <a:p>
            <a:pPr marL="342900" indent="-342900" algn="just">
              <a:buFont typeface="+mj-lt"/>
              <a:buAutoNum type="alphaLcParenR"/>
            </a:pPr>
            <a:r>
              <a:rPr lang="en-US" dirty="0" err="1"/>
              <a:t>Nondissolved</a:t>
            </a:r>
            <a:r>
              <a:rPr lang="en-US" dirty="0"/>
              <a:t> Buffer</a:t>
            </a:r>
          </a:p>
          <a:p>
            <a:pPr marL="342900" indent="-342900" algn="just">
              <a:buFont typeface="+mj-lt"/>
              <a:buAutoNum type="alphaLcParenR"/>
            </a:pPr>
            <a:r>
              <a:rPr lang="en-US" dirty="0"/>
              <a:t>Variable Width Buffer</a:t>
            </a:r>
          </a:p>
        </p:txBody>
      </p:sp>
    </p:spTree>
    <p:extLst>
      <p:ext uri="{BB962C8B-B14F-4D97-AF65-F5344CB8AC3E}">
        <p14:creationId xmlns:p14="http://schemas.microsoft.com/office/powerpoint/2010/main" val="135761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84228-40C6-F875-1755-93F45BD8F10F}"/>
              </a:ext>
            </a:extLst>
          </p:cNvPr>
          <p:cNvSpPr>
            <a:spLocks noGrp="1"/>
          </p:cNvSpPr>
          <p:nvPr>
            <p:ph type="title"/>
          </p:nvPr>
        </p:nvSpPr>
        <p:spPr>
          <a:xfrm>
            <a:off x="392305" y="526617"/>
            <a:ext cx="7444991" cy="492057"/>
          </a:xfrm>
        </p:spPr>
        <p:txBody>
          <a:bodyPr/>
          <a:lstStyle/>
          <a:p>
            <a:r>
              <a:rPr lang="en-US" sz="2000" dirty="0"/>
              <a:t>Class Discussions</a:t>
            </a:r>
            <a:endParaRPr lang="en-US" dirty="0"/>
          </a:p>
        </p:txBody>
      </p:sp>
      <p:sp>
        <p:nvSpPr>
          <p:cNvPr id="3" name="Content Placeholder 2">
            <a:extLst>
              <a:ext uri="{FF2B5EF4-FFF2-40B4-BE49-F238E27FC236}">
                <a16:creationId xmlns:a16="http://schemas.microsoft.com/office/drawing/2014/main" id="{9AE292EB-7C20-E7B8-B930-A83A8457B9C7}"/>
              </a:ext>
            </a:extLst>
          </p:cNvPr>
          <p:cNvSpPr>
            <a:spLocks noGrp="1"/>
          </p:cNvSpPr>
          <p:nvPr>
            <p:ph idx="1"/>
          </p:nvPr>
        </p:nvSpPr>
        <p:spPr>
          <a:xfrm>
            <a:off x="464496" y="1018674"/>
            <a:ext cx="7444990" cy="2725865"/>
          </a:xfrm>
        </p:spPr>
        <p:txBody>
          <a:bodyPr>
            <a:normAutofit/>
          </a:bodyPr>
          <a:lstStyle/>
          <a:p>
            <a:r>
              <a:rPr lang="en-US" sz="1800" dirty="0"/>
              <a:t>To protect water quality, Arkansas State Parks prohibit construction within 100 m of the shoreline of largest lake in Arkansas. </a:t>
            </a:r>
          </a:p>
          <a:p>
            <a:pPr marL="342900" indent="-342900">
              <a:buFont typeface="+mj-lt"/>
              <a:buAutoNum type="alphaLcPeriod"/>
            </a:pPr>
            <a:r>
              <a:rPr lang="en-US" sz="1800" dirty="0"/>
              <a:t>Question:</a:t>
            </a:r>
          </a:p>
          <a:p>
            <a:pPr marL="400950" lvl="2" indent="0">
              <a:buNone/>
            </a:pPr>
            <a:r>
              <a:rPr lang="en-US" sz="1665" dirty="0"/>
              <a:t>Which lake is the largest lake in Arkansas?</a:t>
            </a:r>
          </a:p>
          <a:p>
            <a:pPr marL="342900" indent="-342900">
              <a:buFont typeface="+mj-lt"/>
              <a:buAutoNum type="alphaLcPeriod"/>
            </a:pPr>
            <a:r>
              <a:rPr lang="en-US" sz="1800" dirty="0"/>
              <a:t>Question:</a:t>
            </a:r>
            <a:br>
              <a:rPr lang="en-US" sz="1800" dirty="0"/>
            </a:br>
            <a:r>
              <a:rPr lang="en-US" sz="1800" dirty="0"/>
              <a:t>Which buffer type defines the restricted inland area from the lake boundary?</a:t>
            </a:r>
          </a:p>
          <a:p>
            <a:endParaRPr lang="en-US" dirty="0"/>
          </a:p>
        </p:txBody>
      </p:sp>
      <p:sp>
        <p:nvSpPr>
          <p:cNvPr id="4" name="Slide Number Placeholder 3">
            <a:extLst>
              <a:ext uri="{FF2B5EF4-FFF2-40B4-BE49-F238E27FC236}">
                <a16:creationId xmlns:a16="http://schemas.microsoft.com/office/drawing/2014/main" id="{E7956609-AC71-0B12-07B9-4933BC2989B3}"/>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6" name="TextBox 5">
            <a:extLst>
              <a:ext uri="{FF2B5EF4-FFF2-40B4-BE49-F238E27FC236}">
                <a16:creationId xmlns:a16="http://schemas.microsoft.com/office/drawing/2014/main" id="{C4814BAD-8B88-AA53-A443-9B04EACA679C}"/>
              </a:ext>
            </a:extLst>
          </p:cNvPr>
          <p:cNvSpPr txBox="1"/>
          <p:nvPr/>
        </p:nvSpPr>
        <p:spPr>
          <a:xfrm>
            <a:off x="3188516" y="3524661"/>
            <a:ext cx="2771126" cy="1200329"/>
          </a:xfrm>
          <a:prstGeom prst="rect">
            <a:avLst/>
          </a:prstGeom>
          <a:noFill/>
        </p:spPr>
        <p:txBody>
          <a:bodyPr wrap="square">
            <a:spAutoFit/>
          </a:bodyPr>
          <a:lstStyle/>
          <a:p>
            <a:pPr marL="342900" indent="-342900">
              <a:buFont typeface="+mj-lt"/>
              <a:buAutoNum type="alphaLcParenR"/>
            </a:pPr>
            <a:r>
              <a:rPr lang="en-US" dirty="0"/>
              <a:t>Setback Buffer</a:t>
            </a:r>
          </a:p>
          <a:p>
            <a:pPr marL="342900" indent="-342900">
              <a:buFont typeface="+mj-lt"/>
              <a:buAutoNum type="alphaLcParenR"/>
            </a:pPr>
            <a:r>
              <a:rPr lang="en-US" dirty="0"/>
              <a:t>Doughnut Buffer</a:t>
            </a:r>
          </a:p>
          <a:p>
            <a:pPr marL="342900" indent="-342900">
              <a:buFont typeface="+mj-lt"/>
              <a:buAutoNum type="alphaLcParenR"/>
            </a:pPr>
            <a:r>
              <a:rPr lang="en-US" dirty="0"/>
              <a:t>Dissolved Buffer</a:t>
            </a:r>
          </a:p>
          <a:p>
            <a:pPr marL="342900" indent="-342900">
              <a:buFont typeface="+mj-lt"/>
              <a:buAutoNum type="alphaLcParenR"/>
            </a:pPr>
            <a:r>
              <a:rPr lang="en-US" dirty="0"/>
              <a:t>Variable Width Buffer</a:t>
            </a:r>
          </a:p>
        </p:txBody>
      </p:sp>
    </p:spTree>
    <p:extLst>
      <p:ext uri="{BB962C8B-B14F-4D97-AF65-F5344CB8AC3E}">
        <p14:creationId xmlns:p14="http://schemas.microsoft.com/office/powerpoint/2010/main" val="3342123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E354B-B649-D8D4-C08F-9BC720BA67F6}"/>
              </a:ext>
            </a:extLst>
          </p:cNvPr>
          <p:cNvSpPr>
            <a:spLocks noGrp="1"/>
          </p:cNvSpPr>
          <p:nvPr>
            <p:ph type="title"/>
          </p:nvPr>
        </p:nvSpPr>
        <p:spPr>
          <a:xfrm>
            <a:off x="392305" y="526617"/>
            <a:ext cx="7444991" cy="403825"/>
          </a:xfrm>
        </p:spPr>
        <p:txBody>
          <a:bodyPr/>
          <a:lstStyle/>
          <a:p>
            <a:r>
              <a:rPr lang="en-US" sz="2000" dirty="0"/>
              <a:t>Class Discussions</a:t>
            </a:r>
            <a:endParaRPr lang="en-US" dirty="0"/>
          </a:p>
        </p:txBody>
      </p:sp>
      <p:sp>
        <p:nvSpPr>
          <p:cNvPr id="3" name="Content Placeholder 2">
            <a:extLst>
              <a:ext uri="{FF2B5EF4-FFF2-40B4-BE49-F238E27FC236}">
                <a16:creationId xmlns:a16="http://schemas.microsoft.com/office/drawing/2014/main" id="{83BB9B14-56BC-27E7-5A14-82B941CC073B}"/>
              </a:ext>
            </a:extLst>
          </p:cNvPr>
          <p:cNvSpPr>
            <a:spLocks noGrp="1"/>
          </p:cNvSpPr>
          <p:nvPr>
            <p:ph idx="1"/>
          </p:nvPr>
        </p:nvSpPr>
        <p:spPr>
          <a:xfrm>
            <a:off x="392307" y="1102211"/>
            <a:ext cx="7444990" cy="1356520"/>
          </a:xfrm>
        </p:spPr>
        <p:txBody>
          <a:bodyPr>
            <a:normAutofit/>
          </a:bodyPr>
          <a:lstStyle/>
          <a:p>
            <a:r>
              <a:rPr lang="en-US" sz="1800" dirty="0"/>
              <a:t>The county’s Environmental Office wants to map 500 m protection zones around each public well but keep them separate for individual monitoring.</a:t>
            </a:r>
          </a:p>
          <a:p>
            <a:pPr marL="342900" indent="-342900">
              <a:buFont typeface="+mj-lt"/>
              <a:buAutoNum type="alphaLcPeriod"/>
            </a:pPr>
            <a:r>
              <a:rPr lang="en-US" sz="1800" b="1" dirty="0"/>
              <a:t>Question:</a:t>
            </a:r>
            <a:br>
              <a:rPr lang="en-US" sz="1800" dirty="0"/>
            </a:br>
            <a:r>
              <a:rPr lang="en-US" sz="1800" dirty="0"/>
              <a:t>Which buffer type keeps each well’s protection area distinct?</a:t>
            </a:r>
          </a:p>
        </p:txBody>
      </p:sp>
      <p:sp>
        <p:nvSpPr>
          <p:cNvPr id="4" name="Slide Number Placeholder 3">
            <a:extLst>
              <a:ext uri="{FF2B5EF4-FFF2-40B4-BE49-F238E27FC236}">
                <a16:creationId xmlns:a16="http://schemas.microsoft.com/office/drawing/2014/main" id="{8A3B3713-3779-E956-361D-590711F6CFF3}"/>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6" name="TextBox 5">
            <a:extLst>
              <a:ext uri="{FF2B5EF4-FFF2-40B4-BE49-F238E27FC236}">
                <a16:creationId xmlns:a16="http://schemas.microsoft.com/office/drawing/2014/main" id="{99D43123-C5F3-605B-40A4-7603DC2E970C}"/>
              </a:ext>
            </a:extLst>
          </p:cNvPr>
          <p:cNvSpPr txBox="1"/>
          <p:nvPr/>
        </p:nvSpPr>
        <p:spPr>
          <a:xfrm>
            <a:off x="3276600" y="3161351"/>
            <a:ext cx="2602832" cy="1200329"/>
          </a:xfrm>
          <a:prstGeom prst="rect">
            <a:avLst/>
          </a:prstGeom>
          <a:noFill/>
        </p:spPr>
        <p:txBody>
          <a:bodyPr wrap="square">
            <a:spAutoFit/>
          </a:bodyPr>
          <a:lstStyle/>
          <a:p>
            <a:pPr marL="342900" indent="-342900">
              <a:buFont typeface="+mj-lt"/>
              <a:buAutoNum type="alphaLcParenR"/>
            </a:pPr>
            <a:r>
              <a:rPr lang="en-US" dirty="0"/>
              <a:t>Dissolved Buffer</a:t>
            </a:r>
          </a:p>
          <a:p>
            <a:pPr marL="342900" indent="-342900">
              <a:buFont typeface="+mj-lt"/>
              <a:buAutoNum type="alphaLcParenR"/>
            </a:pPr>
            <a:r>
              <a:rPr lang="en-US" dirty="0" err="1"/>
              <a:t>Nondissolved</a:t>
            </a:r>
            <a:r>
              <a:rPr lang="en-US" dirty="0"/>
              <a:t> Buffer</a:t>
            </a:r>
          </a:p>
          <a:p>
            <a:pPr marL="342900" indent="-342900">
              <a:buFont typeface="+mj-lt"/>
              <a:buAutoNum type="alphaLcParenR"/>
            </a:pPr>
            <a:r>
              <a:rPr lang="en-US" dirty="0"/>
              <a:t>Doughnut Buffer</a:t>
            </a:r>
          </a:p>
          <a:p>
            <a:pPr marL="342900" indent="-342900">
              <a:buFont typeface="+mj-lt"/>
              <a:buAutoNum type="alphaLcParenR"/>
            </a:pPr>
            <a:r>
              <a:rPr lang="en-US" dirty="0"/>
              <a:t>Multiple Ring Buffer</a:t>
            </a:r>
          </a:p>
        </p:txBody>
      </p:sp>
    </p:spTree>
    <p:extLst>
      <p:ext uri="{BB962C8B-B14F-4D97-AF65-F5344CB8AC3E}">
        <p14:creationId xmlns:p14="http://schemas.microsoft.com/office/powerpoint/2010/main" val="1147468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A4E94-026D-7016-24E4-A8738F21A9B3}"/>
              </a:ext>
            </a:extLst>
          </p:cNvPr>
          <p:cNvSpPr>
            <a:spLocks noGrp="1"/>
          </p:cNvSpPr>
          <p:nvPr>
            <p:ph type="title"/>
          </p:nvPr>
        </p:nvSpPr>
        <p:spPr>
          <a:xfrm>
            <a:off x="392305" y="526617"/>
            <a:ext cx="7444991" cy="484036"/>
          </a:xfrm>
        </p:spPr>
        <p:txBody>
          <a:bodyPr/>
          <a:lstStyle/>
          <a:p>
            <a:r>
              <a:rPr lang="en-US" sz="2000" dirty="0"/>
              <a:t>Class Discussions</a:t>
            </a:r>
            <a:endParaRPr lang="en-US" dirty="0"/>
          </a:p>
        </p:txBody>
      </p:sp>
      <p:sp>
        <p:nvSpPr>
          <p:cNvPr id="3" name="Content Placeholder 2">
            <a:extLst>
              <a:ext uri="{FF2B5EF4-FFF2-40B4-BE49-F238E27FC236}">
                <a16:creationId xmlns:a16="http://schemas.microsoft.com/office/drawing/2014/main" id="{68EF3FF7-2C5A-C4FD-B75D-738406B8D5A4}"/>
              </a:ext>
            </a:extLst>
          </p:cNvPr>
          <p:cNvSpPr>
            <a:spLocks noGrp="1"/>
          </p:cNvSpPr>
          <p:nvPr>
            <p:ph idx="1"/>
          </p:nvPr>
        </p:nvSpPr>
        <p:spPr>
          <a:xfrm>
            <a:off x="392307" y="1160167"/>
            <a:ext cx="7444990" cy="1316415"/>
          </a:xfrm>
        </p:spPr>
        <p:txBody>
          <a:bodyPr>
            <a:normAutofit/>
          </a:bodyPr>
          <a:lstStyle/>
          <a:p>
            <a:r>
              <a:rPr lang="en-US" sz="1600" dirty="0"/>
              <a:t>You are evaluating the total influence area of all public parks in Little Rock. Overlapping zones should merge into one continuous “green-influence” region.</a:t>
            </a:r>
          </a:p>
          <a:p>
            <a:r>
              <a:rPr lang="en-US" sz="1600" b="1" dirty="0"/>
              <a:t>Question:</a:t>
            </a:r>
            <a:br>
              <a:rPr lang="en-US" sz="1600" dirty="0"/>
            </a:br>
            <a:r>
              <a:rPr lang="en-US" sz="1600" dirty="0"/>
              <a:t>Which buffer type combines all park buffers into a single area?</a:t>
            </a:r>
          </a:p>
        </p:txBody>
      </p:sp>
      <p:sp>
        <p:nvSpPr>
          <p:cNvPr id="4" name="Slide Number Placeholder 3">
            <a:extLst>
              <a:ext uri="{FF2B5EF4-FFF2-40B4-BE49-F238E27FC236}">
                <a16:creationId xmlns:a16="http://schemas.microsoft.com/office/drawing/2014/main" id="{787D95CC-1439-2E23-53B8-6E2299835FF2}"/>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6" name="TextBox 5">
            <a:extLst>
              <a:ext uri="{FF2B5EF4-FFF2-40B4-BE49-F238E27FC236}">
                <a16:creationId xmlns:a16="http://schemas.microsoft.com/office/drawing/2014/main" id="{8E3328FC-3655-FD00-1F60-63177AC03465}"/>
              </a:ext>
            </a:extLst>
          </p:cNvPr>
          <p:cNvSpPr txBox="1"/>
          <p:nvPr/>
        </p:nvSpPr>
        <p:spPr>
          <a:xfrm>
            <a:off x="2683042" y="2980118"/>
            <a:ext cx="4114800" cy="1200329"/>
          </a:xfrm>
          <a:prstGeom prst="rect">
            <a:avLst/>
          </a:prstGeom>
          <a:noFill/>
        </p:spPr>
        <p:txBody>
          <a:bodyPr wrap="square">
            <a:spAutoFit/>
          </a:bodyPr>
          <a:lstStyle/>
          <a:p>
            <a:pPr marL="342900" indent="-342900">
              <a:buFont typeface="+mj-lt"/>
              <a:buAutoNum type="alphaLcParenR"/>
            </a:pPr>
            <a:r>
              <a:rPr lang="en-US" dirty="0" err="1"/>
              <a:t>Nondissolved</a:t>
            </a:r>
            <a:r>
              <a:rPr lang="en-US" dirty="0"/>
              <a:t> Buffer</a:t>
            </a:r>
          </a:p>
          <a:p>
            <a:pPr marL="342900" indent="-342900">
              <a:buFont typeface="+mj-lt"/>
              <a:buAutoNum type="alphaLcParenR"/>
            </a:pPr>
            <a:r>
              <a:rPr lang="en-US" dirty="0"/>
              <a:t>Dissolved Buffer</a:t>
            </a:r>
          </a:p>
          <a:p>
            <a:pPr marL="342900" indent="-342900">
              <a:buFont typeface="+mj-lt"/>
              <a:buAutoNum type="alphaLcParenR"/>
            </a:pPr>
            <a:r>
              <a:rPr lang="en-US" dirty="0"/>
              <a:t>Doughnut Buffer</a:t>
            </a:r>
          </a:p>
          <a:p>
            <a:pPr marL="342900" indent="-342900">
              <a:buFont typeface="+mj-lt"/>
              <a:buAutoNum type="alphaLcParenR"/>
            </a:pPr>
            <a:r>
              <a:rPr lang="en-US" dirty="0"/>
              <a:t>Setback Buffer</a:t>
            </a:r>
          </a:p>
        </p:txBody>
      </p:sp>
    </p:spTree>
    <p:extLst>
      <p:ext uri="{BB962C8B-B14F-4D97-AF65-F5344CB8AC3E}">
        <p14:creationId xmlns:p14="http://schemas.microsoft.com/office/powerpoint/2010/main" val="2046112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47FC3-F3C6-569E-E06A-E420C1F7C959}"/>
              </a:ext>
            </a:extLst>
          </p:cNvPr>
          <p:cNvSpPr>
            <a:spLocks noGrp="1"/>
          </p:cNvSpPr>
          <p:nvPr>
            <p:ph type="title"/>
          </p:nvPr>
        </p:nvSpPr>
        <p:spPr>
          <a:xfrm>
            <a:off x="392305" y="526617"/>
            <a:ext cx="7444991" cy="451951"/>
          </a:xfrm>
        </p:spPr>
        <p:txBody>
          <a:bodyPr/>
          <a:lstStyle/>
          <a:p>
            <a:r>
              <a:rPr lang="en-US" sz="2000" dirty="0"/>
              <a:t>Class Discussions</a:t>
            </a:r>
            <a:endParaRPr lang="en-US" dirty="0"/>
          </a:p>
        </p:txBody>
      </p:sp>
      <p:sp>
        <p:nvSpPr>
          <p:cNvPr id="3" name="Content Placeholder 2">
            <a:extLst>
              <a:ext uri="{FF2B5EF4-FFF2-40B4-BE49-F238E27FC236}">
                <a16:creationId xmlns:a16="http://schemas.microsoft.com/office/drawing/2014/main" id="{B32CA1ED-DC38-800E-4536-8CF3D4EF43B1}"/>
              </a:ext>
            </a:extLst>
          </p:cNvPr>
          <p:cNvSpPr>
            <a:spLocks noGrp="1"/>
          </p:cNvSpPr>
          <p:nvPr>
            <p:ph idx="1"/>
          </p:nvPr>
        </p:nvSpPr>
        <p:spPr>
          <a:xfrm>
            <a:off x="392307" y="1196549"/>
            <a:ext cx="7444990" cy="2038309"/>
          </a:xfrm>
        </p:spPr>
        <p:txBody>
          <a:bodyPr>
            <a:noAutofit/>
          </a:bodyPr>
          <a:lstStyle/>
          <a:p>
            <a:r>
              <a:rPr lang="en-US" sz="1800" dirty="0"/>
              <a:t>You want to model the effective width of state highways. Interstate highways should have 50 m buffers, state highways 30 m, and county roads 10 m.</a:t>
            </a:r>
          </a:p>
          <a:p>
            <a:r>
              <a:rPr lang="en-US" sz="1800" b="1" dirty="0"/>
              <a:t>Question:</a:t>
            </a:r>
            <a:br>
              <a:rPr lang="en-US" sz="1800" dirty="0"/>
            </a:br>
            <a:r>
              <a:rPr lang="en-US" sz="1800" dirty="0"/>
              <a:t>Which buffer type lets you assign different buffer distances based on road class?</a:t>
            </a:r>
          </a:p>
        </p:txBody>
      </p:sp>
      <p:sp>
        <p:nvSpPr>
          <p:cNvPr id="4" name="Slide Number Placeholder 3">
            <a:extLst>
              <a:ext uri="{FF2B5EF4-FFF2-40B4-BE49-F238E27FC236}">
                <a16:creationId xmlns:a16="http://schemas.microsoft.com/office/drawing/2014/main" id="{91E67839-F7EB-3F1A-91F7-DE281DF1041C}"/>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6" name="TextBox 5">
            <a:extLst>
              <a:ext uri="{FF2B5EF4-FFF2-40B4-BE49-F238E27FC236}">
                <a16:creationId xmlns:a16="http://schemas.microsoft.com/office/drawing/2014/main" id="{4918F2FB-6CA2-6CFB-9E5B-5DF98CEB860F}"/>
              </a:ext>
            </a:extLst>
          </p:cNvPr>
          <p:cNvSpPr txBox="1"/>
          <p:nvPr/>
        </p:nvSpPr>
        <p:spPr>
          <a:xfrm>
            <a:off x="3012053" y="3275641"/>
            <a:ext cx="4114800" cy="1200329"/>
          </a:xfrm>
          <a:prstGeom prst="rect">
            <a:avLst/>
          </a:prstGeom>
          <a:noFill/>
        </p:spPr>
        <p:txBody>
          <a:bodyPr wrap="square">
            <a:spAutoFit/>
          </a:bodyPr>
          <a:lstStyle/>
          <a:p>
            <a:pPr marL="342900" indent="-342900">
              <a:buFont typeface="+mj-lt"/>
              <a:buAutoNum type="alphaLcParenR"/>
            </a:pPr>
            <a:r>
              <a:rPr lang="en-US" dirty="0"/>
              <a:t>Variable Width Buffer</a:t>
            </a:r>
          </a:p>
          <a:p>
            <a:pPr marL="342900" indent="-342900">
              <a:buFont typeface="+mj-lt"/>
              <a:buAutoNum type="alphaLcParenR"/>
            </a:pPr>
            <a:r>
              <a:rPr lang="en-US" dirty="0"/>
              <a:t>Multiple Ring Buffer</a:t>
            </a:r>
          </a:p>
          <a:p>
            <a:pPr marL="342900" indent="-342900">
              <a:buFont typeface="+mj-lt"/>
              <a:buAutoNum type="alphaLcParenR"/>
            </a:pPr>
            <a:r>
              <a:rPr lang="en-US" dirty="0"/>
              <a:t>Setback Buffer</a:t>
            </a:r>
          </a:p>
          <a:p>
            <a:pPr marL="342900" indent="-342900">
              <a:buFont typeface="+mj-lt"/>
              <a:buAutoNum type="alphaLcParenR"/>
            </a:pPr>
            <a:r>
              <a:rPr lang="en-US" dirty="0"/>
              <a:t>Doughnut Buffer</a:t>
            </a:r>
          </a:p>
        </p:txBody>
      </p:sp>
    </p:spTree>
    <p:extLst>
      <p:ext uri="{BB962C8B-B14F-4D97-AF65-F5344CB8AC3E}">
        <p14:creationId xmlns:p14="http://schemas.microsoft.com/office/powerpoint/2010/main" val="2084386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31809"/>
            <a:ext cx="8000999" cy="917307"/>
          </a:xfrm>
        </p:spPr>
        <p:txBody>
          <a:bodyPr>
            <a:normAutofit/>
          </a:bodyPr>
          <a:lstStyle/>
          <a:p>
            <a:pPr>
              <a:buFont typeface="Courier New" panose="02070309020205020404" pitchFamily="49" charset="0"/>
              <a:buChar char="o"/>
            </a:pPr>
            <a:r>
              <a:rPr lang="en-US" sz="2000" dirty="0"/>
              <a:t>Calculates distance and additional proximity information between the input features and the closest feature in another layer or feature class.</a:t>
            </a:r>
          </a:p>
        </p:txBody>
      </p:sp>
      <p:sp>
        <p:nvSpPr>
          <p:cNvPr id="2" name="Slide Number Placeholder 1">
            <a:extLst>
              <a:ext uri="{FF2B5EF4-FFF2-40B4-BE49-F238E27FC236}">
                <a16:creationId xmlns:a16="http://schemas.microsoft.com/office/drawing/2014/main" id="{9496268A-F7C5-41AC-AD29-9C71A309C0B7}"/>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6" name="Picture 5" descr="Image showing results of Near"/>
          <p:cNvPicPr>
            <a:picLocks noChangeAspect="1"/>
          </p:cNvPicPr>
          <p:nvPr/>
        </p:nvPicPr>
        <p:blipFill>
          <a:blip r:embed="rId3"/>
          <a:stretch>
            <a:fillRect/>
          </a:stretch>
        </p:blipFill>
        <p:spPr>
          <a:xfrm>
            <a:off x="5227374" y="2651766"/>
            <a:ext cx="2797507" cy="1884298"/>
          </a:xfrm>
          <a:prstGeom prst="rect">
            <a:avLst/>
          </a:prstGeom>
        </p:spPr>
      </p:pic>
      <p:pic>
        <p:nvPicPr>
          <p:cNvPr id="7" name="Picture 6" descr="Image showing near"/>
          <p:cNvPicPr>
            <a:picLocks noChangeAspect="1"/>
          </p:cNvPicPr>
          <p:nvPr/>
        </p:nvPicPr>
        <p:blipFill>
          <a:blip r:embed="rId4"/>
          <a:stretch>
            <a:fillRect/>
          </a:stretch>
        </p:blipFill>
        <p:spPr>
          <a:xfrm>
            <a:off x="3298056" y="2836399"/>
            <a:ext cx="1839228" cy="1609324"/>
          </a:xfrm>
          <a:prstGeom prst="rect">
            <a:avLst/>
          </a:prstGeom>
        </p:spPr>
      </p:pic>
      <p:sp>
        <p:nvSpPr>
          <p:cNvPr id="8" name="TextBox 7"/>
          <p:cNvSpPr txBox="1"/>
          <p:nvPr/>
        </p:nvSpPr>
        <p:spPr>
          <a:xfrm>
            <a:off x="3857558" y="4761150"/>
            <a:ext cx="4836149" cy="316690"/>
          </a:xfrm>
          <a:prstGeom prst="rect">
            <a:avLst/>
          </a:prstGeom>
          <a:noFill/>
        </p:spPr>
        <p:txBody>
          <a:bodyPr wrap="square" rtlCol="0">
            <a:spAutoFit/>
          </a:bodyPr>
          <a:lstStyle/>
          <a:p>
            <a:pPr>
              <a:lnSpc>
                <a:spcPct val="90000"/>
              </a:lnSpc>
            </a:pPr>
            <a:r>
              <a:rPr lang="en-US" sz="1620" dirty="0"/>
              <a:t>Calculate distance from towns to nearest hospital</a:t>
            </a:r>
          </a:p>
        </p:txBody>
      </p:sp>
      <p:sp>
        <p:nvSpPr>
          <p:cNvPr id="9" name="Title 1">
            <a:extLst>
              <a:ext uri="{FF2B5EF4-FFF2-40B4-BE49-F238E27FC236}">
                <a16:creationId xmlns:a16="http://schemas.microsoft.com/office/drawing/2014/main" id="{304EF669-6D19-4BD6-8547-CD3956F86D4F}"/>
              </a:ext>
            </a:extLst>
          </p:cNvPr>
          <p:cNvSpPr txBox="1">
            <a:spLocks/>
          </p:cNvSpPr>
          <p:nvPr/>
        </p:nvSpPr>
        <p:spPr>
          <a:xfrm>
            <a:off x="262912" y="16110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analysis: Near</a:t>
            </a:r>
          </a:p>
        </p:txBody>
      </p:sp>
      <p:cxnSp>
        <p:nvCxnSpPr>
          <p:cNvPr id="10" name="Straight Connector 9">
            <a:extLst>
              <a:ext uri="{FF2B5EF4-FFF2-40B4-BE49-F238E27FC236}">
                <a16:creationId xmlns:a16="http://schemas.microsoft.com/office/drawing/2014/main" id="{4CA2278E-DFA2-4A75-86A5-335D98E8B05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descr="Image showing town and hospital">
            <a:extLst>
              <a:ext uri="{FF2B5EF4-FFF2-40B4-BE49-F238E27FC236}">
                <a16:creationId xmlns:a16="http://schemas.microsoft.com/office/drawing/2014/main" id="{2E4D503E-F47D-453B-BD8D-6A60CF34F59B}"/>
              </a:ext>
            </a:extLst>
          </p:cNvPr>
          <p:cNvPicPr>
            <a:picLocks noChangeAspect="1"/>
          </p:cNvPicPr>
          <p:nvPr/>
        </p:nvPicPr>
        <p:blipFill>
          <a:blip r:embed="rId5"/>
          <a:stretch>
            <a:fillRect/>
          </a:stretch>
        </p:blipFill>
        <p:spPr>
          <a:xfrm>
            <a:off x="262912" y="2323098"/>
            <a:ext cx="2509081" cy="2289345"/>
          </a:xfrm>
          <a:prstGeom prst="rect">
            <a:avLst/>
          </a:prstGeom>
        </p:spPr>
      </p:pic>
    </p:spTree>
    <p:extLst>
      <p:ext uri="{BB962C8B-B14F-4D97-AF65-F5344CB8AC3E}">
        <p14:creationId xmlns:p14="http://schemas.microsoft.com/office/powerpoint/2010/main" val="427510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210" y="1058136"/>
            <a:ext cx="7818120" cy="492291"/>
          </a:xfrm>
        </p:spPr>
        <p:txBody>
          <a:bodyPr>
            <a:normAutofit/>
          </a:bodyPr>
          <a:lstStyle/>
          <a:p>
            <a:pPr>
              <a:buFont typeface="Courier New" panose="02070309020205020404" pitchFamily="49" charset="0"/>
              <a:buChar char="o"/>
            </a:pPr>
            <a:r>
              <a:rPr lang="en-US" sz="1800" dirty="0"/>
              <a:t>Defines the area that is closer to one point than any other points in a dataset</a:t>
            </a:r>
          </a:p>
        </p:txBody>
      </p:sp>
      <p:sp>
        <p:nvSpPr>
          <p:cNvPr id="2" name="Slide Number Placeholder 1">
            <a:extLst>
              <a:ext uri="{FF2B5EF4-FFF2-40B4-BE49-F238E27FC236}">
                <a16:creationId xmlns:a16="http://schemas.microsoft.com/office/drawing/2014/main" id="{08BD29F6-CF3B-4DBE-887D-C29D2C935221}"/>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4" name="Picture 3" descr="Image showing Thiessen polygons"/>
          <p:cNvPicPr/>
          <p:nvPr/>
        </p:nvPicPr>
        <p:blipFill>
          <a:blip r:embed="rId3"/>
          <a:stretch>
            <a:fillRect/>
          </a:stretch>
        </p:blipFill>
        <p:spPr>
          <a:xfrm>
            <a:off x="1209591" y="2103547"/>
            <a:ext cx="2586139" cy="2453231"/>
          </a:xfrm>
          <a:prstGeom prst="rect">
            <a:avLst/>
          </a:prstGeom>
        </p:spPr>
      </p:pic>
      <p:pic>
        <p:nvPicPr>
          <p:cNvPr id="6" name="Picture 5" descr="Image showing create Thiessen polygons"/>
          <p:cNvPicPr>
            <a:picLocks noChangeAspect="1"/>
          </p:cNvPicPr>
          <p:nvPr/>
        </p:nvPicPr>
        <p:blipFill>
          <a:blip r:embed="rId4"/>
          <a:stretch>
            <a:fillRect/>
          </a:stretch>
        </p:blipFill>
        <p:spPr>
          <a:xfrm>
            <a:off x="4361682" y="2252568"/>
            <a:ext cx="3341884" cy="1985028"/>
          </a:xfrm>
          <a:prstGeom prst="rect">
            <a:avLst/>
          </a:prstGeom>
        </p:spPr>
      </p:pic>
      <p:sp>
        <p:nvSpPr>
          <p:cNvPr id="7" name="Title 1">
            <a:extLst>
              <a:ext uri="{FF2B5EF4-FFF2-40B4-BE49-F238E27FC236}">
                <a16:creationId xmlns:a16="http://schemas.microsoft.com/office/drawing/2014/main" id="{6C8AAFDD-339C-4385-9092-4215656DD346}"/>
              </a:ext>
            </a:extLst>
          </p:cNvPr>
          <p:cNvSpPr txBox="1">
            <a:spLocks/>
          </p:cNvSpPr>
          <p:nvPr/>
        </p:nvSpPr>
        <p:spPr>
          <a:xfrm>
            <a:off x="152400" y="18587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Proximity: Thiessen (Voronoi) Polygons</a:t>
            </a:r>
          </a:p>
        </p:txBody>
      </p:sp>
      <p:cxnSp>
        <p:nvCxnSpPr>
          <p:cNvPr id="8" name="Straight Connector 7">
            <a:extLst>
              <a:ext uri="{FF2B5EF4-FFF2-40B4-BE49-F238E27FC236}">
                <a16:creationId xmlns:a16="http://schemas.microsoft.com/office/drawing/2014/main" id="{D29157C2-DCD9-482D-9FBB-BA5658B9FCF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181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DF78D-BE6E-ADA6-7165-263A5022E83C}"/>
              </a:ext>
            </a:extLst>
          </p:cNvPr>
          <p:cNvSpPr>
            <a:spLocks noGrp="1"/>
          </p:cNvSpPr>
          <p:nvPr>
            <p:ph type="title"/>
          </p:nvPr>
        </p:nvSpPr>
        <p:spPr>
          <a:xfrm>
            <a:off x="392305" y="526617"/>
            <a:ext cx="7444991" cy="476015"/>
          </a:xfrm>
        </p:spPr>
        <p:txBody>
          <a:bodyPr>
            <a:normAutofit/>
          </a:bodyPr>
          <a:lstStyle/>
          <a:p>
            <a:r>
              <a:rPr lang="en-US" sz="2400" dirty="0"/>
              <a:t>Create Thiessen Polygons (Analysis)</a:t>
            </a:r>
          </a:p>
        </p:txBody>
      </p:sp>
      <p:pic>
        <p:nvPicPr>
          <p:cNvPr id="6" name="Content Placeholder 5">
            <a:extLst>
              <a:ext uri="{FF2B5EF4-FFF2-40B4-BE49-F238E27FC236}">
                <a16:creationId xmlns:a16="http://schemas.microsoft.com/office/drawing/2014/main" id="{D0D807E2-95FC-E783-7811-6658CCE3E3A9}"/>
              </a:ext>
            </a:extLst>
          </p:cNvPr>
          <p:cNvPicPr>
            <a:picLocks noGrp="1" noChangeAspect="1"/>
          </p:cNvPicPr>
          <p:nvPr>
            <p:ph idx="1"/>
          </p:nvPr>
        </p:nvPicPr>
        <p:blipFill>
          <a:blip r:embed="rId2"/>
          <a:stretch>
            <a:fillRect/>
          </a:stretch>
        </p:blipFill>
        <p:spPr>
          <a:xfrm>
            <a:off x="987966" y="1002632"/>
            <a:ext cx="5980952" cy="2723809"/>
          </a:xfrm>
          <a:prstGeom prst="rect">
            <a:avLst/>
          </a:prstGeom>
        </p:spPr>
      </p:pic>
      <p:sp>
        <p:nvSpPr>
          <p:cNvPr id="4" name="Slide Number Placeholder 3">
            <a:extLst>
              <a:ext uri="{FF2B5EF4-FFF2-40B4-BE49-F238E27FC236}">
                <a16:creationId xmlns:a16="http://schemas.microsoft.com/office/drawing/2014/main" id="{C75FAC09-7B57-0519-BA49-D32792FD7BD1}"/>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7" name="TextBox 6">
            <a:extLst>
              <a:ext uri="{FF2B5EF4-FFF2-40B4-BE49-F238E27FC236}">
                <a16:creationId xmlns:a16="http://schemas.microsoft.com/office/drawing/2014/main" id="{08B76DA3-E850-737D-3626-B644356E5C81}"/>
              </a:ext>
            </a:extLst>
          </p:cNvPr>
          <p:cNvSpPr txBox="1"/>
          <p:nvPr/>
        </p:nvSpPr>
        <p:spPr>
          <a:xfrm>
            <a:off x="2550695" y="4098758"/>
            <a:ext cx="5133474" cy="369332"/>
          </a:xfrm>
          <a:prstGeom prst="rect">
            <a:avLst/>
          </a:prstGeom>
          <a:noFill/>
        </p:spPr>
        <p:txBody>
          <a:bodyPr wrap="square" rtlCol="0">
            <a:spAutoFit/>
          </a:bodyPr>
          <a:lstStyle/>
          <a:p>
            <a:r>
              <a:rPr lang="en-US" dirty="0">
                <a:hlinkClick r:id="rId3"/>
              </a:rPr>
              <a:t>Interactive Thiessen Polygon Tool</a:t>
            </a:r>
            <a:endParaRPr lang="en-US" dirty="0"/>
          </a:p>
        </p:txBody>
      </p:sp>
    </p:spTree>
    <p:extLst>
      <p:ext uri="{BB962C8B-B14F-4D97-AF65-F5344CB8AC3E}">
        <p14:creationId xmlns:p14="http://schemas.microsoft.com/office/powerpoint/2010/main" val="1784105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30FC487-FECE-4B64-9198-3567F08CE94B}"/>
              </a:ext>
            </a:extLst>
          </p:cNvPr>
          <p:cNvSpPr txBox="1">
            <a:spLocks/>
          </p:cNvSpPr>
          <p:nvPr/>
        </p:nvSpPr>
        <p:spPr>
          <a:xfrm>
            <a:off x="256170" y="1465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0" name="Straight Connector 9">
            <a:extLst>
              <a:ext uri="{FF2B5EF4-FFF2-40B4-BE49-F238E27FC236}">
                <a16:creationId xmlns:a16="http://schemas.microsoft.com/office/drawing/2014/main" id="{77F9235D-BDB0-4AB4-9839-CF905C8D691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4814B68-1410-41F5-B360-AAEF0482D311}"/>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5" name="Picture 4">
            <a:extLst>
              <a:ext uri="{FF2B5EF4-FFF2-40B4-BE49-F238E27FC236}">
                <a16:creationId xmlns:a16="http://schemas.microsoft.com/office/drawing/2014/main" id="{668CC085-5336-B9F8-FBCC-06C38D0495F8}"/>
              </a:ext>
            </a:extLst>
          </p:cNvPr>
          <p:cNvPicPr>
            <a:picLocks noChangeAspect="1"/>
          </p:cNvPicPr>
          <p:nvPr/>
        </p:nvPicPr>
        <p:blipFill>
          <a:blip r:embed="rId3"/>
          <a:stretch>
            <a:fillRect/>
          </a:stretch>
        </p:blipFill>
        <p:spPr>
          <a:xfrm>
            <a:off x="667181" y="1535842"/>
            <a:ext cx="6459672" cy="2748037"/>
          </a:xfrm>
          <a:prstGeom prst="rect">
            <a:avLst/>
          </a:prstGeom>
        </p:spPr>
      </p:pic>
      <p:sp>
        <p:nvSpPr>
          <p:cNvPr id="15" name="TextBox 14">
            <a:extLst>
              <a:ext uri="{FF2B5EF4-FFF2-40B4-BE49-F238E27FC236}">
                <a16:creationId xmlns:a16="http://schemas.microsoft.com/office/drawing/2014/main" id="{B709B1FA-7591-FA74-8ED6-F4D981878171}"/>
              </a:ext>
            </a:extLst>
          </p:cNvPr>
          <p:cNvSpPr txBox="1"/>
          <p:nvPr/>
        </p:nvSpPr>
        <p:spPr>
          <a:xfrm>
            <a:off x="256169" y="1013540"/>
            <a:ext cx="7444041" cy="369332"/>
          </a:xfrm>
          <a:prstGeom prst="rect">
            <a:avLst/>
          </a:prstGeom>
          <a:noFill/>
        </p:spPr>
        <p:txBody>
          <a:bodyPr wrap="square">
            <a:spAutoFit/>
          </a:bodyPr>
          <a:lstStyle/>
          <a:p>
            <a:r>
              <a:rPr lang="en-US" b="0" i="0" dirty="0">
                <a:solidFill>
                  <a:srgbClr val="4C4C4C"/>
                </a:solidFill>
                <a:effectLst/>
                <a:latin typeface="Avenir Next W01"/>
              </a:rPr>
              <a:t>Extracts input features that overlay the clip features.</a:t>
            </a:r>
            <a:endParaRPr lang="en-US" dirty="0"/>
          </a:p>
        </p:txBody>
      </p:sp>
    </p:spTree>
    <p:extLst>
      <p:ext uri="{BB962C8B-B14F-4D97-AF65-F5344CB8AC3E}">
        <p14:creationId xmlns:p14="http://schemas.microsoft.com/office/powerpoint/2010/main" val="289789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6" name="TextBox 5"/>
          <p:cNvSpPr txBox="1"/>
          <p:nvPr/>
        </p:nvSpPr>
        <p:spPr>
          <a:xfrm>
            <a:off x="2519900" y="4281708"/>
            <a:ext cx="2212281" cy="541046"/>
          </a:xfrm>
          <a:prstGeom prst="rect">
            <a:avLst/>
          </a:prstGeom>
          <a:noFill/>
        </p:spPr>
        <p:txBody>
          <a:bodyPr wrap="square" rtlCol="0">
            <a:spAutoFit/>
          </a:bodyPr>
          <a:lstStyle/>
          <a:p>
            <a:pPr>
              <a:lnSpc>
                <a:spcPct val="90000"/>
              </a:lnSpc>
            </a:pPr>
            <a:r>
              <a:rPr lang="en-US" sz="1620" dirty="0"/>
              <a:t>Input =  Triangle</a:t>
            </a:r>
          </a:p>
          <a:p>
            <a:pPr>
              <a:lnSpc>
                <a:spcPct val="90000"/>
              </a:lnSpc>
            </a:pPr>
            <a:r>
              <a:rPr lang="en-US" sz="1620" dirty="0"/>
              <a:t>Clip Feature = Circle</a:t>
            </a:r>
          </a:p>
        </p:txBody>
      </p:sp>
      <p:sp>
        <p:nvSpPr>
          <p:cNvPr id="7" name="TextBox 6"/>
          <p:cNvSpPr txBox="1"/>
          <p:nvPr/>
        </p:nvSpPr>
        <p:spPr>
          <a:xfrm>
            <a:off x="5606804" y="4271123"/>
            <a:ext cx="2212281" cy="541046"/>
          </a:xfrm>
          <a:prstGeom prst="rect">
            <a:avLst/>
          </a:prstGeom>
          <a:noFill/>
        </p:spPr>
        <p:txBody>
          <a:bodyPr wrap="square" rtlCol="0">
            <a:spAutoFit/>
          </a:bodyPr>
          <a:lstStyle/>
          <a:p>
            <a:pPr>
              <a:lnSpc>
                <a:spcPct val="90000"/>
              </a:lnSpc>
            </a:pPr>
            <a:r>
              <a:rPr lang="en-US" sz="1620" dirty="0"/>
              <a:t>Output = Portion of Triangle in Circle</a:t>
            </a:r>
          </a:p>
        </p:txBody>
      </p:sp>
      <p:pic>
        <p:nvPicPr>
          <p:cNvPr id="8" name="Picture 7" descr="Image showing clip"/>
          <p:cNvPicPr>
            <a:picLocks noChangeAspect="1"/>
          </p:cNvPicPr>
          <p:nvPr/>
        </p:nvPicPr>
        <p:blipFill>
          <a:blip r:embed="rId3">
            <a:clrChange>
              <a:clrFrom>
                <a:srgbClr val="00A9E6"/>
              </a:clrFrom>
              <a:clrTo>
                <a:srgbClr val="00A9E6">
                  <a:alpha val="0"/>
                </a:srgbClr>
              </a:clrTo>
            </a:clrChange>
          </a:blip>
          <a:stretch>
            <a:fillRect/>
          </a:stretch>
        </p:blipFill>
        <p:spPr>
          <a:xfrm>
            <a:off x="461964" y="1285541"/>
            <a:ext cx="3357364" cy="3070322"/>
          </a:xfrm>
          <a:prstGeom prst="rect">
            <a:avLst/>
          </a:prstGeom>
        </p:spPr>
      </p:pic>
      <p:pic>
        <p:nvPicPr>
          <p:cNvPr id="9" name="Picture 8" descr="Image showing clip results"/>
          <p:cNvPicPr>
            <a:picLocks noChangeAspect="1"/>
          </p:cNvPicPr>
          <p:nvPr/>
        </p:nvPicPr>
        <p:blipFill>
          <a:blip r:embed="rId4">
            <a:clrChange>
              <a:clrFrom>
                <a:srgbClr val="00A9E6"/>
              </a:clrFrom>
              <a:clrTo>
                <a:srgbClr val="00A9E6">
                  <a:alpha val="0"/>
                </a:srgbClr>
              </a:clrTo>
            </a:clrChange>
          </a:blip>
          <a:stretch>
            <a:fillRect/>
          </a:stretch>
        </p:blipFill>
        <p:spPr>
          <a:xfrm>
            <a:off x="5254072" y="1894076"/>
            <a:ext cx="2763759" cy="2072819"/>
          </a:xfrm>
          <a:prstGeom prst="rect">
            <a:avLst/>
          </a:prstGeom>
        </p:spPr>
      </p:pic>
      <p:sp>
        <p:nvSpPr>
          <p:cNvPr id="10" name="Title 1">
            <a:extLst>
              <a:ext uri="{FF2B5EF4-FFF2-40B4-BE49-F238E27FC236}">
                <a16:creationId xmlns:a16="http://schemas.microsoft.com/office/drawing/2014/main" id="{39B13E02-86D0-47F8-B0BC-BA0FDBC6C491}"/>
              </a:ext>
            </a:extLst>
          </p:cNvPr>
          <p:cNvSpPr txBox="1">
            <a:spLocks/>
          </p:cNvSpPr>
          <p:nvPr/>
        </p:nvSpPr>
        <p:spPr>
          <a:xfrm>
            <a:off x="238849" y="1826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1" name="Straight Connector 10">
            <a:extLst>
              <a:ext uri="{FF2B5EF4-FFF2-40B4-BE49-F238E27FC236}">
                <a16:creationId xmlns:a16="http://schemas.microsoft.com/office/drawing/2014/main" id="{C4E14420-A5EE-44D4-B20E-C1FECD695AB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4974BDD-2D3E-4BF5-924D-D949A54A1529}"/>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1781291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Arrow 4"/>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6" name="TextBox 5"/>
          <p:cNvSpPr txBox="1"/>
          <p:nvPr/>
        </p:nvSpPr>
        <p:spPr>
          <a:xfrm>
            <a:off x="2519900" y="4281708"/>
            <a:ext cx="2212281" cy="541046"/>
          </a:xfrm>
          <a:prstGeom prst="rect">
            <a:avLst/>
          </a:prstGeom>
          <a:noFill/>
        </p:spPr>
        <p:txBody>
          <a:bodyPr wrap="square" rtlCol="0">
            <a:spAutoFit/>
          </a:bodyPr>
          <a:lstStyle/>
          <a:p>
            <a:pPr>
              <a:lnSpc>
                <a:spcPct val="90000"/>
              </a:lnSpc>
            </a:pPr>
            <a:r>
              <a:rPr lang="en-US" sz="1620" dirty="0"/>
              <a:t>Input =  Line</a:t>
            </a:r>
          </a:p>
          <a:p>
            <a:pPr>
              <a:lnSpc>
                <a:spcPct val="90000"/>
              </a:lnSpc>
            </a:pPr>
            <a:r>
              <a:rPr lang="en-US" sz="1620" dirty="0"/>
              <a:t>Clip Feature = Circle</a:t>
            </a:r>
          </a:p>
        </p:txBody>
      </p:sp>
      <p:sp>
        <p:nvSpPr>
          <p:cNvPr id="7" name="TextBox 6"/>
          <p:cNvSpPr txBox="1"/>
          <p:nvPr/>
        </p:nvSpPr>
        <p:spPr>
          <a:xfrm>
            <a:off x="5606804" y="4271123"/>
            <a:ext cx="2212281" cy="541046"/>
          </a:xfrm>
          <a:prstGeom prst="rect">
            <a:avLst/>
          </a:prstGeom>
          <a:noFill/>
        </p:spPr>
        <p:txBody>
          <a:bodyPr wrap="square" rtlCol="0">
            <a:spAutoFit/>
          </a:bodyPr>
          <a:lstStyle/>
          <a:p>
            <a:pPr>
              <a:lnSpc>
                <a:spcPct val="90000"/>
              </a:lnSpc>
            </a:pPr>
            <a:r>
              <a:rPr lang="en-US" sz="1620" dirty="0"/>
              <a:t>Output = Portion of Line in </a:t>
            </a:r>
            <a:r>
              <a:rPr lang="en-US" altLang="zh-CN" sz="1620" dirty="0"/>
              <a:t>circle</a:t>
            </a:r>
            <a:endParaRPr lang="en-US" sz="1620" dirty="0"/>
          </a:p>
        </p:txBody>
      </p:sp>
      <p:pic>
        <p:nvPicPr>
          <p:cNvPr id="3" name="Picture 2" descr="Image showing clip"/>
          <p:cNvPicPr>
            <a:picLocks noChangeAspect="1"/>
          </p:cNvPicPr>
          <p:nvPr/>
        </p:nvPicPr>
        <p:blipFill>
          <a:blip r:embed="rId3">
            <a:clrChange>
              <a:clrFrom>
                <a:srgbClr val="00A9E6"/>
              </a:clrFrom>
              <a:clrTo>
                <a:srgbClr val="00A9E6">
                  <a:alpha val="0"/>
                </a:srgbClr>
              </a:clrTo>
            </a:clrChange>
          </a:blip>
          <a:stretch>
            <a:fillRect/>
          </a:stretch>
        </p:blipFill>
        <p:spPr>
          <a:xfrm>
            <a:off x="480451" y="1190398"/>
            <a:ext cx="3298395" cy="3021522"/>
          </a:xfrm>
          <a:prstGeom prst="rect">
            <a:avLst/>
          </a:prstGeom>
        </p:spPr>
      </p:pic>
      <p:pic>
        <p:nvPicPr>
          <p:cNvPr id="4" name="Picture 3" descr="Image showing clip results"/>
          <p:cNvPicPr>
            <a:picLocks noChangeAspect="1"/>
          </p:cNvPicPr>
          <p:nvPr/>
        </p:nvPicPr>
        <p:blipFill>
          <a:blip r:embed="rId4">
            <a:clrChange>
              <a:clrFrom>
                <a:srgbClr val="00A9E6"/>
              </a:clrFrom>
              <a:clrTo>
                <a:srgbClr val="00A9E6">
                  <a:alpha val="0"/>
                </a:srgbClr>
              </a:clrTo>
            </a:clrChange>
          </a:blip>
          <a:stretch>
            <a:fillRect/>
          </a:stretch>
        </p:blipFill>
        <p:spPr>
          <a:xfrm>
            <a:off x="5239500" y="1604399"/>
            <a:ext cx="2791076" cy="2678392"/>
          </a:xfrm>
          <a:prstGeom prst="rect">
            <a:avLst/>
          </a:prstGeom>
        </p:spPr>
      </p:pic>
      <p:sp>
        <p:nvSpPr>
          <p:cNvPr id="9" name="Title 1">
            <a:extLst>
              <a:ext uri="{FF2B5EF4-FFF2-40B4-BE49-F238E27FC236}">
                <a16:creationId xmlns:a16="http://schemas.microsoft.com/office/drawing/2014/main" id="{330F0856-4F90-46D3-98DF-90BFE5FB43C2}"/>
              </a:ext>
            </a:extLst>
          </p:cNvPr>
          <p:cNvSpPr txBox="1">
            <a:spLocks/>
          </p:cNvSpPr>
          <p:nvPr/>
        </p:nvSpPr>
        <p:spPr>
          <a:xfrm>
            <a:off x="262912" y="22853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1" name="Straight Connector 10">
            <a:extLst>
              <a:ext uri="{FF2B5EF4-FFF2-40B4-BE49-F238E27FC236}">
                <a16:creationId xmlns:a16="http://schemas.microsoft.com/office/drawing/2014/main" id="{3DB9FDFB-0FD7-4CE1-A098-9D37E0735BE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DA21D58-9CD5-4B17-A61D-718ED3B672EE}"/>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146623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3978" y="1702990"/>
            <a:ext cx="3344146" cy="316690"/>
          </a:xfrm>
          <a:prstGeom prst="rect">
            <a:avLst/>
          </a:prstGeom>
          <a:noFill/>
        </p:spPr>
        <p:txBody>
          <a:bodyPr wrap="square" rtlCol="0">
            <a:spAutoFit/>
          </a:bodyPr>
          <a:lstStyle/>
          <a:p>
            <a:pPr>
              <a:lnSpc>
                <a:spcPct val="90000"/>
              </a:lnSpc>
            </a:pPr>
            <a:r>
              <a:rPr lang="en-US" sz="1620" dirty="0"/>
              <a:t>Input Feature Attributes</a:t>
            </a:r>
          </a:p>
        </p:txBody>
      </p:sp>
      <p:sp>
        <p:nvSpPr>
          <p:cNvPr id="10" name="TextBox 9"/>
          <p:cNvSpPr txBox="1"/>
          <p:nvPr/>
        </p:nvSpPr>
        <p:spPr>
          <a:xfrm>
            <a:off x="197939" y="3349338"/>
            <a:ext cx="3344146" cy="316690"/>
          </a:xfrm>
          <a:prstGeom prst="rect">
            <a:avLst/>
          </a:prstGeom>
          <a:noFill/>
        </p:spPr>
        <p:txBody>
          <a:bodyPr wrap="square" rtlCol="0">
            <a:spAutoFit/>
          </a:bodyPr>
          <a:lstStyle/>
          <a:p>
            <a:pPr>
              <a:lnSpc>
                <a:spcPct val="90000"/>
              </a:lnSpc>
            </a:pPr>
            <a:r>
              <a:rPr lang="en-US" sz="1620" dirty="0"/>
              <a:t>Clip Feature Attributes</a:t>
            </a:r>
          </a:p>
        </p:txBody>
      </p:sp>
      <p:graphicFrame>
        <p:nvGraphicFramePr>
          <p:cNvPr id="11" name="Table 10" descr="Image showing input feature attributes"/>
          <p:cNvGraphicFramePr>
            <a:graphicFrameLocks noGrp="1"/>
          </p:cNvGraphicFramePr>
          <p:nvPr>
            <p:extLst>
              <p:ext uri="{D42A27DB-BD31-4B8C-83A1-F6EECF244321}">
                <p14:modId xmlns:p14="http://schemas.microsoft.com/office/powerpoint/2010/main" val="4234538187"/>
              </p:ext>
            </p:extLst>
          </p:nvPr>
        </p:nvGraphicFramePr>
        <p:xfrm>
          <a:off x="600270" y="1993093"/>
          <a:ext cx="2225772" cy="1251910"/>
        </p:xfrm>
        <a:graphic>
          <a:graphicData uri="http://schemas.openxmlformats.org/drawingml/2006/table">
            <a:tbl>
              <a:tblPr firstRow="1" bandRow="1">
                <a:tableStyleId>{6E25E649-3F16-4E02-A733-19D2CDBF48F0}</a:tableStyleId>
              </a:tblPr>
              <a:tblGrid>
                <a:gridCol w="2225772">
                  <a:extLst>
                    <a:ext uri="{9D8B030D-6E8A-4147-A177-3AD203B41FA5}">
                      <a16:colId xmlns:a16="http://schemas.microsoft.com/office/drawing/2014/main" val="7307991"/>
                    </a:ext>
                  </a:extLst>
                </a:gridCol>
              </a:tblGrid>
              <a:tr h="250382">
                <a:tc>
                  <a:txBody>
                    <a:bodyPr/>
                    <a:lstStyle/>
                    <a:p>
                      <a:pPr algn="ctr"/>
                      <a:r>
                        <a:rPr lang="en-US" sz="1100" dirty="0"/>
                        <a:t>Type</a:t>
                      </a:r>
                    </a:p>
                  </a:txBody>
                  <a:tcPr marL="61738" marR="61738" marT="30869" marB="30869">
                    <a:solidFill>
                      <a:srgbClr val="E3874F"/>
                    </a:solidFill>
                  </a:tcPr>
                </a:tc>
                <a:extLst>
                  <a:ext uri="{0D108BD9-81ED-4DB2-BD59-A6C34878D82A}">
                    <a16:rowId xmlns:a16="http://schemas.microsoft.com/office/drawing/2014/main" val="3404543341"/>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942976135"/>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323951428"/>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317677374"/>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520567934"/>
                  </a:ext>
                </a:extLst>
              </a:tr>
            </a:tbl>
          </a:graphicData>
        </a:graphic>
      </p:graphicFrame>
      <p:graphicFrame>
        <p:nvGraphicFramePr>
          <p:cNvPr id="12" name="Table 11" descr="Image showing clip feature attributes"/>
          <p:cNvGraphicFramePr>
            <a:graphicFrameLocks noGrp="1"/>
          </p:cNvGraphicFramePr>
          <p:nvPr>
            <p:extLst>
              <p:ext uri="{D42A27DB-BD31-4B8C-83A1-F6EECF244321}">
                <p14:modId xmlns:p14="http://schemas.microsoft.com/office/powerpoint/2010/main" val="1486458248"/>
              </p:ext>
            </p:extLst>
          </p:nvPr>
        </p:nvGraphicFramePr>
        <p:xfrm>
          <a:off x="600270" y="3724634"/>
          <a:ext cx="2225772" cy="1251910"/>
        </p:xfrm>
        <a:graphic>
          <a:graphicData uri="http://schemas.openxmlformats.org/drawingml/2006/table">
            <a:tbl>
              <a:tblPr firstRow="1" bandRow="1">
                <a:tableStyleId>{6E25E649-3F16-4E02-A733-19D2CDBF48F0}</a:tableStyleId>
              </a:tblPr>
              <a:tblGrid>
                <a:gridCol w="2225772">
                  <a:extLst>
                    <a:ext uri="{9D8B030D-6E8A-4147-A177-3AD203B41FA5}">
                      <a16:colId xmlns:a16="http://schemas.microsoft.com/office/drawing/2014/main" val="7307991"/>
                    </a:ext>
                  </a:extLst>
                </a:gridCol>
              </a:tblGrid>
              <a:tr h="250382">
                <a:tc>
                  <a:txBody>
                    <a:bodyPr/>
                    <a:lstStyle/>
                    <a:p>
                      <a:pPr algn="ctr"/>
                      <a:r>
                        <a:rPr lang="en-US" sz="1100" dirty="0"/>
                        <a:t>Type</a:t>
                      </a:r>
                    </a:p>
                  </a:txBody>
                  <a:tcPr marL="61738" marR="61738" marT="30869" marB="30869">
                    <a:solidFill>
                      <a:srgbClr val="E3874F"/>
                    </a:solidFill>
                  </a:tcPr>
                </a:tc>
                <a:extLst>
                  <a:ext uri="{0D108BD9-81ED-4DB2-BD59-A6C34878D82A}">
                    <a16:rowId xmlns:a16="http://schemas.microsoft.com/office/drawing/2014/main" val="3404543341"/>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1942976135"/>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3323951428"/>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1317677374"/>
                  </a:ext>
                </a:extLst>
              </a:tr>
              <a:tr h="250382">
                <a:tc>
                  <a:txBody>
                    <a:bodyPr/>
                    <a:lstStyle/>
                    <a:p>
                      <a:pPr algn="ctr"/>
                      <a:r>
                        <a:rPr lang="en-US" sz="1100" dirty="0"/>
                        <a:t>Circle</a:t>
                      </a:r>
                    </a:p>
                  </a:txBody>
                  <a:tcPr marL="61738" marR="61738" marT="30869" marB="30869"/>
                </a:tc>
                <a:extLst>
                  <a:ext uri="{0D108BD9-81ED-4DB2-BD59-A6C34878D82A}">
                    <a16:rowId xmlns:a16="http://schemas.microsoft.com/office/drawing/2014/main" val="3520567934"/>
                  </a:ext>
                </a:extLst>
              </a:tr>
            </a:tbl>
          </a:graphicData>
        </a:graphic>
      </p:graphicFrame>
      <p:sp>
        <p:nvSpPr>
          <p:cNvPr id="13" name="Right Arrow 12"/>
          <p:cNvSpPr/>
          <p:nvPr/>
        </p:nvSpPr>
        <p:spPr>
          <a:xfrm>
            <a:off x="3762806" y="3296486"/>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aphicFrame>
        <p:nvGraphicFramePr>
          <p:cNvPr id="14" name="Table 13" descr="Image showing output feature attributes"/>
          <p:cNvGraphicFramePr>
            <a:graphicFrameLocks noGrp="1"/>
          </p:cNvGraphicFramePr>
          <p:nvPr>
            <p:extLst>
              <p:ext uri="{D42A27DB-BD31-4B8C-83A1-F6EECF244321}">
                <p14:modId xmlns:p14="http://schemas.microsoft.com/office/powerpoint/2010/main" val="364022318"/>
              </p:ext>
            </p:extLst>
          </p:nvPr>
        </p:nvGraphicFramePr>
        <p:xfrm>
          <a:off x="5796558" y="2824876"/>
          <a:ext cx="2225772" cy="1251910"/>
        </p:xfrm>
        <a:graphic>
          <a:graphicData uri="http://schemas.openxmlformats.org/drawingml/2006/table">
            <a:tbl>
              <a:tblPr firstRow="1" bandRow="1">
                <a:tableStyleId>{6E25E649-3F16-4E02-A733-19D2CDBF48F0}</a:tableStyleId>
              </a:tblPr>
              <a:tblGrid>
                <a:gridCol w="2225772">
                  <a:extLst>
                    <a:ext uri="{9D8B030D-6E8A-4147-A177-3AD203B41FA5}">
                      <a16:colId xmlns:a16="http://schemas.microsoft.com/office/drawing/2014/main" val="7307991"/>
                    </a:ext>
                  </a:extLst>
                </a:gridCol>
              </a:tblGrid>
              <a:tr h="250382">
                <a:tc>
                  <a:txBody>
                    <a:bodyPr/>
                    <a:lstStyle/>
                    <a:p>
                      <a:pPr algn="ctr"/>
                      <a:r>
                        <a:rPr lang="en-US" sz="1100" dirty="0"/>
                        <a:t>Type</a:t>
                      </a:r>
                    </a:p>
                  </a:txBody>
                  <a:tcPr marL="61738" marR="61738" marT="30869" marB="30869">
                    <a:solidFill>
                      <a:srgbClr val="E3874F"/>
                    </a:solidFill>
                  </a:tcPr>
                </a:tc>
                <a:extLst>
                  <a:ext uri="{0D108BD9-81ED-4DB2-BD59-A6C34878D82A}">
                    <a16:rowId xmlns:a16="http://schemas.microsoft.com/office/drawing/2014/main" val="3404543341"/>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942976135"/>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323951428"/>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1317677374"/>
                  </a:ext>
                </a:extLst>
              </a:tr>
              <a:tr h="250382">
                <a:tc>
                  <a:txBody>
                    <a:bodyPr/>
                    <a:lstStyle/>
                    <a:p>
                      <a:pPr algn="ctr"/>
                      <a:r>
                        <a:rPr lang="en-US" sz="1100" dirty="0"/>
                        <a:t>Point</a:t>
                      </a:r>
                    </a:p>
                  </a:txBody>
                  <a:tcPr marL="61738" marR="61738" marT="30869" marB="30869"/>
                </a:tc>
                <a:extLst>
                  <a:ext uri="{0D108BD9-81ED-4DB2-BD59-A6C34878D82A}">
                    <a16:rowId xmlns:a16="http://schemas.microsoft.com/office/drawing/2014/main" val="3520567934"/>
                  </a:ext>
                </a:extLst>
              </a:tr>
            </a:tbl>
          </a:graphicData>
        </a:graphic>
      </p:graphicFrame>
      <p:sp>
        <p:nvSpPr>
          <p:cNvPr id="15" name="TextBox 14"/>
          <p:cNvSpPr txBox="1"/>
          <p:nvPr/>
        </p:nvSpPr>
        <p:spPr>
          <a:xfrm>
            <a:off x="5775990" y="2475664"/>
            <a:ext cx="3344146" cy="316690"/>
          </a:xfrm>
          <a:prstGeom prst="rect">
            <a:avLst/>
          </a:prstGeom>
          <a:noFill/>
        </p:spPr>
        <p:txBody>
          <a:bodyPr wrap="square" rtlCol="0">
            <a:spAutoFit/>
          </a:bodyPr>
          <a:lstStyle/>
          <a:p>
            <a:pPr>
              <a:lnSpc>
                <a:spcPct val="90000"/>
              </a:lnSpc>
            </a:pPr>
            <a:r>
              <a:rPr lang="en-US" sz="1620" dirty="0"/>
              <a:t>Output Feature Attributes</a:t>
            </a:r>
          </a:p>
        </p:txBody>
      </p:sp>
      <p:sp>
        <p:nvSpPr>
          <p:cNvPr id="16" name="TextBox 15"/>
          <p:cNvSpPr txBox="1"/>
          <p:nvPr/>
        </p:nvSpPr>
        <p:spPr>
          <a:xfrm>
            <a:off x="230016" y="1075688"/>
            <a:ext cx="7923383" cy="923330"/>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dirty="0"/>
              <a:t>Clip feature attributes are not added to the output</a:t>
            </a:r>
          </a:p>
          <a:p>
            <a:pPr marL="285750" indent="-285750">
              <a:lnSpc>
                <a:spcPct val="90000"/>
              </a:lnSpc>
              <a:buFont typeface="Courier New" panose="02070309020205020404" pitchFamily="49" charset="0"/>
              <a:buChar char="o"/>
            </a:pPr>
            <a:r>
              <a:rPr lang="en-US" sz="2000" dirty="0"/>
              <a:t>For shapefiles, geometric fields will not be updated in attribute table</a:t>
            </a:r>
          </a:p>
          <a:p>
            <a:pPr marL="285750" indent="-285750">
              <a:lnSpc>
                <a:spcPct val="90000"/>
              </a:lnSpc>
              <a:buFont typeface="Courier New" panose="02070309020205020404" pitchFamily="49" charset="0"/>
              <a:buChar char="o"/>
            </a:pPr>
            <a:endParaRPr lang="en-US" sz="2000" dirty="0"/>
          </a:p>
        </p:txBody>
      </p:sp>
      <p:sp>
        <p:nvSpPr>
          <p:cNvPr id="17" name="Title 1">
            <a:extLst>
              <a:ext uri="{FF2B5EF4-FFF2-40B4-BE49-F238E27FC236}">
                <a16:creationId xmlns:a16="http://schemas.microsoft.com/office/drawing/2014/main" id="{3243CF46-41BC-44BC-B927-514EB3F3DD5D}"/>
              </a:ext>
            </a:extLst>
          </p:cNvPr>
          <p:cNvSpPr txBox="1">
            <a:spLocks/>
          </p:cNvSpPr>
          <p:nvPr/>
        </p:nvSpPr>
        <p:spPr>
          <a:xfrm>
            <a:off x="230016" y="1924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8" name="Straight Connector 17">
            <a:extLst>
              <a:ext uri="{FF2B5EF4-FFF2-40B4-BE49-F238E27FC236}">
                <a16:creationId xmlns:a16="http://schemas.microsoft.com/office/drawing/2014/main" id="{1F6F2391-4EC0-42B6-BD93-50A4A8D3DE4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FE0BEF4-BD8C-4E6E-8591-B1105C2D7861}"/>
              </a:ext>
            </a:extLst>
          </p:cNvPr>
          <p:cNvSpPr>
            <a:spLocks noGrp="1"/>
          </p:cNvSpPr>
          <p:nvPr>
            <p:ph type="sldNum" sz="quarter" idx="12"/>
          </p:nvPr>
        </p:nvSpPr>
        <p:spPr/>
        <p:txBody>
          <a:bodyPr/>
          <a:lstStyle/>
          <a:p>
            <a:fld id="{127DDC20-79C9-9647-820E-6D40A3D210C3}" type="slidenum">
              <a:rPr lang="en-US" smtClean="0"/>
              <a:pPr/>
              <a:t>29</a:t>
            </a:fld>
            <a:endParaRPr lang="en-US" dirty="0"/>
          </a:p>
        </p:txBody>
      </p:sp>
    </p:spTree>
    <p:extLst>
      <p:ext uri="{BB962C8B-B14F-4D97-AF65-F5344CB8AC3E}">
        <p14:creationId xmlns:p14="http://schemas.microsoft.com/office/powerpoint/2010/main" val="254308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3243CF46-41BC-44BC-B927-514EB3F3DD5D}"/>
              </a:ext>
            </a:extLst>
          </p:cNvPr>
          <p:cNvSpPr txBox="1">
            <a:spLocks/>
          </p:cNvSpPr>
          <p:nvPr/>
        </p:nvSpPr>
        <p:spPr>
          <a:xfrm>
            <a:off x="359164" y="2109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Extract: Clip</a:t>
            </a:r>
          </a:p>
        </p:txBody>
      </p:sp>
      <p:cxnSp>
        <p:nvCxnSpPr>
          <p:cNvPr id="18" name="Straight Connector 17">
            <a:extLst>
              <a:ext uri="{FF2B5EF4-FFF2-40B4-BE49-F238E27FC236}">
                <a16:creationId xmlns:a16="http://schemas.microsoft.com/office/drawing/2014/main" id="{1F6F2391-4EC0-42B6-BD93-50A4A8D3DE4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FE0BEF4-BD8C-4E6E-8591-B1105C2D7861}"/>
              </a:ext>
            </a:extLst>
          </p:cNvPr>
          <p:cNvSpPr>
            <a:spLocks noGrp="1"/>
          </p:cNvSpPr>
          <p:nvPr>
            <p:ph type="sldNum" sz="quarter" idx="12"/>
          </p:nvPr>
        </p:nvSpPr>
        <p:spPr/>
        <p:txBody>
          <a:bodyPr/>
          <a:lstStyle/>
          <a:p>
            <a:fld id="{127DDC20-79C9-9647-820E-6D40A3D210C3}" type="slidenum">
              <a:rPr lang="en-US" smtClean="0"/>
              <a:pPr/>
              <a:t>30</a:t>
            </a:fld>
            <a:endParaRPr lang="en-US" dirty="0"/>
          </a:p>
        </p:txBody>
      </p:sp>
      <p:pic>
        <p:nvPicPr>
          <p:cNvPr id="4" name="Picture 3" descr="Map&#10;&#10;Description automatically generated">
            <a:extLst>
              <a:ext uri="{FF2B5EF4-FFF2-40B4-BE49-F238E27FC236}">
                <a16:creationId xmlns:a16="http://schemas.microsoft.com/office/drawing/2014/main" id="{DDFCD0A9-46D2-40EA-80E1-EFF4EC30EC6B}"/>
              </a:ext>
            </a:extLst>
          </p:cNvPr>
          <p:cNvPicPr>
            <a:picLocks noChangeAspect="1"/>
          </p:cNvPicPr>
          <p:nvPr/>
        </p:nvPicPr>
        <p:blipFill>
          <a:blip r:embed="rId3"/>
          <a:stretch>
            <a:fillRect/>
          </a:stretch>
        </p:blipFill>
        <p:spPr>
          <a:xfrm>
            <a:off x="2153781" y="1701266"/>
            <a:ext cx="3744098" cy="3442234"/>
          </a:xfrm>
          <a:prstGeom prst="rect">
            <a:avLst/>
          </a:prstGeom>
        </p:spPr>
      </p:pic>
      <p:sp>
        <p:nvSpPr>
          <p:cNvPr id="19" name="TextBox 18">
            <a:extLst>
              <a:ext uri="{FF2B5EF4-FFF2-40B4-BE49-F238E27FC236}">
                <a16:creationId xmlns:a16="http://schemas.microsoft.com/office/drawing/2014/main" id="{00189313-C8B5-463A-9D20-8AF9824B1704}"/>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0" name="TextBox 19">
            <a:extLst>
              <a:ext uri="{FF2B5EF4-FFF2-40B4-BE49-F238E27FC236}">
                <a16:creationId xmlns:a16="http://schemas.microsoft.com/office/drawing/2014/main" id="{444A7C18-1D7F-4D25-9039-796674C84CA9}"/>
              </a:ext>
            </a:extLst>
          </p:cNvPr>
          <p:cNvSpPr txBox="1"/>
          <p:nvPr/>
        </p:nvSpPr>
        <p:spPr>
          <a:xfrm>
            <a:off x="230016" y="1075688"/>
            <a:ext cx="7923383" cy="923330"/>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dirty="0"/>
              <a:t>Clip feature attributes are not added to the output</a:t>
            </a:r>
          </a:p>
          <a:p>
            <a:pPr marL="285750" indent="-285750">
              <a:lnSpc>
                <a:spcPct val="90000"/>
              </a:lnSpc>
              <a:buFont typeface="Courier New" panose="02070309020205020404" pitchFamily="49" charset="0"/>
              <a:buChar char="o"/>
            </a:pPr>
            <a:r>
              <a:rPr lang="en-US" sz="2000" dirty="0"/>
              <a:t>For shapefiles, geometric fields will not be updated in attribute table</a:t>
            </a:r>
          </a:p>
          <a:p>
            <a:pPr marL="285750" indent="-285750">
              <a:lnSpc>
                <a:spcPct val="90000"/>
              </a:lnSpc>
              <a:buFont typeface="Courier New" panose="02070309020205020404" pitchFamily="49" charset="0"/>
              <a:buChar char="o"/>
            </a:pPr>
            <a:endParaRPr lang="en-US" sz="2000" dirty="0"/>
          </a:p>
        </p:txBody>
      </p:sp>
    </p:spTree>
    <p:extLst>
      <p:ext uri="{BB962C8B-B14F-4D97-AF65-F5344CB8AC3E}">
        <p14:creationId xmlns:p14="http://schemas.microsoft.com/office/powerpoint/2010/main" val="2364553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255889" y="1114351"/>
            <a:ext cx="4972988" cy="442549"/>
          </a:xfrm>
        </p:spPr>
        <p:txBody>
          <a:bodyPr>
            <a:noAutofit/>
          </a:bodyPr>
          <a:lstStyle/>
          <a:p>
            <a:pPr>
              <a:buFont typeface="Courier New" panose="02070309020205020404" pitchFamily="49" charset="0"/>
              <a:buChar char="o"/>
            </a:pPr>
            <a:r>
              <a:rPr lang="en-US" sz="2400" dirty="0"/>
              <a:t>The opposite of clip</a:t>
            </a:r>
          </a:p>
        </p:txBody>
      </p:sp>
      <p:sp>
        <p:nvSpPr>
          <p:cNvPr id="3" name="Slide Number Placeholder 2">
            <a:extLst>
              <a:ext uri="{FF2B5EF4-FFF2-40B4-BE49-F238E27FC236}">
                <a16:creationId xmlns:a16="http://schemas.microsoft.com/office/drawing/2014/main" id="{81D51AF0-C915-40A2-B688-925A3178DD2E}"/>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6" name="Picture 5" descr="Image showing erase"/>
          <p:cNvPicPr>
            <a:picLocks noChangeAspect="1"/>
          </p:cNvPicPr>
          <p:nvPr/>
        </p:nvPicPr>
        <p:blipFill>
          <a:blip r:embed="rId3">
            <a:clrChange>
              <a:clrFrom>
                <a:srgbClr val="FFFFFF"/>
              </a:clrFrom>
              <a:clrTo>
                <a:srgbClr val="FFFFFF">
                  <a:alpha val="0"/>
                </a:srgbClr>
              </a:clrTo>
            </a:clrChange>
          </a:blip>
          <a:stretch>
            <a:fillRect/>
          </a:stretch>
        </p:blipFill>
        <p:spPr>
          <a:xfrm>
            <a:off x="565724" y="2005818"/>
            <a:ext cx="2751626" cy="2598372"/>
          </a:xfrm>
          <a:prstGeom prst="rect">
            <a:avLst/>
          </a:prstGeom>
        </p:spPr>
      </p:pic>
      <p:sp>
        <p:nvSpPr>
          <p:cNvPr id="7" name="Right Arrow 6"/>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8" name="Picture 7" descr="Image showing erase results"/>
          <p:cNvPicPr>
            <a:picLocks noChangeAspect="1"/>
          </p:cNvPicPr>
          <p:nvPr/>
        </p:nvPicPr>
        <p:blipFill>
          <a:blip r:embed="rId4">
            <a:clrChange>
              <a:clrFrom>
                <a:srgbClr val="FFFFFF"/>
              </a:clrFrom>
              <a:clrTo>
                <a:srgbClr val="FFFFFF">
                  <a:alpha val="0"/>
                </a:srgbClr>
              </a:clrTo>
            </a:clrChange>
          </a:blip>
          <a:stretch>
            <a:fillRect/>
          </a:stretch>
        </p:blipFill>
        <p:spPr>
          <a:xfrm>
            <a:off x="5280066" y="2005817"/>
            <a:ext cx="2678532" cy="2452316"/>
          </a:xfrm>
          <a:prstGeom prst="rect">
            <a:avLst/>
          </a:prstGeom>
        </p:spPr>
      </p:pic>
      <p:sp>
        <p:nvSpPr>
          <p:cNvPr id="10" name="Title 1">
            <a:extLst>
              <a:ext uri="{FF2B5EF4-FFF2-40B4-BE49-F238E27FC236}">
                <a16:creationId xmlns:a16="http://schemas.microsoft.com/office/drawing/2014/main" id="{D501974C-4668-4160-9567-3D9556C6292A}"/>
              </a:ext>
            </a:extLst>
          </p:cNvPr>
          <p:cNvSpPr txBox="1">
            <a:spLocks/>
          </p:cNvSpPr>
          <p:nvPr/>
        </p:nvSpPr>
        <p:spPr>
          <a:xfrm>
            <a:off x="271002" y="14568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Erase</a:t>
            </a:r>
          </a:p>
        </p:txBody>
      </p:sp>
      <p:cxnSp>
        <p:nvCxnSpPr>
          <p:cNvPr id="11" name="Straight Connector 10">
            <a:extLst>
              <a:ext uri="{FF2B5EF4-FFF2-40B4-BE49-F238E27FC236}">
                <a16:creationId xmlns:a16="http://schemas.microsoft.com/office/drawing/2014/main" id="{8DAB0C70-7AEF-4177-BA76-8A10544D49F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E13A359-6AF4-4118-B5A5-7C3C0177F1F6}"/>
              </a:ext>
            </a:extLst>
          </p:cNvPr>
          <p:cNvSpPr txBox="1"/>
          <p:nvPr/>
        </p:nvSpPr>
        <p:spPr>
          <a:xfrm>
            <a:off x="2519900" y="4281708"/>
            <a:ext cx="2212281" cy="541046"/>
          </a:xfrm>
          <a:prstGeom prst="rect">
            <a:avLst/>
          </a:prstGeom>
          <a:noFill/>
        </p:spPr>
        <p:txBody>
          <a:bodyPr wrap="square" rtlCol="0">
            <a:spAutoFit/>
          </a:bodyPr>
          <a:lstStyle/>
          <a:p>
            <a:pPr>
              <a:lnSpc>
                <a:spcPct val="90000"/>
              </a:lnSpc>
            </a:pPr>
            <a:r>
              <a:rPr lang="en-US" sz="1620" dirty="0"/>
              <a:t>Input =  Points</a:t>
            </a:r>
          </a:p>
          <a:p>
            <a:pPr>
              <a:lnSpc>
                <a:spcPct val="90000"/>
              </a:lnSpc>
            </a:pPr>
            <a:r>
              <a:rPr lang="en-US" sz="1620" dirty="0"/>
              <a:t>Erase Feature = Circle</a:t>
            </a:r>
          </a:p>
        </p:txBody>
      </p:sp>
    </p:spTree>
    <p:extLst>
      <p:ext uri="{BB962C8B-B14F-4D97-AF65-F5344CB8AC3E}">
        <p14:creationId xmlns:p14="http://schemas.microsoft.com/office/powerpoint/2010/main" val="84097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168728" y="1033646"/>
            <a:ext cx="4193207" cy="572825"/>
          </a:xfrm>
        </p:spPr>
        <p:txBody>
          <a:bodyPr>
            <a:normAutofit/>
          </a:bodyPr>
          <a:lstStyle/>
          <a:p>
            <a:pPr>
              <a:buFont typeface="Courier New" panose="02070309020205020404" pitchFamily="49" charset="0"/>
              <a:buChar char="o"/>
            </a:pPr>
            <a:r>
              <a:rPr lang="en-US" sz="2400" dirty="0"/>
              <a:t>The opposite of clip</a:t>
            </a:r>
          </a:p>
        </p:txBody>
      </p:sp>
      <p:sp>
        <p:nvSpPr>
          <p:cNvPr id="3" name="Slide Number Placeholder 2">
            <a:extLst>
              <a:ext uri="{FF2B5EF4-FFF2-40B4-BE49-F238E27FC236}">
                <a16:creationId xmlns:a16="http://schemas.microsoft.com/office/drawing/2014/main" id="{79444A81-7461-4E1D-AEAF-4F6A3492A103}"/>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7" name="Right Arrow 6"/>
          <p:cNvSpPr/>
          <p:nvPr/>
        </p:nvSpPr>
        <p:spPr>
          <a:xfrm>
            <a:off x="4032483" y="3333407"/>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9" name="Picture 8" descr="Image showing erase"/>
          <p:cNvPicPr>
            <a:picLocks noChangeAspect="1"/>
          </p:cNvPicPr>
          <p:nvPr/>
        </p:nvPicPr>
        <p:blipFill>
          <a:blip r:embed="rId3">
            <a:clrChange>
              <a:clrFrom>
                <a:srgbClr val="FFFFFF"/>
              </a:clrFrom>
              <a:clrTo>
                <a:srgbClr val="FFFFFF">
                  <a:alpha val="0"/>
                </a:srgbClr>
              </a:clrTo>
            </a:clrChange>
          </a:blip>
          <a:stretch>
            <a:fillRect/>
          </a:stretch>
        </p:blipFill>
        <p:spPr>
          <a:xfrm>
            <a:off x="1115212" y="1602914"/>
            <a:ext cx="2770520" cy="2628896"/>
          </a:xfrm>
          <a:prstGeom prst="rect">
            <a:avLst/>
          </a:prstGeom>
        </p:spPr>
      </p:pic>
      <p:pic>
        <p:nvPicPr>
          <p:cNvPr id="10" name="Picture 9" descr="Image showing erase results"/>
          <p:cNvPicPr>
            <a:picLocks noChangeAspect="1"/>
          </p:cNvPicPr>
          <p:nvPr/>
        </p:nvPicPr>
        <p:blipFill>
          <a:blip r:embed="rId4">
            <a:clrChange>
              <a:clrFrom>
                <a:srgbClr val="FFFFFF"/>
              </a:clrFrom>
              <a:clrTo>
                <a:srgbClr val="FFFFFF">
                  <a:alpha val="0"/>
                </a:srgbClr>
              </a:clrTo>
            </a:clrChange>
          </a:blip>
          <a:stretch>
            <a:fillRect/>
          </a:stretch>
        </p:blipFill>
        <p:spPr>
          <a:xfrm>
            <a:off x="4720188" y="1864614"/>
            <a:ext cx="2709901" cy="2588497"/>
          </a:xfrm>
          <a:prstGeom prst="rect">
            <a:avLst/>
          </a:prstGeom>
        </p:spPr>
      </p:pic>
      <p:sp>
        <p:nvSpPr>
          <p:cNvPr id="12" name="Title 1">
            <a:extLst>
              <a:ext uri="{FF2B5EF4-FFF2-40B4-BE49-F238E27FC236}">
                <a16:creationId xmlns:a16="http://schemas.microsoft.com/office/drawing/2014/main" id="{A50FDED8-64AD-4791-9F90-AC109A8B285F}"/>
              </a:ext>
            </a:extLst>
          </p:cNvPr>
          <p:cNvSpPr txBox="1">
            <a:spLocks/>
          </p:cNvSpPr>
          <p:nvPr/>
        </p:nvSpPr>
        <p:spPr>
          <a:xfrm>
            <a:off x="238849" y="2361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Erase</a:t>
            </a:r>
          </a:p>
        </p:txBody>
      </p:sp>
      <p:cxnSp>
        <p:nvCxnSpPr>
          <p:cNvPr id="13" name="Straight Connector 12">
            <a:extLst>
              <a:ext uri="{FF2B5EF4-FFF2-40B4-BE49-F238E27FC236}">
                <a16:creationId xmlns:a16="http://schemas.microsoft.com/office/drawing/2014/main" id="{1CCEABC8-F687-4C45-964F-FA8C671DA15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850CB19-23BF-4CE6-B0E8-48C9224869D7}"/>
              </a:ext>
            </a:extLst>
          </p:cNvPr>
          <p:cNvSpPr txBox="1"/>
          <p:nvPr/>
        </p:nvSpPr>
        <p:spPr>
          <a:xfrm>
            <a:off x="2265331" y="4330219"/>
            <a:ext cx="2212281" cy="541046"/>
          </a:xfrm>
          <a:prstGeom prst="rect">
            <a:avLst/>
          </a:prstGeom>
          <a:noFill/>
        </p:spPr>
        <p:txBody>
          <a:bodyPr wrap="square" rtlCol="0">
            <a:spAutoFit/>
          </a:bodyPr>
          <a:lstStyle/>
          <a:p>
            <a:pPr>
              <a:lnSpc>
                <a:spcPct val="90000"/>
              </a:lnSpc>
            </a:pPr>
            <a:r>
              <a:rPr lang="en-US" sz="1620" dirty="0"/>
              <a:t>Input =  Triangle</a:t>
            </a:r>
          </a:p>
          <a:p>
            <a:pPr>
              <a:lnSpc>
                <a:spcPct val="90000"/>
              </a:lnSpc>
            </a:pPr>
            <a:r>
              <a:rPr lang="en-US" sz="1620" dirty="0"/>
              <a:t>Erase Feature = Circle</a:t>
            </a:r>
          </a:p>
        </p:txBody>
      </p:sp>
    </p:spTree>
    <p:extLst>
      <p:ext uri="{BB962C8B-B14F-4D97-AF65-F5344CB8AC3E}">
        <p14:creationId xmlns:p14="http://schemas.microsoft.com/office/powerpoint/2010/main" val="199318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50FDED8-64AD-4791-9F90-AC109A8B285F}"/>
              </a:ext>
            </a:extLst>
          </p:cNvPr>
          <p:cNvSpPr txBox="1">
            <a:spLocks/>
          </p:cNvSpPr>
          <p:nvPr/>
        </p:nvSpPr>
        <p:spPr>
          <a:xfrm>
            <a:off x="230016" y="1656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Erase</a:t>
            </a:r>
          </a:p>
        </p:txBody>
      </p:sp>
      <p:cxnSp>
        <p:nvCxnSpPr>
          <p:cNvPr id="13" name="Straight Connector 12">
            <a:extLst>
              <a:ext uri="{FF2B5EF4-FFF2-40B4-BE49-F238E27FC236}">
                <a16:creationId xmlns:a16="http://schemas.microsoft.com/office/drawing/2014/main" id="{1CCEABC8-F687-4C45-964F-FA8C671DA15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79444A81-7461-4E1D-AEAF-4F6A3492A103}"/>
              </a:ext>
            </a:extLst>
          </p:cNvPr>
          <p:cNvSpPr>
            <a:spLocks noGrp="1"/>
          </p:cNvSpPr>
          <p:nvPr>
            <p:ph type="sldNum" sz="quarter" idx="12"/>
          </p:nvPr>
        </p:nvSpPr>
        <p:spPr/>
        <p:txBody>
          <a:bodyPr/>
          <a:lstStyle/>
          <a:p>
            <a:fld id="{127DDC20-79C9-9647-820E-6D40A3D210C3}" type="slidenum">
              <a:rPr lang="en-US" smtClean="0"/>
              <a:pPr/>
              <a:t>33</a:t>
            </a:fld>
            <a:endParaRPr lang="en-US"/>
          </a:p>
        </p:txBody>
      </p:sp>
      <p:sp>
        <p:nvSpPr>
          <p:cNvPr id="14" name="TextBox 13">
            <a:extLst>
              <a:ext uri="{FF2B5EF4-FFF2-40B4-BE49-F238E27FC236}">
                <a16:creationId xmlns:a16="http://schemas.microsoft.com/office/drawing/2014/main" id="{BC725B2A-AD4E-4653-87E8-96293E4B025C}"/>
              </a:ext>
            </a:extLst>
          </p:cNvPr>
          <p:cNvSpPr txBox="1"/>
          <p:nvPr/>
        </p:nvSpPr>
        <p:spPr>
          <a:xfrm>
            <a:off x="230016" y="1075688"/>
            <a:ext cx="7923383" cy="646331"/>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000" dirty="0"/>
              <a:t>Erase feature attributes are not added to the output</a:t>
            </a:r>
          </a:p>
          <a:p>
            <a:pPr marL="285750" indent="-285750">
              <a:lnSpc>
                <a:spcPct val="90000"/>
              </a:lnSpc>
              <a:buFont typeface="Courier New" panose="02070309020205020404" pitchFamily="49" charset="0"/>
              <a:buChar char="o"/>
            </a:pPr>
            <a:endParaRPr lang="en-US" sz="2000" dirty="0"/>
          </a:p>
        </p:txBody>
      </p:sp>
      <p:pic>
        <p:nvPicPr>
          <p:cNvPr id="15" name="Picture 14" descr="Map&#10;&#10;Description automatically generated">
            <a:extLst>
              <a:ext uri="{FF2B5EF4-FFF2-40B4-BE49-F238E27FC236}">
                <a16:creationId xmlns:a16="http://schemas.microsoft.com/office/drawing/2014/main" id="{15B0C8DA-C01F-4030-BC06-DA1557E651A9}"/>
              </a:ext>
            </a:extLst>
          </p:cNvPr>
          <p:cNvPicPr>
            <a:picLocks noChangeAspect="1"/>
          </p:cNvPicPr>
          <p:nvPr/>
        </p:nvPicPr>
        <p:blipFill>
          <a:blip r:embed="rId3"/>
          <a:stretch>
            <a:fillRect/>
          </a:stretch>
        </p:blipFill>
        <p:spPr>
          <a:xfrm>
            <a:off x="2681416" y="1704628"/>
            <a:ext cx="3248591" cy="3373212"/>
          </a:xfrm>
          <a:prstGeom prst="rect">
            <a:avLst/>
          </a:prstGeom>
        </p:spPr>
      </p:pic>
    </p:spTree>
    <p:extLst>
      <p:ext uri="{BB962C8B-B14F-4D97-AF65-F5344CB8AC3E}">
        <p14:creationId xmlns:p14="http://schemas.microsoft.com/office/powerpoint/2010/main" val="23619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00911" y="4558262"/>
            <a:ext cx="5145321" cy="316690"/>
          </a:xfrm>
          <a:prstGeom prst="rect">
            <a:avLst/>
          </a:prstGeom>
          <a:noFill/>
        </p:spPr>
        <p:txBody>
          <a:bodyPr wrap="square" rtlCol="0">
            <a:spAutoFit/>
          </a:bodyPr>
          <a:lstStyle/>
          <a:p>
            <a:pPr>
              <a:lnSpc>
                <a:spcPct val="90000"/>
              </a:lnSpc>
            </a:pPr>
            <a:r>
              <a:rPr lang="en-US" sz="1620" dirty="0"/>
              <a:t>Keep common area and boundaries in that common area</a:t>
            </a:r>
          </a:p>
        </p:txBody>
      </p:sp>
      <p:pic>
        <p:nvPicPr>
          <p:cNvPr id="5" name="Picture 4" descr="Image showing intersect"/>
          <p:cNvPicPr>
            <a:picLocks noChangeAspect="1"/>
          </p:cNvPicPr>
          <p:nvPr/>
        </p:nvPicPr>
        <p:blipFill>
          <a:blip r:embed="rId3">
            <a:clrChange>
              <a:clrFrom>
                <a:srgbClr val="FFFFFF"/>
              </a:clrFrom>
              <a:clrTo>
                <a:srgbClr val="FFFFFF">
                  <a:alpha val="0"/>
                </a:srgbClr>
              </a:clrTo>
            </a:clrChange>
          </a:blip>
          <a:stretch>
            <a:fillRect/>
          </a:stretch>
        </p:blipFill>
        <p:spPr>
          <a:xfrm>
            <a:off x="719206" y="1793926"/>
            <a:ext cx="2805191" cy="2565989"/>
          </a:xfrm>
          <a:prstGeom prst="rect">
            <a:avLst/>
          </a:prstGeom>
        </p:spPr>
      </p:pic>
      <p:sp>
        <p:nvSpPr>
          <p:cNvPr id="6" name="Right Arrow 5"/>
          <p:cNvSpPr/>
          <p:nvPr/>
        </p:nvSpPr>
        <p:spPr>
          <a:xfrm>
            <a:off x="3728937" y="3076920"/>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7" name="Picture 6" descr="Image showing intersect results"/>
          <p:cNvPicPr>
            <a:picLocks noChangeAspect="1"/>
          </p:cNvPicPr>
          <p:nvPr/>
        </p:nvPicPr>
        <p:blipFill>
          <a:blip r:embed="rId4">
            <a:clrChange>
              <a:clrFrom>
                <a:srgbClr val="FFFFFF"/>
              </a:clrFrom>
              <a:clrTo>
                <a:srgbClr val="FFFFFF">
                  <a:alpha val="0"/>
                </a:srgbClr>
              </a:clrTo>
            </a:clrChange>
          </a:blip>
          <a:stretch>
            <a:fillRect/>
          </a:stretch>
        </p:blipFill>
        <p:spPr>
          <a:xfrm>
            <a:off x="5246665" y="2154064"/>
            <a:ext cx="2084073" cy="2019350"/>
          </a:xfrm>
          <a:prstGeom prst="rect">
            <a:avLst/>
          </a:prstGeom>
        </p:spPr>
      </p:pic>
      <p:sp>
        <p:nvSpPr>
          <p:cNvPr id="8" name="Title 1">
            <a:extLst>
              <a:ext uri="{FF2B5EF4-FFF2-40B4-BE49-F238E27FC236}">
                <a16:creationId xmlns:a16="http://schemas.microsoft.com/office/drawing/2014/main" id="{CE114B42-7F2F-43E1-8482-703FC185EE3B}"/>
              </a:ext>
            </a:extLst>
          </p:cNvPr>
          <p:cNvSpPr txBox="1">
            <a:spLocks/>
          </p:cNvSpPr>
          <p:nvPr/>
        </p:nvSpPr>
        <p:spPr>
          <a:xfrm>
            <a:off x="152400" y="1857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9" name="Straight Connector 8">
            <a:extLst>
              <a:ext uri="{FF2B5EF4-FFF2-40B4-BE49-F238E27FC236}">
                <a16:creationId xmlns:a16="http://schemas.microsoft.com/office/drawing/2014/main" id="{48EEDE4D-F374-4C0D-AC7A-35368A029DF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C755275E-84BA-4DF9-A70A-1E2543B76AAD}"/>
              </a:ext>
            </a:extLst>
          </p:cNvPr>
          <p:cNvSpPr>
            <a:spLocks noGrp="1"/>
          </p:cNvSpPr>
          <p:nvPr>
            <p:ph idx="1"/>
          </p:nvPr>
        </p:nvSpPr>
        <p:spPr>
          <a:xfrm>
            <a:off x="19177" y="1067100"/>
            <a:ext cx="7818120" cy="653873"/>
          </a:xfrm>
        </p:spPr>
        <p:txBody>
          <a:bodyPr>
            <a:noAutofit/>
          </a:bodyPr>
          <a:lstStyle/>
          <a:p>
            <a:pPr>
              <a:buFont typeface="Courier New" panose="02070309020205020404" pitchFamily="49" charset="0"/>
              <a:buChar char="o"/>
            </a:pPr>
            <a:r>
              <a:rPr lang="en-US" sz="2000" dirty="0"/>
              <a:t>Intersect can be thought of as a spatial AND</a:t>
            </a:r>
          </a:p>
          <a:p>
            <a:pPr>
              <a:buFont typeface="Courier New" panose="02070309020205020404" pitchFamily="49" charset="0"/>
              <a:buChar char="o"/>
            </a:pPr>
            <a:r>
              <a:rPr lang="en-US" sz="2000" dirty="0"/>
              <a:t>Geometrically, this is same output as clip</a:t>
            </a:r>
          </a:p>
        </p:txBody>
      </p:sp>
      <p:sp>
        <p:nvSpPr>
          <p:cNvPr id="2" name="Slide Number Placeholder 1">
            <a:extLst>
              <a:ext uri="{FF2B5EF4-FFF2-40B4-BE49-F238E27FC236}">
                <a16:creationId xmlns:a16="http://schemas.microsoft.com/office/drawing/2014/main" id="{5D9AC69D-D762-457F-9EFD-E9B93AA1F060}"/>
              </a:ext>
            </a:extLst>
          </p:cNvPr>
          <p:cNvSpPr>
            <a:spLocks noGrp="1"/>
          </p:cNvSpPr>
          <p:nvPr>
            <p:ph type="sldNum" sz="quarter" idx="12"/>
          </p:nvPr>
        </p:nvSpPr>
        <p:spPr/>
        <p:txBody>
          <a:bodyPr/>
          <a:lstStyle/>
          <a:p>
            <a:fld id="{127DDC20-79C9-9647-820E-6D40A3D210C3}" type="slidenum">
              <a:rPr lang="en-US" smtClean="0"/>
              <a:pPr/>
              <a:t>34</a:t>
            </a:fld>
            <a:endParaRPr lang="en-US"/>
          </a:p>
        </p:txBody>
      </p:sp>
    </p:spTree>
    <p:extLst>
      <p:ext uri="{BB962C8B-B14F-4D97-AF65-F5344CB8AC3E}">
        <p14:creationId xmlns:p14="http://schemas.microsoft.com/office/powerpoint/2010/main" val="3697381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Image showing intersect"/>
          <p:cNvPicPr>
            <a:picLocks noChangeAspect="1"/>
          </p:cNvPicPr>
          <p:nvPr/>
        </p:nvPicPr>
        <p:blipFill>
          <a:blip r:embed="rId3">
            <a:clrChange>
              <a:clrFrom>
                <a:srgbClr val="00A9E6"/>
              </a:clrFrom>
              <a:clrTo>
                <a:srgbClr val="00A9E6">
                  <a:alpha val="0"/>
                </a:srgbClr>
              </a:clrTo>
            </a:clrChange>
          </a:blip>
          <a:stretch>
            <a:fillRect/>
          </a:stretch>
        </p:blipFill>
        <p:spPr>
          <a:xfrm>
            <a:off x="256170" y="1439885"/>
            <a:ext cx="3711710" cy="3243566"/>
          </a:xfrm>
          <a:prstGeom prst="rect">
            <a:avLst/>
          </a:prstGeom>
        </p:spPr>
      </p:pic>
      <p:sp>
        <p:nvSpPr>
          <p:cNvPr id="12" name="Right Arrow 11"/>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13" name="Picture 12" descr="Image showing intersect results"/>
          <p:cNvPicPr>
            <a:picLocks noChangeAspect="1"/>
          </p:cNvPicPr>
          <p:nvPr/>
        </p:nvPicPr>
        <p:blipFill>
          <a:blip r:embed="rId4">
            <a:clrChange>
              <a:clrFrom>
                <a:srgbClr val="00A9E6"/>
              </a:clrFrom>
              <a:clrTo>
                <a:srgbClr val="00A9E6">
                  <a:alpha val="0"/>
                </a:srgbClr>
              </a:clrTo>
            </a:clrChange>
          </a:blip>
          <a:stretch>
            <a:fillRect/>
          </a:stretch>
        </p:blipFill>
        <p:spPr>
          <a:xfrm>
            <a:off x="5401010" y="1800024"/>
            <a:ext cx="2913266" cy="2678325"/>
          </a:xfrm>
          <a:prstGeom prst="rect">
            <a:avLst/>
          </a:prstGeom>
        </p:spPr>
      </p:pic>
      <p:sp>
        <p:nvSpPr>
          <p:cNvPr id="9" name="Title 1">
            <a:extLst>
              <a:ext uri="{FF2B5EF4-FFF2-40B4-BE49-F238E27FC236}">
                <a16:creationId xmlns:a16="http://schemas.microsoft.com/office/drawing/2014/main" id="{D0A90172-95BA-44D0-AE96-7FB2D95F6A45}"/>
              </a:ext>
            </a:extLst>
          </p:cNvPr>
          <p:cNvSpPr txBox="1">
            <a:spLocks/>
          </p:cNvSpPr>
          <p:nvPr/>
        </p:nvSpPr>
        <p:spPr>
          <a:xfrm>
            <a:off x="152400" y="2430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0" name="Straight Connector 9">
            <a:extLst>
              <a:ext uri="{FF2B5EF4-FFF2-40B4-BE49-F238E27FC236}">
                <a16:creationId xmlns:a16="http://schemas.microsoft.com/office/drawing/2014/main" id="{C0197368-7B4F-41DE-AE43-4104BC4B610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9E999DA5-88FE-45A8-A09C-D6B4CF39890A}"/>
              </a:ext>
            </a:extLst>
          </p:cNvPr>
          <p:cNvSpPr>
            <a:spLocks noGrp="1"/>
          </p:cNvSpPr>
          <p:nvPr>
            <p:ph type="sldNum" sz="quarter" idx="12"/>
          </p:nvPr>
        </p:nvSpPr>
        <p:spPr/>
        <p:txBody>
          <a:bodyPr/>
          <a:lstStyle/>
          <a:p>
            <a:fld id="{127DDC20-79C9-9647-820E-6D40A3D210C3}" type="slidenum">
              <a:rPr lang="en-US" smtClean="0"/>
              <a:pPr/>
              <a:t>35</a:t>
            </a:fld>
            <a:endParaRPr lang="en-US"/>
          </a:p>
        </p:txBody>
      </p:sp>
    </p:spTree>
    <p:extLst>
      <p:ext uri="{BB962C8B-B14F-4D97-AF65-F5344CB8AC3E}">
        <p14:creationId xmlns:p14="http://schemas.microsoft.com/office/powerpoint/2010/main" val="2313767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Arrow 6"/>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8" name="Picture 7" descr="Image showing intersect"/>
          <p:cNvPicPr>
            <a:picLocks noChangeAspect="1"/>
          </p:cNvPicPr>
          <p:nvPr/>
        </p:nvPicPr>
        <p:blipFill>
          <a:blip r:embed="rId3">
            <a:clrChange>
              <a:clrFrom>
                <a:srgbClr val="00A9E6"/>
              </a:clrFrom>
              <a:clrTo>
                <a:srgbClr val="00A9E6">
                  <a:alpha val="0"/>
                </a:srgbClr>
              </a:clrTo>
            </a:clrChange>
          </a:blip>
          <a:stretch>
            <a:fillRect/>
          </a:stretch>
        </p:blipFill>
        <p:spPr>
          <a:xfrm>
            <a:off x="480451" y="1190398"/>
            <a:ext cx="3298395" cy="3021522"/>
          </a:xfrm>
          <a:prstGeom prst="rect">
            <a:avLst/>
          </a:prstGeom>
        </p:spPr>
      </p:pic>
      <p:pic>
        <p:nvPicPr>
          <p:cNvPr id="9" name="Picture 8" descr="Image showing intersect results"/>
          <p:cNvPicPr>
            <a:picLocks noChangeAspect="1"/>
          </p:cNvPicPr>
          <p:nvPr/>
        </p:nvPicPr>
        <p:blipFill>
          <a:blip r:embed="rId4">
            <a:clrChange>
              <a:clrFrom>
                <a:srgbClr val="00A9E6"/>
              </a:clrFrom>
              <a:clrTo>
                <a:srgbClr val="00A9E6">
                  <a:alpha val="0"/>
                </a:srgbClr>
              </a:clrTo>
            </a:clrChange>
          </a:blip>
          <a:stretch>
            <a:fillRect/>
          </a:stretch>
        </p:blipFill>
        <p:spPr>
          <a:xfrm>
            <a:off x="5239500" y="1604399"/>
            <a:ext cx="2791076" cy="2678392"/>
          </a:xfrm>
          <a:prstGeom prst="rect">
            <a:avLst/>
          </a:prstGeom>
        </p:spPr>
      </p:pic>
      <p:sp>
        <p:nvSpPr>
          <p:cNvPr id="10" name="Title 1">
            <a:extLst>
              <a:ext uri="{FF2B5EF4-FFF2-40B4-BE49-F238E27FC236}">
                <a16:creationId xmlns:a16="http://schemas.microsoft.com/office/drawing/2014/main" id="{C1931881-A6FF-492F-973F-6B9FAB22CD44}"/>
              </a:ext>
            </a:extLst>
          </p:cNvPr>
          <p:cNvSpPr txBox="1">
            <a:spLocks/>
          </p:cNvSpPr>
          <p:nvPr/>
        </p:nvSpPr>
        <p:spPr>
          <a:xfrm>
            <a:off x="238849" y="2176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1" name="Straight Connector 10">
            <a:extLst>
              <a:ext uri="{FF2B5EF4-FFF2-40B4-BE49-F238E27FC236}">
                <a16:creationId xmlns:a16="http://schemas.microsoft.com/office/drawing/2014/main" id="{FF685E4A-A1FE-4EA8-A81E-823541ED963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3F01F7A-7124-450C-9426-89C520DCF7A9}"/>
              </a:ext>
            </a:extLst>
          </p:cNvPr>
          <p:cNvSpPr>
            <a:spLocks noGrp="1"/>
          </p:cNvSpPr>
          <p:nvPr>
            <p:ph type="sldNum" sz="quarter" idx="12"/>
          </p:nvPr>
        </p:nvSpPr>
        <p:spPr/>
        <p:txBody>
          <a:bodyPr/>
          <a:lstStyle/>
          <a:p>
            <a:fld id="{127DDC20-79C9-9647-820E-6D40A3D210C3}" type="slidenum">
              <a:rPr lang="en-US" smtClean="0"/>
              <a:pPr/>
              <a:t>36</a:t>
            </a:fld>
            <a:endParaRPr lang="en-US"/>
          </a:p>
        </p:txBody>
      </p:sp>
    </p:spTree>
    <p:extLst>
      <p:ext uri="{BB962C8B-B14F-4D97-AF65-F5344CB8AC3E}">
        <p14:creationId xmlns:p14="http://schemas.microsoft.com/office/powerpoint/2010/main" val="87465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29284" y="4517830"/>
            <a:ext cx="4733253" cy="316690"/>
          </a:xfrm>
          <a:prstGeom prst="rect">
            <a:avLst/>
          </a:prstGeom>
          <a:noFill/>
        </p:spPr>
        <p:txBody>
          <a:bodyPr wrap="square" rtlCol="0">
            <a:spAutoFit/>
          </a:bodyPr>
          <a:lstStyle/>
          <a:p>
            <a:pPr>
              <a:lnSpc>
                <a:spcPct val="90000"/>
              </a:lnSpc>
            </a:pPr>
            <a:r>
              <a:rPr lang="en-US" sz="1620" dirty="0"/>
              <a:t>You can intersect more than two layers</a:t>
            </a:r>
          </a:p>
        </p:txBody>
      </p:sp>
      <p:sp>
        <p:nvSpPr>
          <p:cNvPr id="10" name="Right Arrow 9"/>
          <p:cNvSpPr/>
          <p:nvPr/>
        </p:nvSpPr>
        <p:spPr>
          <a:xfrm>
            <a:off x="3778845" y="2930485"/>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5" name="Picture 4" descr="Image showing intersect"/>
          <p:cNvPicPr>
            <a:picLocks noChangeAspect="1"/>
          </p:cNvPicPr>
          <p:nvPr/>
        </p:nvPicPr>
        <p:blipFill>
          <a:blip r:embed="rId3">
            <a:clrChange>
              <a:clrFrom>
                <a:srgbClr val="FFFFFF"/>
              </a:clrFrom>
              <a:clrTo>
                <a:srgbClr val="FFFFFF">
                  <a:alpha val="0"/>
                </a:srgbClr>
              </a:clrTo>
            </a:clrChange>
          </a:blip>
          <a:stretch>
            <a:fillRect/>
          </a:stretch>
        </p:blipFill>
        <p:spPr>
          <a:xfrm>
            <a:off x="461964" y="1491334"/>
            <a:ext cx="3257037" cy="3208824"/>
          </a:xfrm>
          <a:prstGeom prst="rect">
            <a:avLst/>
          </a:prstGeom>
        </p:spPr>
      </p:pic>
      <p:pic>
        <p:nvPicPr>
          <p:cNvPr id="6" name="Picture 5" descr="Image showing intersect results"/>
          <p:cNvPicPr>
            <a:picLocks noChangeAspect="1"/>
          </p:cNvPicPr>
          <p:nvPr/>
        </p:nvPicPr>
        <p:blipFill>
          <a:blip r:embed="rId4">
            <a:clrChange>
              <a:clrFrom>
                <a:srgbClr val="FFFFFF"/>
              </a:clrFrom>
              <a:clrTo>
                <a:srgbClr val="FFFFFF">
                  <a:alpha val="0"/>
                </a:srgbClr>
              </a:clrTo>
            </a:clrChange>
          </a:blip>
          <a:stretch>
            <a:fillRect/>
          </a:stretch>
        </p:blipFill>
        <p:spPr>
          <a:xfrm>
            <a:off x="5452458" y="1871453"/>
            <a:ext cx="2250657" cy="2646377"/>
          </a:xfrm>
          <a:prstGeom prst="rect">
            <a:avLst/>
          </a:prstGeom>
        </p:spPr>
      </p:pic>
      <p:sp>
        <p:nvSpPr>
          <p:cNvPr id="9" name="Title 1">
            <a:extLst>
              <a:ext uri="{FF2B5EF4-FFF2-40B4-BE49-F238E27FC236}">
                <a16:creationId xmlns:a16="http://schemas.microsoft.com/office/drawing/2014/main" id="{74BD8191-E234-4CF7-BEBC-142DEFDCB152}"/>
              </a:ext>
            </a:extLst>
          </p:cNvPr>
          <p:cNvSpPr txBox="1">
            <a:spLocks/>
          </p:cNvSpPr>
          <p:nvPr/>
        </p:nvSpPr>
        <p:spPr>
          <a:xfrm>
            <a:off x="152400" y="1834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1" name="Straight Connector 10">
            <a:extLst>
              <a:ext uri="{FF2B5EF4-FFF2-40B4-BE49-F238E27FC236}">
                <a16:creationId xmlns:a16="http://schemas.microsoft.com/office/drawing/2014/main" id="{84BCA076-EF55-4E89-A0C1-D2D6B4A5CA6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7B543CCF-A062-4C0A-9610-1C31E3BE8C02}"/>
              </a:ext>
            </a:extLst>
          </p:cNvPr>
          <p:cNvSpPr>
            <a:spLocks noGrp="1"/>
          </p:cNvSpPr>
          <p:nvPr>
            <p:ph type="sldNum" sz="quarter" idx="12"/>
          </p:nvPr>
        </p:nvSpPr>
        <p:spPr/>
        <p:txBody>
          <a:bodyPr/>
          <a:lstStyle/>
          <a:p>
            <a:fld id="{127DDC20-79C9-9647-820E-6D40A3D210C3}" type="slidenum">
              <a:rPr lang="en-US" smtClean="0"/>
              <a:pPr/>
              <a:t>37</a:t>
            </a:fld>
            <a:endParaRPr lang="en-US"/>
          </a:p>
        </p:txBody>
      </p:sp>
    </p:spTree>
    <p:extLst>
      <p:ext uri="{BB962C8B-B14F-4D97-AF65-F5344CB8AC3E}">
        <p14:creationId xmlns:p14="http://schemas.microsoft.com/office/powerpoint/2010/main" val="1726096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1743" y="1155644"/>
            <a:ext cx="3545874" cy="1421928"/>
          </a:xfrm>
          <a:prstGeom prst="rect">
            <a:avLst/>
          </a:prstGeom>
          <a:noFill/>
        </p:spPr>
        <p:txBody>
          <a:bodyPr wrap="square" rtlCol="0">
            <a:spAutoFit/>
          </a:bodyPr>
          <a:lstStyle/>
          <a:p>
            <a:pPr marL="285750" indent="-285750">
              <a:lnSpc>
                <a:spcPct val="90000"/>
              </a:lnSpc>
              <a:buFont typeface="Courier New" panose="02070309020205020404" pitchFamily="49" charset="0"/>
              <a:buChar char="o"/>
            </a:pPr>
            <a:r>
              <a:rPr lang="en-US" sz="2400" dirty="0"/>
              <a:t>Although the geometry is the same as Clip, the attribute table will have all of the attributes</a:t>
            </a:r>
          </a:p>
        </p:txBody>
      </p:sp>
      <p:sp>
        <p:nvSpPr>
          <p:cNvPr id="10" name="Title 1">
            <a:extLst>
              <a:ext uri="{FF2B5EF4-FFF2-40B4-BE49-F238E27FC236}">
                <a16:creationId xmlns:a16="http://schemas.microsoft.com/office/drawing/2014/main" id="{C1931881-A6FF-492F-973F-6B9FAB22CD44}"/>
              </a:ext>
            </a:extLst>
          </p:cNvPr>
          <p:cNvSpPr txBox="1">
            <a:spLocks/>
          </p:cNvSpPr>
          <p:nvPr/>
        </p:nvSpPr>
        <p:spPr>
          <a:xfrm>
            <a:off x="261743" y="19048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Intersect</a:t>
            </a:r>
          </a:p>
        </p:txBody>
      </p:sp>
      <p:cxnSp>
        <p:nvCxnSpPr>
          <p:cNvPr id="11" name="Straight Connector 10">
            <a:extLst>
              <a:ext uri="{FF2B5EF4-FFF2-40B4-BE49-F238E27FC236}">
                <a16:creationId xmlns:a16="http://schemas.microsoft.com/office/drawing/2014/main" id="{FF685E4A-A1FE-4EA8-A81E-823541ED963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3F01F7A-7124-450C-9426-89C520DCF7A9}"/>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5" name="Picture 4" descr="Map&#10;&#10;Description automatically generated">
            <a:extLst>
              <a:ext uri="{FF2B5EF4-FFF2-40B4-BE49-F238E27FC236}">
                <a16:creationId xmlns:a16="http://schemas.microsoft.com/office/drawing/2014/main" id="{3FEC6AB3-8386-4FC3-B64E-5C7651C83C76}"/>
              </a:ext>
            </a:extLst>
          </p:cNvPr>
          <p:cNvPicPr>
            <a:picLocks noChangeAspect="1"/>
          </p:cNvPicPr>
          <p:nvPr/>
        </p:nvPicPr>
        <p:blipFill>
          <a:blip r:embed="rId3"/>
          <a:stretch>
            <a:fillRect/>
          </a:stretch>
        </p:blipFill>
        <p:spPr>
          <a:xfrm>
            <a:off x="3807616" y="1243700"/>
            <a:ext cx="3730005" cy="3619826"/>
          </a:xfrm>
          <a:prstGeom prst="rect">
            <a:avLst/>
          </a:prstGeom>
        </p:spPr>
      </p:pic>
      <p:sp>
        <p:nvSpPr>
          <p:cNvPr id="12" name="TextBox 11">
            <a:extLst>
              <a:ext uri="{FF2B5EF4-FFF2-40B4-BE49-F238E27FC236}">
                <a16:creationId xmlns:a16="http://schemas.microsoft.com/office/drawing/2014/main" id="{C243AC90-64E3-4C1A-BA8C-6007FFBB50A8}"/>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80416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208817"/>
            <a:ext cx="7444990" cy="618519"/>
          </a:xfrm>
        </p:spPr>
        <p:txBody>
          <a:bodyPr/>
          <a:lstStyle/>
          <a:p>
            <a:pPr>
              <a:buFont typeface="Courier New" panose="02070309020205020404" pitchFamily="49" charset="0"/>
              <a:buChar char="o"/>
            </a:pPr>
            <a:r>
              <a:rPr lang="en-US" dirty="0"/>
              <a:t>Complete the table for the vector point overlay</a:t>
            </a:r>
          </a:p>
          <a:p>
            <a:pPr marL="0" indent="0">
              <a:buNone/>
            </a:pPr>
            <a:endParaRPr lang="en-US" dirty="0"/>
          </a:p>
        </p:txBody>
      </p:sp>
      <p:sp>
        <p:nvSpPr>
          <p:cNvPr id="2" name="Slide Number Placeholder 1">
            <a:extLst>
              <a:ext uri="{FF2B5EF4-FFF2-40B4-BE49-F238E27FC236}">
                <a16:creationId xmlns:a16="http://schemas.microsoft.com/office/drawing/2014/main" id="{CACA2843-7968-4E1A-BCC2-BDB98B45DD29}"/>
              </a:ext>
            </a:extLst>
          </p:cNvPr>
          <p:cNvSpPr>
            <a:spLocks noGrp="1"/>
          </p:cNvSpPr>
          <p:nvPr>
            <p:ph type="sldNum" sz="quarter" idx="12"/>
          </p:nvPr>
        </p:nvSpPr>
        <p:spPr/>
        <p:txBody>
          <a:bodyPr/>
          <a:lstStyle/>
          <a:p>
            <a:fld id="{127DDC20-79C9-9647-820E-6D40A3D210C3}" type="slidenum">
              <a:rPr lang="en-US" smtClean="0"/>
              <a:pPr/>
              <a:t>39</a:t>
            </a:fld>
            <a:endParaRPr lang="en-US"/>
          </a:p>
        </p:txBody>
      </p:sp>
      <p:sp>
        <p:nvSpPr>
          <p:cNvPr id="7" name="Title 1">
            <a:extLst>
              <a:ext uri="{FF2B5EF4-FFF2-40B4-BE49-F238E27FC236}">
                <a16:creationId xmlns:a16="http://schemas.microsoft.com/office/drawing/2014/main" id="{D899931E-F444-4C4C-B540-9C69FB8DD4AA}"/>
              </a:ext>
            </a:extLst>
          </p:cNvPr>
          <p:cNvSpPr txBox="1">
            <a:spLocks/>
          </p:cNvSpPr>
          <p:nvPr/>
        </p:nvSpPr>
        <p:spPr>
          <a:xfrm>
            <a:off x="187819"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Group activity 11-1</a:t>
            </a:r>
          </a:p>
        </p:txBody>
      </p:sp>
      <p:cxnSp>
        <p:nvCxnSpPr>
          <p:cNvPr id="8" name="Straight Connector 7">
            <a:extLst>
              <a:ext uri="{FF2B5EF4-FFF2-40B4-BE49-F238E27FC236}">
                <a16:creationId xmlns:a16="http://schemas.microsoft.com/office/drawing/2014/main" id="{06252B22-0903-4A0D-87DD-BD5E5ABD214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Diagram&#10;&#10;Description automatically generated with medium confidence">
            <a:extLst>
              <a:ext uri="{FF2B5EF4-FFF2-40B4-BE49-F238E27FC236}">
                <a16:creationId xmlns:a16="http://schemas.microsoft.com/office/drawing/2014/main" id="{E2732224-AB98-4D3E-99AA-6BD3CB802C2B}"/>
              </a:ext>
            </a:extLst>
          </p:cNvPr>
          <p:cNvPicPr>
            <a:picLocks noChangeAspect="1"/>
          </p:cNvPicPr>
          <p:nvPr/>
        </p:nvPicPr>
        <p:blipFill>
          <a:blip r:embed="rId3"/>
          <a:stretch>
            <a:fillRect/>
          </a:stretch>
        </p:blipFill>
        <p:spPr>
          <a:xfrm>
            <a:off x="1473199" y="2135698"/>
            <a:ext cx="5506441" cy="2905409"/>
          </a:xfrm>
          <a:prstGeom prst="rect">
            <a:avLst/>
          </a:prstGeom>
        </p:spPr>
      </p:pic>
    </p:spTree>
    <p:extLst>
      <p:ext uri="{BB962C8B-B14F-4D97-AF65-F5344CB8AC3E}">
        <p14:creationId xmlns:p14="http://schemas.microsoft.com/office/powerpoint/2010/main" val="589713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053" y="1055456"/>
            <a:ext cx="7890347" cy="728059"/>
          </a:xfrm>
        </p:spPr>
        <p:txBody>
          <a:bodyPr>
            <a:normAutofit fontScale="92500" lnSpcReduction="10000"/>
          </a:bodyPr>
          <a:lstStyle/>
          <a:p>
            <a:pPr>
              <a:buFont typeface="Courier New" panose="02070309020205020404" pitchFamily="49" charset="0"/>
              <a:buChar char="o"/>
            </a:pPr>
            <a:r>
              <a:rPr lang="en-US" sz="2000" dirty="0"/>
              <a:t>Opposite of Intersect = only maintains areas that are not shared</a:t>
            </a:r>
          </a:p>
          <a:p>
            <a:pPr>
              <a:buFont typeface="Courier New" panose="02070309020205020404" pitchFamily="49" charset="0"/>
              <a:buChar char="o"/>
            </a:pPr>
            <a:r>
              <a:rPr lang="en-US" sz="2000" dirty="0"/>
              <a:t>All input attributes are maintained</a:t>
            </a:r>
          </a:p>
        </p:txBody>
      </p:sp>
      <p:sp>
        <p:nvSpPr>
          <p:cNvPr id="2" name="Slide Number Placeholder 1">
            <a:extLst>
              <a:ext uri="{FF2B5EF4-FFF2-40B4-BE49-F238E27FC236}">
                <a16:creationId xmlns:a16="http://schemas.microsoft.com/office/drawing/2014/main" id="{0DFDFE08-EC57-45FD-A1AF-21AA2F500BC5}"/>
              </a:ext>
            </a:extLst>
          </p:cNvPr>
          <p:cNvSpPr>
            <a:spLocks noGrp="1"/>
          </p:cNvSpPr>
          <p:nvPr>
            <p:ph type="sldNum" sz="quarter" idx="12"/>
          </p:nvPr>
        </p:nvSpPr>
        <p:spPr/>
        <p:txBody>
          <a:bodyPr/>
          <a:lstStyle/>
          <a:p>
            <a:fld id="{127DDC20-79C9-9647-820E-6D40A3D210C3}" type="slidenum">
              <a:rPr lang="en-US" smtClean="0"/>
              <a:pPr/>
              <a:t>40</a:t>
            </a:fld>
            <a:endParaRPr lang="en-US"/>
          </a:p>
        </p:txBody>
      </p:sp>
      <p:pic>
        <p:nvPicPr>
          <p:cNvPr id="4" name="Picture 3" descr="Image showing symmetrical difference"/>
          <p:cNvPicPr>
            <a:picLocks noChangeAspect="1"/>
          </p:cNvPicPr>
          <p:nvPr/>
        </p:nvPicPr>
        <p:blipFill>
          <a:blip r:embed="rId3">
            <a:clrChange>
              <a:clrFrom>
                <a:srgbClr val="FFFFFF"/>
              </a:clrFrom>
              <a:clrTo>
                <a:srgbClr val="FFFFFF">
                  <a:alpha val="0"/>
                </a:srgbClr>
              </a:clrTo>
            </a:clrChange>
          </a:blip>
          <a:stretch>
            <a:fillRect/>
          </a:stretch>
        </p:blipFill>
        <p:spPr>
          <a:xfrm>
            <a:off x="451702" y="1831237"/>
            <a:ext cx="2984007" cy="2881447"/>
          </a:xfrm>
          <a:prstGeom prst="rect">
            <a:avLst/>
          </a:prstGeom>
        </p:spPr>
      </p:pic>
      <p:sp>
        <p:nvSpPr>
          <p:cNvPr id="5" name="Right Arrow 4"/>
          <p:cNvSpPr/>
          <p:nvPr/>
        </p:nvSpPr>
        <p:spPr>
          <a:xfrm>
            <a:off x="3768583" y="3381472"/>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6" name="Picture 5" descr="Image showing symmetrical difference results"/>
          <p:cNvPicPr>
            <a:picLocks noChangeAspect="1"/>
          </p:cNvPicPr>
          <p:nvPr/>
        </p:nvPicPr>
        <p:blipFill>
          <a:blip r:embed="rId4">
            <a:clrChange>
              <a:clrFrom>
                <a:srgbClr val="FFFFFF"/>
              </a:clrFrom>
              <a:clrTo>
                <a:srgbClr val="FFFFFF">
                  <a:alpha val="0"/>
                </a:srgbClr>
              </a:clrTo>
            </a:clrChange>
          </a:blip>
          <a:stretch>
            <a:fillRect/>
          </a:stretch>
        </p:blipFill>
        <p:spPr>
          <a:xfrm>
            <a:off x="5082058" y="1850347"/>
            <a:ext cx="3071342" cy="2978714"/>
          </a:xfrm>
          <a:prstGeom prst="rect">
            <a:avLst/>
          </a:prstGeom>
        </p:spPr>
      </p:pic>
      <p:sp>
        <p:nvSpPr>
          <p:cNvPr id="7" name="Title 1">
            <a:extLst>
              <a:ext uri="{FF2B5EF4-FFF2-40B4-BE49-F238E27FC236}">
                <a16:creationId xmlns:a16="http://schemas.microsoft.com/office/drawing/2014/main" id="{6A30542A-AB59-49D1-AB32-76F8A2B7BCB8}"/>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Symmetrical Difference</a:t>
            </a:r>
          </a:p>
        </p:txBody>
      </p:sp>
      <p:cxnSp>
        <p:nvCxnSpPr>
          <p:cNvPr id="8" name="Straight Connector 7">
            <a:extLst>
              <a:ext uri="{FF2B5EF4-FFF2-40B4-BE49-F238E27FC236}">
                <a16:creationId xmlns:a16="http://schemas.microsoft.com/office/drawing/2014/main" id="{17193A43-A48A-40F7-B3B8-A150EC347C7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355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025" y="1046457"/>
            <a:ext cx="7939563" cy="1247291"/>
          </a:xfrm>
        </p:spPr>
        <p:txBody>
          <a:bodyPr>
            <a:normAutofit/>
          </a:bodyPr>
          <a:lstStyle/>
          <a:p>
            <a:pPr>
              <a:buFont typeface="Courier New" panose="02070309020205020404" pitchFamily="49" charset="0"/>
              <a:buChar char="o"/>
            </a:pPr>
            <a:r>
              <a:rPr lang="en-US" dirty="0"/>
              <a:t>Spatial OR</a:t>
            </a:r>
          </a:p>
          <a:p>
            <a:pPr>
              <a:buFont typeface="Courier New" panose="02070309020205020404" pitchFamily="49" charset="0"/>
              <a:buChar char="o"/>
            </a:pPr>
            <a:r>
              <a:rPr lang="en-US" dirty="0"/>
              <a:t>Keep all boundaries and attributes</a:t>
            </a:r>
          </a:p>
          <a:p>
            <a:pPr>
              <a:buFont typeface="Courier New" panose="02070309020205020404" pitchFamily="49" charset="0"/>
              <a:buChar char="o"/>
            </a:pPr>
            <a:r>
              <a:rPr lang="en-US" dirty="0"/>
              <a:t>Used for polygon data only</a:t>
            </a:r>
          </a:p>
        </p:txBody>
      </p:sp>
      <p:sp>
        <p:nvSpPr>
          <p:cNvPr id="2" name="Slide Number Placeholder 1">
            <a:extLst>
              <a:ext uri="{FF2B5EF4-FFF2-40B4-BE49-F238E27FC236}">
                <a16:creationId xmlns:a16="http://schemas.microsoft.com/office/drawing/2014/main" id="{75F4469A-6FC0-4CF6-9ADD-9CD9A7B0CEC8}"/>
              </a:ext>
            </a:extLst>
          </p:cNvPr>
          <p:cNvSpPr>
            <a:spLocks noGrp="1"/>
          </p:cNvSpPr>
          <p:nvPr>
            <p:ph type="sldNum" sz="quarter" idx="12"/>
          </p:nvPr>
        </p:nvSpPr>
        <p:spPr/>
        <p:txBody>
          <a:bodyPr/>
          <a:lstStyle/>
          <a:p>
            <a:fld id="{127DDC20-79C9-9647-820E-6D40A3D210C3}" type="slidenum">
              <a:rPr lang="en-US" smtClean="0"/>
              <a:pPr/>
              <a:t>41</a:t>
            </a:fld>
            <a:endParaRPr lang="en-US"/>
          </a:p>
        </p:txBody>
      </p:sp>
      <p:pic>
        <p:nvPicPr>
          <p:cNvPr id="4" name="Picture 3" descr="Image showing union results"/>
          <p:cNvPicPr>
            <a:picLocks noChangeAspect="1"/>
          </p:cNvPicPr>
          <p:nvPr/>
        </p:nvPicPr>
        <p:blipFill>
          <a:blip r:embed="rId3">
            <a:clrChange>
              <a:clrFrom>
                <a:srgbClr val="FFFFFF"/>
              </a:clrFrom>
              <a:clrTo>
                <a:srgbClr val="FFFFFF">
                  <a:alpha val="0"/>
                </a:srgbClr>
              </a:clrTo>
            </a:clrChange>
          </a:blip>
          <a:stretch>
            <a:fillRect/>
          </a:stretch>
        </p:blipFill>
        <p:spPr>
          <a:xfrm>
            <a:off x="4835078" y="1902921"/>
            <a:ext cx="2881110" cy="2811293"/>
          </a:xfrm>
          <a:prstGeom prst="rect">
            <a:avLst/>
          </a:prstGeom>
        </p:spPr>
      </p:pic>
      <p:sp>
        <p:nvSpPr>
          <p:cNvPr id="5" name="Right Arrow 4"/>
          <p:cNvSpPr/>
          <p:nvPr/>
        </p:nvSpPr>
        <p:spPr>
          <a:xfrm>
            <a:off x="3343074" y="3079803"/>
            <a:ext cx="1492004" cy="308690"/>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pic>
        <p:nvPicPr>
          <p:cNvPr id="6" name="Picture 5" descr="Image showing union"/>
          <p:cNvPicPr>
            <a:picLocks noChangeAspect="1"/>
          </p:cNvPicPr>
          <p:nvPr/>
        </p:nvPicPr>
        <p:blipFill>
          <a:blip r:embed="rId4">
            <a:clrChange>
              <a:clrFrom>
                <a:srgbClr val="FFFFFF"/>
              </a:clrFrom>
              <a:clrTo>
                <a:srgbClr val="FFFFFF">
                  <a:alpha val="0"/>
                </a:srgbClr>
              </a:clrTo>
            </a:clrChange>
          </a:blip>
          <a:stretch>
            <a:fillRect/>
          </a:stretch>
        </p:blipFill>
        <p:spPr>
          <a:xfrm>
            <a:off x="373841" y="2041323"/>
            <a:ext cx="2734823" cy="2694340"/>
          </a:xfrm>
          <a:prstGeom prst="rect">
            <a:avLst/>
          </a:prstGeom>
        </p:spPr>
      </p:pic>
      <p:sp>
        <p:nvSpPr>
          <p:cNvPr id="7" name="Title 1">
            <a:extLst>
              <a:ext uri="{FF2B5EF4-FFF2-40B4-BE49-F238E27FC236}">
                <a16:creationId xmlns:a16="http://schemas.microsoft.com/office/drawing/2014/main" id="{2FDBEF28-04A4-49FD-82D5-D60613545D7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Union</a:t>
            </a:r>
          </a:p>
        </p:txBody>
      </p:sp>
      <p:cxnSp>
        <p:nvCxnSpPr>
          <p:cNvPr id="8" name="Straight Connector 7">
            <a:extLst>
              <a:ext uri="{FF2B5EF4-FFF2-40B4-BE49-F238E27FC236}">
                <a16:creationId xmlns:a16="http://schemas.microsoft.com/office/drawing/2014/main" id="{7D8B429B-E5E6-4F5A-BB66-36718734F14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911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025" y="1046457"/>
            <a:ext cx="2967229" cy="2077743"/>
          </a:xfrm>
        </p:spPr>
        <p:txBody>
          <a:bodyPr>
            <a:normAutofit/>
          </a:bodyPr>
          <a:lstStyle/>
          <a:p>
            <a:pPr>
              <a:buFont typeface="Courier New" panose="02070309020205020404" pitchFamily="49" charset="0"/>
              <a:buChar char="o"/>
            </a:pPr>
            <a:r>
              <a:rPr lang="en-US" dirty="0"/>
              <a:t>Spatial OR</a:t>
            </a:r>
          </a:p>
          <a:p>
            <a:pPr>
              <a:buFont typeface="Courier New" panose="02070309020205020404" pitchFamily="49" charset="0"/>
              <a:buChar char="o"/>
            </a:pPr>
            <a:r>
              <a:rPr lang="en-US" dirty="0"/>
              <a:t>Keep all boundaries and attributes</a:t>
            </a:r>
          </a:p>
          <a:p>
            <a:pPr>
              <a:buFont typeface="Courier New" panose="02070309020205020404" pitchFamily="49" charset="0"/>
              <a:buChar char="o"/>
            </a:pPr>
            <a:r>
              <a:rPr lang="en-US" dirty="0"/>
              <a:t>Used for polygon data only</a:t>
            </a:r>
          </a:p>
        </p:txBody>
      </p:sp>
      <p:sp>
        <p:nvSpPr>
          <p:cNvPr id="2" name="Slide Number Placeholder 1">
            <a:extLst>
              <a:ext uri="{FF2B5EF4-FFF2-40B4-BE49-F238E27FC236}">
                <a16:creationId xmlns:a16="http://schemas.microsoft.com/office/drawing/2014/main" id="{75F4469A-6FC0-4CF6-9ADD-9CD9A7B0CEC8}"/>
              </a:ext>
            </a:extLst>
          </p:cNvPr>
          <p:cNvSpPr>
            <a:spLocks noGrp="1"/>
          </p:cNvSpPr>
          <p:nvPr>
            <p:ph type="sldNum" sz="quarter" idx="12"/>
          </p:nvPr>
        </p:nvSpPr>
        <p:spPr/>
        <p:txBody>
          <a:bodyPr/>
          <a:lstStyle/>
          <a:p>
            <a:fld id="{127DDC20-79C9-9647-820E-6D40A3D210C3}" type="slidenum">
              <a:rPr lang="en-US" smtClean="0"/>
              <a:pPr/>
              <a:t>42</a:t>
            </a:fld>
            <a:endParaRPr lang="en-US"/>
          </a:p>
        </p:txBody>
      </p:sp>
      <p:sp>
        <p:nvSpPr>
          <p:cNvPr id="7" name="Title 1">
            <a:extLst>
              <a:ext uri="{FF2B5EF4-FFF2-40B4-BE49-F238E27FC236}">
                <a16:creationId xmlns:a16="http://schemas.microsoft.com/office/drawing/2014/main" id="{2FDBEF28-04A4-49FD-82D5-D60613545D7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Overlay: Union</a:t>
            </a:r>
          </a:p>
        </p:txBody>
      </p:sp>
      <p:cxnSp>
        <p:nvCxnSpPr>
          <p:cNvPr id="8" name="Straight Connector 7">
            <a:extLst>
              <a:ext uri="{FF2B5EF4-FFF2-40B4-BE49-F238E27FC236}">
                <a16:creationId xmlns:a16="http://schemas.microsoft.com/office/drawing/2014/main" id="{7D8B429B-E5E6-4F5A-BB66-36718734F14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Map&#10;&#10;Description automatically generated">
            <a:extLst>
              <a:ext uri="{FF2B5EF4-FFF2-40B4-BE49-F238E27FC236}">
                <a16:creationId xmlns:a16="http://schemas.microsoft.com/office/drawing/2014/main" id="{98FC49A8-D776-4F40-AA7D-4F26838FB622}"/>
              </a:ext>
            </a:extLst>
          </p:cNvPr>
          <p:cNvPicPr>
            <a:picLocks noChangeAspect="1"/>
          </p:cNvPicPr>
          <p:nvPr/>
        </p:nvPicPr>
        <p:blipFill>
          <a:blip r:embed="rId3"/>
          <a:stretch>
            <a:fillRect/>
          </a:stretch>
        </p:blipFill>
        <p:spPr>
          <a:xfrm>
            <a:off x="3471605" y="1143001"/>
            <a:ext cx="3699324" cy="3830574"/>
          </a:xfrm>
          <a:prstGeom prst="rect">
            <a:avLst/>
          </a:prstGeom>
        </p:spPr>
      </p:pic>
      <p:sp>
        <p:nvSpPr>
          <p:cNvPr id="11" name="TextBox 10">
            <a:extLst>
              <a:ext uri="{FF2B5EF4-FFF2-40B4-BE49-F238E27FC236}">
                <a16:creationId xmlns:a16="http://schemas.microsoft.com/office/drawing/2014/main" id="{3DB44159-B3C4-4936-A861-70C2D36B06DC}"/>
              </a:ext>
            </a:extLst>
          </p:cNvPr>
          <p:cNvSpPr txBox="1"/>
          <p:nvPr/>
        </p:nvSpPr>
        <p:spPr>
          <a:xfrm>
            <a:off x="6409800" y="4737651"/>
            <a:ext cx="896399"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277849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8533" y="1205355"/>
            <a:ext cx="7814505" cy="1139351"/>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US" sz="2520" dirty="0"/>
              <a:t>Combine datasets of the same type: points, lines, or polygons</a:t>
            </a:r>
          </a:p>
          <a:p>
            <a:pPr marL="457200" indent="-457200">
              <a:lnSpc>
                <a:spcPct val="90000"/>
              </a:lnSpc>
              <a:buFont typeface="Courier New" panose="02070309020205020404" pitchFamily="49" charset="0"/>
              <a:buChar char="o"/>
            </a:pPr>
            <a:r>
              <a:rPr lang="en-US" sz="2520" dirty="0"/>
              <a:t>Create a new file</a:t>
            </a:r>
          </a:p>
        </p:txBody>
      </p:sp>
      <p:pic>
        <p:nvPicPr>
          <p:cNvPr id="4" name="Picture 3" descr="Image showing merge"/>
          <p:cNvPicPr>
            <a:picLocks noChangeAspect="1"/>
          </p:cNvPicPr>
          <p:nvPr/>
        </p:nvPicPr>
        <p:blipFill>
          <a:blip r:embed="rId3">
            <a:clrChange>
              <a:clrFrom>
                <a:srgbClr val="FFFFFF"/>
              </a:clrFrom>
              <a:clrTo>
                <a:srgbClr val="FFFFFF">
                  <a:alpha val="0"/>
                </a:srgbClr>
              </a:clrTo>
            </a:clrChange>
          </a:blip>
          <a:stretch>
            <a:fillRect/>
          </a:stretch>
        </p:blipFill>
        <p:spPr>
          <a:xfrm>
            <a:off x="6278" y="2195730"/>
            <a:ext cx="2397244" cy="2514540"/>
          </a:xfrm>
          <a:prstGeom prst="rect">
            <a:avLst/>
          </a:prstGeom>
        </p:spPr>
      </p:pic>
      <p:pic>
        <p:nvPicPr>
          <p:cNvPr id="5" name="Picture 4" descr="Image showing merge"/>
          <p:cNvPicPr>
            <a:picLocks noChangeAspect="1"/>
          </p:cNvPicPr>
          <p:nvPr/>
        </p:nvPicPr>
        <p:blipFill>
          <a:blip r:embed="rId4">
            <a:clrChange>
              <a:clrFrom>
                <a:srgbClr val="FFFFFF"/>
              </a:clrFrom>
              <a:clrTo>
                <a:srgbClr val="FFFFFF">
                  <a:alpha val="0"/>
                </a:srgbClr>
              </a:clrTo>
            </a:clrChange>
          </a:blip>
          <a:stretch>
            <a:fillRect/>
          </a:stretch>
        </p:blipFill>
        <p:spPr>
          <a:xfrm>
            <a:off x="2211209" y="2295409"/>
            <a:ext cx="2076537" cy="2315178"/>
          </a:xfrm>
          <a:prstGeom prst="rect">
            <a:avLst/>
          </a:prstGeom>
        </p:spPr>
      </p:pic>
      <p:sp>
        <p:nvSpPr>
          <p:cNvPr id="6" name="TextBox 5"/>
          <p:cNvSpPr txBox="1"/>
          <p:nvPr/>
        </p:nvSpPr>
        <p:spPr>
          <a:xfrm>
            <a:off x="2159761" y="3216103"/>
            <a:ext cx="565932" cy="503792"/>
          </a:xfrm>
          <a:prstGeom prst="rect">
            <a:avLst/>
          </a:prstGeom>
          <a:noFill/>
        </p:spPr>
        <p:txBody>
          <a:bodyPr wrap="square" rtlCol="0">
            <a:spAutoFit/>
          </a:bodyPr>
          <a:lstStyle/>
          <a:p>
            <a:pPr>
              <a:lnSpc>
                <a:spcPct val="90000"/>
              </a:lnSpc>
            </a:pPr>
            <a:r>
              <a:rPr lang="en-US" sz="2971" dirty="0"/>
              <a:t>+</a:t>
            </a:r>
          </a:p>
        </p:txBody>
      </p:sp>
      <p:sp>
        <p:nvSpPr>
          <p:cNvPr id="7" name="TextBox 6"/>
          <p:cNvSpPr txBox="1"/>
          <p:nvPr/>
        </p:nvSpPr>
        <p:spPr>
          <a:xfrm>
            <a:off x="4291592" y="3216102"/>
            <a:ext cx="565932" cy="503792"/>
          </a:xfrm>
          <a:prstGeom prst="rect">
            <a:avLst/>
          </a:prstGeom>
          <a:noFill/>
        </p:spPr>
        <p:txBody>
          <a:bodyPr wrap="square" rtlCol="0">
            <a:spAutoFit/>
          </a:bodyPr>
          <a:lstStyle/>
          <a:p>
            <a:pPr>
              <a:lnSpc>
                <a:spcPct val="90000"/>
              </a:lnSpc>
            </a:pPr>
            <a:r>
              <a:rPr lang="en-US" sz="2971" dirty="0"/>
              <a:t>=</a:t>
            </a:r>
          </a:p>
        </p:txBody>
      </p:sp>
      <p:pic>
        <p:nvPicPr>
          <p:cNvPr id="8" name="Picture 7" descr="Image showing merge results"/>
          <p:cNvPicPr>
            <a:picLocks noChangeAspect="1"/>
          </p:cNvPicPr>
          <p:nvPr/>
        </p:nvPicPr>
        <p:blipFill>
          <a:blip r:embed="rId5">
            <a:clrChange>
              <a:clrFrom>
                <a:srgbClr val="FFFFFF"/>
              </a:clrFrom>
              <a:clrTo>
                <a:srgbClr val="FFFFFF">
                  <a:alpha val="0"/>
                </a:srgbClr>
              </a:clrTo>
            </a:clrChange>
          </a:blip>
          <a:stretch>
            <a:fillRect/>
          </a:stretch>
        </p:blipFill>
        <p:spPr>
          <a:xfrm>
            <a:off x="4989423" y="2568730"/>
            <a:ext cx="3126402" cy="2141540"/>
          </a:xfrm>
          <a:prstGeom prst="rect">
            <a:avLst/>
          </a:prstGeom>
        </p:spPr>
      </p:pic>
      <p:sp>
        <p:nvSpPr>
          <p:cNvPr id="9" name="TextBox 8"/>
          <p:cNvSpPr txBox="1"/>
          <p:nvPr/>
        </p:nvSpPr>
        <p:spPr>
          <a:xfrm>
            <a:off x="307619" y="4218099"/>
            <a:ext cx="823174" cy="316690"/>
          </a:xfrm>
          <a:prstGeom prst="rect">
            <a:avLst/>
          </a:prstGeom>
          <a:noFill/>
        </p:spPr>
        <p:txBody>
          <a:bodyPr wrap="square" rtlCol="0">
            <a:spAutoFit/>
          </a:bodyPr>
          <a:lstStyle/>
          <a:p>
            <a:pPr>
              <a:lnSpc>
                <a:spcPct val="90000"/>
              </a:lnSpc>
            </a:pPr>
            <a:r>
              <a:rPr lang="en-US" sz="1620" dirty="0"/>
              <a:t>Layer 1</a:t>
            </a:r>
          </a:p>
        </p:txBody>
      </p:sp>
      <p:sp>
        <p:nvSpPr>
          <p:cNvPr id="10" name="TextBox 9"/>
          <p:cNvSpPr txBox="1"/>
          <p:nvPr/>
        </p:nvSpPr>
        <p:spPr>
          <a:xfrm>
            <a:off x="3876159" y="4207809"/>
            <a:ext cx="981365" cy="316690"/>
          </a:xfrm>
          <a:prstGeom prst="rect">
            <a:avLst/>
          </a:prstGeom>
          <a:noFill/>
        </p:spPr>
        <p:txBody>
          <a:bodyPr wrap="square" rtlCol="0">
            <a:spAutoFit/>
          </a:bodyPr>
          <a:lstStyle/>
          <a:p>
            <a:pPr>
              <a:lnSpc>
                <a:spcPct val="90000"/>
              </a:lnSpc>
            </a:pPr>
            <a:r>
              <a:rPr lang="en-US" sz="1620" dirty="0"/>
              <a:t>Layer 2</a:t>
            </a:r>
          </a:p>
        </p:txBody>
      </p:sp>
      <p:sp>
        <p:nvSpPr>
          <p:cNvPr id="11" name="Title 1">
            <a:extLst>
              <a:ext uri="{FF2B5EF4-FFF2-40B4-BE49-F238E27FC236}">
                <a16:creationId xmlns:a16="http://schemas.microsoft.com/office/drawing/2014/main" id="{4C2296BB-4AD0-4E3E-A6C1-58641184A6B8}"/>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 Merge</a:t>
            </a:r>
          </a:p>
        </p:txBody>
      </p:sp>
      <p:cxnSp>
        <p:nvCxnSpPr>
          <p:cNvPr id="12" name="Straight Connector 11">
            <a:extLst>
              <a:ext uri="{FF2B5EF4-FFF2-40B4-BE49-F238E27FC236}">
                <a16:creationId xmlns:a16="http://schemas.microsoft.com/office/drawing/2014/main" id="{FC7C155E-C88B-4087-95E0-BDFD795500E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DBDD70E-D81B-4B9A-9032-0C2F8815C60E}"/>
              </a:ext>
            </a:extLst>
          </p:cNvPr>
          <p:cNvSpPr>
            <a:spLocks noGrp="1"/>
          </p:cNvSpPr>
          <p:nvPr>
            <p:ph type="sldNum" sz="quarter" idx="12"/>
          </p:nvPr>
        </p:nvSpPr>
        <p:spPr/>
        <p:txBody>
          <a:bodyPr/>
          <a:lstStyle/>
          <a:p>
            <a:fld id="{127DDC20-79C9-9647-820E-6D40A3D210C3}" type="slidenum">
              <a:rPr lang="en-US" smtClean="0"/>
              <a:pPr/>
              <a:t>43</a:t>
            </a:fld>
            <a:endParaRPr lang="en-US"/>
          </a:p>
        </p:txBody>
      </p:sp>
    </p:spTree>
    <p:extLst>
      <p:ext uri="{BB962C8B-B14F-4D97-AF65-F5344CB8AC3E}">
        <p14:creationId xmlns:p14="http://schemas.microsoft.com/office/powerpoint/2010/main" val="3197548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8710" y="1175937"/>
            <a:ext cx="7514836" cy="1139351"/>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US" sz="2520" dirty="0"/>
              <a:t>Append new features to a target dataset</a:t>
            </a:r>
          </a:p>
          <a:p>
            <a:pPr marL="457200" indent="-457200">
              <a:lnSpc>
                <a:spcPct val="90000"/>
              </a:lnSpc>
              <a:buFont typeface="Courier New" panose="02070309020205020404" pitchFamily="49" charset="0"/>
              <a:buChar char="o"/>
            </a:pPr>
            <a:r>
              <a:rPr lang="en-US" sz="2520" dirty="0"/>
              <a:t>Instead of creating a new file, features from one file are added to the features in an existing file</a:t>
            </a:r>
          </a:p>
        </p:txBody>
      </p:sp>
      <p:pic>
        <p:nvPicPr>
          <p:cNvPr id="4" name="Picture 3" descr="Image showing append"/>
          <p:cNvPicPr>
            <a:picLocks noChangeAspect="1"/>
          </p:cNvPicPr>
          <p:nvPr/>
        </p:nvPicPr>
        <p:blipFill>
          <a:blip r:embed="rId3">
            <a:clrChange>
              <a:clrFrom>
                <a:srgbClr val="FFFFFF"/>
              </a:clrFrom>
              <a:clrTo>
                <a:srgbClr val="FFFFFF">
                  <a:alpha val="0"/>
                </a:srgbClr>
              </a:clrTo>
            </a:clrChange>
          </a:blip>
          <a:stretch>
            <a:fillRect/>
          </a:stretch>
        </p:blipFill>
        <p:spPr>
          <a:xfrm>
            <a:off x="6278" y="2195730"/>
            <a:ext cx="2397244" cy="2514540"/>
          </a:xfrm>
          <a:prstGeom prst="rect">
            <a:avLst/>
          </a:prstGeom>
        </p:spPr>
      </p:pic>
      <p:pic>
        <p:nvPicPr>
          <p:cNvPr id="5" name="Picture 4" descr="Image showing append"/>
          <p:cNvPicPr>
            <a:picLocks noChangeAspect="1"/>
          </p:cNvPicPr>
          <p:nvPr/>
        </p:nvPicPr>
        <p:blipFill>
          <a:blip r:embed="rId4">
            <a:clrChange>
              <a:clrFrom>
                <a:srgbClr val="FFFFFF"/>
              </a:clrFrom>
              <a:clrTo>
                <a:srgbClr val="FFFFFF">
                  <a:alpha val="0"/>
                </a:srgbClr>
              </a:clrTo>
            </a:clrChange>
          </a:blip>
          <a:stretch>
            <a:fillRect/>
          </a:stretch>
        </p:blipFill>
        <p:spPr>
          <a:xfrm>
            <a:off x="2211209" y="2295409"/>
            <a:ext cx="2076537" cy="2315178"/>
          </a:xfrm>
          <a:prstGeom prst="rect">
            <a:avLst/>
          </a:prstGeom>
        </p:spPr>
      </p:pic>
      <p:sp>
        <p:nvSpPr>
          <p:cNvPr id="6" name="TextBox 5"/>
          <p:cNvSpPr txBox="1"/>
          <p:nvPr/>
        </p:nvSpPr>
        <p:spPr>
          <a:xfrm>
            <a:off x="2159761" y="3216103"/>
            <a:ext cx="565932" cy="503792"/>
          </a:xfrm>
          <a:prstGeom prst="rect">
            <a:avLst/>
          </a:prstGeom>
          <a:noFill/>
        </p:spPr>
        <p:txBody>
          <a:bodyPr wrap="square" rtlCol="0">
            <a:spAutoFit/>
          </a:bodyPr>
          <a:lstStyle/>
          <a:p>
            <a:pPr>
              <a:lnSpc>
                <a:spcPct val="90000"/>
              </a:lnSpc>
            </a:pPr>
            <a:r>
              <a:rPr lang="en-US" sz="2971" dirty="0"/>
              <a:t>+</a:t>
            </a:r>
          </a:p>
        </p:txBody>
      </p:sp>
      <p:sp>
        <p:nvSpPr>
          <p:cNvPr id="7" name="TextBox 6"/>
          <p:cNvSpPr txBox="1"/>
          <p:nvPr/>
        </p:nvSpPr>
        <p:spPr>
          <a:xfrm>
            <a:off x="4291592" y="3216102"/>
            <a:ext cx="565932" cy="503792"/>
          </a:xfrm>
          <a:prstGeom prst="rect">
            <a:avLst/>
          </a:prstGeom>
          <a:noFill/>
        </p:spPr>
        <p:txBody>
          <a:bodyPr wrap="square" rtlCol="0">
            <a:spAutoFit/>
          </a:bodyPr>
          <a:lstStyle/>
          <a:p>
            <a:pPr>
              <a:lnSpc>
                <a:spcPct val="90000"/>
              </a:lnSpc>
            </a:pPr>
            <a:r>
              <a:rPr lang="en-US" sz="2971" dirty="0"/>
              <a:t>=</a:t>
            </a:r>
          </a:p>
        </p:txBody>
      </p:sp>
      <p:pic>
        <p:nvPicPr>
          <p:cNvPr id="8" name="Picture 7" descr="Image showing append results"/>
          <p:cNvPicPr>
            <a:picLocks noChangeAspect="1"/>
          </p:cNvPicPr>
          <p:nvPr/>
        </p:nvPicPr>
        <p:blipFill>
          <a:blip r:embed="rId5">
            <a:clrChange>
              <a:clrFrom>
                <a:srgbClr val="FFFFFF"/>
              </a:clrFrom>
              <a:clrTo>
                <a:srgbClr val="FFFFFF">
                  <a:alpha val="0"/>
                </a:srgbClr>
              </a:clrTo>
            </a:clrChange>
          </a:blip>
          <a:stretch>
            <a:fillRect/>
          </a:stretch>
        </p:blipFill>
        <p:spPr>
          <a:xfrm>
            <a:off x="4989423" y="2568730"/>
            <a:ext cx="3126402" cy="2141540"/>
          </a:xfrm>
          <a:prstGeom prst="rect">
            <a:avLst/>
          </a:prstGeom>
        </p:spPr>
      </p:pic>
      <p:sp>
        <p:nvSpPr>
          <p:cNvPr id="9" name="TextBox 8"/>
          <p:cNvSpPr txBox="1"/>
          <p:nvPr/>
        </p:nvSpPr>
        <p:spPr>
          <a:xfrm>
            <a:off x="307619" y="4218099"/>
            <a:ext cx="823174" cy="316690"/>
          </a:xfrm>
          <a:prstGeom prst="rect">
            <a:avLst/>
          </a:prstGeom>
          <a:noFill/>
        </p:spPr>
        <p:txBody>
          <a:bodyPr wrap="square" rtlCol="0">
            <a:spAutoFit/>
          </a:bodyPr>
          <a:lstStyle/>
          <a:p>
            <a:pPr>
              <a:lnSpc>
                <a:spcPct val="90000"/>
              </a:lnSpc>
            </a:pPr>
            <a:r>
              <a:rPr lang="en-US" sz="1620" dirty="0"/>
              <a:t>Target</a:t>
            </a:r>
          </a:p>
        </p:txBody>
      </p:sp>
      <p:sp>
        <p:nvSpPr>
          <p:cNvPr id="10" name="TextBox 9"/>
          <p:cNvSpPr txBox="1"/>
          <p:nvPr/>
        </p:nvSpPr>
        <p:spPr>
          <a:xfrm>
            <a:off x="3876159" y="4207809"/>
            <a:ext cx="981365" cy="541046"/>
          </a:xfrm>
          <a:prstGeom prst="rect">
            <a:avLst/>
          </a:prstGeom>
          <a:noFill/>
        </p:spPr>
        <p:txBody>
          <a:bodyPr wrap="square" rtlCol="0">
            <a:spAutoFit/>
          </a:bodyPr>
          <a:lstStyle/>
          <a:p>
            <a:pPr>
              <a:lnSpc>
                <a:spcPct val="90000"/>
              </a:lnSpc>
            </a:pPr>
            <a:r>
              <a:rPr lang="en-US" sz="1620" dirty="0"/>
              <a:t>New Features</a:t>
            </a:r>
          </a:p>
        </p:txBody>
      </p:sp>
      <p:sp>
        <p:nvSpPr>
          <p:cNvPr id="11" name="Title 1">
            <a:extLst>
              <a:ext uri="{FF2B5EF4-FFF2-40B4-BE49-F238E27FC236}">
                <a16:creationId xmlns:a16="http://schemas.microsoft.com/office/drawing/2014/main" id="{B7587517-CF43-4624-8C6E-7EFDC237697E}"/>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General: Append</a:t>
            </a:r>
          </a:p>
        </p:txBody>
      </p:sp>
      <p:cxnSp>
        <p:nvCxnSpPr>
          <p:cNvPr id="12" name="Straight Connector 11">
            <a:extLst>
              <a:ext uri="{FF2B5EF4-FFF2-40B4-BE49-F238E27FC236}">
                <a16:creationId xmlns:a16="http://schemas.microsoft.com/office/drawing/2014/main" id="{4236B441-FCC6-435F-ABDA-DA61B1FD52F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C67F22D-6604-4DA4-9CCF-A74FA879846D}"/>
              </a:ext>
            </a:extLst>
          </p:cNvPr>
          <p:cNvSpPr>
            <a:spLocks noGrp="1"/>
          </p:cNvSpPr>
          <p:nvPr>
            <p:ph type="sldNum" sz="quarter" idx="12"/>
          </p:nvPr>
        </p:nvSpPr>
        <p:spPr/>
        <p:txBody>
          <a:bodyPr/>
          <a:lstStyle/>
          <a:p>
            <a:fld id="{127DDC20-79C9-9647-820E-6D40A3D210C3}" type="slidenum">
              <a:rPr lang="en-US" smtClean="0"/>
              <a:pPr/>
              <a:t>44</a:t>
            </a:fld>
            <a:endParaRPr lang="en-US"/>
          </a:p>
        </p:txBody>
      </p:sp>
    </p:spTree>
    <p:extLst>
      <p:ext uri="{BB962C8B-B14F-4D97-AF65-F5344CB8AC3E}">
        <p14:creationId xmlns:p14="http://schemas.microsoft.com/office/powerpoint/2010/main" val="392969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439" y="1151363"/>
            <a:ext cx="4819213" cy="2403507"/>
          </a:xfrm>
        </p:spPr>
        <p:txBody>
          <a:bodyPr>
            <a:normAutofit/>
          </a:bodyPr>
          <a:lstStyle/>
          <a:p>
            <a:pPr>
              <a:buFont typeface="Courier New" panose="02070309020205020404" pitchFamily="49" charset="0"/>
              <a:buChar char="o"/>
            </a:pPr>
            <a:r>
              <a:rPr lang="en-US" dirty="0"/>
              <a:t>Overlays a polygon layer with another layer to summarize the number of points, length of the lines, or area of the polygons within each polygon, and calculate attribute field statistics about those features within the polygons.</a:t>
            </a:r>
          </a:p>
        </p:txBody>
      </p:sp>
      <p:sp>
        <p:nvSpPr>
          <p:cNvPr id="2" name="Slide Number Placeholder 1">
            <a:extLst>
              <a:ext uri="{FF2B5EF4-FFF2-40B4-BE49-F238E27FC236}">
                <a16:creationId xmlns:a16="http://schemas.microsoft.com/office/drawing/2014/main" id="{107C3812-5249-4D2D-B02A-20F56BB040BF}"/>
              </a:ext>
            </a:extLst>
          </p:cNvPr>
          <p:cNvSpPr>
            <a:spLocks noGrp="1"/>
          </p:cNvSpPr>
          <p:nvPr>
            <p:ph type="sldNum" sz="quarter" idx="12"/>
          </p:nvPr>
        </p:nvSpPr>
        <p:spPr/>
        <p:txBody>
          <a:bodyPr/>
          <a:lstStyle/>
          <a:p>
            <a:fld id="{127DDC20-79C9-9647-820E-6D40A3D210C3}" type="slidenum">
              <a:rPr lang="en-US" smtClean="0"/>
              <a:pPr/>
              <a:t>45</a:t>
            </a:fld>
            <a:endParaRPr lang="en-US"/>
          </a:p>
        </p:txBody>
      </p:sp>
      <p:pic>
        <p:nvPicPr>
          <p:cNvPr id="4" name="Picture 3" descr="Image showing summarize within"/>
          <p:cNvPicPr>
            <a:picLocks noChangeAspect="1"/>
          </p:cNvPicPr>
          <p:nvPr/>
        </p:nvPicPr>
        <p:blipFill>
          <a:blip r:embed="rId3"/>
          <a:stretch>
            <a:fillRect/>
          </a:stretch>
        </p:blipFill>
        <p:spPr>
          <a:xfrm>
            <a:off x="4989652" y="2152233"/>
            <a:ext cx="2712397" cy="2829662"/>
          </a:xfrm>
          <a:prstGeom prst="rect">
            <a:avLst/>
          </a:prstGeom>
        </p:spPr>
      </p:pic>
      <p:pic>
        <p:nvPicPr>
          <p:cNvPr id="5" name="Picture 4" descr="Image showing summarize within result"/>
          <p:cNvPicPr>
            <a:picLocks noChangeAspect="1"/>
          </p:cNvPicPr>
          <p:nvPr/>
        </p:nvPicPr>
        <p:blipFill>
          <a:blip r:embed="rId4"/>
          <a:stretch>
            <a:fillRect/>
          </a:stretch>
        </p:blipFill>
        <p:spPr>
          <a:xfrm>
            <a:off x="2933916" y="3554870"/>
            <a:ext cx="1370146" cy="1522970"/>
          </a:xfrm>
          <a:prstGeom prst="rect">
            <a:avLst/>
          </a:prstGeom>
        </p:spPr>
      </p:pic>
      <p:sp>
        <p:nvSpPr>
          <p:cNvPr id="6" name="TextBox 5"/>
          <p:cNvSpPr txBox="1"/>
          <p:nvPr/>
        </p:nvSpPr>
        <p:spPr>
          <a:xfrm>
            <a:off x="756552" y="3992137"/>
            <a:ext cx="1800694" cy="989758"/>
          </a:xfrm>
          <a:prstGeom prst="rect">
            <a:avLst/>
          </a:prstGeom>
          <a:noFill/>
        </p:spPr>
        <p:txBody>
          <a:bodyPr wrap="square" rtlCol="0">
            <a:spAutoFit/>
          </a:bodyPr>
          <a:lstStyle/>
          <a:p>
            <a:pPr>
              <a:lnSpc>
                <a:spcPct val="90000"/>
              </a:lnSpc>
            </a:pPr>
            <a:r>
              <a:rPr lang="en-US" sz="1620" dirty="0"/>
              <a:t>Example: summarize length of roads in each county</a:t>
            </a:r>
          </a:p>
        </p:txBody>
      </p:sp>
      <p:sp>
        <p:nvSpPr>
          <p:cNvPr id="7" name="Title 1">
            <a:extLst>
              <a:ext uri="{FF2B5EF4-FFF2-40B4-BE49-F238E27FC236}">
                <a16:creationId xmlns:a16="http://schemas.microsoft.com/office/drawing/2014/main" id="{8EDC4F69-71A7-4F23-92A0-1E7C640C1C70}"/>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Statistics: Summarize Within</a:t>
            </a:r>
          </a:p>
        </p:txBody>
      </p:sp>
      <p:cxnSp>
        <p:nvCxnSpPr>
          <p:cNvPr id="8" name="Straight Connector 7">
            <a:extLst>
              <a:ext uri="{FF2B5EF4-FFF2-40B4-BE49-F238E27FC236}">
                <a16:creationId xmlns:a16="http://schemas.microsoft.com/office/drawing/2014/main" id="{A9240784-A29A-40E6-AB08-25FBF52A124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010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910" y="1104960"/>
            <a:ext cx="5097705" cy="2881110"/>
          </a:xfrm>
        </p:spPr>
        <p:txBody>
          <a:bodyPr>
            <a:normAutofit/>
          </a:bodyPr>
          <a:lstStyle/>
          <a:p>
            <a:pPr>
              <a:buFont typeface="Courier New" panose="02070309020205020404" pitchFamily="49" charset="0"/>
              <a:buChar char="o"/>
            </a:pPr>
            <a:r>
              <a:rPr lang="en-US" dirty="0"/>
              <a:t>Remove unnecessary vertices</a:t>
            </a:r>
          </a:p>
          <a:p>
            <a:pPr>
              <a:buFont typeface="Courier New" panose="02070309020205020404" pitchFamily="49" charset="0"/>
              <a:buChar char="o"/>
            </a:pPr>
            <a:r>
              <a:rPr lang="en-US" dirty="0"/>
              <a:t>Smooth curves</a:t>
            </a:r>
          </a:p>
          <a:p>
            <a:pPr>
              <a:buFont typeface="Courier New" panose="02070309020205020404" pitchFamily="49" charset="0"/>
              <a:buChar char="o"/>
            </a:pPr>
            <a:r>
              <a:rPr lang="en-US" dirty="0"/>
              <a:t>For cartographic generalization</a:t>
            </a:r>
          </a:p>
          <a:p>
            <a:pPr>
              <a:buFont typeface="Courier New" panose="02070309020205020404" pitchFamily="49" charset="0"/>
              <a:buChar char="o"/>
            </a:pPr>
            <a:r>
              <a:rPr lang="en-US" dirty="0"/>
              <a:t>Simplify Line Tool</a:t>
            </a:r>
          </a:p>
          <a:p>
            <a:pPr>
              <a:buFont typeface="Courier New" panose="02070309020205020404" pitchFamily="49" charset="0"/>
              <a:buChar char="o"/>
            </a:pPr>
            <a:r>
              <a:rPr lang="en-US" dirty="0"/>
              <a:t>Smooth Line Tool</a:t>
            </a:r>
          </a:p>
          <a:p>
            <a:endParaRPr lang="en-US" dirty="0"/>
          </a:p>
        </p:txBody>
      </p:sp>
      <p:sp>
        <p:nvSpPr>
          <p:cNvPr id="2" name="Slide Number Placeholder 1">
            <a:extLst>
              <a:ext uri="{FF2B5EF4-FFF2-40B4-BE49-F238E27FC236}">
                <a16:creationId xmlns:a16="http://schemas.microsoft.com/office/drawing/2014/main" id="{6E6FCB9A-F3AE-4CA9-B92B-E16BA27932EB}"/>
              </a:ext>
            </a:extLst>
          </p:cNvPr>
          <p:cNvSpPr>
            <a:spLocks noGrp="1"/>
          </p:cNvSpPr>
          <p:nvPr>
            <p:ph type="sldNum" sz="quarter" idx="12"/>
          </p:nvPr>
        </p:nvSpPr>
        <p:spPr/>
        <p:txBody>
          <a:bodyPr/>
          <a:lstStyle/>
          <a:p>
            <a:fld id="{127DDC20-79C9-9647-820E-6D40A3D210C3}" type="slidenum">
              <a:rPr lang="en-US" smtClean="0"/>
              <a:pPr/>
              <a:t>46</a:t>
            </a:fld>
            <a:endParaRPr lang="en-US"/>
          </a:p>
        </p:txBody>
      </p:sp>
      <p:pic>
        <p:nvPicPr>
          <p:cNvPr id="4" name="Picture 3"/>
          <p:cNvPicPr>
            <a:picLocks noChangeAspect="1"/>
          </p:cNvPicPr>
          <p:nvPr/>
        </p:nvPicPr>
        <p:blipFill>
          <a:blip r:embed="rId3">
            <a:clrChange>
              <a:clrFrom>
                <a:srgbClr val="00C5FF"/>
              </a:clrFrom>
              <a:clrTo>
                <a:srgbClr val="00C5FF">
                  <a:alpha val="0"/>
                </a:srgbClr>
              </a:clrTo>
            </a:clrChange>
          </a:blip>
          <a:stretch>
            <a:fillRect/>
          </a:stretch>
        </p:blipFill>
        <p:spPr>
          <a:xfrm>
            <a:off x="3291626" y="2623199"/>
            <a:ext cx="4611063" cy="1928526"/>
          </a:xfrm>
          <a:prstGeom prst="rect">
            <a:avLst/>
          </a:prstGeom>
        </p:spPr>
      </p:pic>
      <p:sp>
        <p:nvSpPr>
          <p:cNvPr id="5" name="TextBox 4"/>
          <p:cNvSpPr txBox="1"/>
          <p:nvPr/>
        </p:nvSpPr>
        <p:spPr>
          <a:xfrm>
            <a:off x="204722" y="4099856"/>
            <a:ext cx="2829662" cy="765402"/>
          </a:xfrm>
          <a:prstGeom prst="rect">
            <a:avLst/>
          </a:prstGeom>
          <a:noFill/>
        </p:spPr>
        <p:txBody>
          <a:bodyPr wrap="square" rtlCol="0">
            <a:spAutoFit/>
          </a:bodyPr>
          <a:lstStyle/>
          <a:p>
            <a:pPr>
              <a:lnSpc>
                <a:spcPct val="90000"/>
              </a:lnSpc>
            </a:pPr>
            <a:r>
              <a:rPr lang="en-US" sz="1620" dirty="0"/>
              <a:t>Available under Generalization Tools in the Cartography Toolbox</a:t>
            </a:r>
          </a:p>
        </p:txBody>
      </p:sp>
      <p:sp>
        <p:nvSpPr>
          <p:cNvPr id="6" name="Title 1">
            <a:extLst>
              <a:ext uri="{FF2B5EF4-FFF2-40B4-BE49-F238E27FC236}">
                <a16:creationId xmlns:a16="http://schemas.microsoft.com/office/drawing/2014/main" id="{9DEB93C1-CD9F-4FB4-800E-048F52DE34E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Cartography: Line Generalization</a:t>
            </a:r>
          </a:p>
        </p:txBody>
      </p:sp>
      <p:cxnSp>
        <p:nvCxnSpPr>
          <p:cNvPr id="7" name="Straight Connector 6">
            <a:extLst>
              <a:ext uri="{FF2B5EF4-FFF2-40B4-BE49-F238E27FC236}">
                <a16:creationId xmlns:a16="http://schemas.microsoft.com/office/drawing/2014/main" id="{760634DD-9EB9-440C-A8F7-120F4A5FE1F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DE067EFC-0A38-42B7-9B53-A0576E9F14A8}"/>
              </a:ext>
            </a:extLst>
          </p:cNvPr>
          <p:cNvPicPr>
            <a:picLocks noChangeAspect="1"/>
          </p:cNvPicPr>
          <p:nvPr/>
        </p:nvPicPr>
        <p:blipFill>
          <a:blip r:embed="rId4"/>
          <a:stretch>
            <a:fillRect/>
          </a:stretch>
        </p:blipFill>
        <p:spPr>
          <a:xfrm>
            <a:off x="6213003" y="1258201"/>
            <a:ext cx="1438275" cy="1762125"/>
          </a:xfrm>
          <a:prstGeom prst="rect">
            <a:avLst/>
          </a:prstGeom>
        </p:spPr>
      </p:pic>
      <p:pic>
        <p:nvPicPr>
          <p:cNvPr id="9" name="Picture 8">
            <a:extLst>
              <a:ext uri="{FF2B5EF4-FFF2-40B4-BE49-F238E27FC236}">
                <a16:creationId xmlns:a16="http://schemas.microsoft.com/office/drawing/2014/main" id="{8647C42C-F876-4914-82C7-BA1B2952A715}"/>
              </a:ext>
            </a:extLst>
          </p:cNvPr>
          <p:cNvPicPr>
            <a:picLocks noChangeAspect="1"/>
          </p:cNvPicPr>
          <p:nvPr/>
        </p:nvPicPr>
        <p:blipFill>
          <a:blip r:embed="rId5"/>
          <a:stretch>
            <a:fillRect/>
          </a:stretch>
        </p:blipFill>
        <p:spPr>
          <a:xfrm>
            <a:off x="4666997" y="3654877"/>
            <a:ext cx="1365785" cy="1386230"/>
          </a:xfrm>
          <a:prstGeom prst="rect">
            <a:avLst/>
          </a:prstGeom>
        </p:spPr>
      </p:pic>
    </p:spTree>
    <p:extLst>
      <p:ext uri="{BB962C8B-B14F-4D97-AF65-F5344CB8AC3E}">
        <p14:creationId xmlns:p14="http://schemas.microsoft.com/office/powerpoint/2010/main" val="1388923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0" y="1200151"/>
            <a:ext cx="6755439" cy="2642795"/>
          </a:xfrm>
        </p:spPr>
        <p:txBody>
          <a:bodyPr>
            <a:normAutofit/>
          </a:bodyPr>
          <a:lstStyle/>
          <a:p>
            <a:pPr>
              <a:buFont typeface="Courier New" panose="02070309020205020404" pitchFamily="49" charset="0"/>
              <a:buChar char="o"/>
            </a:pPr>
            <a:r>
              <a:rPr lang="en-US" dirty="0"/>
              <a:t>Remove unnecessary vertices</a:t>
            </a:r>
          </a:p>
          <a:p>
            <a:pPr>
              <a:buFont typeface="Courier New" panose="02070309020205020404" pitchFamily="49" charset="0"/>
              <a:buChar char="o"/>
            </a:pPr>
            <a:r>
              <a:rPr lang="en-US" dirty="0"/>
              <a:t>Smooth curves</a:t>
            </a:r>
          </a:p>
          <a:p>
            <a:pPr>
              <a:buFont typeface="Courier New" panose="02070309020205020404" pitchFamily="49" charset="0"/>
              <a:buChar char="o"/>
            </a:pPr>
            <a:r>
              <a:rPr lang="en-US" dirty="0"/>
              <a:t>For cartographic generalization</a:t>
            </a:r>
          </a:p>
          <a:p>
            <a:pPr>
              <a:buFont typeface="Courier New" panose="02070309020205020404" pitchFamily="49" charset="0"/>
              <a:buChar char="o"/>
            </a:pPr>
            <a:r>
              <a:rPr lang="en-US" dirty="0"/>
              <a:t>Simplify Polygon Tool</a:t>
            </a:r>
          </a:p>
          <a:p>
            <a:pPr>
              <a:buFont typeface="Courier New" panose="02070309020205020404" pitchFamily="49" charset="0"/>
              <a:buChar char="o"/>
            </a:pPr>
            <a:r>
              <a:rPr lang="en-US" dirty="0"/>
              <a:t>Smooth Polygon Tool</a:t>
            </a:r>
          </a:p>
          <a:p>
            <a:pPr>
              <a:buFont typeface="Courier New" panose="02070309020205020404" pitchFamily="49" charset="0"/>
              <a:buChar char="o"/>
            </a:pPr>
            <a:r>
              <a:rPr lang="en-US" dirty="0"/>
              <a:t>Aggregate Polygons Tool</a:t>
            </a:r>
          </a:p>
          <a:p>
            <a:endParaRPr lang="en-US" dirty="0"/>
          </a:p>
        </p:txBody>
      </p:sp>
      <p:sp>
        <p:nvSpPr>
          <p:cNvPr id="2" name="Slide Number Placeholder 1">
            <a:extLst>
              <a:ext uri="{FF2B5EF4-FFF2-40B4-BE49-F238E27FC236}">
                <a16:creationId xmlns:a16="http://schemas.microsoft.com/office/drawing/2014/main" id="{62F71BDB-805C-4120-8E3F-D47F9C5F858B}"/>
              </a:ext>
            </a:extLst>
          </p:cNvPr>
          <p:cNvSpPr>
            <a:spLocks noGrp="1"/>
          </p:cNvSpPr>
          <p:nvPr>
            <p:ph type="sldNum" sz="quarter" idx="12"/>
          </p:nvPr>
        </p:nvSpPr>
        <p:spPr/>
        <p:txBody>
          <a:bodyPr/>
          <a:lstStyle/>
          <a:p>
            <a:fld id="{127DDC20-79C9-9647-820E-6D40A3D210C3}" type="slidenum">
              <a:rPr lang="en-US" smtClean="0"/>
              <a:pPr/>
              <a:t>47</a:t>
            </a:fld>
            <a:endParaRPr lang="en-US"/>
          </a:p>
        </p:txBody>
      </p:sp>
      <p:pic>
        <p:nvPicPr>
          <p:cNvPr id="6" name="Picture 5"/>
          <p:cNvPicPr>
            <a:picLocks noChangeAspect="1"/>
          </p:cNvPicPr>
          <p:nvPr/>
        </p:nvPicPr>
        <p:blipFill>
          <a:blip r:embed="rId3">
            <a:clrChange>
              <a:clrFrom>
                <a:srgbClr val="00C5FF"/>
              </a:clrFrom>
              <a:clrTo>
                <a:srgbClr val="00C5FF">
                  <a:alpha val="0"/>
                </a:srgbClr>
              </a:clrTo>
            </a:clrChange>
          </a:blip>
          <a:stretch>
            <a:fillRect/>
          </a:stretch>
        </p:blipFill>
        <p:spPr>
          <a:xfrm>
            <a:off x="4683461" y="2418557"/>
            <a:ext cx="3547998" cy="2733196"/>
          </a:xfrm>
          <a:prstGeom prst="rect">
            <a:avLst/>
          </a:prstGeom>
        </p:spPr>
      </p:pic>
      <p:sp>
        <p:nvSpPr>
          <p:cNvPr id="8" name="TextBox 7"/>
          <p:cNvSpPr txBox="1"/>
          <p:nvPr/>
        </p:nvSpPr>
        <p:spPr>
          <a:xfrm>
            <a:off x="204722" y="4099856"/>
            <a:ext cx="2829662" cy="765402"/>
          </a:xfrm>
          <a:prstGeom prst="rect">
            <a:avLst/>
          </a:prstGeom>
          <a:noFill/>
        </p:spPr>
        <p:txBody>
          <a:bodyPr wrap="square" rtlCol="0">
            <a:spAutoFit/>
          </a:bodyPr>
          <a:lstStyle/>
          <a:p>
            <a:pPr>
              <a:lnSpc>
                <a:spcPct val="90000"/>
              </a:lnSpc>
            </a:pPr>
            <a:r>
              <a:rPr lang="en-US" sz="1620" dirty="0"/>
              <a:t>Available under Generalization Tools in the Cartography Toolbox</a:t>
            </a:r>
          </a:p>
        </p:txBody>
      </p:sp>
      <p:sp>
        <p:nvSpPr>
          <p:cNvPr id="7" name="Title 1">
            <a:extLst>
              <a:ext uri="{FF2B5EF4-FFF2-40B4-BE49-F238E27FC236}">
                <a16:creationId xmlns:a16="http://schemas.microsoft.com/office/drawing/2014/main" id="{3F60569A-9AED-40EB-930F-53E6A780F31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Cartography: Polygon Generalization </a:t>
            </a:r>
          </a:p>
        </p:txBody>
      </p:sp>
      <p:cxnSp>
        <p:nvCxnSpPr>
          <p:cNvPr id="9" name="Straight Connector 8">
            <a:extLst>
              <a:ext uri="{FF2B5EF4-FFF2-40B4-BE49-F238E27FC236}">
                <a16:creationId xmlns:a16="http://schemas.microsoft.com/office/drawing/2014/main" id="{7AE7E481-E19B-4C6A-A225-33AEDCBF116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D1BB20BE-D6B1-465A-96B9-89BD49035F36}"/>
              </a:ext>
            </a:extLst>
          </p:cNvPr>
          <p:cNvPicPr>
            <a:picLocks noChangeAspect="1"/>
          </p:cNvPicPr>
          <p:nvPr/>
        </p:nvPicPr>
        <p:blipFill>
          <a:blip r:embed="rId4"/>
          <a:stretch>
            <a:fillRect/>
          </a:stretch>
        </p:blipFill>
        <p:spPr>
          <a:xfrm>
            <a:off x="6457460" y="922910"/>
            <a:ext cx="1438275" cy="1762125"/>
          </a:xfrm>
          <a:prstGeom prst="rect">
            <a:avLst/>
          </a:prstGeom>
        </p:spPr>
      </p:pic>
    </p:spTree>
    <p:extLst>
      <p:ext uri="{BB962C8B-B14F-4D97-AF65-F5344CB8AC3E}">
        <p14:creationId xmlns:p14="http://schemas.microsoft.com/office/powerpoint/2010/main" val="425674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22" y="1057783"/>
            <a:ext cx="3181030" cy="2785161"/>
          </a:xfrm>
        </p:spPr>
        <p:txBody>
          <a:bodyPr>
            <a:normAutofit/>
          </a:bodyPr>
          <a:lstStyle/>
          <a:p>
            <a:pPr>
              <a:buFont typeface="Courier New" panose="02070309020205020404" pitchFamily="49" charset="0"/>
              <a:buChar char="o"/>
            </a:pPr>
            <a:r>
              <a:rPr lang="en-US" dirty="0"/>
              <a:t>Aggregate points to polygon</a:t>
            </a:r>
          </a:p>
          <a:p>
            <a:pPr>
              <a:buFont typeface="Courier New" panose="02070309020205020404" pitchFamily="49" charset="0"/>
              <a:buChar char="o"/>
            </a:pPr>
            <a:r>
              <a:rPr lang="en-US" dirty="0"/>
              <a:t>Can be used for cartographic generalization</a:t>
            </a:r>
          </a:p>
          <a:p>
            <a:pPr>
              <a:buFont typeface="Courier New" panose="02070309020205020404" pitchFamily="49" charset="0"/>
              <a:buChar char="o"/>
            </a:pPr>
            <a:r>
              <a:rPr lang="en-US" dirty="0"/>
              <a:t>Point Aggregation Tool</a:t>
            </a:r>
          </a:p>
        </p:txBody>
      </p:sp>
      <p:sp>
        <p:nvSpPr>
          <p:cNvPr id="2" name="Slide Number Placeholder 1">
            <a:extLst>
              <a:ext uri="{FF2B5EF4-FFF2-40B4-BE49-F238E27FC236}">
                <a16:creationId xmlns:a16="http://schemas.microsoft.com/office/drawing/2014/main" id="{1355EA0A-8C59-48A7-AA34-74FFE53F9851}"/>
              </a:ext>
            </a:extLst>
          </p:cNvPr>
          <p:cNvSpPr>
            <a:spLocks noGrp="1"/>
          </p:cNvSpPr>
          <p:nvPr>
            <p:ph type="sldNum" sz="quarter" idx="12"/>
          </p:nvPr>
        </p:nvSpPr>
        <p:spPr/>
        <p:txBody>
          <a:bodyPr/>
          <a:lstStyle/>
          <a:p>
            <a:fld id="{127DDC20-79C9-9647-820E-6D40A3D210C3}" type="slidenum">
              <a:rPr lang="en-US" smtClean="0"/>
              <a:pPr/>
              <a:t>48</a:t>
            </a:fld>
            <a:endParaRPr lang="en-US"/>
          </a:p>
        </p:txBody>
      </p:sp>
      <p:pic>
        <p:nvPicPr>
          <p:cNvPr id="4" name="Picture 3"/>
          <p:cNvPicPr>
            <a:picLocks noChangeAspect="1"/>
          </p:cNvPicPr>
          <p:nvPr/>
        </p:nvPicPr>
        <p:blipFill>
          <a:blip r:embed="rId3">
            <a:clrChange>
              <a:clrFrom>
                <a:srgbClr val="00C5FF"/>
              </a:clrFrom>
              <a:clrTo>
                <a:srgbClr val="00C5FF">
                  <a:alpha val="0"/>
                </a:srgbClr>
              </a:clrTo>
            </a:clrChange>
          </a:blip>
          <a:stretch>
            <a:fillRect/>
          </a:stretch>
        </p:blipFill>
        <p:spPr>
          <a:xfrm>
            <a:off x="5561393" y="2593722"/>
            <a:ext cx="2668207" cy="2271536"/>
          </a:xfrm>
          <a:prstGeom prst="rect">
            <a:avLst/>
          </a:prstGeom>
        </p:spPr>
      </p:pic>
      <p:sp>
        <p:nvSpPr>
          <p:cNvPr id="5" name="TextBox 4"/>
          <p:cNvSpPr txBox="1"/>
          <p:nvPr/>
        </p:nvSpPr>
        <p:spPr>
          <a:xfrm>
            <a:off x="204722" y="4099856"/>
            <a:ext cx="2829662" cy="765402"/>
          </a:xfrm>
          <a:prstGeom prst="rect">
            <a:avLst/>
          </a:prstGeom>
          <a:noFill/>
        </p:spPr>
        <p:txBody>
          <a:bodyPr wrap="square" rtlCol="0">
            <a:spAutoFit/>
          </a:bodyPr>
          <a:lstStyle/>
          <a:p>
            <a:pPr>
              <a:lnSpc>
                <a:spcPct val="90000"/>
              </a:lnSpc>
            </a:pPr>
            <a:r>
              <a:rPr lang="en-US" sz="1620" dirty="0"/>
              <a:t>Available under Generalization Tools in the Cartography Toolbox</a:t>
            </a:r>
          </a:p>
        </p:txBody>
      </p:sp>
      <p:sp>
        <p:nvSpPr>
          <p:cNvPr id="6" name="Title 1">
            <a:extLst>
              <a:ext uri="{FF2B5EF4-FFF2-40B4-BE49-F238E27FC236}">
                <a16:creationId xmlns:a16="http://schemas.microsoft.com/office/drawing/2014/main" id="{7FA7060E-2020-46EC-B0B9-0491FBC23A58}"/>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Cartography: Point Aggregation</a:t>
            </a:r>
          </a:p>
        </p:txBody>
      </p:sp>
      <p:cxnSp>
        <p:nvCxnSpPr>
          <p:cNvPr id="7" name="Straight Connector 6">
            <a:extLst>
              <a:ext uri="{FF2B5EF4-FFF2-40B4-BE49-F238E27FC236}">
                <a16:creationId xmlns:a16="http://schemas.microsoft.com/office/drawing/2014/main" id="{820A7C66-6DE3-4D29-885B-0A57774A3CF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884B8AD-BFEE-4E74-AB08-63A73E7385DF}"/>
              </a:ext>
            </a:extLst>
          </p:cNvPr>
          <p:cNvPicPr>
            <a:picLocks noChangeAspect="1"/>
          </p:cNvPicPr>
          <p:nvPr/>
        </p:nvPicPr>
        <p:blipFill>
          <a:blip r:embed="rId4"/>
          <a:stretch>
            <a:fillRect/>
          </a:stretch>
        </p:blipFill>
        <p:spPr>
          <a:xfrm>
            <a:off x="3385752" y="1219071"/>
            <a:ext cx="2033101" cy="3385630"/>
          </a:xfrm>
          <a:prstGeom prst="rect">
            <a:avLst/>
          </a:prstGeom>
        </p:spPr>
      </p:pic>
    </p:spTree>
    <p:extLst>
      <p:ext uri="{BB962C8B-B14F-4D97-AF65-F5344CB8AC3E}">
        <p14:creationId xmlns:p14="http://schemas.microsoft.com/office/powerpoint/2010/main" val="144215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17263"/>
            <a:ext cx="4322539" cy="4060573"/>
          </a:xfrm>
        </p:spPr>
        <p:txBody>
          <a:bodyPr>
            <a:normAutofit/>
          </a:bodyPr>
          <a:lstStyle/>
          <a:p>
            <a:pPr>
              <a:buFont typeface="Courier New" panose="02070309020205020404" pitchFamily="49" charset="0"/>
              <a:buChar char="o"/>
            </a:pPr>
            <a:r>
              <a:rPr lang="en-US" dirty="0"/>
              <a:t>Multipoint feature: the output point will be located at the average x and y coordinates of all the points in the multipoint feature</a:t>
            </a:r>
          </a:p>
          <a:p>
            <a:pPr>
              <a:buFont typeface="Courier New" panose="02070309020205020404" pitchFamily="49" charset="0"/>
              <a:buChar char="o"/>
            </a:pPr>
            <a:r>
              <a:rPr lang="en-US" dirty="0"/>
              <a:t>Input line feature: the output point will be located at the weighted average x and y coordinates of the midpoints of all line segments in the line feature</a:t>
            </a:r>
          </a:p>
          <a:p>
            <a:pPr>
              <a:buFont typeface="Courier New" panose="02070309020205020404" pitchFamily="49" charset="0"/>
              <a:buChar char="o"/>
            </a:pPr>
            <a:r>
              <a:rPr lang="en-US" dirty="0"/>
              <a:t>Polygon feature: the output point will be located at the center of gravity (centroid) of the polygon.</a:t>
            </a:r>
          </a:p>
          <a:p>
            <a:pPr>
              <a:buFont typeface="Courier New" panose="02070309020205020404" pitchFamily="49" charset="0"/>
              <a:buChar char="o"/>
            </a:pPr>
            <a:r>
              <a:rPr lang="en-US" dirty="0"/>
              <a:t>Can force result to be inside of polygons</a:t>
            </a:r>
          </a:p>
        </p:txBody>
      </p:sp>
      <p:sp>
        <p:nvSpPr>
          <p:cNvPr id="2" name="Slide Number Placeholder 1">
            <a:extLst>
              <a:ext uri="{FF2B5EF4-FFF2-40B4-BE49-F238E27FC236}">
                <a16:creationId xmlns:a16="http://schemas.microsoft.com/office/drawing/2014/main" id="{A4B93D05-3E5F-4DB4-977A-CADCAC5ABD1B}"/>
              </a:ext>
            </a:extLst>
          </p:cNvPr>
          <p:cNvSpPr>
            <a:spLocks noGrp="1"/>
          </p:cNvSpPr>
          <p:nvPr>
            <p:ph type="sldNum" sz="quarter" idx="12"/>
          </p:nvPr>
        </p:nvSpPr>
        <p:spPr/>
        <p:txBody>
          <a:bodyPr/>
          <a:lstStyle/>
          <a:p>
            <a:fld id="{127DDC20-79C9-9647-820E-6D40A3D210C3}" type="slidenum">
              <a:rPr lang="en-US" smtClean="0"/>
              <a:pPr/>
              <a:t>49</a:t>
            </a:fld>
            <a:endParaRPr lang="en-US"/>
          </a:p>
        </p:txBody>
      </p:sp>
      <p:pic>
        <p:nvPicPr>
          <p:cNvPr id="4" name="Picture 3" descr="Image showing feature to points results"/>
          <p:cNvPicPr>
            <a:picLocks noChangeAspect="1"/>
          </p:cNvPicPr>
          <p:nvPr/>
        </p:nvPicPr>
        <p:blipFill>
          <a:blip r:embed="rId3">
            <a:clrChange>
              <a:clrFrom>
                <a:srgbClr val="FFFFFF"/>
              </a:clrFrom>
              <a:clrTo>
                <a:srgbClr val="FFFFFF">
                  <a:alpha val="0"/>
                </a:srgbClr>
              </a:clrTo>
            </a:clrChange>
          </a:blip>
          <a:stretch>
            <a:fillRect/>
          </a:stretch>
        </p:blipFill>
        <p:spPr>
          <a:xfrm>
            <a:off x="5282400" y="2739084"/>
            <a:ext cx="2577682" cy="2338752"/>
          </a:xfrm>
          <a:prstGeom prst="rect">
            <a:avLst/>
          </a:prstGeom>
        </p:spPr>
      </p:pic>
      <p:sp>
        <p:nvSpPr>
          <p:cNvPr id="5" name="Title 1">
            <a:extLst>
              <a:ext uri="{FF2B5EF4-FFF2-40B4-BE49-F238E27FC236}">
                <a16:creationId xmlns:a16="http://schemas.microsoft.com/office/drawing/2014/main" id="{3978ABF4-15BC-444D-97EA-1C98DA647118}"/>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Feature to Points</a:t>
            </a:r>
          </a:p>
        </p:txBody>
      </p:sp>
      <p:cxnSp>
        <p:nvCxnSpPr>
          <p:cNvPr id="6" name="Straight Connector 5">
            <a:extLst>
              <a:ext uri="{FF2B5EF4-FFF2-40B4-BE49-F238E27FC236}">
                <a16:creationId xmlns:a16="http://schemas.microsoft.com/office/drawing/2014/main" id="{53DAAAB7-631B-4BC2-B0E6-ED5B642A79B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 name="Picture 9" descr="Image showing feature to point">
            <a:extLst>
              <a:ext uri="{FF2B5EF4-FFF2-40B4-BE49-F238E27FC236}">
                <a16:creationId xmlns:a16="http://schemas.microsoft.com/office/drawing/2014/main" id="{5C565054-5A5C-4AF6-A760-C9444D238436}"/>
              </a:ext>
            </a:extLst>
          </p:cNvPr>
          <p:cNvPicPr>
            <a:picLocks noChangeAspect="1"/>
          </p:cNvPicPr>
          <p:nvPr/>
        </p:nvPicPr>
        <p:blipFill>
          <a:blip r:embed="rId4"/>
          <a:stretch>
            <a:fillRect/>
          </a:stretch>
        </p:blipFill>
        <p:spPr>
          <a:xfrm>
            <a:off x="5443773" y="1017263"/>
            <a:ext cx="1910713" cy="1721821"/>
          </a:xfrm>
          <a:prstGeom prst="rect">
            <a:avLst/>
          </a:prstGeom>
        </p:spPr>
      </p:pic>
    </p:spTree>
    <p:extLst>
      <p:ext uri="{BB962C8B-B14F-4D97-AF65-F5344CB8AC3E}">
        <p14:creationId xmlns:p14="http://schemas.microsoft.com/office/powerpoint/2010/main" val="209279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21013"/>
            <a:ext cx="8001000" cy="840323"/>
          </a:xfrm>
        </p:spPr>
        <p:txBody>
          <a:bodyPr>
            <a:normAutofit/>
          </a:bodyPr>
          <a:lstStyle/>
          <a:p>
            <a:pPr>
              <a:buFont typeface="Courier New" panose="02070309020205020404" pitchFamily="49" charset="0"/>
              <a:buChar char="o"/>
            </a:pPr>
            <a:r>
              <a:rPr lang="en-US" dirty="0"/>
              <a:t>Creates a feature class containing polygons which represent a specified minimum bounding geometry enclosing each input feature or each group of input features</a:t>
            </a:r>
          </a:p>
          <a:p>
            <a:pPr marL="0" indent="0">
              <a:buNone/>
            </a:pPr>
            <a:endParaRPr lang="en-US" dirty="0"/>
          </a:p>
        </p:txBody>
      </p:sp>
      <p:sp>
        <p:nvSpPr>
          <p:cNvPr id="2" name="Slide Number Placeholder 1">
            <a:extLst>
              <a:ext uri="{FF2B5EF4-FFF2-40B4-BE49-F238E27FC236}">
                <a16:creationId xmlns:a16="http://schemas.microsoft.com/office/drawing/2014/main" id="{3D6F0B4F-8CC2-45BE-8F34-617E960CE3D5}"/>
              </a:ext>
            </a:extLst>
          </p:cNvPr>
          <p:cNvSpPr>
            <a:spLocks noGrp="1"/>
          </p:cNvSpPr>
          <p:nvPr>
            <p:ph type="sldNum" sz="quarter" idx="12"/>
          </p:nvPr>
        </p:nvSpPr>
        <p:spPr/>
        <p:txBody>
          <a:bodyPr/>
          <a:lstStyle/>
          <a:p>
            <a:fld id="{127DDC20-79C9-9647-820E-6D40A3D210C3}" type="slidenum">
              <a:rPr lang="en-US" smtClean="0"/>
              <a:pPr/>
              <a:t>50</a:t>
            </a:fld>
            <a:endParaRPr lang="en-US"/>
          </a:p>
        </p:txBody>
      </p:sp>
      <p:pic>
        <p:nvPicPr>
          <p:cNvPr id="5" name="Picture 4"/>
          <p:cNvPicPr>
            <a:picLocks noChangeAspect="1"/>
          </p:cNvPicPr>
          <p:nvPr/>
        </p:nvPicPr>
        <p:blipFill>
          <a:blip r:embed="rId3">
            <a:clrChange>
              <a:clrFrom>
                <a:srgbClr val="00C5FF"/>
              </a:clrFrom>
              <a:clrTo>
                <a:srgbClr val="00C5FF">
                  <a:alpha val="0"/>
                </a:srgbClr>
              </a:clrTo>
            </a:clrChange>
          </a:blip>
          <a:stretch>
            <a:fillRect/>
          </a:stretch>
        </p:blipFill>
        <p:spPr>
          <a:xfrm>
            <a:off x="1351377" y="1852544"/>
            <a:ext cx="2663505" cy="2674245"/>
          </a:xfrm>
          <a:prstGeom prst="rect">
            <a:avLst/>
          </a:prstGeom>
        </p:spPr>
      </p:pic>
      <p:sp>
        <p:nvSpPr>
          <p:cNvPr id="6" name="TextBox 5"/>
          <p:cNvSpPr txBox="1"/>
          <p:nvPr/>
        </p:nvSpPr>
        <p:spPr>
          <a:xfrm>
            <a:off x="4509237" y="4450573"/>
            <a:ext cx="2572420" cy="316690"/>
          </a:xfrm>
          <a:prstGeom prst="rect">
            <a:avLst/>
          </a:prstGeom>
          <a:noFill/>
        </p:spPr>
        <p:txBody>
          <a:bodyPr wrap="square" rtlCol="0">
            <a:spAutoFit/>
          </a:bodyPr>
          <a:lstStyle/>
          <a:p>
            <a:pPr>
              <a:lnSpc>
                <a:spcPct val="90000"/>
              </a:lnSpc>
            </a:pPr>
            <a:r>
              <a:rPr lang="en-US" sz="1620" dirty="0"/>
              <a:t>Rectangle by Area or  Width</a:t>
            </a:r>
          </a:p>
        </p:txBody>
      </p:sp>
      <p:pic>
        <p:nvPicPr>
          <p:cNvPr id="7" name="Picture 6"/>
          <p:cNvPicPr>
            <a:picLocks noChangeAspect="1"/>
          </p:cNvPicPr>
          <p:nvPr/>
        </p:nvPicPr>
        <p:blipFill>
          <a:blip r:embed="rId4">
            <a:clrChange>
              <a:clrFrom>
                <a:srgbClr val="00C5FF"/>
              </a:clrFrom>
              <a:clrTo>
                <a:srgbClr val="00C5FF">
                  <a:alpha val="0"/>
                </a:srgbClr>
              </a:clrTo>
            </a:clrChange>
          </a:blip>
          <a:stretch>
            <a:fillRect/>
          </a:stretch>
        </p:blipFill>
        <p:spPr>
          <a:xfrm>
            <a:off x="4191199" y="1888652"/>
            <a:ext cx="2890458" cy="2250867"/>
          </a:xfrm>
          <a:prstGeom prst="rect">
            <a:avLst/>
          </a:prstGeom>
        </p:spPr>
      </p:pic>
      <p:sp>
        <p:nvSpPr>
          <p:cNvPr id="8" name="TextBox 7"/>
          <p:cNvSpPr txBox="1"/>
          <p:nvPr/>
        </p:nvSpPr>
        <p:spPr>
          <a:xfrm>
            <a:off x="2185286" y="4580032"/>
            <a:ext cx="1697797" cy="316690"/>
          </a:xfrm>
          <a:prstGeom prst="rect">
            <a:avLst/>
          </a:prstGeom>
          <a:noFill/>
        </p:spPr>
        <p:txBody>
          <a:bodyPr wrap="square" rtlCol="0">
            <a:spAutoFit/>
          </a:bodyPr>
          <a:lstStyle/>
          <a:p>
            <a:pPr>
              <a:lnSpc>
                <a:spcPct val="90000"/>
              </a:lnSpc>
            </a:pPr>
            <a:r>
              <a:rPr lang="en-US" sz="1620" dirty="0"/>
              <a:t>Convex Hull</a:t>
            </a:r>
          </a:p>
        </p:txBody>
      </p:sp>
      <p:sp>
        <p:nvSpPr>
          <p:cNvPr id="9" name="Title 1">
            <a:extLst>
              <a:ext uri="{FF2B5EF4-FFF2-40B4-BE49-F238E27FC236}">
                <a16:creationId xmlns:a16="http://schemas.microsoft.com/office/drawing/2014/main" id="{9312C750-566E-4132-87CD-680B6A0507C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Minimum Bounding Geometry</a:t>
            </a:r>
          </a:p>
        </p:txBody>
      </p:sp>
      <p:cxnSp>
        <p:nvCxnSpPr>
          <p:cNvPr id="10" name="Straight Connector 9">
            <a:extLst>
              <a:ext uri="{FF2B5EF4-FFF2-40B4-BE49-F238E27FC236}">
                <a16:creationId xmlns:a16="http://schemas.microsoft.com/office/drawing/2014/main" id="{7FA62341-F54C-4083-881A-E993C9CA1BD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9A7657E8-D3E6-4C34-8402-C14210F2015F}"/>
              </a:ext>
            </a:extLst>
          </p:cNvPr>
          <p:cNvPicPr>
            <a:picLocks noChangeAspect="1"/>
          </p:cNvPicPr>
          <p:nvPr/>
        </p:nvPicPr>
        <p:blipFill>
          <a:blip r:embed="rId5"/>
          <a:stretch>
            <a:fillRect/>
          </a:stretch>
        </p:blipFill>
        <p:spPr>
          <a:xfrm>
            <a:off x="203078" y="3161786"/>
            <a:ext cx="1235237" cy="1490804"/>
          </a:xfrm>
          <a:prstGeom prst="rect">
            <a:avLst/>
          </a:prstGeom>
        </p:spPr>
      </p:pic>
      <p:pic>
        <p:nvPicPr>
          <p:cNvPr id="14" name="Picture 13">
            <a:extLst>
              <a:ext uri="{FF2B5EF4-FFF2-40B4-BE49-F238E27FC236}">
                <a16:creationId xmlns:a16="http://schemas.microsoft.com/office/drawing/2014/main" id="{417BAF58-0C42-4817-B604-FA9114FE2808}"/>
              </a:ext>
            </a:extLst>
          </p:cNvPr>
          <p:cNvPicPr>
            <a:picLocks noChangeAspect="1"/>
          </p:cNvPicPr>
          <p:nvPr/>
        </p:nvPicPr>
        <p:blipFill>
          <a:blip r:embed="rId6"/>
          <a:stretch>
            <a:fillRect/>
          </a:stretch>
        </p:blipFill>
        <p:spPr>
          <a:xfrm>
            <a:off x="6970914" y="1852544"/>
            <a:ext cx="1105126" cy="1688819"/>
          </a:xfrm>
          <a:prstGeom prst="rect">
            <a:avLst/>
          </a:prstGeom>
        </p:spPr>
      </p:pic>
    </p:spTree>
    <p:extLst>
      <p:ext uri="{BB962C8B-B14F-4D97-AF65-F5344CB8AC3E}">
        <p14:creationId xmlns:p14="http://schemas.microsoft.com/office/powerpoint/2010/main" val="114125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190" y="1129775"/>
            <a:ext cx="7277962" cy="862109"/>
          </a:xfrm>
        </p:spPr>
        <p:txBody>
          <a:bodyPr>
            <a:normAutofit/>
          </a:bodyPr>
          <a:lstStyle/>
          <a:p>
            <a:pPr>
              <a:buFont typeface="Courier New" panose="02070309020205020404" pitchFamily="49" charset="0"/>
              <a:buChar char="o"/>
            </a:pPr>
            <a:r>
              <a:rPr lang="en-US" dirty="0"/>
              <a:t>Creates a feature class containing polygons which represent a specified minimum bounding geometry enclosing each input feature or each group of input features</a:t>
            </a:r>
          </a:p>
          <a:p>
            <a:pPr marL="0" indent="0">
              <a:buNone/>
            </a:pPr>
            <a:endParaRPr lang="en-US" dirty="0"/>
          </a:p>
        </p:txBody>
      </p:sp>
      <p:sp>
        <p:nvSpPr>
          <p:cNvPr id="2" name="Slide Number Placeholder 1">
            <a:extLst>
              <a:ext uri="{FF2B5EF4-FFF2-40B4-BE49-F238E27FC236}">
                <a16:creationId xmlns:a16="http://schemas.microsoft.com/office/drawing/2014/main" id="{7382A481-18BD-4459-973A-5056828F96AA}"/>
              </a:ext>
            </a:extLst>
          </p:cNvPr>
          <p:cNvSpPr>
            <a:spLocks noGrp="1"/>
          </p:cNvSpPr>
          <p:nvPr>
            <p:ph type="sldNum" sz="quarter" idx="12"/>
          </p:nvPr>
        </p:nvSpPr>
        <p:spPr/>
        <p:txBody>
          <a:bodyPr/>
          <a:lstStyle/>
          <a:p>
            <a:fld id="{127DDC20-79C9-9647-820E-6D40A3D210C3}" type="slidenum">
              <a:rPr lang="en-US" smtClean="0"/>
              <a:pPr/>
              <a:t>51</a:t>
            </a:fld>
            <a:endParaRPr lang="en-US"/>
          </a:p>
        </p:txBody>
      </p:sp>
      <p:sp>
        <p:nvSpPr>
          <p:cNvPr id="8" name="TextBox 7"/>
          <p:cNvSpPr txBox="1"/>
          <p:nvPr/>
        </p:nvSpPr>
        <p:spPr>
          <a:xfrm>
            <a:off x="2056864" y="4478281"/>
            <a:ext cx="1697797" cy="316690"/>
          </a:xfrm>
          <a:prstGeom prst="rect">
            <a:avLst/>
          </a:prstGeom>
          <a:noFill/>
        </p:spPr>
        <p:txBody>
          <a:bodyPr wrap="square" rtlCol="0">
            <a:spAutoFit/>
          </a:bodyPr>
          <a:lstStyle/>
          <a:p>
            <a:pPr>
              <a:lnSpc>
                <a:spcPct val="90000"/>
              </a:lnSpc>
            </a:pPr>
            <a:r>
              <a:rPr lang="en-US" sz="1620" dirty="0"/>
              <a:t>Envelope</a:t>
            </a:r>
          </a:p>
        </p:txBody>
      </p:sp>
      <p:pic>
        <p:nvPicPr>
          <p:cNvPr id="9" name="Picture 8"/>
          <p:cNvPicPr>
            <a:picLocks noChangeAspect="1"/>
          </p:cNvPicPr>
          <p:nvPr/>
        </p:nvPicPr>
        <p:blipFill>
          <a:blip r:embed="rId3">
            <a:clrChange>
              <a:clrFrom>
                <a:srgbClr val="00C5FF"/>
              </a:clrFrom>
              <a:clrTo>
                <a:srgbClr val="00C5FF">
                  <a:alpha val="0"/>
                </a:srgbClr>
              </a:clrTo>
            </a:clrChange>
          </a:blip>
          <a:stretch>
            <a:fillRect/>
          </a:stretch>
        </p:blipFill>
        <p:spPr>
          <a:xfrm>
            <a:off x="4474939" y="1991884"/>
            <a:ext cx="2357322" cy="2276592"/>
          </a:xfrm>
          <a:prstGeom prst="rect">
            <a:avLst/>
          </a:prstGeom>
        </p:spPr>
      </p:pic>
      <p:sp>
        <p:nvSpPr>
          <p:cNvPr id="10" name="TextBox 9"/>
          <p:cNvSpPr txBox="1"/>
          <p:nvPr/>
        </p:nvSpPr>
        <p:spPr>
          <a:xfrm>
            <a:off x="4937974" y="4475341"/>
            <a:ext cx="1697797" cy="316690"/>
          </a:xfrm>
          <a:prstGeom prst="rect">
            <a:avLst/>
          </a:prstGeom>
          <a:noFill/>
        </p:spPr>
        <p:txBody>
          <a:bodyPr wrap="square" rtlCol="0">
            <a:spAutoFit/>
          </a:bodyPr>
          <a:lstStyle/>
          <a:p>
            <a:pPr algn="ctr">
              <a:lnSpc>
                <a:spcPct val="90000"/>
              </a:lnSpc>
            </a:pPr>
            <a:r>
              <a:rPr lang="en-US" sz="1620" dirty="0"/>
              <a:t>Circle</a:t>
            </a:r>
          </a:p>
        </p:txBody>
      </p:sp>
      <p:pic>
        <p:nvPicPr>
          <p:cNvPr id="4" name="Picture 3"/>
          <p:cNvPicPr>
            <a:picLocks noChangeAspect="1"/>
          </p:cNvPicPr>
          <p:nvPr/>
        </p:nvPicPr>
        <p:blipFill>
          <a:blip r:embed="rId4">
            <a:clrChange>
              <a:clrFrom>
                <a:srgbClr val="00C5FF"/>
              </a:clrFrom>
              <a:clrTo>
                <a:srgbClr val="00C5FF">
                  <a:alpha val="0"/>
                </a:srgbClr>
              </a:clrTo>
            </a:clrChange>
          </a:blip>
          <a:stretch>
            <a:fillRect/>
          </a:stretch>
        </p:blipFill>
        <p:spPr>
          <a:xfrm>
            <a:off x="1182242" y="1991884"/>
            <a:ext cx="2628929" cy="2147971"/>
          </a:xfrm>
          <a:prstGeom prst="rect">
            <a:avLst/>
          </a:prstGeom>
        </p:spPr>
      </p:pic>
      <p:sp>
        <p:nvSpPr>
          <p:cNvPr id="11" name="Title 1">
            <a:extLst>
              <a:ext uri="{FF2B5EF4-FFF2-40B4-BE49-F238E27FC236}">
                <a16:creationId xmlns:a16="http://schemas.microsoft.com/office/drawing/2014/main" id="{5F741F34-ED3D-4FEA-8D62-092779E63312}"/>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Minimum Bounding Geometry</a:t>
            </a:r>
          </a:p>
        </p:txBody>
      </p:sp>
      <p:cxnSp>
        <p:nvCxnSpPr>
          <p:cNvPr id="12" name="Straight Connector 11">
            <a:extLst>
              <a:ext uri="{FF2B5EF4-FFF2-40B4-BE49-F238E27FC236}">
                <a16:creationId xmlns:a16="http://schemas.microsoft.com/office/drawing/2014/main" id="{7F926626-6785-465A-A5A9-F3C836C9F0F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683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1481" y="1200151"/>
            <a:ext cx="5284984" cy="3394472"/>
          </a:xfrm>
        </p:spPr>
        <p:txBody>
          <a:bodyPr>
            <a:normAutofit/>
          </a:bodyPr>
          <a:lstStyle/>
          <a:p>
            <a:pPr>
              <a:buFont typeface="Courier New" panose="02070309020205020404" pitchFamily="49" charset="0"/>
              <a:buChar char="o"/>
            </a:pPr>
            <a:r>
              <a:rPr lang="en-US" dirty="0"/>
              <a:t>Can remove features smaller than a certain size, considering minimal mapping unit (MMU)</a:t>
            </a:r>
          </a:p>
          <a:p>
            <a:pPr>
              <a:buFont typeface="Courier New" panose="02070309020205020404" pitchFamily="49" charset="0"/>
              <a:buChar char="o"/>
            </a:pPr>
            <a:r>
              <a:rPr lang="en-US" dirty="0"/>
              <a:t>Can merge with adjacent polygons</a:t>
            </a:r>
          </a:p>
        </p:txBody>
      </p:sp>
      <p:sp>
        <p:nvSpPr>
          <p:cNvPr id="2" name="Slide Number Placeholder 1">
            <a:extLst>
              <a:ext uri="{FF2B5EF4-FFF2-40B4-BE49-F238E27FC236}">
                <a16:creationId xmlns:a16="http://schemas.microsoft.com/office/drawing/2014/main" id="{D68E213F-FD5A-4F24-BA3D-3F95E36FA81C}"/>
              </a:ext>
            </a:extLst>
          </p:cNvPr>
          <p:cNvSpPr>
            <a:spLocks noGrp="1"/>
          </p:cNvSpPr>
          <p:nvPr>
            <p:ph type="sldNum" sz="quarter" idx="12"/>
          </p:nvPr>
        </p:nvSpPr>
        <p:spPr/>
        <p:txBody>
          <a:bodyPr/>
          <a:lstStyle/>
          <a:p>
            <a:fld id="{127DDC20-79C9-9647-820E-6D40A3D210C3}" type="slidenum">
              <a:rPr lang="en-US" smtClean="0"/>
              <a:pPr/>
              <a:t>52</a:t>
            </a:fld>
            <a:endParaRPr lang="en-US"/>
          </a:p>
        </p:txBody>
      </p:sp>
      <p:pic>
        <p:nvPicPr>
          <p:cNvPr id="4" name="Picture 3" descr="Image showing sliver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6465" y="2358094"/>
            <a:ext cx="2261286" cy="1585255"/>
          </a:xfrm>
          <a:prstGeom prst="rect">
            <a:avLst/>
          </a:prstGeom>
        </p:spPr>
      </p:pic>
      <p:sp>
        <p:nvSpPr>
          <p:cNvPr id="5" name="Title 1">
            <a:extLst>
              <a:ext uri="{FF2B5EF4-FFF2-40B4-BE49-F238E27FC236}">
                <a16:creationId xmlns:a16="http://schemas.microsoft.com/office/drawing/2014/main" id="{665CA1BB-785E-4F1E-9E2D-1200B6FAA0F4}"/>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 Note on Slivers</a:t>
            </a:r>
          </a:p>
        </p:txBody>
      </p:sp>
      <p:cxnSp>
        <p:nvCxnSpPr>
          <p:cNvPr id="6" name="Straight Connector 5">
            <a:extLst>
              <a:ext uri="{FF2B5EF4-FFF2-40B4-BE49-F238E27FC236}">
                <a16:creationId xmlns:a16="http://schemas.microsoft.com/office/drawing/2014/main" id="{B56281F3-28E0-43BF-8441-B2F057826EB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4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Courier New" panose="02070309020205020404" pitchFamily="49" charset="0"/>
              <a:buChar char="o"/>
            </a:pPr>
            <a:r>
              <a:rPr lang="en-US" dirty="0"/>
              <a:t>Remember, that geometric fields are not updated with geoprocessing. Make sure geometry is correct before you use it.</a:t>
            </a:r>
          </a:p>
          <a:p>
            <a:pPr>
              <a:buFont typeface="Courier New" panose="02070309020205020404" pitchFamily="49" charset="0"/>
              <a:buChar char="o"/>
            </a:pPr>
            <a:r>
              <a:rPr lang="en-US" dirty="0"/>
              <a:t>For example, remember to update length, area, perimeter, etc. after performing a clip.</a:t>
            </a:r>
          </a:p>
          <a:p>
            <a:pPr marL="0" indent="0">
              <a:buNone/>
            </a:pPr>
            <a:endParaRPr lang="en-US" dirty="0"/>
          </a:p>
        </p:txBody>
      </p:sp>
      <p:sp>
        <p:nvSpPr>
          <p:cNvPr id="2" name="Slide Number Placeholder 1">
            <a:extLst>
              <a:ext uri="{FF2B5EF4-FFF2-40B4-BE49-F238E27FC236}">
                <a16:creationId xmlns:a16="http://schemas.microsoft.com/office/drawing/2014/main" id="{CACA2843-7968-4E1A-BCC2-BDB98B45DD29}"/>
              </a:ext>
            </a:extLst>
          </p:cNvPr>
          <p:cNvSpPr>
            <a:spLocks noGrp="1"/>
          </p:cNvSpPr>
          <p:nvPr>
            <p:ph type="sldNum" sz="quarter" idx="12"/>
          </p:nvPr>
        </p:nvSpPr>
        <p:spPr/>
        <p:txBody>
          <a:bodyPr/>
          <a:lstStyle/>
          <a:p>
            <a:fld id="{127DDC20-79C9-9647-820E-6D40A3D210C3}" type="slidenum">
              <a:rPr lang="en-US" smtClean="0"/>
              <a:pPr/>
              <a:t>53</a:t>
            </a:fld>
            <a:endParaRPr lang="en-US"/>
          </a:p>
        </p:txBody>
      </p:sp>
      <p:sp>
        <p:nvSpPr>
          <p:cNvPr id="7" name="Title 1">
            <a:extLst>
              <a:ext uri="{FF2B5EF4-FFF2-40B4-BE49-F238E27FC236}">
                <a16:creationId xmlns:a16="http://schemas.microsoft.com/office/drawing/2014/main" id="{D899931E-F444-4C4C-B540-9C69FB8DD4AA}"/>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 Note on Geometry</a:t>
            </a:r>
          </a:p>
        </p:txBody>
      </p:sp>
      <p:cxnSp>
        <p:nvCxnSpPr>
          <p:cNvPr id="8" name="Straight Connector 7">
            <a:extLst>
              <a:ext uri="{FF2B5EF4-FFF2-40B4-BE49-F238E27FC236}">
                <a16:creationId xmlns:a16="http://schemas.microsoft.com/office/drawing/2014/main" id="{06252B22-0903-4A0D-87DD-BD5E5ABD214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766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54</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9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Lecture08_GEOG2475_Tuesday</Template>
  <TotalTime>9724</TotalTime>
  <Words>4158</Words>
  <Application>Microsoft Office PowerPoint</Application>
  <PresentationFormat>Custom</PresentationFormat>
  <Paragraphs>513</Paragraphs>
  <Slides>54</Slides>
  <Notes>43</Notes>
  <HiddenSlides>0</HiddenSlides>
  <MMClips>0</MMClips>
  <ScaleCrop>false</ScaleCrop>
  <HeadingPairs>
    <vt:vector size="6" baseType="variant">
      <vt:variant>
        <vt:lpstr>Fonts Used</vt:lpstr>
      </vt:variant>
      <vt:variant>
        <vt:i4>6</vt:i4>
      </vt:variant>
      <vt:variant>
        <vt:lpstr>Theme</vt:lpstr>
      </vt:variant>
      <vt:variant>
        <vt:i4>8</vt:i4>
      </vt:variant>
      <vt:variant>
        <vt:lpstr>Slide Titles</vt:lpstr>
      </vt:variant>
      <vt:variant>
        <vt:i4>54</vt:i4>
      </vt:variant>
    </vt:vector>
  </HeadingPairs>
  <TitlesOfParts>
    <vt:vector size="68" baseType="lpstr">
      <vt:lpstr>Avenir Next W01</vt:lpstr>
      <vt:lpstr>Arial Black</vt:lpstr>
      <vt:lpstr>Calibri</vt:lpstr>
      <vt:lpstr>Courier New</vt:lpstr>
      <vt:lpstr>Wingdings</vt:lpstr>
      <vt:lpstr>Wingdings 2</vt:lpstr>
      <vt:lpstr>7_DividendVTI</vt:lpstr>
      <vt:lpstr>5_DividendVTI</vt:lpstr>
      <vt:lpstr>2_DividendVTI</vt:lpstr>
      <vt:lpstr>DividendVTI</vt:lpstr>
      <vt:lpstr>1_DividendVTI</vt:lpstr>
      <vt:lpstr>6_DividendVTI</vt:lpstr>
      <vt:lpstr>8_DividendVTI</vt:lpstr>
      <vt:lpstr>9_DividendVTI</vt:lpstr>
      <vt:lpstr>Lecture 12 Vector Analysis   lecture</vt:lpstr>
      <vt:lpstr>7.1  MAP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Discussions</vt:lpstr>
      <vt:lpstr>Class Discussions</vt:lpstr>
      <vt:lpstr>Class Discussions</vt:lpstr>
      <vt:lpstr>Class Discussions</vt:lpstr>
      <vt:lpstr>Class Discussions</vt:lpstr>
      <vt:lpstr>Class Discussions</vt:lpstr>
      <vt:lpstr>PowerPoint Presentation</vt:lpstr>
      <vt:lpstr>PowerPoint Presentation</vt:lpstr>
      <vt:lpstr>Create Thiessen Polygons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557</cp:revision>
  <cp:lastPrinted>2020-03-26T12:59:04Z</cp:lastPrinted>
  <dcterms:created xsi:type="dcterms:W3CDTF">2020-03-24T14:51:54Z</dcterms:created>
  <dcterms:modified xsi:type="dcterms:W3CDTF">2025-11-04T13:17:46Z</dcterms:modified>
</cp:coreProperties>
</file>