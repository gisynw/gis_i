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2" r:id="rId6"/>
    <p:sldMasterId id="2147483734" r:id="rId7"/>
  </p:sldMasterIdLst>
  <p:notesMasterIdLst>
    <p:notesMasterId r:id="rId35"/>
  </p:notesMasterIdLst>
  <p:sldIdLst>
    <p:sldId id="914" r:id="rId8"/>
    <p:sldId id="1647" r:id="rId9"/>
    <p:sldId id="635" r:id="rId10"/>
    <p:sldId id="332" r:id="rId11"/>
    <p:sldId id="340" r:id="rId12"/>
    <p:sldId id="629" r:id="rId13"/>
    <p:sldId id="362" r:id="rId14"/>
    <p:sldId id="347" r:id="rId15"/>
    <p:sldId id="348" r:id="rId16"/>
    <p:sldId id="349" r:id="rId17"/>
    <p:sldId id="351" r:id="rId18"/>
    <p:sldId id="352" r:id="rId19"/>
    <p:sldId id="353" r:id="rId20"/>
    <p:sldId id="354" r:id="rId21"/>
    <p:sldId id="355" r:id="rId22"/>
    <p:sldId id="356" r:id="rId23"/>
    <p:sldId id="633" r:id="rId24"/>
    <p:sldId id="634" r:id="rId25"/>
    <p:sldId id="335" r:id="rId26"/>
    <p:sldId id="338" r:id="rId27"/>
    <p:sldId id="361" r:id="rId28"/>
    <p:sldId id="367" r:id="rId29"/>
    <p:sldId id="368" r:id="rId30"/>
    <p:sldId id="636" r:id="rId31"/>
    <p:sldId id="1648" r:id="rId32"/>
    <p:sldId id="1658" r:id="rId33"/>
    <p:sldId id="1659" r:id="rId34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71" autoAdjust="0"/>
  </p:normalViewPr>
  <p:slideViewPr>
    <p:cSldViewPr snapToGrid="0" snapToObjects="1">
      <p:cViewPr varScale="1">
        <p:scale>
          <a:sx n="126" d="100"/>
          <a:sy n="126" d="100"/>
        </p:scale>
        <p:origin x="1554" y="114"/>
      </p:cViewPr>
      <p:guideLst>
        <p:guide orient="horz" pos="1620"/>
        <p:guide pos="25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Due by Midnight </a:t>
          </a:r>
          <a:r>
            <a:rPr lang="en-US" sz="1800" dirty="0">
              <a:solidFill>
                <a:srgbClr val="C00000"/>
              </a:solidFill>
            </a:rPr>
            <a:t>(11:59 pm) on Monday, Sep 29,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 custT="1"/>
      <dgm:spPr/>
      <dgm:t>
        <a:bodyPr/>
        <a:lstStyle/>
        <a:p>
          <a:pPr>
            <a:defRPr cap="all"/>
          </a:pPr>
          <a:r>
            <a:rPr lang="en-US" sz="1800" dirty="0"/>
            <a:t>Submit a word document only include </a:t>
          </a:r>
          <a:r>
            <a:rPr lang="en-US" sz="1800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 custScaleX="140708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 custScaleX="147657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1178341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1470841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281626" y="1815356"/>
          <a:ext cx="3165930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Due by Midnight </a:t>
          </a:r>
          <a:r>
            <a:rPr lang="en-US" sz="1800" kern="1200" dirty="0">
              <a:solidFill>
                <a:srgbClr val="C00000"/>
              </a:solidFill>
            </a:rPr>
            <a:t>(11:59 pm) on Monday, Sep 29, 2025</a:t>
          </a:r>
        </a:p>
      </dsp:txBody>
      <dsp:txXfrm>
        <a:off x="281626" y="1815356"/>
        <a:ext cx="3165930" cy="743927"/>
      </dsp:txXfrm>
    </dsp:sp>
    <dsp:sp modelId="{C1C41DF5-156F-4AFD-8177-5E65296E36DA}">
      <dsp:nvSpPr>
        <dsp:cNvPr id="0" name=""/>
        <dsp:cNvSpPr/>
      </dsp:nvSpPr>
      <dsp:spPr>
        <a:xfrm>
          <a:off x="4816197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5108697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3841306" y="1815356"/>
          <a:ext cx="3322282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Submit a word document only include </a:t>
          </a:r>
          <a:r>
            <a:rPr lang="en-US" sz="1800" kern="1200" dirty="0">
              <a:solidFill>
                <a:srgbClr val="C00000"/>
              </a:solidFill>
            </a:rPr>
            <a:t>question and answer</a:t>
          </a:r>
        </a:p>
      </dsp:txBody>
      <dsp:txXfrm>
        <a:off x="3841306" y="1815356"/>
        <a:ext cx="3322282" cy="74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41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0, max is 850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Tint or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3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12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3D6C-4C04-4098-BFD3-3A35EE232A02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6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E18-0348-44C2-B6F7-2E0D6E3F701A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0D2F-BB82-470C-9FE9-67ACBD4EA48C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95C9-8F46-4670-8D9D-84E56B4CFD5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2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5E7C-2B02-474E-8FA0-86410A5FC033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4FF1-2CCB-4C67-BF4F-DF19FC698996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1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9D0A-F538-4910-B89C-0793149889D3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7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5CF7382D-DEC2-4064-84F2-56AF48079030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25F9-7C58-4ADD-B4E8-3E3F2DD7C261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9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67AB-96C5-48C1-ABEF-4922F06666C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2300-F914-44F4-9F48-323AB4F049A8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5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0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3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82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09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85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07B82B69-02FF-4A00-BF94-063310C8EF70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27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00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71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4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883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43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60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1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099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0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1E09BAED-B7FC-4220-8037-60663F890984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38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10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2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7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67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63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597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392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32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523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384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4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7305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80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175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43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000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313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624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6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253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4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477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16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18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734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1637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419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469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143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9115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706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845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547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438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48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204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545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093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145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783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340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32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536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815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724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09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564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310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64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F82ABC-BB26-4212-BE76-C6A697540B8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0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6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8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76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bok.ucgis.org/bok-topics/statistical-mapping-enumeration-normalization-classification#:~:text=In%20Cartography%2C%20units%20by%20which,metropolitan%20areas%2C%20among%20many%20others.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stbok-topics.ucgis.org/CV-03-005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06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Data Classification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1417" y="1068658"/>
            <a:ext cx="3286765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Data Classification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Quantiles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Standard deviation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47135" y="389510"/>
            <a:ext cx="8077200" cy="534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</a:t>
            </a:r>
            <a:r>
              <a:rPr lang="en-US" altLang="zh-CN" sz="3200" dirty="0">
                <a:solidFill>
                  <a:srgbClr val="7030A0"/>
                </a:solidFill>
              </a:rPr>
              <a:t>verview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405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236B0D-77DA-40DD-A4DD-2FF3ABCF808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C5DB739-20F3-42ED-8F68-2C9AC3BC4128}"/>
              </a:ext>
            </a:extLst>
          </p:cNvPr>
          <p:cNvSpPr txBox="1">
            <a:spLocks/>
          </p:cNvSpPr>
          <p:nvPr/>
        </p:nvSpPr>
        <p:spPr>
          <a:xfrm>
            <a:off x="247135" y="281940"/>
            <a:ext cx="8077200" cy="74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Classification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CAD29DC8-DB08-4DBA-834A-2684963EDCB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 act of organizing attribute values into categories, or groups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Can be qualitative or quantitative, and based on any of the four measurement scales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Nominal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Ordinal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Ratio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D2492-D921-4460-AB89-B3A25B17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47135" y="22733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7827843E-EDC7-41DF-A3C7-8C77A42653F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One of the most interesting aspects of thematic mapping: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One set of attribute values can yield many different maps, depending on the classification methods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The scheme you choose can strongly influence how your map is perceived.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Some of the most common schemes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Equal interval, quantiles, natural breaks, standard deviation, optimal breaks, maximum breaks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9EA289-E2EB-4525-9CA1-5BFA5B72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74175" y="17613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3" name="Picture 2" descr="Image of different classification methods">
            <a:extLst>
              <a:ext uri="{FF2B5EF4-FFF2-40B4-BE49-F238E27FC236}">
                <a16:creationId xmlns:a16="http://schemas.microsoft.com/office/drawing/2014/main" id="{8D440A12-0ED3-4227-AFD8-05512D04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64712"/>
            <a:ext cx="5252930" cy="1997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32B53-2B0A-41CE-981B-C08C5E5B221B}"/>
              </a:ext>
            </a:extLst>
          </p:cNvPr>
          <p:cNvSpPr txBox="1"/>
          <p:nvPr/>
        </p:nvSpPr>
        <p:spPr>
          <a:xfrm>
            <a:off x="412595" y="1089246"/>
            <a:ext cx="7515922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80" dirty="0"/>
              <a:t>Percent of residents over the age of 25 in Wisconsin that possess a Bachelor's degree or higher in 2016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9B0CE-AC09-4E34-834F-5A341993D840}"/>
              </a:ext>
            </a:extLst>
          </p:cNvPr>
          <p:cNvSpPr txBox="1"/>
          <p:nvPr/>
        </p:nvSpPr>
        <p:spPr>
          <a:xfrm>
            <a:off x="118533" y="4589502"/>
            <a:ext cx="6171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https://gistbok.ucgis.org/bok-topics/statistical-mapping-enumeration-normalization-classification#:~:text=In%20Cartography%2C%20units%20by%20which,metropolitan%20areas%2C%20among%20many%20others.</a:t>
            </a:r>
            <a:endParaRPr lang="en-US" sz="10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13628-BA9B-495B-858D-58EDACC040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815"/>
          <a:stretch/>
        </p:blipFill>
        <p:spPr>
          <a:xfrm>
            <a:off x="5786330" y="2264712"/>
            <a:ext cx="1710712" cy="19558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6BA40-6B84-4020-B377-073BE335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7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5" descr="Population map with three different classification method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6128" y="1929655"/>
            <a:ext cx="4337344" cy="29506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051D06-EED7-4820-A03B-D356E9617C9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49A3129-B78B-47A6-A8F9-752CF40B58DD}"/>
              </a:ext>
            </a:extLst>
          </p:cNvPr>
          <p:cNvSpPr txBox="1">
            <a:spLocks/>
          </p:cNvSpPr>
          <p:nvPr/>
        </p:nvSpPr>
        <p:spPr>
          <a:xfrm>
            <a:off x="236838" y="17602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3546995-9822-49E9-913B-2F3569173B80}"/>
              </a:ext>
            </a:extLst>
          </p:cNvPr>
          <p:cNvSpPr txBox="1">
            <a:spLocks noChangeArrowheads="1"/>
          </p:cNvSpPr>
          <p:nvPr/>
        </p:nvSpPr>
        <p:spPr>
          <a:xfrm>
            <a:off x="313038" y="994144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rgbClr val="000000"/>
                </a:solidFill>
                <a:ea typeface="MS Mincho" pitchFamily="49" charset="-128"/>
              </a:rPr>
              <a:t>Animation showing population using equal interval, quantile, and natural breaks classification methods</a:t>
            </a:r>
            <a:endParaRPr lang="en-US" sz="26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B558F-82DE-4B80-8E0A-87B34172B6FB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F34E9A-E86D-492F-85BA-9D4FFC9A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6" descr="Image of equal interval defini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361" y="2202061"/>
            <a:ext cx="5933241" cy="256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795940" y="2547105"/>
            <a:ext cx="802480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675" b="1" dirty="0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01071" name="Rectangle 15"/>
          <p:cNvSpPr>
            <a:spLocks noChangeArrowheads="1"/>
          </p:cNvSpPr>
          <p:nvPr/>
        </p:nvSpPr>
        <p:spPr bwMode="auto">
          <a:xfrm>
            <a:off x="4645224" y="3427929"/>
            <a:ext cx="2204450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No gaps between classes</a:t>
            </a:r>
          </a:p>
        </p:txBody>
      </p:sp>
      <p:sp>
        <p:nvSpPr>
          <p:cNvPr id="301072" name="Line 16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728211-A4A3-4922-A0C6-A64CE12920D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E3FAA335-3FCA-4FF2-870E-EB00DEC45EE1}"/>
              </a:ext>
            </a:extLst>
          </p:cNvPr>
          <p:cNvSpPr txBox="1">
            <a:spLocks/>
          </p:cNvSpPr>
          <p:nvPr/>
        </p:nvSpPr>
        <p:spPr>
          <a:xfrm>
            <a:off x="274938" y="19340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5289ECC-3465-444A-8712-6ED52E1A1725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occupies an equal interval along the number line, or histogram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FB1BC-25B5-4BE7-9314-102C75177610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17D5E-A590-4413-A9DE-514F56A3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71" grpId="0" animBg="1"/>
      <p:bldP spid="30107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303410" y="3218841"/>
            <a:ext cx="1774919" cy="1546577"/>
            <a:chOff x="3287564" y="3728807"/>
            <a:chExt cx="2629511" cy="2291225"/>
          </a:xfrm>
        </p:grpSpPr>
        <p:sp>
          <p:nvSpPr>
            <p:cNvPr id="32773" name="Rectangle 6" descr="Example of equal interval "/>
            <p:cNvSpPr>
              <a:spLocks noChangeArrowheads="1"/>
            </p:cNvSpPr>
            <p:nvPr/>
          </p:nvSpPr>
          <p:spPr bwMode="auto">
            <a:xfrm>
              <a:off x="4247101" y="3728807"/>
              <a:ext cx="1669974" cy="229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0 – 20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21 – 40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41 – 60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61 – 80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81 – 100</a:t>
              </a:r>
              <a:endParaRPr lang="en-US" sz="1890" dirty="0"/>
            </a:p>
          </p:txBody>
        </p:sp>
        <p:pic>
          <p:nvPicPr>
            <p:cNvPr id="32774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7564" y="3777179"/>
              <a:ext cx="874641" cy="2129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010F8-2D5E-4DC3-82F4-BB12B62B223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D3756FEF-C64A-4934-9B58-E4FCEFEE2FED}"/>
              </a:ext>
            </a:extLst>
          </p:cNvPr>
          <p:cNvSpPr txBox="1">
            <a:spLocks/>
          </p:cNvSpPr>
          <p:nvPr/>
        </p:nvSpPr>
        <p:spPr>
          <a:xfrm>
            <a:off x="274938" y="21533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7EBC59B8-A183-4D9C-8822-9E715BCE65AD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Can be easy to understand and interpret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Good for attributes that are normally represented using uniform classes: elevation, precipitation, percentages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5F3D5D-C536-4CC8-B1F6-55BBAF7FA996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F80C0-D959-41C5-B0C6-863DCBAD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47081933-B3BE-465A-B06D-B8BEBE557980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(can result in empty classes)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4818" name="Picture 7" descr="Image showing disadvantages of equal interv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6316" y="3170753"/>
            <a:ext cx="5333167" cy="87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996BE5-2850-4CB1-B5F7-17DD77FE2CA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1D6009A-D44C-46E3-8A5B-C5746F4DC1C9}"/>
              </a:ext>
            </a:extLst>
          </p:cNvPr>
          <p:cNvSpPr txBox="1">
            <a:spLocks/>
          </p:cNvSpPr>
          <p:nvPr/>
        </p:nvSpPr>
        <p:spPr>
          <a:xfrm>
            <a:off x="152400" y="24538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38C98-1D9D-4BBA-AA8A-97E9B67572A7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A1313-1E73-482B-BF8F-969F2C36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DE7F2320-4748-4FE4-98FB-4A2ABCFCA05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the same (or similar) number of attribute values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5842" name="Picture 6" descr="Image of quantile defini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4429" y="2199919"/>
            <a:ext cx="5945029" cy="257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5157" name="Rectangle 5"/>
          <p:cNvSpPr>
            <a:spLocks noChangeArrowheads="1"/>
          </p:cNvSpPr>
          <p:nvPr/>
        </p:nvSpPr>
        <p:spPr bwMode="auto">
          <a:xfrm>
            <a:off x="5143500" y="2085261"/>
            <a:ext cx="1697355" cy="71558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4 classes: quartiles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5 classes: quintiles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6 classes: sextiles</a:t>
            </a:r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7" name="Rectangle 8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5163" name="Rectangle 11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5164" name="Line 12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5851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BE3AE1-FE28-497B-AAA5-00F5E8ABBE9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5C03C2CF-0CBD-48EF-B3E6-2E9CC790B51B}"/>
              </a:ext>
            </a:extLst>
          </p:cNvPr>
          <p:cNvSpPr txBox="1">
            <a:spLocks/>
          </p:cNvSpPr>
          <p:nvPr/>
        </p:nvSpPr>
        <p:spPr>
          <a:xfrm>
            <a:off x="274938" y="17792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AA345-9E6F-411B-8E8A-F03771429704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5CC1C-0D70-48D6-A0BB-B4AD74FC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  <p:bldP spid="305163" grpId="0" animBg="1"/>
      <p:bldP spid="3051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5" descr="Exampl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1332" y="2755832"/>
            <a:ext cx="2441019" cy="2250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5578555" y="3251122"/>
            <a:ext cx="13003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≈13 Counties </a:t>
            </a:r>
          </a:p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       per Class</a:t>
            </a:r>
          </a:p>
        </p:txBody>
      </p:sp>
      <p:grpSp>
        <p:nvGrpSpPr>
          <p:cNvPr id="36870" name="Group 9"/>
          <p:cNvGrpSpPr>
            <a:grpSpLocks/>
          </p:cNvGrpSpPr>
          <p:nvPr/>
        </p:nvGrpSpPr>
        <p:grpSpPr bwMode="auto">
          <a:xfrm>
            <a:off x="4536999" y="3151468"/>
            <a:ext cx="1107996" cy="507921"/>
            <a:chOff x="2899" y="2701"/>
            <a:chExt cx="1034" cy="474"/>
          </a:xfrm>
        </p:grpSpPr>
        <p:sp>
          <p:nvSpPr>
            <p:cNvPr id="36871" name="Rectangle 6"/>
            <p:cNvSpPr>
              <a:spLocks noChangeArrowheads="1"/>
            </p:cNvSpPr>
            <p:nvPr/>
          </p:nvSpPr>
          <p:spPr bwMode="auto">
            <a:xfrm>
              <a:off x="2899" y="2701"/>
              <a:ext cx="1034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67 Counties</a:t>
              </a:r>
            </a:p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5 Classes</a:t>
              </a:r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>
              <a:off x="2934" y="2927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15"/>
            </a:p>
          </p:txBody>
        </p:sp>
      </p:grpSp>
      <p:sp>
        <p:nvSpPr>
          <p:cNvPr id="3" name="Rectangle 1027">
            <a:extLst>
              <a:ext uri="{FF2B5EF4-FFF2-40B4-BE49-F238E27FC236}">
                <a16:creationId xmlns:a16="http://schemas.microsoft.com/office/drawing/2014/main" id="{295B2B03-B056-4D71-B6AF-5E3FAF086266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Ensures that a choropleth map will have the same number of darkest polygons as lightest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EC80D-7041-4430-AA9D-DF1209603A8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7118CC8-54CF-4797-90DD-95FFEDFD8970}"/>
              </a:ext>
            </a:extLst>
          </p:cNvPr>
          <p:cNvSpPr txBox="1">
            <a:spLocks/>
          </p:cNvSpPr>
          <p:nvPr/>
        </p:nvSpPr>
        <p:spPr>
          <a:xfrm>
            <a:off x="274938" y="22414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327A4-BF1E-4DC5-9929-EE23226B3162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A1489-5EEB-404A-BA4A-37758A7C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0" descr="Image showing disadvantag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638" y="3194158"/>
            <a:ext cx="5338524" cy="98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27">
            <a:extLst>
              <a:ext uri="{FF2B5EF4-FFF2-40B4-BE49-F238E27FC236}">
                <a16:creationId xmlns:a16="http://schemas.microsoft.com/office/drawing/2014/main" id="{156A006C-F209-47CA-8BF7-E7BE7C29F1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(one or two classes can occupy the majority of the range)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42030B-0629-4A1E-9F87-A36BFBCE7B1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5F982EC-15E1-4C36-BF01-4DC31CB3700A}"/>
              </a:ext>
            </a:extLst>
          </p:cNvPr>
          <p:cNvSpPr txBox="1">
            <a:spLocks/>
          </p:cNvSpPr>
          <p:nvPr/>
        </p:nvSpPr>
        <p:spPr>
          <a:xfrm>
            <a:off x="152400" y="16172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0CFDA-BF47-422B-9F86-48F4C2BB09BC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1CB8B9-A85D-4BF3-ADE1-E99B653D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8" descr="Image showing natural breaks definition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6572" y="2193489"/>
            <a:ext cx="5950387" cy="2580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33" name="Rectangle 9"/>
          <p:cNvSpPr>
            <a:spLocks noChangeArrowheads="1"/>
          </p:cNvSpPr>
          <p:nvPr/>
        </p:nvSpPr>
        <p:spPr bwMode="auto">
          <a:xfrm>
            <a:off x="5337453" y="2468880"/>
            <a:ext cx="1345883" cy="50783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More subjective</a:t>
            </a:r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4" name="Rectangle 12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8238" name="Rectangle 14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8239" name="Line 15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9947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clusters of attribute values, and ‘natural’ breaks between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274938" y="21416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B132C-3D85-4D0A-ADB3-9EEA8D7951B9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9BD77-BA01-4D3E-B382-1009907A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3" grpId="0" animBg="1"/>
      <p:bldP spid="308238" grpId="0" animBg="1"/>
      <p:bldP spid="3082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8" descr="Image showing disadvantage of natural break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5538" y="3463290"/>
            <a:ext cx="5343882" cy="78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Considers distribution of data along a number line (very good), each classification is ‘custom tailored’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skewed data distributions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274938" y="25234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4CB03-953A-4921-80B3-6D6BCF05DD2E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7C973-62EE-4B93-95A6-E2860B72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A48EA635-90E4-480E-BC95-BAFBA66EA411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Subjective, and results will differ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More difficult to compare with other maps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A9FE99-9E06-4C67-A6EF-3766AAEBF20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6F99068-EA4A-4927-BF07-A694C774283F}"/>
              </a:ext>
            </a:extLst>
          </p:cNvPr>
          <p:cNvSpPr txBox="1">
            <a:spLocks/>
          </p:cNvSpPr>
          <p:nvPr/>
        </p:nvSpPr>
        <p:spPr>
          <a:xfrm>
            <a:off x="274938" y="28950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83901-F00E-4DD1-A2E4-288893FB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is determined by the standard deviation from the mean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239647" y="21728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25D708-8679-4BA8-9194-522FC867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30B2C5A1-2439-0450-877C-3233BBE1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38" y="2416107"/>
            <a:ext cx="7679724" cy="23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2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normally distributed datasets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 not work well with skewed or non-normally  distributed data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274938" y="16172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5561-8A4E-4C5E-8AD5-A30A2302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67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6FDDA3E3-B05D-4EE3-956C-441AC806BE59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1356897"/>
            <a:ext cx="7679724" cy="151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There is no ‘best’ method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Certain methods are not well suited to particular situations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CFEDB5-0D7C-4E68-9C15-0A35324A221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7BC5DB1-6C92-45B7-83C3-B75481198B60}"/>
              </a:ext>
            </a:extLst>
          </p:cNvPr>
          <p:cNvSpPr txBox="1">
            <a:spLocks/>
          </p:cNvSpPr>
          <p:nvPr/>
        </p:nvSpPr>
        <p:spPr>
          <a:xfrm>
            <a:off x="274938" y="21443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E1AC24-44C3-4AA7-9CBB-E3FD015C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14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8678" name="Rectangle 15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D98549-CC34-4073-A166-21746FA5E24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F1D8F86-219E-436E-9778-1D1C5D954175}"/>
              </a:ext>
            </a:extLst>
          </p:cNvPr>
          <p:cNvSpPr txBox="1">
            <a:spLocks/>
          </p:cNvSpPr>
          <p:nvPr/>
        </p:nvSpPr>
        <p:spPr>
          <a:xfrm>
            <a:off x="274938" y="21805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23283C22-200B-41C5-AF54-E0D5A3CF5B22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ea typeface="MS Mincho" pitchFamily="49" charset="-128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Animation showing agricultural sales using 2, 4, and 6 classes</a:t>
            </a: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8" name="Picture 6" descr="Image showing class number">
            <a:extLst>
              <a:ext uri="{FF2B5EF4-FFF2-40B4-BE49-F238E27FC236}">
                <a16:creationId xmlns:a16="http://schemas.microsoft.com/office/drawing/2014/main" id="{FB54DD59-0B88-4596-801A-1E0DD9C61D5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3587" y="2571750"/>
            <a:ext cx="3588662" cy="244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C158F8-122D-414C-A2FD-EE81B879AC71}"/>
              </a:ext>
            </a:extLst>
          </p:cNvPr>
          <p:cNvSpPr txBox="1"/>
          <p:nvPr/>
        </p:nvSpPr>
        <p:spPr>
          <a:xfrm>
            <a:off x="437" y="465265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CD7E6-9287-4BA0-A0AD-1037738E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27">
            <a:extLst>
              <a:ext uri="{FF2B5EF4-FFF2-40B4-BE49-F238E27FC236}">
                <a16:creationId xmlns:a16="http://schemas.microsoft.com/office/drawing/2014/main" id="{2878BA25-D64A-4E72-BB10-FC9F8558867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Anywhere between 3 to 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5 is probably optimal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 odd # has a ‘middle’ class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pic>
        <p:nvPicPr>
          <p:cNvPr id="2" name="Picture 18" descr="Image showing different number of classes">
            <a:extLst>
              <a:ext uri="{FF2B5EF4-FFF2-40B4-BE49-F238E27FC236}">
                <a16:creationId xmlns:a16="http://schemas.microsoft.com/office/drawing/2014/main" id="{E4E2CA7E-FDFE-4C49-8BE0-60546AC69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0284" y="2689492"/>
            <a:ext cx="4749165" cy="2242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57576B-F496-40A1-8F36-87F3C49DACC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6EC2A6A-5B5D-4E13-A645-DD15477F7868}"/>
              </a:ext>
            </a:extLst>
          </p:cNvPr>
          <p:cNvSpPr txBox="1">
            <a:spLocks/>
          </p:cNvSpPr>
          <p:nvPr/>
        </p:nvSpPr>
        <p:spPr>
          <a:xfrm>
            <a:off x="152400" y="17452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7816151-DBC8-4323-962B-6BD5B9A58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843" y="3303050"/>
            <a:ext cx="2388220" cy="1015663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Difficult to differentiate large numbers of tints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A1B06-DDDB-4C4A-9638-4038B801E3A2}"/>
              </a:ext>
            </a:extLst>
          </p:cNvPr>
          <p:cNvSpPr txBox="1"/>
          <p:nvPr/>
        </p:nvSpPr>
        <p:spPr>
          <a:xfrm>
            <a:off x="4326166" y="489727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FEAA6E-E90F-4CD3-A508-668BA72A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E6A0BF-C213-4D97-B46F-328F8A1789A4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4E32A56-FB7B-4ABB-BCA9-011644F0E2FB}"/>
              </a:ext>
            </a:extLst>
          </p:cNvPr>
          <p:cNvSpPr txBox="1">
            <a:spLocks/>
          </p:cNvSpPr>
          <p:nvPr/>
        </p:nvSpPr>
        <p:spPr>
          <a:xfrm>
            <a:off x="274938" y="17137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A1F31F6-4F05-459F-A950-8C33BD9756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Classification for map comparison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Use the same method for all maps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Equal interval with identical break values often works best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By definition, natural breaks will result in different classification on different maps, making comparison difficult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112471-E301-4D70-8EE2-18A1BCA2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4EFB13-141B-4D44-9B88-21A094673BC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9DDD8E4-2B2C-473C-A354-1DD19EA21CBC}"/>
              </a:ext>
            </a:extLst>
          </p:cNvPr>
          <p:cNvSpPr txBox="1">
            <a:spLocks/>
          </p:cNvSpPr>
          <p:nvPr/>
        </p:nvSpPr>
        <p:spPr>
          <a:xfrm>
            <a:off x="209880" y="14560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Group Activity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80F79-72F9-47E6-9AD8-31ECBBDF41D8}"/>
              </a:ext>
            </a:extLst>
          </p:cNvPr>
          <p:cNvSpPr txBox="1"/>
          <p:nvPr/>
        </p:nvSpPr>
        <p:spPr>
          <a:xfrm>
            <a:off x="209880" y="1002854"/>
            <a:ext cx="7809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Compare two population density maps and discuss with your peers: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Describe the spatial pattern of African-American population density? How about Hispanic?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Are there any places with both high African-American  and Hispanic population density?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Are there any places with high African-American population density but low Hispanic population density? How about vice versa</a:t>
            </a:r>
            <a:r>
              <a:rPr lang="zh-CN" altLang="en-US" sz="2400" dirty="0"/>
              <a:t>？</a:t>
            </a:r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8E658-8DF4-4AA9-A77C-E6BD2128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4" descr="Houston density same range AA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4328"/>
            <a:ext cx="3731305" cy="279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4EFB13-141B-4D44-9B88-21A094673BC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9DDD8E4-2B2C-473C-A354-1DD19EA21CBC}"/>
              </a:ext>
            </a:extLst>
          </p:cNvPr>
          <p:cNvSpPr txBox="1">
            <a:spLocks/>
          </p:cNvSpPr>
          <p:nvPr/>
        </p:nvSpPr>
        <p:spPr>
          <a:xfrm>
            <a:off x="342269" y="22189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Group Activity</a:t>
            </a:r>
          </a:p>
        </p:txBody>
      </p:sp>
      <p:pic>
        <p:nvPicPr>
          <p:cNvPr id="2" name="Picture 2" descr="Houston density same range.jpg">
            <a:extLst>
              <a:ext uri="{FF2B5EF4-FFF2-40B4-BE49-F238E27FC236}">
                <a16:creationId xmlns:a16="http://schemas.microsoft.com/office/drawing/2014/main" id="{B5386DA9-BC1F-4260-87FD-F51B7FD36D5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2900" y="1444328"/>
            <a:ext cx="3732481" cy="2798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2A039-7849-44AD-9EDE-316B42DA68A9}"/>
              </a:ext>
            </a:extLst>
          </p:cNvPr>
          <p:cNvSpPr txBox="1"/>
          <p:nvPr/>
        </p:nvSpPr>
        <p:spPr>
          <a:xfrm>
            <a:off x="15240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EB30-9AB7-4B61-AA52-145C22A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9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C22B-0867-DA8B-1244-0F4FF13E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35" y="475165"/>
            <a:ext cx="7444991" cy="630974"/>
          </a:xfrm>
        </p:spPr>
        <p:txBody>
          <a:bodyPr/>
          <a:lstStyle/>
          <a:p>
            <a:pPr defTabSz="411480"/>
            <a:r>
              <a:rPr lang="en-US" sz="3200" dirty="0">
                <a:solidFill>
                  <a:srgbClr val="7030A0"/>
                </a:solidFill>
              </a:rPr>
              <a:t>Explore bivariate colors in </a:t>
            </a:r>
            <a:r>
              <a:rPr lang="en-US" sz="3200" dirty="0" err="1">
                <a:solidFill>
                  <a:srgbClr val="7030A0"/>
                </a:solidFill>
              </a:rPr>
              <a:t>arcgis</a:t>
            </a:r>
            <a:r>
              <a:rPr lang="en-US" sz="3200" dirty="0">
                <a:solidFill>
                  <a:srgbClr val="7030A0"/>
                </a:solidFill>
              </a:rPr>
              <a:t> pro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6B702A-E3AC-7C7A-4CA9-7E1D58D22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810" y="1157591"/>
            <a:ext cx="6002043" cy="360889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410F6-22CA-D940-9DD6-902279C6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50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Lab session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4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6"/>
            <a:ext cx="8229600" cy="462914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17" y="865356"/>
            <a:ext cx="7444991" cy="462049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398"/>
              </a:spcAft>
            </a:pPr>
            <a:r>
              <a:rPr lang="en-US" sz="2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05: </a:t>
            </a:r>
            <a:r>
              <a:rPr lang="en-US" b="1" dirty="0"/>
              <a:t>standardization and classification</a:t>
            </a:r>
            <a:endParaRPr lang="en-US" sz="216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2192" y="1837730"/>
          <a:ext cx="7445216" cy="257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Week05_GEOG2475_TU</Template>
  <TotalTime>6944</TotalTime>
  <Words>832</Words>
  <Application>Microsoft Office PowerPoint</Application>
  <PresentationFormat>Custom</PresentationFormat>
  <Paragraphs>172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27</vt:i4>
      </vt:variant>
    </vt:vector>
  </HeadingPairs>
  <TitlesOfParts>
    <vt:vector size="43" baseType="lpstr">
      <vt:lpstr>MS Mincho</vt:lpstr>
      <vt:lpstr>Arial</vt:lpstr>
      <vt:lpstr>Arial Black</vt:lpstr>
      <vt:lpstr>Calibri</vt:lpstr>
      <vt:lpstr>Courier New</vt:lpstr>
      <vt:lpstr>Gill Sans MT</vt:lpstr>
      <vt:lpstr>Times New Roman</vt:lpstr>
      <vt:lpstr>Wingdings</vt:lpstr>
      <vt:lpstr>Wingdings 2</vt:lpstr>
      <vt:lpstr>3_DividendVTI</vt:lpstr>
      <vt:lpstr>2_DividendVTI</vt:lpstr>
      <vt:lpstr>DividendVTI</vt:lpstr>
      <vt:lpstr>1_DividendVTI</vt:lpstr>
      <vt:lpstr>4_DividendVTI</vt:lpstr>
      <vt:lpstr>5_DividendVTI</vt:lpstr>
      <vt:lpstr>6_DividendVTI</vt:lpstr>
      <vt:lpstr>WEEK 06 Data Classification  lecture</vt:lpstr>
      <vt:lpstr>6.1 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Explore bivariate colors in arcgis pro</vt:lpstr>
      <vt:lpstr>6.2  Lab session</vt:lpstr>
      <vt:lpstr>Lab 05: standardization and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273</cp:revision>
  <dcterms:created xsi:type="dcterms:W3CDTF">2020-07-26T21:20:11Z</dcterms:created>
  <dcterms:modified xsi:type="dcterms:W3CDTF">2025-09-25T15:11:37Z</dcterms:modified>
</cp:coreProperties>
</file>