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 id="2147483734" r:id="rId7"/>
  </p:sldMasterIdLst>
  <p:notesMasterIdLst>
    <p:notesMasterId r:id="rId38"/>
  </p:notesMasterIdLst>
  <p:sldIdLst>
    <p:sldId id="914" r:id="rId8"/>
    <p:sldId id="1647" r:id="rId9"/>
    <p:sldId id="635" r:id="rId10"/>
    <p:sldId id="585" r:id="rId11"/>
    <p:sldId id="604" r:id="rId12"/>
    <p:sldId id="606" r:id="rId13"/>
    <p:sldId id="605" r:id="rId14"/>
    <p:sldId id="1648" r:id="rId15"/>
    <p:sldId id="609" r:id="rId16"/>
    <p:sldId id="610" r:id="rId17"/>
    <p:sldId id="1649" r:id="rId18"/>
    <p:sldId id="264" r:id="rId19"/>
    <p:sldId id="301" r:id="rId20"/>
    <p:sldId id="309" r:id="rId21"/>
    <p:sldId id="1164" r:id="rId22"/>
    <p:sldId id="315" r:id="rId23"/>
    <p:sldId id="310" r:id="rId24"/>
    <p:sldId id="320" r:id="rId25"/>
    <p:sldId id="322" r:id="rId26"/>
    <p:sldId id="312" r:id="rId27"/>
    <p:sldId id="324" r:id="rId28"/>
    <p:sldId id="330" r:id="rId29"/>
    <p:sldId id="311" r:id="rId30"/>
    <p:sldId id="326" r:id="rId31"/>
    <p:sldId id="372" r:id="rId32"/>
    <p:sldId id="1141" r:id="rId33"/>
    <p:sldId id="1146" r:id="rId34"/>
    <p:sldId id="1149" r:id="rId35"/>
    <p:sldId id="1165" r:id="rId36"/>
    <p:sldId id="270" r:id="rId37"/>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271" autoAdjust="0"/>
  </p:normalViewPr>
  <p:slideViewPr>
    <p:cSldViewPr snapToGrid="0" snapToObjects="1">
      <p:cViewPr varScale="1">
        <p:scale>
          <a:sx n="126" d="100"/>
          <a:sy n="126" d="100"/>
        </p:scale>
        <p:origin x="1554" y="114"/>
      </p:cViewPr>
      <p:guideLst>
        <p:guide orient="horz" pos="1620"/>
        <p:guide pos="2592"/>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presProps" Target="presProps.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9/21/2025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p:txBody>
      </p:sp>
    </p:spTree>
    <p:extLst>
      <p:ext uri="{BB962C8B-B14F-4D97-AF65-F5344CB8AC3E}">
        <p14:creationId xmlns:p14="http://schemas.microsoft.com/office/powerpoint/2010/main" val="72415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4</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2782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623748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r>
              <a:rPr lang="en-US" b="0" i="0" dirty="0">
                <a:solidFill>
                  <a:srgbClr val="304E4E"/>
                </a:solidFill>
                <a:effectLst/>
                <a:latin typeface="Noto Serif"/>
              </a:rPr>
              <a:t>It is </a:t>
            </a:r>
            <a:r>
              <a:rPr lang="en-US" b="1" i="0" dirty="0">
                <a:solidFill>
                  <a:srgbClr val="304E4E"/>
                </a:solidFill>
                <a:effectLst/>
                <a:latin typeface="Noto Serif"/>
              </a:rPr>
              <a:t>reduced </a:t>
            </a:r>
            <a:r>
              <a:rPr lang="en-US" b="0" i="0" dirty="0">
                <a:solidFill>
                  <a:srgbClr val="304E4E"/>
                </a:solidFill>
                <a:effectLst/>
                <a:latin typeface="Noto Serif"/>
              </a:rPr>
              <a:t>because it is physically smaller than the size of the United States.</a:t>
            </a:r>
          </a:p>
          <a:p>
            <a:pPr algn="l"/>
            <a:r>
              <a:rPr lang="en-US" b="0" i="0" dirty="0">
                <a:solidFill>
                  <a:srgbClr val="304E4E"/>
                </a:solidFill>
                <a:effectLst/>
                <a:latin typeface="Noto Serif"/>
              </a:rPr>
              <a:t>It is </a:t>
            </a:r>
            <a:r>
              <a:rPr lang="en-US" b="1" i="0" dirty="0">
                <a:solidFill>
                  <a:srgbClr val="304E4E"/>
                </a:solidFill>
                <a:effectLst/>
                <a:latin typeface="Noto Serif"/>
              </a:rPr>
              <a:t>selective </a:t>
            </a:r>
            <a:r>
              <a:rPr lang="en-US" b="0" i="0" dirty="0">
                <a:solidFill>
                  <a:srgbClr val="304E4E"/>
                </a:solidFill>
                <a:effectLst/>
                <a:latin typeface="Noto Serif"/>
              </a:rPr>
              <a:t>because it does not show the relevant information to the purpose of this map.</a:t>
            </a:r>
          </a:p>
          <a:p>
            <a:pPr algn="l"/>
            <a:r>
              <a:rPr lang="en-US" b="0" i="0" dirty="0">
                <a:solidFill>
                  <a:srgbClr val="304E4E"/>
                </a:solidFill>
                <a:effectLst/>
                <a:latin typeface="Noto Serif"/>
              </a:rPr>
              <a:t>It is </a:t>
            </a:r>
            <a:r>
              <a:rPr lang="en-US" b="1" i="0" dirty="0">
                <a:solidFill>
                  <a:srgbClr val="304E4E"/>
                </a:solidFill>
                <a:effectLst/>
                <a:latin typeface="Noto Serif"/>
              </a:rPr>
              <a:t>symbolized </a:t>
            </a:r>
            <a:r>
              <a:rPr lang="en-US" b="0" i="0" dirty="0">
                <a:solidFill>
                  <a:srgbClr val="304E4E"/>
                </a:solidFill>
                <a:effectLst/>
                <a:latin typeface="Noto Serif"/>
              </a:rPr>
              <a:t>through the use of visual variables such as color, texture, size, and shape.</a:t>
            </a:r>
          </a:p>
          <a:p>
            <a:endParaRPr lang="en-US" altLang="en-US" dirty="0"/>
          </a:p>
        </p:txBody>
      </p:sp>
    </p:spTree>
    <p:extLst>
      <p:ext uri="{BB962C8B-B14F-4D97-AF65-F5344CB8AC3E}">
        <p14:creationId xmlns:p14="http://schemas.microsoft.com/office/powerpoint/2010/main" val="3884970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604728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9</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87364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187131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12</a:t>
            </a:fld>
            <a:endParaRPr lang="en-US"/>
          </a:p>
        </p:txBody>
      </p:sp>
    </p:spTree>
    <p:extLst>
      <p:ext uri="{BB962C8B-B14F-4D97-AF65-F5344CB8AC3E}">
        <p14:creationId xmlns:p14="http://schemas.microsoft.com/office/powerpoint/2010/main" val="376862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1" i="0" dirty="0">
                <a:solidFill>
                  <a:srgbClr val="6C6C6C"/>
                </a:solidFill>
                <a:effectLst/>
                <a:latin typeface="Raleway"/>
              </a:rPr>
              <a:t>Enumeration Unit</a:t>
            </a:r>
            <a:r>
              <a:rPr lang="en-US" sz="1000" b="0" i="0" dirty="0">
                <a:solidFill>
                  <a:srgbClr val="6C6C6C"/>
                </a:solidFill>
                <a:effectLst/>
                <a:latin typeface="Raleway"/>
              </a:rPr>
              <a:t>: An areal unit by which enumerated data is aggregated and quantified. A common example of enumeration units is areal census units. Census data is aggregated into enumeration units that include blocks, block groups, census tracts, zip codes, and metropolitan areas, among many others. </a:t>
            </a:r>
          </a:p>
          <a:p>
            <a:r>
              <a:rPr lang="en-US" sz="1000" b="0" i="0" dirty="0">
                <a:solidFill>
                  <a:srgbClr val="6C6C6C"/>
                </a:solidFill>
                <a:effectLst/>
                <a:latin typeface="Raleway"/>
              </a:rPr>
              <a:t>Large areas can be perceived as ‘more important' and small areas as less</a:t>
            </a:r>
            <a:endParaRPr lang="en-US" sz="1000"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13</a:t>
            </a:fld>
            <a:endParaRPr lang="en-US"/>
          </a:p>
        </p:txBody>
      </p:sp>
    </p:spTree>
    <p:extLst>
      <p:ext uri="{BB962C8B-B14F-4D97-AF65-F5344CB8AC3E}">
        <p14:creationId xmlns:p14="http://schemas.microsoft.com/office/powerpoint/2010/main" val="3212991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dirty="0">
                <a:solidFill>
                  <a:srgbClr val="4D5156"/>
                </a:solidFill>
                <a:effectLst/>
                <a:latin typeface="Roboto"/>
              </a:rPr>
              <a:t>contiguous</a:t>
            </a:r>
          </a:p>
          <a:p>
            <a:r>
              <a:rPr lang="en-US" sz="1000" b="0" i="0" dirty="0">
                <a:solidFill>
                  <a:srgbClr val="4D5156"/>
                </a:solidFill>
                <a:effectLst/>
                <a:latin typeface="Roboto"/>
              </a:rPr>
              <a:t>Connecticut</a:t>
            </a:r>
            <a:endParaRPr lang="en-US" sz="1000"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14</a:t>
            </a:fld>
            <a:endParaRPr lang="en-US"/>
          </a:p>
        </p:txBody>
      </p:sp>
    </p:spTree>
    <p:extLst>
      <p:ext uri="{BB962C8B-B14F-4D97-AF65-F5344CB8AC3E}">
        <p14:creationId xmlns:p14="http://schemas.microsoft.com/office/powerpoint/2010/main" val="1057774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95B3-6422-BB71-2DC8-30546E5C2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F079F-C3DB-342E-8469-78A88DA58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1515F-504D-15DD-86E5-FA5955145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43149-B8EA-24BE-514E-DF33B3A1A4A5}"/>
              </a:ext>
            </a:extLst>
          </p:cNvPr>
          <p:cNvSpPr>
            <a:spLocks noGrp="1"/>
          </p:cNvSpPr>
          <p:nvPr>
            <p:ph type="sldNum" sz="quarter" idx="5"/>
          </p:nvPr>
        </p:nvSpPr>
        <p:spPr/>
        <p:txBody>
          <a:bodyPr/>
          <a:lstStyle/>
          <a:p>
            <a:fld id="{789B9940-C43A-4FAE-9729-EF4782F7B86D}" type="slidenum">
              <a:rPr lang="zh-CN" altLang="en-US" smtClean="0"/>
              <a:t>15</a:t>
            </a:fld>
            <a:endParaRPr lang="zh-CN" altLang="en-US" dirty="0"/>
          </a:p>
        </p:txBody>
      </p:sp>
    </p:spTree>
    <p:extLst>
      <p:ext uri="{BB962C8B-B14F-4D97-AF65-F5344CB8AC3E}">
        <p14:creationId xmlns:p14="http://schemas.microsoft.com/office/powerpoint/2010/main" val="1469805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16</a:t>
            </a:fld>
            <a:endParaRPr lang="en-US"/>
          </a:p>
        </p:txBody>
      </p:sp>
    </p:spTree>
    <p:extLst>
      <p:ext uri="{BB962C8B-B14F-4D97-AF65-F5344CB8AC3E}">
        <p14:creationId xmlns:p14="http://schemas.microsoft.com/office/powerpoint/2010/main" val="4265972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2138135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baseline="0" dirty="0">
                <a:latin typeface="+mn-lt"/>
              </a:rPr>
              <a:t>Spain, </a:t>
            </a:r>
            <a:r>
              <a:rPr lang="en-US" sz="800" b="0" i="0" baseline="0" dirty="0">
                <a:solidFill>
                  <a:srgbClr val="000000"/>
                </a:solidFill>
                <a:effectLst/>
                <a:latin typeface="+mn-lt"/>
              </a:rPr>
              <a:t>Population ageing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b="0" i="0" baseline="0" dirty="0">
                <a:solidFill>
                  <a:srgbClr val="202124"/>
                </a:solidFill>
                <a:effectLst/>
                <a:latin typeface="+mn-lt"/>
              </a:rPr>
              <a:t> </a:t>
            </a:r>
            <a:r>
              <a:rPr lang="en-US" sz="800" b="1" i="0" baseline="0" dirty="0">
                <a:solidFill>
                  <a:srgbClr val="202124"/>
                </a:solidFill>
                <a:effectLst/>
                <a:latin typeface="+mn-lt"/>
              </a:rPr>
              <a:t>28.7 %</a:t>
            </a:r>
            <a:r>
              <a:rPr lang="en-US" sz="800" b="0" i="0" baseline="0" dirty="0">
                <a:solidFill>
                  <a:srgbClr val="000000"/>
                </a:solidFill>
                <a:effectLst/>
                <a:latin typeface="+mn-lt"/>
              </a:rPr>
              <a:t> in Japan</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18</a:t>
            </a:fld>
            <a:endParaRPr lang="en-US"/>
          </a:p>
        </p:txBody>
      </p:sp>
    </p:spTree>
    <p:extLst>
      <p:ext uri="{BB962C8B-B14F-4D97-AF65-F5344CB8AC3E}">
        <p14:creationId xmlns:p14="http://schemas.microsoft.com/office/powerpoint/2010/main" val="3756418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Roboto"/>
              </a:rPr>
              <a:t>Intergovernmental Panel on Climate Change</a:t>
            </a:r>
          </a:p>
          <a:p>
            <a:r>
              <a:rPr lang="en-US" b="0" i="0" dirty="0">
                <a:effectLst/>
                <a:latin typeface="Roboto"/>
              </a:rPr>
              <a:t>Vatican </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22</a:t>
            </a:fld>
            <a:endParaRPr lang="en-US"/>
          </a:p>
        </p:txBody>
      </p:sp>
    </p:spTree>
    <p:extLst>
      <p:ext uri="{BB962C8B-B14F-4D97-AF65-F5344CB8AC3E}">
        <p14:creationId xmlns:p14="http://schemas.microsoft.com/office/powerpoint/2010/main" val="3720450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B81A-07E5-043C-C412-93CF2684D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2DE32-2752-6C18-C897-0CA0826FA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26FC3-FD8A-260B-BDB1-F3ED370AEBD5}"/>
              </a:ext>
            </a:extLst>
          </p:cNvPr>
          <p:cNvSpPr>
            <a:spLocks noGrp="1"/>
          </p:cNvSpPr>
          <p:nvPr>
            <p:ph type="body" idx="1"/>
          </p:nvPr>
        </p:nvSpPr>
        <p:spPr/>
        <p:txBody>
          <a:bodyPr/>
          <a:lstStyle/>
          <a:p>
            <a:pPr marL="228600" indent="-228600">
              <a:buAutoNum type="arabicPeriod"/>
            </a:pPr>
            <a:r>
              <a:rPr lang="en-US" dirty="0"/>
              <a:t>This is primarily a </a:t>
            </a:r>
            <a:r>
              <a:rPr lang="en-US" b="1" dirty="0"/>
              <a:t>Choropleth Map</a:t>
            </a:r>
            <a:r>
              <a:rPr lang="en-US" dirty="0"/>
              <a:t>. It uses colored geographic areas (counties, or possibly even smaller precincts given the title "Extremely Detailed") to represent the intensity or proportion of a variable – in this case, the 2020 US Presidential election results.</a:t>
            </a:r>
          </a:p>
          <a:p>
            <a:pPr marL="228600" indent="-228600">
              <a:buAutoNum type="arabicPeriod"/>
            </a:pPr>
            <a:r>
              <a:rPr lang="en-US" dirty="0"/>
              <a:t>The map uses a </a:t>
            </a:r>
            <a:r>
              <a:rPr lang="en-US" b="1" dirty="0"/>
              <a:t>Diverging Color Scheme</a:t>
            </a:r>
            <a:r>
              <a:rPr lang="en-US" dirty="0"/>
              <a:t>. t employs two distinct hues: </a:t>
            </a:r>
            <a:r>
              <a:rPr lang="en-US" b="1" dirty="0"/>
              <a:t>Red</a:t>
            </a:r>
            <a:r>
              <a:rPr lang="en-US" dirty="0"/>
              <a:t> (typically representing the Republican candidate, Donald Trump) and </a:t>
            </a:r>
            <a:r>
              <a:rPr lang="en-US" b="1" dirty="0"/>
              <a:t>Blue</a:t>
            </a:r>
            <a:r>
              <a:rPr lang="en-US" dirty="0"/>
              <a:t> (typically representing the Democratic candidate, Joseph Biden).</a:t>
            </a:r>
          </a:p>
          <a:p>
            <a:pPr marL="228600" indent="-228600">
              <a:buAutoNum type="arabicPeriod"/>
            </a:pPr>
            <a:r>
              <a:rPr lang="en-US" dirty="0"/>
              <a:t>The design uses a main map display area accompanied by a distinct </a:t>
            </a:r>
            <a:r>
              <a:rPr lang="en-US" b="1" dirty="0"/>
              <a:t>left-hand sidebar</a:t>
            </a:r>
            <a:r>
              <a:rPr lang="en-US" dirty="0"/>
              <a:t>. This is a common layout for interactive web maps. A clear </a:t>
            </a:r>
            <a:r>
              <a:rPr lang="en-US" b="1" dirty="0"/>
              <a:t>legend</a:t>
            </a:r>
            <a:r>
              <a:rPr lang="en-US" dirty="0"/>
              <a:t> is positioned unobtrusively in the bottom left corner.</a:t>
            </a:r>
          </a:p>
          <a:p>
            <a:pPr marL="228600" indent="-228600">
              <a:buAutoNum type="arabicPeriod"/>
            </a:pPr>
            <a:r>
              <a:rPr lang="en-US" dirty="0"/>
              <a:t>The map utilizes </a:t>
            </a:r>
            <a:r>
              <a:rPr lang="en-US" b="1" dirty="0"/>
              <a:t>interactive annotations (tooltips/pop-ups). </a:t>
            </a:r>
            <a:r>
              <a:rPr lang="en-US" dirty="0"/>
              <a:t>Static labels for major features like </a:t>
            </a:r>
            <a:r>
              <a:rPr lang="en-US" b="1" dirty="0"/>
              <a:t>state names</a:t>
            </a:r>
            <a:r>
              <a:rPr lang="en-US" dirty="0"/>
              <a:t> are included directly on the map in a subtle color and font size, providing geographic orientation without dominating the visualization.</a:t>
            </a:r>
          </a:p>
        </p:txBody>
      </p:sp>
      <p:sp>
        <p:nvSpPr>
          <p:cNvPr id="4" name="Slide Number Placeholder 3">
            <a:extLst>
              <a:ext uri="{FF2B5EF4-FFF2-40B4-BE49-F238E27FC236}">
                <a16:creationId xmlns:a16="http://schemas.microsoft.com/office/drawing/2014/main" id="{E5AB43EB-E362-5D6F-AE13-3C75B171157B}"/>
              </a:ext>
            </a:extLst>
          </p:cNvPr>
          <p:cNvSpPr>
            <a:spLocks noGrp="1"/>
          </p:cNvSpPr>
          <p:nvPr>
            <p:ph type="sldNum" sz="quarter" idx="5"/>
          </p:nvPr>
        </p:nvSpPr>
        <p:spPr/>
        <p:txBody>
          <a:bodyPr/>
          <a:lstStyle/>
          <a:p>
            <a:fld id="{789B9940-C43A-4FAE-9729-EF4782F7B86D}" type="slidenum">
              <a:rPr lang="zh-CN" altLang="en-US" smtClean="0"/>
              <a:t>26</a:t>
            </a:fld>
            <a:endParaRPr lang="zh-CN" altLang="en-US" dirty="0"/>
          </a:p>
        </p:txBody>
      </p:sp>
    </p:spTree>
    <p:extLst>
      <p:ext uri="{BB962C8B-B14F-4D97-AF65-F5344CB8AC3E}">
        <p14:creationId xmlns:p14="http://schemas.microsoft.com/office/powerpoint/2010/main" val="853963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30</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2BAC3D6C-4C04-4098-BFD3-3A35EE232A02}" type="datetime1">
              <a:rPr lang="en-US" smtClean="0"/>
              <a:t>9/21/2025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95965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F4D4FE18-0348-44C2-B6F7-2E0D6E3F701A}" type="datetime1">
              <a:rPr lang="en-US" smtClean="0"/>
              <a:t>9/21/2025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93647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736F0D2F-BB82-470C-9FE9-67ACBD4EA48C}" type="datetime1">
              <a:rPr lang="en-US" smtClean="0"/>
              <a:t>9/21/2025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47061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E43A95C9-8F46-4670-8D9D-84E56B4CFD5A}" type="datetime1">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84928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5975E7C-2B02-474E-8FA0-86410A5FC033}" type="datetime1">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454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79154FF1-2CCB-4C67-BF4F-DF19FC698996}" type="datetime1">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37712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3F9D0A-F538-4910-B89C-0793149889D3}" type="datetime1">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647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5CF7382D-DEC2-4064-84F2-56AF48079030}" type="datetime1">
              <a:rPr lang="en-US" smtClean="0"/>
              <a:t>9/21/2025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9622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D59E25F9-7C58-4ADD-B4E8-3E3F2DD7C261}" type="datetime1">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00594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463367AB-96C5-48C1-ABEF-4922F06666CC}" type="datetime1">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00264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004F2300-F914-44F4-9F48-323AB4F049A8}" type="datetime1">
              <a:rPr lang="en-US" smtClean="0"/>
              <a:t>9/21/2025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605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片母版">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DB2B17-32EF-C27F-91E6-B1D206B9CD59}"/>
              </a:ext>
            </a:extLst>
          </p:cNvPr>
          <p:cNvSpPr>
            <a:spLocks noGrp="1"/>
          </p:cNvSpPr>
          <p:nvPr>
            <p:ph type="title"/>
          </p:nvPr>
        </p:nvSpPr>
        <p:spPr>
          <a:xfrm>
            <a:off x="299952" y="347126"/>
            <a:ext cx="7629697" cy="428900"/>
          </a:xfrm>
          <a:prstGeom prst="rect">
            <a:avLst/>
          </a:prstGeom>
        </p:spPr>
        <p:txBody>
          <a:bodyPr wrap="square" lIns="0" rIns="0">
            <a:spAutoFit/>
          </a:bodyPr>
          <a:lstStyle>
            <a:lvl1pPr>
              <a:defRPr lang="zh-CN" altLang="en-US" sz="2430" kern="1200" dirty="0">
                <a:solidFill>
                  <a:schemeClr val="tx1">
                    <a:lumMod val="85000"/>
                    <a:lumOff val="15000"/>
                  </a:schemeClr>
                </a:solidFill>
                <a:latin typeface="+mj-lt"/>
                <a:ea typeface="+mj-ea"/>
                <a:cs typeface="+mj-cs"/>
              </a:defRPr>
            </a:lvl1pPr>
          </a:lstStyle>
          <a:p>
            <a:pPr marL="0" lvl="0" algn="l" defTabSz="617220" rtl="0" eaLnBrk="1" latinLnBrk="0" hangingPunct="1">
              <a:lnSpc>
                <a:spcPct val="90000"/>
              </a:lnSpc>
              <a:spcBef>
                <a:spcPct val="0"/>
              </a:spcBef>
              <a:buNone/>
            </a:pPr>
            <a:r>
              <a:rPr lang="zh-CN" altLang="en-US" dirty="0"/>
              <a:t>单击此处编辑母版标题样式</a:t>
            </a:r>
          </a:p>
        </p:txBody>
      </p:sp>
      <p:sp>
        <p:nvSpPr>
          <p:cNvPr id="11" name="矩形 10">
            <a:extLst>
              <a:ext uri="{FF2B5EF4-FFF2-40B4-BE49-F238E27FC236}">
                <a16:creationId xmlns:a16="http://schemas.microsoft.com/office/drawing/2014/main" id="{5820E477-3114-ACE8-A747-17F3AE499595}"/>
              </a:ext>
            </a:extLst>
          </p:cNvPr>
          <p:cNvSpPr/>
          <p:nvPr userDrawn="1"/>
        </p:nvSpPr>
        <p:spPr>
          <a:xfrm flipH="1">
            <a:off x="0" y="364331"/>
            <a:ext cx="73938" cy="332354"/>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noAutofit/>
          </a:bodyPr>
          <a:lstStyle/>
          <a:p>
            <a:pPr algn="ctr"/>
            <a:endParaRPr lang="zh-CN" altLang="en-US" sz="1215" dirty="0">
              <a:latin typeface="MiSans Light" panose="00000400000000000000" pitchFamily="2" charset="-122"/>
              <a:ea typeface="MiSans Light" panose="00000400000000000000" pitchFamily="2" charset="-122"/>
            </a:endParaRPr>
          </a:p>
        </p:txBody>
      </p:sp>
      <p:sp>
        <p:nvSpPr>
          <p:cNvPr id="2" name="图片占位符 3">
            <a:extLst>
              <a:ext uri="{FF2B5EF4-FFF2-40B4-BE49-F238E27FC236}">
                <a16:creationId xmlns:a16="http://schemas.microsoft.com/office/drawing/2014/main" id="{ECAF182F-4EB1-3A83-98BF-F49A8EA05325}"/>
              </a:ext>
            </a:extLst>
          </p:cNvPr>
          <p:cNvSpPr>
            <a:spLocks noGrp="1"/>
          </p:cNvSpPr>
          <p:nvPr>
            <p:ph type="pic" sz="quarter" idx="10"/>
          </p:nvPr>
        </p:nvSpPr>
        <p:spPr>
          <a:xfrm>
            <a:off x="307794"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2" name="图片占位符 3">
            <a:extLst>
              <a:ext uri="{FF2B5EF4-FFF2-40B4-BE49-F238E27FC236}">
                <a16:creationId xmlns:a16="http://schemas.microsoft.com/office/drawing/2014/main" id="{33CC1827-6301-4948-1D6B-82C7BDE05E44}"/>
              </a:ext>
            </a:extLst>
          </p:cNvPr>
          <p:cNvSpPr>
            <a:spLocks noGrp="1"/>
          </p:cNvSpPr>
          <p:nvPr>
            <p:ph type="pic" sz="quarter" idx="11"/>
          </p:nvPr>
        </p:nvSpPr>
        <p:spPr>
          <a:xfrm>
            <a:off x="1847661"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dirty="0"/>
          </a:p>
        </p:txBody>
      </p:sp>
      <p:sp>
        <p:nvSpPr>
          <p:cNvPr id="13" name="图片占位符 3">
            <a:extLst>
              <a:ext uri="{FF2B5EF4-FFF2-40B4-BE49-F238E27FC236}">
                <a16:creationId xmlns:a16="http://schemas.microsoft.com/office/drawing/2014/main" id="{CBF21A3D-BE45-9212-7C14-908D5B080B0B}"/>
              </a:ext>
            </a:extLst>
          </p:cNvPr>
          <p:cNvSpPr>
            <a:spLocks noGrp="1"/>
          </p:cNvSpPr>
          <p:nvPr>
            <p:ph type="pic" sz="quarter" idx="12"/>
          </p:nvPr>
        </p:nvSpPr>
        <p:spPr>
          <a:xfrm>
            <a:off x="3383061"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4" name="图片占位符 3">
            <a:extLst>
              <a:ext uri="{FF2B5EF4-FFF2-40B4-BE49-F238E27FC236}">
                <a16:creationId xmlns:a16="http://schemas.microsoft.com/office/drawing/2014/main" id="{493F7770-D370-B44E-AE1C-4E108293A4DC}"/>
              </a:ext>
            </a:extLst>
          </p:cNvPr>
          <p:cNvSpPr>
            <a:spLocks noGrp="1"/>
          </p:cNvSpPr>
          <p:nvPr>
            <p:ph type="pic" sz="quarter" idx="13"/>
          </p:nvPr>
        </p:nvSpPr>
        <p:spPr>
          <a:xfrm>
            <a:off x="307794"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5" name="图片占位符 3">
            <a:extLst>
              <a:ext uri="{FF2B5EF4-FFF2-40B4-BE49-F238E27FC236}">
                <a16:creationId xmlns:a16="http://schemas.microsoft.com/office/drawing/2014/main" id="{37BB7CE1-8E4E-9847-9917-A55FC5D1C4FB}"/>
              </a:ext>
            </a:extLst>
          </p:cNvPr>
          <p:cNvSpPr>
            <a:spLocks noGrp="1"/>
          </p:cNvSpPr>
          <p:nvPr>
            <p:ph type="pic" sz="quarter" idx="14"/>
          </p:nvPr>
        </p:nvSpPr>
        <p:spPr>
          <a:xfrm>
            <a:off x="1847661"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dirty="0"/>
          </a:p>
        </p:txBody>
      </p:sp>
      <p:sp>
        <p:nvSpPr>
          <p:cNvPr id="16" name="图片占位符 3">
            <a:extLst>
              <a:ext uri="{FF2B5EF4-FFF2-40B4-BE49-F238E27FC236}">
                <a16:creationId xmlns:a16="http://schemas.microsoft.com/office/drawing/2014/main" id="{388ACD78-59AF-D66B-18D5-3E6FCE42860D}"/>
              </a:ext>
            </a:extLst>
          </p:cNvPr>
          <p:cNvSpPr>
            <a:spLocks noGrp="1"/>
          </p:cNvSpPr>
          <p:nvPr>
            <p:ph type="pic" sz="quarter" idx="15"/>
          </p:nvPr>
        </p:nvSpPr>
        <p:spPr>
          <a:xfrm>
            <a:off x="3383061"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7" name="图片占位符 3">
            <a:extLst>
              <a:ext uri="{FF2B5EF4-FFF2-40B4-BE49-F238E27FC236}">
                <a16:creationId xmlns:a16="http://schemas.microsoft.com/office/drawing/2014/main" id="{4549B925-069B-59A3-F38C-4DAD4636E535}"/>
              </a:ext>
            </a:extLst>
          </p:cNvPr>
          <p:cNvSpPr>
            <a:spLocks noGrp="1"/>
          </p:cNvSpPr>
          <p:nvPr>
            <p:ph type="pic" sz="quarter" idx="16"/>
          </p:nvPr>
        </p:nvSpPr>
        <p:spPr>
          <a:xfrm>
            <a:off x="4930319" y="1142137"/>
            <a:ext cx="3007171"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Tree>
    <p:extLst>
      <p:ext uri="{BB962C8B-B14F-4D97-AF65-F5344CB8AC3E}">
        <p14:creationId xmlns:p14="http://schemas.microsoft.com/office/powerpoint/2010/main" val="16905748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B6AF446-C7A3-4A2D-B01C-4080BC0DDC51}" type="datetime1">
              <a:rPr lang="en-US" smtClean="0"/>
              <a:t>9/21/2025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34807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E77A5B41-BFC4-4275-B283-99B49DA65AE7}" type="datetime1">
              <a:rPr lang="en-US" smtClean="0"/>
              <a:t>9/21/2025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71631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FC9F5041-7C46-4557-A8EF-D9C07452E04F}" type="datetime1">
              <a:rPr lang="en-US" smtClean="0"/>
              <a:t>9/21/2025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12282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9165F29B-8031-46B1-B8C6-0E15991220BD}" type="datetime1">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25341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A26BC96-89B3-4A8F-8C3A-8FECB7F0AF50}" type="datetime1">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490246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979F6BEE-F3E4-4F76-B56D-1C48BBD7AEA9}" type="datetime1">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876091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F79E3-AE5C-4717-978E-15FC3620ACEF}" type="datetime1">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36385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07B82B69-02FF-4A00-BF94-063310C8EF70}" type="datetime1">
              <a:rPr lang="en-US" smtClean="0"/>
              <a:t>9/21/2025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116279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C7A3C19-50BF-43F6-AD63-C05469BE5035}" type="datetime1">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3137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ED35F4A-7979-4619-A182-7748F9FBAA45}" type="datetime1">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41200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E8A0E10-3CDB-43FE-B1B5-7D3654751138}" type="datetime1">
              <a:rPr lang="en-US" smtClean="0"/>
              <a:t>9/21/2025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02371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9/21/2025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444248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9/21/2025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78588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9/21/2025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003430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84560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07721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407099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93740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9/21/2025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55799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9143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54510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9/21/2025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2492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97774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191675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51633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4759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936392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93326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35232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252384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1841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67305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01804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3991757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7433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82000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708313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97624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03647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87253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07409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73547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3816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850518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548734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7661637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564197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57469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52143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59115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86706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3184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835475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486438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39484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92204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02545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9093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75145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35783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74340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47320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64536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39815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902724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91309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37564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13104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0646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8F82ABC-BB26-4212-BE76-C6A697540B8D}" type="datetime1">
              <a:rPr lang="en-US" smtClean="0"/>
              <a:t>9/21/2025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718662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47" r:id="rId12"/>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61ED8BDC-014F-440E-B651-A3D5A758B980}" type="datetime1">
              <a:rPr lang="en-US" smtClean="0"/>
              <a:t>9/21/2025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394019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9/21/2025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9501048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426413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74963186"/>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3708398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17762796"/>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arcgis.com/apps/Embed/index.html?webmap=33f17e663adf482296e841e7008825e0&amp;extent=-129.2567,23.1229,-63.6903,51.7017&amp;zoom=true&amp;previewImage=false&amp;scale=true&amp;disable_scroll=true&amp;theme=ligh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arcgis.com/apps/Embed/index.html?webmap=7f8d613cd03c47c9868513ce135aa4c8&amp;extent=-84.6033,33.6346,-84.1528,33.8325&amp;zoom=true&amp;previewImage=false&amp;scale=true&amp;disable_scroll=true&amp;theme=ligh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nnotations.allmaps.org/?url=https://www.loc.gov/item/88695674/manifest.json"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hyperlink" Target="https://utdepps.maps.arcgis.com/apps/webappviewer/index.html?id=d07fd90d0ed9422592deed114b4fe3b1"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aibm.org/research/patterns-and-trends-in-county-level-sex-ratio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hyperlink" Target="https://uca-gis.maps.arcgis.com/home/webmap/viewer.html?webmap=36d7e68ce0ab416d951300479fc6fc0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nytimes.com/interactive/2021/upshot/2020-election-map.html"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www.earthdata.nasa.gov/learn/webinars/examining-hurricane-miltons-milestones-nasas-ges-disc-datasets"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hyperlink" Target="https://www.davidrumsey.com/luna/servlet/s/3h57oh" TargetMode="External"/><Relationship Id="rId3" Type="http://schemas.openxmlformats.org/officeDocument/2006/relationships/image" Target="../media/image23.png"/><Relationship Id="rId7" Type="http://schemas.openxmlformats.org/officeDocument/2006/relationships/hyperlink" Target="https://www.davidrumsey.com/" TargetMode="External"/><Relationship Id="rId2" Type="http://schemas.openxmlformats.org/officeDocument/2006/relationships/hyperlink" Target="https://mapgallery.esri.com/" TargetMode="Externa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hyperlink" Target="https://hub.qgis.org/map-gallery/" TargetMode="Externa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hyperlink" Target="https://mapgallery.esri.com/" TargetMode="External"/><Relationship Id="rId2" Type="http://schemas.openxmlformats.org/officeDocument/2006/relationships/image" Target="../media/image26.png"/><Relationship Id="rId1" Type="http://schemas.openxmlformats.org/officeDocument/2006/relationships/slideLayout" Target="../slideLayouts/slideLayout12.xml"/><Relationship Id="rId5" Type="http://schemas.openxmlformats.org/officeDocument/2006/relationships/hyperlink" Target="https://sites.google.com/westada.org/mapping/examples-of-good-bad-maps" TargetMode="Externa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a:bodyPr>
          <a:lstStyle/>
          <a:p>
            <a:r>
              <a:rPr lang="en-US" sz="2700" dirty="0">
                <a:solidFill>
                  <a:srgbClr val="FFFFFF"/>
                </a:solidFill>
              </a:rPr>
              <a:t>WEEK 06</a:t>
            </a:r>
            <a:br>
              <a:rPr lang="en-US" sz="2700" dirty="0">
                <a:solidFill>
                  <a:srgbClr val="FFFFFF"/>
                </a:solidFill>
              </a:rPr>
            </a:br>
            <a:r>
              <a:rPr lang="en-US" altLang="zh-CN" sz="2800" dirty="0"/>
              <a:t>Data Standardization</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6.1 </a:t>
            </a:r>
            <a:br>
              <a:rPr lang="en-US" sz="4050" dirty="0">
                <a:solidFill>
                  <a:srgbClr val="FFFFFF"/>
                </a:solidFill>
              </a:rPr>
            </a:br>
            <a:r>
              <a:rPr lang="en-US" sz="4050" dirty="0">
                <a:solidFill>
                  <a:srgbClr val="FFFFFF"/>
                </a:solidFill>
              </a:rPr>
              <a:t>Attribute table</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631680" y="956454"/>
            <a:ext cx="3042439" cy="3886200"/>
          </a:xfrm>
        </p:spPr>
        <p:txBody>
          <a:bodyPr>
            <a:normAutofit fontScale="62500" lnSpcReduction="20000"/>
          </a:bodyPr>
          <a:lstStyle/>
          <a:p>
            <a:pPr>
              <a:buFont typeface="Courier New" panose="02070309020205020404" pitchFamily="49" charset="0"/>
              <a:buChar char="o"/>
            </a:pPr>
            <a:r>
              <a:rPr lang="en-US" altLang="en-US" sz="2600" dirty="0"/>
              <a:t>Cartography</a:t>
            </a:r>
          </a:p>
          <a:p>
            <a:pPr lvl="1">
              <a:buFont typeface="Wingdings" panose="05000000000000000000" pitchFamily="2" charset="2"/>
              <a:buChar char="ü"/>
            </a:pPr>
            <a:r>
              <a:rPr lang="en-US" altLang="en-US" sz="2240" dirty="0"/>
              <a:t>What is Cartography?</a:t>
            </a:r>
          </a:p>
          <a:p>
            <a:pPr lvl="1">
              <a:buFont typeface="Wingdings" panose="05000000000000000000" pitchFamily="2" charset="2"/>
              <a:buChar char="ü"/>
            </a:pPr>
            <a:r>
              <a:rPr lang="en-US" altLang="en-US" sz="2240" dirty="0"/>
              <a:t>What is map?</a:t>
            </a:r>
          </a:p>
          <a:p>
            <a:pPr>
              <a:buFont typeface="Courier New" panose="02070309020205020404" pitchFamily="49" charset="0"/>
              <a:buChar char="o"/>
            </a:pPr>
            <a:r>
              <a:rPr lang="en-US" altLang="en-US" sz="2600" dirty="0"/>
              <a:t>Data Standardization</a:t>
            </a:r>
          </a:p>
          <a:p>
            <a:pPr lvl="1">
              <a:buFont typeface="Wingdings" panose="05000000000000000000" pitchFamily="2" charset="2"/>
              <a:buChar char="ü"/>
            </a:pPr>
            <a:r>
              <a:rPr lang="en-US" altLang="zh-CN" sz="2240" dirty="0"/>
              <a:t>Density</a:t>
            </a:r>
          </a:p>
          <a:p>
            <a:pPr lvl="1">
              <a:buFont typeface="Wingdings" panose="05000000000000000000" pitchFamily="2" charset="2"/>
              <a:buChar char="ü"/>
            </a:pPr>
            <a:r>
              <a:rPr lang="en-US" altLang="en-US" sz="2240" dirty="0"/>
              <a:t>Proportion</a:t>
            </a:r>
          </a:p>
          <a:p>
            <a:pPr lvl="1">
              <a:buFont typeface="Wingdings" panose="05000000000000000000" pitchFamily="2" charset="2"/>
              <a:buChar char="ü"/>
            </a:pPr>
            <a:r>
              <a:rPr lang="en-US" altLang="en-US" sz="2240" dirty="0"/>
              <a:t>Relationship</a:t>
            </a:r>
          </a:p>
          <a:p>
            <a:pPr lvl="1">
              <a:buFont typeface="Wingdings" panose="05000000000000000000" pitchFamily="2" charset="2"/>
              <a:buChar char="ü"/>
            </a:pPr>
            <a:r>
              <a:rPr lang="en-US" altLang="en-US" sz="2240" dirty="0"/>
              <a:t>Statistic summaries</a:t>
            </a:r>
          </a:p>
          <a:p>
            <a:pPr>
              <a:buFont typeface="Courier New" panose="02070309020205020404" pitchFamily="49" charset="0"/>
              <a:buChar char="o"/>
            </a:pPr>
            <a:r>
              <a:rPr lang="en-US" altLang="en-US" sz="2600" dirty="0"/>
              <a:t>Data Classification</a:t>
            </a:r>
          </a:p>
          <a:p>
            <a:pPr lvl="1">
              <a:buFont typeface="Wingdings" panose="05000000000000000000" pitchFamily="2" charset="2"/>
              <a:buChar char="ü"/>
            </a:pPr>
            <a:r>
              <a:rPr lang="en-US" altLang="en-US" sz="2240" dirty="0"/>
              <a:t>Equal interval</a:t>
            </a:r>
          </a:p>
          <a:p>
            <a:pPr lvl="1">
              <a:buFont typeface="Wingdings" panose="05000000000000000000" pitchFamily="2" charset="2"/>
              <a:buChar char="ü"/>
            </a:pPr>
            <a:r>
              <a:rPr lang="en-US" altLang="en-US" sz="2240" dirty="0"/>
              <a:t>Quantiles</a:t>
            </a:r>
          </a:p>
          <a:p>
            <a:pPr lvl="1">
              <a:buFont typeface="Wingdings" panose="05000000000000000000" pitchFamily="2" charset="2"/>
              <a:buChar char="ü"/>
            </a:pPr>
            <a:r>
              <a:rPr lang="en-US" altLang="en-US" sz="2240" dirty="0"/>
              <a:t>Natural breaks</a:t>
            </a:r>
          </a:p>
          <a:p>
            <a:pPr lvl="1">
              <a:buFont typeface="Wingdings" panose="05000000000000000000" pitchFamily="2" charset="2"/>
              <a:buChar char="ü"/>
            </a:pPr>
            <a:r>
              <a:rPr lang="en-US" altLang="en-US" sz="2240" dirty="0"/>
              <a:t>Standard deviation</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389510"/>
            <a:ext cx="8077200" cy="534661"/>
          </a:xfrm>
          <a:prstGeom prst="rect">
            <a:avLst/>
          </a:prstGeom>
        </p:spPr>
        <p:txBody>
          <a:bodyPr vert="horz" lIns="91440" tIns="45720" rIns="91440" bIns="45720" rtlCol="0" anchor="ctr">
            <a:normAutofit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a:t>
            </a:r>
            <a:r>
              <a:rPr lang="en-US" altLang="zh-CN" sz="3200" dirty="0">
                <a:solidFill>
                  <a:srgbClr val="7030A0"/>
                </a:solidFill>
              </a:rPr>
              <a:t>verview</a:t>
            </a:r>
            <a:endParaRPr lang="en-US" sz="2600" dirty="0">
              <a:solidFill>
                <a:srgbClr val="7030A0"/>
              </a:solidFill>
            </a:endParaRPr>
          </a:p>
        </p:txBody>
      </p:sp>
    </p:spTree>
    <p:extLst>
      <p:ext uri="{BB962C8B-B14F-4D97-AF65-F5344CB8AC3E}">
        <p14:creationId xmlns:p14="http://schemas.microsoft.com/office/powerpoint/2010/main" val="593405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78941" y="1803268"/>
            <a:ext cx="7850659" cy="2094300"/>
          </a:xfrm>
        </p:spPr>
        <p:txBody>
          <a:bodyPr>
            <a:normAutofit/>
          </a:bodyPr>
          <a:lstStyle/>
          <a:p>
            <a:pPr>
              <a:buFont typeface="Courier New" panose="02070309020205020404" pitchFamily="49" charset="0"/>
              <a:buChar char="o"/>
            </a:pPr>
            <a:r>
              <a:rPr lang="en-US" altLang="en-US" sz="2600" dirty="0"/>
              <a:t>Many different definitions, but only one ‘official’ definition for this course</a:t>
            </a:r>
          </a:p>
          <a:p>
            <a:pPr lvl="1">
              <a:buFont typeface="Wingdings" panose="05000000000000000000" pitchFamily="2" charset="2"/>
              <a:buChar char="ü"/>
            </a:pPr>
            <a:r>
              <a:rPr lang="en-US" altLang="en-US" sz="2160" dirty="0"/>
              <a:t>The art, science, and technology of making maps, together with their study as scientific documents and works of art - </a:t>
            </a:r>
            <a:r>
              <a:rPr lang="en-US" altLang="en-US" sz="2160" i="1" dirty="0">
                <a:solidFill>
                  <a:srgbClr val="FF0000"/>
                </a:solidFill>
              </a:rPr>
              <a:t>by International Cartographic Association</a:t>
            </a:r>
          </a:p>
          <a:p>
            <a:pPr>
              <a:buFont typeface="Courier New" panose="02070309020205020404" pitchFamily="49" charset="0"/>
              <a:buChar char="o"/>
            </a:pPr>
            <a:endParaRPr lang="en-US" altLang="en-US" sz="2600" dirty="0"/>
          </a:p>
          <a:p>
            <a:pPr marL="411480" lvl="1" indent="0">
              <a:buNone/>
            </a:pPr>
            <a:endParaRPr lang="en-US" altLang="en-US" sz="2160" dirty="0"/>
          </a:p>
          <a:p>
            <a:pPr marL="411480" lvl="1" indent="0">
              <a:buNone/>
            </a:pPr>
            <a:endParaRPr lang="en-US" altLang="en-US" sz="216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65670" y="195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Cartography?</a:t>
            </a:r>
            <a:endParaRPr lang="en-US" sz="2600" i="1" dirty="0">
              <a:solidFill>
                <a:srgbClr val="7030A0"/>
              </a:solidFill>
            </a:endParaRPr>
          </a:p>
        </p:txBody>
      </p:sp>
    </p:spTree>
    <p:extLst>
      <p:ext uri="{BB962C8B-B14F-4D97-AF65-F5344CB8AC3E}">
        <p14:creationId xmlns:p14="http://schemas.microsoft.com/office/powerpoint/2010/main" val="453254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82048"/>
            <a:ext cx="7850659" cy="3834114"/>
          </a:xfrm>
        </p:spPr>
        <p:txBody>
          <a:bodyPr>
            <a:normAutofit fontScale="92500"/>
          </a:bodyPr>
          <a:lstStyle/>
          <a:p>
            <a:pPr>
              <a:buFont typeface="Courier New" panose="02070309020205020404" pitchFamily="49" charset="0"/>
              <a:buChar char="o"/>
            </a:pPr>
            <a:r>
              <a:rPr lang="en-US" altLang="en-US" sz="2600" dirty="0"/>
              <a:t>These terms are all used to describe the process of making maps. However, they are not synonymous with Cartography.</a:t>
            </a:r>
          </a:p>
          <a:p>
            <a:pPr lvl="1">
              <a:buFont typeface="Wingdings" panose="05000000000000000000" pitchFamily="2" charset="2"/>
              <a:buChar char="ü"/>
            </a:pPr>
            <a:r>
              <a:rPr lang="en-US" altLang="en-US" sz="2160" dirty="0"/>
              <a:t>GIS</a:t>
            </a:r>
          </a:p>
          <a:p>
            <a:pPr lvl="2">
              <a:buFont typeface="Arial" panose="020B0604020202020204" pitchFamily="34" charset="0"/>
              <a:buChar char="•"/>
            </a:pPr>
            <a:r>
              <a:rPr lang="en-US" altLang="en-US" sz="1800" dirty="0"/>
              <a:t>A computer-based system for collecting, managing, analyzing, modeling, and presenting geographic data for a wide range of application</a:t>
            </a:r>
          </a:p>
          <a:p>
            <a:pPr lvl="1">
              <a:buFont typeface="Wingdings" panose="05000000000000000000" pitchFamily="2" charset="2"/>
              <a:buChar char="ü"/>
            </a:pPr>
            <a:r>
              <a:rPr lang="en-US" altLang="en-US" sz="2160" dirty="0"/>
              <a:t>Visualization has no agreed-upon definition.</a:t>
            </a:r>
          </a:p>
          <a:p>
            <a:pPr lvl="2">
              <a:buFont typeface="Arial" panose="020B0604020202020204" pitchFamily="34" charset="0"/>
              <a:buChar char="•"/>
            </a:pPr>
            <a:r>
              <a:rPr lang="en-US" altLang="en-US" sz="1800" dirty="0"/>
              <a:t>The representation of data in a viewable medium or format – </a:t>
            </a:r>
            <a:r>
              <a:rPr lang="en-US" altLang="en-US" sz="1800" i="1" dirty="0"/>
              <a:t>by ESRI</a:t>
            </a:r>
          </a:p>
          <a:p>
            <a:pPr lvl="2">
              <a:buFont typeface="Arial" panose="020B0604020202020204" pitchFamily="34" charset="0"/>
              <a:buChar char="•"/>
            </a:pPr>
            <a:r>
              <a:rPr lang="en-US" altLang="en-US" sz="1800" dirty="0"/>
              <a:t>Include a reference to computer technologies and interactive maps</a:t>
            </a:r>
          </a:p>
          <a:p>
            <a:pPr lvl="1">
              <a:buFont typeface="Wingdings" panose="05000000000000000000" pitchFamily="2" charset="2"/>
              <a:buChar char="ü"/>
            </a:pPr>
            <a:r>
              <a:rPr lang="en-US" altLang="en-US" sz="2160" dirty="0"/>
              <a:t>Mapmaking</a:t>
            </a:r>
          </a:p>
          <a:p>
            <a:pPr lvl="2">
              <a:buFont typeface="Arial" panose="020B0604020202020204" pitchFamily="34" charset="0"/>
              <a:buChar char="•"/>
            </a:pPr>
            <a:r>
              <a:rPr lang="en-US" altLang="en-US" sz="1800" dirty="0"/>
              <a:t>Creating maps by any method</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5</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89469" y="1452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GIS, Visualization, and Mapmaking</a:t>
            </a:r>
            <a:endParaRPr lang="en-US" sz="2600" dirty="0">
              <a:solidFill>
                <a:srgbClr val="7030A0"/>
              </a:solidFill>
            </a:endParaRPr>
          </a:p>
        </p:txBody>
      </p:sp>
    </p:spTree>
    <p:extLst>
      <p:ext uri="{BB962C8B-B14F-4D97-AF65-F5344CB8AC3E}">
        <p14:creationId xmlns:p14="http://schemas.microsoft.com/office/powerpoint/2010/main" val="2233899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29962"/>
            <a:ext cx="7850659" cy="3122937"/>
          </a:xfrm>
        </p:spPr>
        <p:txBody>
          <a:bodyPr>
            <a:normAutofit fontScale="92500" lnSpcReduction="10000"/>
          </a:bodyPr>
          <a:lstStyle/>
          <a:p>
            <a:pPr>
              <a:buFont typeface="Courier New" panose="02070309020205020404" pitchFamily="49" charset="0"/>
              <a:buChar char="o"/>
            </a:pPr>
            <a:r>
              <a:rPr lang="en-US" altLang="en-US" sz="2600" dirty="0"/>
              <a:t>Many different definitions, but only one ‘official’ definition for this course</a:t>
            </a:r>
          </a:p>
          <a:p>
            <a:pPr lvl="1">
              <a:buFont typeface="Wingdings" panose="05000000000000000000" pitchFamily="2" charset="2"/>
              <a:buChar char="ü"/>
            </a:pPr>
            <a:r>
              <a:rPr lang="en-US" altLang="en-US" sz="2160" dirty="0"/>
              <a:t>A map is a </a:t>
            </a:r>
            <a:r>
              <a:rPr lang="en-US" altLang="en-US" sz="2160" dirty="0">
                <a:solidFill>
                  <a:srgbClr val="FF0000"/>
                </a:solidFill>
              </a:rPr>
              <a:t>reduced, selective, and symbolized </a:t>
            </a:r>
            <a:r>
              <a:rPr lang="en-US" altLang="en-US" sz="2160" dirty="0"/>
              <a:t>graphical representation of the environment </a:t>
            </a:r>
          </a:p>
          <a:p>
            <a:pPr lvl="2">
              <a:buFont typeface="Arial" panose="020B0604020202020204" pitchFamily="34" charset="0"/>
              <a:buChar char="•"/>
            </a:pPr>
            <a:r>
              <a:rPr lang="en-US" altLang="en-US" sz="1800" dirty="0"/>
              <a:t>Reduced: we reduce the size of the spatial phenomenon being represented onto a more reasonably sized piece of paper.</a:t>
            </a:r>
          </a:p>
          <a:p>
            <a:pPr lvl="2">
              <a:buFont typeface="Arial" panose="020B0604020202020204" pitchFamily="34" charset="0"/>
              <a:buChar char="•"/>
            </a:pPr>
            <a:r>
              <a:rPr lang="en-US" altLang="en-US" sz="2160" dirty="0"/>
              <a:t>Selective: </a:t>
            </a:r>
            <a:r>
              <a:rPr lang="en-US" altLang="zh-CN" sz="1800" dirty="0"/>
              <a:t>The maps should only include items that are directly related to the message of the map. </a:t>
            </a:r>
          </a:p>
          <a:p>
            <a:pPr lvl="2">
              <a:buFont typeface="Arial" panose="020B0604020202020204" pitchFamily="34" charset="0"/>
              <a:buChar char="•"/>
            </a:pPr>
            <a:r>
              <a:rPr lang="en-US" altLang="en-US" sz="1800" dirty="0"/>
              <a:t>Symbolized: The </a:t>
            </a:r>
            <a:r>
              <a:rPr lang="en-US" altLang="zh-CN" sz="1800" dirty="0"/>
              <a:t>item being mapped by using a representative symbol. </a:t>
            </a:r>
            <a:endParaRPr lang="en-US" altLang="en-US" sz="180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6</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0" y="1738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What’s a Map?</a:t>
            </a:r>
            <a:endParaRPr lang="en-US" sz="2600" dirty="0">
              <a:solidFill>
                <a:srgbClr val="7030A0"/>
              </a:solidFill>
            </a:endParaRPr>
          </a:p>
        </p:txBody>
      </p:sp>
    </p:spTree>
    <p:extLst>
      <p:ext uri="{BB962C8B-B14F-4D97-AF65-F5344CB8AC3E}">
        <p14:creationId xmlns:p14="http://schemas.microsoft.com/office/powerpoint/2010/main" val="198131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922910"/>
            <a:ext cx="7850659" cy="857250"/>
          </a:xfrm>
        </p:spPr>
        <p:txBody>
          <a:bodyPr>
            <a:normAutofit/>
          </a:bodyPr>
          <a:lstStyle/>
          <a:p>
            <a:pPr>
              <a:buFont typeface="Courier New" panose="02070309020205020404" pitchFamily="49" charset="0"/>
              <a:buChar char="o"/>
            </a:pPr>
            <a:r>
              <a:rPr lang="en-US" altLang="en-US" sz="2000" dirty="0"/>
              <a:t>General-reference maps – United States</a:t>
            </a:r>
          </a:p>
          <a:p>
            <a:pPr lvl="1">
              <a:buFont typeface="Wingdings" panose="05000000000000000000" pitchFamily="2" charset="2"/>
              <a:buChar char="ü"/>
            </a:pPr>
            <a:r>
              <a:rPr lang="en-US" altLang="en-US" sz="2000" dirty="0"/>
              <a:t>It is reduced, selective, symbolized</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7</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pic>
        <p:nvPicPr>
          <p:cNvPr id="8" name="Picture 7">
            <a:hlinkClick r:id="rId3"/>
            <a:extLst>
              <a:ext uri="{FF2B5EF4-FFF2-40B4-BE49-F238E27FC236}">
                <a16:creationId xmlns:a16="http://schemas.microsoft.com/office/drawing/2014/main" id="{4AD29516-F2D6-1C25-DF8F-8A1E0FC29F78}"/>
              </a:ext>
            </a:extLst>
          </p:cNvPr>
          <p:cNvPicPr>
            <a:picLocks noChangeAspect="1"/>
          </p:cNvPicPr>
          <p:nvPr/>
        </p:nvPicPr>
        <p:blipFill>
          <a:blip r:embed="rId4"/>
          <a:stretch>
            <a:fillRect/>
          </a:stretch>
        </p:blipFill>
        <p:spPr>
          <a:xfrm>
            <a:off x="1310640" y="1780160"/>
            <a:ext cx="5356860" cy="2702238"/>
          </a:xfrm>
          <a:prstGeom prst="rect">
            <a:avLst/>
          </a:prstGeom>
        </p:spPr>
      </p:pic>
      <p:sp>
        <p:nvSpPr>
          <p:cNvPr id="9" name="TextBox 8">
            <a:extLst>
              <a:ext uri="{FF2B5EF4-FFF2-40B4-BE49-F238E27FC236}">
                <a16:creationId xmlns:a16="http://schemas.microsoft.com/office/drawing/2014/main" id="{279DCF52-2BCB-C269-DCBC-617C9F7101DD}"/>
              </a:ext>
            </a:extLst>
          </p:cNvPr>
          <p:cNvSpPr txBox="1"/>
          <p:nvPr/>
        </p:nvSpPr>
        <p:spPr>
          <a:xfrm>
            <a:off x="2512540" y="4546830"/>
            <a:ext cx="3080540" cy="307777"/>
          </a:xfrm>
          <a:prstGeom prst="rect">
            <a:avLst/>
          </a:prstGeom>
          <a:noFill/>
        </p:spPr>
        <p:txBody>
          <a:bodyPr wrap="square" rtlCol="0">
            <a:spAutoFit/>
          </a:bodyPr>
          <a:lstStyle/>
          <a:p>
            <a:r>
              <a:rPr lang="en-US" altLang="zh-CN" sz="1400" dirty="0"/>
              <a:t>General Reference Map United States</a:t>
            </a:r>
            <a:endParaRPr lang="zh-CN" altLang="en-US" sz="1400" dirty="0"/>
          </a:p>
        </p:txBody>
      </p:sp>
    </p:spTree>
    <p:extLst>
      <p:ext uri="{BB962C8B-B14F-4D97-AF65-F5344CB8AC3E}">
        <p14:creationId xmlns:p14="http://schemas.microsoft.com/office/powerpoint/2010/main" val="119456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A9B2EB-D098-68B8-CA3A-E8D2AE1AB2C5}"/>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6" name="Picture 5">
            <a:hlinkClick r:id="rId2"/>
            <a:extLst>
              <a:ext uri="{FF2B5EF4-FFF2-40B4-BE49-F238E27FC236}">
                <a16:creationId xmlns:a16="http://schemas.microsoft.com/office/drawing/2014/main" id="{7E812BCB-9F65-4189-A1DB-5E63BE494E6D}"/>
              </a:ext>
            </a:extLst>
          </p:cNvPr>
          <p:cNvPicPr>
            <a:picLocks noChangeAspect="1"/>
          </p:cNvPicPr>
          <p:nvPr/>
        </p:nvPicPr>
        <p:blipFill>
          <a:blip r:embed="rId3"/>
          <a:stretch>
            <a:fillRect/>
          </a:stretch>
        </p:blipFill>
        <p:spPr>
          <a:xfrm>
            <a:off x="1533525" y="1505074"/>
            <a:ext cx="5375910" cy="3312862"/>
          </a:xfrm>
          <a:prstGeom prst="rect">
            <a:avLst/>
          </a:prstGeom>
        </p:spPr>
      </p:pic>
      <p:sp>
        <p:nvSpPr>
          <p:cNvPr id="7" name="Title 1">
            <a:extLst>
              <a:ext uri="{FF2B5EF4-FFF2-40B4-BE49-F238E27FC236}">
                <a16:creationId xmlns:a16="http://schemas.microsoft.com/office/drawing/2014/main" id="{8A45BAB3-49EF-6C97-4C66-3A60BE405BEA}"/>
              </a:ext>
            </a:extLst>
          </p:cNvPr>
          <p:cNvSpPr txBox="1">
            <a:spLocks/>
          </p:cNvSpPr>
          <p:nvPr/>
        </p:nvSpPr>
        <p:spPr>
          <a:xfrm>
            <a:off x="302741" y="403538"/>
            <a:ext cx="8077200" cy="474988"/>
          </a:xfrm>
          <a:prstGeom prst="rect">
            <a:avLst/>
          </a:prstGeom>
        </p:spPr>
        <p:txBody>
          <a:bodyPr vert="horz" lIns="91440" tIns="45720" rIns="91440" bIns="4572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sp>
        <p:nvSpPr>
          <p:cNvPr id="9" name="Rectangle 1027">
            <a:extLst>
              <a:ext uri="{FF2B5EF4-FFF2-40B4-BE49-F238E27FC236}">
                <a16:creationId xmlns:a16="http://schemas.microsoft.com/office/drawing/2014/main" id="{DC43F188-9F30-0D3C-EEB3-1177FB493624}"/>
              </a:ext>
            </a:extLst>
          </p:cNvPr>
          <p:cNvSpPr>
            <a:spLocks noGrp="1" noChangeArrowheads="1"/>
          </p:cNvSpPr>
          <p:nvPr>
            <p:ph idx="1"/>
          </p:nvPr>
        </p:nvSpPr>
        <p:spPr>
          <a:xfrm>
            <a:off x="378941" y="763176"/>
            <a:ext cx="7850659" cy="741898"/>
          </a:xfrm>
        </p:spPr>
        <p:txBody>
          <a:bodyPr>
            <a:normAutofit/>
          </a:bodyPr>
          <a:lstStyle/>
          <a:p>
            <a:pPr>
              <a:buFont typeface="Courier New" panose="02070309020205020404" pitchFamily="49" charset="0"/>
              <a:buChar char="o"/>
            </a:pPr>
            <a:r>
              <a:rPr lang="en-US" altLang="en-US" sz="1600" dirty="0"/>
              <a:t>General-reference maps – Atlanta Area</a:t>
            </a:r>
          </a:p>
          <a:p>
            <a:pPr lvl="1">
              <a:buFont typeface="Wingdings" panose="05000000000000000000" pitchFamily="2" charset="2"/>
              <a:buChar char="ü"/>
            </a:pPr>
            <a:r>
              <a:rPr lang="en-US" altLang="en-US" sz="1600" dirty="0"/>
              <a:t>It is reduced, selective, symbolized</a:t>
            </a:r>
          </a:p>
        </p:txBody>
      </p:sp>
    </p:spTree>
    <p:extLst>
      <p:ext uri="{BB962C8B-B14F-4D97-AF65-F5344CB8AC3E}">
        <p14:creationId xmlns:p14="http://schemas.microsoft.com/office/powerpoint/2010/main" val="1115714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922910"/>
            <a:ext cx="7850659" cy="1254324"/>
          </a:xfrm>
        </p:spPr>
        <p:txBody>
          <a:bodyPr>
            <a:normAutofit fontScale="92500" lnSpcReduction="10000"/>
          </a:bodyPr>
          <a:lstStyle/>
          <a:p>
            <a:pPr>
              <a:buFont typeface="Courier New" panose="02070309020205020404" pitchFamily="49" charset="0"/>
              <a:buChar char="o"/>
            </a:pPr>
            <a:r>
              <a:rPr lang="en-US" altLang="en-US" sz="2600" dirty="0"/>
              <a:t>Special-purpose maps</a:t>
            </a:r>
          </a:p>
          <a:p>
            <a:pPr lvl="1">
              <a:buFont typeface="Wingdings" panose="05000000000000000000" pitchFamily="2" charset="2"/>
              <a:buChar char="ü"/>
            </a:pPr>
            <a:r>
              <a:rPr lang="en-US" altLang="en-US" sz="2160" dirty="0"/>
              <a:t>Large scale (showing a small area and much detail)</a:t>
            </a:r>
            <a:endParaRPr lang="en-US" altLang="en-US" sz="1800" dirty="0"/>
          </a:p>
          <a:p>
            <a:pPr lvl="1">
              <a:buFont typeface="Wingdings" panose="05000000000000000000" pitchFamily="2" charset="2"/>
              <a:buChar char="ü"/>
            </a:pPr>
            <a:r>
              <a:rPr lang="en-US" altLang="en-US" sz="2160" dirty="0"/>
              <a:t>Canal maps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9</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8073" y="19602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pic>
        <p:nvPicPr>
          <p:cNvPr id="6" name="Picture 5">
            <a:hlinkClick r:id="rId3"/>
            <a:extLst>
              <a:ext uri="{FF2B5EF4-FFF2-40B4-BE49-F238E27FC236}">
                <a16:creationId xmlns:a16="http://schemas.microsoft.com/office/drawing/2014/main" id="{4BFC7706-42EC-918A-8206-4529ADB1DEC3}"/>
              </a:ext>
            </a:extLst>
          </p:cNvPr>
          <p:cNvPicPr>
            <a:picLocks noChangeAspect="1"/>
          </p:cNvPicPr>
          <p:nvPr/>
        </p:nvPicPr>
        <p:blipFill>
          <a:blip r:embed="rId4"/>
          <a:stretch>
            <a:fillRect/>
          </a:stretch>
        </p:blipFill>
        <p:spPr>
          <a:xfrm>
            <a:off x="2011532" y="2134653"/>
            <a:ext cx="3883844" cy="2725864"/>
          </a:xfrm>
          <a:prstGeom prst="rect">
            <a:avLst/>
          </a:prstGeom>
        </p:spPr>
      </p:pic>
    </p:spTree>
    <p:extLst>
      <p:ext uri="{BB962C8B-B14F-4D97-AF65-F5344CB8AC3E}">
        <p14:creationId xmlns:p14="http://schemas.microsoft.com/office/powerpoint/2010/main" val="545513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29962"/>
            <a:ext cx="7850659" cy="2879098"/>
          </a:xfrm>
        </p:spPr>
        <p:txBody>
          <a:bodyPr>
            <a:normAutofit/>
          </a:bodyPr>
          <a:lstStyle/>
          <a:p>
            <a:pPr>
              <a:buFont typeface="Courier New" panose="02070309020205020404" pitchFamily="49" charset="0"/>
              <a:buChar char="o"/>
            </a:pPr>
            <a:r>
              <a:rPr lang="en-US" altLang="en-US" sz="2600" dirty="0"/>
              <a:t>Thematic maps</a:t>
            </a:r>
          </a:p>
          <a:p>
            <a:pPr lvl="1">
              <a:buFont typeface="Wingdings" panose="05000000000000000000" pitchFamily="2" charset="2"/>
              <a:buChar char="ü"/>
            </a:pPr>
            <a:r>
              <a:rPr lang="en-US" altLang="en-US" sz="2160" dirty="0"/>
              <a:t>Represent a single topic or theme (a single attribute or variable)</a:t>
            </a:r>
            <a:endParaRPr lang="en-US" altLang="en-US" sz="1800" dirty="0"/>
          </a:p>
          <a:p>
            <a:pPr lvl="1">
              <a:buFont typeface="Wingdings" panose="05000000000000000000" pitchFamily="2" charset="2"/>
              <a:buChar char="ü"/>
            </a:pPr>
            <a:r>
              <a:rPr lang="en-US" altLang="en-US" sz="2160" dirty="0"/>
              <a:t>Include only features that are directly related to the theme, or useful as reference</a:t>
            </a:r>
          </a:p>
          <a:p>
            <a:pPr lvl="1">
              <a:buFont typeface="Wingdings" panose="05000000000000000000" pitchFamily="2" charset="2"/>
              <a:buChar char="ü"/>
            </a:pPr>
            <a:r>
              <a:rPr lang="en-US" altLang="en-US" sz="2160" dirty="0"/>
              <a:t>Represent fewer features, in more depth</a:t>
            </a:r>
          </a:p>
          <a:p>
            <a:pPr marL="411480" lvl="1" indent="0">
              <a:buNone/>
            </a:pPr>
            <a:endParaRPr lang="en-US" altLang="en-US" sz="216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10</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89469" y="13543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spTree>
    <p:extLst>
      <p:ext uri="{BB962C8B-B14F-4D97-AF65-F5344CB8AC3E}">
        <p14:creationId xmlns:p14="http://schemas.microsoft.com/office/powerpoint/2010/main" val="211020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B488658-66B1-159C-1A07-2038B322DDB3}"/>
              </a:ext>
            </a:extLst>
          </p:cNvPr>
          <p:cNvPicPr>
            <a:picLocks noGrp="1" noChangeAspect="1"/>
          </p:cNvPicPr>
          <p:nvPr>
            <p:ph idx="1"/>
          </p:nvPr>
        </p:nvPicPr>
        <p:blipFill>
          <a:blip r:embed="rId2"/>
          <a:stretch>
            <a:fillRect/>
          </a:stretch>
        </p:blipFill>
        <p:spPr>
          <a:xfrm>
            <a:off x="1693378" y="1032928"/>
            <a:ext cx="4949523" cy="3077643"/>
          </a:xfrm>
          <a:prstGeom prst="rect">
            <a:avLst/>
          </a:prstGeom>
        </p:spPr>
      </p:pic>
      <p:sp>
        <p:nvSpPr>
          <p:cNvPr id="4" name="Slide Number Placeholder 3">
            <a:extLst>
              <a:ext uri="{FF2B5EF4-FFF2-40B4-BE49-F238E27FC236}">
                <a16:creationId xmlns:a16="http://schemas.microsoft.com/office/drawing/2014/main" id="{C5142737-C0B2-C825-7034-1A509ABD08F6}"/>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7" name="TextBox 6">
            <a:extLst>
              <a:ext uri="{FF2B5EF4-FFF2-40B4-BE49-F238E27FC236}">
                <a16:creationId xmlns:a16="http://schemas.microsoft.com/office/drawing/2014/main" id="{79871BB7-3778-A00E-BE86-8D3D471D064A}"/>
              </a:ext>
            </a:extLst>
          </p:cNvPr>
          <p:cNvSpPr txBox="1"/>
          <p:nvPr/>
        </p:nvSpPr>
        <p:spPr>
          <a:xfrm>
            <a:off x="300865" y="4493193"/>
            <a:ext cx="6983855" cy="461665"/>
          </a:xfrm>
          <a:prstGeom prst="rect">
            <a:avLst/>
          </a:prstGeom>
          <a:noFill/>
        </p:spPr>
        <p:txBody>
          <a:bodyPr wrap="square" rtlCol="0">
            <a:spAutoFit/>
          </a:bodyPr>
          <a:lstStyle/>
          <a:p>
            <a:r>
              <a:rPr lang="en-US" altLang="zh-CN" sz="1200" i="1" dirty="0"/>
              <a:t>Credit: Cary Anderson© Penn State is licensed under </a:t>
            </a:r>
            <a:r>
              <a:rPr lang="en-US" altLang="zh-CN" sz="1200" i="1" u="sng" dirty="0">
                <a:hlinkClick r:id="rId3"/>
              </a:rPr>
              <a:t>CC BY-NC-SA 4.0</a:t>
            </a:r>
            <a:r>
              <a:rPr lang="en-US" altLang="zh-CN" sz="1200" i="1" dirty="0">
                <a:hlinkClick r:id="rId3"/>
              </a:rPr>
              <a:t>(link is external)</a:t>
            </a:r>
            <a:r>
              <a:rPr lang="en-US" altLang="zh-CN" sz="1200" i="1" dirty="0"/>
              <a:t>.</a:t>
            </a:r>
            <a:br>
              <a:rPr lang="en-US" altLang="zh-CN" sz="1200" dirty="0"/>
            </a:br>
            <a:r>
              <a:rPr lang="en-US" altLang="zh-CN" sz="1200" i="1" dirty="0"/>
              <a:t>Data Sources: Esri, US Census Bureau</a:t>
            </a:r>
            <a:endParaRPr lang="zh-CN" altLang="en-US" sz="1200" dirty="0"/>
          </a:p>
        </p:txBody>
      </p:sp>
      <p:sp>
        <p:nvSpPr>
          <p:cNvPr id="8" name="TextBox 7">
            <a:extLst>
              <a:ext uri="{FF2B5EF4-FFF2-40B4-BE49-F238E27FC236}">
                <a16:creationId xmlns:a16="http://schemas.microsoft.com/office/drawing/2014/main" id="{8DBD15BF-F2B2-08E8-8B58-BBE47449CE5F}"/>
              </a:ext>
            </a:extLst>
          </p:cNvPr>
          <p:cNvSpPr txBox="1"/>
          <p:nvPr/>
        </p:nvSpPr>
        <p:spPr>
          <a:xfrm>
            <a:off x="205740" y="493514"/>
            <a:ext cx="5814060" cy="369332"/>
          </a:xfrm>
          <a:prstGeom prst="rect">
            <a:avLst/>
          </a:prstGeom>
          <a:noFill/>
        </p:spPr>
        <p:txBody>
          <a:bodyPr wrap="square" rtlCol="0">
            <a:spAutoFit/>
          </a:bodyPr>
          <a:lstStyle/>
          <a:p>
            <a:r>
              <a:rPr lang="en-US" altLang="zh-CN" b="1" dirty="0"/>
              <a:t> A county-level map of unemployment.</a:t>
            </a:r>
            <a:endParaRPr lang="zh-CN" altLang="en-US" dirty="0"/>
          </a:p>
        </p:txBody>
      </p:sp>
    </p:spTree>
    <p:extLst>
      <p:ext uri="{BB962C8B-B14F-4D97-AF65-F5344CB8AC3E}">
        <p14:creationId xmlns:p14="http://schemas.microsoft.com/office/powerpoint/2010/main" val="2915969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4B2E103-2089-4F97-8645-36469765E76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54CCE4D-9869-4FDA-B92C-0A417C769927}"/>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Standardization</a:t>
            </a:r>
            <a:endParaRPr lang="en-US" sz="2600" dirty="0">
              <a:solidFill>
                <a:srgbClr val="7030A0"/>
              </a:solidFill>
            </a:endParaRPr>
          </a:p>
        </p:txBody>
      </p:sp>
      <p:sp>
        <p:nvSpPr>
          <p:cNvPr id="9" name="Rectangle 1027">
            <a:extLst>
              <a:ext uri="{FF2B5EF4-FFF2-40B4-BE49-F238E27FC236}">
                <a16:creationId xmlns:a16="http://schemas.microsoft.com/office/drawing/2014/main" id="{C04F2C10-AC95-49D7-8B03-BB344818A22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Normalization </a:t>
            </a:r>
          </a:p>
          <a:p>
            <a:pPr>
              <a:buFont typeface="Courier New" panose="02070309020205020404" pitchFamily="49" charset="0"/>
              <a:buChar char="o"/>
            </a:pPr>
            <a:r>
              <a:rPr lang="en-US" altLang="en-US" sz="2600" dirty="0"/>
              <a:t>Transformation of raw data values to different, more meaningful values</a:t>
            </a:r>
          </a:p>
          <a:p>
            <a:pPr lvl="1">
              <a:buFont typeface="Wingdings" panose="05000000000000000000" pitchFamily="2" charset="2"/>
              <a:buChar char="ü"/>
            </a:pPr>
            <a:r>
              <a:rPr lang="en-US" altLang="en-US" sz="2440" dirty="0"/>
              <a:t>To map </a:t>
            </a:r>
            <a:r>
              <a:rPr lang="en-US" altLang="en-US" sz="2440" u="sng" dirty="0"/>
              <a:t>densities</a:t>
            </a:r>
            <a:r>
              <a:rPr lang="en-US" altLang="en-US" sz="2440" dirty="0"/>
              <a:t> instead of ‘raw’ values</a:t>
            </a:r>
          </a:p>
          <a:p>
            <a:pPr lvl="1">
              <a:buFont typeface="Wingdings" panose="05000000000000000000" pitchFamily="2" charset="2"/>
              <a:buChar char="ü"/>
            </a:pPr>
            <a:r>
              <a:rPr lang="en-US" altLang="en-US" sz="2440" dirty="0"/>
              <a:t>To map </a:t>
            </a:r>
            <a:r>
              <a:rPr lang="en-US" altLang="en-US" sz="2440" u="sng" dirty="0"/>
              <a:t>proportions</a:t>
            </a:r>
            <a:r>
              <a:rPr lang="en-US" altLang="en-US" sz="2440" dirty="0"/>
              <a:t> between variables</a:t>
            </a:r>
          </a:p>
          <a:p>
            <a:pPr lvl="1">
              <a:buFont typeface="Wingdings" panose="05000000000000000000" pitchFamily="2" charset="2"/>
              <a:buChar char="ü"/>
            </a:pPr>
            <a:r>
              <a:rPr lang="en-US" altLang="en-US" sz="2440" dirty="0"/>
              <a:t>To map other </a:t>
            </a:r>
            <a:r>
              <a:rPr lang="en-US" altLang="en-US" sz="2440" u="sng" dirty="0"/>
              <a:t>relationships</a:t>
            </a:r>
            <a:r>
              <a:rPr lang="en-US" altLang="en-US" sz="2440" dirty="0"/>
              <a:t> between variables</a:t>
            </a:r>
          </a:p>
          <a:p>
            <a:pPr lvl="1">
              <a:buFont typeface="Wingdings" panose="05000000000000000000" pitchFamily="2" charset="2"/>
              <a:buChar char="ü"/>
            </a:pPr>
            <a:r>
              <a:rPr lang="en-US" altLang="en-US" sz="2440" dirty="0"/>
              <a:t>To map </a:t>
            </a:r>
            <a:r>
              <a:rPr lang="en-US" altLang="en-US" sz="2440" u="sng" dirty="0"/>
              <a:t>statistic summaries</a:t>
            </a:r>
          </a:p>
          <a:p>
            <a:pPr marL="0" indent="0">
              <a:buNone/>
            </a:pPr>
            <a:endParaRPr lang="en-US" altLang="en-US" sz="2600" dirty="0"/>
          </a:p>
        </p:txBody>
      </p:sp>
      <p:sp>
        <p:nvSpPr>
          <p:cNvPr id="3" name="Slide Number Placeholder 2">
            <a:extLst>
              <a:ext uri="{FF2B5EF4-FFF2-40B4-BE49-F238E27FC236}">
                <a16:creationId xmlns:a16="http://schemas.microsoft.com/office/drawing/2014/main" id="{38C1460A-BB2D-433B-8C17-105B8485F5F1}"/>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9D23F4-9B68-4368-9A28-B7E2B09966D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D3A0E776-BFFF-4FE5-ADEA-30D2A4F7D530}"/>
              </a:ext>
            </a:extLst>
          </p:cNvPr>
          <p:cNvSpPr txBox="1">
            <a:spLocks/>
          </p:cNvSpPr>
          <p:nvPr/>
        </p:nvSpPr>
        <p:spPr>
          <a:xfrm>
            <a:off x="30274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3" name="Rectangle 1027">
            <a:extLst>
              <a:ext uri="{FF2B5EF4-FFF2-40B4-BE49-F238E27FC236}">
                <a16:creationId xmlns:a16="http://schemas.microsoft.com/office/drawing/2014/main" id="{92294B73-0665-4546-B028-CB92EE135C3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How much of a particular thing exists within a given area </a:t>
            </a:r>
          </a:p>
          <a:p>
            <a:pPr>
              <a:buFont typeface="Courier New" panose="02070309020205020404" pitchFamily="49" charset="0"/>
              <a:buChar char="o"/>
            </a:pPr>
            <a:r>
              <a:rPr lang="en-US" altLang="en-US" sz="2600" dirty="0"/>
              <a:t>Mapping density is not necessary if the goal is to show where ‘more’ is</a:t>
            </a:r>
          </a:p>
          <a:p>
            <a:pPr lvl="1">
              <a:buFont typeface="Wingdings" panose="05000000000000000000" pitchFamily="2" charset="2"/>
              <a:buChar char="ü"/>
            </a:pPr>
            <a:r>
              <a:rPr lang="en-US" altLang="en-US" sz="2440" dirty="0"/>
              <a:t>Larger </a:t>
            </a:r>
            <a:r>
              <a:rPr lang="en-US" altLang="en-US" sz="2440" u="sng" dirty="0"/>
              <a:t>enumeration units </a:t>
            </a:r>
            <a:r>
              <a:rPr lang="en-US" altLang="en-US" sz="2440" dirty="0"/>
              <a:t>often have ‘more’ of  a particular thing</a:t>
            </a:r>
          </a:p>
          <a:p>
            <a:pPr lvl="1">
              <a:buFont typeface="Wingdings" panose="05000000000000000000" pitchFamily="2" charset="2"/>
              <a:buChar char="ü"/>
            </a:pPr>
            <a:r>
              <a:rPr lang="en-US" altLang="en-US" sz="2440" dirty="0"/>
              <a:t>Accounting for the varying sizes of enumeration units can be more revealing</a:t>
            </a:r>
          </a:p>
          <a:p>
            <a:pPr marL="0" indent="0">
              <a:buNone/>
            </a:pPr>
            <a:endParaRPr lang="en-US" altLang="en-US" sz="2600" dirty="0"/>
          </a:p>
        </p:txBody>
      </p:sp>
      <p:sp>
        <p:nvSpPr>
          <p:cNvPr id="2" name="Slide Number Placeholder 1">
            <a:extLst>
              <a:ext uri="{FF2B5EF4-FFF2-40B4-BE49-F238E27FC236}">
                <a16:creationId xmlns:a16="http://schemas.microsoft.com/office/drawing/2014/main" id="{58CBB8DE-8DB3-41D1-BEB7-185147DD0478}"/>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of Population"/>
          <p:cNvPicPr>
            <a:picLocks noChangeAspect="1" noChangeArrowheads="1"/>
          </p:cNvPicPr>
          <p:nvPr/>
        </p:nvPicPr>
        <p:blipFill>
          <a:blip r:embed="rId3" cstate="print"/>
          <a:srcRect/>
          <a:stretch>
            <a:fillRect/>
          </a:stretch>
        </p:blipFill>
        <p:spPr bwMode="auto">
          <a:xfrm>
            <a:off x="293804" y="2250406"/>
            <a:ext cx="3131816" cy="2318985"/>
          </a:xfrm>
          <a:prstGeom prst="rect">
            <a:avLst/>
          </a:prstGeom>
          <a:noFill/>
          <a:ln w="9525">
            <a:solidFill>
              <a:schemeClr val="tx1"/>
            </a:solidFill>
            <a:miter lim="800000"/>
            <a:headEnd/>
            <a:tailEnd/>
          </a:ln>
        </p:spPr>
      </p:pic>
      <p:sp>
        <p:nvSpPr>
          <p:cNvPr id="7172" name="Rectangle 4"/>
          <p:cNvSpPr>
            <a:spLocks noChangeArrowheads="1"/>
          </p:cNvSpPr>
          <p:nvPr/>
        </p:nvSpPr>
        <p:spPr bwMode="auto">
          <a:xfrm>
            <a:off x="4818288" y="1400799"/>
            <a:ext cx="1537600"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Population/Area</a:t>
            </a:r>
          </a:p>
        </p:txBody>
      </p:sp>
      <p:sp>
        <p:nvSpPr>
          <p:cNvPr id="7173" name="Rectangle 5"/>
          <p:cNvSpPr>
            <a:spLocks noChangeArrowheads="1"/>
          </p:cNvSpPr>
          <p:nvPr/>
        </p:nvSpPr>
        <p:spPr bwMode="auto">
          <a:xfrm>
            <a:off x="4610940" y="1785560"/>
            <a:ext cx="208101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“Persons per Square Miles”</a:t>
            </a:r>
          </a:p>
        </p:txBody>
      </p:sp>
      <p:pic>
        <p:nvPicPr>
          <p:cNvPr id="1026" name="Picture 2" descr="Image of Population density"/>
          <p:cNvPicPr>
            <a:picLocks noChangeAspect="1" noChangeArrowheads="1"/>
          </p:cNvPicPr>
          <p:nvPr/>
        </p:nvPicPr>
        <p:blipFill>
          <a:blip r:embed="rId4" cstate="print"/>
          <a:srcRect/>
          <a:stretch>
            <a:fillRect/>
          </a:stretch>
        </p:blipFill>
        <p:spPr bwMode="auto">
          <a:xfrm>
            <a:off x="3989078" y="2250406"/>
            <a:ext cx="3131816" cy="2318985"/>
          </a:xfrm>
          <a:prstGeom prst="rect">
            <a:avLst/>
          </a:prstGeom>
          <a:noFill/>
          <a:ln w="9525">
            <a:solidFill>
              <a:schemeClr val="tx1"/>
            </a:solidFill>
            <a:miter lim="800000"/>
            <a:headEnd/>
            <a:tailEnd/>
          </a:ln>
        </p:spPr>
      </p:pic>
      <p:sp>
        <p:nvSpPr>
          <p:cNvPr id="7" name="Rectangle 5"/>
          <p:cNvSpPr>
            <a:spLocks noChangeArrowheads="1"/>
          </p:cNvSpPr>
          <p:nvPr/>
        </p:nvSpPr>
        <p:spPr bwMode="auto">
          <a:xfrm>
            <a:off x="1150767" y="2358990"/>
            <a:ext cx="1465658" cy="279307"/>
          </a:xfrm>
          <a:prstGeom prst="rect">
            <a:avLst/>
          </a:prstGeom>
          <a:solidFill>
            <a:schemeClr val="bg1"/>
          </a:solidFill>
          <a:ln w="9525">
            <a:noFill/>
            <a:miter lim="800000"/>
            <a:headEnd/>
            <a:tailEnd/>
          </a:ln>
        </p:spPr>
        <p:txBody>
          <a:bodyPr wrap="none">
            <a:spAutoFit/>
          </a:bodyPr>
          <a:lstStyle/>
          <a:p>
            <a:r>
              <a:rPr lang="en-US" sz="1215" spc="54" dirty="0">
                <a:solidFill>
                  <a:srgbClr val="000000"/>
                </a:solidFill>
                <a:latin typeface="Arial" charset="0"/>
                <a:cs typeface="Arial" charset="0"/>
              </a:rPr>
              <a:t>Population, 2010</a:t>
            </a:r>
          </a:p>
        </p:txBody>
      </p:sp>
      <p:sp>
        <p:nvSpPr>
          <p:cNvPr id="8" name="Rectangle 5"/>
          <p:cNvSpPr>
            <a:spLocks noChangeArrowheads="1"/>
          </p:cNvSpPr>
          <p:nvPr/>
        </p:nvSpPr>
        <p:spPr bwMode="auto">
          <a:xfrm>
            <a:off x="4539332" y="2377441"/>
            <a:ext cx="2073773" cy="279307"/>
          </a:xfrm>
          <a:prstGeom prst="rect">
            <a:avLst/>
          </a:prstGeom>
          <a:solidFill>
            <a:schemeClr val="bg1"/>
          </a:solidFill>
          <a:ln w="9525">
            <a:noFill/>
            <a:miter lim="800000"/>
            <a:headEnd/>
            <a:tailEnd/>
          </a:ln>
        </p:spPr>
        <p:txBody>
          <a:bodyPr wrap="none">
            <a:spAutoFit/>
          </a:bodyPr>
          <a:lstStyle/>
          <a:p>
            <a:r>
              <a:rPr lang="en-US" sz="1215" spc="54" dirty="0">
                <a:solidFill>
                  <a:srgbClr val="000000"/>
                </a:solidFill>
                <a:latin typeface="Arial" charset="0"/>
                <a:cs typeface="Arial" charset="0"/>
              </a:rPr>
              <a:t>Population Density, 2010</a:t>
            </a:r>
          </a:p>
        </p:txBody>
      </p:sp>
      <p:cxnSp>
        <p:nvCxnSpPr>
          <p:cNvPr id="9" name="Straight Connector 8">
            <a:extLst>
              <a:ext uri="{FF2B5EF4-FFF2-40B4-BE49-F238E27FC236}">
                <a16:creationId xmlns:a16="http://schemas.microsoft.com/office/drawing/2014/main" id="{B1F97BFD-13AF-410E-98A2-F49395A7B97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3D39A9F-F45A-4DAB-8B39-68E47E61C610}"/>
              </a:ext>
            </a:extLst>
          </p:cNvPr>
          <p:cNvSpPr txBox="1">
            <a:spLocks/>
          </p:cNvSpPr>
          <p:nvPr/>
        </p:nvSpPr>
        <p:spPr>
          <a:xfrm>
            <a:off x="293804" y="2587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5" name="TextBox 4">
            <a:extLst>
              <a:ext uri="{FF2B5EF4-FFF2-40B4-BE49-F238E27FC236}">
                <a16:creationId xmlns:a16="http://schemas.microsoft.com/office/drawing/2014/main" id="{AB69D0DC-60F3-4121-8042-9E1F2BAF731D}"/>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3" name="Slide Number Placeholder 2">
            <a:extLst>
              <a:ext uri="{FF2B5EF4-FFF2-40B4-BE49-F238E27FC236}">
                <a16:creationId xmlns:a16="http://schemas.microsoft.com/office/drawing/2014/main" id="{2AA7D3C7-EFD0-478D-AD7C-252F9D276AAE}"/>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B10B-61B2-A9C4-7627-AF8DC12BDE93}"/>
            </a:ext>
          </a:extLst>
        </p:cNvPr>
        <p:cNvGrpSpPr/>
        <p:nvPr/>
      </p:nvGrpSpPr>
      <p:grpSpPr>
        <a:xfrm>
          <a:off x="0" y="0"/>
          <a:ext cx="0" cy="0"/>
          <a:chOff x="0" y="0"/>
          <a:chExt cx="0" cy="0"/>
        </a:xfrm>
      </p:grpSpPr>
      <p:pic>
        <p:nvPicPr>
          <p:cNvPr id="22" name="Picture 21">
            <a:hlinkClick r:id="rId3"/>
            <a:extLst>
              <a:ext uri="{FF2B5EF4-FFF2-40B4-BE49-F238E27FC236}">
                <a16:creationId xmlns:a16="http://schemas.microsoft.com/office/drawing/2014/main" id="{60D522D0-F5EB-AE83-4E29-902999D0EAE1}"/>
              </a:ext>
            </a:extLst>
          </p:cNvPr>
          <p:cNvPicPr>
            <a:picLocks noChangeAspect="1"/>
          </p:cNvPicPr>
          <p:nvPr/>
        </p:nvPicPr>
        <p:blipFill>
          <a:blip r:embed="rId4">
            <a:alphaModFix amt="50000"/>
          </a:blip>
          <a:stretch>
            <a:fillRect/>
          </a:stretch>
        </p:blipFill>
        <p:spPr>
          <a:xfrm>
            <a:off x="4335451" y="1532868"/>
            <a:ext cx="3105434" cy="3125930"/>
          </a:xfrm>
          <a:prstGeom prst="rect">
            <a:avLst/>
          </a:prstGeom>
        </p:spPr>
      </p:pic>
      <p:pic>
        <p:nvPicPr>
          <p:cNvPr id="20" name="Picture 19">
            <a:hlinkClick r:id="rId3"/>
            <a:extLst>
              <a:ext uri="{FF2B5EF4-FFF2-40B4-BE49-F238E27FC236}">
                <a16:creationId xmlns:a16="http://schemas.microsoft.com/office/drawing/2014/main" id="{8636C8F6-8602-713A-A6A3-B45F9239FB07}"/>
              </a:ext>
            </a:extLst>
          </p:cNvPr>
          <p:cNvPicPr>
            <a:picLocks noChangeAspect="1"/>
          </p:cNvPicPr>
          <p:nvPr/>
        </p:nvPicPr>
        <p:blipFill>
          <a:blip r:embed="rId5">
            <a:alphaModFix amt="50000"/>
          </a:blip>
          <a:stretch>
            <a:fillRect/>
          </a:stretch>
        </p:blipFill>
        <p:spPr>
          <a:xfrm>
            <a:off x="599418" y="1553816"/>
            <a:ext cx="3105434" cy="3125931"/>
          </a:xfrm>
          <a:prstGeom prst="rect">
            <a:avLst/>
          </a:prstGeom>
        </p:spPr>
      </p:pic>
      <p:sp>
        <p:nvSpPr>
          <p:cNvPr id="2" name="标题 1">
            <a:extLst>
              <a:ext uri="{FF2B5EF4-FFF2-40B4-BE49-F238E27FC236}">
                <a16:creationId xmlns:a16="http://schemas.microsoft.com/office/drawing/2014/main" id="{95CC2A1D-704F-FBFE-8E07-69B60FEE06F6}"/>
              </a:ext>
            </a:extLst>
          </p:cNvPr>
          <p:cNvSpPr>
            <a:spLocks noGrp="1"/>
          </p:cNvSpPr>
          <p:nvPr>
            <p:ph type="title"/>
          </p:nvPr>
        </p:nvSpPr>
        <p:spPr>
          <a:xfrm>
            <a:off x="290382" y="350339"/>
            <a:ext cx="5274167" cy="595291"/>
          </a:xfrm>
        </p:spPr>
        <p:txBody>
          <a:bodyPr/>
          <a:lstStyle/>
          <a:p>
            <a:pPr>
              <a:lnSpc>
                <a:spcPct val="150000"/>
              </a:lnSpc>
            </a:pPr>
            <a:r>
              <a:rPr lang="en-US" altLang="zh-CN" dirty="0"/>
              <a:t>Choosing the Right Visual Type</a:t>
            </a:r>
          </a:p>
        </p:txBody>
      </p:sp>
      <p:sp>
        <p:nvSpPr>
          <p:cNvPr id="12" name="TextBox 11">
            <a:extLst>
              <a:ext uri="{FF2B5EF4-FFF2-40B4-BE49-F238E27FC236}">
                <a16:creationId xmlns:a16="http://schemas.microsoft.com/office/drawing/2014/main" id="{F4E187EB-D1F3-E258-A029-64AFCDD5A429}"/>
              </a:ext>
            </a:extLst>
          </p:cNvPr>
          <p:cNvSpPr txBox="1"/>
          <p:nvPr/>
        </p:nvSpPr>
        <p:spPr>
          <a:xfrm>
            <a:off x="788715" y="1599779"/>
            <a:ext cx="1645921" cy="2585323"/>
          </a:xfrm>
          <a:prstGeom prst="rect">
            <a:avLst/>
          </a:prstGeom>
          <a:noFill/>
        </p:spPr>
        <p:txBody>
          <a:bodyPr wrap="square" rtlCol="0">
            <a:spAutoFit/>
          </a:bodyPr>
          <a:lstStyle/>
          <a:p>
            <a:r>
              <a:rPr lang="en-US" altLang="zh-CN" sz="2160" b="1" dirty="0"/>
              <a:t>Raw values</a:t>
            </a:r>
          </a:p>
          <a:p>
            <a:endParaRPr lang="en-US" altLang="zh-CN" sz="2160" b="1" dirty="0"/>
          </a:p>
          <a:p>
            <a:r>
              <a:rPr lang="en-US" altLang="zh-CN" sz="1620" dirty="0"/>
              <a:t>Counts</a:t>
            </a:r>
          </a:p>
          <a:p>
            <a:r>
              <a:rPr lang="en-US" altLang="zh-CN" sz="1620" dirty="0"/>
              <a:t>Totals</a:t>
            </a:r>
          </a:p>
          <a:p>
            <a:endParaRPr lang="en-US" altLang="zh-CN" sz="1620" dirty="0"/>
          </a:p>
          <a:p>
            <a:endParaRPr lang="en-US" altLang="zh-CN" sz="1620" dirty="0"/>
          </a:p>
          <a:p>
            <a:endParaRPr lang="en-US" altLang="zh-CN" sz="1620" dirty="0"/>
          </a:p>
          <a:p>
            <a:endParaRPr lang="en-US" altLang="zh-CN" sz="1620" dirty="0"/>
          </a:p>
          <a:p>
            <a:r>
              <a:rPr lang="en-US" altLang="zh-CN" sz="2160" b="1" dirty="0"/>
              <a:t>Color</a:t>
            </a:r>
            <a:endParaRPr lang="zh-CN" altLang="en-US" sz="2160" b="1" dirty="0"/>
          </a:p>
        </p:txBody>
      </p:sp>
      <p:sp>
        <p:nvSpPr>
          <p:cNvPr id="14" name="TextBox 13">
            <a:extLst>
              <a:ext uri="{FF2B5EF4-FFF2-40B4-BE49-F238E27FC236}">
                <a16:creationId xmlns:a16="http://schemas.microsoft.com/office/drawing/2014/main" id="{F7C354E0-8A19-0A8C-76F1-4E4D0B679BD4}"/>
              </a:ext>
            </a:extLst>
          </p:cNvPr>
          <p:cNvSpPr txBox="1"/>
          <p:nvPr/>
        </p:nvSpPr>
        <p:spPr>
          <a:xfrm>
            <a:off x="4551997" y="1532868"/>
            <a:ext cx="2346873" cy="2585323"/>
          </a:xfrm>
          <a:prstGeom prst="rect">
            <a:avLst/>
          </a:prstGeom>
          <a:noFill/>
        </p:spPr>
        <p:txBody>
          <a:bodyPr wrap="square" rtlCol="0">
            <a:spAutoFit/>
          </a:bodyPr>
          <a:lstStyle/>
          <a:p>
            <a:r>
              <a:rPr lang="en-US" altLang="zh-CN" sz="2160" b="1" dirty="0"/>
              <a:t>Derived values</a:t>
            </a:r>
          </a:p>
          <a:p>
            <a:endParaRPr lang="en-US" altLang="zh-CN" sz="2160" b="1" dirty="0"/>
          </a:p>
          <a:p>
            <a:r>
              <a:rPr lang="en-US" altLang="zh-CN" sz="1620" dirty="0"/>
              <a:t>Percentages</a:t>
            </a:r>
          </a:p>
          <a:p>
            <a:r>
              <a:rPr lang="en-US" altLang="zh-CN" sz="1620" dirty="0"/>
              <a:t>Averages</a:t>
            </a:r>
          </a:p>
          <a:p>
            <a:r>
              <a:rPr lang="en-US" altLang="zh-CN" sz="1620" dirty="0"/>
              <a:t>Rates</a:t>
            </a:r>
          </a:p>
          <a:p>
            <a:r>
              <a:rPr lang="en-US" altLang="zh-CN" sz="1620" dirty="0"/>
              <a:t>Ratios</a:t>
            </a:r>
          </a:p>
          <a:p>
            <a:endParaRPr lang="en-US" altLang="zh-CN" sz="1620" dirty="0"/>
          </a:p>
          <a:p>
            <a:endParaRPr lang="en-US" altLang="zh-CN" sz="1620" dirty="0"/>
          </a:p>
          <a:p>
            <a:r>
              <a:rPr lang="en-US" altLang="zh-CN" sz="2160" b="1" dirty="0"/>
              <a:t>Color</a:t>
            </a:r>
            <a:endParaRPr lang="zh-CN" altLang="en-US" sz="2160" b="1" dirty="0"/>
          </a:p>
        </p:txBody>
      </p:sp>
      <p:sp>
        <p:nvSpPr>
          <p:cNvPr id="15" name="TextBox 14">
            <a:extLst>
              <a:ext uri="{FF2B5EF4-FFF2-40B4-BE49-F238E27FC236}">
                <a16:creationId xmlns:a16="http://schemas.microsoft.com/office/drawing/2014/main" id="{CAE31C3F-2727-7DC5-50ED-F42C50FFFFBF}"/>
              </a:ext>
            </a:extLst>
          </p:cNvPr>
          <p:cNvSpPr txBox="1"/>
          <p:nvPr/>
        </p:nvSpPr>
        <p:spPr>
          <a:xfrm>
            <a:off x="599418" y="988406"/>
            <a:ext cx="6841467" cy="427618"/>
          </a:xfrm>
          <a:prstGeom prst="rect">
            <a:avLst/>
          </a:prstGeom>
          <a:noFill/>
        </p:spPr>
        <p:txBody>
          <a:bodyPr wrap="square" rtlCol="0">
            <a:spAutoFit/>
          </a:bodyPr>
          <a:lstStyle/>
          <a:p>
            <a:pPr lvl="1" algn="ctr">
              <a:lnSpc>
                <a:spcPct val="150000"/>
              </a:lnSpc>
            </a:pPr>
            <a:r>
              <a:rPr lang="en-US" sz="1620" b="1" dirty="0"/>
              <a:t>b. Spatial Data – Choropleth Map </a:t>
            </a:r>
          </a:p>
        </p:txBody>
      </p:sp>
    </p:spTree>
    <p:extLst>
      <p:ext uri="{BB962C8B-B14F-4D97-AF65-F5344CB8AC3E}">
        <p14:creationId xmlns:p14="http://schemas.microsoft.com/office/powerpoint/2010/main" val="185290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of wheat harvested"/>
          <p:cNvPicPr>
            <a:picLocks noChangeAspect="1" noChangeArrowheads="1"/>
          </p:cNvPicPr>
          <p:nvPr/>
        </p:nvPicPr>
        <p:blipFill>
          <a:blip r:embed="rId3" cstate="print"/>
          <a:srcRect/>
          <a:stretch>
            <a:fillRect/>
          </a:stretch>
        </p:blipFill>
        <p:spPr bwMode="auto">
          <a:xfrm>
            <a:off x="1912988" y="1022599"/>
            <a:ext cx="4403626" cy="3704506"/>
          </a:xfrm>
          <a:prstGeom prst="rect">
            <a:avLst/>
          </a:prstGeom>
          <a:noFill/>
          <a:ln w="9525">
            <a:solidFill>
              <a:schemeClr val="tx1"/>
            </a:solidFill>
            <a:miter lim="800000"/>
            <a:headEnd/>
            <a:tailEnd/>
          </a:ln>
        </p:spPr>
      </p:pic>
      <p:sp>
        <p:nvSpPr>
          <p:cNvPr id="8196" name="Rectangle 4"/>
          <p:cNvSpPr>
            <a:spLocks noChangeArrowheads="1"/>
          </p:cNvSpPr>
          <p:nvPr/>
        </p:nvSpPr>
        <p:spPr bwMode="auto">
          <a:xfrm>
            <a:off x="6452436" y="2411321"/>
            <a:ext cx="1314784"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Bushels/Area</a:t>
            </a:r>
          </a:p>
        </p:txBody>
      </p:sp>
      <p:sp>
        <p:nvSpPr>
          <p:cNvPr id="8197" name="Rectangle 5"/>
          <p:cNvSpPr>
            <a:spLocks noChangeArrowheads="1"/>
          </p:cNvSpPr>
          <p:nvPr/>
        </p:nvSpPr>
        <p:spPr bwMode="auto">
          <a:xfrm>
            <a:off x="6392429" y="2771365"/>
            <a:ext cx="1466492"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“Bushels per Acre”</a:t>
            </a:r>
          </a:p>
        </p:txBody>
      </p:sp>
      <p:cxnSp>
        <p:nvCxnSpPr>
          <p:cNvPr id="6" name="Straight Connector 5">
            <a:extLst>
              <a:ext uri="{FF2B5EF4-FFF2-40B4-BE49-F238E27FC236}">
                <a16:creationId xmlns:a16="http://schemas.microsoft.com/office/drawing/2014/main" id="{35433E9B-8D5C-477A-8406-691CBA48FC4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4FAEF890-7C18-4AF2-B580-D7702A6A7498}"/>
              </a:ext>
            </a:extLst>
          </p:cNvPr>
          <p:cNvSpPr txBox="1">
            <a:spLocks/>
          </p:cNvSpPr>
          <p:nvPr/>
        </p:nvSpPr>
        <p:spPr>
          <a:xfrm>
            <a:off x="240453" y="1893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4" name="TextBox 3">
            <a:extLst>
              <a:ext uri="{FF2B5EF4-FFF2-40B4-BE49-F238E27FC236}">
                <a16:creationId xmlns:a16="http://schemas.microsoft.com/office/drawing/2014/main" id="{C996AFDD-6260-4839-A82F-B73C5B13B11E}"/>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9946177A-48DF-438F-A910-E714C9FE9077}"/>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09CCE5E-63C4-4C00-8941-54B48523460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C389B85-6EEB-4641-A9D8-DB873FBEF975}"/>
              </a:ext>
            </a:extLst>
          </p:cNvPr>
          <p:cNvSpPr txBox="1">
            <a:spLocks/>
          </p:cNvSpPr>
          <p:nvPr/>
        </p:nvSpPr>
        <p:spPr>
          <a:xfrm>
            <a:off x="247135" y="1932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8" name="Rectangle 1027">
            <a:extLst>
              <a:ext uri="{FF2B5EF4-FFF2-40B4-BE49-F238E27FC236}">
                <a16:creationId xmlns:a16="http://schemas.microsoft.com/office/drawing/2014/main" id="{EA8F8E5B-07DD-41C6-9C41-4F2086B388F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Proportions represent the relationship of a part to a whole </a:t>
            </a:r>
          </a:p>
          <a:p>
            <a:pPr>
              <a:buFont typeface="Courier New" panose="02070309020205020404" pitchFamily="49" charset="0"/>
              <a:buChar char="o"/>
            </a:pPr>
            <a:r>
              <a:rPr lang="en-US" altLang="en-US" sz="2600" dirty="0"/>
              <a:t>Several ways to express proportions</a:t>
            </a:r>
          </a:p>
          <a:p>
            <a:pPr lvl="1">
              <a:buFont typeface="Wingdings" panose="05000000000000000000" pitchFamily="2" charset="2"/>
              <a:buChar char="ü"/>
            </a:pPr>
            <a:r>
              <a:rPr lang="en-US" altLang="en-US" sz="2440" dirty="0"/>
              <a:t>Quotient: 0.0 - 1.0</a:t>
            </a:r>
          </a:p>
          <a:p>
            <a:pPr lvl="1">
              <a:buFont typeface="Wingdings" panose="05000000000000000000" pitchFamily="2" charset="2"/>
              <a:buChar char="ü"/>
            </a:pPr>
            <a:r>
              <a:rPr lang="en-US" altLang="en-US" sz="2440" dirty="0"/>
              <a:t>Percentage: 0 - 100%</a:t>
            </a:r>
          </a:p>
          <a:p>
            <a:pPr lvl="1">
              <a:buFont typeface="Wingdings" panose="05000000000000000000" pitchFamily="2" charset="2"/>
              <a:buChar char="ü"/>
            </a:pPr>
            <a:r>
              <a:rPr lang="en-US" altLang="en-US" sz="2440" dirty="0"/>
              <a:t>Rate: 7 per 1,000</a:t>
            </a:r>
          </a:p>
          <a:p>
            <a:pPr marL="0" indent="0">
              <a:buNone/>
            </a:pPr>
            <a:endParaRPr lang="en-US" altLang="en-US" sz="2600" dirty="0"/>
          </a:p>
        </p:txBody>
      </p:sp>
      <p:sp>
        <p:nvSpPr>
          <p:cNvPr id="17" name="Rectangle 16">
            <a:extLst>
              <a:ext uri="{FF2B5EF4-FFF2-40B4-BE49-F238E27FC236}">
                <a16:creationId xmlns:a16="http://schemas.microsoft.com/office/drawing/2014/main" id="{9C959608-F42A-4902-BB0C-76A4B36E7F49}"/>
              </a:ext>
            </a:extLst>
          </p:cNvPr>
          <p:cNvSpPr/>
          <p:nvPr/>
        </p:nvSpPr>
        <p:spPr>
          <a:xfrm>
            <a:off x="1037063" y="2888166"/>
            <a:ext cx="2743200" cy="32338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0629408-5659-4793-A96C-50F072026967}"/>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5"/>
          <p:cNvSpPr>
            <a:spLocks noChangeArrowheads="1"/>
          </p:cNvSpPr>
          <p:nvPr/>
        </p:nvSpPr>
        <p:spPr bwMode="auto">
          <a:xfrm>
            <a:off x="3674388" y="3737783"/>
            <a:ext cx="3577967"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Persons 60 and Over/Total Persons*100</a:t>
            </a:r>
          </a:p>
        </p:txBody>
      </p:sp>
      <p:sp>
        <p:nvSpPr>
          <p:cNvPr id="10244" name="Rectangle 6"/>
          <p:cNvSpPr>
            <a:spLocks noChangeArrowheads="1"/>
          </p:cNvSpPr>
          <p:nvPr/>
        </p:nvSpPr>
        <p:spPr bwMode="auto">
          <a:xfrm>
            <a:off x="4636651" y="4097827"/>
            <a:ext cx="1829347"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“Percentage of Seniors”</a:t>
            </a:r>
          </a:p>
        </p:txBody>
      </p:sp>
      <p:pic>
        <p:nvPicPr>
          <p:cNvPr id="10245" name="Picture 6" descr="Image of persons 60 and over"/>
          <p:cNvPicPr>
            <a:picLocks noChangeAspect="1" noChangeArrowheads="1"/>
          </p:cNvPicPr>
          <p:nvPr/>
        </p:nvPicPr>
        <p:blipFill>
          <a:blip r:embed="rId3" cstate="print"/>
          <a:srcRect/>
          <a:stretch>
            <a:fillRect/>
          </a:stretch>
        </p:blipFill>
        <p:spPr bwMode="auto">
          <a:xfrm>
            <a:off x="319862" y="1195865"/>
            <a:ext cx="3184684" cy="2394943"/>
          </a:xfrm>
          <a:prstGeom prst="rect">
            <a:avLst/>
          </a:prstGeom>
          <a:noFill/>
          <a:ln w="9525">
            <a:solidFill>
              <a:schemeClr val="tx1"/>
            </a:solidFill>
            <a:miter lim="800000"/>
            <a:headEnd/>
            <a:tailEnd/>
          </a:ln>
        </p:spPr>
      </p:pic>
      <p:pic>
        <p:nvPicPr>
          <p:cNvPr id="10246" name="Picture 7" descr="Image of Percentage of Seniors"/>
          <p:cNvPicPr>
            <a:picLocks noChangeAspect="1" noChangeArrowheads="1"/>
          </p:cNvPicPr>
          <p:nvPr/>
        </p:nvPicPr>
        <p:blipFill>
          <a:blip r:embed="rId4" cstate="print"/>
          <a:srcRect/>
          <a:stretch>
            <a:fillRect/>
          </a:stretch>
        </p:blipFill>
        <p:spPr bwMode="auto">
          <a:xfrm>
            <a:off x="3871557" y="1203885"/>
            <a:ext cx="3183612" cy="2396014"/>
          </a:xfrm>
          <a:prstGeom prst="rect">
            <a:avLst/>
          </a:prstGeom>
          <a:noFill/>
          <a:ln w="9525">
            <a:solidFill>
              <a:schemeClr val="tx1"/>
            </a:solidFill>
            <a:miter lim="800000"/>
            <a:headEnd/>
            <a:tailEnd/>
          </a:ln>
        </p:spPr>
      </p:pic>
      <p:sp>
        <p:nvSpPr>
          <p:cNvPr id="10247" name="Rectangle 5"/>
          <p:cNvSpPr>
            <a:spLocks noChangeArrowheads="1"/>
          </p:cNvSpPr>
          <p:nvPr/>
        </p:nvSpPr>
        <p:spPr bwMode="auto">
          <a:xfrm>
            <a:off x="921387" y="3733937"/>
            <a:ext cx="1981633"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a:solidFill>
                  <a:srgbClr val="000000"/>
                </a:solidFill>
                <a:latin typeface="Arial" charset="0"/>
                <a:cs typeface="Arial" charset="0"/>
              </a:rPr>
              <a:t>Persons 60 and Over</a:t>
            </a:r>
          </a:p>
        </p:txBody>
      </p:sp>
      <p:pic>
        <p:nvPicPr>
          <p:cNvPr id="10248" name="Picture 8"/>
          <p:cNvPicPr>
            <a:picLocks noChangeAspect="1" noChangeArrowheads="1"/>
          </p:cNvPicPr>
          <p:nvPr/>
        </p:nvPicPr>
        <p:blipFill>
          <a:blip r:embed="rId5" cstate="print"/>
          <a:srcRect l="4958" r="7477"/>
          <a:stretch>
            <a:fillRect/>
          </a:stretch>
        </p:blipFill>
        <p:spPr bwMode="auto">
          <a:xfrm>
            <a:off x="6196577" y="2908059"/>
            <a:ext cx="769382" cy="655796"/>
          </a:xfrm>
          <a:prstGeom prst="rect">
            <a:avLst/>
          </a:prstGeom>
          <a:noFill/>
          <a:ln w="9525">
            <a:solidFill>
              <a:schemeClr val="tx1"/>
            </a:solidFill>
            <a:miter lim="800000"/>
            <a:headEnd/>
            <a:tailEnd/>
          </a:ln>
        </p:spPr>
      </p:pic>
      <p:pic>
        <p:nvPicPr>
          <p:cNvPr id="10249" name="Picture 9"/>
          <p:cNvPicPr>
            <a:picLocks noChangeAspect="1" noChangeArrowheads="1"/>
          </p:cNvPicPr>
          <p:nvPr/>
        </p:nvPicPr>
        <p:blipFill>
          <a:blip r:embed="rId6" cstate="print"/>
          <a:srcRect/>
          <a:stretch>
            <a:fillRect/>
          </a:stretch>
        </p:blipFill>
        <p:spPr bwMode="auto">
          <a:xfrm>
            <a:off x="2422815" y="2976688"/>
            <a:ext cx="1059429" cy="606257"/>
          </a:xfrm>
          <a:prstGeom prst="rect">
            <a:avLst/>
          </a:prstGeom>
          <a:noFill/>
          <a:ln w="9525">
            <a:solidFill>
              <a:schemeClr val="tx1"/>
            </a:solidFill>
            <a:miter lim="800000"/>
            <a:headEnd/>
            <a:tailEnd/>
          </a:ln>
        </p:spPr>
      </p:pic>
      <p:cxnSp>
        <p:nvCxnSpPr>
          <p:cNvPr id="10" name="Straight Connector 9">
            <a:extLst>
              <a:ext uri="{FF2B5EF4-FFF2-40B4-BE49-F238E27FC236}">
                <a16:creationId xmlns:a16="http://schemas.microsoft.com/office/drawing/2014/main" id="{D8171FD7-0EDE-4E41-B997-B810EAEC81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CE396E5-F319-4E57-AC3E-7B366A01E147}"/>
              </a:ext>
            </a:extLst>
          </p:cNvPr>
          <p:cNvSpPr txBox="1">
            <a:spLocks/>
          </p:cNvSpPr>
          <p:nvPr/>
        </p:nvSpPr>
        <p:spPr>
          <a:xfrm>
            <a:off x="319862" y="1605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4" name="TextBox 3">
            <a:extLst>
              <a:ext uri="{FF2B5EF4-FFF2-40B4-BE49-F238E27FC236}">
                <a16:creationId xmlns:a16="http://schemas.microsoft.com/office/drawing/2014/main" id="{7A696AAE-CAD8-4546-BC75-FD47B79CD827}"/>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192135F5-861A-411C-A1E2-A9F4A98F1B2C}"/>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 of Percentage of non Grad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67925" y="1729843"/>
            <a:ext cx="3893750" cy="3392877"/>
          </a:xfrm>
          <a:prstGeom prst="rect">
            <a:avLst/>
          </a:prstGeom>
          <a:ln>
            <a:solidFill>
              <a:schemeClr val="tx1"/>
            </a:solidFill>
          </a:ln>
        </p:spPr>
      </p:pic>
      <p:sp>
        <p:nvSpPr>
          <p:cNvPr id="11268" name="Rectangle 3077"/>
          <p:cNvSpPr>
            <a:spLocks noChangeArrowheads="1"/>
          </p:cNvSpPr>
          <p:nvPr/>
        </p:nvSpPr>
        <p:spPr bwMode="auto">
          <a:xfrm>
            <a:off x="2664050" y="967791"/>
            <a:ext cx="2950936"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Non Grads/Total Population*100</a:t>
            </a:r>
          </a:p>
        </p:txBody>
      </p:sp>
      <p:sp>
        <p:nvSpPr>
          <p:cNvPr id="11269" name="Rectangle 3078"/>
          <p:cNvSpPr>
            <a:spLocks noChangeArrowheads="1"/>
          </p:cNvSpPr>
          <p:nvPr/>
        </p:nvSpPr>
        <p:spPr bwMode="auto">
          <a:xfrm>
            <a:off x="3100740" y="1336909"/>
            <a:ext cx="202811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“Percentage of non Grads”</a:t>
            </a:r>
          </a:p>
        </p:txBody>
      </p:sp>
      <p:cxnSp>
        <p:nvCxnSpPr>
          <p:cNvPr id="7" name="Straight Connector 6">
            <a:extLst>
              <a:ext uri="{FF2B5EF4-FFF2-40B4-BE49-F238E27FC236}">
                <a16:creationId xmlns:a16="http://schemas.microsoft.com/office/drawing/2014/main" id="{3B380108-024A-419B-98AC-FDF20560E80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BE71C5A8-1CFB-4061-AEC8-4D1BB7F6012C}"/>
              </a:ext>
            </a:extLst>
          </p:cNvPr>
          <p:cNvSpPr txBox="1">
            <a:spLocks/>
          </p:cNvSpPr>
          <p:nvPr/>
        </p:nvSpPr>
        <p:spPr>
          <a:xfrm>
            <a:off x="293793" y="1374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4" name="TextBox 3">
            <a:extLst>
              <a:ext uri="{FF2B5EF4-FFF2-40B4-BE49-F238E27FC236}">
                <a16:creationId xmlns:a16="http://schemas.microsoft.com/office/drawing/2014/main" id="{1C41292E-2EE6-41BD-A6CE-7648AEF73C8A}"/>
              </a:ext>
            </a:extLst>
          </p:cNvPr>
          <p:cNvSpPr txBox="1"/>
          <p:nvPr/>
        </p:nvSpPr>
        <p:spPr>
          <a:xfrm>
            <a:off x="1" y="4743390"/>
            <a:ext cx="2051824" cy="400110"/>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B93B8F74-DCE2-4D9D-A6C3-656E56D8DBF2}"/>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C23F5250-5829-4ACE-8404-C495C9D5F17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It can be revealing to show how two variables are related (in a manner that is not strictly proportional)</a:t>
            </a:r>
          </a:p>
          <a:p>
            <a:pPr>
              <a:buFont typeface="Courier New" panose="02070309020205020404" pitchFamily="49" charset="0"/>
              <a:buChar char="o"/>
            </a:pPr>
            <a:r>
              <a:rPr lang="en-US" altLang="en-US" sz="2600" dirty="0"/>
              <a:t>Several ways to express proportions</a:t>
            </a:r>
          </a:p>
          <a:p>
            <a:pPr lvl="1">
              <a:buFont typeface="Wingdings" panose="05000000000000000000" pitchFamily="2" charset="2"/>
              <a:buChar char="ü"/>
            </a:pPr>
            <a:r>
              <a:rPr lang="en-US" altLang="en-US" sz="2440" dirty="0"/>
              <a:t>Quotient: 0.0 - infinity</a:t>
            </a:r>
          </a:p>
          <a:p>
            <a:pPr lvl="1">
              <a:buFont typeface="Wingdings" panose="05000000000000000000" pitchFamily="2" charset="2"/>
              <a:buChar char="ü"/>
            </a:pPr>
            <a:r>
              <a:rPr lang="en-US" altLang="en-US" sz="2440" dirty="0"/>
              <a:t>Percentage: 0 - infinity%</a:t>
            </a:r>
          </a:p>
          <a:p>
            <a:pPr lvl="1">
              <a:buFont typeface="Wingdings" panose="05000000000000000000" pitchFamily="2" charset="2"/>
              <a:buChar char="ü"/>
            </a:pPr>
            <a:r>
              <a:rPr lang="en-US" altLang="en-US" sz="2440" dirty="0"/>
              <a:t>Rate: 1,500 per 100</a:t>
            </a:r>
          </a:p>
          <a:p>
            <a:pPr marL="0" indent="0">
              <a:buNone/>
            </a:pPr>
            <a:endParaRPr lang="en-US" altLang="en-US" sz="2600" dirty="0"/>
          </a:p>
        </p:txBody>
      </p:sp>
      <p:cxnSp>
        <p:nvCxnSpPr>
          <p:cNvPr id="6" name="Straight Connector 5">
            <a:extLst>
              <a:ext uri="{FF2B5EF4-FFF2-40B4-BE49-F238E27FC236}">
                <a16:creationId xmlns:a16="http://schemas.microsoft.com/office/drawing/2014/main" id="{D2E01D3A-DC86-4E44-8CF9-1C22C7EF146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41A7982-D4EE-4D59-B7FB-69344B0DCA64}"/>
              </a:ext>
            </a:extLst>
          </p:cNvPr>
          <p:cNvSpPr txBox="1">
            <a:spLocks/>
          </p:cNvSpPr>
          <p:nvPr/>
        </p:nvSpPr>
        <p:spPr>
          <a:xfrm>
            <a:off x="247135" y="1744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A72683F5-6FF3-4DAD-B915-90088E397A87}"/>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8226867-ED5B-43B8-8B10-B9852A38F16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9B15EFE-228E-4962-9BCF-7903B2836C85}"/>
              </a:ext>
            </a:extLst>
          </p:cNvPr>
          <p:cNvSpPr txBox="1">
            <a:spLocks/>
          </p:cNvSpPr>
          <p:nvPr/>
        </p:nvSpPr>
        <p:spPr>
          <a:xfrm>
            <a:off x="263313" y="181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7E6246C-B254-4EBE-93FC-EBA93A308712}"/>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5" name="Picture 4">
            <a:hlinkClick r:id="rId2"/>
            <a:extLst>
              <a:ext uri="{FF2B5EF4-FFF2-40B4-BE49-F238E27FC236}">
                <a16:creationId xmlns:a16="http://schemas.microsoft.com/office/drawing/2014/main" id="{7155FDC1-BE49-4424-A3B6-C8DBED52E568}"/>
              </a:ext>
            </a:extLst>
          </p:cNvPr>
          <p:cNvPicPr>
            <a:picLocks noChangeAspect="1"/>
          </p:cNvPicPr>
          <p:nvPr/>
        </p:nvPicPr>
        <p:blipFill>
          <a:blip r:embed="rId3"/>
          <a:stretch>
            <a:fillRect/>
          </a:stretch>
        </p:blipFill>
        <p:spPr>
          <a:xfrm>
            <a:off x="2352474" y="1664460"/>
            <a:ext cx="5053280" cy="3336493"/>
          </a:xfrm>
          <a:prstGeom prst="rect">
            <a:avLst/>
          </a:prstGeom>
        </p:spPr>
      </p:pic>
      <p:sp>
        <p:nvSpPr>
          <p:cNvPr id="9" name="TextBox 8">
            <a:extLst>
              <a:ext uri="{FF2B5EF4-FFF2-40B4-BE49-F238E27FC236}">
                <a16:creationId xmlns:a16="http://schemas.microsoft.com/office/drawing/2014/main" id="{8E3D09F6-8B10-A528-13D3-FF85210F3BC3}"/>
              </a:ext>
            </a:extLst>
          </p:cNvPr>
          <p:cNvSpPr txBox="1"/>
          <p:nvPr/>
        </p:nvSpPr>
        <p:spPr>
          <a:xfrm>
            <a:off x="-276225" y="1071115"/>
            <a:ext cx="4171950" cy="369332"/>
          </a:xfrm>
          <a:prstGeom prst="rect">
            <a:avLst/>
          </a:prstGeom>
          <a:noFill/>
        </p:spPr>
        <p:txBody>
          <a:bodyPr wrap="square">
            <a:spAutoFit/>
          </a:bodyPr>
          <a:lstStyle/>
          <a:p>
            <a:pPr lvl="1">
              <a:buFont typeface="Wingdings" panose="05000000000000000000" pitchFamily="2" charset="2"/>
              <a:buChar char="ü"/>
            </a:pPr>
            <a:r>
              <a:rPr lang="en-US" altLang="en-US" sz="1800" dirty="0"/>
              <a:t>Rate: Men per 100 women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6" descr="Image of croplands and croplands per thousand people"/>
          <p:cNvPicPr>
            <a:picLocks noChangeAspect="1" noChangeArrowheads="1"/>
          </p:cNvPicPr>
          <p:nvPr/>
        </p:nvPicPr>
        <p:blipFill>
          <a:blip r:embed="rId3" cstate="print"/>
          <a:srcRect/>
          <a:stretch>
            <a:fillRect/>
          </a:stretch>
        </p:blipFill>
        <p:spPr bwMode="auto">
          <a:xfrm>
            <a:off x="2973151" y="1048939"/>
            <a:ext cx="5005268" cy="3691533"/>
          </a:xfrm>
          <a:prstGeom prst="rect">
            <a:avLst/>
          </a:prstGeom>
          <a:noFill/>
          <a:ln w="9525">
            <a:noFill/>
            <a:miter lim="800000"/>
            <a:headEnd/>
            <a:tailEnd/>
          </a:ln>
        </p:spPr>
      </p:pic>
      <p:sp>
        <p:nvSpPr>
          <p:cNvPr id="15364" name="Rectangle 4"/>
          <p:cNvSpPr>
            <a:spLocks noChangeArrowheads="1"/>
          </p:cNvSpPr>
          <p:nvPr/>
        </p:nvSpPr>
        <p:spPr bwMode="auto">
          <a:xfrm>
            <a:off x="251181" y="1272514"/>
            <a:ext cx="2658100"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Acres of Cropland/Population</a:t>
            </a:r>
          </a:p>
        </p:txBody>
      </p:sp>
      <p:sp>
        <p:nvSpPr>
          <p:cNvPr id="15365" name="Rectangle 5"/>
          <p:cNvSpPr>
            <a:spLocks noChangeArrowheads="1"/>
          </p:cNvSpPr>
          <p:nvPr/>
        </p:nvSpPr>
        <p:spPr bwMode="auto">
          <a:xfrm>
            <a:off x="638015" y="1632558"/>
            <a:ext cx="191590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“Acres per 1,000 People”</a:t>
            </a:r>
          </a:p>
        </p:txBody>
      </p:sp>
      <p:cxnSp>
        <p:nvCxnSpPr>
          <p:cNvPr id="6" name="Straight Connector 5">
            <a:extLst>
              <a:ext uri="{FF2B5EF4-FFF2-40B4-BE49-F238E27FC236}">
                <a16:creationId xmlns:a16="http://schemas.microsoft.com/office/drawing/2014/main" id="{A4D26DB7-8BEA-49BB-9E04-40A2603862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F073FD6-FA0D-41B5-8748-0AFC680DF552}"/>
              </a:ext>
            </a:extLst>
          </p:cNvPr>
          <p:cNvSpPr txBox="1">
            <a:spLocks/>
          </p:cNvSpPr>
          <p:nvPr/>
        </p:nvSpPr>
        <p:spPr>
          <a:xfrm>
            <a:off x="331893" y="1720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4" name="TextBox 3">
            <a:extLst>
              <a:ext uri="{FF2B5EF4-FFF2-40B4-BE49-F238E27FC236}">
                <a16:creationId xmlns:a16="http://schemas.microsoft.com/office/drawing/2014/main" id="{F86B9723-22C2-4C50-A2D2-72509C81566E}"/>
              </a:ext>
            </a:extLst>
          </p:cNvPr>
          <p:cNvSpPr txBox="1"/>
          <p:nvPr/>
        </p:nvSpPr>
        <p:spPr>
          <a:xfrm>
            <a:off x="1" y="4866500"/>
            <a:ext cx="2973150"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2A9BEB6A-AB83-4EEA-A65F-A1A34365DE61}"/>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E58DDFE-7977-40B3-B94D-A0A26DD9129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9290073-5555-4B08-978C-DC444D53CBEA}"/>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Stat Summaries</a:t>
            </a:r>
            <a:endParaRPr lang="en-US" sz="2600" dirty="0">
              <a:solidFill>
                <a:srgbClr val="7030A0"/>
              </a:solidFill>
            </a:endParaRPr>
          </a:p>
        </p:txBody>
      </p:sp>
      <p:sp>
        <p:nvSpPr>
          <p:cNvPr id="4" name="Rectangle 1027">
            <a:extLst>
              <a:ext uri="{FF2B5EF4-FFF2-40B4-BE49-F238E27FC236}">
                <a16:creationId xmlns:a16="http://schemas.microsoft.com/office/drawing/2014/main" id="{CD40CD49-1887-4D92-9E2A-C76077F405A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Enumeration units can be represented according to calculated statistics </a:t>
            </a:r>
          </a:p>
          <a:p>
            <a:pPr lvl="1">
              <a:buFont typeface="Wingdings" panose="05000000000000000000" pitchFamily="2" charset="2"/>
              <a:buChar char="ü"/>
            </a:pPr>
            <a:r>
              <a:rPr lang="en-US" altLang="en-US" sz="2440" dirty="0"/>
              <a:t>Median</a:t>
            </a:r>
          </a:p>
          <a:p>
            <a:pPr lvl="1">
              <a:buFont typeface="Wingdings" panose="05000000000000000000" pitchFamily="2" charset="2"/>
              <a:buChar char="ü"/>
            </a:pPr>
            <a:r>
              <a:rPr lang="en-US" altLang="en-US" sz="2440" dirty="0"/>
              <a:t>Mean (average)</a:t>
            </a:r>
          </a:p>
          <a:p>
            <a:pPr lvl="1">
              <a:buFont typeface="Wingdings" panose="05000000000000000000" pitchFamily="2" charset="2"/>
              <a:buChar char="ü"/>
            </a:pPr>
            <a:r>
              <a:rPr lang="en-US" altLang="en-US" sz="2440" dirty="0"/>
              <a:t>Standard Deviation, etc.</a:t>
            </a:r>
          </a:p>
          <a:p>
            <a:pPr marL="0" indent="0">
              <a:buNone/>
            </a:pPr>
            <a:endParaRPr lang="en-US" altLang="en-US" sz="2600" dirty="0"/>
          </a:p>
        </p:txBody>
      </p:sp>
      <p:sp>
        <p:nvSpPr>
          <p:cNvPr id="2" name="Slide Number Placeholder 1">
            <a:extLst>
              <a:ext uri="{FF2B5EF4-FFF2-40B4-BE49-F238E27FC236}">
                <a16:creationId xmlns:a16="http://schemas.microsoft.com/office/drawing/2014/main" id="{F43BF1CA-F5B2-43BA-9124-6D845B8AD0D4}"/>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653289" y="1129077"/>
            <a:ext cx="3004027" cy="321627"/>
          </a:xfrm>
          <a:prstGeom prst="rect">
            <a:avLst/>
          </a:prstGeom>
          <a:solidFill>
            <a:schemeClr val="bg1"/>
          </a:solidFill>
          <a:ln w="9525">
            <a:noFill/>
            <a:miter lim="800000"/>
            <a:headEnd/>
            <a:tailEnd/>
          </a:ln>
        </p:spPr>
        <p:txBody>
          <a:bodyPr wrap="none">
            <a:spAutoFit/>
          </a:bodyPr>
          <a:lstStyle/>
          <a:p>
            <a:r>
              <a:rPr lang="en-US" sz="1490" spc="54" dirty="0">
                <a:solidFill>
                  <a:srgbClr val="000000"/>
                </a:solidFill>
                <a:latin typeface="Arial" charset="0"/>
                <a:cs typeface="Arial" charset="0"/>
              </a:rPr>
              <a:t>Average Household Size, 2020</a:t>
            </a:r>
          </a:p>
        </p:txBody>
      </p:sp>
      <p:cxnSp>
        <p:nvCxnSpPr>
          <p:cNvPr id="6" name="Straight Connector 5">
            <a:extLst>
              <a:ext uri="{FF2B5EF4-FFF2-40B4-BE49-F238E27FC236}">
                <a16:creationId xmlns:a16="http://schemas.microsoft.com/office/drawing/2014/main" id="{4C2D144A-D691-413C-B16C-6E5C47D6A8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C8E2AE1-13E4-4BF3-A48E-E63B8D291E9D}"/>
              </a:ext>
            </a:extLst>
          </p:cNvPr>
          <p:cNvSpPr txBox="1">
            <a:spLocks/>
          </p:cNvSpPr>
          <p:nvPr/>
        </p:nvSpPr>
        <p:spPr>
          <a:xfrm>
            <a:off x="217593" y="1687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Stat Summaries</a:t>
            </a:r>
            <a:endParaRPr lang="en-US" sz="2600" dirty="0">
              <a:solidFill>
                <a:srgbClr val="7030A0"/>
              </a:solidFill>
            </a:endParaRPr>
          </a:p>
        </p:txBody>
      </p:sp>
      <p:pic>
        <p:nvPicPr>
          <p:cNvPr id="8" name="Picture 7" descr="Image of average household">
            <a:extLst>
              <a:ext uri="{FF2B5EF4-FFF2-40B4-BE49-F238E27FC236}">
                <a16:creationId xmlns:a16="http://schemas.microsoft.com/office/drawing/2014/main" id="{08AF6BDA-DCC7-473E-9DC5-23C18E1E5424}"/>
              </a:ext>
            </a:extLst>
          </p:cNvPr>
          <p:cNvPicPr>
            <a:picLocks noChangeAspect="1"/>
          </p:cNvPicPr>
          <p:nvPr/>
        </p:nvPicPr>
        <p:blipFill>
          <a:blip r:embed="rId2"/>
          <a:stretch>
            <a:fillRect/>
          </a:stretch>
        </p:blipFill>
        <p:spPr>
          <a:xfrm>
            <a:off x="152400" y="1408384"/>
            <a:ext cx="5946737" cy="3347793"/>
          </a:xfrm>
          <a:prstGeom prst="rect">
            <a:avLst/>
          </a:prstGeom>
        </p:spPr>
      </p:pic>
      <p:pic>
        <p:nvPicPr>
          <p:cNvPr id="10" name="Picture 9" descr="Legend">
            <a:extLst>
              <a:ext uri="{FF2B5EF4-FFF2-40B4-BE49-F238E27FC236}">
                <a16:creationId xmlns:a16="http://schemas.microsoft.com/office/drawing/2014/main" id="{8C920771-7E71-4E43-AE67-7E497809C889}"/>
              </a:ext>
            </a:extLst>
          </p:cNvPr>
          <p:cNvPicPr>
            <a:picLocks noChangeAspect="1"/>
          </p:cNvPicPr>
          <p:nvPr/>
        </p:nvPicPr>
        <p:blipFill>
          <a:blip r:embed="rId3"/>
          <a:stretch>
            <a:fillRect/>
          </a:stretch>
        </p:blipFill>
        <p:spPr>
          <a:xfrm>
            <a:off x="6132590" y="3037039"/>
            <a:ext cx="1733707" cy="1719138"/>
          </a:xfrm>
          <a:prstGeom prst="rect">
            <a:avLst/>
          </a:prstGeom>
        </p:spPr>
      </p:pic>
      <p:sp>
        <p:nvSpPr>
          <p:cNvPr id="14" name="TextBox 13">
            <a:extLst>
              <a:ext uri="{FF2B5EF4-FFF2-40B4-BE49-F238E27FC236}">
                <a16:creationId xmlns:a16="http://schemas.microsoft.com/office/drawing/2014/main" id="{2CF423AB-1790-4D67-BC7F-2F6BED326FA1}"/>
              </a:ext>
            </a:extLst>
          </p:cNvPr>
          <p:cNvSpPr txBox="1"/>
          <p:nvPr/>
        </p:nvSpPr>
        <p:spPr>
          <a:xfrm>
            <a:off x="118533" y="4876499"/>
            <a:ext cx="6171787" cy="246221"/>
          </a:xfrm>
          <a:prstGeom prst="rect">
            <a:avLst/>
          </a:prstGeom>
          <a:noFill/>
        </p:spPr>
        <p:txBody>
          <a:bodyPr wrap="square">
            <a:spAutoFit/>
          </a:bodyPr>
          <a:lstStyle/>
          <a:p>
            <a:r>
              <a:rPr lang="en-US" sz="1000" dirty="0">
                <a:solidFill>
                  <a:srgbClr val="0070C0"/>
                </a:solidFill>
                <a:hlinkClick r:id="rId4">
                  <a:extLst>
                    <a:ext uri="{A12FA001-AC4F-418D-AE19-62706E023703}">
                      <ahyp:hlinkClr xmlns:ahyp="http://schemas.microsoft.com/office/drawing/2018/hyperlinkcolor" val="tx"/>
                    </a:ext>
                  </a:extLst>
                </a:hlinkClick>
              </a:rPr>
              <a:t>https://uca-gis.maps.arcgis.com/home/webmap/viewer.html?webmap=36d7e68ce0ab416d951300479fc6fc04</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84879835-51BB-473D-9692-58B9CAFD15C5}"/>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6D10E-BAC4-431A-82B0-54C4336FC8C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Rectangle 1027">
            <a:extLst>
              <a:ext uri="{FF2B5EF4-FFF2-40B4-BE49-F238E27FC236}">
                <a16:creationId xmlns:a16="http://schemas.microsoft.com/office/drawing/2014/main" id="{0921CF14-3BFC-4D02-BA93-0FEF34FECBD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Transformation of raw data values to different, more meaningful values</a:t>
            </a:r>
          </a:p>
          <a:p>
            <a:pPr lvl="1">
              <a:buFont typeface="Wingdings" panose="05000000000000000000" pitchFamily="2" charset="2"/>
              <a:buChar char="ü"/>
            </a:pPr>
            <a:r>
              <a:rPr lang="en-US" altLang="en-US" sz="2440" dirty="0"/>
              <a:t>Densities, proportions, relationships, and statistical summaries</a:t>
            </a:r>
          </a:p>
          <a:p>
            <a:pPr lvl="1">
              <a:buFont typeface="Wingdings" panose="05000000000000000000" pitchFamily="2" charset="2"/>
              <a:buChar char="ü"/>
            </a:pPr>
            <a:r>
              <a:rPr lang="en-US" altLang="en-US" sz="2440" dirty="0"/>
              <a:t>In conjunction with </a:t>
            </a:r>
            <a:r>
              <a:rPr lang="en-US" altLang="en-US" sz="2440" dirty="0">
                <a:solidFill>
                  <a:srgbClr val="FF0000"/>
                </a:solidFill>
              </a:rPr>
              <a:t>data classification</a:t>
            </a:r>
            <a:r>
              <a:rPr lang="en-US" altLang="en-US" sz="2440" dirty="0"/>
              <a:t>, data standardization allows us to craft our message</a:t>
            </a:r>
          </a:p>
          <a:p>
            <a:pPr marL="0" indent="0">
              <a:buNone/>
            </a:pPr>
            <a:endParaRPr lang="en-US" altLang="en-US" sz="2600" dirty="0"/>
          </a:p>
        </p:txBody>
      </p:sp>
      <p:sp>
        <p:nvSpPr>
          <p:cNvPr id="2" name="Slide Number Placeholder 1">
            <a:extLst>
              <a:ext uri="{FF2B5EF4-FFF2-40B4-BE49-F238E27FC236}">
                <a16:creationId xmlns:a16="http://schemas.microsoft.com/office/drawing/2014/main" id="{A6C01080-C94C-4C81-BC04-72EA51DD6C48}"/>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511020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B80A-BBEF-E2C5-4114-7636CBF6B3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C4A09C-ABCD-3EFF-B0C9-0F00C82BD802}"/>
              </a:ext>
            </a:extLst>
          </p:cNvPr>
          <p:cNvSpPr>
            <a:spLocks noGrp="1"/>
          </p:cNvSpPr>
          <p:nvPr>
            <p:ph type="title"/>
          </p:nvPr>
        </p:nvSpPr>
        <p:spPr>
          <a:xfrm>
            <a:off x="299952" y="460007"/>
            <a:ext cx="7629697" cy="466281"/>
          </a:xfrm>
        </p:spPr>
        <p:txBody>
          <a:bodyPr/>
          <a:lstStyle/>
          <a:p>
            <a:r>
              <a:rPr lang="en-US" altLang="zh-CN" dirty="0"/>
              <a:t>Interactive Vote Map(Web) from New York Times</a:t>
            </a:r>
            <a:endParaRPr lang="zh-CN" altLang="en-US" dirty="0"/>
          </a:p>
        </p:txBody>
      </p:sp>
      <p:pic>
        <p:nvPicPr>
          <p:cNvPr id="6" name="Picture 5">
            <a:hlinkClick r:id="rId3"/>
            <a:extLst>
              <a:ext uri="{FF2B5EF4-FFF2-40B4-BE49-F238E27FC236}">
                <a16:creationId xmlns:a16="http://schemas.microsoft.com/office/drawing/2014/main" id="{C1EF5B81-1239-650F-3A96-1776057CB617}"/>
              </a:ext>
            </a:extLst>
          </p:cNvPr>
          <p:cNvPicPr>
            <a:picLocks noChangeAspect="1"/>
          </p:cNvPicPr>
          <p:nvPr/>
        </p:nvPicPr>
        <p:blipFill>
          <a:blip r:embed="rId4"/>
          <a:srcRect r="6075"/>
          <a:stretch/>
        </p:blipFill>
        <p:spPr>
          <a:xfrm>
            <a:off x="58785" y="1130657"/>
            <a:ext cx="6337480" cy="3319695"/>
          </a:xfrm>
          <a:prstGeom prst="rect">
            <a:avLst/>
          </a:prstGeom>
        </p:spPr>
      </p:pic>
      <p:sp>
        <p:nvSpPr>
          <p:cNvPr id="7" name="TextBox 6">
            <a:extLst>
              <a:ext uri="{FF2B5EF4-FFF2-40B4-BE49-F238E27FC236}">
                <a16:creationId xmlns:a16="http://schemas.microsoft.com/office/drawing/2014/main" id="{9DAA8418-56FE-A103-852C-35A0723EAD6A}"/>
              </a:ext>
            </a:extLst>
          </p:cNvPr>
          <p:cNvSpPr txBox="1"/>
          <p:nvPr/>
        </p:nvSpPr>
        <p:spPr>
          <a:xfrm>
            <a:off x="6412229" y="2426943"/>
            <a:ext cx="1758587" cy="757130"/>
          </a:xfrm>
          <a:prstGeom prst="rect">
            <a:avLst/>
          </a:prstGeom>
          <a:noFill/>
        </p:spPr>
        <p:txBody>
          <a:bodyPr wrap="square" rtlCol="0">
            <a:spAutoFit/>
          </a:bodyPr>
          <a:lstStyle/>
          <a:p>
            <a:pPr marL="192881" indent="-192881">
              <a:buFont typeface="Arial" panose="020B0604020202020204" pitchFamily="34" charset="0"/>
              <a:buChar char="•"/>
            </a:pPr>
            <a:r>
              <a:rPr lang="en-US" sz="1080" dirty="0"/>
              <a:t>What type of map is it?</a:t>
            </a:r>
          </a:p>
          <a:p>
            <a:pPr marL="192881" indent="-192881">
              <a:buFont typeface="Arial" panose="020B0604020202020204" pitchFamily="34" charset="0"/>
              <a:buChar char="•"/>
            </a:pPr>
            <a:endParaRPr lang="en-US" sz="1080" dirty="0"/>
          </a:p>
          <a:p>
            <a:pPr marL="192881" indent="-192881">
              <a:buFont typeface="Arial" panose="020B0604020202020204" pitchFamily="34" charset="0"/>
              <a:buChar char="•"/>
            </a:pPr>
            <a:r>
              <a:rPr lang="en-US" sz="1080" dirty="0"/>
              <a:t>What color scheme does it use?</a:t>
            </a:r>
          </a:p>
        </p:txBody>
      </p:sp>
    </p:spTree>
    <p:extLst>
      <p:ext uri="{BB962C8B-B14F-4D97-AF65-F5344CB8AC3E}">
        <p14:creationId xmlns:p14="http://schemas.microsoft.com/office/powerpoint/2010/main" val="3544205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4DFCD-2E67-AC9A-54B8-FA8D2F527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58292-9E6B-0AF2-2AF7-D62BDD05DC77}"/>
              </a:ext>
            </a:extLst>
          </p:cNvPr>
          <p:cNvSpPr>
            <a:spLocks noGrp="1"/>
          </p:cNvSpPr>
          <p:nvPr>
            <p:ph type="title"/>
          </p:nvPr>
        </p:nvSpPr>
        <p:spPr>
          <a:xfrm>
            <a:off x="260764" y="345028"/>
            <a:ext cx="7629697" cy="341632"/>
          </a:xfrm>
        </p:spPr>
        <p:txBody>
          <a:bodyPr/>
          <a:lstStyle/>
          <a:p>
            <a:r>
              <a:rPr lang="en-US" sz="1620" dirty="0"/>
              <a:t>Hurricane Milton Strength Timeline, 10/5/2024 – 10/10/2024</a:t>
            </a:r>
          </a:p>
        </p:txBody>
      </p:sp>
      <p:sp>
        <p:nvSpPr>
          <p:cNvPr id="3" name="TextBox 2">
            <a:extLst>
              <a:ext uri="{FF2B5EF4-FFF2-40B4-BE49-F238E27FC236}">
                <a16:creationId xmlns:a16="http://schemas.microsoft.com/office/drawing/2014/main" id="{F6BB24C5-F374-AB64-C2A4-FA2D3AA9E1CF}"/>
              </a:ext>
            </a:extLst>
          </p:cNvPr>
          <p:cNvSpPr txBox="1"/>
          <p:nvPr/>
        </p:nvSpPr>
        <p:spPr>
          <a:xfrm>
            <a:off x="52530" y="1659079"/>
            <a:ext cx="2037805" cy="1588127"/>
          </a:xfrm>
          <a:prstGeom prst="rect">
            <a:avLst/>
          </a:prstGeom>
          <a:noFill/>
        </p:spPr>
        <p:txBody>
          <a:bodyPr wrap="square" rtlCol="0">
            <a:spAutoFit/>
          </a:bodyPr>
          <a:lstStyle/>
          <a:p>
            <a:r>
              <a:rPr lang="en-US" sz="1215" dirty="0">
                <a:solidFill>
                  <a:srgbClr val="151515"/>
                </a:solidFill>
                <a:latin typeface="Times New Roman" panose="02020603050405020304" pitchFamily="18" charset="0"/>
                <a:cs typeface="Times New Roman" panose="02020603050405020304" pitchFamily="18" charset="0"/>
              </a:rPr>
              <a:t>Progression of Hurricane Milton's shape and intensity </a:t>
            </a:r>
          </a:p>
          <a:p>
            <a:endParaRPr lang="en-US" sz="1215" dirty="0">
              <a:solidFill>
                <a:srgbClr val="151515"/>
              </a:solidFill>
              <a:latin typeface="Times New Roman" panose="02020603050405020304" pitchFamily="18" charset="0"/>
              <a:cs typeface="Times New Roman" panose="02020603050405020304" pitchFamily="18" charset="0"/>
            </a:endParaRPr>
          </a:p>
          <a:p>
            <a:r>
              <a:rPr lang="en-US" sz="1215" dirty="0">
                <a:solidFill>
                  <a:srgbClr val="151515"/>
                </a:solidFill>
                <a:latin typeface="Times New Roman" panose="02020603050405020304" pitchFamily="18" charset="0"/>
                <a:cs typeface="Times New Roman" panose="02020603050405020304" pitchFamily="18" charset="0"/>
              </a:rPr>
              <a:t>Inset map: Temperature</a:t>
            </a:r>
          </a:p>
          <a:p>
            <a:endParaRPr lang="en-US" sz="1215" dirty="0">
              <a:solidFill>
                <a:srgbClr val="151515"/>
              </a:solidFill>
              <a:latin typeface="Times New Roman" panose="02020603050405020304" pitchFamily="18" charset="0"/>
              <a:cs typeface="Times New Roman" panose="02020603050405020304" pitchFamily="18" charset="0"/>
            </a:endParaRPr>
          </a:p>
          <a:p>
            <a:r>
              <a:rPr lang="en-US" sz="1215" dirty="0">
                <a:solidFill>
                  <a:srgbClr val="151515"/>
                </a:solidFill>
                <a:latin typeface="Times New Roman" panose="02020603050405020304" pitchFamily="18" charset="0"/>
                <a:cs typeface="Times New Roman" panose="02020603050405020304" pitchFamily="18" charset="0"/>
              </a:rPr>
              <a:t>Points: Wind speed and category along its path at specific times.</a:t>
            </a:r>
            <a:endParaRPr lang="en-US" sz="1215" dirty="0">
              <a:latin typeface="Times New Roman" panose="02020603050405020304" pitchFamily="18" charset="0"/>
              <a:cs typeface="Times New Roman" panose="02020603050405020304" pitchFamily="18" charset="0"/>
            </a:endParaRPr>
          </a:p>
        </p:txBody>
      </p:sp>
      <p:pic>
        <p:nvPicPr>
          <p:cNvPr id="23554" name="Picture 2">
            <a:hlinkClick r:id="rId2"/>
            <a:extLst>
              <a:ext uri="{FF2B5EF4-FFF2-40B4-BE49-F238E27FC236}">
                <a16:creationId xmlns:a16="http://schemas.microsoft.com/office/drawing/2014/main" id="{011B141C-7E6B-598F-2E52-B31C215E3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763" y="776445"/>
            <a:ext cx="5202282" cy="4019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857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1012D-D2C4-B11B-DF98-B7CD5372A8D4}"/>
              </a:ext>
            </a:extLst>
          </p:cNvPr>
          <p:cNvSpPr>
            <a:spLocks noGrp="1"/>
          </p:cNvSpPr>
          <p:nvPr>
            <p:ph type="title"/>
          </p:nvPr>
        </p:nvSpPr>
        <p:spPr>
          <a:xfrm>
            <a:off x="299952" y="309745"/>
            <a:ext cx="7629697" cy="466281"/>
          </a:xfrm>
        </p:spPr>
        <p:txBody>
          <a:bodyPr/>
          <a:lstStyle/>
          <a:p>
            <a:r>
              <a:rPr lang="en-US" dirty="0"/>
              <a:t>4.3 Resources for Good Maps</a:t>
            </a:r>
          </a:p>
        </p:txBody>
      </p:sp>
      <p:pic>
        <p:nvPicPr>
          <p:cNvPr id="11" name="Picture 10">
            <a:hlinkClick r:id="rId2"/>
            <a:extLst>
              <a:ext uri="{FF2B5EF4-FFF2-40B4-BE49-F238E27FC236}">
                <a16:creationId xmlns:a16="http://schemas.microsoft.com/office/drawing/2014/main" id="{DE2ED835-D222-CCA4-ED0B-DBA51D31F142}"/>
              </a:ext>
            </a:extLst>
          </p:cNvPr>
          <p:cNvPicPr>
            <a:picLocks noChangeAspect="1"/>
          </p:cNvPicPr>
          <p:nvPr/>
        </p:nvPicPr>
        <p:blipFill>
          <a:blip r:embed="rId3"/>
          <a:stretch>
            <a:fillRect/>
          </a:stretch>
        </p:blipFill>
        <p:spPr>
          <a:xfrm>
            <a:off x="78951" y="1714871"/>
            <a:ext cx="2482437" cy="1713757"/>
          </a:xfrm>
          <a:prstGeom prst="rect">
            <a:avLst/>
          </a:prstGeom>
          <a:ln>
            <a:solidFill>
              <a:schemeClr val="tx1"/>
            </a:solidFill>
          </a:ln>
        </p:spPr>
      </p:pic>
      <p:sp>
        <p:nvSpPr>
          <p:cNvPr id="14" name="TextBox 13">
            <a:extLst>
              <a:ext uri="{FF2B5EF4-FFF2-40B4-BE49-F238E27FC236}">
                <a16:creationId xmlns:a16="http://schemas.microsoft.com/office/drawing/2014/main" id="{33C0BE33-4941-3932-14CD-2C91ECD94669}"/>
              </a:ext>
            </a:extLst>
          </p:cNvPr>
          <p:cNvSpPr txBox="1"/>
          <p:nvPr/>
        </p:nvSpPr>
        <p:spPr>
          <a:xfrm>
            <a:off x="380765" y="1380880"/>
            <a:ext cx="1812148" cy="279307"/>
          </a:xfrm>
          <a:prstGeom prst="rect">
            <a:avLst/>
          </a:prstGeom>
          <a:noFill/>
        </p:spPr>
        <p:txBody>
          <a:bodyPr wrap="square" rtlCol="0">
            <a:spAutoFit/>
          </a:bodyPr>
          <a:lstStyle/>
          <a:p>
            <a:pPr algn="ctr"/>
            <a:r>
              <a:rPr lang="en-US" sz="1215" b="1" dirty="0">
                <a:hlinkClick r:id="rId2">
                  <a:extLst>
                    <a:ext uri="{A12FA001-AC4F-418D-AE19-62706E023703}">
                      <ahyp:hlinkClr xmlns:ahyp="http://schemas.microsoft.com/office/drawing/2018/hyperlinkcolor" val="tx"/>
                    </a:ext>
                  </a:extLst>
                </a:hlinkClick>
              </a:rPr>
              <a:t>ESRI MAP GALLERY</a:t>
            </a:r>
            <a:endParaRPr lang="en-US" sz="1215" dirty="0"/>
          </a:p>
        </p:txBody>
      </p:sp>
      <p:pic>
        <p:nvPicPr>
          <p:cNvPr id="16" name="Picture 15">
            <a:extLst>
              <a:ext uri="{FF2B5EF4-FFF2-40B4-BE49-F238E27FC236}">
                <a16:creationId xmlns:a16="http://schemas.microsoft.com/office/drawing/2014/main" id="{91A2526C-EF6E-0F45-DCE1-32EBBB0AA6DC}"/>
              </a:ext>
            </a:extLst>
          </p:cNvPr>
          <p:cNvPicPr>
            <a:picLocks noChangeAspect="1"/>
          </p:cNvPicPr>
          <p:nvPr/>
        </p:nvPicPr>
        <p:blipFill>
          <a:blip r:embed="rId4"/>
          <a:stretch>
            <a:fillRect/>
          </a:stretch>
        </p:blipFill>
        <p:spPr>
          <a:xfrm>
            <a:off x="2777086" y="1734889"/>
            <a:ext cx="2482438" cy="1693739"/>
          </a:xfrm>
          <a:prstGeom prst="rect">
            <a:avLst/>
          </a:prstGeom>
          <a:ln>
            <a:solidFill>
              <a:schemeClr val="tx1"/>
            </a:solidFill>
          </a:ln>
        </p:spPr>
      </p:pic>
      <p:sp>
        <p:nvSpPr>
          <p:cNvPr id="17" name="TextBox 16">
            <a:extLst>
              <a:ext uri="{FF2B5EF4-FFF2-40B4-BE49-F238E27FC236}">
                <a16:creationId xmlns:a16="http://schemas.microsoft.com/office/drawing/2014/main" id="{4430EB85-E361-7835-1FCD-CF6714842180}"/>
              </a:ext>
            </a:extLst>
          </p:cNvPr>
          <p:cNvSpPr txBox="1"/>
          <p:nvPr/>
        </p:nvSpPr>
        <p:spPr>
          <a:xfrm>
            <a:off x="3112231" y="1382811"/>
            <a:ext cx="1812148" cy="279307"/>
          </a:xfrm>
          <a:prstGeom prst="rect">
            <a:avLst/>
          </a:prstGeom>
          <a:noFill/>
        </p:spPr>
        <p:txBody>
          <a:bodyPr wrap="square" rtlCol="0">
            <a:spAutoFit/>
          </a:bodyPr>
          <a:lstStyle/>
          <a:p>
            <a:pPr algn="ctr"/>
            <a:r>
              <a:rPr lang="en-US" sz="1215" b="1" dirty="0">
                <a:hlinkClick r:id="rId5">
                  <a:extLst>
                    <a:ext uri="{A12FA001-AC4F-418D-AE19-62706E023703}">
                      <ahyp:hlinkClr xmlns:ahyp="http://schemas.microsoft.com/office/drawing/2018/hyperlinkcolor" val="tx"/>
                    </a:ext>
                  </a:extLst>
                </a:hlinkClick>
              </a:rPr>
              <a:t>QGIS MAP GALLERY</a:t>
            </a:r>
            <a:endParaRPr lang="en-US" sz="1215" dirty="0"/>
          </a:p>
        </p:txBody>
      </p:sp>
      <p:pic>
        <p:nvPicPr>
          <p:cNvPr id="19" name="Picture 18">
            <a:extLst>
              <a:ext uri="{FF2B5EF4-FFF2-40B4-BE49-F238E27FC236}">
                <a16:creationId xmlns:a16="http://schemas.microsoft.com/office/drawing/2014/main" id="{80286CAC-F125-C695-B5B3-779D9A2AB0C5}"/>
              </a:ext>
            </a:extLst>
          </p:cNvPr>
          <p:cNvPicPr>
            <a:picLocks noChangeAspect="1"/>
          </p:cNvPicPr>
          <p:nvPr/>
        </p:nvPicPr>
        <p:blipFill>
          <a:blip r:embed="rId6"/>
          <a:stretch>
            <a:fillRect/>
          </a:stretch>
        </p:blipFill>
        <p:spPr>
          <a:xfrm>
            <a:off x="5475222" y="1734889"/>
            <a:ext cx="2675428" cy="1693738"/>
          </a:xfrm>
          <a:prstGeom prst="rect">
            <a:avLst/>
          </a:prstGeom>
          <a:ln>
            <a:solidFill>
              <a:schemeClr val="tx1"/>
            </a:solidFill>
          </a:ln>
        </p:spPr>
      </p:pic>
      <p:sp>
        <p:nvSpPr>
          <p:cNvPr id="20" name="TextBox 19">
            <a:extLst>
              <a:ext uri="{FF2B5EF4-FFF2-40B4-BE49-F238E27FC236}">
                <a16:creationId xmlns:a16="http://schemas.microsoft.com/office/drawing/2014/main" id="{20FC0A59-98AD-A5B5-295D-28017B3C9EE0}"/>
              </a:ext>
            </a:extLst>
          </p:cNvPr>
          <p:cNvSpPr txBox="1"/>
          <p:nvPr/>
        </p:nvSpPr>
        <p:spPr>
          <a:xfrm>
            <a:off x="5571717" y="1380880"/>
            <a:ext cx="2482437" cy="279307"/>
          </a:xfrm>
          <a:prstGeom prst="rect">
            <a:avLst/>
          </a:prstGeom>
          <a:noFill/>
        </p:spPr>
        <p:txBody>
          <a:bodyPr wrap="square" rtlCol="0">
            <a:spAutoFit/>
          </a:bodyPr>
          <a:lstStyle/>
          <a:p>
            <a:pPr algn="ctr"/>
            <a:r>
              <a:rPr lang="en-US" sz="1215" b="1" dirty="0">
                <a:hlinkClick r:id="rId7">
                  <a:extLst>
                    <a:ext uri="{A12FA001-AC4F-418D-AE19-62706E023703}">
                      <ahyp:hlinkClr xmlns:ahyp="http://schemas.microsoft.com/office/drawing/2018/hyperlinkcolor" val="tx"/>
                    </a:ext>
                  </a:extLst>
                </a:hlinkClick>
              </a:rPr>
              <a:t>David Rumsey Map Collection</a:t>
            </a:r>
            <a:endParaRPr lang="en-US" sz="1215" dirty="0"/>
          </a:p>
        </p:txBody>
      </p:sp>
      <p:sp>
        <p:nvSpPr>
          <p:cNvPr id="21" name="TextBox 20">
            <a:extLst>
              <a:ext uri="{FF2B5EF4-FFF2-40B4-BE49-F238E27FC236}">
                <a16:creationId xmlns:a16="http://schemas.microsoft.com/office/drawing/2014/main" id="{227ED77D-2AF6-FAF1-1F26-8440DB749530}"/>
              </a:ext>
            </a:extLst>
          </p:cNvPr>
          <p:cNvSpPr txBox="1"/>
          <p:nvPr/>
        </p:nvSpPr>
        <p:spPr>
          <a:xfrm>
            <a:off x="5737130" y="3533338"/>
            <a:ext cx="2317025" cy="653256"/>
          </a:xfrm>
          <a:prstGeom prst="rect">
            <a:avLst/>
          </a:prstGeom>
          <a:noFill/>
        </p:spPr>
        <p:txBody>
          <a:bodyPr wrap="square" rtlCol="0">
            <a:spAutoFit/>
          </a:bodyPr>
          <a:lstStyle/>
          <a:p>
            <a:r>
              <a:rPr lang="en-US" sz="1215" dirty="0">
                <a:solidFill>
                  <a:srgbClr val="281A07"/>
                </a:solidFill>
                <a:latin typeface="Times New Roman" panose="02020603050405020304" pitchFamily="18" charset="0"/>
                <a:cs typeface="Times New Roman" panose="02020603050405020304" pitchFamily="18" charset="0"/>
              </a:rPr>
              <a:t>The historical map collection has over </a:t>
            </a:r>
            <a:r>
              <a:rPr lang="en-US" sz="1215" b="1" u="sng" dirty="0">
                <a:solidFill>
                  <a:srgbClr val="0563C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139,000 </a:t>
            </a:r>
            <a:r>
              <a:rPr lang="en-US" sz="1215" u="sng"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maps and related images online</a:t>
            </a:r>
            <a:r>
              <a:rPr lang="en-US" sz="1215"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78482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976EAD1-1DF8-556D-1780-DB02E0D9ADFB}"/>
              </a:ext>
            </a:extLst>
          </p:cNvPr>
          <p:cNvSpPr>
            <a:spLocks noGrp="1"/>
          </p:cNvSpPr>
          <p:nvPr>
            <p:ph type="title"/>
          </p:nvPr>
        </p:nvSpPr>
        <p:spPr>
          <a:xfrm>
            <a:off x="300038" y="489553"/>
            <a:ext cx="7629525" cy="466281"/>
          </a:xfrm>
        </p:spPr>
        <p:txBody>
          <a:bodyPr/>
          <a:lstStyle/>
          <a:p>
            <a:r>
              <a:rPr lang="en-US" dirty="0"/>
              <a:t>4.4 Resources for Bad Maps</a:t>
            </a:r>
          </a:p>
        </p:txBody>
      </p:sp>
      <p:grpSp>
        <p:nvGrpSpPr>
          <p:cNvPr id="25" name="Group 24">
            <a:extLst>
              <a:ext uri="{FF2B5EF4-FFF2-40B4-BE49-F238E27FC236}">
                <a16:creationId xmlns:a16="http://schemas.microsoft.com/office/drawing/2014/main" id="{78C5CDE4-BA0C-9C01-F224-7AA24481B1FA}"/>
              </a:ext>
            </a:extLst>
          </p:cNvPr>
          <p:cNvGrpSpPr/>
          <p:nvPr/>
        </p:nvGrpSpPr>
        <p:grpSpPr>
          <a:xfrm>
            <a:off x="1349187" y="1561084"/>
            <a:ext cx="2650400" cy="2316010"/>
            <a:chOff x="770497" y="1894810"/>
            <a:chExt cx="3926518" cy="3259043"/>
          </a:xfrm>
        </p:grpSpPr>
        <p:pic>
          <p:nvPicPr>
            <p:cNvPr id="14" name="Picture 13">
              <a:extLst>
                <a:ext uri="{FF2B5EF4-FFF2-40B4-BE49-F238E27FC236}">
                  <a16:creationId xmlns:a16="http://schemas.microsoft.com/office/drawing/2014/main" id="{C41BC5BA-E086-721C-AED9-13E4041B1C1D}"/>
                </a:ext>
              </a:extLst>
            </p:cNvPr>
            <p:cNvPicPr>
              <a:picLocks noChangeAspect="1"/>
            </p:cNvPicPr>
            <p:nvPr/>
          </p:nvPicPr>
          <p:blipFill>
            <a:blip r:embed="rId2"/>
            <a:stretch>
              <a:fillRect/>
            </a:stretch>
          </p:blipFill>
          <p:spPr>
            <a:xfrm>
              <a:off x="770497" y="2744059"/>
              <a:ext cx="3926518" cy="24097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66EEFD60-514E-FE41-DC03-4DBE0C6F86F2}"/>
                </a:ext>
              </a:extLst>
            </p:cNvPr>
            <p:cNvSpPr txBox="1"/>
            <p:nvPr/>
          </p:nvSpPr>
          <p:spPr>
            <a:xfrm>
              <a:off x="1391424" y="1894810"/>
              <a:ext cx="2684663" cy="393035"/>
            </a:xfrm>
            <a:prstGeom prst="rect">
              <a:avLst/>
            </a:prstGeom>
            <a:noFill/>
          </p:spPr>
          <p:txBody>
            <a:bodyPr wrap="square" rtlCol="0">
              <a:spAutoFit/>
            </a:bodyPr>
            <a:lstStyle/>
            <a:p>
              <a:pPr algn="ctr"/>
              <a:r>
                <a:rPr lang="en-US" sz="1215" b="1" dirty="0">
                  <a:hlinkClick r:id="rId3">
                    <a:extLst>
                      <a:ext uri="{A12FA001-AC4F-418D-AE19-62706E023703}">
                        <ahyp:hlinkClr xmlns:ahyp="http://schemas.microsoft.com/office/drawing/2018/hyperlinkcolor" val="tx"/>
                      </a:ext>
                    </a:extLst>
                  </a:hlinkClick>
                </a:rPr>
                <a:t>Examples of Bad Maps</a:t>
              </a:r>
              <a:endParaRPr lang="en-US" sz="1215" dirty="0"/>
            </a:p>
          </p:txBody>
        </p:sp>
      </p:grpSp>
      <p:grpSp>
        <p:nvGrpSpPr>
          <p:cNvPr id="26" name="Group 25">
            <a:extLst>
              <a:ext uri="{FF2B5EF4-FFF2-40B4-BE49-F238E27FC236}">
                <a16:creationId xmlns:a16="http://schemas.microsoft.com/office/drawing/2014/main" id="{99B7C416-DD28-1BBF-733D-F402A26D1C49}"/>
              </a:ext>
            </a:extLst>
          </p:cNvPr>
          <p:cNvGrpSpPr/>
          <p:nvPr/>
        </p:nvGrpSpPr>
        <p:grpSpPr>
          <a:xfrm>
            <a:off x="4360940" y="1561084"/>
            <a:ext cx="2691029" cy="2316010"/>
            <a:chOff x="5321063" y="1550308"/>
            <a:chExt cx="3986710" cy="3431126"/>
          </a:xfrm>
        </p:grpSpPr>
        <p:pic>
          <p:nvPicPr>
            <p:cNvPr id="23" name="Picture 22">
              <a:extLst>
                <a:ext uri="{FF2B5EF4-FFF2-40B4-BE49-F238E27FC236}">
                  <a16:creationId xmlns:a16="http://schemas.microsoft.com/office/drawing/2014/main" id="{831748D4-9F6B-5C6F-D8B5-9E81E27C6B08}"/>
                </a:ext>
              </a:extLst>
            </p:cNvPr>
            <p:cNvPicPr>
              <a:picLocks noChangeAspect="1"/>
            </p:cNvPicPr>
            <p:nvPr/>
          </p:nvPicPr>
          <p:blipFill>
            <a:blip r:embed="rId4"/>
            <a:stretch>
              <a:fillRect/>
            </a:stretch>
          </p:blipFill>
          <p:spPr>
            <a:xfrm>
              <a:off x="5321063" y="2440526"/>
              <a:ext cx="3986710" cy="25409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extBox 23">
              <a:extLst>
                <a:ext uri="{FF2B5EF4-FFF2-40B4-BE49-F238E27FC236}">
                  <a16:creationId xmlns:a16="http://schemas.microsoft.com/office/drawing/2014/main" id="{887C8C1C-6E6E-7DAC-6684-95E2D30DC23E}"/>
                </a:ext>
              </a:extLst>
            </p:cNvPr>
            <p:cNvSpPr txBox="1"/>
            <p:nvPr/>
          </p:nvSpPr>
          <p:spPr>
            <a:xfrm>
              <a:off x="5972085" y="1550308"/>
              <a:ext cx="2684662" cy="413788"/>
            </a:xfrm>
            <a:prstGeom prst="rect">
              <a:avLst/>
            </a:prstGeom>
            <a:noFill/>
          </p:spPr>
          <p:txBody>
            <a:bodyPr wrap="square" rtlCol="0">
              <a:spAutoFit/>
            </a:bodyPr>
            <a:lstStyle/>
            <a:p>
              <a:pPr algn="ctr"/>
              <a:r>
                <a:rPr lang="en-US" sz="1215" b="1" dirty="0">
                  <a:hlinkClick r:id="rId5">
                    <a:extLst>
                      <a:ext uri="{A12FA001-AC4F-418D-AE19-62706E023703}">
                        <ahyp:hlinkClr xmlns:ahyp="http://schemas.microsoft.com/office/drawing/2018/hyperlinkcolor" val="tx"/>
                      </a:ext>
                    </a:extLst>
                  </a:hlinkClick>
                </a:rPr>
                <a:t>Examples of Bad Maps</a:t>
              </a:r>
              <a:endParaRPr lang="en-US" sz="1215" dirty="0"/>
            </a:p>
          </p:txBody>
        </p:sp>
      </p:grpSp>
    </p:spTree>
    <p:extLst>
      <p:ext uri="{BB962C8B-B14F-4D97-AF65-F5344CB8AC3E}">
        <p14:creationId xmlns:p14="http://schemas.microsoft.com/office/powerpoint/2010/main" val="896133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Week05_GEOG2475_TU</Template>
  <TotalTime>6888</TotalTime>
  <Words>1233</Words>
  <Application>Microsoft Office PowerPoint</Application>
  <PresentationFormat>Custom</PresentationFormat>
  <Paragraphs>211</Paragraphs>
  <Slides>30</Slides>
  <Notes>18</Notes>
  <HiddenSlides>0</HiddenSlides>
  <MMClips>0</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30</vt:i4>
      </vt:variant>
    </vt:vector>
  </HeadingPairs>
  <TitlesOfParts>
    <vt:vector size="48" baseType="lpstr">
      <vt:lpstr>MiSans Light</vt:lpstr>
      <vt:lpstr>Arial</vt:lpstr>
      <vt:lpstr>Arial Black</vt:lpstr>
      <vt:lpstr>Calibri</vt:lpstr>
      <vt:lpstr>Courier New</vt:lpstr>
      <vt:lpstr>Noto Serif</vt:lpstr>
      <vt:lpstr>Raleway</vt:lpstr>
      <vt:lpstr>Roboto</vt:lpstr>
      <vt:lpstr>Times New Roman</vt:lpstr>
      <vt:lpstr>Wingdings</vt:lpstr>
      <vt:lpstr>Wingdings 2</vt:lpstr>
      <vt:lpstr>3_DividendVTI</vt:lpstr>
      <vt:lpstr>2_DividendVTI</vt:lpstr>
      <vt:lpstr>DividendVTI</vt:lpstr>
      <vt:lpstr>1_DividendVTI</vt:lpstr>
      <vt:lpstr>4_DividendVTI</vt:lpstr>
      <vt:lpstr>5_DividendVTI</vt:lpstr>
      <vt:lpstr>6_DividendVTI</vt:lpstr>
      <vt:lpstr>WEEK 06 Data Standardization  lecture</vt:lpstr>
      <vt:lpstr>6.1  Attribute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Choosing the Right Visual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Interactive Vote Map(Web) from New York Times</vt:lpstr>
      <vt:lpstr>Hurricane Milton Strength Timeline, 10/5/2024 – 10/10/2024</vt:lpstr>
      <vt:lpstr>4.3 Resources for Good Maps</vt:lpstr>
      <vt:lpstr>4.4 Resources for Bad Maps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263</cp:revision>
  <dcterms:created xsi:type="dcterms:W3CDTF">2020-07-26T21:20:11Z</dcterms:created>
  <dcterms:modified xsi:type="dcterms:W3CDTF">2025-09-21T19:58:07Z</dcterms:modified>
</cp:coreProperties>
</file>