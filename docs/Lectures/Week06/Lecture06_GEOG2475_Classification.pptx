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684" r:id="rId3"/>
    <p:sldMasterId id="2147483696" r:id="rId4"/>
    <p:sldMasterId id="2147483709" r:id="rId5"/>
    <p:sldMasterId id="2147483722" r:id="rId6"/>
    <p:sldMasterId id="2147483734" r:id="rId7"/>
  </p:sldMasterIdLst>
  <p:notesMasterIdLst>
    <p:notesMasterId r:id="rId37"/>
  </p:notesMasterIdLst>
  <p:sldIdLst>
    <p:sldId id="914" r:id="rId8"/>
    <p:sldId id="1647" r:id="rId9"/>
    <p:sldId id="635" r:id="rId10"/>
    <p:sldId id="332" r:id="rId11"/>
    <p:sldId id="340" r:id="rId12"/>
    <p:sldId id="362" r:id="rId13"/>
    <p:sldId id="347" r:id="rId14"/>
    <p:sldId id="348" r:id="rId15"/>
    <p:sldId id="349" r:id="rId16"/>
    <p:sldId id="351" r:id="rId17"/>
    <p:sldId id="352" r:id="rId18"/>
    <p:sldId id="353" r:id="rId19"/>
    <p:sldId id="354" r:id="rId20"/>
    <p:sldId id="355" r:id="rId21"/>
    <p:sldId id="356" r:id="rId22"/>
    <p:sldId id="633" r:id="rId23"/>
    <p:sldId id="634" r:id="rId24"/>
    <p:sldId id="629" r:id="rId25"/>
    <p:sldId id="335" r:id="rId26"/>
    <p:sldId id="338" r:id="rId27"/>
    <p:sldId id="361" r:id="rId28"/>
    <p:sldId id="367" r:id="rId29"/>
    <p:sldId id="1672" r:id="rId30"/>
    <p:sldId id="1660" r:id="rId31"/>
    <p:sldId id="1666" r:id="rId32"/>
    <p:sldId id="1648" r:id="rId33"/>
    <p:sldId id="1673" r:id="rId34"/>
    <p:sldId id="1658" r:id="rId35"/>
    <p:sldId id="1659" r:id="rId36"/>
  </p:sldIdLst>
  <p:sldSz cx="8229600" cy="51435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271" autoAdjust="0"/>
  </p:normalViewPr>
  <p:slideViewPr>
    <p:cSldViewPr snapToGrid="0" snapToObjects="1">
      <p:cViewPr varScale="1">
        <p:scale>
          <a:sx n="126" d="100"/>
          <a:sy n="126" d="100"/>
        </p:scale>
        <p:origin x="1554" y="114"/>
      </p:cViewPr>
      <p:guideLst>
        <p:guide orient="horz" pos="1620"/>
        <p:guide pos="259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viewProps" Target="view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5DC5F4-D431-4A87-93B0-BBE05B35CCB1}" type="doc">
      <dgm:prSet loTypeId="urn:microsoft.com/office/officeart/2018/5/layout/IconLeafLabelList" loCatId="icon" qsTypeId="urn:microsoft.com/office/officeart/2005/8/quickstyle/simple1#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4983E92-0B7C-43A8-8C1F-984B0DFA982E}">
      <dgm:prSet custT="1"/>
      <dgm:spPr/>
      <dgm:t>
        <a:bodyPr/>
        <a:lstStyle/>
        <a:p>
          <a:pPr>
            <a:defRPr cap="all"/>
          </a:pPr>
          <a:r>
            <a:rPr lang="en-US" sz="1800" dirty="0"/>
            <a:t>Due by Midnight </a:t>
          </a:r>
          <a:r>
            <a:rPr lang="en-US" sz="1800" dirty="0">
              <a:solidFill>
                <a:srgbClr val="C00000"/>
              </a:solidFill>
            </a:rPr>
            <a:t>(11:59 pm) on Monday, Sep 29, 2025</a:t>
          </a:r>
        </a:p>
      </dgm:t>
    </dgm:pt>
    <dgm:pt modelId="{47D3E5B5-E005-481D-9366-7FFA245A3F46}" type="parTrans" cxnId="{7E7C886D-A667-496F-8DDE-1B718561DB03}">
      <dgm:prSet/>
      <dgm:spPr/>
      <dgm:t>
        <a:bodyPr/>
        <a:lstStyle/>
        <a:p>
          <a:endParaRPr lang="en-US"/>
        </a:p>
      </dgm:t>
    </dgm:pt>
    <dgm:pt modelId="{9E0C94DC-193A-41FC-B82A-2A43E45C8107}" type="sibTrans" cxnId="{7E7C886D-A667-496F-8DDE-1B718561DB03}">
      <dgm:prSet/>
      <dgm:spPr/>
      <dgm:t>
        <a:bodyPr/>
        <a:lstStyle/>
        <a:p>
          <a:endParaRPr lang="en-US"/>
        </a:p>
      </dgm:t>
    </dgm:pt>
    <dgm:pt modelId="{A6242D37-AF81-4A91-9692-C3B78C4C080A}">
      <dgm:prSet custT="1"/>
      <dgm:spPr/>
      <dgm:t>
        <a:bodyPr/>
        <a:lstStyle/>
        <a:p>
          <a:pPr>
            <a:defRPr cap="all"/>
          </a:pPr>
          <a:r>
            <a:rPr lang="en-US" sz="1800" dirty="0"/>
            <a:t>Submit a word document only include </a:t>
          </a:r>
          <a:r>
            <a:rPr lang="en-US" sz="1800" dirty="0">
              <a:solidFill>
                <a:srgbClr val="C00000"/>
              </a:solidFill>
            </a:rPr>
            <a:t>question and answer</a:t>
          </a:r>
        </a:p>
      </dgm:t>
    </dgm:pt>
    <dgm:pt modelId="{A1582085-1655-4316-B7FE-C167B01E3451}" type="parTrans" cxnId="{0F5369C5-3BD8-41EC-82BC-B46BD7C285F5}">
      <dgm:prSet/>
      <dgm:spPr/>
      <dgm:t>
        <a:bodyPr/>
        <a:lstStyle/>
        <a:p>
          <a:endParaRPr lang="en-US"/>
        </a:p>
      </dgm:t>
    </dgm:pt>
    <dgm:pt modelId="{487527DA-4CA7-40A4-8E27-547430E84424}" type="sibTrans" cxnId="{0F5369C5-3BD8-41EC-82BC-B46BD7C285F5}">
      <dgm:prSet/>
      <dgm:spPr/>
      <dgm:t>
        <a:bodyPr/>
        <a:lstStyle/>
        <a:p>
          <a:endParaRPr lang="en-US"/>
        </a:p>
      </dgm:t>
    </dgm:pt>
    <dgm:pt modelId="{1CF3E5B1-FB46-4446-95BF-0E7408D9C151}" type="pres">
      <dgm:prSet presAssocID="{545DC5F4-D431-4A87-93B0-BBE05B35CCB1}" presName="root" presStyleCnt="0">
        <dgm:presLayoutVars>
          <dgm:dir/>
          <dgm:resizeHandles val="exact"/>
        </dgm:presLayoutVars>
      </dgm:prSet>
      <dgm:spPr/>
    </dgm:pt>
    <dgm:pt modelId="{BE3E81CB-7E93-484B-AE32-12C58B09BCE0}" type="pres">
      <dgm:prSet presAssocID="{54983E92-0B7C-43A8-8C1F-984B0DFA982E}" presName="compNode" presStyleCnt="0"/>
      <dgm:spPr/>
    </dgm:pt>
    <dgm:pt modelId="{D2D6216C-9B23-402E-A942-468E0F624F5B}" type="pres">
      <dgm:prSet presAssocID="{54983E92-0B7C-43A8-8C1F-984B0DFA982E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F943F739-4EBC-47A7-A14C-25327E72C0F2}" type="pres">
      <dgm:prSet presAssocID="{54983E92-0B7C-43A8-8C1F-984B0DFA982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3085FCD0-B526-4BA1-831E-148271EBCA71}" type="pres">
      <dgm:prSet presAssocID="{54983E92-0B7C-43A8-8C1F-984B0DFA982E}" presName="spaceRect" presStyleCnt="0"/>
      <dgm:spPr/>
    </dgm:pt>
    <dgm:pt modelId="{4E513C3D-9C85-4581-9570-C87158EE7A8E}" type="pres">
      <dgm:prSet presAssocID="{54983E92-0B7C-43A8-8C1F-984B0DFA982E}" presName="textRect" presStyleLbl="revTx" presStyleIdx="0" presStyleCnt="2" custScaleX="140708">
        <dgm:presLayoutVars>
          <dgm:chMax val="1"/>
          <dgm:chPref val="1"/>
        </dgm:presLayoutVars>
      </dgm:prSet>
      <dgm:spPr/>
    </dgm:pt>
    <dgm:pt modelId="{00D865C2-7AA1-4413-870A-557561F6A99D}" type="pres">
      <dgm:prSet presAssocID="{9E0C94DC-193A-41FC-B82A-2A43E45C8107}" presName="sibTrans" presStyleCnt="0"/>
      <dgm:spPr/>
    </dgm:pt>
    <dgm:pt modelId="{0444C821-AE95-419C-A2C2-10FD435B3E72}" type="pres">
      <dgm:prSet presAssocID="{A6242D37-AF81-4A91-9692-C3B78C4C080A}" presName="compNode" presStyleCnt="0"/>
      <dgm:spPr/>
    </dgm:pt>
    <dgm:pt modelId="{C1C41DF5-156F-4AFD-8177-5E65296E36DA}" type="pres">
      <dgm:prSet presAssocID="{A6242D37-AF81-4A91-9692-C3B78C4C080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CD05D74-D5AE-459F-A6DF-06E0D3F03A72}" type="pres">
      <dgm:prSet presAssocID="{A6242D37-AF81-4A91-9692-C3B78C4C080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AB5314E-660E-4ED1-846B-8434948EF46B}" type="pres">
      <dgm:prSet presAssocID="{A6242D37-AF81-4A91-9692-C3B78C4C080A}" presName="spaceRect" presStyleCnt="0"/>
      <dgm:spPr/>
    </dgm:pt>
    <dgm:pt modelId="{A3838D15-85D1-4048-B20D-9009920800B0}" type="pres">
      <dgm:prSet presAssocID="{A6242D37-AF81-4A91-9692-C3B78C4C080A}" presName="textRect" presStyleLbl="revTx" presStyleIdx="1" presStyleCnt="2" custScaleX="147657">
        <dgm:presLayoutVars>
          <dgm:chMax val="1"/>
          <dgm:chPref val="1"/>
        </dgm:presLayoutVars>
      </dgm:prSet>
      <dgm:spPr/>
    </dgm:pt>
  </dgm:ptLst>
  <dgm:cxnLst>
    <dgm:cxn modelId="{34AD3E24-5AE2-4091-998E-71D41F9CDB89}" type="presOf" srcId="{A6242D37-AF81-4A91-9692-C3B78C4C080A}" destId="{A3838D15-85D1-4048-B20D-9009920800B0}" srcOrd="0" destOrd="0" presId="urn:microsoft.com/office/officeart/2018/5/layout/IconLeafLabelList"/>
    <dgm:cxn modelId="{7E7C886D-A667-496F-8DDE-1B718561DB03}" srcId="{545DC5F4-D431-4A87-93B0-BBE05B35CCB1}" destId="{54983E92-0B7C-43A8-8C1F-984B0DFA982E}" srcOrd="0" destOrd="0" parTransId="{47D3E5B5-E005-481D-9366-7FFA245A3F46}" sibTransId="{9E0C94DC-193A-41FC-B82A-2A43E45C8107}"/>
    <dgm:cxn modelId="{B47C2F55-9A4B-4FFB-AA38-9C2574693CD4}" type="presOf" srcId="{54983E92-0B7C-43A8-8C1F-984B0DFA982E}" destId="{4E513C3D-9C85-4581-9570-C87158EE7A8E}" srcOrd="0" destOrd="0" presId="urn:microsoft.com/office/officeart/2018/5/layout/IconLeafLabelList"/>
    <dgm:cxn modelId="{53CEBE9C-EA76-48A8-8DF7-6953575A9C37}" type="presOf" srcId="{545DC5F4-D431-4A87-93B0-BBE05B35CCB1}" destId="{1CF3E5B1-FB46-4446-95BF-0E7408D9C151}" srcOrd="0" destOrd="0" presId="urn:microsoft.com/office/officeart/2018/5/layout/IconLeafLabelList"/>
    <dgm:cxn modelId="{0F5369C5-3BD8-41EC-82BC-B46BD7C285F5}" srcId="{545DC5F4-D431-4A87-93B0-BBE05B35CCB1}" destId="{A6242D37-AF81-4A91-9692-C3B78C4C080A}" srcOrd="1" destOrd="0" parTransId="{A1582085-1655-4316-B7FE-C167B01E3451}" sibTransId="{487527DA-4CA7-40A4-8E27-547430E84424}"/>
    <dgm:cxn modelId="{5C6FCB9C-3574-4EF1-979B-C82FE21FC231}" type="presParOf" srcId="{1CF3E5B1-FB46-4446-95BF-0E7408D9C151}" destId="{BE3E81CB-7E93-484B-AE32-12C58B09BCE0}" srcOrd="0" destOrd="0" presId="urn:microsoft.com/office/officeart/2018/5/layout/IconLeafLabelList"/>
    <dgm:cxn modelId="{3BEBC4B0-3768-4D30-9883-ED03B1BB2AA3}" type="presParOf" srcId="{BE3E81CB-7E93-484B-AE32-12C58B09BCE0}" destId="{D2D6216C-9B23-402E-A942-468E0F624F5B}" srcOrd="0" destOrd="0" presId="urn:microsoft.com/office/officeart/2018/5/layout/IconLeafLabelList"/>
    <dgm:cxn modelId="{9334B4F2-C5A7-478D-8C83-6B6B78937527}" type="presParOf" srcId="{BE3E81CB-7E93-484B-AE32-12C58B09BCE0}" destId="{F943F739-4EBC-47A7-A14C-25327E72C0F2}" srcOrd="1" destOrd="0" presId="urn:microsoft.com/office/officeart/2018/5/layout/IconLeafLabelList"/>
    <dgm:cxn modelId="{722E4463-BB96-47A5-B05B-8394250686DE}" type="presParOf" srcId="{BE3E81CB-7E93-484B-AE32-12C58B09BCE0}" destId="{3085FCD0-B526-4BA1-831E-148271EBCA71}" srcOrd="2" destOrd="0" presId="urn:microsoft.com/office/officeart/2018/5/layout/IconLeafLabelList"/>
    <dgm:cxn modelId="{4DDDB5E8-1F23-4A78-9605-45AAF5833E68}" type="presParOf" srcId="{BE3E81CB-7E93-484B-AE32-12C58B09BCE0}" destId="{4E513C3D-9C85-4581-9570-C87158EE7A8E}" srcOrd="3" destOrd="0" presId="urn:microsoft.com/office/officeart/2018/5/layout/IconLeafLabelList"/>
    <dgm:cxn modelId="{123D8173-4B78-41DB-B068-2BA15E016A23}" type="presParOf" srcId="{1CF3E5B1-FB46-4446-95BF-0E7408D9C151}" destId="{00D865C2-7AA1-4413-870A-557561F6A99D}" srcOrd="1" destOrd="0" presId="urn:microsoft.com/office/officeart/2018/5/layout/IconLeafLabelList"/>
    <dgm:cxn modelId="{E92967F1-54D1-402B-9BE3-03FB7BECA8E6}" type="presParOf" srcId="{1CF3E5B1-FB46-4446-95BF-0E7408D9C151}" destId="{0444C821-AE95-419C-A2C2-10FD435B3E72}" srcOrd="2" destOrd="0" presId="urn:microsoft.com/office/officeart/2018/5/layout/IconLeafLabelList"/>
    <dgm:cxn modelId="{6A34589F-98DC-49A5-B284-AB8B04E10F1B}" type="presParOf" srcId="{0444C821-AE95-419C-A2C2-10FD435B3E72}" destId="{C1C41DF5-156F-4AFD-8177-5E65296E36DA}" srcOrd="0" destOrd="0" presId="urn:microsoft.com/office/officeart/2018/5/layout/IconLeafLabelList"/>
    <dgm:cxn modelId="{E4BDC4E7-B33D-408F-A28A-9E646BDBCB86}" type="presParOf" srcId="{0444C821-AE95-419C-A2C2-10FD435B3E72}" destId="{BCD05D74-D5AE-459F-A6DF-06E0D3F03A72}" srcOrd="1" destOrd="0" presId="urn:microsoft.com/office/officeart/2018/5/layout/IconLeafLabelList"/>
    <dgm:cxn modelId="{3D1E9DB2-C5D6-4774-8110-C1F4D3951E71}" type="presParOf" srcId="{0444C821-AE95-419C-A2C2-10FD435B3E72}" destId="{2AB5314E-660E-4ED1-846B-8434948EF46B}" srcOrd="2" destOrd="0" presId="urn:microsoft.com/office/officeart/2018/5/layout/IconLeafLabelList"/>
    <dgm:cxn modelId="{2B9C7FC2-A255-4335-A004-2546E39B1238}" type="presParOf" srcId="{0444C821-AE95-419C-A2C2-10FD435B3E72}" destId="{A3838D15-85D1-4048-B20D-9009920800B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6216C-9B23-402E-A942-468E0F624F5B}">
      <dsp:nvSpPr>
        <dsp:cNvPr id="0" name=""/>
        <dsp:cNvSpPr/>
      </dsp:nvSpPr>
      <dsp:spPr>
        <a:xfrm>
          <a:off x="1178341" y="1535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3F739-4EBC-47A7-A14C-25327E72C0F2}">
      <dsp:nvSpPr>
        <dsp:cNvPr id="0" name=""/>
        <dsp:cNvSpPr/>
      </dsp:nvSpPr>
      <dsp:spPr>
        <a:xfrm>
          <a:off x="1470841" y="307856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13C3D-9C85-4581-9570-C87158EE7A8E}">
      <dsp:nvSpPr>
        <dsp:cNvPr id="0" name=""/>
        <dsp:cNvSpPr/>
      </dsp:nvSpPr>
      <dsp:spPr>
        <a:xfrm>
          <a:off x="281626" y="1815356"/>
          <a:ext cx="3165930" cy="74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Due by Midnight </a:t>
          </a:r>
          <a:r>
            <a:rPr lang="en-US" sz="1800" kern="1200" dirty="0">
              <a:solidFill>
                <a:srgbClr val="C00000"/>
              </a:solidFill>
            </a:rPr>
            <a:t>(11:59 pm) on Monday, Sep 29, 2025</a:t>
          </a:r>
        </a:p>
      </dsp:txBody>
      <dsp:txXfrm>
        <a:off x="281626" y="1815356"/>
        <a:ext cx="3165930" cy="743927"/>
      </dsp:txXfrm>
    </dsp:sp>
    <dsp:sp modelId="{C1C41DF5-156F-4AFD-8177-5E65296E36DA}">
      <dsp:nvSpPr>
        <dsp:cNvPr id="0" name=""/>
        <dsp:cNvSpPr/>
      </dsp:nvSpPr>
      <dsp:spPr>
        <a:xfrm>
          <a:off x="4816197" y="1535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05D74-D5AE-459F-A6DF-06E0D3F03A72}">
      <dsp:nvSpPr>
        <dsp:cNvPr id="0" name=""/>
        <dsp:cNvSpPr/>
      </dsp:nvSpPr>
      <dsp:spPr>
        <a:xfrm>
          <a:off x="5108697" y="307856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38D15-85D1-4048-B20D-9009920800B0}">
      <dsp:nvSpPr>
        <dsp:cNvPr id="0" name=""/>
        <dsp:cNvSpPr/>
      </dsp:nvSpPr>
      <dsp:spPr>
        <a:xfrm>
          <a:off x="3841306" y="1815356"/>
          <a:ext cx="3322282" cy="743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Submit a word document only include </a:t>
          </a:r>
          <a:r>
            <a:rPr lang="en-US" sz="1800" kern="1200" dirty="0">
              <a:solidFill>
                <a:srgbClr val="C00000"/>
              </a:solidFill>
            </a:rPr>
            <a:t>question and answer</a:t>
          </a:r>
        </a:p>
      </dsp:txBody>
      <dsp:txXfrm>
        <a:off x="3841306" y="1815356"/>
        <a:ext cx="3322282" cy="7439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9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2415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0, max is 850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064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Tint or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83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912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3D6C-4C04-4098-BFD3-3A35EE232A02}" type="datetime1">
              <a:rPr lang="en-US" smtClean="0"/>
              <a:t>9/21/2026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6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FE18-0348-44C2-B6F7-2E0D6E3F701A}" type="datetime1">
              <a:rPr lang="en-US" smtClean="0"/>
              <a:t>9/21/2026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47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0D2F-BB82-470C-9FE9-67ACBD4EA48C}" type="datetime1">
              <a:rPr lang="en-US" smtClean="0"/>
              <a:t>9/21/2026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6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95C9-8F46-4670-8D9D-84E56B4CFD5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28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75E7C-2B02-474E-8FA0-86410A5FC033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54FF1-2CCB-4C67-BF4F-DF19FC698996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1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9D0A-F538-4910-B89C-0793149889D3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72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5CF7382D-DEC2-4064-84F2-56AF48079030}" type="datetime1">
              <a:rPr lang="en-US" smtClean="0"/>
              <a:t>9/21/2026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22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25F9-7C58-4ADD-B4E8-3E3F2DD7C261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9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67AB-96C5-48C1-ABEF-4922F06666C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6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2300-F914-44F4-9F48-323AB4F049A8}" type="datetime1">
              <a:rPr lang="en-US" smtClean="0"/>
              <a:t>9/21/2026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5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AF446-C7A3-4A2D-B01C-4080BC0DDC51}" type="datetime1">
              <a:rPr lang="en-US" smtClean="0"/>
              <a:t>9/21/2026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0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5B41-BFC4-4275-B283-99B49DA65AE7}" type="datetime1">
              <a:rPr lang="en-US" smtClean="0"/>
              <a:t>9/21/2026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3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5041-7C46-4557-A8EF-D9C07452E04F}" type="datetime1">
              <a:rPr lang="en-US" smtClean="0"/>
              <a:t>9/21/2026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82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F29B-8031-46B1-B8C6-0E15991220BD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41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BC96-89B3-4A8F-8C3A-8FECB7F0AF50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24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6BEE-F3E4-4F76-B56D-1C48BBD7AEA9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091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79E3-AE5C-4717-978E-15FC3620ACEF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85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07B82B69-02FF-4A00-BF94-063310C8EF70}" type="datetime1">
              <a:rPr lang="en-US" smtClean="0"/>
              <a:t>9/21/2026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279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3C19-50BF-43F6-AD63-C05469BE503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78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5F4A-7979-4619-A182-7748F9FBAA45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001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0E10-3CDB-43FE-B1B5-7D3654751138}" type="datetime1">
              <a:rPr lang="en-US" smtClean="0"/>
              <a:t>9/21/2026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71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FEA4-C6CA-4262-94C7-989766AA3A47}" type="datetime1">
              <a:rPr lang="en-US" smtClean="0"/>
              <a:t>9/21/2026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248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A5F7-BE7B-4360-B821-FCDB8E9197AC}" type="datetime1">
              <a:rPr lang="en-US" smtClean="0"/>
              <a:t>9/21/2026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883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D492-0F60-495A-BAAC-3C877C1D64A2}" type="datetime1">
              <a:rPr lang="en-US" smtClean="0"/>
              <a:t>9/21/2026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430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2FED-C97B-4E3C-B05B-1278829CCA0F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601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91E7-DD27-45EE-9FAC-A58839C2E3FB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216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943-D34E-498D-BB5B-1BC0D01A4C3C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099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8AC7-A362-47DE-B037-3A7E785BA73D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40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1E09BAED-B7FC-4220-8037-60663F890984}" type="datetime1">
              <a:rPr lang="en-US" smtClean="0"/>
              <a:t>9/21/2026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99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0B96-D43B-410F-A514-3967CACDF6C4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38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B46-027F-4778-8182-714012A6E051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104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D05A-9631-4BEE-9AA4-5575ADA850E9}" type="datetime1">
              <a:rPr lang="en-US" smtClean="0"/>
              <a:t>9/21/2026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92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774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167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63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7597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6392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326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5232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2384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841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7305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804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9175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433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000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83134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624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3647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7253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740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5477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8160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0518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7347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6616379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6419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7469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1431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9115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6706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1845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35475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64387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9484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204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25453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9093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5145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7835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4340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73207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45366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9815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27244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3095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7564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310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64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8F82ABC-BB26-4212-BE76-C6A697540B8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6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1ED8BDC-014F-440E-B651-A3D5A758B980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01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34BEC2-5A9D-42E1-9C16-1E9F257755B7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104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4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96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083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76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stbok-topics.ucgis.org/CV-03-005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bok.ucgis.org/bok-topics/statistical-mapping-enumeration-normalization-classification#:~:text=In%20Cartography%2C%20units%20by%20which,metropolitan%20areas%2C%20among%20many%20others.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arkansas-gis-agio.hub.arcgis.com/search?categories=%252Fcategories%252Fsociety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57176"/>
            <a:ext cx="8229599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3" y="257175"/>
            <a:ext cx="8229587" cy="46291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90" y="565785"/>
            <a:ext cx="3382366" cy="617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18" y="662983"/>
            <a:ext cx="3381337" cy="39078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060" y="785709"/>
            <a:ext cx="3871767" cy="1831185"/>
          </a:xfrm>
        </p:spPr>
        <p:txBody>
          <a:bodyPr>
            <a:normAutofit/>
          </a:bodyPr>
          <a:lstStyle/>
          <a:p>
            <a:r>
              <a:rPr lang="en-US" sz="2700" dirty="0">
                <a:solidFill>
                  <a:srgbClr val="FFFFFF"/>
                </a:solidFill>
              </a:rPr>
              <a:t>WEEK 06</a:t>
            </a:r>
            <a:br>
              <a:rPr lang="en-US" sz="2700" dirty="0">
                <a:solidFill>
                  <a:srgbClr val="FFFFFF"/>
                </a:solidFill>
              </a:rPr>
            </a:br>
            <a:r>
              <a:rPr lang="en-US" altLang="zh-CN" sz="2800" dirty="0"/>
              <a:t>Data Classification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060" y="2798352"/>
            <a:ext cx="2916154" cy="1537292"/>
          </a:xfrm>
        </p:spPr>
        <p:txBody>
          <a:bodyPr>
            <a:noAutofit/>
          </a:bodyPr>
          <a:lstStyle/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9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2026</a:t>
            </a:r>
          </a:p>
          <a:p>
            <a:endParaRPr lang="en-US" sz="189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6.1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CLASSIFICATION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71417" y="1068658"/>
            <a:ext cx="3286765" cy="388620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600" dirty="0"/>
              <a:t>Data Classification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Quantiles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240" dirty="0"/>
              <a:t>Standard deviation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247135" y="389510"/>
            <a:ext cx="8077200" cy="534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O</a:t>
            </a:r>
            <a:r>
              <a:rPr lang="en-US" altLang="zh-CN" sz="3200" dirty="0">
                <a:solidFill>
                  <a:srgbClr val="7030A0"/>
                </a:solidFill>
              </a:rPr>
              <a:t>verview</a:t>
            </a:r>
            <a:endParaRPr lang="en-US" sz="2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405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236B0D-77DA-40DD-A4DD-2FF3ABCF8081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C5DB739-20F3-42ED-8F68-2C9AC3BC4128}"/>
              </a:ext>
            </a:extLst>
          </p:cNvPr>
          <p:cNvSpPr txBox="1">
            <a:spLocks/>
          </p:cNvSpPr>
          <p:nvPr/>
        </p:nvSpPr>
        <p:spPr>
          <a:xfrm>
            <a:off x="247135" y="281940"/>
            <a:ext cx="8077200" cy="748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7030A0"/>
                </a:solidFill>
              </a:rPr>
              <a:t>D</a:t>
            </a:r>
            <a:r>
              <a:rPr lang="en-US" altLang="zh-CN" sz="3200" dirty="0">
                <a:solidFill>
                  <a:srgbClr val="7030A0"/>
                </a:solidFill>
              </a:rPr>
              <a:t>ata Classification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7" name="Rectangle 1027">
            <a:extLst>
              <a:ext uri="{FF2B5EF4-FFF2-40B4-BE49-F238E27FC236}">
                <a16:creationId xmlns:a16="http://schemas.microsoft.com/office/drawing/2014/main" id="{CAD29DC8-DB08-4DBA-834A-2684963EDCBF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The act of organizing attribute values into categories, or groups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Can be qualitative or quantitative, and based on any of the four measurement scales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Nominal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Ordinal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Ratio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6D2492-D921-4460-AB89-B3A25B17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781A92-AFCB-4070-BEDD-2F526336592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3248A48-84FF-4FB0-86EA-12F6D8242E95}"/>
              </a:ext>
            </a:extLst>
          </p:cNvPr>
          <p:cNvSpPr txBox="1">
            <a:spLocks/>
          </p:cNvSpPr>
          <p:nvPr/>
        </p:nvSpPr>
        <p:spPr>
          <a:xfrm>
            <a:off x="247135" y="22733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7827843E-EDC7-41DF-A3C7-8C77A42653F4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029962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One set of attribute values can yield many different maps, depending on the classification methods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The scheme you choose can strongly influence how your map is perceived.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Some of the most common schemes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Equal interval, quantiles, natural breaks, standard deviation, optimal breaks, maximum breaks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9EA289-E2EB-4525-9CA1-5BFA5B72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5" descr="Population map with three different classification methods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6128" y="1929655"/>
            <a:ext cx="4337344" cy="29506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051D06-EED7-4820-A03B-D356E9617C98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349A3129-B78B-47A6-A8F9-752CF40B58DD}"/>
              </a:ext>
            </a:extLst>
          </p:cNvPr>
          <p:cNvSpPr txBox="1">
            <a:spLocks/>
          </p:cNvSpPr>
          <p:nvPr/>
        </p:nvSpPr>
        <p:spPr>
          <a:xfrm>
            <a:off x="236838" y="176025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E3546995-9822-49E9-913B-2F3569173B80}"/>
              </a:ext>
            </a:extLst>
          </p:cNvPr>
          <p:cNvSpPr txBox="1">
            <a:spLocks noChangeArrowheads="1"/>
          </p:cNvSpPr>
          <p:nvPr/>
        </p:nvSpPr>
        <p:spPr>
          <a:xfrm>
            <a:off x="313038" y="994144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600" dirty="0">
                <a:solidFill>
                  <a:srgbClr val="000000"/>
                </a:solidFill>
                <a:ea typeface="MS Mincho" pitchFamily="49" charset="-128"/>
              </a:rPr>
              <a:t>Animation showing population using equal interval, quantile, and natural breaks classification methods</a:t>
            </a:r>
            <a:endParaRPr lang="en-US" sz="2600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B558F-82DE-4B80-8E0A-87B34172B6FB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F34E9A-E86D-492F-85BA-9D4FFC9A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6" descr="Image of equal interval definitio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8361" y="2202061"/>
            <a:ext cx="5933241" cy="2567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9" name="Rectangle 8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1750" name="Rectangle 9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1404820" y="2547105"/>
            <a:ext cx="449162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TOWN</a:t>
            </a:r>
          </a:p>
        </p:txBody>
      </p:sp>
      <p:sp>
        <p:nvSpPr>
          <p:cNvPr id="31752" name="Rectangle 10"/>
          <p:cNvSpPr>
            <a:spLocks noChangeArrowheads="1"/>
          </p:cNvSpPr>
          <p:nvPr/>
        </p:nvSpPr>
        <p:spPr bwMode="auto">
          <a:xfrm>
            <a:off x="1795940" y="2547105"/>
            <a:ext cx="802480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675" b="1" dirty="0">
                <a:solidFill>
                  <a:srgbClr val="000000"/>
                </a:solidFill>
                <a:latin typeface="Arial" charset="0"/>
                <a:cs typeface="Arial" charset="0"/>
              </a:rPr>
              <a:t>POPULATION</a:t>
            </a:r>
          </a:p>
        </p:txBody>
      </p:sp>
      <p:sp>
        <p:nvSpPr>
          <p:cNvPr id="301071" name="Rectangle 15"/>
          <p:cNvSpPr>
            <a:spLocks noChangeArrowheads="1"/>
          </p:cNvSpPr>
          <p:nvPr/>
        </p:nvSpPr>
        <p:spPr bwMode="auto">
          <a:xfrm>
            <a:off x="4645224" y="3427929"/>
            <a:ext cx="2204450" cy="300082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 No gaps between classes</a:t>
            </a:r>
          </a:p>
        </p:txBody>
      </p:sp>
      <p:sp>
        <p:nvSpPr>
          <p:cNvPr id="301072" name="Line 16"/>
          <p:cNvSpPr>
            <a:spLocks noChangeShapeType="1"/>
          </p:cNvSpPr>
          <p:nvPr/>
        </p:nvSpPr>
        <p:spPr bwMode="auto">
          <a:xfrm flipH="1" flipV="1">
            <a:off x="4201598" y="3356134"/>
            <a:ext cx="438269" cy="197168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en-US" sz="1215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728211-A4A3-4922-A0C6-A64CE12920D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E3FAA335-3FCA-4FF2-870E-EB00DEC45EE1}"/>
              </a:ext>
            </a:extLst>
          </p:cNvPr>
          <p:cNvSpPr txBox="1">
            <a:spLocks/>
          </p:cNvSpPr>
          <p:nvPr/>
        </p:nvSpPr>
        <p:spPr>
          <a:xfrm>
            <a:off x="274938" y="19340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B5289ECC-3465-444A-8712-6ED52E1A1725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occupies an equal interval along the number line, or histogram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FB1BC-25B5-4BE7-9314-102C75177610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E17D5E-A590-4413-A9DE-514F56A3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71" grpId="0" animBg="1"/>
      <p:bldP spid="30107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303410" y="3218841"/>
            <a:ext cx="1774919" cy="1546577"/>
            <a:chOff x="3287564" y="3728807"/>
            <a:chExt cx="2629511" cy="2291225"/>
          </a:xfrm>
        </p:grpSpPr>
        <p:sp>
          <p:nvSpPr>
            <p:cNvPr id="32773" name="Rectangle 6" descr="Example of equal interval "/>
            <p:cNvSpPr>
              <a:spLocks noChangeArrowheads="1"/>
            </p:cNvSpPr>
            <p:nvPr/>
          </p:nvSpPr>
          <p:spPr bwMode="auto">
            <a:xfrm>
              <a:off x="4247101" y="3728807"/>
              <a:ext cx="1669974" cy="2291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0 – 20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21 – 40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41 – 60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61 – 80</a:t>
              </a:r>
            </a:p>
            <a:p>
              <a:pPr algn="l"/>
              <a:r>
                <a:rPr lang="en-US" sz="189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81 – 100</a:t>
              </a:r>
              <a:endParaRPr lang="en-US" sz="1890" dirty="0"/>
            </a:p>
          </p:txBody>
        </p:sp>
        <p:pic>
          <p:nvPicPr>
            <p:cNvPr id="32774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87564" y="3777179"/>
              <a:ext cx="874641" cy="2129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1010F8-2D5E-4DC3-82F4-BB12B62B2239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D3756FEF-C64A-4934-9B58-E4FCEFEE2FED}"/>
              </a:ext>
            </a:extLst>
          </p:cNvPr>
          <p:cNvSpPr txBox="1">
            <a:spLocks/>
          </p:cNvSpPr>
          <p:nvPr/>
        </p:nvSpPr>
        <p:spPr>
          <a:xfrm>
            <a:off x="274938" y="215334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7EBC59B8-A183-4D9C-8822-9E715BCE65AD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Can be easy to understand and interpret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Good for attributes that are normally represented using uniform classes: elevation, precipitation, percentages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5F3D5D-C536-4CC8-B1F6-55BBAF7FA996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5F80C0-D959-41C5-B0C6-863DCBAD9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47081933-B3BE-465A-B06D-B8BEBE557980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Equal Interval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Poorly considers distribution of data along a number line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Doesn’t works well with skewed distributions (can result in empty classes)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pic>
        <p:nvPicPr>
          <p:cNvPr id="34818" name="Picture 7" descr="Image showing disadvantages of equal interva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6316" y="3170753"/>
            <a:ext cx="5333167" cy="870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996BE5-2850-4CB1-B5F7-17DD77FE2CA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E1D6009A-D44C-46E3-8A5B-C5746F4DC1C9}"/>
              </a:ext>
            </a:extLst>
          </p:cNvPr>
          <p:cNvSpPr txBox="1">
            <a:spLocks/>
          </p:cNvSpPr>
          <p:nvPr/>
        </p:nvSpPr>
        <p:spPr>
          <a:xfrm>
            <a:off x="152400" y="24538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D38C98-1D9D-4BBA-AA8A-97E9B67572A7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BA1313-1E73-482B-BF8F-969F2C36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DE7F2320-4748-4FE4-98FB-4A2ABCFCA058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Quantile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contains the same (or similar) number of attribute values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pic>
        <p:nvPicPr>
          <p:cNvPr id="35842" name="Picture 6" descr="Image of quantile defini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4429" y="2199919"/>
            <a:ext cx="5945029" cy="2578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5157" name="Rectangle 5"/>
          <p:cNvSpPr>
            <a:spLocks noChangeArrowheads="1"/>
          </p:cNvSpPr>
          <p:nvPr/>
        </p:nvSpPr>
        <p:spPr bwMode="auto">
          <a:xfrm>
            <a:off x="5143500" y="2085261"/>
            <a:ext cx="1697355" cy="715581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350" dirty="0">
                <a:solidFill>
                  <a:srgbClr val="000000"/>
                </a:solidFill>
                <a:latin typeface="Arial" charset="0"/>
                <a:cs typeface="Arial" charset="0"/>
              </a:rPr>
              <a:t>4 classes: quartiles</a:t>
            </a:r>
          </a:p>
          <a:p>
            <a:r>
              <a:rPr lang="en-US" sz="1350" dirty="0">
                <a:solidFill>
                  <a:srgbClr val="000000"/>
                </a:solidFill>
                <a:latin typeface="Arial" charset="0"/>
                <a:cs typeface="Arial" charset="0"/>
              </a:rPr>
              <a:t>5 classes: quintiles</a:t>
            </a:r>
          </a:p>
          <a:p>
            <a:r>
              <a:rPr lang="en-US" sz="1350" dirty="0">
                <a:solidFill>
                  <a:srgbClr val="000000"/>
                </a:solidFill>
                <a:latin typeface="Arial" charset="0"/>
                <a:cs typeface="Arial" charset="0"/>
              </a:rPr>
              <a:t>6 classes: sextiles</a:t>
            </a:r>
          </a:p>
        </p:txBody>
      </p:sp>
      <p:sp>
        <p:nvSpPr>
          <p:cNvPr id="35846" name="Rectangle 7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5847" name="Rectangle 8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5848" name="Rectangle 9"/>
          <p:cNvSpPr>
            <a:spLocks noChangeArrowheads="1"/>
          </p:cNvSpPr>
          <p:nvPr/>
        </p:nvSpPr>
        <p:spPr bwMode="auto">
          <a:xfrm>
            <a:off x="1404820" y="2547105"/>
            <a:ext cx="449162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TOWN</a:t>
            </a:r>
          </a:p>
        </p:txBody>
      </p:sp>
      <p:sp>
        <p:nvSpPr>
          <p:cNvPr id="305163" name="Rectangle 11"/>
          <p:cNvSpPr>
            <a:spLocks noChangeArrowheads="1"/>
          </p:cNvSpPr>
          <p:nvPr/>
        </p:nvSpPr>
        <p:spPr bwMode="auto">
          <a:xfrm>
            <a:off x="4638795" y="3427929"/>
            <a:ext cx="1925527" cy="300082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Gaps between classes</a:t>
            </a:r>
          </a:p>
        </p:txBody>
      </p:sp>
      <p:sp>
        <p:nvSpPr>
          <p:cNvPr id="305164" name="Line 12"/>
          <p:cNvSpPr>
            <a:spLocks noChangeShapeType="1"/>
          </p:cNvSpPr>
          <p:nvPr/>
        </p:nvSpPr>
        <p:spPr bwMode="auto">
          <a:xfrm flipH="1" flipV="1">
            <a:off x="4201598" y="3356134"/>
            <a:ext cx="438269" cy="197168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en-US" sz="1215"/>
          </a:p>
        </p:txBody>
      </p:sp>
      <p:sp>
        <p:nvSpPr>
          <p:cNvPr id="35851" name="Rectangle 10"/>
          <p:cNvSpPr>
            <a:spLocks noChangeArrowheads="1"/>
          </p:cNvSpPr>
          <p:nvPr/>
        </p:nvSpPr>
        <p:spPr bwMode="auto">
          <a:xfrm>
            <a:off x="1784153" y="2547105"/>
            <a:ext cx="69222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POPULATION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BE3AE1-FE28-497B-AAA5-00F5E8ABBE9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5C03C2CF-0CBD-48EF-B3E6-2E9CC790B51B}"/>
              </a:ext>
            </a:extLst>
          </p:cNvPr>
          <p:cNvSpPr txBox="1">
            <a:spLocks/>
          </p:cNvSpPr>
          <p:nvPr/>
        </p:nvSpPr>
        <p:spPr>
          <a:xfrm>
            <a:off x="274938" y="177924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AA345-9E6F-411B-8E8A-F03771429704}"/>
              </a:ext>
            </a:extLst>
          </p:cNvPr>
          <p:cNvSpPr txBox="1"/>
          <p:nvPr/>
        </p:nvSpPr>
        <p:spPr>
          <a:xfrm>
            <a:off x="512957" y="486650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F5CC1C-0D70-48D6-A0BB-B4AD74FC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7" grpId="0" animBg="1"/>
      <p:bldP spid="305163" grpId="0" animBg="1"/>
      <p:bldP spid="30516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5" descr="Example of quanti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1332" y="2755832"/>
            <a:ext cx="2441019" cy="22502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6869" name="Rectangle 7"/>
          <p:cNvSpPr>
            <a:spLocks noChangeArrowheads="1"/>
          </p:cNvSpPr>
          <p:nvPr/>
        </p:nvSpPr>
        <p:spPr bwMode="auto">
          <a:xfrm>
            <a:off x="5578555" y="3251122"/>
            <a:ext cx="1300356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≈13 Counties </a:t>
            </a:r>
          </a:p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        per Class</a:t>
            </a:r>
          </a:p>
        </p:txBody>
      </p:sp>
      <p:grpSp>
        <p:nvGrpSpPr>
          <p:cNvPr id="36870" name="Group 9"/>
          <p:cNvGrpSpPr>
            <a:grpSpLocks/>
          </p:cNvGrpSpPr>
          <p:nvPr/>
        </p:nvGrpSpPr>
        <p:grpSpPr bwMode="auto">
          <a:xfrm>
            <a:off x="4536999" y="3151468"/>
            <a:ext cx="1107996" cy="507921"/>
            <a:chOff x="2899" y="2701"/>
            <a:chExt cx="1034" cy="474"/>
          </a:xfrm>
        </p:grpSpPr>
        <p:sp>
          <p:nvSpPr>
            <p:cNvPr id="36871" name="Rectangle 6"/>
            <p:cNvSpPr>
              <a:spLocks noChangeArrowheads="1"/>
            </p:cNvSpPr>
            <p:nvPr/>
          </p:nvSpPr>
          <p:spPr bwMode="auto">
            <a:xfrm>
              <a:off x="2899" y="2701"/>
              <a:ext cx="1034" cy="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>
                  <a:solidFill>
                    <a:srgbClr val="000000"/>
                  </a:solidFill>
                  <a:latin typeface="Arial" charset="0"/>
                  <a:cs typeface="Arial" charset="0"/>
                </a:rPr>
                <a:t>67 Counties</a:t>
              </a:r>
            </a:p>
            <a:p>
              <a:r>
                <a:rPr lang="en-US" sz="1350">
                  <a:solidFill>
                    <a:srgbClr val="000000"/>
                  </a:solidFill>
                  <a:latin typeface="Arial" charset="0"/>
                  <a:cs typeface="Arial" charset="0"/>
                </a:rPr>
                <a:t>5 Classes</a:t>
              </a:r>
            </a:p>
          </p:txBody>
        </p:sp>
        <p:sp>
          <p:nvSpPr>
            <p:cNvPr id="36872" name="Line 8"/>
            <p:cNvSpPr>
              <a:spLocks noChangeShapeType="1"/>
            </p:cNvSpPr>
            <p:nvPr/>
          </p:nvSpPr>
          <p:spPr bwMode="auto">
            <a:xfrm>
              <a:off x="2934" y="2927"/>
              <a:ext cx="8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15"/>
            </a:p>
          </p:txBody>
        </p:sp>
      </p:grpSp>
      <p:sp>
        <p:nvSpPr>
          <p:cNvPr id="3" name="Rectangle 1027">
            <a:extLst>
              <a:ext uri="{FF2B5EF4-FFF2-40B4-BE49-F238E27FC236}">
                <a16:creationId xmlns:a16="http://schemas.microsoft.com/office/drawing/2014/main" id="{295B2B03-B056-4D71-B6AF-5E3FAF086266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Quantile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Ensures that a choropleth map will have the same number of darkest polygons as lightest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6EC80D-7041-4430-AA9D-DF1209603A8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D7118CC8-54CF-4797-90DD-95FFEDFD8970}"/>
              </a:ext>
            </a:extLst>
          </p:cNvPr>
          <p:cNvSpPr txBox="1">
            <a:spLocks/>
          </p:cNvSpPr>
          <p:nvPr/>
        </p:nvSpPr>
        <p:spPr>
          <a:xfrm>
            <a:off x="274938" y="224145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327A4-BF1E-4DC5-9929-EE23226B3162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0A1489-5EEB-404A-BA4A-37758A7C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10" descr="Image showing disadvantage of quanti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3638" y="3194158"/>
            <a:ext cx="5338524" cy="981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027">
            <a:extLst>
              <a:ext uri="{FF2B5EF4-FFF2-40B4-BE49-F238E27FC236}">
                <a16:creationId xmlns:a16="http://schemas.microsoft.com/office/drawing/2014/main" id="{156A006C-F209-47CA-8BF7-E7BE7C29F1AC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Quantile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Poorly considers distribution of data along a number line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Doesn’t works well with skewed distributions (one or two classes can occupy the majority of the range)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42030B-0629-4A1E-9F87-A36BFBCE7B1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05F982EC-15E1-4C36-BF01-4DC31CB3700A}"/>
              </a:ext>
            </a:extLst>
          </p:cNvPr>
          <p:cNvSpPr txBox="1">
            <a:spLocks/>
          </p:cNvSpPr>
          <p:nvPr/>
        </p:nvSpPr>
        <p:spPr>
          <a:xfrm>
            <a:off x="152400" y="16172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0CFDA-BF47-422B-9F86-48F4C2BB09BC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1CB8B9-A85D-4BF3-ADE1-E99B653D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8" descr="Image showing natural breaks definition 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6572" y="2193489"/>
            <a:ext cx="5950387" cy="2580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233" name="Rectangle 9"/>
          <p:cNvSpPr>
            <a:spLocks noChangeArrowheads="1"/>
          </p:cNvSpPr>
          <p:nvPr/>
        </p:nvSpPr>
        <p:spPr bwMode="auto">
          <a:xfrm>
            <a:off x="5337453" y="2468880"/>
            <a:ext cx="1345883" cy="507831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More subjective</a:t>
            </a:r>
          </a:p>
        </p:txBody>
      </p:sp>
      <p:sp>
        <p:nvSpPr>
          <p:cNvPr id="39942" name="Rectangle 10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9943" name="Rectangle 11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9944" name="Rectangle 12"/>
          <p:cNvSpPr>
            <a:spLocks noChangeArrowheads="1"/>
          </p:cNvSpPr>
          <p:nvPr/>
        </p:nvSpPr>
        <p:spPr bwMode="auto">
          <a:xfrm>
            <a:off x="1404820" y="2547105"/>
            <a:ext cx="449162" cy="196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TOWN</a:t>
            </a:r>
          </a:p>
        </p:txBody>
      </p:sp>
      <p:sp>
        <p:nvSpPr>
          <p:cNvPr id="308238" name="Rectangle 14"/>
          <p:cNvSpPr>
            <a:spLocks noChangeArrowheads="1"/>
          </p:cNvSpPr>
          <p:nvPr/>
        </p:nvSpPr>
        <p:spPr bwMode="auto">
          <a:xfrm>
            <a:off x="4638795" y="3427929"/>
            <a:ext cx="1925527" cy="300082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>
                <a:solidFill>
                  <a:srgbClr val="000000"/>
                </a:solidFill>
                <a:latin typeface="Arial" charset="0"/>
                <a:cs typeface="Arial" charset="0"/>
              </a:rPr>
              <a:t>Gaps between classes</a:t>
            </a:r>
          </a:p>
        </p:txBody>
      </p:sp>
      <p:sp>
        <p:nvSpPr>
          <p:cNvPr id="308239" name="Line 15"/>
          <p:cNvSpPr>
            <a:spLocks noChangeShapeType="1"/>
          </p:cNvSpPr>
          <p:nvPr/>
        </p:nvSpPr>
        <p:spPr bwMode="auto">
          <a:xfrm flipH="1" flipV="1">
            <a:off x="4201598" y="3356134"/>
            <a:ext cx="438269" cy="197168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en-US" sz="1215"/>
          </a:p>
        </p:txBody>
      </p:sp>
      <p:sp>
        <p:nvSpPr>
          <p:cNvPr id="39947" name="Rectangle 10"/>
          <p:cNvSpPr>
            <a:spLocks noChangeArrowheads="1"/>
          </p:cNvSpPr>
          <p:nvPr/>
        </p:nvSpPr>
        <p:spPr bwMode="auto">
          <a:xfrm>
            <a:off x="1784153" y="2547105"/>
            <a:ext cx="69222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675" b="1">
                <a:solidFill>
                  <a:srgbClr val="000000"/>
                </a:solidFill>
                <a:latin typeface="Arial" charset="0"/>
                <a:cs typeface="Arial" charset="0"/>
              </a:rPr>
              <a:t>POPULATION</a:t>
            </a: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A2C51F8-2C5F-4AF3-9A6F-F44BAFC8BAA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contains clusters of attribute values, and ‘natural’ breaks between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A9B694-6D09-48EF-AFF3-13A2FB92CF7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97ED816-A418-4260-AE7C-CAE9FA02322E}"/>
              </a:ext>
            </a:extLst>
          </p:cNvPr>
          <p:cNvSpPr txBox="1">
            <a:spLocks/>
          </p:cNvSpPr>
          <p:nvPr/>
        </p:nvSpPr>
        <p:spPr>
          <a:xfrm>
            <a:off x="274938" y="21416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B132C-3D85-4D0A-ADB3-9EEA8D7951B9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A9BD77-BA01-4D3E-B382-1009907A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33" grpId="0" animBg="1"/>
      <p:bldP spid="308238" grpId="0" animBg="1"/>
      <p:bldP spid="3082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8" descr="Image showing disadvantage of natural break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5538" y="3463290"/>
            <a:ext cx="5343882" cy="788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1027">
            <a:extLst>
              <a:ext uri="{FF2B5EF4-FFF2-40B4-BE49-F238E27FC236}">
                <a16:creationId xmlns:a16="http://schemas.microsoft.com/office/drawing/2014/main" id="{997C7970-A68F-4F02-9AE0-173DF7D2A96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Considers distribution of data along a number line (very good), each classification is ‘custom tailored’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Works well with skewed data distributions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81056B-4503-49B6-BE64-4455347997A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E7C1B09B-9F27-4A44-B41E-76081CF3B5E1}"/>
              </a:ext>
            </a:extLst>
          </p:cNvPr>
          <p:cNvSpPr txBox="1">
            <a:spLocks/>
          </p:cNvSpPr>
          <p:nvPr/>
        </p:nvSpPr>
        <p:spPr>
          <a:xfrm>
            <a:off x="274938" y="25234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4CB03-953A-4921-80B3-6D6BCF05DD2E}"/>
              </a:ext>
            </a:extLst>
          </p:cNvPr>
          <p:cNvSpPr txBox="1"/>
          <p:nvPr/>
        </p:nvSpPr>
        <p:spPr>
          <a:xfrm>
            <a:off x="4482170" y="476292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77C973-62EE-4B93-95A6-E2860B72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A48EA635-90E4-480E-BC95-BAFBA66EA411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Natural Breaks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Subjective, and results will differ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More difficult to compare with other maps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A9FE99-9E06-4C67-A6EF-3766AAEBF209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36F99068-EA4A-4927-BF07-A694C774283F}"/>
              </a:ext>
            </a:extLst>
          </p:cNvPr>
          <p:cNvSpPr txBox="1">
            <a:spLocks/>
          </p:cNvSpPr>
          <p:nvPr/>
        </p:nvSpPr>
        <p:spPr>
          <a:xfrm>
            <a:off x="274938" y="28950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A83901-F00E-4DD1-A2E4-288893FBE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>
            <a:extLst>
              <a:ext uri="{FF2B5EF4-FFF2-40B4-BE49-F238E27FC236}">
                <a16:creationId xmlns:a16="http://schemas.microsoft.com/office/drawing/2014/main" id="{FA2C51F8-2C5F-4AF3-9A6F-F44BAFC8BAA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Mean- Standard Deviation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Each class is determined by the standard deviation from the mean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39942" name="Rectangle 10"/>
          <p:cNvSpPr>
            <a:spLocks noChangeArrowheads="1"/>
          </p:cNvSpPr>
          <p:nvPr/>
        </p:nvSpPr>
        <p:spPr bwMode="auto">
          <a:xfrm>
            <a:off x="1408034" y="2526745"/>
            <a:ext cx="379333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39943" name="Rectangle 11"/>
          <p:cNvSpPr>
            <a:spLocks noChangeArrowheads="1"/>
          </p:cNvSpPr>
          <p:nvPr/>
        </p:nvSpPr>
        <p:spPr bwMode="auto">
          <a:xfrm>
            <a:off x="1835588" y="2526745"/>
            <a:ext cx="610791" cy="183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A9B694-6D09-48EF-AFF3-13A2FB92CF7B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97ED816-A418-4260-AE7C-CAE9FA02322E}"/>
              </a:ext>
            </a:extLst>
          </p:cNvPr>
          <p:cNvSpPr txBox="1">
            <a:spLocks/>
          </p:cNvSpPr>
          <p:nvPr/>
        </p:nvSpPr>
        <p:spPr>
          <a:xfrm>
            <a:off x="239647" y="217287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25D708-8679-4BA8-9194-522FC867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30B2C5A1-2439-0450-877C-3233BBE1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38" y="2416107"/>
            <a:ext cx="7679724" cy="230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25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>
            <a:extLst>
              <a:ext uri="{FF2B5EF4-FFF2-40B4-BE49-F238E27FC236}">
                <a16:creationId xmlns:a16="http://schemas.microsoft.com/office/drawing/2014/main" id="{997C7970-A68F-4F02-9AE0-173DF7D2A96B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Mean- Standard Deviation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Works well with normally distributed datasets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40" dirty="0"/>
              <a:t>Disadvantages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2080" dirty="0"/>
              <a:t>Does not work well with skewed or non-normally  distributed data</a:t>
            </a:r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81056B-4503-49B6-BE64-4455347997A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E7C1B09B-9F27-4A44-B41E-76081CF3B5E1}"/>
              </a:ext>
            </a:extLst>
          </p:cNvPr>
          <p:cNvSpPr txBox="1">
            <a:spLocks/>
          </p:cNvSpPr>
          <p:nvPr/>
        </p:nvSpPr>
        <p:spPr>
          <a:xfrm>
            <a:off x="274938" y="16172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365561-8A4E-4C5E-8AD5-A30A2302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67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781A92-AFCB-4070-BEDD-2F5263365926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3248A48-84FF-4FB0-86EA-12F6D8242E95}"/>
              </a:ext>
            </a:extLst>
          </p:cNvPr>
          <p:cNvSpPr txBox="1">
            <a:spLocks/>
          </p:cNvSpPr>
          <p:nvPr/>
        </p:nvSpPr>
        <p:spPr>
          <a:xfrm>
            <a:off x="274175" y="176137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Methods</a:t>
            </a:r>
            <a:endParaRPr lang="en-US" sz="2600" dirty="0">
              <a:solidFill>
                <a:srgbClr val="7030A0"/>
              </a:solidFill>
            </a:endParaRPr>
          </a:p>
        </p:txBody>
      </p:sp>
      <p:pic>
        <p:nvPicPr>
          <p:cNvPr id="3" name="Picture 2" descr="Image of different classification methods">
            <a:extLst>
              <a:ext uri="{FF2B5EF4-FFF2-40B4-BE49-F238E27FC236}">
                <a16:creationId xmlns:a16="http://schemas.microsoft.com/office/drawing/2014/main" id="{8D440A12-0ED3-4227-AFD8-05512D04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64712"/>
            <a:ext cx="5252930" cy="1997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432B53-2B0A-41CE-981B-C08C5E5B221B}"/>
              </a:ext>
            </a:extLst>
          </p:cNvPr>
          <p:cNvSpPr txBox="1"/>
          <p:nvPr/>
        </p:nvSpPr>
        <p:spPr>
          <a:xfrm>
            <a:off x="412595" y="1089246"/>
            <a:ext cx="7515922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80" dirty="0"/>
              <a:t>Percent of residents over the age of 25 in Wisconsin that possess a Bachelor's degree or higher in 2016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C9B0CE-AC09-4E34-834F-5A341993D840}"/>
              </a:ext>
            </a:extLst>
          </p:cNvPr>
          <p:cNvSpPr txBox="1"/>
          <p:nvPr/>
        </p:nvSpPr>
        <p:spPr>
          <a:xfrm>
            <a:off x="118533" y="4589502"/>
            <a:ext cx="61717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https://gistbok.ucgis.org/bok-topics/statistical-mapping-enumeration-normalization-classification#:~:text=In%20Cartography%2C%20units%20by%20which,metropolitan%20areas%2C%20among%20many%20others.</a:t>
            </a:r>
            <a:endParaRPr lang="en-US" sz="1000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013628-BA9B-495B-858D-58EDACC040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6815"/>
          <a:stretch/>
        </p:blipFill>
        <p:spPr>
          <a:xfrm>
            <a:off x="5786330" y="2264712"/>
            <a:ext cx="1710712" cy="195587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6BA40-6B84-4020-B377-073BE335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71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27">
            <a:extLst>
              <a:ext uri="{FF2B5EF4-FFF2-40B4-BE49-F238E27FC236}">
                <a16:creationId xmlns:a16="http://schemas.microsoft.com/office/drawing/2014/main" id="{6FDDA3E3-B05D-4EE3-956C-441AC806BE59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1356897"/>
            <a:ext cx="7679724" cy="151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There is no ‘best’ method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Certain methods are not well suited to particular situations</a:t>
            </a:r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CFEDB5-0D7C-4E68-9C15-0A35324A2218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7BC5DB1-6C92-45B7-83C3-B75481198B60}"/>
              </a:ext>
            </a:extLst>
          </p:cNvPr>
          <p:cNvSpPr txBox="1">
            <a:spLocks/>
          </p:cNvSpPr>
          <p:nvPr/>
        </p:nvSpPr>
        <p:spPr>
          <a:xfrm>
            <a:off x="274938" y="21443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E1AC24-44C3-4AA7-9CBB-E3FD015C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14"/>
          <p:cNvSpPr>
            <a:spLocks noChangeArrowheads="1"/>
          </p:cNvSpPr>
          <p:nvPr/>
        </p:nvSpPr>
        <p:spPr bwMode="auto">
          <a:xfrm>
            <a:off x="2973587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28678" name="Rectangle 15"/>
          <p:cNvSpPr>
            <a:spLocks noChangeArrowheads="1"/>
          </p:cNvSpPr>
          <p:nvPr/>
        </p:nvSpPr>
        <p:spPr bwMode="auto">
          <a:xfrm>
            <a:off x="4774883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D98549-CC34-4073-A166-21746FA5E241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6F1D8F86-219E-436E-9778-1D1C5D954175}"/>
              </a:ext>
            </a:extLst>
          </p:cNvPr>
          <p:cNvSpPr txBox="1">
            <a:spLocks/>
          </p:cNvSpPr>
          <p:nvPr/>
        </p:nvSpPr>
        <p:spPr>
          <a:xfrm>
            <a:off x="274938" y="21805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23283C22-200B-41C5-AF54-E0D5A3CF5B22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How many classes should you use?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ea typeface="MS Mincho" pitchFamily="49" charset="-128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a typeface="MS Mincho" pitchFamily="49" charset="-128"/>
              </a:rPr>
              <a:t>Animation showing agricultural sales using 2, 4, and 6 classes</a:t>
            </a:r>
            <a:endParaRPr lang="en-US" sz="2400" dirty="0">
              <a:solidFill>
                <a:srgbClr val="000000"/>
              </a:solidFill>
              <a:cs typeface="Times New Roman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600" dirty="0"/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pic>
        <p:nvPicPr>
          <p:cNvPr id="8" name="Picture 6" descr="Image showing class number">
            <a:extLst>
              <a:ext uri="{FF2B5EF4-FFF2-40B4-BE49-F238E27FC236}">
                <a16:creationId xmlns:a16="http://schemas.microsoft.com/office/drawing/2014/main" id="{FB54DD59-0B88-4596-801A-1E0DD9C61D5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3587" y="2571750"/>
            <a:ext cx="3588662" cy="2443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C158F8-122D-414C-A2FD-EE81B879AC71}"/>
              </a:ext>
            </a:extLst>
          </p:cNvPr>
          <p:cNvSpPr txBox="1"/>
          <p:nvPr/>
        </p:nvSpPr>
        <p:spPr>
          <a:xfrm>
            <a:off x="437" y="4652650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0CD7E6-9287-4BA0-A0AD-1037738E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27">
            <a:extLst>
              <a:ext uri="{FF2B5EF4-FFF2-40B4-BE49-F238E27FC236}">
                <a16:creationId xmlns:a16="http://schemas.microsoft.com/office/drawing/2014/main" id="{2878BA25-D64A-4E72-BB10-FC9F85588678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How many classes should you use?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Anywhere between 3 to 7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5 is probably optimal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An odd # has a ‘middle’ class</a:t>
            </a:r>
          </a:p>
          <a:p>
            <a:pPr marL="0" indent="0">
              <a:buNone/>
            </a:pPr>
            <a:endParaRPr lang="en-US" sz="2600" dirty="0"/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2973587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4774883" y="2880360"/>
            <a:ext cx="215384" cy="1264444"/>
          </a:xfrm>
          <a:prstGeom prst="rect">
            <a:avLst/>
          </a:prstGeom>
          <a:solidFill>
            <a:srgbClr val="FFFF8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sz="1215"/>
          </a:p>
        </p:txBody>
      </p:sp>
      <p:pic>
        <p:nvPicPr>
          <p:cNvPr id="2" name="Picture 18" descr="Image showing different number of classes">
            <a:extLst>
              <a:ext uri="{FF2B5EF4-FFF2-40B4-BE49-F238E27FC236}">
                <a16:creationId xmlns:a16="http://schemas.microsoft.com/office/drawing/2014/main" id="{E4E2CA7E-FDFE-4C49-8BE0-60546AC69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0284" y="2689492"/>
            <a:ext cx="4749165" cy="2242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57576B-F496-40A1-8F36-87F3C49DACCE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6EC2A6A-5B5D-4E13-A645-DD15477F7868}"/>
              </a:ext>
            </a:extLst>
          </p:cNvPr>
          <p:cNvSpPr txBox="1">
            <a:spLocks/>
          </p:cNvSpPr>
          <p:nvPr/>
        </p:nvSpPr>
        <p:spPr>
          <a:xfrm>
            <a:off x="152400" y="174524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7A1B06-DDDB-4C4A-9638-4038B801E3A2}"/>
              </a:ext>
            </a:extLst>
          </p:cNvPr>
          <p:cNvSpPr txBox="1"/>
          <p:nvPr/>
        </p:nvSpPr>
        <p:spPr>
          <a:xfrm>
            <a:off x="4326166" y="4897279"/>
            <a:ext cx="2973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u="none" strike="noStrike" baseline="0" dirty="0">
                <a:solidFill>
                  <a:srgbClr val="0070C0"/>
                </a:solidFill>
              </a:rPr>
              <a:t> National Geospatial Technology Center of Excellence 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FEAA6E-E90F-4CD3-A508-668BA72A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E6A0BF-C213-4D97-B46F-328F8A1789A4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D4E32A56-FB7B-4ABB-BCA9-011644F0E2FB}"/>
              </a:ext>
            </a:extLst>
          </p:cNvPr>
          <p:cNvSpPr txBox="1">
            <a:spLocks/>
          </p:cNvSpPr>
          <p:nvPr/>
        </p:nvSpPr>
        <p:spPr>
          <a:xfrm>
            <a:off x="274938" y="17137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dirty="0">
                <a:solidFill>
                  <a:srgbClr val="7030A0"/>
                </a:solidFill>
              </a:rPr>
              <a:t>Classification Method</a:t>
            </a:r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EA1F31F6-4F05-459F-A950-8C33BD9756AC}"/>
              </a:ext>
            </a:extLst>
          </p:cNvPr>
          <p:cNvSpPr txBox="1">
            <a:spLocks noChangeArrowheads="1"/>
          </p:cNvSpPr>
          <p:nvPr/>
        </p:nvSpPr>
        <p:spPr>
          <a:xfrm>
            <a:off x="274938" y="967791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600" dirty="0"/>
              <a:t>Classification for map comparison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Use the same method for all maps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Equal interval with identical break values often works best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240" dirty="0"/>
              <a:t>By definition, natural breaks will result in different classification on different maps, making comparison difficult</a:t>
            </a:r>
          </a:p>
          <a:p>
            <a:pPr marL="0" indent="0">
              <a:buNone/>
            </a:pPr>
            <a:endParaRPr lang="en-US" sz="2600" dirty="0"/>
          </a:p>
          <a:p>
            <a:pPr marL="822960" lvl="2" indent="0">
              <a:buNone/>
            </a:pPr>
            <a:endParaRPr lang="en-US" altLang="en-US" sz="2080" dirty="0"/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112471-E301-4D70-8EE2-18A1BCA2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A53F6-40C8-EA9D-54F1-F43670B8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553153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exercise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AB675-A5C2-9332-AA47-7163323D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1173314"/>
            <a:ext cx="7444990" cy="332248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Modify the Classification Method in ArcGIS Online</a:t>
            </a:r>
          </a:p>
          <a:p>
            <a:r>
              <a:rPr lang="en-US" sz="2400" dirty="0">
                <a:hlinkClick r:id="rId2"/>
              </a:rPr>
              <a:t>Arkansas GIS Hub</a:t>
            </a:r>
            <a:endParaRPr lang="en-US" sz="2400" dirty="0"/>
          </a:p>
          <a:p>
            <a:r>
              <a:rPr lang="en-US" sz="2400" dirty="0"/>
              <a:t>Search ‘Census Block Group 2000 (Polygon)’</a:t>
            </a:r>
          </a:p>
          <a:p>
            <a:r>
              <a:rPr lang="en-US" sz="2400" dirty="0"/>
              <a:t>Upload data to ArcGIS Online as feature layer</a:t>
            </a:r>
          </a:p>
          <a:p>
            <a:r>
              <a:rPr lang="en-US" sz="2400" dirty="0"/>
              <a:t>Styles</a:t>
            </a:r>
          </a:p>
          <a:p>
            <a:pPr lvl="1"/>
            <a:r>
              <a:rPr lang="en-US" sz="2265" dirty="0"/>
              <a:t>Counts and Amounts (Color)</a:t>
            </a:r>
          </a:p>
          <a:p>
            <a:pPr lvl="1"/>
            <a:r>
              <a:rPr lang="en-US" sz="2265" dirty="0"/>
              <a:t>Classify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47356-1B81-9826-C367-E101F9E3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19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8412" y="301753"/>
            <a:ext cx="7635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 dirty="0">
                <a:solidFill>
                  <a:srgbClr val="7030A0"/>
                </a:solidFill>
              </a:rPr>
              <a:t>BEYOND BASIC CLASSIFICATION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" y="822960"/>
            <a:ext cx="79552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87552"/>
            <a:ext cx="7498079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100" b="0" i="0" dirty="0">
                <a:solidFill>
                  <a:srgbClr val="282828"/>
                </a:solidFill>
              </a:rPr>
              <a:t>Classification is a cartographic decision that shapes what patterns students see and what conclusions feel obvious.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10335"/>
            <a:ext cx="2331720" cy="1097280"/>
          </a:xfrm>
          <a:prstGeom prst="roundRect">
            <a:avLst/>
          </a:prstGeom>
          <a:solidFill>
            <a:srgbClr val="E6F3FA"/>
          </a:solidFill>
          <a:ln w="762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7492" y="2029207"/>
            <a:ext cx="21396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7030A0"/>
                </a:solidFill>
              </a:rPr>
              <a:t>1. Prepare data</a:t>
            </a:r>
          </a:p>
          <a:p>
            <a:r>
              <a:rPr sz="1600" dirty="0">
                <a:solidFill>
                  <a:srgbClr val="282828"/>
                </a:solidFill>
              </a:rPr>
              <a:t>Raw counts, rates, normalization, outliers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910335"/>
            <a:ext cx="2651760" cy="1097280"/>
          </a:xfrm>
          <a:prstGeom prst="roundRect">
            <a:avLst/>
          </a:prstGeom>
          <a:solidFill>
            <a:srgbClr val="F6EBE4"/>
          </a:solidFill>
          <a:ln w="762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72384" y="1934969"/>
            <a:ext cx="23591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7030A0"/>
                </a:solidFill>
              </a:rPr>
              <a:t>2. Choose method</a:t>
            </a:r>
          </a:p>
          <a:p>
            <a:r>
              <a:rPr sz="1600" dirty="0">
                <a:solidFill>
                  <a:srgbClr val="282828"/>
                </a:solidFill>
              </a:rPr>
              <a:t>Equal interval, quantile, natural breaks, standard deviation, manual breaks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910335"/>
            <a:ext cx="2331720" cy="1097280"/>
          </a:xfrm>
          <a:prstGeom prst="roundRect">
            <a:avLst/>
          </a:prstGeom>
          <a:solidFill>
            <a:srgbClr val="E8F4EC"/>
          </a:solidFill>
          <a:ln w="762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952744" y="1965753"/>
            <a:ext cx="21396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7030A0"/>
                </a:solidFill>
              </a:rPr>
              <a:t>3. Design colors</a:t>
            </a:r>
          </a:p>
          <a:p>
            <a:r>
              <a:rPr sz="1600" dirty="0">
                <a:solidFill>
                  <a:srgbClr val="282828"/>
                </a:solidFill>
              </a:rPr>
              <a:t>Sequential, diverging, qualitative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427478"/>
            <a:ext cx="4754880" cy="868680"/>
          </a:xfrm>
          <a:prstGeom prst="roundRect">
            <a:avLst/>
          </a:prstGeom>
          <a:solidFill>
            <a:srgbClr val="EEE5F3"/>
          </a:solidFill>
          <a:ln w="762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75104" y="3469733"/>
            <a:ext cx="44622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7030A0"/>
                </a:solidFill>
              </a:rPr>
              <a:t>4. Defend choices</a:t>
            </a:r>
          </a:p>
          <a:p>
            <a:r>
              <a:rPr sz="1600" dirty="0">
                <a:solidFill>
                  <a:srgbClr val="282828"/>
                </a:solidFill>
              </a:rPr>
              <a:t>Explain why the map is fair, comparable, and useful for the audience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7731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05050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301753"/>
            <a:ext cx="7635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 dirty="0">
                <a:solidFill>
                  <a:srgbClr val="7030A0"/>
                </a:solidFill>
              </a:rPr>
              <a:t>ADVANCED TOPIC: BIVARIATE COLORS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37160" y="822960"/>
            <a:ext cx="79552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bivariat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70432"/>
            <a:ext cx="2697480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11880" y="1097280"/>
            <a:ext cx="4206240" cy="23317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buChar char="▪"/>
            </a:pPr>
            <a:r>
              <a:rPr sz="1900">
                <a:solidFill>
                  <a:srgbClr val="282828"/>
                </a:solidFill>
              </a:rPr>
              <a:t>Shows the relationship between two numeric variables in one map.</a:t>
            </a:r>
          </a:p>
          <a:p>
            <a:pPr>
              <a:buChar char="▪"/>
            </a:pPr>
            <a:r>
              <a:rPr sz="1900">
                <a:solidFill>
                  <a:srgbClr val="282828"/>
                </a:solidFill>
              </a:rPr>
              <a:t>Each variable is classified, then colors are combined into a grid.</a:t>
            </a:r>
          </a:p>
          <a:p>
            <a:pPr>
              <a:buChar char="▪"/>
            </a:pPr>
            <a:r>
              <a:rPr sz="1900">
                <a:solidFill>
                  <a:srgbClr val="282828"/>
                </a:solidFill>
              </a:rPr>
              <a:t>Best for finding places that are high-high, low-low, or high-low.</a:t>
            </a:r>
          </a:p>
          <a:p>
            <a:pPr>
              <a:buChar char="▪"/>
            </a:pPr>
            <a:r>
              <a:rPr sz="1900">
                <a:solidFill>
                  <a:srgbClr val="282828"/>
                </a:solidFill>
              </a:rPr>
              <a:t>Keep classes small: 3 × 3 is usually easier than 4 × 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6400800" cy="685800"/>
          </a:xfrm>
          <a:prstGeom prst="roundRect">
            <a:avLst/>
          </a:prstGeom>
          <a:solidFill>
            <a:srgbClr val="FFF7DA"/>
          </a:solidFill>
          <a:ln w="762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3959352"/>
            <a:ext cx="6108192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7030A0"/>
                </a:solidFill>
              </a:rPr>
              <a:t>Example</a:t>
            </a:r>
          </a:p>
          <a:p>
            <a:r>
              <a:rPr lang="en-US" sz="1150" dirty="0">
                <a:solidFill>
                  <a:srgbClr val="282828"/>
                </a:solidFill>
              </a:rPr>
              <a:t>Which block group has high proposal of white and Asian?</a:t>
            </a:r>
            <a:endParaRPr sz="1150" dirty="0">
              <a:solidFill>
                <a:srgbClr val="28282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0" y="477316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05050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AC22B-0867-DA8B-1244-0F4FF13E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335" y="475165"/>
            <a:ext cx="7444991" cy="630974"/>
          </a:xfrm>
        </p:spPr>
        <p:txBody>
          <a:bodyPr/>
          <a:lstStyle/>
          <a:p>
            <a:pPr defTabSz="411480"/>
            <a:r>
              <a:rPr lang="en-US" sz="3200" dirty="0">
                <a:solidFill>
                  <a:srgbClr val="7030A0"/>
                </a:solidFill>
              </a:rPr>
              <a:t>Explore bivariate colors in </a:t>
            </a:r>
            <a:r>
              <a:rPr lang="en-US" sz="3200" dirty="0" err="1">
                <a:solidFill>
                  <a:srgbClr val="7030A0"/>
                </a:solidFill>
              </a:rPr>
              <a:t>arcgis</a:t>
            </a:r>
            <a:r>
              <a:rPr lang="en-US" sz="3200" dirty="0">
                <a:solidFill>
                  <a:srgbClr val="7030A0"/>
                </a:solidFill>
              </a:rPr>
              <a:t> pro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410F6-22CA-D940-9DD6-902279C6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2F8ADF-9DF7-A2ED-E419-4ADCF117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17232"/>
            <a:ext cx="6751320" cy="360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50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01069-BD0C-607F-3534-5F3C62B6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CE30-CFD3-D55C-34FC-21AC40A0E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553153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exercise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A9F4-BBEF-E003-FAFA-C666C8FD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1173314"/>
            <a:ext cx="7444990" cy="1547026"/>
          </a:xfrm>
        </p:spPr>
        <p:txBody>
          <a:bodyPr>
            <a:normAutofit/>
          </a:bodyPr>
          <a:lstStyle/>
          <a:p>
            <a:r>
              <a:rPr lang="en-US" sz="2400" dirty="0"/>
              <a:t>Add one more field: </a:t>
            </a:r>
            <a:r>
              <a:rPr lang="en-US" sz="2400" dirty="0" err="1"/>
              <a:t>taasian</a:t>
            </a:r>
            <a:r>
              <a:rPr lang="en-US" sz="2400" dirty="0"/>
              <a:t> filed</a:t>
            </a:r>
          </a:p>
          <a:p>
            <a:r>
              <a:rPr lang="en-US" sz="2400" dirty="0"/>
              <a:t>Relationship style</a:t>
            </a:r>
            <a:endParaRPr lang="en-US" sz="226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D9916-9157-0DF4-F0CF-5BCF96DE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27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6.2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Lab session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42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6"/>
            <a:ext cx="8229600" cy="462914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F975A-F937-77A1-413D-F51FF137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17" y="865356"/>
            <a:ext cx="7444991" cy="462049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398"/>
              </a:spcAft>
            </a:pPr>
            <a:r>
              <a:rPr lang="en-US" sz="216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Lab 05: </a:t>
            </a:r>
            <a:r>
              <a:rPr lang="en-US" b="1" dirty="0"/>
              <a:t>standardization and classification</a:t>
            </a:r>
            <a:endParaRPr lang="en-US" sz="216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6172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1B7E67-130C-FD82-8132-74DBD62B80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92192" y="1837730"/>
          <a:ext cx="7445216" cy="2574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27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4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7.xml><?xml version="1.0" encoding="utf-8"?>
<a:theme xmlns:a="http://schemas.openxmlformats.org/drawingml/2006/main" name="6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Week05_GEOG2475_TU</Template>
  <TotalTime>7066</TotalTime>
  <Words>940</Words>
  <Application>Microsoft Office PowerPoint</Application>
  <PresentationFormat>Custom</PresentationFormat>
  <Paragraphs>193</Paragraphs>
  <Slides>29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29</vt:i4>
      </vt:variant>
    </vt:vector>
  </HeadingPairs>
  <TitlesOfParts>
    <vt:vector size="45" baseType="lpstr">
      <vt:lpstr>MS Mincho</vt:lpstr>
      <vt:lpstr>Arial</vt:lpstr>
      <vt:lpstr>Arial Black</vt:lpstr>
      <vt:lpstr>Calibri</vt:lpstr>
      <vt:lpstr>Courier New</vt:lpstr>
      <vt:lpstr>Gill Sans MT</vt:lpstr>
      <vt:lpstr>Times New Roman</vt:lpstr>
      <vt:lpstr>Wingdings</vt:lpstr>
      <vt:lpstr>Wingdings 2</vt:lpstr>
      <vt:lpstr>3_DividendVTI</vt:lpstr>
      <vt:lpstr>2_DividendVTI</vt:lpstr>
      <vt:lpstr>DividendVTI</vt:lpstr>
      <vt:lpstr>1_DividendVTI</vt:lpstr>
      <vt:lpstr>4_DividendVTI</vt:lpstr>
      <vt:lpstr>5_DividendVTI</vt:lpstr>
      <vt:lpstr>6_DividendVTI</vt:lpstr>
      <vt:lpstr>WEEK 06 Data Classification  lecture</vt:lpstr>
      <vt:lpstr>6.1 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</vt:lpstr>
      <vt:lpstr>PowerPoint Presentation</vt:lpstr>
      <vt:lpstr>PowerPoint Presentation</vt:lpstr>
      <vt:lpstr>Explore bivariate colors in arcgis pro</vt:lpstr>
      <vt:lpstr>exercise</vt:lpstr>
      <vt:lpstr>6.2  Lab session</vt:lpstr>
      <vt:lpstr>Lab 05: standardization and classification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Wu, Yanan</cp:lastModifiedBy>
  <cp:revision>278</cp:revision>
  <dcterms:created xsi:type="dcterms:W3CDTF">2020-07-26T21:20:11Z</dcterms:created>
  <dcterms:modified xsi:type="dcterms:W3CDTF">2026-09-22T02:52:05Z</dcterms:modified>
</cp:coreProperties>
</file>