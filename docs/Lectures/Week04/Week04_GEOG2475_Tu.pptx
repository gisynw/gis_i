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45"/>
  </p:notesMasterIdLst>
  <p:sldIdLst>
    <p:sldId id="914" r:id="rId4"/>
    <p:sldId id="1647" r:id="rId5"/>
    <p:sldId id="617" r:id="rId6"/>
    <p:sldId id="265" r:id="rId7"/>
    <p:sldId id="266" r:id="rId8"/>
    <p:sldId id="269" r:id="rId9"/>
    <p:sldId id="1648" r:id="rId10"/>
    <p:sldId id="1649" r:id="rId11"/>
    <p:sldId id="1650" r:id="rId12"/>
    <p:sldId id="267" r:id="rId13"/>
    <p:sldId id="1651" r:id="rId14"/>
    <p:sldId id="268" r:id="rId15"/>
    <p:sldId id="1652" r:id="rId16"/>
    <p:sldId id="637" r:id="rId17"/>
    <p:sldId id="641" r:id="rId18"/>
    <p:sldId id="635" r:id="rId19"/>
    <p:sldId id="642" r:id="rId20"/>
    <p:sldId id="638" r:id="rId21"/>
    <p:sldId id="271" r:id="rId22"/>
    <p:sldId id="1653" r:id="rId23"/>
    <p:sldId id="1654" r:id="rId24"/>
    <p:sldId id="273" r:id="rId25"/>
    <p:sldId id="1655" r:id="rId26"/>
    <p:sldId id="636" r:id="rId27"/>
    <p:sldId id="325" r:id="rId28"/>
    <p:sldId id="281" r:id="rId29"/>
    <p:sldId id="282" r:id="rId30"/>
    <p:sldId id="1660" r:id="rId31"/>
    <p:sldId id="286" r:id="rId32"/>
    <p:sldId id="331" r:id="rId33"/>
    <p:sldId id="1656" r:id="rId34"/>
    <p:sldId id="285" r:id="rId35"/>
    <p:sldId id="1657" r:id="rId36"/>
    <p:sldId id="332" r:id="rId37"/>
    <p:sldId id="288" r:id="rId38"/>
    <p:sldId id="644" r:id="rId39"/>
    <p:sldId id="645" r:id="rId40"/>
    <p:sldId id="651" r:id="rId41"/>
    <p:sldId id="1658" r:id="rId42"/>
    <p:sldId id="1659" r:id="rId43"/>
    <p:sldId id="270" r:id="rId44"/>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8" autoAdjust="0"/>
    <p:restoredTop sz="81907" autoAdjust="0"/>
  </p:normalViewPr>
  <p:slideViewPr>
    <p:cSldViewPr snapToGrid="0" snapToObjects="1">
      <p:cViewPr varScale="1">
        <p:scale>
          <a:sx n="120" d="100"/>
          <a:sy n="120" d="100"/>
        </p:scale>
        <p:origin x="1884" y="90"/>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_rels/data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15,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15,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9/7/2025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708313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broad</a:t>
            </a:r>
            <a:r>
              <a:rPr lang="en-US" baseline="0" dirty="0"/>
              <a:t> types of geospatial data are available: vector data and raster data. </a:t>
            </a:r>
          </a:p>
          <a:p>
            <a:endParaRPr lang="en-US" baseline="0" dirty="0"/>
          </a:p>
          <a:p>
            <a:r>
              <a:rPr lang="en-US" baseline="0" dirty="0"/>
              <a:t>Vector data generally represent discrete features as points, lines, or polygons. </a:t>
            </a:r>
          </a:p>
          <a:p>
            <a:endParaRPr lang="en-US" baseline="0" dirty="0"/>
          </a:p>
          <a:p>
            <a:r>
              <a:rPr lang="en-US" baseline="0" dirty="0"/>
              <a:t>Raster data generally represent continuous features as pixels or grid cells. </a:t>
            </a:r>
          </a:p>
          <a:p>
            <a:endParaRPr lang="en-US" baseline="0" dirty="0"/>
          </a:p>
          <a:p>
            <a:r>
              <a:rPr lang="en-US" baseline="0" dirty="0"/>
              <a:t>We will begin with a discussion of vector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693972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data can be represented as points, lines, or polygons. </a:t>
            </a:r>
            <a:br>
              <a:rPr lang="en-US" dirty="0"/>
            </a:br>
            <a:endParaRPr lang="en-US" dirty="0"/>
          </a:p>
          <a:p>
            <a:r>
              <a:rPr lang="en-US" dirty="0"/>
              <a:t>Point data are simply coordinate pairs with associated attributes. They have no spatial dimensions, since they do not have length or width. </a:t>
            </a:r>
          </a:p>
          <a:p>
            <a:endParaRPr lang="en-US" dirty="0"/>
          </a:p>
          <a:p>
            <a:r>
              <a:rPr lang="en-US" dirty="0"/>
              <a:t>Lines are a series of coordinate pairs connected to form a line. They have one spatial dimension, since they have length but not width.</a:t>
            </a:r>
          </a:p>
          <a:p>
            <a:endParaRPr lang="en-US" dirty="0"/>
          </a:p>
          <a:p>
            <a:r>
              <a:rPr lang="en-US" dirty="0"/>
              <a:t>Polygons are a series of coordinates in which the first and last coordinates are connected to form a closed feature or area. They have both length and width, so have two spatial dimensions. Since they have length and width, they have an area.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2503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mentioned above, all vector data are made up of coordinates. Points are individual coordinates while lines and polygons are made up of interrelated coordinates. </a:t>
            </a:r>
          </a:p>
          <a:p>
            <a:endParaRPr lang="en-US" dirty="0"/>
          </a:p>
          <a:p>
            <a:r>
              <a:rPr lang="en-US" dirty="0"/>
              <a:t>These individual coordinates are called vertices. Vertices that occur at or define the end of a line segment are called nodes. </a:t>
            </a:r>
          </a:p>
          <a:p>
            <a:endParaRPr lang="en-US" dirty="0"/>
          </a:p>
          <a:p>
            <a:r>
              <a:rPr lang="en-US" dirty="0"/>
              <a:t>Again, all vector data are made up of coordinate points.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32664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powerful aspect of a GIS and geospatial data is the ability to relate spatial and tabulated data. Vector data are not just map coordinates. These features are also associated with tabulated information. For example, the parcels boundaries shown on this slide are attributed with a set of information. This allows us to relate spatial and tabulated data.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3365942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concept associated with vector data is the concept of topology. This is not to be confused with topography. </a:t>
            </a:r>
          </a:p>
          <a:p>
            <a:endParaRPr lang="en-US" dirty="0"/>
          </a:p>
          <a:p>
            <a:r>
              <a:rPr lang="en-US" dirty="0"/>
              <a:t>Topology is the study of properties of geometric objects, including map features, that remain invariant, or don’t change, under certain transformations such as bending or stretching. </a:t>
            </a:r>
          </a:p>
          <a:p>
            <a:endParaRPr lang="en-US" dirty="0"/>
          </a:p>
          <a:p>
            <a:r>
              <a:rPr lang="en-US" dirty="0"/>
              <a:t>Example topological relationships include adjacent to and incident with. For example, if the US state boundaries could be bent or stretched, the adjacently between states would be maintained. Or, adjacent states would still be next to each other and share boundaries. If map features were bent or stretched, features that occur within or are incident with other features would maintain this relationship with those other features. For example, cities would still fall within the correct state or country. </a:t>
            </a:r>
          </a:p>
          <a:p>
            <a:r>
              <a:rPr lang="en-US" dirty="0"/>
              <a:t>Arkansas and </a:t>
            </a:r>
            <a:r>
              <a:rPr lang="en-US" dirty="0" err="1"/>
              <a:t>mississippi</a:t>
            </a:r>
            <a:endParaRPr lang="en-US" dirty="0"/>
          </a:p>
          <a:p>
            <a:endParaRPr lang="en-US" dirty="0"/>
          </a:p>
          <a:p>
            <a:r>
              <a:rPr lang="en-US" dirty="0"/>
              <a:t>A good example of topology is</a:t>
            </a:r>
            <a:r>
              <a:rPr lang="en-US" baseline="0" dirty="0"/>
              <a:t> a</a:t>
            </a:r>
            <a:r>
              <a:rPr lang="en-US" dirty="0"/>
              <a:t> subway map. On this slide, I have included the subway map for the city of Vancouver in British Columbia. The subway lines and other map features have been generalized such that the full complexity is not represented. However, important topological relationships have been maintained. For example, you know which stops occur along or are incident with which lines. You also know where different lines cross, or where you can transfer between lines. So, even though these data have been generalized, important topological rules have been maintained so that you can use the map to navigate the subway system. </a:t>
            </a:r>
          </a:p>
          <a:p>
            <a:endParaRPr lang="en-US" dirty="0"/>
          </a:p>
          <a:p>
            <a:r>
              <a:rPr lang="en-US" dirty="0"/>
              <a:t>Topology is important because it allows us to solve problems that require an understanding of the spatial relationship between map features.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451092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634257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2419070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 new data, issues can arise that cause topological relationships to not be maintained. </a:t>
            </a:r>
          </a:p>
          <a:p>
            <a:endParaRPr lang="en-US" dirty="0"/>
          </a:p>
          <a:p>
            <a:r>
              <a:rPr lang="en-US" dirty="0"/>
              <a:t>Dangles occur when 2 line features are supposed to connect, such as at a road intersection, but they fall short. If you were trying to model movement along a road network, this would be an issue.</a:t>
            </a:r>
          </a:p>
          <a:p>
            <a:endParaRPr lang="en-US" dirty="0"/>
          </a:p>
          <a:p>
            <a:r>
              <a:rPr lang="en-US" dirty="0"/>
              <a:t>Overshoots occur when one line segment is supposed to end when it intersects another segment, but it continues or overshoots. </a:t>
            </a:r>
          </a:p>
          <a:p>
            <a:endParaRPr lang="en-US" dirty="0"/>
          </a:p>
          <a:p>
            <a:r>
              <a:rPr lang="en-US" dirty="0"/>
              <a:t>Slivers represent areas of non-overlap between features that could represent real patterns or result for digitization errors or scale difference in the input data.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2452018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24913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233718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shapefile</a:t>
            </a:r>
            <a:r>
              <a:rPr lang="en-US" dirty="0"/>
              <a:t> is a </a:t>
            </a:r>
            <a:r>
              <a:rPr lang="en-US" dirty="0" err="1"/>
              <a:t>georelational</a:t>
            </a:r>
            <a:r>
              <a:rPr lang="en-US" dirty="0"/>
              <a:t> model that is still commonly used. It was originally developed by ESRI but is non-proprietary. </a:t>
            </a:r>
          </a:p>
          <a:p>
            <a:endParaRPr lang="en-US" dirty="0"/>
          </a:p>
          <a:p>
            <a:r>
              <a:rPr lang="en-US" dirty="0"/>
              <a:t>It is a </a:t>
            </a:r>
            <a:r>
              <a:rPr lang="en-US" dirty="0" err="1"/>
              <a:t>nontopological</a:t>
            </a:r>
            <a:r>
              <a:rPr lang="en-US" dirty="0"/>
              <a:t> model. Generally, </a:t>
            </a:r>
            <a:r>
              <a:rPr lang="en-US" dirty="0" err="1"/>
              <a:t>nontopological</a:t>
            </a:r>
            <a:r>
              <a:rPr lang="en-US" dirty="0"/>
              <a:t> data can display more rapidly on a computer than topological data. They can also be used across multiple software packages. </a:t>
            </a:r>
          </a:p>
          <a:p>
            <a:endParaRPr lang="en-US" dirty="0"/>
          </a:p>
          <a:p>
            <a:r>
              <a:rPr lang="en-US" dirty="0"/>
              <a:t>Although this is a </a:t>
            </a:r>
            <a:r>
              <a:rPr lang="en-US" dirty="0" err="1"/>
              <a:t>nontopological</a:t>
            </a:r>
            <a:r>
              <a:rPr lang="en-US" dirty="0"/>
              <a:t> model, topological relationships can be calculated on-the-fly to perform analyses.</a:t>
            </a:r>
          </a:p>
          <a:p>
            <a:endParaRPr lang="en-US" dirty="0"/>
          </a:p>
          <a:p>
            <a:r>
              <a:rPr lang="en-US" dirty="0"/>
              <a:t>The geometric information is stored in the .</a:t>
            </a:r>
            <a:r>
              <a:rPr lang="en-US" dirty="0" err="1"/>
              <a:t>shp</a:t>
            </a:r>
            <a:r>
              <a:rPr lang="en-US" dirty="0"/>
              <a:t> file while the .</a:t>
            </a:r>
            <a:r>
              <a:rPr lang="en-US" dirty="0" err="1"/>
              <a:t>shx</a:t>
            </a:r>
            <a:r>
              <a:rPr lang="en-US" dirty="0"/>
              <a:t> file provides an index of the geometry, which can speed up searching and display. </a:t>
            </a:r>
          </a:p>
          <a:p>
            <a:endParaRPr lang="en-US" dirty="0"/>
          </a:p>
          <a:p>
            <a:r>
              <a:rPr lang="en-US" dirty="0"/>
              <a:t>The attributed or tabulated data are stored in the .dbf file. This is why this is </a:t>
            </a:r>
            <a:r>
              <a:rPr lang="en-US" dirty="0" err="1"/>
              <a:t>georelational</a:t>
            </a:r>
            <a:r>
              <a:rPr lang="en-US" dirty="0"/>
              <a:t> model: geometry and attributes are stored in separate files. The .</a:t>
            </a:r>
            <a:r>
              <a:rPr lang="en-US" dirty="0" err="1"/>
              <a:t>sbn</a:t>
            </a:r>
            <a:r>
              <a:rPr lang="en-US" dirty="0"/>
              <a:t> and .</a:t>
            </a:r>
            <a:r>
              <a:rPr lang="en-US" dirty="0" err="1"/>
              <a:t>sbx</a:t>
            </a:r>
            <a:r>
              <a:rPr lang="en-US" dirty="0"/>
              <a:t> components provide indices for the attributes, which can speed of queries. </a:t>
            </a:r>
          </a:p>
          <a:p>
            <a:endParaRPr lang="en-US" dirty="0"/>
          </a:p>
          <a:p>
            <a:r>
              <a:rPr lang="en-US" dirty="0"/>
              <a:t>The projection information is stored in the .</a:t>
            </a:r>
            <a:r>
              <a:rPr lang="en-US" dirty="0" err="1"/>
              <a:t>prj</a:t>
            </a:r>
            <a:r>
              <a:rPr lang="en-US" dirty="0"/>
              <a:t> file. This component is important because it tells the computer what the projection is so that the data can be drawn at the correct location in the map space. </a:t>
            </a:r>
          </a:p>
          <a:p>
            <a:endParaRPr lang="en-US" dirty="0"/>
          </a:p>
          <a:p>
            <a:r>
              <a:rPr lang="en-US" dirty="0"/>
              <a:t>If metadata are created, this additional information can be stored in the .xml component. </a:t>
            </a:r>
          </a:p>
          <a:p>
            <a:endParaRPr lang="en-US" dirty="0"/>
          </a:p>
          <a:p>
            <a:r>
              <a:rPr lang="en-US" b="1" i="0" dirty="0" err="1">
                <a:solidFill>
                  <a:srgbClr val="222222"/>
                </a:solidFill>
                <a:effectLst/>
                <a:latin typeface="Roboto"/>
              </a:rPr>
              <a:t>cpg</a:t>
            </a:r>
            <a:r>
              <a:rPr lang="en-US" b="0" i="0" dirty="0">
                <a:solidFill>
                  <a:srgbClr val="222222"/>
                </a:solidFill>
                <a:effectLst/>
                <a:latin typeface="Roboto"/>
              </a:rPr>
              <a:t> are optional plain text files that describes the encoding applied to create the </a:t>
            </a:r>
            <a:r>
              <a:rPr lang="en-US" b="1" i="0" dirty="0">
                <a:solidFill>
                  <a:srgbClr val="222222"/>
                </a:solidFill>
                <a:effectLst/>
                <a:latin typeface="Roboto"/>
              </a:rPr>
              <a:t>shapefile</a:t>
            </a:r>
            <a:r>
              <a:rPr lang="en-US" b="0" i="0" dirty="0">
                <a:solidFill>
                  <a:srgbClr val="222222"/>
                </a:solidFill>
                <a:effectLst/>
                <a:latin typeface="Roboto"/>
              </a:rPr>
              <a:t>. If your </a:t>
            </a:r>
            <a:r>
              <a:rPr lang="en-US" b="1" i="0" dirty="0">
                <a:solidFill>
                  <a:srgbClr val="222222"/>
                </a:solidFill>
                <a:effectLst/>
                <a:latin typeface="Roboto"/>
              </a:rPr>
              <a:t>shapefile</a:t>
            </a:r>
            <a:r>
              <a:rPr lang="en-US" b="0" i="0" dirty="0">
                <a:solidFill>
                  <a:srgbClr val="222222"/>
                </a:solidFill>
                <a:effectLst/>
                <a:latin typeface="Roboto"/>
              </a:rPr>
              <a:t> doesn't have a </a:t>
            </a:r>
            <a:r>
              <a:rPr lang="en-US" b="1" i="0" dirty="0" err="1">
                <a:solidFill>
                  <a:srgbClr val="222222"/>
                </a:solidFill>
                <a:effectLst/>
                <a:latin typeface="Roboto"/>
              </a:rPr>
              <a:t>cpg</a:t>
            </a:r>
            <a:r>
              <a:rPr lang="en-US" b="0" i="0" dirty="0">
                <a:solidFill>
                  <a:srgbClr val="222222"/>
                </a:solidFill>
                <a:effectLst/>
                <a:latin typeface="Roboto"/>
              </a:rPr>
              <a:t> file, then it has the system default encoding.</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4020819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1469418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move on to discuss raster data. </a:t>
            </a:r>
          </a:p>
          <a:p>
            <a:endParaRPr lang="en-US" dirty="0"/>
          </a:p>
          <a:p>
            <a:r>
              <a:rPr lang="en-US" dirty="0"/>
              <a:t>In contrast to vector data, raster data have a simple data structure. </a:t>
            </a:r>
          </a:p>
          <a:p>
            <a:endParaRPr lang="en-US" dirty="0"/>
          </a:p>
          <a:p>
            <a:r>
              <a:rPr lang="en-US" dirty="0"/>
              <a:t>Raster data are a matrix or array of values stored in cells. </a:t>
            </a:r>
          </a:p>
          <a:p>
            <a:endParaRPr lang="en-US" dirty="0"/>
          </a:p>
          <a:p>
            <a:r>
              <a:rPr lang="en-US" dirty="0"/>
              <a:t>This matrix or array is spatially referenced so that each cell has a defined extent on the landscape. </a:t>
            </a:r>
          </a:p>
          <a:p>
            <a:endParaRPr lang="en-US" dirty="0"/>
          </a:p>
          <a:p>
            <a:r>
              <a:rPr lang="en-US" dirty="0"/>
              <a:t>The origin is generally defined as the coordinate of the upper-left corner of the grid extent.</a:t>
            </a:r>
          </a:p>
          <a:p>
            <a:endParaRPr lang="en-US" dirty="0"/>
          </a:p>
          <a:p>
            <a:r>
              <a:rPr lang="en-US" dirty="0"/>
              <a:t>So, if the origin, projection, cell size, and number of rows and columns is known, then the data can be rendered to a map space.</a:t>
            </a:r>
          </a:p>
          <a:p>
            <a:endParaRPr lang="en-US" dirty="0"/>
          </a:p>
          <a:p>
            <a:r>
              <a:rPr lang="en-US" dirty="0"/>
              <a:t>The raster data model can be used to store a variety of data types, including categorical data, continuous variables, and multiband imagery.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035961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Categorical raster grids represent</a:t>
            </a:r>
            <a:r>
              <a:rPr lang="en-US" baseline="0" dirty="0"/>
              <a:t> nominal or categorical data. </a:t>
            </a:r>
          </a:p>
          <a:p>
            <a:endParaRPr lang="en-US" baseline="0" dirty="0"/>
          </a:p>
          <a:p>
            <a:r>
              <a:rPr lang="en-US" baseline="0" dirty="0"/>
              <a:t>Examples of data that could be appropriately modeled as categorical grids include land cover, vegetation types, wetland types, soil types, and land ownership. </a:t>
            </a:r>
          </a:p>
          <a:p>
            <a:endParaRPr lang="en-US" baseline="0" dirty="0"/>
          </a:p>
          <a:p>
            <a:r>
              <a:rPr lang="en-US" dirty="0"/>
              <a:t>Each</a:t>
            </a:r>
            <a:r>
              <a:rPr lang="en-US" baseline="0" dirty="0"/>
              <a:t> cell in a categorical grid will hold a number. This number will be a stand in or placeholder for a category. For example, the value 41 could represent deciduous forest. </a:t>
            </a:r>
          </a:p>
          <a:p>
            <a:endParaRPr lang="en-US" baseline="0" dirty="0"/>
          </a:p>
          <a:p>
            <a:r>
              <a:rPr lang="en-US" baseline="0" dirty="0"/>
              <a:t>Categorical grids generally have attribute tables. This attribute table can have many fields, but it generally has at least a value field which provides the code that represents the category of interest. It also contains a count field that provides the number of cells in that category. </a:t>
            </a:r>
          </a:p>
          <a:p>
            <a:endParaRPr lang="en-US" baseline="0" dirty="0"/>
          </a:p>
          <a:p>
            <a:r>
              <a:rPr lang="en-US" baseline="0" dirty="0"/>
              <a:t>It is possible to provide additional fields, for example you could include a name field to provide the category name.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118312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continuous raster grid is used to represent continuous data, including interval and ratio type data. </a:t>
            </a:r>
          </a:p>
          <a:p>
            <a:endParaRPr lang="en-US" dirty="0"/>
          </a:p>
          <a:p>
            <a:r>
              <a:rPr lang="en-US" dirty="0"/>
              <a:t>The value stored in the cell represents the actual measure. It is not a placeholder for a category.</a:t>
            </a:r>
          </a:p>
          <a:p>
            <a:endParaRPr lang="en-US" dirty="0"/>
          </a:p>
          <a:p>
            <a:r>
              <a:rPr lang="en-US" dirty="0"/>
              <a:t>Examples of data that could be appropriately modeled using a continuous raster grid are elevation, topographic slope, topographic aspect, depth to bedrock, depth to water table, precipitation, temperature, and barometric pressure. </a:t>
            </a:r>
            <a:br>
              <a:rPr lang="en-US" dirty="0"/>
            </a:br>
            <a:endParaRPr lang="en-US" dirty="0"/>
          </a:p>
          <a:p>
            <a:r>
              <a:rPr lang="en-US" dirty="0"/>
              <a:t>The example provided represents elevation measurements. So, each cell holds an elevation measurement.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322379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than panchromatic, or black-and-white, imagery, image datasets contain more than one band. </a:t>
            </a:r>
          </a:p>
          <a:p>
            <a:endParaRPr lang="en-US" dirty="0"/>
          </a:p>
          <a:p>
            <a:r>
              <a:rPr lang="en-US" dirty="0"/>
              <a:t>For example, a true color image will contain three bands: red, green, and blue. </a:t>
            </a:r>
          </a:p>
          <a:p>
            <a:endParaRPr lang="en-US" dirty="0"/>
          </a:p>
          <a:p>
            <a:r>
              <a:rPr lang="en-US" dirty="0"/>
              <a:t>For multiband images, the raster data structure is that of an array. Each cell location holds multiple measurements, or a single measurement in each band.</a:t>
            </a:r>
          </a:p>
          <a:p>
            <a:endParaRPr lang="en-US" dirty="0"/>
          </a:p>
          <a:p>
            <a:r>
              <a:rPr lang="en-US" dirty="0"/>
              <a:t>You can think of a multiband raster as a stack of single band layers that act as one file. </a:t>
            </a:r>
          </a:p>
          <a:p>
            <a:endParaRPr lang="en-US" dirty="0"/>
          </a:p>
          <a:p>
            <a:r>
              <a:rPr lang="en-US" dirty="0"/>
              <a:t>Although we will focus on multiband imagery here, you can actually create multiband raster grids from a variety of raster data layers.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15837287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Reducing the cell size can have a large impact on the total number of cells and, as a result, the file size. </a:t>
            </a:r>
          </a:p>
          <a:p>
            <a:endParaRPr lang="en-US" dirty="0"/>
          </a:p>
          <a:p>
            <a:r>
              <a:rPr lang="en-US" dirty="0"/>
              <a:t>For example, in the image above the red grid represents cells that are 100 by 100 meters.</a:t>
            </a:r>
          </a:p>
          <a:p>
            <a:endParaRPr lang="en-US" dirty="0"/>
          </a:p>
          <a:p>
            <a:r>
              <a:rPr lang="en-US" dirty="0"/>
              <a:t>The green grid represents cells that are 50 by 50 meters. </a:t>
            </a:r>
          </a:p>
          <a:p>
            <a:endParaRPr lang="en-US" dirty="0"/>
          </a:p>
          <a:p>
            <a:r>
              <a:rPr lang="en-US" dirty="0"/>
              <a:t>Each 100 by 100 meter cell contains four as opposed to two 50 by 50 meters cells. </a:t>
            </a:r>
          </a:p>
          <a:p>
            <a:endParaRPr lang="en-US" dirty="0"/>
          </a:p>
          <a:p>
            <a:r>
              <a:rPr lang="en-US" dirty="0"/>
              <a:t>So, decreasing the cell size by half quadruples the number of pixels. </a:t>
            </a:r>
          </a:p>
          <a:p>
            <a:endParaRPr lang="en-US" dirty="0"/>
          </a:p>
          <a:p>
            <a:r>
              <a:rPr lang="en-US" dirty="0"/>
              <a:t>As another example, a 10 by 10 meter cell would contain 100 1 by 1 meter cells. </a:t>
            </a:r>
          </a:p>
          <a:p>
            <a:endParaRPr lang="en-US" dirty="0"/>
          </a:p>
          <a:p>
            <a:r>
              <a:rPr lang="en-US" dirty="0"/>
              <a:t>So, high spatial resolution raster grids can be very large files, especially if they cover a large spatial extent.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4148242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variety of raster grid formats. However, I commonly use ESRI grids, </a:t>
            </a:r>
            <a:r>
              <a:rPr lang="en-US" dirty="0" err="1"/>
              <a:t>Erdas</a:t>
            </a:r>
            <a:r>
              <a:rPr lang="en-US" dirty="0"/>
              <a:t> Imagine, or </a:t>
            </a:r>
            <a:r>
              <a:rPr lang="en-US" dirty="0" err="1"/>
              <a:t>GeoTIFF</a:t>
            </a:r>
            <a:r>
              <a:rPr lang="en-US" dirty="0"/>
              <a:t> files.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433367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2875089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1010319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E,H,J</a:t>
            </a:r>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3445995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41</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8075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5557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248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1929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589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3895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3025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5773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38286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65017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3339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8566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7224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002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99371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809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78024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3441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93211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19756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22699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155479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88692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204798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3277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1759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38092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05718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272089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655628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251074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08948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1448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2567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67066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488988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3282236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youtube.com/watch?v=-Fs2t6P5Aj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t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www.esri.com/about/newsroom/arcuser/understanding-raster-georeferencing" TargetMode="Externa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gif"/><Relationship Id="rId1" Type="http://schemas.openxmlformats.org/officeDocument/2006/relationships/slideLayout" Target="../slideLayouts/slideLayout25.xml"/><Relationship Id="rId5" Type="http://schemas.openxmlformats.org/officeDocument/2006/relationships/image" Target="../media/image37.gif"/><Relationship Id="rId4" Type="http://schemas.openxmlformats.org/officeDocument/2006/relationships/image" Target="../media/image36.gif"/></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www.youtube.com/watch?v=jVzbs81bDy0&amp;ab_channel=TED-E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5.xml"/><Relationship Id="rId5" Type="http://schemas.openxmlformats.org/officeDocument/2006/relationships/image" Target="../media/image4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1" y="740565"/>
            <a:ext cx="3871767" cy="1831185"/>
          </a:xfrm>
        </p:spPr>
        <p:txBody>
          <a:bodyPr>
            <a:normAutofit/>
          </a:bodyPr>
          <a:lstStyle/>
          <a:p>
            <a:r>
              <a:rPr lang="en-US" sz="2700" dirty="0">
                <a:solidFill>
                  <a:srgbClr val="FFFFFF"/>
                </a:solidFill>
              </a:rPr>
              <a:t>WEEK 04 </a:t>
            </a:r>
            <a:br>
              <a:rPr lang="en-US" sz="2700" dirty="0">
                <a:solidFill>
                  <a:srgbClr val="FFFFFF"/>
                </a:solidFill>
              </a:rPr>
            </a:br>
            <a:r>
              <a:rPr lang="en-US" sz="2800" dirty="0"/>
              <a:t>Geospatial Data</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Introduction to </a:t>
            </a:r>
            <a:r>
              <a:rPr lang="en-US" sz="4050" dirty="0" err="1">
                <a:solidFill>
                  <a:srgbClr val="FFFFFF"/>
                </a:solidFill>
              </a:rPr>
              <a:t>gis</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92500" lnSpcReduction="10000"/>
          </a:bodyPr>
          <a:lstStyle/>
          <a:p>
            <a:pPr>
              <a:buFont typeface="Courier New" panose="02070309020205020404" pitchFamily="49" charset="0"/>
              <a:buChar char="o"/>
            </a:pPr>
            <a:r>
              <a:rPr lang="en-US" altLang="en-US" sz="2600" dirty="0"/>
              <a:t>Geospatial data</a:t>
            </a:r>
          </a:p>
          <a:p>
            <a:pPr lvl="1">
              <a:buFont typeface="Wingdings" panose="05000000000000000000" pitchFamily="2" charset="2"/>
              <a:buChar char="ü"/>
            </a:pPr>
            <a:r>
              <a:rPr lang="en-US" altLang="en-US" sz="2300" dirty="0"/>
              <a:t>Vector</a:t>
            </a:r>
          </a:p>
          <a:p>
            <a:pPr lvl="2">
              <a:buFont typeface="Arial" panose="020B0604020202020204" pitchFamily="34" charset="0"/>
              <a:buChar char="•"/>
            </a:pPr>
            <a:r>
              <a:rPr lang="en-US" altLang="en-US" sz="1940" dirty="0"/>
              <a:t>Point</a:t>
            </a:r>
          </a:p>
          <a:p>
            <a:pPr lvl="2">
              <a:buFont typeface="Arial" panose="020B0604020202020204" pitchFamily="34" charset="0"/>
              <a:buChar char="•"/>
            </a:pPr>
            <a:r>
              <a:rPr lang="en-US" altLang="en-US" sz="1940" dirty="0"/>
              <a:t>Line</a:t>
            </a:r>
          </a:p>
          <a:p>
            <a:pPr lvl="2">
              <a:buFont typeface="Arial" panose="020B0604020202020204" pitchFamily="34" charset="0"/>
              <a:buChar char="•"/>
            </a:pPr>
            <a:r>
              <a:rPr lang="en-US" altLang="en-US" sz="1940" dirty="0"/>
              <a:t>Polygon</a:t>
            </a:r>
          </a:p>
          <a:p>
            <a:pPr lvl="1">
              <a:buFont typeface="Wingdings" panose="05000000000000000000" pitchFamily="2" charset="2"/>
              <a:buChar char="ü"/>
            </a:pPr>
            <a:r>
              <a:rPr lang="en-US" altLang="en-US" sz="2300" dirty="0"/>
              <a:t>Raster</a:t>
            </a:r>
          </a:p>
          <a:p>
            <a:pPr lvl="2">
              <a:buFont typeface="Arial" panose="020B0604020202020204" pitchFamily="34" charset="0"/>
              <a:buChar char="•"/>
            </a:pPr>
            <a:r>
              <a:rPr lang="en-US" altLang="en-US" sz="1940" dirty="0"/>
              <a:t>Pixel</a:t>
            </a:r>
          </a:p>
          <a:p>
            <a:pPr lvl="1">
              <a:buFont typeface="Wingdings" panose="05000000000000000000" pitchFamily="2" charset="2"/>
              <a:buChar char="ü"/>
            </a:pPr>
            <a:r>
              <a:rPr lang="en-US" altLang="en-US" sz="2300" dirty="0"/>
              <a:t>Triangulated Irregular Network</a:t>
            </a:r>
          </a:p>
          <a:p>
            <a:pPr lvl="1">
              <a:buFont typeface="Wingdings" panose="05000000000000000000" pitchFamily="2" charset="2"/>
              <a:buChar char="ü"/>
            </a:pPr>
            <a:r>
              <a:rPr lang="en-US" altLang="en-US" sz="2300" dirty="0"/>
              <a:t>Objected Data Model</a:t>
            </a:r>
          </a:p>
          <a:p>
            <a:pPr lvl="1">
              <a:buFont typeface="Wingdings" panose="05000000000000000000" pitchFamily="2" charset="2"/>
              <a:buChar char="ü"/>
            </a:pPr>
            <a:r>
              <a:rPr lang="en-US" altLang="en-US" sz="2300" dirty="0"/>
              <a:t>Three-Dimensional Data Models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56674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82585" y="1165536"/>
            <a:ext cx="7406640" cy="3394472"/>
          </a:xfrm>
        </p:spPr>
        <p:txBody>
          <a:bodyPr>
            <a:noAutofit/>
          </a:bodyPr>
          <a:lstStyle/>
          <a:p>
            <a:pPr>
              <a:buFont typeface="Courier New" panose="02070309020205020404" pitchFamily="49" charset="0"/>
              <a:buChar char="o"/>
            </a:pPr>
            <a:r>
              <a:rPr lang="en-US" sz="2400" dirty="0"/>
              <a:t>Two data models</a:t>
            </a:r>
          </a:p>
          <a:p>
            <a:pPr lvl="1">
              <a:buFont typeface="Wingdings" panose="05000000000000000000" pitchFamily="2" charset="2"/>
              <a:buChar char="ü"/>
            </a:pPr>
            <a:r>
              <a:rPr lang="en-US" sz="2400" b="1" dirty="0">
                <a:solidFill>
                  <a:srgbClr val="E3874F"/>
                </a:solidFill>
              </a:rPr>
              <a:t>Vector Data</a:t>
            </a:r>
          </a:p>
          <a:p>
            <a:pPr lvl="2">
              <a:buFont typeface="Arial" panose="020B0604020202020204" pitchFamily="34" charset="0"/>
              <a:buChar char="•"/>
            </a:pPr>
            <a:r>
              <a:rPr lang="en-US" sz="2400" dirty="0"/>
              <a:t>Discrete</a:t>
            </a:r>
          </a:p>
          <a:p>
            <a:pPr lvl="2">
              <a:buFont typeface="Arial" panose="020B0604020202020204" pitchFamily="34" charset="0"/>
              <a:buChar char="•"/>
            </a:pPr>
            <a:r>
              <a:rPr lang="en-US" sz="2400" dirty="0"/>
              <a:t>Points, lines, and polygons</a:t>
            </a:r>
          </a:p>
          <a:p>
            <a:pPr lvl="1">
              <a:buFont typeface="Wingdings" panose="05000000000000000000" pitchFamily="2" charset="2"/>
              <a:buChar char="ü"/>
            </a:pPr>
            <a:r>
              <a:rPr lang="en-US" sz="2400" b="1" dirty="0">
                <a:solidFill>
                  <a:srgbClr val="E3874F"/>
                </a:solidFill>
              </a:rPr>
              <a:t>Raster Data</a:t>
            </a:r>
          </a:p>
          <a:p>
            <a:pPr lvl="2">
              <a:buFont typeface="Arial" panose="020B0604020202020204" pitchFamily="34" charset="0"/>
              <a:buChar char="•"/>
            </a:pPr>
            <a:r>
              <a:rPr lang="en-US" sz="2400" dirty="0"/>
              <a:t>Space filling</a:t>
            </a:r>
          </a:p>
          <a:p>
            <a:pPr lvl="2">
              <a:buFont typeface="Arial" panose="020B0604020202020204" pitchFamily="34" charset="0"/>
              <a:buChar char="•"/>
            </a:pPr>
            <a:r>
              <a:rPr lang="en-US" sz="2400" dirty="0"/>
              <a:t>Cell- or pixel-based</a:t>
            </a:r>
          </a:p>
        </p:txBody>
      </p:sp>
      <p:sp>
        <p:nvSpPr>
          <p:cNvPr id="2" name="Slide Number Placeholder 1">
            <a:extLst>
              <a:ext uri="{FF2B5EF4-FFF2-40B4-BE49-F238E27FC236}">
                <a16:creationId xmlns:a16="http://schemas.microsoft.com/office/drawing/2014/main" id="{C3962AF3-F9BB-4A89-9FB4-DE7E4393D2FA}"/>
              </a:ext>
            </a:extLst>
          </p:cNvPr>
          <p:cNvSpPr>
            <a:spLocks noGrp="1"/>
          </p:cNvSpPr>
          <p:nvPr>
            <p:ph type="sldNum" sz="quarter" idx="12"/>
          </p:nvPr>
        </p:nvSpPr>
        <p:spPr/>
        <p:txBody>
          <a:bodyPr/>
          <a:lstStyle/>
          <a:p>
            <a:fld id="{127DDC20-79C9-9647-820E-6D40A3D210C3}" type="slidenum">
              <a:rPr lang="en-US" smtClean="0"/>
              <a:pPr/>
              <a:t>4</a:t>
            </a:fld>
            <a:endParaRPr lang="en-US"/>
          </a:p>
        </p:txBody>
      </p:sp>
      <p:grpSp>
        <p:nvGrpSpPr>
          <p:cNvPr id="6" name="Group 5" descr="Vector data"/>
          <p:cNvGrpSpPr/>
          <p:nvPr/>
        </p:nvGrpSpPr>
        <p:grpSpPr>
          <a:xfrm>
            <a:off x="3777649" y="1413770"/>
            <a:ext cx="3909542" cy="1357877"/>
            <a:chOff x="5595059" y="1713920"/>
            <a:chExt cx="5790406" cy="2011146"/>
          </a:xfrm>
        </p:grpSpPr>
        <p:sp>
          <p:nvSpPr>
            <p:cNvPr id="7" name="Line 51"/>
            <p:cNvSpPr>
              <a:spLocks noChangeShapeType="1"/>
            </p:cNvSpPr>
            <p:nvPr/>
          </p:nvSpPr>
          <p:spPr bwMode="auto">
            <a:xfrm flipH="1">
              <a:off x="9699503" y="2825747"/>
              <a:ext cx="42863" cy="827087"/>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8" name="Line 65"/>
            <p:cNvSpPr>
              <a:spLocks noChangeShapeType="1"/>
            </p:cNvSpPr>
            <p:nvPr/>
          </p:nvSpPr>
          <p:spPr bwMode="auto">
            <a:xfrm>
              <a:off x="7654768" y="2382258"/>
              <a:ext cx="2036762" cy="1262063"/>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9" name="Line 44"/>
            <p:cNvSpPr>
              <a:spLocks noChangeShapeType="1"/>
            </p:cNvSpPr>
            <p:nvPr/>
          </p:nvSpPr>
          <p:spPr bwMode="auto">
            <a:xfrm>
              <a:off x="6811011" y="1841606"/>
              <a:ext cx="820738" cy="520700"/>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10" name="Line 67"/>
            <p:cNvSpPr>
              <a:spLocks noChangeShapeType="1"/>
            </p:cNvSpPr>
            <p:nvPr/>
          </p:nvSpPr>
          <p:spPr bwMode="auto">
            <a:xfrm>
              <a:off x="8962146" y="2113753"/>
              <a:ext cx="57150" cy="382588"/>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1" name="Line 48"/>
            <p:cNvSpPr>
              <a:spLocks noChangeShapeType="1"/>
            </p:cNvSpPr>
            <p:nvPr/>
          </p:nvSpPr>
          <p:spPr bwMode="auto">
            <a:xfrm>
              <a:off x="9511347" y="2545734"/>
              <a:ext cx="225425" cy="2889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12" name="Group 11"/>
            <p:cNvGrpSpPr/>
            <p:nvPr/>
          </p:nvGrpSpPr>
          <p:grpSpPr>
            <a:xfrm>
              <a:off x="5595059" y="1713920"/>
              <a:ext cx="5790406" cy="2011146"/>
              <a:chOff x="718344" y="4402354"/>
              <a:chExt cx="5790406" cy="2011146"/>
            </a:xfrm>
          </p:grpSpPr>
          <p:sp>
            <p:nvSpPr>
              <p:cNvPr id="13"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4"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5" name="Text Box 61"/>
              <p:cNvSpPr txBox="1">
                <a:spLocks noChangeArrowheads="1"/>
              </p:cNvSpPr>
              <p:nvPr/>
            </p:nvSpPr>
            <p:spPr bwMode="auto">
              <a:xfrm>
                <a:off x="2136775" y="5630862"/>
                <a:ext cx="691654" cy="369902"/>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16"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17"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18"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9"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20"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1" name="Text Box 73"/>
              <p:cNvSpPr txBox="1">
                <a:spLocks noChangeArrowheads="1"/>
              </p:cNvSpPr>
              <p:nvPr/>
            </p:nvSpPr>
            <p:spPr bwMode="auto">
              <a:xfrm>
                <a:off x="5243514" y="4924425"/>
                <a:ext cx="785767" cy="369902"/>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22"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3"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4"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5"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6"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7"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28"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9" name="Oval 28"/>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0"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31"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2"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grpSp>
      <p:pic>
        <p:nvPicPr>
          <p:cNvPr id="33" name="Picture 32" descr="Raster data"/>
          <p:cNvPicPr>
            <a:picLocks noChangeAspect="1"/>
          </p:cNvPicPr>
          <p:nvPr/>
        </p:nvPicPr>
        <p:blipFill>
          <a:blip r:embed="rId3"/>
          <a:stretch>
            <a:fillRect/>
          </a:stretch>
        </p:blipFill>
        <p:spPr>
          <a:xfrm>
            <a:off x="5247288" y="2956534"/>
            <a:ext cx="2116177" cy="1819214"/>
          </a:xfrm>
          <a:prstGeom prst="rect">
            <a:avLst/>
          </a:prstGeom>
        </p:spPr>
      </p:pic>
      <p:sp>
        <p:nvSpPr>
          <p:cNvPr id="34" name="Title 1">
            <a:extLst>
              <a:ext uri="{FF2B5EF4-FFF2-40B4-BE49-F238E27FC236}">
                <a16:creationId xmlns:a16="http://schemas.microsoft.com/office/drawing/2014/main" id="{F2B43843-8E1E-49CE-959C-569F105F5BC4}"/>
              </a:ext>
            </a:extLst>
          </p:cNvPr>
          <p:cNvSpPr txBox="1">
            <a:spLocks/>
          </p:cNvSpPr>
          <p:nvPr/>
        </p:nvSpPr>
        <p:spPr>
          <a:xfrm>
            <a:off x="182585" y="1687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Geospatial data</a:t>
            </a:r>
            <a:endParaRPr lang="en-US" sz="2600" dirty="0">
              <a:solidFill>
                <a:srgbClr val="7030A0"/>
              </a:solidFill>
            </a:endParaRPr>
          </a:p>
        </p:txBody>
      </p:sp>
      <p:cxnSp>
        <p:nvCxnSpPr>
          <p:cNvPr id="35" name="Straight Connector 34">
            <a:extLst>
              <a:ext uri="{FF2B5EF4-FFF2-40B4-BE49-F238E27FC236}">
                <a16:creationId xmlns:a16="http://schemas.microsoft.com/office/drawing/2014/main" id="{F76F82A3-9536-4D99-B8CB-DD7C4CC7BD6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C1BFDF12-CB17-4E4D-8111-BF6D4CE852C3}"/>
              </a:ext>
            </a:extLst>
          </p:cNvPr>
          <p:cNvSpPr txBox="1"/>
          <p:nvPr/>
        </p:nvSpPr>
        <p:spPr>
          <a:xfrm>
            <a:off x="118533" y="4671775"/>
            <a:ext cx="2761956" cy="369332"/>
          </a:xfrm>
          <a:prstGeom prst="rect">
            <a:avLst/>
          </a:prstGeom>
          <a:noFill/>
        </p:spPr>
        <p:txBody>
          <a:bodyPr wrap="square">
            <a:spAutoFit/>
          </a:bodyPr>
          <a:lstStyle/>
          <a:p>
            <a:r>
              <a:rPr lang="en-US" dirty="0">
                <a:solidFill>
                  <a:srgbClr val="7030A0"/>
                </a:solidFill>
                <a:hlinkClick r:id="rId4"/>
              </a:rPr>
              <a:t>Vector and raster graphics</a:t>
            </a:r>
            <a:endParaRPr lang="en-US" dirty="0">
              <a:solidFill>
                <a:srgbClr val="7030A0"/>
              </a:solidFill>
            </a:endParaRPr>
          </a:p>
        </p:txBody>
      </p:sp>
    </p:spTree>
    <p:extLst>
      <p:ext uri="{BB962C8B-B14F-4D97-AF65-F5344CB8AC3E}">
        <p14:creationId xmlns:p14="http://schemas.microsoft.com/office/powerpoint/2010/main" val="418949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7757"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Points</a:t>
            </a:r>
          </a:p>
        </p:txBody>
      </p:sp>
      <p:sp>
        <p:nvSpPr>
          <p:cNvPr id="15" name="TextBox 14"/>
          <p:cNvSpPr txBox="1"/>
          <p:nvPr/>
        </p:nvSpPr>
        <p:spPr>
          <a:xfrm>
            <a:off x="3497419"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Lines</a:t>
            </a:r>
          </a:p>
        </p:txBody>
      </p:sp>
      <p:sp>
        <p:nvSpPr>
          <p:cNvPr id="7" name="TextBox 6"/>
          <p:cNvSpPr txBox="1"/>
          <p:nvPr/>
        </p:nvSpPr>
        <p:spPr>
          <a:xfrm>
            <a:off x="6121288"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Polygons</a:t>
            </a:r>
          </a:p>
        </p:txBody>
      </p:sp>
      <p:pic>
        <p:nvPicPr>
          <p:cNvPr id="8" name="Picture 33" descr="RomneyPoints"/>
          <p:cNvPicPr>
            <a:picLocks noChangeAspect="1" noChangeArrowheads="1"/>
          </p:cNvPicPr>
          <p:nvPr/>
        </p:nvPicPr>
        <p:blipFill>
          <a:blip r:embed="rId3" cstate="print"/>
          <a:srcRect/>
          <a:stretch>
            <a:fillRect/>
          </a:stretch>
        </p:blipFill>
        <p:spPr bwMode="auto">
          <a:xfrm>
            <a:off x="306548" y="1378177"/>
            <a:ext cx="2110456" cy="1903417"/>
          </a:xfrm>
          <a:prstGeom prst="rect">
            <a:avLst/>
          </a:prstGeom>
          <a:noFill/>
          <a:ln w="9525">
            <a:noFill/>
            <a:miter lim="800000"/>
            <a:headEnd/>
            <a:tailEnd/>
          </a:ln>
        </p:spPr>
      </p:pic>
      <p:pic>
        <p:nvPicPr>
          <p:cNvPr id="9" name="Picture 4" descr="RomneyLines"/>
          <p:cNvPicPr>
            <a:picLocks noChangeAspect="1" noChangeArrowheads="1"/>
          </p:cNvPicPr>
          <p:nvPr/>
        </p:nvPicPr>
        <p:blipFill>
          <a:blip r:embed="rId4" cstate="print"/>
          <a:srcRect/>
          <a:stretch>
            <a:fillRect/>
          </a:stretch>
        </p:blipFill>
        <p:spPr bwMode="auto">
          <a:xfrm>
            <a:off x="3034384" y="1381109"/>
            <a:ext cx="2160833" cy="1935747"/>
          </a:xfrm>
          <a:prstGeom prst="rect">
            <a:avLst/>
          </a:prstGeom>
          <a:noFill/>
          <a:ln w="9525">
            <a:noFill/>
            <a:miter lim="800000"/>
            <a:headEnd/>
            <a:tailEnd/>
          </a:ln>
        </p:spPr>
      </p:pic>
      <p:pic>
        <p:nvPicPr>
          <p:cNvPr id="10" name="Picture 5" descr="romneyPolys"/>
          <p:cNvPicPr>
            <a:picLocks noChangeAspect="1" noChangeArrowheads="1"/>
          </p:cNvPicPr>
          <p:nvPr/>
        </p:nvPicPr>
        <p:blipFill>
          <a:blip r:embed="rId5" cstate="print"/>
          <a:srcRect/>
          <a:stretch>
            <a:fillRect/>
          </a:stretch>
        </p:blipFill>
        <p:spPr bwMode="auto">
          <a:xfrm>
            <a:off x="5812597" y="1417338"/>
            <a:ext cx="2109384" cy="1863289"/>
          </a:xfrm>
          <a:prstGeom prst="rect">
            <a:avLst/>
          </a:prstGeom>
          <a:noFill/>
          <a:ln w="9525">
            <a:noFill/>
            <a:miter lim="800000"/>
            <a:headEnd/>
            <a:tailEnd/>
          </a:ln>
        </p:spPr>
      </p:pic>
      <p:sp>
        <p:nvSpPr>
          <p:cNvPr id="11" name="TextBox 10"/>
          <p:cNvSpPr txBox="1"/>
          <p:nvPr/>
        </p:nvSpPr>
        <p:spPr>
          <a:xfrm>
            <a:off x="384256" y="4227133"/>
            <a:ext cx="1955039" cy="541046"/>
          </a:xfrm>
          <a:prstGeom prst="rect">
            <a:avLst/>
          </a:prstGeom>
          <a:noFill/>
        </p:spPr>
        <p:txBody>
          <a:bodyPr wrap="square" rtlCol="0">
            <a:spAutoFit/>
          </a:bodyPr>
          <a:lstStyle/>
          <a:p>
            <a:pPr>
              <a:lnSpc>
                <a:spcPct val="90000"/>
              </a:lnSpc>
            </a:pPr>
            <a:r>
              <a:rPr lang="en-US" sz="1620" dirty="0"/>
              <a:t>Coordinate locations, Zero-dimensional</a:t>
            </a:r>
          </a:p>
        </p:txBody>
      </p:sp>
      <p:sp>
        <p:nvSpPr>
          <p:cNvPr id="14" name="TextBox 13"/>
          <p:cNvSpPr txBox="1"/>
          <p:nvPr/>
        </p:nvSpPr>
        <p:spPr>
          <a:xfrm>
            <a:off x="3175599" y="4237015"/>
            <a:ext cx="1955039" cy="541046"/>
          </a:xfrm>
          <a:prstGeom prst="rect">
            <a:avLst/>
          </a:prstGeom>
          <a:noFill/>
        </p:spPr>
        <p:txBody>
          <a:bodyPr wrap="square" rtlCol="0">
            <a:spAutoFit/>
          </a:bodyPr>
          <a:lstStyle/>
          <a:p>
            <a:pPr>
              <a:lnSpc>
                <a:spcPct val="90000"/>
              </a:lnSpc>
            </a:pPr>
            <a:r>
              <a:rPr lang="en-US" sz="1620" dirty="0"/>
              <a:t>One-dimensional,</a:t>
            </a:r>
          </a:p>
          <a:p>
            <a:pPr>
              <a:lnSpc>
                <a:spcPct val="90000"/>
              </a:lnSpc>
            </a:pPr>
            <a:r>
              <a:rPr lang="en-US" sz="1620" dirty="0"/>
              <a:t>Length, No width</a:t>
            </a:r>
          </a:p>
        </p:txBody>
      </p:sp>
      <p:sp>
        <p:nvSpPr>
          <p:cNvPr id="16" name="TextBox 15"/>
          <p:cNvSpPr txBox="1"/>
          <p:nvPr/>
        </p:nvSpPr>
        <p:spPr>
          <a:xfrm>
            <a:off x="5966942" y="4237015"/>
            <a:ext cx="1955039" cy="765402"/>
          </a:xfrm>
          <a:prstGeom prst="rect">
            <a:avLst/>
          </a:prstGeom>
          <a:noFill/>
        </p:spPr>
        <p:txBody>
          <a:bodyPr wrap="square" rtlCol="0">
            <a:spAutoFit/>
          </a:bodyPr>
          <a:lstStyle/>
          <a:p>
            <a:pPr>
              <a:lnSpc>
                <a:spcPct val="90000"/>
              </a:lnSpc>
            </a:pPr>
            <a:r>
              <a:rPr lang="en-US" sz="1620" dirty="0"/>
              <a:t>Two-dimensional,</a:t>
            </a:r>
          </a:p>
          <a:p>
            <a:pPr>
              <a:lnSpc>
                <a:spcPct val="90000"/>
              </a:lnSpc>
            </a:pPr>
            <a:r>
              <a:rPr lang="en-US" sz="1620" dirty="0"/>
              <a:t>Length and width, An area</a:t>
            </a:r>
          </a:p>
        </p:txBody>
      </p:sp>
      <p:sp>
        <p:nvSpPr>
          <p:cNvPr id="17" name="Oval 28" descr="Point"/>
          <p:cNvSpPr>
            <a:spLocks noChangeArrowheads="1"/>
          </p:cNvSpPr>
          <p:nvPr/>
        </p:nvSpPr>
        <p:spPr bwMode="auto">
          <a:xfrm>
            <a:off x="1902519" y="3425518"/>
            <a:ext cx="108256" cy="120046"/>
          </a:xfrm>
          <a:prstGeom prst="ellipse">
            <a:avLst/>
          </a:prstGeom>
          <a:solidFill>
            <a:srgbClr val="479AAD"/>
          </a:solidFill>
          <a:ln w="9525">
            <a:solidFill>
              <a:srgbClr val="000000"/>
            </a:solidFill>
            <a:round/>
            <a:headEnd/>
            <a:tailEnd/>
          </a:ln>
        </p:spPr>
        <p:txBody>
          <a:bodyPr wrap="none" anchor="ctr"/>
          <a:lstStyle/>
          <a:p>
            <a:endParaRPr lang="en-US" sz="1215"/>
          </a:p>
        </p:txBody>
      </p:sp>
      <p:sp>
        <p:nvSpPr>
          <p:cNvPr id="18" name="Text Box 27"/>
          <p:cNvSpPr txBox="1">
            <a:spLocks noChangeArrowheads="1"/>
          </p:cNvSpPr>
          <p:nvPr/>
        </p:nvSpPr>
        <p:spPr bwMode="auto">
          <a:xfrm>
            <a:off x="1810340" y="352759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grpSp>
        <p:nvGrpSpPr>
          <p:cNvPr id="19" name="Group 18" descr="Line"/>
          <p:cNvGrpSpPr/>
          <p:nvPr/>
        </p:nvGrpSpPr>
        <p:grpSpPr>
          <a:xfrm>
            <a:off x="3453035" y="3410015"/>
            <a:ext cx="1506817" cy="362091"/>
            <a:chOff x="2967038" y="2684463"/>
            <a:chExt cx="2600325" cy="768350"/>
          </a:xfrm>
        </p:grpSpPr>
        <p:sp>
          <p:nvSpPr>
            <p:cNvPr id="21" name="Freeform 9"/>
            <p:cNvSpPr>
              <a:spLocks/>
            </p:cNvSpPr>
            <p:nvPr/>
          </p:nvSpPr>
          <p:spPr bwMode="auto">
            <a:xfrm>
              <a:off x="2989263" y="2773363"/>
              <a:ext cx="2514600" cy="609600"/>
            </a:xfrm>
            <a:custGeom>
              <a:avLst/>
              <a:gdLst>
                <a:gd name="T0" fmla="*/ 0 w 1584"/>
                <a:gd name="T1" fmla="*/ 0 h 384"/>
                <a:gd name="T2" fmla="*/ 381000 w 1584"/>
                <a:gd name="T3" fmla="*/ 0 h 384"/>
                <a:gd name="T4" fmla="*/ 762000 w 1584"/>
                <a:gd name="T5" fmla="*/ 0 h 384"/>
                <a:gd name="T6" fmla="*/ 1447800 w 1584"/>
                <a:gd name="T7" fmla="*/ 76200 h 384"/>
                <a:gd name="T8" fmla="*/ 2514600 w 1584"/>
                <a:gd name="T9" fmla="*/ 609600 h 384"/>
                <a:gd name="T10" fmla="*/ 0 60000 65536"/>
                <a:gd name="T11" fmla="*/ 0 60000 65536"/>
                <a:gd name="T12" fmla="*/ 0 60000 65536"/>
                <a:gd name="T13" fmla="*/ 0 60000 65536"/>
                <a:gd name="T14" fmla="*/ 0 60000 65536"/>
                <a:gd name="T15" fmla="*/ 0 w 1584"/>
                <a:gd name="T16" fmla="*/ 0 h 384"/>
                <a:gd name="T17" fmla="*/ 1584 w 1584"/>
                <a:gd name="T18" fmla="*/ 384 h 384"/>
              </a:gdLst>
              <a:ahLst/>
              <a:cxnLst>
                <a:cxn ang="T10">
                  <a:pos x="T0" y="T1"/>
                </a:cxn>
                <a:cxn ang="T11">
                  <a:pos x="T2" y="T3"/>
                </a:cxn>
                <a:cxn ang="T12">
                  <a:pos x="T4" y="T5"/>
                </a:cxn>
                <a:cxn ang="T13">
                  <a:pos x="T6" y="T7"/>
                </a:cxn>
                <a:cxn ang="T14">
                  <a:pos x="T8" y="T9"/>
                </a:cxn>
              </a:cxnLst>
              <a:rect l="T15" t="T16" r="T17" b="T18"/>
              <a:pathLst>
                <a:path w="1584" h="384">
                  <a:moveTo>
                    <a:pt x="0" y="0"/>
                  </a:moveTo>
                  <a:lnTo>
                    <a:pt x="240" y="0"/>
                  </a:lnTo>
                  <a:lnTo>
                    <a:pt x="480" y="0"/>
                  </a:lnTo>
                  <a:lnTo>
                    <a:pt x="912" y="48"/>
                  </a:lnTo>
                  <a:lnTo>
                    <a:pt x="1584" y="384"/>
                  </a:lnTo>
                </a:path>
              </a:pathLst>
            </a:custGeom>
            <a:noFill/>
            <a:ln w="57150" cmpd="sng">
              <a:solidFill>
                <a:srgbClr val="E3874F"/>
              </a:solidFill>
              <a:prstDash val="solid"/>
              <a:round/>
              <a:headEnd/>
              <a:tailEnd/>
            </a:ln>
          </p:spPr>
          <p:txBody>
            <a:bodyPr wrap="none" anchor="ctr"/>
            <a:lstStyle/>
            <a:p>
              <a:endParaRPr lang="en-US" sz="1215"/>
            </a:p>
          </p:txBody>
        </p:sp>
        <p:sp>
          <p:nvSpPr>
            <p:cNvPr id="22" name="Oval 10"/>
            <p:cNvSpPr>
              <a:spLocks noChangeArrowheads="1"/>
            </p:cNvSpPr>
            <p:nvPr/>
          </p:nvSpPr>
          <p:spPr bwMode="auto">
            <a:xfrm>
              <a:off x="5407025" y="3275013"/>
              <a:ext cx="160338"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3" name="Oval 11"/>
            <p:cNvSpPr>
              <a:spLocks noChangeArrowheads="1"/>
            </p:cNvSpPr>
            <p:nvPr/>
          </p:nvSpPr>
          <p:spPr bwMode="auto">
            <a:xfrm>
              <a:off x="4360863" y="2752725"/>
              <a:ext cx="160337"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4" name="Oval 12"/>
            <p:cNvSpPr>
              <a:spLocks noChangeArrowheads="1"/>
            </p:cNvSpPr>
            <p:nvPr/>
          </p:nvSpPr>
          <p:spPr bwMode="auto">
            <a:xfrm>
              <a:off x="3717925" y="2686050"/>
              <a:ext cx="160338"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5" name="Oval 13"/>
            <p:cNvSpPr>
              <a:spLocks noChangeArrowheads="1"/>
            </p:cNvSpPr>
            <p:nvPr/>
          </p:nvSpPr>
          <p:spPr bwMode="auto">
            <a:xfrm>
              <a:off x="2967038" y="2684463"/>
              <a:ext cx="160337" cy="177800"/>
            </a:xfrm>
            <a:prstGeom prst="ellipse">
              <a:avLst/>
            </a:prstGeom>
            <a:solidFill>
              <a:srgbClr val="FFC5CF"/>
            </a:solidFill>
            <a:ln w="9525">
              <a:solidFill>
                <a:srgbClr val="000000"/>
              </a:solidFill>
              <a:round/>
              <a:headEnd/>
              <a:tailEnd/>
            </a:ln>
          </p:spPr>
          <p:txBody>
            <a:bodyPr wrap="none" anchor="ctr"/>
            <a:lstStyle/>
            <a:p>
              <a:endParaRPr lang="en-US" sz="1215"/>
            </a:p>
          </p:txBody>
        </p:sp>
      </p:grpSp>
      <p:sp>
        <p:nvSpPr>
          <p:cNvPr id="27" name="Freeform 42" descr="Polygon"/>
          <p:cNvSpPr>
            <a:spLocks/>
          </p:cNvSpPr>
          <p:nvPr/>
        </p:nvSpPr>
        <p:spPr bwMode="auto">
          <a:xfrm>
            <a:off x="7360337" y="3222999"/>
            <a:ext cx="715990" cy="883197"/>
          </a:xfrm>
          <a:custGeom>
            <a:avLst/>
            <a:gdLst>
              <a:gd name="T0" fmla="*/ 20637 w 668"/>
              <a:gd name="T1" fmla="*/ 415925 h 824"/>
              <a:gd name="T2" fmla="*/ 0 w 668"/>
              <a:gd name="T3" fmla="*/ 1308100 h 824"/>
              <a:gd name="T4" fmla="*/ 1060450 w 668"/>
              <a:gd name="T5" fmla="*/ 987425 h 824"/>
              <a:gd name="T6" fmla="*/ 1049338 w 668"/>
              <a:gd name="T7" fmla="*/ 0 h 824"/>
              <a:gd name="T8" fmla="*/ 20637 w 668"/>
              <a:gd name="T9" fmla="*/ 415925 h 824"/>
              <a:gd name="T10" fmla="*/ 0 60000 65536"/>
              <a:gd name="T11" fmla="*/ 0 60000 65536"/>
              <a:gd name="T12" fmla="*/ 0 60000 65536"/>
              <a:gd name="T13" fmla="*/ 0 60000 65536"/>
              <a:gd name="T14" fmla="*/ 0 60000 65536"/>
              <a:gd name="T15" fmla="*/ 0 w 668"/>
              <a:gd name="T16" fmla="*/ 0 h 824"/>
              <a:gd name="T17" fmla="*/ 668 w 668"/>
              <a:gd name="T18" fmla="*/ 824 h 824"/>
            </a:gdLst>
            <a:ahLst/>
            <a:cxnLst>
              <a:cxn ang="T10">
                <a:pos x="T0" y="T1"/>
              </a:cxn>
              <a:cxn ang="T11">
                <a:pos x="T2" y="T3"/>
              </a:cxn>
              <a:cxn ang="T12">
                <a:pos x="T4" y="T5"/>
              </a:cxn>
              <a:cxn ang="T13">
                <a:pos x="T6" y="T7"/>
              </a:cxn>
              <a:cxn ang="T14">
                <a:pos x="T8" y="T9"/>
              </a:cxn>
            </a:cxnLst>
            <a:rect l="T15" t="T16" r="T17" b="T18"/>
            <a:pathLst>
              <a:path w="668" h="824">
                <a:moveTo>
                  <a:pt x="13" y="262"/>
                </a:moveTo>
                <a:lnTo>
                  <a:pt x="0" y="824"/>
                </a:lnTo>
                <a:lnTo>
                  <a:pt x="668" y="622"/>
                </a:lnTo>
                <a:lnTo>
                  <a:pt x="661" y="0"/>
                </a:lnTo>
                <a:lnTo>
                  <a:pt x="13" y="262"/>
                </a:lnTo>
                <a:close/>
              </a:path>
            </a:pathLst>
          </a:custGeom>
          <a:solidFill>
            <a:srgbClr val="CCFFCC"/>
          </a:solidFill>
          <a:ln w="34925" cap="flat" cmpd="sng">
            <a:solidFill>
              <a:srgbClr val="008000"/>
            </a:solidFill>
            <a:prstDash val="solid"/>
            <a:round/>
            <a:headEnd/>
            <a:tailEnd/>
          </a:ln>
        </p:spPr>
        <p:txBody>
          <a:bodyPr wrap="none" lIns="62167" tIns="31084" rIns="62167" bIns="31084" anchor="ctr"/>
          <a:lstStyle/>
          <a:p>
            <a:endParaRPr lang="en-US" sz="1215"/>
          </a:p>
        </p:txBody>
      </p:sp>
      <p:sp>
        <p:nvSpPr>
          <p:cNvPr id="28" name="Oval 29"/>
          <p:cNvSpPr>
            <a:spLocks noChangeArrowheads="1"/>
          </p:cNvSpPr>
          <p:nvPr/>
        </p:nvSpPr>
        <p:spPr bwMode="auto">
          <a:xfrm>
            <a:off x="7332469" y="3452373"/>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29" name="Oval 30"/>
          <p:cNvSpPr>
            <a:spLocks noChangeArrowheads="1"/>
          </p:cNvSpPr>
          <p:nvPr/>
        </p:nvSpPr>
        <p:spPr bwMode="auto">
          <a:xfrm>
            <a:off x="7318534" y="4027952"/>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0" name="Oval 31"/>
          <p:cNvSpPr>
            <a:spLocks noChangeArrowheads="1"/>
          </p:cNvSpPr>
          <p:nvPr/>
        </p:nvSpPr>
        <p:spPr bwMode="auto">
          <a:xfrm>
            <a:off x="8028094" y="3839308"/>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1" name="Oval 32"/>
          <p:cNvSpPr>
            <a:spLocks noChangeArrowheads="1"/>
          </p:cNvSpPr>
          <p:nvPr/>
        </p:nvSpPr>
        <p:spPr bwMode="auto">
          <a:xfrm>
            <a:off x="8010944" y="3151185"/>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2" name="Text Box 27"/>
          <p:cNvSpPr txBox="1">
            <a:spLocks noChangeArrowheads="1"/>
          </p:cNvSpPr>
          <p:nvPr/>
        </p:nvSpPr>
        <p:spPr bwMode="auto">
          <a:xfrm>
            <a:off x="3344365" y="3452983"/>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3" name="Text Box 27"/>
          <p:cNvSpPr txBox="1">
            <a:spLocks noChangeArrowheads="1"/>
          </p:cNvSpPr>
          <p:nvPr/>
        </p:nvSpPr>
        <p:spPr bwMode="auto">
          <a:xfrm>
            <a:off x="3784729" y="3471655"/>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4" name="Text Box 27"/>
          <p:cNvSpPr txBox="1">
            <a:spLocks noChangeArrowheads="1"/>
          </p:cNvSpPr>
          <p:nvPr/>
        </p:nvSpPr>
        <p:spPr bwMode="auto">
          <a:xfrm>
            <a:off x="4113437" y="352759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5" name="Text Box 27"/>
          <p:cNvSpPr txBox="1">
            <a:spLocks noChangeArrowheads="1"/>
          </p:cNvSpPr>
          <p:nvPr/>
        </p:nvSpPr>
        <p:spPr bwMode="auto">
          <a:xfrm>
            <a:off x="4701824" y="3780335"/>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6" name="Text Box 27"/>
          <p:cNvSpPr txBox="1">
            <a:spLocks noChangeArrowheads="1"/>
          </p:cNvSpPr>
          <p:nvPr/>
        </p:nvSpPr>
        <p:spPr bwMode="auto">
          <a:xfrm>
            <a:off x="6985728" y="4014017"/>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7" name="Text Box 27"/>
          <p:cNvSpPr txBox="1">
            <a:spLocks noChangeArrowheads="1"/>
          </p:cNvSpPr>
          <p:nvPr/>
        </p:nvSpPr>
        <p:spPr bwMode="auto">
          <a:xfrm>
            <a:off x="7845881" y="3976398"/>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8" name="Text Box 27"/>
          <p:cNvSpPr txBox="1">
            <a:spLocks noChangeArrowheads="1"/>
          </p:cNvSpPr>
          <p:nvPr/>
        </p:nvSpPr>
        <p:spPr bwMode="auto">
          <a:xfrm>
            <a:off x="6974185" y="335964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9" name="Text Box 27"/>
          <p:cNvSpPr txBox="1">
            <a:spLocks noChangeArrowheads="1"/>
          </p:cNvSpPr>
          <p:nvPr/>
        </p:nvSpPr>
        <p:spPr bwMode="auto">
          <a:xfrm>
            <a:off x="7918766" y="2902243"/>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40" name="Content Placeholder 2"/>
          <p:cNvSpPr>
            <a:spLocks noGrp="1"/>
          </p:cNvSpPr>
          <p:nvPr>
            <p:ph idx="1"/>
          </p:nvPr>
        </p:nvSpPr>
        <p:spPr>
          <a:xfrm>
            <a:off x="273638" y="4881992"/>
            <a:ext cx="5607877" cy="308690"/>
          </a:xfrm>
        </p:spPr>
        <p:txBody>
          <a:bodyPr>
            <a:normAutofit/>
          </a:bodyPr>
          <a:lstStyle/>
          <a:p>
            <a:pPr marL="0" indent="0">
              <a:buNone/>
            </a:pPr>
            <a:r>
              <a:rPr lang="en-US" sz="1350" dirty="0"/>
              <a:t>Examples by Dr. Mike and Dr. Jackie Strager</a:t>
            </a:r>
          </a:p>
        </p:txBody>
      </p:sp>
      <p:sp>
        <p:nvSpPr>
          <p:cNvPr id="2" name="Slide Number Placeholder 1">
            <a:extLst>
              <a:ext uri="{FF2B5EF4-FFF2-40B4-BE49-F238E27FC236}">
                <a16:creationId xmlns:a16="http://schemas.microsoft.com/office/drawing/2014/main" id="{CB474B26-8826-408A-B866-62864722971A}"/>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41" name="Title 1">
            <a:extLst>
              <a:ext uri="{FF2B5EF4-FFF2-40B4-BE49-F238E27FC236}">
                <a16:creationId xmlns:a16="http://schemas.microsoft.com/office/drawing/2014/main" id="{6166A9B3-B66C-4E84-A226-508A3BAADFB6}"/>
              </a:ext>
            </a:extLst>
          </p:cNvPr>
          <p:cNvSpPr txBox="1">
            <a:spLocks/>
          </p:cNvSpPr>
          <p:nvPr/>
        </p:nvSpPr>
        <p:spPr>
          <a:xfrm>
            <a:off x="222118" y="2100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42" name="Straight Connector 41">
            <a:extLst>
              <a:ext uri="{FF2B5EF4-FFF2-40B4-BE49-F238E27FC236}">
                <a16:creationId xmlns:a16="http://schemas.microsoft.com/office/drawing/2014/main" id="{17668E15-A010-4986-A119-742F8440DD2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0170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Line 51"/>
          <p:cNvSpPr>
            <a:spLocks noChangeShapeType="1"/>
          </p:cNvSpPr>
          <p:nvPr/>
        </p:nvSpPr>
        <p:spPr bwMode="auto">
          <a:xfrm flipH="1">
            <a:off x="6336626" y="2874727"/>
            <a:ext cx="28940" cy="558429"/>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61" name="Line 65"/>
          <p:cNvSpPr>
            <a:spLocks noChangeShapeType="1"/>
          </p:cNvSpPr>
          <p:nvPr/>
        </p:nvSpPr>
        <p:spPr bwMode="auto">
          <a:xfrm>
            <a:off x="4956070" y="2575294"/>
            <a:ext cx="1375172" cy="852114"/>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62" name="Line 44"/>
          <p:cNvSpPr>
            <a:spLocks noChangeShapeType="1"/>
          </p:cNvSpPr>
          <p:nvPr/>
        </p:nvSpPr>
        <p:spPr bwMode="auto">
          <a:xfrm>
            <a:off x="4386386" y="2210258"/>
            <a:ext cx="554142" cy="351564"/>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63" name="Line 67"/>
          <p:cNvSpPr>
            <a:spLocks noChangeShapeType="1"/>
          </p:cNvSpPr>
          <p:nvPr/>
        </p:nvSpPr>
        <p:spPr bwMode="auto">
          <a:xfrm>
            <a:off x="5838780" y="2394005"/>
            <a:ext cx="38586" cy="258314"/>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65" name="Line 48"/>
          <p:cNvSpPr>
            <a:spLocks noChangeShapeType="1"/>
          </p:cNvSpPr>
          <p:nvPr/>
        </p:nvSpPr>
        <p:spPr bwMode="auto">
          <a:xfrm>
            <a:off x="6209587" y="2685669"/>
            <a:ext cx="152202" cy="19507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40" name="Group 39" descr="Vector"/>
          <p:cNvGrpSpPr/>
          <p:nvPr/>
        </p:nvGrpSpPr>
        <p:grpSpPr>
          <a:xfrm>
            <a:off x="3565404" y="2124047"/>
            <a:ext cx="3909542" cy="1357877"/>
            <a:chOff x="718344" y="4402354"/>
            <a:chExt cx="5790406" cy="2011146"/>
          </a:xfrm>
        </p:grpSpPr>
        <p:sp>
          <p:nvSpPr>
            <p:cNvPr id="44"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1"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2" name="Text Box 61"/>
            <p:cNvSpPr txBox="1">
              <a:spLocks noChangeArrowheads="1"/>
            </p:cNvSpPr>
            <p:nvPr/>
          </p:nvSpPr>
          <p:spPr bwMode="auto">
            <a:xfrm>
              <a:off x="2136775" y="5630862"/>
              <a:ext cx="691654" cy="369902"/>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43"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45"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46"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7"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48"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49" name="Text Box 73"/>
            <p:cNvSpPr txBox="1">
              <a:spLocks noChangeArrowheads="1"/>
            </p:cNvSpPr>
            <p:nvPr/>
          </p:nvSpPr>
          <p:spPr bwMode="auto">
            <a:xfrm>
              <a:off x="5243514" y="4924425"/>
              <a:ext cx="785767" cy="369902"/>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50"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51"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52"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3"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4"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5"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56"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57" name="Oval 56"/>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58"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9"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60"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sp>
        <p:nvSpPr>
          <p:cNvPr id="4" name="TextBox 3"/>
          <p:cNvSpPr txBox="1"/>
          <p:nvPr/>
        </p:nvSpPr>
        <p:spPr>
          <a:xfrm>
            <a:off x="206866" y="1232330"/>
            <a:ext cx="3582630" cy="4000775"/>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600" dirty="0"/>
              <a:t>Vector Data Structure</a:t>
            </a:r>
          </a:p>
          <a:p>
            <a:pPr marL="742950" lvl="1" indent="-285750">
              <a:lnSpc>
                <a:spcPct val="90000"/>
              </a:lnSpc>
              <a:buFont typeface="Wingdings" panose="05000000000000000000" pitchFamily="2" charset="2"/>
              <a:buChar char="ü"/>
            </a:pPr>
            <a:r>
              <a:rPr lang="en-US" sz="2000" dirty="0"/>
              <a:t>Vector data are made up of connected </a:t>
            </a:r>
            <a:r>
              <a:rPr lang="en-US" sz="2000" b="1" dirty="0">
                <a:solidFill>
                  <a:srgbClr val="E3874F"/>
                </a:solidFill>
              </a:rPr>
              <a:t>vertices</a:t>
            </a:r>
            <a:r>
              <a:rPr lang="en-US" sz="2000" dirty="0"/>
              <a:t>.</a:t>
            </a:r>
          </a:p>
          <a:p>
            <a:pPr>
              <a:lnSpc>
                <a:spcPct val="90000"/>
              </a:lnSpc>
            </a:pPr>
            <a:endParaRPr lang="en-US" sz="2000" dirty="0"/>
          </a:p>
          <a:p>
            <a:pPr marL="742950" lvl="1" indent="-285750">
              <a:lnSpc>
                <a:spcPct val="90000"/>
              </a:lnSpc>
              <a:buFont typeface="Wingdings" panose="05000000000000000000" pitchFamily="2" charset="2"/>
              <a:buChar char="ü"/>
            </a:pPr>
            <a:r>
              <a:rPr lang="en-US" sz="2000" dirty="0"/>
              <a:t>End vertices are called </a:t>
            </a:r>
            <a:r>
              <a:rPr lang="en-US" sz="2000" b="1" dirty="0">
                <a:solidFill>
                  <a:srgbClr val="E3874F"/>
                </a:solidFill>
              </a:rPr>
              <a:t>nodes</a:t>
            </a:r>
            <a:r>
              <a:rPr lang="en-US" sz="2000" dirty="0"/>
              <a:t>.</a:t>
            </a:r>
          </a:p>
          <a:p>
            <a:pPr>
              <a:lnSpc>
                <a:spcPct val="90000"/>
              </a:lnSpc>
            </a:pPr>
            <a:endParaRPr lang="en-US" sz="2000" dirty="0"/>
          </a:p>
          <a:p>
            <a:pPr marL="742950" lvl="1" indent="-285750">
              <a:lnSpc>
                <a:spcPct val="90000"/>
              </a:lnSpc>
              <a:buFont typeface="Wingdings" panose="05000000000000000000" pitchFamily="2" charset="2"/>
              <a:buChar char="ü"/>
            </a:pPr>
            <a:r>
              <a:rPr lang="en-US" sz="2000" dirty="0"/>
              <a:t>Vertices can be connected as lines and polygons.</a:t>
            </a:r>
          </a:p>
          <a:p>
            <a:pPr marL="285750" indent="-285750">
              <a:lnSpc>
                <a:spcPct val="90000"/>
              </a:lnSpc>
              <a:buFont typeface="Wingdings" panose="05000000000000000000" pitchFamily="2" charset="2"/>
              <a:buChar char="ü"/>
            </a:pPr>
            <a:endParaRPr lang="en-US" sz="2000" dirty="0"/>
          </a:p>
          <a:p>
            <a:pPr marL="742950" lvl="1" indent="-285750">
              <a:lnSpc>
                <a:spcPct val="90000"/>
              </a:lnSpc>
              <a:buFont typeface="Wingdings" panose="05000000000000000000" pitchFamily="2" charset="2"/>
              <a:buChar char="ü"/>
            </a:pPr>
            <a:r>
              <a:rPr lang="en-US" sz="2000" dirty="0"/>
              <a:t>Vector data are made up of coordinate points.</a:t>
            </a:r>
          </a:p>
          <a:p>
            <a:pPr>
              <a:lnSpc>
                <a:spcPct val="90000"/>
              </a:lnSpc>
            </a:pPr>
            <a:endParaRPr lang="en-US" sz="1620" dirty="0"/>
          </a:p>
        </p:txBody>
      </p:sp>
      <p:sp>
        <p:nvSpPr>
          <p:cNvPr id="31" name="Title 1">
            <a:extLst>
              <a:ext uri="{FF2B5EF4-FFF2-40B4-BE49-F238E27FC236}">
                <a16:creationId xmlns:a16="http://schemas.microsoft.com/office/drawing/2014/main" id="{9B2B1801-7820-4AAB-9189-BBEF84DCB143}"/>
              </a:ext>
            </a:extLst>
          </p:cNvPr>
          <p:cNvSpPr txBox="1">
            <a:spLocks/>
          </p:cNvSpPr>
          <p:nvPr/>
        </p:nvSpPr>
        <p:spPr>
          <a:xfrm>
            <a:off x="256192" y="20191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32" name="Straight Connector 31">
            <a:extLst>
              <a:ext uri="{FF2B5EF4-FFF2-40B4-BE49-F238E27FC236}">
                <a16:creationId xmlns:a16="http://schemas.microsoft.com/office/drawing/2014/main" id="{66B48A8C-1C5B-4F6C-AFDA-28C5801EAC5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63EAA61-C80F-4387-830A-C343BDF1CB79}"/>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6295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8EF1-46C9-2362-33F9-9C0322346704}"/>
              </a:ext>
            </a:extLst>
          </p:cNvPr>
          <p:cNvSpPr>
            <a:spLocks noGrp="1"/>
          </p:cNvSpPr>
          <p:nvPr>
            <p:ph type="title"/>
          </p:nvPr>
        </p:nvSpPr>
        <p:spPr>
          <a:xfrm>
            <a:off x="392306" y="478992"/>
            <a:ext cx="7444991" cy="530658"/>
          </a:xfrm>
        </p:spPr>
        <p:txBody>
          <a:bodyPr>
            <a:normAutofit fontScale="90000"/>
          </a:bodyPr>
          <a:lstStyle/>
          <a:p>
            <a:pPr defTabSz="411480"/>
            <a:r>
              <a:rPr lang="en-US" altLang="zh-CN" sz="3200" dirty="0">
                <a:solidFill>
                  <a:srgbClr val="7030A0"/>
                </a:solidFill>
              </a:rPr>
              <a:t>representation</a:t>
            </a:r>
            <a:endParaRPr lang="en-US" sz="3200" dirty="0">
              <a:solidFill>
                <a:srgbClr val="7030A0"/>
              </a:solidFill>
            </a:endParaRPr>
          </a:p>
        </p:txBody>
      </p:sp>
      <p:pic>
        <p:nvPicPr>
          <p:cNvPr id="6" name="Content Placeholder 5">
            <a:extLst>
              <a:ext uri="{FF2B5EF4-FFF2-40B4-BE49-F238E27FC236}">
                <a16:creationId xmlns:a16="http://schemas.microsoft.com/office/drawing/2014/main" id="{FFED56F9-6D48-6427-A8ED-F54FF21E2CD5}"/>
              </a:ext>
            </a:extLst>
          </p:cNvPr>
          <p:cNvPicPr>
            <a:picLocks noGrp="1" noChangeAspect="1"/>
          </p:cNvPicPr>
          <p:nvPr>
            <p:ph idx="1"/>
          </p:nvPr>
        </p:nvPicPr>
        <p:blipFill>
          <a:blip r:embed="rId2"/>
          <a:stretch>
            <a:fillRect/>
          </a:stretch>
        </p:blipFill>
        <p:spPr>
          <a:xfrm>
            <a:off x="893327" y="1019175"/>
            <a:ext cx="6588748" cy="3836861"/>
          </a:xfrm>
          <a:prstGeom prst="rect">
            <a:avLst/>
          </a:prstGeom>
        </p:spPr>
      </p:pic>
      <p:sp>
        <p:nvSpPr>
          <p:cNvPr id="4" name="Slide Number Placeholder 3">
            <a:extLst>
              <a:ext uri="{FF2B5EF4-FFF2-40B4-BE49-F238E27FC236}">
                <a16:creationId xmlns:a16="http://schemas.microsoft.com/office/drawing/2014/main" id="{4F6BC4FD-5E12-27D6-E1E1-83B48473DC21}"/>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2551268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11945-2DD0-23DD-A5CF-10D949E2EA7D}"/>
              </a:ext>
            </a:extLst>
          </p:cNvPr>
          <p:cNvSpPr>
            <a:spLocks noGrp="1"/>
          </p:cNvSpPr>
          <p:nvPr>
            <p:ph type="title"/>
          </p:nvPr>
        </p:nvSpPr>
        <p:spPr>
          <a:xfrm>
            <a:off x="392306" y="455055"/>
            <a:ext cx="7444991" cy="445770"/>
          </a:xfrm>
        </p:spPr>
        <p:txBody>
          <a:bodyPr>
            <a:normAutofit fontScale="90000"/>
          </a:bodyPr>
          <a:lstStyle/>
          <a:p>
            <a:pPr defTabSz="411480"/>
            <a:r>
              <a:rPr lang="en-US" altLang="zh-CN" sz="2900" dirty="0">
                <a:solidFill>
                  <a:srgbClr val="7030A0"/>
                </a:solidFill>
              </a:rPr>
              <a:t>representation</a:t>
            </a:r>
            <a:endParaRPr lang="en-US" sz="2900" dirty="0">
              <a:solidFill>
                <a:srgbClr val="7030A0"/>
              </a:solidFill>
            </a:endParaRPr>
          </a:p>
        </p:txBody>
      </p:sp>
      <p:pic>
        <p:nvPicPr>
          <p:cNvPr id="6" name="Content Placeholder 5">
            <a:extLst>
              <a:ext uri="{FF2B5EF4-FFF2-40B4-BE49-F238E27FC236}">
                <a16:creationId xmlns:a16="http://schemas.microsoft.com/office/drawing/2014/main" id="{7ED32FA1-6F7E-9EA5-3B9B-3F3ED4AFF0A7}"/>
              </a:ext>
            </a:extLst>
          </p:cNvPr>
          <p:cNvPicPr>
            <a:picLocks noGrp="1" noChangeAspect="1"/>
          </p:cNvPicPr>
          <p:nvPr>
            <p:ph idx="1"/>
          </p:nvPr>
        </p:nvPicPr>
        <p:blipFill>
          <a:blip r:embed="rId2"/>
          <a:stretch>
            <a:fillRect/>
          </a:stretch>
        </p:blipFill>
        <p:spPr>
          <a:xfrm>
            <a:off x="3258555" y="1175960"/>
            <a:ext cx="4711136" cy="3778898"/>
          </a:xfrm>
          <a:prstGeom prst="rect">
            <a:avLst/>
          </a:prstGeom>
        </p:spPr>
      </p:pic>
      <p:sp>
        <p:nvSpPr>
          <p:cNvPr id="4" name="Slide Number Placeholder 3">
            <a:extLst>
              <a:ext uri="{FF2B5EF4-FFF2-40B4-BE49-F238E27FC236}">
                <a16:creationId xmlns:a16="http://schemas.microsoft.com/office/drawing/2014/main" id="{BAA0B77D-7030-425C-95BD-4959F455A652}"/>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7" name="TextBox 6">
            <a:extLst>
              <a:ext uri="{FF2B5EF4-FFF2-40B4-BE49-F238E27FC236}">
                <a16:creationId xmlns:a16="http://schemas.microsoft.com/office/drawing/2014/main" id="{93B380CF-ABF7-6973-42BE-8FB147B1B590}"/>
              </a:ext>
            </a:extLst>
          </p:cNvPr>
          <p:cNvSpPr txBox="1"/>
          <p:nvPr/>
        </p:nvSpPr>
        <p:spPr>
          <a:xfrm>
            <a:off x="259909" y="2387581"/>
            <a:ext cx="3212327" cy="923330"/>
          </a:xfrm>
          <a:prstGeom prst="rect">
            <a:avLst/>
          </a:prstGeom>
          <a:noFill/>
        </p:spPr>
        <p:txBody>
          <a:bodyPr wrap="square" rtlCol="0">
            <a:spAutoFit/>
          </a:bodyPr>
          <a:lstStyle/>
          <a:p>
            <a:r>
              <a:rPr lang="en-US" dirty="0"/>
              <a:t>Identify which features are represented by which vector type.</a:t>
            </a:r>
          </a:p>
        </p:txBody>
      </p:sp>
      <p:sp>
        <p:nvSpPr>
          <p:cNvPr id="9" name="TextBox 8">
            <a:extLst>
              <a:ext uri="{FF2B5EF4-FFF2-40B4-BE49-F238E27FC236}">
                <a16:creationId xmlns:a16="http://schemas.microsoft.com/office/drawing/2014/main" id="{AFA09A28-5C5C-C02F-71FB-EBDF05758133}"/>
              </a:ext>
            </a:extLst>
          </p:cNvPr>
          <p:cNvSpPr txBox="1"/>
          <p:nvPr/>
        </p:nvSpPr>
        <p:spPr>
          <a:xfrm>
            <a:off x="259909" y="1802806"/>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1624562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359F1-40D7-1E8F-6909-AB5236B204F6}"/>
              </a:ext>
            </a:extLst>
          </p:cNvPr>
          <p:cNvSpPr>
            <a:spLocks noGrp="1"/>
          </p:cNvSpPr>
          <p:nvPr>
            <p:ph type="title"/>
          </p:nvPr>
        </p:nvSpPr>
        <p:spPr>
          <a:xfrm>
            <a:off x="392305" y="403714"/>
            <a:ext cx="7519243" cy="369332"/>
          </a:xfrm>
        </p:spPr>
        <p:txBody>
          <a:bodyPr>
            <a:normAutofit fontScale="90000"/>
          </a:bodyPr>
          <a:lstStyle/>
          <a:p>
            <a:pPr defTabSz="411480"/>
            <a:r>
              <a:rPr lang="en-US" sz="2000" dirty="0">
                <a:solidFill>
                  <a:srgbClr val="7030A0"/>
                </a:solidFill>
              </a:rPr>
              <a:t>Same Feature, Different Vector Representations</a:t>
            </a:r>
          </a:p>
        </p:txBody>
      </p:sp>
      <p:sp>
        <p:nvSpPr>
          <p:cNvPr id="4" name="Slide Number Placeholder 3">
            <a:extLst>
              <a:ext uri="{FF2B5EF4-FFF2-40B4-BE49-F238E27FC236}">
                <a16:creationId xmlns:a16="http://schemas.microsoft.com/office/drawing/2014/main" id="{3BBE2B84-D722-71E4-783A-7D57DA9557C6}"/>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12" name="Content Placeholder 11">
            <a:extLst>
              <a:ext uri="{FF2B5EF4-FFF2-40B4-BE49-F238E27FC236}">
                <a16:creationId xmlns:a16="http://schemas.microsoft.com/office/drawing/2014/main" id="{ABD51186-835A-3607-4ADA-69D4135A921B}"/>
              </a:ext>
            </a:extLst>
          </p:cNvPr>
          <p:cNvPicPr>
            <a:picLocks noGrp="1" noChangeAspect="1"/>
          </p:cNvPicPr>
          <p:nvPr>
            <p:ph idx="1"/>
          </p:nvPr>
        </p:nvPicPr>
        <p:blipFill>
          <a:blip r:embed="rId2"/>
          <a:stretch>
            <a:fillRect/>
          </a:stretch>
        </p:blipFill>
        <p:spPr>
          <a:xfrm>
            <a:off x="843372" y="2907239"/>
            <a:ext cx="2180952" cy="2047619"/>
          </a:xfrm>
          <a:prstGeom prst="rect">
            <a:avLst/>
          </a:prstGeom>
        </p:spPr>
      </p:pic>
      <p:pic>
        <p:nvPicPr>
          <p:cNvPr id="10" name="Picture 9">
            <a:extLst>
              <a:ext uri="{FF2B5EF4-FFF2-40B4-BE49-F238E27FC236}">
                <a16:creationId xmlns:a16="http://schemas.microsoft.com/office/drawing/2014/main" id="{52E9C0F1-5CB7-5515-5E6C-75B5773D6C5B}"/>
              </a:ext>
            </a:extLst>
          </p:cNvPr>
          <p:cNvPicPr>
            <a:picLocks noChangeAspect="1"/>
          </p:cNvPicPr>
          <p:nvPr/>
        </p:nvPicPr>
        <p:blipFill>
          <a:blip r:embed="rId3"/>
          <a:stretch>
            <a:fillRect/>
          </a:stretch>
        </p:blipFill>
        <p:spPr>
          <a:xfrm>
            <a:off x="3341673" y="1418157"/>
            <a:ext cx="1818724" cy="1668357"/>
          </a:xfrm>
          <a:prstGeom prst="rect">
            <a:avLst/>
          </a:prstGeom>
        </p:spPr>
      </p:pic>
      <p:pic>
        <p:nvPicPr>
          <p:cNvPr id="14" name="Picture 13">
            <a:extLst>
              <a:ext uri="{FF2B5EF4-FFF2-40B4-BE49-F238E27FC236}">
                <a16:creationId xmlns:a16="http://schemas.microsoft.com/office/drawing/2014/main" id="{98457F3B-BBA8-470B-07BF-74AC246FF2C9}"/>
              </a:ext>
            </a:extLst>
          </p:cNvPr>
          <p:cNvPicPr>
            <a:picLocks noChangeAspect="1"/>
          </p:cNvPicPr>
          <p:nvPr/>
        </p:nvPicPr>
        <p:blipFill>
          <a:blip r:embed="rId4"/>
          <a:stretch>
            <a:fillRect/>
          </a:stretch>
        </p:blipFill>
        <p:spPr>
          <a:xfrm>
            <a:off x="5411496" y="3028908"/>
            <a:ext cx="1818724" cy="1925950"/>
          </a:xfrm>
          <a:prstGeom prst="rect">
            <a:avLst/>
          </a:prstGeom>
        </p:spPr>
      </p:pic>
      <p:pic>
        <p:nvPicPr>
          <p:cNvPr id="16" name="Picture 15">
            <a:extLst>
              <a:ext uri="{FF2B5EF4-FFF2-40B4-BE49-F238E27FC236}">
                <a16:creationId xmlns:a16="http://schemas.microsoft.com/office/drawing/2014/main" id="{345D3F61-7221-E0CA-DB3A-CFF1C0C2DFC1}"/>
              </a:ext>
            </a:extLst>
          </p:cNvPr>
          <p:cNvPicPr>
            <a:picLocks noChangeAspect="1"/>
          </p:cNvPicPr>
          <p:nvPr/>
        </p:nvPicPr>
        <p:blipFill>
          <a:blip r:embed="rId5"/>
          <a:stretch>
            <a:fillRect/>
          </a:stretch>
        </p:blipFill>
        <p:spPr>
          <a:xfrm>
            <a:off x="2190997" y="1552926"/>
            <a:ext cx="992002" cy="957397"/>
          </a:xfrm>
          <a:prstGeom prst="rect">
            <a:avLst/>
          </a:prstGeom>
        </p:spPr>
      </p:pic>
      <p:pic>
        <p:nvPicPr>
          <p:cNvPr id="17" name="Picture 16">
            <a:extLst>
              <a:ext uri="{FF2B5EF4-FFF2-40B4-BE49-F238E27FC236}">
                <a16:creationId xmlns:a16="http://schemas.microsoft.com/office/drawing/2014/main" id="{B722F941-CF69-195B-FDA7-5D5C0BD9FFFC}"/>
              </a:ext>
            </a:extLst>
          </p:cNvPr>
          <p:cNvPicPr>
            <a:picLocks noChangeAspect="1"/>
          </p:cNvPicPr>
          <p:nvPr/>
        </p:nvPicPr>
        <p:blipFill>
          <a:blip r:embed="rId5"/>
          <a:stretch>
            <a:fillRect/>
          </a:stretch>
        </p:blipFill>
        <p:spPr>
          <a:xfrm flipH="1">
            <a:off x="5543970" y="1552927"/>
            <a:ext cx="992002" cy="957397"/>
          </a:xfrm>
          <a:prstGeom prst="rect">
            <a:avLst/>
          </a:prstGeom>
        </p:spPr>
      </p:pic>
      <p:sp>
        <p:nvSpPr>
          <p:cNvPr id="18" name="TextBox 17">
            <a:extLst>
              <a:ext uri="{FF2B5EF4-FFF2-40B4-BE49-F238E27FC236}">
                <a16:creationId xmlns:a16="http://schemas.microsoft.com/office/drawing/2014/main" id="{86617A4C-9602-0665-EFEE-119CF3995CED}"/>
              </a:ext>
            </a:extLst>
          </p:cNvPr>
          <p:cNvSpPr txBox="1"/>
          <p:nvPr/>
        </p:nvSpPr>
        <p:spPr>
          <a:xfrm>
            <a:off x="1622066" y="2537907"/>
            <a:ext cx="759762" cy="369332"/>
          </a:xfrm>
          <a:prstGeom prst="rect">
            <a:avLst/>
          </a:prstGeom>
          <a:noFill/>
        </p:spPr>
        <p:txBody>
          <a:bodyPr wrap="square" rtlCol="0">
            <a:spAutoFit/>
          </a:bodyPr>
          <a:lstStyle/>
          <a:p>
            <a:r>
              <a:rPr lang="en-US" dirty="0"/>
              <a:t>Point</a:t>
            </a:r>
          </a:p>
        </p:txBody>
      </p:sp>
      <p:sp>
        <p:nvSpPr>
          <p:cNvPr id="19" name="TextBox 18">
            <a:extLst>
              <a:ext uri="{FF2B5EF4-FFF2-40B4-BE49-F238E27FC236}">
                <a16:creationId xmlns:a16="http://schemas.microsoft.com/office/drawing/2014/main" id="{0DCBD9EB-40D9-19EE-61E1-320CA2A08656}"/>
              </a:ext>
            </a:extLst>
          </p:cNvPr>
          <p:cNvSpPr txBox="1"/>
          <p:nvPr/>
        </p:nvSpPr>
        <p:spPr>
          <a:xfrm>
            <a:off x="5973692" y="2537907"/>
            <a:ext cx="1153161" cy="369332"/>
          </a:xfrm>
          <a:prstGeom prst="rect">
            <a:avLst/>
          </a:prstGeom>
          <a:noFill/>
        </p:spPr>
        <p:txBody>
          <a:bodyPr wrap="square" rtlCol="0">
            <a:spAutoFit/>
          </a:bodyPr>
          <a:lstStyle/>
          <a:p>
            <a:r>
              <a:rPr lang="en-US" dirty="0"/>
              <a:t>Polygon</a:t>
            </a:r>
          </a:p>
        </p:txBody>
      </p:sp>
      <p:sp>
        <p:nvSpPr>
          <p:cNvPr id="20" name="TextBox 19">
            <a:extLst>
              <a:ext uri="{FF2B5EF4-FFF2-40B4-BE49-F238E27FC236}">
                <a16:creationId xmlns:a16="http://schemas.microsoft.com/office/drawing/2014/main" id="{E4B1B6CA-44BD-DA98-0F93-4F8E3D300590}"/>
              </a:ext>
            </a:extLst>
          </p:cNvPr>
          <p:cNvSpPr txBox="1"/>
          <p:nvPr/>
        </p:nvSpPr>
        <p:spPr>
          <a:xfrm>
            <a:off x="355178" y="822816"/>
            <a:ext cx="7519243" cy="646331"/>
          </a:xfrm>
          <a:prstGeom prst="rect">
            <a:avLst/>
          </a:prstGeom>
          <a:noFill/>
        </p:spPr>
        <p:txBody>
          <a:bodyPr wrap="square" rtlCol="0">
            <a:spAutoFit/>
          </a:bodyPr>
          <a:lstStyle/>
          <a:p>
            <a:r>
              <a:rPr lang="en-US" dirty="0"/>
              <a:t>If the same feature (like a house) is represented as a point vs. a polygon, what types of analysis can we do in each case?</a:t>
            </a:r>
          </a:p>
        </p:txBody>
      </p:sp>
      <p:sp>
        <p:nvSpPr>
          <p:cNvPr id="21" name="TextBox 20">
            <a:extLst>
              <a:ext uri="{FF2B5EF4-FFF2-40B4-BE49-F238E27FC236}">
                <a16:creationId xmlns:a16="http://schemas.microsoft.com/office/drawing/2014/main" id="{7A748AA0-62A4-A4DF-B826-F99F21A8B8E8}"/>
              </a:ext>
            </a:extLst>
          </p:cNvPr>
          <p:cNvSpPr txBox="1"/>
          <p:nvPr/>
        </p:nvSpPr>
        <p:spPr>
          <a:xfrm>
            <a:off x="284297" y="1444709"/>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23186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4967" y="1257376"/>
            <a:ext cx="7064612" cy="42473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400" dirty="0"/>
              <a:t>All types can store attribute information</a:t>
            </a:r>
          </a:p>
        </p:txBody>
      </p:sp>
      <p:pic>
        <p:nvPicPr>
          <p:cNvPr id="5" name="Picture 4" descr="Example of attribute table"/>
          <p:cNvPicPr>
            <a:picLocks noChangeAspect="1"/>
          </p:cNvPicPr>
          <p:nvPr/>
        </p:nvPicPr>
        <p:blipFill>
          <a:blip r:embed="rId3"/>
          <a:stretch>
            <a:fillRect/>
          </a:stretch>
        </p:blipFill>
        <p:spPr>
          <a:xfrm>
            <a:off x="1433960" y="1724411"/>
            <a:ext cx="4986626" cy="3106986"/>
          </a:xfrm>
          <a:prstGeom prst="rect">
            <a:avLst/>
          </a:prstGeom>
        </p:spPr>
      </p:pic>
      <p:sp>
        <p:nvSpPr>
          <p:cNvPr id="6" name="Content Placeholder 2"/>
          <p:cNvSpPr txBox="1">
            <a:spLocks/>
          </p:cNvSpPr>
          <p:nvPr/>
        </p:nvSpPr>
        <p:spPr>
          <a:xfrm>
            <a:off x="4510326" y="4831397"/>
            <a:ext cx="3479198" cy="30869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marL="0" indent="0">
              <a:buNone/>
            </a:pPr>
            <a:r>
              <a:rPr lang="en-US" sz="945" dirty="0"/>
              <a:t>Examples by Dr. Mike and Dr. Jackie Strager</a:t>
            </a:r>
          </a:p>
        </p:txBody>
      </p:sp>
      <p:sp>
        <p:nvSpPr>
          <p:cNvPr id="7" name="Title 1">
            <a:extLst>
              <a:ext uri="{FF2B5EF4-FFF2-40B4-BE49-F238E27FC236}">
                <a16:creationId xmlns:a16="http://schemas.microsoft.com/office/drawing/2014/main" id="{00AAFE97-D806-4790-B52F-1023F13ACC88}"/>
              </a:ext>
            </a:extLst>
          </p:cNvPr>
          <p:cNvSpPr txBox="1">
            <a:spLocks/>
          </p:cNvSpPr>
          <p:nvPr/>
        </p:nvSpPr>
        <p:spPr>
          <a:xfrm>
            <a:off x="237802" y="2564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C8ADA019-C51C-42CA-A187-F611CFD3025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B5E1D4F-53B4-4400-B159-7207EAAD2FA3}"/>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226355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23FFD-ADBE-83FC-2E50-43FD6F250CEE}"/>
              </a:ext>
            </a:extLst>
          </p:cNvPr>
          <p:cNvSpPr>
            <a:spLocks noGrp="1"/>
          </p:cNvSpPr>
          <p:nvPr>
            <p:ph type="title"/>
          </p:nvPr>
        </p:nvSpPr>
        <p:spPr>
          <a:xfrm>
            <a:off x="392306" y="376655"/>
            <a:ext cx="7444991" cy="570663"/>
          </a:xfrm>
        </p:spPr>
        <p:txBody>
          <a:bodyPr>
            <a:normAutofit fontScale="90000"/>
          </a:bodyPr>
          <a:lstStyle/>
          <a:p>
            <a:pPr defTabSz="411480"/>
            <a:r>
              <a:rPr lang="en-US" sz="3200" dirty="0">
                <a:solidFill>
                  <a:srgbClr val="7030A0"/>
                </a:solidFill>
              </a:rPr>
              <a:t>Rows and Columns in an Attribute Table</a:t>
            </a:r>
          </a:p>
        </p:txBody>
      </p:sp>
      <p:sp>
        <p:nvSpPr>
          <p:cNvPr id="4" name="Slide Number Placeholder 3">
            <a:extLst>
              <a:ext uri="{FF2B5EF4-FFF2-40B4-BE49-F238E27FC236}">
                <a16:creationId xmlns:a16="http://schemas.microsoft.com/office/drawing/2014/main" id="{D4505DDB-2C69-26E5-D0C2-DACC2096DC4A}"/>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5" name="Content Placeholder 4" descr="Example of attribute table">
            <a:extLst>
              <a:ext uri="{FF2B5EF4-FFF2-40B4-BE49-F238E27FC236}">
                <a16:creationId xmlns:a16="http://schemas.microsoft.com/office/drawing/2014/main" id="{6041FE5F-B417-800F-D0DC-5A875AD7480A}"/>
              </a:ext>
            </a:extLst>
          </p:cNvPr>
          <p:cNvPicPr>
            <a:picLocks noGrp="1" noChangeAspect="1"/>
          </p:cNvPicPr>
          <p:nvPr>
            <p:ph idx="1"/>
          </p:nvPr>
        </p:nvPicPr>
        <p:blipFill>
          <a:blip r:embed="rId2"/>
          <a:stretch>
            <a:fillRect/>
          </a:stretch>
        </p:blipFill>
        <p:spPr>
          <a:xfrm>
            <a:off x="90682" y="1755775"/>
            <a:ext cx="4374734" cy="2725738"/>
          </a:xfrm>
          <a:prstGeom prst="rect">
            <a:avLst/>
          </a:prstGeom>
        </p:spPr>
      </p:pic>
      <p:sp>
        <p:nvSpPr>
          <p:cNvPr id="6" name="TextBox 5">
            <a:extLst>
              <a:ext uri="{FF2B5EF4-FFF2-40B4-BE49-F238E27FC236}">
                <a16:creationId xmlns:a16="http://schemas.microsoft.com/office/drawing/2014/main" id="{34610C23-AFB7-183B-9B76-4E9F429DB9A0}"/>
              </a:ext>
            </a:extLst>
          </p:cNvPr>
          <p:cNvSpPr txBox="1"/>
          <p:nvPr/>
        </p:nvSpPr>
        <p:spPr>
          <a:xfrm>
            <a:off x="3916776" y="1158894"/>
            <a:ext cx="4312824" cy="3693319"/>
          </a:xfrm>
          <a:prstGeom prst="rect">
            <a:avLst/>
          </a:prstGeom>
          <a:noFill/>
        </p:spPr>
        <p:txBody>
          <a:bodyPr wrap="square" rtlCol="0">
            <a:spAutoFit/>
          </a:bodyPr>
          <a:lstStyle/>
          <a:p>
            <a:pPr marL="285750" indent="-285750">
              <a:buFont typeface="Wingdings" panose="05000000000000000000" pitchFamily="2" charset="2"/>
              <a:buChar char="Ø"/>
            </a:pPr>
            <a:r>
              <a:rPr lang="en-US" dirty="0"/>
              <a:t>Row = one record = one feature</a:t>
            </a:r>
          </a:p>
          <a:p>
            <a:pPr marL="285750" indent="-285750">
              <a:buFont typeface="Wingdings" panose="05000000000000000000" pitchFamily="2" charset="2"/>
              <a:buChar char="Ø"/>
            </a:pPr>
            <a:endParaRPr lang="en-US" dirty="0"/>
          </a:p>
          <a:p>
            <a:pPr marL="800100" lvl="1" indent="-342900">
              <a:buFont typeface="+mj-lt"/>
              <a:buAutoNum type="arabicPeriod"/>
            </a:pPr>
            <a:r>
              <a:rPr lang="en-US" dirty="0"/>
              <a:t>Example: Parcel 08-003 (North, Tim) is one row in the table and one polygon on the map.</a:t>
            </a:r>
          </a:p>
          <a:p>
            <a:pPr marL="800100" lvl="1" indent="-342900">
              <a:buFont typeface="+mj-lt"/>
              <a:buAutoNum type="arabicPeriod"/>
            </a:pPr>
            <a:endParaRPr lang="en-US" dirty="0"/>
          </a:p>
          <a:p>
            <a:pPr marL="342900" indent="-342900">
              <a:buFont typeface="Wingdings" panose="05000000000000000000" pitchFamily="2" charset="2"/>
              <a:buChar char="Ø"/>
            </a:pPr>
            <a:r>
              <a:rPr lang="en-US" dirty="0"/>
              <a:t>Each field (a column describing one property of all features) is represented by a column in the table.</a:t>
            </a:r>
          </a:p>
          <a:p>
            <a:pPr marL="800100" lvl="1" indent="-342900">
              <a:buFont typeface="+mj-lt"/>
              <a:buAutoNum type="arabicPeriod"/>
            </a:pPr>
            <a:endParaRPr lang="en-US" dirty="0"/>
          </a:p>
          <a:p>
            <a:pPr marL="800100" lvl="1" indent="-342900">
              <a:buFont typeface="+mj-lt"/>
              <a:buAutoNum type="arabicPeriod"/>
            </a:pPr>
            <a:r>
              <a:rPr lang="en-US" dirty="0"/>
              <a:t>Field = one type of information for all features</a:t>
            </a:r>
          </a:p>
          <a:p>
            <a:pPr marL="800100" lvl="1" indent="-342900">
              <a:buFont typeface="+mj-lt"/>
              <a:buAutoNum type="arabicPeriod"/>
            </a:pPr>
            <a:r>
              <a:rPr lang="en-US" dirty="0"/>
              <a:t>Example fields: Parcel ID, Owner</a:t>
            </a:r>
          </a:p>
        </p:txBody>
      </p:sp>
    </p:spTree>
    <p:extLst>
      <p:ext uri="{BB962C8B-B14F-4D97-AF65-F5344CB8AC3E}">
        <p14:creationId xmlns:p14="http://schemas.microsoft.com/office/powerpoint/2010/main" val="2061050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399" y="1131194"/>
            <a:ext cx="3930633" cy="3504453"/>
          </a:xfrm>
        </p:spPr>
        <p:txBody>
          <a:bodyPr>
            <a:normAutofit fontScale="70000" lnSpcReduction="20000"/>
          </a:bodyPr>
          <a:lstStyle/>
          <a:p>
            <a:pPr>
              <a:buFont typeface="Courier New" panose="02070309020205020404" pitchFamily="49" charset="0"/>
              <a:buChar char="o"/>
            </a:pPr>
            <a:r>
              <a:rPr lang="en-US" sz="3700" dirty="0"/>
              <a:t>Topology</a:t>
            </a:r>
          </a:p>
          <a:p>
            <a:pPr lvl="1">
              <a:buFont typeface="Wingdings" panose="05000000000000000000" pitchFamily="2" charset="2"/>
              <a:buChar char="ü"/>
            </a:pPr>
            <a:r>
              <a:rPr lang="en-US" sz="2900" i="1" dirty="0"/>
              <a:t>Study of properties of geometric objects that remain invariant under certain transformations such as bending or stretching </a:t>
            </a:r>
            <a:r>
              <a:rPr lang="en-US" sz="2900" dirty="0"/>
              <a:t>(Massey 1967)</a:t>
            </a:r>
          </a:p>
          <a:p>
            <a:pPr lvl="1">
              <a:buFont typeface="Wingdings" panose="05000000000000000000" pitchFamily="2" charset="2"/>
              <a:buChar char="ü"/>
            </a:pPr>
            <a:r>
              <a:rPr lang="en-US" sz="2900" dirty="0"/>
              <a:t>Spatial relationship between map features.</a:t>
            </a:r>
          </a:p>
          <a:p>
            <a:pPr marL="0" indent="0">
              <a:buNone/>
            </a:pPr>
            <a:r>
              <a:rPr lang="en-US" sz="3400" dirty="0"/>
              <a:t>Examples:</a:t>
            </a:r>
          </a:p>
          <a:p>
            <a:pPr lvl="1">
              <a:buFont typeface="Wingdings" panose="05000000000000000000" pitchFamily="2" charset="2"/>
              <a:buChar char="ü"/>
            </a:pPr>
            <a:r>
              <a:rPr lang="en-US" sz="2900" dirty="0"/>
              <a:t>Adjacent to</a:t>
            </a:r>
          </a:p>
        </p:txBody>
      </p:sp>
      <p:sp>
        <p:nvSpPr>
          <p:cNvPr id="2" name="Slide Number Placeholder 1">
            <a:extLst>
              <a:ext uri="{FF2B5EF4-FFF2-40B4-BE49-F238E27FC236}">
                <a16:creationId xmlns:a16="http://schemas.microsoft.com/office/drawing/2014/main" id="{31F84E32-FA73-48A5-9B0F-FB0209A3A6C9}"/>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5" name="Rectangle 4"/>
          <p:cNvSpPr/>
          <p:nvPr/>
        </p:nvSpPr>
        <p:spPr>
          <a:xfrm>
            <a:off x="4146568" y="4293877"/>
            <a:ext cx="4113728" cy="237757"/>
          </a:xfrm>
          <a:prstGeom prst="rect">
            <a:avLst/>
          </a:prstGeom>
        </p:spPr>
        <p:txBody>
          <a:bodyPr>
            <a:spAutoFit/>
          </a:bodyPr>
          <a:lstStyle/>
          <a:p>
            <a:r>
              <a:rPr lang="en-US" sz="900" dirty="0">
                <a:solidFill>
                  <a:srgbClr val="7030A0"/>
                </a:solidFill>
              </a:rPr>
              <a:t>https://en.wikipedia.org/wiki/File:Map_of_USA_with_state_names.svg</a:t>
            </a:r>
          </a:p>
        </p:txBody>
      </p:sp>
      <p:sp>
        <p:nvSpPr>
          <p:cNvPr id="7" name="Title 1">
            <a:extLst>
              <a:ext uri="{FF2B5EF4-FFF2-40B4-BE49-F238E27FC236}">
                <a16:creationId xmlns:a16="http://schemas.microsoft.com/office/drawing/2014/main" id="{0374214E-288E-46C0-ABD7-A339293F7EE2}"/>
              </a:ext>
            </a:extLst>
          </p:cNvPr>
          <p:cNvSpPr txBox="1">
            <a:spLocks/>
          </p:cNvSpPr>
          <p:nvPr/>
        </p:nvSpPr>
        <p:spPr>
          <a:xfrm>
            <a:off x="286908" y="2267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descr="Map of United States">
            <a:extLst>
              <a:ext uri="{FF2B5EF4-FFF2-40B4-BE49-F238E27FC236}">
                <a16:creationId xmlns:a16="http://schemas.microsoft.com/office/drawing/2014/main" id="{2E0E8251-FF87-42F6-92D5-0D4C6F1F5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7054" y="1426319"/>
            <a:ext cx="3997003" cy="2471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584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0509-03FA-31E0-A446-825C5014566F}"/>
              </a:ext>
            </a:extLst>
          </p:cNvPr>
          <p:cNvSpPr>
            <a:spLocks noGrp="1"/>
          </p:cNvSpPr>
          <p:nvPr>
            <p:ph type="title"/>
          </p:nvPr>
        </p:nvSpPr>
        <p:spPr/>
        <p:txBody>
          <a:bodyPr>
            <a:normAutofit fontScale="90000"/>
          </a:bodyPr>
          <a:lstStyle/>
          <a:p>
            <a:pPr defTabSz="411480"/>
            <a:r>
              <a:rPr lang="en-US" sz="3200" dirty="0">
                <a:solidFill>
                  <a:srgbClr val="7030A0"/>
                </a:solidFill>
              </a:rPr>
              <a:t>Topology Remains the Same Across Projections</a:t>
            </a:r>
          </a:p>
        </p:txBody>
      </p:sp>
      <p:pic>
        <p:nvPicPr>
          <p:cNvPr id="6" name="Content Placeholder 5">
            <a:extLst>
              <a:ext uri="{FF2B5EF4-FFF2-40B4-BE49-F238E27FC236}">
                <a16:creationId xmlns:a16="http://schemas.microsoft.com/office/drawing/2014/main" id="{8DB9DE06-906C-ABA3-BE8B-1776D622C404}"/>
              </a:ext>
            </a:extLst>
          </p:cNvPr>
          <p:cNvPicPr>
            <a:picLocks noGrp="1" noChangeAspect="1"/>
          </p:cNvPicPr>
          <p:nvPr>
            <p:ph idx="1"/>
          </p:nvPr>
        </p:nvPicPr>
        <p:blipFill>
          <a:blip r:embed="rId2"/>
          <a:stretch>
            <a:fillRect/>
          </a:stretch>
        </p:blipFill>
        <p:spPr>
          <a:xfrm>
            <a:off x="2872398" y="997291"/>
            <a:ext cx="4903977" cy="3820645"/>
          </a:xfrm>
          <a:prstGeom prst="rect">
            <a:avLst/>
          </a:prstGeom>
        </p:spPr>
      </p:pic>
      <p:sp>
        <p:nvSpPr>
          <p:cNvPr id="4" name="Slide Number Placeholder 3">
            <a:extLst>
              <a:ext uri="{FF2B5EF4-FFF2-40B4-BE49-F238E27FC236}">
                <a16:creationId xmlns:a16="http://schemas.microsoft.com/office/drawing/2014/main" id="{BFD4399D-C23A-B715-99FB-699A17C2BA70}"/>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12" name="TextBox 11">
            <a:extLst>
              <a:ext uri="{FF2B5EF4-FFF2-40B4-BE49-F238E27FC236}">
                <a16:creationId xmlns:a16="http://schemas.microsoft.com/office/drawing/2014/main" id="{46AB2555-6F21-5C25-6939-368A51B0A64B}"/>
              </a:ext>
            </a:extLst>
          </p:cNvPr>
          <p:cNvSpPr txBox="1"/>
          <p:nvPr/>
        </p:nvSpPr>
        <p:spPr>
          <a:xfrm>
            <a:off x="161716" y="2071605"/>
            <a:ext cx="2480093" cy="923330"/>
          </a:xfrm>
          <a:prstGeom prst="rect">
            <a:avLst/>
          </a:prstGeom>
          <a:noFill/>
        </p:spPr>
        <p:txBody>
          <a:bodyPr wrap="square">
            <a:spAutoFit/>
          </a:bodyPr>
          <a:lstStyle/>
          <a:p>
            <a:r>
              <a:rPr lang="en-US" dirty="0"/>
              <a:t>If I want to know which states border Arkansas, does projection matter</a:t>
            </a:r>
          </a:p>
        </p:txBody>
      </p:sp>
      <p:sp>
        <p:nvSpPr>
          <p:cNvPr id="13" name="TextBox 12">
            <a:extLst>
              <a:ext uri="{FF2B5EF4-FFF2-40B4-BE49-F238E27FC236}">
                <a16:creationId xmlns:a16="http://schemas.microsoft.com/office/drawing/2014/main" id="{3A693CF6-D605-DEB9-AA75-E79802CD79B0}"/>
              </a:ext>
            </a:extLst>
          </p:cNvPr>
          <p:cNvSpPr txBox="1"/>
          <p:nvPr/>
        </p:nvSpPr>
        <p:spPr>
          <a:xfrm>
            <a:off x="284297" y="1444709"/>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3195746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61657" y="2589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83E4600F-9E38-40FE-9AB2-D17BA8FA9274}"/>
              </a:ext>
            </a:extLst>
          </p:cNvPr>
          <p:cNvSpPr>
            <a:spLocks noGrp="1"/>
          </p:cNvSpPr>
          <p:nvPr>
            <p:ph idx="1"/>
          </p:nvPr>
        </p:nvSpPr>
        <p:spPr>
          <a:xfrm>
            <a:off x="152399" y="1131194"/>
            <a:ext cx="3930633" cy="3504453"/>
          </a:xfrm>
        </p:spPr>
        <p:txBody>
          <a:bodyPr>
            <a:normAutofit fontScale="92500"/>
          </a:bodyPr>
          <a:lstStyle/>
          <a:p>
            <a:pPr>
              <a:buFont typeface="Courier New" panose="02070309020205020404" pitchFamily="49" charset="0"/>
              <a:buChar char="o"/>
            </a:pPr>
            <a:r>
              <a:rPr lang="en-US" sz="2800" dirty="0"/>
              <a:t>Topology</a:t>
            </a:r>
          </a:p>
          <a:p>
            <a:pPr lvl="1">
              <a:buFont typeface="Wingdings" panose="05000000000000000000" pitchFamily="2" charset="2"/>
              <a:buChar char="ü"/>
            </a:pPr>
            <a:r>
              <a:rPr lang="en-US" sz="2300" i="1" dirty="0"/>
              <a:t>Often use codes and tables to record topology</a:t>
            </a:r>
            <a:endParaRPr lang="en-US" sz="2300" dirty="0"/>
          </a:p>
          <a:p>
            <a:pPr lvl="1">
              <a:buFont typeface="Wingdings" panose="05000000000000000000" pitchFamily="2" charset="2"/>
              <a:buChar char="ü"/>
            </a:pPr>
            <a:r>
              <a:rPr lang="en-US" sz="2300" dirty="0"/>
              <a:t>Information on the adjacency (which polygons are next to which), connectivity (which lines connect to which), and other spatial relationships could be stored</a:t>
            </a:r>
          </a:p>
        </p:txBody>
      </p:sp>
      <p:sp>
        <p:nvSpPr>
          <p:cNvPr id="2" name="Slide Number Placeholder 1">
            <a:extLst>
              <a:ext uri="{FF2B5EF4-FFF2-40B4-BE49-F238E27FC236}">
                <a16:creationId xmlns:a16="http://schemas.microsoft.com/office/drawing/2014/main" id="{EF634A91-4C52-438F-929F-85DE0DF86DE2}"/>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4" name="Picture 3" descr="Showing topology">
            <a:extLst>
              <a:ext uri="{FF2B5EF4-FFF2-40B4-BE49-F238E27FC236}">
                <a16:creationId xmlns:a16="http://schemas.microsoft.com/office/drawing/2014/main" id="{F4274337-8575-46BD-B757-BD7E6989A2EA}"/>
              </a:ext>
            </a:extLst>
          </p:cNvPr>
          <p:cNvPicPr>
            <a:picLocks noChangeAspect="1"/>
          </p:cNvPicPr>
          <p:nvPr/>
        </p:nvPicPr>
        <p:blipFill>
          <a:blip r:embed="rId3"/>
          <a:stretch>
            <a:fillRect/>
          </a:stretch>
        </p:blipFill>
        <p:spPr>
          <a:xfrm>
            <a:off x="3868088" y="1335999"/>
            <a:ext cx="4059584" cy="3284609"/>
          </a:xfrm>
          <a:prstGeom prst="rect">
            <a:avLst/>
          </a:prstGeom>
        </p:spPr>
      </p:pic>
      <p:sp>
        <p:nvSpPr>
          <p:cNvPr id="6" name="TextBox 5">
            <a:extLst>
              <a:ext uri="{FF2B5EF4-FFF2-40B4-BE49-F238E27FC236}">
                <a16:creationId xmlns:a16="http://schemas.microsoft.com/office/drawing/2014/main" id="{ABF2BF9F-71B8-4F60-ABB4-19912978B829}"/>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4251894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45754" y="25199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68D0EF95-DF54-48D0-998E-592C51E5E5D4}"/>
              </a:ext>
            </a:extLst>
          </p:cNvPr>
          <p:cNvSpPr>
            <a:spLocks noGrp="1"/>
          </p:cNvSpPr>
          <p:nvPr>
            <p:ph idx="1"/>
          </p:nvPr>
        </p:nvSpPr>
        <p:spPr>
          <a:xfrm>
            <a:off x="152399" y="1131194"/>
            <a:ext cx="3930633" cy="3504453"/>
          </a:xfrm>
        </p:spPr>
        <p:txBody>
          <a:bodyPr>
            <a:normAutofit fontScale="92500" lnSpcReduction="10000"/>
          </a:bodyPr>
          <a:lstStyle/>
          <a:p>
            <a:pPr>
              <a:buFont typeface="Courier New" panose="02070309020205020404" pitchFamily="49" charset="0"/>
              <a:buChar char="o"/>
            </a:pPr>
            <a:r>
              <a:rPr lang="en-US" sz="2600" dirty="0"/>
              <a:t>Topological models</a:t>
            </a:r>
          </a:p>
          <a:p>
            <a:pPr lvl="1">
              <a:buFont typeface="Wingdings" panose="05000000000000000000" pitchFamily="2" charset="2"/>
              <a:buChar char="ü"/>
            </a:pPr>
            <a:r>
              <a:rPr lang="en-US" sz="2300" i="1" dirty="0"/>
              <a:t>Planar topology: requires that all features occur on a two-dimensional surface.</a:t>
            </a:r>
          </a:p>
          <a:p>
            <a:pPr lvl="2">
              <a:buFont typeface="Arial" panose="020B0604020202020204" pitchFamily="34" charset="0"/>
              <a:buChar char="•"/>
            </a:pPr>
            <a:r>
              <a:rPr lang="en-US" sz="1940" i="1" dirty="0"/>
              <a:t>Lines may not cross over or under other lines</a:t>
            </a:r>
          </a:p>
          <a:p>
            <a:pPr lvl="2">
              <a:buFont typeface="Arial" panose="020B0604020202020204" pitchFamily="34" charset="0"/>
              <a:buChar char="•"/>
            </a:pPr>
            <a:r>
              <a:rPr lang="en-US" sz="2300" i="1" dirty="0"/>
              <a:t>At each lines crossing there must be an intersection </a:t>
            </a:r>
          </a:p>
          <a:p>
            <a:pPr lvl="2">
              <a:buFont typeface="Arial" panose="020B0604020202020204" pitchFamily="34" charset="0"/>
              <a:buChar char="•"/>
            </a:pPr>
            <a:r>
              <a:rPr lang="en-US" sz="2300" i="1" dirty="0">
                <a:solidFill>
                  <a:srgbClr val="FF0000"/>
                </a:solidFill>
              </a:rPr>
              <a:t>Recommended</a:t>
            </a:r>
          </a:p>
          <a:p>
            <a:pPr lvl="1">
              <a:buFont typeface="Wingdings" panose="05000000000000000000" pitchFamily="2" charset="2"/>
              <a:buChar char="ü"/>
            </a:pPr>
            <a:r>
              <a:rPr lang="en-US" sz="2300" i="1" dirty="0"/>
              <a:t>Nonplanar topology</a:t>
            </a:r>
          </a:p>
        </p:txBody>
      </p:sp>
      <p:sp>
        <p:nvSpPr>
          <p:cNvPr id="2" name="Slide Number Placeholder 1">
            <a:extLst>
              <a:ext uri="{FF2B5EF4-FFF2-40B4-BE49-F238E27FC236}">
                <a16:creationId xmlns:a16="http://schemas.microsoft.com/office/drawing/2014/main" id="{BB4F90FA-7D8E-4CA4-A802-5E42A60C2EA5}"/>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9" name="TextBox 8">
            <a:extLst>
              <a:ext uri="{FF2B5EF4-FFF2-40B4-BE49-F238E27FC236}">
                <a16:creationId xmlns:a16="http://schemas.microsoft.com/office/drawing/2014/main" id="{D3DD7906-1F9E-4400-AC98-1FF50FE292C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4" name="Picture 3" descr="Showing planer and nonplanar topology">
            <a:extLst>
              <a:ext uri="{FF2B5EF4-FFF2-40B4-BE49-F238E27FC236}">
                <a16:creationId xmlns:a16="http://schemas.microsoft.com/office/drawing/2014/main" id="{E2C6C6E7-971E-4A1D-A218-438D5450D90B}"/>
              </a:ext>
            </a:extLst>
          </p:cNvPr>
          <p:cNvPicPr>
            <a:picLocks noChangeAspect="1"/>
          </p:cNvPicPr>
          <p:nvPr/>
        </p:nvPicPr>
        <p:blipFill>
          <a:blip r:embed="rId3"/>
          <a:stretch>
            <a:fillRect/>
          </a:stretch>
        </p:blipFill>
        <p:spPr>
          <a:xfrm>
            <a:off x="3990232" y="1565288"/>
            <a:ext cx="4086969" cy="2802076"/>
          </a:xfrm>
          <a:prstGeom prst="rect">
            <a:avLst/>
          </a:prstGeom>
        </p:spPr>
      </p:pic>
    </p:spTree>
    <p:extLst>
      <p:ext uri="{BB962C8B-B14F-4D97-AF65-F5344CB8AC3E}">
        <p14:creationId xmlns:p14="http://schemas.microsoft.com/office/powerpoint/2010/main" val="382615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Topological iss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2812" y="3400476"/>
            <a:ext cx="2486334" cy="1743023"/>
          </a:xfrm>
          <a:prstGeom prst="rect">
            <a:avLst/>
          </a:prstGeom>
        </p:spPr>
      </p:pic>
      <p:sp>
        <p:nvSpPr>
          <p:cNvPr id="3" name="Content Placeholder 2"/>
          <p:cNvSpPr>
            <a:spLocks noGrp="1"/>
          </p:cNvSpPr>
          <p:nvPr>
            <p:ph idx="1"/>
          </p:nvPr>
        </p:nvSpPr>
        <p:spPr>
          <a:xfrm>
            <a:off x="152400" y="1009843"/>
            <a:ext cx="4805499" cy="2612532"/>
          </a:xfrm>
        </p:spPr>
        <p:txBody>
          <a:bodyPr/>
          <a:lstStyle/>
          <a:p>
            <a:pPr>
              <a:buFont typeface="Courier New" panose="02070309020205020404" pitchFamily="49" charset="0"/>
              <a:buChar char="o"/>
            </a:pPr>
            <a:r>
              <a:rPr lang="en-US" sz="2500" dirty="0"/>
              <a:t>Topological issues</a:t>
            </a:r>
          </a:p>
          <a:p>
            <a:pPr lvl="1">
              <a:buFont typeface="Wingdings" panose="05000000000000000000" pitchFamily="2" charset="2"/>
              <a:buChar char="ü"/>
            </a:pPr>
            <a:r>
              <a:rPr lang="en-US" sz="1600" dirty="0"/>
              <a:t>Dangles: two line features are supposed to connect, but not</a:t>
            </a:r>
          </a:p>
          <a:p>
            <a:pPr lvl="2">
              <a:buFont typeface="Arial" panose="020B0604020202020204" pitchFamily="34" charset="0"/>
              <a:buChar char="•"/>
            </a:pPr>
            <a:r>
              <a:rPr lang="en-US" sz="1600" dirty="0"/>
              <a:t>Overshoots: one line segment is supposed to end but not</a:t>
            </a:r>
          </a:p>
          <a:p>
            <a:pPr lvl="2">
              <a:buFont typeface="Arial" panose="020B0604020202020204" pitchFamily="34" charset="0"/>
              <a:buChar char="•"/>
            </a:pPr>
            <a:r>
              <a:rPr lang="en-US" sz="1600" dirty="0"/>
              <a:t>undershoots</a:t>
            </a:r>
          </a:p>
          <a:p>
            <a:pPr lvl="1">
              <a:buFont typeface="Wingdings" panose="05000000000000000000" pitchFamily="2" charset="2"/>
              <a:buChar char="ü"/>
            </a:pPr>
            <a:r>
              <a:rPr lang="en-US" sz="1600" dirty="0"/>
              <a:t>Slivers: areas of non-overlap due to digitization error</a:t>
            </a:r>
          </a:p>
        </p:txBody>
      </p:sp>
      <p:sp>
        <p:nvSpPr>
          <p:cNvPr id="2" name="Slide Number Placeholder 1">
            <a:extLst>
              <a:ext uri="{FF2B5EF4-FFF2-40B4-BE49-F238E27FC236}">
                <a16:creationId xmlns:a16="http://schemas.microsoft.com/office/drawing/2014/main" id="{0834F791-5F64-4323-B54F-8E32FEA47FDC}"/>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4" name="Picture 3" descr="Topological issues"/>
          <p:cNvPicPr>
            <a:picLocks noChangeAspect="1"/>
          </p:cNvPicPr>
          <p:nvPr/>
        </p:nvPicPr>
        <p:blipFill>
          <a:blip r:embed="rId4">
            <a:clrChange>
              <a:clrFrom>
                <a:srgbClr val="FFFFFF"/>
              </a:clrFrom>
              <a:clrTo>
                <a:srgbClr val="FFFFFF">
                  <a:alpha val="0"/>
                </a:srgbClr>
              </a:clrTo>
            </a:clrChange>
          </a:blip>
          <a:stretch>
            <a:fillRect/>
          </a:stretch>
        </p:blipFill>
        <p:spPr>
          <a:xfrm>
            <a:off x="4523173" y="2633199"/>
            <a:ext cx="3183370" cy="1937469"/>
          </a:xfrm>
          <a:prstGeom prst="rect">
            <a:avLst/>
          </a:prstGeom>
        </p:spPr>
      </p:pic>
      <p:pic>
        <p:nvPicPr>
          <p:cNvPr id="5" name="Picture 4" descr="Topological issues"/>
          <p:cNvPicPr>
            <a:picLocks noChangeAspect="1"/>
          </p:cNvPicPr>
          <p:nvPr/>
        </p:nvPicPr>
        <p:blipFill>
          <a:blip r:embed="rId5">
            <a:clrChange>
              <a:clrFrom>
                <a:srgbClr val="FFFFFF"/>
              </a:clrFrom>
              <a:clrTo>
                <a:srgbClr val="FFFFFF">
                  <a:alpha val="0"/>
                </a:srgbClr>
              </a:clrTo>
            </a:clrChange>
          </a:blip>
          <a:stretch>
            <a:fillRect/>
          </a:stretch>
        </p:blipFill>
        <p:spPr>
          <a:xfrm>
            <a:off x="4269145" y="1055625"/>
            <a:ext cx="3373086" cy="2059151"/>
          </a:xfrm>
          <a:prstGeom prst="rect">
            <a:avLst/>
          </a:prstGeom>
        </p:spPr>
      </p:pic>
      <p:sp>
        <p:nvSpPr>
          <p:cNvPr id="7" name="Title 1">
            <a:extLst>
              <a:ext uri="{FF2B5EF4-FFF2-40B4-BE49-F238E27FC236}">
                <a16:creationId xmlns:a16="http://schemas.microsoft.com/office/drawing/2014/main" id="{156996B2-F3FC-4F50-B014-98F8117C2FA7}"/>
              </a:ext>
            </a:extLst>
          </p:cNvPr>
          <p:cNvSpPr txBox="1">
            <a:spLocks/>
          </p:cNvSpPr>
          <p:nvPr/>
        </p:nvSpPr>
        <p:spPr>
          <a:xfrm>
            <a:off x="230545" y="2052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3088E69D-7B4A-4634-BA9F-7C97D392E4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4372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97192"/>
            <a:ext cx="3575933" cy="3691578"/>
          </a:xfrm>
        </p:spPr>
        <p:txBody>
          <a:bodyPr>
            <a:normAutofit fontScale="92500" lnSpcReduction="20000"/>
          </a:bodyPr>
          <a:lstStyle/>
          <a:p>
            <a:pPr>
              <a:buFont typeface="Courier New" panose="02070309020205020404" pitchFamily="49" charset="0"/>
              <a:buChar char="o"/>
            </a:pPr>
            <a:r>
              <a:rPr lang="en-US" sz="2500" dirty="0"/>
              <a:t>Topological issues</a:t>
            </a:r>
          </a:p>
          <a:p>
            <a:pPr lvl="1">
              <a:buFont typeface="Wingdings" panose="05000000000000000000" pitchFamily="2" charset="2"/>
              <a:buChar char="ü"/>
            </a:pPr>
            <a:r>
              <a:rPr lang="en-US" sz="1640" dirty="0"/>
              <a:t>Between different layers</a:t>
            </a:r>
          </a:p>
          <a:p>
            <a:pPr lvl="1">
              <a:buFont typeface="Wingdings" panose="05000000000000000000" pitchFamily="2" charset="2"/>
              <a:buChar char="ü"/>
            </a:pPr>
            <a:endParaRPr lang="en-US" sz="164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r>
              <a:rPr lang="en-US" sz="2000" dirty="0">
                <a:solidFill>
                  <a:srgbClr val="FF0000"/>
                </a:solidFill>
              </a:rPr>
              <a:t>Topological rules and constraints may be enforced, both within and between layers!</a:t>
            </a:r>
          </a:p>
        </p:txBody>
      </p:sp>
      <p:sp>
        <p:nvSpPr>
          <p:cNvPr id="2" name="Slide Number Placeholder 1">
            <a:extLst>
              <a:ext uri="{FF2B5EF4-FFF2-40B4-BE49-F238E27FC236}">
                <a16:creationId xmlns:a16="http://schemas.microsoft.com/office/drawing/2014/main" id="{0834F791-5F64-4323-B54F-8E32FEA47FDC}"/>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7" name="Title 1">
            <a:extLst>
              <a:ext uri="{FF2B5EF4-FFF2-40B4-BE49-F238E27FC236}">
                <a16:creationId xmlns:a16="http://schemas.microsoft.com/office/drawing/2014/main" id="{156996B2-F3FC-4F50-B014-98F8117C2FA7}"/>
              </a:ext>
            </a:extLst>
          </p:cNvPr>
          <p:cNvSpPr txBox="1">
            <a:spLocks/>
          </p:cNvSpPr>
          <p:nvPr/>
        </p:nvSpPr>
        <p:spPr>
          <a:xfrm>
            <a:off x="245754" y="1985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3088E69D-7B4A-4634-BA9F-7C97D392E4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descr="Topological issues">
            <a:extLst>
              <a:ext uri="{FF2B5EF4-FFF2-40B4-BE49-F238E27FC236}">
                <a16:creationId xmlns:a16="http://schemas.microsoft.com/office/drawing/2014/main" id="{35345436-2E13-4CB5-839B-8A47EB96EB9B}"/>
              </a:ext>
            </a:extLst>
          </p:cNvPr>
          <p:cNvPicPr>
            <a:picLocks noChangeAspect="1"/>
          </p:cNvPicPr>
          <p:nvPr/>
        </p:nvPicPr>
        <p:blipFill>
          <a:blip r:embed="rId3"/>
          <a:stretch>
            <a:fillRect/>
          </a:stretch>
        </p:blipFill>
        <p:spPr>
          <a:xfrm>
            <a:off x="3987413" y="1452792"/>
            <a:ext cx="3207471" cy="3153691"/>
          </a:xfrm>
          <a:prstGeom prst="rect">
            <a:avLst/>
          </a:prstGeom>
        </p:spPr>
      </p:pic>
      <p:sp>
        <p:nvSpPr>
          <p:cNvPr id="12" name="TextBox 11">
            <a:extLst>
              <a:ext uri="{FF2B5EF4-FFF2-40B4-BE49-F238E27FC236}">
                <a16:creationId xmlns:a16="http://schemas.microsoft.com/office/drawing/2014/main" id="{8B17CC58-34D0-40B3-B6FF-3EC775A53E6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77455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13949" y="2291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68D0EF95-DF54-48D0-998E-592C51E5E5D4}"/>
              </a:ext>
            </a:extLst>
          </p:cNvPr>
          <p:cNvSpPr>
            <a:spLocks noGrp="1"/>
          </p:cNvSpPr>
          <p:nvPr>
            <p:ph idx="1"/>
          </p:nvPr>
        </p:nvSpPr>
        <p:spPr>
          <a:xfrm>
            <a:off x="152399" y="1131194"/>
            <a:ext cx="3930633" cy="3504453"/>
          </a:xfrm>
        </p:spPr>
        <p:txBody>
          <a:bodyPr>
            <a:normAutofit/>
          </a:bodyPr>
          <a:lstStyle/>
          <a:p>
            <a:pPr>
              <a:buFont typeface="Courier New" panose="02070309020205020404" pitchFamily="49" charset="0"/>
              <a:buChar char="o"/>
            </a:pPr>
            <a:r>
              <a:rPr lang="en-US" sz="2600" dirty="0"/>
              <a:t>Topology</a:t>
            </a:r>
          </a:p>
          <a:p>
            <a:pPr lvl="1">
              <a:buFont typeface="Wingdings" panose="05000000000000000000" pitchFamily="2" charset="2"/>
              <a:buChar char="ü"/>
            </a:pPr>
            <a:r>
              <a:rPr lang="en-US" sz="2300" i="1" dirty="0"/>
              <a:t>Topology and coordinate data are often hidden from the user, but linked to the attribute and geographic features through pointers and index variables.</a:t>
            </a:r>
            <a:endParaRPr lang="en-US" sz="2300" dirty="0"/>
          </a:p>
        </p:txBody>
      </p:sp>
      <p:sp>
        <p:nvSpPr>
          <p:cNvPr id="2" name="Slide Number Placeholder 1">
            <a:extLst>
              <a:ext uri="{FF2B5EF4-FFF2-40B4-BE49-F238E27FC236}">
                <a16:creationId xmlns:a16="http://schemas.microsoft.com/office/drawing/2014/main" id="{BB4F90FA-7D8E-4CA4-A802-5E42A60C2EA5}"/>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6" name="Picture 5" descr="Topology information">
            <a:extLst>
              <a:ext uri="{FF2B5EF4-FFF2-40B4-BE49-F238E27FC236}">
                <a16:creationId xmlns:a16="http://schemas.microsoft.com/office/drawing/2014/main" id="{066346CA-B457-43E1-A858-A9AAB7AE71CC}"/>
              </a:ext>
            </a:extLst>
          </p:cNvPr>
          <p:cNvPicPr>
            <a:picLocks noChangeAspect="1"/>
          </p:cNvPicPr>
          <p:nvPr/>
        </p:nvPicPr>
        <p:blipFill>
          <a:blip r:embed="rId3"/>
          <a:stretch>
            <a:fillRect/>
          </a:stretch>
        </p:blipFill>
        <p:spPr>
          <a:xfrm>
            <a:off x="3940130" y="1109688"/>
            <a:ext cx="4255603" cy="3208420"/>
          </a:xfrm>
          <a:prstGeom prst="rect">
            <a:avLst/>
          </a:prstGeom>
        </p:spPr>
      </p:pic>
      <p:sp>
        <p:nvSpPr>
          <p:cNvPr id="9" name="TextBox 8">
            <a:extLst>
              <a:ext uri="{FF2B5EF4-FFF2-40B4-BE49-F238E27FC236}">
                <a16:creationId xmlns:a16="http://schemas.microsoft.com/office/drawing/2014/main" id="{D3DD7906-1F9E-4400-AC98-1FF50FE292C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1005521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042572"/>
            <a:ext cx="7444990" cy="4049208"/>
          </a:xfrm>
        </p:spPr>
        <p:txBody>
          <a:bodyPr>
            <a:normAutofit/>
          </a:bodyPr>
          <a:lstStyle/>
          <a:p>
            <a:pPr>
              <a:buFont typeface="Courier New" panose="02070309020205020404" pitchFamily="49" charset="0"/>
              <a:buChar char="o"/>
            </a:pPr>
            <a:r>
              <a:rPr lang="en-US" sz="3600" dirty="0"/>
              <a:t>The Shapefile</a:t>
            </a:r>
          </a:p>
          <a:p>
            <a:pPr lvl="1">
              <a:buFont typeface="Wingdings" panose="05000000000000000000" pitchFamily="2" charset="2"/>
              <a:buChar char="ü"/>
            </a:pPr>
            <a:r>
              <a:rPr lang="en-US" sz="1400" dirty="0"/>
              <a:t>Nontopological</a:t>
            </a:r>
          </a:p>
          <a:p>
            <a:pPr lvl="1">
              <a:buFont typeface="Wingdings" panose="05000000000000000000" pitchFamily="2" charset="2"/>
              <a:buChar char="ü"/>
            </a:pPr>
            <a:r>
              <a:rPr lang="en-US" sz="1400" dirty="0"/>
              <a:t>No file describe the spatial relationships among geographic objects</a:t>
            </a:r>
          </a:p>
          <a:p>
            <a:pPr lvl="1">
              <a:buFont typeface="Wingdings" panose="05000000000000000000" pitchFamily="2" charset="2"/>
              <a:buChar char="ü"/>
            </a:pPr>
            <a:r>
              <a:rPr lang="en-US" sz="1400" dirty="0"/>
              <a:t>Although this is a nontopological model, topological relationships can be calculated on-the-fly to perform analyses</a:t>
            </a:r>
          </a:p>
          <a:p>
            <a:pPr marL="0" indent="0">
              <a:buNone/>
            </a:pPr>
            <a:r>
              <a:rPr lang="en-US" sz="1400" u="sng" dirty="0"/>
              <a:t>Components (</a:t>
            </a:r>
            <a:r>
              <a:rPr lang="en-US" sz="1400" u="sng" dirty="0">
                <a:solidFill>
                  <a:srgbClr val="FF0000"/>
                </a:solidFill>
              </a:rPr>
              <a:t>Three mandatory files</a:t>
            </a:r>
            <a:r>
              <a:rPr lang="en-US" sz="1400" u="sng" dirty="0"/>
              <a:t>)</a:t>
            </a:r>
          </a:p>
          <a:p>
            <a:pPr marL="0" indent="0">
              <a:buNone/>
            </a:pPr>
            <a:r>
              <a:rPr lang="en-US" sz="1400" b="1" dirty="0">
                <a:solidFill>
                  <a:srgbClr val="FF0000"/>
                </a:solidFill>
              </a:rPr>
              <a:t>.</a:t>
            </a:r>
            <a:r>
              <a:rPr lang="en-US" sz="1400" b="1" dirty="0" err="1">
                <a:solidFill>
                  <a:srgbClr val="FF0000"/>
                </a:solidFill>
              </a:rPr>
              <a:t>shp</a:t>
            </a:r>
            <a:r>
              <a:rPr lang="en-US" sz="1400" b="1" dirty="0">
                <a:solidFill>
                  <a:srgbClr val="FF0000"/>
                </a:solidFill>
              </a:rPr>
              <a:t> </a:t>
            </a:r>
            <a:r>
              <a:rPr lang="en-US" sz="1400" dirty="0"/>
              <a:t>= geometry data</a:t>
            </a:r>
          </a:p>
          <a:p>
            <a:pPr marL="0" indent="0">
              <a:buNone/>
            </a:pPr>
            <a:r>
              <a:rPr lang="en-US" sz="1400" b="1" dirty="0">
                <a:solidFill>
                  <a:srgbClr val="E3874F"/>
                </a:solidFill>
              </a:rPr>
              <a:t>.</a:t>
            </a:r>
            <a:r>
              <a:rPr lang="en-US" sz="1400" b="1" dirty="0" err="1">
                <a:solidFill>
                  <a:srgbClr val="E3874F"/>
                </a:solidFill>
              </a:rPr>
              <a:t>prj</a:t>
            </a:r>
            <a:r>
              <a:rPr lang="en-US" sz="1400" b="1" dirty="0">
                <a:solidFill>
                  <a:srgbClr val="E3874F"/>
                </a:solidFill>
              </a:rPr>
              <a:t> </a:t>
            </a:r>
            <a:r>
              <a:rPr lang="en-US" sz="1400" dirty="0"/>
              <a:t>= spatial reference/projection information</a:t>
            </a:r>
          </a:p>
          <a:p>
            <a:pPr marL="0" indent="0">
              <a:buNone/>
            </a:pPr>
            <a:r>
              <a:rPr lang="en-US" sz="1400" b="1" dirty="0">
                <a:solidFill>
                  <a:srgbClr val="FF0000"/>
                </a:solidFill>
              </a:rPr>
              <a:t>.dbf </a:t>
            </a:r>
            <a:r>
              <a:rPr lang="en-US" sz="1400" dirty="0"/>
              <a:t>= attribute table/</a:t>
            </a:r>
            <a:r>
              <a:rPr lang="en-US" sz="1400" dirty="0" err="1"/>
              <a:t>aspatial</a:t>
            </a:r>
            <a:r>
              <a:rPr lang="en-US" sz="1400" dirty="0"/>
              <a:t> data</a:t>
            </a:r>
          </a:p>
          <a:p>
            <a:pPr marL="0" indent="0">
              <a:buNone/>
            </a:pPr>
            <a:r>
              <a:rPr lang="en-US" sz="1400" b="1" dirty="0">
                <a:solidFill>
                  <a:srgbClr val="FF0000"/>
                </a:solidFill>
              </a:rPr>
              <a:t>.</a:t>
            </a:r>
            <a:r>
              <a:rPr lang="en-US" sz="1400" b="1" dirty="0" err="1">
                <a:solidFill>
                  <a:srgbClr val="FF0000"/>
                </a:solidFill>
              </a:rPr>
              <a:t>shx</a:t>
            </a:r>
            <a:r>
              <a:rPr lang="en-US" sz="1400" b="1" dirty="0">
                <a:solidFill>
                  <a:srgbClr val="FF0000"/>
                </a:solidFill>
              </a:rPr>
              <a:t> </a:t>
            </a:r>
            <a:r>
              <a:rPr lang="en-US" sz="1400" dirty="0"/>
              <a:t>= index file for geometry (helps with speed)</a:t>
            </a:r>
          </a:p>
          <a:p>
            <a:pPr marL="0" indent="0">
              <a:buNone/>
            </a:pPr>
            <a:r>
              <a:rPr lang="en-US" sz="1400" b="1" dirty="0">
                <a:solidFill>
                  <a:srgbClr val="E3874F"/>
                </a:solidFill>
              </a:rPr>
              <a:t>.</a:t>
            </a:r>
            <a:r>
              <a:rPr lang="en-US" sz="1400" b="1" dirty="0" err="1">
                <a:solidFill>
                  <a:srgbClr val="E3874F"/>
                </a:solidFill>
              </a:rPr>
              <a:t>sbn</a:t>
            </a:r>
            <a:r>
              <a:rPr lang="en-US" sz="1400" b="1" dirty="0">
                <a:solidFill>
                  <a:srgbClr val="E3874F"/>
                </a:solidFill>
              </a:rPr>
              <a:t> </a:t>
            </a:r>
            <a:r>
              <a:rPr lang="en-US" sz="1400" dirty="0"/>
              <a:t>and </a:t>
            </a:r>
            <a:r>
              <a:rPr lang="en-US" sz="1400" b="1" dirty="0">
                <a:solidFill>
                  <a:srgbClr val="E3874F"/>
                </a:solidFill>
              </a:rPr>
              <a:t>.</a:t>
            </a:r>
            <a:r>
              <a:rPr lang="en-US" sz="1400" b="1" dirty="0" err="1">
                <a:solidFill>
                  <a:srgbClr val="E3874F"/>
                </a:solidFill>
              </a:rPr>
              <a:t>sbx</a:t>
            </a:r>
            <a:r>
              <a:rPr lang="en-US" sz="1400" b="1" dirty="0">
                <a:solidFill>
                  <a:srgbClr val="E3874F"/>
                </a:solidFill>
              </a:rPr>
              <a:t> </a:t>
            </a:r>
            <a:r>
              <a:rPr lang="en-US" sz="1400" dirty="0"/>
              <a:t>= index file for the attributes (speed of queries)</a:t>
            </a:r>
          </a:p>
          <a:p>
            <a:pPr marL="0" indent="0">
              <a:buNone/>
            </a:pPr>
            <a:r>
              <a:rPr lang="en-US" sz="1400" b="1" dirty="0">
                <a:solidFill>
                  <a:srgbClr val="E3874F"/>
                </a:solidFill>
              </a:rPr>
              <a:t>.xml </a:t>
            </a:r>
            <a:r>
              <a:rPr lang="en-US" sz="1400" dirty="0"/>
              <a:t>= metadata</a:t>
            </a: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id="{3256DB5A-BCE4-44EC-92DE-AE510B105612}"/>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5" name="Title 1">
            <a:extLst>
              <a:ext uri="{FF2B5EF4-FFF2-40B4-BE49-F238E27FC236}">
                <a16:creationId xmlns:a16="http://schemas.microsoft.com/office/drawing/2014/main" id="{11548964-AFC5-470A-8598-008C7497388C}"/>
              </a:ext>
            </a:extLst>
          </p:cNvPr>
          <p:cNvSpPr txBox="1">
            <a:spLocks/>
          </p:cNvSpPr>
          <p:nvPr/>
        </p:nvSpPr>
        <p:spPr>
          <a:xfrm>
            <a:off x="253705" y="1853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4B16F464-2410-47BD-B6CD-F51BFB98CC0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Shapefile data">
            <a:extLst>
              <a:ext uri="{FF2B5EF4-FFF2-40B4-BE49-F238E27FC236}">
                <a16:creationId xmlns:a16="http://schemas.microsoft.com/office/drawing/2014/main" id="{A47CA9D2-7C5F-415F-9CE7-BF4FB2DE4E59}"/>
              </a:ext>
            </a:extLst>
          </p:cNvPr>
          <p:cNvPicPr>
            <a:picLocks noChangeAspect="1"/>
          </p:cNvPicPr>
          <p:nvPr/>
        </p:nvPicPr>
        <p:blipFill rotWithShape="1">
          <a:blip r:embed="rId3"/>
          <a:srcRect t="14689"/>
          <a:stretch/>
        </p:blipFill>
        <p:spPr>
          <a:xfrm>
            <a:off x="6253292" y="3410465"/>
            <a:ext cx="1085850" cy="1235130"/>
          </a:xfrm>
          <a:prstGeom prst="rect">
            <a:avLst/>
          </a:prstGeom>
        </p:spPr>
      </p:pic>
    </p:spTree>
    <p:extLst>
      <p:ext uri="{BB962C8B-B14F-4D97-AF65-F5344CB8AC3E}">
        <p14:creationId xmlns:p14="http://schemas.microsoft.com/office/powerpoint/2010/main" val="11501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7EF9-0C69-CEC6-50F5-31C8C5ABA9CD}"/>
              </a:ext>
            </a:extLst>
          </p:cNvPr>
          <p:cNvSpPr>
            <a:spLocks noGrp="1"/>
          </p:cNvSpPr>
          <p:nvPr>
            <p:ph type="title"/>
          </p:nvPr>
        </p:nvSpPr>
        <p:spPr/>
        <p:txBody>
          <a:bodyPr>
            <a:normAutofit fontScale="90000"/>
          </a:bodyPr>
          <a:lstStyle/>
          <a:p>
            <a:pPr defTabSz="411480"/>
            <a:r>
              <a:rPr lang="en-US" sz="3200" dirty="0">
                <a:solidFill>
                  <a:srgbClr val="7030A0"/>
                </a:solidFill>
              </a:rPr>
              <a:t>Class Activity: Exploring Shapefile Components</a:t>
            </a:r>
          </a:p>
        </p:txBody>
      </p:sp>
      <p:sp>
        <p:nvSpPr>
          <p:cNvPr id="3" name="Content Placeholder 2">
            <a:extLst>
              <a:ext uri="{FF2B5EF4-FFF2-40B4-BE49-F238E27FC236}">
                <a16:creationId xmlns:a16="http://schemas.microsoft.com/office/drawing/2014/main" id="{0EDCBCB8-63FB-EE58-B17D-0ED4DF37D0C3}"/>
              </a:ext>
            </a:extLst>
          </p:cNvPr>
          <p:cNvSpPr>
            <a:spLocks noGrp="1"/>
          </p:cNvSpPr>
          <p:nvPr>
            <p:ph idx="1"/>
          </p:nvPr>
        </p:nvSpPr>
        <p:spPr>
          <a:xfrm>
            <a:off x="392305" y="1424518"/>
            <a:ext cx="7444990" cy="2725865"/>
          </a:xfrm>
        </p:spPr>
        <p:txBody>
          <a:bodyPr>
            <a:normAutofit/>
          </a:bodyPr>
          <a:lstStyle/>
          <a:p>
            <a:r>
              <a:rPr lang="en-US" sz="2000" dirty="0"/>
              <a:t>Open the folder containing your shapefile.</a:t>
            </a:r>
          </a:p>
          <a:p>
            <a:r>
              <a:rPr lang="en-US" sz="2000" dirty="0"/>
              <a:t>Identify the components </a:t>
            </a:r>
          </a:p>
          <a:p>
            <a:r>
              <a:rPr lang="en-US" sz="2000" b="1" dirty="0"/>
              <a:t>Reminder:</a:t>
            </a:r>
            <a:endParaRPr lang="en-US" sz="2000" dirty="0"/>
          </a:p>
          <a:p>
            <a:pPr lvl="1"/>
            <a:r>
              <a:rPr lang="en-US" sz="2000" dirty="0"/>
              <a:t>A shapefile is </a:t>
            </a:r>
            <a:r>
              <a:rPr lang="en-US" sz="2000" b="1" dirty="0"/>
              <a:t>not just one file</a:t>
            </a:r>
            <a:r>
              <a:rPr lang="en-US" sz="2000" dirty="0"/>
              <a:t>.</a:t>
            </a:r>
          </a:p>
          <a:p>
            <a:pPr lvl="1"/>
            <a:r>
              <a:rPr lang="en-US" sz="2000" dirty="0"/>
              <a:t>If you want to share data, you must </a:t>
            </a:r>
            <a:r>
              <a:rPr lang="en-US" sz="2000" b="1" dirty="0"/>
              <a:t>copy ALL shapefile components</a:t>
            </a:r>
            <a:r>
              <a:rPr lang="en-US" sz="2000" dirty="0"/>
              <a:t> together, not just the .</a:t>
            </a:r>
            <a:r>
              <a:rPr lang="en-US" sz="2000" dirty="0" err="1"/>
              <a:t>shp</a:t>
            </a:r>
            <a:r>
              <a:rPr lang="en-US" sz="2000" dirty="0"/>
              <a:t> file.</a:t>
            </a:r>
          </a:p>
        </p:txBody>
      </p:sp>
      <p:sp>
        <p:nvSpPr>
          <p:cNvPr id="4" name="Slide Number Placeholder 3">
            <a:extLst>
              <a:ext uri="{FF2B5EF4-FFF2-40B4-BE49-F238E27FC236}">
                <a16:creationId xmlns:a16="http://schemas.microsoft.com/office/drawing/2014/main" id="{47D91E8F-AA5E-6B4B-DD2B-3E9AA9292885}"/>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2032737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DB11-4D0F-7DE9-4C50-6A5500EF0BC2}"/>
              </a:ext>
            </a:extLst>
          </p:cNvPr>
          <p:cNvSpPr>
            <a:spLocks noGrp="1"/>
          </p:cNvSpPr>
          <p:nvPr>
            <p:ph type="title"/>
          </p:nvPr>
        </p:nvSpPr>
        <p:spPr/>
        <p:txBody>
          <a:bodyPr>
            <a:normAutofit fontScale="90000"/>
          </a:bodyPr>
          <a:lstStyle/>
          <a:p>
            <a:pPr defTabSz="411480"/>
            <a:r>
              <a:rPr lang="en-US" sz="2900" dirty="0">
                <a:solidFill>
                  <a:srgbClr val="7030A0"/>
                </a:solidFill>
              </a:rPr>
              <a:t>Quick Way to Check Attributes in a Shapefile (.</a:t>
            </a:r>
            <a:r>
              <a:rPr lang="en-US" sz="2900" dirty="0" err="1">
                <a:solidFill>
                  <a:srgbClr val="7030A0"/>
                </a:solidFill>
              </a:rPr>
              <a:t>dbf</a:t>
            </a:r>
            <a:r>
              <a:rPr lang="en-US" sz="2900" dirty="0">
                <a:solidFill>
                  <a:srgbClr val="7030A0"/>
                </a:solidFill>
              </a:rPr>
              <a:t> file)</a:t>
            </a:r>
          </a:p>
        </p:txBody>
      </p:sp>
      <p:sp>
        <p:nvSpPr>
          <p:cNvPr id="3" name="Content Placeholder 2">
            <a:extLst>
              <a:ext uri="{FF2B5EF4-FFF2-40B4-BE49-F238E27FC236}">
                <a16:creationId xmlns:a16="http://schemas.microsoft.com/office/drawing/2014/main" id="{1F6F83A2-AB42-A6BF-AF3A-620F30E70E4C}"/>
              </a:ext>
            </a:extLst>
          </p:cNvPr>
          <p:cNvSpPr>
            <a:spLocks noGrp="1"/>
          </p:cNvSpPr>
          <p:nvPr>
            <p:ph idx="1"/>
          </p:nvPr>
        </p:nvSpPr>
        <p:spPr>
          <a:xfrm>
            <a:off x="392305" y="1508998"/>
            <a:ext cx="7444990" cy="3445860"/>
          </a:xfrm>
        </p:spPr>
        <p:txBody>
          <a:bodyPr>
            <a:noAutofit/>
          </a:bodyPr>
          <a:lstStyle/>
          <a:p>
            <a:r>
              <a:rPr lang="en-US" sz="1600" b="1" dirty="0"/>
              <a:t>Locate the .</a:t>
            </a:r>
            <a:r>
              <a:rPr lang="en-US" sz="1600" b="1" dirty="0" err="1"/>
              <a:t>dbf</a:t>
            </a:r>
            <a:r>
              <a:rPr lang="en-US" sz="1600" b="1" dirty="0"/>
              <a:t> file</a:t>
            </a:r>
            <a:r>
              <a:rPr lang="en-US" sz="1600" dirty="0"/>
              <a:t> in your shapefile folder (e.g., </a:t>
            </a:r>
            <a:r>
              <a:rPr lang="en-US" sz="1600" dirty="0" err="1"/>
              <a:t>Historical_features.dbf</a:t>
            </a:r>
            <a:r>
              <a:rPr lang="en-US" sz="1600" dirty="0"/>
              <a:t>).</a:t>
            </a:r>
          </a:p>
          <a:p>
            <a:r>
              <a:rPr lang="en-US" sz="1600" b="1" dirty="0"/>
              <a:t>Open Excel</a:t>
            </a:r>
            <a:r>
              <a:rPr lang="en-US" sz="1600" dirty="0"/>
              <a:t>, go to </a:t>
            </a:r>
            <a:r>
              <a:rPr lang="en-US" sz="1600" b="1" dirty="0"/>
              <a:t>File → Open → Browse</a:t>
            </a:r>
            <a:r>
              <a:rPr lang="en-US" sz="1600" dirty="0"/>
              <a:t>, then select the .</a:t>
            </a:r>
            <a:r>
              <a:rPr lang="en-US" sz="1600" dirty="0" err="1"/>
              <a:t>dbf</a:t>
            </a:r>
            <a:r>
              <a:rPr lang="en-US" sz="1600" dirty="0"/>
              <a:t> file.</a:t>
            </a:r>
          </a:p>
          <a:p>
            <a:r>
              <a:rPr lang="en-US" sz="1600" dirty="0"/>
              <a:t>The attribute table will appear as a spreadsheet:</a:t>
            </a:r>
          </a:p>
          <a:p>
            <a:pPr lvl="1"/>
            <a:r>
              <a:rPr lang="en-US" sz="1600" dirty="0"/>
              <a:t>Each </a:t>
            </a:r>
            <a:r>
              <a:rPr lang="en-US" sz="1600" b="1" dirty="0"/>
              <a:t>row = one feature</a:t>
            </a:r>
            <a:endParaRPr lang="en-US" sz="1600" dirty="0"/>
          </a:p>
          <a:p>
            <a:pPr lvl="1"/>
            <a:r>
              <a:rPr lang="en-US" sz="1600" dirty="0"/>
              <a:t>Each </a:t>
            </a:r>
            <a:r>
              <a:rPr lang="en-US" sz="1600" b="1" dirty="0"/>
              <a:t>column (field) = one type of data</a:t>
            </a:r>
            <a:r>
              <a:rPr lang="en-US" sz="1600" dirty="0"/>
              <a:t> (ID, name, area, etc.).</a:t>
            </a:r>
          </a:p>
          <a:p>
            <a:r>
              <a:rPr lang="en-US" sz="1600" dirty="0"/>
              <a:t>You can now quickly check the attribute values without opening GIS software.</a:t>
            </a:r>
            <a:br>
              <a:rPr lang="en-US" sz="1600" dirty="0"/>
            </a:br>
            <a:endParaRPr lang="en-US" sz="1600" dirty="0"/>
          </a:p>
          <a:p>
            <a:r>
              <a:rPr lang="en-US" sz="1600" dirty="0"/>
              <a:t>⚠️ </a:t>
            </a:r>
          </a:p>
          <a:p>
            <a:pPr lvl="1"/>
            <a:r>
              <a:rPr lang="en-US" sz="1600" dirty="0"/>
              <a:t>Do </a:t>
            </a:r>
            <a:r>
              <a:rPr lang="en-US" sz="1600" b="1" dirty="0"/>
              <a:t>not edit and save</a:t>
            </a:r>
            <a:r>
              <a:rPr lang="en-US" sz="1600" dirty="0"/>
              <a:t> the .</a:t>
            </a:r>
            <a:r>
              <a:rPr lang="en-US" sz="1600" dirty="0" err="1"/>
              <a:t>dbf</a:t>
            </a:r>
            <a:r>
              <a:rPr lang="en-US" sz="1600" dirty="0"/>
              <a:t> in Excel (it can corrupt the shapefile).</a:t>
            </a:r>
          </a:p>
          <a:p>
            <a:pPr lvl="1"/>
            <a:r>
              <a:rPr lang="en-US" sz="1600" dirty="0"/>
              <a:t>Only use it for a </a:t>
            </a:r>
            <a:r>
              <a:rPr lang="en-US" sz="1600" b="1" dirty="0"/>
              <a:t>quick look</a:t>
            </a:r>
            <a:r>
              <a:rPr lang="en-US" sz="1600" dirty="0"/>
              <a:t> at the data.</a:t>
            </a:r>
          </a:p>
        </p:txBody>
      </p:sp>
      <p:sp>
        <p:nvSpPr>
          <p:cNvPr id="4" name="Slide Number Placeholder 3">
            <a:extLst>
              <a:ext uri="{FF2B5EF4-FFF2-40B4-BE49-F238E27FC236}">
                <a16:creationId xmlns:a16="http://schemas.microsoft.com/office/drawing/2014/main" id="{4622E4DC-F453-864D-F476-D95735BBFE10}"/>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1231362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4" y="1025859"/>
            <a:ext cx="4260961" cy="3993739"/>
          </a:xfrm>
        </p:spPr>
        <p:txBody>
          <a:bodyPr>
            <a:noAutofit/>
          </a:bodyPr>
          <a:lstStyle/>
          <a:p>
            <a:pPr lvl="1">
              <a:buFont typeface="Courier New" panose="02070309020205020404" pitchFamily="49" charset="0"/>
              <a:buChar char="o"/>
            </a:pPr>
            <a:r>
              <a:rPr lang="en-US" sz="2100" dirty="0"/>
              <a:t>Polygon inclusions and boundary generalization</a:t>
            </a:r>
          </a:p>
          <a:p>
            <a:pPr lvl="2">
              <a:buFont typeface="Wingdings" panose="05000000000000000000" pitchFamily="2" charset="2"/>
              <a:buChar char="ü"/>
            </a:pPr>
            <a:r>
              <a:rPr lang="en-US" sz="2000" dirty="0"/>
              <a:t>Polygon inclusions: areas in a polygon that are different from the rest of the polygon, but still part of it</a:t>
            </a:r>
          </a:p>
          <a:p>
            <a:pPr lvl="2">
              <a:buFont typeface="Wingdings" panose="05000000000000000000" pitchFamily="2" charset="2"/>
              <a:buChar char="ü"/>
            </a:pPr>
            <a:r>
              <a:rPr lang="en-US" sz="2000" dirty="0"/>
              <a:t>Boundary generalization: incomplete representation of boundary locations</a:t>
            </a:r>
          </a:p>
        </p:txBody>
      </p:sp>
      <p:sp>
        <p:nvSpPr>
          <p:cNvPr id="2" name="Slide Number Placeholder 1">
            <a:extLst>
              <a:ext uri="{FF2B5EF4-FFF2-40B4-BE49-F238E27FC236}">
                <a16:creationId xmlns:a16="http://schemas.microsoft.com/office/drawing/2014/main" id="{254A5B20-0DCA-46AE-B5E5-13CD7698E5BC}"/>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7" name="Title 1">
            <a:extLst>
              <a:ext uri="{FF2B5EF4-FFF2-40B4-BE49-F238E27FC236}">
                <a16:creationId xmlns:a16="http://schemas.microsoft.com/office/drawing/2014/main" id="{21467794-C3B7-44D8-9D87-30E6930724DC}"/>
              </a:ext>
            </a:extLst>
          </p:cNvPr>
          <p:cNvSpPr txBox="1">
            <a:spLocks/>
          </p:cNvSpPr>
          <p:nvPr/>
        </p:nvSpPr>
        <p:spPr>
          <a:xfrm>
            <a:off x="256675" y="2284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p>
        </p:txBody>
      </p:sp>
      <p:cxnSp>
        <p:nvCxnSpPr>
          <p:cNvPr id="8" name="Straight Connector 7">
            <a:extLst>
              <a:ext uri="{FF2B5EF4-FFF2-40B4-BE49-F238E27FC236}">
                <a16:creationId xmlns:a16="http://schemas.microsoft.com/office/drawing/2014/main" id="{47D0E21A-3648-4249-B4ED-F54D8A1E10F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Polygon inclusions and boundary generalization problem">
            <a:extLst>
              <a:ext uri="{FF2B5EF4-FFF2-40B4-BE49-F238E27FC236}">
                <a16:creationId xmlns:a16="http://schemas.microsoft.com/office/drawing/2014/main" id="{BF57EF9C-3F1C-44FA-9DAC-F65567FA36A9}"/>
              </a:ext>
            </a:extLst>
          </p:cNvPr>
          <p:cNvPicPr>
            <a:picLocks noChangeAspect="1"/>
          </p:cNvPicPr>
          <p:nvPr/>
        </p:nvPicPr>
        <p:blipFill>
          <a:blip r:embed="rId3"/>
          <a:stretch>
            <a:fillRect/>
          </a:stretch>
        </p:blipFill>
        <p:spPr>
          <a:xfrm>
            <a:off x="4295275" y="1145558"/>
            <a:ext cx="3897428" cy="3454411"/>
          </a:xfrm>
          <a:prstGeom prst="rect">
            <a:avLst/>
          </a:prstGeom>
        </p:spPr>
      </p:pic>
      <p:sp>
        <p:nvSpPr>
          <p:cNvPr id="10" name="TextBox 9">
            <a:extLst>
              <a:ext uri="{FF2B5EF4-FFF2-40B4-BE49-F238E27FC236}">
                <a16:creationId xmlns:a16="http://schemas.microsoft.com/office/drawing/2014/main" id="{2BC15DF4-9871-436F-BFB1-E513E8B8EAF4}"/>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18752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5C22-3776-7FC2-0A25-891FCF9E8D53}"/>
              </a:ext>
            </a:extLst>
          </p:cNvPr>
          <p:cNvSpPr>
            <a:spLocks noGrp="1"/>
          </p:cNvSpPr>
          <p:nvPr>
            <p:ph type="title"/>
          </p:nvPr>
        </p:nvSpPr>
        <p:spPr/>
        <p:txBody>
          <a:bodyPr>
            <a:normAutofit fontScale="90000"/>
          </a:bodyPr>
          <a:lstStyle/>
          <a:p>
            <a:pPr defTabSz="411480"/>
            <a:r>
              <a:rPr lang="en-US" sz="3200" dirty="0">
                <a:solidFill>
                  <a:srgbClr val="7030A0"/>
                </a:solidFill>
              </a:rPr>
              <a:t>Class Activity: Representing Indoor Features in GIS</a:t>
            </a:r>
          </a:p>
        </p:txBody>
      </p:sp>
      <p:sp>
        <p:nvSpPr>
          <p:cNvPr id="3" name="Content Placeholder 2">
            <a:extLst>
              <a:ext uri="{FF2B5EF4-FFF2-40B4-BE49-F238E27FC236}">
                <a16:creationId xmlns:a16="http://schemas.microsoft.com/office/drawing/2014/main" id="{248ADAD6-FF4C-A361-9243-AE292D0E5B8A}"/>
              </a:ext>
            </a:extLst>
          </p:cNvPr>
          <p:cNvSpPr>
            <a:spLocks noGrp="1"/>
          </p:cNvSpPr>
          <p:nvPr>
            <p:ph idx="1"/>
          </p:nvPr>
        </p:nvSpPr>
        <p:spPr>
          <a:xfrm>
            <a:off x="392307" y="1555079"/>
            <a:ext cx="7444990" cy="3399779"/>
          </a:xfrm>
        </p:spPr>
        <p:txBody>
          <a:bodyPr>
            <a:noAutofit/>
          </a:bodyPr>
          <a:lstStyle/>
          <a:p>
            <a:r>
              <a:rPr lang="en-US" sz="2400" dirty="0"/>
              <a:t>Divide into </a:t>
            </a:r>
            <a:r>
              <a:rPr lang="en-US" sz="2400" b="1" dirty="0"/>
              <a:t>three groups</a:t>
            </a:r>
            <a:r>
              <a:rPr lang="en-US" sz="2400" dirty="0"/>
              <a:t>.</a:t>
            </a:r>
          </a:p>
          <a:p>
            <a:r>
              <a:rPr lang="en-US" sz="2400" dirty="0"/>
              <a:t>Each group discusses which </a:t>
            </a:r>
            <a:r>
              <a:rPr lang="en-US" sz="2400" b="1" dirty="0"/>
              <a:t>indoor features</a:t>
            </a:r>
            <a:r>
              <a:rPr lang="en-US" sz="2400" dirty="0"/>
              <a:t> are best represented by:</a:t>
            </a:r>
          </a:p>
          <a:p>
            <a:pPr lvl="1"/>
            <a:r>
              <a:rPr lang="en-US" sz="2400" b="1" dirty="0"/>
              <a:t>Points</a:t>
            </a:r>
            <a:endParaRPr lang="en-US" sz="2400" dirty="0"/>
          </a:p>
          <a:p>
            <a:pPr lvl="1"/>
            <a:r>
              <a:rPr lang="en-US" sz="2400" b="1" dirty="0"/>
              <a:t>Lines</a:t>
            </a:r>
            <a:endParaRPr lang="en-US" sz="2400" dirty="0"/>
          </a:p>
          <a:p>
            <a:pPr lvl="1"/>
            <a:r>
              <a:rPr lang="en-US" sz="2400" b="1" dirty="0"/>
              <a:t>Polygons</a:t>
            </a:r>
            <a:endParaRPr lang="en-US" sz="2400" dirty="0"/>
          </a:p>
          <a:p>
            <a:r>
              <a:rPr lang="en-US" sz="2400" dirty="0"/>
              <a:t>After 5 minutes, share your answers with the class.</a:t>
            </a:r>
          </a:p>
        </p:txBody>
      </p:sp>
      <p:sp>
        <p:nvSpPr>
          <p:cNvPr id="4" name="Slide Number Placeholder 3">
            <a:extLst>
              <a:ext uri="{FF2B5EF4-FFF2-40B4-BE49-F238E27FC236}">
                <a16:creationId xmlns:a16="http://schemas.microsoft.com/office/drawing/2014/main" id="{DBD206D6-4823-45AC-A7CE-7F6294DF7EDA}"/>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3070053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aster dat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2444" y="1109006"/>
            <a:ext cx="3184756" cy="2109384"/>
          </a:xfrm>
          <a:prstGeom prst="rect">
            <a:avLst/>
          </a:prstGeom>
        </p:spPr>
      </p:pic>
      <p:cxnSp>
        <p:nvCxnSpPr>
          <p:cNvPr id="5" name="Straight Arrow Connector 4"/>
          <p:cNvCxnSpPr/>
          <p:nvPr/>
        </p:nvCxnSpPr>
        <p:spPr>
          <a:xfrm flipV="1">
            <a:off x="4560485" y="4024789"/>
            <a:ext cx="663917" cy="565932"/>
          </a:xfrm>
          <a:prstGeom prst="straightConnector1">
            <a:avLst/>
          </a:prstGeom>
          <a:ln w="254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6" name="Picture 5" descr="Raster data"/>
          <p:cNvPicPr>
            <a:picLocks noChangeAspect="1"/>
          </p:cNvPicPr>
          <p:nvPr/>
        </p:nvPicPr>
        <p:blipFill>
          <a:blip r:embed="rId4"/>
          <a:stretch>
            <a:fillRect/>
          </a:stretch>
        </p:blipFill>
        <p:spPr>
          <a:xfrm>
            <a:off x="5239425" y="3526383"/>
            <a:ext cx="2562597" cy="1562745"/>
          </a:xfrm>
          <a:prstGeom prst="rect">
            <a:avLst/>
          </a:prstGeom>
        </p:spPr>
      </p:pic>
      <p:sp>
        <p:nvSpPr>
          <p:cNvPr id="7" name="TextBox 6"/>
          <p:cNvSpPr txBox="1"/>
          <p:nvPr/>
        </p:nvSpPr>
        <p:spPr>
          <a:xfrm>
            <a:off x="4273925" y="4543504"/>
            <a:ext cx="1594900" cy="383182"/>
          </a:xfrm>
          <a:prstGeom prst="rect">
            <a:avLst/>
          </a:prstGeom>
          <a:noFill/>
        </p:spPr>
        <p:txBody>
          <a:bodyPr wrap="square" rtlCol="0">
            <a:spAutoFit/>
          </a:bodyPr>
          <a:lstStyle/>
          <a:p>
            <a:pPr>
              <a:lnSpc>
                <a:spcPct val="90000"/>
              </a:lnSpc>
            </a:pPr>
            <a:r>
              <a:rPr lang="en-US" sz="2100" dirty="0"/>
              <a:t>pixels</a:t>
            </a:r>
          </a:p>
        </p:txBody>
      </p:sp>
      <p:sp>
        <p:nvSpPr>
          <p:cNvPr id="9" name="Title 1">
            <a:extLst>
              <a:ext uri="{FF2B5EF4-FFF2-40B4-BE49-F238E27FC236}">
                <a16:creationId xmlns:a16="http://schemas.microsoft.com/office/drawing/2014/main" id="{93B66272-CEF2-4CEC-9A04-AACDCD87440C}"/>
              </a:ext>
            </a:extLst>
          </p:cNvPr>
          <p:cNvSpPr txBox="1">
            <a:spLocks/>
          </p:cNvSpPr>
          <p:nvPr/>
        </p:nvSpPr>
        <p:spPr>
          <a:xfrm>
            <a:off x="365024" y="21681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4648200" cy="940833"/>
          </a:xfrm>
          <a:prstGeom prst="rect">
            <a:avLst/>
          </a:prstGeom>
        </p:spPr>
        <p:txBody>
          <a:bodyPr vert="horz" lIns="91440" tIns="45720" rIns="91440" bIns="45720" rtlCol="0">
            <a:normAutofit fontScale="700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Array of cells or pixels</a:t>
            </a:r>
          </a:p>
          <a:p>
            <a:pPr>
              <a:buFont typeface="Courier New" panose="02070309020205020404" pitchFamily="49" charset="0"/>
              <a:buChar char="o"/>
            </a:pPr>
            <a:r>
              <a:rPr lang="en-US" dirty="0"/>
              <a:t>Origin is generally as the coordinate of the upper-left corner of the grid extent</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41EEED73-9602-4E07-8949-2988C9BFAD91}"/>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11" name="Picture 10">
            <a:hlinkClick r:id="rId5"/>
            <a:extLst>
              <a:ext uri="{FF2B5EF4-FFF2-40B4-BE49-F238E27FC236}">
                <a16:creationId xmlns:a16="http://schemas.microsoft.com/office/drawing/2014/main" id="{A580A475-3C45-BC74-975D-BA0554C19644}"/>
              </a:ext>
            </a:extLst>
          </p:cNvPr>
          <p:cNvPicPr>
            <a:picLocks noChangeAspect="1"/>
          </p:cNvPicPr>
          <p:nvPr/>
        </p:nvPicPr>
        <p:blipFill>
          <a:blip r:embed="rId6"/>
          <a:stretch>
            <a:fillRect/>
          </a:stretch>
        </p:blipFill>
        <p:spPr>
          <a:xfrm>
            <a:off x="786847" y="2017317"/>
            <a:ext cx="2958218" cy="3018131"/>
          </a:xfrm>
          <a:prstGeom prst="rect">
            <a:avLst/>
          </a:prstGeom>
        </p:spPr>
      </p:pic>
    </p:spTree>
    <p:extLst>
      <p:ext uri="{BB962C8B-B14F-4D97-AF65-F5344CB8AC3E}">
        <p14:creationId xmlns:p14="http://schemas.microsoft.com/office/powerpoint/2010/main" val="97713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53929-D368-21C4-4B95-9A2ADC0B1303}"/>
              </a:ext>
            </a:extLst>
          </p:cNvPr>
          <p:cNvSpPr>
            <a:spLocks noGrp="1"/>
          </p:cNvSpPr>
          <p:nvPr>
            <p:ph type="title"/>
          </p:nvPr>
        </p:nvSpPr>
        <p:spPr>
          <a:xfrm>
            <a:off x="392305" y="731131"/>
            <a:ext cx="7444991" cy="342473"/>
          </a:xfrm>
        </p:spPr>
        <p:txBody>
          <a:bodyPr>
            <a:normAutofit fontScale="90000"/>
          </a:bodyPr>
          <a:lstStyle/>
          <a:p>
            <a:r>
              <a:rPr lang="en-US" dirty="0"/>
              <a:t>Spatial resolution</a:t>
            </a:r>
          </a:p>
        </p:txBody>
      </p:sp>
      <p:sp>
        <p:nvSpPr>
          <p:cNvPr id="6" name="TextBox 5">
            <a:extLst>
              <a:ext uri="{FF2B5EF4-FFF2-40B4-BE49-F238E27FC236}">
                <a16:creationId xmlns:a16="http://schemas.microsoft.com/office/drawing/2014/main" id="{4DEF6701-E380-106D-4BA0-ED5C0035F38F}"/>
              </a:ext>
            </a:extLst>
          </p:cNvPr>
          <p:cNvSpPr txBox="1"/>
          <p:nvPr/>
        </p:nvSpPr>
        <p:spPr>
          <a:xfrm>
            <a:off x="392305" y="1171575"/>
            <a:ext cx="7494395" cy="341632"/>
          </a:xfrm>
          <a:prstGeom prst="rect">
            <a:avLst/>
          </a:prstGeom>
          <a:noFill/>
        </p:spPr>
        <p:txBody>
          <a:bodyPr wrap="square" rtlCol="0">
            <a:spAutoFit/>
          </a:bodyPr>
          <a:lstStyle/>
          <a:p>
            <a:pPr defTabSz="308610"/>
            <a:r>
              <a:rPr lang="en-US" sz="1620" dirty="0">
                <a:solidFill>
                  <a:srgbClr val="4C4C4C"/>
                </a:solidFill>
                <a:latin typeface="Avenir Next W01"/>
              </a:rPr>
              <a:t>It is stored in raster format, which represents information as a grid of cells (or pixels).</a:t>
            </a:r>
            <a:endParaRPr lang="en-US" sz="1620" dirty="0">
              <a:solidFill>
                <a:srgbClr val="000000"/>
              </a:solidFill>
              <a:latin typeface="Calibri"/>
            </a:endParaRPr>
          </a:p>
        </p:txBody>
      </p:sp>
      <p:pic>
        <p:nvPicPr>
          <p:cNvPr id="7" name="Content Placeholder 4">
            <a:extLst>
              <a:ext uri="{FF2B5EF4-FFF2-40B4-BE49-F238E27FC236}">
                <a16:creationId xmlns:a16="http://schemas.microsoft.com/office/drawing/2014/main" id="{6F3519DE-06E0-9EE9-BE97-B3B351322702}"/>
              </a:ext>
            </a:extLst>
          </p:cNvPr>
          <p:cNvPicPr>
            <a:picLocks noChangeAspect="1"/>
          </p:cNvPicPr>
          <p:nvPr/>
        </p:nvPicPr>
        <p:blipFill>
          <a:blip r:embed="rId2"/>
          <a:stretch>
            <a:fillRect/>
          </a:stretch>
        </p:blipFill>
        <p:spPr>
          <a:xfrm>
            <a:off x="3692541" y="1533516"/>
            <a:ext cx="4097425" cy="3249862"/>
          </a:xfrm>
          <a:prstGeom prst="rect">
            <a:avLst/>
          </a:prstGeom>
        </p:spPr>
      </p:pic>
      <p:pic>
        <p:nvPicPr>
          <p:cNvPr id="8" name="Picture 7" descr="A map of a river&#10;&#10;AI-generated content may be incorrect.">
            <a:extLst>
              <a:ext uri="{FF2B5EF4-FFF2-40B4-BE49-F238E27FC236}">
                <a16:creationId xmlns:a16="http://schemas.microsoft.com/office/drawing/2014/main" id="{D08AC4B3-2DF9-A965-8E41-27804E5C10B7}"/>
              </a:ext>
            </a:extLst>
          </p:cNvPr>
          <p:cNvPicPr>
            <a:picLocks noChangeAspect="1"/>
          </p:cNvPicPr>
          <p:nvPr/>
        </p:nvPicPr>
        <p:blipFill>
          <a:blip r:embed="rId3">
            <a:extLst>
              <a:ext uri="{28A0092B-C50C-407E-A947-70E740481C1C}">
                <a14:useLocalDpi xmlns:a14="http://schemas.microsoft.com/office/drawing/2010/main" val="0"/>
              </a:ext>
            </a:extLst>
          </a:blip>
          <a:srcRect t="13032" b="9814"/>
          <a:stretch/>
        </p:blipFill>
        <p:spPr>
          <a:xfrm>
            <a:off x="290403" y="2200234"/>
            <a:ext cx="2867165" cy="2212136"/>
          </a:xfrm>
          <a:prstGeom prst="rect">
            <a:avLst/>
          </a:prstGeom>
        </p:spPr>
      </p:pic>
      <p:sp>
        <p:nvSpPr>
          <p:cNvPr id="9" name="Rectangle 8">
            <a:extLst>
              <a:ext uri="{FF2B5EF4-FFF2-40B4-BE49-F238E27FC236}">
                <a16:creationId xmlns:a16="http://schemas.microsoft.com/office/drawing/2014/main" id="{D61EBA7E-E768-F1B4-0476-BAA022362418}"/>
              </a:ext>
            </a:extLst>
          </p:cNvPr>
          <p:cNvSpPr/>
          <p:nvPr/>
        </p:nvSpPr>
        <p:spPr>
          <a:xfrm>
            <a:off x="1474831" y="3070399"/>
            <a:ext cx="136438" cy="136438"/>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08610"/>
            <a:endParaRPr lang="zh-CN" altLang="en-US" sz="1215">
              <a:solidFill>
                <a:srgbClr val="FFFFFF"/>
              </a:solidFill>
              <a:latin typeface="Calibri"/>
            </a:endParaRPr>
          </a:p>
        </p:txBody>
      </p:sp>
      <p:cxnSp>
        <p:nvCxnSpPr>
          <p:cNvPr id="10" name="Straight Connector 9">
            <a:extLst>
              <a:ext uri="{FF2B5EF4-FFF2-40B4-BE49-F238E27FC236}">
                <a16:creationId xmlns:a16="http://schemas.microsoft.com/office/drawing/2014/main" id="{1958D31A-3F30-0DFE-8534-F3973D10F873}"/>
              </a:ext>
            </a:extLst>
          </p:cNvPr>
          <p:cNvCxnSpPr/>
          <p:nvPr/>
        </p:nvCxnSpPr>
        <p:spPr>
          <a:xfrm flipV="1">
            <a:off x="1611269" y="1533516"/>
            <a:ext cx="2081271" cy="153688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C5DC3A3-534C-77F1-C85E-E455089F618D}"/>
              </a:ext>
            </a:extLst>
          </p:cNvPr>
          <p:cNvCxnSpPr>
            <a:cxnSpLocks/>
          </p:cNvCxnSpPr>
          <p:nvPr/>
        </p:nvCxnSpPr>
        <p:spPr>
          <a:xfrm>
            <a:off x="1611269" y="3206837"/>
            <a:ext cx="2024157" cy="157654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776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893" y="1017263"/>
            <a:ext cx="6996983" cy="1425319"/>
          </a:xfrm>
        </p:spPr>
        <p:txBody>
          <a:bodyPr>
            <a:noAutofit/>
          </a:bodyPr>
          <a:lstStyle/>
          <a:p>
            <a:pPr>
              <a:buFont typeface="Courier New" panose="02070309020205020404" pitchFamily="49" charset="0"/>
              <a:buChar char="o"/>
            </a:pPr>
            <a:r>
              <a:rPr lang="en-US" sz="1800" dirty="0"/>
              <a:t>Categorical</a:t>
            </a:r>
          </a:p>
          <a:p>
            <a:pPr lvl="1">
              <a:buFont typeface="Wingdings" panose="05000000000000000000" pitchFamily="2" charset="2"/>
              <a:buChar char="ü"/>
            </a:pPr>
            <a:r>
              <a:rPr lang="en-US" sz="1800" dirty="0"/>
              <a:t>Cells hold a value</a:t>
            </a:r>
          </a:p>
          <a:p>
            <a:pPr lvl="1">
              <a:buFont typeface="Wingdings" panose="05000000000000000000" pitchFamily="2" charset="2"/>
              <a:buChar char="ü"/>
            </a:pPr>
            <a:r>
              <a:rPr lang="en-US" sz="1800" dirty="0"/>
              <a:t>Value is a place holder for a category (nominal data)</a:t>
            </a:r>
          </a:p>
          <a:p>
            <a:pPr lvl="1">
              <a:buFont typeface="Wingdings" panose="05000000000000000000" pitchFamily="2" charset="2"/>
              <a:buChar char="ü"/>
            </a:pPr>
            <a:r>
              <a:rPr lang="en-US" sz="1800" dirty="0"/>
              <a:t>Commonly has attribute table</a:t>
            </a:r>
          </a:p>
        </p:txBody>
      </p:sp>
      <p:sp>
        <p:nvSpPr>
          <p:cNvPr id="2" name="Slide Number Placeholder 1">
            <a:extLst>
              <a:ext uri="{FF2B5EF4-FFF2-40B4-BE49-F238E27FC236}">
                <a16:creationId xmlns:a16="http://schemas.microsoft.com/office/drawing/2014/main" id="{AF83EC32-661E-40B6-83E3-5FD87E0B7DE3}"/>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23" name="Text Box 10"/>
          <p:cNvSpPr txBox="1">
            <a:spLocks noChangeArrowheads="1"/>
          </p:cNvSpPr>
          <p:nvPr/>
        </p:nvSpPr>
        <p:spPr bwMode="auto">
          <a:xfrm>
            <a:off x="6292782" y="2665001"/>
            <a:ext cx="778932"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42</a:t>
            </a:r>
          </a:p>
        </p:txBody>
      </p:sp>
      <p:pic>
        <p:nvPicPr>
          <p:cNvPr id="4" name="Picture 3" descr="Raster data"/>
          <p:cNvPicPr>
            <a:picLocks noChangeAspect="1"/>
          </p:cNvPicPr>
          <p:nvPr/>
        </p:nvPicPr>
        <p:blipFill>
          <a:blip r:embed="rId3"/>
          <a:stretch>
            <a:fillRect/>
          </a:stretch>
        </p:blipFill>
        <p:spPr>
          <a:xfrm>
            <a:off x="4842580" y="2086892"/>
            <a:ext cx="2900403" cy="2971688"/>
          </a:xfrm>
          <a:prstGeom prst="rect">
            <a:avLst/>
          </a:prstGeom>
        </p:spPr>
      </p:pic>
      <p:sp>
        <p:nvSpPr>
          <p:cNvPr id="8" name="Title 1">
            <a:extLst>
              <a:ext uri="{FF2B5EF4-FFF2-40B4-BE49-F238E27FC236}">
                <a16:creationId xmlns:a16="http://schemas.microsoft.com/office/drawing/2014/main" id="{3F514D92-4F2F-4514-8105-48CE1F03A366}"/>
              </a:ext>
            </a:extLst>
          </p:cNvPr>
          <p:cNvSpPr txBox="1">
            <a:spLocks/>
          </p:cNvSpPr>
          <p:nvPr/>
        </p:nvSpPr>
        <p:spPr>
          <a:xfrm>
            <a:off x="194893" y="2238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9" name="Straight Connector 8">
            <a:extLst>
              <a:ext uri="{FF2B5EF4-FFF2-40B4-BE49-F238E27FC236}">
                <a16:creationId xmlns:a16="http://schemas.microsoft.com/office/drawing/2014/main" id="{357AC9A2-1776-47DC-9621-E726569F2E0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Raster data pixels">
            <a:extLst>
              <a:ext uri="{FF2B5EF4-FFF2-40B4-BE49-F238E27FC236}">
                <a16:creationId xmlns:a16="http://schemas.microsoft.com/office/drawing/2014/main" id="{95A42592-07E0-4C92-B2C2-C53AB7AB5E28}"/>
              </a:ext>
            </a:extLst>
          </p:cNvPr>
          <p:cNvPicPr>
            <a:picLocks noChangeAspect="1"/>
          </p:cNvPicPr>
          <p:nvPr/>
        </p:nvPicPr>
        <p:blipFill>
          <a:blip r:embed="rId4"/>
          <a:stretch>
            <a:fillRect/>
          </a:stretch>
        </p:blipFill>
        <p:spPr>
          <a:xfrm>
            <a:off x="1299811" y="2411491"/>
            <a:ext cx="2321694" cy="2629616"/>
          </a:xfrm>
          <a:prstGeom prst="rect">
            <a:avLst/>
          </a:prstGeom>
        </p:spPr>
      </p:pic>
      <p:sp>
        <p:nvSpPr>
          <p:cNvPr id="12" name="TextBox 11">
            <a:extLst>
              <a:ext uri="{FF2B5EF4-FFF2-40B4-BE49-F238E27FC236}">
                <a16:creationId xmlns:a16="http://schemas.microsoft.com/office/drawing/2014/main" id="{3C5B3030-4DFA-46F4-B52D-8E1C319EF337}"/>
              </a:ext>
            </a:extLst>
          </p:cNvPr>
          <p:cNvSpPr txBox="1"/>
          <p:nvPr/>
        </p:nvSpPr>
        <p:spPr>
          <a:xfrm>
            <a:off x="3531986" y="4810275"/>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273751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922" y="1131195"/>
            <a:ext cx="4510751" cy="2881110"/>
          </a:xfrm>
        </p:spPr>
        <p:txBody>
          <a:bodyPr>
            <a:normAutofit/>
          </a:bodyPr>
          <a:lstStyle/>
          <a:p>
            <a:pPr>
              <a:buFont typeface="Courier New" panose="02070309020205020404" pitchFamily="49" charset="0"/>
              <a:buChar char="o"/>
            </a:pPr>
            <a:r>
              <a:rPr lang="en-US" sz="2800" dirty="0"/>
              <a:t>Continuous</a:t>
            </a:r>
          </a:p>
          <a:p>
            <a:pPr lvl="1">
              <a:buFont typeface="Wingdings" panose="05000000000000000000" pitchFamily="2" charset="2"/>
              <a:buChar char="ü"/>
            </a:pPr>
            <a:r>
              <a:rPr lang="en-US" sz="2800" dirty="0"/>
              <a:t>Cells hold a value</a:t>
            </a:r>
          </a:p>
          <a:p>
            <a:pPr lvl="1">
              <a:buFont typeface="Wingdings" panose="05000000000000000000" pitchFamily="2" charset="2"/>
              <a:buChar char="ü"/>
            </a:pPr>
            <a:r>
              <a:rPr lang="en-US" sz="2800" dirty="0"/>
              <a:t>Value is a true quantity (numeric data), not a place holder</a:t>
            </a:r>
          </a:p>
        </p:txBody>
      </p:sp>
      <p:sp>
        <p:nvSpPr>
          <p:cNvPr id="2" name="Slide Number Placeholder 1">
            <a:extLst>
              <a:ext uri="{FF2B5EF4-FFF2-40B4-BE49-F238E27FC236}">
                <a16:creationId xmlns:a16="http://schemas.microsoft.com/office/drawing/2014/main" id="{C507364C-3E3E-464B-948A-A8616DD13816}"/>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pic>
        <p:nvPicPr>
          <p:cNvPr id="4" name="Picture 3" descr="Raster data"/>
          <p:cNvPicPr>
            <a:picLocks noChangeAspect="1"/>
          </p:cNvPicPr>
          <p:nvPr/>
        </p:nvPicPr>
        <p:blipFill>
          <a:blip r:embed="rId3"/>
          <a:stretch>
            <a:fillRect/>
          </a:stretch>
        </p:blipFill>
        <p:spPr>
          <a:xfrm>
            <a:off x="4968787" y="1547160"/>
            <a:ext cx="2937119" cy="2932559"/>
          </a:xfrm>
          <a:prstGeom prst="rect">
            <a:avLst/>
          </a:prstGeom>
        </p:spPr>
      </p:pic>
      <p:sp>
        <p:nvSpPr>
          <p:cNvPr id="7" name="Title 1">
            <a:extLst>
              <a:ext uri="{FF2B5EF4-FFF2-40B4-BE49-F238E27FC236}">
                <a16:creationId xmlns:a16="http://schemas.microsoft.com/office/drawing/2014/main" id="{ECC0844D-9BDA-4623-9BD5-D34F0F0CFD20}"/>
              </a:ext>
            </a:extLst>
          </p:cNvPr>
          <p:cNvSpPr txBox="1">
            <a:spLocks/>
          </p:cNvSpPr>
          <p:nvPr/>
        </p:nvSpPr>
        <p:spPr>
          <a:xfrm>
            <a:off x="301413" y="193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8" name="Straight Connector 7">
            <a:extLst>
              <a:ext uri="{FF2B5EF4-FFF2-40B4-BE49-F238E27FC236}">
                <a16:creationId xmlns:a16="http://schemas.microsoft.com/office/drawing/2014/main" id="{18242AEF-3706-4499-A069-E2434CE9D56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17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7747C-1BD2-9157-E499-3F32C07B5609}"/>
              </a:ext>
            </a:extLst>
          </p:cNvPr>
          <p:cNvSpPr>
            <a:spLocks noGrp="1"/>
          </p:cNvSpPr>
          <p:nvPr>
            <p:ph type="title"/>
          </p:nvPr>
        </p:nvSpPr>
        <p:spPr>
          <a:xfrm>
            <a:off x="392305" y="526617"/>
            <a:ext cx="7444991" cy="626322"/>
          </a:xfrm>
        </p:spPr>
        <p:txBody>
          <a:bodyPr>
            <a:normAutofit/>
          </a:bodyPr>
          <a:lstStyle/>
          <a:p>
            <a:pPr defTabSz="411480"/>
            <a:r>
              <a:rPr lang="en-US" sz="3200" dirty="0">
                <a:solidFill>
                  <a:srgbClr val="7030A0"/>
                </a:solidFill>
              </a:rPr>
              <a:t>Digital Elevation Model - DEM</a:t>
            </a:r>
          </a:p>
        </p:txBody>
      </p:sp>
      <p:pic>
        <p:nvPicPr>
          <p:cNvPr id="6" name="Content Placeholder 5">
            <a:extLst>
              <a:ext uri="{FF2B5EF4-FFF2-40B4-BE49-F238E27FC236}">
                <a16:creationId xmlns:a16="http://schemas.microsoft.com/office/drawing/2014/main" id="{ECAB799E-4C62-8409-A9BC-CC8BF53AD4BB}"/>
              </a:ext>
            </a:extLst>
          </p:cNvPr>
          <p:cNvPicPr>
            <a:picLocks noGrp="1" noChangeAspect="1"/>
          </p:cNvPicPr>
          <p:nvPr>
            <p:ph idx="1"/>
          </p:nvPr>
        </p:nvPicPr>
        <p:blipFill>
          <a:blip r:embed="rId2"/>
          <a:stretch>
            <a:fillRect/>
          </a:stretch>
        </p:blipFill>
        <p:spPr>
          <a:xfrm>
            <a:off x="4085053" y="1447137"/>
            <a:ext cx="4006350" cy="3169746"/>
          </a:xfrm>
          <a:prstGeom prst="rect">
            <a:avLst/>
          </a:prstGeom>
        </p:spPr>
      </p:pic>
      <p:sp>
        <p:nvSpPr>
          <p:cNvPr id="4" name="Slide Number Placeholder 3">
            <a:extLst>
              <a:ext uri="{FF2B5EF4-FFF2-40B4-BE49-F238E27FC236}">
                <a16:creationId xmlns:a16="http://schemas.microsoft.com/office/drawing/2014/main" id="{50DFE1A2-0F0B-041E-C603-330FD81DE9BB}"/>
              </a:ext>
            </a:extLst>
          </p:cNvPr>
          <p:cNvSpPr>
            <a:spLocks noGrp="1"/>
          </p:cNvSpPr>
          <p:nvPr>
            <p:ph type="sldNum" sz="quarter" idx="12"/>
          </p:nvPr>
        </p:nvSpPr>
        <p:spPr/>
        <p:txBody>
          <a:bodyPr/>
          <a:lstStyle/>
          <a:p>
            <a:fld id="{127DDC20-79C9-9647-820E-6D40A3D210C3}" type="slidenum">
              <a:rPr lang="en-US" smtClean="0"/>
              <a:pPr/>
              <a:t>28</a:t>
            </a:fld>
            <a:endParaRPr lang="en-US"/>
          </a:p>
        </p:txBody>
      </p:sp>
      <p:sp>
        <p:nvSpPr>
          <p:cNvPr id="8" name="TextBox 7">
            <a:extLst>
              <a:ext uri="{FF2B5EF4-FFF2-40B4-BE49-F238E27FC236}">
                <a16:creationId xmlns:a16="http://schemas.microsoft.com/office/drawing/2014/main" id="{BD206178-C471-87D6-1B22-955C43779492}"/>
              </a:ext>
            </a:extLst>
          </p:cNvPr>
          <p:cNvSpPr txBox="1"/>
          <p:nvPr/>
        </p:nvSpPr>
        <p:spPr>
          <a:xfrm>
            <a:off x="138197" y="1247248"/>
            <a:ext cx="4114800" cy="1200329"/>
          </a:xfrm>
          <a:prstGeom prst="rect">
            <a:avLst/>
          </a:prstGeom>
          <a:noFill/>
        </p:spPr>
        <p:txBody>
          <a:bodyPr wrap="square">
            <a:spAutoFit/>
          </a:bodyPr>
          <a:lstStyle/>
          <a:p>
            <a:r>
              <a:rPr lang="en-US" sz="2400" b="0" i="0" dirty="0">
                <a:solidFill>
                  <a:srgbClr val="000000"/>
                </a:solidFill>
                <a:effectLst/>
                <a:latin typeface="-apple-system"/>
              </a:rPr>
              <a:t>- where each pixel contains the </a:t>
            </a:r>
            <a:r>
              <a:rPr lang="en-US" sz="2400" b="1" i="1" dirty="0">
                <a:solidFill>
                  <a:srgbClr val="000000"/>
                </a:solidFill>
                <a:effectLst/>
                <a:latin typeface="-apple-system"/>
              </a:rPr>
              <a:t>average</a:t>
            </a:r>
            <a:r>
              <a:rPr lang="en-US" sz="2400" b="0" i="0" dirty="0">
                <a:solidFill>
                  <a:srgbClr val="000000"/>
                </a:solidFill>
                <a:effectLst/>
                <a:latin typeface="-apple-system"/>
              </a:rPr>
              <a:t> elevation of the land the pixel covers. </a:t>
            </a:r>
            <a:endParaRPr lang="en-US" sz="2400" dirty="0"/>
          </a:p>
        </p:txBody>
      </p:sp>
      <p:sp>
        <p:nvSpPr>
          <p:cNvPr id="10" name="TextBox 9">
            <a:extLst>
              <a:ext uri="{FF2B5EF4-FFF2-40B4-BE49-F238E27FC236}">
                <a16:creationId xmlns:a16="http://schemas.microsoft.com/office/drawing/2014/main" id="{A368A5FA-7942-389A-A129-13CF6B6AA0A0}"/>
              </a:ext>
            </a:extLst>
          </p:cNvPr>
          <p:cNvSpPr txBox="1"/>
          <p:nvPr/>
        </p:nvSpPr>
        <p:spPr>
          <a:xfrm>
            <a:off x="261953" y="3346086"/>
            <a:ext cx="3699344" cy="646331"/>
          </a:xfrm>
          <a:prstGeom prst="rect">
            <a:avLst/>
          </a:prstGeom>
          <a:noFill/>
        </p:spPr>
        <p:txBody>
          <a:bodyPr wrap="square">
            <a:spAutoFit/>
          </a:bodyPr>
          <a:lstStyle/>
          <a:p>
            <a:r>
              <a:rPr lang="en-US" dirty="0"/>
              <a:t>Why do you think we say “average elevation” instead of just “elevation”?</a:t>
            </a:r>
          </a:p>
        </p:txBody>
      </p:sp>
      <p:sp>
        <p:nvSpPr>
          <p:cNvPr id="11" name="TextBox 10">
            <a:extLst>
              <a:ext uri="{FF2B5EF4-FFF2-40B4-BE49-F238E27FC236}">
                <a16:creationId xmlns:a16="http://schemas.microsoft.com/office/drawing/2014/main" id="{659E4515-9712-649F-7773-B2CDFEFE4E07}"/>
              </a:ext>
            </a:extLst>
          </p:cNvPr>
          <p:cNvSpPr txBox="1"/>
          <p:nvPr/>
        </p:nvSpPr>
        <p:spPr>
          <a:xfrm>
            <a:off x="261953" y="2761311"/>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1488747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Image showing sensor processes">
            <a:extLst>
              <a:ext uri="{FF2B5EF4-FFF2-40B4-BE49-F238E27FC236}">
                <a16:creationId xmlns:a16="http://schemas.microsoft.com/office/drawing/2014/main" id="{EAB776C9-2D19-4F4D-97B5-7E2B425D8B93}"/>
              </a:ext>
            </a:extLst>
          </p:cNvPr>
          <p:cNvPicPr>
            <a:picLocks noChangeAspect="1"/>
          </p:cNvPicPr>
          <p:nvPr/>
        </p:nvPicPr>
        <p:blipFill>
          <a:blip r:embed="rId3"/>
          <a:stretch>
            <a:fillRect/>
          </a:stretch>
        </p:blipFill>
        <p:spPr>
          <a:xfrm>
            <a:off x="497297" y="1846316"/>
            <a:ext cx="7590016" cy="3334342"/>
          </a:xfrm>
          <a:prstGeom prst="rect">
            <a:avLst/>
          </a:prstGeom>
        </p:spPr>
      </p:pic>
      <p:sp>
        <p:nvSpPr>
          <p:cNvPr id="3" name="Content Placeholder 2"/>
          <p:cNvSpPr>
            <a:spLocks noGrp="1"/>
          </p:cNvSpPr>
          <p:nvPr>
            <p:ph idx="1"/>
          </p:nvPr>
        </p:nvSpPr>
        <p:spPr>
          <a:xfrm>
            <a:off x="140005" y="1093641"/>
            <a:ext cx="8055728" cy="536373"/>
          </a:xfrm>
        </p:spPr>
        <p:txBody>
          <a:bodyPr>
            <a:noAutofit/>
          </a:bodyPr>
          <a:lstStyle/>
          <a:p>
            <a:pPr>
              <a:buFont typeface="Courier New" panose="02070309020205020404" pitchFamily="49" charset="0"/>
              <a:buChar char="o"/>
            </a:pPr>
            <a:r>
              <a:rPr lang="en-US" sz="3200" dirty="0"/>
              <a:t>Remote sensing imagery</a:t>
            </a:r>
          </a:p>
        </p:txBody>
      </p: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253705" y="236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71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B498-3E43-9A5A-A476-4CDD196C6EE5}"/>
              </a:ext>
            </a:extLst>
          </p:cNvPr>
          <p:cNvSpPr>
            <a:spLocks noGrp="1"/>
          </p:cNvSpPr>
          <p:nvPr>
            <p:ph type="title"/>
          </p:nvPr>
        </p:nvSpPr>
        <p:spPr>
          <a:xfrm>
            <a:off x="388727" y="480491"/>
            <a:ext cx="7444991" cy="396325"/>
          </a:xfrm>
        </p:spPr>
        <p:txBody>
          <a:bodyPr/>
          <a:lstStyle/>
          <a:p>
            <a:r>
              <a:rPr lang="en-US" altLang="zh-CN" dirty="0"/>
              <a:t>RASTER DATA COLLECTION</a:t>
            </a:r>
            <a:endParaRPr lang="zh-CN" altLang="en-US" dirty="0"/>
          </a:p>
        </p:txBody>
      </p:sp>
      <p:pic>
        <p:nvPicPr>
          <p:cNvPr id="1026" name="Picture 2" descr="What is Remote Sensing ">
            <a:extLst>
              <a:ext uri="{FF2B5EF4-FFF2-40B4-BE49-F238E27FC236}">
                <a16:creationId xmlns:a16="http://schemas.microsoft.com/office/drawing/2014/main" id="{C56B6F97-3B6B-022F-1860-EA09A740E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192" y="1358409"/>
            <a:ext cx="2506306" cy="15962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at is Remote Sensing">
            <a:extLst>
              <a:ext uri="{FF2B5EF4-FFF2-40B4-BE49-F238E27FC236}">
                <a16:creationId xmlns:a16="http://schemas.microsoft.com/office/drawing/2014/main" id="{A0415834-6C64-D6C8-97C9-20AEA89DC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3018" y="1358408"/>
            <a:ext cx="2561752" cy="159624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ixed-Wing vs Multirotor: Which Drone Should You Choose for Aerial  Surveying?">
            <a:extLst>
              <a:ext uri="{FF2B5EF4-FFF2-40B4-BE49-F238E27FC236}">
                <a16:creationId xmlns:a16="http://schemas.microsoft.com/office/drawing/2014/main" id="{EBC6527A-551C-C893-7879-923FD15110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624" y="3666304"/>
            <a:ext cx="2381441" cy="134154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379A5C85-25B9-FACA-7E02-E433A9B47A08}"/>
              </a:ext>
            </a:extLst>
          </p:cNvPr>
          <p:cNvSpPr/>
          <p:nvPr/>
        </p:nvSpPr>
        <p:spPr>
          <a:xfrm>
            <a:off x="889575" y="945317"/>
            <a:ext cx="1826193" cy="2598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08610"/>
            <a:r>
              <a:rPr lang="en-US" altLang="zh-CN" sz="1215" dirty="0">
                <a:solidFill>
                  <a:srgbClr val="FFFFFF"/>
                </a:solidFill>
                <a:latin typeface="Calibri"/>
              </a:rPr>
              <a:t>Satellite imagery: passive</a:t>
            </a:r>
            <a:endParaRPr lang="zh-CN" altLang="en-US" sz="1215" dirty="0">
              <a:solidFill>
                <a:srgbClr val="FFFFFF"/>
              </a:solidFill>
              <a:latin typeface="Calibri"/>
            </a:endParaRPr>
          </a:p>
        </p:txBody>
      </p:sp>
      <p:sp>
        <p:nvSpPr>
          <p:cNvPr id="7" name="Rectangle: Rounded Corners 6">
            <a:extLst>
              <a:ext uri="{FF2B5EF4-FFF2-40B4-BE49-F238E27FC236}">
                <a16:creationId xmlns:a16="http://schemas.microsoft.com/office/drawing/2014/main" id="{E8EE04CF-0A89-0834-BFDE-6C0421A77081}"/>
              </a:ext>
            </a:extLst>
          </p:cNvPr>
          <p:cNvSpPr/>
          <p:nvPr/>
        </p:nvSpPr>
        <p:spPr>
          <a:xfrm>
            <a:off x="3687641" y="960759"/>
            <a:ext cx="1826193" cy="2598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08610"/>
            <a:r>
              <a:rPr lang="en-US" altLang="zh-CN" sz="1215" dirty="0">
                <a:solidFill>
                  <a:srgbClr val="FFFFFF"/>
                </a:solidFill>
                <a:latin typeface="Calibri"/>
              </a:rPr>
              <a:t>Satellite imagery: active</a:t>
            </a:r>
            <a:endParaRPr lang="zh-CN" altLang="en-US" sz="1215" dirty="0">
              <a:solidFill>
                <a:srgbClr val="FFFFFF"/>
              </a:solidFill>
              <a:latin typeface="Calibri"/>
            </a:endParaRPr>
          </a:p>
        </p:txBody>
      </p:sp>
      <p:pic>
        <p:nvPicPr>
          <p:cNvPr id="3" name="Picture 2" descr="Active sensor (left), passive sensor (right)">
            <a:extLst>
              <a:ext uri="{FF2B5EF4-FFF2-40B4-BE49-F238E27FC236}">
                <a16:creationId xmlns:a16="http://schemas.microsoft.com/office/drawing/2014/main" id="{5245D675-7E25-7531-2AA7-F878682760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0943" y="1075258"/>
            <a:ext cx="2178657" cy="217865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CE5A8E1E-B2CC-B3E3-4F2F-A04A52B98EAE}"/>
              </a:ext>
            </a:extLst>
          </p:cNvPr>
          <p:cNvSpPr/>
          <p:nvPr/>
        </p:nvSpPr>
        <p:spPr>
          <a:xfrm>
            <a:off x="889574" y="3306306"/>
            <a:ext cx="1826193" cy="2598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08610"/>
            <a:r>
              <a:rPr lang="en-US" altLang="zh-CN" sz="1215" dirty="0">
                <a:solidFill>
                  <a:srgbClr val="FFFFFF"/>
                </a:solidFill>
                <a:latin typeface="Calibri"/>
              </a:rPr>
              <a:t>Drone</a:t>
            </a:r>
            <a:endParaRPr lang="zh-CN" altLang="en-US" sz="1215" dirty="0">
              <a:solidFill>
                <a:srgbClr val="FFFFFF"/>
              </a:solidFill>
              <a:latin typeface="Calibri"/>
            </a:endParaRPr>
          </a:p>
        </p:txBody>
      </p:sp>
    </p:spTree>
    <p:extLst>
      <p:ext uri="{BB962C8B-B14F-4D97-AF65-F5344CB8AC3E}">
        <p14:creationId xmlns:p14="http://schemas.microsoft.com/office/powerpoint/2010/main" val="1725254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3082-1033-06F3-7616-4462F1E4B865}"/>
              </a:ext>
            </a:extLst>
          </p:cNvPr>
          <p:cNvSpPr>
            <a:spLocks noGrp="1"/>
          </p:cNvSpPr>
          <p:nvPr>
            <p:ph type="title"/>
          </p:nvPr>
        </p:nvSpPr>
        <p:spPr>
          <a:xfrm>
            <a:off x="392305" y="526617"/>
            <a:ext cx="7444991" cy="554760"/>
          </a:xfrm>
        </p:spPr>
        <p:txBody>
          <a:bodyPr>
            <a:normAutofit fontScale="90000"/>
          </a:bodyPr>
          <a:lstStyle/>
          <a:p>
            <a:pPr defTabSz="411480"/>
            <a:r>
              <a:rPr lang="en-US" sz="3200" dirty="0">
                <a:solidFill>
                  <a:srgbClr val="7030A0"/>
                </a:solidFill>
              </a:rPr>
              <a:t>More Infor about satellite</a:t>
            </a:r>
          </a:p>
        </p:txBody>
      </p:sp>
      <p:pic>
        <p:nvPicPr>
          <p:cNvPr id="6" name="Content Placeholder 5">
            <a:hlinkClick r:id="rId2"/>
            <a:extLst>
              <a:ext uri="{FF2B5EF4-FFF2-40B4-BE49-F238E27FC236}">
                <a16:creationId xmlns:a16="http://schemas.microsoft.com/office/drawing/2014/main" id="{09585F27-EE31-5731-9B8C-FB525E7882D3}"/>
              </a:ext>
            </a:extLst>
          </p:cNvPr>
          <p:cNvPicPr>
            <a:picLocks noGrp="1" noChangeAspect="1"/>
          </p:cNvPicPr>
          <p:nvPr>
            <p:ph idx="1"/>
          </p:nvPr>
        </p:nvPicPr>
        <p:blipFill>
          <a:blip r:embed="rId3"/>
          <a:stretch>
            <a:fillRect/>
          </a:stretch>
        </p:blipFill>
        <p:spPr>
          <a:xfrm>
            <a:off x="2024673" y="1163715"/>
            <a:ext cx="4964524" cy="3325683"/>
          </a:xfrm>
          <a:prstGeom prst="rect">
            <a:avLst/>
          </a:prstGeom>
        </p:spPr>
      </p:pic>
      <p:sp>
        <p:nvSpPr>
          <p:cNvPr id="4" name="Slide Number Placeholder 3">
            <a:extLst>
              <a:ext uri="{FF2B5EF4-FFF2-40B4-BE49-F238E27FC236}">
                <a16:creationId xmlns:a16="http://schemas.microsoft.com/office/drawing/2014/main" id="{7C5D6707-875D-873D-5918-19E9C2928EDC}"/>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7" name="TextBox 6">
            <a:extLst>
              <a:ext uri="{FF2B5EF4-FFF2-40B4-BE49-F238E27FC236}">
                <a16:creationId xmlns:a16="http://schemas.microsoft.com/office/drawing/2014/main" id="{30693B24-800E-A4BA-024A-5F79E4DCB1EE}"/>
              </a:ext>
            </a:extLst>
          </p:cNvPr>
          <p:cNvSpPr txBox="1"/>
          <p:nvPr/>
        </p:nvSpPr>
        <p:spPr>
          <a:xfrm>
            <a:off x="580446" y="4585526"/>
            <a:ext cx="5995283" cy="369332"/>
          </a:xfrm>
          <a:prstGeom prst="rect">
            <a:avLst/>
          </a:prstGeom>
          <a:noFill/>
        </p:spPr>
        <p:txBody>
          <a:bodyPr wrap="square" rtlCol="0">
            <a:spAutoFit/>
          </a:bodyPr>
          <a:lstStyle/>
          <a:p>
            <a:r>
              <a:rPr lang="en-US" b="1" dirty="0"/>
              <a:t>What if every satellite suddenly disappeared?</a:t>
            </a:r>
          </a:p>
        </p:txBody>
      </p:sp>
    </p:spTree>
    <p:extLst>
      <p:ext uri="{BB962C8B-B14F-4D97-AF65-F5344CB8AC3E}">
        <p14:creationId xmlns:p14="http://schemas.microsoft.com/office/powerpoint/2010/main" val="34331115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ster data"/>
          <p:cNvPicPr>
            <a:picLocks noChangeAspect="1"/>
          </p:cNvPicPr>
          <p:nvPr/>
        </p:nvPicPr>
        <p:blipFill>
          <a:blip r:embed="rId3"/>
          <a:stretch>
            <a:fillRect/>
          </a:stretch>
        </p:blipFill>
        <p:spPr>
          <a:xfrm>
            <a:off x="3145321" y="979575"/>
            <a:ext cx="4183398" cy="4108385"/>
          </a:xfrm>
          <a:prstGeom prst="rect">
            <a:avLst/>
          </a:prstGeom>
        </p:spPr>
      </p:pic>
      <p:sp>
        <p:nvSpPr>
          <p:cNvPr id="6" name="Title 1">
            <a:extLst>
              <a:ext uri="{FF2B5EF4-FFF2-40B4-BE49-F238E27FC236}">
                <a16:creationId xmlns:a16="http://schemas.microsoft.com/office/drawing/2014/main" id="{FFDDA386-4BED-47A4-994D-F6D1CB18377D}"/>
              </a:ext>
            </a:extLst>
          </p:cNvPr>
          <p:cNvSpPr txBox="1">
            <a:spLocks/>
          </p:cNvSpPr>
          <p:nvPr/>
        </p:nvSpPr>
        <p:spPr>
          <a:xfrm>
            <a:off x="285511" y="2200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D316141-7AA0-405F-B4E4-8B372F1D99F8}"/>
              </a:ext>
            </a:extLst>
          </p:cNvPr>
          <p:cNvSpPr>
            <a:spLocks noGrp="1"/>
          </p:cNvSpPr>
          <p:nvPr>
            <p:ph idx="1"/>
          </p:nvPr>
        </p:nvSpPr>
        <p:spPr>
          <a:xfrm>
            <a:off x="-1" y="1077312"/>
            <a:ext cx="3641271" cy="2881110"/>
          </a:xfrm>
        </p:spPr>
        <p:txBody>
          <a:bodyPr>
            <a:normAutofit/>
          </a:bodyPr>
          <a:lstStyle/>
          <a:p>
            <a:pPr>
              <a:buFont typeface="Courier New" panose="02070309020205020404" pitchFamily="49" charset="0"/>
              <a:buChar char="o"/>
            </a:pPr>
            <a:r>
              <a:rPr lang="en-US" sz="2000" dirty="0"/>
              <a:t>Cell size (spatial resolution)</a:t>
            </a:r>
          </a:p>
          <a:p>
            <a:pPr lvl="1">
              <a:buFont typeface="Wingdings" panose="05000000000000000000" pitchFamily="2" charset="2"/>
              <a:buChar char="ü"/>
            </a:pPr>
            <a:r>
              <a:rPr lang="en-US" sz="2000" dirty="0"/>
              <a:t>Red: 100 mx100 m (lower resolution)</a:t>
            </a:r>
          </a:p>
          <a:p>
            <a:pPr lvl="1">
              <a:buFont typeface="Wingdings" panose="05000000000000000000" pitchFamily="2" charset="2"/>
              <a:buChar char="ü"/>
            </a:pPr>
            <a:r>
              <a:rPr lang="en-US" sz="2000" dirty="0"/>
              <a:t>Green: 50 mx50 m (higher resolution)</a:t>
            </a:r>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32</a:t>
            </a:fld>
            <a:endParaRPr lang="en-US"/>
          </a:p>
        </p:txBody>
      </p:sp>
    </p:spTree>
    <p:extLst>
      <p:ext uri="{BB962C8B-B14F-4D97-AF65-F5344CB8AC3E}">
        <p14:creationId xmlns:p14="http://schemas.microsoft.com/office/powerpoint/2010/main" val="291434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90EC-5039-812C-992B-CD95E0D4F8A0}"/>
              </a:ext>
            </a:extLst>
          </p:cNvPr>
          <p:cNvSpPr>
            <a:spLocks noGrp="1"/>
          </p:cNvSpPr>
          <p:nvPr>
            <p:ph type="title"/>
          </p:nvPr>
        </p:nvSpPr>
        <p:spPr>
          <a:xfrm>
            <a:off x="392306" y="399396"/>
            <a:ext cx="7444991" cy="472988"/>
          </a:xfrm>
        </p:spPr>
        <p:txBody>
          <a:bodyPr>
            <a:normAutofit fontScale="90000"/>
          </a:bodyPr>
          <a:lstStyle/>
          <a:p>
            <a:pPr defTabSz="411480"/>
            <a:r>
              <a:rPr lang="en-US" sz="3200" dirty="0">
                <a:solidFill>
                  <a:srgbClr val="7030A0"/>
                </a:solidFill>
              </a:rPr>
              <a:t>Spatial resolution</a:t>
            </a:r>
          </a:p>
        </p:txBody>
      </p:sp>
      <p:pic>
        <p:nvPicPr>
          <p:cNvPr id="6" name="Content Placeholder 5">
            <a:extLst>
              <a:ext uri="{FF2B5EF4-FFF2-40B4-BE49-F238E27FC236}">
                <a16:creationId xmlns:a16="http://schemas.microsoft.com/office/drawing/2014/main" id="{2FF18499-72EA-B402-C2D3-67F7D4F087B3}"/>
              </a:ext>
            </a:extLst>
          </p:cNvPr>
          <p:cNvPicPr>
            <a:picLocks noGrp="1" noChangeAspect="1"/>
          </p:cNvPicPr>
          <p:nvPr>
            <p:ph idx="1"/>
          </p:nvPr>
        </p:nvPicPr>
        <p:blipFill>
          <a:blip r:embed="rId2"/>
          <a:stretch>
            <a:fillRect/>
          </a:stretch>
        </p:blipFill>
        <p:spPr>
          <a:xfrm>
            <a:off x="940626" y="776967"/>
            <a:ext cx="6813510" cy="3047609"/>
          </a:xfrm>
          <a:prstGeom prst="rect">
            <a:avLst/>
          </a:prstGeom>
        </p:spPr>
      </p:pic>
      <p:sp>
        <p:nvSpPr>
          <p:cNvPr id="4" name="Slide Number Placeholder 3">
            <a:extLst>
              <a:ext uri="{FF2B5EF4-FFF2-40B4-BE49-F238E27FC236}">
                <a16:creationId xmlns:a16="http://schemas.microsoft.com/office/drawing/2014/main" id="{9A3F1E21-F1D8-FDDB-F185-F468B083C896}"/>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8" name="TextBox 7">
            <a:extLst>
              <a:ext uri="{FF2B5EF4-FFF2-40B4-BE49-F238E27FC236}">
                <a16:creationId xmlns:a16="http://schemas.microsoft.com/office/drawing/2014/main" id="{0E12AF4D-094B-8FB6-F96B-5080A04A9349}"/>
              </a:ext>
            </a:extLst>
          </p:cNvPr>
          <p:cNvSpPr txBox="1"/>
          <p:nvPr/>
        </p:nvSpPr>
        <p:spPr>
          <a:xfrm>
            <a:off x="979196" y="3824576"/>
            <a:ext cx="6271207" cy="707886"/>
          </a:xfrm>
          <a:prstGeom prst="rect">
            <a:avLst/>
          </a:prstGeom>
          <a:noFill/>
        </p:spPr>
        <p:txBody>
          <a:bodyPr wrap="square">
            <a:spAutoFit/>
          </a:bodyPr>
          <a:lstStyle/>
          <a:p>
            <a:pPr marL="285750" indent="-285750">
              <a:buFont typeface="Wingdings" panose="05000000000000000000" pitchFamily="2" charset="2"/>
              <a:buChar char="Ø"/>
            </a:pPr>
            <a:r>
              <a:rPr lang="en-US" sz="2000" dirty="0">
                <a:solidFill>
                  <a:srgbClr val="4C4C4C"/>
                </a:solidFill>
                <a:latin typeface="Avenir Next W01"/>
              </a:rPr>
              <a:t>H</a:t>
            </a:r>
            <a:r>
              <a:rPr lang="en-US" sz="2000" b="0" i="0" dirty="0">
                <a:solidFill>
                  <a:srgbClr val="4C4C4C"/>
                </a:solidFill>
                <a:effectLst/>
                <a:latin typeface="Avenir Next W01"/>
              </a:rPr>
              <a:t>igher spatial resolution:</a:t>
            </a:r>
          </a:p>
          <a:p>
            <a:pPr marL="742950" lvl="1" indent="-285750">
              <a:buFont typeface="Wingdings" panose="05000000000000000000" pitchFamily="2" charset="2"/>
              <a:buChar char="Ø"/>
            </a:pPr>
            <a:r>
              <a:rPr lang="en-US" sz="2000" dirty="0">
                <a:solidFill>
                  <a:srgbClr val="4C4C4C"/>
                </a:solidFill>
                <a:latin typeface="Avenir Next W01"/>
              </a:rPr>
              <a:t>R</a:t>
            </a:r>
            <a:r>
              <a:rPr lang="en-US" sz="2000" b="0" i="0" dirty="0">
                <a:solidFill>
                  <a:srgbClr val="4C4C4C"/>
                </a:solidFill>
                <a:effectLst/>
                <a:latin typeface="Avenir Next W01"/>
              </a:rPr>
              <a:t>esolve and analyze smaller ground objects. </a:t>
            </a:r>
            <a:endParaRPr lang="en-US" sz="2000" dirty="0"/>
          </a:p>
        </p:txBody>
      </p:sp>
    </p:spTree>
    <p:extLst>
      <p:ext uri="{BB962C8B-B14F-4D97-AF65-F5344CB8AC3E}">
        <p14:creationId xmlns:p14="http://schemas.microsoft.com/office/powerpoint/2010/main" val="1818178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9E5E02D-76E5-4EF7-9438-C2A27A6FA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endParaRPr lang="en-US" sz="1215">
              <a:solidFill>
                <a:srgbClr val="FFFFFF"/>
              </a:solidFill>
              <a:latin typeface="Calibri"/>
            </a:endParaRPr>
          </a:p>
        </p:txBody>
      </p:sp>
      <p:sp>
        <p:nvSpPr>
          <p:cNvPr id="2" name="Title 1">
            <a:extLst>
              <a:ext uri="{FF2B5EF4-FFF2-40B4-BE49-F238E27FC236}">
                <a16:creationId xmlns:a16="http://schemas.microsoft.com/office/drawing/2014/main" id="{D1E968C2-0C6F-C658-BFFA-FE21BADA07DF}"/>
              </a:ext>
            </a:extLst>
          </p:cNvPr>
          <p:cNvSpPr>
            <a:spLocks noGrp="1"/>
          </p:cNvSpPr>
          <p:nvPr>
            <p:ph type="title"/>
          </p:nvPr>
        </p:nvSpPr>
        <p:spPr>
          <a:xfrm>
            <a:off x="5521375" y="758213"/>
            <a:ext cx="2313890" cy="1245516"/>
          </a:xfrm>
        </p:spPr>
        <p:txBody>
          <a:bodyPr anchor="ctr">
            <a:normAutofit fontScale="90000"/>
          </a:bodyPr>
          <a:lstStyle/>
          <a:p>
            <a:pPr defTabSz="411480"/>
            <a:r>
              <a:rPr lang="en-US" altLang="zh-CN" sz="2900" dirty="0">
                <a:solidFill>
                  <a:srgbClr val="7030A0"/>
                </a:solidFill>
              </a:rPr>
              <a:t>compare SPATIAL RESOLUTION</a:t>
            </a:r>
            <a:endParaRPr lang="zh-CN" altLang="en-US" sz="2900" dirty="0">
              <a:solidFill>
                <a:srgbClr val="7030A0"/>
              </a:solidFill>
            </a:endParaRPr>
          </a:p>
        </p:txBody>
      </p:sp>
      <p:sp>
        <p:nvSpPr>
          <p:cNvPr id="18" name="Rectangle 17">
            <a:extLst>
              <a:ext uri="{FF2B5EF4-FFF2-40B4-BE49-F238E27FC236}">
                <a16:creationId xmlns:a16="http://schemas.microsoft.com/office/drawing/2014/main" id="{77A834FE-0437-44FE-ADEC-A2C017EB3D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zh-CN" altLang="en-US" sz="1215">
              <a:solidFill>
                <a:srgbClr val="FFFFFF"/>
              </a:solidFill>
              <a:latin typeface="Calibri"/>
            </a:endParaRPr>
          </a:p>
        </p:txBody>
      </p:sp>
      <p:sp>
        <p:nvSpPr>
          <p:cNvPr id="20" name="Rectangle 19">
            <a:extLst>
              <a:ext uri="{FF2B5EF4-FFF2-40B4-BE49-F238E27FC236}">
                <a16:creationId xmlns:a16="http://schemas.microsoft.com/office/drawing/2014/main" id="{1994E8AE-D73C-406F-B179-D14DE1600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zh-CN" altLang="en-US" sz="1215">
              <a:solidFill>
                <a:srgbClr val="FFFFFF"/>
              </a:solidFill>
              <a:latin typeface="Calibri"/>
            </a:endParaRPr>
          </a:p>
        </p:txBody>
      </p:sp>
      <p:sp>
        <p:nvSpPr>
          <p:cNvPr id="22" name="Rectangle 21">
            <a:extLst>
              <a:ext uri="{FF2B5EF4-FFF2-40B4-BE49-F238E27FC236}">
                <a16:creationId xmlns:a16="http://schemas.microsoft.com/office/drawing/2014/main" id="{6B3F0E68-D78E-4FD1-AF6F-4A508E4172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zh-CN" altLang="en-US" sz="1215">
              <a:solidFill>
                <a:srgbClr val="FFFFFF"/>
              </a:solidFill>
              <a:latin typeface="Calibri"/>
            </a:endParaRPr>
          </a:p>
        </p:txBody>
      </p:sp>
      <p:pic>
        <p:nvPicPr>
          <p:cNvPr id="7" name="Picture 6">
            <a:extLst>
              <a:ext uri="{FF2B5EF4-FFF2-40B4-BE49-F238E27FC236}">
                <a16:creationId xmlns:a16="http://schemas.microsoft.com/office/drawing/2014/main" id="{0881D7C6-C411-1FE0-2B2D-483C7B9CE689}"/>
              </a:ext>
            </a:extLst>
          </p:cNvPr>
          <p:cNvPicPr>
            <a:picLocks noChangeAspect="1"/>
          </p:cNvPicPr>
          <p:nvPr/>
        </p:nvPicPr>
        <p:blipFill>
          <a:blip r:embed="rId2"/>
          <a:srcRect l="2045" r="20950" b="-3"/>
          <a:stretch/>
        </p:blipFill>
        <p:spPr>
          <a:xfrm>
            <a:off x="2852221" y="765057"/>
            <a:ext cx="2499741" cy="1860132"/>
          </a:xfrm>
          <a:prstGeom prst="rect">
            <a:avLst/>
          </a:prstGeom>
        </p:spPr>
      </p:pic>
      <p:pic>
        <p:nvPicPr>
          <p:cNvPr id="11" name="Picture 10">
            <a:extLst>
              <a:ext uri="{FF2B5EF4-FFF2-40B4-BE49-F238E27FC236}">
                <a16:creationId xmlns:a16="http://schemas.microsoft.com/office/drawing/2014/main" id="{2B959A54-5C8A-A5BF-6250-F5C38F7A56D0}"/>
              </a:ext>
            </a:extLst>
          </p:cNvPr>
          <p:cNvPicPr>
            <a:picLocks noChangeAspect="1"/>
          </p:cNvPicPr>
          <p:nvPr/>
        </p:nvPicPr>
        <p:blipFill>
          <a:blip r:embed="rId3"/>
          <a:srcRect l="4277" r="18718" b="-3"/>
          <a:stretch/>
        </p:blipFill>
        <p:spPr>
          <a:xfrm>
            <a:off x="2863235" y="2702909"/>
            <a:ext cx="2499741" cy="1907210"/>
          </a:xfrm>
          <a:prstGeom prst="rect">
            <a:avLst/>
          </a:prstGeom>
        </p:spPr>
      </p:pic>
      <p:sp>
        <p:nvSpPr>
          <p:cNvPr id="3" name="Content Placeholder 2">
            <a:extLst>
              <a:ext uri="{FF2B5EF4-FFF2-40B4-BE49-F238E27FC236}">
                <a16:creationId xmlns:a16="http://schemas.microsoft.com/office/drawing/2014/main" id="{BDB16327-D51B-2F77-AE89-C4832CDD9150}"/>
              </a:ext>
            </a:extLst>
          </p:cNvPr>
          <p:cNvSpPr>
            <a:spLocks noGrp="1"/>
          </p:cNvSpPr>
          <p:nvPr>
            <p:ph idx="1"/>
          </p:nvPr>
        </p:nvSpPr>
        <p:spPr>
          <a:xfrm>
            <a:off x="5521374" y="1677174"/>
            <a:ext cx="2313890" cy="3117963"/>
          </a:xfrm>
        </p:spPr>
        <p:txBody>
          <a:bodyPr>
            <a:noAutofit/>
          </a:bodyPr>
          <a:lstStyle/>
          <a:p>
            <a:pPr marL="0" indent="0">
              <a:buNone/>
            </a:pPr>
            <a:r>
              <a:rPr lang="en-US" sz="1800" dirty="0"/>
              <a:t>Looking at the four images (30m, 10m, 3m, 0.5m resolution):</a:t>
            </a:r>
          </a:p>
          <a:p>
            <a:r>
              <a:rPr lang="en-US" sz="1800" dirty="0"/>
              <a:t>Which resolution would you choose if you only need to see </a:t>
            </a:r>
            <a:r>
              <a:rPr lang="en-US" sz="1800" b="1" dirty="0"/>
              <a:t>main roads</a:t>
            </a:r>
            <a:r>
              <a:rPr lang="en-US" sz="1800" dirty="0"/>
              <a:t> but want </a:t>
            </a:r>
            <a:r>
              <a:rPr lang="en-US" sz="1800" b="1" dirty="0"/>
              <a:t>small file size</a:t>
            </a:r>
            <a:r>
              <a:rPr lang="en-US" sz="1800" dirty="0"/>
              <a:t>?</a:t>
            </a:r>
          </a:p>
        </p:txBody>
      </p:sp>
      <p:sp>
        <p:nvSpPr>
          <p:cNvPr id="13" name="TextBox 12">
            <a:extLst>
              <a:ext uri="{FF2B5EF4-FFF2-40B4-BE49-F238E27FC236}">
                <a16:creationId xmlns:a16="http://schemas.microsoft.com/office/drawing/2014/main" id="{154478D4-0B33-DC8B-0214-BE3CB380B87F}"/>
              </a:ext>
            </a:extLst>
          </p:cNvPr>
          <p:cNvSpPr txBox="1"/>
          <p:nvPr/>
        </p:nvSpPr>
        <p:spPr>
          <a:xfrm>
            <a:off x="2854408" y="765058"/>
            <a:ext cx="642031" cy="279307"/>
          </a:xfrm>
          <a:prstGeom prst="rect">
            <a:avLst/>
          </a:prstGeom>
          <a:noFill/>
        </p:spPr>
        <p:txBody>
          <a:bodyPr wrap="square" rtlCol="0">
            <a:spAutoFit/>
          </a:bodyPr>
          <a:lstStyle/>
          <a:p>
            <a:pPr defTabSz="308610"/>
            <a:r>
              <a:rPr lang="en-US" altLang="zh-CN" sz="1215" b="1" dirty="0">
                <a:solidFill>
                  <a:srgbClr val="000000"/>
                </a:solidFill>
                <a:latin typeface="Calibri"/>
              </a:rPr>
              <a:t>10m</a:t>
            </a:r>
            <a:endParaRPr lang="zh-CN" altLang="en-US" sz="1215" b="1" dirty="0">
              <a:solidFill>
                <a:srgbClr val="000000"/>
              </a:solidFill>
              <a:latin typeface="Calibri"/>
            </a:endParaRPr>
          </a:p>
        </p:txBody>
      </p:sp>
      <p:sp>
        <p:nvSpPr>
          <p:cNvPr id="15" name="TextBox 14">
            <a:extLst>
              <a:ext uri="{FF2B5EF4-FFF2-40B4-BE49-F238E27FC236}">
                <a16:creationId xmlns:a16="http://schemas.microsoft.com/office/drawing/2014/main" id="{0EB22002-06EC-9053-D8B8-1B9672C29974}"/>
              </a:ext>
            </a:extLst>
          </p:cNvPr>
          <p:cNvSpPr txBox="1"/>
          <p:nvPr/>
        </p:nvSpPr>
        <p:spPr>
          <a:xfrm>
            <a:off x="2894103" y="2715941"/>
            <a:ext cx="662405" cy="279307"/>
          </a:xfrm>
          <a:prstGeom prst="rect">
            <a:avLst/>
          </a:prstGeom>
          <a:noFill/>
        </p:spPr>
        <p:txBody>
          <a:bodyPr wrap="square" rtlCol="0">
            <a:spAutoFit/>
          </a:bodyPr>
          <a:lstStyle/>
          <a:p>
            <a:pPr defTabSz="308610"/>
            <a:r>
              <a:rPr lang="en-US" altLang="zh-CN" sz="1215" b="1">
                <a:solidFill>
                  <a:srgbClr val="000000"/>
                </a:solidFill>
                <a:latin typeface="Calibri"/>
              </a:rPr>
              <a:t>0.5m</a:t>
            </a:r>
            <a:endParaRPr lang="zh-CN" altLang="en-US" sz="1215" b="1" dirty="0">
              <a:solidFill>
                <a:srgbClr val="000000"/>
              </a:solidFill>
              <a:latin typeface="Calibri"/>
            </a:endParaRPr>
          </a:p>
        </p:txBody>
      </p:sp>
      <p:pic>
        <p:nvPicPr>
          <p:cNvPr id="10" name="Picture 9">
            <a:extLst>
              <a:ext uri="{FF2B5EF4-FFF2-40B4-BE49-F238E27FC236}">
                <a16:creationId xmlns:a16="http://schemas.microsoft.com/office/drawing/2014/main" id="{724FCA23-832B-2181-8AC7-49931D9D9E0A}"/>
              </a:ext>
            </a:extLst>
          </p:cNvPr>
          <p:cNvPicPr>
            <a:picLocks noChangeAspect="1"/>
          </p:cNvPicPr>
          <p:nvPr/>
        </p:nvPicPr>
        <p:blipFill>
          <a:blip r:embed="rId4"/>
          <a:stretch>
            <a:fillRect/>
          </a:stretch>
        </p:blipFill>
        <p:spPr>
          <a:xfrm>
            <a:off x="300943" y="765058"/>
            <a:ext cx="2526821" cy="1860132"/>
          </a:xfrm>
          <a:prstGeom prst="rect">
            <a:avLst/>
          </a:prstGeom>
        </p:spPr>
      </p:pic>
      <p:sp>
        <p:nvSpPr>
          <p:cNvPr id="12" name="TextBox 11">
            <a:extLst>
              <a:ext uri="{FF2B5EF4-FFF2-40B4-BE49-F238E27FC236}">
                <a16:creationId xmlns:a16="http://schemas.microsoft.com/office/drawing/2014/main" id="{1BF6CA8B-C1F7-E8E6-BF9B-F40991FD72C9}"/>
              </a:ext>
            </a:extLst>
          </p:cNvPr>
          <p:cNvSpPr txBox="1"/>
          <p:nvPr/>
        </p:nvSpPr>
        <p:spPr>
          <a:xfrm>
            <a:off x="300944" y="784339"/>
            <a:ext cx="642031" cy="279307"/>
          </a:xfrm>
          <a:prstGeom prst="rect">
            <a:avLst/>
          </a:prstGeom>
          <a:noFill/>
        </p:spPr>
        <p:txBody>
          <a:bodyPr wrap="square" rtlCol="0">
            <a:spAutoFit/>
          </a:bodyPr>
          <a:lstStyle/>
          <a:p>
            <a:pPr defTabSz="308610"/>
            <a:r>
              <a:rPr lang="en-US" altLang="zh-CN" sz="1215" b="1" dirty="0">
                <a:solidFill>
                  <a:srgbClr val="000000"/>
                </a:solidFill>
                <a:latin typeface="Calibri"/>
              </a:rPr>
              <a:t>30 m</a:t>
            </a:r>
            <a:endParaRPr lang="zh-CN" altLang="en-US" sz="1215" b="1" dirty="0">
              <a:solidFill>
                <a:srgbClr val="000000"/>
              </a:solidFill>
              <a:latin typeface="Calibri"/>
            </a:endParaRPr>
          </a:p>
        </p:txBody>
      </p:sp>
      <p:pic>
        <p:nvPicPr>
          <p:cNvPr id="6" name="Picture 5">
            <a:extLst>
              <a:ext uri="{FF2B5EF4-FFF2-40B4-BE49-F238E27FC236}">
                <a16:creationId xmlns:a16="http://schemas.microsoft.com/office/drawing/2014/main" id="{DB5D6B45-9EA0-B3A6-207B-D59C1D6825BB}"/>
              </a:ext>
            </a:extLst>
          </p:cNvPr>
          <p:cNvPicPr>
            <a:picLocks noChangeAspect="1"/>
          </p:cNvPicPr>
          <p:nvPr/>
        </p:nvPicPr>
        <p:blipFill>
          <a:blip r:embed="rId5"/>
          <a:stretch>
            <a:fillRect/>
          </a:stretch>
        </p:blipFill>
        <p:spPr>
          <a:xfrm>
            <a:off x="300943" y="2716805"/>
            <a:ext cx="2526821" cy="1907210"/>
          </a:xfrm>
          <a:prstGeom prst="rect">
            <a:avLst/>
          </a:prstGeom>
        </p:spPr>
      </p:pic>
      <p:sp>
        <p:nvSpPr>
          <p:cNvPr id="14" name="TextBox 13">
            <a:extLst>
              <a:ext uri="{FF2B5EF4-FFF2-40B4-BE49-F238E27FC236}">
                <a16:creationId xmlns:a16="http://schemas.microsoft.com/office/drawing/2014/main" id="{B0DC3BD4-A560-5DD5-C51A-CA34B9FA1C30}"/>
              </a:ext>
            </a:extLst>
          </p:cNvPr>
          <p:cNvSpPr txBox="1"/>
          <p:nvPr/>
        </p:nvSpPr>
        <p:spPr>
          <a:xfrm>
            <a:off x="316857" y="2705821"/>
            <a:ext cx="518961" cy="279307"/>
          </a:xfrm>
          <a:prstGeom prst="rect">
            <a:avLst/>
          </a:prstGeom>
          <a:noFill/>
        </p:spPr>
        <p:txBody>
          <a:bodyPr wrap="square" rtlCol="0">
            <a:spAutoFit/>
          </a:bodyPr>
          <a:lstStyle/>
          <a:p>
            <a:pPr defTabSz="308610"/>
            <a:r>
              <a:rPr lang="en-US" altLang="zh-CN" sz="1215" b="1" dirty="0">
                <a:solidFill>
                  <a:srgbClr val="000000"/>
                </a:solidFill>
                <a:latin typeface="Calibri"/>
              </a:rPr>
              <a:t>3m</a:t>
            </a:r>
            <a:endParaRPr lang="zh-CN" altLang="en-US" sz="1215" b="1" dirty="0">
              <a:solidFill>
                <a:srgbClr val="000000"/>
              </a:solidFill>
              <a:latin typeface="Calibri"/>
            </a:endParaRPr>
          </a:p>
        </p:txBody>
      </p:sp>
    </p:spTree>
    <p:extLst>
      <p:ext uri="{BB962C8B-B14F-4D97-AF65-F5344CB8AC3E}">
        <p14:creationId xmlns:p14="http://schemas.microsoft.com/office/powerpoint/2010/main" val="522853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06D67E7-07E3-4DDE-8657-A833667B44A8}"/>
              </a:ext>
            </a:extLst>
          </p:cNvPr>
          <p:cNvSpPr txBox="1">
            <a:spLocks/>
          </p:cNvSpPr>
          <p:nvPr/>
        </p:nvSpPr>
        <p:spPr>
          <a:xfrm>
            <a:off x="152400" y="2271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5" name="Straight Connector 4">
            <a:extLst>
              <a:ext uri="{FF2B5EF4-FFF2-40B4-BE49-F238E27FC236}">
                <a16:creationId xmlns:a16="http://schemas.microsoft.com/office/drawing/2014/main" id="{B420DB2B-CF0E-48EA-842A-A78C6F44576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2AE8853-0138-42CB-BEB6-269EEA26BAFD}"/>
              </a:ext>
            </a:extLst>
          </p:cNvPr>
          <p:cNvSpPr txBox="1">
            <a:spLocks/>
          </p:cNvSpPr>
          <p:nvPr/>
        </p:nvSpPr>
        <p:spPr>
          <a:xfrm>
            <a:off x="140005" y="1093641"/>
            <a:ext cx="8055728" cy="208688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Raster File Formats</a:t>
            </a:r>
          </a:p>
          <a:p>
            <a:pPr lvl="1">
              <a:buFont typeface="Wingdings" panose="05000000000000000000" pitchFamily="2" charset="2"/>
              <a:buChar char="ü"/>
            </a:pPr>
            <a:r>
              <a:rPr lang="en-US" dirty="0"/>
              <a:t>ESRI Grid</a:t>
            </a:r>
          </a:p>
          <a:p>
            <a:pPr lvl="1">
              <a:buFont typeface="Wingdings" panose="05000000000000000000" pitchFamily="2" charset="2"/>
              <a:buChar char="ü"/>
            </a:pPr>
            <a:r>
              <a:rPr lang="en-US" dirty="0" err="1"/>
              <a:t>Erdas</a:t>
            </a:r>
            <a:r>
              <a:rPr lang="en-US" dirty="0"/>
              <a:t> Imagine (.</a:t>
            </a:r>
            <a:r>
              <a:rPr lang="en-US" dirty="0" err="1"/>
              <a:t>img</a:t>
            </a:r>
            <a:r>
              <a:rPr lang="en-US" dirty="0"/>
              <a:t>)</a:t>
            </a:r>
          </a:p>
          <a:p>
            <a:pPr lvl="1">
              <a:buFont typeface="Wingdings" panose="05000000000000000000" pitchFamily="2" charset="2"/>
              <a:buChar char="ü"/>
            </a:pPr>
            <a:r>
              <a:rPr lang="en-US" dirty="0" err="1"/>
              <a:t>GeoTIFF</a:t>
            </a:r>
            <a:r>
              <a:rPr lang="en-US" dirty="0"/>
              <a:t> (.</a:t>
            </a:r>
            <a:r>
              <a:rPr lang="en-US" dirty="0" err="1"/>
              <a:t>tif</a:t>
            </a:r>
            <a:r>
              <a:rPr lang="en-US" dirty="0"/>
              <a:t>)</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E81F5CB9-1D30-4291-8A3D-9A11CA7AF3BE}"/>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421312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DDA386-4BED-47A4-994D-F6D1CB18377D}"/>
              </a:ext>
            </a:extLst>
          </p:cNvPr>
          <p:cNvSpPr txBox="1">
            <a:spLocks/>
          </p:cNvSpPr>
          <p:nvPr/>
        </p:nvSpPr>
        <p:spPr>
          <a:xfrm>
            <a:off x="328865" y="2365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D316141-7AA0-405F-B4E4-8B372F1D99F8}"/>
              </a:ext>
            </a:extLst>
          </p:cNvPr>
          <p:cNvSpPr>
            <a:spLocks noGrp="1"/>
          </p:cNvSpPr>
          <p:nvPr>
            <p:ph idx="1"/>
          </p:nvPr>
        </p:nvSpPr>
        <p:spPr>
          <a:xfrm>
            <a:off x="-1" y="1077311"/>
            <a:ext cx="3862138" cy="3429601"/>
          </a:xfrm>
        </p:spPr>
        <p:txBody>
          <a:bodyPr>
            <a:normAutofit lnSpcReduction="10000"/>
          </a:bodyPr>
          <a:lstStyle/>
          <a:p>
            <a:pPr>
              <a:buFont typeface="Courier New" panose="02070309020205020404" pitchFamily="49" charset="0"/>
              <a:buChar char="o"/>
            </a:pPr>
            <a:r>
              <a:rPr lang="en-US" sz="2400" dirty="0"/>
              <a:t>Raster cell values assignment maybe complicated</a:t>
            </a:r>
          </a:p>
          <a:p>
            <a:pPr lvl="1">
              <a:buFont typeface="Wingdings" panose="05000000000000000000" pitchFamily="2" charset="2"/>
              <a:buChar char="ü"/>
            </a:pPr>
            <a:r>
              <a:rPr lang="en-US" sz="2100" dirty="0"/>
              <a:t>When they are multiple features within a single cell</a:t>
            </a:r>
          </a:p>
          <a:p>
            <a:pPr lvl="2">
              <a:buFont typeface="Arial" panose="020B0604020202020204" pitchFamily="34" charset="0"/>
              <a:buChar char="•"/>
            </a:pPr>
            <a:r>
              <a:rPr lang="en-US" sz="1740" dirty="0"/>
              <a:t>Select a representative feature, and use the attribute from that feature</a:t>
            </a:r>
          </a:p>
          <a:p>
            <a:pPr lvl="2">
              <a:buFont typeface="Arial" panose="020B0604020202020204" pitchFamily="34" charset="0"/>
              <a:buChar char="•"/>
            </a:pPr>
            <a:r>
              <a:rPr lang="en-US" sz="1740" dirty="0"/>
              <a:t>Reduce the cell size to include only one feature in each cell</a:t>
            </a:r>
          </a:p>
          <a:p>
            <a:pPr marL="411480" lvl="1" indent="0">
              <a:buNone/>
            </a:pPr>
            <a:endParaRPr lang="en-US" sz="2100" dirty="0"/>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36</a:t>
            </a:fld>
            <a:endParaRPr lang="en-US"/>
          </a:p>
        </p:txBody>
      </p:sp>
      <p:pic>
        <p:nvPicPr>
          <p:cNvPr id="4" name="Picture 3" descr="Raster cell values assignment">
            <a:extLst>
              <a:ext uri="{FF2B5EF4-FFF2-40B4-BE49-F238E27FC236}">
                <a16:creationId xmlns:a16="http://schemas.microsoft.com/office/drawing/2014/main" id="{14EAF040-A394-4EDC-84F5-79D8C0E89F1D}"/>
              </a:ext>
            </a:extLst>
          </p:cNvPr>
          <p:cNvPicPr>
            <a:picLocks noChangeAspect="1"/>
          </p:cNvPicPr>
          <p:nvPr/>
        </p:nvPicPr>
        <p:blipFill>
          <a:blip r:embed="rId3"/>
          <a:stretch>
            <a:fillRect/>
          </a:stretch>
        </p:blipFill>
        <p:spPr>
          <a:xfrm>
            <a:off x="4152900" y="1568195"/>
            <a:ext cx="3106072" cy="2938719"/>
          </a:xfrm>
          <a:prstGeom prst="rect">
            <a:avLst/>
          </a:prstGeom>
        </p:spPr>
      </p:pic>
    </p:spTree>
    <p:extLst>
      <p:ext uri="{BB962C8B-B14F-4D97-AF65-F5344CB8AC3E}">
        <p14:creationId xmlns:p14="http://schemas.microsoft.com/office/powerpoint/2010/main" val="46934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DDA386-4BED-47A4-994D-F6D1CB18377D}"/>
              </a:ext>
            </a:extLst>
          </p:cNvPr>
          <p:cNvSpPr txBox="1">
            <a:spLocks/>
          </p:cNvSpPr>
          <p:nvPr/>
        </p:nvSpPr>
        <p:spPr>
          <a:xfrm>
            <a:off x="453506" y="20796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Content Placeholder 2">
            <a:extLst>
              <a:ext uri="{FF2B5EF4-FFF2-40B4-BE49-F238E27FC236}">
                <a16:creationId xmlns:a16="http://schemas.microsoft.com/office/drawing/2014/main" id="{0EEE6E8B-7F63-4A33-BA9F-D8CA076C1A8C}"/>
              </a:ext>
            </a:extLst>
          </p:cNvPr>
          <p:cNvSpPr>
            <a:spLocks noGrp="1"/>
          </p:cNvSpPr>
          <p:nvPr>
            <p:ph idx="1"/>
          </p:nvPr>
        </p:nvSpPr>
        <p:spPr>
          <a:xfrm>
            <a:off x="-1" y="1077311"/>
            <a:ext cx="3862138" cy="3429601"/>
          </a:xfrm>
        </p:spPr>
        <p:txBody>
          <a:bodyPr>
            <a:normAutofit/>
          </a:bodyPr>
          <a:lstStyle/>
          <a:p>
            <a:pPr>
              <a:buFont typeface="Courier New" panose="02070309020205020404" pitchFamily="49" charset="0"/>
              <a:buChar char="o"/>
            </a:pPr>
            <a:r>
              <a:rPr lang="en-US" sz="2400" dirty="0"/>
              <a:t>Raster cell values assignment maybe complicated</a:t>
            </a:r>
          </a:p>
          <a:p>
            <a:pPr lvl="1">
              <a:buFont typeface="Wingdings" panose="05000000000000000000" pitchFamily="2" charset="2"/>
              <a:buChar char="ü"/>
            </a:pPr>
            <a:r>
              <a:rPr lang="en-US" sz="2100" dirty="0"/>
              <a:t>When they are multiple features within a single cell</a:t>
            </a:r>
          </a:p>
          <a:p>
            <a:pPr lvl="2">
              <a:buFont typeface="Arial" panose="020B0604020202020204" pitchFamily="34" charset="0"/>
              <a:buChar char="•"/>
            </a:pPr>
            <a:r>
              <a:rPr lang="en-US" sz="1740" dirty="0"/>
              <a:t>Winner-take-all or majority</a:t>
            </a:r>
          </a:p>
          <a:p>
            <a:pPr lvl="2">
              <a:buFont typeface="Arial" panose="020B0604020202020204" pitchFamily="34" charset="0"/>
              <a:buChar char="•"/>
            </a:pPr>
            <a:r>
              <a:rPr lang="en-US" sz="1740" dirty="0"/>
              <a:t>User’s preference</a:t>
            </a:r>
          </a:p>
          <a:p>
            <a:pPr lvl="2">
              <a:buFont typeface="Arial" panose="020B0604020202020204" pitchFamily="34" charset="0"/>
              <a:buChar char="•"/>
            </a:pPr>
            <a:endParaRPr lang="en-US" sz="1740" dirty="0"/>
          </a:p>
          <a:p>
            <a:pPr marL="411480" lvl="1" indent="0">
              <a:buNone/>
            </a:pPr>
            <a:endParaRPr lang="en-US" sz="2100" dirty="0"/>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37</a:t>
            </a:fld>
            <a:endParaRPr lang="en-US"/>
          </a:p>
        </p:txBody>
      </p:sp>
      <p:sp>
        <p:nvSpPr>
          <p:cNvPr id="10" name="TextBox 9">
            <a:extLst>
              <a:ext uri="{FF2B5EF4-FFF2-40B4-BE49-F238E27FC236}">
                <a16:creationId xmlns:a16="http://schemas.microsoft.com/office/drawing/2014/main" id="{B814C260-89DD-41A9-B2B8-41D2AC73B478}"/>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5" name="Picture 4" descr="A picture containing shoji, indoor, tiled&#10;&#10;Description automatically generated">
            <a:extLst>
              <a:ext uri="{FF2B5EF4-FFF2-40B4-BE49-F238E27FC236}">
                <a16:creationId xmlns:a16="http://schemas.microsoft.com/office/drawing/2014/main" id="{41FF60D0-BB4F-4A62-B219-609D6D790CDE}"/>
              </a:ext>
            </a:extLst>
          </p:cNvPr>
          <p:cNvPicPr>
            <a:picLocks noChangeAspect="1"/>
          </p:cNvPicPr>
          <p:nvPr/>
        </p:nvPicPr>
        <p:blipFill>
          <a:blip r:embed="rId3"/>
          <a:stretch>
            <a:fillRect/>
          </a:stretch>
        </p:blipFill>
        <p:spPr>
          <a:xfrm>
            <a:off x="4258763" y="1463138"/>
            <a:ext cx="2832579" cy="2832579"/>
          </a:xfrm>
          <a:prstGeom prst="rect">
            <a:avLst/>
          </a:prstGeom>
        </p:spPr>
      </p:pic>
    </p:spTree>
    <p:extLst>
      <p:ext uri="{BB962C8B-B14F-4D97-AF65-F5344CB8AC3E}">
        <p14:creationId xmlns:p14="http://schemas.microsoft.com/office/powerpoint/2010/main" val="935085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414793" y="2659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Group Activity</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 name="Picture 2" descr="Raster cell assignment">
            <a:extLst>
              <a:ext uri="{FF2B5EF4-FFF2-40B4-BE49-F238E27FC236}">
                <a16:creationId xmlns:a16="http://schemas.microsoft.com/office/drawing/2014/main" id="{E96C08B5-E0D0-4D27-8ADC-9BE630118BFA}"/>
              </a:ext>
            </a:extLst>
          </p:cNvPr>
          <p:cNvPicPr>
            <a:picLocks noChangeAspect="1"/>
          </p:cNvPicPr>
          <p:nvPr/>
        </p:nvPicPr>
        <p:blipFill>
          <a:blip r:embed="rId3"/>
          <a:stretch>
            <a:fillRect/>
          </a:stretch>
        </p:blipFill>
        <p:spPr>
          <a:xfrm>
            <a:off x="4152900" y="1276225"/>
            <a:ext cx="3439276" cy="3439276"/>
          </a:xfrm>
          <a:prstGeom prst="rect">
            <a:avLst/>
          </a:prstGeom>
        </p:spPr>
      </p:pic>
      <p:sp>
        <p:nvSpPr>
          <p:cNvPr id="7" name="TextBox 6">
            <a:extLst>
              <a:ext uri="{FF2B5EF4-FFF2-40B4-BE49-F238E27FC236}">
                <a16:creationId xmlns:a16="http://schemas.microsoft.com/office/drawing/2014/main" id="{5474EA51-2322-4C00-982D-0C431278D89A}"/>
              </a:ext>
            </a:extLst>
          </p:cNvPr>
          <p:cNvSpPr txBox="1"/>
          <p:nvPr/>
        </p:nvSpPr>
        <p:spPr>
          <a:xfrm>
            <a:off x="152400" y="1123155"/>
            <a:ext cx="3856567" cy="2631489"/>
          </a:xfrm>
          <a:prstGeom prst="rect">
            <a:avLst/>
          </a:prstGeom>
          <a:noFill/>
        </p:spPr>
        <p:txBody>
          <a:bodyPr wrap="square" rtlCol="0">
            <a:spAutoFit/>
          </a:bodyPr>
          <a:lstStyle/>
          <a:p>
            <a:pPr marL="285750" indent="-285750">
              <a:buFont typeface="Courier New" panose="02070309020205020404" pitchFamily="49" charset="0"/>
              <a:buChar char="o"/>
            </a:pPr>
            <a:r>
              <a:rPr lang="en-US" sz="2100" dirty="0"/>
              <a:t>Discuss with your peers: </a:t>
            </a:r>
          </a:p>
          <a:p>
            <a:pPr marL="742950" lvl="1" indent="-285750">
              <a:buFont typeface="Wingdings" panose="05000000000000000000" pitchFamily="2" charset="2"/>
              <a:buChar char="ü"/>
            </a:pPr>
            <a:r>
              <a:rPr lang="en-US" dirty="0"/>
              <a:t>List the labels (A, B, C…J) of raster cells that would be assigned as water (dark blue) or land (light green) under a majority coverage rule (i.e., winner-take-all) and </a:t>
            </a:r>
            <a:r>
              <a:rPr lang="en-US" sz="1800" dirty="0"/>
              <a:t>User’s preference (i.e., water)</a:t>
            </a:r>
          </a:p>
          <a:p>
            <a:pPr marL="742950" lvl="1" indent="-285750">
              <a:buFont typeface="Wingdings" panose="05000000000000000000" pitchFamily="2" charset="2"/>
              <a:buChar char="ü"/>
            </a:pPr>
            <a:endParaRPr lang="en-US" dirty="0"/>
          </a:p>
        </p:txBody>
      </p:sp>
      <p:sp>
        <p:nvSpPr>
          <p:cNvPr id="2" name="Slide Number Placeholder 1">
            <a:extLst>
              <a:ext uri="{FF2B5EF4-FFF2-40B4-BE49-F238E27FC236}">
                <a16:creationId xmlns:a16="http://schemas.microsoft.com/office/drawing/2014/main" id="{09E29BC8-F148-4F60-A327-A16BCC310FB8}"/>
              </a:ext>
            </a:extLst>
          </p:cNvPr>
          <p:cNvSpPr>
            <a:spLocks noGrp="1"/>
          </p:cNvSpPr>
          <p:nvPr>
            <p:ph type="sldNum" sz="quarter" idx="12"/>
          </p:nvPr>
        </p:nvSpPr>
        <p:spPr/>
        <p:txBody>
          <a:bodyPr/>
          <a:lstStyle/>
          <a:p>
            <a:fld id="{127DDC20-79C9-9647-820E-6D40A3D210C3}" type="slidenum">
              <a:rPr lang="en-US" smtClean="0"/>
              <a:pPr/>
              <a:t>38</a:t>
            </a:fld>
            <a:endParaRPr lang="en-US"/>
          </a:p>
        </p:txBody>
      </p:sp>
    </p:spTree>
    <p:extLst>
      <p:ext uri="{BB962C8B-B14F-4D97-AF65-F5344CB8AC3E}">
        <p14:creationId xmlns:p14="http://schemas.microsoft.com/office/powerpoint/2010/main" val="345808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2.3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02: </a:t>
            </a:r>
            <a:r>
              <a:rPr lang="en-US" b="1" dirty="0"/>
              <a:t>Exploring Spatial Data</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151560403"/>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41</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Week02_Intro_To_GIS</Template>
  <TotalTime>8704</TotalTime>
  <Words>2939</Words>
  <Application>Microsoft Office PowerPoint</Application>
  <PresentationFormat>Custom</PresentationFormat>
  <Paragraphs>394</Paragraphs>
  <Slides>41</Slides>
  <Notes>23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41</vt:i4>
      </vt:variant>
    </vt:vector>
  </HeadingPairs>
  <TitlesOfParts>
    <vt:vector size="54" baseType="lpstr">
      <vt:lpstr>-apple-system</vt:lpstr>
      <vt:lpstr>Avenir Next W01</vt:lpstr>
      <vt:lpstr>Arial</vt:lpstr>
      <vt:lpstr>Arial Black</vt:lpstr>
      <vt:lpstr>Calibri</vt:lpstr>
      <vt:lpstr>Courier New</vt:lpstr>
      <vt:lpstr>Gill Sans MT</vt:lpstr>
      <vt:lpstr>Roboto</vt:lpstr>
      <vt:lpstr>Wingdings</vt:lpstr>
      <vt:lpstr>Wingdings 2</vt:lpstr>
      <vt:lpstr>DividendVTI</vt:lpstr>
      <vt:lpstr>1_DividendVTI</vt:lpstr>
      <vt:lpstr>2_DividendVTI</vt:lpstr>
      <vt:lpstr>WEEK 04  Geospatial Data  lecture</vt:lpstr>
      <vt:lpstr>4.1  Introduction to gis</vt:lpstr>
      <vt:lpstr>PowerPoint Presentation</vt:lpstr>
      <vt:lpstr>PowerPoint Presentation</vt:lpstr>
      <vt:lpstr>PowerPoint Presentation</vt:lpstr>
      <vt:lpstr>PowerPoint Presentation</vt:lpstr>
      <vt:lpstr>representation</vt:lpstr>
      <vt:lpstr>representation</vt:lpstr>
      <vt:lpstr>Same Feature, Different Vector Representations</vt:lpstr>
      <vt:lpstr>PowerPoint Presentation</vt:lpstr>
      <vt:lpstr>Rows and Columns in an Attribute Table</vt:lpstr>
      <vt:lpstr>PowerPoint Presentation</vt:lpstr>
      <vt:lpstr>Topology Remains the Same Across Projections</vt:lpstr>
      <vt:lpstr>PowerPoint Presentation</vt:lpstr>
      <vt:lpstr>PowerPoint Presentation</vt:lpstr>
      <vt:lpstr>PowerPoint Presentation</vt:lpstr>
      <vt:lpstr>PowerPoint Presentation</vt:lpstr>
      <vt:lpstr>PowerPoint Presentation</vt:lpstr>
      <vt:lpstr>PowerPoint Presentation</vt:lpstr>
      <vt:lpstr>Class Activity: Exploring Shapefile Components</vt:lpstr>
      <vt:lpstr>Quick Way to Check Attributes in a Shapefile (.dbf file)</vt:lpstr>
      <vt:lpstr>PowerPoint Presentation</vt:lpstr>
      <vt:lpstr>Class Activity: Representing Indoor Features in GIS</vt:lpstr>
      <vt:lpstr>PowerPoint Presentation</vt:lpstr>
      <vt:lpstr>Spatial resolution</vt:lpstr>
      <vt:lpstr>PowerPoint Presentation</vt:lpstr>
      <vt:lpstr>PowerPoint Presentation</vt:lpstr>
      <vt:lpstr>Digital Elevation Model - DEM</vt:lpstr>
      <vt:lpstr>PowerPoint Presentation</vt:lpstr>
      <vt:lpstr>RASTER DATA COLLECTION</vt:lpstr>
      <vt:lpstr>More Infor about satellite</vt:lpstr>
      <vt:lpstr>PowerPoint Presentation</vt:lpstr>
      <vt:lpstr>Spatial resolution</vt:lpstr>
      <vt:lpstr>compare SPATIAL RESOLUTION</vt:lpstr>
      <vt:lpstr>PowerPoint Presentation</vt:lpstr>
      <vt:lpstr>PowerPoint Presentation</vt:lpstr>
      <vt:lpstr>PowerPoint Presentation</vt:lpstr>
      <vt:lpstr>PowerPoint Presentation</vt:lpstr>
      <vt:lpstr>2.3  Lab session</vt:lpstr>
      <vt:lpstr>Lab 02: Exploring Spatial Data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466</cp:revision>
  <cp:lastPrinted>2020-03-26T12:59:04Z</cp:lastPrinted>
  <dcterms:created xsi:type="dcterms:W3CDTF">2020-03-24T14:51:54Z</dcterms:created>
  <dcterms:modified xsi:type="dcterms:W3CDTF">2025-09-07T20:19:34Z</dcterms:modified>
</cp:coreProperties>
</file>