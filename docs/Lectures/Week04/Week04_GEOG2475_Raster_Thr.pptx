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5" r:id="rId3"/>
  </p:sldMasterIdLst>
  <p:notesMasterIdLst>
    <p:notesMasterId r:id="rId43"/>
  </p:notesMasterIdLst>
  <p:sldIdLst>
    <p:sldId id="914" r:id="rId4"/>
    <p:sldId id="1647" r:id="rId5"/>
    <p:sldId id="617" r:id="rId6"/>
    <p:sldId id="265" r:id="rId7"/>
    <p:sldId id="266" r:id="rId8"/>
    <p:sldId id="269" r:id="rId9"/>
    <p:sldId id="267" r:id="rId10"/>
    <p:sldId id="268" r:id="rId11"/>
    <p:sldId id="637" r:id="rId12"/>
    <p:sldId id="641" r:id="rId13"/>
    <p:sldId id="635" r:id="rId14"/>
    <p:sldId id="642" r:id="rId15"/>
    <p:sldId id="638" r:id="rId16"/>
    <p:sldId id="271" r:id="rId17"/>
    <p:sldId id="273" r:id="rId18"/>
    <p:sldId id="636" r:id="rId19"/>
    <p:sldId id="643" r:id="rId20"/>
    <p:sldId id="281" r:id="rId21"/>
    <p:sldId id="282" r:id="rId22"/>
    <p:sldId id="286" r:id="rId23"/>
    <p:sldId id="300" r:id="rId24"/>
    <p:sldId id="305" r:id="rId25"/>
    <p:sldId id="275" r:id="rId26"/>
    <p:sldId id="329" r:id="rId27"/>
    <p:sldId id="652" r:id="rId28"/>
    <p:sldId id="292" r:id="rId29"/>
    <p:sldId id="284" r:id="rId30"/>
    <p:sldId id="285" r:id="rId31"/>
    <p:sldId id="288" r:id="rId32"/>
    <p:sldId id="644" r:id="rId33"/>
    <p:sldId id="645" r:id="rId34"/>
    <p:sldId id="651" r:id="rId35"/>
    <p:sldId id="287" r:id="rId36"/>
    <p:sldId id="647" r:id="rId37"/>
    <p:sldId id="648" r:id="rId38"/>
    <p:sldId id="646" r:id="rId39"/>
    <p:sldId id="649" r:id="rId40"/>
    <p:sldId id="650" r:id="rId41"/>
    <p:sldId id="270" r:id="rId42"/>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907" autoAdjust="0"/>
  </p:normalViewPr>
  <p:slideViewPr>
    <p:cSldViewPr snapToGrid="0" snapToObjects="1">
      <p:cViewPr varScale="1">
        <p:scale>
          <a:sx n="120" d="100"/>
          <a:sy n="120" d="100"/>
        </p:scale>
        <p:origin x="1692" y="90"/>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notesMaster" Target="notesMasters/notesMaster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9/7/2025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708313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broad</a:t>
            </a:r>
            <a:r>
              <a:rPr lang="en-US" baseline="0" dirty="0"/>
              <a:t> types of geospatial data are available: vector data and raster data. </a:t>
            </a:r>
          </a:p>
          <a:p>
            <a:endParaRPr lang="en-US" baseline="0" dirty="0"/>
          </a:p>
          <a:p>
            <a:r>
              <a:rPr lang="en-US" baseline="0" dirty="0"/>
              <a:t>Vector data generally represent discrete features as points, lines, or polygons. </a:t>
            </a:r>
          </a:p>
          <a:p>
            <a:endParaRPr lang="en-US" baseline="0" dirty="0"/>
          </a:p>
          <a:p>
            <a:r>
              <a:rPr lang="en-US" baseline="0" dirty="0"/>
              <a:t>Raster data generally represent continuous features as pixels or grid cells. </a:t>
            </a:r>
          </a:p>
          <a:p>
            <a:endParaRPr lang="en-US" baseline="0" dirty="0"/>
          </a:p>
          <a:p>
            <a:r>
              <a:rPr lang="en-US" baseline="0" dirty="0"/>
              <a:t>We will begin with a discussion of vector data.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1693972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data can be represented as points, lines, or polygons. </a:t>
            </a:r>
            <a:br>
              <a:rPr lang="en-US" dirty="0"/>
            </a:br>
            <a:endParaRPr lang="en-US" dirty="0"/>
          </a:p>
          <a:p>
            <a:r>
              <a:rPr lang="en-US" dirty="0"/>
              <a:t>Point data are simply coordinate pairs with associated attributes. They have no spatial dimensions, since they do not have length or width. </a:t>
            </a:r>
          </a:p>
          <a:p>
            <a:endParaRPr lang="en-US" dirty="0"/>
          </a:p>
          <a:p>
            <a:r>
              <a:rPr lang="en-US" dirty="0"/>
              <a:t>Lines are a series of coordinate pairs connected to form a line. They have one spatial dimension, since they have length but not width.</a:t>
            </a:r>
          </a:p>
          <a:p>
            <a:endParaRPr lang="en-US" dirty="0"/>
          </a:p>
          <a:p>
            <a:r>
              <a:rPr lang="en-US" dirty="0"/>
              <a:t>Polygons are a series of coordinates in which the first and last coordinates are connected to form a closed feature or area. They have both length and width, so have two spatial dimensions. Since they have length and width, they have an area.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125036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mentioned above, all vector data are made up of coordinates. Points are individual coordinates while lines and polygons are made up of interrelated coordinates. </a:t>
            </a:r>
          </a:p>
          <a:p>
            <a:endParaRPr lang="en-US" dirty="0"/>
          </a:p>
          <a:p>
            <a:r>
              <a:rPr lang="en-US" dirty="0"/>
              <a:t>These individual coordinates are called vertices. Vertices that occur at or define the end of a line segment are called nodes. </a:t>
            </a:r>
          </a:p>
          <a:p>
            <a:endParaRPr lang="en-US" dirty="0"/>
          </a:p>
          <a:p>
            <a:r>
              <a:rPr lang="en-US" dirty="0"/>
              <a:t>Again, all vector data are made up of coordinate points.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13266400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powerful aspect of a GIS and geospatial data is the ability to relate spatial and tabulated data. Vector data are not just map coordinates. These features are also associated with tabulated information. For example, the parcels boundaries shown on this slide are attributed with a set of information. This allows us to relate spatial and tabulated data. </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3365942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concept associated with vector data is the concept of topology. This is not to be confused with topography. </a:t>
            </a:r>
          </a:p>
          <a:p>
            <a:endParaRPr lang="en-US" dirty="0"/>
          </a:p>
          <a:p>
            <a:r>
              <a:rPr lang="en-US" dirty="0"/>
              <a:t>Topology is the study of properties of geometric objects, including map features, that remain invariant, or don’t change, under certain transformations such as bending or stretching. </a:t>
            </a:r>
          </a:p>
          <a:p>
            <a:endParaRPr lang="en-US" dirty="0"/>
          </a:p>
          <a:p>
            <a:r>
              <a:rPr lang="en-US" dirty="0"/>
              <a:t>Example topological relationships include adjacent to and incident with. For example, if the US state boundaries could be bent or stretched, the adjacently between states would be maintained. Or, adjacent states would still be next to each other and share boundaries. If map features were bent or stretched, features that occur within or are incident with other features would maintain this relationship with those other features. For example, cities would still fall within the correct state or country. </a:t>
            </a:r>
          </a:p>
          <a:p>
            <a:r>
              <a:rPr lang="en-US" dirty="0"/>
              <a:t>Arkansas and </a:t>
            </a:r>
            <a:r>
              <a:rPr lang="en-US" dirty="0" err="1"/>
              <a:t>mississippi</a:t>
            </a:r>
            <a:endParaRPr lang="en-US" dirty="0"/>
          </a:p>
          <a:p>
            <a:endParaRPr lang="en-US" dirty="0"/>
          </a:p>
          <a:p>
            <a:r>
              <a:rPr lang="en-US" dirty="0"/>
              <a:t>A good example of topology is</a:t>
            </a:r>
            <a:r>
              <a:rPr lang="en-US" baseline="0" dirty="0"/>
              <a:t> a</a:t>
            </a:r>
            <a:r>
              <a:rPr lang="en-US" dirty="0"/>
              <a:t> subway map. On this slide, I have included the subway map for the city of Vancouver in British Columbia. The subway lines and other map features have been generalized such that the full complexity is not represented. However, important topological relationships have been maintained. For example, you know which stops occur along or are incident with which lines. You also know where different lines cross, or where you can transfer between lines. So, even though these data have been generalized, important topological rules have been maintained so that you can use the map to navigate the subway system. </a:t>
            </a:r>
          </a:p>
          <a:p>
            <a:endParaRPr lang="en-US" dirty="0"/>
          </a:p>
          <a:p>
            <a:r>
              <a:rPr lang="en-US" dirty="0"/>
              <a:t>Topology is important because it allows us to solve problems that require an understanding of the spatial relationship between map features.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3451092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634257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24190702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creating new data, issues can arise that cause topological relationships to not be maintained. </a:t>
            </a:r>
          </a:p>
          <a:p>
            <a:endParaRPr lang="en-US" dirty="0"/>
          </a:p>
          <a:p>
            <a:r>
              <a:rPr lang="en-US" dirty="0"/>
              <a:t>Dangles occur when 2 line features are supposed to connect, such as at a road intersection, but they fall short. If you were trying to model movement along a road network, this would be an issue.</a:t>
            </a:r>
          </a:p>
          <a:p>
            <a:endParaRPr lang="en-US" dirty="0"/>
          </a:p>
          <a:p>
            <a:r>
              <a:rPr lang="en-US" dirty="0"/>
              <a:t>Overshoots occur when one line segment is supposed to end when it intersects another segment, but it continues or overshoots. </a:t>
            </a:r>
          </a:p>
          <a:p>
            <a:endParaRPr lang="en-US" dirty="0"/>
          </a:p>
          <a:p>
            <a:r>
              <a:rPr lang="en-US" dirty="0"/>
              <a:t>Slivers represent areas of non-overlap between features that could represent real patterns or result for digitization errors or scale difference in the input data.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2452018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1249132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32337189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shapefile</a:t>
            </a:r>
            <a:r>
              <a:rPr lang="en-US" dirty="0"/>
              <a:t> is a </a:t>
            </a:r>
            <a:r>
              <a:rPr lang="en-US" dirty="0" err="1"/>
              <a:t>georelational</a:t>
            </a:r>
            <a:r>
              <a:rPr lang="en-US" dirty="0"/>
              <a:t> model that is still commonly used. It was originally developed by ESRI but is non-proprietary. </a:t>
            </a:r>
          </a:p>
          <a:p>
            <a:endParaRPr lang="en-US" dirty="0"/>
          </a:p>
          <a:p>
            <a:r>
              <a:rPr lang="en-US" dirty="0"/>
              <a:t>It is a </a:t>
            </a:r>
            <a:r>
              <a:rPr lang="en-US" dirty="0" err="1"/>
              <a:t>nontopological</a:t>
            </a:r>
            <a:r>
              <a:rPr lang="en-US" dirty="0"/>
              <a:t> model. Generally, </a:t>
            </a:r>
            <a:r>
              <a:rPr lang="en-US" dirty="0" err="1"/>
              <a:t>nontopological</a:t>
            </a:r>
            <a:r>
              <a:rPr lang="en-US" dirty="0"/>
              <a:t> data can display more rapidly on a computer than topological data. They can also be used across multiple software packages. </a:t>
            </a:r>
          </a:p>
          <a:p>
            <a:endParaRPr lang="en-US" dirty="0"/>
          </a:p>
          <a:p>
            <a:r>
              <a:rPr lang="en-US" dirty="0"/>
              <a:t>Although this is a </a:t>
            </a:r>
            <a:r>
              <a:rPr lang="en-US" dirty="0" err="1"/>
              <a:t>nontopological</a:t>
            </a:r>
            <a:r>
              <a:rPr lang="en-US" dirty="0"/>
              <a:t> model, topological relationships can be calculated on-the-fly to perform analyses.</a:t>
            </a:r>
          </a:p>
          <a:p>
            <a:endParaRPr lang="en-US" dirty="0"/>
          </a:p>
          <a:p>
            <a:r>
              <a:rPr lang="en-US" dirty="0"/>
              <a:t>The geometric information is stored in the .</a:t>
            </a:r>
            <a:r>
              <a:rPr lang="en-US" dirty="0" err="1"/>
              <a:t>shp</a:t>
            </a:r>
            <a:r>
              <a:rPr lang="en-US" dirty="0"/>
              <a:t> file while the .</a:t>
            </a:r>
            <a:r>
              <a:rPr lang="en-US" dirty="0" err="1"/>
              <a:t>shx</a:t>
            </a:r>
            <a:r>
              <a:rPr lang="en-US" dirty="0"/>
              <a:t> file provides an index of the geometry, which can speed up searching and display. </a:t>
            </a:r>
          </a:p>
          <a:p>
            <a:endParaRPr lang="en-US" dirty="0"/>
          </a:p>
          <a:p>
            <a:r>
              <a:rPr lang="en-US" dirty="0"/>
              <a:t>The attributed or tabulated data are stored in the .dbf file. This is why this is </a:t>
            </a:r>
            <a:r>
              <a:rPr lang="en-US" dirty="0" err="1"/>
              <a:t>georelational</a:t>
            </a:r>
            <a:r>
              <a:rPr lang="en-US" dirty="0"/>
              <a:t> model: geometry and attributes are stored in separate files. The .</a:t>
            </a:r>
            <a:r>
              <a:rPr lang="en-US" dirty="0" err="1"/>
              <a:t>sbn</a:t>
            </a:r>
            <a:r>
              <a:rPr lang="en-US" dirty="0"/>
              <a:t> and .</a:t>
            </a:r>
            <a:r>
              <a:rPr lang="en-US" dirty="0" err="1"/>
              <a:t>sbx</a:t>
            </a:r>
            <a:r>
              <a:rPr lang="en-US" dirty="0"/>
              <a:t> components provide indices for the attributes, which can speed of queries. </a:t>
            </a:r>
          </a:p>
          <a:p>
            <a:endParaRPr lang="en-US" dirty="0"/>
          </a:p>
          <a:p>
            <a:r>
              <a:rPr lang="en-US" dirty="0"/>
              <a:t>The projection information is stored in the .</a:t>
            </a:r>
            <a:r>
              <a:rPr lang="en-US" dirty="0" err="1"/>
              <a:t>prj</a:t>
            </a:r>
            <a:r>
              <a:rPr lang="en-US" dirty="0"/>
              <a:t> file. This component is important because it tells the computer what the projection is so that the data can be drawn at the correct location in the map space. </a:t>
            </a:r>
          </a:p>
          <a:p>
            <a:endParaRPr lang="en-US" dirty="0"/>
          </a:p>
          <a:p>
            <a:r>
              <a:rPr lang="en-US" dirty="0"/>
              <a:t>If metadata are created, this additional information can be stored in the .xml component. </a:t>
            </a:r>
          </a:p>
          <a:p>
            <a:endParaRPr lang="en-US" dirty="0"/>
          </a:p>
          <a:p>
            <a:r>
              <a:rPr lang="en-US" b="1" i="0" dirty="0" err="1">
                <a:solidFill>
                  <a:srgbClr val="222222"/>
                </a:solidFill>
                <a:effectLst/>
                <a:latin typeface="Roboto"/>
              </a:rPr>
              <a:t>cpg</a:t>
            </a:r>
            <a:r>
              <a:rPr lang="en-US" b="0" i="0" dirty="0">
                <a:solidFill>
                  <a:srgbClr val="222222"/>
                </a:solidFill>
                <a:effectLst/>
                <a:latin typeface="Roboto"/>
              </a:rPr>
              <a:t> are optional plain text files that describes the encoding applied to create the </a:t>
            </a:r>
            <a:r>
              <a:rPr lang="en-US" b="1" i="0" dirty="0">
                <a:solidFill>
                  <a:srgbClr val="222222"/>
                </a:solidFill>
                <a:effectLst/>
                <a:latin typeface="Roboto"/>
              </a:rPr>
              <a:t>shapefile</a:t>
            </a:r>
            <a:r>
              <a:rPr lang="en-US" b="0" i="0" dirty="0">
                <a:solidFill>
                  <a:srgbClr val="222222"/>
                </a:solidFill>
                <a:effectLst/>
                <a:latin typeface="Roboto"/>
              </a:rPr>
              <a:t>. If your </a:t>
            </a:r>
            <a:r>
              <a:rPr lang="en-US" b="1" i="0" dirty="0">
                <a:solidFill>
                  <a:srgbClr val="222222"/>
                </a:solidFill>
                <a:effectLst/>
                <a:latin typeface="Roboto"/>
              </a:rPr>
              <a:t>shapefile</a:t>
            </a:r>
            <a:r>
              <a:rPr lang="en-US" b="0" i="0" dirty="0">
                <a:solidFill>
                  <a:srgbClr val="222222"/>
                </a:solidFill>
                <a:effectLst/>
                <a:latin typeface="Roboto"/>
              </a:rPr>
              <a:t> doesn't have a </a:t>
            </a:r>
            <a:r>
              <a:rPr lang="en-US" b="1" i="0" dirty="0" err="1">
                <a:solidFill>
                  <a:srgbClr val="222222"/>
                </a:solidFill>
                <a:effectLst/>
                <a:latin typeface="Roboto"/>
              </a:rPr>
              <a:t>cpg</a:t>
            </a:r>
            <a:r>
              <a:rPr lang="en-US" b="0" i="0" dirty="0">
                <a:solidFill>
                  <a:srgbClr val="222222"/>
                </a:solidFill>
                <a:effectLst/>
                <a:latin typeface="Roboto"/>
              </a:rPr>
              <a:t> file, then it has the system default encoding.</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4020819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14694181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now move on to discuss raster data. </a:t>
            </a:r>
          </a:p>
          <a:p>
            <a:endParaRPr lang="en-US" dirty="0"/>
          </a:p>
          <a:p>
            <a:r>
              <a:rPr lang="en-US" dirty="0"/>
              <a:t>In contrast to vector data, raster data have a simple data structure. </a:t>
            </a:r>
          </a:p>
          <a:p>
            <a:endParaRPr lang="en-US" dirty="0"/>
          </a:p>
          <a:p>
            <a:r>
              <a:rPr lang="en-US" dirty="0"/>
              <a:t>Raster data are a matrix or array of values stored in cells. </a:t>
            </a:r>
          </a:p>
          <a:p>
            <a:endParaRPr lang="en-US" dirty="0"/>
          </a:p>
          <a:p>
            <a:r>
              <a:rPr lang="en-US" dirty="0"/>
              <a:t>This matrix or array is spatially referenced so that each cell has a defined extent on the landscape. </a:t>
            </a:r>
          </a:p>
          <a:p>
            <a:endParaRPr lang="en-US" dirty="0"/>
          </a:p>
          <a:p>
            <a:r>
              <a:rPr lang="en-US" dirty="0"/>
              <a:t>The origin is generally defined as the coordinate of the upper-left corner of the grid extent.</a:t>
            </a:r>
          </a:p>
          <a:p>
            <a:endParaRPr lang="en-US" dirty="0"/>
          </a:p>
          <a:p>
            <a:r>
              <a:rPr lang="en-US" dirty="0"/>
              <a:t>So, if the origin, projection, cell size, and number of rows and columns is known, then the data can be rendered to a map space.</a:t>
            </a:r>
          </a:p>
          <a:p>
            <a:endParaRPr lang="en-US" dirty="0"/>
          </a:p>
          <a:p>
            <a:r>
              <a:rPr lang="en-US" dirty="0"/>
              <a:t>The raster data model can be used to store a variety of data types, including categorical data, continuous variables, and multiband imagery.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20359617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5163093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Categorical raster grids represent</a:t>
            </a:r>
            <a:r>
              <a:rPr lang="en-US" baseline="0" dirty="0"/>
              <a:t> nominal or categorical data. </a:t>
            </a:r>
          </a:p>
          <a:p>
            <a:endParaRPr lang="en-US" baseline="0" dirty="0"/>
          </a:p>
          <a:p>
            <a:r>
              <a:rPr lang="en-US" baseline="0" dirty="0"/>
              <a:t>Examples of data that could be appropriately modeled as categorical grids include land cover, vegetation types, wetland types, soil types, and land ownership. </a:t>
            </a:r>
          </a:p>
          <a:p>
            <a:endParaRPr lang="en-US" baseline="0" dirty="0"/>
          </a:p>
          <a:p>
            <a:r>
              <a:rPr lang="en-US" dirty="0"/>
              <a:t>Each</a:t>
            </a:r>
            <a:r>
              <a:rPr lang="en-US" baseline="0" dirty="0"/>
              <a:t> cell in a categorical grid will hold a number. This number will be a stand in or placeholder for a category. For example, the value 41 could represent deciduous forest. </a:t>
            </a:r>
          </a:p>
          <a:p>
            <a:endParaRPr lang="en-US" baseline="0" dirty="0"/>
          </a:p>
          <a:p>
            <a:r>
              <a:rPr lang="en-US" baseline="0" dirty="0"/>
              <a:t>Categorical grids generally have attribute tables. This attribute table can have many fields, but it generally has at least a value field which provides the code that represents the category of interest. It also contains a count field that provides the number of cells in that category. </a:t>
            </a:r>
          </a:p>
          <a:p>
            <a:endParaRPr lang="en-US" baseline="0" dirty="0"/>
          </a:p>
          <a:p>
            <a:r>
              <a:rPr lang="en-US" baseline="0" dirty="0"/>
              <a:t>It is possible to provide additional fields, for example you could include a name field to provide the category name.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31183122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continuous raster grid is used to represent continuous data, including interval and ratio type data. </a:t>
            </a:r>
          </a:p>
          <a:p>
            <a:endParaRPr lang="en-US" dirty="0"/>
          </a:p>
          <a:p>
            <a:r>
              <a:rPr lang="en-US" dirty="0"/>
              <a:t>The value stored in the cell represents the actual measure. It is not a placeholder for a category.</a:t>
            </a:r>
          </a:p>
          <a:p>
            <a:endParaRPr lang="en-US" dirty="0"/>
          </a:p>
          <a:p>
            <a:r>
              <a:rPr lang="en-US" dirty="0"/>
              <a:t>Examples of data that could be appropriately modeled using a continuous raster grid are elevation, topographic slope, topographic aspect, depth to bedrock, depth to water table, precipitation, temperature, and barometric pressure. </a:t>
            </a:r>
            <a:br>
              <a:rPr lang="en-US" dirty="0"/>
            </a:br>
            <a:endParaRPr lang="en-US" dirty="0"/>
          </a:p>
          <a:p>
            <a:r>
              <a:rPr lang="en-US" dirty="0"/>
              <a:t>The example provided represents elevation measurements. So, each cell holds an elevation measurement.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32237924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than panchromatic, or black-and-white, imagery, image datasets contain more than one band. </a:t>
            </a:r>
          </a:p>
          <a:p>
            <a:endParaRPr lang="en-US" dirty="0"/>
          </a:p>
          <a:p>
            <a:r>
              <a:rPr lang="en-US" dirty="0"/>
              <a:t>For example, a true color image will contain three bands: red, green, and blue. </a:t>
            </a:r>
          </a:p>
          <a:p>
            <a:endParaRPr lang="en-US" dirty="0"/>
          </a:p>
          <a:p>
            <a:r>
              <a:rPr lang="en-US" dirty="0"/>
              <a:t>For multiband images, the raster data structure is that of an array. Each cell location holds multiple measurements, or a single measurement in each band.</a:t>
            </a:r>
          </a:p>
          <a:p>
            <a:endParaRPr lang="en-US" dirty="0"/>
          </a:p>
          <a:p>
            <a:r>
              <a:rPr lang="en-US" dirty="0"/>
              <a:t>You can think of a multiband raster as a stack of single band layers that act as one file. </a:t>
            </a:r>
          </a:p>
          <a:p>
            <a:endParaRPr lang="en-US" dirty="0"/>
          </a:p>
          <a:p>
            <a:r>
              <a:rPr lang="en-US" dirty="0"/>
              <a:t>Although we will focus on multiband imagery here, you can actually create multiband raster grids from a variety of raster data layers. </a:t>
            </a:r>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15837287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the spectral reflectance</a:t>
            </a:r>
            <a:r>
              <a:rPr lang="en-US" baseline="0" dirty="0"/>
              <a:t> of this maple leaf further. </a:t>
            </a:r>
          </a:p>
          <a:p>
            <a:endParaRPr lang="en-US" baseline="0" dirty="0"/>
          </a:p>
          <a:p>
            <a:r>
              <a:rPr lang="en-US" baseline="0" dirty="0"/>
              <a:t>Here, I have color coded different spectral ranges with different color “</a:t>
            </a:r>
            <a:r>
              <a:rPr lang="en-US" baseline="0" dirty="0" err="1"/>
              <a:t>Xs</a:t>
            </a:r>
            <a:r>
              <a:rPr lang="en-US" baseline="0" dirty="0"/>
              <a:t>.”</a:t>
            </a:r>
          </a:p>
          <a:p>
            <a:endParaRPr lang="en-US" baseline="0" dirty="0"/>
          </a:p>
          <a:p>
            <a:r>
              <a:rPr lang="en-US" baseline="0" dirty="0"/>
              <a:t>This leaf tends to absorb as opposed to reflect a lot of visible radiation. However, it absorbs more blue and red in comparison to green. This is why leaves appear green to us. This absorption results from the pigments in the leaf, such as chlorophyll, that interact with Sunlight in the process of photosynthesis to make energy and sugars for the plant. During the winter, when the tree is not photosynthetically active, the leaf will no longer appear green to us. </a:t>
            </a:r>
          </a:p>
          <a:p>
            <a:endParaRPr lang="en-US" baseline="0" dirty="0"/>
          </a:p>
          <a:p>
            <a:r>
              <a:rPr lang="en-US" baseline="0" dirty="0"/>
              <a:t>Green, healthy, and photosynthetically active leaves tend to scatter or reflect a larger proportion of incident near infrared radiation than visible light due to how this radiation interacts with cell walls. So, if we could sense near infrared radiation, a leaf would appear to be near infrared as opposed to green. However, this has no physical meaning since we can’t see near infrared radiation. </a:t>
            </a:r>
          </a:p>
          <a:p>
            <a:endParaRPr lang="en-US" baseline="0" dirty="0"/>
          </a:p>
          <a:p>
            <a:r>
              <a:rPr lang="en-US" baseline="0" dirty="0"/>
              <a:t>In the shortwave infrared range there are some absorption features associated with water in the plant tissue. </a:t>
            </a:r>
          </a:p>
          <a:p>
            <a:endParaRPr lang="en-US" baseline="0" dirty="0"/>
          </a:p>
          <a:p>
            <a:r>
              <a:rPr lang="en-US" baseline="0" dirty="0"/>
              <a:t>This graph highlights the wavelength specific nature of spectral reflectance.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39122485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graph provides another comparison.</a:t>
            </a:r>
            <a:r>
              <a:rPr lang="en-US" baseline="0" dirty="0"/>
              <a:t> </a:t>
            </a:r>
          </a:p>
          <a:p>
            <a:endParaRPr lang="en-US" baseline="0" dirty="0"/>
          </a:p>
          <a:p>
            <a:r>
              <a:rPr lang="en-US" baseline="0" dirty="0"/>
              <a:t>Soil tends to show greater spectral reflectance in the shortwave infrared range in comparison to near infrared or visible wavelengths, a pattern that is much different from green vegetation. </a:t>
            </a:r>
          </a:p>
          <a:p>
            <a:endParaRPr lang="en-US" baseline="0" dirty="0"/>
          </a:p>
          <a:p>
            <a:r>
              <a:rPr lang="en-US" baseline="0" dirty="0"/>
              <a:t>Water tends to absorb most near infrared and shortwave infrared radiation. </a:t>
            </a:r>
          </a:p>
          <a:p>
            <a:endParaRPr lang="en-US" baseline="0" dirty="0"/>
          </a:p>
          <a:p>
            <a:r>
              <a:rPr lang="en-US" baseline="0" dirty="0"/>
              <a:t>So, using these patterns, we could potentially differentiate these different surface materials. </a:t>
            </a:r>
          </a:p>
          <a:p>
            <a:endParaRPr lang="en-US" baseline="0" dirty="0"/>
          </a:p>
          <a:p>
            <a:r>
              <a:rPr lang="en-US" baseline="0" dirty="0"/>
              <a:t>You may notice some small troughs in the shortwave range for soil that align with the deeper troughs for green vegetation. This results from water in the soil, just as the troughs in the green vegetation curve relate to water in the plant tissue. </a:t>
            </a:r>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6629857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often valuable to compare</a:t>
            </a:r>
            <a:r>
              <a:rPr lang="en-US" baseline="0" dirty="0"/>
              <a:t> the spectral reflectance in different wavelength ranges or bands.</a:t>
            </a:r>
          </a:p>
          <a:p>
            <a:endParaRPr lang="en-US" baseline="0" dirty="0"/>
          </a:p>
          <a:p>
            <a:r>
              <a:rPr lang="en-US" baseline="0" dirty="0"/>
              <a:t>To accomplished this task, we can produce ratios from input bands. </a:t>
            </a:r>
          </a:p>
          <a:p>
            <a:endParaRPr lang="en-US" baseline="0" dirty="0"/>
          </a:p>
          <a:p>
            <a:r>
              <a:rPr lang="en-US" baseline="0" dirty="0"/>
              <a:t>As an example, the normalized difference vegetation index, or NDVI, compares near infrared and red reflectance. </a:t>
            </a:r>
          </a:p>
          <a:p>
            <a:endParaRPr lang="en-US" baseline="0" dirty="0"/>
          </a:p>
          <a:p>
            <a:r>
              <a:rPr lang="en-US" baseline="0" dirty="0"/>
              <a:t>Based on our previous discussions, you now know that green, healthy, photosynthetically active vegetation tends to reflect more infrared radiation than it does red radiation. This is because pigments absorb the red radiation in the process of photosynthesis. </a:t>
            </a:r>
          </a:p>
          <a:p>
            <a:endParaRPr lang="en-US" baseline="0" dirty="0"/>
          </a:p>
          <a:p>
            <a:r>
              <a:rPr lang="en-US" baseline="0" dirty="0"/>
              <a:t>High values of this index indicate the presence of green, healthy, photosynthetically active vegetation where as low values indicate that vegetation is not present, it is not photosynthetically active, or it is not healthy for some reason. </a:t>
            </a:r>
          </a:p>
          <a:p>
            <a:endParaRPr lang="en-US" baseline="0" dirty="0"/>
          </a:p>
          <a:p>
            <a:r>
              <a:rPr lang="en-US" baseline="0" dirty="0"/>
              <a:t>As an example, the image on the left shows NDVI for a small area in West Virginia. Dark green areas indicate high NDVI or healthy vegetation. In contrast, the white or light green areas indicate lower NDVI. Many of these large patches of lower NDVI are associated with forest harvesting.</a:t>
            </a:r>
          </a:p>
          <a:p>
            <a:endParaRPr lang="en-US" baseline="0" dirty="0"/>
          </a:p>
          <a:p>
            <a:r>
              <a:rPr lang="en-US" baseline="0" dirty="0"/>
              <a:t>There are many other examples of band ratios that can be used to map, assess, or monitor different landscape features. Here, I am just providing NDVI as an example. </a:t>
            </a:r>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40004766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most recent Landsat, Landsat 8, carries the Operational Land Imager and the Thermal Infrared Sensor. </a:t>
            </a:r>
          </a:p>
          <a:p>
            <a:endParaRPr lang="en-US" baseline="0" dirty="0"/>
          </a:p>
          <a:p>
            <a:r>
              <a:rPr lang="en-US" baseline="0" dirty="0"/>
              <a:t>In comparison to Landsat 7 ETM+, the Landsat 8 sensor adds a ultra blue band for coastal mapping and aerosol mapping and a cirrus cloud band for detecting high clouds and cloud contamination. </a:t>
            </a:r>
          </a:p>
          <a:p>
            <a:endParaRPr lang="en-US" baseline="0" dirty="0"/>
          </a:p>
          <a:p>
            <a:r>
              <a:rPr lang="en-US" baseline="0" dirty="0"/>
              <a:t>It also provides 2 thermal bands as opposed to one. </a:t>
            </a:r>
          </a:p>
          <a:p>
            <a:endParaRPr lang="en-US" baseline="0" dirty="0"/>
          </a:p>
          <a:p>
            <a:r>
              <a:rPr lang="en-US" baseline="0" dirty="0"/>
              <a:t>Landsat 9 will have similar specifications to Landsat 8 and is expected to launch in December of 2020. </a:t>
            </a:r>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683825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than panchromatic, or black-and-white, imagery, image datasets contain more than one band. </a:t>
            </a:r>
          </a:p>
          <a:p>
            <a:endParaRPr lang="en-US" dirty="0"/>
          </a:p>
          <a:p>
            <a:r>
              <a:rPr lang="en-US" dirty="0"/>
              <a:t>For example, a true color image will contain three bands: red, green, and blue. </a:t>
            </a:r>
          </a:p>
          <a:p>
            <a:endParaRPr lang="en-US" dirty="0"/>
          </a:p>
          <a:p>
            <a:r>
              <a:rPr lang="en-US" dirty="0"/>
              <a:t>For multiband images, the raster data structure is that of an array. Each cell location holds multiple measurements, or a single measurement in each band.</a:t>
            </a:r>
          </a:p>
          <a:p>
            <a:endParaRPr lang="en-US" dirty="0"/>
          </a:p>
          <a:p>
            <a:r>
              <a:rPr lang="en-US" dirty="0"/>
              <a:t>You can think of a multiband raster as a stack of single band layers that act as one file. </a:t>
            </a:r>
          </a:p>
          <a:p>
            <a:endParaRPr lang="en-US" dirty="0"/>
          </a:p>
          <a:p>
            <a:r>
              <a:rPr lang="en-US" dirty="0"/>
              <a:t>Although we will focus on multiband imagery here, you can actually create multiband raster grids from a variety of raster data layers. </a:t>
            </a:r>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5114270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Radiometric resolution has</a:t>
            </a:r>
            <a:r>
              <a:rPr lang="en-US" baseline="0" dirty="0"/>
              <a:t> to do with what levels in brightness can be differentiated. </a:t>
            </a:r>
          </a:p>
          <a:p>
            <a:endParaRPr lang="en-US" baseline="0" dirty="0"/>
          </a:p>
          <a:p>
            <a:r>
              <a:rPr lang="en-US" baseline="0" dirty="0"/>
              <a:t>This relates to the pixel type or pixel depth of an image. For example, a 4-bit image would be able to differentiate 16, or 2 to the 4</a:t>
            </a:r>
            <a:r>
              <a:rPr lang="en-US" baseline="30000" dirty="0"/>
              <a:t>th</a:t>
            </a:r>
            <a:r>
              <a:rPr lang="en-US" baseline="0" dirty="0"/>
              <a:t> power, discrete levels of brightness. In contrast an 8-bit image could differentiate 256, or 2 to the 8</a:t>
            </a:r>
            <a:r>
              <a:rPr lang="en-US" baseline="30000" dirty="0"/>
              <a:t>th</a:t>
            </a:r>
            <a:r>
              <a:rPr lang="en-US" baseline="0" dirty="0"/>
              <a:t> power, discrete levels of brightness. </a:t>
            </a:r>
          </a:p>
          <a:p>
            <a:endParaRPr lang="en-US" baseline="0" dirty="0"/>
          </a:p>
          <a:p>
            <a:r>
              <a:rPr lang="en-US" baseline="0" dirty="0"/>
              <a:t>A 16-bit image could differentiate a large number of discrete brightness differences. </a:t>
            </a:r>
          </a:p>
          <a:p>
            <a:endParaRPr lang="en-US" baseline="0" dirty="0"/>
          </a:p>
          <a:p>
            <a:r>
              <a:rPr lang="en-US" baseline="0" dirty="0"/>
              <a:t>As an extreme case, a 1-bit image could only differentiate 2 to the 1</a:t>
            </a:r>
            <a:r>
              <a:rPr lang="en-US" baseline="30000" dirty="0"/>
              <a:t>st</a:t>
            </a:r>
            <a:r>
              <a:rPr lang="en-US" baseline="0" dirty="0"/>
              <a:t> power, or 2, levels of brightness. So, the result would be black and white, or on and off. </a:t>
            </a:r>
          </a:p>
          <a:p>
            <a:endParaRPr lang="en-US" baseline="0" dirty="0"/>
          </a:p>
          <a:p>
            <a:r>
              <a:rPr lang="en-US" baseline="0" dirty="0"/>
              <a:t>You can think of this as the precision of the measurement. As an analogy, increasing radiometric resolution is like making length measurements to the nearest millimeter as oppose to the nearest meter. Or, you will be able to differentiate smaller differences in length. </a:t>
            </a:r>
          </a:p>
          <a:p>
            <a:endParaRPr lang="en-US" baseline="0" dirty="0"/>
          </a:p>
          <a:p>
            <a:r>
              <a:rPr lang="en-US" baseline="0" dirty="0"/>
              <a:t>Many older sensor recorded 8-bit data. However, modern sensors are increasingly providing 11-bit or 16-bit data. Again, this allows for more precise differentiation of brightness or spectral reflectance. The trade-off is larger file size and greater data volumes. </a:t>
            </a:r>
          </a:p>
        </p:txBody>
      </p:sp>
      <p:sp>
        <p:nvSpPr>
          <p:cNvPr id="4" name="Slide Number Placeholder 3"/>
          <p:cNvSpPr>
            <a:spLocks noGrp="1"/>
          </p:cNvSpPr>
          <p:nvPr>
            <p:ph type="sldNum" sz="quarter" idx="10"/>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24156800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grid cells are rectangular even if data are not provided in each cell. </a:t>
            </a:r>
          </a:p>
          <a:p>
            <a:endParaRPr lang="en-US" dirty="0"/>
          </a:p>
          <a:p>
            <a:r>
              <a:rPr lang="en-US" dirty="0"/>
              <a:t>This is because each row and column must have a full set of cells. </a:t>
            </a:r>
          </a:p>
          <a:p>
            <a:endParaRPr lang="en-US" dirty="0"/>
          </a:p>
          <a:p>
            <a:r>
              <a:rPr lang="en-US" dirty="0"/>
              <a:t>Grid cells that do not hold a measurement still exist, but they store a </a:t>
            </a:r>
            <a:r>
              <a:rPr lang="en-US" dirty="0" err="1"/>
              <a:t>NoData</a:t>
            </a:r>
            <a:r>
              <a:rPr lang="en-US" dirty="0"/>
              <a:t> assignment. </a:t>
            </a:r>
          </a:p>
          <a:p>
            <a:endParaRPr lang="en-US" dirty="0"/>
          </a:p>
          <a:p>
            <a:r>
              <a:rPr lang="en-US" dirty="0"/>
              <a:t>When the computer sees this value, it interprets it to mean empty, null, or missing. </a:t>
            </a:r>
          </a:p>
          <a:p>
            <a:endParaRPr lang="en-US" dirty="0"/>
          </a:p>
          <a:p>
            <a:r>
              <a:rPr lang="en-US" dirty="0"/>
              <a:t>For example, for an 8-bit raster grid either the lowest value, 0, or the highest value, 255, is commonly reserved as the </a:t>
            </a:r>
            <a:r>
              <a:rPr lang="en-US" dirty="0" err="1"/>
              <a:t>NoData</a:t>
            </a:r>
            <a:r>
              <a:rPr lang="en-US" dirty="0"/>
              <a:t> value.</a:t>
            </a:r>
          </a:p>
          <a:p>
            <a:endParaRPr lang="en-US" dirty="0"/>
          </a:p>
          <a:p>
            <a:r>
              <a:rPr lang="en-US" dirty="0"/>
              <a:t>In the example above, all cells within the state of Arkansas hold an elevation measurement. However, the full extent of the grid is rectangular. </a:t>
            </a:r>
          </a:p>
          <a:p>
            <a:endParaRPr lang="en-US" dirty="0"/>
          </a:p>
          <a:p>
            <a:r>
              <a:rPr lang="en-US" dirty="0"/>
              <a:t>So, the remaining cells, shown here in pink, are coded with the </a:t>
            </a:r>
            <a:r>
              <a:rPr lang="en-US" dirty="0" err="1"/>
              <a:t>NoData</a:t>
            </a:r>
            <a:r>
              <a:rPr lang="en-US" dirty="0"/>
              <a:t> assignment.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3394725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Reducing the cell size can have a large impact on the total number of cells and, as a result, the file size. </a:t>
            </a:r>
          </a:p>
          <a:p>
            <a:endParaRPr lang="en-US" dirty="0"/>
          </a:p>
          <a:p>
            <a:r>
              <a:rPr lang="en-US" dirty="0"/>
              <a:t>For example, in the image above the red grid represents cells that are 100 by 100 meters.</a:t>
            </a:r>
          </a:p>
          <a:p>
            <a:endParaRPr lang="en-US" dirty="0"/>
          </a:p>
          <a:p>
            <a:r>
              <a:rPr lang="en-US" dirty="0"/>
              <a:t>The green grid represents cells that are 50 by 50 meters. </a:t>
            </a:r>
          </a:p>
          <a:p>
            <a:endParaRPr lang="en-US" dirty="0"/>
          </a:p>
          <a:p>
            <a:r>
              <a:rPr lang="en-US" dirty="0"/>
              <a:t>Each 100 by 100 meter cell contains four as opposed to two 50 by 50 meters cells. </a:t>
            </a:r>
          </a:p>
          <a:p>
            <a:endParaRPr lang="en-US" dirty="0"/>
          </a:p>
          <a:p>
            <a:r>
              <a:rPr lang="en-US" dirty="0"/>
              <a:t>So, decreasing the cell size by half quadruples the number of pixels. </a:t>
            </a:r>
          </a:p>
          <a:p>
            <a:endParaRPr lang="en-US" dirty="0"/>
          </a:p>
          <a:p>
            <a:r>
              <a:rPr lang="en-US" dirty="0"/>
              <a:t>As another example, a 10 by 10 meter cell would contain 100 1 by 1 meter cells. </a:t>
            </a:r>
          </a:p>
          <a:p>
            <a:endParaRPr lang="en-US" dirty="0"/>
          </a:p>
          <a:p>
            <a:r>
              <a:rPr lang="en-US" dirty="0"/>
              <a:t>So, high spatial resolution raster grids can be very large files, especially if they cover a large spatial extent.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41482424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 variety of raster grid formats. However, I commonly use ESRI grids, </a:t>
            </a:r>
            <a:r>
              <a:rPr lang="en-US" dirty="0" err="1"/>
              <a:t>Erdas</a:t>
            </a:r>
            <a:r>
              <a:rPr lang="en-US" dirty="0"/>
              <a:t> Imagine, or </a:t>
            </a:r>
            <a:r>
              <a:rPr lang="en-US" dirty="0" err="1"/>
              <a:t>GeoTIFF</a:t>
            </a:r>
            <a:r>
              <a:rPr lang="en-US" dirty="0"/>
              <a:t> files.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4333678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28750895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10103194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E,H,J</a:t>
            </a:r>
          </a:p>
        </p:txBody>
      </p:sp>
      <p:sp>
        <p:nvSpPr>
          <p:cNvPr id="4" name="Slide Number Placeholder 3"/>
          <p:cNvSpPr>
            <a:spLocks noGrp="1"/>
          </p:cNvSpPr>
          <p:nvPr>
            <p:ph type="sldNum" sz="quarter" idx="10"/>
          </p:nvPr>
        </p:nvSpPr>
        <p:spPr/>
        <p:txBody>
          <a:bodyPr/>
          <a:lstStyle/>
          <a:p>
            <a:fld id="{01F2A70B-78F2-4DCF-B53B-C990D2FAFB8A}" type="slidenum">
              <a:rPr lang="en-US" smtClean="0"/>
              <a:t>32</a:t>
            </a:fld>
            <a:endParaRPr lang="en-US"/>
          </a:p>
        </p:txBody>
      </p:sp>
    </p:spTree>
    <p:extLst>
      <p:ext uri="{BB962C8B-B14F-4D97-AF65-F5344CB8AC3E}">
        <p14:creationId xmlns:p14="http://schemas.microsoft.com/office/powerpoint/2010/main" val="34459952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25943717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34</a:t>
            </a:fld>
            <a:endParaRPr lang="en-US"/>
          </a:p>
        </p:txBody>
      </p:sp>
    </p:spTree>
    <p:extLst>
      <p:ext uri="{BB962C8B-B14F-4D97-AF65-F5344CB8AC3E}">
        <p14:creationId xmlns:p14="http://schemas.microsoft.com/office/powerpoint/2010/main" val="11236643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35</a:t>
            </a:fld>
            <a:endParaRPr lang="en-US"/>
          </a:p>
        </p:txBody>
      </p:sp>
    </p:spTree>
    <p:extLst>
      <p:ext uri="{BB962C8B-B14F-4D97-AF65-F5344CB8AC3E}">
        <p14:creationId xmlns:p14="http://schemas.microsoft.com/office/powerpoint/2010/main" val="8191600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36</a:t>
            </a:fld>
            <a:endParaRPr lang="en-US"/>
          </a:p>
        </p:txBody>
      </p:sp>
    </p:spTree>
    <p:extLst>
      <p:ext uri="{BB962C8B-B14F-4D97-AF65-F5344CB8AC3E}">
        <p14:creationId xmlns:p14="http://schemas.microsoft.com/office/powerpoint/2010/main" val="28870908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37</a:t>
            </a:fld>
            <a:endParaRPr lang="en-US"/>
          </a:p>
        </p:txBody>
      </p:sp>
    </p:spTree>
    <p:extLst>
      <p:ext uri="{BB962C8B-B14F-4D97-AF65-F5344CB8AC3E}">
        <p14:creationId xmlns:p14="http://schemas.microsoft.com/office/powerpoint/2010/main" val="37458205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38</a:t>
            </a:fld>
            <a:endParaRPr lang="en-US"/>
          </a:p>
        </p:txBody>
      </p:sp>
    </p:spTree>
    <p:extLst>
      <p:ext uri="{BB962C8B-B14F-4D97-AF65-F5344CB8AC3E}">
        <p14:creationId xmlns:p14="http://schemas.microsoft.com/office/powerpoint/2010/main" val="42846225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39</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9/7/2025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80753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9/7/2025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5557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9/7/2025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42482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9/7/2025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131929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9/7/2025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35890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9/7/2025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33895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9/7/2025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30252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9/7/2025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57735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9/7/2025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38286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9/7/2025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65017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9/7/2025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333905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9/7/2025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368566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9/7/2025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872240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9/7/2025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500289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993718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8092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778024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534419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9/7/2025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2932115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9/7/2025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197563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322699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9/7/2025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155479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26886920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9/7/2025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204798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9/7/2025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732770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9/7/2025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617592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38092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057188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272089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655628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9/7/2025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4251074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9/7/2025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008948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714485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9/7/2025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92567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9/7/2025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67066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9/7/2025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9488988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9/7/2025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232822364"/>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youtube.com/watch?v=-Fs2t6P5AjY"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ti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hyperlink" Target="https://www.esri.com/about/newsroom/arcuser/understanding-raster-georeferencing" TargetMode="Externa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hyperlink" Target="https://www.esri.com/about/newsroom/arcuser/understanding-raster-georeferencing"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www.seos-project.eu/modules/classification/classification-c01-p05.html"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hyperlink" Target="https://landsat.usgs.gov/what-are-band-designations-landsat-satellites"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2.ti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2.ti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1" y="740565"/>
            <a:ext cx="3871767" cy="1831185"/>
          </a:xfrm>
        </p:spPr>
        <p:txBody>
          <a:bodyPr>
            <a:normAutofit/>
          </a:bodyPr>
          <a:lstStyle/>
          <a:p>
            <a:r>
              <a:rPr lang="en-US" sz="2700" dirty="0">
                <a:solidFill>
                  <a:srgbClr val="FFFFFF"/>
                </a:solidFill>
              </a:rPr>
              <a:t>WEEK 04 </a:t>
            </a:r>
            <a:br>
              <a:rPr lang="en-US" sz="2700" dirty="0">
                <a:solidFill>
                  <a:srgbClr val="FFFFFF"/>
                </a:solidFill>
              </a:rPr>
            </a:br>
            <a:r>
              <a:rPr lang="en-US" sz="2800" dirty="0"/>
              <a:t>Geospatial Data</a:t>
            </a:r>
            <a:br>
              <a:rPr lang="en-US" sz="2700" dirty="0">
                <a:solidFill>
                  <a:srgbClr val="FFFFFF"/>
                </a:solidFill>
              </a:rPr>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2798352"/>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4.1 </a:t>
            </a:r>
            <a:br>
              <a:rPr lang="en-US" sz="4050" dirty="0">
                <a:solidFill>
                  <a:srgbClr val="FFFFFF"/>
                </a:solidFill>
              </a:rPr>
            </a:br>
            <a:r>
              <a:rPr lang="en-US" sz="4050" dirty="0">
                <a:solidFill>
                  <a:srgbClr val="FFFFFF"/>
                </a:solidFill>
              </a:rPr>
              <a:t>Introduction to </a:t>
            </a:r>
            <a:r>
              <a:rPr lang="en-US" sz="4050" dirty="0" err="1">
                <a:solidFill>
                  <a:srgbClr val="FFFFFF"/>
                </a:solidFill>
              </a:rPr>
              <a:t>gis</a:t>
            </a:r>
            <a:endParaRPr lang="en-US" sz="4050" dirty="0">
              <a:solidFill>
                <a:srgbClr val="FFFFFF"/>
              </a:solidFill>
            </a:endParaRP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1" y="1029962"/>
            <a:ext cx="7679724" cy="3886200"/>
          </a:xfrm>
        </p:spPr>
        <p:txBody>
          <a:bodyPr>
            <a:normAutofit fontScale="92500" lnSpcReduction="10000"/>
          </a:bodyPr>
          <a:lstStyle/>
          <a:p>
            <a:pPr>
              <a:buFont typeface="Courier New" panose="02070309020205020404" pitchFamily="49" charset="0"/>
              <a:buChar char="o"/>
            </a:pPr>
            <a:r>
              <a:rPr lang="en-US" altLang="en-US" sz="2600" dirty="0"/>
              <a:t>Geospatial data</a:t>
            </a:r>
          </a:p>
          <a:p>
            <a:pPr lvl="1">
              <a:buFont typeface="Wingdings" panose="05000000000000000000" pitchFamily="2" charset="2"/>
              <a:buChar char="ü"/>
            </a:pPr>
            <a:r>
              <a:rPr lang="en-US" altLang="en-US" sz="2300" dirty="0"/>
              <a:t>Vector</a:t>
            </a:r>
          </a:p>
          <a:p>
            <a:pPr lvl="2">
              <a:buFont typeface="Arial" panose="020B0604020202020204" pitchFamily="34" charset="0"/>
              <a:buChar char="•"/>
            </a:pPr>
            <a:r>
              <a:rPr lang="en-US" altLang="en-US" sz="1940" dirty="0"/>
              <a:t>Point</a:t>
            </a:r>
          </a:p>
          <a:p>
            <a:pPr lvl="2">
              <a:buFont typeface="Arial" panose="020B0604020202020204" pitchFamily="34" charset="0"/>
              <a:buChar char="•"/>
            </a:pPr>
            <a:r>
              <a:rPr lang="en-US" altLang="en-US" sz="1940" dirty="0"/>
              <a:t>Line</a:t>
            </a:r>
          </a:p>
          <a:p>
            <a:pPr lvl="2">
              <a:buFont typeface="Arial" panose="020B0604020202020204" pitchFamily="34" charset="0"/>
              <a:buChar char="•"/>
            </a:pPr>
            <a:r>
              <a:rPr lang="en-US" altLang="en-US" sz="1940" dirty="0"/>
              <a:t>Polygon</a:t>
            </a:r>
          </a:p>
          <a:p>
            <a:pPr lvl="1">
              <a:buFont typeface="Wingdings" panose="05000000000000000000" pitchFamily="2" charset="2"/>
              <a:buChar char="ü"/>
            </a:pPr>
            <a:r>
              <a:rPr lang="en-US" altLang="en-US" sz="2300" dirty="0"/>
              <a:t>Raster</a:t>
            </a:r>
          </a:p>
          <a:p>
            <a:pPr lvl="2">
              <a:buFont typeface="Arial" panose="020B0604020202020204" pitchFamily="34" charset="0"/>
              <a:buChar char="•"/>
            </a:pPr>
            <a:r>
              <a:rPr lang="en-US" altLang="en-US" sz="1940" dirty="0"/>
              <a:t>Pixel</a:t>
            </a:r>
          </a:p>
          <a:p>
            <a:pPr lvl="1">
              <a:buFont typeface="Wingdings" panose="05000000000000000000" pitchFamily="2" charset="2"/>
              <a:buChar char="ü"/>
            </a:pPr>
            <a:r>
              <a:rPr lang="en-US" altLang="en-US" sz="2300" dirty="0"/>
              <a:t>Triangulated Irregular Network</a:t>
            </a:r>
          </a:p>
          <a:p>
            <a:pPr lvl="1">
              <a:buFont typeface="Wingdings" panose="05000000000000000000" pitchFamily="2" charset="2"/>
              <a:buChar char="ü"/>
            </a:pPr>
            <a:r>
              <a:rPr lang="en-US" altLang="en-US" sz="2300" dirty="0"/>
              <a:t>Objected Data Model</a:t>
            </a:r>
          </a:p>
          <a:p>
            <a:pPr lvl="1">
              <a:buFont typeface="Wingdings" panose="05000000000000000000" pitchFamily="2" charset="2"/>
              <a:buChar char="ü"/>
            </a:pPr>
            <a:r>
              <a:rPr lang="en-US" altLang="en-US" sz="2300" dirty="0"/>
              <a:t>Three-Dimensional Data Models</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47135" y="1812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extLst>
      <p:ext uri="{BB962C8B-B14F-4D97-AF65-F5344CB8AC3E}">
        <p14:creationId xmlns:p14="http://schemas.microsoft.com/office/powerpoint/2010/main" val="1566743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82585" y="1165536"/>
            <a:ext cx="7406640" cy="3394472"/>
          </a:xfrm>
        </p:spPr>
        <p:txBody>
          <a:bodyPr>
            <a:noAutofit/>
          </a:bodyPr>
          <a:lstStyle/>
          <a:p>
            <a:pPr>
              <a:buFont typeface="Courier New" panose="02070309020205020404" pitchFamily="49" charset="0"/>
              <a:buChar char="o"/>
            </a:pPr>
            <a:r>
              <a:rPr lang="en-US" sz="2400" dirty="0"/>
              <a:t>Two data models</a:t>
            </a:r>
          </a:p>
          <a:p>
            <a:pPr lvl="1">
              <a:buFont typeface="Wingdings" panose="05000000000000000000" pitchFamily="2" charset="2"/>
              <a:buChar char="ü"/>
            </a:pPr>
            <a:r>
              <a:rPr lang="en-US" sz="2400" b="1" dirty="0">
                <a:solidFill>
                  <a:srgbClr val="E3874F"/>
                </a:solidFill>
              </a:rPr>
              <a:t>Vector Data</a:t>
            </a:r>
          </a:p>
          <a:p>
            <a:pPr lvl="2">
              <a:buFont typeface="Arial" panose="020B0604020202020204" pitchFamily="34" charset="0"/>
              <a:buChar char="•"/>
            </a:pPr>
            <a:r>
              <a:rPr lang="en-US" sz="2400" dirty="0"/>
              <a:t>Discrete</a:t>
            </a:r>
          </a:p>
          <a:p>
            <a:pPr lvl="2">
              <a:buFont typeface="Arial" panose="020B0604020202020204" pitchFamily="34" charset="0"/>
              <a:buChar char="•"/>
            </a:pPr>
            <a:r>
              <a:rPr lang="en-US" sz="2400" dirty="0"/>
              <a:t>Points, lines, and polygons</a:t>
            </a:r>
          </a:p>
          <a:p>
            <a:pPr lvl="1">
              <a:buFont typeface="Wingdings" panose="05000000000000000000" pitchFamily="2" charset="2"/>
              <a:buChar char="ü"/>
            </a:pPr>
            <a:r>
              <a:rPr lang="en-US" sz="2400" b="1" dirty="0">
                <a:solidFill>
                  <a:srgbClr val="E3874F"/>
                </a:solidFill>
              </a:rPr>
              <a:t>Raster Data</a:t>
            </a:r>
          </a:p>
          <a:p>
            <a:pPr lvl="2">
              <a:buFont typeface="Arial" panose="020B0604020202020204" pitchFamily="34" charset="0"/>
              <a:buChar char="•"/>
            </a:pPr>
            <a:r>
              <a:rPr lang="en-US" sz="2400" dirty="0"/>
              <a:t>Space filling</a:t>
            </a:r>
          </a:p>
          <a:p>
            <a:pPr lvl="2">
              <a:buFont typeface="Arial" panose="020B0604020202020204" pitchFamily="34" charset="0"/>
              <a:buChar char="•"/>
            </a:pPr>
            <a:r>
              <a:rPr lang="en-US" sz="2400" dirty="0"/>
              <a:t>Cell- or pixel-based</a:t>
            </a:r>
          </a:p>
        </p:txBody>
      </p:sp>
      <p:sp>
        <p:nvSpPr>
          <p:cNvPr id="2" name="Slide Number Placeholder 1">
            <a:extLst>
              <a:ext uri="{FF2B5EF4-FFF2-40B4-BE49-F238E27FC236}">
                <a16:creationId xmlns:a16="http://schemas.microsoft.com/office/drawing/2014/main" id="{C3962AF3-F9BB-4A89-9FB4-DE7E4393D2FA}"/>
              </a:ext>
            </a:extLst>
          </p:cNvPr>
          <p:cNvSpPr>
            <a:spLocks noGrp="1"/>
          </p:cNvSpPr>
          <p:nvPr>
            <p:ph type="sldNum" sz="quarter" idx="12"/>
          </p:nvPr>
        </p:nvSpPr>
        <p:spPr/>
        <p:txBody>
          <a:bodyPr/>
          <a:lstStyle/>
          <a:p>
            <a:fld id="{127DDC20-79C9-9647-820E-6D40A3D210C3}" type="slidenum">
              <a:rPr lang="en-US" smtClean="0"/>
              <a:pPr/>
              <a:t>4</a:t>
            </a:fld>
            <a:endParaRPr lang="en-US"/>
          </a:p>
        </p:txBody>
      </p:sp>
      <p:grpSp>
        <p:nvGrpSpPr>
          <p:cNvPr id="6" name="Group 5" descr="Vector data"/>
          <p:cNvGrpSpPr/>
          <p:nvPr/>
        </p:nvGrpSpPr>
        <p:grpSpPr>
          <a:xfrm>
            <a:off x="3777649" y="1413770"/>
            <a:ext cx="3909542" cy="1357877"/>
            <a:chOff x="5595059" y="1713920"/>
            <a:chExt cx="5790406" cy="2011146"/>
          </a:xfrm>
        </p:grpSpPr>
        <p:sp>
          <p:nvSpPr>
            <p:cNvPr id="7" name="Line 51"/>
            <p:cNvSpPr>
              <a:spLocks noChangeShapeType="1"/>
            </p:cNvSpPr>
            <p:nvPr/>
          </p:nvSpPr>
          <p:spPr bwMode="auto">
            <a:xfrm flipH="1">
              <a:off x="9699503" y="2825747"/>
              <a:ext cx="42863" cy="827087"/>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8" name="Line 65"/>
            <p:cNvSpPr>
              <a:spLocks noChangeShapeType="1"/>
            </p:cNvSpPr>
            <p:nvPr/>
          </p:nvSpPr>
          <p:spPr bwMode="auto">
            <a:xfrm>
              <a:off x="7654768" y="2382258"/>
              <a:ext cx="2036762" cy="1262063"/>
            </a:xfrm>
            <a:prstGeom prst="line">
              <a:avLst/>
            </a:prstGeom>
            <a:noFill/>
            <a:ln w="28575">
              <a:solidFill>
                <a:schemeClr val="folHlink"/>
              </a:solidFill>
              <a:round/>
              <a:headEnd type="none" w="lg" len="lg"/>
              <a:tailEnd type="none" w="lg" len="lg"/>
            </a:ln>
          </p:spPr>
          <p:txBody>
            <a:bodyPr wrap="none" lIns="62167" tIns="31084" rIns="62167" bIns="31084" anchor="ctr"/>
            <a:lstStyle/>
            <a:p>
              <a:endParaRPr lang="en-US" sz="1215"/>
            </a:p>
          </p:txBody>
        </p:sp>
        <p:sp>
          <p:nvSpPr>
            <p:cNvPr id="9" name="Line 44"/>
            <p:cNvSpPr>
              <a:spLocks noChangeShapeType="1"/>
            </p:cNvSpPr>
            <p:nvPr/>
          </p:nvSpPr>
          <p:spPr bwMode="auto">
            <a:xfrm>
              <a:off x="6811011" y="1841606"/>
              <a:ext cx="820738" cy="520700"/>
            </a:xfrm>
            <a:prstGeom prst="line">
              <a:avLst/>
            </a:prstGeom>
            <a:noFill/>
            <a:ln w="28575">
              <a:solidFill>
                <a:srgbClr val="CC9900"/>
              </a:solidFill>
              <a:round/>
              <a:headEnd type="none" w="lg" len="lg"/>
              <a:tailEnd type="none" w="lg" len="lg"/>
            </a:ln>
          </p:spPr>
          <p:txBody>
            <a:bodyPr wrap="none" lIns="62167" tIns="31084" rIns="62167" bIns="31084" anchor="ctr"/>
            <a:lstStyle/>
            <a:p>
              <a:endParaRPr lang="en-US" sz="1215"/>
            </a:p>
          </p:txBody>
        </p:sp>
        <p:sp>
          <p:nvSpPr>
            <p:cNvPr id="10" name="Line 67"/>
            <p:cNvSpPr>
              <a:spLocks noChangeShapeType="1"/>
            </p:cNvSpPr>
            <p:nvPr/>
          </p:nvSpPr>
          <p:spPr bwMode="auto">
            <a:xfrm>
              <a:off x="8962146" y="2113753"/>
              <a:ext cx="57150" cy="382588"/>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11" name="Line 48"/>
            <p:cNvSpPr>
              <a:spLocks noChangeShapeType="1"/>
            </p:cNvSpPr>
            <p:nvPr/>
          </p:nvSpPr>
          <p:spPr bwMode="auto">
            <a:xfrm>
              <a:off x="9511347" y="2545734"/>
              <a:ext cx="225425" cy="2889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grpSp>
          <p:nvGrpSpPr>
            <p:cNvPr id="12" name="Group 11"/>
            <p:cNvGrpSpPr/>
            <p:nvPr/>
          </p:nvGrpSpPr>
          <p:grpSpPr>
            <a:xfrm>
              <a:off x="5595059" y="1713920"/>
              <a:ext cx="5790406" cy="2011146"/>
              <a:chOff x="718344" y="4402354"/>
              <a:chExt cx="5790406" cy="2011146"/>
            </a:xfrm>
          </p:grpSpPr>
          <p:sp>
            <p:nvSpPr>
              <p:cNvPr id="13" name="Line 64"/>
              <p:cNvSpPr>
                <a:spLocks noChangeShapeType="1"/>
              </p:cNvSpPr>
              <p:nvPr/>
            </p:nvSpPr>
            <p:spPr bwMode="auto">
              <a:xfrm flipV="1">
                <a:off x="2757488" y="4929188"/>
                <a:ext cx="688975" cy="1111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14" name="Line 45"/>
              <p:cNvSpPr>
                <a:spLocks noChangeShapeType="1"/>
              </p:cNvSpPr>
              <p:nvPr/>
            </p:nvSpPr>
            <p:spPr bwMode="auto">
              <a:xfrm>
                <a:off x="4181475" y="5184775"/>
                <a:ext cx="482600" cy="50800"/>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15" name="Text Box 61"/>
              <p:cNvSpPr txBox="1">
                <a:spLocks noChangeArrowheads="1"/>
              </p:cNvSpPr>
              <p:nvPr/>
            </p:nvSpPr>
            <p:spPr bwMode="auto">
              <a:xfrm>
                <a:off x="2136775" y="5630862"/>
                <a:ext cx="691654" cy="369902"/>
              </a:xfrm>
              <a:prstGeom prst="rect">
                <a:avLst/>
              </a:prstGeom>
              <a:noFill/>
              <a:ln w="12700">
                <a:noFill/>
                <a:miter lim="800000"/>
                <a:headEnd/>
                <a:tailEnd/>
              </a:ln>
            </p:spPr>
            <p:txBody>
              <a:bodyPr wrap="none" lIns="62167" tIns="31084" rIns="62167" bIns="31084">
                <a:spAutoFit/>
              </a:bodyPr>
              <a:lstStyle/>
              <a:p>
                <a:r>
                  <a:rPr lang="en-US" sz="1215">
                    <a:solidFill>
                      <a:srgbClr val="E3874F"/>
                    </a:solidFill>
                  </a:rPr>
                  <a:t>Node</a:t>
                </a:r>
              </a:p>
            </p:txBody>
          </p:sp>
          <p:sp>
            <p:nvSpPr>
              <p:cNvPr id="16" name="Line 63"/>
              <p:cNvSpPr>
                <a:spLocks noChangeShapeType="1"/>
              </p:cNvSpPr>
              <p:nvPr/>
            </p:nvSpPr>
            <p:spPr bwMode="auto">
              <a:xfrm flipV="1">
                <a:off x="2592388" y="5213350"/>
                <a:ext cx="136525" cy="455613"/>
              </a:xfrm>
              <a:prstGeom prst="line">
                <a:avLst/>
              </a:prstGeom>
              <a:noFill/>
              <a:ln w="12700">
                <a:solidFill>
                  <a:srgbClr val="E3874F"/>
                </a:solidFill>
                <a:round/>
                <a:headEnd/>
                <a:tailEnd type="triangle" w="med" len="med"/>
              </a:ln>
            </p:spPr>
            <p:txBody>
              <a:bodyPr wrap="none" lIns="62167" tIns="31084" rIns="62167" bIns="31084" anchor="ctr"/>
              <a:lstStyle/>
              <a:p>
                <a:endParaRPr lang="en-US" sz="1215"/>
              </a:p>
            </p:txBody>
          </p:sp>
          <p:sp>
            <p:nvSpPr>
              <p:cNvPr id="17" name="Oval 55"/>
              <p:cNvSpPr>
                <a:spLocks noChangeArrowheads="1"/>
              </p:cNvSpPr>
              <p:nvPr/>
            </p:nvSpPr>
            <p:spPr bwMode="auto">
              <a:xfrm>
                <a:off x="4722813" y="6235700"/>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18" name="Line 66"/>
              <p:cNvSpPr>
                <a:spLocks noChangeShapeType="1"/>
              </p:cNvSpPr>
              <p:nvPr/>
            </p:nvSpPr>
            <p:spPr bwMode="auto">
              <a:xfrm flipV="1">
                <a:off x="3459163" y="4779963"/>
                <a:ext cx="688975" cy="1111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19" name="Line 71"/>
              <p:cNvSpPr>
                <a:spLocks noChangeShapeType="1"/>
              </p:cNvSpPr>
              <p:nvPr/>
            </p:nvSpPr>
            <p:spPr bwMode="auto">
              <a:xfrm flipV="1">
                <a:off x="4873625" y="5918200"/>
                <a:ext cx="1570038" cy="393700"/>
              </a:xfrm>
              <a:prstGeom prst="line">
                <a:avLst/>
              </a:prstGeom>
              <a:noFill/>
              <a:ln w="28575">
                <a:solidFill>
                  <a:srgbClr val="F76681"/>
                </a:solidFill>
                <a:round/>
                <a:headEnd type="none" w="lg" len="lg"/>
                <a:tailEnd type="none" w="lg" len="lg"/>
              </a:ln>
            </p:spPr>
            <p:txBody>
              <a:bodyPr wrap="none" lIns="62167" tIns="31084" rIns="62167" bIns="31084" anchor="ctr"/>
              <a:lstStyle/>
              <a:p>
                <a:endParaRPr lang="en-US" sz="1215"/>
              </a:p>
            </p:txBody>
          </p:sp>
          <p:sp>
            <p:nvSpPr>
              <p:cNvPr id="20" name="Oval 72"/>
              <p:cNvSpPr>
                <a:spLocks noChangeArrowheads="1"/>
              </p:cNvSpPr>
              <p:nvPr/>
            </p:nvSpPr>
            <p:spPr bwMode="auto">
              <a:xfrm>
                <a:off x="6348413" y="5838825"/>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21" name="Text Box 73"/>
              <p:cNvSpPr txBox="1">
                <a:spLocks noChangeArrowheads="1"/>
              </p:cNvSpPr>
              <p:nvPr/>
            </p:nvSpPr>
            <p:spPr bwMode="auto">
              <a:xfrm>
                <a:off x="5243514" y="4924425"/>
                <a:ext cx="785767" cy="369902"/>
              </a:xfrm>
              <a:prstGeom prst="rect">
                <a:avLst/>
              </a:prstGeom>
              <a:noFill/>
              <a:ln w="12700">
                <a:noFill/>
                <a:miter lim="800000"/>
                <a:headEnd/>
                <a:tailEnd/>
              </a:ln>
            </p:spPr>
            <p:txBody>
              <a:bodyPr wrap="none" lIns="62167" tIns="31084" rIns="62167" bIns="31084">
                <a:spAutoFit/>
              </a:bodyPr>
              <a:lstStyle/>
              <a:p>
                <a:r>
                  <a:rPr lang="en-US" sz="1215">
                    <a:solidFill>
                      <a:schemeClr val="accent2"/>
                    </a:solidFill>
                  </a:rPr>
                  <a:t>Vertex</a:t>
                </a:r>
              </a:p>
            </p:txBody>
          </p:sp>
          <p:sp>
            <p:nvSpPr>
              <p:cNvPr id="22" name="Line 74"/>
              <p:cNvSpPr>
                <a:spLocks noChangeShapeType="1"/>
              </p:cNvSpPr>
              <p:nvPr/>
            </p:nvSpPr>
            <p:spPr bwMode="auto">
              <a:xfrm flipH="1">
                <a:off x="4829175" y="5091113"/>
                <a:ext cx="466725" cy="55562"/>
              </a:xfrm>
              <a:prstGeom prst="line">
                <a:avLst/>
              </a:prstGeom>
              <a:noFill/>
              <a:ln w="12700">
                <a:solidFill>
                  <a:schemeClr val="accent2"/>
                </a:solidFill>
                <a:round/>
                <a:headEnd/>
                <a:tailEnd type="triangle" w="med" len="med"/>
              </a:ln>
            </p:spPr>
            <p:txBody>
              <a:bodyPr wrap="none" lIns="62167" tIns="31084" rIns="62167" bIns="31084" anchor="ctr"/>
              <a:lstStyle/>
              <a:p>
                <a:endParaRPr lang="en-US" sz="1215"/>
              </a:p>
            </p:txBody>
          </p:sp>
          <p:sp>
            <p:nvSpPr>
              <p:cNvPr id="23" name="Line 75"/>
              <p:cNvSpPr>
                <a:spLocks noChangeShapeType="1"/>
              </p:cNvSpPr>
              <p:nvPr/>
            </p:nvSpPr>
            <p:spPr bwMode="auto">
              <a:xfrm flipH="1">
                <a:off x="4981575" y="5226050"/>
                <a:ext cx="357188" cy="228600"/>
              </a:xfrm>
              <a:prstGeom prst="line">
                <a:avLst/>
              </a:prstGeom>
              <a:noFill/>
              <a:ln w="12700">
                <a:solidFill>
                  <a:schemeClr val="accent2"/>
                </a:solidFill>
                <a:round/>
                <a:headEnd/>
                <a:tailEnd type="triangle" w="med" len="med"/>
              </a:ln>
            </p:spPr>
            <p:txBody>
              <a:bodyPr wrap="none" lIns="62167" tIns="31084" rIns="62167" bIns="31084" anchor="ctr"/>
              <a:lstStyle/>
              <a:p>
                <a:endParaRPr lang="en-US" sz="1215"/>
              </a:p>
            </p:txBody>
          </p:sp>
          <p:sp>
            <p:nvSpPr>
              <p:cNvPr id="24" name="Oval 68"/>
              <p:cNvSpPr>
                <a:spLocks noChangeArrowheads="1"/>
              </p:cNvSpPr>
              <p:nvPr/>
            </p:nvSpPr>
            <p:spPr bwMode="auto">
              <a:xfrm>
                <a:off x="3994944" y="4724400"/>
                <a:ext cx="160337"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25" name="Oval 69"/>
              <p:cNvSpPr>
                <a:spLocks noChangeArrowheads="1"/>
              </p:cNvSpPr>
              <p:nvPr/>
            </p:nvSpPr>
            <p:spPr bwMode="auto">
              <a:xfrm>
                <a:off x="4085431" y="5108575"/>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26" name="Oval 56"/>
              <p:cNvSpPr>
                <a:spLocks noChangeArrowheads="1"/>
              </p:cNvSpPr>
              <p:nvPr/>
            </p:nvSpPr>
            <p:spPr bwMode="auto">
              <a:xfrm>
                <a:off x="3329781" y="4827588"/>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27" name="Line 43"/>
              <p:cNvSpPr>
                <a:spLocks noChangeShapeType="1"/>
              </p:cNvSpPr>
              <p:nvPr/>
            </p:nvSpPr>
            <p:spPr bwMode="auto">
              <a:xfrm flipV="1">
                <a:off x="818356" y="5061167"/>
                <a:ext cx="1960563" cy="395287"/>
              </a:xfrm>
              <a:prstGeom prst="line">
                <a:avLst/>
              </a:prstGeom>
              <a:noFill/>
              <a:ln w="28575">
                <a:solidFill>
                  <a:srgbClr val="800080"/>
                </a:solidFill>
                <a:round/>
                <a:headEnd type="none" w="lg" len="lg"/>
                <a:tailEnd type="none" w="lg" len="lg"/>
              </a:ln>
            </p:spPr>
            <p:txBody>
              <a:bodyPr wrap="none" lIns="62167" tIns="31084" rIns="62167" bIns="31084" anchor="ctr"/>
              <a:lstStyle/>
              <a:p>
                <a:endParaRPr lang="en-US" sz="1215"/>
              </a:p>
            </p:txBody>
          </p:sp>
          <p:sp>
            <p:nvSpPr>
              <p:cNvPr id="28" name="Oval 46"/>
              <p:cNvSpPr>
                <a:spLocks noChangeArrowheads="1"/>
              </p:cNvSpPr>
              <p:nvPr/>
            </p:nvSpPr>
            <p:spPr bwMode="auto">
              <a:xfrm>
                <a:off x="1864519" y="4402354"/>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29" name="Oval 28"/>
              <p:cNvSpPr>
                <a:spLocks noChangeArrowheads="1"/>
              </p:cNvSpPr>
              <p:nvPr/>
            </p:nvSpPr>
            <p:spPr bwMode="auto">
              <a:xfrm>
                <a:off x="718344" y="5354854"/>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30" name="Oval 54"/>
              <p:cNvSpPr>
                <a:spLocks noChangeArrowheads="1"/>
              </p:cNvSpPr>
              <p:nvPr/>
            </p:nvSpPr>
            <p:spPr bwMode="auto">
              <a:xfrm>
                <a:off x="4780756" y="5437404"/>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31" name="Oval 53"/>
              <p:cNvSpPr>
                <a:spLocks noChangeArrowheads="1"/>
              </p:cNvSpPr>
              <p:nvPr/>
            </p:nvSpPr>
            <p:spPr bwMode="auto">
              <a:xfrm>
                <a:off x="2672556" y="4959567"/>
                <a:ext cx="160338"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32" name="Oval 70"/>
              <p:cNvSpPr>
                <a:spLocks noChangeArrowheads="1"/>
              </p:cNvSpPr>
              <p:nvPr/>
            </p:nvSpPr>
            <p:spPr bwMode="auto">
              <a:xfrm>
                <a:off x="4596606" y="5154829"/>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grpSp>
      </p:grpSp>
      <p:pic>
        <p:nvPicPr>
          <p:cNvPr id="33" name="Picture 32" descr="Raster data"/>
          <p:cNvPicPr>
            <a:picLocks noChangeAspect="1"/>
          </p:cNvPicPr>
          <p:nvPr/>
        </p:nvPicPr>
        <p:blipFill>
          <a:blip r:embed="rId3"/>
          <a:stretch>
            <a:fillRect/>
          </a:stretch>
        </p:blipFill>
        <p:spPr>
          <a:xfrm>
            <a:off x="5247288" y="2956534"/>
            <a:ext cx="2116177" cy="1819214"/>
          </a:xfrm>
          <a:prstGeom prst="rect">
            <a:avLst/>
          </a:prstGeom>
        </p:spPr>
      </p:pic>
      <p:sp>
        <p:nvSpPr>
          <p:cNvPr id="34" name="Title 1">
            <a:extLst>
              <a:ext uri="{FF2B5EF4-FFF2-40B4-BE49-F238E27FC236}">
                <a16:creationId xmlns:a16="http://schemas.microsoft.com/office/drawing/2014/main" id="{F2B43843-8E1E-49CE-959C-569F105F5BC4}"/>
              </a:ext>
            </a:extLst>
          </p:cNvPr>
          <p:cNvSpPr txBox="1">
            <a:spLocks/>
          </p:cNvSpPr>
          <p:nvPr/>
        </p:nvSpPr>
        <p:spPr>
          <a:xfrm>
            <a:off x="182585" y="16871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Geospatial data</a:t>
            </a:r>
            <a:endParaRPr lang="en-US" sz="2600" dirty="0">
              <a:solidFill>
                <a:srgbClr val="7030A0"/>
              </a:solidFill>
            </a:endParaRPr>
          </a:p>
        </p:txBody>
      </p:sp>
      <p:cxnSp>
        <p:nvCxnSpPr>
          <p:cNvPr id="35" name="Straight Connector 34">
            <a:extLst>
              <a:ext uri="{FF2B5EF4-FFF2-40B4-BE49-F238E27FC236}">
                <a16:creationId xmlns:a16="http://schemas.microsoft.com/office/drawing/2014/main" id="{F76F82A3-9536-4D99-B8CB-DD7C4CC7BD6D}"/>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C1BFDF12-CB17-4E4D-8111-BF6D4CE852C3}"/>
              </a:ext>
            </a:extLst>
          </p:cNvPr>
          <p:cNvSpPr txBox="1"/>
          <p:nvPr/>
        </p:nvSpPr>
        <p:spPr>
          <a:xfrm>
            <a:off x="118533" y="4671775"/>
            <a:ext cx="2761956" cy="369332"/>
          </a:xfrm>
          <a:prstGeom prst="rect">
            <a:avLst/>
          </a:prstGeom>
          <a:noFill/>
        </p:spPr>
        <p:txBody>
          <a:bodyPr wrap="square">
            <a:spAutoFit/>
          </a:bodyPr>
          <a:lstStyle/>
          <a:p>
            <a:r>
              <a:rPr lang="en-US" dirty="0">
                <a:solidFill>
                  <a:srgbClr val="7030A0"/>
                </a:solidFill>
                <a:hlinkClick r:id="rId4"/>
              </a:rPr>
              <a:t>Vector and raster graphics</a:t>
            </a:r>
            <a:endParaRPr lang="en-US" dirty="0">
              <a:solidFill>
                <a:srgbClr val="7030A0"/>
              </a:solidFill>
            </a:endParaRPr>
          </a:p>
        </p:txBody>
      </p:sp>
    </p:spTree>
    <p:extLst>
      <p:ext uri="{BB962C8B-B14F-4D97-AF65-F5344CB8AC3E}">
        <p14:creationId xmlns:p14="http://schemas.microsoft.com/office/powerpoint/2010/main" val="4189493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67757" y="3652167"/>
            <a:ext cx="1955039" cy="316690"/>
          </a:xfrm>
          <a:prstGeom prst="rect">
            <a:avLst/>
          </a:prstGeom>
          <a:noFill/>
        </p:spPr>
        <p:txBody>
          <a:bodyPr wrap="square" rtlCol="0">
            <a:spAutoFit/>
          </a:bodyPr>
          <a:lstStyle/>
          <a:p>
            <a:pPr>
              <a:lnSpc>
                <a:spcPct val="90000"/>
              </a:lnSpc>
            </a:pPr>
            <a:r>
              <a:rPr lang="en-US" sz="1620" b="1" dirty="0">
                <a:solidFill>
                  <a:srgbClr val="E3874F"/>
                </a:solidFill>
              </a:rPr>
              <a:t>Points</a:t>
            </a:r>
          </a:p>
        </p:txBody>
      </p:sp>
      <p:sp>
        <p:nvSpPr>
          <p:cNvPr id="15" name="TextBox 14"/>
          <p:cNvSpPr txBox="1"/>
          <p:nvPr/>
        </p:nvSpPr>
        <p:spPr>
          <a:xfrm>
            <a:off x="3497419" y="3652167"/>
            <a:ext cx="1955039" cy="316690"/>
          </a:xfrm>
          <a:prstGeom prst="rect">
            <a:avLst/>
          </a:prstGeom>
          <a:noFill/>
        </p:spPr>
        <p:txBody>
          <a:bodyPr wrap="square" rtlCol="0">
            <a:spAutoFit/>
          </a:bodyPr>
          <a:lstStyle/>
          <a:p>
            <a:pPr>
              <a:lnSpc>
                <a:spcPct val="90000"/>
              </a:lnSpc>
            </a:pPr>
            <a:r>
              <a:rPr lang="en-US" sz="1620" b="1" dirty="0">
                <a:solidFill>
                  <a:srgbClr val="E3874F"/>
                </a:solidFill>
              </a:rPr>
              <a:t>Lines</a:t>
            </a:r>
          </a:p>
        </p:txBody>
      </p:sp>
      <p:sp>
        <p:nvSpPr>
          <p:cNvPr id="7" name="TextBox 6"/>
          <p:cNvSpPr txBox="1"/>
          <p:nvPr/>
        </p:nvSpPr>
        <p:spPr>
          <a:xfrm>
            <a:off x="6121288" y="3652167"/>
            <a:ext cx="1955039" cy="316690"/>
          </a:xfrm>
          <a:prstGeom prst="rect">
            <a:avLst/>
          </a:prstGeom>
          <a:noFill/>
        </p:spPr>
        <p:txBody>
          <a:bodyPr wrap="square" rtlCol="0">
            <a:spAutoFit/>
          </a:bodyPr>
          <a:lstStyle/>
          <a:p>
            <a:pPr>
              <a:lnSpc>
                <a:spcPct val="90000"/>
              </a:lnSpc>
            </a:pPr>
            <a:r>
              <a:rPr lang="en-US" sz="1620" b="1" dirty="0">
                <a:solidFill>
                  <a:srgbClr val="E3874F"/>
                </a:solidFill>
              </a:rPr>
              <a:t>Polygons</a:t>
            </a:r>
          </a:p>
        </p:txBody>
      </p:sp>
      <p:pic>
        <p:nvPicPr>
          <p:cNvPr id="8" name="Picture 33" descr="RomneyPoints"/>
          <p:cNvPicPr>
            <a:picLocks noChangeAspect="1" noChangeArrowheads="1"/>
          </p:cNvPicPr>
          <p:nvPr/>
        </p:nvPicPr>
        <p:blipFill>
          <a:blip r:embed="rId3" cstate="print"/>
          <a:srcRect/>
          <a:stretch>
            <a:fillRect/>
          </a:stretch>
        </p:blipFill>
        <p:spPr bwMode="auto">
          <a:xfrm>
            <a:off x="306548" y="1378177"/>
            <a:ext cx="2110456" cy="1903417"/>
          </a:xfrm>
          <a:prstGeom prst="rect">
            <a:avLst/>
          </a:prstGeom>
          <a:noFill/>
          <a:ln w="9525">
            <a:noFill/>
            <a:miter lim="800000"/>
            <a:headEnd/>
            <a:tailEnd/>
          </a:ln>
        </p:spPr>
      </p:pic>
      <p:pic>
        <p:nvPicPr>
          <p:cNvPr id="9" name="Picture 4" descr="RomneyLines"/>
          <p:cNvPicPr>
            <a:picLocks noChangeAspect="1" noChangeArrowheads="1"/>
          </p:cNvPicPr>
          <p:nvPr/>
        </p:nvPicPr>
        <p:blipFill>
          <a:blip r:embed="rId4" cstate="print"/>
          <a:srcRect/>
          <a:stretch>
            <a:fillRect/>
          </a:stretch>
        </p:blipFill>
        <p:spPr bwMode="auto">
          <a:xfrm>
            <a:off x="3034384" y="1381109"/>
            <a:ext cx="2160833" cy="1935747"/>
          </a:xfrm>
          <a:prstGeom prst="rect">
            <a:avLst/>
          </a:prstGeom>
          <a:noFill/>
          <a:ln w="9525">
            <a:noFill/>
            <a:miter lim="800000"/>
            <a:headEnd/>
            <a:tailEnd/>
          </a:ln>
        </p:spPr>
      </p:pic>
      <p:pic>
        <p:nvPicPr>
          <p:cNvPr id="10" name="Picture 5" descr="romneyPolys"/>
          <p:cNvPicPr>
            <a:picLocks noChangeAspect="1" noChangeArrowheads="1"/>
          </p:cNvPicPr>
          <p:nvPr/>
        </p:nvPicPr>
        <p:blipFill>
          <a:blip r:embed="rId5" cstate="print"/>
          <a:srcRect/>
          <a:stretch>
            <a:fillRect/>
          </a:stretch>
        </p:blipFill>
        <p:spPr bwMode="auto">
          <a:xfrm>
            <a:off x="5812597" y="1417338"/>
            <a:ext cx="2109384" cy="1863289"/>
          </a:xfrm>
          <a:prstGeom prst="rect">
            <a:avLst/>
          </a:prstGeom>
          <a:noFill/>
          <a:ln w="9525">
            <a:noFill/>
            <a:miter lim="800000"/>
            <a:headEnd/>
            <a:tailEnd/>
          </a:ln>
        </p:spPr>
      </p:pic>
      <p:sp>
        <p:nvSpPr>
          <p:cNvPr id="11" name="TextBox 10"/>
          <p:cNvSpPr txBox="1"/>
          <p:nvPr/>
        </p:nvSpPr>
        <p:spPr>
          <a:xfrm>
            <a:off x="384256" y="4227133"/>
            <a:ext cx="1955039" cy="541046"/>
          </a:xfrm>
          <a:prstGeom prst="rect">
            <a:avLst/>
          </a:prstGeom>
          <a:noFill/>
        </p:spPr>
        <p:txBody>
          <a:bodyPr wrap="square" rtlCol="0">
            <a:spAutoFit/>
          </a:bodyPr>
          <a:lstStyle/>
          <a:p>
            <a:pPr>
              <a:lnSpc>
                <a:spcPct val="90000"/>
              </a:lnSpc>
            </a:pPr>
            <a:r>
              <a:rPr lang="en-US" sz="1620" dirty="0"/>
              <a:t>Coordinate locations, Zero-dimensional</a:t>
            </a:r>
          </a:p>
        </p:txBody>
      </p:sp>
      <p:sp>
        <p:nvSpPr>
          <p:cNvPr id="14" name="TextBox 13"/>
          <p:cNvSpPr txBox="1"/>
          <p:nvPr/>
        </p:nvSpPr>
        <p:spPr>
          <a:xfrm>
            <a:off x="3175599" y="4237015"/>
            <a:ext cx="1955039" cy="541046"/>
          </a:xfrm>
          <a:prstGeom prst="rect">
            <a:avLst/>
          </a:prstGeom>
          <a:noFill/>
        </p:spPr>
        <p:txBody>
          <a:bodyPr wrap="square" rtlCol="0">
            <a:spAutoFit/>
          </a:bodyPr>
          <a:lstStyle/>
          <a:p>
            <a:pPr>
              <a:lnSpc>
                <a:spcPct val="90000"/>
              </a:lnSpc>
            </a:pPr>
            <a:r>
              <a:rPr lang="en-US" sz="1620" dirty="0"/>
              <a:t>One-dimensional,</a:t>
            </a:r>
          </a:p>
          <a:p>
            <a:pPr>
              <a:lnSpc>
                <a:spcPct val="90000"/>
              </a:lnSpc>
            </a:pPr>
            <a:r>
              <a:rPr lang="en-US" sz="1620" dirty="0"/>
              <a:t>Length, No width</a:t>
            </a:r>
          </a:p>
        </p:txBody>
      </p:sp>
      <p:sp>
        <p:nvSpPr>
          <p:cNvPr id="16" name="TextBox 15"/>
          <p:cNvSpPr txBox="1"/>
          <p:nvPr/>
        </p:nvSpPr>
        <p:spPr>
          <a:xfrm>
            <a:off x="5966942" y="4237015"/>
            <a:ext cx="1955039" cy="765402"/>
          </a:xfrm>
          <a:prstGeom prst="rect">
            <a:avLst/>
          </a:prstGeom>
          <a:noFill/>
        </p:spPr>
        <p:txBody>
          <a:bodyPr wrap="square" rtlCol="0">
            <a:spAutoFit/>
          </a:bodyPr>
          <a:lstStyle/>
          <a:p>
            <a:pPr>
              <a:lnSpc>
                <a:spcPct val="90000"/>
              </a:lnSpc>
            </a:pPr>
            <a:r>
              <a:rPr lang="en-US" sz="1620" dirty="0"/>
              <a:t>Two-dimensional,</a:t>
            </a:r>
          </a:p>
          <a:p>
            <a:pPr>
              <a:lnSpc>
                <a:spcPct val="90000"/>
              </a:lnSpc>
            </a:pPr>
            <a:r>
              <a:rPr lang="en-US" sz="1620" dirty="0"/>
              <a:t>Length and width, An area</a:t>
            </a:r>
          </a:p>
        </p:txBody>
      </p:sp>
      <p:sp>
        <p:nvSpPr>
          <p:cNvPr id="17" name="Oval 28" descr="Point"/>
          <p:cNvSpPr>
            <a:spLocks noChangeArrowheads="1"/>
          </p:cNvSpPr>
          <p:nvPr/>
        </p:nvSpPr>
        <p:spPr bwMode="auto">
          <a:xfrm>
            <a:off x="1902519" y="3425518"/>
            <a:ext cx="108256" cy="120046"/>
          </a:xfrm>
          <a:prstGeom prst="ellipse">
            <a:avLst/>
          </a:prstGeom>
          <a:solidFill>
            <a:srgbClr val="479AAD"/>
          </a:solidFill>
          <a:ln w="9525">
            <a:solidFill>
              <a:srgbClr val="000000"/>
            </a:solidFill>
            <a:round/>
            <a:headEnd/>
            <a:tailEnd/>
          </a:ln>
        </p:spPr>
        <p:txBody>
          <a:bodyPr wrap="none" anchor="ctr"/>
          <a:lstStyle/>
          <a:p>
            <a:endParaRPr lang="en-US" sz="1215"/>
          </a:p>
        </p:txBody>
      </p:sp>
      <p:sp>
        <p:nvSpPr>
          <p:cNvPr id="18" name="Text Box 27"/>
          <p:cNvSpPr txBox="1">
            <a:spLocks noChangeArrowheads="1"/>
          </p:cNvSpPr>
          <p:nvPr/>
        </p:nvSpPr>
        <p:spPr bwMode="auto">
          <a:xfrm>
            <a:off x="1810340" y="3527590"/>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grpSp>
        <p:nvGrpSpPr>
          <p:cNvPr id="19" name="Group 18" descr="Line"/>
          <p:cNvGrpSpPr/>
          <p:nvPr/>
        </p:nvGrpSpPr>
        <p:grpSpPr>
          <a:xfrm>
            <a:off x="3453035" y="3410015"/>
            <a:ext cx="1506817" cy="362091"/>
            <a:chOff x="2967038" y="2684463"/>
            <a:chExt cx="2600325" cy="768350"/>
          </a:xfrm>
        </p:grpSpPr>
        <p:sp>
          <p:nvSpPr>
            <p:cNvPr id="21" name="Freeform 9"/>
            <p:cNvSpPr>
              <a:spLocks/>
            </p:cNvSpPr>
            <p:nvPr/>
          </p:nvSpPr>
          <p:spPr bwMode="auto">
            <a:xfrm>
              <a:off x="2989263" y="2773363"/>
              <a:ext cx="2514600" cy="609600"/>
            </a:xfrm>
            <a:custGeom>
              <a:avLst/>
              <a:gdLst>
                <a:gd name="T0" fmla="*/ 0 w 1584"/>
                <a:gd name="T1" fmla="*/ 0 h 384"/>
                <a:gd name="T2" fmla="*/ 381000 w 1584"/>
                <a:gd name="T3" fmla="*/ 0 h 384"/>
                <a:gd name="T4" fmla="*/ 762000 w 1584"/>
                <a:gd name="T5" fmla="*/ 0 h 384"/>
                <a:gd name="T6" fmla="*/ 1447800 w 1584"/>
                <a:gd name="T7" fmla="*/ 76200 h 384"/>
                <a:gd name="T8" fmla="*/ 2514600 w 1584"/>
                <a:gd name="T9" fmla="*/ 609600 h 384"/>
                <a:gd name="T10" fmla="*/ 0 60000 65536"/>
                <a:gd name="T11" fmla="*/ 0 60000 65536"/>
                <a:gd name="T12" fmla="*/ 0 60000 65536"/>
                <a:gd name="T13" fmla="*/ 0 60000 65536"/>
                <a:gd name="T14" fmla="*/ 0 60000 65536"/>
                <a:gd name="T15" fmla="*/ 0 w 1584"/>
                <a:gd name="T16" fmla="*/ 0 h 384"/>
                <a:gd name="T17" fmla="*/ 1584 w 1584"/>
                <a:gd name="T18" fmla="*/ 384 h 384"/>
              </a:gdLst>
              <a:ahLst/>
              <a:cxnLst>
                <a:cxn ang="T10">
                  <a:pos x="T0" y="T1"/>
                </a:cxn>
                <a:cxn ang="T11">
                  <a:pos x="T2" y="T3"/>
                </a:cxn>
                <a:cxn ang="T12">
                  <a:pos x="T4" y="T5"/>
                </a:cxn>
                <a:cxn ang="T13">
                  <a:pos x="T6" y="T7"/>
                </a:cxn>
                <a:cxn ang="T14">
                  <a:pos x="T8" y="T9"/>
                </a:cxn>
              </a:cxnLst>
              <a:rect l="T15" t="T16" r="T17" b="T18"/>
              <a:pathLst>
                <a:path w="1584" h="384">
                  <a:moveTo>
                    <a:pt x="0" y="0"/>
                  </a:moveTo>
                  <a:lnTo>
                    <a:pt x="240" y="0"/>
                  </a:lnTo>
                  <a:lnTo>
                    <a:pt x="480" y="0"/>
                  </a:lnTo>
                  <a:lnTo>
                    <a:pt x="912" y="48"/>
                  </a:lnTo>
                  <a:lnTo>
                    <a:pt x="1584" y="384"/>
                  </a:lnTo>
                </a:path>
              </a:pathLst>
            </a:custGeom>
            <a:noFill/>
            <a:ln w="57150" cmpd="sng">
              <a:solidFill>
                <a:srgbClr val="E3874F"/>
              </a:solidFill>
              <a:prstDash val="solid"/>
              <a:round/>
              <a:headEnd/>
              <a:tailEnd/>
            </a:ln>
          </p:spPr>
          <p:txBody>
            <a:bodyPr wrap="none" anchor="ctr"/>
            <a:lstStyle/>
            <a:p>
              <a:endParaRPr lang="en-US" sz="1215"/>
            </a:p>
          </p:txBody>
        </p:sp>
        <p:sp>
          <p:nvSpPr>
            <p:cNvPr id="22" name="Oval 10"/>
            <p:cNvSpPr>
              <a:spLocks noChangeArrowheads="1"/>
            </p:cNvSpPr>
            <p:nvPr/>
          </p:nvSpPr>
          <p:spPr bwMode="auto">
            <a:xfrm>
              <a:off x="5407025" y="3275013"/>
              <a:ext cx="160338" cy="177800"/>
            </a:xfrm>
            <a:prstGeom prst="ellipse">
              <a:avLst/>
            </a:prstGeom>
            <a:solidFill>
              <a:srgbClr val="FFC5CF"/>
            </a:solidFill>
            <a:ln w="9525">
              <a:solidFill>
                <a:srgbClr val="000000"/>
              </a:solidFill>
              <a:round/>
              <a:headEnd/>
              <a:tailEnd/>
            </a:ln>
          </p:spPr>
          <p:txBody>
            <a:bodyPr wrap="none" anchor="ctr"/>
            <a:lstStyle/>
            <a:p>
              <a:endParaRPr lang="en-US" sz="1215"/>
            </a:p>
          </p:txBody>
        </p:sp>
        <p:sp>
          <p:nvSpPr>
            <p:cNvPr id="23" name="Oval 11"/>
            <p:cNvSpPr>
              <a:spLocks noChangeArrowheads="1"/>
            </p:cNvSpPr>
            <p:nvPr/>
          </p:nvSpPr>
          <p:spPr bwMode="auto">
            <a:xfrm>
              <a:off x="4360863" y="2752725"/>
              <a:ext cx="160337" cy="177800"/>
            </a:xfrm>
            <a:prstGeom prst="ellipse">
              <a:avLst/>
            </a:prstGeom>
            <a:solidFill>
              <a:srgbClr val="FFC5CF"/>
            </a:solidFill>
            <a:ln w="9525">
              <a:solidFill>
                <a:srgbClr val="000000"/>
              </a:solidFill>
              <a:round/>
              <a:headEnd/>
              <a:tailEnd/>
            </a:ln>
          </p:spPr>
          <p:txBody>
            <a:bodyPr wrap="none" anchor="ctr"/>
            <a:lstStyle/>
            <a:p>
              <a:endParaRPr lang="en-US" sz="1215"/>
            </a:p>
          </p:txBody>
        </p:sp>
        <p:sp>
          <p:nvSpPr>
            <p:cNvPr id="24" name="Oval 12"/>
            <p:cNvSpPr>
              <a:spLocks noChangeArrowheads="1"/>
            </p:cNvSpPr>
            <p:nvPr/>
          </p:nvSpPr>
          <p:spPr bwMode="auto">
            <a:xfrm>
              <a:off x="3717925" y="2686050"/>
              <a:ext cx="160338" cy="177800"/>
            </a:xfrm>
            <a:prstGeom prst="ellipse">
              <a:avLst/>
            </a:prstGeom>
            <a:solidFill>
              <a:srgbClr val="FFC5CF"/>
            </a:solidFill>
            <a:ln w="9525">
              <a:solidFill>
                <a:srgbClr val="000000"/>
              </a:solidFill>
              <a:round/>
              <a:headEnd/>
              <a:tailEnd/>
            </a:ln>
          </p:spPr>
          <p:txBody>
            <a:bodyPr wrap="none" anchor="ctr"/>
            <a:lstStyle/>
            <a:p>
              <a:endParaRPr lang="en-US" sz="1215"/>
            </a:p>
          </p:txBody>
        </p:sp>
        <p:sp>
          <p:nvSpPr>
            <p:cNvPr id="25" name="Oval 13"/>
            <p:cNvSpPr>
              <a:spLocks noChangeArrowheads="1"/>
            </p:cNvSpPr>
            <p:nvPr/>
          </p:nvSpPr>
          <p:spPr bwMode="auto">
            <a:xfrm>
              <a:off x="2967038" y="2684463"/>
              <a:ext cx="160337" cy="177800"/>
            </a:xfrm>
            <a:prstGeom prst="ellipse">
              <a:avLst/>
            </a:prstGeom>
            <a:solidFill>
              <a:srgbClr val="FFC5CF"/>
            </a:solidFill>
            <a:ln w="9525">
              <a:solidFill>
                <a:srgbClr val="000000"/>
              </a:solidFill>
              <a:round/>
              <a:headEnd/>
              <a:tailEnd/>
            </a:ln>
          </p:spPr>
          <p:txBody>
            <a:bodyPr wrap="none" anchor="ctr"/>
            <a:lstStyle/>
            <a:p>
              <a:endParaRPr lang="en-US" sz="1215"/>
            </a:p>
          </p:txBody>
        </p:sp>
      </p:grpSp>
      <p:sp>
        <p:nvSpPr>
          <p:cNvPr id="27" name="Freeform 42" descr="Polygon"/>
          <p:cNvSpPr>
            <a:spLocks/>
          </p:cNvSpPr>
          <p:nvPr/>
        </p:nvSpPr>
        <p:spPr bwMode="auto">
          <a:xfrm>
            <a:off x="7360337" y="3222999"/>
            <a:ext cx="715990" cy="883197"/>
          </a:xfrm>
          <a:custGeom>
            <a:avLst/>
            <a:gdLst>
              <a:gd name="T0" fmla="*/ 20637 w 668"/>
              <a:gd name="T1" fmla="*/ 415925 h 824"/>
              <a:gd name="T2" fmla="*/ 0 w 668"/>
              <a:gd name="T3" fmla="*/ 1308100 h 824"/>
              <a:gd name="T4" fmla="*/ 1060450 w 668"/>
              <a:gd name="T5" fmla="*/ 987425 h 824"/>
              <a:gd name="T6" fmla="*/ 1049338 w 668"/>
              <a:gd name="T7" fmla="*/ 0 h 824"/>
              <a:gd name="T8" fmla="*/ 20637 w 668"/>
              <a:gd name="T9" fmla="*/ 415925 h 824"/>
              <a:gd name="T10" fmla="*/ 0 60000 65536"/>
              <a:gd name="T11" fmla="*/ 0 60000 65536"/>
              <a:gd name="T12" fmla="*/ 0 60000 65536"/>
              <a:gd name="T13" fmla="*/ 0 60000 65536"/>
              <a:gd name="T14" fmla="*/ 0 60000 65536"/>
              <a:gd name="T15" fmla="*/ 0 w 668"/>
              <a:gd name="T16" fmla="*/ 0 h 824"/>
              <a:gd name="T17" fmla="*/ 668 w 668"/>
              <a:gd name="T18" fmla="*/ 824 h 824"/>
            </a:gdLst>
            <a:ahLst/>
            <a:cxnLst>
              <a:cxn ang="T10">
                <a:pos x="T0" y="T1"/>
              </a:cxn>
              <a:cxn ang="T11">
                <a:pos x="T2" y="T3"/>
              </a:cxn>
              <a:cxn ang="T12">
                <a:pos x="T4" y="T5"/>
              </a:cxn>
              <a:cxn ang="T13">
                <a:pos x="T6" y="T7"/>
              </a:cxn>
              <a:cxn ang="T14">
                <a:pos x="T8" y="T9"/>
              </a:cxn>
            </a:cxnLst>
            <a:rect l="T15" t="T16" r="T17" b="T18"/>
            <a:pathLst>
              <a:path w="668" h="824">
                <a:moveTo>
                  <a:pt x="13" y="262"/>
                </a:moveTo>
                <a:lnTo>
                  <a:pt x="0" y="824"/>
                </a:lnTo>
                <a:lnTo>
                  <a:pt x="668" y="622"/>
                </a:lnTo>
                <a:lnTo>
                  <a:pt x="661" y="0"/>
                </a:lnTo>
                <a:lnTo>
                  <a:pt x="13" y="262"/>
                </a:lnTo>
                <a:close/>
              </a:path>
            </a:pathLst>
          </a:custGeom>
          <a:solidFill>
            <a:srgbClr val="CCFFCC"/>
          </a:solidFill>
          <a:ln w="34925" cap="flat" cmpd="sng">
            <a:solidFill>
              <a:srgbClr val="008000"/>
            </a:solidFill>
            <a:prstDash val="solid"/>
            <a:round/>
            <a:headEnd/>
            <a:tailEnd/>
          </a:ln>
        </p:spPr>
        <p:txBody>
          <a:bodyPr wrap="none" lIns="62167" tIns="31084" rIns="62167" bIns="31084" anchor="ctr"/>
          <a:lstStyle/>
          <a:p>
            <a:endParaRPr lang="en-US" sz="1215"/>
          </a:p>
        </p:txBody>
      </p:sp>
      <p:sp>
        <p:nvSpPr>
          <p:cNvPr id="28" name="Oval 29"/>
          <p:cNvSpPr>
            <a:spLocks noChangeArrowheads="1"/>
          </p:cNvSpPr>
          <p:nvPr/>
        </p:nvSpPr>
        <p:spPr bwMode="auto">
          <a:xfrm>
            <a:off x="7332469" y="3452373"/>
            <a:ext cx="108256" cy="120046"/>
          </a:xfrm>
          <a:prstGeom prst="ellipse">
            <a:avLst/>
          </a:prstGeom>
          <a:solidFill>
            <a:schemeClr val="accent2"/>
          </a:solidFill>
          <a:ln w="9525">
            <a:solidFill>
              <a:srgbClr val="000066"/>
            </a:solidFill>
            <a:round/>
            <a:headEnd/>
            <a:tailEnd/>
          </a:ln>
        </p:spPr>
        <p:txBody>
          <a:bodyPr wrap="none" anchor="ctr"/>
          <a:lstStyle/>
          <a:p>
            <a:endParaRPr lang="en-US" sz="1215"/>
          </a:p>
        </p:txBody>
      </p:sp>
      <p:sp>
        <p:nvSpPr>
          <p:cNvPr id="29" name="Oval 30"/>
          <p:cNvSpPr>
            <a:spLocks noChangeArrowheads="1"/>
          </p:cNvSpPr>
          <p:nvPr/>
        </p:nvSpPr>
        <p:spPr bwMode="auto">
          <a:xfrm>
            <a:off x="7318534" y="4027952"/>
            <a:ext cx="108256" cy="120046"/>
          </a:xfrm>
          <a:prstGeom prst="ellipse">
            <a:avLst/>
          </a:prstGeom>
          <a:solidFill>
            <a:schemeClr val="accent2"/>
          </a:solidFill>
          <a:ln w="9525">
            <a:solidFill>
              <a:srgbClr val="000066"/>
            </a:solidFill>
            <a:round/>
            <a:headEnd/>
            <a:tailEnd/>
          </a:ln>
        </p:spPr>
        <p:txBody>
          <a:bodyPr wrap="none" anchor="ctr"/>
          <a:lstStyle/>
          <a:p>
            <a:endParaRPr lang="en-US" sz="1215"/>
          </a:p>
        </p:txBody>
      </p:sp>
      <p:sp>
        <p:nvSpPr>
          <p:cNvPr id="30" name="Oval 31"/>
          <p:cNvSpPr>
            <a:spLocks noChangeArrowheads="1"/>
          </p:cNvSpPr>
          <p:nvPr/>
        </p:nvSpPr>
        <p:spPr bwMode="auto">
          <a:xfrm>
            <a:off x="8028094" y="3839308"/>
            <a:ext cx="108256" cy="120046"/>
          </a:xfrm>
          <a:prstGeom prst="ellipse">
            <a:avLst/>
          </a:prstGeom>
          <a:solidFill>
            <a:schemeClr val="accent2"/>
          </a:solidFill>
          <a:ln w="9525">
            <a:solidFill>
              <a:srgbClr val="000066"/>
            </a:solidFill>
            <a:round/>
            <a:headEnd/>
            <a:tailEnd/>
          </a:ln>
        </p:spPr>
        <p:txBody>
          <a:bodyPr wrap="none" anchor="ctr"/>
          <a:lstStyle/>
          <a:p>
            <a:endParaRPr lang="en-US" sz="1215"/>
          </a:p>
        </p:txBody>
      </p:sp>
      <p:sp>
        <p:nvSpPr>
          <p:cNvPr id="31" name="Oval 32"/>
          <p:cNvSpPr>
            <a:spLocks noChangeArrowheads="1"/>
          </p:cNvSpPr>
          <p:nvPr/>
        </p:nvSpPr>
        <p:spPr bwMode="auto">
          <a:xfrm>
            <a:off x="8010944" y="3151185"/>
            <a:ext cx="108256" cy="120046"/>
          </a:xfrm>
          <a:prstGeom prst="ellipse">
            <a:avLst/>
          </a:prstGeom>
          <a:solidFill>
            <a:schemeClr val="accent2"/>
          </a:solidFill>
          <a:ln w="9525">
            <a:solidFill>
              <a:srgbClr val="000066"/>
            </a:solidFill>
            <a:round/>
            <a:headEnd/>
            <a:tailEnd/>
          </a:ln>
        </p:spPr>
        <p:txBody>
          <a:bodyPr wrap="none" anchor="ctr"/>
          <a:lstStyle/>
          <a:p>
            <a:endParaRPr lang="en-US" sz="1215"/>
          </a:p>
        </p:txBody>
      </p:sp>
      <p:sp>
        <p:nvSpPr>
          <p:cNvPr id="32" name="Text Box 27"/>
          <p:cNvSpPr txBox="1">
            <a:spLocks noChangeArrowheads="1"/>
          </p:cNvSpPr>
          <p:nvPr/>
        </p:nvSpPr>
        <p:spPr bwMode="auto">
          <a:xfrm>
            <a:off x="3344365" y="3452983"/>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3" name="Text Box 27"/>
          <p:cNvSpPr txBox="1">
            <a:spLocks noChangeArrowheads="1"/>
          </p:cNvSpPr>
          <p:nvPr/>
        </p:nvSpPr>
        <p:spPr bwMode="auto">
          <a:xfrm>
            <a:off x="3784729" y="3471655"/>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4" name="Text Box 27"/>
          <p:cNvSpPr txBox="1">
            <a:spLocks noChangeArrowheads="1"/>
          </p:cNvSpPr>
          <p:nvPr/>
        </p:nvSpPr>
        <p:spPr bwMode="auto">
          <a:xfrm>
            <a:off x="4113437" y="3527590"/>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5" name="Text Box 27"/>
          <p:cNvSpPr txBox="1">
            <a:spLocks noChangeArrowheads="1"/>
          </p:cNvSpPr>
          <p:nvPr/>
        </p:nvSpPr>
        <p:spPr bwMode="auto">
          <a:xfrm>
            <a:off x="4701824" y="3780335"/>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6" name="Text Box 27"/>
          <p:cNvSpPr txBox="1">
            <a:spLocks noChangeArrowheads="1"/>
          </p:cNvSpPr>
          <p:nvPr/>
        </p:nvSpPr>
        <p:spPr bwMode="auto">
          <a:xfrm>
            <a:off x="6985728" y="4014017"/>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7" name="Text Box 27"/>
          <p:cNvSpPr txBox="1">
            <a:spLocks noChangeArrowheads="1"/>
          </p:cNvSpPr>
          <p:nvPr/>
        </p:nvSpPr>
        <p:spPr bwMode="auto">
          <a:xfrm>
            <a:off x="7845881" y="3976398"/>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8" name="Text Box 27"/>
          <p:cNvSpPr txBox="1">
            <a:spLocks noChangeArrowheads="1"/>
          </p:cNvSpPr>
          <p:nvPr/>
        </p:nvSpPr>
        <p:spPr bwMode="auto">
          <a:xfrm>
            <a:off x="6974185" y="3359640"/>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39" name="Text Box 27"/>
          <p:cNvSpPr txBox="1">
            <a:spLocks noChangeArrowheads="1"/>
          </p:cNvSpPr>
          <p:nvPr/>
        </p:nvSpPr>
        <p:spPr bwMode="auto">
          <a:xfrm>
            <a:off x="7918766" y="2902243"/>
            <a:ext cx="390235" cy="300082"/>
          </a:xfrm>
          <a:prstGeom prst="rect">
            <a:avLst/>
          </a:prstGeom>
          <a:noFill/>
          <a:ln w="9525">
            <a:noFill/>
            <a:miter lim="800000"/>
            <a:headEnd/>
            <a:tailEnd/>
          </a:ln>
        </p:spPr>
        <p:txBody>
          <a:bodyPr wrap="none">
            <a:spAutoFit/>
          </a:bodyPr>
          <a:lstStyle/>
          <a:p>
            <a:pPr algn="l"/>
            <a:r>
              <a:rPr lang="en-US" sz="1350" dirty="0">
                <a:solidFill>
                  <a:schemeClr val="folHlink"/>
                </a:solidFill>
              </a:rPr>
              <a:t>X,Y</a:t>
            </a:r>
          </a:p>
        </p:txBody>
      </p:sp>
      <p:sp>
        <p:nvSpPr>
          <p:cNvPr id="40" name="Content Placeholder 2"/>
          <p:cNvSpPr>
            <a:spLocks noGrp="1"/>
          </p:cNvSpPr>
          <p:nvPr>
            <p:ph idx="1"/>
          </p:nvPr>
        </p:nvSpPr>
        <p:spPr>
          <a:xfrm>
            <a:off x="273638" y="4881992"/>
            <a:ext cx="5607877" cy="308690"/>
          </a:xfrm>
        </p:spPr>
        <p:txBody>
          <a:bodyPr>
            <a:normAutofit/>
          </a:bodyPr>
          <a:lstStyle/>
          <a:p>
            <a:pPr marL="0" indent="0">
              <a:buNone/>
            </a:pPr>
            <a:r>
              <a:rPr lang="en-US" sz="1350" dirty="0"/>
              <a:t>Examples by Dr. Mike and Dr. Jackie Strager</a:t>
            </a:r>
          </a:p>
        </p:txBody>
      </p:sp>
      <p:sp>
        <p:nvSpPr>
          <p:cNvPr id="2" name="Slide Number Placeholder 1">
            <a:extLst>
              <a:ext uri="{FF2B5EF4-FFF2-40B4-BE49-F238E27FC236}">
                <a16:creationId xmlns:a16="http://schemas.microsoft.com/office/drawing/2014/main" id="{CB474B26-8826-408A-B866-62864722971A}"/>
              </a:ext>
            </a:extLst>
          </p:cNvPr>
          <p:cNvSpPr>
            <a:spLocks noGrp="1"/>
          </p:cNvSpPr>
          <p:nvPr>
            <p:ph type="sldNum" sz="quarter" idx="12"/>
          </p:nvPr>
        </p:nvSpPr>
        <p:spPr/>
        <p:txBody>
          <a:bodyPr/>
          <a:lstStyle/>
          <a:p>
            <a:fld id="{127DDC20-79C9-9647-820E-6D40A3D210C3}" type="slidenum">
              <a:rPr lang="en-US" smtClean="0"/>
              <a:pPr/>
              <a:t>5</a:t>
            </a:fld>
            <a:endParaRPr lang="en-US"/>
          </a:p>
        </p:txBody>
      </p:sp>
      <p:sp>
        <p:nvSpPr>
          <p:cNvPr id="41" name="Title 1">
            <a:extLst>
              <a:ext uri="{FF2B5EF4-FFF2-40B4-BE49-F238E27FC236}">
                <a16:creationId xmlns:a16="http://schemas.microsoft.com/office/drawing/2014/main" id="{6166A9B3-B66C-4E84-A226-508A3BAADFB6}"/>
              </a:ext>
            </a:extLst>
          </p:cNvPr>
          <p:cNvSpPr txBox="1">
            <a:spLocks/>
          </p:cNvSpPr>
          <p:nvPr/>
        </p:nvSpPr>
        <p:spPr>
          <a:xfrm>
            <a:off x="222118" y="21008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42" name="Straight Connector 41">
            <a:extLst>
              <a:ext uri="{FF2B5EF4-FFF2-40B4-BE49-F238E27FC236}">
                <a16:creationId xmlns:a16="http://schemas.microsoft.com/office/drawing/2014/main" id="{17668E15-A010-4986-A119-742F8440DD2E}"/>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0170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Line 51"/>
          <p:cNvSpPr>
            <a:spLocks noChangeShapeType="1"/>
          </p:cNvSpPr>
          <p:nvPr/>
        </p:nvSpPr>
        <p:spPr bwMode="auto">
          <a:xfrm flipH="1">
            <a:off x="6336626" y="2874727"/>
            <a:ext cx="28940" cy="558429"/>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61" name="Line 65"/>
          <p:cNvSpPr>
            <a:spLocks noChangeShapeType="1"/>
          </p:cNvSpPr>
          <p:nvPr/>
        </p:nvSpPr>
        <p:spPr bwMode="auto">
          <a:xfrm>
            <a:off x="4956070" y="2575294"/>
            <a:ext cx="1375172" cy="852114"/>
          </a:xfrm>
          <a:prstGeom prst="line">
            <a:avLst/>
          </a:prstGeom>
          <a:noFill/>
          <a:ln w="28575">
            <a:solidFill>
              <a:schemeClr val="folHlink"/>
            </a:solidFill>
            <a:round/>
            <a:headEnd type="none" w="lg" len="lg"/>
            <a:tailEnd type="none" w="lg" len="lg"/>
          </a:ln>
        </p:spPr>
        <p:txBody>
          <a:bodyPr wrap="none" lIns="62167" tIns="31084" rIns="62167" bIns="31084" anchor="ctr"/>
          <a:lstStyle/>
          <a:p>
            <a:endParaRPr lang="en-US" sz="1215"/>
          </a:p>
        </p:txBody>
      </p:sp>
      <p:sp>
        <p:nvSpPr>
          <p:cNvPr id="62" name="Line 44"/>
          <p:cNvSpPr>
            <a:spLocks noChangeShapeType="1"/>
          </p:cNvSpPr>
          <p:nvPr/>
        </p:nvSpPr>
        <p:spPr bwMode="auto">
          <a:xfrm>
            <a:off x="4386386" y="2210258"/>
            <a:ext cx="554142" cy="351564"/>
          </a:xfrm>
          <a:prstGeom prst="line">
            <a:avLst/>
          </a:prstGeom>
          <a:noFill/>
          <a:ln w="28575">
            <a:solidFill>
              <a:srgbClr val="CC9900"/>
            </a:solidFill>
            <a:round/>
            <a:headEnd type="none" w="lg" len="lg"/>
            <a:tailEnd type="none" w="lg" len="lg"/>
          </a:ln>
        </p:spPr>
        <p:txBody>
          <a:bodyPr wrap="none" lIns="62167" tIns="31084" rIns="62167" bIns="31084" anchor="ctr"/>
          <a:lstStyle/>
          <a:p>
            <a:endParaRPr lang="en-US" sz="1215"/>
          </a:p>
        </p:txBody>
      </p:sp>
      <p:sp>
        <p:nvSpPr>
          <p:cNvPr id="63" name="Line 67"/>
          <p:cNvSpPr>
            <a:spLocks noChangeShapeType="1"/>
          </p:cNvSpPr>
          <p:nvPr/>
        </p:nvSpPr>
        <p:spPr bwMode="auto">
          <a:xfrm>
            <a:off x="5838780" y="2394005"/>
            <a:ext cx="38586" cy="258314"/>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65" name="Line 48"/>
          <p:cNvSpPr>
            <a:spLocks noChangeShapeType="1"/>
          </p:cNvSpPr>
          <p:nvPr/>
        </p:nvSpPr>
        <p:spPr bwMode="auto">
          <a:xfrm>
            <a:off x="6209587" y="2685669"/>
            <a:ext cx="152202" cy="19507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grpSp>
        <p:nvGrpSpPr>
          <p:cNvPr id="40" name="Group 39" descr="Vector"/>
          <p:cNvGrpSpPr/>
          <p:nvPr/>
        </p:nvGrpSpPr>
        <p:grpSpPr>
          <a:xfrm>
            <a:off x="3565404" y="2124047"/>
            <a:ext cx="3909542" cy="1357877"/>
            <a:chOff x="718344" y="4402354"/>
            <a:chExt cx="5790406" cy="2011146"/>
          </a:xfrm>
        </p:grpSpPr>
        <p:sp>
          <p:nvSpPr>
            <p:cNvPr id="44" name="Line 64"/>
            <p:cNvSpPr>
              <a:spLocks noChangeShapeType="1"/>
            </p:cNvSpPr>
            <p:nvPr/>
          </p:nvSpPr>
          <p:spPr bwMode="auto">
            <a:xfrm flipV="1">
              <a:off x="2757488" y="4929188"/>
              <a:ext cx="688975" cy="1111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41" name="Line 45"/>
            <p:cNvSpPr>
              <a:spLocks noChangeShapeType="1"/>
            </p:cNvSpPr>
            <p:nvPr/>
          </p:nvSpPr>
          <p:spPr bwMode="auto">
            <a:xfrm>
              <a:off x="4181475" y="5184775"/>
              <a:ext cx="482600" cy="50800"/>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42" name="Text Box 61"/>
            <p:cNvSpPr txBox="1">
              <a:spLocks noChangeArrowheads="1"/>
            </p:cNvSpPr>
            <p:nvPr/>
          </p:nvSpPr>
          <p:spPr bwMode="auto">
            <a:xfrm>
              <a:off x="2136775" y="5630862"/>
              <a:ext cx="691654" cy="369902"/>
            </a:xfrm>
            <a:prstGeom prst="rect">
              <a:avLst/>
            </a:prstGeom>
            <a:noFill/>
            <a:ln w="12700">
              <a:noFill/>
              <a:miter lim="800000"/>
              <a:headEnd/>
              <a:tailEnd/>
            </a:ln>
          </p:spPr>
          <p:txBody>
            <a:bodyPr wrap="none" lIns="62167" tIns="31084" rIns="62167" bIns="31084">
              <a:spAutoFit/>
            </a:bodyPr>
            <a:lstStyle/>
            <a:p>
              <a:r>
                <a:rPr lang="en-US" sz="1215">
                  <a:solidFill>
                    <a:srgbClr val="E3874F"/>
                  </a:solidFill>
                </a:rPr>
                <a:t>Node</a:t>
              </a:r>
            </a:p>
          </p:txBody>
        </p:sp>
        <p:sp>
          <p:nvSpPr>
            <p:cNvPr id="43" name="Line 63"/>
            <p:cNvSpPr>
              <a:spLocks noChangeShapeType="1"/>
            </p:cNvSpPr>
            <p:nvPr/>
          </p:nvSpPr>
          <p:spPr bwMode="auto">
            <a:xfrm flipV="1">
              <a:off x="2592388" y="5213350"/>
              <a:ext cx="136525" cy="455613"/>
            </a:xfrm>
            <a:prstGeom prst="line">
              <a:avLst/>
            </a:prstGeom>
            <a:noFill/>
            <a:ln w="12700">
              <a:solidFill>
                <a:srgbClr val="E3874F"/>
              </a:solidFill>
              <a:round/>
              <a:headEnd/>
              <a:tailEnd type="triangle" w="med" len="med"/>
            </a:ln>
          </p:spPr>
          <p:txBody>
            <a:bodyPr wrap="none" lIns="62167" tIns="31084" rIns="62167" bIns="31084" anchor="ctr"/>
            <a:lstStyle/>
            <a:p>
              <a:endParaRPr lang="en-US" sz="1215"/>
            </a:p>
          </p:txBody>
        </p:sp>
        <p:sp>
          <p:nvSpPr>
            <p:cNvPr id="45" name="Oval 55"/>
            <p:cNvSpPr>
              <a:spLocks noChangeArrowheads="1"/>
            </p:cNvSpPr>
            <p:nvPr/>
          </p:nvSpPr>
          <p:spPr bwMode="auto">
            <a:xfrm>
              <a:off x="4722813" y="6235700"/>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46" name="Line 66"/>
            <p:cNvSpPr>
              <a:spLocks noChangeShapeType="1"/>
            </p:cNvSpPr>
            <p:nvPr/>
          </p:nvSpPr>
          <p:spPr bwMode="auto">
            <a:xfrm flipV="1">
              <a:off x="3459163" y="4779963"/>
              <a:ext cx="688975" cy="111125"/>
            </a:xfrm>
            <a:prstGeom prst="line">
              <a:avLst/>
            </a:prstGeom>
            <a:noFill/>
            <a:ln w="28575">
              <a:solidFill>
                <a:schemeClr val="accent2"/>
              </a:solidFill>
              <a:round/>
              <a:headEnd type="none" w="lg" len="lg"/>
              <a:tailEnd type="none" w="lg" len="lg"/>
            </a:ln>
          </p:spPr>
          <p:txBody>
            <a:bodyPr wrap="none" lIns="62167" tIns="31084" rIns="62167" bIns="31084" anchor="ctr"/>
            <a:lstStyle/>
            <a:p>
              <a:endParaRPr lang="en-US" sz="1215"/>
            </a:p>
          </p:txBody>
        </p:sp>
        <p:sp>
          <p:nvSpPr>
            <p:cNvPr id="47" name="Line 71"/>
            <p:cNvSpPr>
              <a:spLocks noChangeShapeType="1"/>
            </p:cNvSpPr>
            <p:nvPr/>
          </p:nvSpPr>
          <p:spPr bwMode="auto">
            <a:xfrm flipV="1">
              <a:off x="4873625" y="5918200"/>
              <a:ext cx="1570038" cy="393700"/>
            </a:xfrm>
            <a:prstGeom prst="line">
              <a:avLst/>
            </a:prstGeom>
            <a:noFill/>
            <a:ln w="28575">
              <a:solidFill>
                <a:srgbClr val="F76681"/>
              </a:solidFill>
              <a:round/>
              <a:headEnd type="none" w="lg" len="lg"/>
              <a:tailEnd type="none" w="lg" len="lg"/>
            </a:ln>
          </p:spPr>
          <p:txBody>
            <a:bodyPr wrap="none" lIns="62167" tIns="31084" rIns="62167" bIns="31084" anchor="ctr"/>
            <a:lstStyle/>
            <a:p>
              <a:endParaRPr lang="en-US" sz="1215"/>
            </a:p>
          </p:txBody>
        </p:sp>
        <p:sp>
          <p:nvSpPr>
            <p:cNvPr id="48" name="Oval 72"/>
            <p:cNvSpPr>
              <a:spLocks noChangeArrowheads="1"/>
            </p:cNvSpPr>
            <p:nvPr/>
          </p:nvSpPr>
          <p:spPr bwMode="auto">
            <a:xfrm>
              <a:off x="6348413" y="5838825"/>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49" name="Text Box 73"/>
            <p:cNvSpPr txBox="1">
              <a:spLocks noChangeArrowheads="1"/>
            </p:cNvSpPr>
            <p:nvPr/>
          </p:nvSpPr>
          <p:spPr bwMode="auto">
            <a:xfrm>
              <a:off x="5243514" y="4924425"/>
              <a:ext cx="785767" cy="369902"/>
            </a:xfrm>
            <a:prstGeom prst="rect">
              <a:avLst/>
            </a:prstGeom>
            <a:noFill/>
            <a:ln w="12700">
              <a:noFill/>
              <a:miter lim="800000"/>
              <a:headEnd/>
              <a:tailEnd/>
            </a:ln>
          </p:spPr>
          <p:txBody>
            <a:bodyPr wrap="none" lIns="62167" tIns="31084" rIns="62167" bIns="31084">
              <a:spAutoFit/>
            </a:bodyPr>
            <a:lstStyle/>
            <a:p>
              <a:r>
                <a:rPr lang="en-US" sz="1215">
                  <a:solidFill>
                    <a:schemeClr val="accent2"/>
                  </a:solidFill>
                </a:rPr>
                <a:t>Vertex</a:t>
              </a:r>
            </a:p>
          </p:txBody>
        </p:sp>
        <p:sp>
          <p:nvSpPr>
            <p:cNvPr id="50" name="Line 74"/>
            <p:cNvSpPr>
              <a:spLocks noChangeShapeType="1"/>
            </p:cNvSpPr>
            <p:nvPr/>
          </p:nvSpPr>
          <p:spPr bwMode="auto">
            <a:xfrm flipH="1">
              <a:off x="4829175" y="5091113"/>
              <a:ext cx="466725" cy="55562"/>
            </a:xfrm>
            <a:prstGeom prst="line">
              <a:avLst/>
            </a:prstGeom>
            <a:noFill/>
            <a:ln w="12700">
              <a:solidFill>
                <a:schemeClr val="accent2"/>
              </a:solidFill>
              <a:round/>
              <a:headEnd/>
              <a:tailEnd type="triangle" w="med" len="med"/>
            </a:ln>
          </p:spPr>
          <p:txBody>
            <a:bodyPr wrap="none" lIns="62167" tIns="31084" rIns="62167" bIns="31084" anchor="ctr"/>
            <a:lstStyle/>
            <a:p>
              <a:endParaRPr lang="en-US" sz="1215"/>
            </a:p>
          </p:txBody>
        </p:sp>
        <p:sp>
          <p:nvSpPr>
            <p:cNvPr id="51" name="Line 75"/>
            <p:cNvSpPr>
              <a:spLocks noChangeShapeType="1"/>
            </p:cNvSpPr>
            <p:nvPr/>
          </p:nvSpPr>
          <p:spPr bwMode="auto">
            <a:xfrm flipH="1">
              <a:off x="4981575" y="5226050"/>
              <a:ext cx="357188" cy="228600"/>
            </a:xfrm>
            <a:prstGeom prst="line">
              <a:avLst/>
            </a:prstGeom>
            <a:noFill/>
            <a:ln w="12700">
              <a:solidFill>
                <a:schemeClr val="accent2"/>
              </a:solidFill>
              <a:round/>
              <a:headEnd/>
              <a:tailEnd type="triangle" w="med" len="med"/>
            </a:ln>
          </p:spPr>
          <p:txBody>
            <a:bodyPr wrap="none" lIns="62167" tIns="31084" rIns="62167" bIns="31084" anchor="ctr"/>
            <a:lstStyle/>
            <a:p>
              <a:endParaRPr lang="en-US" sz="1215"/>
            </a:p>
          </p:txBody>
        </p:sp>
        <p:sp>
          <p:nvSpPr>
            <p:cNvPr id="52" name="Oval 68"/>
            <p:cNvSpPr>
              <a:spLocks noChangeArrowheads="1"/>
            </p:cNvSpPr>
            <p:nvPr/>
          </p:nvSpPr>
          <p:spPr bwMode="auto">
            <a:xfrm>
              <a:off x="3994944" y="4724400"/>
              <a:ext cx="160337"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53" name="Oval 69"/>
            <p:cNvSpPr>
              <a:spLocks noChangeArrowheads="1"/>
            </p:cNvSpPr>
            <p:nvPr/>
          </p:nvSpPr>
          <p:spPr bwMode="auto">
            <a:xfrm>
              <a:off x="4085431" y="5108575"/>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54" name="Oval 56"/>
            <p:cNvSpPr>
              <a:spLocks noChangeArrowheads="1"/>
            </p:cNvSpPr>
            <p:nvPr/>
          </p:nvSpPr>
          <p:spPr bwMode="auto">
            <a:xfrm>
              <a:off x="3329781" y="4827588"/>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55" name="Line 43"/>
            <p:cNvSpPr>
              <a:spLocks noChangeShapeType="1"/>
            </p:cNvSpPr>
            <p:nvPr/>
          </p:nvSpPr>
          <p:spPr bwMode="auto">
            <a:xfrm flipV="1">
              <a:off x="818356" y="5061167"/>
              <a:ext cx="1960563" cy="395287"/>
            </a:xfrm>
            <a:prstGeom prst="line">
              <a:avLst/>
            </a:prstGeom>
            <a:noFill/>
            <a:ln w="28575">
              <a:solidFill>
                <a:srgbClr val="800080"/>
              </a:solidFill>
              <a:round/>
              <a:headEnd type="none" w="lg" len="lg"/>
              <a:tailEnd type="none" w="lg" len="lg"/>
            </a:ln>
          </p:spPr>
          <p:txBody>
            <a:bodyPr wrap="none" lIns="62167" tIns="31084" rIns="62167" bIns="31084" anchor="ctr"/>
            <a:lstStyle/>
            <a:p>
              <a:endParaRPr lang="en-US" sz="1215"/>
            </a:p>
          </p:txBody>
        </p:sp>
        <p:sp>
          <p:nvSpPr>
            <p:cNvPr id="56" name="Oval 46"/>
            <p:cNvSpPr>
              <a:spLocks noChangeArrowheads="1"/>
            </p:cNvSpPr>
            <p:nvPr/>
          </p:nvSpPr>
          <p:spPr bwMode="auto">
            <a:xfrm>
              <a:off x="1864519" y="4402354"/>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57" name="Oval 56"/>
            <p:cNvSpPr>
              <a:spLocks noChangeArrowheads="1"/>
            </p:cNvSpPr>
            <p:nvPr/>
          </p:nvSpPr>
          <p:spPr bwMode="auto">
            <a:xfrm>
              <a:off x="718344" y="5354854"/>
              <a:ext cx="160337"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58" name="Oval 54"/>
            <p:cNvSpPr>
              <a:spLocks noChangeArrowheads="1"/>
            </p:cNvSpPr>
            <p:nvPr/>
          </p:nvSpPr>
          <p:spPr bwMode="auto">
            <a:xfrm>
              <a:off x="4780756" y="5437404"/>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sp>
          <p:nvSpPr>
            <p:cNvPr id="59" name="Oval 53"/>
            <p:cNvSpPr>
              <a:spLocks noChangeArrowheads="1"/>
            </p:cNvSpPr>
            <p:nvPr/>
          </p:nvSpPr>
          <p:spPr bwMode="auto">
            <a:xfrm>
              <a:off x="2672556" y="4959567"/>
              <a:ext cx="160338" cy="177800"/>
            </a:xfrm>
            <a:prstGeom prst="ellipse">
              <a:avLst/>
            </a:prstGeom>
            <a:solidFill>
              <a:srgbClr val="E3874F"/>
            </a:solidFill>
            <a:ln w="9525">
              <a:solidFill>
                <a:srgbClr val="333333"/>
              </a:solidFill>
              <a:round/>
              <a:headEnd/>
              <a:tailEnd/>
            </a:ln>
          </p:spPr>
          <p:txBody>
            <a:bodyPr wrap="none" anchor="ctr"/>
            <a:lstStyle/>
            <a:p>
              <a:endParaRPr lang="en-US" sz="1215"/>
            </a:p>
          </p:txBody>
        </p:sp>
        <p:sp>
          <p:nvSpPr>
            <p:cNvPr id="60" name="Oval 70"/>
            <p:cNvSpPr>
              <a:spLocks noChangeArrowheads="1"/>
            </p:cNvSpPr>
            <p:nvPr/>
          </p:nvSpPr>
          <p:spPr bwMode="auto">
            <a:xfrm>
              <a:off x="4596606" y="5154829"/>
              <a:ext cx="160338" cy="177800"/>
            </a:xfrm>
            <a:prstGeom prst="ellipse">
              <a:avLst/>
            </a:prstGeom>
            <a:solidFill>
              <a:schemeClr val="bg1"/>
            </a:solidFill>
            <a:ln w="9525">
              <a:solidFill>
                <a:schemeClr val="accent2"/>
              </a:solidFill>
              <a:round/>
              <a:headEnd/>
              <a:tailEnd/>
            </a:ln>
          </p:spPr>
          <p:txBody>
            <a:bodyPr wrap="none" anchor="ctr"/>
            <a:lstStyle/>
            <a:p>
              <a:endParaRPr lang="en-US" sz="1215"/>
            </a:p>
          </p:txBody>
        </p:sp>
      </p:grpSp>
      <p:sp>
        <p:nvSpPr>
          <p:cNvPr id="4" name="TextBox 3"/>
          <p:cNvSpPr txBox="1"/>
          <p:nvPr/>
        </p:nvSpPr>
        <p:spPr>
          <a:xfrm>
            <a:off x="206866" y="1232330"/>
            <a:ext cx="3582630" cy="4000775"/>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600" dirty="0"/>
              <a:t>Vector Data Structure</a:t>
            </a:r>
          </a:p>
          <a:p>
            <a:pPr marL="742950" lvl="1" indent="-285750">
              <a:lnSpc>
                <a:spcPct val="90000"/>
              </a:lnSpc>
              <a:buFont typeface="Wingdings" panose="05000000000000000000" pitchFamily="2" charset="2"/>
              <a:buChar char="ü"/>
            </a:pPr>
            <a:r>
              <a:rPr lang="en-US" sz="2000" dirty="0"/>
              <a:t>Vector data are made up of connected </a:t>
            </a:r>
            <a:r>
              <a:rPr lang="en-US" sz="2000" b="1" dirty="0">
                <a:solidFill>
                  <a:srgbClr val="E3874F"/>
                </a:solidFill>
              </a:rPr>
              <a:t>vertices</a:t>
            </a:r>
            <a:r>
              <a:rPr lang="en-US" sz="2000" dirty="0"/>
              <a:t>.</a:t>
            </a:r>
          </a:p>
          <a:p>
            <a:pPr>
              <a:lnSpc>
                <a:spcPct val="90000"/>
              </a:lnSpc>
            </a:pPr>
            <a:endParaRPr lang="en-US" sz="2000" dirty="0"/>
          </a:p>
          <a:p>
            <a:pPr marL="742950" lvl="1" indent="-285750">
              <a:lnSpc>
                <a:spcPct val="90000"/>
              </a:lnSpc>
              <a:buFont typeface="Wingdings" panose="05000000000000000000" pitchFamily="2" charset="2"/>
              <a:buChar char="ü"/>
            </a:pPr>
            <a:r>
              <a:rPr lang="en-US" sz="2000" dirty="0"/>
              <a:t>End vertices are called </a:t>
            </a:r>
            <a:r>
              <a:rPr lang="en-US" sz="2000" b="1" dirty="0">
                <a:solidFill>
                  <a:srgbClr val="E3874F"/>
                </a:solidFill>
              </a:rPr>
              <a:t>nodes</a:t>
            </a:r>
            <a:r>
              <a:rPr lang="en-US" sz="2000" dirty="0"/>
              <a:t>.</a:t>
            </a:r>
          </a:p>
          <a:p>
            <a:pPr>
              <a:lnSpc>
                <a:spcPct val="90000"/>
              </a:lnSpc>
            </a:pPr>
            <a:endParaRPr lang="en-US" sz="2000" dirty="0"/>
          </a:p>
          <a:p>
            <a:pPr marL="742950" lvl="1" indent="-285750">
              <a:lnSpc>
                <a:spcPct val="90000"/>
              </a:lnSpc>
              <a:buFont typeface="Wingdings" panose="05000000000000000000" pitchFamily="2" charset="2"/>
              <a:buChar char="ü"/>
            </a:pPr>
            <a:r>
              <a:rPr lang="en-US" sz="2000" dirty="0"/>
              <a:t>Vertices can be connected as lines and polygons.</a:t>
            </a:r>
          </a:p>
          <a:p>
            <a:pPr marL="285750" indent="-285750">
              <a:lnSpc>
                <a:spcPct val="90000"/>
              </a:lnSpc>
              <a:buFont typeface="Wingdings" panose="05000000000000000000" pitchFamily="2" charset="2"/>
              <a:buChar char="ü"/>
            </a:pPr>
            <a:endParaRPr lang="en-US" sz="2000" dirty="0"/>
          </a:p>
          <a:p>
            <a:pPr marL="742950" lvl="1" indent="-285750">
              <a:lnSpc>
                <a:spcPct val="90000"/>
              </a:lnSpc>
              <a:buFont typeface="Wingdings" panose="05000000000000000000" pitchFamily="2" charset="2"/>
              <a:buChar char="ü"/>
            </a:pPr>
            <a:r>
              <a:rPr lang="en-US" sz="2000" dirty="0"/>
              <a:t>Vector data are made up of coordinate points.</a:t>
            </a:r>
          </a:p>
          <a:p>
            <a:pPr>
              <a:lnSpc>
                <a:spcPct val="90000"/>
              </a:lnSpc>
            </a:pPr>
            <a:endParaRPr lang="en-US" sz="1620" dirty="0"/>
          </a:p>
        </p:txBody>
      </p:sp>
      <p:sp>
        <p:nvSpPr>
          <p:cNvPr id="31" name="Title 1">
            <a:extLst>
              <a:ext uri="{FF2B5EF4-FFF2-40B4-BE49-F238E27FC236}">
                <a16:creationId xmlns:a16="http://schemas.microsoft.com/office/drawing/2014/main" id="{9B2B1801-7820-4AAB-9189-BBEF84DCB143}"/>
              </a:ext>
            </a:extLst>
          </p:cNvPr>
          <p:cNvSpPr txBox="1">
            <a:spLocks/>
          </p:cNvSpPr>
          <p:nvPr/>
        </p:nvSpPr>
        <p:spPr>
          <a:xfrm>
            <a:off x="256192" y="20191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32" name="Straight Connector 31">
            <a:extLst>
              <a:ext uri="{FF2B5EF4-FFF2-40B4-BE49-F238E27FC236}">
                <a16:creationId xmlns:a16="http://schemas.microsoft.com/office/drawing/2014/main" id="{66B48A8C-1C5B-4F6C-AFDA-28C5801EAC5B}"/>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863EAA61-C80F-4387-830A-C343BDF1CB79}"/>
              </a:ext>
            </a:extLst>
          </p:cNvPr>
          <p:cNvSpPr>
            <a:spLocks noGrp="1"/>
          </p:cNvSpPr>
          <p:nvPr>
            <p:ph type="sldNum" sz="quarter" idx="12"/>
          </p:nvPr>
        </p:nvSpPr>
        <p:spPr/>
        <p:txBody>
          <a:bodyPr/>
          <a:lstStyle/>
          <a:p>
            <a:fld id="{127DDC20-79C9-9647-820E-6D40A3D210C3}" type="slidenum">
              <a:rPr lang="en-US" smtClean="0"/>
              <a:pPr/>
              <a:t>6</a:t>
            </a:fld>
            <a:endParaRPr lang="en-US"/>
          </a:p>
        </p:txBody>
      </p:sp>
    </p:spTree>
    <p:extLst>
      <p:ext uri="{BB962C8B-B14F-4D97-AF65-F5344CB8AC3E}">
        <p14:creationId xmlns:p14="http://schemas.microsoft.com/office/powerpoint/2010/main" val="629522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4967" y="1257376"/>
            <a:ext cx="7064612" cy="424732"/>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400" dirty="0"/>
              <a:t>All types can store attribute information</a:t>
            </a:r>
          </a:p>
        </p:txBody>
      </p:sp>
      <p:pic>
        <p:nvPicPr>
          <p:cNvPr id="5" name="Picture 4" descr="Example of attribute table"/>
          <p:cNvPicPr>
            <a:picLocks noChangeAspect="1"/>
          </p:cNvPicPr>
          <p:nvPr/>
        </p:nvPicPr>
        <p:blipFill>
          <a:blip r:embed="rId3"/>
          <a:stretch>
            <a:fillRect/>
          </a:stretch>
        </p:blipFill>
        <p:spPr>
          <a:xfrm>
            <a:off x="1433960" y="1724411"/>
            <a:ext cx="4986626" cy="3106986"/>
          </a:xfrm>
          <a:prstGeom prst="rect">
            <a:avLst/>
          </a:prstGeom>
        </p:spPr>
      </p:pic>
      <p:sp>
        <p:nvSpPr>
          <p:cNvPr id="6" name="Content Placeholder 2"/>
          <p:cNvSpPr txBox="1">
            <a:spLocks/>
          </p:cNvSpPr>
          <p:nvPr/>
        </p:nvSpPr>
        <p:spPr>
          <a:xfrm>
            <a:off x="4510326" y="4831397"/>
            <a:ext cx="3479198" cy="30869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marL="0" indent="0">
              <a:buNone/>
            </a:pPr>
            <a:r>
              <a:rPr lang="en-US" sz="945" dirty="0"/>
              <a:t>Examples by Dr. Mike and Dr. Jackie Strager</a:t>
            </a:r>
          </a:p>
        </p:txBody>
      </p:sp>
      <p:sp>
        <p:nvSpPr>
          <p:cNvPr id="7" name="Title 1">
            <a:extLst>
              <a:ext uri="{FF2B5EF4-FFF2-40B4-BE49-F238E27FC236}">
                <a16:creationId xmlns:a16="http://schemas.microsoft.com/office/drawing/2014/main" id="{00AAFE97-D806-4790-B52F-1023F13ACC88}"/>
              </a:ext>
            </a:extLst>
          </p:cNvPr>
          <p:cNvSpPr txBox="1">
            <a:spLocks/>
          </p:cNvSpPr>
          <p:nvPr/>
        </p:nvSpPr>
        <p:spPr>
          <a:xfrm>
            <a:off x="237802" y="2564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C8ADA019-C51C-42CA-A187-F611CFD3025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8B5E1D4F-53B4-4400-B159-7207EAAD2FA3}"/>
              </a:ext>
            </a:extLst>
          </p:cNvPr>
          <p:cNvSpPr>
            <a:spLocks noGrp="1"/>
          </p:cNvSpPr>
          <p:nvPr>
            <p:ph type="sldNum" sz="quarter" idx="12"/>
          </p:nvPr>
        </p:nvSpPr>
        <p:spPr/>
        <p:txBody>
          <a:bodyPr/>
          <a:lstStyle/>
          <a:p>
            <a:fld id="{127DDC20-79C9-9647-820E-6D40A3D210C3}" type="slidenum">
              <a:rPr lang="en-US" smtClean="0"/>
              <a:pPr/>
              <a:t>7</a:t>
            </a:fld>
            <a:endParaRPr lang="en-US"/>
          </a:p>
        </p:txBody>
      </p:sp>
    </p:spTree>
    <p:extLst>
      <p:ext uri="{BB962C8B-B14F-4D97-AF65-F5344CB8AC3E}">
        <p14:creationId xmlns:p14="http://schemas.microsoft.com/office/powerpoint/2010/main" val="2263551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399" y="1131194"/>
            <a:ext cx="3930633" cy="3504453"/>
          </a:xfrm>
        </p:spPr>
        <p:txBody>
          <a:bodyPr>
            <a:normAutofit fontScale="70000" lnSpcReduction="20000"/>
          </a:bodyPr>
          <a:lstStyle/>
          <a:p>
            <a:pPr>
              <a:buFont typeface="Courier New" panose="02070309020205020404" pitchFamily="49" charset="0"/>
              <a:buChar char="o"/>
            </a:pPr>
            <a:r>
              <a:rPr lang="en-US" sz="3700" dirty="0"/>
              <a:t>Topology</a:t>
            </a:r>
          </a:p>
          <a:p>
            <a:pPr lvl="1">
              <a:buFont typeface="Wingdings" panose="05000000000000000000" pitchFamily="2" charset="2"/>
              <a:buChar char="ü"/>
            </a:pPr>
            <a:r>
              <a:rPr lang="en-US" sz="2900" i="1" dirty="0"/>
              <a:t>Study of properties of geometric objects that remain invariant under certain transformations such as bending or stretching </a:t>
            </a:r>
            <a:r>
              <a:rPr lang="en-US" sz="2900" dirty="0"/>
              <a:t>(Massey 1967)</a:t>
            </a:r>
          </a:p>
          <a:p>
            <a:pPr lvl="1">
              <a:buFont typeface="Wingdings" panose="05000000000000000000" pitchFamily="2" charset="2"/>
              <a:buChar char="ü"/>
            </a:pPr>
            <a:r>
              <a:rPr lang="en-US" sz="2900" dirty="0"/>
              <a:t>spatial relationship between map features.</a:t>
            </a:r>
          </a:p>
          <a:p>
            <a:pPr marL="0" indent="0">
              <a:buNone/>
            </a:pPr>
            <a:r>
              <a:rPr lang="en-US" dirty="0"/>
              <a:t>Examples:</a:t>
            </a:r>
          </a:p>
          <a:p>
            <a:pPr lvl="1">
              <a:buFont typeface="Wingdings" panose="05000000000000000000" pitchFamily="2" charset="2"/>
              <a:buChar char="ü"/>
            </a:pPr>
            <a:r>
              <a:rPr lang="en-US" sz="2900" dirty="0"/>
              <a:t>Adjacent to</a:t>
            </a:r>
          </a:p>
          <a:p>
            <a:pPr lvl="1">
              <a:buFont typeface="Wingdings" panose="05000000000000000000" pitchFamily="2" charset="2"/>
              <a:buChar char="ü"/>
            </a:pPr>
            <a:r>
              <a:rPr lang="en-US" sz="2900" dirty="0"/>
              <a:t>Incident with </a:t>
            </a:r>
          </a:p>
        </p:txBody>
      </p:sp>
      <p:sp>
        <p:nvSpPr>
          <p:cNvPr id="2" name="Slide Number Placeholder 1">
            <a:extLst>
              <a:ext uri="{FF2B5EF4-FFF2-40B4-BE49-F238E27FC236}">
                <a16:creationId xmlns:a16="http://schemas.microsoft.com/office/drawing/2014/main" id="{31F84E32-FA73-48A5-9B0F-FB0209A3A6C9}"/>
              </a:ext>
            </a:extLst>
          </p:cNvPr>
          <p:cNvSpPr>
            <a:spLocks noGrp="1"/>
          </p:cNvSpPr>
          <p:nvPr>
            <p:ph type="sldNum" sz="quarter" idx="12"/>
          </p:nvPr>
        </p:nvSpPr>
        <p:spPr/>
        <p:txBody>
          <a:bodyPr/>
          <a:lstStyle/>
          <a:p>
            <a:fld id="{127DDC20-79C9-9647-820E-6D40A3D210C3}" type="slidenum">
              <a:rPr lang="en-US" smtClean="0"/>
              <a:pPr/>
              <a:t>8</a:t>
            </a:fld>
            <a:endParaRPr lang="en-US"/>
          </a:p>
        </p:txBody>
      </p:sp>
      <p:sp>
        <p:nvSpPr>
          <p:cNvPr id="4" name="TextBox 3"/>
          <p:cNvSpPr txBox="1"/>
          <p:nvPr/>
        </p:nvSpPr>
        <p:spPr>
          <a:xfrm>
            <a:off x="286908" y="4682829"/>
            <a:ext cx="3796125" cy="279307"/>
          </a:xfrm>
          <a:prstGeom prst="rect">
            <a:avLst/>
          </a:prstGeom>
          <a:noFill/>
        </p:spPr>
        <p:txBody>
          <a:bodyPr wrap="square" rtlCol="0">
            <a:spAutoFit/>
          </a:bodyPr>
          <a:lstStyle/>
          <a:p>
            <a:pPr>
              <a:lnSpc>
                <a:spcPct val="90000"/>
              </a:lnSpc>
            </a:pPr>
            <a:r>
              <a:rPr lang="en-US" sz="1350" dirty="0">
                <a:solidFill>
                  <a:srgbClr val="FF0000"/>
                </a:solidFill>
              </a:rPr>
              <a:t>Topology and Topography are different!</a:t>
            </a:r>
          </a:p>
        </p:txBody>
      </p:sp>
      <p:sp>
        <p:nvSpPr>
          <p:cNvPr id="5" name="Rectangle 4"/>
          <p:cNvSpPr/>
          <p:nvPr/>
        </p:nvSpPr>
        <p:spPr>
          <a:xfrm>
            <a:off x="4146568" y="4293877"/>
            <a:ext cx="4113728" cy="237757"/>
          </a:xfrm>
          <a:prstGeom prst="rect">
            <a:avLst/>
          </a:prstGeom>
        </p:spPr>
        <p:txBody>
          <a:bodyPr>
            <a:spAutoFit/>
          </a:bodyPr>
          <a:lstStyle/>
          <a:p>
            <a:r>
              <a:rPr lang="en-US" sz="900" dirty="0">
                <a:solidFill>
                  <a:srgbClr val="7030A0"/>
                </a:solidFill>
              </a:rPr>
              <a:t>https://en.wikipedia.org/wiki/File:Map_of_USA_with_state_names.svg</a:t>
            </a:r>
          </a:p>
        </p:txBody>
      </p:sp>
      <p:sp>
        <p:nvSpPr>
          <p:cNvPr id="7" name="Title 1">
            <a:extLst>
              <a:ext uri="{FF2B5EF4-FFF2-40B4-BE49-F238E27FC236}">
                <a16:creationId xmlns:a16="http://schemas.microsoft.com/office/drawing/2014/main" id="{0374214E-288E-46C0-ABD7-A339293F7EE2}"/>
              </a:ext>
            </a:extLst>
          </p:cNvPr>
          <p:cNvSpPr txBox="1">
            <a:spLocks/>
          </p:cNvSpPr>
          <p:nvPr/>
        </p:nvSpPr>
        <p:spPr>
          <a:xfrm>
            <a:off x="286908" y="2267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5E08B033-D8B2-4CD4-AB71-45B99E2238A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26" name="Picture 2" descr="Map of United States">
            <a:extLst>
              <a:ext uri="{FF2B5EF4-FFF2-40B4-BE49-F238E27FC236}">
                <a16:creationId xmlns:a16="http://schemas.microsoft.com/office/drawing/2014/main" id="{2E0E8251-FF87-42F6-92D5-0D4C6F1F5D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7054" y="1426319"/>
            <a:ext cx="3997003" cy="2471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2584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374214E-288E-46C0-ABD7-A339293F7EE2}"/>
              </a:ext>
            </a:extLst>
          </p:cNvPr>
          <p:cNvSpPr txBox="1">
            <a:spLocks/>
          </p:cNvSpPr>
          <p:nvPr/>
        </p:nvSpPr>
        <p:spPr>
          <a:xfrm>
            <a:off x="261657" y="25890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5E08B033-D8B2-4CD4-AB71-45B99E2238A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83E4600F-9E38-40FE-9AB2-D17BA8FA9274}"/>
              </a:ext>
            </a:extLst>
          </p:cNvPr>
          <p:cNvSpPr>
            <a:spLocks noGrp="1"/>
          </p:cNvSpPr>
          <p:nvPr>
            <p:ph idx="1"/>
          </p:nvPr>
        </p:nvSpPr>
        <p:spPr>
          <a:xfrm>
            <a:off x="152399" y="1131194"/>
            <a:ext cx="3930633" cy="3504453"/>
          </a:xfrm>
        </p:spPr>
        <p:txBody>
          <a:bodyPr>
            <a:normAutofit fontScale="92500"/>
          </a:bodyPr>
          <a:lstStyle/>
          <a:p>
            <a:pPr>
              <a:buFont typeface="Courier New" panose="02070309020205020404" pitchFamily="49" charset="0"/>
              <a:buChar char="o"/>
            </a:pPr>
            <a:r>
              <a:rPr lang="en-US" sz="2800" dirty="0"/>
              <a:t>Topology</a:t>
            </a:r>
          </a:p>
          <a:p>
            <a:pPr lvl="1">
              <a:buFont typeface="Wingdings" panose="05000000000000000000" pitchFamily="2" charset="2"/>
              <a:buChar char="ü"/>
            </a:pPr>
            <a:r>
              <a:rPr lang="en-US" sz="2300" i="1" dirty="0"/>
              <a:t>Often use codes and tables to record topology</a:t>
            </a:r>
            <a:endParaRPr lang="en-US" sz="2300" dirty="0"/>
          </a:p>
          <a:p>
            <a:pPr lvl="1">
              <a:buFont typeface="Wingdings" panose="05000000000000000000" pitchFamily="2" charset="2"/>
              <a:buChar char="ü"/>
            </a:pPr>
            <a:r>
              <a:rPr lang="en-US" sz="2300" dirty="0"/>
              <a:t>Information on the adjacency (which polygons are next to which), connectivity (which lines connect to which), and other spatial relationships could be stored</a:t>
            </a:r>
          </a:p>
        </p:txBody>
      </p:sp>
      <p:sp>
        <p:nvSpPr>
          <p:cNvPr id="2" name="Slide Number Placeholder 1">
            <a:extLst>
              <a:ext uri="{FF2B5EF4-FFF2-40B4-BE49-F238E27FC236}">
                <a16:creationId xmlns:a16="http://schemas.microsoft.com/office/drawing/2014/main" id="{EF634A91-4C52-438F-929F-85DE0DF86DE2}"/>
              </a:ext>
            </a:extLst>
          </p:cNvPr>
          <p:cNvSpPr>
            <a:spLocks noGrp="1"/>
          </p:cNvSpPr>
          <p:nvPr>
            <p:ph type="sldNum" sz="quarter" idx="12"/>
          </p:nvPr>
        </p:nvSpPr>
        <p:spPr/>
        <p:txBody>
          <a:bodyPr/>
          <a:lstStyle/>
          <a:p>
            <a:fld id="{127DDC20-79C9-9647-820E-6D40A3D210C3}" type="slidenum">
              <a:rPr lang="en-US" smtClean="0"/>
              <a:pPr/>
              <a:t>9</a:t>
            </a:fld>
            <a:endParaRPr lang="en-US"/>
          </a:p>
        </p:txBody>
      </p:sp>
      <p:pic>
        <p:nvPicPr>
          <p:cNvPr id="4" name="Picture 3" descr="Showing topology">
            <a:extLst>
              <a:ext uri="{FF2B5EF4-FFF2-40B4-BE49-F238E27FC236}">
                <a16:creationId xmlns:a16="http://schemas.microsoft.com/office/drawing/2014/main" id="{F4274337-8575-46BD-B757-BD7E6989A2EA}"/>
              </a:ext>
            </a:extLst>
          </p:cNvPr>
          <p:cNvPicPr>
            <a:picLocks noChangeAspect="1"/>
          </p:cNvPicPr>
          <p:nvPr/>
        </p:nvPicPr>
        <p:blipFill>
          <a:blip r:embed="rId3"/>
          <a:stretch>
            <a:fillRect/>
          </a:stretch>
        </p:blipFill>
        <p:spPr>
          <a:xfrm>
            <a:off x="3868088" y="1335999"/>
            <a:ext cx="4059584" cy="3284609"/>
          </a:xfrm>
          <a:prstGeom prst="rect">
            <a:avLst/>
          </a:prstGeom>
        </p:spPr>
      </p:pic>
      <p:sp>
        <p:nvSpPr>
          <p:cNvPr id="6" name="TextBox 5">
            <a:extLst>
              <a:ext uri="{FF2B5EF4-FFF2-40B4-BE49-F238E27FC236}">
                <a16:creationId xmlns:a16="http://schemas.microsoft.com/office/drawing/2014/main" id="{ABF2BF9F-71B8-4F60-ABB4-19912978B829}"/>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Tree>
    <p:extLst>
      <p:ext uri="{BB962C8B-B14F-4D97-AF65-F5344CB8AC3E}">
        <p14:creationId xmlns:p14="http://schemas.microsoft.com/office/powerpoint/2010/main" val="4251894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374214E-288E-46C0-ABD7-A339293F7EE2}"/>
              </a:ext>
            </a:extLst>
          </p:cNvPr>
          <p:cNvSpPr txBox="1">
            <a:spLocks/>
          </p:cNvSpPr>
          <p:nvPr/>
        </p:nvSpPr>
        <p:spPr>
          <a:xfrm>
            <a:off x="245754" y="25199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5E08B033-D8B2-4CD4-AB71-45B99E2238A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68D0EF95-DF54-48D0-998E-592C51E5E5D4}"/>
              </a:ext>
            </a:extLst>
          </p:cNvPr>
          <p:cNvSpPr>
            <a:spLocks noGrp="1"/>
          </p:cNvSpPr>
          <p:nvPr>
            <p:ph idx="1"/>
          </p:nvPr>
        </p:nvSpPr>
        <p:spPr>
          <a:xfrm>
            <a:off x="152399" y="1131194"/>
            <a:ext cx="3930633" cy="3504453"/>
          </a:xfrm>
        </p:spPr>
        <p:txBody>
          <a:bodyPr>
            <a:normAutofit fontScale="92500" lnSpcReduction="10000"/>
          </a:bodyPr>
          <a:lstStyle/>
          <a:p>
            <a:pPr>
              <a:buFont typeface="Courier New" panose="02070309020205020404" pitchFamily="49" charset="0"/>
              <a:buChar char="o"/>
            </a:pPr>
            <a:r>
              <a:rPr lang="en-US" sz="2600" dirty="0"/>
              <a:t>Topological models</a:t>
            </a:r>
          </a:p>
          <a:p>
            <a:pPr lvl="1">
              <a:buFont typeface="Wingdings" panose="05000000000000000000" pitchFamily="2" charset="2"/>
              <a:buChar char="ü"/>
            </a:pPr>
            <a:r>
              <a:rPr lang="en-US" sz="2300" i="1" dirty="0"/>
              <a:t>Planar topology: requires that all features occur on a two-dimensional surface.</a:t>
            </a:r>
          </a:p>
          <a:p>
            <a:pPr lvl="2">
              <a:buFont typeface="Arial" panose="020B0604020202020204" pitchFamily="34" charset="0"/>
              <a:buChar char="•"/>
            </a:pPr>
            <a:r>
              <a:rPr lang="en-US" sz="1940" i="1" dirty="0"/>
              <a:t>Lines may not cross over or under other lines</a:t>
            </a:r>
          </a:p>
          <a:p>
            <a:pPr lvl="2">
              <a:buFont typeface="Arial" panose="020B0604020202020204" pitchFamily="34" charset="0"/>
              <a:buChar char="•"/>
            </a:pPr>
            <a:r>
              <a:rPr lang="en-US" sz="2300" i="1" dirty="0"/>
              <a:t>At each lines crossing there must be an intersection </a:t>
            </a:r>
          </a:p>
          <a:p>
            <a:pPr lvl="2">
              <a:buFont typeface="Arial" panose="020B0604020202020204" pitchFamily="34" charset="0"/>
              <a:buChar char="•"/>
            </a:pPr>
            <a:r>
              <a:rPr lang="en-US" sz="2300" i="1" dirty="0">
                <a:solidFill>
                  <a:srgbClr val="FF0000"/>
                </a:solidFill>
              </a:rPr>
              <a:t>Recommended</a:t>
            </a:r>
          </a:p>
          <a:p>
            <a:pPr lvl="1">
              <a:buFont typeface="Wingdings" panose="05000000000000000000" pitchFamily="2" charset="2"/>
              <a:buChar char="ü"/>
            </a:pPr>
            <a:r>
              <a:rPr lang="en-US" sz="2300" i="1" dirty="0"/>
              <a:t>Nonplanar topology</a:t>
            </a:r>
          </a:p>
        </p:txBody>
      </p:sp>
      <p:sp>
        <p:nvSpPr>
          <p:cNvPr id="2" name="Slide Number Placeholder 1">
            <a:extLst>
              <a:ext uri="{FF2B5EF4-FFF2-40B4-BE49-F238E27FC236}">
                <a16:creationId xmlns:a16="http://schemas.microsoft.com/office/drawing/2014/main" id="{BB4F90FA-7D8E-4CA4-A802-5E42A60C2EA5}"/>
              </a:ext>
            </a:extLst>
          </p:cNvPr>
          <p:cNvSpPr>
            <a:spLocks noGrp="1"/>
          </p:cNvSpPr>
          <p:nvPr>
            <p:ph type="sldNum" sz="quarter" idx="12"/>
          </p:nvPr>
        </p:nvSpPr>
        <p:spPr/>
        <p:txBody>
          <a:bodyPr/>
          <a:lstStyle/>
          <a:p>
            <a:fld id="{127DDC20-79C9-9647-820E-6D40A3D210C3}" type="slidenum">
              <a:rPr lang="en-US" smtClean="0"/>
              <a:pPr/>
              <a:t>10</a:t>
            </a:fld>
            <a:endParaRPr lang="en-US"/>
          </a:p>
        </p:txBody>
      </p:sp>
      <p:sp>
        <p:nvSpPr>
          <p:cNvPr id="9" name="TextBox 8">
            <a:extLst>
              <a:ext uri="{FF2B5EF4-FFF2-40B4-BE49-F238E27FC236}">
                <a16:creationId xmlns:a16="http://schemas.microsoft.com/office/drawing/2014/main" id="{D3DD7906-1F9E-4400-AC98-1FF50FE292C6}"/>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pic>
        <p:nvPicPr>
          <p:cNvPr id="4" name="Picture 3" descr="Showing planer and nonplanar topology">
            <a:extLst>
              <a:ext uri="{FF2B5EF4-FFF2-40B4-BE49-F238E27FC236}">
                <a16:creationId xmlns:a16="http://schemas.microsoft.com/office/drawing/2014/main" id="{E2C6C6E7-971E-4A1D-A218-438D5450D90B}"/>
              </a:ext>
            </a:extLst>
          </p:cNvPr>
          <p:cNvPicPr>
            <a:picLocks noChangeAspect="1"/>
          </p:cNvPicPr>
          <p:nvPr/>
        </p:nvPicPr>
        <p:blipFill>
          <a:blip r:embed="rId3"/>
          <a:stretch>
            <a:fillRect/>
          </a:stretch>
        </p:blipFill>
        <p:spPr>
          <a:xfrm>
            <a:off x="3990232" y="1565288"/>
            <a:ext cx="4086969" cy="2802076"/>
          </a:xfrm>
          <a:prstGeom prst="rect">
            <a:avLst/>
          </a:prstGeom>
        </p:spPr>
      </p:pic>
    </p:spTree>
    <p:extLst>
      <p:ext uri="{BB962C8B-B14F-4D97-AF65-F5344CB8AC3E}">
        <p14:creationId xmlns:p14="http://schemas.microsoft.com/office/powerpoint/2010/main" val="3826152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Topological issu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82812" y="3400476"/>
            <a:ext cx="2486334" cy="1743023"/>
          </a:xfrm>
          <a:prstGeom prst="rect">
            <a:avLst/>
          </a:prstGeom>
        </p:spPr>
      </p:pic>
      <p:sp>
        <p:nvSpPr>
          <p:cNvPr id="3" name="Content Placeholder 2"/>
          <p:cNvSpPr>
            <a:spLocks noGrp="1"/>
          </p:cNvSpPr>
          <p:nvPr>
            <p:ph idx="1"/>
          </p:nvPr>
        </p:nvSpPr>
        <p:spPr>
          <a:xfrm>
            <a:off x="152400" y="1009843"/>
            <a:ext cx="4805499" cy="2612532"/>
          </a:xfrm>
        </p:spPr>
        <p:txBody>
          <a:bodyPr/>
          <a:lstStyle/>
          <a:p>
            <a:pPr>
              <a:buFont typeface="Courier New" panose="02070309020205020404" pitchFamily="49" charset="0"/>
              <a:buChar char="o"/>
            </a:pPr>
            <a:r>
              <a:rPr lang="en-US" sz="2500" dirty="0"/>
              <a:t>Topological issues</a:t>
            </a:r>
          </a:p>
          <a:p>
            <a:pPr lvl="1">
              <a:buFont typeface="Wingdings" panose="05000000000000000000" pitchFamily="2" charset="2"/>
              <a:buChar char="ü"/>
            </a:pPr>
            <a:r>
              <a:rPr lang="en-US" sz="1600" dirty="0"/>
              <a:t>Dangles: two line features are supposed to connect, but not</a:t>
            </a:r>
          </a:p>
          <a:p>
            <a:pPr lvl="2">
              <a:buFont typeface="Arial" panose="020B0604020202020204" pitchFamily="34" charset="0"/>
              <a:buChar char="•"/>
            </a:pPr>
            <a:r>
              <a:rPr lang="en-US" sz="1600" dirty="0"/>
              <a:t>Overshoots: one line segment is supposed to end but not</a:t>
            </a:r>
          </a:p>
          <a:p>
            <a:pPr lvl="2">
              <a:buFont typeface="Arial" panose="020B0604020202020204" pitchFamily="34" charset="0"/>
              <a:buChar char="•"/>
            </a:pPr>
            <a:r>
              <a:rPr lang="en-US" sz="1600" dirty="0"/>
              <a:t>undershoots</a:t>
            </a:r>
          </a:p>
          <a:p>
            <a:pPr lvl="1">
              <a:buFont typeface="Wingdings" panose="05000000000000000000" pitchFamily="2" charset="2"/>
              <a:buChar char="ü"/>
            </a:pPr>
            <a:r>
              <a:rPr lang="en-US" sz="1600" dirty="0"/>
              <a:t>Slivers: areas of non-overlap due to digitization error</a:t>
            </a:r>
          </a:p>
        </p:txBody>
      </p:sp>
      <p:sp>
        <p:nvSpPr>
          <p:cNvPr id="2" name="Slide Number Placeholder 1">
            <a:extLst>
              <a:ext uri="{FF2B5EF4-FFF2-40B4-BE49-F238E27FC236}">
                <a16:creationId xmlns:a16="http://schemas.microsoft.com/office/drawing/2014/main" id="{0834F791-5F64-4323-B54F-8E32FEA47FDC}"/>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4" name="Picture 3" descr="Topological issues"/>
          <p:cNvPicPr>
            <a:picLocks noChangeAspect="1"/>
          </p:cNvPicPr>
          <p:nvPr/>
        </p:nvPicPr>
        <p:blipFill>
          <a:blip r:embed="rId4">
            <a:clrChange>
              <a:clrFrom>
                <a:srgbClr val="FFFFFF"/>
              </a:clrFrom>
              <a:clrTo>
                <a:srgbClr val="FFFFFF">
                  <a:alpha val="0"/>
                </a:srgbClr>
              </a:clrTo>
            </a:clrChange>
          </a:blip>
          <a:stretch>
            <a:fillRect/>
          </a:stretch>
        </p:blipFill>
        <p:spPr>
          <a:xfrm>
            <a:off x="4523173" y="2633199"/>
            <a:ext cx="3183370" cy="1937469"/>
          </a:xfrm>
          <a:prstGeom prst="rect">
            <a:avLst/>
          </a:prstGeom>
        </p:spPr>
      </p:pic>
      <p:pic>
        <p:nvPicPr>
          <p:cNvPr id="5" name="Picture 4" descr="Topological issues"/>
          <p:cNvPicPr>
            <a:picLocks noChangeAspect="1"/>
          </p:cNvPicPr>
          <p:nvPr/>
        </p:nvPicPr>
        <p:blipFill>
          <a:blip r:embed="rId5">
            <a:clrChange>
              <a:clrFrom>
                <a:srgbClr val="FFFFFF"/>
              </a:clrFrom>
              <a:clrTo>
                <a:srgbClr val="FFFFFF">
                  <a:alpha val="0"/>
                </a:srgbClr>
              </a:clrTo>
            </a:clrChange>
          </a:blip>
          <a:stretch>
            <a:fillRect/>
          </a:stretch>
        </p:blipFill>
        <p:spPr>
          <a:xfrm>
            <a:off x="4269145" y="1055625"/>
            <a:ext cx="3373086" cy="2059151"/>
          </a:xfrm>
          <a:prstGeom prst="rect">
            <a:avLst/>
          </a:prstGeom>
        </p:spPr>
      </p:pic>
      <p:sp>
        <p:nvSpPr>
          <p:cNvPr id="7" name="Title 1">
            <a:extLst>
              <a:ext uri="{FF2B5EF4-FFF2-40B4-BE49-F238E27FC236}">
                <a16:creationId xmlns:a16="http://schemas.microsoft.com/office/drawing/2014/main" id="{156996B2-F3FC-4F50-B014-98F8117C2FA7}"/>
              </a:ext>
            </a:extLst>
          </p:cNvPr>
          <p:cNvSpPr txBox="1">
            <a:spLocks/>
          </p:cNvSpPr>
          <p:nvPr/>
        </p:nvSpPr>
        <p:spPr>
          <a:xfrm>
            <a:off x="230545" y="20522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3088E69D-7B4A-4634-BA9F-7C97D392E4D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14372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1480" y="1097192"/>
            <a:ext cx="3575933" cy="3691578"/>
          </a:xfrm>
        </p:spPr>
        <p:txBody>
          <a:bodyPr>
            <a:normAutofit fontScale="92500" lnSpcReduction="20000"/>
          </a:bodyPr>
          <a:lstStyle/>
          <a:p>
            <a:pPr>
              <a:buFont typeface="Courier New" panose="02070309020205020404" pitchFamily="49" charset="0"/>
              <a:buChar char="o"/>
            </a:pPr>
            <a:r>
              <a:rPr lang="en-US" sz="2500" dirty="0"/>
              <a:t>Topological issues</a:t>
            </a:r>
          </a:p>
          <a:p>
            <a:pPr lvl="1">
              <a:buFont typeface="Wingdings" panose="05000000000000000000" pitchFamily="2" charset="2"/>
              <a:buChar char="ü"/>
            </a:pPr>
            <a:r>
              <a:rPr lang="en-US" sz="1640" dirty="0"/>
              <a:t>Between different layers</a:t>
            </a:r>
          </a:p>
          <a:p>
            <a:pPr lvl="1">
              <a:buFont typeface="Wingdings" panose="05000000000000000000" pitchFamily="2" charset="2"/>
              <a:buChar char="ü"/>
            </a:pPr>
            <a:endParaRPr lang="en-US" sz="1640" dirty="0"/>
          </a:p>
          <a:p>
            <a:pPr marL="411480" lvl="1" indent="0">
              <a:buNone/>
            </a:pPr>
            <a:endParaRPr lang="en-US" sz="1280" dirty="0"/>
          </a:p>
          <a:p>
            <a:pPr marL="411480" lvl="1" indent="0">
              <a:buNone/>
            </a:pPr>
            <a:endParaRPr lang="en-US" sz="1280" dirty="0"/>
          </a:p>
          <a:p>
            <a:pPr marL="411480" lvl="1" indent="0">
              <a:buNone/>
            </a:pPr>
            <a:endParaRPr lang="en-US" sz="1280" dirty="0"/>
          </a:p>
          <a:p>
            <a:pPr marL="411480" lvl="1" indent="0">
              <a:buNone/>
            </a:pPr>
            <a:endParaRPr lang="en-US" sz="1280" dirty="0"/>
          </a:p>
          <a:p>
            <a:pPr marL="411480" lvl="1" indent="0">
              <a:buNone/>
            </a:pPr>
            <a:endParaRPr lang="en-US" sz="1280" dirty="0"/>
          </a:p>
          <a:p>
            <a:pPr marL="411480" lvl="1" indent="0">
              <a:buNone/>
            </a:pPr>
            <a:endParaRPr lang="en-US" sz="1280" dirty="0"/>
          </a:p>
          <a:p>
            <a:pPr marL="411480" lvl="1" indent="0">
              <a:buNone/>
            </a:pPr>
            <a:endParaRPr lang="en-US" sz="1280" dirty="0"/>
          </a:p>
          <a:p>
            <a:pPr marL="411480" lvl="1" indent="0">
              <a:buNone/>
            </a:pPr>
            <a:r>
              <a:rPr lang="en-US" sz="2000" dirty="0">
                <a:solidFill>
                  <a:srgbClr val="FF0000"/>
                </a:solidFill>
              </a:rPr>
              <a:t>Topological rules and constraints may be enforced, both within and between layers!</a:t>
            </a:r>
          </a:p>
        </p:txBody>
      </p:sp>
      <p:sp>
        <p:nvSpPr>
          <p:cNvPr id="2" name="Slide Number Placeholder 1">
            <a:extLst>
              <a:ext uri="{FF2B5EF4-FFF2-40B4-BE49-F238E27FC236}">
                <a16:creationId xmlns:a16="http://schemas.microsoft.com/office/drawing/2014/main" id="{0834F791-5F64-4323-B54F-8E32FEA47FDC}"/>
              </a:ext>
            </a:extLst>
          </p:cNvPr>
          <p:cNvSpPr>
            <a:spLocks noGrp="1"/>
          </p:cNvSpPr>
          <p:nvPr>
            <p:ph type="sldNum" sz="quarter" idx="12"/>
          </p:nvPr>
        </p:nvSpPr>
        <p:spPr/>
        <p:txBody>
          <a:bodyPr/>
          <a:lstStyle/>
          <a:p>
            <a:fld id="{127DDC20-79C9-9647-820E-6D40A3D210C3}" type="slidenum">
              <a:rPr lang="en-US" smtClean="0"/>
              <a:pPr/>
              <a:t>12</a:t>
            </a:fld>
            <a:endParaRPr lang="en-US"/>
          </a:p>
        </p:txBody>
      </p:sp>
      <p:sp>
        <p:nvSpPr>
          <p:cNvPr id="7" name="Title 1">
            <a:extLst>
              <a:ext uri="{FF2B5EF4-FFF2-40B4-BE49-F238E27FC236}">
                <a16:creationId xmlns:a16="http://schemas.microsoft.com/office/drawing/2014/main" id="{156996B2-F3FC-4F50-B014-98F8117C2FA7}"/>
              </a:ext>
            </a:extLst>
          </p:cNvPr>
          <p:cNvSpPr txBox="1">
            <a:spLocks/>
          </p:cNvSpPr>
          <p:nvPr/>
        </p:nvSpPr>
        <p:spPr>
          <a:xfrm>
            <a:off x="245754" y="1985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3088E69D-7B4A-4634-BA9F-7C97D392E4D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9" name="Picture 8" descr="Topological issues">
            <a:extLst>
              <a:ext uri="{FF2B5EF4-FFF2-40B4-BE49-F238E27FC236}">
                <a16:creationId xmlns:a16="http://schemas.microsoft.com/office/drawing/2014/main" id="{35345436-2E13-4CB5-839B-8A47EB96EB9B}"/>
              </a:ext>
            </a:extLst>
          </p:cNvPr>
          <p:cNvPicPr>
            <a:picLocks noChangeAspect="1"/>
          </p:cNvPicPr>
          <p:nvPr/>
        </p:nvPicPr>
        <p:blipFill>
          <a:blip r:embed="rId3"/>
          <a:stretch>
            <a:fillRect/>
          </a:stretch>
        </p:blipFill>
        <p:spPr>
          <a:xfrm>
            <a:off x="3987413" y="1452792"/>
            <a:ext cx="3207471" cy="3153691"/>
          </a:xfrm>
          <a:prstGeom prst="rect">
            <a:avLst/>
          </a:prstGeom>
        </p:spPr>
      </p:pic>
      <p:sp>
        <p:nvSpPr>
          <p:cNvPr id="12" name="TextBox 11">
            <a:extLst>
              <a:ext uri="{FF2B5EF4-FFF2-40B4-BE49-F238E27FC236}">
                <a16:creationId xmlns:a16="http://schemas.microsoft.com/office/drawing/2014/main" id="{8B17CC58-34D0-40B3-B6FF-3EC775A53E66}"/>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Tree>
    <p:extLst>
      <p:ext uri="{BB962C8B-B14F-4D97-AF65-F5344CB8AC3E}">
        <p14:creationId xmlns:p14="http://schemas.microsoft.com/office/powerpoint/2010/main" val="774559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374214E-288E-46C0-ABD7-A339293F7EE2}"/>
              </a:ext>
            </a:extLst>
          </p:cNvPr>
          <p:cNvSpPr txBox="1">
            <a:spLocks/>
          </p:cNvSpPr>
          <p:nvPr/>
        </p:nvSpPr>
        <p:spPr>
          <a:xfrm>
            <a:off x="213949" y="22914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5E08B033-D8B2-4CD4-AB71-45B99E2238A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68D0EF95-DF54-48D0-998E-592C51E5E5D4}"/>
              </a:ext>
            </a:extLst>
          </p:cNvPr>
          <p:cNvSpPr>
            <a:spLocks noGrp="1"/>
          </p:cNvSpPr>
          <p:nvPr>
            <p:ph idx="1"/>
          </p:nvPr>
        </p:nvSpPr>
        <p:spPr>
          <a:xfrm>
            <a:off x="152399" y="1131194"/>
            <a:ext cx="3930633" cy="3504453"/>
          </a:xfrm>
        </p:spPr>
        <p:txBody>
          <a:bodyPr>
            <a:normAutofit/>
          </a:bodyPr>
          <a:lstStyle/>
          <a:p>
            <a:pPr>
              <a:buFont typeface="Courier New" panose="02070309020205020404" pitchFamily="49" charset="0"/>
              <a:buChar char="o"/>
            </a:pPr>
            <a:r>
              <a:rPr lang="en-US" sz="2600" dirty="0"/>
              <a:t>Topology</a:t>
            </a:r>
          </a:p>
          <a:p>
            <a:pPr lvl="1">
              <a:buFont typeface="Wingdings" panose="05000000000000000000" pitchFamily="2" charset="2"/>
              <a:buChar char="ü"/>
            </a:pPr>
            <a:r>
              <a:rPr lang="en-US" sz="2300" i="1" dirty="0"/>
              <a:t>Topology and coordinate data are often hidden from the user, but linked to the attribute and geographic features through pointers and index variables.</a:t>
            </a:r>
            <a:endParaRPr lang="en-US" sz="2300" dirty="0"/>
          </a:p>
        </p:txBody>
      </p:sp>
      <p:sp>
        <p:nvSpPr>
          <p:cNvPr id="2" name="Slide Number Placeholder 1">
            <a:extLst>
              <a:ext uri="{FF2B5EF4-FFF2-40B4-BE49-F238E27FC236}">
                <a16:creationId xmlns:a16="http://schemas.microsoft.com/office/drawing/2014/main" id="{BB4F90FA-7D8E-4CA4-A802-5E42A60C2EA5}"/>
              </a:ext>
            </a:extLst>
          </p:cNvPr>
          <p:cNvSpPr>
            <a:spLocks noGrp="1"/>
          </p:cNvSpPr>
          <p:nvPr>
            <p:ph type="sldNum" sz="quarter" idx="12"/>
          </p:nvPr>
        </p:nvSpPr>
        <p:spPr/>
        <p:txBody>
          <a:bodyPr/>
          <a:lstStyle/>
          <a:p>
            <a:fld id="{127DDC20-79C9-9647-820E-6D40A3D210C3}" type="slidenum">
              <a:rPr lang="en-US" smtClean="0"/>
              <a:pPr/>
              <a:t>13</a:t>
            </a:fld>
            <a:endParaRPr lang="en-US"/>
          </a:p>
        </p:txBody>
      </p:sp>
      <p:pic>
        <p:nvPicPr>
          <p:cNvPr id="6" name="Picture 5" descr="Topology information">
            <a:extLst>
              <a:ext uri="{FF2B5EF4-FFF2-40B4-BE49-F238E27FC236}">
                <a16:creationId xmlns:a16="http://schemas.microsoft.com/office/drawing/2014/main" id="{066346CA-B457-43E1-A858-A9AAB7AE71CC}"/>
              </a:ext>
            </a:extLst>
          </p:cNvPr>
          <p:cNvPicPr>
            <a:picLocks noChangeAspect="1"/>
          </p:cNvPicPr>
          <p:nvPr/>
        </p:nvPicPr>
        <p:blipFill>
          <a:blip r:embed="rId3"/>
          <a:stretch>
            <a:fillRect/>
          </a:stretch>
        </p:blipFill>
        <p:spPr>
          <a:xfrm>
            <a:off x="3940130" y="1109688"/>
            <a:ext cx="4255603" cy="3208420"/>
          </a:xfrm>
          <a:prstGeom prst="rect">
            <a:avLst/>
          </a:prstGeom>
        </p:spPr>
      </p:pic>
      <p:sp>
        <p:nvSpPr>
          <p:cNvPr id="9" name="TextBox 8">
            <a:extLst>
              <a:ext uri="{FF2B5EF4-FFF2-40B4-BE49-F238E27FC236}">
                <a16:creationId xmlns:a16="http://schemas.microsoft.com/office/drawing/2014/main" id="{D3DD7906-1F9E-4400-AC98-1FF50FE292C6}"/>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Tree>
    <p:extLst>
      <p:ext uri="{BB962C8B-B14F-4D97-AF65-F5344CB8AC3E}">
        <p14:creationId xmlns:p14="http://schemas.microsoft.com/office/powerpoint/2010/main" val="1005521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305" y="1042572"/>
            <a:ext cx="7444990" cy="4049208"/>
          </a:xfrm>
        </p:spPr>
        <p:txBody>
          <a:bodyPr>
            <a:normAutofit/>
          </a:bodyPr>
          <a:lstStyle/>
          <a:p>
            <a:pPr>
              <a:buFont typeface="Courier New" panose="02070309020205020404" pitchFamily="49" charset="0"/>
              <a:buChar char="o"/>
            </a:pPr>
            <a:r>
              <a:rPr lang="en-US" sz="3600" dirty="0"/>
              <a:t>The Shapefile</a:t>
            </a:r>
          </a:p>
          <a:p>
            <a:pPr lvl="1">
              <a:buFont typeface="Wingdings" panose="05000000000000000000" pitchFamily="2" charset="2"/>
              <a:buChar char="ü"/>
            </a:pPr>
            <a:r>
              <a:rPr lang="en-US" sz="1400" dirty="0"/>
              <a:t>Nontopological</a:t>
            </a:r>
          </a:p>
          <a:p>
            <a:pPr lvl="1">
              <a:buFont typeface="Wingdings" panose="05000000000000000000" pitchFamily="2" charset="2"/>
              <a:buChar char="ü"/>
            </a:pPr>
            <a:r>
              <a:rPr lang="en-US" sz="1400" dirty="0"/>
              <a:t>No file describe the spatial relationships among geographic objects</a:t>
            </a:r>
          </a:p>
          <a:p>
            <a:pPr lvl="1">
              <a:buFont typeface="Wingdings" panose="05000000000000000000" pitchFamily="2" charset="2"/>
              <a:buChar char="ü"/>
            </a:pPr>
            <a:r>
              <a:rPr lang="en-US" sz="1400" dirty="0"/>
              <a:t>Although this is a nontopological model, topological relationships can be calculated on-the-fly to perform analyses</a:t>
            </a:r>
          </a:p>
          <a:p>
            <a:pPr marL="0" indent="0">
              <a:buNone/>
            </a:pPr>
            <a:r>
              <a:rPr lang="en-US" sz="1400" u="sng" dirty="0"/>
              <a:t>Components</a:t>
            </a:r>
          </a:p>
          <a:p>
            <a:pPr marL="0" indent="0">
              <a:buNone/>
            </a:pPr>
            <a:r>
              <a:rPr lang="en-US" sz="1400" b="1" dirty="0">
                <a:solidFill>
                  <a:srgbClr val="E3874F"/>
                </a:solidFill>
              </a:rPr>
              <a:t>.</a:t>
            </a:r>
            <a:r>
              <a:rPr lang="en-US" sz="1400" b="1" dirty="0" err="1">
                <a:solidFill>
                  <a:srgbClr val="E3874F"/>
                </a:solidFill>
              </a:rPr>
              <a:t>shp</a:t>
            </a:r>
            <a:r>
              <a:rPr lang="en-US" sz="1400" b="1" dirty="0">
                <a:solidFill>
                  <a:srgbClr val="E3874F"/>
                </a:solidFill>
              </a:rPr>
              <a:t> </a:t>
            </a:r>
            <a:r>
              <a:rPr lang="en-US" sz="1400" dirty="0"/>
              <a:t>= geometry data</a:t>
            </a:r>
          </a:p>
          <a:p>
            <a:pPr marL="0" indent="0">
              <a:buNone/>
            </a:pPr>
            <a:r>
              <a:rPr lang="en-US" sz="1400" b="1" dirty="0">
                <a:solidFill>
                  <a:srgbClr val="E3874F"/>
                </a:solidFill>
              </a:rPr>
              <a:t>.</a:t>
            </a:r>
            <a:r>
              <a:rPr lang="en-US" sz="1400" b="1" dirty="0" err="1">
                <a:solidFill>
                  <a:srgbClr val="E3874F"/>
                </a:solidFill>
              </a:rPr>
              <a:t>prj</a:t>
            </a:r>
            <a:r>
              <a:rPr lang="en-US" sz="1400" b="1" dirty="0">
                <a:solidFill>
                  <a:srgbClr val="E3874F"/>
                </a:solidFill>
              </a:rPr>
              <a:t> </a:t>
            </a:r>
            <a:r>
              <a:rPr lang="en-US" sz="1400" dirty="0"/>
              <a:t>= spatial reference/projection information</a:t>
            </a:r>
          </a:p>
          <a:p>
            <a:pPr marL="0" indent="0">
              <a:buNone/>
            </a:pPr>
            <a:r>
              <a:rPr lang="en-US" sz="1400" b="1" dirty="0">
                <a:solidFill>
                  <a:srgbClr val="E3874F"/>
                </a:solidFill>
              </a:rPr>
              <a:t>.dbf </a:t>
            </a:r>
            <a:r>
              <a:rPr lang="en-US" sz="1400" dirty="0"/>
              <a:t>= attribute table/</a:t>
            </a:r>
            <a:r>
              <a:rPr lang="en-US" sz="1400" dirty="0" err="1"/>
              <a:t>aspatial</a:t>
            </a:r>
            <a:r>
              <a:rPr lang="en-US" sz="1400" dirty="0"/>
              <a:t> data</a:t>
            </a:r>
          </a:p>
          <a:p>
            <a:pPr marL="0" indent="0">
              <a:buNone/>
            </a:pPr>
            <a:r>
              <a:rPr lang="en-US" sz="1400" b="1" dirty="0">
                <a:solidFill>
                  <a:srgbClr val="E3874F"/>
                </a:solidFill>
              </a:rPr>
              <a:t>.</a:t>
            </a:r>
            <a:r>
              <a:rPr lang="en-US" sz="1400" b="1" dirty="0" err="1">
                <a:solidFill>
                  <a:srgbClr val="E3874F"/>
                </a:solidFill>
              </a:rPr>
              <a:t>shx</a:t>
            </a:r>
            <a:r>
              <a:rPr lang="en-US" sz="1400" b="1" dirty="0">
                <a:solidFill>
                  <a:srgbClr val="E3874F"/>
                </a:solidFill>
              </a:rPr>
              <a:t> </a:t>
            </a:r>
            <a:r>
              <a:rPr lang="en-US" sz="1400" dirty="0"/>
              <a:t>= index file for geometry (helps with speed)</a:t>
            </a:r>
          </a:p>
          <a:p>
            <a:pPr marL="0" indent="0">
              <a:buNone/>
            </a:pPr>
            <a:r>
              <a:rPr lang="en-US" sz="1400" b="1" dirty="0">
                <a:solidFill>
                  <a:srgbClr val="E3874F"/>
                </a:solidFill>
              </a:rPr>
              <a:t>.</a:t>
            </a:r>
            <a:r>
              <a:rPr lang="en-US" sz="1400" b="1" dirty="0" err="1">
                <a:solidFill>
                  <a:srgbClr val="E3874F"/>
                </a:solidFill>
              </a:rPr>
              <a:t>sbn</a:t>
            </a:r>
            <a:r>
              <a:rPr lang="en-US" sz="1400" b="1" dirty="0">
                <a:solidFill>
                  <a:srgbClr val="E3874F"/>
                </a:solidFill>
              </a:rPr>
              <a:t> </a:t>
            </a:r>
            <a:r>
              <a:rPr lang="en-US" sz="1400" dirty="0"/>
              <a:t>and </a:t>
            </a:r>
            <a:r>
              <a:rPr lang="en-US" sz="1400" b="1" dirty="0">
                <a:solidFill>
                  <a:srgbClr val="E3874F"/>
                </a:solidFill>
              </a:rPr>
              <a:t>.</a:t>
            </a:r>
            <a:r>
              <a:rPr lang="en-US" sz="1400" b="1" dirty="0" err="1">
                <a:solidFill>
                  <a:srgbClr val="E3874F"/>
                </a:solidFill>
              </a:rPr>
              <a:t>sbx</a:t>
            </a:r>
            <a:r>
              <a:rPr lang="en-US" sz="1400" b="1" dirty="0">
                <a:solidFill>
                  <a:srgbClr val="E3874F"/>
                </a:solidFill>
              </a:rPr>
              <a:t> </a:t>
            </a:r>
            <a:r>
              <a:rPr lang="en-US" sz="1400" dirty="0"/>
              <a:t>= index file for the attributes (speed of queries)</a:t>
            </a:r>
          </a:p>
          <a:p>
            <a:pPr marL="0" indent="0">
              <a:buNone/>
            </a:pPr>
            <a:r>
              <a:rPr lang="en-US" sz="1400" b="1" dirty="0">
                <a:solidFill>
                  <a:srgbClr val="E3874F"/>
                </a:solidFill>
              </a:rPr>
              <a:t>.xml </a:t>
            </a:r>
            <a:r>
              <a:rPr lang="en-US" sz="1400" dirty="0"/>
              <a:t>= metadata</a:t>
            </a:r>
            <a:endParaRPr lang="en-US" dirty="0"/>
          </a:p>
          <a:p>
            <a:pPr marL="0" indent="0">
              <a:buNone/>
            </a:pPr>
            <a:endParaRPr lang="en-US" dirty="0"/>
          </a:p>
        </p:txBody>
      </p:sp>
      <p:sp>
        <p:nvSpPr>
          <p:cNvPr id="2" name="Slide Number Placeholder 1">
            <a:extLst>
              <a:ext uri="{FF2B5EF4-FFF2-40B4-BE49-F238E27FC236}">
                <a16:creationId xmlns:a16="http://schemas.microsoft.com/office/drawing/2014/main" id="{3256DB5A-BCE4-44EC-92DE-AE510B105612}"/>
              </a:ext>
            </a:extLst>
          </p:cNvPr>
          <p:cNvSpPr>
            <a:spLocks noGrp="1"/>
          </p:cNvSpPr>
          <p:nvPr>
            <p:ph type="sldNum" sz="quarter" idx="12"/>
          </p:nvPr>
        </p:nvSpPr>
        <p:spPr/>
        <p:txBody>
          <a:bodyPr/>
          <a:lstStyle/>
          <a:p>
            <a:fld id="{127DDC20-79C9-9647-820E-6D40A3D210C3}" type="slidenum">
              <a:rPr lang="en-US" smtClean="0"/>
              <a:pPr/>
              <a:t>14</a:t>
            </a:fld>
            <a:endParaRPr lang="en-US"/>
          </a:p>
        </p:txBody>
      </p:sp>
      <p:sp>
        <p:nvSpPr>
          <p:cNvPr id="5" name="Title 1">
            <a:extLst>
              <a:ext uri="{FF2B5EF4-FFF2-40B4-BE49-F238E27FC236}">
                <a16:creationId xmlns:a16="http://schemas.microsoft.com/office/drawing/2014/main" id="{11548964-AFC5-470A-8598-008C7497388C}"/>
              </a:ext>
            </a:extLst>
          </p:cNvPr>
          <p:cNvSpPr txBox="1">
            <a:spLocks/>
          </p:cNvSpPr>
          <p:nvPr/>
        </p:nvSpPr>
        <p:spPr>
          <a:xfrm>
            <a:off x="253705" y="1853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endParaRPr lang="en-US" sz="2600" dirty="0">
              <a:solidFill>
                <a:srgbClr val="7030A0"/>
              </a:solidFill>
            </a:endParaRPr>
          </a:p>
        </p:txBody>
      </p:sp>
      <p:cxnSp>
        <p:nvCxnSpPr>
          <p:cNvPr id="6" name="Straight Connector 5">
            <a:extLst>
              <a:ext uri="{FF2B5EF4-FFF2-40B4-BE49-F238E27FC236}">
                <a16:creationId xmlns:a16="http://schemas.microsoft.com/office/drawing/2014/main" id="{4B16F464-2410-47BD-B6CD-F51BFB98CC0F}"/>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 name="Picture 9" descr="Shapefile data">
            <a:extLst>
              <a:ext uri="{FF2B5EF4-FFF2-40B4-BE49-F238E27FC236}">
                <a16:creationId xmlns:a16="http://schemas.microsoft.com/office/drawing/2014/main" id="{A47CA9D2-7C5F-415F-9CE7-BF4FB2DE4E59}"/>
              </a:ext>
            </a:extLst>
          </p:cNvPr>
          <p:cNvPicPr>
            <a:picLocks noChangeAspect="1"/>
          </p:cNvPicPr>
          <p:nvPr/>
        </p:nvPicPr>
        <p:blipFill rotWithShape="1">
          <a:blip r:embed="rId3"/>
          <a:srcRect t="14689"/>
          <a:stretch/>
        </p:blipFill>
        <p:spPr>
          <a:xfrm>
            <a:off x="6253292" y="3410465"/>
            <a:ext cx="1085850" cy="1235130"/>
          </a:xfrm>
          <a:prstGeom prst="rect">
            <a:avLst/>
          </a:prstGeom>
        </p:spPr>
      </p:pic>
    </p:spTree>
    <p:extLst>
      <p:ext uri="{BB962C8B-B14F-4D97-AF65-F5344CB8AC3E}">
        <p14:creationId xmlns:p14="http://schemas.microsoft.com/office/powerpoint/2010/main" val="115012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534" y="1025859"/>
            <a:ext cx="4260961" cy="3993739"/>
          </a:xfrm>
        </p:spPr>
        <p:txBody>
          <a:bodyPr>
            <a:noAutofit/>
          </a:bodyPr>
          <a:lstStyle/>
          <a:p>
            <a:pPr lvl="1">
              <a:buFont typeface="Courier New" panose="02070309020205020404" pitchFamily="49" charset="0"/>
              <a:buChar char="o"/>
            </a:pPr>
            <a:r>
              <a:rPr lang="en-US" sz="2100" dirty="0"/>
              <a:t>Polygon inclusions and boundary generalization</a:t>
            </a:r>
          </a:p>
          <a:p>
            <a:pPr lvl="2">
              <a:buFont typeface="Wingdings" panose="05000000000000000000" pitchFamily="2" charset="2"/>
              <a:buChar char="ü"/>
            </a:pPr>
            <a:r>
              <a:rPr lang="en-US" sz="2000" dirty="0"/>
              <a:t>Polygon inclusions: areas in a polygon that are different from the rest of the polygon, but still part of it</a:t>
            </a:r>
          </a:p>
          <a:p>
            <a:pPr lvl="2">
              <a:buFont typeface="Wingdings" panose="05000000000000000000" pitchFamily="2" charset="2"/>
              <a:buChar char="ü"/>
            </a:pPr>
            <a:r>
              <a:rPr lang="en-US" sz="2000" dirty="0"/>
              <a:t>Boundary generalization: incomplete representation of boundary locations</a:t>
            </a:r>
          </a:p>
        </p:txBody>
      </p:sp>
      <p:sp>
        <p:nvSpPr>
          <p:cNvPr id="2" name="Slide Number Placeholder 1">
            <a:extLst>
              <a:ext uri="{FF2B5EF4-FFF2-40B4-BE49-F238E27FC236}">
                <a16:creationId xmlns:a16="http://schemas.microsoft.com/office/drawing/2014/main" id="{254A5B20-0DCA-46AE-B5E5-13CD7698E5BC}"/>
              </a:ext>
            </a:extLst>
          </p:cNvPr>
          <p:cNvSpPr>
            <a:spLocks noGrp="1"/>
          </p:cNvSpPr>
          <p:nvPr>
            <p:ph type="sldNum" sz="quarter" idx="12"/>
          </p:nvPr>
        </p:nvSpPr>
        <p:spPr/>
        <p:txBody>
          <a:bodyPr/>
          <a:lstStyle/>
          <a:p>
            <a:fld id="{127DDC20-79C9-9647-820E-6D40A3D210C3}" type="slidenum">
              <a:rPr lang="en-US" smtClean="0"/>
              <a:pPr/>
              <a:t>15</a:t>
            </a:fld>
            <a:endParaRPr lang="en-US"/>
          </a:p>
        </p:txBody>
      </p:sp>
      <p:sp>
        <p:nvSpPr>
          <p:cNvPr id="7" name="Title 1">
            <a:extLst>
              <a:ext uri="{FF2B5EF4-FFF2-40B4-BE49-F238E27FC236}">
                <a16:creationId xmlns:a16="http://schemas.microsoft.com/office/drawing/2014/main" id="{21467794-C3B7-44D8-9D87-30E6930724DC}"/>
              </a:ext>
            </a:extLst>
          </p:cNvPr>
          <p:cNvSpPr txBox="1">
            <a:spLocks/>
          </p:cNvSpPr>
          <p:nvPr/>
        </p:nvSpPr>
        <p:spPr>
          <a:xfrm>
            <a:off x="256675" y="22845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Data</a:t>
            </a:r>
          </a:p>
        </p:txBody>
      </p:sp>
      <p:cxnSp>
        <p:nvCxnSpPr>
          <p:cNvPr id="8" name="Straight Connector 7">
            <a:extLst>
              <a:ext uri="{FF2B5EF4-FFF2-40B4-BE49-F238E27FC236}">
                <a16:creationId xmlns:a16="http://schemas.microsoft.com/office/drawing/2014/main" id="{47D0E21A-3648-4249-B4ED-F54D8A1E10F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5" name="Picture 4" descr="Polygon inclusions and boundary generalization problem">
            <a:extLst>
              <a:ext uri="{FF2B5EF4-FFF2-40B4-BE49-F238E27FC236}">
                <a16:creationId xmlns:a16="http://schemas.microsoft.com/office/drawing/2014/main" id="{BF57EF9C-3F1C-44FA-9DAC-F65567FA36A9}"/>
              </a:ext>
            </a:extLst>
          </p:cNvPr>
          <p:cNvPicPr>
            <a:picLocks noChangeAspect="1"/>
          </p:cNvPicPr>
          <p:nvPr/>
        </p:nvPicPr>
        <p:blipFill>
          <a:blip r:embed="rId3"/>
          <a:stretch>
            <a:fillRect/>
          </a:stretch>
        </p:blipFill>
        <p:spPr>
          <a:xfrm>
            <a:off x="4295275" y="1145558"/>
            <a:ext cx="3897428" cy="3454411"/>
          </a:xfrm>
          <a:prstGeom prst="rect">
            <a:avLst/>
          </a:prstGeom>
        </p:spPr>
      </p:pic>
      <p:sp>
        <p:nvSpPr>
          <p:cNvPr id="10" name="TextBox 9">
            <a:extLst>
              <a:ext uri="{FF2B5EF4-FFF2-40B4-BE49-F238E27FC236}">
                <a16:creationId xmlns:a16="http://schemas.microsoft.com/office/drawing/2014/main" id="{2BC15DF4-9871-436F-BFB1-E513E8B8EAF4}"/>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Tree>
    <p:extLst>
      <p:ext uri="{BB962C8B-B14F-4D97-AF65-F5344CB8AC3E}">
        <p14:creationId xmlns:p14="http://schemas.microsoft.com/office/powerpoint/2010/main" val="187520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aster data"/>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92444" y="1109006"/>
            <a:ext cx="3184756" cy="2109384"/>
          </a:xfrm>
          <a:prstGeom prst="rect">
            <a:avLst/>
          </a:prstGeom>
        </p:spPr>
      </p:pic>
      <p:cxnSp>
        <p:nvCxnSpPr>
          <p:cNvPr id="5" name="Straight Arrow Connector 4"/>
          <p:cNvCxnSpPr/>
          <p:nvPr/>
        </p:nvCxnSpPr>
        <p:spPr>
          <a:xfrm flipV="1">
            <a:off x="4560485" y="4024789"/>
            <a:ext cx="663917" cy="565932"/>
          </a:xfrm>
          <a:prstGeom prst="straightConnector1">
            <a:avLst/>
          </a:prstGeom>
          <a:ln w="2540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pic>
        <p:nvPicPr>
          <p:cNvPr id="6" name="Picture 5" descr="Raster data"/>
          <p:cNvPicPr>
            <a:picLocks noChangeAspect="1"/>
          </p:cNvPicPr>
          <p:nvPr/>
        </p:nvPicPr>
        <p:blipFill>
          <a:blip r:embed="rId4"/>
          <a:stretch>
            <a:fillRect/>
          </a:stretch>
        </p:blipFill>
        <p:spPr>
          <a:xfrm>
            <a:off x="5239425" y="3526383"/>
            <a:ext cx="2562597" cy="1562745"/>
          </a:xfrm>
          <a:prstGeom prst="rect">
            <a:avLst/>
          </a:prstGeom>
        </p:spPr>
      </p:pic>
      <p:sp>
        <p:nvSpPr>
          <p:cNvPr id="7" name="TextBox 6"/>
          <p:cNvSpPr txBox="1"/>
          <p:nvPr/>
        </p:nvSpPr>
        <p:spPr>
          <a:xfrm>
            <a:off x="4273925" y="4543504"/>
            <a:ext cx="1594900" cy="383182"/>
          </a:xfrm>
          <a:prstGeom prst="rect">
            <a:avLst/>
          </a:prstGeom>
          <a:noFill/>
        </p:spPr>
        <p:txBody>
          <a:bodyPr wrap="square" rtlCol="0">
            <a:spAutoFit/>
          </a:bodyPr>
          <a:lstStyle/>
          <a:p>
            <a:pPr>
              <a:lnSpc>
                <a:spcPct val="90000"/>
              </a:lnSpc>
            </a:pPr>
            <a:r>
              <a:rPr lang="en-US" sz="2100" dirty="0"/>
              <a:t>pixels</a:t>
            </a:r>
          </a:p>
        </p:txBody>
      </p:sp>
      <p:sp>
        <p:nvSpPr>
          <p:cNvPr id="9" name="Title 1">
            <a:extLst>
              <a:ext uri="{FF2B5EF4-FFF2-40B4-BE49-F238E27FC236}">
                <a16:creationId xmlns:a16="http://schemas.microsoft.com/office/drawing/2014/main" id="{93B66272-CEF2-4CEC-9A04-AACDCD87440C}"/>
              </a:ext>
            </a:extLst>
          </p:cNvPr>
          <p:cNvSpPr txBox="1">
            <a:spLocks/>
          </p:cNvSpPr>
          <p:nvPr/>
        </p:nvSpPr>
        <p:spPr>
          <a:xfrm>
            <a:off x="293462" y="16594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10" name="Straight Connector 9">
            <a:extLst>
              <a:ext uri="{FF2B5EF4-FFF2-40B4-BE49-F238E27FC236}">
                <a16:creationId xmlns:a16="http://schemas.microsoft.com/office/drawing/2014/main" id="{2F98180B-87D5-4F8C-8441-7ACF3B73C03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96243F1B-AAB5-4FD3-857F-C206319CD95A}"/>
              </a:ext>
            </a:extLst>
          </p:cNvPr>
          <p:cNvSpPr txBox="1">
            <a:spLocks/>
          </p:cNvSpPr>
          <p:nvPr/>
        </p:nvSpPr>
        <p:spPr>
          <a:xfrm>
            <a:off x="152400" y="1064985"/>
            <a:ext cx="4648200" cy="940833"/>
          </a:xfrm>
          <a:prstGeom prst="rect">
            <a:avLst/>
          </a:prstGeom>
        </p:spPr>
        <p:txBody>
          <a:bodyPr vert="horz" lIns="91440" tIns="45720" rIns="91440" bIns="45720" rtlCol="0">
            <a:normAutofit fontScale="70000" lnSpcReduction="2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dirty="0"/>
              <a:t>Array of cells or pixels</a:t>
            </a:r>
          </a:p>
          <a:p>
            <a:pPr>
              <a:buFont typeface="Courier New" panose="02070309020205020404" pitchFamily="49" charset="0"/>
              <a:buChar char="o"/>
            </a:pPr>
            <a:r>
              <a:rPr lang="en-US" dirty="0"/>
              <a:t>Origin is generally as the coordinate of the upper-left corner of the grid extent</a:t>
            </a:r>
          </a:p>
          <a:p>
            <a:pPr marL="0" indent="0">
              <a:buFont typeface="Arial"/>
              <a:buNone/>
            </a:pPr>
            <a:endParaRPr lang="en-US" dirty="0"/>
          </a:p>
        </p:txBody>
      </p:sp>
      <p:sp>
        <p:nvSpPr>
          <p:cNvPr id="2" name="Slide Number Placeholder 1">
            <a:extLst>
              <a:ext uri="{FF2B5EF4-FFF2-40B4-BE49-F238E27FC236}">
                <a16:creationId xmlns:a16="http://schemas.microsoft.com/office/drawing/2014/main" id="{41EEED73-9602-4E07-8949-2988C9BFAD91}"/>
              </a:ext>
            </a:extLst>
          </p:cNvPr>
          <p:cNvSpPr>
            <a:spLocks noGrp="1"/>
          </p:cNvSpPr>
          <p:nvPr>
            <p:ph type="sldNum" sz="quarter" idx="12"/>
          </p:nvPr>
        </p:nvSpPr>
        <p:spPr/>
        <p:txBody>
          <a:bodyPr/>
          <a:lstStyle/>
          <a:p>
            <a:fld id="{127DDC20-79C9-9647-820E-6D40A3D210C3}" type="slidenum">
              <a:rPr lang="en-US" smtClean="0"/>
              <a:pPr/>
              <a:t>16</a:t>
            </a:fld>
            <a:endParaRPr lang="en-US"/>
          </a:p>
        </p:txBody>
      </p:sp>
      <p:pic>
        <p:nvPicPr>
          <p:cNvPr id="11" name="Picture 10">
            <a:hlinkClick r:id="rId5"/>
            <a:extLst>
              <a:ext uri="{FF2B5EF4-FFF2-40B4-BE49-F238E27FC236}">
                <a16:creationId xmlns:a16="http://schemas.microsoft.com/office/drawing/2014/main" id="{A580A475-3C45-BC74-975D-BA0554C19644}"/>
              </a:ext>
            </a:extLst>
          </p:cNvPr>
          <p:cNvPicPr>
            <a:picLocks noChangeAspect="1"/>
          </p:cNvPicPr>
          <p:nvPr/>
        </p:nvPicPr>
        <p:blipFill>
          <a:blip r:embed="rId6"/>
          <a:stretch>
            <a:fillRect/>
          </a:stretch>
        </p:blipFill>
        <p:spPr>
          <a:xfrm>
            <a:off x="786847" y="2017317"/>
            <a:ext cx="2958218" cy="3018131"/>
          </a:xfrm>
          <a:prstGeom prst="rect">
            <a:avLst/>
          </a:prstGeom>
        </p:spPr>
      </p:pic>
    </p:spTree>
    <p:extLst>
      <p:ext uri="{BB962C8B-B14F-4D97-AF65-F5344CB8AC3E}">
        <p14:creationId xmlns:p14="http://schemas.microsoft.com/office/powerpoint/2010/main" val="977135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3B66272-CEF2-4CEC-9A04-AACDCD87440C}"/>
              </a:ext>
            </a:extLst>
          </p:cNvPr>
          <p:cNvSpPr txBox="1">
            <a:spLocks/>
          </p:cNvSpPr>
          <p:nvPr/>
        </p:nvSpPr>
        <p:spPr>
          <a:xfrm>
            <a:off x="237802" y="19172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10" name="Straight Connector 9">
            <a:extLst>
              <a:ext uri="{FF2B5EF4-FFF2-40B4-BE49-F238E27FC236}">
                <a16:creationId xmlns:a16="http://schemas.microsoft.com/office/drawing/2014/main" id="{2F98180B-87D5-4F8C-8441-7ACF3B73C03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96243F1B-AAB5-4FD3-857F-C206319CD95A}"/>
              </a:ext>
            </a:extLst>
          </p:cNvPr>
          <p:cNvSpPr txBox="1">
            <a:spLocks/>
          </p:cNvSpPr>
          <p:nvPr/>
        </p:nvSpPr>
        <p:spPr>
          <a:xfrm>
            <a:off x="152400" y="1064985"/>
            <a:ext cx="4648200" cy="940833"/>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dirty="0"/>
              <a:t>Coordinates for each pixel</a:t>
            </a:r>
          </a:p>
          <a:p>
            <a:pPr marL="0" indent="0">
              <a:buFont typeface="Arial"/>
              <a:buNone/>
            </a:pPr>
            <a:endParaRPr lang="en-US" dirty="0"/>
          </a:p>
        </p:txBody>
      </p:sp>
      <p:sp>
        <p:nvSpPr>
          <p:cNvPr id="2" name="Slide Number Placeholder 1">
            <a:extLst>
              <a:ext uri="{FF2B5EF4-FFF2-40B4-BE49-F238E27FC236}">
                <a16:creationId xmlns:a16="http://schemas.microsoft.com/office/drawing/2014/main" id="{41EEED73-9602-4E07-8949-2988C9BFAD91}"/>
              </a:ext>
            </a:extLst>
          </p:cNvPr>
          <p:cNvSpPr>
            <a:spLocks noGrp="1"/>
          </p:cNvSpPr>
          <p:nvPr>
            <p:ph type="sldNum" sz="quarter" idx="12"/>
          </p:nvPr>
        </p:nvSpPr>
        <p:spPr/>
        <p:txBody>
          <a:bodyPr/>
          <a:lstStyle/>
          <a:p>
            <a:fld id="{127DDC20-79C9-9647-820E-6D40A3D210C3}" type="slidenum">
              <a:rPr lang="en-US" smtClean="0"/>
              <a:pPr/>
              <a:t>17</a:t>
            </a:fld>
            <a:endParaRPr lang="en-US"/>
          </a:p>
        </p:txBody>
      </p:sp>
      <p:sp>
        <p:nvSpPr>
          <p:cNvPr id="15" name="TextBox 14">
            <a:extLst>
              <a:ext uri="{FF2B5EF4-FFF2-40B4-BE49-F238E27FC236}">
                <a16:creationId xmlns:a16="http://schemas.microsoft.com/office/drawing/2014/main" id="{A941A90D-DE29-4260-997D-DB0B00B9A78C}"/>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pic>
        <p:nvPicPr>
          <p:cNvPr id="4" name="Picture 3">
            <a:hlinkClick r:id="rId3"/>
            <a:extLst>
              <a:ext uri="{FF2B5EF4-FFF2-40B4-BE49-F238E27FC236}">
                <a16:creationId xmlns:a16="http://schemas.microsoft.com/office/drawing/2014/main" id="{BC298258-7CE3-9B6E-B5E4-27237C0C69A0}"/>
              </a:ext>
            </a:extLst>
          </p:cNvPr>
          <p:cNvPicPr>
            <a:picLocks noChangeAspect="1"/>
          </p:cNvPicPr>
          <p:nvPr/>
        </p:nvPicPr>
        <p:blipFill>
          <a:blip r:embed="rId4"/>
          <a:stretch>
            <a:fillRect/>
          </a:stretch>
        </p:blipFill>
        <p:spPr>
          <a:xfrm>
            <a:off x="675918" y="1728075"/>
            <a:ext cx="3355393" cy="3386223"/>
          </a:xfrm>
          <a:prstGeom prst="rect">
            <a:avLst/>
          </a:prstGeom>
        </p:spPr>
      </p:pic>
    </p:spTree>
    <p:extLst>
      <p:ext uri="{BB962C8B-B14F-4D97-AF65-F5344CB8AC3E}">
        <p14:creationId xmlns:p14="http://schemas.microsoft.com/office/powerpoint/2010/main" val="1929314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4893" y="1017263"/>
            <a:ext cx="6996983" cy="1425319"/>
          </a:xfrm>
        </p:spPr>
        <p:txBody>
          <a:bodyPr>
            <a:normAutofit/>
          </a:bodyPr>
          <a:lstStyle/>
          <a:p>
            <a:pPr>
              <a:buFont typeface="Courier New" panose="02070309020205020404" pitchFamily="49" charset="0"/>
              <a:buChar char="o"/>
            </a:pPr>
            <a:r>
              <a:rPr lang="en-US" dirty="0"/>
              <a:t>Categorical</a:t>
            </a:r>
          </a:p>
          <a:p>
            <a:pPr lvl="1">
              <a:buFont typeface="Wingdings" panose="05000000000000000000" pitchFamily="2" charset="2"/>
              <a:buChar char="ü"/>
            </a:pPr>
            <a:r>
              <a:rPr lang="en-US" dirty="0"/>
              <a:t>Cells hold a value</a:t>
            </a:r>
          </a:p>
          <a:p>
            <a:pPr lvl="1">
              <a:buFont typeface="Wingdings" panose="05000000000000000000" pitchFamily="2" charset="2"/>
              <a:buChar char="ü"/>
            </a:pPr>
            <a:r>
              <a:rPr lang="en-US" dirty="0"/>
              <a:t>Value is a place holder for a category (nominal data)</a:t>
            </a:r>
          </a:p>
          <a:p>
            <a:pPr lvl="1">
              <a:buFont typeface="Wingdings" panose="05000000000000000000" pitchFamily="2" charset="2"/>
              <a:buChar char="ü"/>
            </a:pPr>
            <a:r>
              <a:rPr lang="en-US" dirty="0"/>
              <a:t>Commonly has attribute table</a:t>
            </a:r>
          </a:p>
        </p:txBody>
      </p:sp>
      <p:sp>
        <p:nvSpPr>
          <p:cNvPr id="2" name="Slide Number Placeholder 1">
            <a:extLst>
              <a:ext uri="{FF2B5EF4-FFF2-40B4-BE49-F238E27FC236}">
                <a16:creationId xmlns:a16="http://schemas.microsoft.com/office/drawing/2014/main" id="{AF83EC32-661E-40B6-83E3-5FD87E0B7DE3}"/>
              </a:ext>
            </a:extLst>
          </p:cNvPr>
          <p:cNvSpPr>
            <a:spLocks noGrp="1"/>
          </p:cNvSpPr>
          <p:nvPr>
            <p:ph type="sldNum" sz="quarter" idx="12"/>
          </p:nvPr>
        </p:nvSpPr>
        <p:spPr/>
        <p:txBody>
          <a:bodyPr/>
          <a:lstStyle/>
          <a:p>
            <a:fld id="{127DDC20-79C9-9647-820E-6D40A3D210C3}" type="slidenum">
              <a:rPr lang="en-US" smtClean="0"/>
              <a:pPr/>
              <a:t>18</a:t>
            </a:fld>
            <a:endParaRPr lang="en-US"/>
          </a:p>
        </p:txBody>
      </p:sp>
      <p:sp>
        <p:nvSpPr>
          <p:cNvPr id="23" name="Text Box 10"/>
          <p:cNvSpPr txBox="1">
            <a:spLocks noChangeArrowheads="1"/>
          </p:cNvSpPr>
          <p:nvPr/>
        </p:nvSpPr>
        <p:spPr bwMode="auto">
          <a:xfrm>
            <a:off x="6292782" y="2665001"/>
            <a:ext cx="778932" cy="249749"/>
          </a:xfrm>
          <a:prstGeom prst="rect">
            <a:avLst/>
          </a:prstGeom>
          <a:noFill/>
          <a:ln w="12700">
            <a:noFill/>
            <a:miter lim="800000"/>
            <a:headEnd/>
            <a:tailEnd/>
          </a:ln>
        </p:spPr>
        <p:txBody>
          <a:bodyPr wrap="none" lIns="62167" tIns="31084" rIns="62167" bIns="31084">
            <a:spAutoFit/>
          </a:bodyPr>
          <a:lstStyle/>
          <a:p>
            <a:r>
              <a:rPr lang="en-US" sz="1215" dirty="0">
                <a:solidFill>
                  <a:schemeClr val="bg1"/>
                </a:solidFill>
              </a:rPr>
              <a:t>Value = 42</a:t>
            </a:r>
          </a:p>
        </p:txBody>
      </p:sp>
      <p:pic>
        <p:nvPicPr>
          <p:cNvPr id="4" name="Picture 3" descr="Raster data"/>
          <p:cNvPicPr>
            <a:picLocks noChangeAspect="1"/>
          </p:cNvPicPr>
          <p:nvPr/>
        </p:nvPicPr>
        <p:blipFill>
          <a:blip r:embed="rId3"/>
          <a:stretch>
            <a:fillRect/>
          </a:stretch>
        </p:blipFill>
        <p:spPr>
          <a:xfrm>
            <a:off x="4842580" y="2086892"/>
            <a:ext cx="2900403" cy="2971688"/>
          </a:xfrm>
          <a:prstGeom prst="rect">
            <a:avLst/>
          </a:prstGeom>
        </p:spPr>
      </p:pic>
      <p:sp>
        <p:nvSpPr>
          <p:cNvPr id="8" name="Title 1">
            <a:extLst>
              <a:ext uri="{FF2B5EF4-FFF2-40B4-BE49-F238E27FC236}">
                <a16:creationId xmlns:a16="http://schemas.microsoft.com/office/drawing/2014/main" id="{3F514D92-4F2F-4514-8105-48CE1F03A366}"/>
              </a:ext>
            </a:extLst>
          </p:cNvPr>
          <p:cNvSpPr txBox="1">
            <a:spLocks/>
          </p:cNvSpPr>
          <p:nvPr/>
        </p:nvSpPr>
        <p:spPr>
          <a:xfrm>
            <a:off x="194893" y="2238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9" name="Straight Connector 8">
            <a:extLst>
              <a:ext uri="{FF2B5EF4-FFF2-40B4-BE49-F238E27FC236}">
                <a16:creationId xmlns:a16="http://schemas.microsoft.com/office/drawing/2014/main" id="{357AC9A2-1776-47DC-9621-E726569F2E0E}"/>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 name="Picture 9" descr="Raster data pixels">
            <a:extLst>
              <a:ext uri="{FF2B5EF4-FFF2-40B4-BE49-F238E27FC236}">
                <a16:creationId xmlns:a16="http://schemas.microsoft.com/office/drawing/2014/main" id="{95A42592-07E0-4C92-B2C2-C53AB7AB5E28}"/>
              </a:ext>
            </a:extLst>
          </p:cNvPr>
          <p:cNvPicPr>
            <a:picLocks noChangeAspect="1"/>
          </p:cNvPicPr>
          <p:nvPr/>
        </p:nvPicPr>
        <p:blipFill>
          <a:blip r:embed="rId4"/>
          <a:stretch>
            <a:fillRect/>
          </a:stretch>
        </p:blipFill>
        <p:spPr>
          <a:xfrm>
            <a:off x="1299811" y="2411491"/>
            <a:ext cx="2321694" cy="2629616"/>
          </a:xfrm>
          <a:prstGeom prst="rect">
            <a:avLst/>
          </a:prstGeom>
        </p:spPr>
      </p:pic>
      <p:sp>
        <p:nvSpPr>
          <p:cNvPr id="12" name="TextBox 11">
            <a:extLst>
              <a:ext uri="{FF2B5EF4-FFF2-40B4-BE49-F238E27FC236}">
                <a16:creationId xmlns:a16="http://schemas.microsoft.com/office/drawing/2014/main" id="{3C5B3030-4DFA-46F4-B52D-8E1C319EF337}"/>
              </a:ext>
            </a:extLst>
          </p:cNvPr>
          <p:cNvSpPr txBox="1"/>
          <p:nvPr/>
        </p:nvSpPr>
        <p:spPr>
          <a:xfrm>
            <a:off x="3531986" y="4810275"/>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Tree>
    <p:extLst>
      <p:ext uri="{BB962C8B-B14F-4D97-AF65-F5344CB8AC3E}">
        <p14:creationId xmlns:p14="http://schemas.microsoft.com/office/powerpoint/2010/main" val="2737518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922" y="1131195"/>
            <a:ext cx="4510751" cy="2881110"/>
          </a:xfrm>
        </p:spPr>
        <p:txBody>
          <a:bodyPr>
            <a:normAutofit/>
          </a:bodyPr>
          <a:lstStyle/>
          <a:p>
            <a:pPr>
              <a:buFont typeface="Courier New" panose="02070309020205020404" pitchFamily="49" charset="0"/>
              <a:buChar char="o"/>
            </a:pPr>
            <a:r>
              <a:rPr lang="en-US" sz="2800" dirty="0"/>
              <a:t>Continuous</a:t>
            </a:r>
          </a:p>
          <a:p>
            <a:pPr lvl="1">
              <a:buFont typeface="Wingdings" panose="05000000000000000000" pitchFamily="2" charset="2"/>
              <a:buChar char="ü"/>
            </a:pPr>
            <a:r>
              <a:rPr lang="en-US" sz="2800" dirty="0"/>
              <a:t>Cells hold a value</a:t>
            </a:r>
          </a:p>
          <a:p>
            <a:pPr lvl="1">
              <a:buFont typeface="Wingdings" panose="05000000000000000000" pitchFamily="2" charset="2"/>
              <a:buChar char="ü"/>
            </a:pPr>
            <a:r>
              <a:rPr lang="en-US" sz="2800" dirty="0"/>
              <a:t>Value is a true quantity (numeric data), not a place holder</a:t>
            </a:r>
          </a:p>
        </p:txBody>
      </p:sp>
      <p:sp>
        <p:nvSpPr>
          <p:cNvPr id="2" name="Slide Number Placeholder 1">
            <a:extLst>
              <a:ext uri="{FF2B5EF4-FFF2-40B4-BE49-F238E27FC236}">
                <a16:creationId xmlns:a16="http://schemas.microsoft.com/office/drawing/2014/main" id="{C507364C-3E3E-464B-948A-A8616DD13816}"/>
              </a:ext>
            </a:extLst>
          </p:cNvPr>
          <p:cNvSpPr>
            <a:spLocks noGrp="1"/>
          </p:cNvSpPr>
          <p:nvPr>
            <p:ph type="sldNum" sz="quarter" idx="12"/>
          </p:nvPr>
        </p:nvSpPr>
        <p:spPr/>
        <p:txBody>
          <a:bodyPr/>
          <a:lstStyle/>
          <a:p>
            <a:fld id="{127DDC20-79C9-9647-820E-6D40A3D210C3}" type="slidenum">
              <a:rPr lang="en-US" smtClean="0"/>
              <a:pPr/>
              <a:t>19</a:t>
            </a:fld>
            <a:endParaRPr lang="en-US"/>
          </a:p>
        </p:txBody>
      </p:sp>
      <p:sp>
        <p:nvSpPr>
          <p:cNvPr id="27" name="Text Box 11"/>
          <p:cNvSpPr txBox="1">
            <a:spLocks noChangeArrowheads="1"/>
          </p:cNvSpPr>
          <p:nvPr/>
        </p:nvSpPr>
        <p:spPr bwMode="auto">
          <a:xfrm>
            <a:off x="5027067" y="3245880"/>
            <a:ext cx="1017780" cy="249749"/>
          </a:xfrm>
          <a:prstGeom prst="rect">
            <a:avLst/>
          </a:prstGeom>
          <a:noFill/>
          <a:ln w="12700">
            <a:noFill/>
            <a:miter lim="800000"/>
            <a:headEnd/>
            <a:tailEnd/>
          </a:ln>
        </p:spPr>
        <p:txBody>
          <a:bodyPr wrap="none" lIns="62167" tIns="31084" rIns="62167" bIns="31084">
            <a:spAutoFit/>
          </a:bodyPr>
          <a:lstStyle/>
          <a:p>
            <a:r>
              <a:rPr lang="en-US" sz="1215" dirty="0">
                <a:solidFill>
                  <a:schemeClr val="bg1"/>
                </a:solidFill>
              </a:rPr>
              <a:t>Value = 896 m</a:t>
            </a:r>
          </a:p>
        </p:txBody>
      </p:sp>
      <p:pic>
        <p:nvPicPr>
          <p:cNvPr id="4" name="Picture 3" descr="Raster data"/>
          <p:cNvPicPr>
            <a:picLocks noChangeAspect="1"/>
          </p:cNvPicPr>
          <p:nvPr/>
        </p:nvPicPr>
        <p:blipFill>
          <a:blip r:embed="rId3"/>
          <a:stretch>
            <a:fillRect/>
          </a:stretch>
        </p:blipFill>
        <p:spPr>
          <a:xfrm>
            <a:off x="4968787" y="1547160"/>
            <a:ext cx="2937119" cy="2932559"/>
          </a:xfrm>
          <a:prstGeom prst="rect">
            <a:avLst/>
          </a:prstGeom>
        </p:spPr>
      </p:pic>
      <p:sp>
        <p:nvSpPr>
          <p:cNvPr id="7" name="Title 1">
            <a:extLst>
              <a:ext uri="{FF2B5EF4-FFF2-40B4-BE49-F238E27FC236}">
                <a16:creationId xmlns:a16="http://schemas.microsoft.com/office/drawing/2014/main" id="{ECC0844D-9BDA-4623-9BD5-D34F0F0CFD20}"/>
              </a:ext>
            </a:extLst>
          </p:cNvPr>
          <p:cNvSpPr txBox="1">
            <a:spLocks/>
          </p:cNvSpPr>
          <p:nvPr/>
        </p:nvSpPr>
        <p:spPr>
          <a:xfrm>
            <a:off x="301413" y="19339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8" name="Straight Connector 7">
            <a:extLst>
              <a:ext uri="{FF2B5EF4-FFF2-40B4-BE49-F238E27FC236}">
                <a16:creationId xmlns:a16="http://schemas.microsoft.com/office/drawing/2014/main" id="{18242AEF-3706-4499-A069-E2434CE9D568}"/>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175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Image showing sensor processes">
            <a:extLst>
              <a:ext uri="{FF2B5EF4-FFF2-40B4-BE49-F238E27FC236}">
                <a16:creationId xmlns:a16="http://schemas.microsoft.com/office/drawing/2014/main" id="{EAB776C9-2D19-4F4D-97B5-7E2B425D8B93}"/>
              </a:ext>
            </a:extLst>
          </p:cNvPr>
          <p:cNvPicPr>
            <a:picLocks noChangeAspect="1"/>
          </p:cNvPicPr>
          <p:nvPr/>
        </p:nvPicPr>
        <p:blipFill>
          <a:blip r:embed="rId3"/>
          <a:stretch>
            <a:fillRect/>
          </a:stretch>
        </p:blipFill>
        <p:spPr>
          <a:xfrm>
            <a:off x="497297" y="1846316"/>
            <a:ext cx="7590016" cy="3334342"/>
          </a:xfrm>
          <a:prstGeom prst="rect">
            <a:avLst/>
          </a:prstGeom>
        </p:spPr>
      </p:pic>
      <p:sp>
        <p:nvSpPr>
          <p:cNvPr id="3" name="Content Placeholder 2"/>
          <p:cNvSpPr>
            <a:spLocks noGrp="1"/>
          </p:cNvSpPr>
          <p:nvPr>
            <p:ph idx="1"/>
          </p:nvPr>
        </p:nvSpPr>
        <p:spPr>
          <a:xfrm>
            <a:off x="140005" y="1093641"/>
            <a:ext cx="8055728" cy="536373"/>
          </a:xfrm>
        </p:spPr>
        <p:txBody>
          <a:bodyPr>
            <a:noAutofit/>
          </a:bodyPr>
          <a:lstStyle/>
          <a:p>
            <a:pPr>
              <a:buFont typeface="Courier New" panose="02070309020205020404" pitchFamily="49" charset="0"/>
              <a:buChar char="o"/>
            </a:pPr>
            <a:r>
              <a:rPr lang="en-US" sz="3200" dirty="0"/>
              <a:t>Remote sensing imagery</a:t>
            </a:r>
          </a:p>
        </p:txBody>
      </p:sp>
      <p:sp>
        <p:nvSpPr>
          <p:cNvPr id="2" name="Slide Number Placeholder 1">
            <a:extLst>
              <a:ext uri="{FF2B5EF4-FFF2-40B4-BE49-F238E27FC236}">
                <a16:creationId xmlns:a16="http://schemas.microsoft.com/office/drawing/2014/main" id="{0C989F52-141B-4E20-AB15-34FE548DC988}"/>
              </a:ext>
            </a:extLst>
          </p:cNvPr>
          <p:cNvSpPr>
            <a:spLocks noGrp="1"/>
          </p:cNvSpPr>
          <p:nvPr>
            <p:ph type="sldNum" sz="quarter" idx="12"/>
          </p:nvPr>
        </p:nvSpPr>
        <p:spPr/>
        <p:txBody>
          <a:bodyPr/>
          <a:lstStyle/>
          <a:p>
            <a:fld id="{127DDC20-79C9-9647-820E-6D40A3D210C3}" type="slidenum">
              <a:rPr lang="en-US" smtClean="0"/>
              <a:pPr/>
              <a:t>20</a:t>
            </a:fld>
            <a:endParaRPr lang="en-US"/>
          </a:p>
        </p:txBody>
      </p:sp>
      <p:sp>
        <p:nvSpPr>
          <p:cNvPr id="27" name="Text Box 11"/>
          <p:cNvSpPr txBox="1">
            <a:spLocks noChangeArrowheads="1"/>
          </p:cNvSpPr>
          <p:nvPr/>
        </p:nvSpPr>
        <p:spPr bwMode="auto">
          <a:xfrm>
            <a:off x="5027067" y="3245880"/>
            <a:ext cx="1017780" cy="249749"/>
          </a:xfrm>
          <a:prstGeom prst="rect">
            <a:avLst/>
          </a:prstGeom>
          <a:noFill/>
          <a:ln w="12700">
            <a:noFill/>
            <a:miter lim="800000"/>
            <a:headEnd/>
            <a:tailEnd/>
          </a:ln>
        </p:spPr>
        <p:txBody>
          <a:bodyPr wrap="none" lIns="62167" tIns="31084" rIns="62167" bIns="31084">
            <a:spAutoFit/>
          </a:bodyPr>
          <a:lstStyle/>
          <a:p>
            <a:r>
              <a:rPr lang="en-US" sz="1215" dirty="0">
                <a:solidFill>
                  <a:schemeClr val="bg1"/>
                </a:solidFill>
              </a:rPr>
              <a:t>Value = 896 m</a:t>
            </a:r>
          </a:p>
        </p:txBody>
      </p:sp>
      <p:sp>
        <p:nvSpPr>
          <p:cNvPr id="11" name="Title 1">
            <a:extLst>
              <a:ext uri="{FF2B5EF4-FFF2-40B4-BE49-F238E27FC236}">
                <a16:creationId xmlns:a16="http://schemas.microsoft.com/office/drawing/2014/main" id="{4986ACE7-854C-482B-95DA-DB7E166026E0}"/>
              </a:ext>
            </a:extLst>
          </p:cNvPr>
          <p:cNvSpPr txBox="1">
            <a:spLocks/>
          </p:cNvSpPr>
          <p:nvPr/>
        </p:nvSpPr>
        <p:spPr>
          <a:xfrm>
            <a:off x="253705" y="23639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12" name="Straight Connector 11">
            <a:extLst>
              <a:ext uri="{FF2B5EF4-FFF2-40B4-BE49-F238E27FC236}">
                <a16:creationId xmlns:a16="http://schemas.microsoft.com/office/drawing/2014/main" id="{939DDA80-AFF0-4A66-A294-2E209B8860F4}"/>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4716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Image showing spectral reflectance profil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4722" y="1491334"/>
            <a:ext cx="4042987" cy="316407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436012" y="1566615"/>
            <a:ext cx="3241249" cy="2560253"/>
          </a:xfrm>
          <a:prstGeom prst="rect">
            <a:avLst/>
          </a:prstGeom>
          <a:noFill/>
        </p:spPr>
        <p:txBody>
          <a:bodyPr wrap="square" rtlCol="0">
            <a:spAutoFit/>
          </a:bodyPr>
          <a:lstStyle/>
          <a:p>
            <a:pPr>
              <a:lnSpc>
                <a:spcPct val="90000"/>
              </a:lnSpc>
            </a:pPr>
            <a:r>
              <a:rPr lang="en-US" sz="1620" b="1" dirty="0">
                <a:solidFill>
                  <a:schemeClr val="accent1">
                    <a:lumMod val="50000"/>
                  </a:schemeClr>
                </a:solidFill>
              </a:rPr>
              <a:t>Blue</a:t>
            </a:r>
            <a:r>
              <a:rPr lang="en-US" sz="1620" dirty="0"/>
              <a:t> = absorption by pigments</a:t>
            </a:r>
          </a:p>
          <a:p>
            <a:pPr>
              <a:lnSpc>
                <a:spcPct val="90000"/>
              </a:lnSpc>
            </a:pPr>
            <a:endParaRPr lang="en-US" sz="1620" dirty="0"/>
          </a:p>
          <a:p>
            <a:pPr>
              <a:lnSpc>
                <a:spcPct val="90000"/>
              </a:lnSpc>
            </a:pPr>
            <a:r>
              <a:rPr lang="en-US" sz="1620" b="1" dirty="0">
                <a:solidFill>
                  <a:srgbClr val="92D050"/>
                </a:solidFill>
              </a:rPr>
              <a:t>Green</a:t>
            </a:r>
            <a:r>
              <a:rPr lang="en-US" sz="1620" dirty="0"/>
              <a:t> = less absorption by pigment</a:t>
            </a:r>
          </a:p>
          <a:p>
            <a:pPr>
              <a:lnSpc>
                <a:spcPct val="90000"/>
              </a:lnSpc>
            </a:pPr>
            <a:endParaRPr lang="en-US" sz="1620" b="1" dirty="0">
              <a:solidFill>
                <a:srgbClr val="E3874F"/>
              </a:solidFill>
            </a:endParaRPr>
          </a:p>
          <a:p>
            <a:pPr>
              <a:lnSpc>
                <a:spcPct val="90000"/>
              </a:lnSpc>
            </a:pPr>
            <a:r>
              <a:rPr lang="en-US" sz="1620" b="1" dirty="0">
                <a:solidFill>
                  <a:srgbClr val="FF0000"/>
                </a:solidFill>
              </a:rPr>
              <a:t>Red</a:t>
            </a:r>
            <a:r>
              <a:rPr lang="en-US" sz="1620" b="1" dirty="0">
                <a:solidFill>
                  <a:srgbClr val="E3874F"/>
                </a:solidFill>
              </a:rPr>
              <a:t> </a:t>
            </a:r>
            <a:r>
              <a:rPr lang="en-US" sz="1620" dirty="0"/>
              <a:t>= absorption by pigments</a:t>
            </a:r>
          </a:p>
          <a:p>
            <a:pPr>
              <a:lnSpc>
                <a:spcPct val="90000"/>
              </a:lnSpc>
            </a:pPr>
            <a:endParaRPr lang="en-US" sz="1620" dirty="0"/>
          </a:p>
          <a:p>
            <a:pPr>
              <a:lnSpc>
                <a:spcPct val="90000"/>
              </a:lnSpc>
            </a:pPr>
            <a:r>
              <a:rPr lang="en-US" sz="1620" b="1" dirty="0">
                <a:solidFill>
                  <a:schemeClr val="accent4">
                    <a:lumMod val="75000"/>
                  </a:schemeClr>
                </a:solidFill>
              </a:rPr>
              <a:t>Near Infrared </a:t>
            </a:r>
            <a:r>
              <a:rPr lang="en-US" sz="1620" dirty="0"/>
              <a:t>= reflect and </a:t>
            </a:r>
          </a:p>
          <a:p>
            <a:pPr>
              <a:lnSpc>
                <a:spcPct val="90000"/>
              </a:lnSpc>
            </a:pPr>
            <a:r>
              <a:rPr lang="en-US" sz="1620" dirty="0"/>
              <a:t>scattered by interior cell walls</a:t>
            </a:r>
          </a:p>
          <a:p>
            <a:pPr>
              <a:lnSpc>
                <a:spcPct val="90000"/>
              </a:lnSpc>
            </a:pPr>
            <a:endParaRPr lang="en-US" sz="1620" dirty="0"/>
          </a:p>
          <a:p>
            <a:pPr>
              <a:lnSpc>
                <a:spcPct val="90000"/>
              </a:lnSpc>
            </a:pPr>
            <a:r>
              <a:rPr lang="en-US" sz="1620" b="1" dirty="0">
                <a:solidFill>
                  <a:schemeClr val="accent2">
                    <a:lumMod val="75000"/>
                  </a:schemeClr>
                </a:solidFill>
              </a:rPr>
              <a:t>Shortwave Infrared </a:t>
            </a:r>
            <a:r>
              <a:rPr lang="en-US" sz="1620" dirty="0"/>
              <a:t>= absorption by water in plant tissue</a:t>
            </a:r>
          </a:p>
        </p:txBody>
      </p:sp>
      <p:sp>
        <p:nvSpPr>
          <p:cNvPr id="9" name="TextBox 8"/>
          <p:cNvSpPr txBox="1"/>
          <p:nvPr/>
        </p:nvSpPr>
        <p:spPr>
          <a:xfrm>
            <a:off x="818205" y="3806512"/>
            <a:ext cx="257242" cy="316690"/>
          </a:xfrm>
          <a:prstGeom prst="rect">
            <a:avLst/>
          </a:prstGeom>
          <a:noFill/>
        </p:spPr>
        <p:txBody>
          <a:bodyPr wrap="square" rtlCol="0">
            <a:spAutoFit/>
          </a:bodyPr>
          <a:lstStyle/>
          <a:p>
            <a:pPr>
              <a:lnSpc>
                <a:spcPct val="90000"/>
              </a:lnSpc>
            </a:pPr>
            <a:r>
              <a:rPr lang="en-US" sz="1620" dirty="0">
                <a:solidFill>
                  <a:schemeClr val="accent1">
                    <a:lumMod val="50000"/>
                  </a:schemeClr>
                </a:solidFill>
              </a:rPr>
              <a:t>X</a:t>
            </a:r>
          </a:p>
        </p:txBody>
      </p:sp>
      <p:sp>
        <p:nvSpPr>
          <p:cNvPr id="11" name="TextBox 10"/>
          <p:cNvSpPr txBox="1"/>
          <p:nvPr/>
        </p:nvSpPr>
        <p:spPr>
          <a:xfrm>
            <a:off x="1006508" y="3600718"/>
            <a:ext cx="257242" cy="316690"/>
          </a:xfrm>
          <a:prstGeom prst="rect">
            <a:avLst/>
          </a:prstGeom>
          <a:noFill/>
        </p:spPr>
        <p:txBody>
          <a:bodyPr wrap="square" rtlCol="0">
            <a:spAutoFit/>
          </a:bodyPr>
          <a:lstStyle/>
          <a:p>
            <a:pPr>
              <a:lnSpc>
                <a:spcPct val="90000"/>
              </a:lnSpc>
            </a:pPr>
            <a:r>
              <a:rPr lang="en-US" sz="1620" dirty="0">
                <a:solidFill>
                  <a:srgbClr val="92D050"/>
                </a:solidFill>
              </a:rPr>
              <a:t>X</a:t>
            </a:r>
          </a:p>
        </p:txBody>
      </p:sp>
      <p:sp>
        <p:nvSpPr>
          <p:cNvPr id="12" name="TextBox 11"/>
          <p:cNvSpPr txBox="1"/>
          <p:nvPr/>
        </p:nvSpPr>
        <p:spPr>
          <a:xfrm>
            <a:off x="1174055" y="3744103"/>
            <a:ext cx="257242" cy="316690"/>
          </a:xfrm>
          <a:prstGeom prst="rect">
            <a:avLst/>
          </a:prstGeom>
          <a:noFill/>
        </p:spPr>
        <p:txBody>
          <a:bodyPr wrap="square" rtlCol="0">
            <a:spAutoFit/>
          </a:bodyPr>
          <a:lstStyle/>
          <a:p>
            <a:pPr>
              <a:lnSpc>
                <a:spcPct val="90000"/>
              </a:lnSpc>
            </a:pPr>
            <a:r>
              <a:rPr lang="en-US" sz="1620" dirty="0">
                <a:solidFill>
                  <a:srgbClr val="FF0000"/>
                </a:solidFill>
              </a:rPr>
              <a:t>X</a:t>
            </a:r>
          </a:p>
        </p:txBody>
      </p:sp>
      <p:sp>
        <p:nvSpPr>
          <p:cNvPr id="13" name="TextBox 12"/>
          <p:cNvSpPr txBox="1"/>
          <p:nvPr/>
        </p:nvSpPr>
        <p:spPr>
          <a:xfrm>
            <a:off x="1696725" y="2211611"/>
            <a:ext cx="257242" cy="316690"/>
          </a:xfrm>
          <a:prstGeom prst="rect">
            <a:avLst/>
          </a:prstGeom>
          <a:noFill/>
        </p:spPr>
        <p:txBody>
          <a:bodyPr wrap="square" rtlCol="0">
            <a:spAutoFit/>
          </a:bodyPr>
          <a:lstStyle/>
          <a:p>
            <a:pPr>
              <a:lnSpc>
                <a:spcPct val="90000"/>
              </a:lnSpc>
            </a:pPr>
            <a:r>
              <a:rPr lang="en-US" sz="1620" dirty="0">
                <a:solidFill>
                  <a:schemeClr val="accent4">
                    <a:lumMod val="75000"/>
                  </a:schemeClr>
                </a:solidFill>
              </a:rPr>
              <a:t>X</a:t>
            </a:r>
          </a:p>
        </p:txBody>
      </p:sp>
      <p:sp>
        <p:nvSpPr>
          <p:cNvPr id="14" name="TextBox 13"/>
          <p:cNvSpPr txBox="1"/>
          <p:nvPr/>
        </p:nvSpPr>
        <p:spPr>
          <a:xfrm>
            <a:off x="2982935" y="3457334"/>
            <a:ext cx="257242" cy="316690"/>
          </a:xfrm>
          <a:prstGeom prst="rect">
            <a:avLst/>
          </a:prstGeom>
          <a:noFill/>
        </p:spPr>
        <p:txBody>
          <a:bodyPr wrap="square" rtlCol="0">
            <a:spAutoFit/>
          </a:bodyPr>
          <a:lstStyle/>
          <a:p>
            <a:pPr>
              <a:lnSpc>
                <a:spcPct val="90000"/>
              </a:lnSpc>
            </a:pPr>
            <a:r>
              <a:rPr lang="en-US" sz="1620" dirty="0">
                <a:solidFill>
                  <a:schemeClr val="accent2">
                    <a:lumMod val="75000"/>
                  </a:schemeClr>
                </a:solidFill>
              </a:rPr>
              <a:t>X</a:t>
            </a:r>
          </a:p>
        </p:txBody>
      </p:sp>
      <p:sp>
        <p:nvSpPr>
          <p:cNvPr id="15" name="TextBox 14"/>
          <p:cNvSpPr txBox="1"/>
          <p:nvPr/>
        </p:nvSpPr>
        <p:spPr>
          <a:xfrm>
            <a:off x="2262658" y="2983337"/>
            <a:ext cx="257242" cy="316690"/>
          </a:xfrm>
          <a:prstGeom prst="rect">
            <a:avLst/>
          </a:prstGeom>
          <a:noFill/>
        </p:spPr>
        <p:txBody>
          <a:bodyPr wrap="square" rtlCol="0">
            <a:spAutoFit/>
          </a:bodyPr>
          <a:lstStyle/>
          <a:p>
            <a:pPr>
              <a:lnSpc>
                <a:spcPct val="90000"/>
              </a:lnSpc>
            </a:pPr>
            <a:r>
              <a:rPr lang="en-US" sz="1620" dirty="0">
                <a:solidFill>
                  <a:schemeClr val="accent2">
                    <a:lumMod val="75000"/>
                  </a:schemeClr>
                </a:solidFill>
              </a:rPr>
              <a:t>X</a:t>
            </a:r>
          </a:p>
        </p:txBody>
      </p:sp>
      <p:sp>
        <p:nvSpPr>
          <p:cNvPr id="16" name="TextBox 15"/>
          <p:cNvSpPr txBox="1"/>
          <p:nvPr/>
        </p:nvSpPr>
        <p:spPr>
          <a:xfrm>
            <a:off x="4436013" y="4277481"/>
            <a:ext cx="6872649" cy="541046"/>
          </a:xfrm>
          <a:prstGeom prst="rect">
            <a:avLst/>
          </a:prstGeom>
          <a:noFill/>
        </p:spPr>
        <p:txBody>
          <a:bodyPr wrap="square" rtlCol="0">
            <a:spAutoFit/>
          </a:bodyPr>
          <a:lstStyle/>
          <a:p>
            <a:pPr>
              <a:lnSpc>
                <a:spcPct val="90000"/>
              </a:lnSpc>
            </a:pPr>
            <a:r>
              <a:rPr lang="en-US" sz="1620" dirty="0"/>
              <a:t>Example: Maple  Leaf</a:t>
            </a:r>
          </a:p>
          <a:p>
            <a:pPr>
              <a:lnSpc>
                <a:spcPct val="90000"/>
              </a:lnSpc>
            </a:pPr>
            <a:r>
              <a:rPr lang="en-US" sz="1620" dirty="0"/>
              <a:t>Data from USGS Spectral Library Version 7</a:t>
            </a:r>
          </a:p>
        </p:txBody>
      </p:sp>
      <p:sp>
        <p:nvSpPr>
          <p:cNvPr id="17" name="Title 1">
            <a:extLst>
              <a:ext uri="{FF2B5EF4-FFF2-40B4-BE49-F238E27FC236}">
                <a16:creationId xmlns:a16="http://schemas.microsoft.com/office/drawing/2014/main" id="{0C1A3143-82D4-489A-ACB3-F404EF454F7F}"/>
              </a:ext>
            </a:extLst>
          </p:cNvPr>
          <p:cNvSpPr txBox="1">
            <a:spLocks/>
          </p:cNvSpPr>
          <p:nvPr/>
        </p:nvSpPr>
        <p:spPr>
          <a:xfrm>
            <a:off x="118533" y="20952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Spectral Reflectance of Vegetation</a:t>
            </a:r>
          </a:p>
        </p:txBody>
      </p:sp>
      <p:cxnSp>
        <p:nvCxnSpPr>
          <p:cNvPr id="18" name="Straight Connector 17">
            <a:extLst>
              <a:ext uri="{FF2B5EF4-FFF2-40B4-BE49-F238E27FC236}">
                <a16:creationId xmlns:a16="http://schemas.microsoft.com/office/drawing/2014/main" id="{0E360975-95A0-416B-A02D-224C66F712FB}"/>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C6230557-4564-45AC-91F7-32D99E59541C}"/>
              </a:ext>
            </a:extLst>
          </p:cNvPr>
          <p:cNvSpPr>
            <a:spLocks noGrp="1"/>
          </p:cNvSpPr>
          <p:nvPr>
            <p:ph type="sldNum" sz="quarter" idx="12"/>
          </p:nvPr>
        </p:nvSpPr>
        <p:spPr/>
        <p:txBody>
          <a:bodyPr/>
          <a:lstStyle/>
          <a:p>
            <a:fld id="{127DDC20-79C9-9647-820E-6D40A3D210C3}" type="slidenum">
              <a:rPr lang="en-US" smtClean="0"/>
              <a:pPr/>
              <a:t>21</a:t>
            </a:fld>
            <a:endParaRPr lang="en-US"/>
          </a:p>
        </p:txBody>
      </p:sp>
    </p:spTree>
    <p:extLst>
      <p:ext uri="{BB962C8B-B14F-4D97-AF65-F5344CB8AC3E}">
        <p14:creationId xmlns:p14="http://schemas.microsoft.com/office/powerpoint/2010/main" val="3714316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Image result for spectral reflectanc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2198" y="1129088"/>
            <a:ext cx="6548204" cy="329480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159761" y="4399093"/>
            <a:ext cx="4113728" cy="466281"/>
          </a:xfrm>
          <a:prstGeom prst="rect">
            <a:avLst/>
          </a:prstGeom>
        </p:spPr>
        <p:txBody>
          <a:bodyPr>
            <a:spAutoFit/>
          </a:bodyPr>
          <a:lstStyle/>
          <a:p>
            <a:r>
              <a:rPr lang="en-US" sz="1215" dirty="0">
                <a:hlinkClick r:id="rId4"/>
              </a:rPr>
              <a:t>http://www.seos-project.eu/modules/classification/classification-c01-p05.html</a:t>
            </a:r>
            <a:r>
              <a:rPr lang="en-US" sz="1215" dirty="0"/>
              <a:t> </a:t>
            </a:r>
          </a:p>
        </p:txBody>
      </p:sp>
      <p:sp>
        <p:nvSpPr>
          <p:cNvPr id="6" name="Title 1">
            <a:extLst>
              <a:ext uri="{FF2B5EF4-FFF2-40B4-BE49-F238E27FC236}">
                <a16:creationId xmlns:a16="http://schemas.microsoft.com/office/drawing/2014/main" id="{8D429EF9-4E61-4D78-9D6A-77A68FE3C217}"/>
              </a:ext>
            </a:extLst>
          </p:cNvPr>
          <p:cNvSpPr txBox="1">
            <a:spLocks/>
          </p:cNvSpPr>
          <p:nvPr/>
        </p:nvSpPr>
        <p:spPr>
          <a:xfrm>
            <a:off x="118533" y="413468"/>
            <a:ext cx="8077200" cy="509441"/>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400" dirty="0">
                <a:solidFill>
                  <a:srgbClr val="7030A0"/>
                </a:solidFill>
              </a:rPr>
              <a:t>Different materials have different reflectance properties</a:t>
            </a:r>
          </a:p>
        </p:txBody>
      </p:sp>
      <p:cxnSp>
        <p:nvCxnSpPr>
          <p:cNvPr id="7" name="Straight Connector 6">
            <a:extLst>
              <a:ext uri="{FF2B5EF4-FFF2-40B4-BE49-F238E27FC236}">
                <a16:creationId xmlns:a16="http://schemas.microsoft.com/office/drawing/2014/main" id="{B09BABC6-1B2B-4A05-A8C2-B86A75E0D62E}"/>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D49518FF-5FFC-4A77-AE16-7237E3FE0DCF}"/>
              </a:ext>
            </a:extLst>
          </p:cNvPr>
          <p:cNvSpPr>
            <a:spLocks noGrp="1"/>
          </p:cNvSpPr>
          <p:nvPr>
            <p:ph type="sldNum" sz="quarter" idx="12"/>
          </p:nvPr>
        </p:nvSpPr>
        <p:spPr/>
        <p:txBody>
          <a:bodyPr/>
          <a:lstStyle/>
          <a:p>
            <a:fld id="{127DDC20-79C9-9647-820E-6D40A3D210C3}" type="slidenum">
              <a:rPr lang="en-US" smtClean="0"/>
              <a:pPr/>
              <a:t>22</a:t>
            </a:fld>
            <a:endParaRPr lang="en-US"/>
          </a:p>
        </p:txBody>
      </p:sp>
    </p:spTree>
    <p:extLst>
      <p:ext uri="{BB962C8B-B14F-4D97-AF65-F5344CB8AC3E}">
        <p14:creationId xmlns:p14="http://schemas.microsoft.com/office/powerpoint/2010/main" val="277797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E3874F"/>
                </a:solidFill>
              </a:rPr>
              <a:t> </a:t>
            </a:r>
          </a:p>
        </p:txBody>
      </p:sp>
      <p:sp>
        <p:nvSpPr>
          <p:cNvPr id="5" name="Slide Number Placeholder 4">
            <a:extLst>
              <a:ext uri="{FF2B5EF4-FFF2-40B4-BE49-F238E27FC236}">
                <a16:creationId xmlns:a16="http://schemas.microsoft.com/office/drawing/2014/main" id="{20248019-98C9-4C91-8143-69A4457C955E}"/>
              </a:ext>
            </a:extLst>
          </p:cNvPr>
          <p:cNvSpPr>
            <a:spLocks noGrp="1"/>
          </p:cNvSpPr>
          <p:nvPr>
            <p:ph type="sldNum" sz="quarter" idx="12"/>
          </p:nvPr>
        </p:nvSpPr>
        <p:spPr/>
        <p:txBody>
          <a:bodyPr/>
          <a:lstStyle/>
          <a:p>
            <a:fld id="{127DDC20-79C9-9647-820E-6D40A3D210C3}" type="slidenum">
              <a:rPr lang="en-US" smtClean="0"/>
              <a:pPr/>
              <a:t>23</a:t>
            </a:fld>
            <a:endParaRPr lang="en-US"/>
          </a:p>
        </p:txBody>
      </p:sp>
      <mc:AlternateContent xmlns:mc="http://schemas.openxmlformats.org/markup-compatibility/2006" xmlns:a14="http://schemas.microsoft.com/office/drawing/2010/main">
        <mc:Choice Requires="a14">
          <p:sp>
            <p:nvSpPr>
              <p:cNvPr id="4" name="TextBox 3"/>
              <p:cNvSpPr txBox="1"/>
              <p:nvPr/>
            </p:nvSpPr>
            <p:spPr>
              <a:xfrm>
                <a:off x="307618" y="1748576"/>
                <a:ext cx="2469522" cy="559512"/>
              </a:xfrm>
              <a:prstGeom prst="rect">
                <a:avLst/>
              </a:prstGeom>
              <a:noFill/>
            </p:spPr>
            <p:txBody>
              <a:bodyPr wrap="square" rtlCol="0">
                <a:spAutoFit/>
              </a:bodyPr>
              <a:lstStyle/>
              <a:p>
                <a:pPr>
                  <a:lnSpc>
                    <a:spcPct val="90000"/>
                  </a:lnSpc>
                </a:pPr>
                <a14:m>
                  <m:oMathPara xmlns:m="http://schemas.openxmlformats.org/officeDocument/2006/math">
                    <m:oMathParaPr>
                      <m:jc m:val="centerGroup"/>
                    </m:oMathParaPr>
                    <m:oMath xmlns:m="http://schemas.openxmlformats.org/officeDocument/2006/math">
                      <m:f>
                        <m:fPr>
                          <m:ctrlPr>
                            <a:rPr lang="en-US" sz="1620" i="1">
                              <a:latin typeface="Cambria Math" panose="02040503050406030204" pitchFamily="18" charset="0"/>
                            </a:rPr>
                          </m:ctrlPr>
                        </m:fPr>
                        <m:num>
                          <m:r>
                            <a:rPr lang="en-US" sz="1620" i="1">
                              <a:latin typeface="Cambria Math" panose="02040503050406030204" pitchFamily="18" charset="0"/>
                            </a:rPr>
                            <m:t>(</m:t>
                          </m:r>
                          <m:r>
                            <a:rPr lang="en-US" sz="1620" i="1">
                              <a:latin typeface="Cambria Math" panose="02040503050406030204" pitchFamily="18" charset="0"/>
                            </a:rPr>
                            <m:t>𝑁𝐼𝑅</m:t>
                          </m:r>
                          <m:r>
                            <a:rPr lang="en-US" sz="1620" i="1">
                              <a:latin typeface="Cambria Math" panose="02040503050406030204" pitchFamily="18" charset="0"/>
                            </a:rPr>
                            <m:t> −</m:t>
                          </m:r>
                          <m:r>
                            <a:rPr lang="en-US" sz="1620" i="1">
                              <a:latin typeface="Cambria Math" panose="02040503050406030204" pitchFamily="18" charset="0"/>
                            </a:rPr>
                            <m:t>𝑅𝑒𝑑</m:t>
                          </m:r>
                          <m:r>
                            <a:rPr lang="en-US" sz="1620" i="1">
                              <a:latin typeface="Cambria Math" panose="02040503050406030204" pitchFamily="18" charset="0"/>
                            </a:rPr>
                            <m:t>)</m:t>
                          </m:r>
                        </m:num>
                        <m:den>
                          <m:r>
                            <a:rPr lang="en-US" sz="1620" i="1">
                              <a:latin typeface="Cambria Math" panose="02040503050406030204" pitchFamily="18" charset="0"/>
                            </a:rPr>
                            <m:t>(</m:t>
                          </m:r>
                          <m:r>
                            <a:rPr lang="en-US" sz="1620" i="1">
                              <a:latin typeface="Cambria Math" panose="02040503050406030204" pitchFamily="18" charset="0"/>
                            </a:rPr>
                            <m:t>𝑁𝐼𝑅</m:t>
                          </m:r>
                          <m:r>
                            <a:rPr lang="en-US" sz="1620" i="1">
                              <a:latin typeface="Cambria Math" panose="02040503050406030204" pitchFamily="18" charset="0"/>
                            </a:rPr>
                            <m:t>+</m:t>
                          </m:r>
                          <m:r>
                            <a:rPr lang="en-US" sz="1620" i="1">
                              <a:latin typeface="Cambria Math" panose="02040503050406030204" pitchFamily="18" charset="0"/>
                            </a:rPr>
                            <m:t>𝑅𝑒𝑑</m:t>
                          </m:r>
                          <m:r>
                            <a:rPr lang="en-US" sz="1620" i="1">
                              <a:latin typeface="Cambria Math" panose="02040503050406030204" pitchFamily="18" charset="0"/>
                            </a:rPr>
                            <m:t>)</m:t>
                          </m:r>
                        </m:den>
                      </m:f>
                    </m:oMath>
                  </m:oMathPara>
                </a14:m>
                <a:endParaRPr lang="en-US" sz="1620" dirty="0"/>
              </a:p>
            </p:txBody>
          </p:sp>
        </mc:Choice>
        <mc:Fallback xmlns="">
          <p:sp>
            <p:nvSpPr>
              <p:cNvPr id="4" name="TextBox 3"/>
              <p:cNvSpPr txBox="1">
                <a:spLocks noRot="1" noChangeAspect="1" noMove="1" noResize="1" noEditPoints="1" noAdjustHandles="1" noChangeArrowheads="1" noChangeShapeType="1" noTextEdit="1"/>
              </p:cNvSpPr>
              <p:nvPr/>
            </p:nvSpPr>
            <p:spPr>
              <a:xfrm>
                <a:off x="307618" y="1748576"/>
                <a:ext cx="2469522" cy="559512"/>
              </a:xfrm>
              <a:prstGeom prst="rect">
                <a:avLst/>
              </a:prstGeom>
              <a:blipFill>
                <a:blip r:embed="rId3"/>
                <a:stretch>
                  <a:fillRect t="-3261" b="-11957"/>
                </a:stretch>
              </a:blipFill>
            </p:spPr>
            <p:txBody>
              <a:bodyPr/>
              <a:lstStyle/>
              <a:p>
                <a:r>
                  <a:rPr lang="en-US">
                    <a:noFill/>
                  </a:rPr>
                  <a:t> </a:t>
                </a:r>
              </a:p>
            </p:txBody>
          </p:sp>
        </mc:Fallback>
      </mc:AlternateContent>
      <p:pic>
        <p:nvPicPr>
          <p:cNvPr id="6" name="Picture 5" descr="Image showing NDVI"/>
          <p:cNvPicPr/>
          <p:nvPr/>
        </p:nvPicPr>
        <p:blipFill>
          <a:blip r:embed="rId4"/>
          <a:stretch>
            <a:fillRect/>
          </a:stretch>
        </p:blipFill>
        <p:spPr>
          <a:xfrm>
            <a:off x="307619" y="2623199"/>
            <a:ext cx="3549939" cy="1924780"/>
          </a:xfrm>
          <a:prstGeom prst="rect">
            <a:avLst/>
          </a:prstGeom>
        </p:spPr>
      </p:pic>
      <p:pic>
        <p:nvPicPr>
          <p:cNvPr id="3" name="Picture 2" descr="Image showing NDVI"/>
          <p:cNvPicPr>
            <a:picLocks noChangeAspect="1"/>
          </p:cNvPicPr>
          <p:nvPr/>
        </p:nvPicPr>
        <p:blipFill>
          <a:blip r:embed="rId5">
            <a:clrChange>
              <a:clrFrom>
                <a:srgbClr val="FFFFFF"/>
              </a:clrFrom>
              <a:clrTo>
                <a:srgbClr val="FFFFFF">
                  <a:alpha val="0"/>
                </a:srgbClr>
              </a:clrTo>
            </a:clrChange>
          </a:blip>
          <a:stretch>
            <a:fillRect/>
          </a:stretch>
        </p:blipFill>
        <p:spPr>
          <a:xfrm>
            <a:off x="4208643" y="1800024"/>
            <a:ext cx="4020957" cy="2847884"/>
          </a:xfrm>
          <a:prstGeom prst="rect">
            <a:avLst/>
          </a:prstGeom>
        </p:spPr>
      </p:pic>
      <p:sp>
        <p:nvSpPr>
          <p:cNvPr id="8" name="TextBox 7"/>
          <p:cNvSpPr txBox="1"/>
          <p:nvPr/>
        </p:nvSpPr>
        <p:spPr>
          <a:xfrm>
            <a:off x="5812597" y="4639368"/>
            <a:ext cx="3344146" cy="241926"/>
          </a:xfrm>
          <a:prstGeom prst="rect">
            <a:avLst/>
          </a:prstGeom>
          <a:noFill/>
        </p:spPr>
        <p:txBody>
          <a:bodyPr wrap="square" rtlCol="0">
            <a:spAutoFit/>
          </a:bodyPr>
          <a:lstStyle/>
          <a:p>
            <a:pPr>
              <a:lnSpc>
                <a:spcPct val="90000"/>
              </a:lnSpc>
            </a:pPr>
            <a:r>
              <a:rPr lang="en-US" sz="1080" dirty="0"/>
              <a:t>Data from Landsat 5 Thematic Mapper</a:t>
            </a:r>
          </a:p>
        </p:txBody>
      </p:sp>
      <p:sp>
        <p:nvSpPr>
          <p:cNvPr id="7" name="Title 1">
            <a:extLst>
              <a:ext uri="{FF2B5EF4-FFF2-40B4-BE49-F238E27FC236}">
                <a16:creationId xmlns:a16="http://schemas.microsoft.com/office/drawing/2014/main" id="{D3EAD5FF-5FDF-4617-ADB2-22F0C70B61D9}"/>
              </a:ext>
            </a:extLst>
          </p:cNvPr>
          <p:cNvSpPr txBox="1">
            <a:spLocks/>
          </p:cNvSpPr>
          <p:nvPr/>
        </p:nvSpPr>
        <p:spPr>
          <a:xfrm>
            <a:off x="170043" y="23591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lnSpc>
                <a:spcPct val="80000"/>
              </a:lnSpc>
            </a:pPr>
            <a:r>
              <a:rPr lang="en-US" sz="3000" dirty="0">
                <a:solidFill>
                  <a:srgbClr val="7030A0"/>
                </a:solidFill>
              </a:rPr>
              <a:t>Normalized Difference Vegetation Index (NDVI)</a:t>
            </a:r>
          </a:p>
        </p:txBody>
      </p:sp>
      <p:cxnSp>
        <p:nvCxnSpPr>
          <p:cNvPr id="9" name="Straight Connector 8">
            <a:extLst>
              <a:ext uri="{FF2B5EF4-FFF2-40B4-BE49-F238E27FC236}">
                <a16:creationId xmlns:a16="http://schemas.microsoft.com/office/drawing/2014/main" id="{64D29BD9-1D7B-4244-9F80-36A53DA560E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4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953968" y="4372444"/>
            <a:ext cx="4113728" cy="653256"/>
          </a:xfrm>
          <a:prstGeom prst="rect">
            <a:avLst/>
          </a:prstGeom>
        </p:spPr>
        <p:txBody>
          <a:bodyPr>
            <a:spAutoFit/>
          </a:bodyPr>
          <a:lstStyle/>
          <a:p>
            <a:r>
              <a:rPr lang="en-US" sz="1215" dirty="0">
                <a:hlinkClick r:id="rId3"/>
              </a:rPr>
              <a:t>https://landsat.usgs.gov/what-are-band-designations-landsat-satellites</a:t>
            </a:r>
            <a:endParaRPr lang="en-US" sz="1215" dirty="0"/>
          </a:p>
          <a:p>
            <a:endParaRPr lang="en-US" sz="1215" dirty="0"/>
          </a:p>
        </p:txBody>
      </p:sp>
      <p:pic>
        <p:nvPicPr>
          <p:cNvPr id="4" name="Picture 3" descr="Image showing bands information"/>
          <p:cNvPicPr>
            <a:picLocks noChangeAspect="1"/>
          </p:cNvPicPr>
          <p:nvPr/>
        </p:nvPicPr>
        <p:blipFill>
          <a:blip r:embed="rId4"/>
          <a:stretch>
            <a:fillRect/>
          </a:stretch>
        </p:blipFill>
        <p:spPr>
          <a:xfrm>
            <a:off x="458159" y="1238685"/>
            <a:ext cx="7313281" cy="2934729"/>
          </a:xfrm>
          <a:prstGeom prst="rect">
            <a:avLst/>
          </a:prstGeom>
        </p:spPr>
      </p:pic>
      <p:sp>
        <p:nvSpPr>
          <p:cNvPr id="5" name="Title 1">
            <a:extLst>
              <a:ext uri="{FF2B5EF4-FFF2-40B4-BE49-F238E27FC236}">
                <a16:creationId xmlns:a16="http://schemas.microsoft.com/office/drawing/2014/main" id="{5AB4CBA1-35A4-47DC-BF50-03AA9127743D}"/>
              </a:ext>
            </a:extLst>
          </p:cNvPr>
          <p:cNvSpPr txBox="1">
            <a:spLocks/>
          </p:cNvSpPr>
          <p:nvPr/>
        </p:nvSpPr>
        <p:spPr>
          <a:xfrm>
            <a:off x="285510" y="24713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lnSpc>
                <a:spcPct val="80000"/>
              </a:lnSpc>
            </a:pPr>
            <a:r>
              <a:rPr lang="en-US" sz="3000" dirty="0">
                <a:solidFill>
                  <a:srgbClr val="7030A0"/>
                </a:solidFill>
              </a:rPr>
              <a:t>Imagery bands</a:t>
            </a:r>
          </a:p>
        </p:txBody>
      </p:sp>
      <p:cxnSp>
        <p:nvCxnSpPr>
          <p:cNvPr id="6" name="Straight Connector 5">
            <a:extLst>
              <a:ext uri="{FF2B5EF4-FFF2-40B4-BE49-F238E27FC236}">
                <a16:creationId xmlns:a16="http://schemas.microsoft.com/office/drawing/2014/main" id="{438EAF51-F17B-41A3-8A87-78DCABEC1A6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F990570F-79D6-4934-85AE-1F5CD92FB71A}"/>
              </a:ext>
            </a:extLst>
          </p:cNvPr>
          <p:cNvSpPr>
            <a:spLocks noGrp="1"/>
          </p:cNvSpPr>
          <p:nvPr>
            <p:ph type="sldNum" sz="quarter" idx="12"/>
          </p:nvPr>
        </p:nvSpPr>
        <p:spPr/>
        <p:txBody>
          <a:bodyPr/>
          <a:lstStyle/>
          <a:p>
            <a:fld id="{127DDC20-79C9-9647-820E-6D40A3D210C3}" type="slidenum">
              <a:rPr lang="en-US" smtClean="0"/>
              <a:pPr/>
              <a:t>24</a:t>
            </a:fld>
            <a:endParaRPr lang="en-US"/>
          </a:p>
        </p:txBody>
      </p:sp>
    </p:spTree>
    <p:extLst>
      <p:ext uri="{BB962C8B-B14F-4D97-AF65-F5344CB8AC3E}">
        <p14:creationId xmlns:p14="http://schemas.microsoft.com/office/powerpoint/2010/main" val="2047766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0005" y="1093641"/>
            <a:ext cx="8055728" cy="1303301"/>
          </a:xfrm>
        </p:spPr>
        <p:txBody>
          <a:bodyPr>
            <a:noAutofit/>
          </a:bodyPr>
          <a:lstStyle/>
          <a:p>
            <a:pPr>
              <a:buFont typeface="Courier New" panose="02070309020205020404" pitchFamily="49" charset="0"/>
              <a:buChar char="o"/>
            </a:pPr>
            <a:r>
              <a:rPr lang="en-US" sz="2800" dirty="0"/>
              <a:t>Remote sensing imagery</a:t>
            </a:r>
          </a:p>
          <a:p>
            <a:pPr lvl="1">
              <a:buFont typeface="Wingdings" panose="05000000000000000000" pitchFamily="2" charset="2"/>
              <a:buChar char="ü"/>
            </a:pPr>
            <a:r>
              <a:rPr lang="en-US" sz="2800" dirty="0"/>
              <a:t>Multiple layers or bands that are stacked to produce an image</a:t>
            </a:r>
          </a:p>
        </p:txBody>
      </p:sp>
      <p:sp>
        <p:nvSpPr>
          <p:cNvPr id="2" name="Slide Number Placeholder 1">
            <a:extLst>
              <a:ext uri="{FF2B5EF4-FFF2-40B4-BE49-F238E27FC236}">
                <a16:creationId xmlns:a16="http://schemas.microsoft.com/office/drawing/2014/main" id="{0C989F52-141B-4E20-AB15-34FE548DC988}"/>
              </a:ext>
            </a:extLst>
          </p:cNvPr>
          <p:cNvSpPr>
            <a:spLocks noGrp="1"/>
          </p:cNvSpPr>
          <p:nvPr>
            <p:ph type="sldNum" sz="quarter" idx="12"/>
          </p:nvPr>
        </p:nvSpPr>
        <p:spPr/>
        <p:txBody>
          <a:bodyPr/>
          <a:lstStyle/>
          <a:p>
            <a:fld id="{127DDC20-79C9-9647-820E-6D40A3D210C3}" type="slidenum">
              <a:rPr lang="en-US" smtClean="0"/>
              <a:pPr/>
              <a:t>25</a:t>
            </a:fld>
            <a:endParaRPr lang="en-US"/>
          </a:p>
        </p:txBody>
      </p:sp>
      <p:sp>
        <p:nvSpPr>
          <p:cNvPr id="27" name="Text Box 11"/>
          <p:cNvSpPr txBox="1">
            <a:spLocks noChangeArrowheads="1"/>
          </p:cNvSpPr>
          <p:nvPr/>
        </p:nvSpPr>
        <p:spPr bwMode="auto">
          <a:xfrm>
            <a:off x="5027067" y="3245880"/>
            <a:ext cx="1017780" cy="249749"/>
          </a:xfrm>
          <a:prstGeom prst="rect">
            <a:avLst/>
          </a:prstGeom>
          <a:noFill/>
          <a:ln w="12700">
            <a:noFill/>
            <a:miter lim="800000"/>
            <a:headEnd/>
            <a:tailEnd/>
          </a:ln>
        </p:spPr>
        <p:txBody>
          <a:bodyPr wrap="none" lIns="62167" tIns="31084" rIns="62167" bIns="31084">
            <a:spAutoFit/>
          </a:bodyPr>
          <a:lstStyle/>
          <a:p>
            <a:r>
              <a:rPr lang="en-US" sz="1215" dirty="0">
                <a:solidFill>
                  <a:schemeClr val="bg1"/>
                </a:solidFill>
              </a:rPr>
              <a:t>Value = 896 m</a:t>
            </a:r>
          </a:p>
        </p:txBody>
      </p:sp>
      <p:pic>
        <p:nvPicPr>
          <p:cNvPr id="7" name="Picture 6" descr="Image showing remote sensing imagery"/>
          <p:cNvPicPr>
            <a:picLocks noChangeAspect="1"/>
          </p:cNvPicPr>
          <p:nvPr/>
        </p:nvPicPr>
        <p:blipFill>
          <a:blip r:embed="rId3"/>
          <a:stretch>
            <a:fillRect/>
          </a:stretch>
        </p:blipFill>
        <p:spPr>
          <a:xfrm>
            <a:off x="4080819" y="2444119"/>
            <a:ext cx="3970592" cy="2535362"/>
          </a:xfrm>
          <a:prstGeom prst="rect">
            <a:avLst/>
          </a:prstGeom>
        </p:spPr>
      </p:pic>
      <p:pic>
        <p:nvPicPr>
          <p:cNvPr id="8" name="Picture 7" descr="Image showing bands information"/>
          <p:cNvPicPr>
            <a:picLocks noChangeAspect="1"/>
          </p:cNvPicPr>
          <p:nvPr/>
        </p:nvPicPr>
        <p:blipFill>
          <a:blip r:embed="rId4"/>
          <a:stretch>
            <a:fillRect/>
          </a:stretch>
        </p:blipFill>
        <p:spPr>
          <a:xfrm>
            <a:off x="2674245" y="3885213"/>
            <a:ext cx="1292641" cy="707415"/>
          </a:xfrm>
          <a:prstGeom prst="rect">
            <a:avLst/>
          </a:prstGeom>
        </p:spPr>
      </p:pic>
      <p:pic>
        <p:nvPicPr>
          <p:cNvPr id="9" name="Picture 8" descr="Image showing bands information"/>
          <p:cNvPicPr>
            <a:picLocks noChangeAspect="1"/>
          </p:cNvPicPr>
          <p:nvPr/>
        </p:nvPicPr>
        <p:blipFill>
          <a:blip r:embed="rId5"/>
          <a:stretch>
            <a:fillRect/>
          </a:stretch>
        </p:blipFill>
        <p:spPr>
          <a:xfrm>
            <a:off x="3088068" y="3133006"/>
            <a:ext cx="578794" cy="578794"/>
          </a:xfrm>
          <a:prstGeom prst="rect">
            <a:avLst/>
          </a:prstGeom>
        </p:spPr>
      </p:pic>
      <p:pic>
        <p:nvPicPr>
          <p:cNvPr id="10" name="Picture 9" descr="Image showing remote sensing imagery"/>
          <p:cNvPicPr>
            <a:picLocks noChangeAspect="1"/>
          </p:cNvPicPr>
          <p:nvPr/>
        </p:nvPicPr>
        <p:blipFill>
          <a:blip r:embed="rId6">
            <a:clrChange>
              <a:clrFrom>
                <a:srgbClr val="00C5FF"/>
              </a:clrFrom>
              <a:clrTo>
                <a:srgbClr val="00C5FF">
                  <a:alpha val="0"/>
                </a:srgbClr>
              </a:clrTo>
            </a:clrChange>
          </a:blip>
          <a:stretch>
            <a:fillRect/>
          </a:stretch>
        </p:blipFill>
        <p:spPr>
          <a:xfrm>
            <a:off x="294216" y="2130554"/>
            <a:ext cx="2379895" cy="3012946"/>
          </a:xfrm>
          <a:prstGeom prst="rect">
            <a:avLst/>
          </a:prstGeom>
        </p:spPr>
      </p:pic>
      <p:sp>
        <p:nvSpPr>
          <p:cNvPr id="11" name="Title 1">
            <a:extLst>
              <a:ext uri="{FF2B5EF4-FFF2-40B4-BE49-F238E27FC236}">
                <a16:creationId xmlns:a16="http://schemas.microsoft.com/office/drawing/2014/main" id="{4986ACE7-854C-482B-95DA-DB7E166026E0}"/>
              </a:ext>
            </a:extLst>
          </p:cNvPr>
          <p:cNvSpPr txBox="1">
            <a:spLocks/>
          </p:cNvSpPr>
          <p:nvPr/>
        </p:nvSpPr>
        <p:spPr>
          <a:xfrm>
            <a:off x="152400" y="22104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12" name="Straight Connector 11">
            <a:extLst>
              <a:ext uri="{FF2B5EF4-FFF2-40B4-BE49-F238E27FC236}">
                <a16:creationId xmlns:a16="http://schemas.microsoft.com/office/drawing/2014/main" id="{939DDA80-AFF0-4A66-A294-2E209B8860F4}"/>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948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152400" y="1197740"/>
            <a:ext cx="4342327" cy="3683351"/>
          </a:xfrm>
          <a:prstGeom prst="rect">
            <a:avLst/>
          </a:prstGeom>
        </p:spPr>
        <p:txBody>
          <a:bodyPr vert="horz" lIns="61738" tIns="30869" rIns="61738" bIns="30869" rtlCol="0">
            <a:normAutofit fontScale="62500" lnSpcReduction="20000"/>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a:buFont typeface="Courier New" panose="02070309020205020404" pitchFamily="49" charset="0"/>
              <a:buChar char="o"/>
            </a:pPr>
            <a:r>
              <a:rPr lang="en-US" sz="4000" dirty="0"/>
              <a:t>R</a:t>
            </a:r>
            <a:r>
              <a:rPr lang="en-US" altLang="zh-CN" sz="4000" dirty="0"/>
              <a:t>adiometric Resolution</a:t>
            </a:r>
            <a:endParaRPr lang="en-US" sz="4000" dirty="0"/>
          </a:p>
          <a:p>
            <a:pPr marL="0" indent="0">
              <a:buNone/>
            </a:pPr>
            <a:r>
              <a:rPr lang="en-US" sz="3200" b="1" dirty="0">
                <a:solidFill>
                  <a:srgbClr val="E3874F"/>
                </a:solidFill>
              </a:rPr>
              <a:t>Pixel Type</a:t>
            </a:r>
            <a:r>
              <a:rPr lang="en-US" sz="3200" dirty="0"/>
              <a:t>/</a:t>
            </a:r>
            <a:r>
              <a:rPr lang="en-US" sz="3200" b="1" dirty="0">
                <a:solidFill>
                  <a:srgbClr val="E3874F"/>
                </a:solidFill>
              </a:rPr>
              <a:t>Pixel Depth</a:t>
            </a:r>
            <a:endParaRPr lang="en-US" sz="3200" dirty="0"/>
          </a:p>
          <a:p>
            <a:pPr marL="0" indent="0">
              <a:buNone/>
            </a:pPr>
            <a:r>
              <a:rPr lang="en-US" sz="3200" dirty="0"/>
              <a:t>	</a:t>
            </a:r>
            <a:r>
              <a:rPr lang="en-US" sz="3200" b="1" dirty="0">
                <a:solidFill>
                  <a:srgbClr val="E3874F"/>
                </a:solidFill>
              </a:rPr>
              <a:t>4-bit = </a:t>
            </a:r>
            <a:r>
              <a:rPr lang="en-US" sz="3200" dirty="0"/>
              <a:t>2</a:t>
            </a:r>
            <a:r>
              <a:rPr lang="en-US" sz="3200" baseline="30000" dirty="0"/>
              <a:t>4</a:t>
            </a:r>
            <a:r>
              <a:rPr lang="en-US" sz="3200" dirty="0"/>
              <a:t> (16) unique values</a:t>
            </a:r>
          </a:p>
          <a:p>
            <a:pPr marL="0" indent="0">
              <a:buNone/>
            </a:pPr>
            <a:r>
              <a:rPr lang="en-US" sz="3200" dirty="0"/>
              <a:t>	</a:t>
            </a:r>
            <a:r>
              <a:rPr lang="en-US" sz="3200" b="1" dirty="0">
                <a:solidFill>
                  <a:srgbClr val="E3874F"/>
                </a:solidFill>
              </a:rPr>
              <a:t>8-bit = </a:t>
            </a:r>
            <a:r>
              <a:rPr lang="en-US" sz="3200" dirty="0"/>
              <a:t>2</a:t>
            </a:r>
            <a:r>
              <a:rPr lang="en-US" sz="3200" baseline="30000" dirty="0"/>
              <a:t>8</a:t>
            </a:r>
            <a:r>
              <a:rPr lang="en-US" sz="3200" dirty="0"/>
              <a:t> (256) unique values</a:t>
            </a:r>
          </a:p>
          <a:p>
            <a:pPr marL="0" indent="0">
              <a:buNone/>
            </a:pPr>
            <a:r>
              <a:rPr lang="en-US" sz="3200" dirty="0"/>
              <a:t>	</a:t>
            </a:r>
            <a:r>
              <a:rPr lang="en-US" sz="3200" b="1" dirty="0">
                <a:solidFill>
                  <a:srgbClr val="E3874F"/>
                </a:solidFill>
              </a:rPr>
              <a:t>16-bit = </a:t>
            </a:r>
            <a:r>
              <a:rPr lang="en-US" sz="3200" dirty="0"/>
              <a:t>2</a:t>
            </a:r>
            <a:r>
              <a:rPr lang="en-US" sz="3200" baseline="30000" dirty="0"/>
              <a:t>16</a:t>
            </a:r>
            <a:r>
              <a:rPr lang="en-US" sz="3200" dirty="0"/>
              <a:t> (65,536) unique 	values</a:t>
            </a:r>
          </a:p>
          <a:p>
            <a:pPr marL="0" indent="0">
              <a:buNone/>
            </a:pPr>
            <a:r>
              <a:rPr lang="en-US" sz="3200" dirty="0"/>
              <a:t>	</a:t>
            </a:r>
            <a:r>
              <a:rPr lang="en-US" sz="3200" b="1" dirty="0">
                <a:solidFill>
                  <a:srgbClr val="E3874F"/>
                </a:solidFill>
              </a:rPr>
              <a:t>32-bit = </a:t>
            </a:r>
            <a:r>
              <a:rPr lang="en-US" sz="3200" dirty="0"/>
              <a:t>2</a:t>
            </a:r>
            <a:r>
              <a:rPr lang="en-US" sz="3200" baseline="30000" dirty="0"/>
              <a:t>32</a:t>
            </a:r>
            <a:r>
              <a:rPr lang="en-US" sz="3200" dirty="0"/>
              <a:t> (4,294,967,296) 	unique values</a:t>
            </a:r>
          </a:p>
          <a:p>
            <a:pPr marL="0" indent="0">
              <a:buNone/>
            </a:pPr>
            <a:r>
              <a:rPr lang="en-US" sz="3200" dirty="0"/>
              <a:t>	1-bit, 2-bit, 11-bit, 12-bit, etc. </a:t>
            </a:r>
          </a:p>
          <a:p>
            <a:pPr marL="0" indent="0">
              <a:buNone/>
            </a:pPr>
            <a:endParaRPr lang="en-US" sz="1620" dirty="0"/>
          </a:p>
        </p:txBody>
      </p:sp>
      <p:sp>
        <p:nvSpPr>
          <p:cNvPr id="3" name="TextBox 2"/>
          <p:cNvSpPr txBox="1"/>
          <p:nvPr/>
        </p:nvSpPr>
        <p:spPr>
          <a:xfrm>
            <a:off x="5237383" y="3681971"/>
            <a:ext cx="2726765" cy="765402"/>
          </a:xfrm>
          <a:prstGeom prst="rect">
            <a:avLst/>
          </a:prstGeom>
          <a:noFill/>
        </p:spPr>
        <p:txBody>
          <a:bodyPr wrap="square" rtlCol="0">
            <a:spAutoFit/>
          </a:bodyPr>
          <a:lstStyle/>
          <a:p>
            <a:pPr>
              <a:lnSpc>
                <a:spcPct val="90000"/>
              </a:lnSpc>
            </a:pPr>
            <a:r>
              <a:rPr lang="en-US" sz="1620" dirty="0"/>
              <a:t>Can think of this as the degree of brightness difference that can be quantified</a:t>
            </a:r>
          </a:p>
        </p:txBody>
      </p:sp>
      <p:pic>
        <p:nvPicPr>
          <p:cNvPr id="4" name="Picture 3" descr="Pixel depth"/>
          <p:cNvPicPr>
            <a:picLocks noChangeAspect="1"/>
          </p:cNvPicPr>
          <p:nvPr/>
        </p:nvPicPr>
        <p:blipFill>
          <a:blip r:embed="rId3">
            <a:clrChange>
              <a:clrFrom>
                <a:srgbClr val="21AAE1"/>
              </a:clrFrom>
              <a:clrTo>
                <a:srgbClr val="21AAE1">
                  <a:alpha val="0"/>
                </a:srgbClr>
              </a:clrTo>
            </a:clrChange>
          </a:blip>
          <a:stretch>
            <a:fillRect/>
          </a:stretch>
        </p:blipFill>
        <p:spPr>
          <a:xfrm>
            <a:off x="4732181" y="1742357"/>
            <a:ext cx="3428479" cy="1755464"/>
          </a:xfrm>
          <a:prstGeom prst="rect">
            <a:avLst/>
          </a:prstGeom>
        </p:spPr>
      </p:pic>
      <p:sp>
        <p:nvSpPr>
          <p:cNvPr id="6" name="TextBox 5"/>
          <p:cNvSpPr txBox="1"/>
          <p:nvPr/>
        </p:nvSpPr>
        <p:spPr>
          <a:xfrm>
            <a:off x="4732181" y="1594231"/>
            <a:ext cx="205794" cy="316690"/>
          </a:xfrm>
          <a:prstGeom prst="rect">
            <a:avLst/>
          </a:prstGeom>
          <a:noFill/>
        </p:spPr>
        <p:txBody>
          <a:bodyPr wrap="square" rtlCol="0">
            <a:spAutoFit/>
          </a:bodyPr>
          <a:lstStyle/>
          <a:p>
            <a:pPr>
              <a:lnSpc>
                <a:spcPct val="90000"/>
              </a:lnSpc>
            </a:pPr>
            <a:r>
              <a:rPr lang="en-US" sz="1620" dirty="0"/>
              <a:t>0</a:t>
            </a:r>
          </a:p>
        </p:txBody>
      </p:sp>
      <p:sp>
        <p:nvSpPr>
          <p:cNvPr id="9" name="TextBox 8"/>
          <p:cNvSpPr txBox="1"/>
          <p:nvPr/>
        </p:nvSpPr>
        <p:spPr>
          <a:xfrm>
            <a:off x="4732181" y="2068227"/>
            <a:ext cx="205794" cy="316690"/>
          </a:xfrm>
          <a:prstGeom prst="rect">
            <a:avLst/>
          </a:prstGeom>
          <a:noFill/>
        </p:spPr>
        <p:txBody>
          <a:bodyPr wrap="square" rtlCol="0">
            <a:spAutoFit/>
          </a:bodyPr>
          <a:lstStyle/>
          <a:p>
            <a:pPr>
              <a:lnSpc>
                <a:spcPct val="90000"/>
              </a:lnSpc>
            </a:pPr>
            <a:r>
              <a:rPr lang="en-US" sz="1620" dirty="0"/>
              <a:t>0</a:t>
            </a:r>
          </a:p>
        </p:txBody>
      </p:sp>
      <p:sp>
        <p:nvSpPr>
          <p:cNvPr id="10" name="TextBox 9"/>
          <p:cNvSpPr txBox="1"/>
          <p:nvPr/>
        </p:nvSpPr>
        <p:spPr>
          <a:xfrm>
            <a:off x="7767636" y="1616152"/>
            <a:ext cx="393024" cy="316690"/>
          </a:xfrm>
          <a:prstGeom prst="rect">
            <a:avLst/>
          </a:prstGeom>
          <a:noFill/>
        </p:spPr>
        <p:txBody>
          <a:bodyPr wrap="square" rtlCol="0">
            <a:spAutoFit/>
          </a:bodyPr>
          <a:lstStyle/>
          <a:p>
            <a:pPr>
              <a:lnSpc>
                <a:spcPct val="90000"/>
              </a:lnSpc>
            </a:pPr>
            <a:r>
              <a:rPr lang="en-US" sz="1620" dirty="0"/>
              <a:t>16</a:t>
            </a:r>
          </a:p>
        </p:txBody>
      </p:sp>
      <p:sp>
        <p:nvSpPr>
          <p:cNvPr id="12" name="TextBox 11"/>
          <p:cNvSpPr txBox="1"/>
          <p:nvPr/>
        </p:nvSpPr>
        <p:spPr>
          <a:xfrm>
            <a:off x="4734392" y="2966158"/>
            <a:ext cx="205794" cy="316690"/>
          </a:xfrm>
          <a:prstGeom prst="rect">
            <a:avLst/>
          </a:prstGeom>
          <a:noFill/>
        </p:spPr>
        <p:txBody>
          <a:bodyPr wrap="square" rtlCol="0">
            <a:spAutoFit/>
          </a:bodyPr>
          <a:lstStyle/>
          <a:p>
            <a:pPr>
              <a:lnSpc>
                <a:spcPct val="90000"/>
              </a:lnSpc>
            </a:pPr>
            <a:r>
              <a:rPr lang="en-US" sz="1620" dirty="0"/>
              <a:t>0</a:t>
            </a:r>
          </a:p>
        </p:txBody>
      </p:sp>
      <p:sp>
        <p:nvSpPr>
          <p:cNvPr id="13" name="TextBox 12"/>
          <p:cNvSpPr txBox="1"/>
          <p:nvPr/>
        </p:nvSpPr>
        <p:spPr>
          <a:xfrm>
            <a:off x="4732181" y="2542223"/>
            <a:ext cx="205794" cy="316690"/>
          </a:xfrm>
          <a:prstGeom prst="rect">
            <a:avLst/>
          </a:prstGeom>
          <a:noFill/>
        </p:spPr>
        <p:txBody>
          <a:bodyPr wrap="square" rtlCol="0">
            <a:spAutoFit/>
          </a:bodyPr>
          <a:lstStyle/>
          <a:p>
            <a:pPr>
              <a:lnSpc>
                <a:spcPct val="90000"/>
              </a:lnSpc>
            </a:pPr>
            <a:r>
              <a:rPr lang="en-US" sz="1620" dirty="0"/>
              <a:t>0</a:t>
            </a:r>
          </a:p>
        </p:txBody>
      </p:sp>
      <p:sp>
        <p:nvSpPr>
          <p:cNvPr id="14" name="TextBox 13"/>
          <p:cNvSpPr txBox="1"/>
          <p:nvPr/>
        </p:nvSpPr>
        <p:spPr>
          <a:xfrm>
            <a:off x="7767636" y="2046305"/>
            <a:ext cx="753163" cy="316690"/>
          </a:xfrm>
          <a:prstGeom prst="rect">
            <a:avLst/>
          </a:prstGeom>
          <a:noFill/>
        </p:spPr>
        <p:txBody>
          <a:bodyPr wrap="square" rtlCol="0">
            <a:spAutoFit/>
          </a:bodyPr>
          <a:lstStyle/>
          <a:p>
            <a:pPr>
              <a:lnSpc>
                <a:spcPct val="90000"/>
              </a:lnSpc>
            </a:pPr>
            <a:r>
              <a:rPr lang="en-US" sz="1620" dirty="0"/>
              <a:t>255</a:t>
            </a:r>
          </a:p>
        </p:txBody>
      </p:sp>
      <p:sp>
        <p:nvSpPr>
          <p:cNvPr id="15" name="TextBox 14"/>
          <p:cNvSpPr txBox="1"/>
          <p:nvPr/>
        </p:nvSpPr>
        <p:spPr>
          <a:xfrm>
            <a:off x="7458946" y="2499693"/>
            <a:ext cx="1234762" cy="316690"/>
          </a:xfrm>
          <a:prstGeom prst="rect">
            <a:avLst/>
          </a:prstGeom>
          <a:noFill/>
        </p:spPr>
        <p:txBody>
          <a:bodyPr wrap="square" rtlCol="0">
            <a:spAutoFit/>
          </a:bodyPr>
          <a:lstStyle/>
          <a:p>
            <a:pPr>
              <a:lnSpc>
                <a:spcPct val="90000"/>
              </a:lnSpc>
            </a:pPr>
            <a:r>
              <a:rPr lang="en-US" sz="1620" dirty="0"/>
              <a:t>65,536</a:t>
            </a:r>
          </a:p>
        </p:txBody>
      </p:sp>
      <p:sp>
        <p:nvSpPr>
          <p:cNvPr id="17" name="TextBox 16"/>
          <p:cNvSpPr txBox="1"/>
          <p:nvPr/>
        </p:nvSpPr>
        <p:spPr>
          <a:xfrm>
            <a:off x="6841565" y="2956642"/>
            <a:ext cx="1852142" cy="316690"/>
          </a:xfrm>
          <a:prstGeom prst="rect">
            <a:avLst/>
          </a:prstGeom>
          <a:noFill/>
        </p:spPr>
        <p:txBody>
          <a:bodyPr wrap="square" rtlCol="0">
            <a:spAutoFit/>
          </a:bodyPr>
          <a:lstStyle/>
          <a:p>
            <a:pPr>
              <a:lnSpc>
                <a:spcPct val="90000"/>
              </a:lnSpc>
            </a:pPr>
            <a:r>
              <a:rPr lang="en-US" sz="1620" dirty="0"/>
              <a:t>4,294,967,295</a:t>
            </a:r>
          </a:p>
        </p:txBody>
      </p:sp>
      <p:sp>
        <p:nvSpPr>
          <p:cNvPr id="16" name="Title 1">
            <a:extLst>
              <a:ext uri="{FF2B5EF4-FFF2-40B4-BE49-F238E27FC236}">
                <a16:creationId xmlns:a16="http://schemas.microsoft.com/office/drawing/2014/main" id="{609515EC-1439-4AF3-B080-8D0037A0579D}"/>
              </a:ext>
            </a:extLst>
          </p:cNvPr>
          <p:cNvSpPr txBox="1">
            <a:spLocks/>
          </p:cNvSpPr>
          <p:nvPr/>
        </p:nvSpPr>
        <p:spPr>
          <a:xfrm>
            <a:off x="152400" y="1831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18" name="Straight Connector 17">
            <a:extLst>
              <a:ext uri="{FF2B5EF4-FFF2-40B4-BE49-F238E27FC236}">
                <a16:creationId xmlns:a16="http://schemas.microsoft.com/office/drawing/2014/main" id="{87AD31A7-2D21-4E67-BD49-65B9910D5614}"/>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80530961-7C66-480E-9F62-EF11DEE9D39A}"/>
              </a:ext>
            </a:extLst>
          </p:cNvPr>
          <p:cNvSpPr>
            <a:spLocks noGrp="1"/>
          </p:cNvSpPr>
          <p:nvPr>
            <p:ph type="sldNum" sz="quarter" idx="12"/>
          </p:nvPr>
        </p:nvSpPr>
        <p:spPr/>
        <p:txBody>
          <a:bodyPr/>
          <a:lstStyle/>
          <a:p>
            <a:fld id="{127DDC20-79C9-9647-820E-6D40A3D210C3}" type="slidenum">
              <a:rPr lang="en-US" smtClean="0"/>
              <a:pPr/>
              <a:t>26</a:t>
            </a:fld>
            <a:endParaRPr lang="en-US"/>
          </a:p>
        </p:txBody>
      </p:sp>
    </p:spTree>
    <p:extLst>
      <p:ext uri="{BB962C8B-B14F-4D97-AF65-F5344CB8AC3E}">
        <p14:creationId xmlns:p14="http://schemas.microsoft.com/office/powerpoint/2010/main" val="3053822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Rater example">
            <a:extLst>
              <a:ext uri="{FF2B5EF4-FFF2-40B4-BE49-F238E27FC236}">
                <a16:creationId xmlns:a16="http://schemas.microsoft.com/office/drawing/2014/main" id="{9B25F166-DADE-46F9-8EAF-1D11F942FF78}"/>
              </a:ext>
            </a:extLst>
          </p:cNvPr>
          <p:cNvPicPr>
            <a:picLocks noChangeAspect="1"/>
          </p:cNvPicPr>
          <p:nvPr/>
        </p:nvPicPr>
        <p:blipFill>
          <a:blip r:embed="rId3"/>
          <a:stretch>
            <a:fillRect/>
          </a:stretch>
        </p:blipFill>
        <p:spPr>
          <a:xfrm>
            <a:off x="160235" y="1901308"/>
            <a:ext cx="3533775" cy="3143250"/>
          </a:xfrm>
          <a:prstGeom prst="rect">
            <a:avLst/>
          </a:prstGeom>
        </p:spPr>
      </p:pic>
      <p:sp>
        <p:nvSpPr>
          <p:cNvPr id="12" name="Content Placeholder 2">
            <a:extLst>
              <a:ext uri="{FF2B5EF4-FFF2-40B4-BE49-F238E27FC236}">
                <a16:creationId xmlns:a16="http://schemas.microsoft.com/office/drawing/2014/main" id="{6FB2EADA-F4FE-4E93-8E28-861EEA2E8C66}"/>
              </a:ext>
            </a:extLst>
          </p:cNvPr>
          <p:cNvSpPr>
            <a:spLocks noGrp="1"/>
          </p:cNvSpPr>
          <p:nvPr>
            <p:ph idx="1"/>
          </p:nvPr>
        </p:nvSpPr>
        <p:spPr>
          <a:xfrm>
            <a:off x="131454" y="1150094"/>
            <a:ext cx="8055728" cy="520474"/>
          </a:xfrm>
        </p:spPr>
        <p:txBody>
          <a:bodyPr>
            <a:normAutofit/>
          </a:bodyPr>
          <a:lstStyle/>
          <a:p>
            <a:pPr>
              <a:buFont typeface="Courier New" panose="02070309020205020404" pitchFamily="49" charset="0"/>
              <a:buChar char="o"/>
            </a:pPr>
            <a:r>
              <a:rPr lang="en-US" sz="2800" dirty="0"/>
              <a:t>Raster data are always rectangular</a:t>
            </a:r>
          </a:p>
        </p:txBody>
      </p:sp>
      <p:sp>
        <p:nvSpPr>
          <p:cNvPr id="3" name="Slide Number Placeholder 2">
            <a:extLst>
              <a:ext uri="{FF2B5EF4-FFF2-40B4-BE49-F238E27FC236}">
                <a16:creationId xmlns:a16="http://schemas.microsoft.com/office/drawing/2014/main" id="{F728C8B0-EAAD-4CF1-8ED8-0E984ED26B51}"/>
              </a:ext>
            </a:extLst>
          </p:cNvPr>
          <p:cNvSpPr>
            <a:spLocks noGrp="1"/>
          </p:cNvSpPr>
          <p:nvPr>
            <p:ph type="sldNum" sz="quarter" idx="12"/>
          </p:nvPr>
        </p:nvSpPr>
        <p:spPr/>
        <p:txBody>
          <a:bodyPr/>
          <a:lstStyle/>
          <a:p>
            <a:fld id="{127DDC20-79C9-9647-820E-6D40A3D210C3}" type="slidenum">
              <a:rPr lang="en-US" smtClean="0"/>
              <a:pPr/>
              <a:t>27</a:t>
            </a:fld>
            <a:endParaRPr lang="en-US"/>
          </a:p>
        </p:txBody>
      </p:sp>
      <p:sp>
        <p:nvSpPr>
          <p:cNvPr id="6" name="TextBox 5"/>
          <p:cNvSpPr txBox="1"/>
          <p:nvPr/>
        </p:nvSpPr>
        <p:spPr>
          <a:xfrm>
            <a:off x="3969483" y="3462333"/>
            <a:ext cx="2440680" cy="316690"/>
          </a:xfrm>
          <a:prstGeom prst="rect">
            <a:avLst/>
          </a:prstGeom>
          <a:noFill/>
        </p:spPr>
        <p:txBody>
          <a:bodyPr wrap="square" rtlCol="0">
            <a:spAutoFit/>
          </a:bodyPr>
          <a:lstStyle/>
          <a:p>
            <a:pPr>
              <a:lnSpc>
                <a:spcPct val="90000"/>
              </a:lnSpc>
            </a:pPr>
            <a:r>
              <a:rPr lang="en-US" sz="1620" dirty="0"/>
              <a:t>No data cells still exist</a:t>
            </a:r>
          </a:p>
        </p:txBody>
      </p:sp>
      <p:cxnSp>
        <p:nvCxnSpPr>
          <p:cNvPr id="8" name="Straight Arrow Connector 7"/>
          <p:cNvCxnSpPr>
            <a:cxnSpLocks/>
          </p:cNvCxnSpPr>
          <p:nvPr/>
        </p:nvCxnSpPr>
        <p:spPr>
          <a:xfrm flipH="1">
            <a:off x="3454999" y="3620930"/>
            <a:ext cx="514484" cy="166712"/>
          </a:xfrm>
          <a:prstGeom prst="straightConnector1">
            <a:avLst/>
          </a:prstGeom>
          <a:ln w="2540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6775050B-DB2C-4FB2-9D90-B29B70D3AA56}"/>
              </a:ext>
            </a:extLst>
          </p:cNvPr>
          <p:cNvSpPr txBox="1">
            <a:spLocks/>
          </p:cNvSpPr>
          <p:nvPr/>
        </p:nvSpPr>
        <p:spPr>
          <a:xfrm>
            <a:off x="253705" y="21749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11" name="Straight Connector 10">
            <a:extLst>
              <a:ext uri="{FF2B5EF4-FFF2-40B4-BE49-F238E27FC236}">
                <a16:creationId xmlns:a16="http://schemas.microsoft.com/office/drawing/2014/main" id="{43FF1606-4729-47F7-93FD-B7F019F81F5F}"/>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3DC85013-2AE8-445E-A986-91C022686336}"/>
              </a:ext>
            </a:extLst>
          </p:cNvPr>
          <p:cNvSpPr/>
          <p:nvPr/>
        </p:nvSpPr>
        <p:spPr>
          <a:xfrm>
            <a:off x="399246" y="2086377"/>
            <a:ext cx="3234798" cy="287198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64670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Raster data"/>
          <p:cNvPicPr>
            <a:picLocks noChangeAspect="1"/>
          </p:cNvPicPr>
          <p:nvPr/>
        </p:nvPicPr>
        <p:blipFill>
          <a:blip r:embed="rId3"/>
          <a:stretch>
            <a:fillRect/>
          </a:stretch>
        </p:blipFill>
        <p:spPr>
          <a:xfrm>
            <a:off x="3145321" y="979575"/>
            <a:ext cx="4183398" cy="4108385"/>
          </a:xfrm>
          <a:prstGeom prst="rect">
            <a:avLst/>
          </a:prstGeom>
        </p:spPr>
      </p:pic>
      <p:sp>
        <p:nvSpPr>
          <p:cNvPr id="6" name="Title 1">
            <a:extLst>
              <a:ext uri="{FF2B5EF4-FFF2-40B4-BE49-F238E27FC236}">
                <a16:creationId xmlns:a16="http://schemas.microsoft.com/office/drawing/2014/main" id="{FFDDA386-4BED-47A4-994D-F6D1CB18377D}"/>
              </a:ext>
            </a:extLst>
          </p:cNvPr>
          <p:cNvSpPr txBox="1">
            <a:spLocks/>
          </p:cNvSpPr>
          <p:nvPr/>
        </p:nvSpPr>
        <p:spPr>
          <a:xfrm>
            <a:off x="285511" y="2200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7" name="Straight Connector 6">
            <a:extLst>
              <a:ext uri="{FF2B5EF4-FFF2-40B4-BE49-F238E27FC236}">
                <a16:creationId xmlns:a16="http://schemas.microsoft.com/office/drawing/2014/main" id="{F476FF1B-D536-4D07-92B3-750D07D0922C}"/>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1D316141-7AA0-405F-B4E4-8B372F1D99F8}"/>
              </a:ext>
            </a:extLst>
          </p:cNvPr>
          <p:cNvSpPr>
            <a:spLocks noGrp="1"/>
          </p:cNvSpPr>
          <p:nvPr>
            <p:ph idx="1"/>
          </p:nvPr>
        </p:nvSpPr>
        <p:spPr>
          <a:xfrm>
            <a:off x="-1" y="1077312"/>
            <a:ext cx="3641271" cy="2881110"/>
          </a:xfrm>
        </p:spPr>
        <p:txBody>
          <a:bodyPr>
            <a:normAutofit/>
          </a:bodyPr>
          <a:lstStyle/>
          <a:p>
            <a:pPr>
              <a:buFont typeface="Courier New" panose="02070309020205020404" pitchFamily="49" charset="0"/>
              <a:buChar char="o"/>
            </a:pPr>
            <a:r>
              <a:rPr lang="en-US" sz="2000" dirty="0"/>
              <a:t>Cell size (spatial resolution)</a:t>
            </a:r>
          </a:p>
          <a:p>
            <a:pPr lvl="1">
              <a:buFont typeface="Wingdings" panose="05000000000000000000" pitchFamily="2" charset="2"/>
              <a:buChar char="ü"/>
            </a:pPr>
            <a:r>
              <a:rPr lang="en-US" sz="2000" dirty="0"/>
              <a:t>Red: 100 mx100 m (lower resolution)</a:t>
            </a:r>
          </a:p>
          <a:p>
            <a:pPr lvl="1">
              <a:buFont typeface="Wingdings" panose="05000000000000000000" pitchFamily="2" charset="2"/>
              <a:buChar char="ü"/>
            </a:pPr>
            <a:r>
              <a:rPr lang="en-US" sz="2000" dirty="0"/>
              <a:t>Green: 50 mx50 m (higher resolution)</a:t>
            </a:r>
          </a:p>
        </p:txBody>
      </p:sp>
      <p:sp>
        <p:nvSpPr>
          <p:cNvPr id="2" name="Slide Number Placeholder 1">
            <a:extLst>
              <a:ext uri="{FF2B5EF4-FFF2-40B4-BE49-F238E27FC236}">
                <a16:creationId xmlns:a16="http://schemas.microsoft.com/office/drawing/2014/main" id="{55DDC56B-1C1C-4793-8C56-827138CA2672}"/>
              </a:ext>
            </a:extLst>
          </p:cNvPr>
          <p:cNvSpPr>
            <a:spLocks noGrp="1"/>
          </p:cNvSpPr>
          <p:nvPr>
            <p:ph type="sldNum" sz="quarter" idx="12"/>
          </p:nvPr>
        </p:nvSpPr>
        <p:spPr/>
        <p:txBody>
          <a:bodyPr/>
          <a:lstStyle/>
          <a:p>
            <a:fld id="{127DDC20-79C9-9647-820E-6D40A3D210C3}" type="slidenum">
              <a:rPr lang="en-US" smtClean="0"/>
              <a:pPr/>
              <a:t>28</a:t>
            </a:fld>
            <a:endParaRPr lang="en-US"/>
          </a:p>
        </p:txBody>
      </p:sp>
    </p:spTree>
    <p:extLst>
      <p:ext uri="{BB962C8B-B14F-4D97-AF65-F5344CB8AC3E}">
        <p14:creationId xmlns:p14="http://schemas.microsoft.com/office/powerpoint/2010/main" val="2914344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06D67E7-07E3-4DDE-8657-A833667B44A8}"/>
              </a:ext>
            </a:extLst>
          </p:cNvPr>
          <p:cNvSpPr txBox="1">
            <a:spLocks/>
          </p:cNvSpPr>
          <p:nvPr/>
        </p:nvSpPr>
        <p:spPr>
          <a:xfrm>
            <a:off x="152400" y="22716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5" name="Straight Connector 4">
            <a:extLst>
              <a:ext uri="{FF2B5EF4-FFF2-40B4-BE49-F238E27FC236}">
                <a16:creationId xmlns:a16="http://schemas.microsoft.com/office/drawing/2014/main" id="{B420DB2B-CF0E-48EA-842A-A78C6F44576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2">
            <a:extLst>
              <a:ext uri="{FF2B5EF4-FFF2-40B4-BE49-F238E27FC236}">
                <a16:creationId xmlns:a16="http://schemas.microsoft.com/office/drawing/2014/main" id="{72AE8853-0138-42CB-BEB6-269EEA26BAFD}"/>
              </a:ext>
            </a:extLst>
          </p:cNvPr>
          <p:cNvSpPr txBox="1">
            <a:spLocks/>
          </p:cNvSpPr>
          <p:nvPr/>
        </p:nvSpPr>
        <p:spPr>
          <a:xfrm>
            <a:off x="140005" y="1093641"/>
            <a:ext cx="8055728" cy="288111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dirty="0"/>
              <a:t>Raster File Formats</a:t>
            </a:r>
          </a:p>
          <a:p>
            <a:pPr lvl="1">
              <a:buFont typeface="Wingdings" panose="05000000000000000000" pitchFamily="2" charset="2"/>
              <a:buChar char="ü"/>
            </a:pPr>
            <a:r>
              <a:rPr lang="en-US" dirty="0"/>
              <a:t>ESRI Grid</a:t>
            </a:r>
          </a:p>
          <a:p>
            <a:pPr lvl="1">
              <a:buFont typeface="Wingdings" panose="05000000000000000000" pitchFamily="2" charset="2"/>
              <a:buChar char="ü"/>
            </a:pPr>
            <a:r>
              <a:rPr lang="en-US" dirty="0" err="1"/>
              <a:t>Erdas</a:t>
            </a:r>
            <a:r>
              <a:rPr lang="en-US" dirty="0"/>
              <a:t> Imagine (.</a:t>
            </a:r>
            <a:r>
              <a:rPr lang="en-US" dirty="0" err="1"/>
              <a:t>img</a:t>
            </a:r>
            <a:r>
              <a:rPr lang="en-US" dirty="0"/>
              <a:t>)</a:t>
            </a:r>
          </a:p>
          <a:p>
            <a:pPr lvl="1">
              <a:buFont typeface="Wingdings" panose="05000000000000000000" pitchFamily="2" charset="2"/>
              <a:buChar char="ü"/>
            </a:pPr>
            <a:r>
              <a:rPr lang="en-US" dirty="0" err="1"/>
              <a:t>GeoTIFF</a:t>
            </a:r>
            <a:r>
              <a:rPr lang="en-US" dirty="0"/>
              <a:t> (.</a:t>
            </a:r>
            <a:r>
              <a:rPr lang="en-US" dirty="0" err="1"/>
              <a:t>tif</a:t>
            </a:r>
            <a:r>
              <a:rPr lang="en-US" dirty="0"/>
              <a:t>)</a:t>
            </a:r>
          </a:p>
          <a:p>
            <a:pPr>
              <a:buFont typeface="Courier New" panose="02070309020205020404" pitchFamily="49" charset="0"/>
              <a:buChar char="o"/>
            </a:pPr>
            <a:endParaRPr lang="en-US" dirty="0"/>
          </a:p>
        </p:txBody>
      </p:sp>
      <p:sp>
        <p:nvSpPr>
          <p:cNvPr id="2" name="Slide Number Placeholder 1">
            <a:extLst>
              <a:ext uri="{FF2B5EF4-FFF2-40B4-BE49-F238E27FC236}">
                <a16:creationId xmlns:a16="http://schemas.microsoft.com/office/drawing/2014/main" id="{E81F5CB9-1D30-4291-8A3D-9A11CA7AF3BE}"/>
              </a:ext>
            </a:extLst>
          </p:cNvPr>
          <p:cNvSpPr>
            <a:spLocks noGrp="1"/>
          </p:cNvSpPr>
          <p:nvPr>
            <p:ph type="sldNum" sz="quarter" idx="12"/>
          </p:nvPr>
        </p:nvSpPr>
        <p:spPr/>
        <p:txBody>
          <a:bodyPr/>
          <a:lstStyle/>
          <a:p>
            <a:fld id="{127DDC20-79C9-9647-820E-6D40A3D210C3}" type="slidenum">
              <a:rPr lang="en-US" smtClean="0"/>
              <a:pPr/>
              <a:t>29</a:t>
            </a:fld>
            <a:endParaRPr lang="en-US"/>
          </a:p>
        </p:txBody>
      </p:sp>
    </p:spTree>
    <p:extLst>
      <p:ext uri="{BB962C8B-B14F-4D97-AF65-F5344CB8AC3E}">
        <p14:creationId xmlns:p14="http://schemas.microsoft.com/office/powerpoint/2010/main" val="4213124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FDDA386-4BED-47A4-994D-F6D1CB18377D}"/>
              </a:ext>
            </a:extLst>
          </p:cNvPr>
          <p:cNvSpPr txBox="1">
            <a:spLocks/>
          </p:cNvSpPr>
          <p:nvPr/>
        </p:nvSpPr>
        <p:spPr>
          <a:xfrm>
            <a:off x="328865" y="2365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7" name="Straight Connector 6">
            <a:extLst>
              <a:ext uri="{FF2B5EF4-FFF2-40B4-BE49-F238E27FC236}">
                <a16:creationId xmlns:a16="http://schemas.microsoft.com/office/drawing/2014/main" id="{F476FF1B-D536-4D07-92B3-750D07D0922C}"/>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1D316141-7AA0-405F-B4E4-8B372F1D99F8}"/>
              </a:ext>
            </a:extLst>
          </p:cNvPr>
          <p:cNvSpPr>
            <a:spLocks noGrp="1"/>
          </p:cNvSpPr>
          <p:nvPr>
            <p:ph idx="1"/>
          </p:nvPr>
        </p:nvSpPr>
        <p:spPr>
          <a:xfrm>
            <a:off x="-1" y="1077311"/>
            <a:ext cx="3862138" cy="3429601"/>
          </a:xfrm>
        </p:spPr>
        <p:txBody>
          <a:bodyPr>
            <a:normAutofit lnSpcReduction="10000"/>
          </a:bodyPr>
          <a:lstStyle/>
          <a:p>
            <a:pPr>
              <a:buFont typeface="Courier New" panose="02070309020205020404" pitchFamily="49" charset="0"/>
              <a:buChar char="o"/>
            </a:pPr>
            <a:r>
              <a:rPr lang="en-US" sz="2400" dirty="0"/>
              <a:t>Raster cell values assignment maybe complicated</a:t>
            </a:r>
          </a:p>
          <a:p>
            <a:pPr lvl="1">
              <a:buFont typeface="Wingdings" panose="05000000000000000000" pitchFamily="2" charset="2"/>
              <a:buChar char="ü"/>
            </a:pPr>
            <a:r>
              <a:rPr lang="en-US" sz="2100" dirty="0"/>
              <a:t>When they are multiple features within a single cell</a:t>
            </a:r>
          </a:p>
          <a:p>
            <a:pPr lvl="2">
              <a:buFont typeface="Arial" panose="020B0604020202020204" pitchFamily="34" charset="0"/>
              <a:buChar char="•"/>
            </a:pPr>
            <a:r>
              <a:rPr lang="en-US" sz="1740" dirty="0"/>
              <a:t>Select a representative feature, and use the attribute from that feature</a:t>
            </a:r>
          </a:p>
          <a:p>
            <a:pPr lvl="2">
              <a:buFont typeface="Arial" panose="020B0604020202020204" pitchFamily="34" charset="0"/>
              <a:buChar char="•"/>
            </a:pPr>
            <a:r>
              <a:rPr lang="en-US" sz="1740" dirty="0"/>
              <a:t>Reduce the cell size to include only one feature in each cell</a:t>
            </a:r>
          </a:p>
          <a:p>
            <a:pPr marL="411480" lvl="1" indent="0">
              <a:buNone/>
            </a:pPr>
            <a:endParaRPr lang="en-US" sz="2100" dirty="0"/>
          </a:p>
        </p:txBody>
      </p:sp>
      <p:sp>
        <p:nvSpPr>
          <p:cNvPr id="2" name="Slide Number Placeholder 1">
            <a:extLst>
              <a:ext uri="{FF2B5EF4-FFF2-40B4-BE49-F238E27FC236}">
                <a16:creationId xmlns:a16="http://schemas.microsoft.com/office/drawing/2014/main" id="{55DDC56B-1C1C-4793-8C56-827138CA2672}"/>
              </a:ext>
            </a:extLst>
          </p:cNvPr>
          <p:cNvSpPr>
            <a:spLocks noGrp="1"/>
          </p:cNvSpPr>
          <p:nvPr>
            <p:ph type="sldNum" sz="quarter" idx="12"/>
          </p:nvPr>
        </p:nvSpPr>
        <p:spPr/>
        <p:txBody>
          <a:bodyPr/>
          <a:lstStyle/>
          <a:p>
            <a:fld id="{127DDC20-79C9-9647-820E-6D40A3D210C3}" type="slidenum">
              <a:rPr lang="en-US" smtClean="0"/>
              <a:pPr/>
              <a:t>30</a:t>
            </a:fld>
            <a:endParaRPr lang="en-US"/>
          </a:p>
        </p:txBody>
      </p:sp>
      <p:pic>
        <p:nvPicPr>
          <p:cNvPr id="4" name="Picture 3" descr="Raster cell values assignment">
            <a:extLst>
              <a:ext uri="{FF2B5EF4-FFF2-40B4-BE49-F238E27FC236}">
                <a16:creationId xmlns:a16="http://schemas.microsoft.com/office/drawing/2014/main" id="{14EAF040-A394-4EDC-84F5-79D8C0E89F1D}"/>
              </a:ext>
            </a:extLst>
          </p:cNvPr>
          <p:cNvPicPr>
            <a:picLocks noChangeAspect="1"/>
          </p:cNvPicPr>
          <p:nvPr/>
        </p:nvPicPr>
        <p:blipFill>
          <a:blip r:embed="rId3"/>
          <a:stretch>
            <a:fillRect/>
          </a:stretch>
        </p:blipFill>
        <p:spPr>
          <a:xfrm>
            <a:off x="4152900" y="1568195"/>
            <a:ext cx="3106072" cy="2938719"/>
          </a:xfrm>
          <a:prstGeom prst="rect">
            <a:avLst/>
          </a:prstGeom>
        </p:spPr>
      </p:pic>
      <p:sp>
        <p:nvSpPr>
          <p:cNvPr id="10" name="TextBox 9">
            <a:extLst>
              <a:ext uri="{FF2B5EF4-FFF2-40B4-BE49-F238E27FC236}">
                <a16:creationId xmlns:a16="http://schemas.microsoft.com/office/drawing/2014/main" id="{B814C260-89DD-41A9-B2B8-41D2AC73B478}"/>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Tree>
    <p:extLst>
      <p:ext uri="{BB962C8B-B14F-4D97-AF65-F5344CB8AC3E}">
        <p14:creationId xmlns:p14="http://schemas.microsoft.com/office/powerpoint/2010/main" val="469344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FDDA386-4BED-47A4-994D-F6D1CB18377D}"/>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7" name="Straight Connector 6">
            <a:extLst>
              <a:ext uri="{FF2B5EF4-FFF2-40B4-BE49-F238E27FC236}">
                <a16:creationId xmlns:a16="http://schemas.microsoft.com/office/drawing/2014/main" id="{F476FF1B-D536-4D07-92B3-750D07D0922C}"/>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3" name="Content Placeholder 2">
            <a:extLst>
              <a:ext uri="{FF2B5EF4-FFF2-40B4-BE49-F238E27FC236}">
                <a16:creationId xmlns:a16="http://schemas.microsoft.com/office/drawing/2014/main" id="{0EEE6E8B-7F63-4A33-BA9F-D8CA076C1A8C}"/>
              </a:ext>
            </a:extLst>
          </p:cNvPr>
          <p:cNvSpPr>
            <a:spLocks noGrp="1"/>
          </p:cNvSpPr>
          <p:nvPr>
            <p:ph idx="1"/>
          </p:nvPr>
        </p:nvSpPr>
        <p:spPr>
          <a:xfrm>
            <a:off x="-1" y="1077311"/>
            <a:ext cx="3862138" cy="3429601"/>
          </a:xfrm>
        </p:spPr>
        <p:txBody>
          <a:bodyPr>
            <a:normAutofit/>
          </a:bodyPr>
          <a:lstStyle/>
          <a:p>
            <a:pPr>
              <a:buFont typeface="Courier New" panose="02070309020205020404" pitchFamily="49" charset="0"/>
              <a:buChar char="o"/>
            </a:pPr>
            <a:r>
              <a:rPr lang="en-US" sz="2400" dirty="0"/>
              <a:t>Raster cell values assignment maybe complicated</a:t>
            </a:r>
          </a:p>
          <a:p>
            <a:pPr lvl="1">
              <a:buFont typeface="Wingdings" panose="05000000000000000000" pitchFamily="2" charset="2"/>
              <a:buChar char="ü"/>
            </a:pPr>
            <a:r>
              <a:rPr lang="en-US" sz="2100" dirty="0"/>
              <a:t>When they are multiple features within a single cell</a:t>
            </a:r>
          </a:p>
          <a:p>
            <a:pPr lvl="2">
              <a:buFont typeface="Arial" panose="020B0604020202020204" pitchFamily="34" charset="0"/>
              <a:buChar char="•"/>
            </a:pPr>
            <a:r>
              <a:rPr lang="en-US" sz="1740" dirty="0"/>
              <a:t>Winner-take-all or majority</a:t>
            </a:r>
          </a:p>
          <a:p>
            <a:pPr lvl="2">
              <a:buFont typeface="Arial" panose="020B0604020202020204" pitchFamily="34" charset="0"/>
              <a:buChar char="•"/>
            </a:pPr>
            <a:r>
              <a:rPr lang="en-US" sz="1740" dirty="0"/>
              <a:t>User’s preference</a:t>
            </a:r>
          </a:p>
          <a:p>
            <a:pPr lvl="2">
              <a:buFont typeface="Arial" panose="020B0604020202020204" pitchFamily="34" charset="0"/>
              <a:buChar char="•"/>
            </a:pPr>
            <a:endParaRPr lang="en-US" sz="1740" dirty="0"/>
          </a:p>
          <a:p>
            <a:pPr marL="411480" lvl="1" indent="0">
              <a:buNone/>
            </a:pPr>
            <a:endParaRPr lang="en-US" sz="2100" dirty="0"/>
          </a:p>
        </p:txBody>
      </p:sp>
      <p:sp>
        <p:nvSpPr>
          <p:cNvPr id="2" name="Slide Number Placeholder 1">
            <a:extLst>
              <a:ext uri="{FF2B5EF4-FFF2-40B4-BE49-F238E27FC236}">
                <a16:creationId xmlns:a16="http://schemas.microsoft.com/office/drawing/2014/main" id="{55DDC56B-1C1C-4793-8C56-827138CA2672}"/>
              </a:ext>
            </a:extLst>
          </p:cNvPr>
          <p:cNvSpPr>
            <a:spLocks noGrp="1"/>
          </p:cNvSpPr>
          <p:nvPr>
            <p:ph type="sldNum" sz="quarter" idx="12"/>
          </p:nvPr>
        </p:nvSpPr>
        <p:spPr/>
        <p:txBody>
          <a:bodyPr/>
          <a:lstStyle/>
          <a:p>
            <a:fld id="{127DDC20-79C9-9647-820E-6D40A3D210C3}" type="slidenum">
              <a:rPr lang="en-US" smtClean="0"/>
              <a:pPr/>
              <a:t>31</a:t>
            </a:fld>
            <a:endParaRPr lang="en-US"/>
          </a:p>
        </p:txBody>
      </p:sp>
      <p:sp>
        <p:nvSpPr>
          <p:cNvPr id="10" name="TextBox 9">
            <a:extLst>
              <a:ext uri="{FF2B5EF4-FFF2-40B4-BE49-F238E27FC236}">
                <a16:creationId xmlns:a16="http://schemas.microsoft.com/office/drawing/2014/main" id="{B814C260-89DD-41A9-B2B8-41D2AC73B478}"/>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pic>
        <p:nvPicPr>
          <p:cNvPr id="5" name="Picture 4" descr="A picture containing shoji, indoor, tiled&#10;&#10;Description automatically generated">
            <a:extLst>
              <a:ext uri="{FF2B5EF4-FFF2-40B4-BE49-F238E27FC236}">
                <a16:creationId xmlns:a16="http://schemas.microsoft.com/office/drawing/2014/main" id="{41FF60D0-BB4F-4A62-B219-609D6D790CDE}"/>
              </a:ext>
            </a:extLst>
          </p:cNvPr>
          <p:cNvPicPr>
            <a:picLocks noChangeAspect="1"/>
          </p:cNvPicPr>
          <p:nvPr/>
        </p:nvPicPr>
        <p:blipFill>
          <a:blip r:embed="rId3"/>
          <a:stretch>
            <a:fillRect/>
          </a:stretch>
        </p:blipFill>
        <p:spPr>
          <a:xfrm>
            <a:off x="4258763" y="1463138"/>
            <a:ext cx="2832579" cy="2832579"/>
          </a:xfrm>
          <a:prstGeom prst="rect">
            <a:avLst/>
          </a:prstGeom>
        </p:spPr>
      </p:pic>
    </p:spTree>
    <p:extLst>
      <p:ext uri="{BB962C8B-B14F-4D97-AF65-F5344CB8AC3E}">
        <p14:creationId xmlns:p14="http://schemas.microsoft.com/office/powerpoint/2010/main" val="935085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3B66272-CEF2-4CEC-9A04-AACDCD87440C}"/>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Group Activity 3-1</a:t>
            </a:r>
          </a:p>
        </p:txBody>
      </p:sp>
      <p:cxnSp>
        <p:nvCxnSpPr>
          <p:cNvPr id="10" name="Straight Connector 9">
            <a:extLst>
              <a:ext uri="{FF2B5EF4-FFF2-40B4-BE49-F238E27FC236}">
                <a16:creationId xmlns:a16="http://schemas.microsoft.com/office/drawing/2014/main" id="{2F98180B-87D5-4F8C-8441-7ACF3B73C03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B690577A-42E9-436D-90FE-BAE3A05B1F80}"/>
              </a:ext>
            </a:extLst>
          </p:cNvPr>
          <p:cNvSpPr txBox="1"/>
          <p:nvPr/>
        </p:nvSpPr>
        <p:spPr>
          <a:xfrm>
            <a:off x="6405126" y="4798243"/>
            <a:ext cx="111461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pic>
        <p:nvPicPr>
          <p:cNvPr id="3" name="Picture 2" descr="Raster cell assignment">
            <a:extLst>
              <a:ext uri="{FF2B5EF4-FFF2-40B4-BE49-F238E27FC236}">
                <a16:creationId xmlns:a16="http://schemas.microsoft.com/office/drawing/2014/main" id="{E96C08B5-E0D0-4D27-8ADC-9BE630118BFA}"/>
              </a:ext>
            </a:extLst>
          </p:cNvPr>
          <p:cNvPicPr>
            <a:picLocks noChangeAspect="1"/>
          </p:cNvPicPr>
          <p:nvPr/>
        </p:nvPicPr>
        <p:blipFill>
          <a:blip r:embed="rId3"/>
          <a:stretch>
            <a:fillRect/>
          </a:stretch>
        </p:blipFill>
        <p:spPr>
          <a:xfrm>
            <a:off x="4152900" y="1276225"/>
            <a:ext cx="3439276" cy="3439276"/>
          </a:xfrm>
          <a:prstGeom prst="rect">
            <a:avLst/>
          </a:prstGeom>
        </p:spPr>
      </p:pic>
      <p:sp>
        <p:nvSpPr>
          <p:cNvPr id="7" name="TextBox 6">
            <a:extLst>
              <a:ext uri="{FF2B5EF4-FFF2-40B4-BE49-F238E27FC236}">
                <a16:creationId xmlns:a16="http://schemas.microsoft.com/office/drawing/2014/main" id="{5474EA51-2322-4C00-982D-0C431278D89A}"/>
              </a:ext>
            </a:extLst>
          </p:cNvPr>
          <p:cNvSpPr txBox="1"/>
          <p:nvPr/>
        </p:nvSpPr>
        <p:spPr>
          <a:xfrm>
            <a:off x="118533" y="1276224"/>
            <a:ext cx="3856567" cy="2631489"/>
          </a:xfrm>
          <a:prstGeom prst="rect">
            <a:avLst/>
          </a:prstGeom>
          <a:noFill/>
        </p:spPr>
        <p:txBody>
          <a:bodyPr wrap="square" rtlCol="0">
            <a:spAutoFit/>
          </a:bodyPr>
          <a:lstStyle/>
          <a:p>
            <a:pPr marL="285750" indent="-285750">
              <a:buFont typeface="Courier New" panose="02070309020205020404" pitchFamily="49" charset="0"/>
              <a:buChar char="o"/>
            </a:pPr>
            <a:r>
              <a:rPr lang="en-US" sz="2100" dirty="0"/>
              <a:t>Discuss with your peers: </a:t>
            </a:r>
          </a:p>
          <a:p>
            <a:pPr marL="742950" lvl="1" indent="-285750">
              <a:buFont typeface="Wingdings" panose="05000000000000000000" pitchFamily="2" charset="2"/>
              <a:buChar char="ü"/>
            </a:pPr>
            <a:r>
              <a:rPr lang="en-US" dirty="0"/>
              <a:t>List the labels (A, B, C…J) of raster cells that would be assigned as water (dark blue) or land (light green) under a majority coverage rule (i.e., winner-take-all) and </a:t>
            </a:r>
            <a:r>
              <a:rPr lang="en-US" sz="1800" dirty="0"/>
              <a:t>User’s preference (i.e., water)</a:t>
            </a:r>
          </a:p>
          <a:p>
            <a:pPr marL="742950" lvl="1" indent="-285750">
              <a:buFont typeface="Wingdings" panose="05000000000000000000" pitchFamily="2" charset="2"/>
              <a:buChar char="ü"/>
            </a:pPr>
            <a:endParaRPr lang="en-US" dirty="0"/>
          </a:p>
        </p:txBody>
      </p:sp>
      <p:sp>
        <p:nvSpPr>
          <p:cNvPr id="2" name="Slide Number Placeholder 1">
            <a:extLst>
              <a:ext uri="{FF2B5EF4-FFF2-40B4-BE49-F238E27FC236}">
                <a16:creationId xmlns:a16="http://schemas.microsoft.com/office/drawing/2014/main" id="{09E29BC8-F148-4F60-A327-A16BCC310FB8}"/>
              </a:ext>
            </a:extLst>
          </p:cNvPr>
          <p:cNvSpPr>
            <a:spLocks noGrp="1"/>
          </p:cNvSpPr>
          <p:nvPr>
            <p:ph type="sldNum" sz="quarter" idx="12"/>
          </p:nvPr>
        </p:nvSpPr>
        <p:spPr/>
        <p:txBody>
          <a:bodyPr/>
          <a:lstStyle/>
          <a:p>
            <a:fld id="{127DDC20-79C9-9647-820E-6D40A3D210C3}" type="slidenum">
              <a:rPr lang="en-US" smtClean="0"/>
              <a:pPr/>
              <a:t>32</a:t>
            </a:fld>
            <a:endParaRPr lang="en-US"/>
          </a:p>
        </p:txBody>
      </p:sp>
    </p:spTree>
    <p:extLst>
      <p:ext uri="{BB962C8B-B14F-4D97-AF65-F5344CB8AC3E}">
        <p14:creationId xmlns:p14="http://schemas.microsoft.com/office/powerpoint/2010/main" val="3458089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4F4DEDE-90C6-4A95-BFE6-002269B6C44C}"/>
              </a:ext>
            </a:extLst>
          </p:cNvPr>
          <p:cNvSpPr>
            <a:spLocks noGrp="1"/>
          </p:cNvSpPr>
          <p:nvPr>
            <p:ph type="sldNum" sz="quarter" idx="12"/>
          </p:nvPr>
        </p:nvSpPr>
        <p:spPr/>
        <p:txBody>
          <a:bodyPr/>
          <a:lstStyle/>
          <a:p>
            <a:fld id="{127DDC20-79C9-9647-820E-6D40A3D210C3}" type="slidenum">
              <a:rPr lang="en-US" smtClean="0"/>
              <a:pPr/>
              <a:t>33</a:t>
            </a:fld>
            <a:endParaRPr lang="en-US"/>
          </a:p>
        </p:txBody>
      </p:sp>
      <p:cxnSp>
        <p:nvCxnSpPr>
          <p:cNvPr id="32" name="Straight Connector 31">
            <a:extLst>
              <a:ext uri="{FF2B5EF4-FFF2-40B4-BE49-F238E27FC236}">
                <a16:creationId xmlns:a16="http://schemas.microsoft.com/office/drawing/2014/main" id="{FEBA748E-D6FA-4E5F-860E-E59CB5DE169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33" name="Picture 32" descr="Raster and vector data comparison">
            <a:extLst>
              <a:ext uri="{FF2B5EF4-FFF2-40B4-BE49-F238E27FC236}">
                <a16:creationId xmlns:a16="http://schemas.microsoft.com/office/drawing/2014/main" id="{F4E4FD98-891D-4F9A-84DD-2C7D3D45802D}"/>
              </a:ext>
            </a:extLst>
          </p:cNvPr>
          <p:cNvPicPr>
            <a:picLocks noChangeAspect="1"/>
          </p:cNvPicPr>
          <p:nvPr/>
        </p:nvPicPr>
        <p:blipFill>
          <a:blip r:embed="rId3"/>
          <a:stretch>
            <a:fillRect/>
          </a:stretch>
        </p:blipFill>
        <p:spPr>
          <a:xfrm>
            <a:off x="98304" y="1199507"/>
            <a:ext cx="8032991" cy="3567756"/>
          </a:xfrm>
          <a:prstGeom prst="rect">
            <a:avLst/>
          </a:prstGeom>
        </p:spPr>
      </p:pic>
      <p:sp>
        <p:nvSpPr>
          <p:cNvPr id="34" name="TextBox 33">
            <a:extLst>
              <a:ext uri="{FF2B5EF4-FFF2-40B4-BE49-F238E27FC236}">
                <a16:creationId xmlns:a16="http://schemas.microsoft.com/office/drawing/2014/main" id="{98A32CE0-F43D-4586-8DE0-7D168CAE6D82}"/>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
        <p:nvSpPr>
          <p:cNvPr id="37" name="Title 1">
            <a:extLst>
              <a:ext uri="{FF2B5EF4-FFF2-40B4-BE49-F238E27FC236}">
                <a16:creationId xmlns:a16="http://schemas.microsoft.com/office/drawing/2014/main" id="{471A2D9C-D590-4DA5-A6C7-8718A610505D}"/>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and Raster Models Comparison</a:t>
            </a:r>
          </a:p>
        </p:txBody>
      </p:sp>
    </p:spTree>
    <p:extLst>
      <p:ext uri="{BB962C8B-B14F-4D97-AF65-F5344CB8AC3E}">
        <p14:creationId xmlns:p14="http://schemas.microsoft.com/office/powerpoint/2010/main" val="221676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4F4DEDE-90C6-4A95-BFE6-002269B6C44C}"/>
              </a:ext>
            </a:extLst>
          </p:cNvPr>
          <p:cNvSpPr>
            <a:spLocks noGrp="1"/>
          </p:cNvSpPr>
          <p:nvPr>
            <p:ph type="sldNum" sz="quarter" idx="12"/>
          </p:nvPr>
        </p:nvSpPr>
        <p:spPr/>
        <p:txBody>
          <a:bodyPr/>
          <a:lstStyle/>
          <a:p>
            <a:fld id="{127DDC20-79C9-9647-820E-6D40A3D210C3}" type="slidenum">
              <a:rPr lang="en-US" smtClean="0"/>
              <a:pPr/>
              <a:t>34</a:t>
            </a:fld>
            <a:endParaRPr lang="en-US"/>
          </a:p>
        </p:txBody>
      </p:sp>
      <p:cxnSp>
        <p:nvCxnSpPr>
          <p:cNvPr id="32" name="Straight Connector 31">
            <a:extLst>
              <a:ext uri="{FF2B5EF4-FFF2-40B4-BE49-F238E27FC236}">
                <a16:creationId xmlns:a16="http://schemas.microsoft.com/office/drawing/2014/main" id="{FEBA748E-D6FA-4E5F-860E-E59CB5DE169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98A32CE0-F43D-4586-8DE0-7D168CAE6D82}"/>
              </a:ext>
            </a:extLst>
          </p:cNvPr>
          <p:cNvSpPr txBox="1"/>
          <p:nvPr/>
        </p:nvSpPr>
        <p:spPr>
          <a:xfrm>
            <a:off x="317147" y="4810275"/>
            <a:ext cx="111461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
        <p:nvSpPr>
          <p:cNvPr id="9" name="Title 1">
            <a:extLst>
              <a:ext uri="{FF2B5EF4-FFF2-40B4-BE49-F238E27FC236}">
                <a16:creationId xmlns:a16="http://schemas.microsoft.com/office/drawing/2014/main" id="{88F5EBF3-CFA8-46E7-83A5-D048BBF86427}"/>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and Raster Models Conversion</a:t>
            </a:r>
          </a:p>
        </p:txBody>
      </p:sp>
      <p:pic>
        <p:nvPicPr>
          <p:cNvPr id="7" name="Picture 6" descr="Vector to Raster and Raster to Vector">
            <a:extLst>
              <a:ext uri="{FF2B5EF4-FFF2-40B4-BE49-F238E27FC236}">
                <a16:creationId xmlns:a16="http://schemas.microsoft.com/office/drawing/2014/main" id="{CD82A66E-4A5F-425B-9082-A4CBAD22448A}"/>
              </a:ext>
            </a:extLst>
          </p:cNvPr>
          <p:cNvPicPr>
            <a:picLocks noChangeAspect="1"/>
          </p:cNvPicPr>
          <p:nvPr/>
        </p:nvPicPr>
        <p:blipFill rotWithShape="1">
          <a:blip r:embed="rId3"/>
          <a:srcRect b="49280"/>
          <a:stretch/>
        </p:blipFill>
        <p:spPr>
          <a:xfrm>
            <a:off x="3015042" y="1865518"/>
            <a:ext cx="5096025" cy="2059522"/>
          </a:xfrm>
          <a:prstGeom prst="rect">
            <a:avLst/>
          </a:prstGeom>
        </p:spPr>
      </p:pic>
      <p:sp>
        <p:nvSpPr>
          <p:cNvPr id="8" name="TextBox 7">
            <a:extLst>
              <a:ext uri="{FF2B5EF4-FFF2-40B4-BE49-F238E27FC236}">
                <a16:creationId xmlns:a16="http://schemas.microsoft.com/office/drawing/2014/main" id="{44D80BAE-4358-4C32-844F-AD56DDFBDF53}"/>
              </a:ext>
            </a:extLst>
          </p:cNvPr>
          <p:cNvSpPr txBox="1"/>
          <p:nvPr/>
        </p:nvSpPr>
        <p:spPr>
          <a:xfrm>
            <a:off x="118533" y="1304693"/>
            <a:ext cx="2708887" cy="2862322"/>
          </a:xfrm>
          <a:prstGeom prst="rect">
            <a:avLst/>
          </a:prstGeom>
          <a:noFill/>
        </p:spPr>
        <p:txBody>
          <a:bodyPr wrap="square" rtlCol="0">
            <a:spAutoFit/>
          </a:bodyPr>
          <a:lstStyle/>
          <a:p>
            <a:pPr marL="285750" indent="-285750">
              <a:buFont typeface="Courier New" panose="02070309020205020404" pitchFamily="49" charset="0"/>
              <a:buChar char="o"/>
            </a:pPr>
            <a:r>
              <a:rPr lang="en-US" dirty="0"/>
              <a:t>Vector to Raster</a:t>
            </a:r>
          </a:p>
          <a:p>
            <a:pPr marL="742950" lvl="1" indent="-285750">
              <a:buFont typeface="Wingdings" panose="05000000000000000000" pitchFamily="2" charset="2"/>
              <a:buChar char="ü"/>
            </a:pPr>
            <a:r>
              <a:rPr lang="en-US" dirty="0"/>
              <a:t>Assign a value to a cell if a vector line intersects with any part of the cell</a:t>
            </a:r>
          </a:p>
          <a:p>
            <a:pPr marL="742950" lvl="1" indent="-285750">
              <a:buFont typeface="Wingdings" panose="05000000000000000000" pitchFamily="2" charset="2"/>
              <a:buChar char="ü"/>
            </a:pPr>
            <a:r>
              <a:rPr lang="en-US" dirty="0"/>
              <a:t>Assign a value to a cell  only when the cell center is near a vector line segment</a:t>
            </a:r>
          </a:p>
        </p:txBody>
      </p:sp>
      <p:sp>
        <p:nvSpPr>
          <p:cNvPr id="15" name="TextBox 14">
            <a:extLst>
              <a:ext uri="{FF2B5EF4-FFF2-40B4-BE49-F238E27FC236}">
                <a16:creationId xmlns:a16="http://schemas.microsoft.com/office/drawing/2014/main" id="{3F9AF276-9146-4815-839E-67E8F1A77FC1}"/>
              </a:ext>
            </a:extLst>
          </p:cNvPr>
          <p:cNvSpPr txBox="1"/>
          <p:nvPr/>
        </p:nvSpPr>
        <p:spPr>
          <a:xfrm>
            <a:off x="4307485" y="1717955"/>
            <a:ext cx="1920240" cy="369332"/>
          </a:xfrm>
          <a:prstGeom prst="rect">
            <a:avLst/>
          </a:prstGeom>
          <a:noFill/>
        </p:spPr>
        <p:txBody>
          <a:bodyPr wrap="square">
            <a:spAutoFit/>
          </a:bodyPr>
          <a:lstStyle/>
          <a:p>
            <a:r>
              <a:rPr lang="en-US" dirty="0"/>
              <a:t>Vector to Raster</a:t>
            </a:r>
          </a:p>
        </p:txBody>
      </p:sp>
    </p:spTree>
    <p:extLst>
      <p:ext uri="{BB962C8B-B14F-4D97-AF65-F5344CB8AC3E}">
        <p14:creationId xmlns:p14="http://schemas.microsoft.com/office/powerpoint/2010/main" val="1773331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4F4DEDE-90C6-4A95-BFE6-002269B6C44C}"/>
              </a:ext>
            </a:extLst>
          </p:cNvPr>
          <p:cNvSpPr>
            <a:spLocks noGrp="1"/>
          </p:cNvSpPr>
          <p:nvPr>
            <p:ph type="sldNum" sz="quarter" idx="12"/>
          </p:nvPr>
        </p:nvSpPr>
        <p:spPr/>
        <p:txBody>
          <a:bodyPr/>
          <a:lstStyle/>
          <a:p>
            <a:fld id="{127DDC20-79C9-9647-820E-6D40A3D210C3}" type="slidenum">
              <a:rPr lang="en-US" smtClean="0"/>
              <a:pPr/>
              <a:t>35</a:t>
            </a:fld>
            <a:endParaRPr lang="en-US"/>
          </a:p>
        </p:txBody>
      </p:sp>
      <p:cxnSp>
        <p:nvCxnSpPr>
          <p:cNvPr id="32" name="Straight Connector 31">
            <a:extLst>
              <a:ext uri="{FF2B5EF4-FFF2-40B4-BE49-F238E27FC236}">
                <a16:creationId xmlns:a16="http://schemas.microsoft.com/office/drawing/2014/main" id="{FEBA748E-D6FA-4E5F-860E-E59CB5DE169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98A32CE0-F43D-4586-8DE0-7D168CAE6D82}"/>
              </a:ext>
            </a:extLst>
          </p:cNvPr>
          <p:cNvSpPr txBox="1"/>
          <p:nvPr/>
        </p:nvSpPr>
        <p:spPr>
          <a:xfrm>
            <a:off x="317147" y="4810275"/>
            <a:ext cx="111461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
        <p:nvSpPr>
          <p:cNvPr id="9" name="Title 1">
            <a:extLst>
              <a:ext uri="{FF2B5EF4-FFF2-40B4-BE49-F238E27FC236}">
                <a16:creationId xmlns:a16="http://schemas.microsoft.com/office/drawing/2014/main" id="{88F5EBF3-CFA8-46E7-83A5-D048BBF86427}"/>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and Raster Models Conversion</a:t>
            </a:r>
          </a:p>
        </p:txBody>
      </p:sp>
      <p:pic>
        <p:nvPicPr>
          <p:cNvPr id="7" name="Picture 6" descr="Vector to Raster and Raster to Vector">
            <a:extLst>
              <a:ext uri="{FF2B5EF4-FFF2-40B4-BE49-F238E27FC236}">
                <a16:creationId xmlns:a16="http://schemas.microsoft.com/office/drawing/2014/main" id="{CD82A66E-4A5F-425B-9082-A4CBAD22448A}"/>
              </a:ext>
            </a:extLst>
          </p:cNvPr>
          <p:cNvPicPr>
            <a:picLocks noChangeAspect="1"/>
          </p:cNvPicPr>
          <p:nvPr/>
        </p:nvPicPr>
        <p:blipFill rotWithShape="1">
          <a:blip r:embed="rId3"/>
          <a:srcRect t="49974"/>
          <a:stretch/>
        </p:blipFill>
        <p:spPr>
          <a:xfrm>
            <a:off x="2827420" y="1769463"/>
            <a:ext cx="5096025" cy="2031325"/>
          </a:xfrm>
          <a:prstGeom prst="rect">
            <a:avLst/>
          </a:prstGeom>
        </p:spPr>
      </p:pic>
      <p:sp>
        <p:nvSpPr>
          <p:cNvPr id="8" name="TextBox 7">
            <a:extLst>
              <a:ext uri="{FF2B5EF4-FFF2-40B4-BE49-F238E27FC236}">
                <a16:creationId xmlns:a16="http://schemas.microsoft.com/office/drawing/2014/main" id="{44D80BAE-4358-4C32-844F-AD56DDFBDF53}"/>
              </a:ext>
            </a:extLst>
          </p:cNvPr>
          <p:cNvSpPr txBox="1"/>
          <p:nvPr/>
        </p:nvSpPr>
        <p:spPr>
          <a:xfrm>
            <a:off x="118533" y="1304693"/>
            <a:ext cx="2708887" cy="2031325"/>
          </a:xfrm>
          <a:prstGeom prst="rect">
            <a:avLst/>
          </a:prstGeom>
          <a:noFill/>
        </p:spPr>
        <p:txBody>
          <a:bodyPr wrap="square" rtlCol="0">
            <a:spAutoFit/>
          </a:bodyPr>
          <a:lstStyle/>
          <a:p>
            <a:pPr marL="285750" indent="-285750">
              <a:buFont typeface="Courier New" panose="02070309020205020404" pitchFamily="49" charset="0"/>
              <a:buChar char="o"/>
            </a:pPr>
            <a:r>
              <a:rPr lang="en-US" dirty="0"/>
              <a:t>Raster to Vector</a:t>
            </a:r>
          </a:p>
          <a:p>
            <a:pPr marL="742950" lvl="1" indent="-285750">
              <a:buFont typeface="Wingdings" panose="05000000000000000000" pitchFamily="2" charset="2"/>
              <a:buChar char="ü"/>
            </a:pPr>
            <a:r>
              <a:rPr lang="en-US" dirty="0"/>
              <a:t>Each vector point feature is usually assigned the coordinate of the corresponding cell center</a:t>
            </a:r>
          </a:p>
        </p:txBody>
      </p:sp>
      <p:sp>
        <p:nvSpPr>
          <p:cNvPr id="11" name="TextBox 10">
            <a:extLst>
              <a:ext uri="{FF2B5EF4-FFF2-40B4-BE49-F238E27FC236}">
                <a16:creationId xmlns:a16="http://schemas.microsoft.com/office/drawing/2014/main" id="{F5CE4AD2-2F90-4FD5-B855-CF41DC691890}"/>
              </a:ext>
            </a:extLst>
          </p:cNvPr>
          <p:cNvSpPr txBox="1"/>
          <p:nvPr/>
        </p:nvSpPr>
        <p:spPr>
          <a:xfrm>
            <a:off x="4220125" y="1696718"/>
            <a:ext cx="1920240" cy="369332"/>
          </a:xfrm>
          <a:prstGeom prst="rect">
            <a:avLst/>
          </a:prstGeom>
          <a:noFill/>
        </p:spPr>
        <p:txBody>
          <a:bodyPr wrap="square">
            <a:spAutoFit/>
          </a:bodyPr>
          <a:lstStyle/>
          <a:p>
            <a:r>
              <a:rPr lang="en-US" dirty="0"/>
              <a:t>Raster to Vector</a:t>
            </a:r>
          </a:p>
        </p:txBody>
      </p:sp>
    </p:spTree>
    <p:extLst>
      <p:ext uri="{BB962C8B-B14F-4D97-AF65-F5344CB8AC3E}">
        <p14:creationId xmlns:p14="http://schemas.microsoft.com/office/powerpoint/2010/main" val="3441972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3B66272-CEF2-4CEC-9A04-AACDCD87440C}"/>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Triangulated Irregular Networks</a:t>
            </a:r>
          </a:p>
        </p:txBody>
      </p:sp>
      <p:cxnSp>
        <p:nvCxnSpPr>
          <p:cNvPr id="10" name="Straight Connector 9">
            <a:extLst>
              <a:ext uri="{FF2B5EF4-FFF2-40B4-BE49-F238E27FC236}">
                <a16:creationId xmlns:a16="http://schemas.microsoft.com/office/drawing/2014/main" id="{2F98180B-87D5-4F8C-8441-7ACF3B73C03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96243F1B-AAB5-4FD3-857F-C206319CD95A}"/>
              </a:ext>
            </a:extLst>
          </p:cNvPr>
          <p:cNvSpPr txBox="1">
            <a:spLocks/>
          </p:cNvSpPr>
          <p:nvPr/>
        </p:nvSpPr>
        <p:spPr>
          <a:xfrm>
            <a:off x="152400" y="1064985"/>
            <a:ext cx="3637547" cy="3747646"/>
          </a:xfrm>
          <a:prstGeom prst="rect">
            <a:avLst/>
          </a:prstGeom>
        </p:spPr>
        <p:txBody>
          <a:bodyPr vert="horz" lIns="91440" tIns="45720" rIns="91440" bIns="45720" rtlCol="0">
            <a:normAutofit fontScale="70000" lnSpcReduction="2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dirty="0"/>
              <a:t>TIN is a data model commonly used to represent terrain heights</a:t>
            </a:r>
          </a:p>
          <a:p>
            <a:pPr lvl="1">
              <a:buFont typeface="Wingdings" panose="05000000000000000000" pitchFamily="2" charset="2"/>
              <a:buChar char="ü"/>
            </a:pPr>
            <a:r>
              <a:rPr lang="en-US" dirty="0"/>
              <a:t>There points are connected such that the smallest triangle possible spans any three adjacent points.</a:t>
            </a:r>
          </a:p>
          <a:p>
            <a:pPr lvl="1">
              <a:buFont typeface="Wingdings" panose="05000000000000000000" pitchFamily="2" charset="2"/>
              <a:buChar char="ü"/>
            </a:pPr>
            <a:r>
              <a:rPr lang="en-US" dirty="0"/>
              <a:t>A trainable is drawn only if the corresponding convergent circle contains no other sampling points </a:t>
            </a:r>
          </a:p>
          <a:p>
            <a:pPr lvl="1">
              <a:buFont typeface="Wingdings" panose="05000000000000000000" pitchFamily="2" charset="2"/>
              <a:buChar char="ü"/>
            </a:pPr>
            <a:r>
              <a:rPr lang="en-US" dirty="0"/>
              <a:t>Higher variable region, more smaller triangles</a:t>
            </a:r>
          </a:p>
          <a:p>
            <a:pPr lvl="1">
              <a:buFont typeface="Wingdings" panose="05000000000000000000" pitchFamily="2" charset="2"/>
              <a:buChar char="ü"/>
            </a:pPr>
            <a:r>
              <a:rPr lang="en-US" dirty="0"/>
              <a:t>Flat region, less but large triangles</a:t>
            </a:r>
          </a:p>
          <a:p>
            <a:pPr lvl="1">
              <a:buFont typeface="Wingdings" panose="05000000000000000000" pitchFamily="2" charset="2"/>
              <a:buChar char="ü"/>
            </a:pPr>
            <a:endParaRPr lang="en-US" dirty="0"/>
          </a:p>
          <a:p>
            <a:pPr marL="0" indent="0">
              <a:buFont typeface="Arial"/>
              <a:buNone/>
            </a:pPr>
            <a:endParaRPr lang="en-US" dirty="0"/>
          </a:p>
        </p:txBody>
      </p:sp>
      <p:pic>
        <p:nvPicPr>
          <p:cNvPr id="13" name="Picture 12" descr="TIN">
            <a:extLst>
              <a:ext uri="{FF2B5EF4-FFF2-40B4-BE49-F238E27FC236}">
                <a16:creationId xmlns:a16="http://schemas.microsoft.com/office/drawing/2014/main" id="{1384CF99-A9C0-4CD5-9221-109057F62A97}"/>
              </a:ext>
            </a:extLst>
          </p:cNvPr>
          <p:cNvPicPr>
            <a:picLocks noChangeAspect="1"/>
          </p:cNvPicPr>
          <p:nvPr/>
        </p:nvPicPr>
        <p:blipFill>
          <a:blip r:embed="rId3"/>
          <a:stretch>
            <a:fillRect/>
          </a:stretch>
        </p:blipFill>
        <p:spPr>
          <a:xfrm>
            <a:off x="3646188" y="1576137"/>
            <a:ext cx="4431012" cy="2767261"/>
          </a:xfrm>
          <a:prstGeom prst="rect">
            <a:avLst/>
          </a:prstGeom>
        </p:spPr>
      </p:pic>
      <p:sp>
        <p:nvSpPr>
          <p:cNvPr id="14" name="TextBox 13">
            <a:extLst>
              <a:ext uri="{FF2B5EF4-FFF2-40B4-BE49-F238E27FC236}">
                <a16:creationId xmlns:a16="http://schemas.microsoft.com/office/drawing/2014/main" id="{B690577A-42E9-436D-90FE-BAE3A05B1F80}"/>
              </a:ext>
            </a:extLst>
          </p:cNvPr>
          <p:cNvSpPr txBox="1"/>
          <p:nvPr/>
        </p:nvSpPr>
        <p:spPr>
          <a:xfrm>
            <a:off x="6405126" y="4798243"/>
            <a:ext cx="111461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
        <p:nvSpPr>
          <p:cNvPr id="2" name="Slide Number Placeholder 1">
            <a:extLst>
              <a:ext uri="{FF2B5EF4-FFF2-40B4-BE49-F238E27FC236}">
                <a16:creationId xmlns:a16="http://schemas.microsoft.com/office/drawing/2014/main" id="{D4B12F72-EFEC-4673-842B-028AE96137BD}"/>
              </a:ext>
            </a:extLst>
          </p:cNvPr>
          <p:cNvSpPr>
            <a:spLocks noGrp="1"/>
          </p:cNvSpPr>
          <p:nvPr>
            <p:ph type="sldNum" sz="quarter" idx="12"/>
          </p:nvPr>
        </p:nvSpPr>
        <p:spPr/>
        <p:txBody>
          <a:bodyPr/>
          <a:lstStyle/>
          <a:p>
            <a:fld id="{127DDC20-79C9-9647-820E-6D40A3D210C3}" type="slidenum">
              <a:rPr lang="en-US" smtClean="0"/>
              <a:pPr/>
              <a:t>36</a:t>
            </a:fld>
            <a:endParaRPr lang="en-US"/>
          </a:p>
        </p:txBody>
      </p:sp>
    </p:spTree>
    <p:extLst>
      <p:ext uri="{BB962C8B-B14F-4D97-AF65-F5344CB8AC3E}">
        <p14:creationId xmlns:p14="http://schemas.microsoft.com/office/powerpoint/2010/main" val="4089332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3B66272-CEF2-4CEC-9A04-AACDCD87440C}"/>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Object Data Model</a:t>
            </a:r>
          </a:p>
        </p:txBody>
      </p:sp>
      <p:cxnSp>
        <p:nvCxnSpPr>
          <p:cNvPr id="10" name="Straight Connector 9">
            <a:extLst>
              <a:ext uri="{FF2B5EF4-FFF2-40B4-BE49-F238E27FC236}">
                <a16:creationId xmlns:a16="http://schemas.microsoft.com/office/drawing/2014/main" id="{2F98180B-87D5-4F8C-8441-7ACF3B73C03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96243F1B-AAB5-4FD3-857F-C206319CD95A}"/>
              </a:ext>
            </a:extLst>
          </p:cNvPr>
          <p:cNvSpPr txBox="1">
            <a:spLocks/>
          </p:cNvSpPr>
          <p:nvPr/>
        </p:nvSpPr>
        <p:spPr>
          <a:xfrm>
            <a:off x="152400" y="1064985"/>
            <a:ext cx="3637547" cy="1810561"/>
          </a:xfrm>
          <a:prstGeom prst="rect">
            <a:avLst/>
          </a:prstGeom>
        </p:spPr>
        <p:txBody>
          <a:bodyPr vert="horz" lIns="91440" tIns="45720" rIns="91440" bIns="45720" rtlCol="0">
            <a:normAutofit fontScale="925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200" dirty="0"/>
              <a:t>Objects are often geographic features, with spatial and attribute data and topological relationship</a:t>
            </a:r>
          </a:p>
          <a:p>
            <a:pPr lvl="1">
              <a:buFont typeface="Wingdings" panose="05000000000000000000" pitchFamily="2" charset="2"/>
              <a:buChar char="ü"/>
            </a:pPr>
            <a:r>
              <a:rPr lang="en-US" sz="1800" dirty="0"/>
              <a:t>A river basin</a:t>
            </a:r>
          </a:p>
          <a:p>
            <a:pPr lvl="1">
              <a:buFont typeface="Wingdings" panose="05000000000000000000" pitchFamily="2" charset="2"/>
              <a:buChar char="ü"/>
            </a:pPr>
            <a:endParaRPr lang="en-US" dirty="0"/>
          </a:p>
          <a:p>
            <a:pPr marL="0" indent="0">
              <a:buFont typeface="Arial"/>
              <a:buNone/>
            </a:pPr>
            <a:endParaRPr lang="en-US" dirty="0"/>
          </a:p>
        </p:txBody>
      </p:sp>
      <p:sp>
        <p:nvSpPr>
          <p:cNvPr id="14" name="TextBox 13">
            <a:extLst>
              <a:ext uri="{FF2B5EF4-FFF2-40B4-BE49-F238E27FC236}">
                <a16:creationId xmlns:a16="http://schemas.microsoft.com/office/drawing/2014/main" id="{B690577A-42E9-436D-90FE-BAE3A05B1F80}"/>
              </a:ext>
            </a:extLst>
          </p:cNvPr>
          <p:cNvSpPr txBox="1"/>
          <p:nvPr/>
        </p:nvSpPr>
        <p:spPr>
          <a:xfrm>
            <a:off x="6405126" y="4798243"/>
            <a:ext cx="111461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pic>
        <p:nvPicPr>
          <p:cNvPr id="3" name="Picture 2" descr="Object data">
            <a:extLst>
              <a:ext uri="{FF2B5EF4-FFF2-40B4-BE49-F238E27FC236}">
                <a16:creationId xmlns:a16="http://schemas.microsoft.com/office/drawing/2014/main" id="{4C812047-1AAC-424E-AB86-C785CB38CA53}"/>
              </a:ext>
            </a:extLst>
          </p:cNvPr>
          <p:cNvPicPr>
            <a:picLocks noChangeAspect="1"/>
          </p:cNvPicPr>
          <p:nvPr/>
        </p:nvPicPr>
        <p:blipFill>
          <a:blip r:embed="rId3"/>
          <a:stretch>
            <a:fillRect/>
          </a:stretch>
        </p:blipFill>
        <p:spPr>
          <a:xfrm>
            <a:off x="3844592" y="1041023"/>
            <a:ext cx="2560534" cy="3971287"/>
          </a:xfrm>
          <a:prstGeom prst="rect">
            <a:avLst/>
          </a:prstGeom>
        </p:spPr>
      </p:pic>
      <p:sp>
        <p:nvSpPr>
          <p:cNvPr id="2" name="Slide Number Placeholder 1">
            <a:extLst>
              <a:ext uri="{FF2B5EF4-FFF2-40B4-BE49-F238E27FC236}">
                <a16:creationId xmlns:a16="http://schemas.microsoft.com/office/drawing/2014/main" id="{55F8FF9D-8D17-42DD-A9AE-35581BB522CB}"/>
              </a:ext>
            </a:extLst>
          </p:cNvPr>
          <p:cNvSpPr>
            <a:spLocks noGrp="1"/>
          </p:cNvSpPr>
          <p:nvPr>
            <p:ph type="sldNum" sz="quarter" idx="12"/>
          </p:nvPr>
        </p:nvSpPr>
        <p:spPr/>
        <p:txBody>
          <a:bodyPr/>
          <a:lstStyle/>
          <a:p>
            <a:fld id="{127DDC20-79C9-9647-820E-6D40A3D210C3}" type="slidenum">
              <a:rPr lang="en-US" smtClean="0"/>
              <a:pPr/>
              <a:t>37</a:t>
            </a:fld>
            <a:endParaRPr lang="en-US"/>
          </a:p>
        </p:txBody>
      </p:sp>
    </p:spTree>
    <p:extLst>
      <p:ext uri="{BB962C8B-B14F-4D97-AF65-F5344CB8AC3E}">
        <p14:creationId xmlns:p14="http://schemas.microsoft.com/office/powerpoint/2010/main" val="2826780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3B66272-CEF2-4CEC-9A04-AACDCD87440C}"/>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3-D Data Model</a:t>
            </a:r>
          </a:p>
        </p:txBody>
      </p:sp>
      <p:cxnSp>
        <p:nvCxnSpPr>
          <p:cNvPr id="10" name="Straight Connector 9">
            <a:extLst>
              <a:ext uri="{FF2B5EF4-FFF2-40B4-BE49-F238E27FC236}">
                <a16:creationId xmlns:a16="http://schemas.microsoft.com/office/drawing/2014/main" id="{2F98180B-87D5-4F8C-8441-7ACF3B73C03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96243F1B-AAB5-4FD3-857F-C206319CD95A}"/>
              </a:ext>
            </a:extLst>
          </p:cNvPr>
          <p:cNvSpPr txBox="1">
            <a:spLocks/>
          </p:cNvSpPr>
          <p:nvPr/>
        </p:nvSpPr>
        <p:spPr>
          <a:xfrm>
            <a:off x="152400" y="1064985"/>
            <a:ext cx="3637547" cy="1810561"/>
          </a:xfrm>
          <a:prstGeom prst="rect">
            <a:avLst/>
          </a:prstGeom>
        </p:spPr>
        <p:txBody>
          <a:bodyPr vert="horz" lIns="91440" tIns="45720" rIns="91440" bIns="45720" rtlCol="0">
            <a:normAutofit fontScale="850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200" dirty="0"/>
              <a:t>Reality mesh combines a three-dimensional triangulated irregular network with an image-based texture surface</a:t>
            </a:r>
          </a:p>
          <a:p>
            <a:pPr lvl="1">
              <a:buFont typeface="Wingdings" panose="05000000000000000000" pitchFamily="2" charset="2"/>
              <a:buChar char="ü"/>
            </a:pPr>
            <a:r>
              <a:rPr lang="en-US" sz="1800" dirty="0"/>
              <a:t>Useful for height-related characteristics, such as building height, roof shapes</a:t>
            </a:r>
          </a:p>
          <a:p>
            <a:pPr lvl="1">
              <a:buFont typeface="Wingdings" panose="05000000000000000000" pitchFamily="2" charset="2"/>
              <a:buChar char="ü"/>
            </a:pPr>
            <a:endParaRPr lang="en-US" dirty="0"/>
          </a:p>
          <a:p>
            <a:pPr marL="0" indent="0">
              <a:buFont typeface="Arial"/>
              <a:buNone/>
            </a:pPr>
            <a:endParaRPr lang="en-US" dirty="0"/>
          </a:p>
        </p:txBody>
      </p:sp>
      <p:sp>
        <p:nvSpPr>
          <p:cNvPr id="14" name="TextBox 13">
            <a:extLst>
              <a:ext uri="{FF2B5EF4-FFF2-40B4-BE49-F238E27FC236}">
                <a16:creationId xmlns:a16="http://schemas.microsoft.com/office/drawing/2014/main" id="{B690577A-42E9-436D-90FE-BAE3A05B1F80}"/>
              </a:ext>
            </a:extLst>
          </p:cNvPr>
          <p:cNvSpPr txBox="1"/>
          <p:nvPr/>
        </p:nvSpPr>
        <p:spPr>
          <a:xfrm>
            <a:off x="6405126" y="4798243"/>
            <a:ext cx="111461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pic>
        <p:nvPicPr>
          <p:cNvPr id="4" name="Picture 3" descr="3D model">
            <a:extLst>
              <a:ext uri="{FF2B5EF4-FFF2-40B4-BE49-F238E27FC236}">
                <a16:creationId xmlns:a16="http://schemas.microsoft.com/office/drawing/2014/main" id="{90040EF6-2C20-4607-8122-FACE8A893B6A}"/>
              </a:ext>
            </a:extLst>
          </p:cNvPr>
          <p:cNvPicPr>
            <a:picLocks noChangeAspect="1"/>
          </p:cNvPicPr>
          <p:nvPr/>
        </p:nvPicPr>
        <p:blipFill>
          <a:blip r:embed="rId3"/>
          <a:stretch>
            <a:fillRect/>
          </a:stretch>
        </p:blipFill>
        <p:spPr>
          <a:xfrm>
            <a:off x="3675200" y="1064986"/>
            <a:ext cx="3519683" cy="3851658"/>
          </a:xfrm>
          <a:prstGeom prst="rect">
            <a:avLst/>
          </a:prstGeom>
        </p:spPr>
      </p:pic>
      <p:sp>
        <p:nvSpPr>
          <p:cNvPr id="2" name="Slide Number Placeholder 1">
            <a:extLst>
              <a:ext uri="{FF2B5EF4-FFF2-40B4-BE49-F238E27FC236}">
                <a16:creationId xmlns:a16="http://schemas.microsoft.com/office/drawing/2014/main" id="{1CC2E75A-4A43-4894-844F-D5B7D7183D93}"/>
              </a:ext>
            </a:extLst>
          </p:cNvPr>
          <p:cNvSpPr>
            <a:spLocks noGrp="1"/>
          </p:cNvSpPr>
          <p:nvPr>
            <p:ph type="sldNum" sz="quarter" idx="12"/>
          </p:nvPr>
        </p:nvSpPr>
        <p:spPr/>
        <p:txBody>
          <a:bodyPr/>
          <a:lstStyle/>
          <a:p>
            <a:fld id="{127DDC20-79C9-9647-820E-6D40A3D210C3}" type="slidenum">
              <a:rPr lang="en-US" smtClean="0"/>
              <a:pPr/>
              <a:t>38</a:t>
            </a:fld>
            <a:endParaRPr lang="en-US"/>
          </a:p>
        </p:txBody>
      </p:sp>
    </p:spTree>
    <p:extLst>
      <p:ext uri="{BB962C8B-B14F-4D97-AF65-F5344CB8AC3E}">
        <p14:creationId xmlns:p14="http://schemas.microsoft.com/office/powerpoint/2010/main" val="176955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39</a:t>
            </a:fld>
            <a:endParaRPr lang="en-US"/>
          </a:p>
        </p:txBody>
      </p:sp>
      <p:pic>
        <p:nvPicPr>
          <p:cNvPr id="6" name="Picture 5">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Week02_Intro_To_GIS</Template>
  <TotalTime>8574</TotalTime>
  <Words>3970</Words>
  <Application>Microsoft Office PowerPoint</Application>
  <PresentationFormat>Custom</PresentationFormat>
  <Paragraphs>500</Paragraphs>
  <Slides>39</Slides>
  <Notes>37</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39</vt:i4>
      </vt:variant>
    </vt:vector>
  </HeadingPairs>
  <TitlesOfParts>
    <vt:vector size="50" baseType="lpstr">
      <vt:lpstr>Arial</vt:lpstr>
      <vt:lpstr>Arial Black</vt:lpstr>
      <vt:lpstr>Calibri</vt:lpstr>
      <vt:lpstr>Cambria Math</vt:lpstr>
      <vt:lpstr>Courier New</vt:lpstr>
      <vt:lpstr>Roboto</vt:lpstr>
      <vt:lpstr>Wingdings</vt:lpstr>
      <vt:lpstr>Wingdings 2</vt:lpstr>
      <vt:lpstr>DividendVTI</vt:lpstr>
      <vt:lpstr>1_DividendVTI</vt:lpstr>
      <vt:lpstr>2_DividendVTI</vt:lpstr>
      <vt:lpstr>WEEK 04  Geospatial Data  lecture</vt:lpstr>
      <vt:lpstr>4.1  Introduction to gis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430</cp:revision>
  <cp:lastPrinted>2020-03-26T12:59:04Z</cp:lastPrinted>
  <dcterms:created xsi:type="dcterms:W3CDTF">2020-03-24T14:51:54Z</dcterms:created>
  <dcterms:modified xsi:type="dcterms:W3CDTF">2025-09-07T17:13:05Z</dcterms:modified>
</cp:coreProperties>
</file>