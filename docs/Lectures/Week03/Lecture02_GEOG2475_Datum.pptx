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77"/>
  </p:notesMasterIdLst>
  <p:sldIdLst>
    <p:sldId id="914" r:id="rId4"/>
    <p:sldId id="915" r:id="rId5"/>
    <p:sldId id="617" r:id="rId6"/>
    <p:sldId id="260" r:id="rId7"/>
    <p:sldId id="281" r:id="rId8"/>
    <p:sldId id="619" r:id="rId9"/>
    <p:sldId id="618" r:id="rId10"/>
    <p:sldId id="604" r:id="rId11"/>
    <p:sldId id="653" r:id="rId12"/>
    <p:sldId id="654" r:id="rId13"/>
    <p:sldId id="655" r:id="rId14"/>
    <p:sldId id="605" r:id="rId15"/>
    <p:sldId id="916" r:id="rId16"/>
    <p:sldId id="637" r:id="rId17"/>
    <p:sldId id="620" r:id="rId18"/>
    <p:sldId id="917" r:id="rId19"/>
    <p:sldId id="638" r:id="rId20"/>
    <p:sldId id="639" r:id="rId21"/>
    <p:sldId id="621" r:id="rId22"/>
    <p:sldId id="636" r:id="rId23"/>
    <p:sldId id="288" r:id="rId24"/>
    <p:sldId id="640" r:id="rId25"/>
    <p:sldId id="295" r:id="rId26"/>
    <p:sldId id="296" r:id="rId27"/>
    <p:sldId id="608" r:id="rId28"/>
    <p:sldId id="622" r:id="rId29"/>
    <p:sldId id="609" r:id="rId30"/>
    <p:sldId id="297" r:id="rId31"/>
    <p:sldId id="641" r:id="rId32"/>
    <p:sldId id="642" r:id="rId33"/>
    <p:sldId id="611" r:id="rId34"/>
    <p:sldId id="623" r:id="rId35"/>
    <p:sldId id="300" r:id="rId36"/>
    <p:sldId id="643" r:id="rId37"/>
    <p:sldId id="299" r:id="rId38"/>
    <p:sldId id="374" r:id="rId39"/>
    <p:sldId id="268" r:id="rId40"/>
    <p:sldId id="644" r:id="rId41"/>
    <p:sldId id="304" r:id="rId42"/>
    <p:sldId id="331" r:id="rId43"/>
    <p:sldId id="633" r:id="rId44"/>
    <p:sldId id="645" r:id="rId45"/>
    <p:sldId id="311" r:id="rId46"/>
    <p:sldId id="375" r:id="rId47"/>
    <p:sldId id="377" r:id="rId48"/>
    <p:sldId id="273" r:id="rId49"/>
    <p:sldId id="272" r:id="rId50"/>
    <p:sldId id="651" r:id="rId51"/>
    <p:sldId id="652" r:id="rId52"/>
    <p:sldId id="330" r:id="rId53"/>
    <p:sldId id="303" r:id="rId54"/>
    <p:sldId id="625" r:id="rId55"/>
    <p:sldId id="305" r:id="rId56"/>
    <p:sldId id="323" r:id="rId57"/>
    <p:sldId id="319" r:id="rId58"/>
    <p:sldId id="333" r:id="rId59"/>
    <p:sldId id="324" r:id="rId60"/>
    <p:sldId id="329" r:id="rId61"/>
    <p:sldId id="308" r:id="rId62"/>
    <p:sldId id="613" r:id="rId63"/>
    <p:sldId id="310" r:id="rId64"/>
    <p:sldId id="276" r:id="rId65"/>
    <p:sldId id="646" r:id="rId66"/>
    <p:sldId id="615" r:id="rId67"/>
    <p:sldId id="635" r:id="rId68"/>
    <p:sldId id="647" r:id="rId69"/>
    <p:sldId id="648" r:id="rId70"/>
    <p:sldId id="649" r:id="rId71"/>
    <p:sldId id="650" r:id="rId72"/>
    <p:sldId id="612" r:id="rId73"/>
    <p:sldId id="312" r:id="rId74"/>
    <p:sldId id="313" r:id="rId75"/>
    <p:sldId id="270" r:id="rId76"/>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32" autoAdjust="0"/>
  </p:normalViewPr>
  <p:slideViewPr>
    <p:cSldViewPr snapToGrid="0" snapToObjects="1">
      <p:cViewPr varScale="1">
        <p:scale>
          <a:sx n="70" d="100"/>
          <a:sy n="70" d="100"/>
        </p:scale>
        <p:origin x="1584" y="66"/>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834EA-327D-45DD-98AB-07FE2DC7700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8FB469D-1A78-42B1-A58E-7A72D53631FC}">
      <dgm:prSet custT="1"/>
      <dgm:spPr/>
      <dgm:t>
        <a:bodyPr/>
        <a:lstStyle/>
        <a:p>
          <a:r>
            <a:rPr lang="en-US" sz="1800" dirty="0"/>
            <a:t>In geodesy, the geoid is an imaginary sea (mean sea level) that covers the entire Earth</a:t>
          </a:r>
        </a:p>
      </dgm:t>
    </dgm:pt>
    <dgm:pt modelId="{0372EF15-20EF-4398-8CCA-179783FAEE2A}" type="parTrans" cxnId="{D93FF82C-5CCD-4CCF-AA77-B252A4248F8A}">
      <dgm:prSet/>
      <dgm:spPr/>
      <dgm:t>
        <a:bodyPr/>
        <a:lstStyle/>
        <a:p>
          <a:endParaRPr lang="en-US"/>
        </a:p>
      </dgm:t>
    </dgm:pt>
    <dgm:pt modelId="{16A2E504-B63D-4959-9132-37DF9F61991C}" type="sibTrans" cxnId="{D93FF82C-5CCD-4CCF-AA77-B252A4248F8A}">
      <dgm:prSet/>
      <dgm:spPr/>
      <dgm:t>
        <a:bodyPr/>
        <a:lstStyle/>
        <a:p>
          <a:endParaRPr lang="en-US"/>
        </a:p>
      </dgm:t>
    </dgm:pt>
    <dgm:pt modelId="{74D99BED-F0EE-4C1E-83AA-904B30C44494}">
      <dgm:prSet custT="1"/>
      <dgm:spPr/>
      <dgm:t>
        <a:bodyPr/>
        <a:lstStyle/>
        <a:p>
          <a:r>
            <a:rPr lang="en-US" sz="1800" dirty="0"/>
            <a:t>It is not affected by wind, waves, the Moon, or forces other than Earth’s gravity. .</a:t>
          </a:r>
        </a:p>
      </dgm:t>
    </dgm:pt>
    <dgm:pt modelId="{9D6A5FC4-6686-41F4-AE44-19FC36C9B09C}" type="parTrans" cxnId="{9557528C-F2D5-4B77-AE4C-96C485E4791A}">
      <dgm:prSet/>
      <dgm:spPr/>
      <dgm:t>
        <a:bodyPr/>
        <a:lstStyle/>
        <a:p>
          <a:endParaRPr lang="en-US"/>
        </a:p>
      </dgm:t>
    </dgm:pt>
    <dgm:pt modelId="{EAA11220-777B-4B22-9E15-25F09C8809C5}" type="sibTrans" cxnId="{9557528C-F2D5-4B77-AE4C-96C485E4791A}">
      <dgm:prSet/>
      <dgm:spPr/>
      <dgm:t>
        <a:bodyPr/>
        <a:lstStyle/>
        <a:p>
          <a:endParaRPr lang="en-US"/>
        </a:p>
      </dgm:t>
    </dgm:pt>
    <dgm:pt modelId="{2722C20B-E4A0-4060-83C2-C2780A959189}" type="pres">
      <dgm:prSet presAssocID="{135834EA-327D-45DD-98AB-07FE2DC7700D}" presName="linear" presStyleCnt="0">
        <dgm:presLayoutVars>
          <dgm:animLvl val="lvl"/>
          <dgm:resizeHandles val="exact"/>
        </dgm:presLayoutVars>
      </dgm:prSet>
      <dgm:spPr/>
    </dgm:pt>
    <dgm:pt modelId="{72651F47-2E3D-48D3-A8C3-C7C5FD7AA023}" type="pres">
      <dgm:prSet presAssocID="{48FB469D-1A78-42B1-A58E-7A72D53631FC}" presName="parentText" presStyleLbl="node1" presStyleIdx="0" presStyleCnt="2">
        <dgm:presLayoutVars>
          <dgm:chMax val="0"/>
          <dgm:bulletEnabled val="1"/>
        </dgm:presLayoutVars>
      </dgm:prSet>
      <dgm:spPr/>
    </dgm:pt>
    <dgm:pt modelId="{4204E0B9-2EE3-4606-BB7A-545E4E5E4E72}" type="pres">
      <dgm:prSet presAssocID="{16A2E504-B63D-4959-9132-37DF9F61991C}" presName="spacer" presStyleCnt="0"/>
      <dgm:spPr/>
    </dgm:pt>
    <dgm:pt modelId="{79BF11A6-FC7E-4A9F-BE12-DF944A6D0F75}" type="pres">
      <dgm:prSet presAssocID="{74D99BED-F0EE-4C1E-83AA-904B30C44494}" presName="parentText" presStyleLbl="node1" presStyleIdx="1" presStyleCnt="2">
        <dgm:presLayoutVars>
          <dgm:chMax val="0"/>
          <dgm:bulletEnabled val="1"/>
        </dgm:presLayoutVars>
      </dgm:prSet>
      <dgm:spPr/>
    </dgm:pt>
  </dgm:ptLst>
  <dgm:cxnLst>
    <dgm:cxn modelId="{D93FF82C-5CCD-4CCF-AA77-B252A4248F8A}" srcId="{135834EA-327D-45DD-98AB-07FE2DC7700D}" destId="{48FB469D-1A78-42B1-A58E-7A72D53631FC}" srcOrd="0" destOrd="0" parTransId="{0372EF15-20EF-4398-8CCA-179783FAEE2A}" sibTransId="{16A2E504-B63D-4959-9132-37DF9F61991C}"/>
    <dgm:cxn modelId="{30593446-2127-41F1-8381-6E433AB08620}" type="presOf" srcId="{74D99BED-F0EE-4C1E-83AA-904B30C44494}" destId="{79BF11A6-FC7E-4A9F-BE12-DF944A6D0F75}" srcOrd="0" destOrd="0" presId="urn:microsoft.com/office/officeart/2005/8/layout/vList2"/>
    <dgm:cxn modelId="{9557528C-F2D5-4B77-AE4C-96C485E4791A}" srcId="{135834EA-327D-45DD-98AB-07FE2DC7700D}" destId="{74D99BED-F0EE-4C1E-83AA-904B30C44494}" srcOrd="1" destOrd="0" parTransId="{9D6A5FC4-6686-41F4-AE44-19FC36C9B09C}" sibTransId="{EAA11220-777B-4B22-9E15-25F09C8809C5}"/>
    <dgm:cxn modelId="{DA8F798D-0DAB-4E5A-9EC7-117B5278C727}" type="presOf" srcId="{135834EA-327D-45DD-98AB-07FE2DC7700D}" destId="{2722C20B-E4A0-4060-83C2-C2780A959189}" srcOrd="0" destOrd="0" presId="urn:microsoft.com/office/officeart/2005/8/layout/vList2"/>
    <dgm:cxn modelId="{5481CCED-8C8C-4440-AF4A-F44135705F94}" type="presOf" srcId="{48FB469D-1A78-42B1-A58E-7A72D53631FC}" destId="{72651F47-2E3D-48D3-A8C3-C7C5FD7AA023}" srcOrd="0" destOrd="0" presId="urn:microsoft.com/office/officeart/2005/8/layout/vList2"/>
    <dgm:cxn modelId="{5742ABAF-BBCB-4586-9CEA-F18D464D5C0D}" type="presParOf" srcId="{2722C20B-E4A0-4060-83C2-C2780A959189}" destId="{72651F47-2E3D-48D3-A8C3-C7C5FD7AA023}" srcOrd="0" destOrd="0" presId="urn:microsoft.com/office/officeart/2005/8/layout/vList2"/>
    <dgm:cxn modelId="{7E79F552-C376-4919-BC0C-E68E740C7593}" type="presParOf" srcId="{2722C20B-E4A0-4060-83C2-C2780A959189}" destId="{4204E0B9-2EE3-4606-BB7A-545E4E5E4E72}" srcOrd="1" destOrd="0" presId="urn:microsoft.com/office/officeart/2005/8/layout/vList2"/>
    <dgm:cxn modelId="{0A266720-0B79-4A69-952E-8B4C7AE98C5E}" type="presParOf" srcId="{2722C20B-E4A0-4060-83C2-C2780A959189}" destId="{79BF11A6-FC7E-4A9F-BE12-DF944A6D0F75}"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651F47-2E3D-48D3-A8C3-C7C5FD7AA023}">
      <dsp:nvSpPr>
        <dsp:cNvPr id="0" name=""/>
        <dsp:cNvSpPr/>
      </dsp:nvSpPr>
      <dsp:spPr>
        <a:xfrm>
          <a:off x="0" y="5199"/>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In geodesy, the geoid is an imaginary sea (mean sea level) that covers the entire Earth</a:t>
          </a:r>
        </a:p>
      </dsp:txBody>
      <dsp:txXfrm>
        <a:off x="58485" y="63684"/>
        <a:ext cx="4549301" cy="1081110"/>
      </dsp:txXfrm>
    </dsp:sp>
    <dsp:sp modelId="{79BF11A6-FC7E-4A9F-BE12-DF944A6D0F75}">
      <dsp:nvSpPr>
        <dsp:cNvPr id="0" name=""/>
        <dsp:cNvSpPr/>
      </dsp:nvSpPr>
      <dsp:spPr>
        <a:xfrm>
          <a:off x="0" y="1387600"/>
          <a:ext cx="4666271" cy="119808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It is not affected by wind, waves, the Moon, or forces other than Earth’s gravity. .</a:t>
          </a:r>
        </a:p>
      </dsp:txBody>
      <dsp:txXfrm>
        <a:off x="58485" y="1446085"/>
        <a:ext cx="4549301" cy="10811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8/29/2025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community.trimble.com/community/find-answers/mapping-and-gis-solutions-community/blog/2020/04/04/orthometric-heights-with-trimble-gnss-esri-collector-part-1-of-4"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8" Type="http://schemas.openxmlformats.org/officeDocument/2006/relationships/hyperlink" Target="https://en.wikipedia.org/wiki/Magnetic_north" TargetMode="External"/><Relationship Id="rId3" Type="http://schemas.openxmlformats.org/officeDocument/2006/relationships/hyperlink" Target="https://en.wikipedia.org/wiki/Help:IPA/English" TargetMode="External"/><Relationship Id="rId7" Type="http://schemas.openxmlformats.org/officeDocument/2006/relationships/hyperlink" Target="https://en.wikipedia.org/wiki/True_north"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s://en.wikipedia.org/wiki/Bearing_(navigation)" TargetMode="External"/><Relationship Id="rId5" Type="http://schemas.openxmlformats.org/officeDocument/2006/relationships/hyperlink" Target="https://en.wikipedia.org/wiki/Longitude" TargetMode="External"/><Relationship Id="rId4" Type="http://schemas.openxmlformats.org/officeDocument/2006/relationships/hyperlink" Target="https://en.wikipedia.org/wiki/Meridian_(geography)"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65.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66.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67.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68.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38280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All spatial data must be referenced to the surface of the Earth so that they draw at the correct location in the map space. </a:t>
            </a:r>
          </a:p>
          <a:p>
            <a:endParaRPr lang="en-US" baseline="0" dirty="0"/>
          </a:p>
          <a:p>
            <a:r>
              <a:rPr lang="en-US" baseline="0" dirty="0"/>
              <a:t>This means that we need models of the Earth to which we can reference maps and data. </a:t>
            </a:r>
          </a:p>
          <a:p>
            <a:endParaRPr lang="en-US" baseline="0" dirty="0"/>
          </a:p>
          <a:p>
            <a:r>
              <a:rPr lang="en-US" baseline="0" dirty="0"/>
              <a:t>This is a component of the science of geodesy, which relates to measuring the Earth’s shape and positions on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410342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103118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
            </a:r>
            <a:r>
              <a:rPr lang="en-US" baseline="0" dirty="0"/>
              <a:t> begin, the Earth is not a perfect sphere. Instead, it is an oblate spheroid. </a:t>
            </a:r>
          </a:p>
          <a:p>
            <a:endParaRPr lang="en-US" baseline="0" dirty="0"/>
          </a:p>
          <a:p>
            <a:r>
              <a:rPr lang="en-US" baseline="0" dirty="0"/>
              <a:t>It is wider than it is tall. Or, the circumference of the equator is longer than the circumference of the prime meridian or any meridian. </a:t>
            </a:r>
          </a:p>
          <a:p>
            <a:endParaRPr lang="en-US" baseline="0" dirty="0"/>
          </a:p>
          <a:p>
            <a:r>
              <a:rPr lang="en-US" baseline="0" dirty="0"/>
              <a:t>This results from the centrifugal forces arising from the planet’s rotation. </a:t>
            </a:r>
          </a:p>
          <a:p>
            <a:endParaRPr lang="en-US" baseline="0" dirty="0"/>
          </a:p>
          <a:p>
            <a:r>
              <a:rPr lang="en-US" baseline="0" dirty="0"/>
              <a:t>Further, mass is not evenly distributed throughout the Earth. </a:t>
            </a:r>
          </a:p>
          <a:p>
            <a:endParaRPr lang="en-US" baseline="0" dirty="0"/>
          </a:p>
          <a:p>
            <a:r>
              <a:rPr lang="en-US" baseline="0" dirty="0"/>
              <a:t>So, the Earth is actually a fairly irregular shape, which results in complexity in regards to producing reference systems by which to reference our maps and data against it.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58738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model the Earth,</a:t>
            </a:r>
            <a:r>
              <a:rPr lang="en-US" baseline="0" dirty="0"/>
              <a:t> simplification is required. </a:t>
            </a:r>
          </a:p>
          <a:p>
            <a:endParaRPr lang="en-US" baseline="0" dirty="0"/>
          </a:p>
          <a:p>
            <a:r>
              <a:rPr lang="en-US" baseline="0" dirty="0"/>
              <a:t>The true Earth surface need to be generalized. First, it is generalized to a geoid. </a:t>
            </a:r>
          </a:p>
          <a:p>
            <a:endParaRPr lang="en-US" baseline="0" dirty="0"/>
          </a:p>
          <a:p>
            <a:r>
              <a:rPr lang="en-US" baseline="0" dirty="0"/>
              <a:t>This is further simplified to an ellipsoid. </a:t>
            </a:r>
          </a:p>
          <a:p>
            <a:endParaRPr lang="en-US" baseline="0" dirty="0"/>
          </a:p>
          <a:p>
            <a:r>
              <a:rPr lang="en-US" baseline="0" dirty="0"/>
              <a:t>We will explore these concepts now.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53068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geoid models the distribution of mass across the Earth, which is not uniform. The Earth is a bumpy surface. </a:t>
            </a:r>
          </a:p>
          <a:p>
            <a:endParaRPr lang="en-US" baseline="0" dirty="0"/>
          </a:p>
          <a:p>
            <a:r>
              <a:rPr lang="en-US" baseline="0" dirty="0"/>
              <a:t>This is partially accomplished by measuring gravitational forces across the globe. </a:t>
            </a:r>
          </a:p>
          <a:p>
            <a:endParaRPr lang="en-US" baseline="0" dirty="0"/>
          </a:p>
          <a:p>
            <a:r>
              <a:rPr lang="en-US" baseline="0" dirty="0"/>
              <a:t>A conceptualization of the geoid is a globe that is fully covered by water or has no continental masses.</a:t>
            </a:r>
          </a:p>
          <a:p>
            <a:endParaRPr lang="en-US" baseline="0" dirty="0"/>
          </a:p>
          <a:p>
            <a:r>
              <a:rPr lang="en-US" baseline="0" dirty="0"/>
              <a:t>Because there are differences in mass and gravitational forces across the globe, the water surface would not be smooth. </a:t>
            </a:r>
          </a:p>
          <a:p>
            <a:endParaRPr lang="en-US" baseline="0" dirty="0"/>
          </a:p>
          <a:p>
            <a:r>
              <a:rPr lang="en-US" baseline="0" dirty="0"/>
              <a:t>Instead, it would be a smoothly undulating shape.</a:t>
            </a:r>
          </a:p>
          <a:p>
            <a:endParaRPr lang="en-US" baseline="0" dirty="0"/>
          </a:p>
          <a:p>
            <a:r>
              <a:rPr lang="en-US" baseline="0" dirty="0"/>
              <a:t>This smoothly undulating shape that takes into account the distribution of mass is called the geoid. </a:t>
            </a:r>
          </a:p>
          <a:p>
            <a:endParaRPr lang="en-US" baseline="0" dirty="0"/>
          </a:p>
          <a:p>
            <a:r>
              <a:rPr lang="en-US" baseline="0" dirty="0"/>
              <a:t>The geoid surface can them be used as a reference for zero elevation.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98301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geoid</a:t>
            </a:r>
            <a:r>
              <a:rPr lang="en-US" baseline="0" dirty="0"/>
              <a:t> is still a complex shape that cannot be modeled with a simple mathematical equation. </a:t>
            </a:r>
          </a:p>
          <a:p>
            <a:endParaRPr lang="en-US" baseline="0" dirty="0"/>
          </a:p>
          <a:p>
            <a:r>
              <a:rPr lang="en-US" baseline="0" dirty="0"/>
              <a:t>So, it is further simplified to an ellipsoid or spheroid model of the Earth. </a:t>
            </a:r>
          </a:p>
          <a:p>
            <a:endParaRPr lang="en-US" baseline="0" dirty="0"/>
          </a:p>
          <a:p>
            <a:r>
              <a:rPr lang="en-US" baseline="0" dirty="0"/>
              <a:t>This is a mathematical model that approximates the geoid as a smooth surface. Basically, this is a 3D ellipse. </a:t>
            </a:r>
          </a:p>
          <a:p>
            <a:endParaRPr lang="en-US" baseline="0" dirty="0"/>
          </a:p>
          <a:p>
            <a:r>
              <a:rPr lang="en-US" baseline="0" dirty="0"/>
              <a:t>Combining this model with ground survey data allows us to produce </a:t>
            </a:r>
            <a:r>
              <a:rPr lang="en-US" baseline="0" dirty="0" err="1"/>
              <a:t>datums</a:t>
            </a:r>
            <a:r>
              <a:rPr lang="en-US" baseline="0" dirty="0"/>
              <a:t>. </a:t>
            </a:r>
          </a:p>
          <a:p>
            <a:endParaRPr lang="en-US" baseline="0" dirty="0"/>
          </a:p>
          <a:p>
            <a:r>
              <a:rPr lang="en-US" baseline="0" dirty="0"/>
              <a:t>These </a:t>
            </a:r>
            <a:r>
              <a:rPr lang="en-US" baseline="0" dirty="0" err="1"/>
              <a:t>datums</a:t>
            </a:r>
            <a:r>
              <a:rPr lang="en-US" baseline="0" dirty="0"/>
              <a:t> serve as the reference systems by which we represent locations on Earth’s surface. </a:t>
            </a:r>
          </a:p>
          <a:p>
            <a:endParaRPr lang="en-US" baseline="0" dirty="0"/>
          </a:p>
          <a:p>
            <a:r>
              <a:rPr lang="en-US" baseline="0" dirty="0"/>
              <a:t>Our map and geospatial data will be referenced to one of these models.</a:t>
            </a:r>
          </a:p>
          <a:p>
            <a:endParaRPr lang="en-US" baseline="0" dirty="0"/>
          </a:p>
          <a:p>
            <a:r>
              <a:rPr lang="en-US" b="0" i="0" dirty="0">
                <a:solidFill>
                  <a:srgbClr val="000000"/>
                </a:solidFill>
                <a:effectLst/>
                <a:latin typeface="Times New Roman" panose="02020603050405020304" pitchFamily="18" charset="0"/>
              </a:rPr>
              <a:t>The arc lengths may be measured by surface surveys, and the angles from astronomical observations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38182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NGS (National Geodetic Survey),Triangulation survey</a:t>
            </a:r>
          </a:p>
          <a:p>
            <a:r>
              <a:rPr lang="en-US" dirty="0"/>
              <a:t>For the most of the past 150 years, the most accurate observations were referenced to the Sun, stars, or other celestial bodies</a:t>
            </a:r>
          </a:p>
          <a:p>
            <a:r>
              <a:rPr lang="en-US" dirty="0"/>
              <a:t>Every few years</a:t>
            </a:r>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2044195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a:t>
            </a:r>
            <a:r>
              <a:rPr lang="en-US" baseline="0" dirty="0"/>
              <a:t> datums by which we reference are horizontal measurements or coordinates on the Earth. </a:t>
            </a:r>
          </a:p>
          <a:p>
            <a:endParaRPr lang="en-US" baseline="0" dirty="0"/>
          </a:p>
          <a:p>
            <a:r>
              <a:rPr lang="en-US" baseline="0" dirty="0"/>
              <a:t>Examples include the North American Datum of 1927 (or NAD27), the North American Datum of 1983 (or NAD83), and the World Geodetic System of 1984 (or WGS83).</a:t>
            </a:r>
          </a:p>
          <a:p>
            <a:endParaRPr lang="en-US" baseline="0" dirty="0"/>
          </a:p>
          <a:p>
            <a:r>
              <a:rPr lang="en-US" baseline="0" dirty="0"/>
              <a:t>In North America, it is common to reference data against NAD83 or WGS84. </a:t>
            </a:r>
          </a:p>
          <a:p>
            <a:endParaRPr lang="en-US" baseline="0" dirty="0"/>
          </a:p>
          <a:p>
            <a:r>
              <a:rPr lang="en-US" baseline="0" dirty="0"/>
              <a:t>Global Navigation Satellite Systems, or GNSS, often make use of WGS84 as a worldwide datum.</a:t>
            </a:r>
          </a:p>
          <a:p>
            <a:endParaRPr lang="en-US" baseline="0" dirty="0"/>
          </a:p>
          <a:p>
            <a:r>
              <a:rPr lang="en-US" baseline="0" dirty="0"/>
              <a:t>Again, think of these as different models of the Earth, all of which are simplifications. </a:t>
            </a:r>
          </a:p>
          <a:p>
            <a:endParaRPr lang="en-US" baseline="0" dirty="0"/>
          </a:p>
          <a:p>
            <a:r>
              <a:rPr lang="en-US" baseline="0" dirty="0"/>
              <a:t>The </a:t>
            </a:r>
            <a:r>
              <a:rPr lang="en-US" baseline="0" dirty="0" err="1"/>
              <a:t>HARN</a:t>
            </a:r>
            <a:r>
              <a:rPr lang="en-US" baseline="0" dirty="0"/>
              <a:t> and subsequent </a:t>
            </a:r>
            <a:r>
              <a:rPr lang="en-US" baseline="0" dirty="0" err="1"/>
              <a:t>NAD83</a:t>
            </a:r>
            <a:r>
              <a:rPr lang="en-US" baseline="0" dirty="0"/>
              <a:t> adjustments are largely satellite-based, including </a:t>
            </a:r>
            <a:r>
              <a:rPr lang="en-US" baseline="0" dirty="0" err="1"/>
              <a:t>WGS84</a:t>
            </a:r>
            <a:r>
              <a:rPr lang="en-US" baseline="0" dirty="0"/>
              <a:t> and </a:t>
            </a:r>
            <a:r>
              <a:rPr lang="en-US" baseline="0" dirty="0" err="1"/>
              <a:t>ITRF</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3333175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Tectonic movement, crustal deformation</a:t>
            </a:r>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513487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231F20"/>
                </a:solidFill>
                <a:latin typeface="Sabon-Roman"/>
              </a:rPr>
              <a:t>Orthometric heights are important, because these are the type of height found on innumerable topographic maps and in paper and digital data sets.</a:t>
            </a:r>
          </a:p>
          <a:p>
            <a:pPr algn="l"/>
            <a:endParaRPr lang="en-US" sz="1800" b="0" i="0" u="none" strike="noStrike" baseline="0" dirty="0">
              <a:solidFill>
                <a:srgbClr val="231F20"/>
              </a:solidFill>
              <a:latin typeface="Sabon-Roman"/>
            </a:endParaRPr>
          </a:p>
          <a:p>
            <a:pPr algn="l"/>
            <a:r>
              <a:rPr lang="en-US" dirty="0">
                <a:hlinkClick r:id="rId3"/>
              </a:rPr>
              <a:t>https://community.trimble.com/community/find-answers/mapping-and-gis-solutions-community/blog/2020/04/04/orthometric-heights-with-trimble-gnss-esri-collector-part-1-of-4</a:t>
            </a:r>
            <a:endParaRPr lang="en-US" dirty="0"/>
          </a:p>
          <a:p>
            <a:pPr algn="l"/>
            <a:endParaRPr lang="en-US" dirty="0"/>
          </a:p>
          <a:p>
            <a:r>
              <a:rPr lang="en-US" dirty="0"/>
              <a:t>There are separate vertical datums that</a:t>
            </a:r>
            <a:r>
              <a:rPr lang="en-US" baseline="0" dirty="0"/>
              <a:t> height or elevation measurements are referenced to. </a:t>
            </a:r>
            <a:endParaRPr lang="en-US" dirty="0"/>
          </a:p>
          <a:p>
            <a:endParaRPr lang="en-US" dirty="0"/>
          </a:p>
          <a:p>
            <a:r>
              <a:rPr lang="en-US" dirty="0"/>
              <a:t>Further, elevations can be referenced against an ellipsoid model of the Earth or a geoid</a:t>
            </a:r>
            <a:r>
              <a:rPr lang="en-US" baseline="0" dirty="0"/>
              <a:t> model. </a:t>
            </a:r>
          </a:p>
          <a:p>
            <a:endParaRPr lang="en-US" baseline="0" dirty="0"/>
          </a:p>
          <a:p>
            <a:r>
              <a:rPr lang="en-US" baseline="0" dirty="0"/>
              <a:t>Elevations referenced to a geoid are called orthometric heights whereas those referenced against an ellipsoid are called ellipsoidal heights. </a:t>
            </a:r>
          </a:p>
          <a:p>
            <a:endParaRPr lang="en-US" baseline="0" dirty="0"/>
          </a:p>
          <a:p>
            <a:r>
              <a:rPr lang="en-US" baseline="0" dirty="0"/>
              <a:t>N represents the difference between the orthometric and ellipsoidal heights at a location. </a:t>
            </a:r>
          </a:p>
          <a:p>
            <a:endParaRPr lang="en-US" baseline="0" dirty="0"/>
          </a:p>
          <a:p>
            <a:r>
              <a:rPr lang="en-US" baseline="0" dirty="0"/>
              <a:t>N varies based on the location on the Earth and the orthometric and ellipsoidal models used. Sometimes the ellipsoidal height is higher than the orthometric height and sometimes the orthometric height is higher. </a:t>
            </a:r>
          </a:p>
          <a:p>
            <a:endParaRPr lang="en-US" baseline="0" dirty="0"/>
          </a:p>
          <a:p>
            <a:r>
              <a:rPr lang="en-US" baseline="0" dirty="0"/>
              <a:t>When comparing elevation measurements, you should make sure that either orthometric or ellipsoidal heights are used for all surfaces so that this difference does not invalidate the comparison. </a:t>
            </a:r>
          </a:p>
          <a:p>
            <a:endParaRPr lang="en-US" baseline="0" dirty="0"/>
          </a:p>
          <a:p>
            <a:r>
              <a:rPr lang="en-US" baseline="0" dirty="0"/>
              <a:t>Orthometric heights have replaced our elevations above mean sea level because, as mentioned earlier, modern vertical heights are referenced to a geoid.</a:t>
            </a:r>
          </a:p>
          <a:p>
            <a:endParaRPr lang="en-US" baseline="0" dirty="0"/>
          </a:p>
          <a:p>
            <a:r>
              <a:rPr lang="en-US" baseline="0" dirty="0"/>
              <a:t>We most often combine models of geoidal height with measurements of ellipsoidal height to establish orthometric heights.</a:t>
            </a:r>
            <a:endParaRPr lang="en-US" dirty="0"/>
          </a:p>
          <a:p>
            <a:pPr algn="l"/>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4225526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In north America, we no longer use mean sea level as a base for orthometric heights (elevation); except for specific projections near the seashore, as mean sea level varies too much in time and space due to solar and lunar cycles, water density with temperature, salinity, and ocean currents</a:t>
            </a:r>
          </a:p>
          <a:p>
            <a:pPr algn="l"/>
            <a:endParaRPr lang="en-US" dirty="0"/>
          </a:p>
          <a:p>
            <a:pPr algn="l"/>
            <a:r>
              <a:rPr lang="en-US" dirty="0"/>
              <a:t>This height difference is measured relative to the ellipsoid. </a:t>
            </a:r>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72636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57932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vertical </a:t>
            </a:r>
            <a:r>
              <a:rPr lang="en-US" baseline="0" dirty="0" err="1"/>
              <a:t>datums</a:t>
            </a:r>
            <a:r>
              <a:rPr lang="en-US" baseline="0" dirty="0"/>
              <a:t> in North America include the National Geodetic Vertical Datum of 1929 (NGVD29) and the more recent North American Vertical Datum of 1988 (NAVD88).</a:t>
            </a:r>
          </a:p>
          <a:p>
            <a:endParaRPr lang="en-US" baseline="0" dirty="0"/>
          </a:p>
          <a:p>
            <a:r>
              <a:rPr lang="en-US" baseline="0" dirty="0"/>
              <a:t>As technologies advance, updated versions of horizontal and vertical datums will be released. </a:t>
            </a:r>
          </a:p>
          <a:p>
            <a:endParaRPr lang="en-US" baseline="0" dirty="0"/>
          </a:p>
          <a:p>
            <a:r>
              <a:rPr lang="en-US" b="0" i="0" dirty="0">
                <a:solidFill>
                  <a:srgbClr val="333333"/>
                </a:solidFill>
                <a:effectLst/>
                <a:latin typeface="Helvetica Neue"/>
              </a:rPr>
              <a:t>GEOID18 is intended for use with coordinates in the North American Datum of 1983 (2011) [NAD 83 (2011) epoch 2010.00]. It provides orthometric heights consistent with the North American Vertical Datum of 1988 (NAVD 88), the Puerto Rico Vertical Datum of 2002 (PRVD02), or the Virgin Islands Vertical Datum of 2009 (VIVD09).</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837886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 and sometimes</a:t>
            </a:r>
            <a:r>
              <a:rPr lang="en-US" baseline="0" dirty="0"/>
              <a:t> </a:t>
            </a:r>
            <a:r>
              <a:rPr lang="en-US" dirty="0"/>
              <a:t>projection</a:t>
            </a:r>
            <a:r>
              <a:rPr lang="en-US" baseline="0" dirty="0"/>
              <a:t> information are associated with maps and geospatial data layers. </a:t>
            </a:r>
          </a:p>
          <a:p>
            <a:endParaRPr lang="en-US" baseline="0" dirty="0"/>
          </a:p>
          <a:p>
            <a:r>
              <a:rPr lang="en-US" baseline="0" dirty="0"/>
              <a:t>In ArcGIS Pro, datum and projection information for a layer can be found in the Source tab. </a:t>
            </a:r>
          </a:p>
          <a:p>
            <a:endParaRPr lang="en-US" baseline="0" dirty="0"/>
          </a:p>
          <a:p>
            <a:r>
              <a:rPr lang="en-US" baseline="0" dirty="0"/>
              <a:t>We will talk about projections later in this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428449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Coordinates</a:t>
            </a:r>
            <a:r>
              <a:rPr lang="en-US" baseline="0" dirty="0"/>
              <a:t> on Earth are measured in degree units relative to the center of the Earth. </a:t>
            </a:r>
          </a:p>
          <a:p>
            <a:endParaRPr lang="en-US" baseline="0" dirty="0"/>
          </a:p>
          <a:p>
            <a:r>
              <a:rPr lang="en-US" baseline="0" dirty="0"/>
              <a:t>Latitude is measures as an angle of rise relative to the center of the Earth while longitude represents angles of rotation around the center of the Earth. </a:t>
            </a:r>
          </a:p>
          <a:p>
            <a:endParaRPr lang="en-US" baseline="0" dirty="0"/>
          </a:p>
          <a:p>
            <a:r>
              <a:rPr lang="en-US" baseline="0" dirty="0"/>
              <a:t>Note that it is not easy to make measures of distance using lengths on a spherical surface.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3376227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Latitude measures north to south or up and down. There are 90° of latitude in each hemisphere.</a:t>
            </a:r>
            <a:r>
              <a:rPr lang="en-US" baseline="0" dirty="0"/>
              <a:t> The value increases as you move north or south relative to the equator. The equator has a latitude of </a:t>
            </a:r>
            <a:r>
              <a:rPr lang="en-US" dirty="0"/>
              <a:t>0° and</a:t>
            </a:r>
            <a:r>
              <a:rPr lang="en-US" baseline="0" dirty="0"/>
              <a:t> the poles have a latitude of </a:t>
            </a:r>
            <a:r>
              <a:rPr lang="en-US" dirty="0"/>
              <a:t>90°.</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2762027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Longitude</a:t>
            </a:r>
            <a:r>
              <a:rPr lang="en-US" baseline="0" dirty="0"/>
              <a:t> measures east to west or side to side. There are </a:t>
            </a:r>
            <a:r>
              <a:rPr lang="en-US" sz="1200" dirty="0"/>
              <a:t>180° of longitude in each hemisphere, east and west.</a:t>
            </a:r>
            <a:r>
              <a:rPr lang="en-US" sz="1200" baseline="0" dirty="0"/>
              <a:t> Longitude increases has you move west in the western hemisphere and increase as you move east in the eastern hemisphere. </a:t>
            </a:r>
            <a:r>
              <a:rPr lang="en-US" sz="1200" dirty="0"/>
              <a:t>0°</a:t>
            </a:r>
            <a:r>
              <a:rPr lang="en-US" sz="1200" baseline="0" dirty="0"/>
              <a:t> longitude is refined relative to the prime meridian which passes through Greenwich, England.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It makes sense to use the equator to represent 0° latitude.</a:t>
            </a:r>
            <a:r>
              <a:rPr lang="en-US" sz="1200" baseline="0" dirty="0"/>
              <a:t> The </a:t>
            </a:r>
            <a:r>
              <a:rPr lang="en-US" sz="1200" dirty="0"/>
              <a:t>0° reference for longitude</a:t>
            </a:r>
            <a:r>
              <a:rPr lang="en-US" sz="1200" baseline="0" dirty="0"/>
              <a:t> is somewhat arbitrary.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We can specify the northern or southern hemispheres for latitude by including an “N” or “S” with the measurements. For longitude, we can use “E” or “W”.</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In software, this can be problematic due to the mix of numbers and letters. So, instead we tend to use positive angles to represent the northern or eastern hemispheres and negative angles to represent the southern or western hemispheres.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Coordinates referenced to a datum representing the 3D Earth or globe are known as geographic coordinate systems as opposed to projected coordinate systems, which will be discussed later.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6081886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degree of latitude or longitude can be a large distance. So, in order to provide precise measurements, we need to be able to further divide degrees into smaller units. </a:t>
            </a:r>
          </a:p>
          <a:p>
            <a:endParaRPr lang="en-US" baseline="0" dirty="0"/>
          </a:p>
          <a:p>
            <a:r>
              <a:rPr lang="en-US" baseline="0" dirty="0"/>
              <a:t>A degree can be divided into minutes and second, similar to an hour on a clock. </a:t>
            </a:r>
          </a:p>
          <a:p>
            <a:endParaRPr lang="en-US" baseline="0" dirty="0"/>
          </a:p>
          <a:p>
            <a:r>
              <a:rPr lang="en-US" baseline="0" dirty="0"/>
              <a:t>1 degree equals 60 minutes or 3600 seconds. </a:t>
            </a:r>
          </a:p>
          <a:p>
            <a:endParaRPr lang="en-US" baseline="0" dirty="0"/>
          </a:p>
          <a:p>
            <a:r>
              <a:rPr lang="en-US" baseline="0" dirty="0"/>
              <a:t>We can also use decimal degrees as opposed to minutes and seconds. </a:t>
            </a:r>
          </a:p>
          <a:p>
            <a:endParaRPr lang="en-US" baseline="0" dirty="0"/>
          </a:p>
          <a:p>
            <a:r>
              <a:rPr lang="en-US" baseline="0" dirty="0"/>
              <a:t>It is possible to convert between degrees, minutes, and second and degrees and decimal degrees.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796412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a:t>
            </a:r>
            <a:r>
              <a:rPr lang="en-US" baseline="0" dirty="0"/>
              <a:t> are some advantages to modeling the Earth as a 3D globe. First, this is an accurate representation in which map features and latitude and longitude lines can be plotted without distortion.</a:t>
            </a:r>
          </a:p>
          <a:p>
            <a:endParaRPr lang="en-US" baseline="0" dirty="0"/>
          </a:p>
          <a:p>
            <a:r>
              <a:rPr lang="en-US" baseline="0" dirty="0"/>
              <a:t>However, there are some disadvantages. Making globes can be expensive. They are also cumbersome to handle and store. It is also not easy to make distance measurements on the curved surface of the globe. Duo to the 3D nature of a globe, it is not possible to view the entirety of Earth’s surface from a single vantage point. </a:t>
            </a:r>
          </a:p>
          <a:p>
            <a:endParaRPr lang="en-US" baseline="0" dirty="0"/>
          </a:p>
          <a:p>
            <a:r>
              <a:rPr lang="en-US" baseline="0" dirty="0"/>
              <a:t>So, we need a means by which to represent the curved, 3D Earth in a flat map space. We do this using projections, which we will discuss next.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1460548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Vdatum</a:t>
            </a:r>
            <a:r>
              <a:rPr lang="en-US" dirty="0"/>
              <a:t> to convert different vertical datum</a:t>
            </a:r>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282267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21107182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a the 3D</a:t>
            </a:r>
            <a:r>
              <a:rPr lang="en-US" baseline="0" dirty="0"/>
              <a:t> spherical globe, we can mathematically transform the Earth into a flat map space. </a:t>
            </a:r>
          </a:p>
          <a:p>
            <a:endParaRPr lang="en-US" baseline="0" dirty="0"/>
          </a:p>
          <a:p>
            <a:r>
              <a:rPr lang="en-US" baseline="0" dirty="0"/>
              <a:t>Now, instead of making measurements of distance or length in angles, we can make measurements in length units. </a:t>
            </a:r>
          </a:p>
          <a:p>
            <a:endParaRPr lang="en-US" baseline="0" dirty="0"/>
          </a:p>
          <a:p>
            <a:r>
              <a:rPr lang="en-US" baseline="0" dirty="0"/>
              <a:t>These 2D surfaces are known as projected coordinate systems or map projections. </a:t>
            </a:r>
          </a:p>
          <a:p>
            <a:endParaRPr lang="en-US" baseline="0" dirty="0"/>
          </a:p>
          <a:p>
            <a:r>
              <a:rPr lang="en-US" baseline="0" dirty="0"/>
              <a:t>They allow us to make measurements in a Cartesian coordinate system on a plane. </a:t>
            </a:r>
            <a:r>
              <a:rPr lang="en-US" dirty="0"/>
              <a:t> </a:t>
            </a:r>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21239640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34446495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Cartesian</a:t>
            </a:r>
            <a:r>
              <a:rPr lang="en-US" baseline="0" dirty="0"/>
              <a:t> coordinate systems can also be expanded to include a z component to make measurements in 3D space.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1059300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the difference between geographic</a:t>
            </a:r>
            <a:r>
              <a:rPr lang="en-US" baseline="0" dirty="0"/>
              <a:t> and projected coordinate systems. </a:t>
            </a:r>
          </a:p>
          <a:p>
            <a:endParaRPr lang="en-US" baseline="0" dirty="0"/>
          </a:p>
          <a:p>
            <a:r>
              <a:rPr lang="en-US" baseline="0" dirty="0"/>
              <a:t>The globe provides a 3D representation of the Earth where measurements are made in angles. </a:t>
            </a:r>
          </a:p>
          <a:p>
            <a:endParaRPr lang="en-US" baseline="0" dirty="0"/>
          </a:p>
          <a:p>
            <a:r>
              <a:rPr lang="en-US" baseline="0" dirty="0"/>
              <a:t>In contrast, projections are 2D and allow for measurements to be made in Cartesian coordinate space.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8506356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relates to how a</a:t>
            </a:r>
            <a:r>
              <a:rPr lang="en-US" baseline="0" dirty="0"/>
              <a:t> developable surface is oriented or positioned relative to the globe. </a:t>
            </a:r>
          </a:p>
          <a:p>
            <a:endParaRPr lang="en-US" baseline="0" dirty="0"/>
          </a:p>
          <a:p>
            <a:r>
              <a:rPr lang="en-US" baseline="0" dirty="0"/>
              <a:t>For example, for a cylinder the normal orientation is oriented up-and-down relative to the globe. Or, the long axis will be place perpendicular to the equator. </a:t>
            </a:r>
            <a:br>
              <a:rPr lang="en-US" baseline="0" dirty="0"/>
            </a:br>
            <a:endParaRPr lang="en-US" baseline="0" dirty="0"/>
          </a:p>
          <a:p>
            <a:r>
              <a:rPr lang="en-US" baseline="0" dirty="0"/>
              <a:t>In contrast, the transverse orientation will </a:t>
            </a:r>
            <a:r>
              <a:rPr lang="en-US" altLang="zh-CN" baseline="0" dirty="0"/>
              <a:t>be </a:t>
            </a:r>
            <a:r>
              <a:rPr lang="en-US" baseline="0" dirty="0"/>
              <a:t>oriented parallel to the equator. </a:t>
            </a:r>
          </a:p>
          <a:p>
            <a:endParaRPr lang="en-US" baseline="0" dirty="0"/>
          </a:p>
          <a:p>
            <a:r>
              <a:rPr lang="en-US" baseline="0" dirty="0"/>
              <a:t>Oblique orientations are another orientation other than normal or transverse. </a:t>
            </a:r>
          </a:p>
          <a:p>
            <a:endParaRPr lang="en-US" baseline="0" dirty="0"/>
          </a:p>
          <a:p>
            <a:r>
              <a:rPr lang="en-US" baseline="0" dirty="0"/>
              <a:t>So, given the wide variety of developable surfaces and orientations, the number of possible map projections are infinite.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23086599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a:t>
            </a:r>
            <a:r>
              <a:rPr lang="en-US" baseline="0" dirty="0"/>
              <a:t> can also vary in regards to where and how they intersect the surface of the Earth or globe.</a:t>
            </a:r>
          </a:p>
          <a:p>
            <a:endParaRPr lang="en-US" baseline="0" dirty="0"/>
          </a:p>
          <a:p>
            <a:r>
              <a:rPr lang="en-US" baseline="0" dirty="0"/>
              <a:t>Tangency occurs when the developable surface only touches the globe at a single location while </a:t>
            </a:r>
            <a:r>
              <a:rPr lang="en-US" baseline="0" dirty="0" err="1"/>
              <a:t>secancy</a:t>
            </a:r>
            <a:r>
              <a:rPr lang="en-US" baseline="0" dirty="0"/>
              <a:t> occurs when the surface touches the globe along two latitude or longitude lines. </a:t>
            </a:r>
          </a:p>
          <a:p>
            <a:endParaRPr lang="en-US" baseline="0" dirty="0"/>
          </a:p>
          <a:p>
            <a:r>
              <a:rPr lang="en-US" baseline="0" dirty="0"/>
              <a:t>Standard lines are where the projection touches or spatially co-occurs with the globe. Standard parallels are parallels or latitude lines where the projected surface intersects the globe while standard meridians are meridians or longitude lines. </a:t>
            </a:r>
          </a:p>
          <a:p>
            <a:endParaRPr lang="en-US" baseline="0" dirty="0"/>
          </a:p>
          <a:p>
            <a:r>
              <a:rPr lang="en-US" baseline="0" dirty="0"/>
              <a:t>Generally, there are no distortions where the globe and developable surface co-occur, since the coordinates do not need to be transformed or moved. </a:t>
            </a:r>
          </a:p>
          <a:p>
            <a:endParaRPr lang="en-US" baseline="0" dirty="0"/>
          </a:p>
          <a:p>
            <a:r>
              <a:rPr lang="en-US" baseline="0" dirty="0"/>
              <a:t>Distortions tend to increase with distance from the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Again, given the wide variety of developable surfaces, orientations, and standard lines, the number of possible map projections is infinite. </a:t>
            </a:r>
            <a:endParaRPr lang="en-US"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27701580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1185684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Roboto"/>
              </a:rPr>
              <a:t>how straight lines are </a:t>
            </a:r>
            <a:r>
              <a:rPr lang="en-US" b="0" i="0" dirty="0" err="1">
                <a:solidFill>
                  <a:srgbClr val="000000"/>
                </a:solidFill>
                <a:effectLst/>
                <a:latin typeface="Roboto"/>
              </a:rPr>
              <a:t>Rhumb</a:t>
            </a:r>
            <a:r>
              <a:rPr lang="en-US" b="0" i="0" dirty="0">
                <a:solidFill>
                  <a:srgbClr val="000000"/>
                </a:solidFill>
                <a:effectLst/>
                <a:latin typeface="Roboto"/>
              </a:rPr>
              <a:t> line. </a:t>
            </a:r>
            <a:r>
              <a:rPr lang="en-US" b="0" i="0" dirty="0">
                <a:solidFill>
                  <a:srgbClr val="202122"/>
                </a:solidFill>
                <a:effectLst/>
                <a:latin typeface="Arial" panose="020B0604020202020204" pitchFamily="34" charset="0"/>
              </a:rPr>
              <a:t> a </a:t>
            </a:r>
            <a:r>
              <a:rPr lang="en-US" b="1" i="0" dirty="0" err="1">
                <a:solidFill>
                  <a:srgbClr val="202122"/>
                </a:solidFill>
                <a:effectLst/>
                <a:latin typeface="Arial" panose="020B0604020202020204" pitchFamily="34" charset="0"/>
              </a:rPr>
              <a:t>rhumb</a:t>
            </a:r>
            <a:r>
              <a:rPr lang="en-US" b="1" i="0" dirty="0">
                <a:solidFill>
                  <a:srgbClr val="202122"/>
                </a:solidFill>
                <a:effectLst/>
                <a:latin typeface="Arial" panose="020B0604020202020204" pitchFamily="34" charset="0"/>
              </a:rPr>
              <a:t> line</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thumb</a:t>
            </a:r>
            <a:r>
              <a:rPr lang="en-US" b="0" i="0" dirty="0">
                <a:solidFill>
                  <a:srgbClr val="202122"/>
                </a:solidFill>
                <a:effectLst/>
                <a:latin typeface="Arial" panose="020B0604020202020204" pitchFamily="34" charset="0"/>
              </a:rPr>
              <a:t>, (</a:t>
            </a:r>
            <a:r>
              <a:rPr lang="en-US" b="0" i="0" u="none" strike="noStrike" dirty="0">
                <a:solidFill>
                  <a:srgbClr val="0B0080"/>
                </a:solidFill>
                <a:effectLst/>
                <a:latin typeface="Arial" panose="020B0604020202020204" pitchFamily="34" charset="0"/>
                <a:hlinkClick r:id="rId3" tooltip="Help:IPA/English"/>
              </a:rPr>
              <a:t>/</a:t>
            </a:r>
            <a:r>
              <a:rPr lang="en-US" b="0" i="0" u="none" strike="noStrike" dirty="0" err="1">
                <a:solidFill>
                  <a:srgbClr val="0B0080"/>
                </a:solidFill>
                <a:effectLst/>
                <a:latin typeface="Arial" panose="020B0604020202020204" pitchFamily="34" charset="0"/>
                <a:hlinkClick r:id="rId3" tooltip="Help:IPA/English"/>
              </a:rPr>
              <a:t>rʌm</a:t>
            </a:r>
            <a:r>
              <a:rPr lang="en-US" b="0" i="0" u="none" strike="noStrike" dirty="0">
                <a:solidFill>
                  <a:srgbClr val="0B0080"/>
                </a:solidFill>
                <a:effectLst/>
                <a:latin typeface="Arial" panose="020B0604020202020204" pitchFamily="34" charset="0"/>
                <a:hlinkClick r:id="rId3" tooltip="Help:IPA/English"/>
              </a:rPr>
              <a:t>/</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loxodrome</a:t>
            </a:r>
            <a:r>
              <a:rPr lang="en-US" b="0" i="0" dirty="0">
                <a:solidFill>
                  <a:srgbClr val="202122"/>
                </a:solidFill>
                <a:effectLst/>
                <a:latin typeface="Arial" panose="020B0604020202020204" pitchFamily="34" charset="0"/>
              </a:rPr>
              <a:t> is an arc crossing all </a:t>
            </a:r>
            <a:r>
              <a:rPr lang="en-US" b="0" i="0" u="none" strike="noStrike" dirty="0">
                <a:solidFill>
                  <a:srgbClr val="0B0080"/>
                </a:solidFill>
                <a:effectLst/>
                <a:latin typeface="Arial" panose="020B0604020202020204" pitchFamily="34" charset="0"/>
                <a:hlinkClick r:id="rId4" tooltip="Meridian (geography)"/>
              </a:rPr>
              <a:t>meridians</a:t>
            </a:r>
            <a:r>
              <a:rPr lang="en-US" b="0" i="0" dirty="0">
                <a:solidFill>
                  <a:srgbClr val="202122"/>
                </a:solidFill>
                <a:effectLst/>
                <a:latin typeface="Arial" panose="020B0604020202020204" pitchFamily="34" charset="0"/>
              </a:rPr>
              <a:t> of </a:t>
            </a:r>
            <a:r>
              <a:rPr lang="en-US" b="0" i="0" u="none" strike="noStrike" dirty="0">
                <a:solidFill>
                  <a:srgbClr val="0B0080"/>
                </a:solidFill>
                <a:effectLst/>
                <a:latin typeface="Arial" panose="020B0604020202020204" pitchFamily="34" charset="0"/>
                <a:hlinkClick r:id="rId5" tooltip="Longitude"/>
              </a:rPr>
              <a:t>longitude</a:t>
            </a:r>
            <a:r>
              <a:rPr lang="en-US" b="0" i="0" dirty="0">
                <a:solidFill>
                  <a:srgbClr val="202122"/>
                </a:solidFill>
                <a:effectLst/>
                <a:latin typeface="Arial" panose="020B0604020202020204" pitchFamily="34" charset="0"/>
              </a:rPr>
              <a:t> at the same angle, that is, a path with constant </a:t>
            </a:r>
            <a:r>
              <a:rPr lang="en-US" b="0" i="0" u="none" strike="noStrike" dirty="0">
                <a:solidFill>
                  <a:srgbClr val="0B0080"/>
                </a:solidFill>
                <a:effectLst/>
                <a:latin typeface="Arial" panose="020B0604020202020204" pitchFamily="34" charset="0"/>
                <a:hlinkClick r:id="rId6" tooltip="Bearing (navigation)"/>
              </a:rPr>
              <a:t>bearing</a:t>
            </a:r>
            <a:r>
              <a:rPr lang="en-US" b="0" i="0" dirty="0">
                <a:solidFill>
                  <a:srgbClr val="202122"/>
                </a:solidFill>
                <a:effectLst/>
                <a:latin typeface="Arial" panose="020B0604020202020204" pitchFamily="34" charset="0"/>
              </a:rPr>
              <a:t> as measured relative to </a:t>
            </a:r>
            <a:r>
              <a:rPr lang="en-US" b="0" i="0" u="none" strike="noStrike" dirty="0">
                <a:solidFill>
                  <a:srgbClr val="0B0080"/>
                </a:solidFill>
                <a:effectLst/>
                <a:latin typeface="Arial" panose="020B0604020202020204" pitchFamily="34" charset="0"/>
                <a:hlinkClick r:id="rId7" tooltip="True north"/>
              </a:rPr>
              <a:t>true</a:t>
            </a:r>
            <a:r>
              <a:rPr lang="en-US" b="0" i="0" dirty="0">
                <a:solidFill>
                  <a:srgbClr val="202122"/>
                </a:solidFill>
                <a:effectLst/>
                <a:latin typeface="Arial" panose="020B0604020202020204" pitchFamily="34" charset="0"/>
              </a:rPr>
              <a:t> or </a:t>
            </a:r>
            <a:r>
              <a:rPr lang="en-US" b="0" i="0" u="none" strike="noStrike" dirty="0">
                <a:solidFill>
                  <a:srgbClr val="0B0080"/>
                </a:solidFill>
                <a:effectLst/>
                <a:latin typeface="Arial" panose="020B0604020202020204" pitchFamily="34" charset="0"/>
                <a:hlinkClick r:id="rId8" tooltip="Magnetic north"/>
              </a:rPr>
              <a:t>magnetic north</a:t>
            </a:r>
            <a:r>
              <a:rPr lang="en-US" b="0" i="0" dirty="0">
                <a:solidFill>
                  <a:srgbClr val="202122"/>
                </a:solidFill>
                <a:effectLst/>
                <a:latin typeface="Arial" panose="020B0604020202020204" pitchFamily="34" charset="0"/>
              </a:rPr>
              <a:t>.</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45</a:t>
            </a:fld>
            <a:endParaRPr lang="en-US"/>
          </a:p>
        </p:txBody>
      </p:sp>
    </p:spTree>
    <p:extLst>
      <p:ext uri="{BB962C8B-B14F-4D97-AF65-F5344CB8AC3E}">
        <p14:creationId xmlns:p14="http://schemas.microsoft.com/office/powerpoint/2010/main" val="22305163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47</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48</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49</a:t>
            </a:fld>
            <a:endParaRPr lang="en-US"/>
          </a:p>
        </p:txBody>
      </p:sp>
    </p:spTree>
    <p:extLst>
      <p:ext uri="{BB962C8B-B14F-4D97-AF65-F5344CB8AC3E}">
        <p14:creationId xmlns:p14="http://schemas.microsoft.com/office/powerpoint/2010/main" val="22579677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50</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a:t>
            </a:r>
            <a:r>
              <a:rPr lang="en-US" baseline="0" dirty="0"/>
              <a:t> that is commonly used to visualize size and shape distortions resulting from map projections is the </a:t>
            </a:r>
            <a:r>
              <a:rPr lang="en-US" baseline="0" dirty="0" err="1"/>
              <a:t>Tissot</a:t>
            </a:r>
            <a:r>
              <a:rPr lang="en-US" baseline="0" dirty="0"/>
              <a:t> Indicatrix. </a:t>
            </a:r>
          </a:p>
          <a:p>
            <a:endParaRPr lang="en-US" baseline="0" dirty="0"/>
          </a:p>
          <a:p>
            <a:r>
              <a:rPr lang="en-US" baseline="0" dirty="0"/>
              <a:t>Without any distortions, or if these features are plotted on the globe, the circles will all be the same shape, perfect circles, and size. </a:t>
            </a:r>
          </a:p>
          <a:p>
            <a:endParaRPr lang="en-US" baseline="0" dirty="0"/>
          </a:p>
          <a:p>
            <a:r>
              <a:rPr lang="en-US" baseline="0" dirty="0"/>
              <a:t>Any deviation in shape or size is a result of map projection distortions. </a:t>
            </a:r>
          </a:p>
          <a:p>
            <a:endParaRPr lang="en-US" baseline="0" dirty="0"/>
          </a:p>
          <a:p>
            <a:r>
              <a:rPr lang="en-US" baseline="0" dirty="0"/>
              <a:t>For example, the Mercator projection on the left distorts size, since the circles are not the same size, but not shape, since the circles are still circular. </a:t>
            </a:r>
          </a:p>
          <a:p>
            <a:endParaRPr lang="en-US" baseline="0" dirty="0"/>
          </a:p>
          <a:p>
            <a:r>
              <a:rPr lang="en-US" baseline="0" dirty="0"/>
              <a:t>The </a:t>
            </a:r>
            <a:r>
              <a:rPr lang="en-US" dirty="0"/>
              <a:t>Mollweide projection</a:t>
            </a:r>
            <a:r>
              <a:rPr lang="en-US" baseline="0" dirty="0"/>
              <a:t> to the right distorts shape, since the circles are no longer perfect circles, but not size, since each circle still has the same area.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51</a:t>
            </a:fld>
            <a:endParaRPr lang="en-US"/>
          </a:p>
        </p:txBody>
      </p:sp>
    </p:spTree>
    <p:extLst>
      <p:ext uri="{BB962C8B-B14F-4D97-AF65-F5344CB8AC3E}">
        <p14:creationId xmlns:p14="http://schemas.microsoft.com/office/powerpoint/2010/main" val="2832445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52</a:t>
            </a:fld>
            <a:endParaRPr lang="en-US"/>
          </a:p>
        </p:txBody>
      </p:sp>
    </p:spTree>
    <p:extLst>
      <p:ext uri="{BB962C8B-B14F-4D97-AF65-F5344CB8AC3E}">
        <p14:creationId xmlns:p14="http://schemas.microsoft.com/office/powerpoint/2010/main" val="2744251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53</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54</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55</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azimuthal</a:t>
            </a:r>
            <a:r>
              <a:rPr lang="en-US" baseline="0" dirty="0"/>
              <a:t> equidistant projection maintains the correct distance and angle or compass bearing form the center of the map.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In the provided example, the center of the map occurs at </a:t>
            </a:r>
            <a:r>
              <a:rPr lang="en-US" sz="1200" dirty="0"/>
              <a:t>0° latitude</a:t>
            </a:r>
            <a:r>
              <a:rPr lang="en-US" sz="1200" baseline="0" dirty="0"/>
              <a:t> and </a:t>
            </a:r>
            <a:r>
              <a:rPr lang="en-US" sz="1200" dirty="0"/>
              <a:t>0° longitude,</a:t>
            </a:r>
            <a:r>
              <a:rPr lang="en-US" sz="1200" baseline="0" dirty="0"/>
              <a:t> or where the equator and prime meridian intersect.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So, distance and direction relative to this location are correct. </a:t>
            </a:r>
            <a:r>
              <a:rPr lang="en-US" sz="1200" b="0" i="0" baseline="0" dirty="0">
                <a:solidFill>
                  <a:schemeClr val="tx1"/>
                </a:solidFill>
                <a:effectLst/>
                <a:latin typeface="+mn-lt"/>
              </a:rPr>
              <a:t>A</a:t>
            </a:r>
            <a:r>
              <a:rPr lang="en-US" b="0" i="0" dirty="0">
                <a:solidFill>
                  <a:srgbClr val="202122"/>
                </a:solidFill>
                <a:effectLst/>
                <a:latin typeface="Arial" panose="020B0604020202020204" pitchFamily="34" charset="0"/>
              </a:rPr>
              <a:t>ll points on the map are at the correct azimuth (direction) from the center point</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a:t>Note that this projection distorts shape and relative size.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baseline="0" dirty="0">
              <a:solidFill>
                <a:schemeClr val="tx1"/>
              </a:solidFill>
              <a:effectLst/>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C4C4C"/>
                </a:solidFill>
                <a:effectLst/>
                <a:latin typeface="Avenir Next W01"/>
              </a:rPr>
              <a:t>Although the projection can display the entire globe, its practical usage is often limited to a hemisphere. This projection is most commonly used for maps of polar regions and routes of air and sea navigation with appropriate aspect. The oblique aspect is sometimes used for important cities and their surrounding area.</a:t>
            </a:r>
            <a:endParaRPr lang="en-US" sz="1200" b="0" i="0" baseline="0" dirty="0">
              <a:solidFill>
                <a:schemeClr val="tx1"/>
              </a:solidFill>
              <a:effectLst/>
              <a:latin typeface="+mn-lt"/>
            </a:endParaRPr>
          </a:p>
        </p:txBody>
      </p:sp>
      <p:sp>
        <p:nvSpPr>
          <p:cNvPr id="4" name="Slide Number Placeholder 3"/>
          <p:cNvSpPr>
            <a:spLocks noGrp="1"/>
          </p:cNvSpPr>
          <p:nvPr>
            <p:ph type="sldNum" sz="quarter" idx="10"/>
          </p:nvPr>
        </p:nvSpPr>
        <p:spPr/>
        <p:txBody>
          <a:bodyPr/>
          <a:lstStyle/>
          <a:p>
            <a:fld id="{01F2A70B-78F2-4DCF-B53B-C990D2FAFB8A}" type="slidenum">
              <a:rPr lang="en-US" smtClean="0"/>
              <a:t>56</a:t>
            </a:fld>
            <a:endParaRPr lang="en-US"/>
          </a:p>
        </p:txBody>
      </p:sp>
    </p:spTree>
    <p:extLst>
      <p:ext uri="{BB962C8B-B14F-4D97-AF65-F5344CB8AC3E}">
        <p14:creationId xmlns:p14="http://schemas.microsoft.com/office/powerpoint/2010/main" val="29088203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Patterson</a:t>
            </a:r>
            <a:r>
              <a:rPr lang="en-US" baseline="0" dirty="0"/>
              <a:t> projection is neither equivalent nor conformal. </a:t>
            </a:r>
          </a:p>
          <a:p>
            <a:endParaRPr lang="en-US" baseline="0" dirty="0"/>
          </a:p>
          <a:p>
            <a:r>
              <a:rPr lang="en-US" baseline="0" dirty="0"/>
              <a:t>Instead, it tries to strike a balance between shape and size distortions. </a:t>
            </a:r>
          </a:p>
          <a:p>
            <a:endParaRPr lang="en-US" baseline="0" dirty="0"/>
          </a:p>
          <a:p>
            <a:r>
              <a:rPr lang="en-US" baseline="0" dirty="0"/>
              <a:t>Note that the meridians are gently curved.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57</a:t>
            </a:fld>
            <a:endParaRPr lang="en-US"/>
          </a:p>
        </p:txBody>
      </p:sp>
    </p:spTree>
    <p:extLst>
      <p:ext uri="{BB962C8B-B14F-4D97-AF65-F5344CB8AC3E}">
        <p14:creationId xmlns:p14="http://schemas.microsoft.com/office/powerpoint/2010/main" val="28905647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58</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59</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60</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61</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62</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63</a:t>
            </a:fld>
            <a:endParaRPr lang="en-US"/>
          </a:p>
        </p:txBody>
      </p:sp>
    </p:spTree>
    <p:extLst>
      <p:ext uri="{BB962C8B-B14F-4D97-AF65-F5344CB8AC3E}">
        <p14:creationId xmlns:p14="http://schemas.microsoft.com/office/powerpoint/2010/main" val="18861988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64</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65</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66</a:t>
            </a:fld>
            <a:endParaRPr lang="en-US"/>
          </a:p>
        </p:txBody>
      </p:sp>
    </p:spTree>
    <p:extLst>
      <p:ext uri="{BB962C8B-B14F-4D97-AF65-F5344CB8AC3E}">
        <p14:creationId xmlns:p14="http://schemas.microsoft.com/office/powerpoint/2010/main" val="40063169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67</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68</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69</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70</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71</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ArcGIS</a:t>
            </a:r>
            <a:r>
              <a:rPr lang="en-US" baseline="0" dirty="0"/>
              <a:t> Pro can apply a projection transformation on-the-fly or in memory. </a:t>
            </a:r>
          </a:p>
          <a:p>
            <a:endParaRPr lang="en-US" baseline="0" dirty="0"/>
          </a:p>
          <a:p>
            <a:r>
              <a:rPr lang="en-US" baseline="0" dirty="0"/>
              <a:t>So, data that are read into a map that are in a different projection than the map can be </a:t>
            </a:r>
            <a:r>
              <a:rPr lang="en-US" baseline="0" dirty="0" err="1"/>
              <a:t>reprojected</a:t>
            </a:r>
            <a:r>
              <a:rPr lang="en-US" baseline="0" dirty="0"/>
              <a:t> to match the map on-the-fly. </a:t>
            </a:r>
          </a:p>
          <a:p>
            <a:endParaRPr lang="en-US" baseline="0" dirty="0"/>
          </a:p>
          <a:p>
            <a:r>
              <a:rPr lang="en-US" baseline="0" dirty="0"/>
              <a:t>So, it is not always necessary to </a:t>
            </a:r>
            <a:r>
              <a:rPr lang="en-US" baseline="0" dirty="0" err="1"/>
              <a:t>reproject</a:t>
            </a:r>
            <a:r>
              <a:rPr lang="en-US" baseline="0" dirty="0"/>
              <a:t> data if you are simply visualizing it or making a map layout. </a:t>
            </a:r>
          </a:p>
          <a:p>
            <a:endParaRPr lang="en-US" baseline="0" dirty="0"/>
          </a:p>
          <a:p>
            <a:r>
              <a:rPr lang="en-US" baseline="0" dirty="0"/>
              <a:t>However, I suggest transforming all data layers into the same projection if you plan to perform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72</a:t>
            </a:fld>
            <a:endParaRPr lang="en-US"/>
          </a:p>
        </p:txBody>
      </p:sp>
    </p:spTree>
    <p:extLst>
      <p:ext uri="{BB962C8B-B14F-4D97-AF65-F5344CB8AC3E}">
        <p14:creationId xmlns:p14="http://schemas.microsoft.com/office/powerpoint/2010/main" val="177842905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73</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8/29/2025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8/29/2025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8/29/2025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8/29/2025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8/29/2025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8/29/2025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8/29/2025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8/29/2025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8/29/2025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8/29/2025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8/29/2025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8/29/2025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8/29/2025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8/29/2025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_Cj1vgmXr5M&amp;ab_channel=NASAGoddar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ommons.wikimedia.org/wiki/File:Geoundnsrp.png"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ipedia.org/wiki/Geoid" TargetMode="External"/><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oid/geoidViewer.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weforum.org/stories/2020/11/50-highest-cities-world-sea-leve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youtu.be/kXTHaMY3cV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commons.wikimedia.org/wiki/File:Latitude_and_Longitude_of_the_Earth.svg"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ngs.noaa.gov/NCAT/index.xhtml;jsessionid=9190FFFE418DF889CAB0942A91BA7B9F"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ngs.noaa.gov/NCAT/"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commons.wikimedia.org/wiki/File:Cartesian_coordinate_system_(comma).svg"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en.wikipedia.org/wiki/Cartesian_coordinate_system"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hyperlink" Target="https://commons.wikimedia.org/wiki/File:Latitude_and_longitude_graticule_on_an_ellipsoid.svg" TargetMode="Externa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1.jpg"/></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5.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6.jpg"/></Relationships>
</file>

<file path=ppt/slides/_rels/slide67.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dirty="0">
                <a:solidFill>
                  <a:srgbClr val="FFFFFF"/>
                </a:solidFill>
              </a:rPr>
              <a:t>WEEK 03</a:t>
            </a:r>
            <a:br>
              <a:rPr lang="en-US" sz="2700" dirty="0">
                <a:solidFill>
                  <a:srgbClr val="FFFFFF"/>
                </a:solidFill>
              </a:rPr>
            </a:br>
            <a:br>
              <a:rPr lang="en-US" sz="2700" dirty="0">
                <a:solidFill>
                  <a:srgbClr val="FFFFFF"/>
                </a:solidFill>
              </a:rPr>
            </a:br>
            <a:r>
              <a:rPr lang="en-US" sz="2800" dirty="0"/>
              <a:t>Datum and 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a:solidFill>
                  <a:srgbClr val="FFFFFF"/>
                </a:solidFill>
              </a:rPr>
              <a:t>2.1 </a:t>
            </a:r>
            <a:br>
              <a:rPr lang="en-US" sz="4050">
                <a:solidFill>
                  <a:srgbClr val="FFFFFF"/>
                </a:solidFill>
              </a:rPr>
            </a:br>
            <a:r>
              <a:rPr lang="en-US" sz="4050">
                <a:solidFill>
                  <a:srgbClr val="FFFFFF"/>
                </a:solidFill>
              </a:rPr>
              <a:t>KEY ASSUMPTION</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92305" y="1755648"/>
            <a:ext cx="7444990" cy="2725865"/>
          </a:xfrm>
        </p:spPr>
        <p:txBody>
          <a:bodyPr>
            <a:normAutofit lnSpcReduction="10000"/>
          </a:bodyPr>
          <a:lstStyle/>
          <a:p>
            <a:r>
              <a:rPr lang="en-US" altLang="en-US" dirty="0"/>
              <a:t>Datum</a:t>
            </a:r>
          </a:p>
          <a:p>
            <a:pPr lvl="1"/>
            <a:r>
              <a:rPr lang="en-US" altLang="en-US" dirty="0"/>
              <a:t>Shape of Earth</a:t>
            </a:r>
          </a:p>
          <a:p>
            <a:pPr lvl="1"/>
            <a:r>
              <a:rPr lang="en-US" altLang="en-US" dirty="0"/>
              <a:t>Geoid</a:t>
            </a:r>
          </a:p>
          <a:p>
            <a:r>
              <a:rPr lang="en-US" altLang="en-US" dirty="0"/>
              <a:t>Coordinate system</a:t>
            </a:r>
          </a:p>
          <a:p>
            <a:pPr lvl="1"/>
            <a:r>
              <a:rPr lang="en-US" dirty="0"/>
              <a:t>Geographic coordinate systems</a:t>
            </a:r>
          </a:p>
          <a:p>
            <a:pPr lvl="1"/>
            <a:r>
              <a:rPr lang="en-US" altLang="en-US" dirty="0"/>
              <a:t>Projected coordinate systems</a:t>
            </a:r>
          </a:p>
          <a:p>
            <a:r>
              <a:rPr lang="en-US" altLang="en-US" dirty="0"/>
              <a:t>Projections</a:t>
            </a:r>
          </a:p>
          <a:p>
            <a:pPr lvl="1"/>
            <a:r>
              <a:rPr lang="en-US" dirty="0"/>
              <a:t>Plane projection</a:t>
            </a:r>
          </a:p>
          <a:p>
            <a:pPr lvl="1"/>
            <a:r>
              <a:rPr lang="en-US" altLang="en-US" dirty="0"/>
              <a:t>Conic projection</a:t>
            </a:r>
          </a:p>
          <a:p>
            <a:pPr lvl="1"/>
            <a:r>
              <a:rPr lang="en-US" altLang="en-US" dirty="0"/>
              <a:t>Cylindrical projection</a:t>
            </a:r>
          </a:p>
          <a:p>
            <a:pPr lvl="1"/>
            <a:r>
              <a:rPr lang="en-US" altLang="en-US" dirty="0"/>
              <a:t>Examples: Global, continental, and state scales</a:t>
            </a:r>
          </a:p>
          <a:p>
            <a:pPr lvl="1"/>
            <a:endParaRPr lang="en-US" altLang="en-US"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0400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75379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27DB8FA9-BDA5-4B3E-BDD4-93B7C42F443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hlinkClick r:id="rId3"/>
              </a:rPr>
              <a:t>Geodesy</a:t>
            </a:r>
            <a:endParaRPr lang="en-US" altLang="en-US" sz="2600" dirty="0"/>
          </a:p>
          <a:p>
            <a:pPr lvl="1">
              <a:buFont typeface="Wingdings" panose="05000000000000000000" pitchFamily="2" charset="2"/>
              <a:buChar char="ü"/>
            </a:pPr>
            <a:r>
              <a:rPr lang="en-US" altLang="en-US" sz="2160" dirty="0"/>
              <a:t>Science of measuring Earth’s shape</a:t>
            </a: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3074" name="Picture 2" descr="File:Geoundnsr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086" y="1978339"/>
            <a:ext cx="2546696" cy="24502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7135" y="4859449"/>
            <a:ext cx="3259226" cy="433196"/>
          </a:xfrm>
          <a:prstGeom prst="rect">
            <a:avLst/>
          </a:prstGeom>
        </p:spPr>
        <p:txBody>
          <a:bodyPr wrap="none">
            <a:spAutoFit/>
          </a:bodyPr>
          <a:lstStyle/>
          <a:p>
            <a:r>
              <a:rPr lang="en-US" sz="1000" dirty="0">
                <a:hlinkClick r:id="rId5"/>
              </a:rPr>
              <a:t>https://commons.wikimedia.org/wiki/File:Geoundnsrp.png</a:t>
            </a:r>
            <a:endParaRPr lang="en-US" sz="1000" dirty="0"/>
          </a:p>
          <a:p>
            <a:endParaRPr lang="en-US" sz="1215" dirty="0"/>
          </a:p>
        </p:txBody>
      </p:sp>
      <p:cxnSp>
        <p:nvCxnSpPr>
          <p:cNvPr id="7" name="Straight Connector 6">
            <a:extLst>
              <a:ext uri="{FF2B5EF4-FFF2-40B4-BE49-F238E27FC236}">
                <a16:creationId xmlns:a16="http://schemas.microsoft.com/office/drawing/2014/main" id="{887169D0-0D27-4724-9609-1F1856F2AFA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3AFA498-9D77-44AF-AA2F-9C61F0248172}"/>
              </a:ext>
            </a:extLst>
          </p:cNvPr>
          <p:cNvSpPr txBox="1">
            <a:spLocks/>
          </p:cNvSpPr>
          <p:nvPr/>
        </p:nvSpPr>
        <p:spPr>
          <a:xfrm>
            <a:off x="104003" y="1813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1D813555-35FD-44B8-90EE-078819E9A143}"/>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24020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2131519" y="2708588"/>
            <a:ext cx="3966561" cy="1893944"/>
          </a:xfrm>
          <a:prstGeom prst="rect">
            <a:avLst/>
          </a:prstGeom>
        </p:spPr>
      </p:pic>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18533" y="17229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8406186-F2E8-4D8D-97C6-590CE149A3B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97901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7">
            <a:extLst>
              <a:ext uri="{FF2B5EF4-FFF2-40B4-BE49-F238E27FC236}">
                <a16:creationId xmlns:a16="http://schemas.microsoft.com/office/drawing/2014/main" id="{5E95B6F4-5764-4E81-B914-E3D1CC2EE4E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Oblate spheroid</a:t>
            </a:r>
          </a:p>
          <a:p>
            <a:pPr lvl="1">
              <a:buFont typeface="Wingdings" panose="05000000000000000000" pitchFamily="2" charset="2"/>
              <a:buChar char="ü"/>
            </a:pPr>
            <a:r>
              <a:rPr lang="en-US" altLang="en-US" sz="2160" dirty="0"/>
              <a:t>Equator has larger circumference than meridians</a:t>
            </a:r>
          </a:p>
          <a:p>
            <a:pPr lvl="1">
              <a:buFont typeface="Wingdings" panose="05000000000000000000" pitchFamily="2" charset="2"/>
              <a:buChar char="ü"/>
            </a:pPr>
            <a:r>
              <a:rPr lang="en-US" altLang="en-US" sz="2160" dirty="0"/>
              <a:t>Mass not evenly distributed </a:t>
            </a:r>
          </a:p>
        </p:txBody>
      </p:sp>
      <p:cxnSp>
        <p:nvCxnSpPr>
          <p:cNvPr id="7" name="Straight Connector 6">
            <a:extLst>
              <a:ext uri="{FF2B5EF4-FFF2-40B4-BE49-F238E27FC236}">
                <a16:creationId xmlns:a16="http://schemas.microsoft.com/office/drawing/2014/main" id="{D665678C-6D72-4D89-9FEE-2F8EFCB18F9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80342B3-71DA-4411-AD9E-33891050CB4E}"/>
              </a:ext>
            </a:extLst>
          </p:cNvPr>
          <p:cNvSpPr txBox="1">
            <a:spLocks/>
          </p:cNvSpPr>
          <p:nvPr/>
        </p:nvSpPr>
        <p:spPr>
          <a:xfrm>
            <a:off x="10400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Shape of the Earth</a:t>
            </a:r>
            <a:endParaRPr lang="en-US" sz="2600" i="1" dirty="0">
              <a:solidFill>
                <a:srgbClr val="7030A0"/>
              </a:solidFill>
            </a:endParaRPr>
          </a:p>
        </p:txBody>
      </p:sp>
      <p:pic>
        <p:nvPicPr>
          <p:cNvPr id="14" name="Picture 13">
            <a:extLst>
              <a:ext uri="{FF2B5EF4-FFF2-40B4-BE49-F238E27FC236}">
                <a16:creationId xmlns:a16="http://schemas.microsoft.com/office/drawing/2014/main" id="{1C3836D6-3642-47E5-A9E6-C939910CD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7143" y="2595836"/>
            <a:ext cx="2595311" cy="2210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A37278D-2929-4879-83B7-668DE83FC6F7}"/>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393554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814153"/>
            <a:ext cx="6172200" cy="857250"/>
          </a:xfrm>
        </p:spPr>
        <p:txBody>
          <a:bodyPr/>
          <a:lstStyle/>
          <a:p>
            <a:r>
              <a:rPr lang="en-US" dirty="0">
                <a:solidFill>
                  <a:schemeClr val="tx2"/>
                </a:solidFill>
              </a:rPr>
              <a:t>Modeling the Earth</a:t>
            </a:r>
          </a:p>
        </p:txBody>
      </p:sp>
      <p:sp>
        <p:nvSpPr>
          <p:cNvPr id="6" name="Content Placeholder 2"/>
          <p:cNvSpPr>
            <a:spLocks noGrp="1"/>
          </p:cNvSpPr>
          <p:nvPr>
            <p:ph idx="1"/>
          </p:nvPr>
        </p:nvSpPr>
        <p:spPr>
          <a:xfrm>
            <a:off x="2310150" y="1823758"/>
            <a:ext cx="3685500" cy="2745551"/>
          </a:xfrm>
        </p:spPr>
        <p:txBody>
          <a:bodyPr>
            <a:normAutofit/>
          </a:bodyPr>
          <a:lstStyle/>
          <a:p>
            <a:pPr marL="0" indent="0" algn="ctr">
              <a:buNone/>
            </a:pPr>
            <a:r>
              <a:rPr lang="en-US" dirty="0">
                <a:solidFill>
                  <a:schemeClr val="tx2"/>
                </a:solidFill>
              </a:rPr>
              <a:t>True Earth surface</a:t>
            </a:r>
          </a:p>
          <a:p>
            <a:pPr marL="0" indent="0" algn="ctr">
              <a:buNone/>
            </a:pPr>
            <a:endParaRPr lang="en-US" dirty="0">
              <a:solidFill>
                <a:schemeClr val="tx2"/>
              </a:solidFill>
            </a:endParaRPr>
          </a:p>
          <a:p>
            <a:pPr marL="0" indent="0" algn="ctr">
              <a:buNone/>
            </a:pPr>
            <a:endParaRPr lang="en-US" dirty="0">
              <a:solidFill>
                <a:schemeClr val="tx2"/>
              </a:solidFill>
            </a:endParaRPr>
          </a:p>
          <a:p>
            <a:pPr marL="0" indent="0" algn="ctr">
              <a:buNone/>
            </a:pPr>
            <a:r>
              <a:rPr lang="en-US" dirty="0">
                <a:solidFill>
                  <a:schemeClr val="tx2"/>
                </a:solidFill>
              </a:rPr>
              <a:t>Geoid (Includes ocean)</a:t>
            </a:r>
          </a:p>
          <a:p>
            <a:pPr marL="0" indent="0" algn="ctr">
              <a:buNone/>
            </a:pPr>
            <a:endParaRPr lang="en-US" dirty="0">
              <a:solidFill>
                <a:schemeClr val="tx2"/>
              </a:solidFill>
            </a:endParaRPr>
          </a:p>
          <a:p>
            <a:pPr marL="0" indent="0" algn="ctr">
              <a:buNone/>
            </a:pPr>
            <a:endParaRPr lang="en-US" dirty="0">
              <a:solidFill>
                <a:schemeClr val="tx2"/>
              </a:solidFill>
            </a:endParaRPr>
          </a:p>
          <a:p>
            <a:pPr marL="0" indent="0" algn="ctr">
              <a:buNone/>
            </a:pPr>
            <a:r>
              <a:rPr lang="en-US" dirty="0">
                <a:solidFill>
                  <a:schemeClr val="tx2"/>
                </a:solidFill>
              </a:rPr>
              <a:t>Ellipsoid</a:t>
            </a:r>
          </a:p>
        </p:txBody>
      </p:sp>
      <p:sp>
        <p:nvSpPr>
          <p:cNvPr id="4" name="Slide Number Placeholder 3">
            <a:extLst>
              <a:ext uri="{FF2B5EF4-FFF2-40B4-BE49-F238E27FC236}">
                <a16:creationId xmlns:a16="http://schemas.microsoft.com/office/drawing/2014/main" id="{872E2B27-DDD0-47A6-84AE-FC43F2F3E8E7}"/>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3" name="Down Arrow 2"/>
          <p:cNvSpPr/>
          <p:nvPr/>
        </p:nvSpPr>
        <p:spPr>
          <a:xfrm>
            <a:off x="4029052" y="2120326"/>
            <a:ext cx="171495" cy="643105"/>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Down Arrow 6"/>
          <p:cNvSpPr/>
          <p:nvPr/>
        </p:nvSpPr>
        <p:spPr>
          <a:xfrm>
            <a:off x="4029052" y="3554956"/>
            <a:ext cx="171495" cy="643105"/>
          </a:xfrm>
          <a:prstGeom prst="downArrow">
            <a:avLst/>
          </a:prstGeom>
          <a:solidFill>
            <a:schemeClr val="accent5"/>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cxnSp>
        <p:nvCxnSpPr>
          <p:cNvPr id="9" name="Straight Connector 8">
            <a:extLst>
              <a:ext uri="{FF2B5EF4-FFF2-40B4-BE49-F238E27FC236}">
                <a16:creationId xmlns:a16="http://schemas.microsoft.com/office/drawing/2014/main" id="{4DD5FDEA-7F92-46EF-9DDB-3A4476A840A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8E270F8A-347D-4DA4-84D0-648F79F85F45}"/>
              </a:ext>
            </a:extLst>
          </p:cNvPr>
          <p:cNvSpPr txBox="1">
            <a:spLocks/>
          </p:cNvSpPr>
          <p:nvPr/>
        </p:nvSpPr>
        <p:spPr>
          <a:xfrm>
            <a:off x="118533" y="1421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Earth Model</a:t>
            </a:r>
            <a:endParaRPr lang="en-US" sz="2600" dirty="0">
              <a:solidFill>
                <a:srgbClr val="7030A0"/>
              </a:solidFill>
            </a:endParaRPr>
          </a:p>
        </p:txBody>
      </p:sp>
    </p:spTree>
    <p:extLst>
      <p:ext uri="{BB962C8B-B14F-4D97-AF65-F5344CB8AC3E}">
        <p14:creationId xmlns:p14="http://schemas.microsoft.com/office/powerpoint/2010/main" val="1220890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230" y="4857520"/>
            <a:ext cx="4113728" cy="249684"/>
          </a:xfrm>
          <a:prstGeom prst="rect">
            <a:avLst/>
          </a:prstGeom>
        </p:spPr>
        <p:txBody>
          <a:bodyPr>
            <a:spAutoFit/>
          </a:bodyPr>
          <a:lstStyle/>
          <a:p>
            <a:pPr>
              <a:lnSpc>
                <a:spcPct val="107000"/>
              </a:lnSpc>
              <a:spcAft>
                <a:spcPts val="540"/>
              </a:spcAft>
            </a:pPr>
            <a:r>
              <a:rPr lang="en-US" sz="1000" dirty="0">
                <a:hlinkClick r:id="rId3"/>
              </a:rPr>
              <a:t>https://en.wikipedia.org/wiki/Geoid</a:t>
            </a:r>
            <a:endParaRPr lang="en-US" sz="10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376729C-592A-456C-8742-EE7FC5D27C8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3091769-5A78-4A75-99DB-506EEF9ACF66}"/>
              </a:ext>
            </a:extLst>
          </p:cNvPr>
          <p:cNvSpPr txBox="1">
            <a:spLocks/>
          </p:cNvSpPr>
          <p:nvPr/>
        </p:nvSpPr>
        <p:spPr>
          <a:xfrm>
            <a:off x="114300" y="1677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gravity-related vertical reference </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DDA0B7A-1231-4BB4-8A98-0B08770C2378}"/>
              </a:ext>
            </a:extLst>
          </p:cNvPr>
          <p:cNvSpPr>
            <a:spLocks noGrp="1"/>
          </p:cNvSpPr>
          <p:nvPr>
            <p:ph type="sldNum" sz="quarter" idx="12"/>
          </p:nvPr>
        </p:nvSpPr>
        <p:spPr>
          <a:xfrm>
            <a:off x="7126853" y="4817936"/>
            <a:ext cx="710444" cy="273844"/>
          </a:xfrm>
        </p:spPr>
        <p:txBody>
          <a:bodyPr/>
          <a:lstStyle/>
          <a:p>
            <a:fld id="{127DDC20-79C9-9647-820E-6D40A3D210C3}" type="slidenum">
              <a:rPr lang="en-US" smtClean="0"/>
              <a:pPr/>
              <a:t>8</a:t>
            </a:fld>
            <a:endParaRPr lang="en-US"/>
          </a:p>
        </p:txBody>
      </p:sp>
      <p:sp>
        <p:nvSpPr>
          <p:cNvPr id="6" name="TextBox 5">
            <a:extLst>
              <a:ext uri="{FF2B5EF4-FFF2-40B4-BE49-F238E27FC236}">
                <a16:creationId xmlns:a16="http://schemas.microsoft.com/office/drawing/2014/main" id="{B5B4CAEF-9E5D-65A7-E7B1-ADFB0EF8910B}"/>
              </a:ext>
            </a:extLst>
          </p:cNvPr>
          <p:cNvSpPr txBox="1"/>
          <p:nvPr/>
        </p:nvSpPr>
        <p:spPr>
          <a:xfrm>
            <a:off x="632178" y="2901244"/>
            <a:ext cx="970844" cy="649270"/>
          </a:xfrm>
          <a:prstGeom prst="rect">
            <a:avLst/>
          </a:prstGeom>
          <a:noFill/>
        </p:spPr>
        <p:txBody>
          <a:bodyPr wrap="square" rtlCol="0">
            <a:spAutoFit/>
          </a:bodyPr>
          <a:lstStyle/>
          <a:p>
            <a:endParaRPr lang="en-US" dirty="0"/>
          </a:p>
        </p:txBody>
      </p:sp>
      <p:graphicFrame>
        <p:nvGraphicFramePr>
          <p:cNvPr id="2052" name="TextBox 12">
            <a:extLst>
              <a:ext uri="{FF2B5EF4-FFF2-40B4-BE49-F238E27FC236}">
                <a16:creationId xmlns:a16="http://schemas.microsoft.com/office/drawing/2014/main" id="{9171D8EA-90E9-752E-A668-3C67A32D15B0}"/>
              </a:ext>
            </a:extLst>
          </p:cNvPr>
          <p:cNvGraphicFramePr/>
          <p:nvPr>
            <p:extLst>
              <p:ext uri="{D42A27DB-BD31-4B8C-83A1-F6EECF244321}">
                <p14:modId xmlns:p14="http://schemas.microsoft.com/office/powerpoint/2010/main" val="1318580538"/>
              </p:ext>
            </p:extLst>
          </p:nvPr>
        </p:nvGraphicFramePr>
        <p:xfrm>
          <a:off x="283377" y="1559742"/>
          <a:ext cx="4666271" cy="25908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Picture 18">
            <a:extLst>
              <a:ext uri="{FF2B5EF4-FFF2-40B4-BE49-F238E27FC236}">
                <a16:creationId xmlns:a16="http://schemas.microsoft.com/office/drawing/2014/main" id="{936041FA-F5AC-6F64-95C0-F05301F86021}"/>
              </a:ext>
            </a:extLst>
          </p:cNvPr>
          <p:cNvPicPr>
            <a:picLocks noChangeAspect="1"/>
          </p:cNvPicPr>
          <p:nvPr/>
        </p:nvPicPr>
        <p:blipFill>
          <a:blip r:embed="rId9"/>
          <a:stretch>
            <a:fillRect/>
          </a:stretch>
        </p:blipFill>
        <p:spPr>
          <a:xfrm>
            <a:off x="4942114" y="1368218"/>
            <a:ext cx="3211286" cy="3066052"/>
          </a:xfrm>
          <a:prstGeom prst="rect">
            <a:avLst/>
          </a:prstGeom>
        </p:spPr>
      </p:pic>
    </p:spTree>
    <p:extLst>
      <p:ext uri="{BB962C8B-B14F-4D97-AF65-F5344CB8AC3E}">
        <p14:creationId xmlns:p14="http://schemas.microsoft.com/office/powerpoint/2010/main" val="316266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A7CF6-A01A-9674-9466-7A90338FCA66}"/>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5" name="Title 1">
            <a:extLst>
              <a:ext uri="{FF2B5EF4-FFF2-40B4-BE49-F238E27FC236}">
                <a16:creationId xmlns:a16="http://schemas.microsoft.com/office/drawing/2014/main" id="{797FB215-6895-CDF9-48A8-5E566773035C}"/>
              </a:ext>
            </a:extLst>
          </p:cNvPr>
          <p:cNvSpPr txBox="1">
            <a:spLocks/>
          </p:cNvSpPr>
          <p:nvPr/>
        </p:nvSpPr>
        <p:spPr>
          <a:xfrm>
            <a:off x="152400" y="2245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Geoid Height</a:t>
            </a:r>
            <a:endParaRPr lang="en-US" sz="2600" dirty="0">
              <a:solidFill>
                <a:srgbClr val="7030A0"/>
              </a:solidFill>
            </a:endParaRPr>
          </a:p>
        </p:txBody>
      </p:sp>
      <p:pic>
        <p:nvPicPr>
          <p:cNvPr id="7" name="Picture 6">
            <a:extLst>
              <a:ext uri="{FF2B5EF4-FFF2-40B4-BE49-F238E27FC236}">
                <a16:creationId xmlns:a16="http://schemas.microsoft.com/office/drawing/2014/main" id="{537B8E12-E4AF-CC97-4A66-C6A24884362B}"/>
              </a:ext>
            </a:extLst>
          </p:cNvPr>
          <p:cNvPicPr>
            <a:picLocks noChangeAspect="1"/>
          </p:cNvPicPr>
          <p:nvPr/>
        </p:nvPicPr>
        <p:blipFill>
          <a:blip r:embed="rId2"/>
          <a:stretch>
            <a:fillRect/>
          </a:stretch>
        </p:blipFill>
        <p:spPr>
          <a:xfrm>
            <a:off x="1207771" y="1167039"/>
            <a:ext cx="6172743" cy="3502427"/>
          </a:xfrm>
          <a:prstGeom prst="rect">
            <a:avLst/>
          </a:prstGeom>
        </p:spPr>
      </p:pic>
    </p:spTree>
    <p:extLst>
      <p:ext uri="{BB962C8B-B14F-4D97-AF65-F5344CB8AC3E}">
        <p14:creationId xmlns:p14="http://schemas.microsoft.com/office/powerpoint/2010/main" val="143438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9C3AA-7165-CED6-42E1-00B6E54979C6}"/>
              </a:ext>
            </a:extLst>
          </p:cNvPr>
          <p:cNvSpPr>
            <a:spLocks noGrp="1"/>
          </p:cNvSpPr>
          <p:nvPr>
            <p:ph type="title"/>
          </p:nvPr>
        </p:nvSpPr>
        <p:spPr>
          <a:xfrm>
            <a:off x="341494" y="102393"/>
            <a:ext cx="7406640" cy="857250"/>
          </a:xfrm>
        </p:spPr>
        <p:txBody>
          <a:bodyPr>
            <a:normAutofit/>
          </a:bodyPr>
          <a:lstStyle/>
          <a:p>
            <a:pPr defTabSz="411480"/>
            <a:r>
              <a:rPr lang="en-US" sz="3200" dirty="0">
                <a:solidFill>
                  <a:srgbClr val="7030A0"/>
                </a:solidFill>
              </a:rPr>
              <a:t>Geoid height</a:t>
            </a:r>
          </a:p>
        </p:txBody>
      </p:sp>
      <p:sp>
        <p:nvSpPr>
          <p:cNvPr id="4" name="Slide Number Placeholder 3">
            <a:extLst>
              <a:ext uri="{FF2B5EF4-FFF2-40B4-BE49-F238E27FC236}">
                <a16:creationId xmlns:a16="http://schemas.microsoft.com/office/drawing/2014/main" id="{C1A2F9F1-82FA-E2DC-6269-081DE2E76C5B}"/>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6" name="Picture 5">
            <a:hlinkClick r:id="rId2" action="ppaction://hlinkfile"/>
            <a:extLst>
              <a:ext uri="{FF2B5EF4-FFF2-40B4-BE49-F238E27FC236}">
                <a16:creationId xmlns:a16="http://schemas.microsoft.com/office/drawing/2014/main" id="{F2FEE311-EB1F-5CF1-FEAC-DA10291DD8F6}"/>
              </a:ext>
            </a:extLst>
          </p:cNvPr>
          <p:cNvPicPr>
            <a:picLocks noChangeAspect="1"/>
          </p:cNvPicPr>
          <p:nvPr/>
        </p:nvPicPr>
        <p:blipFill>
          <a:blip r:embed="rId3"/>
          <a:stretch>
            <a:fillRect/>
          </a:stretch>
        </p:blipFill>
        <p:spPr>
          <a:xfrm>
            <a:off x="446473" y="1195938"/>
            <a:ext cx="7336654" cy="3154250"/>
          </a:xfrm>
          <a:prstGeom prst="rect">
            <a:avLst/>
          </a:prstGeom>
        </p:spPr>
      </p:pic>
    </p:spTree>
    <p:extLst>
      <p:ext uri="{BB962C8B-B14F-4D97-AF65-F5344CB8AC3E}">
        <p14:creationId xmlns:p14="http://schemas.microsoft.com/office/powerpoint/2010/main" val="3339934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8B9D-CBD8-A1CB-7744-B70E02C30494}"/>
              </a:ext>
            </a:extLst>
          </p:cNvPr>
          <p:cNvSpPr>
            <a:spLocks noGrp="1"/>
          </p:cNvSpPr>
          <p:nvPr>
            <p:ph type="title"/>
          </p:nvPr>
        </p:nvSpPr>
        <p:spPr>
          <a:xfrm>
            <a:off x="411480" y="678860"/>
            <a:ext cx="7313295" cy="575071"/>
          </a:xfrm>
        </p:spPr>
        <p:txBody>
          <a:bodyPr>
            <a:noAutofit/>
          </a:bodyPr>
          <a:lstStyle/>
          <a:p>
            <a:r>
              <a:rPr lang="en-US" sz="2400" dirty="0"/>
              <a:t>What Do We Really Mean by 'Sea Level'? A Journey into the Geoid</a:t>
            </a:r>
          </a:p>
        </p:txBody>
      </p:sp>
      <p:pic>
        <p:nvPicPr>
          <p:cNvPr id="8" name="Content Placeholder 7">
            <a:hlinkClick r:id="rId2"/>
            <a:extLst>
              <a:ext uri="{FF2B5EF4-FFF2-40B4-BE49-F238E27FC236}">
                <a16:creationId xmlns:a16="http://schemas.microsoft.com/office/drawing/2014/main" id="{9D676B93-C055-CC16-0AD3-12D727D60669}"/>
              </a:ext>
            </a:extLst>
          </p:cNvPr>
          <p:cNvPicPr>
            <a:picLocks noGrp="1" noChangeAspect="1"/>
          </p:cNvPicPr>
          <p:nvPr>
            <p:ph idx="1"/>
          </p:nvPr>
        </p:nvPicPr>
        <p:blipFill>
          <a:blip r:embed="rId3"/>
          <a:stretch>
            <a:fillRect/>
          </a:stretch>
        </p:blipFill>
        <p:spPr>
          <a:xfrm>
            <a:off x="392112" y="1635890"/>
            <a:ext cx="7445375" cy="2800086"/>
          </a:xfrm>
        </p:spPr>
      </p:pic>
      <p:sp>
        <p:nvSpPr>
          <p:cNvPr id="4" name="Slide Number Placeholder 3">
            <a:extLst>
              <a:ext uri="{FF2B5EF4-FFF2-40B4-BE49-F238E27FC236}">
                <a16:creationId xmlns:a16="http://schemas.microsoft.com/office/drawing/2014/main" id="{100F7D2D-1A4A-5402-0F05-B2F685731E94}"/>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3477827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7">
            <a:extLst>
              <a:ext uri="{FF2B5EF4-FFF2-40B4-BE49-F238E27FC236}">
                <a16:creationId xmlns:a16="http://schemas.microsoft.com/office/drawing/2014/main" id="{9B279F75-48B4-4031-87F7-D061E46BE766}"/>
              </a:ext>
            </a:extLst>
          </p:cNvPr>
          <p:cNvSpPr txBox="1">
            <a:spLocks noChangeArrowheads="1"/>
          </p:cNvSpPr>
          <p:nvPr/>
        </p:nvSpPr>
        <p:spPr>
          <a:xfrm>
            <a:off x="302741" y="1029962"/>
            <a:ext cx="7679724" cy="2034514"/>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We need a mathematically simple model of the Earth’s Surface</a:t>
            </a:r>
          </a:p>
          <a:p>
            <a:pPr>
              <a:buFont typeface="Courier New" panose="02070309020205020404" pitchFamily="49" charset="0"/>
              <a:buChar char="o"/>
            </a:pPr>
            <a:r>
              <a:rPr lang="en-US" altLang="en-US" sz="2600" dirty="0"/>
              <a:t>We use an ellipsoid / spheroid</a:t>
            </a:r>
          </a:p>
          <a:p>
            <a:pPr>
              <a:buFont typeface="Courier New" panose="02070309020205020404" pitchFamily="49" charset="0"/>
              <a:buChar char="o"/>
            </a:pPr>
            <a:r>
              <a:rPr lang="en-US" altLang="en-US" sz="2600" dirty="0"/>
              <a:t>There are different ellipsoids/ spheroids used</a:t>
            </a:r>
          </a:p>
          <a:p>
            <a:pPr>
              <a:buFont typeface="Courier New" panose="02070309020205020404" pitchFamily="49" charset="0"/>
              <a:buChar char="o"/>
            </a:pPr>
            <a:r>
              <a:rPr lang="en-US" altLang="en-US" sz="2600" dirty="0"/>
              <a:t>Combined with ground survey data, we call these </a:t>
            </a:r>
            <a:r>
              <a:rPr lang="en-US" altLang="en-US" sz="2600" dirty="0">
                <a:solidFill>
                  <a:srgbClr val="FF0000"/>
                </a:solidFill>
              </a:rPr>
              <a:t>datums</a:t>
            </a:r>
          </a:p>
        </p:txBody>
      </p:sp>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118533"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9" name="TextBox 8">
            <a:extLst>
              <a:ext uri="{FF2B5EF4-FFF2-40B4-BE49-F238E27FC236}">
                <a16:creationId xmlns:a16="http://schemas.microsoft.com/office/drawing/2014/main" id="{CBB94952-1AFD-41A0-99E2-1F13722E299A}"/>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74476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6D13-C729-E912-2B53-1D69AA01894C}"/>
              </a:ext>
            </a:extLst>
          </p:cNvPr>
          <p:cNvSpPr>
            <a:spLocks noGrp="1"/>
          </p:cNvSpPr>
          <p:nvPr>
            <p:ph type="title"/>
          </p:nvPr>
        </p:nvSpPr>
        <p:spPr>
          <a:xfrm>
            <a:off x="392305" y="426090"/>
            <a:ext cx="7444991" cy="641378"/>
          </a:xfrm>
        </p:spPr>
        <p:txBody>
          <a:bodyPr>
            <a:noAutofit/>
          </a:bodyPr>
          <a:lstStyle/>
          <a:p>
            <a:r>
              <a:rPr lang="en-US" sz="3200" dirty="0"/>
              <a:t>What is datum?</a:t>
            </a:r>
          </a:p>
        </p:txBody>
      </p:sp>
      <p:pic>
        <p:nvPicPr>
          <p:cNvPr id="6" name="Content Placeholder 5">
            <a:hlinkClick r:id="rId2"/>
            <a:extLst>
              <a:ext uri="{FF2B5EF4-FFF2-40B4-BE49-F238E27FC236}">
                <a16:creationId xmlns:a16="http://schemas.microsoft.com/office/drawing/2014/main" id="{B23066BB-A765-511B-6511-67DA6F279696}"/>
              </a:ext>
            </a:extLst>
          </p:cNvPr>
          <p:cNvPicPr>
            <a:picLocks noGrp="1" noChangeAspect="1"/>
          </p:cNvPicPr>
          <p:nvPr>
            <p:ph idx="1"/>
          </p:nvPr>
        </p:nvPicPr>
        <p:blipFill>
          <a:blip r:embed="rId3"/>
          <a:stretch>
            <a:fillRect/>
          </a:stretch>
        </p:blipFill>
        <p:spPr>
          <a:xfrm>
            <a:off x="392305" y="1167995"/>
            <a:ext cx="7560435" cy="3448887"/>
          </a:xfrm>
        </p:spPr>
      </p:pic>
      <p:sp>
        <p:nvSpPr>
          <p:cNvPr id="4" name="Slide Number Placeholder 3">
            <a:extLst>
              <a:ext uri="{FF2B5EF4-FFF2-40B4-BE49-F238E27FC236}">
                <a16:creationId xmlns:a16="http://schemas.microsoft.com/office/drawing/2014/main" id="{308FB293-23BD-9C64-F7F1-6B64D06DCAAE}"/>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2565901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00BFBDE-1E47-E447-3038-E154848F45D7}"/>
              </a:ext>
            </a:extLst>
          </p:cNvPr>
          <p:cNvPicPr>
            <a:picLocks noChangeAspect="1"/>
          </p:cNvPicPr>
          <p:nvPr/>
        </p:nvPicPr>
        <p:blipFill>
          <a:blip r:embed="rId3"/>
          <a:stretch>
            <a:fillRect/>
          </a:stretch>
        </p:blipFill>
        <p:spPr>
          <a:xfrm>
            <a:off x="1715492" y="3561379"/>
            <a:ext cx="5411361" cy="1530401"/>
          </a:xfrm>
          <a:prstGeom prst="rect">
            <a:avLst/>
          </a:prstGeom>
        </p:spPr>
      </p:pic>
      <p:cxnSp>
        <p:nvCxnSpPr>
          <p:cNvPr id="5" name="Straight Connector 4">
            <a:extLst>
              <a:ext uri="{FF2B5EF4-FFF2-40B4-BE49-F238E27FC236}">
                <a16:creationId xmlns:a16="http://schemas.microsoft.com/office/drawing/2014/main" id="{D7B7BC78-D894-4474-B472-32D53812C8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124C274-97D0-422F-8C64-7B8F8F1C63D8}"/>
              </a:ext>
            </a:extLst>
          </p:cNvPr>
          <p:cNvSpPr txBox="1">
            <a:spLocks/>
          </p:cNvSpPr>
          <p:nvPr/>
        </p:nvSpPr>
        <p:spPr>
          <a:xfrm>
            <a:off x="222330" y="2143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000" cap="all" dirty="0">
                <a:solidFill>
                  <a:schemeClr val="tx1">
                    <a:lumMod val="75000"/>
                    <a:lumOff val="25000"/>
                  </a:schemeClr>
                </a:solidFill>
              </a:rPr>
              <a:t>Relationship between terrain, an datum, and an ellipsoid</a:t>
            </a:r>
          </a:p>
        </p:txBody>
      </p:sp>
      <p:sp>
        <p:nvSpPr>
          <p:cNvPr id="2" name="Slide Number Placeholder 1">
            <a:extLst>
              <a:ext uri="{FF2B5EF4-FFF2-40B4-BE49-F238E27FC236}">
                <a16:creationId xmlns:a16="http://schemas.microsoft.com/office/drawing/2014/main" id="{E300CDA3-F19D-48BF-87E1-EA21B004D529}"/>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7" name="Picture 6">
            <a:extLst>
              <a:ext uri="{FF2B5EF4-FFF2-40B4-BE49-F238E27FC236}">
                <a16:creationId xmlns:a16="http://schemas.microsoft.com/office/drawing/2014/main" id="{90297F4A-943C-AAE9-C30F-68A3F6E67790}"/>
              </a:ext>
            </a:extLst>
          </p:cNvPr>
          <p:cNvPicPr>
            <a:picLocks noChangeAspect="1"/>
          </p:cNvPicPr>
          <p:nvPr/>
        </p:nvPicPr>
        <p:blipFill>
          <a:blip r:embed="rId4"/>
          <a:stretch>
            <a:fillRect/>
          </a:stretch>
        </p:blipFill>
        <p:spPr>
          <a:xfrm>
            <a:off x="613868" y="1009004"/>
            <a:ext cx="7078063" cy="3019846"/>
          </a:xfrm>
          <a:prstGeom prst="rect">
            <a:avLst/>
          </a:prstGeom>
        </p:spPr>
      </p:pic>
    </p:spTree>
    <p:extLst>
      <p:ext uri="{BB962C8B-B14F-4D97-AF65-F5344CB8AC3E}">
        <p14:creationId xmlns:p14="http://schemas.microsoft.com/office/powerpoint/2010/main" val="263969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18533"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4" name="Rectangle 1027">
            <a:extLst>
              <a:ext uri="{FF2B5EF4-FFF2-40B4-BE49-F238E27FC236}">
                <a16:creationId xmlns:a16="http://schemas.microsoft.com/office/drawing/2014/main" id="{69E91D31-722B-4BC5-8372-946A640556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b="1" dirty="0"/>
              <a:t>NAD27: </a:t>
            </a:r>
            <a:r>
              <a:rPr lang="en-GB" sz="2600" dirty="0"/>
              <a:t>North American Datum of 1927</a:t>
            </a:r>
            <a:endParaRPr lang="en-GB" sz="2600" b="1" dirty="0"/>
          </a:p>
          <a:p>
            <a:pPr>
              <a:lnSpc>
                <a:spcPct val="90000"/>
              </a:lnSpc>
              <a:buFont typeface="Courier New" panose="02070309020205020404" pitchFamily="49" charset="0"/>
              <a:buChar char="o"/>
            </a:pPr>
            <a:r>
              <a:rPr lang="en-GB" sz="2600" b="1" dirty="0"/>
              <a:t>NAD83: </a:t>
            </a:r>
            <a:r>
              <a:rPr lang="en-GB" sz="2600" dirty="0"/>
              <a:t>North American Datum of 1983</a:t>
            </a:r>
          </a:p>
          <a:p>
            <a:pPr lvl="1">
              <a:lnSpc>
                <a:spcPct val="90000"/>
              </a:lnSpc>
              <a:buFont typeface="Wingdings" panose="05000000000000000000" pitchFamily="2" charset="2"/>
              <a:buChar char="ü"/>
            </a:pPr>
            <a:r>
              <a:rPr lang="en-GB" sz="2240" dirty="0"/>
              <a:t>NAD83(xx), xx represents year, version of datum adjustment</a:t>
            </a:r>
          </a:p>
          <a:p>
            <a:pPr lvl="1">
              <a:lnSpc>
                <a:spcPct val="90000"/>
              </a:lnSpc>
              <a:buFont typeface="Wingdings" panose="05000000000000000000" pitchFamily="2" charset="2"/>
              <a:buChar char="ü"/>
            </a:pPr>
            <a:r>
              <a:rPr lang="en-GB" sz="2240" dirty="0"/>
              <a:t>NAD83(HARN/HPGN): High Accuracy Reference Networks or High Precision Geodetic Networks</a:t>
            </a:r>
          </a:p>
          <a:p>
            <a:pPr>
              <a:lnSpc>
                <a:spcPct val="90000"/>
              </a:lnSpc>
              <a:buFont typeface="Courier New" panose="02070309020205020404" pitchFamily="49" charset="0"/>
              <a:buChar char="o"/>
            </a:pPr>
            <a:r>
              <a:rPr lang="en-GB" sz="2600" b="1" dirty="0"/>
              <a:t>WGS84: </a:t>
            </a:r>
            <a:r>
              <a:rPr lang="en-GB" sz="2600" dirty="0"/>
              <a:t>World Geodetic System 0f 1984</a:t>
            </a:r>
          </a:p>
          <a:p>
            <a:pPr lvl="1">
              <a:lnSpc>
                <a:spcPct val="90000"/>
              </a:lnSpc>
              <a:buFont typeface="Wingdings" panose="05000000000000000000" pitchFamily="2" charset="2"/>
              <a:buChar char="ü"/>
            </a:pPr>
            <a:r>
              <a:rPr lang="en-GB" sz="2240" dirty="0"/>
              <a:t>WGS84(xx)</a:t>
            </a:r>
          </a:p>
          <a:p>
            <a:pPr>
              <a:lnSpc>
                <a:spcPct val="90000"/>
              </a:lnSpc>
              <a:buFont typeface="Courier New" panose="02070309020205020404" pitchFamily="49" charset="0"/>
              <a:buChar char="o"/>
            </a:pPr>
            <a:r>
              <a:rPr lang="en-GB" sz="2800" b="1" dirty="0"/>
              <a:t>ITRF: </a:t>
            </a:r>
            <a:r>
              <a:rPr lang="en-GB" sz="2800" dirty="0"/>
              <a:t>International Terrestrial Reference Frames</a:t>
            </a:r>
          </a:p>
          <a:p>
            <a:pPr lvl="1">
              <a:lnSpc>
                <a:spcPct val="90000"/>
              </a:lnSpc>
              <a:buFont typeface="Wingdings" panose="05000000000000000000" pitchFamily="2" charset="2"/>
              <a:buChar char="ü"/>
            </a:pPr>
            <a:r>
              <a:rPr lang="en-GB" sz="2440" dirty="0"/>
              <a:t>ITRF89, ITRF90, ITRF91</a:t>
            </a:r>
          </a:p>
          <a:p>
            <a:pPr>
              <a:lnSpc>
                <a:spcPct val="90000"/>
              </a:lnSpc>
            </a:pPr>
            <a:endParaRPr lang="en-GB" sz="2800" b="1"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264090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D71-4312-90A7-3C6E-3E0C16EC2851}"/>
              </a:ext>
            </a:extLst>
          </p:cNvPr>
          <p:cNvSpPr>
            <a:spLocks noGrp="1"/>
          </p:cNvSpPr>
          <p:nvPr>
            <p:ph type="title"/>
          </p:nvPr>
        </p:nvSpPr>
        <p:spPr>
          <a:xfrm>
            <a:off x="392305" y="526617"/>
            <a:ext cx="7444991" cy="415079"/>
          </a:xfrm>
        </p:spPr>
        <p:txBody>
          <a:bodyPr/>
          <a:lstStyle/>
          <a:p>
            <a:r>
              <a:rPr lang="en-US" dirty="0"/>
              <a:t>Which datum google map use?</a:t>
            </a:r>
          </a:p>
        </p:txBody>
      </p:sp>
      <p:sp>
        <p:nvSpPr>
          <p:cNvPr id="3" name="Content Placeholder 2">
            <a:extLst>
              <a:ext uri="{FF2B5EF4-FFF2-40B4-BE49-F238E27FC236}">
                <a16:creationId xmlns:a16="http://schemas.microsoft.com/office/drawing/2014/main" id="{73ED3064-049B-CBBE-BA85-814BB7786C3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AA6773C-6614-0C8E-F998-73A80DEBC02A}"/>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4031250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52400" y="2020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5" name="Picture 4" descr="Diagram&#10;&#10;Description automatically generated">
            <a:extLst>
              <a:ext uri="{FF2B5EF4-FFF2-40B4-BE49-F238E27FC236}">
                <a16:creationId xmlns:a16="http://schemas.microsoft.com/office/drawing/2014/main" id="{8E5A012B-77DC-45C8-8F2D-98C4CF7F71FA}"/>
              </a:ext>
            </a:extLst>
          </p:cNvPr>
          <p:cNvPicPr>
            <a:picLocks noChangeAspect="1"/>
          </p:cNvPicPr>
          <p:nvPr/>
        </p:nvPicPr>
        <p:blipFill>
          <a:blip r:embed="rId3"/>
          <a:stretch>
            <a:fillRect/>
          </a:stretch>
        </p:blipFill>
        <p:spPr>
          <a:xfrm>
            <a:off x="1841157" y="2117671"/>
            <a:ext cx="4337221" cy="3025829"/>
          </a:xfrm>
          <a:prstGeom prst="rect">
            <a:avLst/>
          </a:prstGeom>
        </p:spPr>
      </p:pic>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2"/>
            <a:ext cx="7679724" cy="121896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WGS84 and </a:t>
            </a:r>
            <a:r>
              <a:rPr lang="en-GB" sz="2800" dirty="0"/>
              <a:t>ITRF can be considered equivalent for most purpose, as difference between them since 1995 are generally only a few centimetres</a:t>
            </a: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
        <p:nvSpPr>
          <p:cNvPr id="10" name="TextBox 9">
            <a:extLst>
              <a:ext uri="{FF2B5EF4-FFF2-40B4-BE49-F238E27FC236}">
                <a16:creationId xmlns:a16="http://schemas.microsoft.com/office/drawing/2014/main" id="{B74B018C-907B-4E6E-B81B-898FEC17D5FC}"/>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80717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118533" y="1727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GB" sz="2600" dirty="0"/>
              <a:t>Transformation</a:t>
            </a:r>
          </a:p>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745E0AA3-6DAB-4DE0-A1AF-B63C03B63C6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4D3014AE-FC79-4D65-AC15-85A4BBCBC7A2}"/>
              </a:ext>
            </a:extLst>
          </p:cNvPr>
          <p:cNvSpPr txBox="1">
            <a:spLocks/>
          </p:cNvSpPr>
          <p:nvPr/>
        </p:nvSpPr>
        <p:spPr>
          <a:xfrm>
            <a:off x="118533" y="3193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6" name="Rectangle 1027">
            <a:extLst>
              <a:ext uri="{FF2B5EF4-FFF2-40B4-BE49-F238E27FC236}">
                <a16:creationId xmlns:a16="http://schemas.microsoft.com/office/drawing/2014/main" id="{E2263CE6-897D-46C0-9305-C03576D64DA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solidFill>
                  <a:srgbClr val="FFC000"/>
                </a:solidFill>
              </a:rPr>
              <a:t>Orthometric Height (H)</a:t>
            </a:r>
          </a:p>
          <a:p>
            <a:pPr lvl="1">
              <a:lnSpc>
                <a:spcPct val="90000"/>
              </a:lnSpc>
              <a:buFont typeface="Wingdings" panose="05000000000000000000" pitchFamily="2" charset="2"/>
              <a:buChar char="ü"/>
            </a:pPr>
            <a:r>
              <a:rPr lang="en-US" sz="2440" dirty="0"/>
              <a:t>Height above geoid</a:t>
            </a:r>
          </a:p>
          <a:p>
            <a:pPr>
              <a:lnSpc>
                <a:spcPct val="90000"/>
              </a:lnSpc>
              <a:buFont typeface="Courier New" panose="02070309020205020404" pitchFamily="49" charset="0"/>
              <a:buChar char="o"/>
            </a:pPr>
            <a:r>
              <a:rPr lang="en-US" sz="2800" dirty="0">
                <a:solidFill>
                  <a:srgbClr val="FFC000"/>
                </a:solidFill>
              </a:rPr>
              <a:t>Ellipsoidal Height (h)</a:t>
            </a:r>
          </a:p>
          <a:p>
            <a:pPr lvl="1">
              <a:lnSpc>
                <a:spcPct val="90000"/>
              </a:lnSpc>
              <a:buFont typeface="Wingdings" panose="05000000000000000000" pitchFamily="2" charset="2"/>
              <a:buChar char="ü"/>
            </a:pPr>
            <a:r>
              <a:rPr lang="en-US" sz="2440" dirty="0"/>
              <a:t>height above ellipsoid</a:t>
            </a:r>
          </a:p>
          <a:p>
            <a:pPr>
              <a:lnSpc>
                <a:spcPct val="90000"/>
              </a:lnSpc>
              <a:buFont typeface="Courier New" panose="02070309020205020404" pitchFamily="49" charset="0"/>
              <a:buChar char="o"/>
            </a:pPr>
            <a:r>
              <a:rPr lang="en-US" sz="2800" dirty="0">
                <a:solidFill>
                  <a:srgbClr val="FFC000"/>
                </a:solidFill>
              </a:rPr>
              <a:t>Geoid Height (N)</a:t>
            </a:r>
          </a:p>
          <a:p>
            <a:pPr lvl="1">
              <a:lnSpc>
                <a:spcPct val="90000"/>
              </a:lnSpc>
              <a:buFont typeface="Wingdings" panose="05000000000000000000" pitchFamily="2" charset="2"/>
              <a:buChar char="ü"/>
            </a:pPr>
            <a:r>
              <a:rPr lang="en-US" sz="2440" dirty="0"/>
              <a:t>Geoid above ellipsoid</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18" name="Picture 17">
            <a:extLst>
              <a:ext uri="{FF2B5EF4-FFF2-40B4-BE49-F238E27FC236}">
                <a16:creationId xmlns:a16="http://schemas.microsoft.com/office/drawing/2014/main" id="{41003C48-1D28-4238-8FA8-29BD770C42C0}"/>
              </a:ext>
            </a:extLst>
          </p:cNvPr>
          <p:cNvPicPr>
            <a:picLocks noChangeAspect="1"/>
          </p:cNvPicPr>
          <p:nvPr/>
        </p:nvPicPr>
        <p:blipFill>
          <a:blip r:embed="rId3"/>
          <a:stretch>
            <a:fillRect/>
          </a:stretch>
        </p:blipFill>
        <p:spPr>
          <a:xfrm>
            <a:off x="1420838" y="3810733"/>
            <a:ext cx="1019175" cy="285750"/>
          </a:xfrm>
          <a:prstGeom prst="rect">
            <a:avLst/>
          </a:prstGeom>
        </p:spPr>
      </p:pic>
      <p:sp>
        <p:nvSpPr>
          <p:cNvPr id="2" name="Slide Number Placeholder 1">
            <a:extLst>
              <a:ext uri="{FF2B5EF4-FFF2-40B4-BE49-F238E27FC236}">
                <a16:creationId xmlns:a16="http://schemas.microsoft.com/office/drawing/2014/main" id="{F28F32C1-1953-4541-AC77-8091FA83AA4D}"/>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4" name="Picture 3" descr="Diagram&#10;&#10;Description automatically generated">
            <a:extLst>
              <a:ext uri="{FF2B5EF4-FFF2-40B4-BE49-F238E27FC236}">
                <a16:creationId xmlns:a16="http://schemas.microsoft.com/office/drawing/2014/main" id="{64D5F0B1-914F-4490-AAAB-E8958313837C}"/>
              </a:ext>
            </a:extLst>
          </p:cNvPr>
          <p:cNvPicPr>
            <a:picLocks noChangeAspect="1"/>
          </p:cNvPicPr>
          <p:nvPr/>
        </p:nvPicPr>
        <p:blipFill>
          <a:blip r:embed="rId4"/>
          <a:stretch>
            <a:fillRect/>
          </a:stretch>
        </p:blipFill>
        <p:spPr>
          <a:xfrm>
            <a:off x="3941258" y="2635540"/>
            <a:ext cx="3985601" cy="1920554"/>
          </a:xfrm>
          <a:prstGeom prst="rect">
            <a:avLst/>
          </a:prstGeom>
        </p:spPr>
      </p:pic>
      <p:sp>
        <p:nvSpPr>
          <p:cNvPr id="14" name="TextBox 13">
            <a:extLst>
              <a:ext uri="{FF2B5EF4-FFF2-40B4-BE49-F238E27FC236}">
                <a16:creationId xmlns:a16="http://schemas.microsoft.com/office/drawing/2014/main" id="{6CE91868-3D79-40E7-A688-BC36B47775C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015375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745E0AA3-6DAB-4DE0-A1AF-B63C03B63C6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4D3014AE-FC79-4D65-AC15-85A4BBCBC7A2}"/>
              </a:ext>
            </a:extLst>
          </p:cNvPr>
          <p:cNvSpPr txBox="1">
            <a:spLocks/>
          </p:cNvSpPr>
          <p:nvPr/>
        </p:nvSpPr>
        <p:spPr>
          <a:xfrm>
            <a:off x="118533" y="3193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a:t>
            </a:r>
            <a:endParaRPr lang="en-US" sz="2600" dirty="0">
              <a:solidFill>
                <a:srgbClr val="7030A0"/>
              </a:solidFill>
            </a:endParaRPr>
          </a:p>
        </p:txBody>
      </p:sp>
      <p:sp>
        <p:nvSpPr>
          <p:cNvPr id="6" name="Rectangle 1027">
            <a:extLst>
              <a:ext uri="{FF2B5EF4-FFF2-40B4-BE49-F238E27FC236}">
                <a16:creationId xmlns:a16="http://schemas.microsoft.com/office/drawing/2014/main" id="{E2263CE6-897D-46C0-9305-C03576D64DA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solidFill>
                  <a:srgbClr val="FFC000"/>
                </a:solidFill>
              </a:rPr>
              <a:t>Orthometric Height (H)</a:t>
            </a:r>
          </a:p>
          <a:p>
            <a:pPr lvl="1">
              <a:lnSpc>
                <a:spcPct val="90000"/>
              </a:lnSpc>
              <a:buFont typeface="Wingdings" panose="05000000000000000000" pitchFamily="2" charset="2"/>
              <a:buChar char="ü"/>
            </a:pPr>
            <a:r>
              <a:rPr lang="en-US" sz="2440" dirty="0"/>
              <a:t>Height above geoid</a:t>
            </a:r>
          </a:p>
          <a:p>
            <a:pPr>
              <a:lnSpc>
                <a:spcPct val="90000"/>
              </a:lnSpc>
              <a:buFont typeface="Courier New" panose="02070309020205020404" pitchFamily="49" charset="0"/>
              <a:buChar char="o"/>
            </a:pPr>
            <a:r>
              <a:rPr lang="en-US" sz="2800" dirty="0">
                <a:solidFill>
                  <a:srgbClr val="FFC000"/>
                </a:solidFill>
              </a:rPr>
              <a:t>Ellipsoidal Height (h)</a:t>
            </a:r>
          </a:p>
          <a:p>
            <a:pPr lvl="1">
              <a:lnSpc>
                <a:spcPct val="90000"/>
              </a:lnSpc>
              <a:buFont typeface="Wingdings" panose="05000000000000000000" pitchFamily="2" charset="2"/>
              <a:buChar char="ü"/>
            </a:pPr>
            <a:r>
              <a:rPr lang="en-US" sz="2440" dirty="0"/>
              <a:t>height above ellipsoid</a:t>
            </a:r>
          </a:p>
          <a:p>
            <a:pPr>
              <a:lnSpc>
                <a:spcPct val="90000"/>
              </a:lnSpc>
              <a:buFont typeface="Courier New" panose="02070309020205020404" pitchFamily="49" charset="0"/>
              <a:buChar char="o"/>
            </a:pPr>
            <a:r>
              <a:rPr lang="en-US" sz="2800" dirty="0">
                <a:solidFill>
                  <a:srgbClr val="FFC000"/>
                </a:solidFill>
              </a:rPr>
              <a:t>Geoid Height (N)</a:t>
            </a:r>
          </a:p>
          <a:p>
            <a:pPr lvl="1">
              <a:lnSpc>
                <a:spcPct val="90000"/>
              </a:lnSpc>
              <a:buFont typeface="Wingdings" panose="05000000000000000000" pitchFamily="2" charset="2"/>
              <a:buChar char="ü"/>
            </a:pPr>
            <a:r>
              <a:rPr lang="en-US" sz="2440" dirty="0"/>
              <a:t>Geoid above ellipsoid</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18" name="Picture 17">
            <a:extLst>
              <a:ext uri="{FF2B5EF4-FFF2-40B4-BE49-F238E27FC236}">
                <a16:creationId xmlns:a16="http://schemas.microsoft.com/office/drawing/2014/main" id="{41003C48-1D28-4238-8FA8-29BD770C42C0}"/>
              </a:ext>
            </a:extLst>
          </p:cNvPr>
          <p:cNvPicPr>
            <a:picLocks noChangeAspect="1"/>
          </p:cNvPicPr>
          <p:nvPr/>
        </p:nvPicPr>
        <p:blipFill>
          <a:blip r:embed="rId3"/>
          <a:stretch>
            <a:fillRect/>
          </a:stretch>
        </p:blipFill>
        <p:spPr>
          <a:xfrm>
            <a:off x="1420838" y="3810733"/>
            <a:ext cx="1019175" cy="285750"/>
          </a:xfrm>
          <a:prstGeom prst="rect">
            <a:avLst/>
          </a:prstGeom>
        </p:spPr>
      </p:pic>
      <p:sp>
        <p:nvSpPr>
          <p:cNvPr id="2" name="Slide Number Placeholder 1">
            <a:extLst>
              <a:ext uri="{FF2B5EF4-FFF2-40B4-BE49-F238E27FC236}">
                <a16:creationId xmlns:a16="http://schemas.microsoft.com/office/drawing/2014/main" id="{F28F32C1-1953-4541-AC77-8091FA83AA4D}"/>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14" name="TextBox 13">
            <a:extLst>
              <a:ext uri="{FF2B5EF4-FFF2-40B4-BE49-F238E27FC236}">
                <a16:creationId xmlns:a16="http://schemas.microsoft.com/office/drawing/2014/main" id="{6CE91868-3D79-40E7-A688-BC36B47775C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nature&#10;&#10;Description automatically generated">
            <a:extLst>
              <a:ext uri="{FF2B5EF4-FFF2-40B4-BE49-F238E27FC236}">
                <a16:creationId xmlns:a16="http://schemas.microsoft.com/office/drawing/2014/main" id="{5EFE6611-8F72-452D-AD71-26BBEEE2BEAC}"/>
              </a:ext>
            </a:extLst>
          </p:cNvPr>
          <p:cNvPicPr>
            <a:picLocks noChangeAspect="1"/>
          </p:cNvPicPr>
          <p:nvPr/>
        </p:nvPicPr>
        <p:blipFill>
          <a:blip r:embed="rId4"/>
          <a:stretch>
            <a:fillRect/>
          </a:stretch>
        </p:blipFill>
        <p:spPr>
          <a:xfrm>
            <a:off x="4055642" y="2502628"/>
            <a:ext cx="3871217" cy="2218682"/>
          </a:xfrm>
          <a:prstGeom prst="rect">
            <a:avLst/>
          </a:prstGeom>
        </p:spPr>
      </p:pic>
    </p:spTree>
    <p:extLst>
      <p:ext uri="{BB962C8B-B14F-4D97-AF65-F5344CB8AC3E}">
        <p14:creationId xmlns:p14="http://schemas.microsoft.com/office/powerpoint/2010/main" val="46138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B4DB0BA8-71AC-4495-9AC5-ACEFECE1E3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NGVD29: National Geodetic Vertical Datum of 1929</a:t>
            </a:r>
          </a:p>
          <a:p>
            <a:pPr lvl="1">
              <a:lnSpc>
                <a:spcPct val="90000"/>
              </a:lnSpc>
              <a:buFont typeface="Wingdings" panose="05000000000000000000" pitchFamily="2" charset="2"/>
              <a:buChar char="ü"/>
            </a:pPr>
            <a:r>
              <a:rPr lang="en-US" sz="2440" dirty="0"/>
              <a:t>No geoid, mean sea level</a:t>
            </a:r>
          </a:p>
          <a:p>
            <a:pPr>
              <a:lnSpc>
                <a:spcPct val="90000"/>
              </a:lnSpc>
              <a:buFont typeface="Courier New" panose="02070309020205020404" pitchFamily="49" charset="0"/>
              <a:buChar char="o"/>
            </a:pPr>
            <a:r>
              <a:rPr lang="en-US" sz="2800" dirty="0"/>
              <a:t>NAVD88: North American Vertical Datum of 1988 (NAVD88)</a:t>
            </a:r>
          </a:p>
          <a:p>
            <a:pPr lvl="1">
              <a:lnSpc>
                <a:spcPct val="90000"/>
              </a:lnSpc>
              <a:buFont typeface="Wingdings" panose="05000000000000000000" pitchFamily="2" charset="2"/>
              <a:buChar char="ü"/>
            </a:pPr>
            <a:r>
              <a:rPr lang="en-US" sz="2440" dirty="0"/>
              <a:t>GEOID03, GEOID09, GEOID12B</a:t>
            </a: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vertical 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411539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BD080BA-CC03-452C-A9D3-5FA2A115A4D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0226D165-166F-4690-BF41-0FAABFDAA7AE}"/>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Common vertical datum</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1C6BEA9-C11D-4021-9591-267B33051A62}"/>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6" name="Picture 5" descr="Text&#10;&#10;Description automatically generated">
            <a:extLst>
              <a:ext uri="{FF2B5EF4-FFF2-40B4-BE49-F238E27FC236}">
                <a16:creationId xmlns:a16="http://schemas.microsoft.com/office/drawing/2014/main" id="{30C37468-DE9B-42C6-993A-67D3A12115FE}"/>
              </a:ext>
            </a:extLst>
          </p:cNvPr>
          <p:cNvPicPr>
            <a:picLocks noChangeAspect="1"/>
          </p:cNvPicPr>
          <p:nvPr/>
        </p:nvPicPr>
        <p:blipFill>
          <a:blip r:embed="rId3"/>
          <a:stretch>
            <a:fillRect/>
          </a:stretch>
        </p:blipFill>
        <p:spPr>
          <a:xfrm>
            <a:off x="3977640" y="1188770"/>
            <a:ext cx="1920240" cy="3715415"/>
          </a:xfrm>
          <a:prstGeom prst="rect">
            <a:avLst/>
          </a:prstGeom>
        </p:spPr>
      </p:pic>
      <p:sp>
        <p:nvSpPr>
          <p:cNvPr id="8" name="Rectangle 1027">
            <a:extLst>
              <a:ext uri="{FF2B5EF4-FFF2-40B4-BE49-F238E27FC236}">
                <a16:creationId xmlns:a16="http://schemas.microsoft.com/office/drawing/2014/main" id="{5E7CC563-6B5C-41EA-9C3D-76E343DE1D41}"/>
              </a:ext>
            </a:extLst>
          </p:cNvPr>
          <p:cNvSpPr txBox="1">
            <a:spLocks noChangeArrowheads="1"/>
          </p:cNvSpPr>
          <p:nvPr/>
        </p:nvSpPr>
        <p:spPr>
          <a:xfrm>
            <a:off x="302741" y="1029962"/>
            <a:ext cx="3340128" cy="2924199"/>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lnSpc>
                <a:spcPct val="90000"/>
              </a:lnSpc>
              <a:buFont typeface="Courier New" panose="02070309020205020404" pitchFamily="49" charset="0"/>
              <a:buChar char="o"/>
            </a:pPr>
            <a:r>
              <a:rPr lang="en-US" sz="2800" dirty="0"/>
              <a:t>Pairing for horizontal and vertical datums for North America</a:t>
            </a:r>
            <a:endParaRPr lang="en-US" sz="2440" dirty="0"/>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spTree>
    <p:extLst>
      <p:ext uri="{BB962C8B-B14F-4D97-AF65-F5344CB8AC3E}">
        <p14:creationId xmlns:p14="http://schemas.microsoft.com/office/powerpoint/2010/main" val="41693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75484" y="996981"/>
            <a:ext cx="5505525" cy="4026344"/>
          </a:xfrm>
          <a:prstGeom prst="rect">
            <a:avLst/>
          </a:prstGeom>
        </p:spPr>
      </p:pic>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Datum/Projection Info in ArcGIS</a:t>
            </a:r>
            <a:endParaRPr lang="en-US" sz="2600" dirty="0">
              <a:solidFill>
                <a:srgbClr val="7030A0"/>
              </a:solidFill>
            </a:endParaRPr>
          </a:p>
        </p:txBody>
      </p:sp>
      <p:sp>
        <p:nvSpPr>
          <p:cNvPr id="2" name="TextBox 1">
            <a:extLst>
              <a:ext uri="{FF2B5EF4-FFF2-40B4-BE49-F238E27FC236}">
                <a16:creationId xmlns:a16="http://schemas.microsoft.com/office/drawing/2014/main" id="{E65D8217-5B5E-4B85-9D24-AF2904AC7D83}"/>
              </a:ext>
            </a:extLst>
          </p:cNvPr>
          <p:cNvSpPr txBox="1"/>
          <p:nvPr/>
        </p:nvSpPr>
        <p:spPr>
          <a:xfrm>
            <a:off x="7018638" y="4275438"/>
            <a:ext cx="976184" cy="369332"/>
          </a:xfrm>
          <a:prstGeom prst="rect">
            <a:avLst/>
          </a:prstGeom>
          <a:noFill/>
        </p:spPr>
        <p:txBody>
          <a:bodyPr wrap="square" rtlCol="0">
            <a:spAutoFit/>
          </a:bodyPr>
          <a:lstStyle/>
          <a:p>
            <a:r>
              <a:rPr lang="en-US" dirty="0" err="1"/>
              <a:t>ArcPro</a:t>
            </a:r>
            <a:endParaRPr lang="en-US" dirty="0"/>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186220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39BCE360-8580-4F4B-8587-5E8B64E7D405}"/>
              </a:ext>
            </a:extLst>
          </p:cNvPr>
          <p:cNvSpPr txBox="1">
            <a:spLocks noChangeArrowheads="1"/>
          </p:cNvSpPr>
          <p:nvPr/>
        </p:nvSpPr>
        <p:spPr>
          <a:xfrm>
            <a:off x="302741" y="1029962"/>
            <a:ext cx="5677929"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Coordinates on a Sphere</a:t>
            </a:r>
          </a:p>
          <a:p>
            <a:pPr lvl="1">
              <a:buFont typeface="Wingdings" panose="05000000000000000000" pitchFamily="2" charset="2"/>
              <a:buChar char="ü"/>
            </a:pPr>
            <a:r>
              <a:rPr lang="en-US" altLang="en-US" sz="2160" dirty="0"/>
              <a:t>Latitude and Longitude</a:t>
            </a:r>
          </a:p>
          <a:p>
            <a:pPr lvl="1">
              <a:buFont typeface="Wingdings" panose="05000000000000000000" pitchFamily="2" charset="2"/>
              <a:buChar char="ü"/>
            </a:pPr>
            <a:r>
              <a:rPr lang="en-US" altLang="en-US" sz="2160" dirty="0"/>
              <a:t>Specified as angles or degrees</a:t>
            </a:r>
          </a:p>
          <a:p>
            <a:pPr marL="308610" lvl="1" indent="-308610">
              <a:buFont typeface="Courier New" panose="02070309020205020404" pitchFamily="49" charset="0"/>
              <a:buChar char="o"/>
            </a:pPr>
            <a:r>
              <a:rPr lang="en-US" altLang="en-US" sz="2600" dirty="0"/>
              <a:t>Latitude: Angles from equator</a:t>
            </a:r>
          </a:p>
          <a:p>
            <a:pPr marL="817245" lvl="2" indent="-457200">
              <a:buFont typeface="Wingdings" panose="05000000000000000000" pitchFamily="2" charset="2"/>
              <a:buChar char="ü"/>
            </a:pPr>
            <a:r>
              <a:rPr lang="en-US" altLang="en-US" sz="2240" dirty="0"/>
              <a:t>Range 0-90 N/S</a:t>
            </a:r>
          </a:p>
          <a:p>
            <a:pPr marL="308610" lvl="1" indent="-308610">
              <a:buFont typeface="Courier New" panose="02070309020205020404" pitchFamily="49" charset="0"/>
              <a:buChar char="o"/>
            </a:pPr>
            <a:r>
              <a:rPr lang="en-US" altLang="en-US" sz="2600" dirty="0"/>
              <a:t>Longitude: Angles from prime meridian</a:t>
            </a:r>
          </a:p>
          <a:p>
            <a:pPr marL="817245" lvl="2" indent="-457200">
              <a:buFont typeface="Wingdings" panose="05000000000000000000" pitchFamily="2" charset="2"/>
              <a:buChar char="ü"/>
            </a:pPr>
            <a:r>
              <a:rPr lang="en-US" altLang="en-US" sz="2240" dirty="0"/>
              <a:t>Range 0-180 E/W</a:t>
            </a:r>
          </a:p>
          <a:p>
            <a:pPr marL="0" lvl="1" indent="0">
              <a:buNone/>
            </a:pPr>
            <a:endParaRPr lang="en-US" altLang="en-US" sz="2600" dirty="0"/>
          </a:p>
          <a:p>
            <a:pPr marL="411480" lvl="1" indent="0">
              <a:buNone/>
            </a:pPr>
            <a:endParaRPr lang="en-US" altLang="en-US" sz="2160" dirty="0"/>
          </a:p>
        </p:txBody>
      </p:sp>
      <p:cxnSp>
        <p:nvCxnSpPr>
          <p:cNvPr id="9" name="Straight Connector 8">
            <a:extLst>
              <a:ext uri="{FF2B5EF4-FFF2-40B4-BE49-F238E27FC236}">
                <a16:creationId xmlns:a16="http://schemas.microsoft.com/office/drawing/2014/main" id="{33F2CCBF-5E56-4834-8DA7-E3DBBBFB85A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A398380F-D3A4-4224-A979-1C20D39224A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pic>
        <p:nvPicPr>
          <p:cNvPr id="17" name="Picture 4" descr="Fig1_5">
            <a:extLst>
              <a:ext uri="{FF2B5EF4-FFF2-40B4-BE49-F238E27FC236}">
                <a16:creationId xmlns:a16="http://schemas.microsoft.com/office/drawing/2014/main" id="{182FF10D-FBD2-4D21-875A-451B50BAF47C}"/>
              </a:ext>
            </a:extLst>
          </p:cNvPr>
          <p:cNvPicPr>
            <a:picLocks noChangeAspect="1" noChangeArrowheads="1"/>
          </p:cNvPicPr>
          <p:nvPr/>
        </p:nvPicPr>
        <p:blipFill>
          <a:blip r:embed="rId3" cstate="print"/>
          <a:srcRect/>
          <a:stretch>
            <a:fillRect/>
          </a:stretch>
        </p:blipFill>
        <p:spPr>
          <a:xfrm>
            <a:off x="5834189" y="1018094"/>
            <a:ext cx="1862434" cy="4067601"/>
          </a:xfrm>
          <a:prstGeom prst="rect">
            <a:avLst/>
          </a:prstGeom>
          <a:noFill/>
          <a:ln/>
        </p:spPr>
      </p:pic>
      <p:sp>
        <p:nvSpPr>
          <p:cNvPr id="18" name="Footer Placeholder 8">
            <a:extLst>
              <a:ext uri="{FF2B5EF4-FFF2-40B4-BE49-F238E27FC236}">
                <a16:creationId xmlns:a16="http://schemas.microsoft.com/office/drawing/2014/main" id="{8026846C-FD1A-4037-A62E-82EFF84A6025}"/>
              </a:ext>
            </a:extLst>
          </p:cNvPr>
          <p:cNvSpPr txBox="1">
            <a:spLocks/>
          </p:cNvSpPr>
          <p:nvPr/>
        </p:nvSpPr>
        <p:spPr>
          <a:xfrm>
            <a:off x="302741" y="4753892"/>
            <a:ext cx="5105400" cy="365125"/>
          </a:xfrm>
          <a:prstGeom prst="rect">
            <a:avLst/>
          </a:prstGeom>
        </p:spPr>
        <p:txBody>
          <a:bodyPr vert="horz" lIns="91440" tIns="45720" rIns="91440" bIns="45720" rtlCol="0" anchor="ctr"/>
          <a:lstStyle>
            <a:defPPr>
              <a:defRPr lang="en-US"/>
            </a:defPPr>
            <a:lvl1pPr marL="0" algn="ctr" defTabSz="457200" rtl="0" eaLnBrk="1" latinLnBrk="0" hangingPunct="1">
              <a:defRPr sz="108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000" dirty="0">
                <a:solidFill>
                  <a:srgbClr val="7030A0"/>
                </a:solidFill>
                <a:ea typeface="ＭＳ Ｐゴシック" charset="-128"/>
              </a:rPr>
              <a:t>© 2013 by John Wiley &amp; Sons, Inc. All rights reserved.</a:t>
            </a:r>
          </a:p>
        </p:txBody>
      </p:sp>
      <p:sp>
        <p:nvSpPr>
          <p:cNvPr id="2" name="Slide Number Placeholder 1">
            <a:extLst>
              <a:ext uri="{FF2B5EF4-FFF2-40B4-BE49-F238E27FC236}">
                <a16:creationId xmlns:a16="http://schemas.microsoft.com/office/drawing/2014/main" id="{0C16B96D-0A24-49CC-8284-5913A6421139}"/>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5680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3727" y="1663955"/>
            <a:ext cx="3781457" cy="1971927"/>
          </a:xfrm>
          <a:prstGeom prst="rect">
            <a:avLst/>
          </a:prstGeom>
          <a:solidFill>
            <a:schemeClr val="tx1"/>
          </a:solidFill>
        </p:spPr>
      </p:pic>
      <p:sp>
        <p:nvSpPr>
          <p:cNvPr id="9" name="TextBox 8"/>
          <p:cNvSpPr txBox="1"/>
          <p:nvPr/>
        </p:nvSpPr>
        <p:spPr>
          <a:xfrm>
            <a:off x="0" y="1326883"/>
            <a:ext cx="4113728" cy="3066160"/>
          </a:xfrm>
          <a:prstGeom prst="rect">
            <a:avLst/>
          </a:prstGeom>
          <a:noFill/>
        </p:spPr>
        <p:txBody>
          <a:bodyPr wrap="square" rtlCol="0">
            <a:spAutoFit/>
          </a:bodyPr>
          <a:lstStyle/>
          <a:p>
            <a:pPr marL="308610" indent="-308610" defTabSz="411480">
              <a:lnSpc>
                <a:spcPct val="90000"/>
              </a:lnSpc>
              <a:spcBef>
                <a:spcPct val="20000"/>
              </a:spcBef>
              <a:buFont typeface="Courier New" panose="02070309020205020404" pitchFamily="49" charset="0"/>
              <a:buChar char="o"/>
            </a:pPr>
            <a:r>
              <a:rPr lang="en-US" sz="2600" dirty="0"/>
              <a:t>Latitude (Parallels):</a:t>
            </a:r>
          </a:p>
          <a:p>
            <a:pPr marL="668655" lvl="1" indent="-257175" defTabSz="411480">
              <a:lnSpc>
                <a:spcPct val="90000"/>
              </a:lnSpc>
              <a:spcBef>
                <a:spcPct val="20000"/>
              </a:spcBef>
              <a:buFont typeface="Wingdings" panose="05000000000000000000" pitchFamily="2" charset="2"/>
              <a:buChar char="ü"/>
            </a:pPr>
            <a:r>
              <a:rPr lang="en-US" sz="2160" dirty="0"/>
              <a:t>Measures north to south</a:t>
            </a:r>
          </a:p>
          <a:p>
            <a:pPr marL="668655" lvl="1" indent="-257175" defTabSz="411480">
              <a:lnSpc>
                <a:spcPct val="90000"/>
              </a:lnSpc>
              <a:spcBef>
                <a:spcPct val="20000"/>
              </a:spcBef>
              <a:buFont typeface="Wingdings" panose="05000000000000000000" pitchFamily="2" charset="2"/>
              <a:buChar char="ü"/>
            </a:pPr>
            <a:r>
              <a:rPr lang="en-US" sz="2160" dirty="0"/>
              <a:t>90° in each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north in the northern hemisphere</a:t>
            </a:r>
          </a:p>
          <a:p>
            <a:pPr marL="668655" lvl="1" indent="-257175" defTabSz="411480">
              <a:lnSpc>
                <a:spcPct val="90000"/>
              </a:lnSpc>
              <a:spcBef>
                <a:spcPct val="20000"/>
              </a:spcBef>
              <a:buFont typeface="Wingdings" panose="05000000000000000000" pitchFamily="2" charset="2"/>
              <a:buChar char="ü"/>
            </a:pPr>
            <a:r>
              <a:rPr lang="en-US" sz="2160" dirty="0"/>
              <a:t>Increases as you go south in the southern hemisphere</a:t>
            </a:r>
          </a:p>
          <a:p>
            <a:pPr marL="668655" lvl="1" indent="-257175" defTabSz="411480">
              <a:lnSpc>
                <a:spcPct val="90000"/>
              </a:lnSpc>
              <a:spcBef>
                <a:spcPct val="20000"/>
              </a:spcBef>
              <a:buFont typeface="Wingdings" panose="05000000000000000000" pitchFamily="2" charset="2"/>
              <a:buChar char="ü"/>
            </a:pPr>
            <a:r>
              <a:rPr lang="en-US" sz="2160" dirty="0"/>
              <a:t>Zero in Equator</a:t>
            </a:r>
          </a:p>
          <a:p>
            <a:pPr>
              <a:lnSpc>
                <a:spcPct val="90000"/>
              </a:lnSpc>
            </a:pPr>
            <a:endParaRPr lang="en-US" sz="1350" dirty="0"/>
          </a:p>
        </p:txBody>
      </p:sp>
      <p:sp>
        <p:nvSpPr>
          <p:cNvPr id="2" name="Rectangle 1"/>
          <p:cNvSpPr/>
          <p:nvPr/>
        </p:nvSpPr>
        <p:spPr>
          <a:xfrm>
            <a:off x="4138380" y="4556416"/>
            <a:ext cx="3781458" cy="587084"/>
          </a:xfrm>
          <a:prstGeom prst="rect">
            <a:avLst/>
          </a:prstGeom>
        </p:spPr>
        <p:txBody>
          <a:bodyPr wrap="square">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7847239-2B7C-40FC-B8C2-ED600088FD75}"/>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321550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C3BD925-E052-4870-9974-1064694058E3}"/>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098" name="Picture 2" descr="File:Latitude and Longitude of the Earth.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473" y="1478471"/>
            <a:ext cx="4193044" cy="2186558"/>
          </a:xfrm>
          <a:prstGeom prst="rect">
            <a:avLst/>
          </a:prstGeom>
          <a:solidFill>
            <a:schemeClr val="tx1"/>
          </a:solidFill>
        </p:spPr>
      </p:pic>
      <p:sp>
        <p:nvSpPr>
          <p:cNvPr id="9" name="TextBox 8"/>
          <p:cNvSpPr txBox="1"/>
          <p:nvPr/>
        </p:nvSpPr>
        <p:spPr>
          <a:xfrm>
            <a:off x="118533" y="940435"/>
            <a:ext cx="3601388" cy="4309641"/>
          </a:xfrm>
          <a:prstGeom prst="rect">
            <a:avLst/>
          </a:prstGeom>
          <a:noFill/>
        </p:spPr>
        <p:txBody>
          <a:bodyPr wrap="square" rtlCol="0">
            <a:spAutoFit/>
          </a:bodyPr>
          <a:lstStyle/>
          <a:p>
            <a:pPr>
              <a:lnSpc>
                <a:spcPct val="90000"/>
              </a:lnSpc>
            </a:pPr>
            <a:endParaRPr lang="en-US" sz="1350" dirty="0"/>
          </a:p>
          <a:p>
            <a:pPr marL="308610" indent="-308610" defTabSz="411480">
              <a:lnSpc>
                <a:spcPct val="90000"/>
              </a:lnSpc>
              <a:spcBef>
                <a:spcPct val="20000"/>
              </a:spcBef>
              <a:buFont typeface="Courier New" panose="02070309020205020404" pitchFamily="49" charset="0"/>
              <a:buChar char="o"/>
            </a:pPr>
            <a:r>
              <a:rPr lang="en-US" sz="2600" dirty="0"/>
              <a:t>Longitude (Meridians)</a:t>
            </a:r>
          </a:p>
          <a:p>
            <a:pPr marL="800100" lvl="1" indent="-342900">
              <a:lnSpc>
                <a:spcPct val="90000"/>
              </a:lnSpc>
              <a:buFont typeface="Wingdings" panose="05000000000000000000" pitchFamily="2" charset="2"/>
              <a:buChar char="ü"/>
            </a:pPr>
            <a:r>
              <a:rPr lang="en-US" sz="2160" dirty="0"/>
              <a:t>Measures east to west</a:t>
            </a:r>
          </a:p>
          <a:p>
            <a:pPr marL="800100" lvl="1" indent="-342900">
              <a:lnSpc>
                <a:spcPct val="90000"/>
              </a:lnSpc>
              <a:buFont typeface="Wingdings" panose="05000000000000000000" pitchFamily="2" charset="2"/>
              <a:buChar char="ü"/>
            </a:pPr>
            <a:r>
              <a:rPr lang="en-US" sz="2160" dirty="0"/>
              <a:t>180° in each hemisphere</a:t>
            </a:r>
          </a:p>
          <a:p>
            <a:pPr marL="800100" lvl="1" indent="-342900">
              <a:lnSpc>
                <a:spcPct val="90000"/>
              </a:lnSpc>
              <a:buFont typeface="Wingdings" panose="05000000000000000000" pitchFamily="2" charset="2"/>
              <a:buChar char="ü"/>
            </a:pPr>
            <a:r>
              <a:rPr lang="en-US" sz="2160" dirty="0"/>
              <a:t>Increases as you go east in the eastern hemisphere</a:t>
            </a:r>
          </a:p>
          <a:p>
            <a:pPr marL="800100" lvl="1" indent="-342900">
              <a:lnSpc>
                <a:spcPct val="90000"/>
              </a:lnSpc>
              <a:buFont typeface="Wingdings" panose="05000000000000000000" pitchFamily="2" charset="2"/>
              <a:buChar char="ü"/>
            </a:pPr>
            <a:r>
              <a:rPr lang="en-US" sz="2160" dirty="0"/>
              <a:t>Increases as you go west in the western hemisphere</a:t>
            </a:r>
          </a:p>
          <a:p>
            <a:pPr marL="800100" lvl="1" indent="-342900">
              <a:lnSpc>
                <a:spcPct val="90000"/>
              </a:lnSpc>
              <a:buFont typeface="Wingdings" panose="05000000000000000000" pitchFamily="2" charset="2"/>
              <a:buChar char="ü"/>
            </a:pPr>
            <a:r>
              <a:rPr lang="en-US" sz="2160" dirty="0"/>
              <a:t>Zero is </a:t>
            </a:r>
            <a:r>
              <a:rPr lang="en-US" sz="2160" dirty="0">
                <a:solidFill>
                  <a:srgbClr val="7030A0"/>
                </a:solidFill>
              </a:rPr>
              <a:t>Prime Meridian, </a:t>
            </a:r>
            <a:r>
              <a:rPr lang="en-US" sz="2160" dirty="0"/>
              <a:t>going through Greenwich, England</a:t>
            </a:r>
          </a:p>
        </p:txBody>
      </p:sp>
      <p:sp>
        <p:nvSpPr>
          <p:cNvPr id="2" name="Rectangle 1"/>
          <p:cNvSpPr/>
          <p:nvPr/>
        </p:nvSpPr>
        <p:spPr>
          <a:xfrm>
            <a:off x="3806110" y="4165821"/>
            <a:ext cx="4113728" cy="587084"/>
          </a:xfrm>
          <a:prstGeom prst="rect">
            <a:avLst/>
          </a:prstGeom>
        </p:spPr>
        <p:txBody>
          <a:bodyPr>
            <a:spAutoFit/>
          </a:bodyPr>
          <a:lstStyle/>
          <a:p>
            <a:r>
              <a:rPr lang="en-US" sz="1000" dirty="0">
                <a:hlinkClick r:id="rId4"/>
              </a:rPr>
              <a:t>https://commons.wikimedia.org/wiki/File:Latitude_and_Longitude_of_the_Earth.svg</a:t>
            </a:r>
            <a:endParaRPr lang="en-US" sz="1000" dirty="0"/>
          </a:p>
          <a:p>
            <a:endParaRPr lang="en-US" sz="1215" dirty="0"/>
          </a:p>
        </p:txBody>
      </p:sp>
      <p:cxnSp>
        <p:nvCxnSpPr>
          <p:cNvPr id="10" name="Straight Connector 9">
            <a:extLst>
              <a:ext uri="{FF2B5EF4-FFF2-40B4-BE49-F238E27FC236}">
                <a16:creationId xmlns:a16="http://schemas.microsoft.com/office/drawing/2014/main" id="{823D992F-35A5-499E-89DF-03203F13AD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BC5C1C7C-3351-4663-9B00-6707BE1B9C5A}"/>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2356075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F0690D3F-1287-4907-82BD-8C9B2368ED81}"/>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1 Degree = 60 Minutes = 3600 Seconds</a:t>
            </a:r>
          </a:p>
          <a:p>
            <a:pPr lvl="1">
              <a:lnSpc>
                <a:spcPct val="90000"/>
              </a:lnSpc>
              <a:buFont typeface="Wingdings" panose="05000000000000000000" pitchFamily="2" charset="2"/>
              <a:buChar char="ü"/>
            </a:pPr>
            <a:r>
              <a:rPr lang="en-US" sz="2440" dirty="0"/>
              <a:t>˚ = Degrees</a:t>
            </a:r>
          </a:p>
          <a:p>
            <a:pPr lvl="1">
              <a:lnSpc>
                <a:spcPct val="90000"/>
              </a:lnSpc>
              <a:buFont typeface="Wingdings" panose="05000000000000000000" pitchFamily="2" charset="2"/>
              <a:buChar char="ü"/>
            </a:pPr>
            <a:r>
              <a:rPr lang="en-US" sz="2440" dirty="0"/>
              <a:t>‘ = Minutes</a:t>
            </a:r>
          </a:p>
          <a:p>
            <a:pPr lvl="1">
              <a:lnSpc>
                <a:spcPct val="90000"/>
              </a:lnSpc>
              <a:buFont typeface="Wingdings" panose="05000000000000000000" pitchFamily="2" charset="2"/>
              <a:buChar char="ü"/>
            </a:pPr>
            <a:r>
              <a:rPr lang="en-US" sz="2440" dirty="0"/>
              <a:t>“ = Seconds</a:t>
            </a:r>
          </a:p>
          <a:p>
            <a:pPr marL="411480" lvl="1" indent="0">
              <a:lnSpc>
                <a:spcPct val="90000"/>
              </a:lnSpc>
              <a:buNone/>
            </a:pPr>
            <a:r>
              <a:rPr lang="en-US" sz="2440" dirty="0"/>
              <a:t>1.5 ˚ =1 ˚ 0.5X60’= 1 ˚ 30’</a:t>
            </a:r>
          </a:p>
          <a:p>
            <a:pPr marL="411480" lvl="1" indent="0">
              <a:lnSpc>
                <a:spcPct val="90000"/>
              </a:lnSpc>
              <a:buNone/>
            </a:pPr>
            <a:r>
              <a:rPr lang="en-US" sz="2440" dirty="0"/>
              <a:t>1 ˚ 30’ = 1° + (30’/60’) = 1.5°</a:t>
            </a:r>
          </a:p>
          <a:p>
            <a:pPr marL="411480" lvl="1" indent="0">
              <a:lnSpc>
                <a:spcPct val="90000"/>
              </a:lnSpc>
              <a:buNone/>
            </a:pPr>
            <a:endParaRPr lang="en-US" sz="2440" dirty="0"/>
          </a:p>
          <a:p>
            <a:pPr marL="411480" lvl="1" indent="0">
              <a:lnSpc>
                <a:spcPct val="90000"/>
              </a:lnSpc>
              <a:buNone/>
            </a:pPr>
            <a:endParaRPr lang="en-US" sz="244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F2A322D7-BC21-4C11-B78A-E3379C2B16AD}"/>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EA923B1D-85AD-49E9-9586-7D3446AA4D4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7053173-CEB8-45E8-8FE5-7B5941CA1507}"/>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46421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27">
            <a:extLst>
              <a:ext uri="{FF2B5EF4-FFF2-40B4-BE49-F238E27FC236}">
                <a16:creationId xmlns:a16="http://schemas.microsoft.com/office/drawing/2014/main" id="{7435645E-F332-4962-9C30-7E2B3B1E8757}"/>
              </a:ext>
            </a:extLst>
          </p:cNvPr>
          <p:cNvSpPr txBox="1">
            <a:spLocks noChangeArrowheads="1"/>
          </p:cNvSpPr>
          <p:nvPr/>
        </p:nvSpPr>
        <p:spPr>
          <a:xfrm>
            <a:off x="302741" y="1029962"/>
            <a:ext cx="4107894" cy="3886200"/>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600" dirty="0"/>
              <a:t>Advantages:</a:t>
            </a:r>
          </a:p>
          <a:p>
            <a:pPr lvl="1">
              <a:buFont typeface="Wingdings" panose="05000000000000000000" pitchFamily="2" charset="2"/>
              <a:buChar char="ü"/>
            </a:pPr>
            <a:r>
              <a:rPr lang="en-US" altLang="en-US" sz="2160" dirty="0"/>
              <a:t>Accurate representation</a:t>
            </a:r>
          </a:p>
          <a:p>
            <a:pPr lvl="1">
              <a:buFont typeface="Wingdings" panose="05000000000000000000" pitchFamily="2" charset="2"/>
              <a:buChar char="ü"/>
            </a:pPr>
            <a:r>
              <a:rPr lang="en-US" altLang="en-US" sz="2160" dirty="0"/>
              <a:t>Latitude and longitude lines</a:t>
            </a:r>
          </a:p>
          <a:p>
            <a:pPr lvl="1">
              <a:buFont typeface="Wingdings" panose="05000000000000000000" pitchFamily="2" charset="2"/>
              <a:buChar char="ü"/>
            </a:pPr>
            <a:r>
              <a:rPr lang="en-US" altLang="en-US" sz="2160" dirty="0"/>
              <a:t>Without distortion</a:t>
            </a:r>
          </a:p>
          <a:p>
            <a:pPr marL="308610" lvl="1" indent="-308610">
              <a:buFont typeface="Courier New" panose="02070309020205020404" pitchFamily="49" charset="0"/>
              <a:buChar char="o"/>
            </a:pPr>
            <a:r>
              <a:rPr lang="en-US" altLang="en-US" sz="2600" dirty="0"/>
              <a:t>Disadvantages</a:t>
            </a:r>
          </a:p>
          <a:p>
            <a:pPr marL="817245" lvl="2" indent="-457200">
              <a:buFont typeface="Wingdings" panose="05000000000000000000" pitchFamily="2" charset="2"/>
              <a:buChar char="ü"/>
            </a:pPr>
            <a:r>
              <a:rPr lang="en-US" altLang="en-US" sz="2240" dirty="0"/>
              <a:t>Expensive to make</a:t>
            </a:r>
          </a:p>
          <a:p>
            <a:pPr marL="817245" lvl="2" indent="-457200">
              <a:buFont typeface="Wingdings" panose="05000000000000000000" pitchFamily="2" charset="2"/>
              <a:buChar char="ü"/>
            </a:pPr>
            <a:r>
              <a:rPr lang="en-US" altLang="en-US" sz="2240" dirty="0"/>
              <a:t>Cumbersome to handle and store</a:t>
            </a:r>
          </a:p>
          <a:p>
            <a:pPr marL="817245" lvl="2" indent="-457200">
              <a:buFont typeface="Wingdings" panose="05000000000000000000" pitchFamily="2" charset="2"/>
              <a:buChar char="ü"/>
            </a:pPr>
            <a:r>
              <a:rPr lang="en-US" altLang="en-US" sz="2240" dirty="0"/>
              <a:t>Difficult to measure distance</a:t>
            </a:r>
          </a:p>
          <a:p>
            <a:pPr marL="817245" lvl="2" indent="-457200">
              <a:buFont typeface="Wingdings" panose="05000000000000000000" pitchFamily="2" charset="2"/>
              <a:buChar char="ü"/>
            </a:pPr>
            <a:r>
              <a:rPr lang="en-US" altLang="en-US" sz="2240" dirty="0"/>
              <a:t>Not fully visible at one view</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BAF570F0-51AD-4159-BFD1-24845160EA17}"/>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Geographic Coordinate Systems</a:t>
            </a:r>
            <a:endParaRPr lang="en-US" sz="2600" dirty="0">
              <a:solidFill>
                <a:srgbClr val="7030A0"/>
              </a:solidFill>
            </a:endParaRPr>
          </a:p>
        </p:txBody>
      </p:sp>
      <p:pic>
        <p:nvPicPr>
          <p:cNvPr id="5" name="Picture 4"/>
          <p:cNvPicPr>
            <a:picLocks noChangeAspect="1"/>
          </p:cNvPicPr>
          <p:nvPr/>
        </p:nvPicPr>
        <p:blipFill>
          <a:blip r:embed="rId3"/>
          <a:stretch>
            <a:fillRect/>
          </a:stretch>
        </p:blipFill>
        <p:spPr>
          <a:xfrm>
            <a:off x="4541217" y="1439886"/>
            <a:ext cx="3111949" cy="2643161"/>
          </a:xfrm>
          <a:prstGeom prst="rect">
            <a:avLst/>
          </a:prstGeom>
        </p:spPr>
      </p:pic>
      <p:sp>
        <p:nvSpPr>
          <p:cNvPr id="6" name="TextBox 5"/>
          <p:cNvSpPr txBox="1"/>
          <p:nvPr/>
        </p:nvSpPr>
        <p:spPr>
          <a:xfrm>
            <a:off x="4680732" y="4180707"/>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cxnSp>
        <p:nvCxnSpPr>
          <p:cNvPr id="8" name="Straight Connector 7">
            <a:extLst>
              <a:ext uri="{FF2B5EF4-FFF2-40B4-BE49-F238E27FC236}">
                <a16:creationId xmlns:a16="http://schemas.microsoft.com/office/drawing/2014/main" id="{017C9FB0-1B18-4D9E-8F65-6B1A2DC2284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6C726F-532B-4100-B463-9107D18091E9}"/>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69003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 2-1</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095911"/>
            <a:ext cx="7665720" cy="2246769"/>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NGS Coordinate Conversion and Transformation Tool ( NCAT) available from the U.S. NOAA/NGS website (</a:t>
            </a:r>
            <a:r>
              <a:rPr lang="en-US" sz="2000" dirty="0">
                <a:hlinkClick r:id="rId3"/>
              </a:rPr>
              <a:t>https://www.ngs.noaa.gov/NCAT/index.xhtml;jsessionid=9190FFFE418DF889CAB0942A91BA7B9F</a:t>
            </a:r>
            <a:r>
              <a:rPr lang="en-US" sz="2000" dirty="0"/>
              <a:t>) to convert the locations between different horizontal datums. And discuss:</a:t>
            </a:r>
          </a:p>
          <a:p>
            <a:pPr marL="800100" lvl="1" indent="-342900">
              <a:buFont typeface="Wingdings" panose="05000000000000000000" pitchFamily="2" charset="2"/>
              <a:buChar char="ü"/>
            </a:pPr>
            <a:r>
              <a:rPr lang="en-US" sz="2000" dirty="0"/>
              <a:t>What are your converted lats/</a:t>
            </a:r>
            <a:r>
              <a:rPr lang="en-US" sz="2000" dirty="0" err="1"/>
              <a:t>lons</a:t>
            </a:r>
            <a:r>
              <a:rPr lang="en-US" sz="2000" dirty="0"/>
              <a:t>? </a:t>
            </a:r>
          </a:p>
          <a:p>
            <a:pPr marL="800100" lvl="1" indent="-342900">
              <a:buFont typeface="Wingdings" panose="05000000000000000000" pitchFamily="2" charset="2"/>
              <a:buChar char="ü"/>
            </a:pPr>
            <a:r>
              <a:rPr lang="en-US" sz="2000" dirty="0"/>
              <a:t>Are the locations different with different datums?</a:t>
            </a:r>
          </a:p>
        </p:txBody>
      </p:sp>
      <p:sp>
        <p:nvSpPr>
          <p:cNvPr id="2" name="TextBox 1">
            <a:extLst>
              <a:ext uri="{FF2B5EF4-FFF2-40B4-BE49-F238E27FC236}">
                <a16:creationId xmlns:a16="http://schemas.microsoft.com/office/drawing/2014/main" id="{579614B1-16D6-4C40-8C27-5C9B86F4D76A}"/>
              </a:ext>
            </a:extLst>
          </p:cNvPr>
          <p:cNvSpPr txBox="1"/>
          <p:nvPr/>
        </p:nvSpPr>
        <p:spPr>
          <a:xfrm>
            <a:off x="645460" y="3342680"/>
            <a:ext cx="6586483" cy="1754326"/>
          </a:xfrm>
          <a:prstGeom prst="rect">
            <a:avLst/>
          </a:prstGeom>
          <a:noFill/>
        </p:spPr>
        <p:txBody>
          <a:bodyPr wrap="none" rtlCol="0">
            <a:spAutoFit/>
          </a:bodyPr>
          <a:lstStyle/>
          <a:p>
            <a:pPr marL="285750" indent="-285750">
              <a:buFont typeface="Wingdings" panose="05000000000000000000" pitchFamily="2" charset="2"/>
              <a:buChar char="ü"/>
            </a:pPr>
            <a:r>
              <a:rPr lang="en-US" dirty="0"/>
              <a:t>Convert locations from </a:t>
            </a:r>
            <a:r>
              <a:rPr lang="en-US" dirty="0" err="1"/>
              <a:t>NAD27</a:t>
            </a:r>
            <a:r>
              <a:rPr lang="en-US" dirty="0"/>
              <a:t> to </a:t>
            </a:r>
            <a:r>
              <a:rPr lang="en-US" dirty="0" err="1"/>
              <a:t>NAD83</a:t>
            </a:r>
            <a:r>
              <a:rPr lang="en-US" dirty="0"/>
              <a:t>(86)</a:t>
            </a:r>
          </a:p>
          <a:p>
            <a:pPr marL="742950" lvl="1" indent="-285750">
              <a:buFont typeface="Arial" panose="020B0604020202020204" pitchFamily="34" charset="0"/>
              <a:buChar char="•"/>
            </a:pPr>
            <a:r>
              <a:rPr lang="en-US" dirty="0"/>
              <a:t>Wisconsin: </a:t>
            </a:r>
            <a:r>
              <a:rPr lang="en-US" dirty="0" err="1"/>
              <a:t>lat</a:t>
            </a:r>
            <a:r>
              <a:rPr lang="en-US" dirty="0"/>
              <a:t>: </a:t>
            </a:r>
            <a:r>
              <a:rPr lang="en-US" dirty="0" err="1"/>
              <a:t>43°07’59”N</a:t>
            </a:r>
            <a:r>
              <a:rPr lang="en-US" dirty="0"/>
              <a:t> and </a:t>
            </a:r>
            <a:r>
              <a:rPr lang="en-US" dirty="0" err="1"/>
              <a:t>lon</a:t>
            </a:r>
            <a:r>
              <a:rPr lang="en-US" dirty="0"/>
              <a:t>: </a:t>
            </a:r>
            <a:r>
              <a:rPr lang="en-US" dirty="0" err="1"/>
              <a:t>89°20’11’’W</a:t>
            </a:r>
            <a:endParaRPr lang="en-US" dirty="0"/>
          </a:p>
          <a:p>
            <a:pPr marL="742950" lvl="1" indent="-285750">
              <a:buFont typeface="Arial" panose="020B0604020202020204" pitchFamily="34" charset="0"/>
              <a:buChar char="•"/>
            </a:pPr>
            <a:r>
              <a:rPr lang="en-US" dirty="0"/>
              <a:t>Colorado: </a:t>
            </a:r>
            <a:r>
              <a:rPr lang="en-US" dirty="0" err="1"/>
              <a:t>lat</a:t>
            </a:r>
            <a:r>
              <a:rPr lang="en-US" dirty="0"/>
              <a:t> </a:t>
            </a:r>
            <a:r>
              <a:rPr lang="en-US" dirty="0" err="1"/>
              <a:t>40°00’00’’N</a:t>
            </a:r>
            <a:r>
              <a:rPr lang="en-US" dirty="0"/>
              <a:t> and </a:t>
            </a:r>
            <a:r>
              <a:rPr lang="en-US" dirty="0" err="1"/>
              <a:t>lon</a:t>
            </a:r>
            <a:r>
              <a:rPr lang="en-US" dirty="0"/>
              <a:t>: 105°16’01’’ W</a:t>
            </a:r>
          </a:p>
          <a:p>
            <a:endParaRPr lang="en-US" dirty="0"/>
          </a:p>
          <a:p>
            <a:pPr marL="285750" indent="-285750">
              <a:buFont typeface="Wingdings" panose="05000000000000000000" pitchFamily="2" charset="2"/>
              <a:buChar char="ü"/>
            </a:pPr>
            <a:r>
              <a:rPr lang="en-US" dirty="0"/>
              <a:t>Convert locations from </a:t>
            </a:r>
            <a:r>
              <a:rPr lang="en-US" dirty="0" err="1"/>
              <a:t>NAD83</a:t>
            </a:r>
            <a:r>
              <a:rPr lang="en-US" dirty="0"/>
              <a:t>(86) to </a:t>
            </a:r>
            <a:r>
              <a:rPr lang="en-US" dirty="0" err="1"/>
              <a:t>NAD27</a:t>
            </a:r>
            <a:endParaRPr lang="en-US" dirty="0"/>
          </a:p>
          <a:p>
            <a:pPr marL="742950" lvl="1" indent="-285750">
              <a:buFont typeface="Arial" panose="020B0604020202020204" pitchFamily="34" charset="0"/>
              <a:buChar char="•"/>
            </a:pPr>
            <a:r>
              <a:rPr lang="en-US" dirty="0"/>
              <a:t>Wash. D.C.: </a:t>
            </a:r>
            <a:r>
              <a:rPr lang="en-US" dirty="0" err="1"/>
              <a:t>lat</a:t>
            </a:r>
            <a:r>
              <a:rPr lang="en-US" dirty="0"/>
              <a:t>: </a:t>
            </a:r>
            <a:r>
              <a:rPr lang="en-US" dirty="0" err="1"/>
              <a:t>38°51’10.4052’N</a:t>
            </a:r>
            <a:r>
              <a:rPr lang="en-US" dirty="0"/>
              <a:t> and </a:t>
            </a:r>
            <a:r>
              <a:rPr lang="en-US" dirty="0" err="1"/>
              <a:t>lon</a:t>
            </a:r>
            <a:r>
              <a:rPr lang="en-US" dirty="0"/>
              <a:t>: 77°02’19.9165’’ W</a:t>
            </a:r>
          </a:p>
        </p:txBody>
      </p:sp>
    </p:spTree>
    <p:extLst>
      <p:ext uri="{BB962C8B-B14F-4D97-AF65-F5344CB8AC3E}">
        <p14:creationId xmlns:p14="http://schemas.microsoft.com/office/powerpoint/2010/main" val="3662962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 2-1</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095911"/>
            <a:ext cx="7665720" cy="1323439"/>
          </a:xfrm>
          <a:prstGeom prst="rect">
            <a:avLst/>
          </a:prstGeom>
          <a:noFill/>
        </p:spPr>
        <p:txBody>
          <a:bodyPr wrap="square">
            <a:spAutoFit/>
          </a:bodyPr>
          <a:lstStyle/>
          <a:p>
            <a:pPr marL="285750" indent="-285750">
              <a:buFont typeface="Courier New" panose="02070309020205020404" pitchFamily="49" charset="0"/>
              <a:buChar char="o"/>
            </a:pPr>
            <a:r>
              <a:rPr lang="en-US" sz="2000" dirty="0"/>
              <a:t>Use the NCAT software available from the U.S. NOAA/NGS website (</a:t>
            </a:r>
            <a:r>
              <a:rPr lang="en-US" sz="2000" dirty="0">
                <a:hlinkClick r:id="rId3"/>
              </a:rPr>
              <a:t>https://www.ngs.noaa.gov/NCAT/</a:t>
            </a:r>
            <a:r>
              <a:rPr lang="en-US" sz="2000" dirty="0"/>
              <a:t>) to fill the following table. Note that all of these points are in the continental United States (CONUS) and longitudes are west, but entered as positive numbers.</a:t>
            </a:r>
          </a:p>
        </p:txBody>
      </p:sp>
      <p:pic>
        <p:nvPicPr>
          <p:cNvPr id="5" name="Picture 4">
            <a:extLst>
              <a:ext uri="{FF2B5EF4-FFF2-40B4-BE49-F238E27FC236}">
                <a16:creationId xmlns:a16="http://schemas.microsoft.com/office/drawing/2014/main" id="{42444750-AC4A-4695-B43E-4AA0646E7687}"/>
              </a:ext>
            </a:extLst>
          </p:cNvPr>
          <p:cNvPicPr>
            <a:picLocks noChangeAspect="1"/>
          </p:cNvPicPr>
          <p:nvPr/>
        </p:nvPicPr>
        <p:blipFill>
          <a:blip r:embed="rId4"/>
          <a:stretch>
            <a:fillRect/>
          </a:stretch>
        </p:blipFill>
        <p:spPr>
          <a:xfrm>
            <a:off x="1145029" y="2719335"/>
            <a:ext cx="5049854" cy="2046907"/>
          </a:xfrm>
          <a:prstGeom prst="rect">
            <a:avLst/>
          </a:prstGeom>
        </p:spPr>
      </p:pic>
    </p:spTree>
    <p:extLst>
      <p:ext uri="{BB962C8B-B14F-4D97-AF65-F5344CB8AC3E}">
        <p14:creationId xmlns:p14="http://schemas.microsoft.com/office/powerpoint/2010/main" val="3196497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2400" dirty="0"/>
              <a:t>Map projections allow us to view the 3D Earth on a 2D surface</a:t>
            </a:r>
          </a:p>
          <a:p>
            <a:pPr marL="308610" lvl="1" indent="-308610">
              <a:buFont typeface="Courier New" panose="02070309020205020404" pitchFamily="49" charset="0"/>
              <a:buChar char="o"/>
            </a:pPr>
            <a:r>
              <a:rPr lang="en-US" altLang="en-US" sz="2400" dirty="0"/>
              <a:t>Earth is mathematically projected to a surface that can be made flat</a:t>
            </a:r>
          </a:p>
          <a:p>
            <a:pPr marL="308610" lvl="1" indent="-308610">
              <a:buFont typeface="Courier New" panose="02070309020205020404" pitchFamily="49" charset="0"/>
              <a:buChar char="o"/>
            </a:pPr>
            <a:r>
              <a:rPr lang="en-US" altLang="en-US" sz="2400" dirty="0"/>
              <a:t>We now make measurements in distance or length units as opposed to degrees</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12" name="Picture 2" descr="File:Cartesian coordinate system (comma).svg">
            <a:extLst>
              <a:ext uri="{FF2B5EF4-FFF2-40B4-BE49-F238E27FC236}">
                <a16:creationId xmlns:a16="http://schemas.microsoft.com/office/drawing/2014/main" id="{2D31ABAD-1876-4EC1-B39B-075532755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16" name="Rectangle 15">
            <a:extLst>
              <a:ext uri="{FF2B5EF4-FFF2-40B4-BE49-F238E27FC236}">
                <a16:creationId xmlns:a16="http://schemas.microsoft.com/office/drawing/2014/main" id="{BBB1338A-3A9D-4014-AA8B-2A0796C78CD3}"/>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F0453AF4-6AD4-4087-9CBB-C630F6A20D2D}"/>
              </a:ext>
            </a:extLst>
          </p:cNvPr>
          <p:cNvSpPr>
            <a:spLocks noGrp="1"/>
          </p:cNvSpPr>
          <p:nvPr>
            <p:ph type="sldNum" sz="quarter" idx="12"/>
          </p:nvPr>
        </p:nvSpPr>
        <p:spPr/>
        <p:txBody>
          <a:bodyPr/>
          <a:lstStyle/>
          <a:p>
            <a:fld id="{127DDC20-79C9-9647-820E-6D40A3D210C3}" type="slidenum">
              <a:rPr lang="en-US" smtClean="0"/>
              <a:pPr/>
              <a:t>31</a:t>
            </a:fld>
            <a:endParaRPr lang="en-US"/>
          </a:p>
        </p:txBody>
      </p:sp>
    </p:spTree>
    <p:extLst>
      <p:ext uri="{BB962C8B-B14F-4D97-AF65-F5344CB8AC3E}">
        <p14:creationId xmlns:p14="http://schemas.microsoft.com/office/powerpoint/2010/main" val="4072628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8269809-D32A-42CA-8E1F-E095C87C6E8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308610" lvl="1" indent="-308610">
              <a:buFont typeface="Courier New" panose="02070309020205020404" pitchFamily="49" charset="0"/>
              <a:buChar char="o"/>
            </a:pPr>
            <a:r>
              <a:rPr lang="en-US" altLang="en-US" sz="2600" dirty="0"/>
              <a:t>They allow us to make measurements in a Cartesian coordinate system on a plane</a:t>
            </a:r>
          </a:p>
          <a:p>
            <a:pPr marL="308610" lvl="1" indent="-308610">
              <a:buFont typeface="Courier New" panose="02070309020205020404" pitchFamily="49" charset="0"/>
              <a:buChar char="o"/>
            </a:pPr>
            <a:r>
              <a:rPr lang="en-US" altLang="en-US" sz="2600" dirty="0"/>
              <a:t>These 2D surface are known as </a:t>
            </a:r>
            <a:r>
              <a:rPr lang="en-US" altLang="en-US" sz="2600" dirty="0">
                <a:solidFill>
                  <a:srgbClr val="7030A0"/>
                </a:solidFill>
              </a:rPr>
              <a:t>map projections</a:t>
            </a:r>
            <a:r>
              <a:rPr lang="en-US" altLang="en-US" sz="2600" dirty="0"/>
              <a:t>.</a:t>
            </a:r>
          </a:p>
          <a:p>
            <a:pPr marL="0" lvl="1" indent="0">
              <a:buNone/>
            </a:pPr>
            <a:endParaRPr lang="en-US" altLang="en-US" sz="2600" dirty="0"/>
          </a:p>
          <a:p>
            <a:pPr marL="411480" lvl="1" indent="0">
              <a:buNone/>
            </a:pPr>
            <a:endParaRPr lang="en-US" altLang="en-US" sz="2160" dirty="0"/>
          </a:p>
        </p:txBody>
      </p:sp>
      <p:sp>
        <p:nvSpPr>
          <p:cNvPr id="7" name="Title 1">
            <a:extLst>
              <a:ext uri="{FF2B5EF4-FFF2-40B4-BE49-F238E27FC236}">
                <a16:creationId xmlns:a16="http://schemas.microsoft.com/office/drawing/2014/main" id="{5F16C27D-A469-4F31-8194-7DA8FFFE1EDF}"/>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6C1CC7-670A-4019-ADC2-BB4666F4A67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pic>
        <p:nvPicPr>
          <p:cNvPr id="4" name="Picture 2" descr="File:Cartesian coordinate system (comma).svg">
            <a:extLst>
              <a:ext uri="{FF2B5EF4-FFF2-40B4-BE49-F238E27FC236}">
                <a16:creationId xmlns:a16="http://schemas.microsoft.com/office/drawing/2014/main" id="{3F55F73B-67A7-4338-A658-1FBC3C22C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14" y="3055185"/>
            <a:ext cx="2035199" cy="2035199"/>
          </a:xfrm>
          <a:prstGeom prst="rect">
            <a:avLst/>
          </a:prstGeom>
          <a:solidFill>
            <a:schemeClr val="tx1"/>
          </a:solidFill>
        </p:spPr>
      </p:pic>
      <p:sp>
        <p:nvSpPr>
          <p:cNvPr id="5" name="Rectangle 4">
            <a:extLst>
              <a:ext uri="{FF2B5EF4-FFF2-40B4-BE49-F238E27FC236}">
                <a16:creationId xmlns:a16="http://schemas.microsoft.com/office/drawing/2014/main" id="{7F931FA7-089A-4943-A3A0-BB72E95F2B64}"/>
              </a:ext>
            </a:extLst>
          </p:cNvPr>
          <p:cNvSpPr/>
          <p:nvPr/>
        </p:nvSpPr>
        <p:spPr>
          <a:xfrm>
            <a:off x="114821" y="4881424"/>
            <a:ext cx="4763475" cy="391646"/>
          </a:xfrm>
          <a:prstGeom prst="rect">
            <a:avLst/>
          </a:prstGeom>
        </p:spPr>
        <p:txBody>
          <a:bodyPr wrap="square">
            <a:spAutoFit/>
          </a:bodyPr>
          <a:lstStyle/>
          <a:p>
            <a:r>
              <a:rPr lang="en-US" sz="1000" dirty="0">
                <a:hlinkClick r:id="rId4"/>
              </a:rPr>
              <a:t>https://commons.wikimedia.org/wiki/File:Cartesian_coordinate_system_(comma).svg</a:t>
            </a:r>
            <a:endParaRPr lang="en-US" sz="1000" dirty="0"/>
          </a:p>
          <a:p>
            <a:endParaRPr lang="en-US" sz="945" dirty="0"/>
          </a:p>
        </p:txBody>
      </p:sp>
      <p:sp>
        <p:nvSpPr>
          <p:cNvPr id="2" name="Slide Number Placeholder 1">
            <a:extLst>
              <a:ext uri="{FF2B5EF4-FFF2-40B4-BE49-F238E27FC236}">
                <a16:creationId xmlns:a16="http://schemas.microsoft.com/office/drawing/2014/main" id="{67B5BB24-EB69-471E-A74E-8E36D14CC1B7}"/>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9076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Courier New" panose="02070309020205020404" pitchFamily="49" charset="0"/>
              <a:buChar char="o"/>
            </a:pPr>
            <a:r>
              <a:rPr lang="en-US" dirty="0"/>
              <a:t>X, Y, Z</a:t>
            </a:r>
          </a:p>
        </p:txBody>
      </p:sp>
      <p:sp>
        <p:nvSpPr>
          <p:cNvPr id="2" name="Slide Number Placeholder 1">
            <a:extLst>
              <a:ext uri="{FF2B5EF4-FFF2-40B4-BE49-F238E27FC236}">
                <a16:creationId xmlns:a16="http://schemas.microsoft.com/office/drawing/2014/main" id="{DA9223E7-8A9B-4B39-8C47-479D604EB7C1}"/>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6" name="Rectangle 5"/>
          <p:cNvSpPr/>
          <p:nvPr/>
        </p:nvSpPr>
        <p:spPr>
          <a:xfrm>
            <a:off x="39171" y="4867001"/>
            <a:ext cx="4113728" cy="246221"/>
          </a:xfrm>
          <a:prstGeom prst="rect">
            <a:avLst/>
          </a:prstGeom>
        </p:spPr>
        <p:txBody>
          <a:bodyPr>
            <a:spAutoFit/>
          </a:bodyPr>
          <a:lstStyle/>
          <a:p>
            <a:r>
              <a:rPr lang="en-US" sz="1000" dirty="0">
                <a:hlinkClick r:id="rId3"/>
              </a:rPr>
              <a:t>https://en.wikipedia.org/wiki/Cartesian_coordinate_system</a:t>
            </a:r>
            <a:endParaRPr lang="en-US" sz="945" dirty="0"/>
          </a:p>
        </p:txBody>
      </p:sp>
      <p:sp>
        <p:nvSpPr>
          <p:cNvPr id="8" name="Title 1">
            <a:extLst>
              <a:ext uri="{FF2B5EF4-FFF2-40B4-BE49-F238E27FC236}">
                <a16:creationId xmlns:a16="http://schemas.microsoft.com/office/drawing/2014/main" id="{492387E2-6D83-41E2-BB5E-D681E45B2430}"/>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Projected Coordinate Systems</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5EA263F3-1E3F-4978-9CE9-0EE85F1F084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6146" name="Picture 2">
            <a:extLst>
              <a:ext uri="{FF2B5EF4-FFF2-40B4-BE49-F238E27FC236}">
                <a16:creationId xmlns:a16="http://schemas.microsoft.com/office/drawing/2014/main" id="{13851574-7138-462C-B538-1150AB6E25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5657" y="1214929"/>
            <a:ext cx="3496235" cy="337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110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5979"/>
            <a:ext cx="7741920" cy="857250"/>
          </a:xfrm>
        </p:spPr>
        <p:txBody>
          <a:bodyPr>
            <a:noAutofit/>
          </a:bodyPr>
          <a:lstStyle/>
          <a:p>
            <a:pPr algn="l"/>
            <a:r>
              <a:rPr lang="en-US" sz="3200" b="1" dirty="0">
                <a:solidFill>
                  <a:srgbClr val="7030A0"/>
                </a:solidFill>
              </a:rPr>
              <a:t>Geographic</a:t>
            </a:r>
            <a:r>
              <a:rPr lang="en-US" sz="3200" dirty="0">
                <a:solidFill>
                  <a:srgbClr val="7030A0"/>
                </a:solidFill>
              </a:rPr>
              <a:t> vs </a:t>
            </a:r>
            <a:r>
              <a:rPr lang="en-US" sz="3200" b="1" dirty="0">
                <a:solidFill>
                  <a:srgbClr val="7030A0"/>
                </a:solidFill>
              </a:rPr>
              <a:t>Projected Coordinate Systems</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411480" y="1200151"/>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34</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205979"/>
            <a:ext cx="7741920" cy="857250"/>
          </a:xfrm>
        </p:spPr>
        <p:txBody>
          <a:bodyPr>
            <a:noAutofit/>
          </a:bodyPr>
          <a:lstStyle/>
          <a:p>
            <a:pPr algn="l"/>
            <a:r>
              <a:rPr lang="en-US" sz="3200" b="1" dirty="0">
                <a:solidFill>
                  <a:srgbClr val="7030A0"/>
                </a:solidFill>
              </a:rPr>
              <a:t>Geographic</a:t>
            </a:r>
            <a:r>
              <a:rPr lang="en-US" sz="3200" dirty="0">
                <a:solidFill>
                  <a:srgbClr val="7030A0"/>
                </a:solidFill>
              </a:rPr>
              <a:t> vs </a:t>
            </a:r>
            <a:r>
              <a:rPr lang="en-US" sz="3200" b="1" dirty="0">
                <a:solidFill>
                  <a:srgbClr val="7030A0"/>
                </a:solidFill>
              </a:rPr>
              <a:t>Projected Coordinate Systems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35</a:t>
            </a:fld>
            <a:endParaRPr lang="en-US"/>
          </a:p>
        </p:txBody>
      </p:sp>
      <p:pic>
        <p:nvPicPr>
          <p:cNvPr id="7" name="Picture 6"/>
          <p:cNvPicPr>
            <a:picLocks noChangeAspect="1"/>
          </p:cNvPicPr>
          <p:nvPr/>
        </p:nvPicPr>
        <p:blipFill>
          <a:blip r:embed="rId3"/>
          <a:stretch>
            <a:fillRect/>
          </a:stretch>
        </p:blipFill>
        <p:spPr>
          <a:xfrm>
            <a:off x="4269145" y="1563580"/>
            <a:ext cx="3384074" cy="2903619"/>
          </a:xfrm>
          <a:prstGeom prst="rect">
            <a:avLst/>
          </a:prstGeom>
        </p:spPr>
      </p:pic>
      <p:pic>
        <p:nvPicPr>
          <p:cNvPr id="8" name="Picture 7"/>
          <p:cNvPicPr>
            <a:picLocks noChangeAspect="1"/>
          </p:cNvPicPr>
          <p:nvPr/>
        </p:nvPicPr>
        <p:blipFill>
          <a:blip r:embed="rId4"/>
          <a:stretch>
            <a:fillRect/>
          </a:stretch>
        </p:blipFill>
        <p:spPr>
          <a:xfrm>
            <a:off x="770654" y="1661757"/>
            <a:ext cx="3111949" cy="2643161"/>
          </a:xfrm>
          <a:prstGeom prst="rect">
            <a:avLst/>
          </a:prstGeom>
        </p:spPr>
      </p:pic>
      <p:sp>
        <p:nvSpPr>
          <p:cNvPr id="9" name="TextBox 8"/>
          <p:cNvSpPr txBox="1"/>
          <p:nvPr/>
        </p:nvSpPr>
        <p:spPr>
          <a:xfrm>
            <a:off x="4835077" y="4526790"/>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sp>
        <p:nvSpPr>
          <p:cNvPr id="10" name="TextBox 9"/>
          <p:cNvSpPr txBox="1"/>
          <p:nvPr/>
        </p:nvSpPr>
        <p:spPr>
          <a:xfrm>
            <a:off x="1388035" y="4542867"/>
            <a:ext cx="2675317" cy="230832"/>
          </a:xfrm>
          <a:prstGeom prst="rect">
            <a:avLst/>
          </a:prstGeom>
          <a:noFill/>
        </p:spPr>
        <p:txBody>
          <a:bodyPr wrap="square" rtlCol="0">
            <a:spAutoFit/>
          </a:bodyPr>
          <a:lstStyle/>
          <a:p>
            <a:pPr>
              <a:lnSpc>
                <a:spcPct val="90000"/>
              </a:lnSpc>
            </a:pPr>
            <a:r>
              <a:rPr lang="en-US" sz="1000" dirty="0"/>
              <a:t>Image from ArcGIS API for JavaScript</a:t>
            </a:r>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3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152400" y="1993106"/>
            <a:ext cx="8001000" cy="2807494"/>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buFontTx/>
              <a:buNone/>
            </a:pPr>
            <a:r>
              <a:rPr lang="en-US" sz="2400" kern="0" dirty="0"/>
              <a:t>	Shine a light from  center of earth</a:t>
            </a:r>
            <a:br>
              <a:rPr lang="en-US" sz="2400" kern="0" dirty="0"/>
            </a:br>
            <a:endParaRPr lang="en-US" sz="2400" kern="0" dirty="0"/>
          </a:p>
          <a:p>
            <a:pPr>
              <a:buFontTx/>
              <a:buNone/>
            </a:pPr>
            <a:r>
              <a:rPr lang="en-US" sz="2400" kern="0" dirty="0"/>
              <a:t>	Onto a “physical surface:”</a:t>
            </a:r>
            <a:br>
              <a:rPr lang="en-US" sz="2400" kern="0" dirty="0"/>
            </a:br>
            <a:r>
              <a:rPr lang="en-US" sz="2700" kern="0" dirty="0"/>
              <a:t>  1.  Plane</a:t>
            </a:r>
            <a:br>
              <a:rPr lang="en-US" sz="2700" kern="0" dirty="0"/>
            </a:br>
            <a:r>
              <a:rPr lang="en-US" sz="2700" kern="0" dirty="0"/>
              <a:t>  2.  Cone</a:t>
            </a:r>
            <a:br>
              <a:rPr lang="en-US" sz="2700" kern="0" dirty="0"/>
            </a:br>
            <a:r>
              <a:rPr lang="en-US" sz="2700" kern="0" dirty="0"/>
              <a:t>  3.  Cylinder</a:t>
            </a:r>
          </a:p>
        </p:txBody>
      </p:sp>
      <p:sp>
        <p:nvSpPr>
          <p:cNvPr id="7" name="Rectangle 4"/>
          <p:cNvSpPr txBox="1">
            <a:spLocks noChangeArrowheads="1"/>
          </p:cNvSpPr>
          <p:nvPr/>
        </p:nvSpPr>
        <p:spPr>
          <a:xfrm>
            <a:off x="1200150" y="1195948"/>
            <a:ext cx="5829300" cy="85725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sz="3300" kern="0" dirty="0"/>
              <a:t>How?</a:t>
            </a:r>
          </a:p>
        </p:txBody>
      </p:sp>
      <p:cxnSp>
        <p:nvCxnSpPr>
          <p:cNvPr id="8" name="Straight Connector 7">
            <a:extLst>
              <a:ext uri="{FF2B5EF4-FFF2-40B4-BE49-F238E27FC236}">
                <a16:creationId xmlns:a16="http://schemas.microsoft.com/office/drawing/2014/main" id="{DA313D93-7E78-4F22-A305-33DC7C39356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52972AE4-0302-4B03-A227-B6EA8979D703}"/>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6C38DB8D-67A0-43F5-8BBC-1850434253BC}"/>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1604582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969098" y="1834275"/>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6"/>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027">
            <a:extLst>
              <a:ext uri="{FF2B5EF4-FFF2-40B4-BE49-F238E27FC236}">
                <a16:creationId xmlns:a16="http://schemas.microsoft.com/office/drawing/2014/main" id="{96F9FB1B-D27A-467E-9B59-668466F0F3CC}"/>
              </a:ext>
            </a:extLst>
          </p:cNvPr>
          <p:cNvSpPr txBox="1">
            <a:spLocks noChangeArrowheads="1"/>
          </p:cNvSpPr>
          <p:nvPr/>
        </p:nvSpPr>
        <p:spPr>
          <a:xfrm>
            <a:off x="302741" y="1029962"/>
            <a:ext cx="7679724" cy="1003947"/>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lnSpc>
                <a:spcPct val="90000"/>
              </a:lnSpc>
              <a:buFont typeface="Wingdings" panose="05000000000000000000" pitchFamily="2" charset="2"/>
              <a:buChar char="ü"/>
            </a:pPr>
            <a:r>
              <a:rPr lang="en-US" sz="2440" dirty="0"/>
              <a:t>Different orientation of developable surface with Earth</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pic>
        <p:nvPicPr>
          <p:cNvPr id="6" name="Picture 5"/>
          <p:cNvPicPr/>
          <p:nvPr/>
        </p:nvPicPr>
        <p:blipFill>
          <a:blip r:embed="rId3"/>
          <a:stretch>
            <a:fillRect/>
          </a:stretch>
        </p:blipFill>
        <p:spPr>
          <a:xfrm>
            <a:off x="1490932" y="2057266"/>
            <a:ext cx="5148819" cy="2418932"/>
          </a:xfrm>
          <a:prstGeom prst="rect">
            <a:avLst/>
          </a:prstGeom>
        </p:spPr>
      </p:pic>
      <p:sp>
        <p:nvSpPr>
          <p:cNvPr id="4" name="TextBox 3"/>
          <p:cNvSpPr txBox="1"/>
          <p:nvPr/>
        </p:nvSpPr>
        <p:spPr>
          <a:xfrm>
            <a:off x="1645277" y="4072198"/>
            <a:ext cx="4994474" cy="316690"/>
          </a:xfrm>
          <a:prstGeom prst="rect">
            <a:avLst/>
          </a:prstGeom>
          <a:solidFill>
            <a:schemeClr val="tx1"/>
          </a:solidFill>
        </p:spPr>
        <p:txBody>
          <a:bodyPr wrap="square" rtlCol="0">
            <a:spAutoFit/>
          </a:bodyPr>
          <a:lstStyle/>
          <a:p>
            <a:pPr>
              <a:lnSpc>
                <a:spcPct val="90000"/>
              </a:lnSpc>
            </a:pPr>
            <a:r>
              <a:rPr lang="en-US" sz="1620" dirty="0">
                <a:solidFill>
                  <a:schemeClr val="bg1"/>
                </a:solidFill>
              </a:rPr>
              <a:t>Normal	       Transverse		             Oblique</a:t>
            </a:r>
          </a:p>
        </p:txBody>
      </p:sp>
      <p:pic>
        <p:nvPicPr>
          <p:cNvPr id="7" name="Picture 2" descr="File:Latitude and longitude graticule on an ellipsoid.sv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6725" y="2869177"/>
            <a:ext cx="874623" cy="7951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ile:Latitude and longitude graticule on an ellipsoid.sv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37280" y="2777544"/>
            <a:ext cx="874623" cy="7951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File:Latitude and longitude graticule on an ellipsoid.sv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2319" y="2755002"/>
            <a:ext cx="874623" cy="79511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4017262" y="4499555"/>
            <a:ext cx="4113728" cy="528606"/>
          </a:xfrm>
          <a:prstGeom prst="rect">
            <a:avLst/>
          </a:prstGeom>
        </p:spPr>
        <p:txBody>
          <a:bodyPr>
            <a:spAutoFit/>
          </a:bodyPr>
          <a:lstStyle/>
          <a:p>
            <a:r>
              <a:rPr lang="en-US" sz="945" dirty="0">
                <a:hlinkClick r:id="rId5"/>
              </a:rPr>
              <a:t>https://commons.wikimedia.org/wiki/File:Latitude_and_longitude_graticule_on_an_ellipsoid.svg</a:t>
            </a:r>
            <a:endParaRPr lang="en-US" sz="945" dirty="0"/>
          </a:p>
          <a:p>
            <a:endParaRPr lang="en-US" sz="945" dirty="0"/>
          </a:p>
        </p:txBody>
      </p:sp>
      <p:sp>
        <p:nvSpPr>
          <p:cNvPr id="14" name="Title 1">
            <a:extLst>
              <a:ext uri="{FF2B5EF4-FFF2-40B4-BE49-F238E27FC236}">
                <a16:creationId xmlns:a16="http://schemas.microsoft.com/office/drawing/2014/main" id="{2E719697-8B58-4292-85F2-0488DF16EC9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CD5647AD-9298-42A4-A43E-7E6BB6D5B10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161C143-3EEF-40DE-92BE-7A4785CE58B5}"/>
              </a:ext>
            </a:extLst>
          </p:cNvPr>
          <p:cNvSpPr>
            <a:spLocks noGrp="1"/>
          </p:cNvSpPr>
          <p:nvPr>
            <p:ph type="sldNum" sz="quarter" idx="12"/>
          </p:nvPr>
        </p:nvSpPr>
        <p:spPr/>
        <p:txBody>
          <a:bodyPr/>
          <a:lstStyle/>
          <a:p>
            <a:fld id="{127DDC20-79C9-9647-820E-6D40A3D210C3}" type="slidenum">
              <a:rPr lang="en-US" smtClean="0"/>
              <a:pPr/>
              <a:t>39</a:t>
            </a:fld>
            <a:endParaRPr lang="en-US"/>
          </a:p>
        </p:txBody>
      </p:sp>
    </p:spTree>
    <p:extLst>
      <p:ext uri="{BB962C8B-B14F-4D97-AF65-F5344CB8AC3E}">
        <p14:creationId xmlns:p14="http://schemas.microsoft.com/office/powerpoint/2010/main" val="3642631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2" name="Title 1"/>
          <p:cNvSpPr>
            <a:spLocks noGrp="1"/>
          </p:cNvSpPr>
          <p:nvPr>
            <p:ph type="title"/>
          </p:nvPr>
        </p:nvSpPr>
        <p:spPr>
          <a:xfrm>
            <a:off x="1689280" y="4228649"/>
            <a:ext cx="7406640" cy="857250"/>
          </a:xfrm>
        </p:spPr>
        <p:txBody>
          <a:bodyPr/>
          <a:lstStyle/>
          <a:p>
            <a:r>
              <a:rPr lang="en-US" b="1" dirty="0">
                <a:solidFill>
                  <a:srgbClr val="E3874F"/>
                </a:solidFill>
              </a:rPr>
              <a:t>Tangency</a:t>
            </a:r>
            <a:r>
              <a:rPr lang="en-US" dirty="0"/>
              <a:t>      </a:t>
            </a:r>
            <a:r>
              <a:rPr lang="en-US" b="1" dirty="0" err="1">
                <a:solidFill>
                  <a:srgbClr val="E3874F"/>
                </a:solidFill>
              </a:rPr>
              <a:t>Secancy</a:t>
            </a:r>
            <a:endParaRPr lang="en-US" b="1" dirty="0">
              <a:solidFill>
                <a:srgbClr val="E3874F"/>
              </a:solidFill>
            </a:endParaRPr>
          </a:p>
        </p:txBody>
      </p:sp>
      <p:sp>
        <p:nvSpPr>
          <p:cNvPr id="7" name="Content Placeholder 2"/>
          <p:cNvSpPr>
            <a:spLocks noGrp="1"/>
          </p:cNvSpPr>
          <p:nvPr>
            <p:ph idx="1"/>
          </p:nvPr>
        </p:nvSpPr>
        <p:spPr>
          <a:xfrm>
            <a:off x="471638" y="1582975"/>
            <a:ext cx="2812846" cy="2881110"/>
          </a:xfrm>
        </p:spPr>
        <p:txBody>
          <a:bodyPr>
            <a:normAutofit/>
          </a:bodyPr>
          <a:lstStyle/>
          <a:p>
            <a:pPr>
              <a:buFont typeface="Wingdings" panose="05000000000000000000" pitchFamily="2" charset="2"/>
              <a:buChar char="ü"/>
            </a:pPr>
            <a:r>
              <a:rPr lang="en-US" b="1" dirty="0">
                <a:solidFill>
                  <a:srgbClr val="E3874F"/>
                </a:solidFill>
              </a:rPr>
              <a:t>Standard Line: </a:t>
            </a:r>
            <a:r>
              <a:rPr lang="en-US" dirty="0"/>
              <a:t>where projection touches the globe</a:t>
            </a:r>
          </a:p>
          <a:p>
            <a:pPr lvl="1">
              <a:buFont typeface="Arial" panose="020B0604020202020204" pitchFamily="34" charset="0"/>
              <a:buChar char="•"/>
            </a:pPr>
            <a:r>
              <a:rPr lang="en-US" b="1" dirty="0">
                <a:solidFill>
                  <a:srgbClr val="E3874F"/>
                </a:solidFill>
              </a:rPr>
              <a:t>Standard Parallel: </a:t>
            </a:r>
            <a:r>
              <a:rPr lang="en-US" dirty="0"/>
              <a:t>standard line on a parallel</a:t>
            </a:r>
          </a:p>
          <a:p>
            <a:pPr lvl="1">
              <a:buFont typeface="Arial" panose="020B0604020202020204" pitchFamily="34" charset="0"/>
              <a:buChar char="•"/>
            </a:pPr>
            <a:r>
              <a:rPr lang="en-US" b="1" dirty="0">
                <a:solidFill>
                  <a:srgbClr val="E3874F"/>
                </a:solidFill>
              </a:rPr>
              <a:t>Standard Meridian: </a:t>
            </a:r>
            <a:r>
              <a:rPr lang="en-US" dirty="0"/>
              <a:t>standard line on a meridian</a:t>
            </a:r>
          </a:p>
        </p:txBody>
      </p:sp>
      <p:sp>
        <p:nvSpPr>
          <p:cNvPr id="6" name="Slide Number Placeholder 5">
            <a:extLst>
              <a:ext uri="{FF2B5EF4-FFF2-40B4-BE49-F238E27FC236}">
                <a16:creationId xmlns:a16="http://schemas.microsoft.com/office/drawing/2014/main" id="{C37CD819-3C1F-4F88-8050-386B80B929EC}"/>
              </a:ext>
            </a:extLst>
          </p:cNvPr>
          <p:cNvSpPr>
            <a:spLocks noGrp="1"/>
          </p:cNvSpPr>
          <p:nvPr>
            <p:ph type="sldNum" sz="quarter" idx="12"/>
          </p:nvPr>
        </p:nvSpPr>
        <p:spPr/>
        <p:txBody>
          <a:bodyPr/>
          <a:lstStyle/>
          <a:p>
            <a:fld id="{127DDC20-79C9-9647-820E-6D40A3D210C3}" type="slidenum">
              <a:rPr lang="en-US" smtClean="0"/>
              <a:pPr/>
              <a:t>40</a:t>
            </a:fld>
            <a:endParaRPr lang="en-US" dirty="0"/>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171913" y="1333773"/>
            <a:ext cx="2437103" cy="3379516"/>
          </a:xfrm>
          <a:prstGeom prst="rect">
            <a:avLst/>
          </a:prstGeom>
        </p:spPr>
      </p:pic>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5606804" y="1253384"/>
            <a:ext cx="2151158" cy="3459905"/>
          </a:xfrm>
          <a:prstGeom prst="rect">
            <a:avLst/>
          </a:prstGeom>
        </p:spPr>
      </p:pic>
      <p:sp>
        <p:nvSpPr>
          <p:cNvPr id="9" name="Title 1">
            <a:extLst>
              <a:ext uri="{FF2B5EF4-FFF2-40B4-BE49-F238E27FC236}">
                <a16:creationId xmlns:a16="http://schemas.microsoft.com/office/drawing/2014/main" id="{C2248E23-A2FA-4EF7-9546-754DFD6CEA2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676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Content Placeholder 2"/>
          <p:cNvSpPr>
            <a:spLocks noGrp="1"/>
          </p:cNvSpPr>
          <p:nvPr>
            <p:ph idx="1"/>
          </p:nvPr>
        </p:nvSpPr>
        <p:spPr>
          <a:xfrm>
            <a:off x="471638" y="1582975"/>
            <a:ext cx="2812846" cy="2881110"/>
          </a:xfrm>
        </p:spPr>
        <p:txBody>
          <a:bodyPr>
            <a:normAutofit/>
          </a:bodyPr>
          <a:lstStyle/>
          <a:p>
            <a:pPr>
              <a:buFont typeface="Wingdings" panose="05000000000000000000" pitchFamily="2" charset="2"/>
              <a:buChar char="ü"/>
            </a:pPr>
            <a:r>
              <a:rPr lang="en-US" b="1" dirty="0">
                <a:solidFill>
                  <a:srgbClr val="E3874F"/>
                </a:solidFill>
              </a:rPr>
              <a:t>Standard Line: </a:t>
            </a:r>
            <a:r>
              <a:rPr lang="en-US" dirty="0"/>
              <a:t>where projection touches the globe</a:t>
            </a:r>
          </a:p>
          <a:p>
            <a:pPr lvl="1">
              <a:buFont typeface="Arial" panose="020B0604020202020204" pitchFamily="34" charset="0"/>
              <a:buChar char="•"/>
            </a:pPr>
            <a:r>
              <a:rPr lang="en-US" b="1" dirty="0">
                <a:solidFill>
                  <a:srgbClr val="E3874F"/>
                </a:solidFill>
              </a:rPr>
              <a:t>Standard Parallel: </a:t>
            </a:r>
            <a:r>
              <a:rPr lang="en-US" dirty="0"/>
              <a:t>standard line on a parallel</a:t>
            </a:r>
          </a:p>
          <a:p>
            <a:pPr lvl="1">
              <a:buFont typeface="Arial" panose="020B0604020202020204" pitchFamily="34" charset="0"/>
              <a:buChar char="•"/>
            </a:pPr>
            <a:r>
              <a:rPr lang="en-US" b="1" dirty="0">
                <a:solidFill>
                  <a:srgbClr val="E3874F"/>
                </a:solidFill>
              </a:rPr>
              <a:t>Standard Meridian: </a:t>
            </a:r>
            <a:r>
              <a:rPr lang="en-US" dirty="0"/>
              <a:t>standard line on a meridian</a:t>
            </a:r>
          </a:p>
        </p:txBody>
      </p:sp>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41</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490AC8E9-CBDF-4A68-A7E1-BF5AFC6F2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810" y="1789220"/>
            <a:ext cx="3493329" cy="246861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743E504-EA0D-49E0-8417-AF4900B8DE2D}"/>
              </a:ext>
            </a:extLst>
          </p:cNvPr>
          <p:cNvSpPr txBox="1"/>
          <p:nvPr/>
        </p:nvSpPr>
        <p:spPr>
          <a:xfrm>
            <a:off x="3791589" y="4488992"/>
            <a:ext cx="4135270" cy="553998"/>
          </a:xfrm>
          <a:prstGeom prst="rect">
            <a:avLst/>
          </a:prstGeom>
          <a:noFill/>
        </p:spPr>
        <p:txBody>
          <a:bodyPr wrap="square">
            <a:spAutoFit/>
          </a:bodyPr>
          <a:lstStyle/>
          <a:p>
            <a:r>
              <a:rPr lang="en-US" sz="1000" dirty="0">
                <a:solidFill>
                  <a:schemeClr val="accent1"/>
                </a:solidFill>
              </a:rPr>
              <a:t>http://wiki.gis.com/wiki/index.php/Standard_parallel#:~:text=Standard%20parallels%20are%20parallel%20lines,is%20only%20one%20standard%20parallel.</a:t>
            </a:r>
          </a:p>
        </p:txBody>
      </p:sp>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7" name="Content Placeholder 2"/>
          <p:cNvSpPr>
            <a:spLocks noGrp="1"/>
          </p:cNvSpPr>
          <p:nvPr>
            <p:ph idx="1"/>
          </p:nvPr>
        </p:nvSpPr>
        <p:spPr>
          <a:xfrm>
            <a:off x="471638" y="1582975"/>
            <a:ext cx="2812846" cy="2881110"/>
          </a:xfrm>
        </p:spPr>
        <p:txBody>
          <a:bodyPr>
            <a:normAutofit/>
          </a:bodyPr>
          <a:lstStyle/>
          <a:p>
            <a:pPr>
              <a:buFont typeface="Wingdings" panose="05000000000000000000" pitchFamily="2" charset="2"/>
              <a:buChar char="ü"/>
            </a:pPr>
            <a:r>
              <a:rPr lang="en-US" b="1" dirty="0">
                <a:solidFill>
                  <a:srgbClr val="E3874F"/>
                </a:solidFill>
              </a:rPr>
              <a:t>Standard Line: </a:t>
            </a:r>
            <a:r>
              <a:rPr lang="en-US" dirty="0"/>
              <a:t>where projection touches the globe</a:t>
            </a:r>
          </a:p>
          <a:p>
            <a:pPr lvl="1">
              <a:lnSpc>
                <a:spcPct val="90000"/>
              </a:lnSpc>
              <a:buFont typeface="Arial" panose="020B0604020202020204" pitchFamily="34" charset="0"/>
              <a:buChar char="•"/>
            </a:pPr>
            <a:r>
              <a:rPr lang="en-US" sz="2440" dirty="0">
                <a:solidFill>
                  <a:srgbClr val="FF0000"/>
                </a:solidFill>
              </a:rPr>
              <a:t>No distortions at these locations! </a:t>
            </a:r>
            <a:r>
              <a:rPr lang="en-US" sz="2440" baseline="0" dirty="0">
                <a:solidFill>
                  <a:srgbClr val="FF0000"/>
                </a:solidFill>
              </a:rPr>
              <a:t>Distortions tend to increase with distance from the standards.</a:t>
            </a:r>
          </a:p>
        </p:txBody>
      </p:sp>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42</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Diagram&#10;&#10;Description automatically generated">
            <a:extLst>
              <a:ext uri="{FF2B5EF4-FFF2-40B4-BE49-F238E27FC236}">
                <a16:creationId xmlns:a16="http://schemas.microsoft.com/office/drawing/2014/main" id="{0CB5168D-EEB7-49E8-B8A7-F62641EC7B87}"/>
              </a:ext>
            </a:extLst>
          </p:cNvPr>
          <p:cNvPicPr>
            <a:picLocks noChangeAspect="1"/>
          </p:cNvPicPr>
          <p:nvPr/>
        </p:nvPicPr>
        <p:blipFill>
          <a:blip r:embed="rId3"/>
          <a:stretch>
            <a:fillRect/>
          </a:stretch>
        </p:blipFill>
        <p:spPr>
          <a:xfrm>
            <a:off x="4343014" y="1493660"/>
            <a:ext cx="3810386" cy="3220077"/>
          </a:xfrm>
          <a:prstGeom prst="rect">
            <a:avLst/>
          </a:prstGeom>
        </p:spPr>
      </p:pic>
      <p:sp>
        <p:nvSpPr>
          <p:cNvPr id="12" name="TextBox 11">
            <a:extLst>
              <a:ext uri="{FF2B5EF4-FFF2-40B4-BE49-F238E27FC236}">
                <a16:creationId xmlns:a16="http://schemas.microsoft.com/office/drawing/2014/main" id="{D6B5BEB7-4CEA-4876-8366-2AA42E0304A9}"/>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67258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42712398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6419057" cy="3526632"/>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Hold cone over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2100" b="1" kern="0" dirty="0"/>
              <a:t>Longitude: </a:t>
            </a:r>
            <a:r>
              <a:rPr lang="en-US" sz="2100" kern="0" dirty="0"/>
              <a:t>straight, converge</a:t>
            </a:r>
          </a:p>
          <a:p>
            <a:pPr lvl="1">
              <a:lnSpc>
                <a:spcPct val="80000"/>
              </a:lnSpc>
              <a:buFont typeface="Arial" panose="020B0604020202020204" pitchFamily="34" charset="0"/>
              <a:buChar char="•"/>
            </a:pPr>
            <a:r>
              <a:rPr lang="en-US" sz="1800" b="1" kern="0" dirty="0"/>
              <a:t>Latitude:</a:t>
            </a:r>
            <a:r>
              <a:rPr lang="en-US" sz="1800" kern="0" dirty="0"/>
              <a:t> </a:t>
            </a:r>
            <a:r>
              <a:rPr lang="en-US" sz="2100" kern="0" dirty="0"/>
              <a:t>curve</a:t>
            </a:r>
          </a:p>
          <a:p>
            <a:pPr lvl="1">
              <a:lnSpc>
                <a:spcPct val="80000"/>
              </a:lnSpc>
              <a:buFont typeface="Arial" panose="020B0604020202020204" pitchFamily="34" charset="0"/>
              <a:buChar char="•"/>
            </a:pPr>
            <a:r>
              <a:rPr lang="en-US" sz="2100" kern="0" dirty="0"/>
              <a:t>Distortion increases away from standard parallel</a:t>
            </a:r>
          </a:p>
          <a:p>
            <a:pPr>
              <a:lnSpc>
                <a:spcPct val="80000"/>
              </a:lnSpc>
              <a:buFont typeface="Wingdings" panose="05000000000000000000" pitchFamily="2" charset="2"/>
              <a:buChar char="ü"/>
            </a:pPr>
            <a:r>
              <a:rPr lang="en-US" sz="2100" kern="0" dirty="0"/>
              <a:t>Good for Mid-latitudes </a:t>
            </a:r>
          </a:p>
          <a:p>
            <a:pPr marL="457200" indent="-457200">
              <a:lnSpc>
                <a:spcPct val="80000"/>
              </a:lnSpc>
              <a:buNone/>
            </a:pPr>
            <a:endParaRPr lang="en-US" sz="2100" kern="0" dirty="0">
              <a:solidFill>
                <a:schemeClr val="tx2">
                  <a:lumMod val="75000"/>
                </a:schemeClr>
              </a:solidFill>
            </a:endParaRPr>
          </a:p>
        </p:txBody>
      </p:sp>
      <p:pic>
        <p:nvPicPr>
          <p:cNvPr id="9" name="Picture 8" descr="cone proj"/>
          <p:cNvPicPr>
            <a:picLocks noChangeAspect="1" noChangeArrowheads="1"/>
          </p:cNvPicPr>
          <p:nvPr/>
        </p:nvPicPr>
        <p:blipFill>
          <a:blip r:embed="rId3"/>
          <a:srcRect/>
          <a:stretch>
            <a:fillRect/>
          </a:stretch>
        </p:blipFill>
        <p:spPr bwMode="auto">
          <a:xfrm>
            <a:off x="2114550" y="3506667"/>
            <a:ext cx="4080128" cy="1582605"/>
          </a:xfrm>
          <a:prstGeom prst="rect">
            <a:avLst/>
          </a:prstGeom>
          <a:noFill/>
        </p:spPr>
      </p:pic>
      <p:sp>
        <p:nvSpPr>
          <p:cNvPr id="13" name="Title 1">
            <a:extLst>
              <a:ext uri="{FF2B5EF4-FFF2-40B4-BE49-F238E27FC236}">
                <a16:creationId xmlns:a16="http://schemas.microsoft.com/office/drawing/2014/main" id="{27D4896A-6A8A-4150-8967-C5DD8536C50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44</a:t>
            </a:fld>
            <a:endParaRPr lang="en-US"/>
          </a:p>
        </p:txBody>
      </p:sp>
    </p:spTree>
    <p:extLst>
      <p:ext uri="{BB962C8B-B14F-4D97-AF65-F5344CB8AC3E}">
        <p14:creationId xmlns:p14="http://schemas.microsoft.com/office/powerpoint/2010/main" val="2589653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ylindrical"/>
          <p:cNvPicPr>
            <a:picLocks noChangeAspect="1" noChangeArrowheads="1"/>
          </p:cNvPicPr>
          <p:nvPr/>
        </p:nvPicPr>
        <p:blipFill>
          <a:blip r:embed="rId3"/>
          <a:srcRect/>
          <a:stretch>
            <a:fillRect/>
          </a:stretch>
        </p:blipFill>
        <p:spPr bwMode="auto">
          <a:xfrm>
            <a:off x="3868871" y="2030400"/>
            <a:ext cx="3401086" cy="2190190"/>
          </a:xfrm>
          <a:prstGeom prst="rect">
            <a:avLst/>
          </a:prstGeom>
          <a:noFill/>
        </p:spPr>
      </p:pic>
      <p:sp>
        <p:nvSpPr>
          <p:cNvPr id="13" name="Title 1">
            <a:extLst>
              <a:ext uri="{FF2B5EF4-FFF2-40B4-BE49-F238E27FC236}">
                <a16:creationId xmlns:a16="http://schemas.microsoft.com/office/drawing/2014/main" id="{9205FA47-DB5C-4BF6-84C2-68E90EEF89A5}"/>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4" name="Straight Connector 13">
            <a:extLst>
              <a:ext uri="{FF2B5EF4-FFF2-40B4-BE49-F238E27FC236}">
                <a16:creationId xmlns:a16="http://schemas.microsoft.com/office/drawing/2014/main" id="{ECB77454-8E2E-44B6-B199-28BCDEF9A15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Rectangle 1027">
            <a:extLst>
              <a:ext uri="{FF2B5EF4-FFF2-40B4-BE49-F238E27FC236}">
                <a16:creationId xmlns:a16="http://schemas.microsoft.com/office/drawing/2014/main" id="{89364A26-2A40-4237-9018-C698F59CC8A6}"/>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Cylindrical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3" name="Rectangle 5">
            <a:extLst>
              <a:ext uri="{FF2B5EF4-FFF2-40B4-BE49-F238E27FC236}">
                <a16:creationId xmlns:a16="http://schemas.microsoft.com/office/drawing/2014/main" id="{2FA17C20-699E-4D79-90D7-D10A56118B2F}"/>
              </a:ext>
            </a:extLst>
          </p:cNvPr>
          <p:cNvSpPr txBox="1">
            <a:spLocks noChangeArrowheads="1"/>
          </p:cNvSpPr>
          <p:nvPr/>
        </p:nvSpPr>
        <p:spPr>
          <a:xfrm>
            <a:off x="302741" y="1696016"/>
            <a:ext cx="7046426" cy="3429000"/>
          </a:xfrm>
          <a:prstGeom prst="rect">
            <a:avLst/>
          </a:prstGeom>
        </p:spPr>
        <p:txBody>
          <a:bodyPr/>
          <a:lstStyle>
            <a:lvl1pPr marL="342900" indent="-342900" algn="l" rtl="0" eaLnBrk="0" fontAlgn="base" hangingPunct="0">
              <a:spcBef>
                <a:spcPct val="20000"/>
              </a:spcBef>
              <a:spcAft>
                <a:spcPct val="0"/>
              </a:spcAft>
              <a:buSzPct val="80000"/>
              <a:buBlip>
                <a:blip r:embed="rId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Cylinder around the equator </a:t>
            </a:r>
          </a:p>
          <a:p>
            <a:pPr>
              <a:lnSpc>
                <a:spcPct val="80000"/>
              </a:lnSpc>
              <a:buFont typeface="Wingdings" panose="05000000000000000000" pitchFamily="2" charset="2"/>
              <a:buChar char="ü"/>
            </a:pPr>
            <a:r>
              <a:rPr lang="en-US" sz="2100" kern="0" dirty="0"/>
              <a:t>Latitude &amp; longitude:        </a:t>
            </a:r>
          </a:p>
          <a:p>
            <a:pPr marL="0" indent="0">
              <a:lnSpc>
                <a:spcPct val="80000"/>
              </a:lnSpc>
              <a:buNone/>
            </a:pPr>
            <a:r>
              <a:rPr lang="en-US" sz="2100" kern="0" dirty="0"/>
              <a:t>    straight, intersect at 90°</a:t>
            </a:r>
          </a:p>
          <a:p>
            <a:pPr>
              <a:lnSpc>
                <a:spcPct val="80000"/>
              </a:lnSpc>
              <a:buFont typeface="Wingdings" panose="05000000000000000000" pitchFamily="2" charset="2"/>
              <a:buChar char="ü"/>
            </a:pPr>
            <a:r>
              <a:rPr lang="en-US" sz="2100" kern="0" dirty="0"/>
              <a:t>Distortion greatest at poles</a:t>
            </a:r>
          </a:p>
          <a:p>
            <a:pPr>
              <a:lnSpc>
                <a:spcPct val="80000"/>
              </a:lnSpc>
              <a:buFont typeface="Wingdings" panose="05000000000000000000" pitchFamily="2" charset="2"/>
              <a:buChar char="ü"/>
            </a:pPr>
            <a:r>
              <a:rPr lang="en-US" sz="2100" kern="0" dirty="0"/>
              <a:t>Good for low-latitude areas</a:t>
            </a:r>
          </a:p>
          <a:p>
            <a:pPr>
              <a:lnSpc>
                <a:spcPct val="80000"/>
              </a:lnSpc>
              <a:buFont typeface="Wingdings" panose="05000000000000000000" pitchFamily="2" charset="2"/>
              <a:buChar char="ü"/>
            </a:pPr>
            <a:r>
              <a:rPr lang="en-US" sz="2100" kern="0" dirty="0"/>
              <a:t>Good for navigation</a:t>
            </a:r>
          </a:p>
          <a:p>
            <a:pPr>
              <a:lnSpc>
                <a:spcPct val="80000"/>
              </a:lnSpc>
              <a:buFont typeface="Wingdings" panose="05000000000000000000" pitchFamily="2" charset="2"/>
              <a:buChar char="ü"/>
            </a:pPr>
            <a:r>
              <a:rPr lang="en-US" sz="2100" kern="0" dirty="0"/>
              <a:t>Mercator’s Projection</a:t>
            </a:r>
          </a:p>
          <a:p>
            <a:pPr>
              <a:lnSpc>
                <a:spcPct val="80000"/>
              </a:lnSpc>
              <a:buFont typeface="Arial" panose="020B0604020202020204" pitchFamily="34" charset="0"/>
              <a:buChar char="•"/>
            </a:pPr>
            <a:endParaRPr lang="en-US" sz="2100" kern="0" dirty="0">
              <a:solidFill>
                <a:schemeClr val="tx2">
                  <a:lumMod val="75000"/>
                </a:schemeClr>
              </a:solidFill>
            </a:endParaRPr>
          </a:p>
          <a:p>
            <a:pPr marL="457200" indent="-457200">
              <a:lnSpc>
                <a:spcPct val="80000"/>
              </a:lnSpc>
              <a:buNone/>
            </a:pPr>
            <a:endParaRPr lang="en-US" sz="2100" kern="0" dirty="0">
              <a:solidFill>
                <a:schemeClr val="tx2">
                  <a:lumMod val="75000"/>
                </a:schemeClr>
              </a:solidFill>
            </a:endParaRPr>
          </a:p>
          <a:p>
            <a:pPr marL="457200" indent="-457200">
              <a:lnSpc>
                <a:spcPct val="80000"/>
              </a:lnSpc>
              <a:buNone/>
            </a:pPr>
            <a:endParaRPr lang="en-US" sz="2100" kern="0" dirty="0">
              <a:solidFill>
                <a:schemeClr val="tx2">
                  <a:lumMod val="75000"/>
                </a:schemeClr>
              </a:solidFill>
            </a:endParaRPr>
          </a:p>
        </p:txBody>
      </p:sp>
      <p:sp>
        <p:nvSpPr>
          <p:cNvPr id="4" name="Slide Number Placeholder 3">
            <a:extLst>
              <a:ext uri="{FF2B5EF4-FFF2-40B4-BE49-F238E27FC236}">
                <a16:creationId xmlns:a16="http://schemas.microsoft.com/office/drawing/2014/main" id="{1E80FC62-8680-4026-A312-C970236EACBE}"/>
              </a:ext>
            </a:extLst>
          </p:cNvPr>
          <p:cNvSpPr>
            <a:spLocks noGrp="1"/>
          </p:cNvSpPr>
          <p:nvPr>
            <p:ph type="sldNum" sz="quarter" idx="12"/>
          </p:nvPr>
        </p:nvSpPr>
        <p:spPr/>
        <p:txBody>
          <a:bodyPr/>
          <a:lstStyle/>
          <a:p>
            <a:fld id="{127DDC20-79C9-9647-820E-6D40A3D210C3}" type="slidenum">
              <a:rPr lang="en-US" smtClean="0"/>
              <a:pPr/>
              <a:t>45</a:t>
            </a:fld>
            <a:endParaRPr lang="en-US"/>
          </a:p>
        </p:txBody>
      </p:sp>
    </p:spTree>
    <p:extLst>
      <p:ext uri="{BB962C8B-B14F-4D97-AF65-F5344CB8AC3E}">
        <p14:creationId xmlns:p14="http://schemas.microsoft.com/office/powerpoint/2010/main" val="3575216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46</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27">
            <a:extLst>
              <a:ext uri="{FF2B5EF4-FFF2-40B4-BE49-F238E27FC236}">
                <a16:creationId xmlns:a16="http://schemas.microsoft.com/office/drawing/2014/main" id="{640A67BC-646A-442C-9E4C-27354613D30C}"/>
              </a:ext>
            </a:extLst>
          </p:cNvPr>
          <p:cNvSpPr txBox="1">
            <a:spLocks noChangeArrowheads="1"/>
          </p:cNvSpPr>
          <p:nvPr/>
        </p:nvSpPr>
        <p:spPr>
          <a:xfrm>
            <a:off x="302741" y="1029962"/>
            <a:ext cx="7679724" cy="2468308"/>
          </a:xfrm>
          <a:prstGeom prst="rect">
            <a:avLst/>
          </a:prstGeom>
        </p:spPr>
        <p:txBody>
          <a:bodyPr vert="horz" lIns="91440" tIns="45720" rIns="91440" bIns="45720" rtlCol="0">
            <a:normAutofit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521070" y="1945681"/>
            <a:ext cx="3814251" cy="3197819"/>
          </a:xfrm>
          <a:prstGeom prst="rect">
            <a:avLst/>
          </a:prstGeom>
        </p:spPr>
      </p:pic>
      <p:sp>
        <p:nvSpPr>
          <p:cNvPr id="11" name="TextBox 10">
            <a:extLst>
              <a:ext uri="{FF2B5EF4-FFF2-40B4-BE49-F238E27FC236}">
                <a16:creationId xmlns:a16="http://schemas.microsoft.com/office/drawing/2014/main" id="{71735430-B1F3-40D7-BFAC-EE6F7CC89A53}"/>
              </a:ext>
            </a:extLst>
          </p:cNvPr>
          <p:cNvSpPr txBox="1"/>
          <p:nvPr/>
        </p:nvSpPr>
        <p:spPr>
          <a:xfrm>
            <a:off x="1764957" y="4794886"/>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14" name="TextBox 13">
            <a:extLst>
              <a:ext uri="{FF2B5EF4-FFF2-40B4-BE49-F238E27FC236}">
                <a16:creationId xmlns:a16="http://schemas.microsoft.com/office/drawing/2014/main" id="{7CB4316C-A0EE-47F8-9170-AD4E258DABAC}"/>
              </a:ext>
            </a:extLst>
          </p:cNvPr>
          <p:cNvSpPr txBox="1"/>
          <p:nvPr/>
        </p:nvSpPr>
        <p:spPr>
          <a:xfrm>
            <a:off x="2466644" y="3988825"/>
            <a:ext cx="1143254" cy="338554"/>
          </a:xfrm>
          <a:prstGeom prst="rect">
            <a:avLst/>
          </a:prstGeom>
          <a:noFill/>
        </p:spPr>
        <p:txBody>
          <a:bodyPr wrap="square" rtlCol="0">
            <a:spAutoFit/>
          </a:bodyPr>
          <a:lstStyle/>
          <a:p>
            <a:r>
              <a:rPr lang="en-US" sz="1600" dirty="0"/>
              <a:t>Mercator</a:t>
            </a:r>
          </a:p>
        </p:txBody>
      </p:sp>
      <p:sp>
        <p:nvSpPr>
          <p:cNvPr id="15" name="TextBox 14">
            <a:extLst>
              <a:ext uri="{FF2B5EF4-FFF2-40B4-BE49-F238E27FC236}">
                <a16:creationId xmlns:a16="http://schemas.microsoft.com/office/drawing/2014/main" id="{81CD2DDF-232D-45CC-AB26-87257A7B692F}"/>
              </a:ext>
            </a:extLst>
          </p:cNvPr>
          <p:cNvSpPr txBox="1"/>
          <p:nvPr/>
        </p:nvSpPr>
        <p:spPr>
          <a:xfrm>
            <a:off x="7265100" y="3928202"/>
            <a:ext cx="1124647" cy="584775"/>
          </a:xfrm>
          <a:prstGeom prst="rect">
            <a:avLst/>
          </a:prstGeom>
          <a:noFill/>
        </p:spPr>
        <p:txBody>
          <a:bodyPr wrap="square" rtlCol="0">
            <a:spAutoFit/>
          </a:bodyPr>
          <a:lstStyle/>
          <a:p>
            <a:r>
              <a:rPr lang="en-US" sz="1600" dirty="0"/>
              <a:t>Transverse Mercator</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 2-2</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48</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48311"/>
            <a:ext cx="7665720" cy="1938992"/>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 discuss with your group members:</a:t>
            </a:r>
          </a:p>
          <a:p>
            <a:pPr marL="800100" lvl="1" indent="-342900">
              <a:buFont typeface="Wingdings" panose="05000000000000000000" pitchFamily="2" charset="2"/>
              <a:buChar char="ü"/>
            </a:pPr>
            <a:r>
              <a:rPr lang="en-US" sz="2000" dirty="0"/>
              <a:t>Do you know there are some distortions in the map before the class?</a:t>
            </a:r>
          </a:p>
          <a:p>
            <a:pPr marL="800100" lvl="1" indent="-342900">
              <a:buFont typeface="Wingdings" panose="05000000000000000000" pitchFamily="2" charset="2"/>
              <a:buChar char="ü"/>
            </a:pPr>
            <a:r>
              <a:rPr lang="en-US" sz="2000" dirty="0"/>
              <a:t>What did surprise you?</a:t>
            </a:r>
          </a:p>
          <a:p>
            <a:pPr marL="800100" lvl="1" indent="-342900">
              <a:buFont typeface="Wingdings" panose="05000000000000000000" pitchFamily="2" charset="2"/>
              <a:buChar char="ü"/>
            </a:pPr>
            <a:endParaRPr lang="en-US" sz="2000" dirty="0"/>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49</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75765"/>
            <a:ext cx="7406640" cy="3868482"/>
          </a:xfrm>
        </p:spPr>
        <p:txBody>
          <a:bodyPr>
            <a:normAutofit/>
          </a:bodyPr>
          <a:lstStyle/>
          <a:p>
            <a:pPr>
              <a:buFont typeface="Courier New" panose="02070309020205020404" pitchFamily="49" charset="0"/>
              <a:buChar char="o"/>
            </a:pPr>
            <a:r>
              <a:rPr lang="en-US" sz="3600" dirty="0"/>
              <a:t>Type</a:t>
            </a:r>
          </a:p>
          <a:p>
            <a:pPr>
              <a:buFont typeface="Wingdings" panose="05000000000000000000" pitchFamily="2" charset="2"/>
              <a:buChar char="ü"/>
            </a:pPr>
            <a:r>
              <a:rPr lang="en-US" b="1" dirty="0">
                <a:solidFill>
                  <a:srgbClr val="E3874F"/>
                </a:solidFill>
              </a:rPr>
              <a:t>Conformal Projections: </a:t>
            </a:r>
            <a:r>
              <a:rPr lang="en-US" dirty="0"/>
              <a:t>preserves local angles and shape</a:t>
            </a:r>
          </a:p>
          <a:p>
            <a:pPr>
              <a:buFont typeface="Wingdings" panose="05000000000000000000" pitchFamily="2" charset="2"/>
              <a:buChar char="ü"/>
            </a:pPr>
            <a:r>
              <a:rPr lang="en-US" b="1" dirty="0">
                <a:solidFill>
                  <a:srgbClr val="E3874F"/>
                </a:solidFill>
              </a:rPr>
              <a:t>Equivalent Projections: </a:t>
            </a:r>
            <a:r>
              <a:rPr lang="en-US" dirty="0"/>
              <a:t>represents areas in correct relative size</a:t>
            </a:r>
          </a:p>
          <a:p>
            <a:pPr>
              <a:buFont typeface="Wingdings" panose="05000000000000000000" pitchFamily="2" charset="2"/>
              <a:buChar char="ü"/>
            </a:pPr>
            <a:r>
              <a:rPr lang="en-US" b="1" dirty="0">
                <a:solidFill>
                  <a:srgbClr val="E3874F"/>
                </a:solidFill>
              </a:rPr>
              <a:t>Equidistant Projections: </a:t>
            </a:r>
            <a:r>
              <a:rPr lang="en-US" dirty="0"/>
              <a:t>maintains consistent scale or distance along certain lines</a:t>
            </a:r>
          </a:p>
          <a:p>
            <a:pPr>
              <a:buFont typeface="Wingdings" panose="05000000000000000000" pitchFamily="2" charset="2"/>
              <a:buChar char="ü"/>
            </a:pPr>
            <a:r>
              <a:rPr lang="en-US" b="1" dirty="0">
                <a:solidFill>
                  <a:srgbClr val="E3874F"/>
                </a:solidFill>
              </a:rPr>
              <a:t>Azimuthal Projections: </a:t>
            </a:r>
            <a:r>
              <a:rPr lang="en-US" dirty="0"/>
              <a:t>maintains certain accurate directions relative to certain vantage point</a:t>
            </a:r>
          </a:p>
          <a:p>
            <a:pPr marL="0" indent="0">
              <a:buNone/>
            </a:pPr>
            <a:endParaRPr lang="en-US" dirty="0"/>
          </a:p>
          <a:p>
            <a:pPr>
              <a:buFont typeface="Wingdings" panose="05000000000000000000" pitchFamily="2" charset="2"/>
              <a:buChar char="§"/>
            </a:pPr>
            <a:r>
              <a:rPr lang="en-US" dirty="0"/>
              <a:t>Conformal and equivalent projections’ properties are mutually exclusive</a:t>
            </a:r>
          </a:p>
          <a:p>
            <a:pPr>
              <a:buFont typeface="Wingdings" panose="05000000000000000000" pitchFamily="2" charset="2"/>
              <a:buChar char="§"/>
            </a:pPr>
            <a:r>
              <a:rPr lang="en-US" dirty="0"/>
              <a:t>Conformal and equivalent projections’ properties are global properties</a:t>
            </a:r>
          </a:p>
          <a:p>
            <a:pPr>
              <a:buFont typeface="Wingdings" panose="05000000000000000000" pitchFamily="2" charset="2"/>
              <a:buChar char="§"/>
            </a:pPr>
            <a:endParaRPr lang="en-US" dirty="0"/>
          </a:p>
          <a:p>
            <a:pPr>
              <a:buFont typeface="Wingdings" panose="05000000000000000000" pitchFamily="2" charset="2"/>
              <a:buChar char="§"/>
            </a:pPr>
            <a:r>
              <a:rPr lang="en-US" dirty="0"/>
              <a:t>Equidistant and azimuthal projections’ properties are local properties and may be true only from or to the center of the map projection</a:t>
            </a:r>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50</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7C1C7CEB-4D6F-4ADB-A5D3-3A9D0035CEE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Tissot Indicatrix</a:t>
            </a:r>
          </a:p>
          <a:p>
            <a:pPr lvl="1">
              <a:buFont typeface="Wingdings" panose="05000000000000000000" pitchFamily="2" charset="2"/>
              <a:buChar char="ü"/>
            </a:pPr>
            <a:r>
              <a:rPr lang="en-US" sz="2440" dirty="0"/>
              <a:t>Without any distortions, the circles will all be the same shape, perfect circles, and size</a:t>
            </a:r>
          </a:p>
          <a:p>
            <a:pPr marL="0" indent="0">
              <a:lnSpc>
                <a:spcPct val="90000"/>
              </a:lnSpc>
              <a:buNone/>
            </a:pPr>
            <a:endParaRPr lang="en-US" altLang="en-US" sz="2600" dirty="0"/>
          </a:p>
          <a:p>
            <a:pPr marL="0" lvl="1" indent="0">
              <a:buNone/>
            </a:pPr>
            <a:endParaRPr lang="en-US" altLang="en-US" sz="2600" dirty="0"/>
          </a:p>
          <a:p>
            <a:pPr marL="411480" lvl="1" indent="0">
              <a:buNone/>
            </a:pPr>
            <a:endParaRPr lang="en-US" altLang="en-US" sz="2160" dirty="0"/>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960858" y="2320043"/>
            <a:ext cx="2782160" cy="2398304"/>
          </a:xfrm>
          <a:prstGeom prst="rect">
            <a:avLst/>
          </a:prstGeom>
        </p:spPr>
      </p:pic>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4261469" y="2320043"/>
            <a:ext cx="3968131" cy="2059629"/>
          </a:xfrm>
          <a:prstGeom prst="rect">
            <a:avLst/>
          </a:prstGeom>
        </p:spPr>
      </p:pic>
      <p:sp>
        <p:nvSpPr>
          <p:cNvPr id="6" name="Title 1">
            <a:extLst>
              <a:ext uri="{FF2B5EF4-FFF2-40B4-BE49-F238E27FC236}">
                <a16:creationId xmlns:a16="http://schemas.microsoft.com/office/drawing/2014/main" id="{556BFC76-B0B1-40E5-AB0A-FF48EEF2F591}"/>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1D0B9550-3D77-4772-A282-F548C059630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0D0EA34-ED29-4414-8883-93E0D7751E0F}"/>
              </a:ext>
            </a:extLst>
          </p:cNvPr>
          <p:cNvSpPr txBox="1"/>
          <p:nvPr/>
        </p:nvSpPr>
        <p:spPr>
          <a:xfrm>
            <a:off x="1160184" y="4592996"/>
            <a:ext cx="2706401" cy="646331"/>
          </a:xfrm>
          <a:prstGeom prst="rect">
            <a:avLst/>
          </a:prstGeom>
          <a:noFill/>
        </p:spPr>
        <p:txBody>
          <a:bodyPr wrap="square">
            <a:spAutoFit/>
          </a:bodyPr>
          <a:lstStyle/>
          <a:p>
            <a:r>
              <a:rPr lang="en-US" baseline="0" dirty="0"/>
              <a:t>Mercator projection</a:t>
            </a:r>
          </a:p>
          <a:p>
            <a:r>
              <a:rPr lang="en-US" dirty="0"/>
              <a:t>Distort size but not shape</a:t>
            </a:r>
            <a:r>
              <a:rPr lang="en-US" baseline="0" dirty="0"/>
              <a:t> </a:t>
            </a:r>
            <a:endParaRPr lang="en-US" dirty="0"/>
          </a:p>
        </p:txBody>
      </p:sp>
      <p:sp>
        <p:nvSpPr>
          <p:cNvPr id="14" name="TextBox 13">
            <a:extLst>
              <a:ext uri="{FF2B5EF4-FFF2-40B4-BE49-F238E27FC236}">
                <a16:creationId xmlns:a16="http://schemas.microsoft.com/office/drawing/2014/main" id="{27A4DAC6-D767-498F-A0ED-B8F0ED6F6DA9}"/>
              </a:ext>
            </a:extLst>
          </p:cNvPr>
          <p:cNvSpPr txBox="1"/>
          <p:nvPr/>
        </p:nvSpPr>
        <p:spPr>
          <a:xfrm>
            <a:off x="5191385" y="4538076"/>
            <a:ext cx="3117456" cy="646331"/>
          </a:xfrm>
          <a:prstGeom prst="rect">
            <a:avLst/>
          </a:prstGeom>
          <a:noFill/>
        </p:spPr>
        <p:txBody>
          <a:bodyPr wrap="square">
            <a:spAutoFit/>
          </a:bodyPr>
          <a:lstStyle/>
          <a:p>
            <a:r>
              <a:rPr lang="en-US" dirty="0"/>
              <a:t>Mollweide projection</a:t>
            </a:r>
          </a:p>
          <a:p>
            <a:r>
              <a:rPr lang="en-US" baseline="0" dirty="0"/>
              <a:t>Distort shape but not size </a:t>
            </a:r>
            <a:endParaRPr lang="en-US" dirty="0"/>
          </a:p>
        </p:txBody>
      </p:sp>
      <p:sp>
        <p:nvSpPr>
          <p:cNvPr id="2" name="Slide Number Placeholder 1">
            <a:extLst>
              <a:ext uri="{FF2B5EF4-FFF2-40B4-BE49-F238E27FC236}">
                <a16:creationId xmlns:a16="http://schemas.microsoft.com/office/drawing/2014/main" id="{091FF3FB-9779-4907-A556-CB652E5D774C}"/>
              </a:ext>
            </a:extLst>
          </p:cNvPr>
          <p:cNvSpPr>
            <a:spLocks noGrp="1"/>
          </p:cNvSpPr>
          <p:nvPr>
            <p:ph type="sldNum" sz="quarter" idx="12"/>
          </p:nvPr>
        </p:nvSpPr>
        <p:spPr/>
        <p:txBody>
          <a:bodyPr/>
          <a:lstStyle/>
          <a:p>
            <a:fld id="{127DDC20-79C9-9647-820E-6D40A3D210C3}" type="slidenum">
              <a:rPr lang="en-US" smtClean="0"/>
              <a:pPr/>
              <a:t>51</a:t>
            </a:fld>
            <a:endParaRPr lang="en-US"/>
          </a:p>
        </p:txBody>
      </p:sp>
    </p:spTree>
    <p:extLst>
      <p:ext uri="{BB962C8B-B14F-4D97-AF65-F5344CB8AC3E}">
        <p14:creationId xmlns:p14="http://schemas.microsoft.com/office/powerpoint/2010/main" val="401384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Examples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1" name="Rectangle 10"/>
          <p:cNvSpPr/>
          <p:nvPr/>
        </p:nvSpPr>
        <p:spPr>
          <a:xfrm>
            <a:off x="302741" y="1667890"/>
            <a:ext cx="7679724" cy="2246769"/>
          </a:xfrm>
          <a:prstGeom prst="rect">
            <a:avLst/>
          </a:prstGeom>
        </p:spPr>
        <p:txBody>
          <a:bodyPr wrap="square">
            <a:spAutoFit/>
          </a:bodyPr>
          <a:lstStyle/>
          <a:p>
            <a:pPr marL="800100" lvl="1" indent="-342900">
              <a:buFont typeface="Wingdings" panose="05000000000000000000" pitchFamily="2" charset="2"/>
              <a:buChar char="ü"/>
            </a:pPr>
            <a:r>
              <a:rPr lang="en-US" sz="2000" dirty="0"/>
              <a:t>Projected coordinate systems do not use longitude and latitude to measure locations</a:t>
            </a:r>
          </a:p>
          <a:p>
            <a:endParaRPr lang="en-US" sz="2000" dirty="0"/>
          </a:p>
          <a:p>
            <a:pPr marL="800100" lvl="1" indent="-342900">
              <a:buFont typeface="Wingdings" panose="05000000000000000000" pitchFamily="2" charset="2"/>
              <a:buChar char="ü"/>
            </a:pPr>
            <a:r>
              <a:rPr lang="en-US" sz="2000" dirty="0"/>
              <a:t>Instead, they use map units of the projection itself:</a:t>
            </a:r>
          </a:p>
          <a:p>
            <a:endParaRPr lang="en-US" sz="2000" dirty="0"/>
          </a:p>
          <a:p>
            <a:pPr lvl="1"/>
            <a:r>
              <a:rPr lang="en-US" sz="2000" dirty="0"/>
              <a:t>	Meters (UTM, Albers, most others)</a:t>
            </a:r>
          </a:p>
          <a:p>
            <a:pPr lvl="1"/>
            <a:r>
              <a:rPr lang="en-US" sz="2000" dirty="0"/>
              <a:t>	Feet (State Plane, few others)</a:t>
            </a:r>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BA8F926-0EC4-45B9-925B-AAF329A5EA4B}"/>
              </a:ext>
            </a:extLst>
          </p:cNvPr>
          <p:cNvSpPr>
            <a:spLocks noGrp="1"/>
          </p:cNvSpPr>
          <p:nvPr>
            <p:ph type="sldNum" sz="quarter" idx="12"/>
          </p:nvPr>
        </p:nvSpPr>
        <p:spPr/>
        <p:txBody>
          <a:bodyPr/>
          <a:lstStyle/>
          <a:p>
            <a:fld id="{127DDC20-79C9-9647-820E-6D40A3D210C3}" type="slidenum">
              <a:rPr lang="en-US" smtClean="0"/>
              <a:pPr/>
              <a:t>52</a:t>
            </a:fld>
            <a:endParaRPr lang="en-US"/>
          </a:p>
        </p:txBody>
      </p:sp>
    </p:spTree>
    <p:extLst>
      <p:ext uri="{BB962C8B-B14F-4D97-AF65-F5344CB8AC3E}">
        <p14:creationId xmlns:p14="http://schemas.microsoft.com/office/powerpoint/2010/main" val="69473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46BFF398-4281-401C-9AF1-F92AACC4BD4F}"/>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World Projections: Mercator</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3" name="Content Placeholder 2"/>
          <p:cNvSpPr>
            <a:spLocks noGrp="1"/>
          </p:cNvSpPr>
          <p:nvPr>
            <p:ph idx="1"/>
          </p:nvPr>
        </p:nvSpPr>
        <p:spPr>
          <a:xfrm>
            <a:off x="320481" y="1542782"/>
            <a:ext cx="3742871" cy="2881110"/>
          </a:xfrm>
        </p:spPr>
        <p:txBody>
          <a:bodyPr>
            <a:normAutofit/>
          </a:bodyPr>
          <a:lstStyle/>
          <a:p>
            <a:pPr lvl="1">
              <a:buFont typeface="Wingdings" panose="05000000000000000000" pitchFamily="2" charset="2"/>
              <a:buChar char="ü"/>
            </a:pPr>
            <a:r>
              <a:rPr lang="en-US" dirty="0"/>
              <a:t>Cylindrical conformal projection</a:t>
            </a:r>
          </a:p>
          <a:p>
            <a:pPr lvl="1">
              <a:buFont typeface="Wingdings" panose="05000000000000000000" pitchFamily="2" charset="2"/>
              <a:buChar char="ü"/>
            </a:pPr>
            <a:r>
              <a:rPr lang="en-US" dirty="0"/>
              <a:t>Maintains shape</a:t>
            </a:r>
          </a:p>
          <a:p>
            <a:pPr lvl="1">
              <a:buFont typeface="Wingdings" panose="05000000000000000000" pitchFamily="2" charset="2"/>
              <a:buChar char="ü"/>
            </a:pPr>
            <a:r>
              <a:rPr lang="en-US" dirty="0"/>
              <a:t>Distorts size</a:t>
            </a:r>
          </a:p>
          <a:p>
            <a:pPr lvl="1">
              <a:buFont typeface="Wingdings" panose="05000000000000000000" pitchFamily="2" charset="2"/>
              <a:buChar char="ü"/>
            </a:pPr>
            <a:r>
              <a:rPr lang="en-US"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53</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448559"/>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1AEB4356-6FF5-4CAA-85EB-2E7290D43892}"/>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World Projections: Web Mercator</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3" name="Content Placeholder 2"/>
          <p:cNvSpPr>
            <a:spLocks noGrp="1"/>
          </p:cNvSpPr>
          <p:nvPr>
            <p:ph idx="1"/>
          </p:nvPr>
        </p:nvSpPr>
        <p:spPr>
          <a:xfrm>
            <a:off x="302742" y="1542782"/>
            <a:ext cx="3983239" cy="2881110"/>
          </a:xfrm>
        </p:spPr>
        <p:txBody>
          <a:bodyPr>
            <a:normAutofit/>
          </a:bodyPr>
          <a:lstStyle/>
          <a:p>
            <a:pPr lvl="1">
              <a:buFont typeface="Wingdings" panose="05000000000000000000" pitchFamily="2" charset="2"/>
              <a:buChar char="ü"/>
            </a:pPr>
            <a:r>
              <a:rPr lang="en-US" dirty="0"/>
              <a:t>Modification of Mercator projection that is commonly used for web maps</a:t>
            </a:r>
          </a:p>
          <a:p>
            <a:pPr lvl="1">
              <a:buFont typeface="Wingdings" panose="05000000000000000000" pitchFamily="2" charset="2"/>
              <a:buChar char="ü"/>
            </a:pPr>
            <a:r>
              <a:rPr lang="en-US" dirty="0"/>
              <a:t>Bing Maps, </a:t>
            </a:r>
            <a:r>
              <a:rPr lang="en-US" dirty="0" err="1"/>
              <a:t>OpenStreetMap</a:t>
            </a:r>
            <a:r>
              <a:rPr lang="en-US" dirty="0"/>
              <a:t>, Google Maps, MapQuest, ArcGIS Online</a:t>
            </a:r>
          </a:p>
          <a:p>
            <a:pPr lvl="1">
              <a:buFont typeface="Wingdings" panose="05000000000000000000" pitchFamily="2" charset="2"/>
              <a:buChar char="ü"/>
            </a:pPr>
            <a:r>
              <a:rPr lang="en-US" dirty="0"/>
              <a:t>Uses a sphere as opposed to a spheroid </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54</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5981" y="2239646"/>
            <a:ext cx="3640878" cy="218424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4285981" y="4482923"/>
            <a:ext cx="4133334" cy="400110"/>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27">
            <a:extLst>
              <a:ext uri="{FF2B5EF4-FFF2-40B4-BE49-F238E27FC236}">
                <a16:creationId xmlns:a16="http://schemas.microsoft.com/office/drawing/2014/main" id="{EAE213B0-1D61-4A34-938F-448536A0668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World Projections: Mollweide</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3" name="Content Placeholder 2"/>
          <p:cNvSpPr>
            <a:spLocks noGrp="1"/>
          </p:cNvSpPr>
          <p:nvPr>
            <p:ph idx="1"/>
          </p:nvPr>
        </p:nvSpPr>
        <p:spPr>
          <a:xfrm>
            <a:off x="302741" y="1720460"/>
            <a:ext cx="3435541" cy="3394472"/>
          </a:xfrm>
        </p:spPr>
        <p:txBody>
          <a:bodyPr>
            <a:normAutofit/>
          </a:bodyPr>
          <a:lstStyle/>
          <a:p>
            <a:pPr lvl="1">
              <a:buFont typeface="Wingdings" panose="05000000000000000000" pitchFamily="2" charset="2"/>
              <a:buChar char="ü"/>
            </a:pPr>
            <a:r>
              <a:rPr lang="en-US" dirty="0"/>
              <a:t>Equivalent projection</a:t>
            </a:r>
          </a:p>
          <a:p>
            <a:pPr lvl="1">
              <a:buFont typeface="Wingdings" panose="05000000000000000000" pitchFamily="2" charset="2"/>
              <a:buChar char="ü"/>
            </a:pPr>
            <a:r>
              <a:rPr lang="en-US" dirty="0"/>
              <a:t>Maintains area</a:t>
            </a:r>
          </a:p>
          <a:p>
            <a:pPr lvl="1">
              <a:buFont typeface="Wingdings" panose="05000000000000000000" pitchFamily="2" charset="2"/>
              <a:buChar char="ü"/>
            </a:pPr>
            <a:r>
              <a:rPr lang="en-US" dirty="0"/>
              <a:t>Distorts shape and angle</a:t>
            </a:r>
          </a:p>
          <a:p>
            <a:pPr lvl="1">
              <a:buFont typeface="Wingdings" panose="05000000000000000000" pitchFamily="2" charset="2"/>
              <a:buChar char="ü"/>
            </a:pPr>
            <a:r>
              <a:rPr lang="en-US" dirty="0" err="1"/>
              <a:t>Pseudocylindrical</a:t>
            </a:r>
            <a:endParaRPr lang="en-US" dirty="0"/>
          </a:p>
          <a:p>
            <a:pPr lvl="1">
              <a:buFont typeface="Wingdings" panose="05000000000000000000" pitchFamily="2" charset="2"/>
              <a:buChar char="ü"/>
            </a:pPr>
            <a:r>
              <a:rPr lang="en-US"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55</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534026"/>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27">
            <a:extLst>
              <a:ext uri="{FF2B5EF4-FFF2-40B4-BE49-F238E27FC236}">
                <a16:creationId xmlns:a16="http://schemas.microsoft.com/office/drawing/2014/main" id="{78AB8B3E-CE9C-4A4E-9B52-CD46B3968782}"/>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World Projections: Azimuthal Equidistant</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3" name="Content Placeholder 2"/>
          <p:cNvSpPr>
            <a:spLocks noGrp="1"/>
          </p:cNvSpPr>
          <p:nvPr>
            <p:ph idx="1"/>
          </p:nvPr>
        </p:nvSpPr>
        <p:spPr>
          <a:xfrm>
            <a:off x="411480" y="1730544"/>
            <a:ext cx="4173967" cy="2801115"/>
          </a:xfrm>
        </p:spPr>
        <p:txBody>
          <a:bodyPr>
            <a:normAutofit/>
          </a:bodyPr>
          <a:lstStyle/>
          <a:p>
            <a:pPr lvl="1">
              <a:buFont typeface="Wingdings" panose="05000000000000000000" pitchFamily="2" charset="2"/>
              <a:buChar char="ü"/>
            </a:pPr>
            <a:r>
              <a:rPr lang="en-US" dirty="0"/>
              <a:t>Azimuthal and Equidistant</a:t>
            </a:r>
          </a:p>
          <a:p>
            <a:pPr lvl="1">
              <a:buFont typeface="Wingdings" panose="05000000000000000000" pitchFamily="2" charset="2"/>
              <a:buChar char="ü"/>
            </a:pPr>
            <a:r>
              <a:rPr lang="en-US" dirty="0"/>
              <a:t>Correct distance from center of map</a:t>
            </a:r>
          </a:p>
          <a:p>
            <a:pPr lvl="1">
              <a:buFont typeface="Wingdings" panose="05000000000000000000" pitchFamily="2" charset="2"/>
              <a:buChar char="ü"/>
            </a:pPr>
            <a:r>
              <a:rPr lang="en-US" dirty="0"/>
              <a:t>Correct angle from center of map</a:t>
            </a:r>
          </a:p>
          <a:p>
            <a:pPr lvl="1">
              <a:buFont typeface="Wingdings" panose="05000000000000000000" pitchFamily="2" charset="2"/>
              <a:buChar char="ü"/>
            </a:pPr>
            <a:r>
              <a:rPr lang="en-US" dirty="0"/>
              <a:t>Distorts shape and relative size</a:t>
            </a:r>
          </a:p>
        </p:txBody>
      </p:sp>
      <p:sp>
        <p:nvSpPr>
          <p:cNvPr id="4" name="Slide Number Placeholder 3">
            <a:extLst>
              <a:ext uri="{FF2B5EF4-FFF2-40B4-BE49-F238E27FC236}">
                <a16:creationId xmlns:a16="http://schemas.microsoft.com/office/drawing/2014/main" id="{60B9B79A-C048-40BD-B2F7-08AD1699B864}"/>
              </a:ext>
            </a:extLst>
          </p:cNvPr>
          <p:cNvSpPr>
            <a:spLocks noGrp="1"/>
          </p:cNvSpPr>
          <p:nvPr>
            <p:ph type="sldNum" sz="quarter" idx="12"/>
          </p:nvPr>
        </p:nvSpPr>
        <p:spPr/>
        <p:txBody>
          <a:bodyPr/>
          <a:lstStyle/>
          <a:p>
            <a:fld id="{127DDC20-79C9-9647-820E-6D40A3D210C3}" type="slidenum">
              <a:rPr lang="en-US" smtClean="0"/>
              <a:pPr/>
              <a:t>56</a:t>
            </a:fld>
            <a:endParaRPr lang="en-US"/>
          </a:p>
        </p:txBody>
      </p:sp>
      <p:sp>
        <p:nvSpPr>
          <p:cNvPr id="7" name="Title 1">
            <a:extLst>
              <a:ext uri="{FF2B5EF4-FFF2-40B4-BE49-F238E27FC236}">
                <a16:creationId xmlns:a16="http://schemas.microsoft.com/office/drawing/2014/main" id="{DFBA2E36-E850-4148-85F6-3BE29E253B6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749F0FE7-C129-4C9C-B947-3A13CB3512B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Picture 8" descr="azimuthal">
            <a:extLst>
              <a:ext uri="{FF2B5EF4-FFF2-40B4-BE49-F238E27FC236}">
                <a16:creationId xmlns:a16="http://schemas.microsoft.com/office/drawing/2014/main" id="{71F7FA42-BEF5-4F46-8EEA-B7123DF44CCA}"/>
              </a:ext>
            </a:extLst>
          </p:cNvPr>
          <p:cNvPicPr>
            <a:picLocks noChangeAspect="1" noChangeArrowheads="1"/>
          </p:cNvPicPr>
          <p:nvPr/>
        </p:nvPicPr>
        <p:blipFill rotWithShape="1">
          <a:blip r:embed="rId3"/>
          <a:srcRect b="52416"/>
          <a:stretch/>
        </p:blipFill>
        <p:spPr bwMode="auto">
          <a:xfrm>
            <a:off x="4816486" y="1986349"/>
            <a:ext cx="3110373" cy="2656521"/>
          </a:xfrm>
          <a:prstGeom prst="rect">
            <a:avLst/>
          </a:prstGeom>
          <a:noFill/>
        </p:spPr>
      </p:pic>
      <p:sp>
        <p:nvSpPr>
          <p:cNvPr id="10" name="Footer Placeholder 8">
            <a:extLst>
              <a:ext uri="{FF2B5EF4-FFF2-40B4-BE49-F238E27FC236}">
                <a16:creationId xmlns:a16="http://schemas.microsoft.com/office/drawing/2014/main" id="{7411FAFC-0654-4B1D-A400-D9AB0B811284}"/>
              </a:ext>
            </a:extLst>
          </p:cNvPr>
          <p:cNvSpPr txBox="1">
            <a:spLocks/>
          </p:cNvSpPr>
          <p:nvPr/>
        </p:nvSpPr>
        <p:spPr>
          <a:xfrm>
            <a:off x="4400550" y="4779240"/>
            <a:ext cx="3829050" cy="273844"/>
          </a:xfrm>
          <a:prstGeom prst="rect">
            <a:avLst/>
          </a:prstGeom>
        </p:spPr>
        <p:txBody>
          <a:bodyPr vert="horz" lIns="91440" tIns="45720" rIns="91440" bIns="45720" rtlCol="0" anchor="ctr"/>
          <a:lstStyle>
            <a:defPPr>
              <a:defRPr lang="en-US"/>
            </a:defPPr>
            <a:lvl1pPr marL="0" algn="ctr" defTabSz="457200" rtl="0" eaLnBrk="1" latinLnBrk="0" hangingPunct="1">
              <a:defRPr sz="108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a:ea typeface="ＭＳ Ｐゴシック" charset="-128"/>
              </a:rPr>
              <a:t>© 2013 by John Wiley &amp; Sons, Inc. All rights reserved.</a:t>
            </a:r>
            <a:endParaRPr lang="en-US" sz="1200" dirty="0">
              <a:ea typeface="ＭＳ Ｐゴシック" charset="-128"/>
            </a:endParaRPr>
          </a:p>
        </p:txBody>
      </p:sp>
    </p:spTree>
    <p:extLst>
      <p:ext uri="{BB962C8B-B14F-4D97-AF65-F5344CB8AC3E}">
        <p14:creationId xmlns:p14="http://schemas.microsoft.com/office/powerpoint/2010/main" val="2124378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5D6FFFF6-F8BC-443C-8A18-947DF8B52AD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World Projections: Robinson</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3" name="Content Placeholder 2"/>
          <p:cNvSpPr>
            <a:spLocks noGrp="1"/>
          </p:cNvSpPr>
          <p:nvPr>
            <p:ph idx="1"/>
          </p:nvPr>
        </p:nvSpPr>
        <p:spPr>
          <a:xfrm>
            <a:off x="302741" y="1542782"/>
            <a:ext cx="3091781" cy="2881110"/>
          </a:xfrm>
        </p:spPr>
        <p:txBody>
          <a:bodyPr>
            <a:normAutofit/>
          </a:bodyPr>
          <a:lstStyle/>
          <a:p>
            <a:pPr lvl="1">
              <a:buFont typeface="Wingdings" panose="05000000000000000000" pitchFamily="2" charset="2"/>
              <a:buChar char="ü"/>
            </a:pPr>
            <a:r>
              <a:rPr lang="en-US" dirty="0"/>
              <a:t>Neither equivalent or conformal</a:t>
            </a:r>
          </a:p>
          <a:p>
            <a:pPr lvl="1">
              <a:buFont typeface="Wingdings" panose="05000000000000000000" pitchFamily="2" charset="2"/>
              <a:buChar char="ü"/>
            </a:pPr>
            <a:r>
              <a:rPr lang="en-US" dirty="0"/>
              <a:t>Strikes a balance between shape </a:t>
            </a:r>
            <a:r>
              <a:rPr lang="en-US"/>
              <a:t>and size</a:t>
            </a:r>
            <a:endParaRPr lang="en-US" dirty="0"/>
          </a:p>
          <a:p>
            <a:pPr lvl="1">
              <a:buFont typeface="Wingdings" panose="05000000000000000000" pitchFamily="2" charset="2"/>
              <a:buChar char="ü"/>
            </a:pPr>
            <a:r>
              <a:rPr lang="en-US" dirty="0"/>
              <a:t>Meridians curve gently </a:t>
            </a:r>
          </a:p>
        </p:txBody>
      </p:sp>
      <p:sp>
        <p:nvSpPr>
          <p:cNvPr id="6" name="Slide Number Placeholder 5">
            <a:extLst>
              <a:ext uri="{FF2B5EF4-FFF2-40B4-BE49-F238E27FC236}">
                <a16:creationId xmlns:a16="http://schemas.microsoft.com/office/drawing/2014/main" id="{E1AB6749-835A-41E7-B418-245D9E50D74A}"/>
              </a:ext>
            </a:extLst>
          </p:cNvPr>
          <p:cNvSpPr>
            <a:spLocks noGrp="1"/>
          </p:cNvSpPr>
          <p:nvPr>
            <p:ph type="sldNum" sz="quarter" idx="12"/>
          </p:nvPr>
        </p:nvSpPr>
        <p:spPr/>
        <p:txBody>
          <a:bodyPr/>
          <a:lstStyle/>
          <a:p>
            <a:fld id="{127DDC20-79C9-9647-820E-6D40A3D210C3}" type="slidenum">
              <a:rPr lang="en-US" smtClean="0"/>
              <a:pPr/>
              <a:t>57</a:t>
            </a:fld>
            <a:endParaRPr lang="en-US"/>
          </a:p>
        </p:txBody>
      </p:sp>
      <p:sp>
        <p:nvSpPr>
          <p:cNvPr id="5" name="Title 1">
            <a:extLst>
              <a:ext uri="{FF2B5EF4-FFF2-40B4-BE49-F238E27FC236}">
                <a16:creationId xmlns:a16="http://schemas.microsoft.com/office/drawing/2014/main" id="{57B4C598-DC5D-4498-8D3C-5F28E78B4536}"/>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6AC810D8-DD83-4C5E-B70C-A42B6BA633E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744DDA0D-2D5B-4F8F-8136-95B83E4C6E01}"/>
              </a:ext>
            </a:extLst>
          </p:cNvPr>
          <p:cNvPicPr>
            <a:picLocks noChangeAspect="1"/>
          </p:cNvPicPr>
          <p:nvPr/>
        </p:nvPicPr>
        <p:blipFill>
          <a:blip r:embed="rId3"/>
          <a:stretch>
            <a:fillRect/>
          </a:stretch>
        </p:blipFill>
        <p:spPr>
          <a:xfrm>
            <a:off x="3797217" y="1650443"/>
            <a:ext cx="4129642" cy="2355514"/>
          </a:xfrm>
          <a:prstGeom prst="rect">
            <a:avLst/>
          </a:prstGeom>
        </p:spPr>
      </p:pic>
    </p:spTree>
    <p:extLst>
      <p:ext uri="{BB962C8B-B14F-4D97-AF65-F5344CB8AC3E}">
        <p14:creationId xmlns:p14="http://schemas.microsoft.com/office/powerpoint/2010/main" val="714592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58</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59</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547161"/>
            <a:ext cx="4590535" cy="2881110"/>
          </a:xfrm>
        </p:spPr>
        <p:txBody>
          <a:bodyPr>
            <a:normAutofit/>
          </a:bodyPr>
          <a:lstStyle/>
          <a:p>
            <a:pPr lvl="1">
              <a:buFont typeface="Wingdings" panose="05000000000000000000" pitchFamily="2" charset="2"/>
              <a:buChar char="ü"/>
            </a:pPr>
            <a:r>
              <a:rPr lang="en-US" dirty="0"/>
              <a:t>Conic </a:t>
            </a:r>
          </a:p>
          <a:p>
            <a:pPr lvl="1">
              <a:buFont typeface="Wingdings" panose="05000000000000000000" pitchFamily="2" charset="2"/>
              <a:buChar char="ü"/>
            </a:pPr>
            <a:r>
              <a:rPr lang="en-US" dirty="0"/>
              <a:t>Equivalent</a:t>
            </a:r>
          </a:p>
          <a:p>
            <a:pPr lvl="1">
              <a:buFont typeface="Wingdings" panose="05000000000000000000" pitchFamily="2" charset="2"/>
              <a:buChar char="ü"/>
            </a:pPr>
            <a:r>
              <a:rPr lang="en-US" dirty="0"/>
              <a:t>Maintains area</a:t>
            </a:r>
          </a:p>
          <a:p>
            <a:pPr lvl="1">
              <a:buFont typeface="Wingdings" panose="05000000000000000000" pitchFamily="2" charset="2"/>
              <a:buChar char="ü"/>
            </a:pPr>
            <a:r>
              <a:rPr lang="en-US" dirty="0"/>
              <a:t>Distort shape and local angles</a:t>
            </a:r>
          </a:p>
          <a:p>
            <a:pPr lvl="1">
              <a:buFont typeface="Wingdings" panose="05000000000000000000" pitchFamily="2" charset="2"/>
              <a:buChar char="ü"/>
            </a:pPr>
            <a:r>
              <a:rPr lang="en-US" dirty="0"/>
              <a:t>Two standard parallels</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60</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857558" y="1547161"/>
            <a:ext cx="4064423" cy="2529382"/>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532507"/>
            <a:ext cx="3997410" cy="2881110"/>
          </a:xfrm>
        </p:spPr>
        <p:txBody>
          <a:bodyPr>
            <a:normAutofit/>
          </a:bodyPr>
          <a:lstStyle/>
          <a:p>
            <a:pPr lvl="1">
              <a:buFont typeface="Wingdings" panose="05000000000000000000" pitchFamily="2" charset="2"/>
              <a:buChar char="ü"/>
            </a:pPr>
            <a:r>
              <a:rPr lang="en-US" dirty="0"/>
              <a:t>Conic</a:t>
            </a:r>
          </a:p>
          <a:p>
            <a:pPr lvl="1">
              <a:buFont typeface="Wingdings" panose="05000000000000000000" pitchFamily="2" charset="2"/>
              <a:buChar char="ü"/>
            </a:pPr>
            <a:r>
              <a:rPr lang="en-US" dirty="0"/>
              <a:t>Conformal</a:t>
            </a:r>
          </a:p>
          <a:p>
            <a:pPr lvl="1">
              <a:buFont typeface="Wingdings" panose="05000000000000000000" pitchFamily="2" charset="2"/>
              <a:buChar char="ü"/>
            </a:pPr>
            <a:r>
              <a:rPr lang="en-US" dirty="0"/>
              <a:t>Maintains shape and local angles</a:t>
            </a:r>
          </a:p>
          <a:p>
            <a:pPr lvl="1">
              <a:buFont typeface="Wingdings" panose="05000000000000000000" pitchFamily="2" charset="2"/>
              <a:buChar char="ü"/>
            </a:pPr>
            <a:r>
              <a:rPr lang="en-US" dirty="0"/>
              <a:t>Distorts local size</a:t>
            </a:r>
          </a:p>
          <a:p>
            <a:pPr lvl="1">
              <a:buFont typeface="Wingdings" panose="05000000000000000000" pitchFamily="2" charset="2"/>
              <a:buChar char="ü"/>
            </a:pPr>
            <a:r>
              <a:rPr lang="en-US" dirty="0"/>
              <a:t>Two standard parallels</a:t>
            </a:r>
          </a:p>
          <a:p>
            <a:endParaRPr lang="en-US" dirty="0"/>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61</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1600" dirty="0"/>
              <a:t>60 zones</a:t>
            </a:r>
          </a:p>
          <a:p>
            <a:pPr lvl="1">
              <a:buFont typeface="Wingdings" panose="05000000000000000000" pitchFamily="2" charset="2"/>
              <a:buChar char="ü"/>
            </a:pPr>
            <a:r>
              <a:rPr lang="en-US" sz="1600" dirty="0"/>
              <a:t>Location provided in meters as </a:t>
            </a:r>
            <a:r>
              <a:rPr lang="en-US" sz="1600" b="1" dirty="0">
                <a:solidFill>
                  <a:srgbClr val="E3874F"/>
                </a:solidFill>
              </a:rPr>
              <a:t>Easting</a:t>
            </a:r>
            <a:r>
              <a:rPr lang="en-US" sz="1600" dirty="0"/>
              <a:t> and </a:t>
            </a:r>
            <a:r>
              <a:rPr lang="en-US" sz="1600" b="1" dirty="0">
                <a:solidFill>
                  <a:srgbClr val="E3874F"/>
                </a:solidFill>
              </a:rPr>
              <a:t>Northing</a:t>
            </a:r>
          </a:p>
          <a:p>
            <a:pPr lvl="1">
              <a:buFont typeface="Wingdings" panose="05000000000000000000" pitchFamily="2" charset="2"/>
              <a:buChar char="ü"/>
            </a:pPr>
            <a:r>
              <a:rPr lang="en-US" sz="1600" b="1" dirty="0">
                <a:solidFill>
                  <a:srgbClr val="E3874F"/>
                </a:solidFill>
              </a:rPr>
              <a:t>Northing: </a:t>
            </a:r>
            <a:r>
              <a:rPr lang="en-US" sz="1600" dirty="0"/>
              <a:t>meters north of equator </a:t>
            </a:r>
          </a:p>
          <a:p>
            <a:pPr lvl="2">
              <a:buFont typeface="Arial" panose="020B0604020202020204" pitchFamily="34" charset="0"/>
              <a:buChar char="•"/>
            </a:pPr>
            <a:r>
              <a:rPr lang="en-US" dirty="0"/>
              <a:t>In northern hemisphere, equator is assigned a value of 0 meters, add as you go up</a:t>
            </a:r>
          </a:p>
          <a:p>
            <a:pPr lvl="2">
              <a:buFont typeface="Arial" panose="020B0604020202020204" pitchFamily="34" charset="0"/>
              <a:buChar char="•"/>
            </a:pPr>
            <a:r>
              <a:rPr lang="en-US" dirty="0"/>
              <a:t>In southern hemisphere, equator is assigned a value of 10,000,000 meters, subtract as you go down</a:t>
            </a:r>
          </a:p>
          <a:p>
            <a:pPr lvl="1">
              <a:buFont typeface="Wingdings" panose="05000000000000000000" pitchFamily="2" charset="2"/>
              <a:buChar char="ü"/>
            </a:pPr>
            <a:r>
              <a:rPr lang="en-US" sz="1600" b="1" dirty="0">
                <a:solidFill>
                  <a:srgbClr val="E3874F"/>
                </a:solidFill>
              </a:rPr>
              <a:t>Easting: </a:t>
            </a:r>
            <a:r>
              <a:rPr lang="en-US" sz="1600" dirty="0"/>
              <a:t>distance from central meridian in UTM zone</a:t>
            </a:r>
          </a:p>
          <a:p>
            <a:pPr lvl="2">
              <a:buFont typeface="Arial" panose="020B0604020202020204" pitchFamily="34" charset="0"/>
              <a:buChar char="•"/>
            </a:pPr>
            <a:r>
              <a:rPr lang="en-US" dirty="0"/>
              <a:t>Central meridian is assigned a value of 500,000 meters</a:t>
            </a:r>
          </a:p>
          <a:p>
            <a:pPr lvl="2">
              <a:buFont typeface="Arial" panose="020B0604020202020204" pitchFamily="34" charset="0"/>
              <a:buChar char="•"/>
            </a:pPr>
            <a:r>
              <a:rPr lang="en-US" dirty="0"/>
              <a:t>Add as you go east</a:t>
            </a:r>
          </a:p>
          <a:p>
            <a:pPr lvl="2">
              <a:buFont typeface="Arial" panose="020B0604020202020204" pitchFamily="34" charset="0"/>
              <a:buChar char="•"/>
            </a:pPr>
            <a:r>
              <a:rPr lang="en-US" dirty="0"/>
              <a:t>Subtract as you go west</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62</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63</a:t>
            </a:fld>
            <a:endParaRPr lang="en-US"/>
          </a:p>
        </p:txBody>
      </p:sp>
      <p:pic>
        <p:nvPicPr>
          <p:cNvPr id="4" name="Picture 3" descr="Diagram&#10;&#10;Description automatically generated">
            <a:extLst>
              <a:ext uri="{FF2B5EF4-FFF2-40B4-BE49-F238E27FC236}">
                <a16:creationId xmlns:a16="http://schemas.microsoft.com/office/drawing/2014/main" id="{41B3E801-CAFA-4E0B-8015-6E6733E38125}"/>
              </a:ext>
            </a:extLst>
          </p:cNvPr>
          <p:cNvPicPr>
            <a:picLocks noChangeAspect="1"/>
          </p:cNvPicPr>
          <p:nvPr/>
        </p:nvPicPr>
        <p:blipFill>
          <a:blip r:embed="rId3"/>
          <a:stretch>
            <a:fillRect/>
          </a:stretch>
        </p:blipFill>
        <p:spPr>
          <a:xfrm>
            <a:off x="1470208" y="1547459"/>
            <a:ext cx="1808164" cy="3440110"/>
          </a:xfrm>
          <a:prstGeom prst="rect">
            <a:avLst/>
          </a:prstGeom>
        </p:spPr>
      </p:pic>
      <p:pic>
        <p:nvPicPr>
          <p:cNvPr id="13" name="Picture 12" descr="Diagram, map&#10;&#10;Description automatically generated">
            <a:extLst>
              <a:ext uri="{FF2B5EF4-FFF2-40B4-BE49-F238E27FC236}">
                <a16:creationId xmlns:a16="http://schemas.microsoft.com/office/drawing/2014/main" id="{053408B1-18AA-4BF8-9974-22CAB1EF5F66}"/>
              </a:ext>
            </a:extLst>
          </p:cNvPr>
          <p:cNvPicPr>
            <a:picLocks noChangeAspect="1"/>
          </p:cNvPicPr>
          <p:nvPr/>
        </p:nvPicPr>
        <p:blipFill>
          <a:blip r:embed="rId4"/>
          <a:stretch>
            <a:fillRect/>
          </a:stretch>
        </p:blipFill>
        <p:spPr>
          <a:xfrm>
            <a:off x="5401010" y="1530604"/>
            <a:ext cx="1688541" cy="3512956"/>
          </a:xfrm>
          <a:prstGeom prst="rect">
            <a:avLst/>
          </a:prstGeom>
        </p:spPr>
      </p:pic>
      <p:sp>
        <p:nvSpPr>
          <p:cNvPr id="14" name="TextBox 13">
            <a:extLst>
              <a:ext uri="{FF2B5EF4-FFF2-40B4-BE49-F238E27FC236}">
                <a16:creationId xmlns:a16="http://schemas.microsoft.com/office/drawing/2014/main" id="{6B091684-7C40-47F7-BBD6-7A61C5D3067A}"/>
              </a:ext>
            </a:extLst>
          </p:cNvPr>
          <p:cNvSpPr txBox="1"/>
          <p:nvPr/>
        </p:nvSpPr>
        <p:spPr>
          <a:xfrm>
            <a:off x="152400" y="3459234"/>
            <a:ext cx="1511300" cy="646331"/>
          </a:xfrm>
          <a:prstGeom prst="rect">
            <a:avLst/>
          </a:prstGeom>
          <a:noFill/>
        </p:spPr>
        <p:txBody>
          <a:bodyPr wrap="square" rtlCol="0">
            <a:spAutoFit/>
          </a:bodyPr>
          <a:lstStyle/>
          <a:p>
            <a:r>
              <a:rPr lang="en-US" dirty="0"/>
              <a:t>Northern hemisphere</a:t>
            </a:r>
          </a:p>
        </p:txBody>
      </p:sp>
      <p:sp>
        <p:nvSpPr>
          <p:cNvPr id="15" name="TextBox 14">
            <a:extLst>
              <a:ext uri="{FF2B5EF4-FFF2-40B4-BE49-F238E27FC236}">
                <a16:creationId xmlns:a16="http://schemas.microsoft.com/office/drawing/2014/main" id="{649D934A-78BE-4262-9970-15267411AFC3}"/>
              </a:ext>
            </a:extLst>
          </p:cNvPr>
          <p:cNvSpPr txBox="1"/>
          <p:nvPr/>
        </p:nvSpPr>
        <p:spPr>
          <a:xfrm>
            <a:off x="4178300" y="3436110"/>
            <a:ext cx="1511300" cy="646331"/>
          </a:xfrm>
          <a:prstGeom prst="rect">
            <a:avLst/>
          </a:prstGeom>
          <a:noFill/>
        </p:spPr>
        <p:txBody>
          <a:bodyPr wrap="square" rtlCol="0">
            <a:spAutoFit/>
          </a:bodyPr>
          <a:lstStyle/>
          <a:p>
            <a:r>
              <a:rPr lang="en-US" dirty="0"/>
              <a:t>Southern hemisphere</a:t>
            </a:r>
          </a:p>
        </p:txBody>
      </p:sp>
      <p:sp>
        <p:nvSpPr>
          <p:cNvPr id="16" name="TextBox 15">
            <a:extLst>
              <a:ext uri="{FF2B5EF4-FFF2-40B4-BE49-F238E27FC236}">
                <a16:creationId xmlns:a16="http://schemas.microsoft.com/office/drawing/2014/main" id="{DBCCB0EC-0B0D-402A-93B5-CEC91139C52A}"/>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333918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64</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en-US" dirty="0"/>
              <a:t>Zones follow county boundaries</a:t>
            </a:r>
          </a:p>
          <a:p>
            <a:pPr lvl="1">
              <a:buFont typeface="Wingdings" panose="05000000000000000000" pitchFamily="2" charset="2"/>
              <a:buChar char="ü"/>
            </a:pPr>
            <a:r>
              <a:rPr lang="en-US" dirty="0"/>
              <a:t>city- to county-scale</a:t>
            </a:r>
          </a:p>
          <a:p>
            <a:pPr marL="0" indent="0">
              <a:buNone/>
            </a:pPr>
            <a:endParaRPr lang="en-US" dirty="0">
              <a:solidFill>
                <a:schemeClr val="tx2"/>
              </a:solidFill>
            </a:endParaRPr>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986" y="3261663"/>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65</a:t>
            </a:fld>
            <a:endParaRPr lang="en-US"/>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7836954" cy="629325"/>
          </a:xfrm>
          <a:prstGeom prst="rect">
            <a:avLst/>
          </a:prstGeom>
        </p:spPr>
        <p:txBody>
          <a:bodyPr vert="horz" lIns="51449" tIns="25724" rIns="51449" bIns="25724"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Transverse Mercator projection (for states with long north-south axis) </a:t>
            </a:r>
          </a:p>
          <a:p>
            <a:pPr lvl="1">
              <a:buFont typeface="Wingdings" panose="05000000000000000000" pitchFamily="2" charset="2"/>
              <a:buChar char="ü"/>
            </a:pPr>
            <a:r>
              <a:rPr lang="en-US" dirty="0"/>
              <a:t>Lambert conformal conic projection (for states with long east-west axis)</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66</a:t>
            </a:fld>
            <a:endParaRPr lang="en-US"/>
          </a:p>
        </p:txBody>
      </p:sp>
      <p:pic>
        <p:nvPicPr>
          <p:cNvPr id="9" name="Picture 8" descr="Diagram&#10;&#10;Description automatically generated">
            <a:extLst>
              <a:ext uri="{FF2B5EF4-FFF2-40B4-BE49-F238E27FC236}">
                <a16:creationId xmlns:a16="http://schemas.microsoft.com/office/drawing/2014/main" id="{A398956F-3C88-466E-94BD-D9CAC8379493}"/>
              </a:ext>
            </a:extLst>
          </p:cNvPr>
          <p:cNvPicPr>
            <a:picLocks noChangeAspect="1"/>
          </p:cNvPicPr>
          <p:nvPr/>
        </p:nvPicPr>
        <p:blipFill>
          <a:blip r:embed="rId3"/>
          <a:stretch>
            <a:fillRect/>
          </a:stretch>
        </p:blipFill>
        <p:spPr>
          <a:xfrm>
            <a:off x="4248041" y="2531723"/>
            <a:ext cx="3169239" cy="2319603"/>
          </a:xfrm>
          <a:prstGeom prst="rect">
            <a:avLst/>
          </a:prstGeom>
        </p:spPr>
      </p:pic>
      <p:sp>
        <p:nvSpPr>
          <p:cNvPr id="16" name="TextBox 15">
            <a:extLst>
              <a:ext uri="{FF2B5EF4-FFF2-40B4-BE49-F238E27FC236}">
                <a16:creationId xmlns:a16="http://schemas.microsoft.com/office/drawing/2014/main" id="{5FFA3C2C-4824-4770-B9CA-0D7F1CB40060}"/>
              </a:ext>
            </a:extLst>
          </p:cNvPr>
          <p:cNvSpPr txBox="1"/>
          <p:nvPr/>
        </p:nvSpPr>
        <p:spPr>
          <a:xfrm>
            <a:off x="4594931" y="4749718"/>
            <a:ext cx="2605969" cy="369332"/>
          </a:xfrm>
          <a:prstGeom prst="rect">
            <a:avLst/>
          </a:prstGeom>
          <a:noFill/>
        </p:spPr>
        <p:txBody>
          <a:bodyPr wrap="square">
            <a:spAutoFit/>
          </a:bodyPr>
          <a:lstStyle/>
          <a:p>
            <a:r>
              <a:rPr lang="en-US" dirty="0"/>
              <a:t>Lambert conformal conic</a:t>
            </a:r>
          </a:p>
        </p:txBody>
      </p:sp>
      <p:pic>
        <p:nvPicPr>
          <p:cNvPr id="12" name="Picture 11" descr="Diagram, engineering drawing&#10;&#10;Description automatically generated">
            <a:extLst>
              <a:ext uri="{FF2B5EF4-FFF2-40B4-BE49-F238E27FC236}">
                <a16:creationId xmlns:a16="http://schemas.microsoft.com/office/drawing/2014/main" id="{B0629C80-CD48-4381-9DD1-9282CD95D655}"/>
              </a:ext>
            </a:extLst>
          </p:cNvPr>
          <p:cNvPicPr>
            <a:picLocks noChangeAspect="1"/>
          </p:cNvPicPr>
          <p:nvPr/>
        </p:nvPicPr>
        <p:blipFill>
          <a:blip r:embed="rId4"/>
          <a:stretch>
            <a:fillRect/>
          </a:stretch>
        </p:blipFill>
        <p:spPr>
          <a:xfrm>
            <a:off x="531844" y="2503259"/>
            <a:ext cx="3308478" cy="2348067"/>
          </a:xfrm>
          <a:prstGeom prst="rect">
            <a:avLst/>
          </a:prstGeom>
        </p:spPr>
      </p:pic>
      <p:sp>
        <p:nvSpPr>
          <p:cNvPr id="17" name="TextBox 16">
            <a:extLst>
              <a:ext uri="{FF2B5EF4-FFF2-40B4-BE49-F238E27FC236}">
                <a16:creationId xmlns:a16="http://schemas.microsoft.com/office/drawing/2014/main" id="{D489E261-A5AA-48E4-8876-2D156FF01FF8}"/>
              </a:ext>
            </a:extLst>
          </p:cNvPr>
          <p:cNvSpPr txBox="1"/>
          <p:nvPr/>
        </p:nvSpPr>
        <p:spPr>
          <a:xfrm>
            <a:off x="990597" y="4775510"/>
            <a:ext cx="2605969" cy="369332"/>
          </a:xfrm>
          <a:prstGeom prst="rect">
            <a:avLst/>
          </a:prstGeom>
          <a:noFill/>
        </p:spPr>
        <p:txBody>
          <a:bodyPr wrap="square">
            <a:spAutoFit/>
          </a:bodyPr>
          <a:lstStyle/>
          <a:p>
            <a:r>
              <a:rPr lang="en-US" dirty="0"/>
              <a:t>Transverse Mercator</a:t>
            </a:r>
          </a:p>
        </p:txBody>
      </p:sp>
      <p:sp>
        <p:nvSpPr>
          <p:cNvPr id="18" name="TextBox 17">
            <a:extLst>
              <a:ext uri="{FF2B5EF4-FFF2-40B4-BE49-F238E27FC236}">
                <a16:creationId xmlns:a16="http://schemas.microsoft.com/office/drawing/2014/main" id="{2934D5A3-2016-49CA-8F3D-F4D6FC9212DD}"/>
              </a:ext>
            </a:extLst>
          </p:cNvPr>
          <p:cNvSpPr txBox="1"/>
          <p:nvPr/>
        </p:nvSpPr>
        <p:spPr>
          <a:xfrm>
            <a:off x="3462680" y="489727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25420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67</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68</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69</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fontScale="92500" lnSpcReduction="1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Projection used is related to type of map and area covered by map (extent)</a:t>
            </a:r>
          </a:p>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Geographic projection (decimal degrees)</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18533" y="184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70</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08701" indent="-308701">
              <a:buFont typeface="+mj-lt"/>
              <a:buAutoNum type="arabicPeriod"/>
            </a:pPr>
            <a:r>
              <a:rPr lang="en-US" dirty="0"/>
              <a:t>Should use same projection and datum for all data</a:t>
            </a:r>
          </a:p>
          <a:p>
            <a:pPr marL="308701" indent="-308701">
              <a:buFont typeface="+mj-lt"/>
              <a:buAutoNum type="arabicPeriod"/>
            </a:pPr>
            <a:r>
              <a:rPr lang="en-US" dirty="0"/>
              <a:t>Use projection appropriate for scale and extent</a:t>
            </a:r>
          </a:p>
          <a:p>
            <a:pPr marL="308701" indent="-308701">
              <a:buFont typeface="+mj-lt"/>
              <a:buAutoNum type="arabicPeriod"/>
            </a:pPr>
            <a:r>
              <a:rPr lang="en-US"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71</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3" name="TextBox 2"/>
          <p:cNvSpPr txBox="1"/>
          <p:nvPr/>
        </p:nvSpPr>
        <p:spPr>
          <a:xfrm>
            <a:off x="322729" y="1697127"/>
            <a:ext cx="6981872" cy="2031325"/>
          </a:xfrm>
          <a:prstGeom prst="rect">
            <a:avLst/>
          </a:prstGeom>
          <a:noFill/>
        </p:spPr>
        <p:txBody>
          <a:bodyPr wrap="square" rtlCol="0">
            <a:spAutoFit/>
          </a:bodyPr>
          <a:lstStyle/>
          <a:p>
            <a:pPr marL="342900" indent="-342900">
              <a:lnSpc>
                <a:spcPct val="90000"/>
              </a:lnSpc>
              <a:buFont typeface="Courier New" panose="02070309020205020404" pitchFamily="49" charset="0"/>
              <a:buChar char="o"/>
            </a:pPr>
            <a:r>
              <a:rPr lang="en-GB" sz="2000" dirty="0"/>
              <a:t>ArcGIS can apply a projection transformation on-the-fly</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So, it is not always necessary to reproject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Okay if you are visualizing the data</a:t>
            </a:r>
          </a:p>
          <a:p>
            <a:pPr marL="231526" indent="-231526">
              <a:lnSpc>
                <a:spcPct val="90000"/>
              </a:lnSpc>
              <a:buFont typeface="Wingdings" panose="05000000000000000000" pitchFamily="2" charset="2"/>
              <a:buChar char="§"/>
            </a:pPr>
            <a:endParaRPr lang="en-GB" sz="2000" dirty="0"/>
          </a:p>
          <a:p>
            <a:pPr marL="342900" indent="-342900">
              <a:lnSpc>
                <a:spcPct val="90000"/>
              </a:lnSpc>
              <a:buFont typeface="Courier New" panose="02070309020205020404" pitchFamily="49" charset="0"/>
              <a:buChar char="o"/>
            </a:pPr>
            <a:r>
              <a:rPr lang="en-GB" sz="2000" dirty="0"/>
              <a:t>Need to reproject if you plan to perform an analysis </a:t>
            </a:r>
          </a:p>
        </p:txBody>
      </p:sp>
      <p:sp>
        <p:nvSpPr>
          <p:cNvPr id="5" name="Title 1">
            <a:extLst>
              <a:ext uri="{FF2B5EF4-FFF2-40B4-BE49-F238E27FC236}">
                <a16:creationId xmlns:a16="http://schemas.microsoft.com/office/drawing/2014/main" id="{E4CE9013-BE1F-47A9-8CD2-B3210F9E1BC2}"/>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Projection-on-the-Fly (ArcGIS)</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DE46FEB8-9369-46A6-BF64-19532EAF77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8A5634A-9C5D-4F15-A64E-3FAF2010E9B8}"/>
              </a:ext>
            </a:extLst>
          </p:cNvPr>
          <p:cNvSpPr>
            <a:spLocks noGrp="1"/>
          </p:cNvSpPr>
          <p:nvPr>
            <p:ph type="sldNum" sz="quarter" idx="12"/>
          </p:nvPr>
        </p:nvSpPr>
        <p:spPr/>
        <p:txBody>
          <a:bodyPr/>
          <a:lstStyle/>
          <a:p>
            <a:fld id="{127DDC20-79C9-9647-820E-6D40A3D210C3}" type="slidenum">
              <a:rPr lang="en-US" smtClean="0"/>
              <a:pPr/>
              <a:t>72</a:t>
            </a:fld>
            <a:endParaRPr lang="en-US"/>
          </a:p>
        </p:txBody>
      </p:sp>
    </p:spTree>
    <p:extLst>
      <p:ext uri="{BB962C8B-B14F-4D97-AF65-F5344CB8AC3E}">
        <p14:creationId xmlns:p14="http://schemas.microsoft.com/office/powerpoint/2010/main" val="282037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73</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7544</TotalTime>
  <Words>7945</Words>
  <Application>Microsoft Office PowerPoint</Application>
  <PresentationFormat>Custom</PresentationFormat>
  <Paragraphs>1052</Paragraphs>
  <Slides>73</Slides>
  <Notes>63</Notes>
  <HiddenSlides>1</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73</vt:i4>
      </vt:variant>
    </vt:vector>
  </HeadingPairs>
  <TitlesOfParts>
    <vt:vector size="89" baseType="lpstr">
      <vt:lpstr>ＭＳ Ｐゴシック</vt:lpstr>
      <vt:lpstr>Arial</vt:lpstr>
      <vt:lpstr>Arial Black</vt:lpstr>
      <vt:lpstr>Avenir Next W01</vt:lpstr>
      <vt:lpstr>Calibri</vt:lpstr>
      <vt:lpstr>Courier New</vt:lpstr>
      <vt:lpstr>Helvetica Neue</vt:lpstr>
      <vt:lpstr>Roboto</vt:lpstr>
      <vt:lpstr>Sabon-Roman</vt:lpstr>
      <vt:lpstr>Source Sans Pro</vt:lpstr>
      <vt:lpstr>Times New Roman</vt:lpstr>
      <vt:lpstr>Wingdings</vt:lpstr>
      <vt:lpstr>Wingdings 2</vt:lpstr>
      <vt:lpstr>DividendVTI</vt:lpstr>
      <vt:lpstr>1_DividendVTI</vt:lpstr>
      <vt:lpstr>2_DividendVTI</vt:lpstr>
      <vt:lpstr>WEEK 03  Datum and Projection</vt:lpstr>
      <vt:lpstr>2.1  KEY ASSUMPTION</vt:lpstr>
      <vt:lpstr>PowerPoint Presentation</vt:lpstr>
      <vt:lpstr>PowerPoint Presentation</vt:lpstr>
      <vt:lpstr>PowerPoint Presentation</vt:lpstr>
      <vt:lpstr>PowerPoint Presentation</vt:lpstr>
      <vt:lpstr>Modeling the Earth</vt:lpstr>
      <vt:lpstr>PowerPoint Presentation</vt:lpstr>
      <vt:lpstr>PowerPoint Presentation</vt:lpstr>
      <vt:lpstr>Geoid height</vt:lpstr>
      <vt:lpstr>What Do We Really Mean by 'Sea Level'? A Journey into the Geoid</vt:lpstr>
      <vt:lpstr>PowerPoint Presentation</vt:lpstr>
      <vt:lpstr>What is datum?</vt:lpstr>
      <vt:lpstr>PowerPoint Presentation</vt:lpstr>
      <vt:lpstr>PowerPoint Presentation</vt:lpstr>
      <vt:lpstr>Which datum google map use?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Geographic vs Projected Coordinate Systems</vt:lpstr>
      <vt:lpstr>Geographic vs Projected Coordinate Systems</vt:lpstr>
      <vt:lpstr>PowerPoint Presentation</vt:lpstr>
      <vt:lpstr>PowerPoint Presentation</vt:lpstr>
      <vt:lpstr>PowerPoint Presentation</vt:lpstr>
      <vt:lpstr>PowerPoint Presentation</vt:lpstr>
      <vt:lpstr>Tangency      Secancy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416</cp:revision>
  <cp:lastPrinted>2020-03-26T12:59:04Z</cp:lastPrinted>
  <dcterms:created xsi:type="dcterms:W3CDTF">2020-03-24T14:51:54Z</dcterms:created>
  <dcterms:modified xsi:type="dcterms:W3CDTF">2025-08-29T20:43:31Z</dcterms:modified>
</cp:coreProperties>
</file>