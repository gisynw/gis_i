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9"/>
  </p:notesMasterIdLst>
  <p:sldIdLst>
    <p:sldId id="602" r:id="rId2"/>
    <p:sldId id="617" r:id="rId3"/>
    <p:sldId id="260" r:id="rId4"/>
    <p:sldId id="281" r:id="rId5"/>
    <p:sldId id="619" r:id="rId6"/>
    <p:sldId id="618" r:id="rId7"/>
    <p:sldId id="604" r:id="rId8"/>
    <p:sldId id="605" r:id="rId9"/>
    <p:sldId id="637" r:id="rId10"/>
    <p:sldId id="620" r:id="rId11"/>
    <p:sldId id="638" r:id="rId12"/>
    <p:sldId id="639" r:id="rId13"/>
    <p:sldId id="621" r:id="rId14"/>
    <p:sldId id="636" r:id="rId15"/>
    <p:sldId id="288" r:id="rId16"/>
    <p:sldId id="640" r:id="rId17"/>
    <p:sldId id="295" r:id="rId18"/>
    <p:sldId id="296" r:id="rId19"/>
    <p:sldId id="608" r:id="rId20"/>
    <p:sldId id="622" r:id="rId21"/>
    <p:sldId id="609" r:id="rId22"/>
    <p:sldId id="297" r:id="rId23"/>
    <p:sldId id="641" r:id="rId24"/>
    <p:sldId id="642" r:id="rId25"/>
    <p:sldId id="611" r:id="rId26"/>
    <p:sldId id="623" r:id="rId27"/>
    <p:sldId id="300" r:id="rId28"/>
    <p:sldId id="643" r:id="rId29"/>
    <p:sldId id="299" r:id="rId30"/>
    <p:sldId id="374" r:id="rId31"/>
    <p:sldId id="268" r:id="rId32"/>
    <p:sldId id="644" r:id="rId33"/>
    <p:sldId id="304" r:id="rId34"/>
    <p:sldId id="331" r:id="rId35"/>
    <p:sldId id="633" r:id="rId36"/>
    <p:sldId id="645" r:id="rId37"/>
    <p:sldId id="311" r:id="rId38"/>
    <p:sldId id="375" r:id="rId39"/>
    <p:sldId id="377" r:id="rId40"/>
    <p:sldId id="273" r:id="rId41"/>
    <p:sldId id="272" r:id="rId42"/>
    <p:sldId id="651" r:id="rId43"/>
    <p:sldId id="652" r:id="rId44"/>
    <p:sldId id="330" r:id="rId45"/>
    <p:sldId id="303" r:id="rId46"/>
    <p:sldId id="625" r:id="rId47"/>
    <p:sldId id="305" r:id="rId48"/>
    <p:sldId id="323" r:id="rId49"/>
    <p:sldId id="319" r:id="rId50"/>
    <p:sldId id="333" r:id="rId51"/>
    <p:sldId id="324" r:id="rId52"/>
    <p:sldId id="329" r:id="rId53"/>
    <p:sldId id="308" r:id="rId54"/>
    <p:sldId id="613" r:id="rId55"/>
    <p:sldId id="310" r:id="rId56"/>
    <p:sldId id="276" r:id="rId57"/>
    <p:sldId id="646" r:id="rId58"/>
    <p:sldId id="615" r:id="rId59"/>
    <p:sldId id="635" r:id="rId60"/>
    <p:sldId id="647" r:id="rId61"/>
    <p:sldId id="648" r:id="rId62"/>
    <p:sldId id="649" r:id="rId63"/>
    <p:sldId id="650" r:id="rId64"/>
    <p:sldId id="612" r:id="rId65"/>
    <p:sldId id="312" r:id="rId66"/>
    <p:sldId id="313" r:id="rId67"/>
    <p:sldId id="270" r:id="rId68"/>
  </p:sldIdLst>
  <p:sldSz cx="8229600" cy="51435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432" autoAdjust="0"/>
  </p:normalViewPr>
  <p:slideViewPr>
    <p:cSldViewPr snapToGrid="0" snapToObjects="1">
      <p:cViewPr varScale="1">
        <p:scale>
          <a:sx n="70" d="100"/>
          <a:sy n="70" d="100"/>
        </p:scale>
        <p:origin x="1584" y="78"/>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9/29/2022</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community.trimble.com/community/find-answers/mapping-and-gis-solutions-community/blog/2020/04/04/orthometric-heights-with-trimble-gnss-esri-collector-part-1-of-4"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8" Type="http://schemas.openxmlformats.org/officeDocument/2006/relationships/hyperlink" Target="https://en.wikipedia.org/wiki/Magnetic_north" TargetMode="External"/><Relationship Id="rId3" Type="http://schemas.openxmlformats.org/officeDocument/2006/relationships/hyperlink" Target="https://en.wikipedia.org/wiki/Help:IPA/English" TargetMode="External"/><Relationship Id="rId7" Type="http://schemas.openxmlformats.org/officeDocument/2006/relationships/hyperlink" Target="https://en.wikipedia.org/wiki/True_north" TargetMode="External"/><Relationship Id="rId2" Type="http://schemas.openxmlformats.org/officeDocument/2006/relationships/slide" Target="../slides/slide39.xml"/><Relationship Id="rId1" Type="http://schemas.openxmlformats.org/officeDocument/2006/relationships/notesMaster" Target="../notesMasters/notesMaster1.xml"/><Relationship Id="rId6" Type="http://schemas.openxmlformats.org/officeDocument/2006/relationships/hyperlink" Target="https://en.wikipedia.org/wiki/Bearing_(navigation)" TargetMode="External"/><Relationship Id="rId5" Type="http://schemas.openxmlformats.org/officeDocument/2006/relationships/hyperlink" Target="https://en.wikipedia.org/wiki/Longitude" TargetMode="External"/><Relationship Id="rId4" Type="http://schemas.openxmlformats.org/officeDocument/2006/relationships/hyperlink" Target="https://en.wikipedia.org/wiki/Meridian_(geography)" TargetMode="Externa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59.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57.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60.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58.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61.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62.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38280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All spatial data must be referenced to the surface of the Earth so that they draw at the correct location in the map space. </a:t>
            </a:r>
          </a:p>
          <a:p>
            <a:endParaRPr lang="en-US" baseline="0" dirty="0"/>
          </a:p>
          <a:p>
            <a:r>
              <a:rPr lang="en-US" baseline="0" dirty="0"/>
              <a:t>This means that we need models of the Earth to which we can reference maps and data. </a:t>
            </a:r>
          </a:p>
          <a:p>
            <a:endParaRPr lang="en-US" baseline="0" dirty="0"/>
          </a:p>
          <a:p>
            <a:r>
              <a:rPr lang="en-US" baseline="0" dirty="0"/>
              <a:t>This is a component of the science of geodesy, which relates to measuring the Earth’s shape and positions on it.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4103421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1031182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587384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model the Earth,</a:t>
            </a:r>
            <a:r>
              <a:rPr lang="en-US" baseline="0" dirty="0"/>
              <a:t> simplification is required. </a:t>
            </a:r>
          </a:p>
          <a:p>
            <a:endParaRPr lang="en-US" baseline="0" dirty="0"/>
          </a:p>
          <a:p>
            <a:r>
              <a:rPr lang="en-US" baseline="0" dirty="0"/>
              <a:t>The true Earth surface need to be generalized. First, it is generalized to a geoid. </a:t>
            </a:r>
          </a:p>
          <a:p>
            <a:endParaRPr lang="en-US" baseline="0" dirty="0"/>
          </a:p>
          <a:p>
            <a:r>
              <a:rPr lang="en-US" baseline="0" dirty="0"/>
              <a:t>This is further simplified to an ellipsoid. </a:t>
            </a:r>
          </a:p>
          <a:p>
            <a:endParaRPr lang="en-US" baseline="0" dirty="0"/>
          </a:p>
          <a:p>
            <a:r>
              <a:rPr lang="en-US" baseline="0" dirty="0"/>
              <a:t>We will explore these concepts now.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5306843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geoid models the distribution of mass across the Earth, which is not uniform. The Earth is a bumpy surface. </a:t>
            </a:r>
          </a:p>
          <a:p>
            <a:endParaRPr lang="en-US" baseline="0" dirty="0"/>
          </a:p>
          <a:p>
            <a:r>
              <a:rPr lang="en-US" baseline="0" dirty="0"/>
              <a:t>This is partially accomplished by measuring gravitational forces across the globe. </a:t>
            </a:r>
          </a:p>
          <a:p>
            <a:endParaRPr lang="en-US" baseline="0" dirty="0"/>
          </a:p>
          <a:p>
            <a:r>
              <a:rPr lang="en-US" baseline="0" dirty="0"/>
              <a:t>A conceptualization of the geoid is a globe that is fully covered by water or has no continental masses.</a:t>
            </a:r>
          </a:p>
          <a:p>
            <a:endParaRPr lang="en-US" baseline="0" dirty="0"/>
          </a:p>
          <a:p>
            <a:r>
              <a:rPr lang="en-US" baseline="0" dirty="0"/>
              <a:t>Because there are differences in mass and gravitational forces across the globe, the water surface would not be smooth. </a:t>
            </a:r>
          </a:p>
          <a:p>
            <a:endParaRPr lang="en-US" baseline="0" dirty="0"/>
          </a:p>
          <a:p>
            <a:r>
              <a:rPr lang="en-US" baseline="0" dirty="0"/>
              <a:t>Instead, it would be a smoothly undulating shape.</a:t>
            </a:r>
          </a:p>
          <a:p>
            <a:endParaRPr lang="en-US" baseline="0" dirty="0"/>
          </a:p>
          <a:p>
            <a:r>
              <a:rPr lang="en-US" baseline="0" dirty="0"/>
              <a:t>This smoothly undulating shape that takes into account the distribution of mass is called the geoid. </a:t>
            </a:r>
          </a:p>
          <a:p>
            <a:endParaRPr lang="en-US" baseline="0" dirty="0"/>
          </a:p>
          <a:p>
            <a:r>
              <a:rPr lang="en-US" baseline="0" dirty="0"/>
              <a:t>The geoid surface can them be used as a reference for zero elevation.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983013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geoid</a:t>
            </a:r>
            <a:r>
              <a:rPr lang="en-US" baseline="0" dirty="0"/>
              <a:t> is still a complex shape that cannot be modeled with a simple mathematical equation. </a:t>
            </a:r>
          </a:p>
          <a:p>
            <a:endParaRPr lang="en-US" baseline="0" dirty="0"/>
          </a:p>
          <a:p>
            <a:r>
              <a:rPr lang="en-US" baseline="0" dirty="0"/>
              <a:t>So, it is further simplified to an ellipsoid or spheroid model of the Earth. </a:t>
            </a:r>
          </a:p>
          <a:p>
            <a:endParaRPr lang="en-US" baseline="0" dirty="0"/>
          </a:p>
          <a:p>
            <a:r>
              <a:rPr lang="en-US" baseline="0" dirty="0"/>
              <a:t>This is a mathematical model that approximates the geoid as a smooth surface. Basically, this is a 3D ellipse. </a:t>
            </a:r>
          </a:p>
          <a:p>
            <a:endParaRPr lang="en-US" baseline="0" dirty="0"/>
          </a:p>
          <a:p>
            <a:r>
              <a:rPr lang="en-US" baseline="0" dirty="0"/>
              <a:t>Combining this model with ground survey data allows us to produce </a:t>
            </a:r>
            <a:r>
              <a:rPr lang="en-US" baseline="0" dirty="0" err="1"/>
              <a:t>datums</a:t>
            </a:r>
            <a:r>
              <a:rPr lang="en-US" baseline="0" dirty="0"/>
              <a:t>. </a:t>
            </a:r>
          </a:p>
          <a:p>
            <a:endParaRPr lang="en-US" baseline="0" dirty="0"/>
          </a:p>
          <a:p>
            <a:r>
              <a:rPr lang="en-US" baseline="0" dirty="0"/>
              <a:t>These </a:t>
            </a:r>
            <a:r>
              <a:rPr lang="en-US" baseline="0" dirty="0" err="1"/>
              <a:t>datums</a:t>
            </a:r>
            <a:r>
              <a:rPr lang="en-US" baseline="0" dirty="0"/>
              <a:t> serve as the reference systems by which we represent locations on Earth’s surface. </a:t>
            </a:r>
          </a:p>
          <a:p>
            <a:endParaRPr lang="en-US" baseline="0" dirty="0"/>
          </a:p>
          <a:p>
            <a:r>
              <a:rPr lang="en-US" baseline="0" dirty="0"/>
              <a:t>Our map and geospatial data will be referenced to one of these models.</a:t>
            </a:r>
          </a:p>
          <a:p>
            <a:endParaRPr lang="en-US" baseline="0" dirty="0"/>
          </a:p>
          <a:p>
            <a:r>
              <a:rPr lang="en-US" b="0" i="0" dirty="0">
                <a:solidFill>
                  <a:srgbClr val="000000"/>
                </a:solidFill>
                <a:effectLst/>
                <a:latin typeface="Times New Roman" panose="02020603050405020304" pitchFamily="18" charset="0"/>
              </a:rPr>
              <a:t>The arc lengths may be measured by surface surveys, and the angles from astronomical observations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1381826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NGS (National Geodetic Survey),Triangulation survey</a:t>
            </a:r>
          </a:p>
          <a:p>
            <a:r>
              <a:rPr lang="en-US" dirty="0"/>
              <a:t>For the most of the past 150 years, the most accurate observations were referenced to the Sun, stars, or other celestial bodies</a:t>
            </a:r>
          </a:p>
          <a:p>
            <a:r>
              <a:rPr lang="en-US" dirty="0"/>
              <a:t>Every few years</a:t>
            </a:r>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2044195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different</a:t>
            </a:r>
            <a:r>
              <a:rPr lang="en-US" baseline="0" dirty="0"/>
              <a:t> datums by which we reference are horizontal measurements or coordinates on the Earth. </a:t>
            </a:r>
          </a:p>
          <a:p>
            <a:endParaRPr lang="en-US" baseline="0" dirty="0"/>
          </a:p>
          <a:p>
            <a:r>
              <a:rPr lang="en-US" baseline="0" dirty="0"/>
              <a:t>Examples include the North American Datum of 1927 (or NAD27), the North American Datum of 1983 (or NAD83), and the World Geodetic System of 1984 (or WGS83).</a:t>
            </a:r>
          </a:p>
          <a:p>
            <a:endParaRPr lang="en-US" baseline="0" dirty="0"/>
          </a:p>
          <a:p>
            <a:r>
              <a:rPr lang="en-US" baseline="0" dirty="0"/>
              <a:t>In North America, it is common to reference data against NAD83 or WGS84. </a:t>
            </a:r>
          </a:p>
          <a:p>
            <a:endParaRPr lang="en-US" baseline="0" dirty="0"/>
          </a:p>
          <a:p>
            <a:r>
              <a:rPr lang="en-US" baseline="0" dirty="0"/>
              <a:t>Global Navigation Satellite Systems, or GNSS, often make use of WGS84 as a worldwide datum.</a:t>
            </a:r>
          </a:p>
          <a:p>
            <a:endParaRPr lang="en-US" baseline="0" dirty="0"/>
          </a:p>
          <a:p>
            <a:r>
              <a:rPr lang="en-US" baseline="0" dirty="0"/>
              <a:t>Again, think of these as different models of the Earth, all of which are simplifications. </a:t>
            </a:r>
          </a:p>
          <a:p>
            <a:endParaRPr lang="en-US" baseline="0" dirty="0"/>
          </a:p>
          <a:p>
            <a:r>
              <a:rPr lang="en-US" baseline="0" dirty="0"/>
              <a:t>The </a:t>
            </a:r>
            <a:r>
              <a:rPr lang="en-US" baseline="0" dirty="0" err="1"/>
              <a:t>HARN</a:t>
            </a:r>
            <a:r>
              <a:rPr lang="en-US" baseline="0" dirty="0"/>
              <a:t> and subsequent </a:t>
            </a:r>
            <a:r>
              <a:rPr lang="en-US" baseline="0" dirty="0" err="1"/>
              <a:t>NAD83</a:t>
            </a:r>
            <a:r>
              <a:rPr lang="en-US" baseline="0" dirty="0"/>
              <a:t> adjustments are largely satellite-based, including </a:t>
            </a:r>
            <a:r>
              <a:rPr lang="en-US" baseline="0" dirty="0" err="1"/>
              <a:t>WGS84</a:t>
            </a:r>
            <a:r>
              <a:rPr lang="en-US" baseline="0" dirty="0"/>
              <a:t> and </a:t>
            </a:r>
            <a:r>
              <a:rPr lang="en-US" baseline="0" dirty="0" err="1"/>
              <a:t>ITRF</a:t>
            </a: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3331753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Tectonic movement, crustal deformation</a:t>
            </a:r>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513487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10555635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solidFill>
                  <a:srgbClr val="231F20"/>
                </a:solidFill>
                <a:latin typeface="Sabon-Roman"/>
              </a:rPr>
              <a:t>Orthometric heights are important, because these are the type of height found on innumerable topographic maps and in paper and digital data sets.</a:t>
            </a:r>
          </a:p>
          <a:p>
            <a:pPr algn="l"/>
            <a:endParaRPr lang="en-US" sz="1800" b="0" i="0" u="none" strike="noStrike" baseline="0" dirty="0">
              <a:solidFill>
                <a:srgbClr val="231F20"/>
              </a:solidFill>
              <a:latin typeface="Sabon-Roman"/>
            </a:endParaRPr>
          </a:p>
          <a:p>
            <a:pPr algn="l"/>
            <a:r>
              <a:rPr lang="en-US" dirty="0">
                <a:hlinkClick r:id="rId3"/>
              </a:rPr>
              <a:t>https://community.trimble.com/community/find-answers/mapping-and-gis-solutions-community/blog/2020/04/04/orthometric-heights-with-trimble-gnss-esri-collector-part-1-of-4</a:t>
            </a:r>
            <a:endParaRPr lang="en-US" dirty="0"/>
          </a:p>
          <a:p>
            <a:pPr algn="l"/>
            <a:endParaRPr lang="en-US" dirty="0"/>
          </a:p>
          <a:p>
            <a:r>
              <a:rPr lang="en-US" dirty="0"/>
              <a:t>There are separate vertical datums that</a:t>
            </a:r>
            <a:r>
              <a:rPr lang="en-US" baseline="0" dirty="0"/>
              <a:t> height or elevation measurements are referenced to. </a:t>
            </a:r>
            <a:endParaRPr lang="en-US" dirty="0"/>
          </a:p>
          <a:p>
            <a:endParaRPr lang="en-US" dirty="0"/>
          </a:p>
          <a:p>
            <a:r>
              <a:rPr lang="en-US" dirty="0"/>
              <a:t>Further, elevations can be referenced against an ellipsoid model of the Earth or a geoid</a:t>
            </a:r>
            <a:r>
              <a:rPr lang="en-US" baseline="0" dirty="0"/>
              <a:t> model. </a:t>
            </a:r>
          </a:p>
          <a:p>
            <a:endParaRPr lang="en-US" baseline="0" dirty="0"/>
          </a:p>
          <a:p>
            <a:r>
              <a:rPr lang="en-US" baseline="0" dirty="0"/>
              <a:t>Elevations referenced to a geoid are called orthometric heights whereas those referenced against an ellipsoid are called ellipsoidal heights. </a:t>
            </a:r>
          </a:p>
          <a:p>
            <a:endParaRPr lang="en-US" baseline="0" dirty="0"/>
          </a:p>
          <a:p>
            <a:r>
              <a:rPr lang="en-US" baseline="0" dirty="0"/>
              <a:t>N represents the difference between the orthometric and ellipsoidal heights at a location. </a:t>
            </a:r>
          </a:p>
          <a:p>
            <a:endParaRPr lang="en-US" baseline="0" dirty="0"/>
          </a:p>
          <a:p>
            <a:r>
              <a:rPr lang="en-US" baseline="0" dirty="0"/>
              <a:t>N varies based on the location on the Earth and the orthometric and ellipsoidal models used. Sometimes the ellipsoidal height is higher than the orthometric height and sometimes the orthometric height is higher. </a:t>
            </a:r>
          </a:p>
          <a:p>
            <a:endParaRPr lang="en-US" baseline="0" dirty="0"/>
          </a:p>
          <a:p>
            <a:r>
              <a:rPr lang="en-US" baseline="0" dirty="0"/>
              <a:t>When comparing elevation measurements, you should make sure that either orthometric or ellipsoidal heights are used for all surfaces so that this difference does not invalidate the comparison. </a:t>
            </a:r>
          </a:p>
          <a:p>
            <a:endParaRPr lang="en-US" baseline="0" dirty="0"/>
          </a:p>
          <a:p>
            <a:r>
              <a:rPr lang="en-US" baseline="0" dirty="0"/>
              <a:t>Orthometric heights have replaced our elevations above mean sea level because, as mentioned earlier, modern vertical heights are referenced to a geoid.</a:t>
            </a:r>
          </a:p>
          <a:p>
            <a:endParaRPr lang="en-US" baseline="0" dirty="0"/>
          </a:p>
          <a:p>
            <a:r>
              <a:rPr lang="en-US" baseline="0" dirty="0"/>
              <a:t>We most often combine models of geoidal height with measurements of ellipsoidal height to establish orthometric heights.</a:t>
            </a:r>
            <a:endParaRPr lang="en-US" dirty="0"/>
          </a:p>
          <a:p>
            <a:pPr algn="l"/>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42255265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In north America, we no longer use mean sea level as a base for orthometric heights (elevation); except for specific projections near the seashore, as mean sea level varies too much in time and space due to solar and lunar cycles, water density with temperature, salinity, and ocean currents</a:t>
            </a:r>
          </a:p>
          <a:p>
            <a:pPr algn="l"/>
            <a:endParaRPr lang="en-US" dirty="0"/>
          </a:p>
          <a:p>
            <a:pPr algn="l"/>
            <a:r>
              <a:rPr lang="en-US" dirty="0"/>
              <a:t>This height difference is measured relative to the ellipsoid. </a:t>
            </a:r>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272636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57932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1837886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Datum and sometimes</a:t>
            </a:r>
            <a:r>
              <a:rPr lang="en-US" baseline="0" dirty="0"/>
              <a:t> </a:t>
            </a:r>
            <a:r>
              <a:rPr lang="en-US" dirty="0"/>
              <a:t>projection</a:t>
            </a:r>
            <a:r>
              <a:rPr lang="en-US" baseline="0" dirty="0"/>
              <a:t> information are associated with maps and geospatial data layers. </a:t>
            </a:r>
          </a:p>
          <a:p>
            <a:endParaRPr lang="en-US" baseline="0" dirty="0"/>
          </a:p>
          <a:p>
            <a:r>
              <a:rPr lang="en-US" baseline="0" dirty="0"/>
              <a:t>In ArcGIS Pro, datum and projection information for a layer can be found in the Source tab. </a:t>
            </a:r>
          </a:p>
          <a:p>
            <a:endParaRPr lang="en-US" baseline="0" dirty="0"/>
          </a:p>
          <a:p>
            <a:r>
              <a:rPr lang="en-US" baseline="0" dirty="0"/>
              <a:t>We will talk about projections later in this module.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4284499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Coordinates</a:t>
            </a:r>
            <a:r>
              <a:rPr lang="en-US" baseline="0" dirty="0"/>
              <a:t> on Earth are measured in degree units relative to the center of the Earth. </a:t>
            </a:r>
          </a:p>
          <a:p>
            <a:endParaRPr lang="en-US" baseline="0" dirty="0"/>
          </a:p>
          <a:p>
            <a:r>
              <a:rPr lang="en-US" baseline="0" dirty="0"/>
              <a:t>Latitude is measures as an angle of rise relative to the center of the Earth while longitude represents angles of rotation around the center of the Earth. </a:t>
            </a:r>
          </a:p>
          <a:p>
            <a:endParaRPr lang="en-US" baseline="0" dirty="0"/>
          </a:p>
          <a:p>
            <a:r>
              <a:rPr lang="en-US" baseline="0" dirty="0"/>
              <a:t>Note that it is not easy to make measures of distance using lengths on a spherical surface.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23376227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Latitude measures north to south or up and down. There are 90° of latitude in each hemisphere.</a:t>
            </a:r>
            <a:r>
              <a:rPr lang="en-US" baseline="0" dirty="0"/>
              <a:t> The value increases as you move north or south relative to the equator. The equator has a latitude of </a:t>
            </a:r>
            <a:r>
              <a:rPr lang="en-US" dirty="0"/>
              <a:t>0° and</a:t>
            </a:r>
            <a:r>
              <a:rPr lang="en-US" baseline="0" dirty="0"/>
              <a:t> the poles have a latitude of </a:t>
            </a:r>
            <a:r>
              <a:rPr lang="en-US" dirty="0"/>
              <a:t>90°.</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27620279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Longitude</a:t>
            </a:r>
            <a:r>
              <a:rPr lang="en-US" baseline="0" dirty="0"/>
              <a:t> measures east to west or side to side. There are </a:t>
            </a:r>
            <a:r>
              <a:rPr lang="en-US" sz="1200" dirty="0"/>
              <a:t>180° of longitude in each hemisphere, east and west.</a:t>
            </a:r>
            <a:r>
              <a:rPr lang="en-US" sz="1200" baseline="0" dirty="0"/>
              <a:t> Longitude increases has you move west in the western hemisphere and increase as you move east in the eastern hemisphere. </a:t>
            </a:r>
            <a:r>
              <a:rPr lang="en-US" sz="1200" dirty="0"/>
              <a:t>0°</a:t>
            </a:r>
            <a:r>
              <a:rPr lang="en-US" sz="1200" baseline="0" dirty="0"/>
              <a:t> longitude is refined relative to the prime meridian which passes through Greenwich, England.</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t>It makes sense to use the equator to represent 0° latitude.</a:t>
            </a:r>
            <a:r>
              <a:rPr lang="en-US" sz="1200" baseline="0" dirty="0"/>
              <a:t> The </a:t>
            </a:r>
            <a:r>
              <a:rPr lang="en-US" sz="1200" dirty="0"/>
              <a:t>0° reference for longitude</a:t>
            </a:r>
            <a:r>
              <a:rPr lang="en-US" sz="1200" baseline="0" dirty="0"/>
              <a:t> is somewhat arbitrary.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We can specify the northern or southern hemispheres for latitude by including an “N” or “S” with the measurements. For longitude, we can use “E” or “W”.</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In software, this can be problematic due to the mix of numbers and letters. So, instead we tend to use positive angles to represent the northern or eastern hemispheres and negative angles to represent the southern or western hemispheres.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Coordinates referenced to a datum representing the 3D Earth or globe are known as geographic coordinate systems as opposed to projected coordinate systems, which will be discussed later.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16081886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degree of latitude or longitude can be a large distance. So, in order to provide precise measurements, we need to be able to further divide degrees into smaller units. </a:t>
            </a:r>
          </a:p>
          <a:p>
            <a:endParaRPr lang="en-US" baseline="0" dirty="0"/>
          </a:p>
          <a:p>
            <a:r>
              <a:rPr lang="en-US" baseline="0" dirty="0"/>
              <a:t>A degree can be divided into minutes and second, similar to an hour on a clock. </a:t>
            </a:r>
          </a:p>
          <a:p>
            <a:endParaRPr lang="en-US" baseline="0" dirty="0"/>
          </a:p>
          <a:p>
            <a:r>
              <a:rPr lang="en-US" baseline="0" dirty="0"/>
              <a:t>1 degree equals 60 minutes or 3600 seconds. </a:t>
            </a:r>
          </a:p>
          <a:p>
            <a:endParaRPr lang="en-US" baseline="0" dirty="0"/>
          </a:p>
          <a:p>
            <a:r>
              <a:rPr lang="en-US" baseline="0" dirty="0"/>
              <a:t>We can also use decimal degrees as opposed to minutes and seconds. </a:t>
            </a:r>
          </a:p>
          <a:p>
            <a:endParaRPr lang="en-US" baseline="0" dirty="0"/>
          </a:p>
          <a:p>
            <a:r>
              <a:rPr lang="en-US" baseline="0" dirty="0"/>
              <a:t>It is possible to convert between degrees, minutes, and second and degrees and decimal degrees.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27964120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a:t>
            </a:r>
            <a:r>
              <a:rPr lang="en-US" baseline="0" dirty="0"/>
              <a:t> are some advantages to modeling the Earth as a 3D globe. First, this is an accurate representation in which map features and latitude and longitude lines can be plotted without distortion.</a:t>
            </a:r>
          </a:p>
          <a:p>
            <a:endParaRPr lang="en-US" baseline="0" dirty="0"/>
          </a:p>
          <a:p>
            <a:r>
              <a:rPr lang="en-US" baseline="0" dirty="0"/>
              <a:t>However, there are some disadvantages. Making globes can be expensive. They are also cumbersome to handle and store. It is also not easy to make distance measurements on the curved surface of the globe. Duo to the 3D nature of a globe, it is not possible to view the entirety of Earth’s surface from a single vantage point. </a:t>
            </a:r>
          </a:p>
          <a:p>
            <a:endParaRPr lang="en-US" baseline="0" dirty="0"/>
          </a:p>
          <a:p>
            <a:r>
              <a:rPr lang="en-US" baseline="0" dirty="0"/>
              <a:t>So, we need a means by which to represent the curved, 3D Earth in a flat map space. We do this using projections, which we will discuss next.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14605489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Vdatum</a:t>
            </a:r>
            <a:r>
              <a:rPr lang="en-US" dirty="0"/>
              <a:t> to convert different vertical datum</a:t>
            </a:r>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32822678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1107182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using a the 3D</a:t>
            </a:r>
            <a:r>
              <a:rPr lang="en-US" baseline="0" dirty="0"/>
              <a:t> spherical globe, we can mathematically transform the Earth into a flat map space. </a:t>
            </a:r>
          </a:p>
          <a:p>
            <a:endParaRPr lang="en-US" baseline="0" dirty="0"/>
          </a:p>
          <a:p>
            <a:r>
              <a:rPr lang="en-US" baseline="0" dirty="0"/>
              <a:t>Now, instead of making measurements of distance or length in angles, we can make measurements in length units. </a:t>
            </a:r>
          </a:p>
          <a:p>
            <a:endParaRPr lang="en-US" baseline="0" dirty="0"/>
          </a:p>
          <a:p>
            <a:r>
              <a:rPr lang="en-US" baseline="0" dirty="0"/>
              <a:t>These 2D surfaces are known as projected coordinate systems or map projections. </a:t>
            </a:r>
          </a:p>
          <a:p>
            <a:endParaRPr lang="en-US" baseline="0" dirty="0"/>
          </a:p>
          <a:p>
            <a:r>
              <a:rPr lang="en-US" baseline="0" dirty="0"/>
              <a:t>They allow us to make measurements in a Cartesian coordinate system on a plane. </a:t>
            </a:r>
            <a:r>
              <a:rPr lang="en-US" dirty="0"/>
              <a:t> </a:t>
            </a:r>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2123964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444649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Cartesian</a:t>
            </a:r>
            <a:r>
              <a:rPr lang="en-US" baseline="0" dirty="0"/>
              <a:t> coordinate systems can also be expanded to include a z component to make measurements in 3D space.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1059300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19841369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an example of the difference between geographic</a:t>
            </a:r>
            <a:r>
              <a:rPr lang="en-US" baseline="0" dirty="0"/>
              <a:t> and projected coordinate systems. </a:t>
            </a:r>
          </a:p>
          <a:p>
            <a:endParaRPr lang="en-US" baseline="0" dirty="0"/>
          </a:p>
          <a:p>
            <a:r>
              <a:rPr lang="en-US" baseline="0" dirty="0"/>
              <a:t>The globe provides a 3D representation of the Earth where measurements are made in angles. </a:t>
            </a:r>
          </a:p>
          <a:p>
            <a:endParaRPr lang="en-US" baseline="0" dirty="0"/>
          </a:p>
          <a:p>
            <a:r>
              <a:rPr lang="en-US" baseline="0" dirty="0"/>
              <a:t>In contrast, projections are 2D and allow for measurements to be made in Cartesian coordinate space. </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8506356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order to flatten the Earth, coordinates on the globe must be mathematically transformed or moved to a geometric surface that can be flattened. These are called developable surfaces. </a:t>
            </a:r>
          </a:p>
          <a:p>
            <a:endParaRPr lang="en-US" baseline="0" dirty="0"/>
          </a:p>
          <a:p>
            <a:r>
              <a:rPr lang="en-US" baseline="0" dirty="0"/>
              <a:t>The most commonly used surfaces are cylinders, cones, and planes. Cylindrical projections use cylinders, conic projections use cones, and azimuthal projections use planes. </a:t>
            </a:r>
          </a:p>
          <a:p>
            <a:endParaRPr lang="en-US" baseline="0" dirty="0"/>
          </a:p>
          <a:p>
            <a:r>
              <a:rPr lang="en-US" baseline="0" dirty="0"/>
              <a:t>There are other shapes available or shapes can be combined. Here, we will focus on just these most commonly used surfaces. </a:t>
            </a:r>
          </a:p>
          <a:p>
            <a:endParaRPr lang="en-US" baseline="0" dirty="0"/>
          </a:p>
          <a:p>
            <a:r>
              <a:rPr lang="en-US" baseline="0" dirty="0"/>
              <a:t>Note that all three of these surface can be flattened. If you cut a cylinder, it can be folded out to a plane. A cone can be folded out into a fan shape.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40407856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2197338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relates to how a</a:t>
            </a:r>
            <a:r>
              <a:rPr lang="en-US" baseline="0" dirty="0"/>
              <a:t> developable surface is oriented or positioned relative to the globe. </a:t>
            </a:r>
          </a:p>
          <a:p>
            <a:endParaRPr lang="en-US" baseline="0" dirty="0"/>
          </a:p>
          <a:p>
            <a:r>
              <a:rPr lang="en-US" baseline="0" dirty="0"/>
              <a:t>For example, for a cylinder the normal orientation is oriented up-and-down relative to the globe. Or, the long axis will be place perpendicular to the equator. </a:t>
            </a:r>
            <a:br>
              <a:rPr lang="en-US" baseline="0" dirty="0"/>
            </a:br>
            <a:endParaRPr lang="en-US" baseline="0" dirty="0"/>
          </a:p>
          <a:p>
            <a:r>
              <a:rPr lang="en-US" baseline="0" dirty="0"/>
              <a:t>In contrast, the transverse orientation will </a:t>
            </a:r>
            <a:r>
              <a:rPr lang="en-US" altLang="zh-CN" baseline="0" dirty="0"/>
              <a:t>be </a:t>
            </a:r>
            <a:r>
              <a:rPr lang="en-US" baseline="0" dirty="0"/>
              <a:t>oriented parallel to the equator. </a:t>
            </a:r>
          </a:p>
          <a:p>
            <a:endParaRPr lang="en-US" baseline="0" dirty="0"/>
          </a:p>
          <a:p>
            <a:r>
              <a:rPr lang="en-US" baseline="0" dirty="0"/>
              <a:t>Oblique orientations are another orientation other than normal or transverse. </a:t>
            </a:r>
          </a:p>
          <a:p>
            <a:endParaRPr lang="en-US" baseline="0" dirty="0"/>
          </a:p>
          <a:p>
            <a:r>
              <a:rPr lang="en-US" baseline="0" dirty="0"/>
              <a:t>So, given the wide variety of developable surfaces and orientations, the number of possible map projections are infinite.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23086599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Projections</a:t>
            </a:r>
            <a:r>
              <a:rPr lang="en-US" baseline="0" dirty="0"/>
              <a:t> can also vary in regards to where and how they intersect the surface of the Earth or globe.</a:t>
            </a:r>
          </a:p>
          <a:p>
            <a:endParaRPr lang="en-US" baseline="0" dirty="0"/>
          </a:p>
          <a:p>
            <a:r>
              <a:rPr lang="en-US" baseline="0" dirty="0"/>
              <a:t>Tangency occurs when the developable surface only touches the globe at a single location while </a:t>
            </a:r>
            <a:r>
              <a:rPr lang="en-US" baseline="0" dirty="0" err="1"/>
              <a:t>secancy</a:t>
            </a:r>
            <a:r>
              <a:rPr lang="en-US" baseline="0" dirty="0"/>
              <a:t> occurs when the surface touches the globe along two latitude or longitude lines. </a:t>
            </a:r>
          </a:p>
          <a:p>
            <a:endParaRPr lang="en-US" baseline="0" dirty="0"/>
          </a:p>
          <a:p>
            <a:r>
              <a:rPr lang="en-US" baseline="0" dirty="0"/>
              <a:t>Standard lines are where the projection touches or spatially co-occurs with the globe. Standard parallels are parallels or latitude lines where the projected surface intersects the globe while standard meridians are meridians or longitude lines. </a:t>
            </a:r>
          </a:p>
          <a:p>
            <a:endParaRPr lang="en-US" baseline="0" dirty="0"/>
          </a:p>
          <a:p>
            <a:r>
              <a:rPr lang="en-US" baseline="0" dirty="0"/>
              <a:t>Generally, there are no distortions where the globe and developable surface co-occur, since the coordinates do not need to be transformed or moved. </a:t>
            </a:r>
          </a:p>
          <a:p>
            <a:endParaRPr lang="en-US" baseline="0" dirty="0"/>
          </a:p>
          <a:p>
            <a:r>
              <a:rPr lang="en-US" baseline="0" dirty="0"/>
              <a:t>Distortions tend to increase with distance from the standards.</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Again, given the wide variety of developable surfaces, orientations, and standard lines, the number of possible map projections is infinite. </a:t>
            </a:r>
            <a:endParaRPr lang="en-US" dirty="0"/>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27701580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41904447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11856840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00000"/>
                </a:solidFill>
                <a:effectLst/>
                <a:latin typeface="Roboto"/>
              </a:rPr>
              <a:t>how straight lines are </a:t>
            </a:r>
            <a:r>
              <a:rPr lang="en-US" b="0" i="0" dirty="0" err="1">
                <a:solidFill>
                  <a:srgbClr val="000000"/>
                </a:solidFill>
                <a:effectLst/>
                <a:latin typeface="Roboto"/>
              </a:rPr>
              <a:t>Rhumb</a:t>
            </a:r>
            <a:r>
              <a:rPr lang="en-US" b="0" i="0" dirty="0">
                <a:solidFill>
                  <a:srgbClr val="000000"/>
                </a:solidFill>
                <a:effectLst/>
                <a:latin typeface="Roboto"/>
              </a:rPr>
              <a:t> line. </a:t>
            </a:r>
            <a:r>
              <a:rPr lang="en-US" b="0" i="0" dirty="0">
                <a:solidFill>
                  <a:srgbClr val="202122"/>
                </a:solidFill>
                <a:effectLst/>
                <a:latin typeface="Arial" panose="020B0604020202020204" pitchFamily="34" charset="0"/>
              </a:rPr>
              <a:t> a </a:t>
            </a:r>
            <a:r>
              <a:rPr lang="en-US" b="1" i="0" dirty="0" err="1">
                <a:solidFill>
                  <a:srgbClr val="202122"/>
                </a:solidFill>
                <a:effectLst/>
                <a:latin typeface="Arial" panose="020B0604020202020204" pitchFamily="34" charset="0"/>
              </a:rPr>
              <a:t>rhumb</a:t>
            </a:r>
            <a:r>
              <a:rPr lang="en-US" b="1" i="0" dirty="0">
                <a:solidFill>
                  <a:srgbClr val="202122"/>
                </a:solidFill>
                <a:effectLst/>
                <a:latin typeface="Arial" panose="020B0604020202020204" pitchFamily="34" charset="0"/>
              </a:rPr>
              <a:t> line</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thumb</a:t>
            </a:r>
            <a:r>
              <a:rPr lang="en-US" b="0" i="0" dirty="0">
                <a:solidFill>
                  <a:srgbClr val="202122"/>
                </a:solidFill>
                <a:effectLst/>
                <a:latin typeface="Arial" panose="020B0604020202020204" pitchFamily="34" charset="0"/>
              </a:rPr>
              <a:t>, (</a:t>
            </a:r>
            <a:r>
              <a:rPr lang="en-US" b="0" i="0" u="none" strike="noStrike" dirty="0">
                <a:solidFill>
                  <a:srgbClr val="0B0080"/>
                </a:solidFill>
                <a:effectLst/>
                <a:latin typeface="Arial" panose="020B0604020202020204" pitchFamily="34" charset="0"/>
                <a:hlinkClick r:id="rId3" tooltip="Help:IPA/English"/>
              </a:rPr>
              <a:t>/</a:t>
            </a:r>
            <a:r>
              <a:rPr lang="en-US" b="0" i="0" u="none" strike="noStrike" dirty="0" err="1">
                <a:solidFill>
                  <a:srgbClr val="0B0080"/>
                </a:solidFill>
                <a:effectLst/>
                <a:latin typeface="Arial" panose="020B0604020202020204" pitchFamily="34" charset="0"/>
                <a:hlinkClick r:id="rId3" tooltip="Help:IPA/English"/>
              </a:rPr>
              <a:t>rʌm</a:t>
            </a:r>
            <a:r>
              <a:rPr lang="en-US" b="0" i="0" u="none" strike="noStrike" dirty="0">
                <a:solidFill>
                  <a:srgbClr val="0B0080"/>
                </a:solidFill>
                <a:effectLst/>
                <a:latin typeface="Arial" panose="020B0604020202020204" pitchFamily="34" charset="0"/>
                <a:hlinkClick r:id="rId3" tooltip="Help:IPA/English"/>
              </a:rPr>
              <a:t>/</a:t>
            </a:r>
            <a:r>
              <a:rPr lang="en-US" b="0" i="0" dirty="0">
                <a:solidFill>
                  <a:srgbClr val="202122"/>
                </a:solidFill>
                <a:effectLst/>
                <a:latin typeface="Arial" panose="020B0604020202020204" pitchFamily="34" charset="0"/>
              </a:rPr>
              <a:t>) or </a:t>
            </a:r>
            <a:r>
              <a:rPr lang="en-US" b="1" i="0" dirty="0">
                <a:solidFill>
                  <a:srgbClr val="202122"/>
                </a:solidFill>
                <a:effectLst/>
                <a:latin typeface="Arial" panose="020B0604020202020204" pitchFamily="34" charset="0"/>
              </a:rPr>
              <a:t>loxodrome</a:t>
            </a:r>
            <a:r>
              <a:rPr lang="en-US" b="0" i="0" dirty="0">
                <a:solidFill>
                  <a:srgbClr val="202122"/>
                </a:solidFill>
                <a:effectLst/>
                <a:latin typeface="Arial" panose="020B0604020202020204" pitchFamily="34" charset="0"/>
              </a:rPr>
              <a:t> is an arc crossing all </a:t>
            </a:r>
            <a:r>
              <a:rPr lang="en-US" b="0" i="0" u="none" strike="noStrike" dirty="0">
                <a:solidFill>
                  <a:srgbClr val="0B0080"/>
                </a:solidFill>
                <a:effectLst/>
                <a:latin typeface="Arial" panose="020B0604020202020204" pitchFamily="34" charset="0"/>
                <a:hlinkClick r:id="rId4" tooltip="Meridian (geography)"/>
              </a:rPr>
              <a:t>meridians</a:t>
            </a:r>
            <a:r>
              <a:rPr lang="en-US" b="0" i="0" dirty="0">
                <a:solidFill>
                  <a:srgbClr val="202122"/>
                </a:solidFill>
                <a:effectLst/>
                <a:latin typeface="Arial" panose="020B0604020202020204" pitchFamily="34" charset="0"/>
              </a:rPr>
              <a:t> of </a:t>
            </a:r>
            <a:r>
              <a:rPr lang="en-US" b="0" i="0" u="none" strike="noStrike" dirty="0">
                <a:solidFill>
                  <a:srgbClr val="0B0080"/>
                </a:solidFill>
                <a:effectLst/>
                <a:latin typeface="Arial" panose="020B0604020202020204" pitchFamily="34" charset="0"/>
                <a:hlinkClick r:id="rId5" tooltip="Longitude"/>
              </a:rPr>
              <a:t>longitude</a:t>
            </a:r>
            <a:r>
              <a:rPr lang="en-US" b="0" i="0" dirty="0">
                <a:solidFill>
                  <a:srgbClr val="202122"/>
                </a:solidFill>
                <a:effectLst/>
                <a:latin typeface="Arial" panose="020B0604020202020204" pitchFamily="34" charset="0"/>
              </a:rPr>
              <a:t> at the same angle, that is, a path with constant </a:t>
            </a:r>
            <a:r>
              <a:rPr lang="en-US" b="0" i="0" u="none" strike="noStrike" dirty="0">
                <a:solidFill>
                  <a:srgbClr val="0B0080"/>
                </a:solidFill>
                <a:effectLst/>
                <a:latin typeface="Arial" panose="020B0604020202020204" pitchFamily="34" charset="0"/>
                <a:hlinkClick r:id="rId6" tooltip="Bearing (navigation)"/>
              </a:rPr>
              <a:t>bearing</a:t>
            </a:r>
            <a:r>
              <a:rPr lang="en-US" b="0" i="0" dirty="0">
                <a:solidFill>
                  <a:srgbClr val="202122"/>
                </a:solidFill>
                <a:effectLst/>
                <a:latin typeface="Arial" panose="020B0604020202020204" pitchFamily="34" charset="0"/>
              </a:rPr>
              <a:t> as measured relative to </a:t>
            </a:r>
            <a:r>
              <a:rPr lang="en-US" b="0" i="0" u="none" strike="noStrike" dirty="0">
                <a:solidFill>
                  <a:srgbClr val="0B0080"/>
                </a:solidFill>
                <a:effectLst/>
                <a:latin typeface="Arial" panose="020B0604020202020204" pitchFamily="34" charset="0"/>
                <a:hlinkClick r:id="rId7" tooltip="True north"/>
              </a:rPr>
              <a:t>true</a:t>
            </a:r>
            <a:r>
              <a:rPr lang="en-US" b="0" i="0" dirty="0">
                <a:solidFill>
                  <a:srgbClr val="202122"/>
                </a:solidFill>
                <a:effectLst/>
                <a:latin typeface="Arial" panose="020B0604020202020204" pitchFamily="34" charset="0"/>
              </a:rPr>
              <a:t> or </a:t>
            </a:r>
            <a:r>
              <a:rPr lang="en-US" b="0" i="0" u="none" strike="noStrike" dirty="0">
                <a:solidFill>
                  <a:srgbClr val="0B0080"/>
                </a:solidFill>
                <a:effectLst/>
                <a:latin typeface="Arial" panose="020B0604020202020204" pitchFamily="34" charset="0"/>
                <a:hlinkClick r:id="rId8" tooltip="Magnetic north"/>
              </a:rPr>
              <a:t>magnetic north</a:t>
            </a:r>
            <a:r>
              <a:rPr lang="en-US" b="0" i="0" dirty="0">
                <a:solidFill>
                  <a:srgbClr val="202122"/>
                </a:solidFill>
                <a:effectLst/>
                <a:latin typeface="Arial" panose="020B0604020202020204" pitchFamily="34" charset="0"/>
              </a:rPr>
              <a:t>.</a:t>
            </a:r>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39</a:t>
            </a:fld>
            <a:endParaRPr lang="en-US"/>
          </a:p>
        </p:txBody>
      </p:sp>
    </p:spTree>
    <p:extLst>
      <p:ext uri="{BB962C8B-B14F-4D97-AF65-F5344CB8AC3E}">
        <p14:creationId xmlns:p14="http://schemas.microsoft.com/office/powerpoint/2010/main" val="22305163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curved, 3D surface of the Earth is converted to a</a:t>
            </a:r>
            <a:r>
              <a:rPr lang="en-US" baseline="0" dirty="0"/>
              <a:t> flat space, some distortions will be produced. </a:t>
            </a:r>
          </a:p>
          <a:p>
            <a:endParaRPr lang="en-US" baseline="0" dirty="0"/>
          </a:p>
          <a:p>
            <a:r>
              <a:rPr lang="en-US" baseline="0" dirty="0"/>
              <a:t>It is not possible to convert a curved 3D surface into a flat surface without some distortions. </a:t>
            </a:r>
          </a:p>
          <a:p>
            <a:endParaRPr lang="en-US" baseline="0" dirty="0"/>
          </a:p>
          <a:p>
            <a:r>
              <a:rPr lang="en-US" baseline="0" dirty="0"/>
              <a:t>Specifically, map projections can produce distortions in feature shape, relative area of features, distance between features, and direction between locations. </a:t>
            </a:r>
          </a:p>
          <a:p>
            <a:endParaRPr lang="en-US" baseline="0" dirty="0"/>
          </a:p>
          <a:p>
            <a:r>
              <a:rPr lang="en-US" baseline="0" dirty="0"/>
              <a:t>The type and magnitude of the distortions produced depends on the projection used.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40</a:t>
            </a:fld>
            <a:endParaRPr lang="en-US"/>
          </a:p>
        </p:txBody>
      </p:sp>
    </p:spTree>
    <p:extLst>
      <p:ext uri="{BB962C8B-B14F-4D97-AF65-F5344CB8AC3E}">
        <p14:creationId xmlns:p14="http://schemas.microsoft.com/office/powerpoint/2010/main" val="10170201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41</a:t>
            </a:fld>
            <a:endParaRPr lang="en-US"/>
          </a:p>
        </p:txBody>
      </p:sp>
    </p:spTree>
    <p:extLst>
      <p:ext uri="{BB962C8B-B14F-4D97-AF65-F5344CB8AC3E}">
        <p14:creationId xmlns:p14="http://schemas.microsoft.com/office/powerpoint/2010/main" val="30636582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42</a:t>
            </a:fld>
            <a:endParaRPr lang="en-US"/>
          </a:p>
        </p:txBody>
      </p:sp>
    </p:spTree>
    <p:extLst>
      <p:ext uri="{BB962C8B-B14F-4D97-AF65-F5344CB8AC3E}">
        <p14:creationId xmlns:p14="http://schemas.microsoft.com/office/powerpoint/2010/main" val="15938317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43</a:t>
            </a:fld>
            <a:endParaRPr lang="en-US"/>
          </a:p>
        </p:txBody>
      </p:sp>
    </p:spTree>
    <p:extLst>
      <p:ext uri="{BB962C8B-B14F-4D97-AF65-F5344CB8AC3E}">
        <p14:creationId xmlns:p14="http://schemas.microsoft.com/office/powerpoint/2010/main" val="22579677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broad</a:t>
            </a:r>
            <a:r>
              <a:rPr lang="en-US" baseline="0" dirty="0"/>
              <a:t> types of projections exist based on what map properties are maintained. </a:t>
            </a:r>
          </a:p>
          <a:p>
            <a:endParaRPr lang="en-US" baseline="0" dirty="0"/>
          </a:p>
          <a:p>
            <a:r>
              <a:rPr lang="en-US" baseline="0" dirty="0"/>
              <a:t>Conformal projections maintain local angles and shapes. Equivalent projections maintain areas of features in correct relative size. Both are global properties, or shape or size can be maintained across the entire globe not just for specific areas. Also, these properties are mutually exclusive. Or, you cannot maintain both shape and relative size. </a:t>
            </a:r>
          </a:p>
          <a:p>
            <a:endParaRPr lang="en-US" baseline="0" dirty="0"/>
          </a:p>
          <a:p>
            <a:r>
              <a:rPr lang="en-US" baseline="0" dirty="0"/>
              <a:t>Equidistant projections maintain scale or distance along certain lines while azimuthal projections maintain accurate directions relative to a certain vantage point. Equidistant and azimuthal properties are local properties and may be true only from or to the center of the map projection. You cannot maintain distance or direction between all points in the map space.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44</a:t>
            </a:fld>
            <a:endParaRPr lang="en-US"/>
          </a:p>
        </p:txBody>
      </p:sp>
    </p:spTree>
    <p:extLst>
      <p:ext uri="{BB962C8B-B14F-4D97-AF65-F5344CB8AC3E}">
        <p14:creationId xmlns:p14="http://schemas.microsoft.com/office/powerpoint/2010/main" val="41364832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tool</a:t>
            </a:r>
            <a:r>
              <a:rPr lang="en-US" baseline="0" dirty="0"/>
              <a:t> that is commonly used to visualize size and shape distortions resulting from map projections is the </a:t>
            </a:r>
            <a:r>
              <a:rPr lang="en-US" baseline="0" dirty="0" err="1"/>
              <a:t>Tissot</a:t>
            </a:r>
            <a:r>
              <a:rPr lang="en-US" baseline="0" dirty="0"/>
              <a:t> Indicatrix. </a:t>
            </a:r>
          </a:p>
          <a:p>
            <a:endParaRPr lang="en-US" baseline="0" dirty="0"/>
          </a:p>
          <a:p>
            <a:r>
              <a:rPr lang="en-US" baseline="0" dirty="0"/>
              <a:t>Without any distortions, or if these features are plotted on the globe, the circles will all be the same shape, perfect circles, and size. </a:t>
            </a:r>
          </a:p>
          <a:p>
            <a:endParaRPr lang="en-US" baseline="0" dirty="0"/>
          </a:p>
          <a:p>
            <a:r>
              <a:rPr lang="en-US" baseline="0" dirty="0"/>
              <a:t>Any deviation in shape or size is a result of map projection distortions. </a:t>
            </a:r>
          </a:p>
          <a:p>
            <a:endParaRPr lang="en-US" baseline="0" dirty="0"/>
          </a:p>
          <a:p>
            <a:r>
              <a:rPr lang="en-US" baseline="0" dirty="0"/>
              <a:t>For example, the Mercator projection on the left distorts size, since the circles are not the same size, but not shape, since the circles are still circular. </a:t>
            </a:r>
          </a:p>
          <a:p>
            <a:endParaRPr lang="en-US" baseline="0" dirty="0"/>
          </a:p>
          <a:p>
            <a:r>
              <a:rPr lang="en-US" baseline="0" dirty="0"/>
              <a:t>The </a:t>
            </a:r>
            <a:r>
              <a:rPr lang="en-US" dirty="0"/>
              <a:t>Mollweide projection</a:t>
            </a:r>
            <a:r>
              <a:rPr lang="en-US" baseline="0" dirty="0"/>
              <a:t> to the right distorts shape, since the circles are no longer perfect circles, but not size, since each circle still has the same area.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45</a:t>
            </a:fld>
            <a:endParaRPr lang="en-US"/>
          </a:p>
        </p:txBody>
      </p:sp>
    </p:spTree>
    <p:extLst>
      <p:ext uri="{BB962C8B-B14F-4D97-AF65-F5344CB8AC3E}">
        <p14:creationId xmlns:p14="http://schemas.microsoft.com/office/powerpoint/2010/main" val="28324453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46</a:t>
            </a:fld>
            <a:endParaRPr lang="en-US"/>
          </a:p>
        </p:txBody>
      </p:sp>
    </p:spTree>
    <p:extLst>
      <p:ext uri="{BB962C8B-B14F-4D97-AF65-F5344CB8AC3E}">
        <p14:creationId xmlns:p14="http://schemas.microsoft.com/office/powerpoint/2010/main" val="27442510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Mercator projections</a:t>
            </a:r>
            <a:r>
              <a:rPr lang="en-US" baseline="0" dirty="0"/>
              <a:t> are examples of cylindrical projections that are conformal, or maintain shape and local angles. (</a:t>
            </a:r>
            <a:r>
              <a:rPr lang="en-US" b="0" i="0" dirty="0">
                <a:solidFill>
                  <a:srgbClr val="222222"/>
                </a:solidFill>
                <a:effectLst/>
                <a:latin typeface="Roboto"/>
              </a:rPr>
              <a:t>To </a:t>
            </a:r>
            <a:r>
              <a:rPr lang="en-US" b="1" i="0" dirty="0">
                <a:solidFill>
                  <a:srgbClr val="222222"/>
                </a:solidFill>
                <a:effectLst/>
                <a:latin typeface="Roboto"/>
              </a:rPr>
              <a:t>preserve</a:t>
            </a:r>
            <a:r>
              <a:rPr lang="en-US" b="0" i="0" dirty="0">
                <a:solidFill>
                  <a:srgbClr val="222222"/>
                </a:solidFill>
                <a:effectLst/>
                <a:latin typeface="Roboto"/>
              </a:rPr>
              <a:t> individual </a:t>
            </a:r>
            <a:r>
              <a:rPr lang="en-US" b="1" i="0" dirty="0">
                <a:solidFill>
                  <a:srgbClr val="222222"/>
                </a:solidFill>
                <a:effectLst/>
                <a:latin typeface="Roboto"/>
              </a:rPr>
              <a:t>angles</a:t>
            </a:r>
            <a:r>
              <a:rPr lang="en-US" b="0" i="0" dirty="0">
                <a:solidFill>
                  <a:srgbClr val="222222"/>
                </a:solidFill>
                <a:effectLst/>
                <a:latin typeface="Roboto"/>
              </a:rPr>
              <a:t> describing the spatial relationships, a Conformal </a:t>
            </a:r>
            <a:r>
              <a:rPr lang="en-US" b="1" i="0" dirty="0">
                <a:solidFill>
                  <a:srgbClr val="222222"/>
                </a:solidFill>
                <a:effectLst/>
                <a:latin typeface="Roboto"/>
              </a:rPr>
              <a:t>projection</a:t>
            </a:r>
            <a:r>
              <a:rPr lang="en-US" b="0" i="0" dirty="0">
                <a:solidFill>
                  <a:srgbClr val="222222"/>
                </a:solidFill>
                <a:effectLst/>
                <a:latin typeface="Roboto"/>
              </a:rPr>
              <a:t> must show the perpendicular graticule lines intersecting at 90-degree </a:t>
            </a:r>
            <a:r>
              <a:rPr lang="en-US" b="1" i="0" dirty="0">
                <a:solidFill>
                  <a:srgbClr val="222222"/>
                </a:solidFill>
                <a:effectLst/>
                <a:latin typeface="Roboto"/>
              </a:rPr>
              <a:t>angles</a:t>
            </a:r>
            <a:r>
              <a:rPr lang="en-US" b="0" i="0" dirty="0">
                <a:solidFill>
                  <a:srgbClr val="222222"/>
                </a:solidFill>
                <a:effectLst/>
                <a:latin typeface="Roboto"/>
              </a:rPr>
              <a:t> on the map</a:t>
            </a:r>
            <a:r>
              <a:rPr lang="en-US" baseline="0" dirty="0"/>
              <a:t>)</a:t>
            </a:r>
          </a:p>
          <a:p>
            <a:endParaRPr lang="en-US" baseline="0" dirty="0"/>
          </a:p>
          <a:p>
            <a:r>
              <a:rPr lang="en-US" baseline="0" dirty="0"/>
              <a:t>Relative size tends to be heavily distorted. For example, the </a:t>
            </a:r>
            <a:r>
              <a:rPr lang="en-US" baseline="0" dirty="0" err="1"/>
              <a:t>Tissot</a:t>
            </a:r>
            <a:r>
              <a:rPr lang="en-US" baseline="0" dirty="0"/>
              <a:t> Indicatrix suggests that sizes close to the poles are much larger than they should be in comparison to equatorial features. Remember from the example above that Greenland is actually smaller than Australia. </a:t>
            </a:r>
          </a:p>
          <a:p>
            <a:endParaRPr lang="en-US" baseline="0" dirty="0"/>
          </a:p>
          <a:p>
            <a:r>
              <a:rPr lang="en-US" baseline="0" dirty="0"/>
              <a:t>In Mercator projections, parallels and meridians will cross at right-angles.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47</a:t>
            </a:fld>
            <a:endParaRPr lang="en-US"/>
          </a:p>
        </p:txBody>
      </p:sp>
    </p:spTree>
    <p:extLst>
      <p:ext uri="{BB962C8B-B14F-4D97-AF65-F5344CB8AC3E}">
        <p14:creationId xmlns:p14="http://schemas.microsoft.com/office/powerpoint/2010/main" val="16480941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Mercator is a modification of the Mercator projection</a:t>
            </a:r>
            <a:r>
              <a:rPr lang="en-US" baseline="0" dirty="0"/>
              <a:t> that is commonly used in web maps including Bing Maps, </a:t>
            </a:r>
            <a:r>
              <a:rPr lang="en-US" baseline="0" dirty="0" err="1"/>
              <a:t>OpenStreetMap</a:t>
            </a:r>
            <a:r>
              <a:rPr lang="en-US" baseline="0" dirty="0"/>
              <a:t>, Google Maps, MapQuest, and ArcGIS Online.</a:t>
            </a:r>
          </a:p>
          <a:p>
            <a:endParaRPr lang="en-US" baseline="0" dirty="0"/>
          </a:p>
          <a:p>
            <a:r>
              <a:rPr lang="en-US" baseline="0" dirty="0"/>
              <a:t>It uses a true sphere as opposed to a spheroid. </a:t>
            </a:r>
          </a:p>
          <a:p>
            <a:endParaRPr lang="en-US" baseline="0" dirty="0"/>
          </a:p>
          <a:p>
            <a:r>
              <a:rPr lang="en-US" baseline="0" dirty="0"/>
              <a:t>One reason this projection is used on the web is that it is easy to generate tiles from data since latitude and longitude lines intersect at right 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48</a:t>
            </a:fld>
            <a:endParaRPr lang="en-US"/>
          </a:p>
        </p:txBody>
      </p:sp>
    </p:spTree>
    <p:extLst>
      <p:ext uri="{BB962C8B-B14F-4D97-AF65-F5344CB8AC3E}">
        <p14:creationId xmlns:p14="http://schemas.microsoft.com/office/powerpoint/2010/main" val="1218530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Mollweide</a:t>
            </a:r>
            <a:r>
              <a:rPr lang="en-US" baseline="0" dirty="0"/>
              <a:t> is an example of a equivalent projection that maintains relative size or area but distorts shape and local angles. </a:t>
            </a:r>
          </a:p>
          <a:p>
            <a:endParaRPr lang="en-US" baseline="0" dirty="0"/>
          </a:p>
          <a:p>
            <a:r>
              <a:rPr lang="en-US" baseline="0" dirty="0"/>
              <a:t>It is </a:t>
            </a:r>
            <a:r>
              <a:rPr lang="en-US" baseline="0" dirty="0" err="1"/>
              <a:t>pseudosylindrical</a:t>
            </a:r>
            <a:r>
              <a:rPr lang="en-US" baseline="0" dirty="0"/>
              <a:t>, which means that is uses multiple cylinders as opposed to one in an attempt to further minimize distortions.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49</a:t>
            </a:fld>
            <a:endParaRPr lang="en-US"/>
          </a:p>
        </p:txBody>
      </p:sp>
    </p:spTree>
    <p:extLst>
      <p:ext uri="{BB962C8B-B14F-4D97-AF65-F5344CB8AC3E}">
        <p14:creationId xmlns:p14="http://schemas.microsoft.com/office/powerpoint/2010/main" val="33644907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azimuthal</a:t>
            </a:r>
            <a:r>
              <a:rPr lang="en-US" baseline="0" dirty="0"/>
              <a:t> equidistant projection maintains the correct distance and angle or compass bearing form the center of the map. </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In the provided example, the center of the map occurs at </a:t>
            </a:r>
            <a:r>
              <a:rPr lang="en-US" sz="1200" dirty="0"/>
              <a:t>0° latitude</a:t>
            </a:r>
            <a:r>
              <a:rPr lang="en-US" sz="1200" baseline="0" dirty="0"/>
              <a:t> and </a:t>
            </a:r>
            <a:r>
              <a:rPr lang="en-US" sz="1200" dirty="0"/>
              <a:t>0° longitude,</a:t>
            </a:r>
            <a:r>
              <a:rPr lang="en-US" sz="1200" baseline="0" dirty="0"/>
              <a:t> or where the equator and prime meridian intersect.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aseline="0" dirty="0"/>
              <a:t>So, distance and direction relative to this location are correct. </a:t>
            </a:r>
            <a:r>
              <a:rPr lang="en-US" sz="1200" b="0" i="0" baseline="0" dirty="0">
                <a:solidFill>
                  <a:schemeClr val="tx1"/>
                </a:solidFill>
                <a:effectLst/>
                <a:latin typeface="+mn-lt"/>
              </a:rPr>
              <a:t>A</a:t>
            </a:r>
            <a:r>
              <a:rPr lang="en-US" b="0" i="0" dirty="0">
                <a:solidFill>
                  <a:srgbClr val="202122"/>
                </a:solidFill>
                <a:effectLst/>
                <a:latin typeface="Arial" panose="020B0604020202020204" pitchFamily="34" charset="0"/>
              </a:rPr>
              <a:t>ll points on the map are at the correct azimuth (direction) from the center point</a:t>
            </a:r>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Note that this projection distorts shape and relative size.</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0" i="0" baseline="0" dirty="0">
              <a:solidFill>
                <a:schemeClr val="tx1"/>
              </a:solidFill>
              <a:effectLst/>
              <a:latin typeface="+mn-lt"/>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4C4C4C"/>
                </a:solidFill>
                <a:effectLst/>
                <a:latin typeface="Avenir Next W01"/>
              </a:rPr>
              <a:t>Although the projection can display the entire globe, its practical usage is often limited to a hemisphere. This projection is most commonly used for maps of polar regions and routes of air and sea navigation with appropriate aspect. The oblique aspect is sometimes used for important cities and their surrounding area.</a:t>
            </a:r>
            <a:endParaRPr lang="en-US" sz="1200" b="0" i="0" baseline="0" dirty="0">
              <a:solidFill>
                <a:schemeClr val="tx1"/>
              </a:solidFill>
              <a:effectLst/>
              <a:latin typeface="+mn-lt"/>
            </a:endParaRPr>
          </a:p>
        </p:txBody>
      </p:sp>
      <p:sp>
        <p:nvSpPr>
          <p:cNvPr id="4" name="Slide Number Placeholder 3"/>
          <p:cNvSpPr>
            <a:spLocks noGrp="1"/>
          </p:cNvSpPr>
          <p:nvPr>
            <p:ph type="sldNum" sz="quarter" idx="10"/>
          </p:nvPr>
        </p:nvSpPr>
        <p:spPr/>
        <p:txBody>
          <a:bodyPr/>
          <a:lstStyle/>
          <a:p>
            <a:fld id="{01F2A70B-78F2-4DCF-B53B-C990D2FAFB8A}" type="slidenum">
              <a:rPr lang="en-US" smtClean="0"/>
              <a:t>50</a:t>
            </a:fld>
            <a:endParaRPr lang="en-US"/>
          </a:p>
        </p:txBody>
      </p:sp>
    </p:spTree>
    <p:extLst>
      <p:ext uri="{BB962C8B-B14F-4D97-AF65-F5344CB8AC3E}">
        <p14:creationId xmlns:p14="http://schemas.microsoft.com/office/powerpoint/2010/main" val="29088203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Patterson</a:t>
            </a:r>
            <a:r>
              <a:rPr lang="en-US" baseline="0" dirty="0"/>
              <a:t> projection is neither equivalent nor conformal. </a:t>
            </a:r>
          </a:p>
          <a:p>
            <a:endParaRPr lang="en-US" baseline="0" dirty="0"/>
          </a:p>
          <a:p>
            <a:r>
              <a:rPr lang="en-US" baseline="0" dirty="0"/>
              <a:t>Instead, it tries to strike a balance between shape and size distortions. </a:t>
            </a:r>
          </a:p>
          <a:p>
            <a:endParaRPr lang="en-US" baseline="0" dirty="0"/>
          </a:p>
          <a:p>
            <a:r>
              <a:rPr lang="en-US" baseline="0" dirty="0"/>
              <a:t>Note that the meridians are gently curved.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51</a:t>
            </a:fld>
            <a:endParaRPr lang="en-US"/>
          </a:p>
        </p:txBody>
      </p:sp>
    </p:spTree>
    <p:extLst>
      <p:ext uri="{BB962C8B-B14F-4D97-AF65-F5344CB8AC3E}">
        <p14:creationId xmlns:p14="http://schemas.microsoft.com/office/powerpoint/2010/main" val="28905647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discuss continental-scale</a:t>
            </a:r>
            <a:r>
              <a:rPr lang="en-US" baseline="0" dirty="0"/>
              <a:t> projections using the United States as an example.</a:t>
            </a:r>
          </a:p>
          <a:p>
            <a:endParaRPr lang="en-US" baseline="0" dirty="0"/>
          </a:p>
          <a:p>
            <a:r>
              <a:rPr lang="en-US" baseline="0" dirty="0"/>
              <a:t>The first image shows the US as not projected. Or, latitude and longitude are being treated like Cartesian coordinates in flat space. This results in some extreme distortions and should be avoided. </a:t>
            </a:r>
          </a:p>
          <a:p>
            <a:endParaRPr lang="en-US" baseline="0" dirty="0"/>
          </a:p>
          <a:p>
            <a:r>
              <a:rPr lang="en-US" baseline="0" dirty="0"/>
              <a:t>The second image shows a Mercator projection for the US. Here, shape and local angle is maintained but relative size is distorted.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52</a:t>
            </a:fld>
            <a:endParaRPr lang="en-US"/>
          </a:p>
        </p:txBody>
      </p:sp>
    </p:spTree>
    <p:extLst>
      <p:ext uri="{BB962C8B-B14F-4D97-AF65-F5344CB8AC3E}">
        <p14:creationId xmlns:p14="http://schemas.microsoft.com/office/powerpoint/2010/main" val="398756029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maps of the US, I prefer to use Albers Equal Area or Lambert Conformal Conic.</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53</a:t>
            </a:fld>
            <a:endParaRPr lang="en-US"/>
          </a:p>
        </p:txBody>
      </p:sp>
    </p:spTree>
    <p:extLst>
      <p:ext uri="{BB962C8B-B14F-4D97-AF65-F5344CB8AC3E}">
        <p14:creationId xmlns:p14="http://schemas.microsoft.com/office/powerpoint/2010/main" val="22543204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Albers</a:t>
            </a:r>
            <a:r>
              <a:rPr lang="en-US" baseline="0" dirty="0"/>
              <a:t> Equal Area uses a conic developable surface with two standard parallels. It is equivalent, so it maintains relative size but distorts shape and local angles. </a:t>
            </a:r>
          </a:p>
          <a:p>
            <a:endParaRPr lang="en-US" baseline="0" dirty="0"/>
          </a:p>
          <a:p>
            <a:r>
              <a:rPr lang="en-US" baseline="0" dirty="0"/>
              <a:t>However, distortions are generally pretty minimal.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54</a:t>
            </a:fld>
            <a:endParaRPr lang="en-US"/>
          </a:p>
        </p:txBody>
      </p:sp>
    </p:spTree>
    <p:extLst>
      <p:ext uri="{BB962C8B-B14F-4D97-AF65-F5344CB8AC3E}">
        <p14:creationId xmlns:p14="http://schemas.microsoft.com/office/powerpoint/2010/main" val="21228177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Lambert</a:t>
            </a:r>
            <a:r>
              <a:rPr lang="en-US" baseline="0" dirty="0"/>
              <a:t> Conformal Conic also uses a cone with two standard parallels. Since it is conformal it maintains shape and local angles but distorts local size. </a:t>
            </a:r>
          </a:p>
          <a:p>
            <a:endParaRPr lang="en-US" baseline="0" dirty="0"/>
          </a:p>
          <a:p>
            <a:r>
              <a:rPr lang="en-US" baseline="0" dirty="0"/>
              <a:t>However, distortions are minimal.</a:t>
            </a:r>
          </a:p>
          <a:p>
            <a:endParaRPr lang="en-US" baseline="0" dirty="0"/>
          </a:p>
          <a:p>
            <a:r>
              <a:rPr lang="en-US" baseline="0" dirty="0"/>
              <a:t>So, if I want to created a map of the US that maintains relative size, I tend to use Albers Equal Area. If I want to maintain shape, I will use Lambert Conformal Conic.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55</a:t>
            </a:fld>
            <a:endParaRPr lang="en-US"/>
          </a:p>
        </p:txBody>
      </p:sp>
    </p:spTree>
    <p:extLst>
      <p:ext uri="{BB962C8B-B14F-4D97-AF65-F5344CB8AC3E}">
        <p14:creationId xmlns:p14="http://schemas.microsoft.com/office/powerpoint/2010/main" val="56975430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a:t>
            </a:r>
            <a:r>
              <a:rPr lang="en-US" baseline="0" dirty="0"/>
              <a:t> now discuss projections that are appropriate at more local scales, such as for states, counties, or cities. </a:t>
            </a:r>
          </a:p>
          <a:p>
            <a:endParaRPr lang="en-US" baseline="0" dirty="0"/>
          </a:p>
          <a:p>
            <a:r>
              <a:rPr lang="en-US" baseline="0" dirty="0"/>
              <a:t>Universal Transverse Mercator is a set of projections that are commonly used at these scales.</a:t>
            </a:r>
          </a:p>
          <a:p>
            <a:endParaRPr lang="en-US" baseline="0" dirty="0"/>
          </a:p>
          <a:p>
            <a:r>
              <a:rPr lang="en-US" baseline="0" dirty="0"/>
              <a:t>This is not one system but a set of systems in which the Earth is broken into 60 zones. </a:t>
            </a:r>
          </a:p>
          <a:p>
            <a:endParaRPr lang="en-US" baseline="0" dirty="0"/>
          </a:p>
          <a:p>
            <a:r>
              <a:rPr lang="en-US" baseline="0" dirty="0"/>
              <a:t>Within each zone coordinates are provided in length units, generally meters, as northing and easting. </a:t>
            </a:r>
          </a:p>
          <a:p>
            <a:endParaRPr lang="en-US" baseline="0" dirty="0"/>
          </a:p>
          <a:p>
            <a:r>
              <a:rPr lang="en-US" baseline="0" dirty="0"/>
              <a:t>Northing measures up and down or north to south. </a:t>
            </a:r>
            <a:r>
              <a:rPr lang="en-US" dirty="0"/>
              <a:t>In the northern hemisphere, the equator is assigned a value of 0 meters, and you add</a:t>
            </a:r>
            <a:r>
              <a:rPr lang="en-US" baseline="0" dirty="0"/>
              <a:t> as you move north</a:t>
            </a:r>
            <a:r>
              <a:rPr lang="en-US" dirty="0"/>
              <a:t>. So, this is</a:t>
            </a:r>
            <a:r>
              <a:rPr lang="en-US" baseline="0" dirty="0"/>
              <a:t> effectively the distance from the equator. </a:t>
            </a:r>
            <a:r>
              <a:rPr lang="en-US" dirty="0"/>
              <a:t>In the southern hemisphere, the equator is assigned a value of 10,000,000 meters, and you</a:t>
            </a:r>
            <a:r>
              <a:rPr lang="en-US" baseline="0" dirty="0"/>
              <a:t> subtract as you move south. </a:t>
            </a:r>
          </a:p>
          <a:p>
            <a:endParaRPr lang="en-US" baseline="0" dirty="0"/>
          </a:p>
          <a:p>
            <a:r>
              <a:rPr lang="en-US" baseline="0" dirty="0"/>
              <a:t>Easting is calculated relative to the central meridian or center line in each zone. The central meridian is assigned a value of 500,000 meters, and you add as you move east of it and subtract if you move west.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56</a:t>
            </a:fld>
            <a:endParaRPr lang="en-US"/>
          </a:p>
        </p:txBody>
      </p:sp>
    </p:spTree>
    <p:extLst>
      <p:ext uri="{BB962C8B-B14F-4D97-AF65-F5344CB8AC3E}">
        <p14:creationId xmlns:p14="http://schemas.microsoft.com/office/powerpoint/2010/main" val="37411259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57</a:t>
            </a:fld>
            <a:endParaRPr lang="en-US"/>
          </a:p>
        </p:txBody>
      </p:sp>
    </p:spTree>
    <p:extLst>
      <p:ext uri="{BB962C8B-B14F-4D97-AF65-F5344CB8AC3E}">
        <p14:creationId xmlns:p14="http://schemas.microsoft.com/office/powerpoint/2010/main" val="188619882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58</a:t>
            </a:fld>
            <a:endParaRPr lang="en-US"/>
          </a:p>
        </p:txBody>
      </p:sp>
    </p:spTree>
    <p:extLst>
      <p:ext uri="{BB962C8B-B14F-4D97-AF65-F5344CB8AC3E}">
        <p14:creationId xmlns:p14="http://schemas.microsoft.com/office/powerpoint/2010/main" val="39781845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59</a:t>
            </a:fld>
            <a:endParaRPr lang="en-US"/>
          </a:p>
        </p:txBody>
      </p:sp>
    </p:spTree>
    <p:extLst>
      <p:ext uri="{BB962C8B-B14F-4D97-AF65-F5344CB8AC3E}">
        <p14:creationId xmlns:p14="http://schemas.microsoft.com/office/powerpoint/2010/main" val="371605810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60</a:t>
            </a:fld>
            <a:endParaRPr lang="en-US"/>
          </a:p>
        </p:txBody>
      </p:sp>
    </p:spTree>
    <p:extLst>
      <p:ext uri="{BB962C8B-B14F-4D97-AF65-F5344CB8AC3E}">
        <p14:creationId xmlns:p14="http://schemas.microsoft.com/office/powerpoint/2010/main" val="400631696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61</a:t>
            </a:fld>
            <a:endParaRPr lang="en-US"/>
          </a:p>
        </p:txBody>
      </p:sp>
    </p:spTree>
    <p:extLst>
      <p:ext uri="{BB962C8B-B14F-4D97-AF65-F5344CB8AC3E}">
        <p14:creationId xmlns:p14="http://schemas.microsoft.com/office/powerpoint/2010/main" val="10002383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62</a:t>
            </a:fld>
            <a:endParaRPr lang="en-US"/>
          </a:p>
        </p:txBody>
      </p:sp>
    </p:spTree>
    <p:extLst>
      <p:ext uri="{BB962C8B-B14F-4D97-AF65-F5344CB8AC3E}">
        <p14:creationId xmlns:p14="http://schemas.microsoft.com/office/powerpoint/2010/main" val="36947623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PLSS is important because:</a:t>
            </a:r>
          </a:p>
          <a:p>
            <a:r>
              <a:rPr lang="en-US" baseline="0" dirty="0"/>
              <a:t>1) The PLSS lines are often property boundaries, they form natural corridors in which to place roads, powerlines, and other public services; they are often evident on the landscape. Many road intersections occur at PLSS corner points, and these can be viewed and referenced on many maps or imagery used for GIS database development efforts. Further, PLSS corners are sometimes resurveyed using high precision methods to provide property line control, particularly when a GIS is to be developed.</a:t>
            </a:r>
          </a:p>
        </p:txBody>
      </p:sp>
      <p:sp>
        <p:nvSpPr>
          <p:cNvPr id="4" name="Slide Number Placeholder 3"/>
          <p:cNvSpPr>
            <a:spLocks noGrp="1"/>
          </p:cNvSpPr>
          <p:nvPr>
            <p:ph type="sldNum" sz="quarter" idx="10"/>
          </p:nvPr>
        </p:nvSpPr>
        <p:spPr/>
        <p:txBody>
          <a:bodyPr/>
          <a:lstStyle/>
          <a:p>
            <a:fld id="{01F2A70B-78F2-4DCF-B53B-C990D2FAFB8A}" type="slidenum">
              <a:rPr lang="en-US" smtClean="0"/>
              <a:t>63</a:t>
            </a:fld>
            <a:endParaRPr lang="en-US"/>
          </a:p>
        </p:txBody>
      </p:sp>
    </p:spTree>
    <p:extLst>
      <p:ext uri="{BB962C8B-B14F-4D97-AF65-F5344CB8AC3E}">
        <p14:creationId xmlns:p14="http://schemas.microsoft.com/office/powerpoint/2010/main" val="195206540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best map projection to use partially depends on the extent being mapped or the scale of the map. </a:t>
            </a:r>
          </a:p>
          <a:p>
            <a:endParaRPr lang="en-US" baseline="0" dirty="0"/>
          </a:p>
          <a:p>
            <a:r>
              <a:rPr lang="en-US" baseline="0" dirty="0"/>
              <a:t>We will now investigate some common map projections that can be used at different scales. </a:t>
            </a:r>
          </a:p>
          <a:p>
            <a:endParaRPr lang="en-US" baseline="0" dirty="0"/>
          </a:p>
          <a:p>
            <a:r>
              <a:rPr lang="en-US" baseline="0" dirty="0"/>
              <a:t>Note that all maps and spatial data layers will be referenced to a datum or geographic coordinate system. </a:t>
            </a:r>
          </a:p>
          <a:p>
            <a:endParaRPr lang="en-US" baseline="0" dirty="0"/>
          </a:p>
          <a:p>
            <a:r>
              <a:rPr lang="en-US" baseline="0" dirty="0"/>
              <a:t>If the map or data have been projected, they will also have a projected coordinate system where measurements are made in length units as opposed to angles.</a:t>
            </a:r>
          </a:p>
          <a:p>
            <a:endParaRPr lang="en-US" baseline="0" dirty="0"/>
          </a:p>
          <a:p>
            <a:r>
              <a:rPr lang="en-US" baseline="0" dirty="0"/>
              <a:t>We will begin with a discussion of some common global-scale projections followed by continent- and sate-scale options.</a:t>
            </a:r>
          </a:p>
        </p:txBody>
      </p:sp>
      <p:sp>
        <p:nvSpPr>
          <p:cNvPr id="4" name="Slide Number Placeholder 3"/>
          <p:cNvSpPr>
            <a:spLocks noGrp="1"/>
          </p:cNvSpPr>
          <p:nvPr>
            <p:ph type="sldNum" sz="quarter" idx="10"/>
          </p:nvPr>
        </p:nvSpPr>
        <p:spPr/>
        <p:txBody>
          <a:bodyPr/>
          <a:lstStyle/>
          <a:p>
            <a:fld id="{01F2A70B-78F2-4DCF-B53B-C990D2FAFB8A}" type="slidenum">
              <a:rPr lang="en-US" smtClean="0"/>
              <a:t>64</a:t>
            </a:fld>
            <a:endParaRPr lang="en-US"/>
          </a:p>
        </p:txBody>
      </p:sp>
    </p:spTree>
    <p:extLst>
      <p:ext uri="{BB962C8B-B14F-4D97-AF65-F5344CB8AC3E}">
        <p14:creationId xmlns:p14="http://schemas.microsoft.com/office/powerpoint/2010/main" val="117001545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a:t>
            </a:r>
            <a:r>
              <a:rPr lang="en-US" baseline="0" dirty="0"/>
              <a:t> best practices for working with projections. </a:t>
            </a:r>
          </a:p>
          <a:p>
            <a:endParaRPr lang="en-US" baseline="0" dirty="0"/>
          </a:p>
          <a:p>
            <a:r>
              <a:rPr lang="en-US" baseline="0" dirty="0"/>
              <a:t>First, it is generally best to use the same projection for all data layers in a map or project to avoid any issues with misalignment.</a:t>
            </a:r>
          </a:p>
          <a:p>
            <a:endParaRPr lang="en-US" baseline="0" dirty="0"/>
          </a:p>
          <a:p>
            <a:r>
              <a:rPr lang="en-US" baseline="0" dirty="0"/>
              <a:t>You should use a projection appropriate for the scale and extent of the map. For example, you would not use a specific UTM zone to project the entire globe. On the other hand, a global projection would not be the best choice for data just within A</a:t>
            </a:r>
            <a:r>
              <a:rPr lang="en-US" altLang="zh-CN" baseline="0" dirty="0"/>
              <a:t>rkansas</a:t>
            </a:r>
            <a:r>
              <a:rPr lang="en-US" baseline="0" dirty="0"/>
              <a:t>. </a:t>
            </a:r>
          </a:p>
          <a:p>
            <a:endParaRPr lang="en-US" baseline="0" dirty="0"/>
          </a:p>
          <a:p>
            <a:r>
              <a:rPr lang="en-US" baseline="0" dirty="0"/>
              <a:t>You should also think about what map properties are maintained or distorted. If you are interested in maintaining relative size, then you should use an equivalent projection.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65</a:t>
            </a:fld>
            <a:endParaRPr lang="en-US"/>
          </a:p>
        </p:txBody>
      </p:sp>
    </p:spTree>
    <p:extLst>
      <p:ext uri="{BB962C8B-B14F-4D97-AF65-F5344CB8AC3E}">
        <p14:creationId xmlns:p14="http://schemas.microsoft.com/office/powerpoint/2010/main" val="28118611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ArcGIS</a:t>
            </a:r>
            <a:r>
              <a:rPr lang="en-US" baseline="0" dirty="0"/>
              <a:t> Pro can apply a projection transformation on-the-fly or in memory. </a:t>
            </a:r>
          </a:p>
          <a:p>
            <a:endParaRPr lang="en-US" baseline="0" dirty="0"/>
          </a:p>
          <a:p>
            <a:r>
              <a:rPr lang="en-US" baseline="0" dirty="0"/>
              <a:t>So, data that are read into a map that are in a different projection than the map can be </a:t>
            </a:r>
            <a:r>
              <a:rPr lang="en-US" baseline="0" dirty="0" err="1"/>
              <a:t>reprojected</a:t>
            </a:r>
            <a:r>
              <a:rPr lang="en-US" baseline="0" dirty="0"/>
              <a:t> to match the map on-the-fly. </a:t>
            </a:r>
          </a:p>
          <a:p>
            <a:endParaRPr lang="en-US" baseline="0" dirty="0"/>
          </a:p>
          <a:p>
            <a:r>
              <a:rPr lang="en-US" baseline="0" dirty="0"/>
              <a:t>So, it is not always necessary to </a:t>
            </a:r>
            <a:r>
              <a:rPr lang="en-US" baseline="0" dirty="0" err="1"/>
              <a:t>reproject</a:t>
            </a:r>
            <a:r>
              <a:rPr lang="en-US" baseline="0" dirty="0"/>
              <a:t> data if you are simply visualizing it or making a map layout. </a:t>
            </a:r>
          </a:p>
          <a:p>
            <a:endParaRPr lang="en-US" baseline="0" dirty="0"/>
          </a:p>
          <a:p>
            <a:r>
              <a:rPr lang="en-US" baseline="0" dirty="0"/>
              <a:t>However, I suggest transforming all data layers into the same projection if you plan to perform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66</a:t>
            </a:fld>
            <a:endParaRPr lang="en-US"/>
          </a:p>
        </p:txBody>
      </p:sp>
    </p:spTree>
    <p:extLst>
      <p:ext uri="{BB962C8B-B14F-4D97-AF65-F5344CB8AC3E}">
        <p14:creationId xmlns:p14="http://schemas.microsoft.com/office/powerpoint/2010/main" val="177842905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67</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17220" y="1597820"/>
            <a:ext cx="6995160" cy="1102519"/>
          </a:xfrm>
        </p:spPr>
        <p:txBody>
          <a:bodyPr/>
          <a:lstStyle/>
          <a:p>
            <a:r>
              <a:rPr lang="en-US"/>
              <a:t>Click to edit Master title style</a:t>
            </a:r>
          </a:p>
        </p:txBody>
      </p:sp>
      <p:sp>
        <p:nvSpPr>
          <p:cNvPr id="3" name="Subtitle 2"/>
          <p:cNvSpPr>
            <a:spLocks noGrp="1"/>
          </p:cNvSpPr>
          <p:nvPr>
            <p:ph type="subTitle" idx="1"/>
          </p:nvPr>
        </p:nvSpPr>
        <p:spPr>
          <a:xfrm>
            <a:off x="1234440" y="2914650"/>
            <a:ext cx="5760720" cy="1314450"/>
          </a:xfrm>
        </p:spPr>
        <p:txBody>
          <a:bodyPr/>
          <a:lstStyle>
            <a:lvl1pPr marL="0" indent="0" algn="ctr">
              <a:buNone/>
              <a:defRPr>
                <a:solidFill>
                  <a:schemeClr val="tx1">
                    <a:tint val="75000"/>
                  </a:schemeClr>
                </a:solidFill>
              </a:defRPr>
            </a:lvl1pPr>
            <a:lvl2pPr marL="411480" indent="0" algn="ctr">
              <a:buNone/>
              <a:defRPr>
                <a:solidFill>
                  <a:schemeClr val="tx1">
                    <a:tint val="75000"/>
                  </a:schemeClr>
                </a:solidFill>
              </a:defRPr>
            </a:lvl2pPr>
            <a:lvl3pPr marL="822960" indent="0" algn="ctr">
              <a:buNone/>
              <a:defRPr>
                <a:solidFill>
                  <a:schemeClr val="tx1">
                    <a:tint val="75000"/>
                  </a:schemeClr>
                </a:solidFill>
              </a:defRPr>
            </a:lvl3pPr>
            <a:lvl4pPr marL="1234440" indent="0" algn="ctr">
              <a:buNone/>
              <a:defRPr>
                <a:solidFill>
                  <a:schemeClr val="tx1">
                    <a:tint val="75000"/>
                  </a:schemeClr>
                </a:solidFill>
              </a:defRPr>
            </a:lvl4pPr>
            <a:lvl5pPr marL="1645920" indent="0" algn="ctr">
              <a:buNone/>
              <a:defRPr>
                <a:solidFill>
                  <a:schemeClr val="tx1">
                    <a:tint val="75000"/>
                  </a:schemeClr>
                </a:solidFill>
              </a:defRPr>
            </a:lvl5pPr>
            <a:lvl6pPr marL="2057400" indent="0" algn="ctr">
              <a:buNone/>
              <a:defRPr>
                <a:solidFill>
                  <a:schemeClr val="tx1">
                    <a:tint val="75000"/>
                  </a:schemeClr>
                </a:solidFill>
              </a:defRPr>
            </a:lvl6pPr>
            <a:lvl7pPr marL="2468880" indent="0" algn="ctr">
              <a:buNone/>
              <a:defRPr>
                <a:solidFill>
                  <a:schemeClr val="tx1">
                    <a:tint val="75000"/>
                  </a:schemeClr>
                </a:solidFill>
              </a:defRPr>
            </a:lvl7pPr>
            <a:lvl8pPr marL="2880360" indent="0" algn="ctr">
              <a:buNone/>
              <a:defRPr>
                <a:solidFill>
                  <a:schemeClr val="tx1">
                    <a:tint val="75000"/>
                  </a:schemeClr>
                </a:solidFill>
              </a:defRPr>
            </a:lvl8pPr>
            <a:lvl9pPr marL="329184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720AEDC-E445-4777-AA58-256DBE856A2E}" type="datetime1">
              <a:rPr lang="en-US" smtClean="0"/>
              <a:t>9/29/2022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45916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FFDC0E-2571-4B49-A099-A35911FE2571}" type="datetime1">
              <a:rPr lang="en-US" smtClean="0"/>
              <a:t>9/29/2022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469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0082" y="3305176"/>
            <a:ext cx="6995160" cy="1021556"/>
          </a:xfrm>
        </p:spPr>
        <p:txBody>
          <a:bodyPr anchor="t"/>
          <a:lstStyle>
            <a:lvl1pPr algn="l">
              <a:defRPr sz="3600" b="1" cap="all"/>
            </a:lvl1pPr>
          </a:lstStyle>
          <a:p>
            <a:r>
              <a:rPr lang="en-US"/>
              <a:t>Click to edit Master title style</a:t>
            </a:r>
          </a:p>
        </p:txBody>
      </p:sp>
      <p:sp>
        <p:nvSpPr>
          <p:cNvPr id="3" name="Text Placeholder 2"/>
          <p:cNvSpPr>
            <a:spLocks noGrp="1"/>
          </p:cNvSpPr>
          <p:nvPr>
            <p:ph type="body" idx="1"/>
          </p:nvPr>
        </p:nvSpPr>
        <p:spPr>
          <a:xfrm>
            <a:off x="650082" y="2180035"/>
            <a:ext cx="6995160" cy="1125140"/>
          </a:xfrm>
        </p:spPr>
        <p:txBody>
          <a:bodyPr anchor="b"/>
          <a:lstStyle>
            <a:lvl1pPr marL="0" indent="0">
              <a:buNone/>
              <a:defRPr sz="1800">
                <a:solidFill>
                  <a:schemeClr val="tx1">
                    <a:tint val="75000"/>
                  </a:schemeClr>
                </a:solidFill>
              </a:defRPr>
            </a:lvl1pPr>
            <a:lvl2pPr marL="411480" indent="0">
              <a:buNone/>
              <a:defRPr sz="1620">
                <a:solidFill>
                  <a:schemeClr val="tx1">
                    <a:tint val="75000"/>
                  </a:schemeClr>
                </a:solidFill>
              </a:defRPr>
            </a:lvl2pPr>
            <a:lvl3pPr marL="822960" indent="0">
              <a:buNone/>
              <a:defRPr sz="1440">
                <a:solidFill>
                  <a:schemeClr val="tx1">
                    <a:tint val="75000"/>
                  </a:schemeClr>
                </a:solidFill>
              </a:defRPr>
            </a:lvl3pPr>
            <a:lvl4pPr marL="1234440" indent="0">
              <a:buNone/>
              <a:defRPr sz="1260">
                <a:solidFill>
                  <a:schemeClr val="tx1">
                    <a:tint val="75000"/>
                  </a:schemeClr>
                </a:solidFill>
              </a:defRPr>
            </a:lvl4pPr>
            <a:lvl5pPr marL="1645920" indent="0">
              <a:buNone/>
              <a:defRPr sz="1260">
                <a:solidFill>
                  <a:schemeClr val="tx1">
                    <a:tint val="75000"/>
                  </a:schemeClr>
                </a:solidFill>
              </a:defRPr>
            </a:lvl5pPr>
            <a:lvl6pPr marL="2057400" indent="0">
              <a:buNone/>
              <a:defRPr sz="1260">
                <a:solidFill>
                  <a:schemeClr val="tx1">
                    <a:tint val="75000"/>
                  </a:schemeClr>
                </a:solidFill>
              </a:defRPr>
            </a:lvl6pPr>
            <a:lvl7pPr marL="2468880" indent="0">
              <a:buNone/>
              <a:defRPr sz="1260">
                <a:solidFill>
                  <a:schemeClr val="tx1">
                    <a:tint val="75000"/>
                  </a:schemeClr>
                </a:solidFill>
              </a:defRPr>
            </a:lvl7pPr>
            <a:lvl8pPr marL="2880360" indent="0">
              <a:buNone/>
              <a:defRPr sz="1260">
                <a:solidFill>
                  <a:schemeClr val="tx1">
                    <a:tint val="75000"/>
                  </a:schemeClr>
                </a:solidFill>
              </a:defRPr>
            </a:lvl8pPr>
            <a:lvl9pPr marL="3291840"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A49ABB-4417-47CD-80B9-0D55D8A8F9A6}" type="datetime1">
              <a:rPr lang="en-US" smtClean="0"/>
              <a:t>9/29/2022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41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14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1833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A34475E-0273-439D-974C-8782C6CF6085}" type="datetime1">
              <a:rPr lang="en-US" smtClean="0"/>
              <a:t>9/29/2022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05204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11480" y="1151335"/>
            <a:ext cx="3636169"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4" name="Content Placeholder 3"/>
          <p:cNvSpPr>
            <a:spLocks noGrp="1"/>
          </p:cNvSpPr>
          <p:nvPr>
            <p:ph sz="half" idx="2"/>
          </p:nvPr>
        </p:nvSpPr>
        <p:spPr>
          <a:xfrm>
            <a:off x="411480" y="1631156"/>
            <a:ext cx="3636169"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180524" y="1151335"/>
            <a:ext cx="3637598"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6" name="Content Placeholder 5"/>
          <p:cNvSpPr>
            <a:spLocks noGrp="1"/>
          </p:cNvSpPr>
          <p:nvPr>
            <p:ph sz="quarter" idx="4"/>
          </p:nvPr>
        </p:nvSpPr>
        <p:spPr>
          <a:xfrm>
            <a:off x="4180524" y="1631156"/>
            <a:ext cx="3637598"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3C4C3F7-B696-4E33-B8CA-A5029D94236E}" type="datetime1">
              <a:rPr lang="en-US" smtClean="0"/>
              <a:t>9/29/2022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4329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9/29/2022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74429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9/29/2022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04835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1481" y="204787"/>
            <a:ext cx="2707482" cy="871538"/>
          </a:xfrm>
        </p:spPr>
        <p:txBody>
          <a:bodyPr anchor="b"/>
          <a:lstStyle>
            <a:lvl1pPr algn="l">
              <a:defRPr sz="1800" b="1"/>
            </a:lvl1pPr>
          </a:lstStyle>
          <a:p>
            <a:r>
              <a:rPr lang="en-US"/>
              <a:t>Click to edit Master title style</a:t>
            </a:r>
          </a:p>
        </p:txBody>
      </p:sp>
      <p:sp>
        <p:nvSpPr>
          <p:cNvPr id="3" name="Content Placeholder 2"/>
          <p:cNvSpPr>
            <a:spLocks noGrp="1"/>
          </p:cNvSpPr>
          <p:nvPr>
            <p:ph idx="1"/>
          </p:nvPr>
        </p:nvSpPr>
        <p:spPr>
          <a:xfrm>
            <a:off x="3217545" y="204789"/>
            <a:ext cx="4600575" cy="4389835"/>
          </a:xfrm>
        </p:spPr>
        <p:txBody>
          <a:bodyPr/>
          <a:lstStyle>
            <a:lvl1pPr>
              <a:defRPr sz="2880"/>
            </a:lvl1pPr>
            <a:lvl2pPr>
              <a:defRPr sz="2520"/>
            </a:lvl2pPr>
            <a:lvl3pPr>
              <a:defRPr sz="216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1481" y="1076327"/>
            <a:ext cx="2707482" cy="351829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FAFBCFB9-675F-4800-8AC7-ED3B357177A4}" type="datetime1">
              <a:rPr lang="en-US" smtClean="0"/>
              <a:t>9/29/2022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418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3059" y="3600450"/>
            <a:ext cx="4937760" cy="425054"/>
          </a:xfrm>
        </p:spPr>
        <p:txBody>
          <a:bodyPr anchor="b"/>
          <a:lstStyle>
            <a:lvl1pPr algn="l">
              <a:defRPr sz="1800" b="1"/>
            </a:lvl1pPr>
          </a:lstStyle>
          <a:p>
            <a:r>
              <a:rPr lang="en-US"/>
              <a:t>Click to edit Master title style</a:t>
            </a:r>
          </a:p>
        </p:txBody>
      </p:sp>
      <p:sp>
        <p:nvSpPr>
          <p:cNvPr id="3" name="Picture Placeholder 2"/>
          <p:cNvSpPr>
            <a:spLocks noGrp="1"/>
          </p:cNvSpPr>
          <p:nvPr>
            <p:ph type="pic" idx="1"/>
          </p:nvPr>
        </p:nvSpPr>
        <p:spPr>
          <a:xfrm>
            <a:off x="1613059" y="459581"/>
            <a:ext cx="4937760" cy="3086100"/>
          </a:xfrm>
        </p:spPr>
        <p:txBody>
          <a:bodyPr/>
          <a:lstStyle>
            <a:lvl1pPr marL="0" indent="0">
              <a:buNone/>
              <a:defRPr sz="2880"/>
            </a:lvl1pPr>
            <a:lvl2pPr marL="411480" indent="0">
              <a:buNone/>
              <a:defRPr sz="2520"/>
            </a:lvl2pPr>
            <a:lvl3pPr marL="822960" indent="0">
              <a:buNone/>
              <a:defRPr sz="2160"/>
            </a:lvl3pPr>
            <a:lvl4pPr marL="1234440" indent="0">
              <a:buNone/>
              <a:defRPr sz="1800"/>
            </a:lvl4pPr>
            <a:lvl5pPr marL="1645920" indent="0">
              <a:buNone/>
              <a:defRPr sz="1800"/>
            </a:lvl5pPr>
            <a:lvl6pPr marL="2057400" indent="0">
              <a:buNone/>
              <a:defRPr sz="1800"/>
            </a:lvl6pPr>
            <a:lvl7pPr marL="2468880" indent="0">
              <a:buNone/>
              <a:defRPr sz="1800"/>
            </a:lvl7pPr>
            <a:lvl8pPr marL="2880360" indent="0">
              <a:buNone/>
              <a:defRPr sz="1800"/>
            </a:lvl8pPr>
            <a:lvl9pPr marL="3291840" indent="0">
              <a:buNone/>
              <a:defRPr sz="1800"/>
            </a:lvl9pPr>
          </a:lstStyle>
          <a:p>
            <a:endParaRPr lang="en-US"/>
          </a:p>
        </p:txBody>
      </p:sp>
      <p:sp>
        <p:nvSpPr>
          <p:cNvPr id="4" name="Text Placeholder 3"/>
          <p:cNvSpPr>
            <a:spLocks noGrp="1"/>
          </p:cNvSpPr>
          <p:nvPr>
            <p:ph type="body" sz="half" idx="2"/>
          </p:nvPr>
        </p:nvSpPr>
        <p:spPr>
          <a:xfrm>
            <a:off x="1613059" y="4025504"/>
            <a:ext cx="4937760" cy="60364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9/29/2022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6031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7A43A2-25E5-4F4A-8CC5-2EB1720C6339}" type="datetime1">
              <a:rPr lang="en-US" smtClean="0"/>
              <a:t>9/29/2022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50910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66460" y="205979"/>
            <a:ext cx="185166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1480" y="205979"/>
            <a:ext cx="541782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211E9CE-A9D6-4C10-9743-25DD5C510D14}" type="datetime1">
              <a:rPr lang="en-US" smtClean="0"/>
              <a:t>9/29/2022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64596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1480" y="205979"/>
            <a:ext cx="740664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11480" y="1200151"/>
            <a:ext cx="740664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1480" y="4767263"/>
            <a:ext cx="1920240" cy="273844"/>
          </a:xfrm>
          <a:prstGeom prst="rect">
            <a:avLst/>
          </a:prstGeom>
        </p:spPr>
        <p:txBody>
          <a:bodyPr vert="horz" lIns="91440" tIns="45720" rIns="91440" bIns="45720" rtlCol="0" anchor="ctr"/>
          <a:lstStyle>
            <a:lvl1pPr algn="l">
              <a:defRPr sz="1080">
                <a:solidFill>
                  <a:schemeClr val="tx1">
                    <a:tint val="75000"/>
                  </a:schemeClr>
                </a:solidFill>
              </a:defRPr>
            </a:lvl1pPr>
          </a:lstStyle>
          <a:p>
            <a:fld id="{775824D9-FB06-4772-8A16-CEC7F6E704E4}" type="datetime1">
              <a:rPr lang="en-US" smtClean="0"/>
              <a:t>9/29/2022</a:t>
            </a:fld>
            <a:endParaRPr lang="en-US"/>
          </a:p>
        </p:txBody>
      </p:sp>
      <p:sp>
        <p:nvSpPr>
          <p:cNvPr id="5" name="Footer Placeholder 4"/>
          <p:cNvSpPr>
            <a:spLocks noGrp="1"/>
          </p:cNvSpPr>
          <p:nvPr>
            <p:ph type="ftr" sz="quarter" idx="3"/>
          </p:nvPr>
        </p:nvSpPr>
        <p:spPr>
          <a:xfrm>
            <a:off x="2811780" y="4767263"/>
            <a:ext cx="2606040" cy="273844"/>
          </a:xfrm>
          <a:prstGeom prst="rect">
            <a:avLst/>
          </a:prstGeom>
        </p:spPr>
        <p:txBody>
          <a:bodyPr vert="horz" lIns="91440" tIns="45720" rIns="91440" bIns="45720" rtlCol="0" anchor="ctr"/>
          <a:lstStyle>
            <a:lvl1pPr algn="ctr">
              <a:defRPr sz="10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897880" y="4767263"/>
            <a:ext cx="1920240" cy="273844"/>
          </a:xfrm>
          <a:prstGeom prst="rect">
            <a:avLst/>
          </a:prstGeom>
        </p:spPr>
        <p:txBody>
          <a:bodyPr vert="horz" lIns="91440" tIns="45720" rIns="91440" bIns="45720" rtlCol="0" anchor="ctr"/>
          <a:lstStyle>
            <a:lvl1pPr algn="r">
              <a:defRPr sz="1080">
                <a:solidFill>
                  <a:schemeClr val="tx1">
                    <a:tint val="75000"/>
                  </a:schemeClr>
                </a:solidFill>
              </a:defRPr>
            </a:lvl1pPr>
          </a:lstStyle>
          <a:p>
            <a:fld id="{127DDC20-79C9-9647-820E-6D40A3D210C3}" type="slidenum">
              <a:rPr lang="en-US" smtClean="0"/>
              <a:pPr/>
              <a:t>‹#›</a:t>
            </a:fld>
            <a:endParaRPr lang="en-US"/>
          </a:p>
        </p:txBody>
      </p:sp>
    </p:spTree>
    <p:extLst>
      <p:ext uri="{BB962C8B-B14F-4D97-AF65-F5344CB8AC3E}">
        <p14:creationId xmlns:p14="http://schemas.microsoft.com/office/powerpoint/2010/main" val="142839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11480" rtl="0" eaLnBrk="1" latinLnBrk="0" hangingPunct="1">
        <a:spcBef>
          <a:spcPct val="0"/>
        </a:spcBef>
        <a:buNone/>
        <a:defRPr sz="3960" kern="1200">
          <a:solidFill>
            <a:schemeClr val="tx1"/>
          </a:solidFill>
          <a:latin typeface="+mj-lt"/>
          <a:ea typeface="+mj-ea"/>
          <a:cs typeface="+mj-cs"/>
        </a:defRPr>
      </a:lvl1pPr>
    </p:titleStyle>
    <p:body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11480" rtl="0" eaLnBrk="1" latinLnBrk="0" hangingPunct="1">
        <a:defRPr sz="1620" kern="1200">
          <a:solidFill>
            <a:schemeClr val="tx1"/>
          </a:solidFill>
          <a:latin typeface="+mn-lt"/>
          <a:ea typeface="+mn-ea"/>
          <a:cs typeface="+mn-cs"/>
        </a:defRPr>
      </a:lvl1pPr>
      <a:lvl2pPr marL="411480" algn="l" defTabSz="411480" rtl="0" eaLnBrk="1" latinLnBrk="0" hangingPunct="1">
        <a:defRPr sz="1620" kern="1200">
          <a:solidFill>
            <a:schemeClr val="tx1"/>
          </a:solidFill>
          <a:latin typeface="+mn-lt"/>
          <a:ea typeface="+mn-ea"/>
          <a:cs typeface="+mn-cs"/>
        </a:defRPr>
      </a:lvl2pPr>
      <a:lvl3pPr marL="822960" algn="l" defTabSz="411480" rtl="0" eaLnBrk="1" latinLnBrk="0" hangingPunct="1">
        <a:defRPr sz="1620" kern="1200">
          <a:solidFill>
            <a:schemeClr val="tx1"/>
          </a:solidFill>
          <a:latin typeface="+mn-lt"/>
          <a:ea typeface="+mn-ea"/>
          <a:cs typeface="+mn-cs"/>
        </a:defRPr>
      </a:lvl3pPr>
      <a:lvl4pPr marL="1234440" algn="l" defTabSz="411480" rtl="0" eaLnBrk="1" latinLnBrk="0" hangingPunct="1">
        <a:defRPr sz="1620" kern="1200">
          <a:solidFill>
            <a:schemeClr val="tx1"/>
          </a:solidFill>
          <a:latin typeface="+mn-lt"/>
          <a:ea typeface="+mn-ea"/>
          <a:cs typeface="+mn-cs"/>
        </a:defRPr>
      </a:lvl4pPr>
      <a:lvl5pPr marL="1645920" algn="l" defTabSz="411480" rtl="0" eaLnBrk="1" latinLnBrk="0" hangingPunct="1">
        <a:defRPr sz="1620" kern="1200">
          <a:solidFill>
            <a:schemeClr val="tx1"/>
          </a:solidFill>
          <a:latin typeface="+mn-lt"/>
          <a:ea typeface="+mn-ea"/>
          <a:cs typeface="+mn-cs"/>
        </a:defRPr>
      </a:lvl5pPr>
      <a:lvl6pPr marL="2057400" algn="l" defTabSz="411480" rtl="0" eaLnBrk="1" latinLnBrk="0" hangingPunct="1">
        <a:defRPr sz="1620" kern="1200">
          <a:solidFill>
            <a:schemeClr val="tx1"/>
          </a:solidFill>
          <a:latin typeface="+mn-lt"/>
          <a:ea typeface="+mn-ea"/>
          <a:cs typeface="+mn-cs"/>
        </a:defRPr>
      </a:lvl6pPr>
      <a:lvl7pPr marL="2468880" algn="l" defTabSz="411480" rtl="0" eaLnBrk="1" latinLnBrk="0" hangingPunct="1">
        <a:defRPr sz="1620" kern="1200">
          <a:solidFill>
            <a:schemeClr val="tx1"/>
          </a:solidFill>
          <a:latin typeface="+mn-lt"/>
          <a:ea typeface="+mn-ea"/>
          <a:cs typeface="+mn-cs"/>
        </a:defRPr>
      </a:lvl7pPr>
      <a:lvl8pPr marL="2880360" algn="l" defTabSz="411480" rtl="0" eaLnBrk="1" latinLnBrk="0" hangingPunct="1">
        <a:defRPr sz="1620" kern="1200">
          <a:solidFill>
            <a:schemeClr val="tx1"/>
          </a:solidFill>
          <a:latin typeface="+mn-lt"/>
          <a:ea typeface="+mn-ea"/>
          <a:cs typeface="+mn-cs"/>
        </a:defRPr>
      </a:lvl8pPr>
      <a:lvl9pPr marL="3291840" algn="l" defTabSz="411480" rtl="0" eaLnBrk="1" latinLnBrk="0" hangingPunct="1">
        <a:defRPr sz="16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commons.wikimedia.org/wiki/File:Geoundnsrp.pn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Geoid"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ngs.noaa.gov/NCAT/index.xhtml;jsessionid=9190FFFE418DF889CAB0942A91BA7B9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www.ngs.noaa.gov/NCA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en.wikipedia.org/wiki/Cartesian_coordinate_system"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hyperlink" Target="https://commons.wikimedia.org/wiki/File:Latitude_and_longitude_graticule_on_an_ellipsoid.svg" TargetMode="Externa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thetruesize.com/"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kIID5FDi2JQ"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48.jpg"/></Relationships>
</file>

<file path=ppt/slides/_rels/slide5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hyperlink" Target="https://www.e-education.psu.edu/natureofgeoinfo/c2_p26.html"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53.jpg"/></Relationships>
</file>

<file path=ppt/slides/_rels/slide61.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err="1"/>
              <a:t>GEOG</a:t>
            </a:r>
            <a:r>
              <a:rPr lang="en-US" sz="3600" dirty="0"/>
              <a:t> 2475: Geographic </a:t>
            </a:r>
            <a:r>
              <a:rPr lang="en-US" sz="3600"/>
              <a:t>Information Systems I</a:t>
            </a:r>
            <a:endParaRPr lang="en-US" sz="3600" dirty="0"/>
          </a:p>
        </p:txBody>
      </p:sp>
      <p:sp>
        <p:nvSpPr>
          <p:cNvPr id="6" name="Subtitle 2"/>
          <p:cNvSpPr txBox="1">
            <a:spLocks/>
          </p:cNvSpPr>
          <p:nvPr/>
        </p:nvSpPr>
        <p:spPr>
          <a:xfrm>
            <a:off x="1257018" y="2967511"/>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Yaqian He,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646331"/>
          </a:xfrm>
          <a:prstGeom prst="rect">
            <a:avLst/>
          </a:prstGeom>
          <a:noFill/>
        </p:spPr>
        <p:txBody>
          <a:bodyPr wrap="square" rtlCol="0">
            <a:spAutoFit/>
          </a:bodyPr>
          <a:lstStyle/>
          <a:p>
            <a:pPr algn="ctr"/>
            <a:r>
              <a:rPr lang="en-US" sz="3600" dirty="0"/>
              <a:t>Lecture 0</a:t>
            </a:r>
            <a:r>
              <a:rPr lang="en-US" altLang="zh-CN" sz="3600" dirty="0"/>
              <a:t>2</a:t>
            </a:r>
            <a:r>
              <a:rPr lang="en-US" sz="3600" dirty="0"/>
              <a:t> Datum and Projection</a:t>
            </a:r>
          </a:p>
        </p:txBody>
      </p:sp>
      <p:pic>
        <p:nvPicPr>
          <p:cNvPr id="13" name="Picture 12">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fontScale="92500" lnSpcReduction="20000"/>
          </a:bodyPr>
          <a:lstStyle/>
          <a:p>
            <a:pPr>
              <a:buFont typeface="Courier New" panose="02070309020205020404" pitchFamily="49" charset="0"/>
              <a:buChar char="o"/>
            </a:pPr>
            <a:r>
              <a:rPr lang="en-US" altLang="en-US" sz="2600" dirty="0"/>
              <a:t>Datum</a:t>
            </a:r>
          </a:p>
          <a:p>
            <a:pPr lvl="1">
              <a:buFont typeface="Wingdings" panose="05000000000000000000" pitchFamily="2" charset="2"/>
              <a:buChar char="ü"/>
            </a:pPr>
            <a:r>
              <a:rPr lang="en-US" altLang="en-US" sz="2300" dirty="0"/>
              <a:t>Shape of Earth</a:t>
            </a:r>
          </a:p>
          <a:p>
            <a:pPr lvl="1">
              <a:buFont typeface="Wingdings" panose="05000000000000000000" pitchFamily="2" charset="2"/>
              <a:buChar char="ü"/>
            </a:pPr>
            <a:r>
              <a:rPr lang="en-US" altLang="en-US" sz="2300" dirty="0"/>
              <a:t>Geoid</a:t>
            </a:r>
          </a:p>
          <a:p>
            <a:pPr>
              <a:buFont typeface="Courier New" panose="02070309020205020404" pitchFamily="49" charset="0"/>
              <a:buChar char="o"/>
            </a:pPr>
            <a:r>
              <a:rPr lang="en-US" altLang="en-US" sz="2600" dirty="0"/>
              <a:t>Coordinate system</a:t>
            </a:r>
          </a:p>
          <a:p>
            <a:pPr lvl="1">
              <a:buFont typeface="Wingdings" panose="05000000000000000000" pitchFamily="2" charset="2"/>
              <a:buChar char="ü"/>
            </a:pPr>
            <a:r>
              <a:rPr lang="en-US" sz="2300" dirty="0"/>
              <a:t>Geographic coordinate systems</a:t>
            </a:r>
          </a:p>
          <a:p>
            <a:pPr lvl="1">
              <a:buFont typeface="Wingdings" panose="05000000000000000000" pitchFamily="2" charset="2"/>
              <a:buChar char="ü"/>
            </a:pPr>
            <a:r>
              <a:rPr lang="en-US" altLang="en-US" sz="2300" dirty="0"/>
              <a:t>Projected coordinate systems</a:t>
            </a:r>
          </a:p>
          <a:p>
            <a:pPr>
              <a:buFont typeface="Courier New" panose="02070309020205020404" pitchFamily="49" charset="0"/>
              <a:buChar char="o"/>
            </a:pPr>
            <a:r>
              <a:rPr lang="en-US" altLang="en-US" sz="2600" dirty="0"/>
              <a:t>Projections</a:t>
            </a:r>
          </a:p>
          <a:p>
            <a:pPr lvl="1">
              <a:buFont typeface="Wingdings" panose="05000000000000000000" pitchFamily="2" charset="2"/>
              <a:buChar char="ü"/>
            </a:pPr>
            <a:r>
              <a:rPr lang="en-US" sz="2300" dirty="0"/>
              <a:t>Plane projection</a:t>
            </a:r>
          </a:p>
          <a:p>
            <a:pPr lvl="1">
              <a:buFont typeface="Wingdings" panose="05000000000000000000" pitchFamily="2" charset="2"/>
              <a:buChar char="ü"/>
            </a:pPr>
            <a:r>
              <a:rPr lang="en-US" altLang="en-US" sz="2300" dirty="0"/>
              <a:t>Conic projection</a:t>
            </a:r>
          </a:p>
          <a:p>
            <a:pPr lvl="1">
              <a:buFont typeface="Wingdings" panose="05000000000000000000" pitchFamily="2" charset="2"/>
              <a:buChar char="ü"/>
            </a:pPr>
            <a:r>
              <a:rPr lang="en-US" altLang="en-US" sz="2300" dirty="0"/>
              <a:t>Cylindrical projection</a:t>
            </a:r>
          </a:p>
          <a:p>
            <a:pPr lvl="1">
              <a:buFont typeface="Wingdings" panose="05000000000000000000" pitchFamily="2" charset="2"/>
              <a:buChar char="ü"/>
            </a:pPr>
            <a:r>
              <a:rPr lang="en-US" altLang="en-US" sz="2300" dirty="0"/>
              <a:t>Examples: Global, continental, and state scales</a:t>
            </a:r>
          </a:p>
          <a:p>
            <a:pPr marL="411480" lvl="1" indent="0">
              <a:buNone/>
            </a:pPr>
            <a:endParaRPr lang="en-US" altLang="en-US" sz="230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1753796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27DB8FA9-BDA5-4B3E-BDD4-93B7C42F443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Geodesy</a:t>
            </a:r>
          </a:p>
          <a:p>
            <a:pPr lvl="1">
              <a:buFont typeface="Wingdings" panose="05000000000000000000" pitchFamily="2" charset="2"/>
              <a:buChar char="ü"/>
            </a:pPr>
            <a:r>
              <a:rPr lang="en-US" altLang="en-US" sz="2160" dirty="0"/>
              <a:t>Science of measuring Earth’s shape</a:t>
            </a: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3074" name="Picture 2" descr="File:Geoundnsrp.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0086" y="1978339"/>
            <a:ext cx="2546696" cy="245023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7135" y="4859449"/>
            <a:ext cx="3259226" cy="433196"/>
          </a:xfrm>
          <a:prstGeom prst="rect">
            <a:avLst/>
          </a:prstGeom>
        </p:spPr>
        <p:txBody>
          <a:bodyPr wrap="none">
            <a:spAutoFit/>
          </a:bodyPr>
          <a:lstStyle/>
          <a:p>
            <a:r>
              <a:rPr lang="en-US" sz="1000" dirty="0">
                <a:hlinkClick r:id="rId4"/>
              </a:rPr>
              <a:t>https://commons.wikimedia.org/wiki/File:Geoundnsrp.png</a:t>
            </a:r>
            <a:endParaRPr lang="en-US" sz="1000" dirty="0"/>
          </a:p>
          <a:p>
            <a:endParaRPr lang="en-US" sz="1215" dirty="0"/>
          </a:p>
        </p:txBody>
      </p:sp>
      <p:cxnSp>
        <p:nvCxnSpPr>
          <p:cNvPr id="7" name="Straight Connector 6">
            <a:extLst>
              <a:ext uri="{FF2B5EF4-FFF2-40B4-BE49-F238E27FC236}">
                <a16:creationId xmlns:a16="http://schemas.microsoft.com/office/drawing/2014/main" id="{887169D0-0D27-4724-9609-1F1856F2AFA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63AFA498-9D77-44AF-AA2F-9C61F024817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D813555-35FD-44B8-90EE-078819E9A143}"/>
              </a:ext>
            </a:extLst>
          </p:cNvPr>
          <p:cNvSpPr>
            <a:spLocks noGrp="1"/>
          </p:cNvSpPr>
          <p:nvPr>
            <p:ph type="sldNum" sz="quarter" idx="12"/>
          </p:nvPr>
        </p:nvSpPr>
        <p:spPr/>
        <p:txBody>
          <a:bodyPr/>
          <a:lstStyle/>
          <a:p>
            <a:fld id="{127DDC20-79C9-9647-820E-6D40A3D210C3}" type="slidenum">
              <a:rPr lang="en-US" smtClean="0"/>
              <a:pPr/>
              <a:t>3</a:t>
            </a:fld>
            <a:endParaRPr lang="en-US"/>
          </a:p>
        </p:txBody>
      </p:sp>
    </p:spTree>
    <p:extLst>
      <p:ext uri="{BB962C8B-B14F-4D97-AF65-F5344CB8AC3E}">
        <p14:creationId xmlns:p14="http://schemas.microsoft.com/office/powerpoint/2010/main" val="2402047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2131519" y="2708588"/>
            <a:ext cx="3966561" cy="1893944"/>
          </a:xfrm>
          <a:prstGeom prst="rect">
            <a:avLst/>
          </a:prstGeom>
        </p:spPr>
      </p:pic>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48406186-F2E8-4D8D-97C6-590CE149A3BD}"/>
              </a:ext>
            </a:extLst>
          </p:cNvPr>
          <p:cNvSpPr>
            <a:spLocks noGrp="1"/>
          </p:cNvSpPr>
          <p:nvPr>
            <p:ph type="sldNum" sz="quarter" idx="12"/>
          </p:nvPr>
        </p:nvSpPr>
        <p:spPr/>
        <p:txBody>
          <a:bodyPr/>
          <a:lstStyle/>
          <a:p>
            <a:fld id="{127DDC20-79C9-9647-820E-6D40A3D210C3}" type="slidenum">
              <a:rPr lang="en-US" smtClean="0"/>
              <a:pPr/>
              <a:t>4</a:t>
            </a:fld>
            <a:endParaRPr lang="en-US"/>
          </a:p>
        </p:txBody>
      </p:sp>
    </p:spTree>
    <p:extLst>
      <p:ext uri="{BB962C8B-B14F-4D97-AF65-F5344CB8AC3E}">
        <p14:creationId xmlns:p14="http://schemas.microsoft.com/office/powerpoint/2010/main" val="2979019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pic>
        <p:nvPicPr>
          <p:cNvPr id="14" name="Picture 13">
            <a:extLst>
              <a:ext uri="{FF2B5EF4-FFF2-40B4-BE49-F238E27FC236}">
                <a16:creationId xmlns:a16="http://schemas.microsoft.com/office/drawing/2014/main" id="{1C3836D6-3642-47E5-A9E6-C939910CDD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7143" y="2595836"/>
            <a:ext cx="2595311" cy="22106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Slide Number Placeholder 1">
            <a:extLst>
              <a:ext uri="{FF2B5EF4-FFF2-40B4-BE49-F238E27FC236}">
                <a16:creationId xmlns:a16="http://schemas.microsoft.com/office/drawing/2014/main" id="{4A37278D-2929-4879-83B7-668DE83FC6F7}"/>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393554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1550" y="814153"/>
            <a:ext cx="6172200" cy="857250"/>
          </a:xfrm>
        </p:spPr>
        <p:txBody>
          <a:bodyPr/>
          <a:lstStyle/>
          <a:p>
            <a:r>
              <a:rPr lang="en-US" dirty="0">
                <a:solidFill>
                  <a:schemeClr val="tx2"/>
                </a:solidFill>
              </a:rPr>
              <a:t>Modeling the Earth</a:t>
            </a:r>
          </a:p>
        </p:txBody>
      </p:sp>
      <p:sp>
        <p:nvSpPr>
          <p:cNvPr id="6" name="Content Placeholder 2"/>
          <p:cNvSpPr>
            <a:spLocks noGrp="1"/>
          </p:cNvSpPr>
          <p:nvPr>
            <p:ph idx="1"/>
          </p:nvPr>
        </p:nvSpPr>
        <p:spPr>
          <a:xfrm>
            <a:off x="2048550" y="1644927"/>
            <a:ext cx="4132501" cy="3220950"/>
          </a:xfrm>
        </p:spPr>
        <p:txBody>
          <a:bodyPr>
            <a:normAutofit fontScale="92500" lnSpcReduction="10000"/>
          </a:bodyPr>
          <a:lstStyle/>
          <a:p>
            <a:pPr marL="0" indent="0" algn="ctr">
              <a:buNone/>
            </a:pPr>
            <a:r>
              <a:rPr lang="en-US" dirty="0">
                <a:solidFill>
                  <a:schemeClr val="tx2"/>
                </a:solidFill>
              </a:rPr>
              <a:t>True Earth surface</a:t>
            </a:r>
          </a:p>
          <a:p>
            <a:pPr marL="0" indent="0" algn="ctr">
              <a:buNone/>
            </a:pPr>
            <a:endParaRPr lang="en-US" dirty="0">
              <a:solidFill>
                <a:schemeClr val="tx2"/>
              </a:solidFill>
            </a:endParaRPr>
          </a:p>
          <a:p>
            <a:pPr marL="0" indent="0" algn="ctr">
              <a:buNone/>
            </a:pPr>
            <a:endParaRPr lang="en-US" dirty="0">
              <a:solidFill>
                <a:schemeClr val="tx2"/>
              </a:solidFill>
            </a:endParaRPr>
          </a:p>
          <a:p>
            <a:pPr marL="0" indent="0" algn="ctr">
              <a:buNone/>
            </a:pPr>
            <a:r>
              <a:rPr lang="en-US" dirty="0">
                <a:solidFill>
                  <a:schemeClr val="tx2"/>
                </a:solidFill>
              </a:rPr>
              <a:t>Geoid (Includes ocean)</a:t>
            </a:r>
          </a:p>
          <a:p>
            <a:pPr marL="0" indent="0" algn="ctr">
              <a:buNone/>
            </a:pPr>
            <a:endParaRPr lang="en-US" dirty="0">
              <a:solidFill>
                <a:schemeClr val="tx2"/>
              </a:solidFill>
            </a:endParaRPr>
          </a:p>
          <a:p>
            <a:pPr marL="0" indent="0" algn="ctr">
              <a:buNone/>
            </a:pPr>
            <a:endParaRPr lang="en-US" dirty="0">
              <a:solidFill>
                <a:schemeClr val="tx2"/>
              </a:solidFill>
            </a:endParaRPr>
          </a:p>
          <a:p>
            <a:pPr marL="0" indent="0" algn="ctr">
              <a:buNone/>
            </a:pPr>
            <a:r>
              <a:rPr lang="en-US" dirty="0">
                <a:solidFill>
                  <a:schemeClr val="tx2"/>
                </a:solidFill>
              </a:rPr>
              <a:t>Ellipsoid</a:t>
            </a:r>
          </a:p>
        </p:txBody>
      </p:sp>
      <p:sp>
        <p:nvSpPr>
          <p:cNvPr id="3" name="Down Arrow 2"/>
          <p:cNvSpPr/>
          <p:nvPr/>
        </p:nvSpPr>
        <p:spPr>
          <a:xfrm>
            <a:off x="4029052" y="2120326"/>
            <a:ext cx="171495" cy="643105"/>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sp>
        <p:nvSpPr>
          <p:cNvPr id="7" name="Down Arrow 6"/>
          <p:cNvSpPr/>
          <p:nvPr/>
        </p:nvSpPr>
        <p:spPr>
          <a:xfrm>
            <a:off x="4029052" y="3554956"/>
            <a:ext cx="171495" cy="643105"/>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cxnSp>
        <p:nvCxnSpPr>
          <p:cNvPr id="9" name="Straight Connector 8">
            <a:extLst>
              <a:ext uri="{FF2B5EF4-FFF2-40B4-BE49-F238E27FC236}">
                <a16:creationId xmlns:a16="http://schemas.microsoft.com/office/drawing/2014/main" id="{4DD5FDEA-7F92-46EF-9DDB-3A4476A840A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8E270F8A-347D-4DA4-84D0-648F79F85F45}"/>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a:t>
            </a:r>
            <a:endParaRPr lang="en-US" sz="2600" dirty="0">
              <a:solidFill>
                <a:srgbClr val="7030A0"/>
              </a:solidFill>
            </a:endParaRPr>
          </a:p>
        </p:txBody>
      </p:sp>
      <p:sp>
        <p:nvSpPr>
          <p:cNvPr id="4" name="Slide Number Placeholder 3">
            <a:extLst>
              <a:ext uri="{FF2B5EF4-FFF2-40B4-BE49-F238E27FC236}">
                <a16:creationId xmlns:a16="http://schemas.microsoft.com/office/drawing/2014/main" id="{872E2B27-DDD0-47A6-84AE-FC43F2F3E8E7}"/>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1220890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42230" y="4857520"/>
            <a:ext cx="4113728" cy="249684"/>
          </a:xfrm>
          <a:prstGeom prst="rect">
            <a:avLst/>
          </a:prstGeom>
        </p:spPr>
        <p:txBody>
          <a:bodyPr>
            <a:spAutoFit/>
          </a:bodyPr>
          <a:lstStyle/>
          <a:p>
            <a:pPr>
              <a:lnSpc>
                <a:spcPct val="107000"/>
              </a:lnSpc>
              <a:spcAft>
                <a:spcPts val="540"/>
              </a:spcAft>
            </a:pPr>
            <a:r>
              <a:rPr lang="en-US" sz="1000" dirty="0">
                <a:hlinkClick r:id="rId3"/>
              </a:rPr>
              <a:t>https://en.wikipedia.org/wiki/Geoid</a:t>
            </a:r>
            <a:endParaRPr lang="en-US" sz="1000" dirty="0">
              <a:latin typeface="Calibri" panose="020F0502020204030204" pitchFamily="34" charset="0"/>
              <a:ea typeface="Calibri" panose="020F0502020204030204" pitchFamily="34"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1376729C-592A-456C-8742-EE7FC5D27C8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3091769-5A78-4A75-99DB-506EEF9ACF66}"/>
              </a:ext>
            </a:extLst>
          </p:cNvPr>
          <p:cNvSpPr txBox="1">
            <a:spLocks/>
          </p:cNvSpPr>
          <p:nvPr/>
        </p:nvSpPr>
        <p:spPr>
          <a:xfrm>
            <a:off x="118533" y="58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a:t>
            </a:r>
            <a:endParaRPr lang="en-US" sz="2600" dirty="0">
              <a:solidFill>
                <a:srgbClr val="7030A0"/>
              </a:solidFill>
            </a:endParaRPr>
          </a:p>
        </p:txBody>
      </p:sp>
      <p:pic>
        <p:nvPicPr>
          <p:cNvPr id="2050" name="Picture 2">
            <a:extLst>
              <a:ext uri="{FF2B5EF4-FFF2-40B4-BE49-F238E27FC236}">
                <a16:creationId xmlns:a16="http://schemas.microsoft.com/office/drawing/2014/main" id="{4D48A3FA-BFFD-4F61-AF53-89F3A24BFD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271" y="2170061"/>
            <a:ext cx="2871046" cy="28710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CDDA0B7A-1231-4BB4-8A98-0B08770C2378}"/>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8" name="TextBox 7">
            <a:extLst>
              <a:ext uri="{FF2B5EF4-FFF2-40B4-BE49-F238E27FC236}">
                <a16:creationId xmlns:a16="http://schemas.microsoft.com/office/drawing/2014/main" id="{AA366DD9-1178-4A6A-89CB-ECDB992DCD51}"/>
              </a:ext>
            </a:extLst>
          </p:cNvPr>
          <p:cNvSpPr txBox="1"/>
          <p:nvPr/>
        </p:nvSpPr>
        <p:spPr>
          <a:xfrm>
            <a:off x="322623" y="1146629"/>
            <a:ext cx="7659841" cy="1089529"/>
          </a:xfrm>
          <a:prstGeom prst="rect">
            <a:avLst/>
          </a:prstGeom>
          <a:noFill/>
        </p:spPr>
        <p:txBody>
          <a:bodyPr wrap="square">
            <a:spAutoFit/>
          </a:bodyPr>
          <a:lstStyle/>
          <a:p>
            <a:r>
              <a:rPr lang="en-US" sz="2160" dirty="0"/>
              <a:t>The </a:t>
            </a:r>
            <a:r>
              <a:rPr lang="en-US" sz="2160" dirty="0">
                <a:solidFill>
                  <a:srgbClr val="7030A0"/>
                </a:solidFill>
              </a:rPr>
              <a:t>geoidal surface </a:t>
            </a:r>
            <a:r>
              <a:rPr lang="en-US" sz="2160" dirty="0"/>
              <a:t>can be thought of as an imaginary sea that covers the entire Earth and is not affected by wind, waves, the Moon, or forces other than Earth’s gravity. </a:t>
            </a:r>
          </a:p>
        </p:txBody>
      </p:sp>
    </p:spTree>
    <p:extLst>
      <p:ext uri="{BB962C8B-B14F-4D97-AF65-F5344CB8AC3E}">
        <p14:creationId xmlns:p14="http://schemas.microsoft.com/office/powerpoint/2010/main" val="3162667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027">
            <a:extLst>
              <a:ext uri="{FF2B5EF4-FFF2-40B4-BE49-F238E27FC236}">
                <a16:creationId xmlns:a16="http://schemas.microsoft.com/office/drawing/2014/main" id="{9B279F75-48B4-4031-87F7-D061E46BE766}"/>
              </a:ext>
            </a:extLst>
          </p:cNvPr>
          <p:cNvSpPr txBox="1">
            <a:spLocks noChangeArrowheads="1"/>
          </p:cNvSpPr>
          <p:nvPr/>
        </p:nvSpPr>
        <p:spPr>
          <a:xfrm>
            <a:off x="302741" y="1029962"/>
            <a:ext cx="7679724" cy="2034514"/>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We need a mathematically simple model of the Earth’s Surface</a:t>
            </a:r>
          </a:p>
          <a:p>
            <a:pPr>
              <a:buFont typeface="Courier New" panose="02070309020205020404" pitchFamily="49" charset="0"/>
              <a:buChar char="o"/>
            </a:pPr>
            <a:r>
              <a:rPr lang="en-US" altLang="en-US" sz="2600" dirty="0"/>
              <a:t>We use an ellipsoid/ spheroid</a:t>
            </a:r>
          </a:p>
          <a:p>
            <a:pPr>
              <a:buFont typeface="Courier New" panose="02070309020205020404" pitchFamily="49" charset="0"/>
              <a:buChar char="o"/>
            </a:pPr>
            <a:r>
              <a:rPr lang="en-US" altLang="en-US" sz="2600" dirty="0"/>
              <a:t>There are different ellipsoids/ spheroids used</a:t>
            </a:r>
          </a:p>
          <a:p>
            <a:pPr>
              <a:buFont typeface="Courier New" panose="02070309020205020404" pitchFamily="49" charset="0"/>
              <a:buChar char="o"/>
            </a:pPr>
            <a:r>
              <a:rPr lang="en-US" altLang="en-US" sz="2600" dirty="0"/>
              <a:t>Combined with ground survey data, we call these </a:t>
            </a:r>
            <a:r>
              <a:rPr lang="en-US" altLang="en-US" sz="2600" dirty="0">
                <a:solidFill>
                  <a:srgbClr val="FF0000"/>
                </a:solidFill>
              </a:rPr>
              <a:t>datums</a:t>
            </a:r>
          </a:p>
        </p:txBody>
      </p:sp>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118533" y="58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7" name="Picture 6" descr="Diagram, venn diagram&#10;&#10;Description automatically generated">
            <a:extLst>
              <a:ext uri="{FF2B5EF4-FFF2-40B4-BE49-F238E27FC236}">
                <a16:creationId xmlns:a16="http://schemas.microsoft.com/office/drawing/2014/main" id="{9729AD03-0D14-4A18-8932-6292B6DF9385}"/>
              </a:ext>
            </a:extLst>
          </p:cNvPr>
          <p:cNvPicPr>
            <a:picLocks noChangeAspect="1"/>
          </p:cNvPicPr>
          <p:nvPr/>
        </p:nvPicPr>
        <p:blipFill>
          <a:blip r:embed="rId3"/>
          <a:stretch>
            <a:fillRect/>
          </a:stretch>
        </p:blipFill>
        <p:spPr>
          <a:xfrm>
            <a:off x="1428441" y="2949513"/>
            <a:ext cx="2019574" cy="2156089"/>
          </a:xfrm>
          <a:prstGeom prst="rect">
            <a:avLst/>
          </a:prstGeom>
        </p:spPr>
      </p:pic>
      <p:sp>
        <p:nvSpPr>
          <p:cNvPr id="9" name="TextBox 8">
            <a:extLst>
              <a:ext uri="{FF2B5EF4-FFF2-40B4-BE49-F238E27FC236}">
                <a16:creationId xmlns:a16="http://schemas.microsoft.com/office/drawing/2014/main" id="{CBB94952-1AFD-41A0-99E2-1F13722E299A}"/>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0" name="Picture 9" descr="Diagram&#10;&#10;Description automatically generated">
            <a:extLst>
              <a:ext uri="{FF2B5EF4-FFF2-40B4-BE49-F238E27FC236}">
                <a16:creationId xmlns:a16="http://schemas.microsoft.com/office/drawing/2014/main" id="{ACB27256-9AD0-4117-B6C2-5AC9801DE027}"/>
              </a:ext>
            </a:extLst>
          </p:cNvPr>
          <p:cNvPicPr>
            <a:picLocks noChangeAspect="1"/>
          </p:cNvPicPr>
          <p:nvPr/>
        </p:nvPicPr>
        <p:blipFill>
          <a:blip r:embed="rId4"/>
          <a:stretch>
            <a:fillRect/>
          </a:stretch>
        </p:blipFill>
        <p:spPr>
          <a:xfrm>
            <a:off x="4079567" y="2937695"/>
            <a:ext cx="3340421" cy="2156090"/>
          </a:xfrm>
          <a:prstGeom prst="rect">
            <a:avLst/>
          </a:prstGeom>
        </p:spPr>
      </p:pic>
    </p:spTree>
    <p:extLst>
      <p:ext uri="{BB962C8B-B14F-4D97-AF65-F5344CB8AC3E}">
        <p14:creationId xmlns:p14="http://schemas.microsoft.com/office/powerpoint/2010/main" val="2744765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027">
            <a:extLst>
              <a:ext uri="{FF2B5EF4-FFF2-40B4-BE49-F238E27FC236}">
                <a16:creationId xmlns:a16="http://schemas.microsoft.com/office/drawing/2014/main" id="{9B279F75-48B4-4031-87F7-D061E46BE766}"/>
              </a:ext>
            </a:extLst>
          </p:cNvPr>
          <p:cNvSpPr txBox="1">
            <a:spLocks noChangeArrowheads="1"/>
          </p:cNvSpPr>
          <p:nvPr/>
        </p:nvSpPr>
        <p:spPr>
          <a:xfrm>
            <a:off x="302741" y="1029962"/>
            <a:ext cx="7679724" cy="2034514"/>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D</a:t>
            </a:r>
            <a:r>
              <a:rPr lang="en-US" altLang="zh-CN" sz="2600" dirty="0"/>
              <a:t>atum changes through time due to more survey measurements available or improvement on measurement methods</a:t>
            </a:r>
          </a:p>
          <a:p>
            <a:pPr lvl="1">
              <a:buFont typeface="Wingdings" panose="05000000000000000000" pitchFamily="2" charset="2"/>
              <a:buChar char="ü"/>
            </a:pPr>
            <a:r>
              <a:rPr lang="en-US" altLang="en-US" sz="2240" dirty="0"/>
              <a:t>Before satellite era and after satellite era</a:t>
            </a:r>
          </a:p>
          <a:p>
            <a:pPr lvl="1">
              <a:buFont typeface="Wingdings" panose="05000000000000000000" pitchFamily="2" charset="2"/>
              <a:buChar char="ü"/>
            </a:pPr>
            <a:r>
              <a:rPr lang="en-US" altLang="en-US" sz="2240" dirty="0"/>
              <a:t>Datum adjustment</a:t>
            </a:r>
          </a:p>
        </p:txBody>
      </p:sp>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118533" y="58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9" name="TextBox 8">
            <a:extLst>
              <a:ext uri="{FF2B5EF4-FFF2-40B4-BE49-F238E27FC236}">
                <a16:creationId xmlns:a16="http://schemas.microsoft.com/office/drawing/2014/main" id="{CBB94952-1AFD-41A0-99E2-1F13722E299A}"/>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4" name="Picture 3" descr="Diagram&#10;&#10;Description automatically generated">
            <a:extLst>
              <a:ext uri="{FF2B5EF4-FFF2-40B4-BE49-F238E27FC236}">
                <a16:creationId xmlns:a16="http://schemas.microsoft.com/office/drawing/2014/main" id="{DAEB5376-121B-479B-9CAB-C78FBFAB8E2C}"/>
              </a:ext>
            </a:extLst>
          </p:cNvPr>
          <p:cNvPicPr>
            <a:picLocks noChangeAspect="1"/>
          </p:cNvPicPr>
          <p:nvPr/>
        </p:nvPicPr>
        <p:blipFill>
          <a:blip r:embed="rId3"/>
          <a:stretch>
            <a:fillRect/>
          </a:stretch>
        </p:blipFill>
        <p:spPr>
          <a:xfrm>
            <a:off x="3328752" y="2724819"/>
            <a:ext cx="3625377" cy="2382101"/>
          </a:xfrm>
          <a:prstGeom prst="rect">
            <a:avLst/>
          </a:prstGeom>
        </p:spPr>
      </p:pic>
    </p:spTree>
    <p:extLst>
      <p:ext uri="{BB962C8B-B14F-4D97-AF65-F5344CB8AC3E}">
        <p14:creationId xmlns:p14="http://schemas.microsoft.com/office/powerpoint/2010/main" val="2639691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4" name="Rectangle 1027">
            <a:extLst>
              <a:ext uri="{FF2B5EF4-FFF2-40B4-BE49-F238E27FC236}">
                <a16:creationId xmlns:a16="http://schemas.microsoft.com/office/drawing/2014/main" id="{69E91D31-722B-4BC5-8372-946A640556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b="1" dirty="0"/>
              <a:t>NAD27: </a:t>
            </a:r>
            <a:r>
              <a:rPr lang="en-GB" sz="2600" dirty="0"/>
              <a:t>North American Datum of 1927</a:t>
            </a:r>
            <a:endParaRPr lang="en-GB" sz="2600" b="1" dirty="0"/>
          </a:p>
          <a:p>
            <a:pPr>
              <a:lnSpc>
                <a:spcPct val="90000"/>
              </a:lnSpc>
              <a:buFont typeface="Courier New" panose="02070309020205020404" pitchFamily="49" charset="0"/>
              <a:buChar char="o"/>
            </a:pPr>
            <a:r>
              <a:rPr lang="en-GB" sz="2600" b="1" dirty="0"/>
              <a:t>NAD83: </a:t>
            </a:r>
            <a:r>
              <a:rPr lang="en-GB" sz="2600" dirty="0"/>
              <a:t>North American Datum of 1983</a:t>
            </a:r>
          </a:p>
          <a:p>
            <a:pPr lvl="1">
              <a:lnSpc>
                <a:spcPct val="90000"/>
              </a:lnSpc>
              <a:buFont typeface="Wingdings" panose="05000000000000000000" pitchFamily="2" charset="2"/>
              <a:buChar char="ü"/>
            </a:pPr>
            <a:r>
              <a:rPr lang="en-GB" sz="2240" dirty="0"/>
              <a:t>NAD83(xx), xx represents year, version of datum adjustment</a:t>
            </a:r>
          </a:p>
          <a:p>
            <a:pPr lvl="1">
              <a:lnSpc>
                <a:spcPct val="90000"/>
              </a:lnSpc>
              <a:buFont typeface="Wingdings" panose="05000000000000000000" pitchFamily="2" charset="2"/>
              <a:buChar char="ü"/>
            </a:pPr>
            <a:r>
              <a:rPr lang="en-GB" sz="2240" dirty="0"/>
              <a:t>NAD83(HARN/HPGN): High Accuracy Reference Networks or High Precision Geodetic Networks</a:t>
            </a:r>
          </a:p>
          <a:p>
            <a:pPr>
              <a:lnSpc>
                <a:spcPct val="90000"/>
              </a:lnSpc>
              <a:buFont typeface="Courier New" panose="02070309020205020404" pitchFamily="49" charset="0"/>
              <a:buChar char="o"/>
            </a:pPr>
            <a:r>
              <a:rPr lang="en-GB" sz="2600" b="1" dirty="0"/>
              <a:t>WGS84: </a:t>
            </a:r>
            <a:r>
              <a:rPr lang="en-GB" sz="2600" dirty="0"/>
              <a:t>World Geodetic System 0f 1984</a:t>
            </a:r>
          </a:p>
          <a:p>
            <a:pPr lvl="1">
              <a:lnSpc>
                <a:spcPct val="90000"/>
              </a:lnSpc>
              <a:buFont typeface="Wingdings" panose="05000000000000000000" pitchFamily="2" charset="2"/>
              <a:buChar char="ü"/>
            </a:pPr>
            <a:r>
              <a:rPr lang="en-GB" sz="2240" dirty="0"/>
              <a:t>WGS84(xx)</a:t>
            </a:r>
          </a:p>
          <a:p>
            <a:pPr>
              <a:lnSpc>
                <a:spcPct val="90000"/>
              </a:lnSpc>
              <a:buFont typeface="Courier New" panose="02070309020205020404" pitchFamily="49" charset="0"/>
              <a:buChar char="o"/>
            </a:pPr>
            <a:r>
              <a:rPr lang="en-GB" sz="2800" b="1" dirty="0"/>
              <a:t>ITRF: </a:t>
            </a:r>
            <a:r>
              <a:rPr lang="en-GB" sz="2800" dirty="0"/>
              <a:t>International Terrestrial Reference Frames</a:t>
            </a:r>
          </a:p>
          <a:p>
            <a:pPr lvl="1">
              <a:lnSpc>
                <a:spcPct val="90000"/>
              </a:lnSpc>
              <a:buFont typeface="Wingdings" panose="05000000000000000000" pitchFamily="2" charset="2"/>
              <a:buChar char="ü"/>
            </a:pPr>
            <a:r>
              <a:rPr lang="en-GB" sz="2440" dirty="0"/>
              <a:t>ITRF89, ITRF90, ITRF91</a:t>
            </a:r>
          </a:p>
          <a:p>
            <a:pPr>
              <a:lnSpc>
                <a:spcPct val="90000"/>
              </a:lnSpc>
            </a:pPr>
            <a:endParaRPr lang="en-GB" sz="2800" b="1"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640908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Picture 4" descr="Diagram&#10;&#10;Description automatically generated">
            <a:extLst>
              <a:ext uri="{FF2B5EF4-FFF2-40B4-BE49-F238E27FC236}">
                <a16:creationId xmlns:a16="http://schemas.microsoft.com/office/drawing/2014/main" id="{8E5A012B-77DC-45C8-8F2D-98C4CF7F71FA}"/>
              </a:ext>
            </a:extLst>
          </p:cNvPr>
          <p:cNvPicPr>
            <a:picLocks noChangeAspect="1"/>
          </p:cNvPicPr>
          <p:nvPr/>
        </p:nvPicPr>
        <p:blipFill>
          <a:blip r:embed="rId3"/>
          <a:stretch>
            <a:fillRect/>
          </a:stretch>
        </p:blipFill>
        <p:spPr>
          <a:xfrm>
            <a:off x="1841157" y="2117671"/>
            <a:ext cx="4337221" cy="3025829"/>
          </a:xfrm>
          <a:prstGeom prst="rect">
            <a:avLst/>
          </a:prstGeom>
        </p:spPr>
      </p:pic>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2"/>
            <a:ext cx="7679724" cy="121896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WGS84 and </a:t>
            </a:r>
            <a:r>
              <a:rPr lang="en-GB" sz="2800" dirty="0"/>
              <a:t>ITRF can be considered equivalent for most purpose, as difference between them since 1995 are generally only a few centimetres</a:t>
            </a: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10" name="TextBox 9">
            <a:extLst>
              <a:ext uri="{FF2B5EF4-FFF2-40B4-BE49-F238E27FC236}">
                <a16:creationId xmlns:a16="http://schemas.microsoft.com/office/drawing/2014/main" id="{B74B018C-907B-4E6E-B81B-898FEC17D5FC}"/>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807174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1"/>
            <a:ext cx="7679724" cy="2119636"/>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Transformation</a:t>
            </a:r>
          </a:p>
          <a:p>
            <a:pPr lvl="1">
              <a:lnSpc>
                <a:spcPct val="90000"/>
              </a:lnSpc>
              <a:buFont typeface="Wingdings" panose="05000000000000000000" pitchFamily="2" charset="2"/>
              <a:buChar char="ü"/>
            </a:pPr>
            <a:r>
              <a:rPr lang="en-GB" sz="2240" dirty="0"/>
              <a:t>Converting coordinates from one datum to another</a:t>
            </a:r>
          </a:p>
          <a:p>
            <a:pPr lvl="2">
              <a:lnSpc>
                <a:spcPct val="90000"/>
              </a:lnSpc>
              <a:buFont typeface="Arial" panose="020B0604020202020204" pitchFamily="34" charset="0"/>
              <a:buChar char="•"/>
            </a:pPr>
            <a:r>
              <a:rPr lang="en-GB" sz="1800" dirty="0"/>
              <a:t>Shift origin</a:t>
            </a:r>
          </a:p>
          <a:p>
            <a:pPr lvl="2">
              <a:lnSpc>
                <a:spcPct val="90000"/>
              </a:lnSpc>
              <a:buFont typeface="Arial" panose="020B0604020202020204" pitchFamily="34" charset="0"/>
              <a:buChar char="•"/>
            </a:pPr>
            <a:r>
              <a:rPr lang="en-GB" sz="1800" dirty="0"/>
              <a:t>Scale</a:t>
            </a:r>
          </a:p>
          <a:p>
            <a:pPr lvl="2">
              <a:lnSpc>
                <a:spcPct val="90000"/>
              </a:lnSpc>
              <a:buFont typeface="Arial" panose="020B0604020202020204" pitchFamily="34" charset="0"/>
              <a:buChar char="•"/>
            </a:pPr>
            <a:r>
              <a:rPr lang="en-GB" sz="1800" dirty="0"/>
              <a:t>rotation</a:t>
            </a:r>
          </a:p>
          <a:p>
            <a:pPr>
              <a:lnSpc>
                <a:spcPct val="90000"/>
              </a:lnSpc>
              <a:buFont typeface="Courier New" panose="02070309020205020404" pitchFamily="49" charset="0"/>
              <a:buChar char="o"/>
            </a:pP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4" name="Picture 3" descr="Diagram&#10;&#10;Description automatically generated">
            <a:extLst>
              <a:ext uri="{FF2B5EF4-FFF2-40B4-BE49-F238E27FC236}">
                <a16:creationId xmlns:a16="http://schemas.microsoft.com/office/drawing/2014/main" id="{09B8CBFA-369C-48C4-A012-D6955A0931BC}"/>
              </a:ext>
            </a:extLst>
          </p:cNvPr>
          <p:cNvPicPr>
            <a:picLocks noChangeAspect="1"/>
          </p:cNvPicPr>
          <p:nvPr/>
        </p:nvPicPr>
        <p:blipFill>
          <a:blip r:embed="rId3"/>
          <a:stretch>
            <a:fillRect/>
          </a:stretch>
        </p:blipFill>
        <p:spPr>
          <a:xfrm>
            <a:off x="3068400" y="1824637"/>
            <a:ext cx="3892696" cy="3212307"/>
          </a:xfrm>
          <a:prstGeom prst="rect">
            <a:avLst/>
          </a:prstGeom>
        </p:spPr>
      </p:pic>
      <p:sp>
        <p:nvSpPr>
          <p:cNvPr id="10" name="TextBox 9">
            <a:extLst>
              <a:ext uri="{FF2B5EF4-FFF2-40B4-BE49-F238E27FC236}">
                <a16:creationId xmlns:a16="http://schemas.microsoft.com/office/drawing/2014/main" id="{BDE0E188-9F51-4642-AA57-24F05AFA3557}"/>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113157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745E0AA3-6DAB-4DE0-A1AF-B63C03B63C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4D3014AE-FC79-4D65-AC15-85A4BBCBC7A2}"/>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6" name="Rectangle 1027">
            <a:extLst>
              <a:ext uri="{FF2B5EF4-FFF2-40B4-BE49-F238E27FC236}">
                <a16:creationId xmlns:a16="http://schemas.microsoft.com/office/drawing/2014/main" id="{E2263CE6-897D-46C0-9305-C03576D64DA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solidFill>
                  <a:srgbClr val="FFC000"/>
                </a:solidFill>
              </a:rPr>
              <a:t>Orthometric Height (H)</a:t>
            </a:r>
          </a:p>
          <a:p>
            <a:pPr lvl="1">
              <a:lnSpc>
                <a:spcPct val="90000"/>
              </a:lnSpc>
              <a:buFont typeface="Wingdings" panose="05000000000000000000" pitchFamily="2" charset="2"/>
              <a:buChar char="ü"/>
            </a:pPr>
            <a:r>
              <a:rPr lang="en-US" sz="2440" dirty="0"/>
              <a:t>Height above geoid</a:t>
            </a:r>
          </a:p>
          <a:p>
            <a:pPr>
              <a:lnSpc>
                <a:spcPct val="90000"/>
              </a:lnSpc>
              <a:buFont typeface="Courier New" panose="02070309020205020404" pitchFamily="49" charset="0"/>
              <a:buChar char="o"/>
            </a:pPr>
            <a:r>
              <a:rPr lang="en-US" sz="2800" dirty="0">
                <a:solidFill>
                  <a:srgbClr val="FFC000"/>
                </a:solidFill>
              </a:rPr>
              <a:t>Ellipsoidal Height (h)</a:t>
            </a:r>
          </a:p>
          <a:p>
            <a:pPr lvl="1">
              <a:lnSpc>
                <a:spcPct val="90000"/>
              </a:lnSpc>
              <a:buFont typeface="Wingdings" panose="05000000000000000000" pitchFamily="2" charset="2"/>
              <a:buChar char="ü"/>
            </a:pPr>
            <a:r>
              <a:rPr lang="en-US" sz="2440" dirty="0"/>
              <a:t>height above ellipsoid</a:t>
            </a:r>
          </a:p>
          <a:p>
            <a:pPr>
              <a:lnSpc>
                <a:spcPct val="90000"/>
              </a:lnSpc>
              <a:buFont typeface="Courier New" panose="02070309020205020404" pitchFamily="49" charset="0"/>
              <a:buChar char="o"/>
            </a:pPr>
            <a:r>
              <a:rPr lang="en-US" sz="2800" dirty="0">
                <a:solidFill>
                  <a:srgbClr val="FFC000"/>
                </a:solidFill>
              </a:rPr>
              <a:t>Geoid Height (N)</a:t>
            </a:r>
          </a:p>
          <a:p>
            <a:pPr lvl="1">
              <a:lnSpc>
                <a:spcPct val="90000"/>
              </a:lnSpc>
              <a:buFont typeface="Wingdings" panose="05000000000000000000" pitchFamily="2" charset="2"/>
              <a:buChar char="ü"/>
            </a:pPr>
            <a:r>
              <a:rPr lang="en-US" sz="2440" dirty="0"/>
              <a:t>Geoid above ellipsoid</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18" name="Picture 17">
            <a:extLst>
              <a:ext uri="{FF2B5EF4-FFF2-40B4-BE49-F238E27FC236}">
                <a16:creationId xmlns:a16="http://schemas.microsoft.com/office/drawing/2014/main" id="{41003C48-1D28-4238-8FA8-29BD770C42C0}"/>
              </a:ext>
            </a:extLst>
          </p:cNvPr>
          <p:cNvPicPr>
            <a:picLocks noChangeAspect="1"/>
          </p:cNvPicPr>
          <p:nvPr/>
        </p:nvPicPr>
        <p:blipFill>
          <a:blip r:embed="rId3"/>
          <a:stretch>
            <a:fillRect/>
          </a:stretch>
        </p:blipFill>
        <p:spPr>
          <a:xfrm>
            <a:off x="1420838" y="3810733"/>
            <a:ext cx="1019175" cy="285750"/>
          </a:xfrm>
          <a:prstGeom prst="rect">
            <a:avLst/>
          </a:prstGeom>
        </p:spPr>
      </p:pic>
      <p:sp>
        <p:nvSpPr>
          <p:cNvPr id="2" name="Slide Number Placeholder 1">
            <a:extLst>
              <a:ext uri="{FF2B5EF4-FFF2-40B4-BE49-F238E27FC236}">
                <a16:creationId xmlns:a16="http://schemas.microsoft.com/office/drawing/2014/main" id="{F28F32C1-1953-4541-AC77-8091FA83AA4D}"/>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4" name="Picture 3" descr="Diagram&#10;&#10;Description automatically generated">
            <a:extLst>
              <a:ext uri="{FF2B5EF4-FFF2-40B4-BE49-F238E27FC236}">
                <a16:creationId xmlns:a16="http://schemas.microsoft.com/office/drawing/2014/main" id="{64D5F0B1-914F-4490-AAAB-E8958313837C}"/>
              </a:ext>
            </a:extLst>
          </p:cNvPr>
          <p:cNvPicPr>
            <a:picLocks noChangeAspect="1"/>
          </p:cNvPicPr>
          <p:nvPr/>
        </p:nvPicPr>
        <p:blipFill>
          <a:blip r:embed="rId4"/>
          <a:stretch>
            <a:fillRect/>
          </a:stretch>
        </p:blipFill>
        <p:spPr>
          <a:xfrm>
            <a:off x="3941258" y="2635540"/>
            <a:ext cx="3985601" cy="1920554"/>
          </a:xfrm>
          <a:prstGeom prst="rect">
            <a:avLst/>
          </a:prstGeom>
        </p:spPr>
      </p:pic>
      <p:sp>
        <p:nvSpPr>
          <p:cNvPr id="14" name="TextBox 13">
            <a:extLst>
              <a:ext uri="{FF2B5EF4-FFF2-40B4-BE49-F238E27FC236}">
                <a16:creationId xmlns:a16="http://schemas.microsoft.com/office/drawing/2014/main" id="{6CE91868-3D79-40E7-A688-BC36B47775C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015375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745E0AA3-6DAB-4DE0-A1AF-B63C03B63C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4D3014AE-FC79-4D65-AC15-85A4BBCBC7A2}"/>
              </a:ext>
            </a:extLst>
          </p:cNvPr>
          <p:cNvSpPr txBox="1">
            <a:spLocks/>
          </p:cNvSpPr>
          <p:nvPr/>
        </p:nvSpPr>
        <p:spPr>
          <a:xfrm>
            <a:off x="118533" y="3193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6" name="Rectangle 1027">
            <a:extLst>
              <a:ext uri="{FF2B5EF4-FFF2-40B4-BE49-F238E27FC236}">
                <a16:creationId xmlns:a16="http://schemas.microsoft.com/office/drawing/2014/main" id="{E2263CE6-897D-46C0-9305-C03576D64DA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solidFill>
                  <a:srgbClr val="FFC000"/>
                </a:solidFill>
              </a:rPr>
              <a:t>Orthometric Height (H)</a:t>
            </a:r>
          </a:p>
          <a:p>
            <a:pPr lvl="1">
              <a:lnSpc>
                <a:spcPct val="90000"/>
              </a:lnSpc>
              <a:buFont typeface="Wingdings" panose="05000000000000000000" pitchFamily="2" charset="2"/>
              <a:buChar char="ü"/>
            </a:pPr>
            <a:r>
              <a:rPr lang="en-US" sz="2440" dirty="0"/>
              <a:t>Height above geoid</a:t>
            </a:r>
          </a:p>
          <a:p>
            <a:pPr>
              <a:lnSpc>
                <a:spcPct val="90000"/>
              </a:lnSpc>
              <a:buFont typeface="Courier New" panose="02070309020205020404" pitchFamily="49" charset="0"/>
              <a:buChar char="o"/>
            </a:pPr>
            <a:r>
              <a:rPr lang="en-US" sz="2800" dirty="0">
                <a:solidFill>
                  <a:srgbClr val="FFC000"/>
                </a:solidFill>
              </a:rPr>
              <a:t>Ellipsoidal Height (h)</a:t>
            </a:r>
          </a:p>
          <a:p>
            <a:pPr lvl="1">
              <a:lnSpc>
                <a:spcPct val="90000"/>
              </a:lnSpc>
              <a:buFont typeface="Wingdings" panose="05000000000000000000" pitchFamily="2" charset="2"/>
              <a:buChar char="ü"/>
            </a:pPr>
            <a:r>
              <a:rPr lang="en-US" sz="2440" dirty="0"/>
              <a:t>height above ellipsoid</a:t>
            </a:r>
          </a:p>
          <a:p>
            <a:pPr>
              <a:lnSpc>
                <a:spcPct val="90000"/>
              </a:lnSpc>
              <a:buFont typeface="Courier New" panose="02070309020205020404" pitchFamily="49" charset="0"/>
              <a:buChar char="o"/>
            </a:pPr>
            <a:r>
              <a:rPr lang="en-US" sz="2800" dirty="0">
                <a:solidFill>
                  <a:srgbClr val="FFC000"/>
                </a:solidFill>
              </a:rPr>
              <a:t>Geoid Height (N)</a:t>
            </a:r>
          </a:p>
          <a:p>
            <a:pPr lvl="1">
              <a:lnSpc>
                <a:spcPct val="90000"/>
              </a:lnSpc>
              <a:buFont typeface="Wingdings" panose="05000000000000000000" pitchFamily="2" charset="2"/>
              <a:buChar char="ü"/>
            </a:pPr>
            <a:r>
              <a:rPr lang="en-US" sz="2440" dirty="0"/>
              <a:t>Geoid above ellipsoid</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18" name="Picture 17">
            <a:extLst>
              <a:ext uri="{FF2B5EF4-FFF2-40B4-BE49-F238E27FC236}">
                <a16:creationId xmlns:a16="http://schemas.microsoft.com/office/drawing/2014/main" id="{41003C48-1D28-4238-8FA8-29BD770C42C0}"/>
              </a:ext>
            </a:extLst>
          </p:cNvPr>
          <p:cNvPicPr>
            <a:picLocks noChangeAspect="1"/>
          </p:cNvPicPr>
          <p:nvPr/>
        </p:nvPicPr>
        <p:blipFill>
          <a:blip r:embed="rId3"/>
          <a:stretch>
            <a:fillRect/>
          </a:stretch>
        </p:blipFill>
        <p:spPr>
          <a:xfrm>
            <a:off x="1420838" y="3810733"/>
            <a:ext cx="1019175" cy="285750"/>
          </a:xfrm>
          <a:prstGeom prst="rect">
            <a:avLst/>
          </a:prstGeom>
        </p:spPr>
      </p:pic>
      <p:sp>
        <p:nvSpPr>
          <p:cNvPr id="2" name="Slide Number Placeholder 1">
            <a:extLst>
              <a:ext uri="{FF2B5EF4-FFF2-40B4-BE49-F238E27FC236}">
                <a16:creationId xmlns:a16="http://schemas.microsoft.com/office/drawing/2014/main" id="{F28F32C1-1953-4541-AC77-8091FA83AA4D}"/>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14" name="TextBox 13">
            <a:extLst>
              <a:ext uri="{FF2B5EF4-FFF2-40B4-BE49-F238E27FC236}">
                <a16:creationId xmlns:a16="http://schemas.microsoft.com/office/drawing/2014/main" id="{6CE91868-3D79-40E7-A688-BC36B47775C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nature&#10;&#10;Description automatically generated">
            <a:extLst>
              <a:ext uri="{FF2B5EF4-FFF2-40B4-BE49-F238E27FC236}">
                <a16:creationId xmlns:a16="http://schemas.microsoft.com/office/drawing/2014/main" id="{5EFE6611-8F72-452D-AD71-26BBEEE2BEAC}"/>
              </a:ext>
            </a:extLst>
          </p:cNvPr>
          <p:cNvPicPr>
            <a:picLocks noChangeAspect="1"/>
          </p:cNvPicPr>
          <p:nvPr/>
        </p:nvPicPr>
        <p:blipFill>
          <a:blip r:embed="rId4"/>
          <a:stretch>
            <a:fillRect/>
          </a:stretch>
        </p:blipFill>
        <p:spPr>
          <a:xfrm>
            <a:off x="4055642" y="2502628"/>
            <a:ext cx="3871217" cy="2218682"/>
          </a:xfrm>
          <a:prstGeom prst="rect">
            <a:avLst/>
          </a:prstGeom>
        </p:spPr>
      </p:pic>
    </p:spTree>
    <p:extLst>
      <p:ext uri="{BB962C8B-B14F-4D97-AF65-F5344CB8AC3E}">
        <p14:creationId xmlns:p14="http://schemas.microsoft.com/office/powerpoint/2010/main" val="461385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B4DB0BA8-71AC-4495-9AC5-ACEFECE1E3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NGVD29: National Geodetic Vertical Datum of 1929</a:t>
            </a:r>
          </a:p>
          <a:p>
            <a:pPr lvl="1">
              <a:lnSpc>
                <a:spcPct val="90000"/>
              </a:lnSpc>
              <a:buFont typeface="Wingdings" panose="05000000000000000000" pitchFamily="2" charset="2"/>
              <a:buChar char="ü"/>
            </a:pPr>
            <a:r>
              <a:rPr lang="en-US" sz="2440" dirty="0"/>
              <a:t>No geoid, mean sea level</a:t>
            </a:r>
          </a:p>
          <a:p>
            <a:pPr>
              <a:lnSpc>
                <a:spcPct val="90000"/>
              </a:lnSpc>
              <a:buFont typeface="Courier New" panose="02070309020205020404" pitchFamily="49" charset="0"/>
              <a:buChar char="o"/>
            </a:pPr>
            <a:r>
              <a:rPr lang="en-US" sz="2800" dirty="0"/>
              <a:t>NAVD88: North American Vertical Datum of 1988 (NAVD88)</a:t>
            </a:r>
          </a:p>
          <a:p>
            <a:pPr lvl="1">
              <a:lnSpc>
                <a:spcPct val="90000"/>
              </a:lnSpc>
              <a:buFont typeface="Wingdings" panose="05000000000000000000" pitchFamily="2" charset="2"/>
              <a:buChar char="ü"/>
            </a:pPr>
            <a:r>
              <a:rPr lang="en-US" sz="2440" dirty="0"/>
              <a:t>GEOID03, GEOID09, GEOID12B</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vertical 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extLst>
      <p:ext uri="{BB962C8B-B14F-4D97-AF65-F5344CB8AC3E}">
        <p14:creationId xmlns:p14="http://schemas.microsoft.com/office/powerpoint/2010/main" val="411539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vertical 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6" name="Picture 5" descr="Text&#10;&#10;Description automatically generated">
            <a:extLst>
              <a:ext uri="{FF2B5EF4-FFF2-40B4-BE49-F238E27FC236}">
                <a16:creationId xmlns:a16="http://schemas.microsoft.com/office/drawing/2014/main" id="{30C37468-DE9B-42C6-993A-67D3A12115FE}"/>
              </a:ext>
            </a:extLst>
          </p:cNvPr>
          <p:cNvPicPr>
            <a:picLocks noChangeAspect="1"/>
          </p:cNvPicPr>
          <p:nvPr/>
        </p:nvPicPr>
        <p:blipFill>
          <a:blip r:embed="rId3"/>
          <a:stretch>
            <a:fillRect/>
          </a:stretch>
        </p:blipFill>
        <p:spPr>
          <a:xfrm>
            <a:off x="3977640" y="1188770"/>
            <a:ext cx="1920240" cy="3715415"/>
          </a:xfrm>
          <a:prstGeom prst="rect">
            <a:avLst/>
          </a:prstGeom>
        </p:spPr>
      </p:pic>
      <p:sp>
        <p:nvSpPr>
          <p:cNvPr id="8" name="Rectangle 1027">
            <a:extLst>
              <a:ext uri="{FF2B5EF4-FFF2-40B4-BE49-F238E27FC236}">
                <a16:creationId xmlns:a16="http://schemas.microsoft.com/office/drawing/2014/main" id="{5E7CC563-6B5C-41EA-9C3D-76E343DE1D41}"/>
              </a:ext>
            </a:extLst>
          </p:cNvPr>
          <p:cNvSpPr txBox="1">
            <a:spLocks noChangeArrowheads="1"/>
          </p:cNvSpPr>
          <p:nvPr/>
        </p:nvSpPr>
        <p:spPr>
          <a:xfrm>
            <a:off x="302741" y="1029962"/>
            <a:ext cx="3340128" cy="2924199"/>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Pairing for horizontal and vertical datums for North America</a:t>
            </a:r>
            <a:endParaRPr lang="en-US" sz="2440" dirty="0"/>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Tree>
    <p:extLst>
      <p:ext uri="{BB962C8B-B14F-4D97-AF65-F5344CB8AC3E}">
        <p14:creationId xmlns:p14="http://schemas.microsoft.com/office/powerpoint/2010/main" val="4169342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75484" y="996981"/>
            <a:ext cx="5505525" cy="4026344"/>
          </a:xfrm>
          <a:prstGeom prst="rect">
            <a:avLst/>
          </a:prstGeom>
        </p:spPr>
      </p:pic>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Datum/Projection Info in ArcGIS</a:t>
            </a:r>
            <a:endParaRPr lang="en-US" sz="2600" dirty="0">
              <a:solidFill>
                <a:srgbClr val="7030A0"/>
              </a:solidFill>
            </a:endParaRPr>
          </a:p>
        </p:txBody>
      </p:sp>
      <p:sp>
        <p:nvSpPr>
          <p:cNvPr id="2" name="TextBox 1">
            <a:extLst>
              <a:ext uri="{FF2B5EF4-FFF2-40B4-BE49-F238E27FC236}">
                <a16:creationId xmlns:a16="http://schemas.microsoft.com/office/drawing/2014/main" id="{E65D8217-5B5E-4B85-9D24-AF2904AC7D83}"/>
              </a:ext>
            </a:extLst>
          </p:cNvPr>
          <p:cNvSpPr txBox="1"/>
          <p:nvPr/>
        </p:nvSpPr>
        <p:spPr>
          <a:xfrm>
            <a:off x="7018638" y="4275438"/>
            <a:ext cx="976184" cy="369332"/>
          </a:xfrm>
          <a:prstGeom prst="rect">
            <a:avLst/>
          </a:prstGeom>
          <a:noFill/>
        </p:spPr>
        <p:txBody>
          <a:bodyPr wrap="square" rtlCol="0">
            <a:spAutoFit/>
          </a:bodyPr>
          <a:lstStyle/>
          <a:p>
            <a:r>
              <a:rPr lang="en-US" dirty="0" err="1"/>
              <a:t>ArcPro</a:t>
            </a:r>
            <a:endParaRPr lang="en-US" dirty="0"/>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1862205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39BCE360-8580-4F4B-8587-5E8B64E7D405}"/>
              </a:ext>
            </a:extLst>
          </p:cNvPr>
          <p:cNvSpPr txBox="1">
            <a:spLocks noChangeArrowheads="1"/>
          </p:cNvSpPr>
          <p:nvPr/>
        </p:nvSpPr>
        <p:spPr>
          <a:xfrm>
            <a:off x="302741" y="1029962"/>
            <a:ext cx="5677929"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Coordinates on a Sphere</a:t>
            </a:r>
          </a:p>
          <a:p>
            <a:pPr lvl="1">
              <a:buFont typeface="Wingdings" panose="05000000000000000000" pitchFamily="2" charset="2"/>
              <a:buChar char="ü"/>
            </a:pPr>
            <a:r>
              <a:rPr lang="en-US" altLang="en-US" sz="2160" dirty="0"/>
              <a:t>Latitude and Longitude</a:t>
            </a:r>
          </a:p>
          <a:p>
            <a:pPr lvl="1">
              <a:buFont typeface="Wingdings" panose="05000000000000000000" pitchFamily="2" charset="2"/>
              <a:buChar char="ü"/>
            </a:pPr>
            <a:r>
              <a:rPr lang="en-US" altLang="en-US" sz="2160" dirty="0"/>
              <a:t>Specified as angles or degrees</a:t>
            </a:r>
          </a:p>
          <a:p>
            <a:pPr marL="308610" lvl="1" indent="-308610">
              <a:buFont typeface="Courier New" panose="02070309020205020404" pitchFamily="49" charset="0"/>
              <a:buChar char="o"/>
            </a:pPr>
            <a:r>
              <a:rPr lang="en-US" altLang="en-US" sz="2600" dirty="0"/>
              <a:t>Latitude: Angles from equator</a:t>
            </a:r>
          </a:p>
          <a:p>
            <a:pPr marL="817245" lvl="2" indent="-457200">
              <a:buFont typeface="Wingdings" panose="05000000000000000000" pitchFamily="2" charset="2"/>
              <a:buChar char="ü"/>
            </a:pPr>
            <a:r>
              <a:rPr lang="en-US" altLang="en-US" sz="2240" dirty="0"/>
              <a:t>Range 0-90 N/S</a:t>
            </a:r>
          </a:p>
          <a:p>
            <a:pPr marL="308610" lvl="1" indent="-308610">
              <a:buFont typeface="Courier New" panose="02070309020205020404" pitchFamily="49" charset="0"/>
              <a:buChar char="o"/>
            </a:pPr>
            <a:r>
              <a:rPr lang="en-US" altLang="en-US" sz="2600" dirty="0"/>
              <a:t>Longitude: Angles from prime meridian</a:t>
            </a:r>
          </a:p>
          <a:p>
            <a:pPr marL="817245" lvl="2" indent="-457200">
              <a:buFont typeface="Wingdings" panose="05000000000000000000" pitchFamily="2" charset="2"/>
              <a:buChar char="ü"/>
            </a:pPr>
            <a:r>
              <a:rPr lang="en-US" altLang="en-US" sz="2240" dirty="0"/>
              <a:t>Range 0-180 E/W</a:t>
            </a:r>
          </a:p>
          <a:p>
            <a:pPr marL="0" lvl="1" indent="0">
              <a:buNone/>
            </a:pPr>
            <a:endParaRPr lang="en-US" altLang="en-US" sz="2600" dirty="0"/>
          </a:p>
          <a:p>
            <a:pPr marL="411480" lvl="1" indent="0">
              <a:buNone/>
            </a:pPr>
            <a:endParaRPr lang="en-US" altLang="en-US" sz="2160" dirty="0"/>
          </a:p>
        </p:txBody>
      </p:sp>
      <p:cxnSp>
        <p:nvCxnSpPr>
          <p:cNvPr id="9" name="Straight Connector 8">
            <a:extLst>
              <a:ext uri="{FF2B5EF4-FFF2-40B4-BE49-F238E27FC236}">
                <a16:creationId xmlns:a16="http://schemas.microsoft.com/office/drawing/2014/main" id="{33F2CCBF-5E56-4834-8DA7-E3DBBBFB85A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A398380F-D3A4-4224-A979-1C20D39224A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pic>
        <p:nvPicPr>
          <p:cNvPr id="17" name="Picture 4" descr="Fig1_5">
            <a:extLst>
              <a:ext uri="{FF2B5EF4-FFF2-40B4-BE49-F238E27FC236}">
                <a16:creationId xmlns:a16="http://schemas.microsoft.com/office/drawing/2014/main" id="{182FF10D-FBD2-4D21-875A-451B50BAF47C}"/>
              </a:ext>
            </a:extLst>
          </p:cNvPr>
          <p:cNvPicPr>
            <a:picLocks noChangeAspect="1" noChangeArrowheads="1"/>
          </p:cNvPicPr>
          <p:nvPr/>
        </p:nvPicPr>
        <p:blipFill>
          <a:blip r:embed="rId3" cstate="print"/>
          <a:srcRect/>
          <a:stretch>
            <a:fillRect/>
          </a:stretch>
        </p:blipFill>
        <p:spPr>
          <a:xfrm>
            <a:off x="5834189" y="1018094"/>
            <a:ext cx="1862434" cy="4067601"/>
          </a:xfrm>
          <a:prstGeom prst="rect">
            <a:avLst/>
          </a:prstGeom>
          <a:noFill/>
          <a:ln/>
        </p:spPr>
      </p:pic>
      <p:sp>
        <p:nvSpPr>
          <p:cNvPr id="18" name="Footer Placeholder 8">
            <a:extLst>
              <a:ext uri="{FF2B5EF4-FFF2-40B4-BE49-F238E27FC236}">
                <a16:creationId xmlns:a16="http://schemas.microsoft.com/office/drawing/2014/main" id="{8026846C-FD1A-4037-A62E-82EFF84A6025}"/>
              </a:ext>
            </a:extLst>
          </p:cNvPr>
          <p:cNvSpPr txBox="1">
            <a:spLocks/>
          </p:cNvSpPr>
          <p:nvPr/>
        </p:nvSpPr>
        <p:spPr>
          <a:xfrm>
            <a:off x="302741" y="4753892"/>
            <a:ext cx="5105400" cy="365125"/>
          </a:xfrm>
          <a:prstGeom prst="rect">
            <a:avLst/>
          </a:prstGeom>
        </p:spPr>
        <p:txBody>
          <a:bodyPr vert="horz" lIns="91440" tIns="45720" rIns="91440" bIns="45720" rtlCol="0" anchor="ctr"/>
          <a:lstStyle>
            <a:defPPr>
              <a:defRPr lang="en-US"/>
            </a:defPPr>
            <a:lvl1pPr marL="0" algn="ctr" defTabSz="457200" rtl="0" eaLnBrk="1" latinLnBrk="0" hangingPunct="1">
              <a:defRPr sz="108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lang="en-US" sz="1000" dirty="0">
                <a:solidFill>
                  <a:srgbClr val="7030A0"/>
                </a:solidFill>
                <a:ea typeface="ＭＳ Ｐゴシック" charset="-128"/>
              </a:rPr>
              <a:t>© 2013 by John Wiley &amp; Sons, Inc. All rights reserved.</a:t>
            </a:r>
          </a:p>
        </p:txBody>
      </p:sp>
      <p:sp>
        <p:nvSpPr>
          <p:cNvPr id="2" name="Slide Number Placeholder 1">
            <a:extLst>
              <a:ext uri="{FF2B5EF4-FFF2-40B4-BE49-F238E27FC236}">
                <a16:creationId xmlns:a16="http://schemas.microsoft.com/office/drawing/2014/main" id="{0C16B96D-0A24-49CC-8284-5913A6421139}"/>
              </a:ext>
            </a:extLst>
          </p:cNvPr>
          <p:cNvSpPr>
            <a:spLocks noGrp="1"/>
          </p:cNvSpPr>
          <p:nvPr>
            <p:ph type="sldNum" sz="quarter" idx="12"/>
          </p:nvPr>
        </p:nvSpPr>
        <p:spPr/>
        <p:txBody>
          <a:bodyPr/>
          <a:lstStyle/>
          <a:p>
            <a:fld id="{127DDC20-79C9-9647-820E-6D40A3D210C3}" type="slidenum">
              <a:rPr lang="en-US" smtClean="0"/>
              <a:pPr/>
              <a:t>18</a:t>
            </a:fld>
            <a:endParaRPr lang="en-US"/>
          </a:p>
        </p:txBody>
      </p:sp>
    </p:spTree>
    <p:extLst>
      <p:ext uri="{BB962C8B-B14F-4D97-AF65-F5344CB8AC3E}">
        <p14:creationId xmlns:p14="http://schemas.microsoft.com/office/powerpoint/2010/main" val="56808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3727" y="1663955"/>
            <a:ext cx="3781457" cy="1971927"/>
          </a:xfrm>
          <a:prstGeom prst="rect">
            <a:avLst/>
          </a:prstGeom>
          <a:solidFill>
            <a:schemeClr val="tx1"/>
          </a:solidFill>
        </p:spPr>
      </p:pic>
      <p:sp>
        <p:nvSpPr>
          <p:cNvPr id="9" name="TextBox 8"/>
          <p:cNvSpPr txBox="1"/>
          <p:nvPr/>
        </p:nvSpPr>
        <p:spPr>
          <a:xfrm>
            <a:off x="0" y="1326883"/>
            <a:ext cx="4113728" cy="3066160"/>
          </a:xfrm>
          <a:prstGeom prst="rect">
            <a:avLst/>
          </a:prstGeom>
          <a:noFill/>
        </p:spPr>
        <p:txBody>
          <a:bodyPr wrap="square" rtlCol="0">
            <a:spAutoFit/>
          </a:bodyPr>
          <a:lstStyle/>
          <a:p>
            <a:pPr marL="308610" indent="-308610" defTabSz="411480">
              <a:lnSpc>
                <a:spcPct val="90000"/>
              </a:lnSpc>
              <a:spcBef>
                <a:spcPct val="20000"/>
              </a:spcBef>
              <a:buFont typeface="Courier New" panose="02070309020205020404" pitchFamily="49" charset="0"/>
              <a:buChar char="o"/>
            </a:pPr>
            <a:r>
              <a:rPr lang="en-US" sz="2600" dirty="0"/>
              <a:t>Latitude (Parallels):</a:t>
            </a:r>
          </a:p>
          <a:p>
            <a:pPr marL="668655" lvl="1" indent="-257175" defTabSz="411480">
              <a:lnSpc>
                <a:spcPct val="90000"/>
              </a:lnSpc>
              <a:spcBef>
                <a:spcPct val="20000"/>
              </a:spcBef>
              <a:buFont typeface="Wingdings" panose="05000000000000000000" pitchFamily="2" charset="2"/>
              <a:buChar char="ü"/>
            </a:pPr>
            <a:r>
              <a:rPr lang="en-US" sz="2160" dirty="0"/>
              <a:t>Measures north to south</a:t>
            </a:r>
          </a:p>
          <a:p>
            <a:pPr marL="668655" lvl="1" indent="-257175" defTabSz="411480">
              <a:lnSpc>
                <a:spcPct val="90000"/>
              </a:lnSpc>
              <a:spcBef>
                <a:spcPct val="20000"/>
              </a:spcBef>
              <a:buFont typeface="Wingdings" panose="05000000000000000000" pitchFamily="2" charset="2"/>
              <a:buChar char="ü"/>
            </a:pPr>
            <a:r>
              <a:rPr lang="en-US" sz="2160" dirty="0"/>
              <a:t>90° in each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north in the northern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south in the southern hemisphere</a:t>
            </a:r>
          </a:p>
          <a:p>
            <a:pPr marL="668655" lvl="1" indent="-257175" defTabSz="411480">
              <a:lnSpc>
                <a:spcPct val="90000"/>
              </a:lnSpc>
              <a:spcBef>
                <a:spcPct val="20000"/>
              </a:spcBef>
              <a:buFont typeface="Wingdings" panose="05000000000000000000" pitchFamily="2" charset="2"/>
              <a:buChar char="ü"/>
            </a:pPr>
            <a:r>
              <a:rPr lang="en-US" sz="2160" dirty="0"/>
              <a:t>Zero in Equator</a:t>
            </a:r>
          </a:p>
          <a:p>
            <a:pPr>
              <a:lnSpc>
                <a:spcPct val="90000"/>
              </a:lnSpc>
            </a:pPr>
            <a:endParaRPr lang="en-US" sz="1350" dirty="0"/>
          </a:p>
        </p:txBody>
      </p:sp>
      <p:sp>
        <p:nvSpPr>
          <p:cNvPr id="2" name="Rectangle 1"/>
          <p:cNvSpPr/>
          <p:nvPr/>
        </p:nvSpPr>
        <p:spPr>
          <a:xfrm>
            <a:off x="4138380" y="4556416"/>
            <a:ext cx="3781458" cy="587084"/>
          </a:xfrm>
          <a:prstGeom prst="rect">
            <a:avLst/>
          </a:prstGeom>
        </p:spPr>
        <p:txBody>
          <a:bodyPr wrap="square">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87847239-2B7C-40FC-B8C2-ED600088FD75}"/>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extLst>
      <p:ext uri="{BB962C8B-B14F-4D97-AF65-F5344CB8AC3E}">
        <p14:creationId xmlns:p14="http://schemas.microsoft.com/office/powerpoint/2010/main" val="321550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8473" y="1478471"/>
            <a:ext cx="4193044" cy="2186558"/>
          </a:xfrm>
          <a:prstGeom prst="rect">
            <a:avLst/>
          </a:prstGeom>
          <a:solidFill>
            <a:schemeClr val="tx1"/>
          </a:solidFill>
        </p:spPr>
      </p:pic>
      <p:sp>
        <p:nvSpPr>
          <p:cNvPr id="9" name="TextBox 8"/>
          <p:cNvSpPr txBox="1"/>
          <p:nvPr/>
        </p:nvSpPr>
        <p:spPr>
          <a:xfrm>
            <a:off x="118533" y="940435"/>
            <a:ext cx="3601388" cy="4309641"/>
          </a:xfrm>
          <a:prstGeom prst="rect">
            <a:avLst/>
          </a:prstGeom>
          <a:noFill/>
        </p:spPr>
        <p:txBody>
          <a:bodyPr wrap="square" rtlCol="0">
            <a:spAutoFit/>
          </a:bodyPr>
          <a:lstStyle/>
          <a:p>
            <a:pPr>
              <a:lnSpc>
                <a:spcPct val="90000"/>
              </a:lnSpc>
            </a:pPr>
            <a:endParaRPr lang="en-US" sz="1350" dirty="0"/>
          </a:p>
          <a:p>
            <a:pPr marL="308610" indent="-308610" defTabSz="411480">
              <a:lnSpc>
                <a:spcPct val="90000"/>
              </a:lnSpc>
              <a:spcBef>
                <a:spcPct val="20000"/>
              </a:spcBef>
              <a:buFont typeface="Courier New" panose="02070309020205020404" pitchFamily="49" charset="0"/>
              <a:buChar char="o"/>
            </a:pPr>
            <a:r>
              <a:rPr lang="en-US" sz="2600" dirty="0"/>
              <a:t>Longitude (Meridians)</a:t>
            </a:r>
          </a:p>
          <a:p>
            <a:pPr marL="800100" lvl="1" indent="-342900">
              <a:lnSpc>
                <a:spcPct val="90000"/>
              </a:lnSpc>
              <a:buFont typeface="Wingdings" panose="05000000000000000000" pitchFamily="2" charset="2"/>
              <a:buChar char="ü"/>
            </a:pPr>
            <a:r>
              <a:rPr lang="en-US" sz="2160" dirty="0"/>
              <a:t>Measures east to west</a:t>
            </a:r>
          </a:p>
          <a:p>
            <a:pPr marL="800100" lvl="1" indent="-342900">
              <a:lnSpc>
                <a:spcPct val="90000"/>
              </a:lnSpc>
              <a:buFont typeface="Wingdings" panose="05000000000000000000" pitchFamily="2" charset="2"/>
              <a:buChar char="ü"/>
            </a:pPr>
            <a:r>
              <a:rPr lang="en-US" sz="2160" dirty="0"/>
              <a:t>180° in each hemisphere</a:t>
            </a:r>
          </a:p>
          <a:p>
            <a:pPr marL="800100" lvl="1" indent="-342900">
              <a:lnSpc>
                <a:spcPct val="90000"/>
              </a:lnSpc>
              <a:buFont typeface="Wingdings" panose="05000000000000000000" pitchFamily="2" charset="2"/>
              <a:buChar char="ü"/>
            </a:pPr>
            <a:r>
              <a:rPr lang="en-US" sz="2160" dirty="0"/>
              <a:t>Increases as you go east in the eastern hemisphere</a:t>
            </a:r>
          </a:p>
          <a:p>
            <a:pPr marL="800100" lvl="1" indent="-342900">
              <a:lnSpc>
                <a:spcPct val="90000"/>
              </a:lnSpc>
              <a:buFont typeface="Wingdings" panose="05000000000000000000" pitchFamily="2" charset="2"/>
              <a:buChar char="ü"/>
            </a:pPr>
            <a:r>
              <a:rPr lang="en-US" sz="2160" dirty="0"/>
              <a:t>Increases as you go west in the western hemisphere</a:t>
            </a:r>
          </a:p>
          <a:p>
            <a:pPr marL="800100" lvl="1" indent="-342900">
              <a:lnSpc>
                <a:spcPct val="90000"/>
              </a:lnSpc>
              <a:buFont typeface="Wingdings" panose="05000000000000000000" pitchFamily="2" charset="2"/>
              <a:buChar char="ü"/>
            </a:pPr>
            <a:r>
              <a:rPr lang="en-US" sz="2160" dirty="0"/>
              <a:t>Zero is </a:t>
            </a:r>
            <a:r>
              <a:rPr lang="en-US" sz="2160" dirty="0">
                <a:solidFill>
                  <a:srgbClr val="7030A0"/>
                </a:solidFill>
              </a:rPr>
              <a:t>Prime Meridian, </a:t>
            </a:r>
            <a:r>
              <a:rPr lang="en-US" sz="2160" dirty="0"/>
              <a:t>going through Greenwich, England</a:t>
            </a:r>
          </a:p>
        </p:txBody>
      </p:sp>
      <p:sp>
        <p:nvSpPr>
          <p:cNvPr id="2" name="Rectangle 1"/>
          <p:cNvSpPr/>
          <p:nvPr/>
        </p:nvSpPr>
        <p:spPr>
          <a:xfrm>
            <a:off x="3806110" y="4165821"/>
            <a:ext cx="4113728" cy="587084"/>
          </a:xfrm>
          <a:prstGeom prst="rect">
            <a:avLst/>
          </a:prstGeom>
        </p:spPr>
        <p:txBody>
          <a:bodyPr>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BC5C1C7C-3351-4663-9B00-6707BE1B9C5A}"/>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356075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F0690D3F-1287-4907-82BD-8C9B2368ED8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1 Degree = 60 Minutes = 3600 Seconds</a:t>
            </a:r>
          </a:p>
          <a:p>
            <a:pPr lvl="1">
              <a:lnSpc>
                <a:spcPct val="90000"/>
              </a:lnSpc>
              <a:buFont typeface="Wingdings" panose="05000000000000000000" pitchFamily="2" charset="2"/>
              <a:buChar char="ü"/>
            </a:pPr>
            <a:r>
              <a:rPr lang="en-US" sz="2440" dirty="0"/>
              <a:t>˚ = Degrees</a:t>
            </a:r>
          </a:p>
          <a:p>
            <a:pPr lvl="1">
              <a:lnSpc>
                <a:spcPct val="90000"/>
              </a:lnSpc>
              <a:buFont typeface="Wingdings" panose="05000000000000000000" pitchFamily="2" charset="2"/>
              <a:buChar char="ü"/>
            </a:pPr>
            <a:r>
              <a:rPr lang="en-US" sz="2440" dirty="0"/>
              <a:t>‘ = Minutes</a:t>
            </a:r>
          </a:p>
          <a:p>
            <a:pPr lvl="1">
              <a:lnSpc>
                <a:spcPct val="90000"/>
              </a:lnSpc>
              <a:buFont typeface="Wingdings" panose="05000000000000000000" pitchFamily="2" charset="2"/>
              <a:buChar char="ü"/>
            </a:pPr>
            <a:r>
              <a:rPr lang="en-US" sz="2440" dirty="0"/>
              <a:t>“ = Seconds</a:t>
            </a:r>
          </a:p>
          <a:p>
            <a:pPr marL="411480" lvl="1" indent="0">
              <a:lnSpc>
                <a:spcPct val="90000"/>
              </a:lnSpc>
              <a:buNone/>
            </a:pPr>
            <a:r>
              <a:rPr lang="en-US" sz="2440" dirty="0"/>
              <a:t>1.5 ˚ =1 ˚ 0.5X60’= 1 ˚ 30’</a:t>
            </a:r>
          </a:p>
          <a:p>
            <a:pPr marL="411480" lvl="1" indent="0">
              <a:lnSpc>
                <a:spcPct val="90000"/>
              </a:lnSpc>
              <a:buNone/>
            </a:pPr>
            <a:r>
              <a:rPr lang="en-US" sz="2440" dirty="0"/>
              <a:t>1 ˚ 30’ = 1° + (30’/60’) = 1.5°</a:t>
            </a:r>
          </a:p>
          <a:p>
            <a:pPr marL="411480" lvl="1" indent="0">
              <a:lnSpc>
                <a:spcPct val="90000"/>
              </a:lnSpc>
              <a:buNone/>
            </a:pPr>
            <a:endParaRPr lang="en-US" sz="2440" dirty="0"/>
          </a:p>
          <a:p>
            <a:pPr marL="411480" lvl="1" indent="0">
              <a:lnSpc>
                <a:spcPct val="90000"/>
              </a:lnSpc>
              <a:buNone/>
            </a:pPr>
            <a:endParaRPr lang="en-US" sz="244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F2A322D7-BC21-4C11-B78A-E3379C2B16AD}"/>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EA923B1D-85AD-49E9-9586-7D3446AA4D4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F7053173-CEB8-45E8-8FE5-7B5941CA1507}"/>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464217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27">
            <a:extLst>
              <a:ext uri="{FF2B5EF4-FFF2-40B4-BE49-F238E27FC236}">
                <a16:creationId xmlns:a16="http://schemas.microsoft.com/office/drawing/2014/main" id="{7435645E-F332-4962-9C30-7E2B3B1E8757}"/>
              </a:ext>
            </a:extLst>
          </p:cNvPr>
          <p:cNvSpPr txBox="1">
            <a:spLocks noChangeArrowheads="1"/>
          </p:cNvSpPr>
          <p:nvPr/>
        </p:nvSpPr>
        <p:spPr>
          <a:xfrm>
            <a:off x="302741" y="1029962"/>
            <a:ext cx="4107894" cy="388620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Advantages:</a:t>
            </a:r>
          </a:p>
          <a:p>
            <a:pPr lvl="1">
              <a:buFont typeface="Wingdings" panose="05000000000000000000" pitchFamily="2" charset="2"/>
              <a:buChar char="ü"/>
            </a:pPr>
            <a:r>
              <a:rPr lang="en-US" altLang="en-US" sz="2160" dirty="0"/>
              <a:t>Accurate representation</a:t>
            </a:r>
          </a:p>
          <a:p>
            <a:pPr lvl="1">
              <a:buFont typeface="Wingdings" panose="05000000000000000000" pitchFamily="2" charset="2"/>
              <a:buChar char="ü"/>
            </a:pPr>
            <a:r>
              <a:rPr lang="en-US" altLang="en-US" sz="2160" dirty="0"/>
              <a:t>Latitude and longitude lines</a:t>
            </a:r>
          </a:p>
          <a:p>
            <a:pPr lvl="1">
              <a:buFont typeface="Wingdings" panose="05000000000000000000" pitchFamily="2" charset="2"/>
              <a:buChar char="ü"/>
            </a:pPr>
            <a:r>
              <a:rPr lang="en-US" altLang="en-US" sz="2160" dirty="0"/>
              <a:t>Without distortion</a:t>
            </a:r>
          </a:p>
          <a:p>
            <a:pPr marL="308610" lvl="1" indent="-308610">
              <a:buFont typeface="Courier New" panose="02070309020205020404" pitchFamily="49" charset="0"/>
              <a:buChar char="o"/>
            </a:pPr>
            <a:r>
              <a:rPr lang="en-US" altLang="en-US" sz="2600" dirty="0"/>
              <a:t>Disadvantages</a:t>
            </a:r>
          </a:p>
          <a:p>
            <a:pPr marL="817245" lvl="2" indent="-457200">
              <a:buFont typeface="Wingdings" panose="05000000000000000000" pitchFamily="2" charset="2"/>
              <a:buChar char="ü"/>
            </a:pPr>
            <a:r>
              <a:rPr lang="en-US" altLang="en-US" sz="2240" dirty="0"/>
              <a:t>Expensive to make</a:t>
            </a:r>
          </a:p>
          <a:p>
            <a:pPr marL="817245" lvl="2" indent="-457200">
              <a:buFont typeface="Wingdings" panose="05000000000000000000" pitchFamily="2" charset="2"/>
              <a:buChar char="ü"/>
            </a:pPr>
            <a:r>
              <a:rPr lang="en-US" altLang="en-US" sz="2240" dirty="0"/>
              <a:t>Cumbersome to handle and store</a:t>
            </a:r>
          </a:p>
          <a:p>
            <a:pPr marL="817245" lvl="2" indent="-457200">
              <a:buFont typeface="Wingdings" panose="05000000000000000000" pitchFamily="2" charset="2"/>
              <a:buChar char="ü"/>
            </a:pPr>
            <a:r>
              <a:rPr lang="en-US" altLang="en-US" sz="2240" dirty="0"/>
              <a:t>Difficult to measure distance</a:t>
            </a:r>
          </a:p>
          <a:p>
            <a:pPr marL="817245" lvl="2" indent="-457200">
              <a:buFont typeface="Wingdings" panose="05000000000000000000" pitchFamily="2" charset="2"/>
              <a:buChar char="ü"/>
            </a:pPr>
            <a:r>
              <a:rPr lang="en-US" altLang="en-US" sz="2240" dirty="0"/>
              <a:t>Not fully visible at one view</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BAF570F0-51AD-4159-BFD1-24845160EA17}"/>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pic>
        <p:nvPicPr>
          <p:cNvPr id="5" name="Picture 4"/>
          <p:cNvPicPr>
            <a:picLocks noChangeAspect="1"/>
          </p:cNvPicPr>
          <p:nvPr/>
        </p:nvPicPr>
        <p:blipFill>
          <a:blip r:embed="rId3"/>
          <a:stretch>
            <a:fillRect/>
          </a:stretch>
        </p:blipFill>
        <p:spPr>
          <a:xfrm>
            <a:off x="4541217" y="1439886"/>
            <a:ext cx="3111949" cy="2643161"/>
          </a:xfrm>
          <a:prstGeom prst="rect">
            <a:avLst/>
          </a:prstGeom>
        </p:spPr>
      </p:pic>
      <p:sp>
        <p:nvSpPr>
          <p:cNvPr id="6" name="TextBox 5"/>
          <p:cNvSpPr txBox="1"/>
          <p:nvPr/>
        </p:nvSpPr>
        <p:spPr>
          <a:xfrm>
            <a:off x="4680732" y="4180707"/>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cxnSp>
        <p:nvCxnSpPr>
          <p:cNvPr id="8" name="Straight Connector 7">
            <a:extLst>
              <a:ext uri="{FF2B5EF4-FFF2-40B4-BE49-F238E27FC236}">
                <a16:creationId xmlns:a16="http://schemas.microsoft.com/office/drawing/2014/main" id="{017C9FB0-1B18-4D9E-8F65-6B1A2DC2284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06C726F-532B-4100-B463-9107D18091E9}"/>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690034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 2-1</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23</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095911"/>
            <a:ext cx="7665720" cy="2246769"/>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NGS Coordinate Conversion and Transformation Tool ( NCAT) available from the U.S. NOAA/NGS website (</a:t>
            </a:r>
            <a:r>
              <a:rPr lang="en-US" sz="2000" dirty="0">
                <a:hlinkClick r:id="rId3"/>
              </a:rPr>
              <a:t>https://www.ngs.noaa.gov/NCAT/index.xhtml;jsessionid=9190FFFE418DF889CAB0942A91BA7B9F</a:t>
            </a:r>
            <a:r>
              <a:rPr lang="en-US" sz="2000" dirty="0"/>
              <a:t>) to convert the locations between different horizontal datums. And discuss:</a:t>
            </a:r>
          </a:p>
          <a:p>
            <a:pPr marL="800100" lvl="1" indent="-342900">
              <a:buFont typeface="Wingdings" panose="05000000000000000000" pitchFamily="2" charset="2"/>
              <a:buChar char="ü"/>
            </a:pPr>
            <a:r>
              <a:rPr lang="en-US" sz="2000" dirty="0"/>
              <a:t>What are your converted lats/</a:t>
            </a:r>
            <a:r>
              <a:rPr lang="en-US" sz="2000" dirty="0" err="1"/>
              <a:t>lons</a:t>
            </a:r>
            <a:r>
              <a:rPr lang="en-US" sz="2000" dirty="0"/>
              <a:t>? </a:t>
            </a:r>
          </a:p>
          <a:p>
            <a:pPr marL="800100" lvl="1" indent="-342900">
              <a:buFont typeface="Wingdings" panose="05000000000000000000" pitchFamily="2" charset="2"/>
              <a:buChar char="ü"/>
            </a:pPr>
            <a:r>
              <a:rPr lang="en-US" sz="2000" dirty="0"/>
              <a:t>Are the locations different with different datums?</a:t>
            </a:r>
          </a:p>
        </p:txBody>
      </p:sp>
      <p:sp>
        <p:nvSpPr>
          <p:cNvPr id="2" name="TextBox 1">
            <a:extLst>
              <a:ext uri="{FF2B5EF4-FFF2-40B4-BE49-F238E27FC236}">
                <a16:creationId xmlns:a16="http://schemas.microsoft.com/office/drawing/2014/main" id="{579614B1-16D6-4C40-8C27-5C9B86F4D76A}"/>
              </a:ext>
            </a:extLst>
          </p:cNvPr>
          <p:cNvSpPr txBox="1"/>
          <p:nvPr/>
        </p:nvSpPr>
        <p:spPr>
          <a:xfrm>
            <a:off x="645460" y="3342680"/>
            <a:ext cx="6586483" cy="1754326"/>
          </a:xfrm>
          <a:prstGeom prst="rect">
            <a:avLst/>
          </a:prstGeom>
          <a:noFill/>
        </p:spPr>
        <p:txBody>
          <a:bodyPr wrap="none" rtlCol="0">
            <a:spAutoFit/>
          </a:bodyPr>
          <a:lstStyle/>
          <a:p>
            <a:pPr marL="285750" indent="-285750">
              <a:buFont typeface="Wingdings" panose="05000000000000000000" pitchFamily="2" charset="2"/>
              <a:buChar char="ü"/>
            </a:pPr>
            <a:r>
              <a:rPr lang="en-US" dirty="0"/>
              <a:t>Convert locations from </a:t>
            </a:r>
            <a:r>
              <a:rPr lang="en-US" dirty="0" err="1"/>
              <a:t>NAD27</a:t>
            </a:r>
            <a:r>
              <a:rPr lang="en-US" dirty="0"/>
              <a:t> to </a:t>
            </a:r>
            <a:r>
              <a:rPr lang="en-US" dirty="0" err="1"/>
              <a:t>NAD83</a:t>
            </a:r>
            <a:r>
              <a:rPr lang="en-US" dirty="0"/>
              <a:t>(86)</a:t>
            </a:r>
          </a:p>
          <a:p>
            <a:pPr marL="742950" lvl="1" indent="-285750">
              <a:buFont typeface="Arial" panose="020B0604020202020204" pitchFamily="34" charset="0"/>
              <a:buChar char="•"/>
            </a:pPr>
            <a:r>
              <a:rPr lang="en-US" dirty="0"/>
              <a:t>Wisconsin: </a:t>
            </a:r>
            <a:r>
              <a:rPr lang="en-US" dirty="0" err="1"/>
              <a:t>lat</a:t>
            </a:r>
            <a:r>
              <a:rPr lang="en-US" dirty="0"/>
              <a:t>: </a:t>
            </a:r>
            <a:r>
              <a:rPr lang="en-US" dirty="0" err="1"/>
              <a:t>43°07’59”N</a:t>
            </a:r>
            <a:r>
              <a:rPr lang="en-US" dirty="0"/>
              <a:t> and </a:t>
            </a:r>
            <a:r>
              <a:rPr lang="en-US" dirty="0" err="1"/>
              <a:t>lon</a:t>
            </a:r>
            <a:r>
              <a:rPr lang="en-US" dirty="0"/>
              <a:t>: </a:t>
            </a:r>
            <a:r>
              <a:rPr lang="en-US" dirty="0" err="1"/>
              <a:t>89°20’11’’W</a:t>
            </a:r>
            <a:endParaRPr lang="en-US" dirty="0"/>
          </a:p>
          <a:p>
            <a:pPr marL="742950" lvl="1" indent="-285750">
              <a:buFont typeface="Arial" panose="020B0604020202020204" pitchFamily="34" charset="0"/>
              <a:buChar char="•"/>
            </a:pPr>
            <a:r>
              <a:rPr lang="en-US" dirty="0"/>
              <a:t>Colorado: </a:t>
            </a:r>
            <a:r>
              <a:rPr lang="en-US" dirty="0" err="1"/>
              <a:t>lat</a:t>
            </a:r>
            <a:r>
              <a:rPr lang="en-US" dirty="0"/>
              <a:t> </a:t>
            </a:r>
            <a:r>
              <a:rPr lang="en-US" dirty="0" err="1"/>
              <a:t>40°00’00’’N</a:t>
            </a:r>
            <a:r>
              <a:rPr lang="en-US" dirty="0"/>
              <a:t> and </a:t>
            </a:r>
            <a:r>
              <a:rPr lang="en-US" dirty="0" err="1"/>
              <a:t>lon</a:t>
            </a:r>
            <a:r>
              <a:rPr lang="en-US" dirty="0"/>
              <a:t>: 105°16’01’’ W</a:t>
            </a:r>
          </a:p>
          <a:p>
            <a:endParaRPr lang="en-US" dirty="0"/>
          </a:p>
          <a:p>
            <a:pPr marL="285750" indent="-285750">
              <a:buFont typeface="Wingdings" panose="05000000000000000000" pitchFamily="2" charset="2"/>
              <a:buChar char="ü"/>
            </a:pPr>
            <a:r>
              <a:rPr lang="en-US" dirty="0"/>
              <a:t>Convert locations from </a:t>
            </a:r>
            <a:r>
              <a:rPr lang="en-US" dirty="0" err="1"/>
              <a:t>NAD83</a:t>
            </a:r>
            <a:r>
              <a:rPr lang="en-US" dirty="0"/>
              <a:t>(86) to </a:t>
            </a:r>
            <a:r>
              <a:rPr lang="en-US" dirty="0" err="1"/>
              <a:t>NAD27</a:t>
            </a:r>
            <a:endParaRPr lang="en-US" dirty="0"/>
          </a:p>
          <a:p>
            <a:pPr marL="742950" lvl="1" indent="-285750">
              <a:buFont typeface="Arial" panose="020B0604020202020204" pitchFamily="34" charset="0"/>
              <a:buChar char="•"/>
            </a:pPr>
            <a:r>
              <a:rPr lang="en-US" dirty="0"/>
              <a:t>Wash. D.C.: </a:t>
            </a:r>
            <a:r>
              <a:rPr lang="en-US" dirty="0" err="1"/>
              <a:t>lat</a:t>
            </a:r>
            <a:r>
              <a:rPr lang="en-US" dirty="0"/>
              <a:t>: </a:t>
            </a:r>
            <a:r>
              <a:rPr lang="en-US" dirty="0" err="1"/>
              <a:t>38°51’10.4052’N</a:t>
            </a:r>
            <a:r>
              <a:rPr lang="en-US" dirty="0"/>
              <a:t> and </a:t>
            </a:r>
            <a:r>
              <a:rPr lang="en-US" dirty="0" err="1"/>
              <a:t>lon</a:t>
            </a:r>
            <a:r>
              <a:rPr lang="en-US" dirty="0"/>
              <a:t>: 77°02’19.9165’’ W</a:t>
            </a:r>
          </a:p>
        </p:txBody>
      </p:sp>
    </p:spTree>
    <p:extLst>
      <p:ext uri="{BB962C8B-B14F-4D97-AF65-F5344CB8AC3E}">
        <p14:creationId xmlns:p14="http://schemas.microsoft.com/office/powerpoint/2010/main" val="3662962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 2-1</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24</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095911"/>
            <a:ext cx="7665720" cy="1323439"/>
          </a:xfrm>
          <a:prstGeom prst="rect">
            <a:avLst/>
          </a:prstGeom>
          <a:noFill/>
        </p:spPr>
        <p:txBody>
          <a:bodyPr wrap="square">
            <a:spAutoFit/>
          </a:bodyPr>
          <a:lstStyle/>
          <a:p>
            <a:pPr marL="285750" indent="-285750">
              <a:buFont typeface="Courier New" panose="02070309020205020404" pitchFamily="49" charset="0"/>
              <a:buChar char="o"/>
            </a:pPr>
            <a:r>
              <a:rPr lang="en-US" sz="2000" dirty="0"/>
              <a:t>Use the NCAT software available from the U.S. NOAA/NGS website (</a:t>
            </a:r>
            <a:r>
              <a:rPr lang="en-US" sz="2000" dirty="0">
                <a:hlinkClick r:id="rId3"/>
              </a:rPr>
              <a:t>https://www.ngs.noaa.gov/NCAT/</a:t>
            </a:r>
            <a:r>
              <a:rPr lang="en-US" sz="2000" dirty="0"/>
              <a:t>) to fill the following table. Note that all of these points are in the continental United States (CONUS) and longitudes are west, but entered as positive numbers.</a:t>
            </a:r>
          </a:p>
        </p:txBody>
      </p:sp>
      <p:pic>
        <p:nvPicPr>
          <p:cNvPr id="5" name="Picture 4">
            <a:extLst>
              <a:ext uri="{FF2B5EF4-FFF2-40B4-BE49-F238E27FC236}">
                <a16:creationId xmlns:a16="http://schemas.microsoft.com/office/drawing/2014/main" id="{42444750-AC4A-4695-B43E-4AA0646E7687}"/>
              </a:ext>
            </a:extLst>
          </p:cNvPr>
          <p:cNvPicPr>
            <a:picLocks noChangeAspect="1"/>
          </p:cNvPicPr>
          <p:nvPr/>
        </p:nvPicPr>
        <p:blipFill>
          <a:blip r:embed="rId4"/>
          <a:stretch>
            <a:fillRect/>
          </a:stretch>
        </p:blipFill>
        <p:spPr>
          <a:xfrm>
            <a:off x="1145029" y="2719335"/>
            <a:ext cx="5049854" cy="2046907"/>
          </a:xfrm>
          <a:prstGeom prst="rect">
            <a:avLst/>
          </a:prstGeom>
        </p:spPr>
      </p:pic>
    </p:spTree>
    <p:extLst>
      <p:ext uri="{BB962C8B-B14F-4D97-AF65-F5344CB8AC3E}">
        <p14:creationId xmlns:p14="http://schemas.microsoft.com/office/powerpoint/2010/main" val="3196497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400" dirty="0"/>
              <a:t>Map projections allow us to view the 3D Earth on a 2D surface</a:t>
            </a:r>
          </a:p>
          <a:p>
            <a:pPr marL="308610" lvl="1" indent="-308610">
              <a:buFont typeface="Courier New" panose="02070309020205020404" pitchFamily="49" charset="0"/>
              <a:buChar char="o"/>
            </a:pPr>
            <a:r>
              <a:rPr lang="en-US" altLang="en-US" sz="2400" dirty="0"/>
              <a:t>Earth is mathematically projected to a surface that can be made flat</a:t>
            </a:r>
          </a:p>
          <a:p>
            <a:pPr marL="308610" lvl="1" indent="-308610">
              <a:buFont typeface="Courier New" panose="02070309020205020404" pitchFamily="49" charset="0"/>
              <a:buChar char="o"/>
            </a:pPr>
            <a:r>
              <a:rPr lang="en-US" altLang="en-US" sz="2400" dirty="0"/>
              <a:t>We now make measurements in distance or length units as opposed to degrees</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12" name="Picture 2" descr="File:Cartesian coordinate system (comma).svg">
            <a:extLst>
              <a:ext uri="{FF2B5EF4-FFF2-40B4-BE49-F238E27FC236}">
                <a16:creationId xmlns:a16="http://schemas.microsoft.com/office/drawing/2014/main" id="{2D31ABAD-1876-4EC1-B39B-0755327556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16" name="Rectangle 15">
            <a:extLst>
              <a:ext uri="{FF2B5EF4-FFF2-40B4-BE49-F238E27FC236}">
                <a16:creationId xmlns:a16="http://schemas.microsoft.com/office/drawing/2014/main" id="{BBB1338A-3A9D-4014-AA8B-2A0796C78CD3}"/>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F0453AF4-6AD4-4087-9CBB-C630F6A20D2D}"/>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4072628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buFont typeface="Courier New" panose="02070309020205020404" pitchFamily="49" charset="0"/>
              <a:buChar char="o"/>
            </a:pPr>
            <a:r>
              <a:rPr lang="en-US" altLang="en-US" sz="2600" dirty="0"/>
              <a:t>They allow us to make measurements in a Cartesian coordinate system on a plane</a:t>
            </a:r>
          </a:p>
          <a:p>
            <a:pPr marL="308610" lvl="1" indent="-308610">
              <a:buFont typeface="Courier New" panose="02070309020205020404" pitchFamily="49" charset="0"/>
              <a:buChar char="o"/>
            </a:pPr>
            <a:r>
              <a:rPr lang="en-US" altLang="en-US" sz="2600" dirty="0"/>
              <a:t>These 2D surface are known as </a:t>
            </a:r>
            <a:r>
              <a:rPr lang="en-US" altLang="en-US" sz="2600" dirty="0">
                <a:solidFill>
                  <a:srgbClr val="7030A0"/>
                </a:solidFill>
              </a:rPr>
              <a:t>map projections</a:t>
            </a:r>
            <a:r>
              <a:rPr lang="en-US" altLang="en-US" sz="2600" dirty="0"/>
              <a:t>.</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 name="Picture 2" descr="File:Cartesian coordinate system (comma).svg">
            <a:extLst>
              <a:ext uri="{FF2B5EF4-FFF2-40B4-BE49-F238E27FC236}">
                <a16:creationId xmlns:a16="http://schemas.microsoft.com/office/drawing/2014/main" id="{3F55F73B-67A7-4338-A658-1FBC3C22C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5" name="Rectangle 4">
            <a:extLst>
              <a:ext uri="{FF2B5EF4-FFF2-40B4-BE49-F238E27FC236}">
                <a16:creationId xmlns:a16="http://schemas.microsoft.com/office/drawing/2014/main" id="{7F931FA7-089A-4943-A3A0-BB72E95F2B64}"/>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67B5BB24-EB69-471E-A74E-8E36D14CC1B7}"/>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90760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 typeface="Courier New" panose="02070309020205020404" pitchFamily="49" charset="0"/>
              <a:buChar char="o"/>
            </a:pPr>
            <a:r>
              <a:rPr lang="en-US" dirty="0"/>
              <a:t>X, Y, Z</a:t>
            </a:r>
          </a:p>
        </p:txBody>
      </p:sp>
      <p:sp>
        <p:nvSpPr>
          <p:cNvPr id="6" name="Rectangle 5"/>
          <p:cNvSpPr/>
          <p:nvPr/>
        </p:nvSpPr>
        <p:spPr>
          <a:xfrm>
            <a:off x="39171" y="4867001"/>
            <a:ext cx="4113728" cy="246221"/>
          </a:xfrm>
          <a:prstGeom prst="rect">
            <a:avLst/>
          </a:prstGeom>
        </p:spPr>
        <p:txBody>
          <a:bodyPr>
            <a:spAutoFit/>
          </a:bodyPr>
          <a:lstStyle/>
          <a:p>
            <a:r>
              <a:rPr lang="en-US" sz="1000" dirty="0">
                <a:hlinkClick r:id="rId3"/>
              </a:rPr>
              <a:t>https://en.wikipedia.org/wiki/Cartesian_coordinate_system</a:t>
            </a:r>
            <a:endParaRPr lang="en-US" sz="945" dirty="0"/>
          </a:p>
        </p:txBody>
      </p:sp>
      <p:sp>
        <p:nvSpPr>
          <p:cNvPr id="8" name="Title 1">
            <a:extLst>
              <a:ext uri="{FF2B5EF4-FFF2-40B4-BE49-F238E27FC236}">
                <a16:creationId xmlns:a16="http://schemas.microsoft.com/office/drawing/2014/main" id="{492387E2-6D83-41E2-BB5E-D681E45B2430}"/>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5EA263F3-1E3F-4978-9CE9-0EE85F1F084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6146" name="Picture 2">
            <a:extLst>
              <a:ext uri="{FF2B5EF4-FFF2-40B4-BE49-F238E27FC236}">
                <a16:creationId xmlns:a16="http://schemas.microsoft.com/office/drawing/2014/main" id="{13851574-7138-462C-B538-1150AB6E25C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5657" y="1214929"/>
            <a:ext cx="3496235" cy="337969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DA9223E7-8A9B-4B39-8C47-479D604EB7C1}"/>
              </a:ext>
            </a:extLst>
          </p:cNvPr>
          <p:cNvSpPr>
            <a:spLocks noGrp="1"/>
          </p:cNvSpPr>
          <p:nvPr>
            <p:ph type="sldNum" sz="quarter" idx="12"/>
          </p:nvPr>
        </p:nvSpPr>
        <p:spPr/>
        <p:txBody>
          <a:bodyPr/>
          <a:lstStyle/>
          <a:p>
            <a:fld id="{127DDC20-79C9-9647-820E-6D40A3D210C3}" type="slidenum">
              <a:rPr lang="en-US" smtClean="0"/>
              <a:pPr/>
              <a:t>27</a:t>
            </a:fld>
            <a:endParaRPr lang="en-US"/>
          </a:p>
        </p:txBody>
      </p:sp>
    </p:spTree>
    <p:extLst>
      <p:ext uri="{BB962C8B-B14F-4D97-AF65-F5344CB8AC3E}">
        <p14:creationId xmlns:p14="http://schemas.microsoft.com/office/powerpoint/2010/main" val="467110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1480" y="205979"/>
            <a:ext cx="7741920" cy="857250"/>
          </a:xfrm>
        </p:spPr>
        <p:txBody>
          <a:bodyPr>
            <a:noAutofit/>
          </a:bodyPr>
          <a:lstStyle/>
          <a:p>
            <a:pPr algn="l"/>
            <a:r>
              <a:rPr lang="en-US" sz="3200" b="1" dirty="0">
                <a:solidFill>
                  <a:srgbClr val="7030A0"/>
                </a:solidFill>
              </a:rPr>
              <a:t>Geographic</a:t>
            </a:r>
            <a:r>
              <a:rPr lang="en-US" sz="3200" dirty="0">
                <a:solidFill>
                  <a:srgbClr val="7030A0"/>
                </a:solidFill>
              </a:rPr>
              <a:t> vs </a:t>
            </a:r>
            <a:r>
              <a:rPr lang="en-US" sz="3200" b="1" dirty="0">
                <a:solidFill>
                  <a:srgbClr val="7030A0"/>
                </a:solidFill>
              </a:rPr>
              <a:t>Projected Coordinate Systems</a:t>
            </a:r>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12" name="Content Placeholder 2">
            <a:extLst>
              <a:ext uri="{FF2B5EF4-FFF2-40B4-BE49-F238E27FC236}">
                <a16:creationId xmlns:a16="http://schemas.microsoft.com/office/drawing/2014/main" id="{C63EAEC2-9BD1-4BF7-BC6D-C5D2665ECE82}"/>
              </a:ext>
            </a:extLst>
          </p:cNvPr>
          <p:cNvSpPr>
            <a:spLocks noGrp="1"/>
          </p:cNvSpPr>
          <p:nvPr>
            <p:ph idx="1"/>
          </p:nvPr>
        </p:nvSpPr>
        <p:spPr>
          <a:xfrm>
            <a:off x="411480" y="1200151"/>
            <a:ext cx="4494152" cy="1061135"/>
          </a:xfrm>
        </p:spPr>
        <p:txBody>
          <a:bodyPr>
            <a:normAutofit/>
          </a:bodyPr>
          <a:lstStyle/>
          <a:p>
            <a:pPr>
              <a:buFont typeface="Courier New" panose="02070309020205020404" pitchFamily="49" charset="0"/>
              <a:buChar char="o"/>
            </a:pPr>
            <a:r>
              <a:rPr lang="en-US" sz="2600" dirty="0"/>
              <a:t>Conversion from geographic to projected coordinates</a:t>
            </a:r>
          </a:p>
        </p:txBody>
      </p:sp>
      <p:pic>
        <p:nvPicPr>
          <p:cNvPr id="5" name="Picture 4" descr="Text, letter&#10;&#10;Description automatically generated">
            <a:extLst>
              <a:ext uri="{FF2B5EF4-FFF2-40B4-BE49-F238E27FC236}">
                <a16:creationId xmlns:a16="http://schemas.microsoft.com/office/drawing/2014/main" id="{29333DFF-1DB2-4DED-8188-40788E9C258D}"/>
              </a:ext>
            </a:extLst>
          </p:cNvPr>
          <p:cNvPicPr>
            <a:picLocks noChangeAspect="1"/>
          </p:cNvPicPr>
          <p:nvPr/>
        </p:nvPicPr>
        <p:blipFill>
          <a:blip r:embed="rId3"/>
          <a:stretch>
            <a:fillRect/>
          </a:stretch>
        </p:blipFill>
        <p:spPr>
          <a:xfrm>
            <a:off x="4905632" y="1175437"/>
            <a:ext cx="2209669" cy="3709537"/>
          </a:xfrm>
          <a:prstGeom prst="rect">
            <a:avLst/>
          </a:prstGeom>
        </p:spPr>
      </p:pic>
      <p:sp>
        <p:nvSpPr>
          <p:cNvPr id="13" name="TextBox 12">
            <a:extLst>
              <a:ext uri="{FF2B5EF4-FFF2-40B4-BE49-F238E27FC236}">
                <a16:creationId xmlns:a16="http://schemas.microsoft.com/office/drawing/2014/main" id="{22ECDBEB-6A46-46D4-BB1D-FFB2399B206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980962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1480" y="205979"/>
            <a:ext cx="7741920" cy="857250"/>
          </a:xfrm>
        </p:spPr>
        <p:txBody>
          <a:bodyPr>
            <a:noAutofit/>
          </a:bodyPr>
          <a:lstStyle/>
          <a:p>
            <a:pPr algn="l"/>
            <a:r>
              <a:rPr lang="en-US" sz="3200" b="1" dirty="0">
                <a:solidFill>
                  <a:srgbClr val="7030A0"/>
                </a:solidFill>
              </a:rPr>
              <a:t>Geographic</a:t>
            </a:r>
            <a:r>
              <a:rPr lang="en-US" sz="3200" dirty="0">
                <a:solidFill>
                  <a:srgbClr val="7030A0"/>
                </a:solidFill>
              </a:rPr>
              <a:t> vs </a:t>
            </a:r>
            <a:r>
              <a:rPr lang="en-US" sz="3200" b="1" dirty="0">
                <a:solidFill>
                  <a:srgbClr val="7030A0"/>
                </a:solidFill>
              </a:rPr>
              <a:t>Projected Coordinate Systems</a:t>
            </a:r>
          </a:p>
        </p:txBody>
      </p:sp>
      <p:pic>
        <p:nvPicPr>
          <p:cNvPr id="7" name="Picture 6"/>
          <p:cNvPicPr>
            <a:picLocks noChangeAspect="1"/>
          </p:cNvPicPr>
          <p:nvPr/>
        </p:nvPicPr>
        <p:blipFill>
          <a:blip r:embed="rId3"/>
          <a:stretch>
            <a:fillRect/>
          </a:stretch>
        </p:blipFill>
        <p:spPr>
          <a:xfrm>
            <a:off x="4269145" y="1563580"/>
            <a:ext cx="3384074" cy="2903619"/>
          </a:xfrm>
          <a:prstGeom prst="rect">
            <a:avLst/>
          </a:prstGeom>
        </p:spPr>
      </p:pic>
      <p:pic>
        <p:nvPicPr>
          <p:cNvPr id="8" name="Picture 7"/>
          <p:cNvPicPr>
            <a:picLocks noChangeAspect="1"/>
          </p:cNvPicPr>
          <p:nvPr/>
        </p:nvPicPr>
        <p:blipFill>
          <a:blip r:embed="rId4"/>
          <a:stretch>
            <a:fillRect/>
          </a:stretch>
        </p:blipFill>
        <p:spPr>
          <a:xfrm>
            <a:off x="770654" y="1661757"/>
            <a:ext cx="3111949" cy="2643161"/>
          </a:xfrm>
          <a:prstGeom prst="rect">
            <a:avLst/>
          </a:prstGeom>
        </p:spPr>
      </p:pic>
      <p:sp>
        <p:nvSpPr>
          <p:cNvPr id="9" name="TextBox 8"/>
          <p:cNvSpPr txBox="1"/>
          <p:nvPr/>
        </p:nvSpPr>
        <p:spPr>
          <a:xfrm>
            <a:off x="4835077" y="4526790"/>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sp>
        <p:nvSpPr>
          <p:cNvPr id="10" name="TextBox 9"/>
          <p:cNvSpPr txBox="1"/>
          <p:nvPr/>
        </p:nvSpPr>
        <p:spPr>
          <a:xfrm>
            <a:off x="1388035" y="4542867"/>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1147934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txBox="1">
            <a:spLocks noChangeArrowheads="1"/>
          </p:cNvSpPr>
          <p:nvPr/>
        </p:nvSpPr>
        <p:spPr>
          <a:xfrm>
            <a:off x="152400" y="1993106"/>
            <a:ext cx="8001000" cy="2807494"/>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buFontTx/>
              <a:buNone/>
            </a:pPr>
            <a:r>
              <a:rPr lang="en-US" sz="2400" kern="0" dirty="0"/>
              <a:t>	Shine a light from  center of earth</a:t>
            </a:r>
            <a:br>
              <a:rPr lang="en-US" sz="2400" kern="0" dirty="0"/>
            </a:br>
            <a:endParaRPr lang="en-US" sz="2400" kern="0" dirty="0"/>
          </a:p>
          <a:p>
            <a:pPr>
              <a:buFontTx/>
              <a:buNone/>
            </a:pPr>
            <a:r>
              <a:rPr lang="en-US" sz="2400" kern="0" dirty="0"/>
              <a:t>	Onto a “physical surface:”</a:t>
            </a:r>
            <a:br>
              <a:rPr lang="en-US" sz="2400" kern="0" dirty="0"/>
            </a:br>
            <a:r>
              <a:rPr lang="en-US" sz="2700" kern="0" dirty="0"/>
              <a:t>  1.  Plane</a:t>
            </a:r>
            <a:br>
              <a:rPr lang="en-US" sz="2700" kern="0" dirty="0"/>
            </a:br>
            <a:r>
              <a:rPr lang="en-US" sz="2700" kern="0" dirty="0"/>
              <a:t>  2.  Cone</a:t>
            </a:r>
            <a:br>
              <a:rPr lang="en-US" sz="2700" kern="0" dirty="0"/>
            </a:br>
            <a:r>
              <a:rPr lang="en-US" sz="2700" kern="0" dirty="0"/>
              <a:t>  3.  Cylinder</a:t>
            </a:r>
          </a:p>
        </p:txBody>
      </p:sp>
      <p:sp>
        <p:nvSpPr>
          <p:cNvPr id="7" name="Rectangle 4"/>
          <p:cNvSpPr txBox="1">
            <a:spLocks noChangeArrowheads="1"/>
          </p:cNvSpPr>
          <p:nvPr/>
        </p:nvSpPr>
        <p:spPr>
          <a:xfrm>
            <a:off x="1200150" y="1195948"/>
            <a:ext cx="5829300" cy="857250"/>
          </a:xfrm>
          <a:prstGeom prst="rect">
            <a:avLst/>
          </a:prstGeom>
        </p:spPr>
        <p:txBody>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charset="0"/>
              </a:defRPr>
            </a:lvl2pPr>
            <a:lvl3pPr algn="ctr" rtl="0" eaLnBrk="0" fontAlgn="base" hangingPunct="0">
              <a:spcBef>
                <a:spcPct val="0"/>
              </a:spcBef>
              <a:spcAft>
                <a:spcPct val="0"/>
              </a:spcAft>
              <a:defRPr sz="4400">
                <a:solidFill>
                  <a:schemeClr val="tx2"/>
                </a:solidFill>
                <a:latin typeface="Arial" charset="0"/>
              </a:defRPr>
            </a:lvl3pPr>
            <a:lvl4pPr algn="ctr" rtl="0" eaLnBrk="0" fontAlgn="base" hangingPunct="0">
              <a:spcBef>
                <a:spcPct val="0"/>
              </a:spcBef>
              <a:spcAft>
                <a:spcPct val="0"/>
              </a:spcAft>
              <a:defRPr sz="4400">
                <a:solidFill>
                  <a:schemeClr val="tx2"/>
                </a:solidFill>
                <a:latin typeface="Arial" charset="0"/>
              </a:defRPr>
            </a:lvl4pPr>
            <a:lvl5pPr algn="ctr" rtl="0" eaLnBrk="0" fontAlgn="base" hangingPunct="0">
              <a:spcBef>
                <a:spcPct val="0"/>
              </a:spcBef>
              <a:spcAft>
                <a:spcPct val="0"/>
              </a:spcAft>
              <a:defRPr sz="4400">
                <a:solidFill>
                  <a:schemeClr val="tx2"/>
                </a:solidFill>
                <a:latin typeface="Arial" charset="0"/>
              </a:defRPr>
            </a:lvl5pPr>
            <a:lvl6pPr marL="457200" algn="ctr" rtl="0" fontAlgn="base">
              <a:spcBef>
                <a:spcPct val="0"/>
              </a:spcBef>
              <a:spcAft>
                <a:spcPct val="0"/>
              </a:spcAft>
              <a:defRPr sz="4400">
                <a:solidFill>
                  <a:schemeClr val="tx2"/>
                </a:solidFill>
                <a:latin typeface="Arial" charset="0"/>
              </a:defRPr>
            </a:lvl6pPr>
            <a:lvl7pPr marL="914400" algn="ctr" rtl="0" fontAlgn="base">
              <a:spcBef>
                <a:spcPct val="0"/>
              </a:spcBef>
              <a:spcAft>
                <a:spcPct val="0"/>
              </a:spcAft>
              <a:defRPr sz="4400">
                <a:solidFill>
                  <a:schemeClr val="tx2"/>
                </a:solidFill>
                <a:latin typeface="Arial" charset="0"/>
              </a:defRPr>
            </a:lvl7pPr>
            <a:lvl8pPr marL="1371600" algn="ctr" rtl="0" fontAlgn="base">
              <a:spcBef>
                <a:spcPct val="0"/>
              </a:spcBef>
              <a:spcAft>
                <a:spcPct val="0"/>
              </a:spcAft>
              <a:defRPr sz="4400">
                <a:solidFill>
                  <a:schemeClr val="tx2"/>
                </a:solidFill>
                <a:latin typeface="Arial" charset="0"/>
              </a:defRPr>
            </a:lvl8pPr>
            <a:lvl9pPr marL="1828800" algn="ctr" rtl="0" fontAlgn="base">
              <a:spcBef>
                <a:spcPct val="0"/>
              </a:spcBef>
              <a:spcAft>
                <a:spcPct val="0"/>
              </a:spcAft>
              <a:defRPr sz="4400">
                <a:solidFill>
                  <a:schemeClr val="tx2"/>
                </a:solidFill>
                <a:latin typeface="Arial" charset="0"/>
              </a:defRPr>
            </a:lvl9pPr>
          </a:lstStyle>
          <a:p>
            <a:r>
              <a:rPr lang="en-US" sz="3300" kern="0" dirty="0"/>
              <a:t>How?</a:t>
            </a:r>
          </a:p>
        </p:txBody>
      </p:sp>
      <p:cxnSp>
        <p:nvCxnSpPr>
          <p:cNvPr id="8" name="Straight Connector 7">
            <a:extLst>
              <a:ext uri="{FF2B5EF4-FFF2-40B4-BE49-F238E27FC236}">
                <a16:creationId xmlns:a16="http://schemas.microsoft.com/office/drawing/2014/main" id="{DA313D93-7E78-4F22-A305-33DC7C39356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2972AE4-0302-4B03-A227-B6EA8979D703}"/>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6C38DB8D-67A0-43F5-8BBC-1850434253BC}"/>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1604582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p:nvPr/>
        </p:nvPicPr>
        <p:blipFill>
          <a:blip r:embed="rId3"/>
          <a:stretch>
            <a:fillRect/>
          </a:stretch>
        </p:blipFill>
        <p:spPr>
          <a:xfrm>
            <a:off x="969098" y="1834275"/>
            <a:ext cx="5923915" cy="2675317"/>
          </a:xfrm>
          <a:prstGeom prst="rect">
            <a:avLst/>
          </a:prstGeom>
        </p:spPr>
      </p:pic>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2" name="TextBox 1"/>
          <p:cNvSpPr txBox="1"/>
          <p:nvPr/>
        </p:nvSpPr>
        <p:spPr>
          <a:xfrm>
            <a:off x="247135" y="4428571"/>
            <a:ext cx="7830064" cy="279306"/>
          </a:xfrm>
          <a:prstGeom prst="rect">
            <a:avLst/>
          </a:prstGeom>
          <a:noFill/>
        </p:spPr>
        <p:txBody>
          <a:bodyPr wrap="square" rtlCol="0">
            <a:spAutoFit/>
          </a:bodyPr>
          <a:lstStyle/>
          <a:p>
            <a:pPr>
              <a:lnSpc>
                <a:spcPct val="90000"/>
              </a:lnSpc>
            </a:pPr>
            <a:r>
              <a:rPr lang="en-US" sz="1350" dirty="0"/>
              <a:t>Cylindrical Projections = Cylinder	             Conic Projections = Cone	       Azimuthal Projections = Plane</a:t>
            </a:r>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31</a:t>
            </a:fld>
            <a:endParaRPr lang="en-US"/>
          </a:p>
        </p:txBody>
      </p:sp>
    </p:spTree>
    <p:extLst>
      <p:ext uri="{BB962C8B-B14F-4D97-AF65-F5344CB8AC3E}">
        <p14:creationId xmlns:p14="http://schemas.microsoft.com/office/powerpoint/2010/main" val="125041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9" name="Picture 8" descr="Diagram&#10;&#10;Description automatically generated">
            <a:extLst>
              <a:ext uri="{FF2B5EF4-FFF2-40B4-BE49-F238E27FC236}">
                <a16:creationId xmlns:a16="http://schemas.microsoft.com/office/drawing/2014/main" id="{EBC07721-9392-4B43-8F5C-98619941CAA0}"/>
              </a:ext>
            </a:extLst>
          </p:cNvPr>
          <p:cNvPicPr>
            <a:picLocks noChangeAspect="1"/>
          </p:cNvPicPr>
          <p:nvPr/>
        </p:nvPicPr>
        <p:blipFill>
          <a:blip r:embed="rId3"/>
          <a:stretch>
            <a:fillRect/>
          </a:stretch>
        </p:blipFill>
        <p:spPr>
          <a:xfrm>
            <a:off x="1420389" y="2144639"/>
            <a:ext cx="5388184" cy="2422383"/>
          </a:xfrm>
          <a:prstGeom prst="rect">
            <a:avLst/>
          </a:prstGeom>
        </p:spPr>
      </p:pic>
      <p:sp>
        <p:nvSpPr>
          <p:cNvPr id="11" name="TextBox 10">
            <a:extLst>
              <a:ext uri="{FF2B5EF4-FFF2-40B4-BE49-F238E27FC236}">
                <a16:creationId xmlns:a16="http://schemas.microsoft.com/office/drawing/2014/main" id="{DE2EEE40-9677-4E8A-A99F-02BFF20D9B8F}"/>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589566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027">
            <a:extLst>
              <a:ext uri="{FF2B5EF4-FFF2-40B4-BE49-F238E27FC236}">
                <a16:creationId xmlns:a16="http://schemas.microsoft.com/office/drawing/2014/main" id="{96F9FB1B-D27A-467E-9B59-668466F0F3CC}"/>
              </a:ext>
            </a:extLst>
          </p:cNvPr>
          <p:cNvSpPr txBox="1">
            <a:spLocks noChangeArrowheads="1"/>
          </p:cNvSpPr>
          <p:nvPr/>
        </p:nvSpPr>
        <p:spPr>
          <a:xfrm>
            <a:off x="302741" y="1029962"/>
            <a:ext cx="7679724" cy="1003947"/>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lnSpc>
                <a:spcPct val="90000"/>
              </a:lnSpc>
              <a:buFont typeface="Wingdings" panose="05000000000000000000" pitchFamily="2" charset="2"/>
              <a:buChar char="ü"/>
            </a:pPr>
            <a:r>
              <a:rPr lang="en-US" sz="2440" dirty="0"/>
              <a:t>Different orientation of developable surface with Earth</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pic>
        <p:nvPicPr>
          <p:cNvPr id="6" name="Picture 5"/>
          <p:cNvPicPr/>
          <p:nvPr/>
        </p:nvPicPr>
        <p:blipFill>
          <a:blip r:embed="rId3"/>
          <a:stretch>
            <a:fillRect/>
          </a:stretch>
        </p:blipFill>
        <p:spPr>
          <a:xfrm>
            <a:off x="1490932" y="2057266"/>
            <a:ext cx="5148819" cy="2418932"/>
          </a:xfrm>
          <a:prstGeom prst="rect">
            <a:avLst/>
          </a:prstGeom>
        </p:spPr>
      </p:pic>
      <p:sp>
        <p:nvSpPr>
          <p:cNvPr id="4" name="TextBox 3"/>
          <p:cNvSpPr txBox="1"/>
          <p:nvPr/>
        </p:nvSpPr>
        <p:spPr>
          <a:xfrm>
            <a:off x="1645277" y="4072198"/>
            <a:ext cx="4994474" cy="316690"/>
          </a:xfrm>
          <a:prstGeom prst="rect">
            <a:avLst/>
          </a:prstGeom>
          <a:solidFill>
            <a:schemeClr val="tx1"/>
          </a:solidFill>
        </p:spPr>
        <p:txBody>
          <a:bodyPr wrap="square" rtlCol="0">
            <a:spAutoFit/>
          </a:bodyPr>
          <a:lstStyle/>
          <a:p>
            <a:pPr>
              <a:lnSpc>
                <a:spcPct val="90000"/>
              </a:lnSpc>
            </a:pPr>
            <a:r>
              <a:rPr lang="en-US" sz="1620" dirty="0">
                <a:solidFill>
                  <a:schemeClr val="bg1"/>
                </a:solidFill>
              </a:rPr>
              <a:t>Normal	       Transverse		             Oblique</a:t>
            </a:r>
          </a:p>
        </p:txBody>
      </p:sp>
      <p:pic>
        <p:nvPicPr>
          <p:cNvPr id="7" name="Picture 2" descr="File:Latitude and longitude graticule on an ellipsoid.sv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96725" y="2869177"/>
            <a:ext cx="874623" cy="79511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File:Latitude and longitude graticule on an ellipsoid.sv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37280" y="2777544"/>
            <a:ext cx="874623" cy="79511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File:Latitude and longitude graticule on an ellipsoid.sv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92319" y="2755002"/>
            <a:ext cx="874623" cy="79511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4017262" y="4499555"/>
            <a:ext cx="4113728" cy="528606"/>
          </a:xfrm>
          <a:prstGeom prst="rect">
            <a:avLst/>
          </a:prstGeom>
        </p:spPr>
        <p:txBody>
          <a:bodyPr>
            <a:spAutoFit/>
          </a:bodyPr>
          <a:lstStyle/>
          <a:p>
            <a:r>
              <a:rPr lang="en-US" sz="945" dirty="0">
                <a:hlinkClick r:id="rId5"/>
              </a:rPr>
              <a:t>https://commons.wikimedia.org/wiki/File:Latitude_and_longitude_graticule_on_an_ellipsoid.svg</a:t>
            </a:r>
            <a:endParaRPr lang="en-US" sz="945" dirty="0"/>
          </a:p>
          <a:p>
            <a:endParaRPr lang="en-US" sz="945" dirty="0"/>
          </a:p>
        </p:txBody>
      </p:sp>
      <p:sp>
        <p:nvSpPr>
          <p:cNvPr id="14" name="Title 1">
            <a:extLst>
              <a:ext uri="{FF2B5EF4-FFF2-40B4-BE49-F238E27FC236}">
                <a16:creationId xmlns:a16="http://schemas.microsoft.com/office/drawing/2014/main" id="{2E719697-8B58-4292-85F2-0488DF16EC9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CD5647AD-9298-42A4-A43E-7E6BB6D5B10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161C143-3EEF-40DE-92BE-7A4785CE58B5}"/>
              </a:ext>
            </a:extLst>
          </p:cNvPr>
          <p:cNvSpPr>
            <a:spLocks noGrp="1"/>
          </p:cNvSpPr>
          <p:nvPr>
            <p:ph type="sldNum" sz="quarter" idx="12"/>
          </p:nvPr>
        </p:nvSpPr>
        <p:spPr/>
        <p:txBody>
          <a:bodyPr/>
          <a:lstStyle/>
          <a:p>
            <a:fld id="{127DDC20-79C9-9647-820E-6D40A3D210C3}" type="slidenum">
              <a:rPr lang="en-US" smtClean="0"/>
              <a:pPr/>
              <a:t>33</a:t>
            </a:fld>
            <a:endParaRPr lang="en-US"/>
          </a:p>
        </p:txBody>
      </p:sp>
    </p:spTree>
    <p:extLst>
      <p:ext uri="{BB962C8B-B14F-4D97-AF65-F5344CB8AC3E}">
        <p14:creationId xmlns:p14="http://schemas.microsoft.com/office/powerpoint/2010/main" val="3642631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4B0C542C-1DCE-4A9B-889E-5A9E2383DA0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2" name="Title 1"/>
          <p:cNvSpPr>
            <a:spLocks noGrp="1"/>
          </p:cNvSpPr>
          <p:nvPr>
            <p:ph type="title"/>
          </p:nvPr>
        </p:nvSpPr>
        <p:spPr>
          <a:xfrm>
            <a:off x="1689280" y="4228649"/>
            <a:ext cx="7406640" cy="857250"/>
          </a:xfrm>
        </p:spPr>
        <p:txBody>
          <a:bodyPr/>
          <a:lstStyle/>
          <a:p>
            <a:r>
              <a:rPr lang="en-US" b="1" dirty="0">
                <a:solidFill>
                  <a:srgbClr val="E3874F"/>
                </a:solidFill>
              </a:rPr>
              <a:t>Tangency</a:t>
            </a:r>
            <a:r>
              <a:rPr lang="en-US" dirty="0"/>
              <a:t>      </a:t>
            </a:r>
            <a:r>
              <a:rPr lang="en-US" b="1" dirty="0" err="1">
                <a:solidFill>
                  <a:srgbClr val="E3874F"/>
                </a:solidFill>
              </a:rPr>
              <a:t>Secancy</a:t>
            </a:r>
            <a:endParaRPr lang="en-US" b="1" dirty="0">
              <a:solidFill>
                <a:srgbClr val="E3874F"/>
              </a:solidFill>
            </a:endParaRP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171913" y="1333773"/>
            <a:ext cx="2437103" cy="3379516"/>
          </a:xfrm>
          <a:prstGeom prst="rect">
            <a:avLst/>
          </a:prstGeom>
        </p:spPr>
      </p:pic>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5606804" y="1253384"/>
            <a:ext cx="2151158" cy="3459905"/>
          </a:xfrm>
          <a:prstGeom prst="rect">
            <a:avLst/>
          </a:prstGeom>
        </p:spPr>
      </p:pic>
      <p:sp>
        <p:nvSpPr>
          <p:cNvPr id="7" name="Content Placeholder 2"/>
          <p:cNvSpPr>
            <a:spLocks noGrp="1"/>
          </p:cNvSpPr>
          <p:nvPr>
            <p:ph idx="1"/>
          </p:nvPr>
        </p:nvSpPr>
        <p:spPr>
          <a:xfrm>
            <a:off x="471638" y="1582975"/>
            <a:ext cx="2812846" cy="2881110"/>
          </a:xfrm>
        </p:spPr>
        <p:txBody>
          <a:bodyPr>
            <a:normAutofit fontScale="77500" lnSpcReduction="20000"/>
          </a:bodyPr>
          <a:lstStyle/>
          <a:p>
            <a:pPr>
              <a:buFont typeface="Wingdings" panose="05000000000000000000" pitchFamily="2" charset="2"/>
              <a:buChar char="ü"/>
            </a:pPr>
            <a:r>
              <a:rPr lang="en-US" b="1" dirty="0">
                <a:solidFill>
                  <a:srgbClr val="E3874F"/>
                </a:solidFill>
              </a:rPr>
              <a:t>Standard Line: </a:t>
            </a:r>
            <a:r>
              <a:rPr lang="en-US" dirty="0"/>
              <a:t>where projection touches the globe</a:t>
            </a:r>
          </a:p>
          <a:p>
            <a:pPr lvl="1">
              <a:buFont typeface="Arial" panose="020B0604020202020204" pitchFamily="34" charset="0"/>
              <a:buChar char="•"/>
            </a:pPr>
            <a:r>
              <a:rPr lang="en-US" b="1" dirty="0">
                <a:solidFill>
                  <a:srgbClr val="E3874F"/>
                </a:solidFill>
              </a:rPr>
              <a:t>Standard Parallel: </a:t>
            </a:r>
            <a:r>
              <a:rPr lang="en-US" dirty="0"/>
              <a:t>standard line on a parallel</a:t>
            </a:r>
          </a:p>
          <a:p>
            <a:pPr lvl="1">
              <a:buFont typeface="Arial" panose="020B0604020202020204" pitchFamily="34" charset="0"/>
              <a:buChar char="•"/>
            </a:pPr>
            <a:r>
              <a:rPr lang="en-US" b="1" dirty="0">
                <a:solidFill>
                  <a:srgbClr val="E3874F"/>
                </a:solidFill>
              </a:rPr>
              <a:t>Standard Meridian: </a:t>
            </a:r>
            <a:r>
              <a:rPr lang="en-US" dirty="0"/>
              <a:t>standard line on a meridian</a:t>
            </a:r>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C37CD819-3C1F-4F88-8050-386B80B929EC}"/>
              </a:ext>
            </a:extLst>
          </p:cNvPr>
          <p:cNvSpPr>
            <a:spLocks noGrp="1"/>
          </p:cNvSpPr>
          <p:nvPr>
            <p:ph type="sldNum" sz="quarter" idx="12"/>
          </p:nvPr>
        </p:nvSpPr>
        <p:spPr/>
        <p:txBody>
          <a:bodyPr/>
          <a:lstStyle/>
          <a:p>
            <a:fld id="{127DDC20-79C9-9647-820E-6D40A3D210C3}" type="slidenum">
              <a:rPr lang="en-US" smtClean="0"/>
              <a:pPr/>
              <a:t>34</a:t>
            </a:fld>
            <a:endParaRPr lang="en-US" dirty="0"/>
          </a:p>
        </p:txBody>
      </p:sp>
    </p:spTree>
    <p:extLst>
      <p:ext uri="{BB962C8B-B14F-4D97-AF65-F5344CB8AC3E}">
        <p14:creationId xmlns:p14="http://schemas.microsoft.com/office/powerpoint/2010/main" val="258676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4B0C542C-1DCE-4A9B-889E-5A9E2383DA0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Content Placeholder 2"/>
          <p:cNvSpPr>
            <a:spLocks noGrp="1"/>
          </p:cNvSpPr>
          <p:nvPr>
            <p:ph idx="1"/>
          </p:nvPr>
        </p:nvSpPr>
        <p:spPr>
          <a:xfrm>
            <a:off x="471638" y="1582975"/>
            <a:ext cx="2812846" cy="2881110"/>
          </a:xfrm>
        </p:spPr>
        <p:txBody>
          <a:bodyPr>
            <a:normAutofit fontScale="77500" lnSpcReduction="20000"/>
          </a:bodyPr>
          <a:lstStyle/>
          <a:p>
            <a:pPr>
              <a:buFont typeface="Wingdings" panose="05000000000000000000" pitchFamily="2" charset="2"/>
              <a:buChar char="ü"/>
            </a:pPr>
            <a:r>
              <a:rPr lang="en-US" b="1" dirty="0">
                <a:solidFill>
                  <a:srgbClr val="E3874F"/>
                </a:solidFill>
              </a:rPr>
              <a:t>Standard Line: </a:t>
            </a:r>
            <a:r>
              <a:rPr lang="en-US" dirty="0"/>
              <a:t>where projection touches the globe</a:t>
            </a:r>
          </a:p>
          <a:p>
            <a:pPr lvl="1">
              <a:buFont typeface="Arial" panose="020B0604020202020204" pitchFamily="34" charset="0"/>
              <a:buChar char="•"/>
            </a:pPr>
            <a:r>
              <a:rPr lang="en-US" b="1" dirty="0">
                <a:solidFill>
                  <a:srgbClr val="E3874F"/>
                </a:solidFill>
              </a:rPr>
              <a:t>Standard Parallel: </a:t>
            </a:r>
            <a:r>
              <a:rPr lang="en-US" dirty="0"/>
              <a:t>standard line on a parallel</a:t>
            </a:r>
          </a:p>
          <a:p>
            <a:pPr lvl="1">
              <a:buFont typeface="Arial" panose="020B0604020202020204" pitchFamily="34" charset="0"/>
              <a:buChar char="•"/>
            </a:pPr>
            <a:r>
              <a:rPr lang="en-US" b="1" dirty="0">
                <a:solidFill>
                  <a:srgbClr val="E3874F"/>
                </a:solidFill>
              </a:rPr>
              <a:t>Standard Meridian: </a:t>
            </a:r>
            <a:r>
              <a:rPr lang="en-US" dirty="0"/>
              <a:t>standard line on a meridian</a:t>
            </a:r>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490AC8E9-CBDF-4A68-A7E1-BF5AFC6F24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810" y="1789220"/>
            <a:ext cx="3493329" cy="2468619"/>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1743E504-EA0D-49E0-8417-AF4900B8DE2D}"/>
              </a:ext>
            </a:extLst>
          </p:cNvPr>
          <p:cNvSpPr txBox="1"/>
          <p:nvPr/>
        </p:nvSpPr>
        <p:spPr>
          <a:xfrm>
            <a:off x="3791589" y="4488992"/>
            <a:ext cx="4135270" cy="553998"/>
          </a:xfrm>
          <a:prstGeom prst="rect">
            <a:avLst/>
          </a:prstGeom>
          <a:noFill/>
        </p:spPr>
        <p:txBody>
          <a:bodyPr wrap="square">
            <a:spAutoFit/>
          </a:bodyPr>
          <a:lstStyle/>
          <a:p>
            <a:r>
              <a:rPr lang="en-US" sz="1000" dirty="0">
                <a:solidFill>
                  <a:schemeClr val="accent1"/>
                </a:solidFill>
              </a:rPr>
              <a:t>http://wiki.gis.com/wiki/index.php/Standard_parallel#:~:text=Standard%20parallels%20are%20parallel%20lines,is%20only%20one%20standard%20parallel.</a:t>
            </a:r>
          </a:p>
        </p:txBody>
      </p:sp>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1174235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4B0C542C-1DCE-4A9B-889E-5A9E2383DA0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Content Placeholder 2"/>
          <p:cNvSpPr>
            <a:spLocks noGrp="1"/>
          </p:cNvSpPr>
          <p:nvPr>
            <p:ph idx="1"/>
          </p:nvPr>
        </p:nvSpPr>
        <p:spPr>
          <a:xfrm>
            <a:off x="471638" y="1582975"/>
            <a:ext cx="2812846" cy="2881110"/>
          </a:xfrm>
        </p:spPr>
        <p:txBody>
          <a:bodyPr>
            <a:normAutofit fontScale="85000" lnSpcReduction="10000"/>
          </a:bodyPr>
          <a:lstStyle/>
          <a:p>
            <a:pPr>
              <a:buFont typeface="Wingdings" panose="05000000000000000000" pitchFamily="2" charset="2"/>
              <a:buChar char="ü"/>
            </a:pPr>
            <a:r>
              <a:rPr lang="en-US" b="1" dirty="0">
                <a:solidFill>
                  <a:srgbClr val="E3874F"/>
                </a:solidFill>
              </a:rPr>
              <a:t>Standard Line: </a:t>
            </a:r>
            <a:r>
              <a:rPr lang="en-US" dirty="0"/>
              <a:t>where projection touches the globe</a:t>
            </a:r>
          </a:p>
          <a:p>
            <a:pPr lvl="1">
              <a:lnSpc>
                <a:spcPct val="90000"/>
              </a:lnSpc>
              <a:buFont typeface="Arial" panose="020B0604020202020204" pitchFamily="34" charset="0"/>
              <a:buChar char="•"/>
            </a:pPr>
            <a:r>
              <a:rPr lang="en-US" sz="2440" dirty="0">
                <a:solidFill>
                  <a:srgbClr val="FF0000"/>
                </a:solidFill>
              </a:rPr>
              <a:t>No distortions at these locations! </a:t>
            </a:r>
            <a:r>
              <a:rPr lang="en-US" sz="2440" baseline="0" dirty="0">
                <a:solidFill>
                  <a:srgbClr val="FF0000"/>
                </a:solidFill>
              </a:rPr>
              <a:t>Distortions tend to increase with distance from the standards.</a:t>
            </a:r>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5" name="Picture 4" descr="Diagram&#10;&#10;Description automatically generated">
            <a:extLst>
              <a:ext uri="{FF2B5EF4-FFF2-40B4-BE49-F238E27FC236}">
                <a16:creationId xmlns:a16="http://schemas.microsoft.com/office/drawing/2014/main" id="{0CB5168D-EEB7-49E8-B8A7-F62641EC7B87}"/>
              </a:ext>
            </a:extLst>
          </p:cNvPr>
          <p:cNvPicPr>
            <a:picLocks noChangeAspect="1"/>
          </p:cNvPicPr>
          <p:nvPr/>
        </p:nvPicPr>
        <p:blipFill>
          <a:blip r:embed="rId3"/>
          <a:stretch>
            <a:fillRect/>
          </a:stretch>
        </p:blipFill>
        <p:spPr>
          <a:xfrm>
            <a:off x="4343014" y="1493660"/>
            <a:ext cx="3810386" cy="3220077"/>
          </a:xfrm>
          <a:prstGeom prst="rect">
            <a:avLst/>
          </a:prstGeom>
        </p:spPr>
      </p:pic>
      <p:sp>
        <p:nvSpPr>
          <p:cNvPr id="12" name="TextBox 11">
            <a:extLst>
              <a:ext uri="{FF2B5EF4-FFF2-40B4-BE49-F238E27FC236}">
                <a16:creationId xmlns:a16="http://schemas.microsoft.com/office/drawing/2014/main" id="{D6B5BEB7-4CEA-4876-8366-2AA42E0304A9}"/>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672585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225C1B1A-ED5E-43CA-A84F-24CCD37E518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Plane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23850" y="1543681"/>
            <a:ext cx="3829050" cy="3429000"/>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Plane positioned at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1800" b="1" kern="0" dirty="0"/>
              <a:t>Longitude: </a:t>
            </a:r>
            <a:r>
              <a:rPr lang="en-US" sz="1800" kern="0" dirty="0"/>
              <a:t>straight, radiating</a:t>
            </a:r>
          </a:p>
          <a:p>
            <a:pPr lvl="1">
              <a:lnSpc>
                <a:spcPct val="80000"/>
              </a:lnSpc>
              <a:buFont typeface="Arial" panose="020B0604020202020204" pitchFamily="34" charset="0"/>
              <a:buChar char="•"/>
            </a:pPr>
            <a:r>
              <a:rPr lang="en-US" sz="1800" b="1" kern="0" dirty="0"/>
              <a:t>Latitude:</a:t>
            </a:r>
            <a:r>
              <a:rPr lang="en-US" sz="1800" kern="0" dirty="0"/>
              <a:t> circles</a:t>
            </a:r>
          </a:p>
          <a:p>
            <a:pPr>
              <a:lnSpc>
                <a:spcPct val="80000"/>
              </a:lnSpc>
              <a:buFont typeface="Wingdings" panose="05000000000000000000" pitchFamily="2" charset="2"/>
              <a:buChar char="ü"/>
            </a:pPr>
            <a:r>
              <a:rPr lang="en-US" sz="2100" kern="0" dirty="0"/>
              <a:t>Distortion increases away from center ("principal point") </a:t>
            </a:r>
          </a:p>
          <a:p>
            <a:pPr>
              <a:lnSpc>
                <a:spcPct val="80000"/>
              </a:lnSpc>
              <a:buFont typeface="Wingdings" panose="05000000000000000000" pitchFamily="2" charset="2"/>
              <a:buChar char="ü"/>
            </a:pPr>
            <a:r>
              <a:rPr lang="en-US" sz="2100" kern="0" dirty="0"/>
              <a:t>Good for polar regions</a:t>
            </a:r>
          </a:p>
          <a:p>
            <a:pPr>
              <a:lnSpc>
                <a:spcPct val="80000"/>
              </a:lnSpc>
              <a:buFont typeface="Wingdings" panose="05000000000000000000" pitchFamily="2" charset="2"/>
              <a:buChar char="ü"/>
            </a:pPr>
            <a:r>
              <a:rPr lang="en-US" sz="2100" kern="0" dirty="0"/>
              <a:t>Can't show more than half the world.</a:t>
            </a:r>
          </a:p>
          <a:p>
            <a:pPr marL="457200" indent="-457200">
              <a:lnSpc>
                <a:spcPct val="80000"/>
              </a:lnSpc>
              <a:buNone/>
            </a:pPr>
            <a:endParaRPr lang="en-US" sz="2100" kern="0" dirty="0"/>
          </a:p>
          <a:p>
            <a:pPr marL="457200" indent="-457200">
              <a:lnSpc>
                <a:spcPct val="80000"/>
              </a:lnSpc>
              <a:buNone/>
            </a:pPr>
            <a:endParaRPr lang="en-US" sz="2100" kern="0" dirty="0"/>
          </a:p>
        </p:txBody>
      </p:sp>
      <p:pic>
        <p:nvPicPr>
          <p:cNvPr id="18" name="Picture 8" descr="azimuthal"/>
          <p:cNvPicPr>
            <a:picLocks noChangeAspect="1" noChangeArrowheads="1"/>
          </p:cNvPicPr>
          <p:nvPr/>
        </p:nvPicPr>
        <p:blipFill>
          <a:blip r:embed="rId3"/>
          <a:srcRect/>
          <a:stretch>
            <a:fillRect/>
          </a:stretch>
        </p:blipFill>
        <p:spPr bwMode="auto">
          <a:xfrm>
            <a:off x="5314950" y="1257300"/>
            <a:ext cx="2101454" cy="3771900"/>
          </a:xfrm>
          <a:prstGeom prst="rect">
            <a:avLst/>
          </a:prstGeom>
          <a:noFill/>
        </p:spPr>
      </p:pic>
      <p:sp>
        <p:nvSpPr>
          <p:cNvPr id="10" name="Title 1">
            <a:extLst>
              <a:ext uri="{FF2B5EF4-FFF2-40B4-BE49-F238E27FC236}">
                <a16:creationId xmlns:a16="http://schemas.microsoft.com/office/drawing/2014/main" id="{FC297498-58D3-4DDD-AD28-5005C4470BDF}"/>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3" name="Straight Connector 12">
            <a:extLst>
              <a:ext uri="{FF2B5EF4-FFF2-40B4-BE49-F238E27FC236}">
                <a16:creationId xmlns:a16="http://schemas.microsoft.com/office/drawing/2014/main" id="{17FB9979-1B52-4FA4-8CBA-996B4B1FDB0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850F73B-16FD-4B27-BD25-7353E3B4D3DE}"/>
              </a:ext>
            </a:extLst>
          </p:cNvPr>
          <p:cNvSpPr>
            <a:spLocks noGrp="1"/>
          </p:cNvSpPr>
          <p:nvPr>
            <p:ph type="sldNum" sz="quarter" idx="12"/>
          </p:nvPr>
        </p:nvSpPr>
        <p:spPr/>
        <p:txBody>
          <a:bodyPr/>
          <a:lstStyle/>
          <a:p>
            <a:fld id="{127DDC20-79C9-9647-820E-6D40A3D210C3}" type="slidenum">
              <a:rPr lang="en-US" smtClean="0"/>
              <a:pPr/>
              <a:t>37</a:t>
            </a:fld>
            <a:endParaRPr lang="en-US"/>
          </a:p>
        </p:txBody>
      </p:sp>
    </p:spTree>
    <p:extLst>
      <p:ext uri="{BB962C8B-B14F-4D97-AF65-F5344CB8AC3E}">
        <p14:creationId xmlns:p14="http://schemas.microsoft.com/office/powerpoint/2010/main" val="42712398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6CEA6F7E-434E-4DD5-83B6-19E592DC6D9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Conic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13260" y="1514475"/>
            <a:ext cx="6419057" cy="3526632"/>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Hold cone over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2100" b="1" kern="0" dirty="0"/>
              <a:t>Longitude: </a:t>
            </a:r>
            <a:r>
              <a:rPr lang="en-US" sz="2100" kern="0" dirty="0"/>
              <a:t>straight, converge</a:t>
            </a:r>
          </a:p>
          <a:p>
            <a:pPr lvl="1">
              <a:lnSpc>
                <a:spcPct val="80000"/>
              </a:lnSpc>
              <a:buFont typeface="Arial" panose="020B0604020202020204" pitchFamily="34" charset="0"/>
              <a:buChar char="•"/>
            </a:pPr>
            <a:r>
              <a:rPr lang="en-US" sz="1800" b="1" kern="0" dirty="0"/>
              <a:t>Latitude:</a:t>
            </a:r>
            <a:r>
              <a:rPr lang="en-US" sz="1800" kern="0" dirty="0"/>
              <a:t> </a:t>
            </a:r>
            <a:r>
              <a:rPr lang="en-US" sz="2100" kern="0" dirty="0"/>
              <a:t>curve</a:t>
            </a:r>
          </a:p>
          <a:p>
            <a:pPr lvl="1">
              <a:lnSpc>
                <a:spcPct val="80000"/>
              </a:lnSpc>
              <a:buFont typeface="Arial" panose="020B0604020202020204" pitchFamily="34" charset="0"/>
              <a:buChar char="•"/>
            </a:pPr>
            <a:r>
              <a:rPr lang="en-US" sz="2100" kern="0" dirty="0"/>
              <a:t>Distortion increases away from standard parallel</a:t>
            </a:r>
          </a:p>
          <a:p>
            <a:pPr>
              <a:lnSpc>
                <a:spcPct val="80000"/>
              </a:lnSpc>
              <a:buFont typeface="Wingdings" panose="05000000000000000000" pitchFamily="2" charset="2"/>
              <a:buChar char="ü"/>
            </a:pPr>
            <a:r>
              <a:rPr lang="en-US" sz="2100" kern="0" dirty="0"/>
              <a:t>Good for Mid-latitudes </a:t>
            </a:r>
          </a:p>
          <a:p>
            <a:pPr marL="457200" indent="-457200">
              <a:lnSpc>
                <a:spcPct val="80000"/>
              </a:lnSpc>
              <a:buNone/>
            </a:pPr>
            <a:endParaRPr lang="en-US" sz="2100" kern="0" dirty="0">
              <a:solidFill>
                <a:schemeClr val="tx2">
                  <a:lumMod val="75000"/>
                </a:schemeClr>
              </a:solidFill>
            </a:endParaRPr>
          </a:p>
        </p:txBody>
      </p:sp>
      <p:pic>
        <p:nvPicPr>
          <p:cNvPr id="9" name="Picture 8" descr="cone proj"/>
          <p:cNvPicPr>
            <a:picLocks noChangeAspect="1" noChangeArrowheads="1"/>
          </p:cNvPicPr>
          <p:nvPr/>
        </p:nvPicPr>
        <p:blipFill>
          <a:blip r:embed="rId3"/>
          <a:srcRect/>
          <a:stretch>
            <a:fillRect/>
          </a:stretch>
        </p:blipFill>
        <p:spPr bwMode="auto">
          <a:xfrm>
            <a:off x="2114550" y="3506667"/>
            <a:ext cx="4080128" cy="1582605"/>
          </a:xfrm>
          <a:prstGeom prst="rect">
            <a:avLst/>
          </a:prstGeom>
          <a:noFill/>
        </p:spPr>
      </p:pic>
      <p:sp>
        <p:nvSpPr>
          <p:cNvPr id="13" name="Title 1">
            <a:extLst>
              <a:ext uri="{FF2B5EF4-FFF2-40B4-BE49-F238E27FC236}">
                <a16:creationId xmlns:a16="http://schemas.microsoft.com/office/drawing/2014/main" id="{27D4896A-6A8A-4150-8967-C5DD8536C50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4" name="Straight Connector 13">
            <a:extLst>
              <a:ext uri="{FF2B5EF4-FFF2-40B4-BE49-F238E27FC236}">
                <a16:creationId xmlns:a16="http://schemas.microsoft.com/office/drawing/2014/main" id="{7D1C246A-045F-4F43-B078-5F9A3B1B2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15FB4021-D911-4220-B9C5-FB64C178097D}"/>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25896535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ylindrical"/>
          <p:cNvPicPr>
            <a:picLocks noChangeAspect="1" noChangeArrowheads="1"/>
          </p:cNvPicPr>
          <p:nvPr/>
        </p:nvPicPr>
        <p:blipFill>
          <a:blip r:embed="rId3"/>
          <a:srcRect/>
          <a:stretch>
            <a:fillRect/>
          </a:stretch>
        </p:blipFill>
        <p:spPr bwMode="auto">
          <a:xfrm>
            <a:off x="3868871" y="2030400"/>
            <a:ext cx="3401086" cy="2190190"/>
          </a:xfrm>
          <a:prstGeom prst="rect">
            <a:avLst/>
          </a:prstGeom>
          <a:noFill/>
        </p:spPr>
      </p:pic>
      <p:sp>
        <p:nvSpPr>
          <p:cNvPr id="13" name="Title 1">
            <a:extLst>
              <a:ext uri="{FF2B5EF4-FFF2-40B4-BE49-F238E27FC236}">
                <a16:creationId xmlns:a16="http://schemas.microsoft.com/office/drawing/2014/main" id="{9205FA47-DB5C-4BF6-84C2-68E90EEF89A5}"/>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4" name="Straight Connector 13">
            <a:extLst>
              <a:ext uri="{FF2B5EF4-FFF2-40B4-BE49-F238E27FC236}">
                <a16:creationId xmlns:a16="http://schemas.microsoft.com/office/drawing/2014/main" id="{ECB77454-8E2E-44B6-B199-28BCDEF9A15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Rectangle 1027">
            <a:extLst>
              <a:ext uri="{FF2B5EF4-FFF2-40B4-BE49-F238E27FC236}">
                <a16:creationId xmlns:a16="http://schemas.microsoft.com/office/drawing/2014/main" id="{89364A26-2A40-4237-9018-C698F59CC8A6}"/>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Cylindrical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Rectangle 5">
            <a:extLst>
              <a:ext uri="{FF2B5EF4-FFF2-40B4-BE49-F238E27FC236}">
                <a16:creationId xmlns:a16="http://schemas.microsoft.com/office/drawing/2014/main" id="{2FA17C20-699E-4D79-90D7-D10A56118B2F}"/>
              </a:ext>
            </a:extLst>
          </p:cNvPr>
          <p:cNvSpPr txBox="1">
            <a:spLocks noChangeArrowheads="1"/>
          </p:cNvSpPr>
          <p:nvPr/>
        </p:nvSpPr>
        <p:spPr>
          <a:xfrm>
            <a:off x="302741" y="1696016"/>
            <a:ext cx="7046426" cy="3429000"/>
          </a:xfrm>
          <a:prstGeom prst="rect">
            <a:avLst/>
          </a:prstGeom>
        </p:spPr>
        <p:txBody>
          <a:bodyPr/>
          <a:lstStyle>
            <a:lvl1pPr marL="342900" indent="-342900" algn="l" rtl="0" eaLnBrk="0" fontAlgn="base" hangingPunct="0">
              <a:spcBef>
                <a:spcPct val="20000"/>
              </a:spcBef>
              <a:spcAft>
                <a:spcPct val="0"/>
              </a:spcAft>
              <a:buSzPct val="80000"/>
              <a:buBlip>
                <a:blip r:embed="rId4"/>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Cylinder around the equator </a:t>
            </a:r>
          </a:p>
          <a:p>
            <a:pPr>
              <a:lnSpc>
                <a:spcPct val="80000"/>
              </a:lnSpc>
              <a:buFont typeface="Wingdings" panose="05000000000000000000" pitchFamily="2" charset="2"/>
              <a:buChar char="ü"/>
            </a:pPr>
            <a:r>
              <a:rPr lang="en-US" sz="2100" kern="0" dirty="0"/>
              <a:t>Latitude &amp; longitude:        </a:t>
            </a:r>
          </a:p>
          <a:p>
            <a:pPr marL="0" indent="0">
              <a:lnSpc>
                <a:spcPct val="80000"/>
              </a:lnSpc>
              <a:buNone/>
            </a:pPr>
            <a:r>
              <a:rPr lang="en-US" sz="2100" kern="0" dirty="0"/>
              <a:t>    straight, intersect at 90°</a:t>
            </a:r>
          </a:p>
          <a:p>
            <a:pPr>
              <a:lnSpc>
                <a:spcPct val="80000"/>
              </a:lnSpc>
              <a:buFont typeface="Wingdings" panose="05000000000000000000" pitchFamily="2" charset="2"/>
              <a:buChar char="ü"/>
            </a:pPr>
            <a:r>
              <a:rPr lang="en-US" sz="2100" kern="0" dirty="0"/>
              <a:t>Distortion greatest at poles</a:t>
            </a:r>
          </a:p>
          <a:p>
            <a:pPr>
              <a:lnSpc>
                <a:spcPct val="80000"/>
              </a:lnSpc>
              <a:buFont typeface="Wingdings" panose="05000000000000000000" pitchFamily="2" charset="2"/>
              <a:buChar char="ü"/>
            </a:pPr>
            <a:r>
              <a:rPr lang="en-US" sz="2100" kern="0" dirty="0"/>
              <a:t>Good for low-latitude areas</a:t>
            </a:r>
          </a:p>
          <a:p>
            <a:pPr>
              <a:lnSpc>
                <a:spcPct val="80000"/>
              </a:lnSpc>
              <a:buFont typeface="Wingdings" panose="05000000000000000000" pitchFamily="2" charset="2"/>
              <a:buChar char="ü"/>
            </a:pPr>
            <a:r>
              <a:rPr lang="en-US" sz="2100" kern="0" dirty="0"/>
              <a:t>Good for navigation</a:t>
            </a:r>
          </a:p>
          <a:p>
            <a:pPr>
              <a:lnSpc>
                <a:spcPct val="80000"/>
              </a:lnSpc>
              <a:buFont typeface="Wingdings" panose="05000000000000000000" pitchFamily="2" charset="2"/>
              <a:buChar char="ü"/>
            </a:pPr>
            <a:r>
              <a:rPr lang="en-US" sz="2100" kern="0" dirty="0"/>
              <a:t>Mercator’s Projection</a:t>
            </a:r>
          </a:p>
          <a:p>
            <a:pPr>
              <a:lnSpc>
                <a:spcPct val="80000"/>
              </a:lnSpc>
              <a:buFont typeface="Arial" panose="020B0604020202020204" pitchFamily="34" charset="0"/>
              <a:buChar char="•"/>
            </a:pPr>
            <a:endParaRPr lang="en-US" sz="2100" kern="0" dirty="0">
              <a:solidFill>
                <a:schemeClr val="tx2">
                  <a:lumMod val="75000"/>
                </a:schemeClr>
              </a:solidFill>
            </a:endParaRPr>
          </a:p>
          <a:p>
            <a:pPr marL="457200" indent="-457200">
              <a:lnSpc>
                <a:spcPct val="80000"/>
              </a:lnSpc>
              <a:buNone/>
            </a:pPr>
            <a:endParaRPr lang="en-US" sz="2100" kern="0" dirty="0">
              <a:solidFill>
                <a:schemeClr val="tx2">
                  <a:lumMod val="75000"/>
                </a:schemeClr>
              </a:solidFill>
            </a:endParaRPr>
          </a:p>
          <a:p>
            <a:pPr marL="457200" indent="-457200">
              <a:lnSpc>
                <a:spcPct val="80000"/>
              </a:lnSpc>
              <a:buNone/>
            </a:pPr>
            <a:endParaRPr lang="en-US" sz="2100" kern="0" dirty="0">
              <a:solidFill>
                <a:schemeClr val="tx2">
                  <a:lumMod val="75000"/>
                </a:schemeClr>
              </a:solidFill>
            </a:endParaRPr>
          </a:p>
        </p:txBody>
      </p:sp>
      <p:sp>
        <p:nvSpPr>
          <p:cNvPr id="4" name="Slide Number Placeholder 3">
            <a:extLst>
              <a:ext uri="{FF2B5EF4-FFF2-40B4-BE49-F238E27FC236}">
                <a16:creationId xmlns:a16="http://schemas.microsoft.com/office/drawing/2014/main" id="{1E80FC62-8680-4026-A312-C970236EACBE}"/>
              </a:ext>
            </a:extLst>
          </p:cNvPr>
          <p:cNvSpPr>
            <a:spLocks noGrp="1"/>
          </p:cNvSpPr>
          <p:nvPr>
            <p:ph type="sldNum" sz="quarter" idx="12"/>
          </p:nvPr>
        </p:nvSpPr>
        <p:spPr/>
        <p:txBody>
          <a:bodyPr/>
          <a:lstStyle/>
          <a:p>
            <a:fld id="{127DDC20-79C9-9647-820E-6D40A3D210C3}" type="slidenum">
              <a:rPr lang="en-US" smtClean="0"/>
              <a:pPr/>
              <a:t>39</a:t>
            </a:fld>
            <a:endParaRPr lang="en-US"/>
          </a:p>
        </p:txBody>
      </p:sp>
    </p:spTree>
    <p:extLst>
      <p:ext uri="{BB962C8B-B14F-4D97-AF65-F5344CB8AC3E}">
        <p14:creationId xmlns:p14="http://schemas.microsoft.com/office/powerpoint/2010/main" val="3575216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051DFB31-93A0-4929-88AA-CE2C0E0324F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Text Box 4"/>
          <p:cNvSpPr txBox="1">
            <a:spLocks noChangeArrowheads="1"/>
          </p:cNvSpPr>
          <p:nvPr/>
        </p:nvSpPr>
        <p:spPr bwMode="gray">
          <a:xfrm>
            <a:off x="4282006" y="2438842"/>
            <a:ext cx="743858" cy="279751"/>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S</a:t>
            </a:r>
            <a:r>
              <a:rPr lang="en-US" sz="1620" dirty="0"/>
              <a:t>hape</a:t>
            </a:r>
          </a:p>
        </p:txBody>
      </p:sp>
      <p:sp>
        <p:nvSpPr>
          <p:cNvPr id="9" name="Text Box 5"/>
          <p:cNvSpPr txBox="1">
            <a:spLocks noChangeArrowheads="1"/>
          </p:cNvSpPr>
          <p:nvPr/>
        </p:nvSpPr>
        <p:spPr bwMode="gray">
          <a:xfrm>
            <a:off x="4366683" y="3032106"/>
            <a:ext cx="565932" cy="279750"/>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A</a:t>
            </a:r>
            <a:r>
              <a:rPr lang="en-US" sz="1620" dirty="0"/>
              <a:t>rea</a:t>
            </a:r>
          </a:p>
        </p:txBody>
      </p:sp>
      <p:sp>
        <p:nvSpPr>
          <p:cNvPr id="10" name="Text Box 6"/>
          <p:cNvSpPr txBox="1">
            <a:spLocks noChangeArrowheads="1"/>
          </p:cNvSpPr>
          <p:nvPr/>
        </p:nvSpPr>
        <p:spPr bwMode="gray">
          <a:xfrm>
            <a:off x="4158745" y="3554897"/>
            <a:ext cx="962514" cy="278679"/>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D</a:t>
            </a:r>
            <a:r>
              <a:rPr lang="en-US" sz="1620" dirty="0"/>
              <a:t>istance</a:t>
            </a:r>
          </a:p>
        </p:txBody>
      </p:sp>
      <p:grpSp>
        <p:nvGrpSpPr>
          <p:cNvPr id="3" name="Group 2"/>
          <p:cNvGrpSpPr/>
          <p:nvPr/>
        </p:nvGrpSpPr>
        <p:grpSpPr>
          <a:xfrm>
            <a:off x="4104082" y="2005818"/>
            <a:ext cx="3825402" cy="2320537"/>
            <a:chOff x="4794250" y="3024187"/>
            <a:chExt cx="5665787" cy="3436938"/>
          </a:xfrm>
        </p:grpSpPr>
        <p:sp>
          <p:nvSpPr>
            <p:cNvPr id="11" name="Text Box 7"/>
            <p:cNvSpPr txBox="1">
              <a:spLocks noChangeArrowheads="1"/>
            </p:cNvSpPr>
            <p:nvPr/>
          </p:nvSpPr>
          <p:spPr bwMode="gray">
            <a:xfrm>
              <a:off x="4794250" y="5983286"/>
              <a:ext cx="1331308" cy="463564"/>
            </a:xfrm>
            <a:prstGeom prst="rect">
              <a:avLst/>
            </a:prstGeom>
            <a:solidFill>
              <a:srgbClr val="FFCC00"/>
            </a:solidFill>
            <a:ln w="9525">
              <a:solidFill>
                <a:srgbClr val="000066"/>
              </a:solidFill>
              <a:miter lim="800000"/>
              <a:headEnd/>
              <a:tailEnd/>
            </a:ln>
          </p:spPr>
          <p:txBody>
            <a:bodyPr wrap="none" lIns="63071" tIns="31536" rIns="63071" bIns="31536">
              <a:spAutoFit/>
            </a:bodyPr>
            <a:lstStyle/>
            <a:p>
              <a:pPr>
                <a:spcBef>
                  <a:spcPct val="30000"/>
                </a:spcBef>
              </a:pPr>
              <a:r>
                <a:rPr lang="en-US" sz="1620" u="sng" dirty="0"/>
                <a:t>D</a:t>
              </a:r>
              <a:r>
                <a:rPr lang="en-US" sz="1620" dirty="0"/>
                <a:t>irection</a:t>
              </a:r>
            </a:p>
          </p:txBody>
        </p:sp>
        <p:sp>
          <p:nvSpPr>
            <p:cNvPr id="12" name="Oval 8"/>
            <p:cNvSpPr>
              <a:spLocks noChangeArrowheads="1"/>
            </p:cNvSpPr>
            <p:nvPr/>
          </p:nvSpPr>
          <p:spPr bwMode="gray">
            <a:xfrm>
              <a:off x="9169400" y="4200525"/>
              <a:ext cx="1168400" cy="11017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4" name="Oval 9"/>
            <p:cNvSpPr>
              <a:spLocks noChangeArrowheads="1"/>
            </p:cNvSpPr>
            <p:nvPr/>
          </p:nvSpPr>
          <p:spPr bwMode="gray">
            <a:xfrm>
              <a:off x="6675437" y="4419600"/>
              <a:ext cx="757238"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5" name="Line 10"/>
            <p:cNvSpPr>
              <a:spLocks noChangeShapeType="1"/>
            </p:cNvSpPr>
            <p:nvPr/>
          </p:nvSpPr>
          <p:spPr bwMode="gray">
            <a:xfrm>
              <a:off x="6702425" y="5592762"/>
              <a:ext cx="75723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6" name="Line 11"/>
            <p:cNvSpPr>
              <a:spLocks noChangeShapeType="1"/>
            </p:cNvSpPr>
            <p:nvPr/>
          </p:nvSpPr>
          <p:spPr bwMode="gray">
            <a:xfrm>
              <a:off x="8947150" y="5592762"/>
              <a:ext cx="151288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7" name="Freeform 12"/>
            <p:cNvSpPr>
              <a:spLocks/>
            </p:cNvSpPr>
            <p:nvPr/>
          </p:nvSpPr>
          <p:spPr bwMode="gray">
            <a:xfrm>
              <a:off x="6804025" y="5910262"/>
              <a:ext cx="687387" cy="550863"/>
            </a:xfrm>
            <a:custGeom>
              <a:avLst/>
              <a:gdLst>
                <a:gd name="T0" fmla="*/ 0 w 480"/>
                <a:gd name="T1" fmla="*/ 0 h 384"/>
                <a:gd name="T2" fmla="*/ 0 w 480"/>
                <a:gd name="T3" fmla="*/ 790233164 h 384"/>
                <a:gd name="T4" fmla="*/ 984378389 w 480"/>
                <a:gd name="T5" fmla="*/ 790233164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384"/>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8" name="Freeform 13"/>
            <p:cNvSpPr>
              <a:spLocks/>
            </p:cNvSpPr>
            <p:nvPr/>
          </p:nvSpPr>
          <p:spPr bwMode="gray">
            <a:xfrm>
              <a:off x="9410700" y="5910262"/>
              <a:ext cx="687387" cy="550863"/>
            </a:xfrm>
            <a:custGeom>
              <a:avLst/>
              <a:gdLst>
                <a:gd name="T0" fmla="*/ 0 w 480"/>
                <a:gd name="T1" fmla="*/ 0 h 384"/>
                <a:gd name="T2" fmla="*/ 0 w 480"/>
                <a:gd name="T3" fmla="*/ 790233164 h 384"/>
                <a:gd name="T4" fmla="*/ 984378389 w 480"/>
                <a:gd name="T5" fmla="*/ 493896042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240"/>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9" name="Line 14"/>
            <p:cNvSpPr>
              <a:spLocks noChangeShapeType="1"/>
            </p:cNvSpPr>
            <p:nvPr/>
          </p:nvSpPr>
          <p:spPr bwMode="gray">
            <a:xfrm>
              <a:off x="7889875" y="627221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0" name="Line 15"/>
            <p:cNvSpPr>
              <a:spLocks noChangeShapeType="1"/>
            </p:cNvSpPr>
            <p:nvPr/>
          </p:nvSpPr>
          <p:spPr bwMode="gray">
            <a:xfrm>
              <a:off x="7861300" y="559276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1" name="Line 16"/>
            <p:cNvSpPr>
              <a:spLocks noChangeShapeType="1"/>
            </p:cNvSpPr>
            <p:nvPr/>
          </p:nvSpPr>
          <p:spPr bwMode="gray">
            <a:xfrm>
              <a:off x="7889875" y="4743450"/>
              <a:ext cx="757237" cy="1587"/>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2" name="Oval 17"/>
            <p:cNvSpPr>
              <a:spLocks noChangeArrowheads="1"/>
            </p:cNvSpPr>
            <p:nvPr/>
          </p:nvSpPr>
          <p:spPr bwMode="gray">
            <a:xfrm>
              <a:off x="6657975" y="3554412"/>
              <a:ext cx="757237"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3" name="Oval 18"/>
            <p:cNvSpPr>
              <a:spLocks noChangeArrowheads="1"/>
            </p:cNvSpPr>
            <p:nvPr/>
          </p:nvSpPr>
          <p:spPr bwMode="gray">
            <a:xfrm>
              <a:off x="8980487" y="3590925"/>
              <a:ext cx="1466850" cy="488950"/>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5" name="Line 19"/>
            <p:cNvSpPr>
              <a:spLocks noChangeShapeType="1"/>
            </p:cNvSpPr>
            <p:nvPr/>
          </p:nvSpPr>
          <p:spPr bwMode="gray">
            <a:xfrm>
              <a:off x="7881937" y="3903662"/>
              <a:ext cx="757238"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6" name="Text Box 20"/>
            <p:cNvSpPr txBox="1">
              <a:spLocks noChangeArrowheads="1"/>
            </p:cNvSpPr>
            <p:nvPr/>
          </p:nvSpPr>
          <p:spPr bwMode="gray">
            <a:xfrm>
              <a:off x="6475412" y="3024187"/>
              <a:ext cx="999206"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3D Earth</a:t>
              </a:r>
            </a:p>
          </p:txBody>
        </p:sp>
        <p:sp>
          <p:nvSpPr>
            <p:cNvPr id="27" name="Text Box 21"/>
            <p:cNvSpPr txBox="1">
              <a:spLocks noChangeArrowheads="1"/>
            </p:cNvSpPr>
            <p:nvPr/>
          </p:nvSpPr>
          <p:spPr bwMode="gray">
            <a:xfrm>
              <a:off x="9245601" y="3024187"/>
              <a:ext cx="929404"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2D Map</a:t>
              </a:r>
            </a:p>
          </p:txBody>
        </p:sp>
      </p:grpSp>
      <p:sp>
        <p:nvSpPr>
          <p:cNvPr id="28" name="Title 1">
            <a:extLst>
              <a:ext uri="{FF2B5EF4-FFF2-40B4-BE49-F238E27FC236}">
                <a16:creationId xmlns:a16="http://schemas.microsoft.com/office/drawing/2014/main" id="{824C551C-33CC-4EA0-A7EB-026F9F989E15}"/>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29" name="Straight Connector 28">
            <a:extLst>
              <a:ext uri="{FF2B5EF4-FFF2-40B4-BE49-F238E27FC236}">
                <a16:creationId xmlns:a16="http://schemas.microsoft.com/office/drawing/2014/main" id="{1DFD9287-2369-486B-878E-DC116BC8D6A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F112001B-AA49-455D-89F0-16669F81C458}"/>
              </a:ext>
            </a:extLst>
          </p:cNvPr>
          <p:cNvSpPr>
            <a:spLocks noGrp="1"/>
          </p:cNvSpPr>
          <p:nvPr>
            <p:ph type="sldNum" sz="quarter" idx="12"/>
          </p:nvPr>
        </p:nvSpPr>
        <p:spPr/>
        <p:txBody>
          <a:bodyPr/>
          <a:lstStyle/>
          <a:p>
            <a:fld id="{127DDC20-79C9-9647-820E-6D40A3D210C3}" type="slidenum">
              <a:rPr lang="en-US" smtClean="0"/>
              <a:pPr/>
              <a:t>40</a:t>
            </a:fld>
            <a:endParaRPr lang="en-US"/>
          </a:p>
        </p:txBody>
      </p:sp>
    </p:spTree>
    <p:extLst>
      <p:ext uri="{BB962C8B-B14F-4D97-AF65-F5344CB8AC3E}">
        <p14:creationId xmlns:p14="http://schemas.microsoft.com/office/powerpoint/2010/main" val="900295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640A67BC-646A-442C-9E4C-27354613D30C}"/>
              </a:ext>
            </a:extLst>
          </p:cNvPr>
          <p:cNvSpPr txBox="1">
            <a:spLocks noChangeArrowheads="1"/>
          </p:cNvSpPr>
          <p:nvPr/>
        </p:nvSpPr>
        <p:spPr>
          <a:xfrm>
            <a:off x="302741" y="1029962"/>
            <a:ext cx="7679724" cy="246830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9" name="Title 1">
            <a:extLst>
              <a:ext uri="{FF2B5EF4-FFF2-40B4-BE49-F238E27FC236}">
                <a16:creationId xmlns:a16="http://schemas.microsoft.com/office/drawing/2014/main" id="{01A65D0E-1CDF-415C-9072-DC5B85531F1D}"/>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29BBFCA4-97C1-43E4-BC41-2986C183A9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DCF57F55-BDA3-4ACF-9F8F-EE3A141EEE21}"/>
              </a:ext>
            </a:extLst>
          </p:cNvPr>
          <p:cNvSpPr>
            <a:spLocks noGrp="1"/>
          </p:cNvSpPr>
          <p:nvPr>
            <p:ph type="sldNum" sz="quarter" idx="12"/>
          </p:nvPr>
        </p:nvSpPr>
        <p:spPr/>
        <p:txBody>
          <a:bodyPr/>
          <a:lstStyle/>
          <a:p>
            <a:fld id="{127DDC20-79C9-9647-820E-6D40A3D210C3}" type="slidenum">
              <a:rPr lang="en-US" smtClean="0"/>
              <a:pPr/>
              <a:t>41</a:t>
            </a:fld>
            <a:endParaRPr lang="en-US"/>
          </a:p>
        </p:txBody>
      </p:sp>
      <p:pic>
        <p:nvPicPr>
          <p:cNvPr id="8" name="Picture 7" descr="Diagram&#10;&#10;Description automatically generated">
            <a:extLst>
              <a:ext uri="{FF2B5EF4-FFF2-40B4-BE49-F238E27FC236}">
                <a16:creationId xmlns:a16="http://schemas.microsoft.com/office/drawing/2014/main" id="{FD0887AC-93F4-4738-A69E-6FFC2F19EF4E}"/>
              </a:ext>
            </a:extLst>
          </p:cNvPr>
          <p:cNvPicPr>
            <a:picLocks noChangeAspect="1"/>
          </p:cNvPicPr>
          <p:nvPr/>
        </p:nvPicPr>
        <p:blipFill>
          <a:blip r:embed="rId3"/>
          <a:stretch>
            <a:fillRect/>
          </a:stretch>
        </p:blipFill>
        <p:spPr>
          <a:xfrm>
            <a:off x="3521070" y="1945681"/>
            <a:ext cx="3814251" cy="3197819"/>
          </a:xfrm>
          <a:prstGeom prst="rect">
            <a:avLst/>
          </a:prstGeom>
        </p:spPr>
      </p:pic>
      <p:sp>
        <p:nvSpPr>
          <p:cNvPr id="11" name="TextBox 10">
            <a:extLst>
              <a:ext uri="{FF2B5EF4-FFF2-40B4-BE49-F238E27FC236}">
                <a16:creationId xmlns:a16="http://schemas.microsoft.com/office/drawing/2014/main" id="{71735430-B1F3-40D7-BFAC-EE6F7CC89A53}"/>
              </a:ext>
            </a:extLst>
          </p:cNvPr>
          <p:cNvSpPr txBox="1"/>
          <p:nvPr/>
        </p:nvSpPr>
        <p:spPr>
          <a:xfrm>
            <a:off x="1764957" y="4794886"/>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
        <p:nvSpPr>
          <p:cNvPr id="14" name="TextBox 13">
            <a:extLst>
              <a:ext uri="{FF2B5EF4-FFF2-40B4-BE49-F238E27FC236}">
                <a16:creationId xmlns:a16="http://schemas.microsoft.com/office/drawing/2014/main" id="{7CB4316C-A0EE-47F8-9170-AD4E258DABAC}"/>
              </a:ext>
            </a:extLst>
          </p:cNvPr>
          <p:cNvSpPr txBox="1"/>
          <p:nvPr/>
        </p:nvSpPr>
        <p:spPr>
          <a:xfrm>
            <a:off x="2466644" y="3988825"/>
            <a:ext cx="1143254" cy="338554"/>
          </a:xfrm>
          <a:prstGeom prst="rect">
            <a:avLst/>
          </a:prstGeom>
          <a:noFill/>
        </p:spPr>
        <p:txBody>
          <a:bodyPr wrap="square" rtlCol="0">
            <a:spAutoFit/>
          </a:bodyPr>
          <a:lstStyle/>
          <a:p>
            <a:r>
              <a:rPr lang="en-US" sz="1600" dirty="0"/>
              <a:t>Mercator</a:t>
            </a:r>
          </a:p>
        </p:txBody>
      </p:sp>
      <p:sp>
        <p:nvSpPr>
          <p:cNvPr id="15" name="TextBox 14">
            <a:extLst>
              <a:ext uri="{FF2B5EF4-FFF2-40B4-BE49-F238E27FC236}">
                <a16:creationId xmlns:a16="http://schemas.microsoft.com/office/drawing/2014/main" id="{81CD2DDF-232D-45CC-AB26-87257A7B692F}"/>
              </a:ext>
            </a:extLst>
          </p:cNvPr>
          <p:cNvSpPr txBox="1"/>
          <p:nvPr/>
        </p:nvSpPr>
        <p:spPr>
          <a:xfrm>
            <a:off x="7265100" y="3928202"/>
            <a:ext cx="1124647" cy="584775"/>
          </a:xfrm>
          <a:prstGeom prst="rect">
            <a:avLst/>
          </a:prstGeom>
          <a:noFill/>
        </p:spPr>
        <p:txBody>
          <a:bodyPr wrap="square" rtlCol="0">
            <a:spAutoFit/>
          </a:bodyPr>
          <a:lstStyle/>
          <a:p>
            <a:r>
              <a:rPr lang="en-US" sz="1600" dirty="0"/>
              <a:t>Transverse Mercator</a:t>
            </a:r>
          </a:p>
        </p:txBody>
      </p:sp>
    </p:spTree>
    <p:extLst>
      <p:ext uri="{BB962C8B-B14F-4D97-AF65-F5344CB8AC3E}">
        <p14:creationId xmlns:p14="http://schemas.microsoft.com/office/powerpoint/2010/main" val="633407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 2-2</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42</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248311"/>
            <a:ext cx="7665720" cy="1938992"/>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true size tool </a:t>
            </a:r>
            <a:r>
              <a:rPr lang="en-US" sz="2000" dirty="0">
                <a:hlinkClick r:id="rId3"/>
              </a:rPr>
              <a:t>https://thetruesize.com</a:t>
            </a:r>
            <a:r>
              <a:rPr lang="en-US" sz="2000" dirty="0"/>
              <a:t>, discuss with your group members:</a:t>
            </a:r>
          </a:p>
          <a:p>
            <a:pPr marL="800100" lvl="1" indent="-342900">
              <a:buFont typeface="Wingdings" panose="05000000000000000000" pitchFamily="2" charset="2"/>
              <a:buChar char="ü"/>
            </a:pPr>
            <a:r>
              <a:rPr lang="en-US" sz="2000" dirty="0"/>
              <a:t>Do you know there are some distortions in the map before the class?</a:t>
            </a:r>
          </a:p>
          <a:p>
            <a:pPr marL="800100" lvl="1" indent="-342900">
              <a:buFont typeface="Wingdings" panose="05000000000000000000" pitchFamily="2" charset="2"/>
              <a:buChar char="ü"/>
            </a:pPr>
            <a:r>
              <a:rPr lang="en-US" sz="2000" dirty="0"/>
              <a:t>What did surprise you?</a:t>
            </a:r>
          </a:p>
          <a:p>
            <a:pPr marL="800100" lvl="1" indent="-342900">
              <a:buFont typeface="Wingdings" panose="05000000000000000000" pitchFamily="2" charset="2"/>
              <a:buChar char="ü"/>
            </a:pPr>
            <a:endParaRPr lang="en-US" sz="2000" dirty="0"/>
          </a:p>
        </p:txBody>
      </p:sp>
    </p:spTree>
    <p:extLst>
      <p:ext uri="{BB962C8B-B14F-4D97-AF65-F5344CB8AC3E}">
        <p14:creationId xmlns:p14="http://schemas.microsoft.com/office/powerpoint/2010/main" val="106993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540C786-1801-4D67-8BE8-237F4470E6B3}"/>
              </a:ext>
            </a:extLst>
          </p:cNvPr>
          <p:cNvSpPr>
            <a:spLocks noGrp="1"/>
          </p:cNvSpPr>
          <p:nvPr>
            <p:ph type="sldNum" sz="quarter" idx="12"/>
          </p:nvPr>
        </p:nvSpPr>
        <p:spPr/>
        <p:txBody>
          <a:bodyPr/>
          <a:lstStyle/>
          <a:p>
            <a:fld id="{127DDC20-79C9-9647-820E-6D40A3D210C3}" type="slidenum">
              <a:rPr lang="en-US" smtClean="0"/>
              <a:pPr/>
              <a:t>43</a:t>
            </a:fld>
            <a:endParaRPr lang="en-US"/>
          </a:p>
        </p:txBody>
      </p:sp>
      <p:sp>
        <p:nvSpPr>
          <p:cNvPr id="5" name="Title 1">
            <a:extLst>
              <a:ext uri="{FF2B5EF4-FFF2-40B4-BE49-F238E27FC236}">
                <a16:creationId xmlns:a16="http://schemas.microsoft.com/office/drawing/2014/main" id="{3B6A7E13-16E3-4E5E-AFDA-35BB3D6649C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BA38A5A2-8EBD-4005-8A18-0A56C5731A5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D6CD3AC-CCF1-34FA-F1E0-3C32D94E5980}"/>
              </a:ext>
            </a:extLst>
          </p:cNvPr>
          <p:cNvSpPr txBox="1"/>
          <p:nvPr/>
        </p:nvSpPr>
        <p:spPr>
          <a:xfrm>
            <a:off x="1487605" y="2571750"/>
            <a:ext cx="5868537" cy="584775"/>
          </a:xfrm>
          <a:prstGeom prst="rect">
            <a:avLst/>
          </a:prstGeom>
          <a:noFill/>
        </p:spPr>
        <p:txBody>
          <a:bodyPr wrap="square" rtlCol="0">
            <a:spAutoFit/>
          </a:bodyPr>
          <a:lstStyle/>
          <a:p>
            <a:r>
              <a:rPr lang="en-US" sz="3200" dirty="0">
                <a:hlinkClick r:id="rId3"/>
              </a:rPr>
              <a:t>Why all world maps are wrong</a:t>
            </a:r>
            <a:r>
              <a:rPr lang="en-US" sz="3200" dirty="0"/>
              <a:t>?</a:t>
            </a:r>
          </a:p>
        </p:txBody>
      </p:sp>
    </p:spTree>
    <p:extLst>
      <p:ext uri="{BB962C8B-B14F-4D97-AF65-F5344CB8AC3E}">
        <p14:creationId xmlns:p14="http://schemas.microsoft.com/office/powerpoint/2010/main" val="92407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75765"/>
            <a:ext cx="7406640" cy="3868482"/>
          </a:xfrm>
        </p:spPr>
        <p:txBody>
          <a:bodyPr>
            <a:normAutofit fontScale="62500" lnSpcReduction="20000"/>
          </a:bodyPr>
          <a:lstStyle/>
          <a:p>
            <a:pPr>
              <a:buFont typeface="Courier New" panose="02070309020205020404" pitchFamily="49" charset="0"/>
              <a:buChar char="o"/>
            </a:pPr>
            <a:r>
              <a:rPr lang="en-US" sz="3600" dirty="0"/>
              <a:t>Type</a:t>
            </a:r>
          </a:p>
          <a:p>
            <a:pPr>
              <a:buFont typeface="Wingdings" panose="05000000000000000000" pitchFamily="2" charset="2"/>
              <a:buChar char="ü"/>
            </a:pPr>
            <a:r>
              <a:rPr lang="en-US" b="1" dirty="0">
                <a:solidFill>
                  <a:srgbClr val="E3874F"/>
                </a:solidFill>
              </a:rPr>
              <a:t>Conformal Projections: </a:t>
            </a:r>
            <a:r>
              <a:rPr lang="en-US" dirty="0"/>
              <a:t>preserves local angles and shape</a:t>
            </a:r>
          </a:p>
          <a:p>
            <a:pPr>
              <a:buFont typeface="Wingdings" panose="05000000000000000000" pitchFamily="2" charset="2"/>
              <a:buChar char="ü"/>
            </a:pPr>
            <a:r>
              <a:rPr lang="en-US" b="1" dirty="0">
                <a:solidFill>
                  <a:srgbClr val="E3874F"/>
                </a:solidFill>
              </a:rPr>
              <a:t>Equivalent Projections: </a:t>
            </a:r>
            <a:r>
              <a:rPr lang="en-US" dirty="0"/>
              <a:t>represents areas in correct relative size</a:t>
            </a:r>
          </a:p>
          <a:p>
            <a:pPr>
              <a:buFont typeface="Wingdings" panose="05000000000000000000" pitchFamily="2" charset="2"/>
              <a:buChar char="ü"/>
            </a:pPr>
            <a:r>
              <a:rPr lang="en-US" b="1" dirty="0">
                <a:solidFill>
                  <a:srgbClr val="E3874F"/>
                </a:solidFill>
              </a:rPr>
              <a:t>Equidistant Projections: </a:t>
            </a:r>
            <a:r>
              <a:rPr lang="en-US" dirty="0"/>
              <a:t>maintains consistent scale or distance along certain lines</a:t>
            </a:r>
          </a:p>
          <a:p>
            <a:pPr>
              <a:buFont typeface="Wingdings" panose="05000000000000000000" pitchFamily="2" charset="2"/>
              <a:buChar char="ü"/>
            </a:pPr>
            <a:r>
              <a:rPr lang="en-US" b="1" dirty="0">
                <a:solidFill>
                  <a:srgbClr val="E3874F"/>
                </a:solidFill>
              </a:rPr>
              <a:t>Azimuthal Projections: </a:t>
            </a:r>
            <a:r>
              <a:rPr lang="en-US" dirty="0"/>
              <a:t>maintains certain accurate directions relative to certain vantage point</a:t>
            </a:r>
          </a:p>
          <a:p>
            <a:pPr marL="0" indent="0">
              <a:buNone/>
            </a:pPr>
            <a:endParaRPr lang="en-US" dirty="0"/>
          </a:p>
          <a:p>
            <a:pPr>
              <a:buFont typeface="Wingdings" panose="05000000000000000000" pitchFamily="2" charset="2"/>
              <a:buChar char="§"/>
            </a:pPr>
            <a:r>
              <a:rPr lang="en-US" dirty="0"/>
              <a:t>Conformal and equivalent projections’ properties are mutually exclusive</a:t>
            </a:r>
          </a:p>
          <a:p>
            <a:pPr>
              <a:buFont typeface="Wingdings" panose="05000000000000000000" pitchFamily="2" charset="2"/>
              <a:buChar char="§"/>
            </a:pPr>
            <a:r>
              <a:rPr lang="en-US" dirty="0"/>
              <a:t>Conformal and equivalent projections’ properties are global properties</a:t>
            </a:r>
          </a:p>
          <a:p>
            <a:pPr>
              <a:buFont typeface="Wingdings" panose="05000000000000000000" pitchFamily="2" charset="2"/>
              <a:buChar char="§"/>
            </a:pPr>
            <a:endParaRPr lang="en-US" dirty="0"/>
          </a:p>
          <a:p>
            <a:pPr>
              <a:buFont typeface="Wingdings" panose="05000000000000000000" pitchFamily="2" charset="2"/>
              <a:buChar char="§"/>
            </a:pPr>
            <a:r>
              <a:rPr lang="en-US" dirty="0"/>
              <a:t>Equidistant and azimuthal projections’ properties are local properties and may be true only from or to the center of the map projection</a:t>
            </a:r>
          </a:p>
        </p:txBody>
      </p:sp>
      <p:sp>
        <p:nvSpPr>
          <p:cNvPr id="6" name="Title 1">
            <a:extLst>
              <a:ext uri="{FF2B5EF4-FFF2-40B4-BE49-F238E27FC236}">
                <a16:creationId xmlns:a16="http://schemas.microsoft.com/office/drawing/2014/main" id="{E2266D52-F98D-4363-BFC0-5605F0A2DA78}"/>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A0BD5C66-E08E-436F-B77F-3958622AF55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E230E1B9-106B-410E-A708-B415AA55DD53}"/>
              </a:ext>
            </a:extLst>
          </p:cNvPr>
          <p:cNvSpPr>
            <a:spLocks noGrp="1"/>
          </p:cNvSpPr>
          <p:nvPr>
            <p:ph type="sldNum" sz="quarter" idx="12"/>
          </p:nvPr>
        </p:nvSpPr>
        <p:spPr/>
        <p:txBody>
          <a:bodyPr/>
          <a:lstStyle/>
          <a:p>
            <a:fld id="{127DDC20-79C9-9647-820E-6D40A3D210C3}" type="slidenum">
              <a:rPr lang="en-US" smtClean="0"/>
              <a:pPr/>
              <a:t>44</a:t>
            </a:fld>
            <a:endParaRPr lang="en-US"/>
          </a:p>
        </p:txBody>
      </p:sp>
    </p:spTree>
    <p:extLst>
      <p:ext uri="{BB962C8B-B14F-4D97-AF65-F5344CB8AC3E}">
        <p14:creationId xmlns:p14="http://schemas.microsoft.com/office/powerpoint/2010/main" val="1895197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C1C7CEB-4D6F-4ADB-A5D3-3A9D0035CEE3}"/>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Tissot Indicatrix</a:t>
            </a:r>
          </a:p>
          <a:p>
            <a:pPr lvl="1">
              <a:buFont typeface="Wingdings" panose="05000000000000000000" pitchFamily="2" charset="2"/>
              <a:buChar char="ü"/>
            </a:pPr>
            <a:r>
              <a:rPr lang="en-US" sz="2440" dirty="0"/>
              <a:t>Without any distortions, the circles will all be the same shape, perfect circles, and size</a:t>
            </a:r>
          </a:p>
          <a:p>
            <a:pPr marL="0" indent="0">
              <a:lnSpc>
                <a:spcPct val="90000"/>
              </a:lnSpc>
              <a:buNone/>
            </a:pPr>
            <a:endParaRPr lang="en-US" altLang="en-US" sz="2600" dirty="0"/>
          </a:p>
          <a:p>
            <a:pPr marL="0" lvl="1" indent="0">
              <a:buNone/>
            </a:pPr>
            <a:endParaRPr lang="en-US" altLang="en-US" sz="2600" dirty="0"/>
          </a:p>
          <a:p>
            <a:pPr marL="411480" lvl="1" indent="0">
              <a:buNone/>
            </a:pPr>
            <a:endParaRPr lang="en-US" altLang="en-US" sz="2160" dirty="0"/>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960858" y="2320043"/>
            <a:ext cx="2782160" cy="2398304"/>
          </a:xfrm>
          <a:prstGeom prst="rect">
            <a:avLst/>
          </a:prstGeom>
        </p:spPr>
      </p:pic>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4261469" y="2320043"/>
            <a:ext cx="3968131" cy="2059629"/>
          </a:xfrm>
          <a:prstGeom prst="rect">
            <a:avLst/>
          </a:prstGeom>
        </p:spPr>
      </p:pic>
      <p:sp>
        <p:nvSpPr>
          <p:cNvPr id="6" name="Title 1">
            <a:extLst>
              <a:ext uri="{FF2B5EF4-FFF2-40B4-BE49-F238E27FC236}">
                <a16:creationId xmlns:a16="http://schemas.microsoft.com/office/drawing/2014/main" id="{556BFC76-B0B1-40E5-AB0A-FF48EEF2F591}"/>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1D0B9550-3D77-4772-A282-F548C059630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0D0EA34-ED29-4414-8883-93E0D7751E0F}"/>
              </a:ext>
            </a:extLst>
          </p:cNvPr>
          <p:cNvSpPr txBox="1"/>
          <p:nvPr/>
        </p:nvSpPr>
        <p:spPr>
          <a:xfrm>
            <a:off x="1160184" y="4592996"/>
            <a:ext cx="2706401" cy="646331"/>
          </a:xfrm>
          <a:prstGeom prst="rect">
            <a:avLst/>
          </a:prstGeom>
          <a:noFill/>
        </p:spPr>
        <p:txBody>
          <a:bodyPr wrap="square">
            <a:spAutoFit/>
          </a:bodyPr>
          <a:lstStyle/>
          <a:p>
            <a:r>
              <a:rPr lang="en-US" baseline="0" dirty="0"/>
              <a:t>Mercator projection</a:t>
            </a:r>
          </a:p>
          <a:p>
            <a:r>
              <a:rPr lang="en-US" dirty="0"/>
              <a:t>Distort size but not shape</a:t>
            </a:r>
            <a:r>
              <a:rPr lang="en-US" baseline="0" dirty="0"/>
              <a:t> </a:t>
            </a:r>
            <a:endParaRPr lang="en-US" dirty="0"/>
          </a:p>
        </p:txBody>
      </p:sp>
      <p:sp>
        <p:nvSpPr>
          <p:cNvPr id="14" name="TextBox 13">
            <a:extLst>
              <a:ext uri="{FF2B5EF4-FFF2-40B4-BE49-F238E27FC236}">
                <a16:creationId xmlns:a16="http://schemas.microsoft.com/office/drawing/2014/main" id="{27A4DAC6-D767-498F-A0ED-B8F0ED6F6DA9}"/>
              </a:ext>
            </a:extLst>
          </p:cNvPr>
          <p:cNvSpPr txBox="1"/>
          <p:nvPr/>
        </p:nvSpPr>
        <p:spPr>
          <a:xfrm>
            <a:off x="5191385" y="4538076"/>
            <a:ext cx="3117456" cy="646331"/>
          </a:xfrm>
          <a:prstGeom prst="rect">
            <a:avLst/>
          </a:prstGeom>
          <a:noFill/>
        </p:spPr>
        <p:txBody>
          <a:bodyPr wrap="square">
            <a:spAutoFit/>
          </a:bodyPr>
          <a:lstStyle/>
          <a:p>
            <a:r>
              <a:rPr lang="en-US" dirty="0"/>
              <a:t>Mollweide projection</a:t>
            </a:r>
          </a:p>
          <a:p>
            <a:r>
              <a:rPr lang="en-US" baseline="0" dirty="0"/>
              <a:t>Distort shape but not size </a:t>
            </a:r>
            <a:endParaRPr lang="en-US" dirty="0"/>
          </a:p>
        </p:txBody>
      </p:sp>
      <p:sp>
        <p:nvSpPr>
          <p:cNvPr id="2" name="Slide Number Placeholder 1">
            <a:extLst>
              <a:ext uri="{FF2B5EF4-FFF2-40B4-BE49-F238E27FC236}">
                <a16:creationId xmlns:a16="http://schemas.microsoft.com/office/drawing/2014/main" id="{091FF3FB-9779-4907-A556-CB652E5D774C}"/>
              </a:ext>
            </a:extLst>
          </p:cNvPr>
          <p:cNvSpPr>
            <a:spLocks noGrp="1"/>
          </p:cNvSpPr>
          <p:nvPr>
            <p:ph type="sldNum" sz="quarter" idx="12"/>
          </p:nvPr>
        </p:nvSpPr>
        <p:spPr/>
        <p:txBody>
          <a:bodyPr/>
          <a:lstStyle/>
          <a:p>
            <a:fld id="{127DDC20-79C9-9647-820E-6D40A3D210C3}" type="slidenum">
              <a:rPr lang="en-US" smtClean="0"/>
              <a:pPr/>
              <a:t>45</a:t>
            </a:fld>
            <a:endParaRPr lang="en-US"/>
          </a:p>
        </p:txBody>
      </p:sp>
    </p:spTree>
    <p:extLst>
      <p:ext uri="{BB962C8B-B14F-4D97-AF65-F5344CB8AC3E}">
        <p14:creationId xmlns:p14="http://schemas.microsoft.com/office/powerpoint/2010/main" val="4013842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Examples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1" name="Rectangle 10"/>
          <p:cNvSpPr/>
          <p:nvPr/>
        </p:nvSpPr>
        <p:spPr>
          <a:xfrm>
            <a:off x="302741" y="1667890"/>
            <a:ext cx="7679724" cy="2246769"/>
          </a:xfrm>
          <a:prstGeom prst="rect">
            <a:avLst/>
          </a:prstGeom>
        </p:spPr>
        <p:txBody>
          <a:bodyPr wrap="square">
            <a:spAutoFit/>
          </a:bodyPr>
          <a:lstStyle/>
          <a:p>
            <a:pPr marL="800100" lvl="1" indent="-342900">
              <a:buFont typeface="Wingdings" panose="05000000000000000000" pitchFamily="2" charset="2"/>
              <a:buChar char="ü"/>
            </a:pPr>
            <a:r>
              <a:rPr lang="en-US" sz="2000" dirty="0"/>
              <a:t>Projected coordinate systems do not use longitude and latitude to measure locations</a:t>
            </a:r>
          </a:p>
          <a:p>
            <a:endParaRPr lang="en-US" sz="2000" dirty="0"/>
          </a:p>
          <a:p>
            <a:pPr marL="800100" lvl="1" indent="-342900">
              <a:buFont typeface="Wingdings" panose="05000000000000000000" pitchFamily="2" charset="2"/>
              <a:buChar char="ü"/>
            </a:pPr>
            <a:r>
              <a:rPr lang="en-US" sz="2000" dirty="0"/>
              <a:t>Instead, they use map units of the projection itself:</a:t>
            </a:r>
          </a:p>
          <a:p>
            <a:endParaRPr lang="en-US" sz="2000" dirty="0"/>
          </a:p>
          <a:p>
            <a:pPr lvl="1"/>
            <a:r>
              <a:rPr lang="en-US" sz="2000" dirty="0"/>
              <a:t>	Meters (UTM, Albers, most others)</a:t>
            </a:r>
          </a:p>
          <a:p>
            <a:pPr lvl="1"/>
            <a:r>
              <a:rPr lang="en-US" sz="2000" dirty="0"/>
              <a:t>	Feet (State Plane, few others)</a:t>
            </a:r>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1BA8F926-0EC4-45B9-925B-AAF329A5EA4B}"/>
              </a:ext>
            </a:extLst>
          </p:cNvPr>
          <p:cNvSpPr>
            <a:spLocks noGrp="1"/>
          </p:cNvSpPr>
          <p:nvPr>
            <p:ph type="sldNum" sz="quarter" idx="12"/>
          </p:nvPr>
        </p:nvSpPr>
        <p:spPr/>
        <p:txBody>
          <a:bodyPr/>
          <a:lstStyle/>
          <a:p>
            <a:fld id="{127DDC20-79C9-9647-820E-6D40A3D210C3}" type="slidenum">
              <a:rPr lang="en-US" smtClean="0"/>
              <a:pPr/>
              <a:t>46</a:t>
            </a:fld>
            <a:endParaRPr lang="en-US"/>
          </a:p>
        </p:txBody>
      </p:sp>
    </p:spTree>
    <p:extLst>
      <p:ext uri="{BB962C8B-B14F-4D97-AF65-F5344CB8AC3E}">
        <p14:creationId xmlns:p14="http://schemas.microsoft.com/office/powerpoint/2010/main" val="694731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46BFF398-4281-401C-9AF1-F92AACC4BD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World Projections: Mercator</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Content Placeholder 2"/>
          <p:cNvSpPr>
            <a:spLocks noGrp="1"/>
          </p:cNvSpPr>
          <p:nvPr>
            <p:ph idx="1"/>
          </p:nvPr>
        </p:nvSpPr>
        <p:spPr>
          <a:xfrm>
            <a:off x="320481" y="1542782"/>
            <a:ext cx="3742871" cy="2881110"/>
          </a:xfrm>
        </p:spPr>
        <p:txBody>
          <a:bodyPr>
            <a:normAutofit lnSpcReduction="10000"/>
          </a:bodyPr>
          <a:lstStyle/>
          <a:p>
            <a:pPr lvl="1">
              <a:buFont typeface="Wingdings" panose="05000000000000000000" pitchFamily="2" charset="2"/>
              <a:buChar char="ü"/>
            </a:pPr>
            <a:r>
              <a:rPr lang="en-US" dirty="0"/>
              <a:t>Cylindrical conformal projection</a:t>
            </a:r>
          </a:p>
          <a:p>
            <a:pPr lvl="1">
              <a:buFont typeface="Wingdings" panose="05000000000000000000" pitchFamily="2" charset="2"/>
              <a:buChar char="ü"/>
            </a:pPr>
            <a:r>
              <a:rPr lang="en-US" dirty="0"/>
              <a:t>Maintains shape</a:t>
            </a:r>
          </a:p>
          <a:p>
            <a:pPr lvl="1">
              <a:buFont typeface="Wingdings" panose="05000000000000000000" pitchFamily="2" charset="2"/>
              <a:buChar char="ü"/>
            </a:pPr>
            <a:r>
              <a:rPr lang="en-US" dirty="0"/>
              <a:t>Distorts size</a:t>
            </a:r>
          </a:p>
          <a:p>
            <a:pPr lvl="1">
              <a:buFont typeface="Wingdings" panose="05000000000000000000" pitchFamily="2" charset="2"/>
              <a:buChar char="ü"/>
            </a:pPr>
            <a:r>
              <a:rPr lang="en-US" dirty="0"/>
              <a:t>Parallels and meridians cross at right-angles</a:t>
            </a:r>
          </a:p>
        </p:txBody>
      </p:sp>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20593" y="1448559"/>
            <a:ext cx="3588526" cy="3069557"/>
          </a:xfrm>
          <a:prstGeom prst="rect">
            <a:avLst/>
          </a:prstGeom>
        </p:spPr>
      </p:pic>
      <p:sp>
        <p:nvSpPr>
          <p:cNvPr id="6" name="Title 1">
            <a:extLst>
              <a:ext uri="{FF2B5EF4-FFF2-40B4-BE49-F238E27FC236}">
                <a16:creationId xmlns:a16="http://schemas.microsoft.com/office/drawing/2014/main" id="{3147BAC6-D640-4806-A578-F6E610051D1C}"/>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0C34C3E8-DAF3-4EC4-9765-9A5017C147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BD43FA0-376B-42F7-B273-21243F737AE5}"/>
              </a:ext>
            </a:extLst>
          </p:cNvPr>
          <p:cNvSpPr txBox="1"/>
          <p:nvPr/>
        </p:nvSpPr>
        <p:spPr>
          <a:xfrm>
            <a:off x="4881282" y="4521660"/>
            <a:ext cx="2931459" cy="523220"/>
          </a:xfrm>
          <a:prstGeom prst="rect">
            <a:avLst/>
          </a:prstGeom>
          <a:noFill/>
        </p:spPr>
        <p:txBody>
          <a:bodyPr wrap="square">
            <a:spAutoFit/>
          </a:bodyPr>
          <a:lstStyle/>
          <a:p>
            <a:r>
              <a:rPr lang="en-US" sz="2800" baseline="0" dirty="0"/>
              <a:t>Tissot Indicatrix </a:t>
            </a:r>
            <a:endParaRPr lang="en-US" sz="2800" dirty="0"/>
          </a:p>
        </p:txBody>
      </p:sp>
      <p:sp>
        <p:nvSpPr>
          <p:cNvPr id="2" name="Slide Number Placeholder 1">
            <a:extLst>
              <a:ext uri="{FF2B5EF4-FFF2-40B4-BE49-F238E27FC236}">
                <a16:creationId xmlns:a16="http://schemas.microsoft.com/office/drawing/2014/main" id="{D76A41AB-FFE2-4D3D-9A93-65E335532DAA}"/>
              </a:ext>
            </a:extLst>
          </p:cNvPr>
          <p:cNvSpPr>
            <a:spLocks noGrp="1"/>
          </p:cNvSpPr>
          <p:nvPr>
            <p:ph type="sldNum" sz="quarter" idx="12"/>
          </p:nvPr>
        </p:nvSpPr>
        <p:spPr/>
        <p:txBody>
          <a:bodyPr/>
          <a:lstStyle/>
          <a:p>
            <a:fld id="{127DDC20-79C9-9647-820E-6D40A3D210C3}" type="slidenum">
              <a:rPr lang="en-US" smtClean="0"/>
              <a:pPr/>
              <a:t>47</a:t>
            </a:fld>
            <a:endParaRPr lang="en-US"/>
          </a:p>
        </p:txBody>
      </p:sp>
    </p:spTree>
    <p:extLst>
      <p:ext uri="{BB962C8B-B14F-4D97-AF65-F5344CB8AC3E}">
        <p14:creationId xmlns:p14="http://schemas.microsoft.com/office/powerpoint/2010/main" val="4270254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1AEB4356-6FF5-4CAA-85EB-2E7290D43892}"/>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World Projections: Web Mercator</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Content Placeholder 2"/>
          <p:cNvSpPr>
            <a:spLocks noGrp="1"/>
          </p:cNvSpPr>
          <p:nvPr>
            <p:ph idx="1"/>
          </p:nvPr>
        </p:nvSpPr>
        <p:spPr>
          <a:xfrm>
            <a:off x="302742" y="1542782"/>
            <a:ext cx="3983239" cy="2881110"/>
          </a:xfrm>
        </p:spPr>
        <p:txBody>
          <a:bodyPr>
            <a:normAutofit fontScale="85000" lnSpcReduction="10000"/>
          </a:bodyPr>
          <a:lstStyle/>
          <a:p>
            <a:pPr lvl="1">
              <a:buFont typeface="Wingdings" panose="05000000000000000000" pitchFamily="2" charset="2"/>
              <a:buChar char="ü"/>
            </a:pPr>
            <a:r>
              <a:rPr lang="en-US" dirty="0"/>
              <a:t>Modification of Mercator projection that is commonly used for web maps</a:t>
            </a:r>
          </a:p>
          <a:p>
            <a:pPr lvl="1">
              <a:buFont typeface="Wingdings" panose="05000000000000000000" pitchFamily="2" charset="2"/>
              <a:buChar char="ü"/>
            </a:pPr>
            <a:r>
              <a:rPr lang="en-US" dirty="0"/>
              <a:t>Bing Maps, </a:t>
            </a:r>
            <a:r>
              <a:rPr lang="en-US" dirty="0" err="1"/>
              <a:t>OpenStreetMap</a:t>
            </a:r>
            <a:r>
              <a:rPr lang="en-US" dirty="0"/>
              <a:t>, Google Maps, MapQuest, ArcGIS Online</a:t>
            </a:r>
          </a:p>
          <a:p>
            <a:pPr lvl="1">
              <a:buFont typeface="Wingdings" panose="05000000000000000000" pitchFamily="2" charset="2"/>
              <a:buChar char="ü"/>
            </a:pPr>
            <a:r>
              <a:rPr lang="en-US" dirty="0"/>
              <a:t>Uses a sphere as opposed to a spheroid </a:t>
            </a:r>
          </a:p>
        </p:txBody>
      </p:sp>
      <p:sp>
        <p:nvSpPr>
          <p:cNvPr id="6" name="Title 1">
            <a:extLst>
              <a:ext uri="{FF2B5EF4-FFF2-40B4-BE49-F238E27FC236}">
                <a16:creationId xmlns:a16="http://schemas.microsoft.com/office/drawing/2014/main" id="{EB9026F9-6B38-481F-8EBD-1566BA24D432}"/>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82AAAB95-9CC2-44A4-9E51-82AE352FC40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7A389798-0B3A-4E3B-8434-5A1362890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5981" y="2239646"/>
            <a:ext cx="3640878" cy="218424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D16D68-E2C9-4636-8111-9CA9911E5B23}"/>
              </a:ext>
            </a:extLst>
          </p:cNvPr>
          <p:cNvSpPr txBox="1"/>
          <p:nvPr/>
        </p:nvSpPr>
        <p:spPr>
          <a:xfrm>
            <a:off x="4285981" y="4482923"/>
            <a:ext cx="4133334" cy="400110"/>
          </a:xfrm>
          <a:prstGeom prst="rect">
            <a:avLst/>
          </a:prstGeom>
          <a:noFill/>
        </p:spPr>
        <p:txBody>
          <a:bodyPr wrap="square">
            <a:spAutoFit/>
          </a:bodyPr>
          <a:lstStyle/>
          <a:p>
            <a:r>
              <a:rPr lang="en-US" sz="1000" dirty="0">
                <a:solidFill>
                  <a:srgbClr val="7030A0"/>
                </a:solidFill>
              </a:rPr>
              <a:t>http://cartonerd.blogspot.com/2014/08/web-mercator-and-comparisons.html</a:t>
            </a:r>
          </a:p>
        </p:txBody>
      </p:sp>
      <p:sp>
        <p:nvSpPr>
          <p:cNvPr id="2" name="Slide Number Placeholder 1">
            <a:extLst>
              <a:ext uri="{FF2B5EF4-FFF2-40B4-BE49-F238E27FC236}">
                <a16:creationId xmlns:a16="http://schemas.microsoft.com/office/drawing/2014/main" id="{BCA44A32-7B3C-41B5-9BE4-F369E12DDCC3}"/>
              </a:ext>
            </a:extLst>
          </p:cNvPr>
          <p:cNvSpPr>
            <a:spLocks noGrp="1"/>
          </p:cNvSpPr>
          <p:nvPr>
            <p:ph type="sldNum" sz="quarter" idx="12"/>
          </p:nvPr>
        </p:nvSpPr>
        <p:spPr/>
        <p:txBody>
          <a:bodyPr/>
          <a:lstStyle/>
          <a:p>
            <a:fld id="{127DDC20-79C9-9647-820E-6D40A3D210C3}" type="slidenum">
              <a:rPr lang="en-US" smtClean="0"/>
              <a:pPr/>
              <a:t>48</a:t>
            </a:fld>
            <a:endParaRPr lang="en-US"/>
          </a:p>
        </p:txBody>
      </p:sp>
    </p:spTree>
    <p:extLst>
      <p:ext uri="{BB962C8B-B14F-4D97-AF65-F5344CB8AC3E}">
        <p14:creationId xmlns:p14="http://schemas.microsoft.com/office/powerpoint/2010/main" val="3412434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EAE213B0-1D61-4A34-938F-448536A0668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World Projections: Mollweide</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Content Placeholder 2"/>
          <p:cNvSpPr>
            <a:spLocks noGrp="1"/>
          </p:cNvSpPr>
          <p:nvPr>
            <p:ph idx="1"/>
          </p:nvPr>
        </p:nvSpPr>
        <p:spPr>
          <a:xfrm>
            <a:off x="302741" y="1720460"/>
            <a:ext cx="3435541" cy="3394472"/>
          </a:xfrm>
        </p:spPr>
        <p:txBody>
          <a:bodyPr>
            <a:normAutofit fontScale="92500"/>
          </a:bodyPr>
          <a:lstStyle/>
          <a:p>
            <a:pPr lvl="1">
              <a:buFont typeface="Wingdings" panose="05000000000000000000" pitchFamily="2" charset="2"/>
              <a:buChar char="ü"/>
            </a:pPr>
            <a:r>
              <a:rPr lang="en-US" dirty="0"/>
              <a:t>Equivalent projection</a:t>
            </a:r>
          </a:p>
          <a:p>
            <a:pPr lvl="1">
              <a:buFont typeface="Wingdings" panose="05000000000000000000" pitchFamily="2" charset="2"/>
              <a:buChar char="ü"/>
            </a:pPr>
            <a:r>
              <a:rPr lang="en-US" dirty="0"/>
              <a:t>Maintains area</a:t>
            </a:r>
          </a:p>
          <a:p>
            <a:pPr lvl="1">
              <a:buFont typeface="Wingdings" panose="05000000000000000000" pitchFamily="2" charset="2"/>
              <a:buChar char="ü"/>
            </a:pPr>
            <a:r>
              <a:rPr lang="en-US" dirty="0"/>
              <a:t>Distorts shape and angle</a:t>
            </a:r>
          </a:p>
          <a:p>
            <a:pPr lvl="1">
              <a:buFont typeface="Wingdings" panose="05000000000000000000" pitchFamily="2" charset="2"/>
              <a:buChar char="ü"/>
            </a:pPr>
            <a:r>
              <a:rPr lang="en-US" dirty="0" err="1"/>
              <a:t>Pseudocylindrical</a:t>
            </a:r>
            <a:endParaRPr lang="en-US" dirty="0"/>
          </a:p>
          <a:p>
            <a:pPr lvl="1">
              <a:buFont typeface="Wingdings" panose="05000000000000000000" pitchFamily="2" charset="2"/>
              <a:buChar char="ü"/>
            </a:pPr>
            <a:r>
              <a:rPr lang="en-US" dirty="0"/>
              <a:t>Not based on developable surface</a:t>
            </a: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563875" y="1534026"/>
            <a:ext cx="4665726" cy="2660825"/>
          </a:xfrm>
          <a:prstGeom prst="rect">
            <a:avLst/>
          </a:prstGeom>
        </p:spPr>
      </p:pic>
      <p:sp>
        <p:nvSpPr>
          <p:cNvPr id="8" name="Title 1">
            <a:extLst>
              <a:ext uri="{FF2B5EF4-FFF2-40B4-BE49-F238E27FC236}">
                <a16:creationId xmlns:a16="http://schemas.microsoft.com/office/drawing/2014/main" id="{4F1E3919-3063-495F-B9C0-65932DAA1069}"/>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740DABC-0132-4F64-8D48-5CB068208C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B47974D-9191-4F6C-A98F-138B823229A1}"/>
              </a:ext>
            </a:extLst>
          </p:cNvPr>
          <p:cNvSpPr>
            <a:spLocks noGrp="1"/>
          </p:cNvSpPr>
          <p:nvPr>
            <p:ph type="sldNum" sz="quarter" idx="12"/>
          </p:nvPr>
        </p:nvSpPr>
        <p:spPr/>
        <p:txBody>
          <a:bodyPr/>
          <a:lstStyle/>
          <a:p>
            <a:fld id="{127DDC20-79C9-9647-820E-6D40A3D210C3}" type="slidenum">
              <a:rPr lang="en-US" smtClean="0"/>
              <a:pPr/>
              <a:t>49</a:t>
            </a:fld>
            <a:endParaRPr lang="en-US"/>
          </a:p>
        </p:txBody>
      </p:sp>
    </p:spTree>
    <p:extLst>
      <p:ext uri="{BB962C8B-B14F-4D97-AF65-F5344CB8AC3E}">
        <p14:creationId xmlns:p14="http://schemas.microsoft.com/office/powerpoint/2010/main" val="74283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1027">
            <a:extLst>
              <a:ext uri="{FF2B5EF4-FFF2-40B4-BE49-F238E27FC236}">
                <a16:creationId xmlns:a16="http://schemas.microsoft.com/office/drawing/2014/main" id="{78AB8B3E-CE9C-4A4E-9B52-CD46B3968782}"/>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World Projections: Azimuthal Equidistant</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Content Placeholder 2"/>
          <p:cNvSpPr>
            <a:spLocks noGrp="1"/>
          </p:cNvSpPr>
          <p:nvPr>
            <p:ph idx="1"/>
          </p:nvPr>
        </p:nvSpPr>
        <p:spPr>
          <a:xfrm>
            <a:off x="411480" y="1730544"/>
            <a:ext cx="4173967" cy="2801115"/>
          </a:xfrm>
        </p:spPr>
        <p:txBody>
          <a:bodyPr>
            <a:normAutofit fontScale="92500"/>
          </a:bodyPr>
          <a:lstStyle/>
          <a:p>
            <a:pPr lvl="1">
              <a:buFont typeface="Wingdings" panose="05000000000000000000" pitchFamily="2" charset="2"/>
              <a:buChar char="ü"/>
            </a:pPr>
            <a:r>
              <a:rPr lang="en-US" dirty="0"/>
              <a:t>Azimuthal and Equidistant</a:t>
            </a:r>
          </a:p>
          <a:p>
            <a:pPr lvl="1">
              <a:buFont typeface="Wingdings" panose="05000000000000000000" pitchFamily="2" charset="2"/>
              <a:buChar char="ü"/>
            </a:pPr>
            <a:r>
              <a:rPr lang="en-US" dirty="0"/>
              <a:t>Correct distance from center of map</a:t>
            </a:r>
          </a:p>
          <a:p>
            <a:pPr lvl="1">
              <a:buFont typeface="Wingdings" panose="05000000000000000000" pitchFamily="2" charset="2"/>
              <a:buChar char="ü"/>
            </a:pPr>
            <a:r>
              <a:rPr lang="en-US" dirty="0"/>
              <a:t>Correct angle from center of map</a:t>
            </a:r>
          </a:p>
          <a:p>
            <a:pPr lvl="1">
              <a:buFont typeface="Wingdings" panose="05000000000000000000" pitchFamily="2" charset="2"/>
              <a:buChar char="ü"/>
            </a:pPr>
            <a:r>
              <a:rPr lang="en-US" dirty="0"/>
              <a:t>Distorts shape and relative size</a:t>
            </a:r>
          </a:p>
        </p:txBody>
      </p:sp>
      <p:sp>
        <p:nvSpPr>
          <p:cNvPr id="7" name="Title 1">
            <a:extLst>
              <a:ext uri="{FF2B5EF4-FFF2-40B4-BE49-F238E27FC236}">
                <a16:creationId xmlns:a16="http://schemas.microsoft.com/office/drawing/2014/main" id="{DFBA2E36-E850-4148-85F6-3BE29E253B6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749F0FE7-C129-4C9C-B947-3A13CB3512B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 name="Picture 8" descr="azimuthal">
            <a:extLst>
              <a:ext uri="{FF2B5EF4-FFF2-40B4-BE49-F238E27FC236}">
                <a16:creationId xmlns:a16="http://schemas.microsoft.com/office/drawing/2014/main" id="{71F7FA42-BEF5-4F46-8EEA-B7123DF44CCA}"/>
              </a:ext>
            </a:extLst>
          </p:cNvPr>
          <p:cNvPicPr>
            <a:picLocks noChangeAspect="1" noChangeArrowheads="1"/>
          </p:cNvPicPr>
          <p:nvPr/>
        </p:nvPicPr>
        <p:blipFill rotWithShape="1">
          <a:blip r:embed="rId3"/>
          <a:srcRect b="52416"/>
          <a:stretch/>
        </p:blipFill>
        <p:spPr bwMode="auto">
          <a:xfrm>
            <a:off x="4816486" y="1986349"/>
            <a:ext cx="3110373" cy="2656521"/>
          </a:xfrm>
          <a:prstGeom prst="rect">
            <a:avLst/>
          </a:prstGeom>
          <a:noFill/>
        </p:spPr>
      </p:pic>
      <p:sp>
        <p:nvSpPr>
          <p:cNvPr id="10" name="Footer Placeholder 8">
            <a:extLst>
              <a:ext uri="{FF2B5EF4-FFF2-40B4-BE49-F238E27FC236}">
                <a16:creationId xmlns:a16="http://schemas.microsoft.com/office/drawing/2014/main" id="{7411FAFC-0654-4B1D-A400-D9AB0B811284}"/>
              </a:ext>
            </a:extLst>
          </p:cNvPr>
          <p:cNvSpPr txBox="1">
            <a:spLocks/>
          </p:cNvSpPr>
          <p:nvPr/>
        </p:nvSpPr>
        <p:spPr>
          <a:xfrm>
            <a:off x="4400550" y="4779240"/>
            <a:ext cx="3829050" cy="273844"/>
          </a:xfrm>
          <a:prstGeom prst="rect">
            <a:avLst/>
          </a:prstGeom>
        </p:spPr>
        <p:txBody>
          <a:bodyPr vert="horz" lIns="91440" tIns="45720" rIns="91440" bIns="45720" rtlCol="0" anchor="ctr"/>
          <a:lstStyle>
            <a:defPPr>
              <a:defRPr lang="en-US"/>
            </a:defPPr>
            <a:lvl1pPr marL="0" algn="ctr" defTabSz="457200" rtl="0" eaLnBrk="1" latinLnBrk="0" hangingPunct="1">
              <a:defRPr sz="108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a:ea typeface="ＭＳ Ｐゴシック" charset="-128"/>
              </a:rPr>
              <a:t>© 2013 by John Wiley &amp; Sons, Inc. All rights reserved.</a:t>
            </a:r>
            <a:endParaRPr lang="en-US" sz="1200" dirty="0">
              <a:ea typeface="ＭＳ Ｐゴシック" charset="-128"/>
            </a:endParaRPr>
          </a:p>
        </p:txBody>
      </p:sp>
      <p:sp>
        <p:nvSpPr>
          <p:cNvPr id="4" name="Slide Number Placeholder 3">
            <a:extLst>
              <a:ext uri="{FF2B5EF4-FFF2-40B4-BE49-F238E27FC236}">
                <a16:creationId xmlns:a16="http://schemas.microsoft.com/office/drawing/2014/main" id="{60B9B79A-C048-40BD-B2F7-08AD1699B864}"/>
              </a:ext>
            </a:extLst>
          </p:cNvPr>
          <p:cNvSpPr>
            <a:spLocks noGrp="1"/>
          </p:cNvSpPr>
          <p:nvPr>
            <p:ph type="sldNum" sz="quarter" idx="12"/>
          </p:nvPr>
        </p:nvSpPr>
        <p:spPr/>
        <p:txBody>
          <a:bodyPr/>
          <a:lstStyle/>
          <a:p>
            <a:fld id="{127DDC20-79C9-9647-820E-6D40A3D210C3}" type="slidenum">
              <a:rPr lang="en-US" smtClean="0"/>
              <a:pPr/>
              <a:t>50</a:t>
            </a:fld>
            <a:endParaRPr lang="en-US"/>
          </a:p>
        </p:txBody>
      </p:sp>
    </p:spTree>
    <p:extLst>
      <p:ext uri="{BB962C8B-B14F-4D97-AF65-F5344CB8AC3E}">
        <p14:creationId xmlns:p14="http://schemas.microsoft.com/office/powerpoint/2010/main" val="2124378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5D6FFFF6-F8BC-443C-8A18-947DF8B52AD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World Projections: Robinson</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3" name="Content Placeholder 2"/>
          <p:cNvSpPr>
            <a:spLocks noGrp="1"/>
          </p:cNvSpPr>
          <p:nvPr>
            <p:ph idx="1"/>
          </p:nvPr>
        </p:nvSpPr>
        <p:spPr>
          <a:xfrm>
            <a:off x="302741" y="1542782"/>
            <a:ext cx="3091781" cy="2881110"/>
          </a:xfrm>
        </p:spPr>
        <p:txBody>
          <a:bodyPr>
            <a:normAutofit fontScale="92500"/>
          </a:bodyPr>
          <a:lstStyle/>
          <a:p>
            <a:pPr lvl="1">
              <a:buFont typeface="Wingdings" panose="05000000000000000000" pitchFamily="2" charset="2"/>
              <a:buChar char="ü"/>
            </a:pPr>
            <a:r>
              <a:rPr lang="en-US" dirty="0"/>
              <a:t>Neither equivalent or conformal</a:t>
            </a:r>
          </a:p>
          <a:p>
            <a:pPr lvl="1">
              <a:buFont typeface="Wingdings" panose="05000000000000000000" pitchFamily="2" charset="2"/>
              <a:buChar char="ü"/>
            </a:pPr>
            <a:r>
              <a:rPr lang="en-US" dirty="0"/>
              <a:t>Strikes a balance between shape </a:t>
            </a:r>
            <a:r>
              <a:rPr lang="en-US"/>
              <a:t>and size</a:t>
            </a:r>
            <a:endParaRPr lang="en-US" dirty="0"/>
          </a:p>
          <a:p>
            <a:pPr lvl="1">
              <a:buFont typeface="Wingdings" panose="05000000000000000000" pitchFamily="2" charset="2"/>
              <a:buChar char="ü"/>
            </a:pPr>
            <a:r>
              <a:rPr lang="en-US" dirty="0"/>
              <a:t>Meridians curve gently </a:t>
            </a:r>
          </a:p>
        </p:txBody>
      </p:sp>
      <p:sp>
        <p:nvSpPr>
          <p:cNvPr id="5" name="Title 1">
            <a:extLst>
              <a:ext uri="{FF2B5EF4-FFF2-40B4-BE49-F238E27FC236}">
                <a16:creationId xmlns:a16="http://schemas.microsoft.com/office/drawing/2014/main" id="{57B4C598-DC5D-4498-8D3C-5F28E78B4536}"/>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6AC810D8-DD83-4C5E-B70C-A42B6BA633E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 name="Picture 1">
            <a:extLst>
              <a:ext uri="{FF2B5EF4-FFF2-40B4-BE49-F238E27FC236}">
                <a16:creationId xmlns:a16="http://schemas.microsoft.com/office/drawing/2014/main" id="{744DDA0D-2D5B-4F8F-8136-95B83E4C6E01}"/>
              </a:ext>
            </a:extLst>
          </p:cNvPr>
          <p:cNvPicPr>
            <a:picLocks noChangeAspect="1"/>
          </p:cNvPicPr>
          <p:nvPr/>
        </p:nvPicPr>
        <p:blipFill>
          <a:blip r:embed="rId3"/>
          <a:stretch>
            <a:fillRect/>
          </a:stretch>
        </p:blipFill>
        <p:spPr>
          <a:xfrm>
            <a:off x="3797217" y="1650443"/>
            <a:ext cx="4129642" cy="2355514"/>
          </a:xfrm>
          <a:prstGeom prst="rect">
            <a:avLst/>
          </a:prstGeom>
        </p:spPr>
      </p:pic>
      <p:sp>
        <p:nvSpPr>
          <p:cNvPr id="6" name="Slide Number Placeholder 5">
            <a:extLst>
              <a:ext uri="{FF2B5EF4-FFF2-40B4-BE49-F238E27FC236}">
                <a16:creationId xmlns:a16="http://schemas.microsoft.com/office/drawing/2014/main" id="{E1AB6749-835A-41E7-B418-245D9E50D74A}"/>
              </a:ext>
            </a:extLst>
          </p:cNvPr>
          <p:cNvSpPr>
            <a:spLocks noGrp="1"/>
          </p:cNvSpPr>
          <p:nvPr>
            <p:ph type="sldNum" sz="quarter" idx="12"/>
          </p:nvPr>
        </p:nvSpPr>
        <p:spPr/>
        <p:txBody>
          <a:bodyPr/>
          <a:lstStyle/>
          <a:p>
            <a:fld id="{127DDC20-79C9-9647-820E-6D40A3D210C3}" type="slidenum">
              <a:rPr lang="en-US" smtClean="0"/>
              <a:pPr/>
              <a:t>51</a:t>
            </a:fld>
            <a:endParaRPr lang="en-US"/>
          </a:p>
        </p:txBody>
      </p:sp>
    </p:spTree>
    <p:extLst>
      <p:ext uri="{BB962C8B-B14F-4D97-AF65-F5344CB8AC3E}">
        <p14:creationId xmlns:p14="http://schemas.microsoft.com/office/powerpoint/2010/main" val="7145928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27897" y="4423893"/>
            <a:ext cx="2315177" cy="316690"/>
          </a:xfrm>
          <a:prstGeom prst="rect">
            <a:avLst/>
          </a:prstGeom>
          <a:noFill/>
        </p:spPr>
        <p:txBody>
          <a:bodyPr wrap="square" rtlCol="0">
            <a:spAutoFit/>
          </a:bodyPr>
          <a:lstStyle/>
          <a:p>
            <a:pPr>
              <a:lnSpc>
                <a:spcPct val="90000"/>
              </a:lnSpc>
            </a:pPr>
            <a:r>
              <a:rPr lang="en-US" sz="1620" dirty="0"/>
              <a:t>Not Projected</a:t>
            </a:r>
          </a:p>
        </p:txBody>
      </p:sp>
      <p:sp>
        <p:nvSpPr>
          <p:cNvPr id="7" name="TextBox 6"/>
          <p:cNvSpPr txBox="1"/>
          <p:nvPr/>
        </p:nvSpPr>
        <p:spPr>
          <a:xfrm>
            <a:off x="4886528" y="4413121"/>
            <a:ext cx="2879786" cy="316690"/>
          </a:xfrm>
          <a:prstGeom prst="rect">
            <a:avLst/>
          </a:prstGeom>
          <a:noFill/>
        </p:spPr>
        <p:txBody>
          <a:bodyPr wrap="square" rtlCol="0">
            <a:spAutoFit/>
          </a:bodyPr>
          <a:lstStyle/>
          <a:p>
            <a:pPr algn="ctr">
              <a:lnSpc>
                <a:spcPct val="90000"/>
              </a:lnSpc>
            </a:pPr>
            <a:r>
              <a:rPr lang="en-US" sz="1620" dirty="0"/>
              <a:t>Mercator</a:t>
            </a:r>
          </a:p>
        </p:txBody>
      </p:sp>
      <p:pic>
        <p:nvPicPr>
          <p:cNvPr id="4" name="Picture 3"/>
          <p:cNvPicPr>
            <a:picLocks noChangeAspect="1"/>
          </p:cNvPicPr>
          <p:nvPr/>
        </p:nvPicPr>
        <p:blipFill>
          <a:blip r:embed="rId3">
            <a:clrChange>
              <a:clrFrom>
                <a:srgbClr val="9C9C9C"/>
              </a:clrFrom>
              <a:clrTo>
                <a:srgbClr val="9C9C9C">
                  <a:alpha val="0"/>
                </a:srgbClr>
              </a:clrTo>
            </a:clrChange>
          </a:blip>
          <a:stretch>
            <a:fillRect/>
          </a:stretch>
        </p:blipFill>
        <p:spPr>
          <a:xfrm>
            <a:off x="101825" y="1902921"/>
            <a:ext cx="3909006" cy="2063955"/>
          </a:xfrm>
          <a:prstGeom prst="rect">
            <a:avLst/>
          </a:prstGeom>
        </p:spPr>
      </p:pic>
      <p:pic>
        <p:nvPicPr>
          <p:cNvPr id="5" name="Picture 4"/>
          <p:cNvPicPr>
            <a:picLocks noChangeAspect="1"/>
          </p:cNvPicPr>
          <p:nvPr/>
        </p:nvPicPr>
        <p:blipFill>
          <a:blip r:embed="rId4">
            <a:clrChange>
              <a:clrFrom>
                <a:srgbClr val="9C9C9C"/>
              </a:clrFrom>
              <a:clrTo>
                <a:srgbClr val="9C9C9C">
                  <a:alpha val="0"/>
                </a:srgbClr>
              </a:clrTo>
            </a:clrChange>
          </a:blip>
          <a:stretch>
            <a:fillRect/>
          </a:stretch>
        </p:blipFill>
        <p:spPr>
          <a:xfrm>
            <a:off x="4112635" y="1887596"/>
            <a:ext cx="3942233" cy="2309521"/>
          </a:xfrm>
          <a:prstGeom prst="rect">
            <a:avLst/>
          </a:prstGeom>
        </p:spPr>
      </p:pic>
      <p:sp>
        <p:nvSpPr>
          <p:cNvPr id="8" name="Rectangle 1027">
            <a:extLst>
              <a:ext uri="{FF2B5EF4-FFF2-40B4-BE49-F238E27FC236}">
                <a16:creationId xmlns:a16="http://schemas.microsoft.com/office/drawing/2014/main" id="{44B0FAA8-31E9-42B0-9632-CFE003AD9A4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9" name="Title 1">
            <a:extLst>
              <a:ext uri="{FF2B5EF4-FFF2-40B4-BE49-F238E27FC236}">
                <a16:creationId xmlns:a16="http://schemas.microsoft.com/office/drawing/2014/main" id="{8E56CD9F-13C1-419F-9C85-88A784ADC8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37F03E5F-19CA-48DA-BCF1-34EC19E0116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01B0C23-6277-4EA6-933C-F761054ED0E4}"/>
              </a:ext>
            </a:extLst>
          </p:cNvPr>
          <p:cNvSpPr>
            <a:spLocks noGrp="1"/>
          </p:cNvSpPr>
          <p:nvPr>
            <p:ph type="sldNum" sz="quarter" idx="12"/>
          </p:nvPr>
        </p:nvSpPr>
        <p:spPr/>
        <p:txBody>
          <a:bodyPr/>
          <a:lstStyle/>
          <a:p>
            <a:fld id="{127DDC20-79C9-9647-820E-6D40A3D210C3}" type="slidenum">
              <a:rPr lang="en-US" smtClean="0"/>
              <a:pPr/>
              <a:t>52</a:t>
            </a:fld>
            <a:endParaRPr lang="en-US" dirty="0"/>
          </a:p>
        </p:txBody>
      </p:sp>
    </p:spTree>
    <p:extLst>
      <p:ext uri="{BB962C8B-B14F-4D97-AF65-F5344CB8AC3E}">
        <p14:creationId xmlns:p14="http://schemas.microsoft.com/office/powerpoint/2010/main" val="3252369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685800" y="4423893"/>
            <a:ext cx="2605825" cy="316690"/>
          </a:xfrm>
          <a:prstGeom prst="rect">
            <a:avLst/>
          </a:prstGeom>
          <a:noFill/>
        </p:spPr>
        <p:txBody>
          <a:bodyPr wrap="square" rtlCol="0">
            <a:spAutoFit/>
          </a:bodyPr>
          <a:lstStyle/>
          <a:p>
            <a:pPr algn="ctr">
              <a:lnSpc>
                <a:spcPct val="90000"/>
              </a:lnSpc>
            </a:pPr>
            <a:r>
              <a:rPr lang="en-US" sz="1620" dirty="0"/>
              <a:t>Albers Equal Area</a:t>
            </a:r>
          </a:p>
        </p:txBody>
      </p:sp>
      <p:sp>
        <p:nvSpPr>
          <p:cNvPr id="7" name="TextBox 6"/>
          <p:cNvSpPr txBox="1"/>
          <p:nvPr/>
        </p:nvSpPr>
        <p:spPr>
          <a:xfrm>
            <a:off x="4732181" y="4423893"/>
            <a:ext cx="2811619" cy="316690"/>
          </a:xfrm>
          <a:prstGeom prst="rect">
            <a:avLst/>
          </a:prstGeom>
          <a:noFill/>
        </p:spPr>
        <p:txBody>
          <a:bodyPr wrap="square" rtlCol="0">
            <a:spAutoFit/>
          </a:bodyPr>
          <a:lstStyle/>
          <a:p>
            <a:pPr algn="ctr">
              <a:lnSpc>
                <a:spcPct val="90000"/>
              </a:lnSpc>
            </a:pPr>
            <a:r>
              <a:rPr lang="en-US" sz="1620" dirty="0"/>
              <a:t>Lambert Conformal Conic</a:t>
            </a:r>
          </a:p>
        </p:txBody>
      </p:sp>
      <p:pic>
        <p:nvPicPr>
          <p:cNvPr id="8" name="Picture 7"/>
          <p:cNvPicPr>
            <a:picLocks noChangeAspect="1"/>
          </p:cNvPicPr>
          <p:nvPr/>
        </p:nvPicPr>
        <p:blipFill>
          <a:blip r:embed="rId3">
            <a:clrChange>
              <a:clrFrom>
                <a:srgbClr val="9C9C9C"/>
              </a:clrFrom>
              <a:clrTo>
                <a:srgbClr val="9C9C9C">
                  <a:alpha val="0"/>
                </a:srgbClr>
              </a:clrTo>
            </a:clrChange>
          </a:blip>
          <a:stretch>
            <a:fillRect/>
          </a:stretch>
        </p:blipFill>
        <p:spPr>
          <a:xfrm>
            <a:off x="50377" y="1583207"/>
            <a:ext cx="4064423" cy="2529382"/>
          </a:xfrm>
          <a:prstGeom prst="rect">
            <a:avLst/>
          </a:prstGeom>
        </p:spPr>
      </p:pic>
      <p:pic>
        <p:nvPicPr>
          <p:cNvPr id="9" name="Picture 8"/>
          <p:cNvPicPr>
            <a:picLocks noChangeAspect="1"/>
          </p:cNvPicPr>
          <p:nvPr/>
        </p:nvPicPr>
        <p:blipFill>
          <a:blip r:embed="rId4">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10" name="Rectangle 1027">
            <a:extLst>
              <a:ext uri="{FF2B5EF4-FFF2-40B4-BE49-F238E27FC236}">
                <a16:creationId xmlns:a16="http://schemas.microsoft.com/office/drawing/2014/main" id="{A5A80368-4053-4CA8-9128-FA28025697E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1021B37C-8720-498D-9240-AA6F91FCDC9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EA8A2355-E507-4ECC-AC93-AFD2A0F7CF8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EC69ED4-BBE1-424E-B7F4-D3810684C333}"/>
              </a:ext>
            </a:extLst>
          </p:cNvPr>
          <p:cNvSpPr>
            <a:spLocks noGrp="1"/>
          </p:cNvSpPr>
          <p:nvPr>
            <p:ph type="sldNum" sz="quarter" idx="12"/>
          </p:nvPr>
        </p:nvSpPr>
        <p:spPr/>
        <p:txBody>
          <a:bodyPr/>
          <a:lstStyle/>
          <a:p>
            <a:fld id="{127DDC20-79C9-9647-820E-6D40A3D210C3}" type="slidenum">
              <a:rPr lang="en-US" smtClean="0"/>
              <a:pPr/>
              <a:t>53</a:t>
            </a:fld>
            <a:endParaRPr lang="en-US" dirty="0"/>
          </a:p>
        </p:txBody>
      </p:sp>
    </p:spTree>
    <p:extLst>
      <p:ext uri="{BB962C8B-B14F-4D97-AF65-F5344CB8AC3E}">
        <p14:creationId xmlns:p14="http://schemas.microsoft.com/office/powerpoint/2010/main" val="1711664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E2D5E632-8AA2-41DB-9402-0645CFBD2E6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Albers Equal Area</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547161"/>
            <a:ext cx="4590535" cy="2881110"/>
          </a:xfrm>
        </p:spPr>
        <p:txBody>
          <a:bodyPr>
            <a:normAutofit/>
          </a:bodyPr>
          <a:lstStyle/>
          <a:p>
            <a:pPr lvl="1">
              <a:buFont typeface="Wingdings" panose="05000000000000000000" pitchFamily="2" charset="2"/>
              <a:buChar char="ü"/>
            </a:pPr>
            <a:r>
              <a:rPr lang="en-US" dirty="0"/>
              <a:t>Conic </a:t>
            </a:r>
          </a:p>
          <a:p>
            <a:pPr lvl="1">
              <a:buFont typeface="Wingdings" panose="05000000000000000000" pitchFamily="2" charset="2"/>
              <a:buChar char="ü"/>
            </a:pPr>
            <a:r>
              <a:rPr lang="en-US" dirty="0"/>
              <a:t>Equivalent</a:t>
            </a:r>
          </a:p>
          <a:p>
            <a:pPr lvl="1">
              <a:buFont typeface="Wingdings" panose="05000000000000000000" pitchFamily="2" charset="2"/>
              <a:buChar char="ü"/>
            </a:pPr>
            <a:r>
              <a:rPr lang="en-US" dirty="0"/>
              <a:t>Maintains area</a:t>
            </a:r>
          </a:p>
          <a:p>
            <a:pPr lvl="1">
              <a:buFont typeface="Wingdings" panose="05000000000000000000" pitchFamily="2" charset="2"/>
              <a:buChar char="ü"/>
            </a:pPr>
            <a:r>
              <a:rPr lang="en-US" dirty="0"/>
              <a:t>Distort shape and local angles</a:t>
            </a:r>
          </a:p>
          <a:p>
            <a:pPr lvl="1">
              <a:buFont typeface="Wingdings" panose="05000000000000000000" pitchFamily="2" charset="2"/>
              <a:buChar char="ü"/>
            </a:pPr>
            <a:r>
              <a:rPr lang="en-US" dirty="0"/>
              <a:t>Two standard parallels</a:t>
            </a:r>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3857558" y="1547161"/>
            <a:ext cx="4064423" cy="2529382"/>
          </a:xfrm>
          <a:prstGeom prst="rect">
            <a:avLst/>
          </a:prstGeom>
        </p:spPr>
      </p:pic>
      <p:sp>
        <p:nvSpPr>
          <p:cNvPr id="7" name="Title 1">
            <a:extLst>
              <a:ext uri="{FF2B5EF4-FFF2-40B4-BE49-F238E27FC236}">
                <a16:creationId xmlns:a16="http://schemas.microsoft.com/office/drawing/2014/main" id="{178A724E-C334-4173-8F92-B5AC57BD740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BBEA8A48-D0CF-43F2-89E7-7CC18837F8A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0297D7-EDD3-4A04-A68C-176D9C4DF8C1}"/>
              </a:ext>
            </a:extLst>
          </p:cNvPr>
          <p:cNvSpPr>
            <a:spLocks noGrp="1"/>
          </p:cNvSpPr>
          <p:nvPr>
            <p:ph type="sldNum" sz="quarter" idx="12"/>
          </p:nvPr>
        </p:nvSpPr>
        <p:spPr/>
        <p:txBody>
          <a:bodyPr/>
          <a:lstStyle/>
          <a:p>
            <a:fld id="{127DDC20-79C9-9647-820E-6D40A3D210C3}" type="slidenum">
              <a:rPr lang="en-US" smtClean="0"/>
              <a:pPr/>
              <a:t>54</a:t>
            </a:fld>
            <a:endParaRPr lang="en-US"/>
          </a:p>
        </p:txBody>
      </p:sp>
    </p:spTree>
    <p:extLst>
      <p:ext uri="{BB962C8B-B14F-4D97-AF65-F5344CB8AC3E}">
        <p14:creationId xmlns:p14="http://schemas.microsoft.com/office/powerpoint/2010/main" val="174044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99DA9822-C890-468F-807E-2FD2032A05D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Lambert Conformal Conic</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532507"/>
            <a:ext cx="3997410" cy="2881110"/>
          </a:xfrm>
        </p:spPr>
        <p:txBody>
          <a:bodyPr>
            <a:normAutofit/>
          </a:bodyPr>
          <a:lstStyle/>
          <a:p>
            <a:pPr lvl="1">
              <a:buFont typeface="Wingdings" panose="05000000000000000000" pitchFamily="2" charset="2"/>
              <a:buChar char="ü"/>
            </a:pPr>
            <a:r>
              <a:rPr lang="en-US" dirty="0"/>
              <a:t>Conic</a:t>
            </a:r>
          </a:p>
          <a:p>
            <a:pPr lvl="1">
              <a:buFont typeface="Wingdings" panose="05000000000000000000" pitchFamily="2" charset="2"/>
              <a:buChar char="ü"/>
            </a:pPr>
            <a:r>
              <a:rPr lang="en-US" dirty="0"/>
              <a:t>Conformal</a:t>
            </a:r>
          </a:p>
          <a:p>
            <a:pPr lvl="1">
              <a:buFont typeface="Wingdings" panose="05000000000000000000" pitchFamily="2" charset="2"/>
              <a:buChar char="ü"/>
            </a:pPr>
            <a:r>
              <a:rPr lang="en-US" dirty="0"/>
              <a:t>Maintains shape and local angles</a:t>
            </a:r>
          </a:p>
          <a:p>
            <a:pPr lvl="1">
              <a:buFont typeface="Wingdings" panose="05000000000000000000" pitchFamily="2" charset="2"/>
              <a:buChar char="ü"/>
            </a:pPr>
            <a:r>
              <a:rPr lang="en-US" dirty="0"/>
              <a:t>Distorts local size</a:t>
            </a:r>
          </a:p>
          <a:p>
            <a:pPr lvl="1">
              <a:buFont typeface="Wingdings" panose="05000000000000000000" pitchFamily="2" charset="2"/>
              <a:buChar char="ü"/>
            </a:pPr>
            <a:r>
              <a:rPr lang="en-US" dirty="0"/>
              <a:t>Two standard parallels</a:t>
            </a:r>
          </a:p>
          <a:p>
            <a:endParaRPr lang="en-US" dirty="0"/>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7" name="Title 1">
            <a:extLst>
              <a:ext uri="{FF2B5EF4-FFF2-40B4-BE49-F238E27FC236}">
                <a16:creationId xmlns:a16="http://schemas.microsoft.com/office/drawing/2014/main" id="{7B2EF69D-C653-428C-A0F7-50CFD03846B1}"/>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6DB008D3-5207-4739-9C3F-5842D52F64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684FFBB-1250-476F-A12A-BE4B19B4C4E8}"/>
              </a:ext>
            </a:extLst>
          </p:cNvPr>
          <p:cNvSpPr>
            <a:spLocks noGrp="1"/>
          </p:cNvSpPr>
          <p:nvPr>
            <p:ph type="sldNum" sz="quarter" idx="12"/>
          </p:nvPr>
        </p:nvSpPr>
        <p:spPr/>
        <p:txBody>
          <a:bodyPr/>
          <a:lstStyle/>
          <a:p>
            <a:fld id="{127DDC20-79C9-9647-820E-6D40A3D210C3}" type="slidenum">
              <a:rPr lang="en-US" smtClean="0"/>
              <a:pPr/>
              <a:t>55</a:t>
            </a:fld>
            <a:endParaRPr lang="en-US"/>
          </a:p>
        </p:txBody>
      </p:sp>
    </p:spTree>
    <p:extLst>
      <p:ext uri="{BB962C8B-B14F-4D97-AF65-F5344CB8AC3E}">
        <p14:creationId xmlns:p14="http://schemas.microsoft.com/office/powerpoint/2010/main" val="3250348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7C0F8912-C786-4A33-A4D3-D8985E9F319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86214" y="1569821"/>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Rectangle 3"/>
          <p:cNvSpPr txBox="1">
            <a:spLocks noChangeArrowheads="1"/>
          </p:cNvSpPr>
          <p:nvPr/>
        </p:nvSpPr>
        <p:spPr>
          <a:xfrm>
            <a:off x="312496" y="1550138"/>
            <a:ext cx="7614363" cy="3597298"/>
          </a:xfrm>
          <a:prstGeom prst="rect">
            <a:avLst/>
          </a:prstGeom>
        </p:spPr>
        <p:txBody>
          <a:bodyPr vert="horz" lIns="61738" tIns="30869" rIns="61738" bIns="30869" rtlCol="0">
            <a:no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sz="1600" dirty="0"/>
              <a:t>60 zones</a:t>
            </a:r>
          </a:p>
          <a:p>
            <a:pPr lvl="1">
              <a:buFont typeface="Wingdings" panose="05000000000000000000" pitchFamily="2" charset="2"/>
              <a:buChar char="ü"/>
            </a:pPr>
            <a:r>
              <a:rPr lang="en-US" sz="1600" dirty="0"/>
              <a:t>Location provided in meters as </a:t>
            </a:r>
            <a:r>
              <a:rPr lang="en-US" sz="1600" b="1" dirty="0">
                <a:solidFill>
                  <a:srgbClr val="E3874F"/>
                </a:solidFill>
              </a:rPr>
              <a:t>Easting</a:t>
            </a:r>
            <a:r>
              <a:rPr lang="en-US" sz="1600" dirty="0"/>
              <a:t> and </a:t>
            </a:r>
            <a:r>
              <a:rPr lang="en-US" sz="1600" b="1" dirty="0">
                <a:solidFill>
                  <a:srgbClr val="E3874F"/>
                </a:solidFill>
              </a:rPr>
              <a:t>Northing</a:t>
            </a:r>
          </a:p>
          <a:p>
            <a:pPr lvl="1">
              <a:buFont typeface="Wingdings" panose="05000000000000000000" pitchFamily="2" charset="2"/>
              <a:buChar char="ü"/>
            </a:pPr>
            <a:r>
              <a:rPr lang="en-US" sz="1600" b="1" dirty="0">
                <a:solidFill>
                  <a:srgbClr val="E3874F"/>
                </a:solidFill>
              </a:rPr>
              <a:t>Northing: </a:t>
            </a:r>
            <a:r>
              <a:rPr lang="en-US" sz="1600" dirty="0"/>
              <a:t>meters north of equator </a:t>
            </a:r>
          </a:p>
          <a:p>
            <a:pPr lvl="2">
              <a:buFont typeface="Arial" panose="020B0604020202020204" pitchFamily="34" charset="0"/>
              <a:buChar char="•"/>
            </a:pPr>
            <a:r>
              <a:rPr lang="en-US" dirty="0"/>
              <a:t>In northern hemisphere, equator is assigned a value of 0 meters, add as you go up</a:t>
            </a:r>
          </a:p>
          <a:p>
            <a:pPr lvl="2">
              <a:buFont typeface="Arial" panose="020B0604020202020204" pitchFamily="34" charset="0"/>
              <a:buChar char="•"/>
            </a:pPr>
            <a:r>
              <a:rPr lang="en-US" dirty="0"/>
              <a:t>In southern hemisphere, equator is assigned a value of 10,000,000 meters, subtract as you go down</a:t>
            </a:r>
          </a:p>
          <a:p>
            <a:pPr lvl="1">
              <a:buFont typeface="Wingdings" panose="05000000000000000000" pitchFamily="2" charset="2"/>
              <a:buChar char="ü"/>
            </a:pPr>
            <a:r>
              <a:rPr lang="en-US" sz="1600" b="1" dirty="0">
                <a:solidFill>
                  <a:srgbClr val="E3874F"/>
                </a:solidFill>
              </a:rPr>
              <a:t>Easting: </a:t>
            </a:r>
            <a:r>
              <a:rPr lang="en-US" sz="1600" dirty="0"/>
              <a:t>distance from central meridian in UTM zone</a:t>
            </a:r>
          </a:p>
          <a:p>
            <a:pPr lvl="2">
              <a:buFont typeface="Arial" panose="020B0604020202020204" pitchFamily="34" charset="0"/>
              <a:buChar char="•"/>
            </a:pPr>
            <a:r>
              <a:rPr lang="en-US" dirty="0"/>
              <a:t>Central meridian is assigned a value of 500,000 meters</a:t>
            </a:r>
          </a:p>
          <a:p>
            <a:pPr lvl="2">
              <a:buFont typeface="Arial" panose="020B0604020202020204" pitchFamily="34" charset="0"/>
              <a:buChar char="•"/>
            </a:pPr>
            <a:r>
              <a:rPr lang="en-US" dirty="0"/>
              <a:t>Add as you go east</a:t>
            </a:r>
          </a:p>
          <a:p>
            <a:pPr lvl="2">
              <a:buFont typeface="Arial" panose="020B0604020202020204" pitchFamily="34" charset="0"/>
              <a:buChar char="•"/>
            </a:pPr>
            <a:r>
              <a:rPr lang="en-US" dirty="0"/>
              <a:t>Subtract as you go west</a:t>
            </a:r>
          </a:p>
        </p:txBody>
      </p:sp>
      <p:sp>
        <p:nvSpPr>
          <p:cNvPr id="3" name="AutoShape 6" descr="data:image/png;base64,iVBORw0KGgoAAAANSUhEUgAAAJwAAAEwCAMAAAB1z+heAAAAeFBMVEX///8AAACMjIyvr6+zs7M1NTXm5ub5+fm8vLxLS0t+fn7g4ODj4+MkJCTKysru7u7CwsIqKip1dXWEhISUlJShoaEWFhYeHh5paWn09PSampowMDDw8PDOzs6enp4+Pj5VVVVHR0dubm7Y2NgNDQ1gYGBTU1M0NDQ+Q6/PAAAPiklEQVR4nO2dCXuqvBKAE5aAgICgrSjqadH2///DmwlbAsGy5Cs55zpPXQoBXochmQxhgrDGgvBmb2gp+w2F2yNNZU/hjLUhhsT4t+Di+s20TAehwrLoZ2ZarmWSZt1acPaVvm2pQVAqDyHvRD8Nx3TvrhntULluNbjb5UQJ0Smk36Mj8gL6eQbo6lW+rQRnZ6lDARgUpRLgbsT3yW1NOGSZAOeX/6T0tLpGBfeRel76sSoc2Ts8nJskCOlyWhFK8htKCPzzxk6rQXSBgyvySO3qQXyyQUyD7OLYVa/ybSW4U/2WeEmGkBXRr/tqUbNuLbhflBfcXFkKFwTKUPqyFM40pYszerWwT4u+PgvqH9BXefF0Lhgz4v+LLJVwliVdDPXMkX6+pfR7lBLk4gxVFTdX1dAiESIcre8pgcsDkjdwEQkyYS0AUO8k3xoVnBVuUdOqsE18grJthHIUHx1Ea3HCllE436/3NRvOwPhP7F5cF1lufMfYFdaCP3Wgisu86rRa7iHk4cjeS/0YX2lLc/wu0Duif3TZNUVh4h2yZXCFfYhT2j06Pvb0nX7/k/fhXJPUp4lq+M7D+RGKEvjqBSRly2zqvaJ9CgpP/WVwMSbICUhIyXJCr1gXC3DgQ+2QF0VpCxceDO60HnY7o4QLvAqOlqHfN7aNg0VwBFfOuFufTrqjDpx9sW/nuhw9MDGSFo5qKUwruJSVr+GouTrtPufAHeyiOWgpMb5w6w16WsGdb04rVDn+nWkEu5YVF1f34aFziBI/uBFa3sWouFonD12p1x8tgmv6um09t+E9YIf2fuAzq35DWVkXWfl7KBwqTFSgkH5mmRlAeYt1lgrYJal/4ky42pac+hQg+2v6bn6QeXAtCNdCNMDKZB5cewq5FkJ9WGMWHGf8nOaai0SZzILjqo3W5trqRZnMgbO4Cpf3SmKs2H+aA+di0nznvRJ+uRKZA8driNeciyNJ6QUyAy66H9p/OJtDTqKuV8hkBhzh3SPBExbb1+UyA06oMgRPWGxfl8sMOKGyFfsQG3URJpA5cHx53uYQ+tgoQGplOlyGueuho7nk5iCFMiPKJHgfnd6X2sZ/OtxGOHWdfqva6MF0uC8h/ibanGLPZDJcKtZlHc3lWN7JnieT4ToVbcfmSKf/ukyWwnU0tzLcXoTr2Fyg1KebCmeJnedelEmpTzcVruuzdaNMSn26pXBdza0K1z1tHZvrnfZFMhGuZ/C9yOZeoU83Ea5XVfQimyodzqVwPc3pBNe1uTXhQhyKC3qaO+AMqZKJcD2vox9N/1rtrmGvbP8+xEadq74UrmdzOsH1NXdbC+7Sczr6NnfY+kuhapkG19eK5N6Xuk7ONLi+PfVtTmEnZymcTHPawEnuGq4F169gZZpT1j2cBCdpmiQ212viZsskOEmjLtGcuh7YUjiJzekDp7XmJDa3DpwsIC3RnBDQXiRT4GShfNnoCGUd62lw/T6pbFyJsr7rUjiJzekDp7XmZDanDZzWmtPG5g73flUi05yyln8CnDRqKR0FpiqYMwFO2ixJx8+pCkkshZPZnDZwWmtOanO6wGmtOV1sTlp9STX3JEZn7s6PDOVvxpgbs+PgYrcY6PLJR7tCFzK0JKOHYDRrZiKMXPkQ3jlwBf4w5OXk44Q3f4jxtpW4nNVQ2zDZj2nhpHCnnS3KB8b4WwontTn0hbcYv3109rKNkW8ctjB+2B81PGac5hy8vU3TXPGBZSMlAmq3JBkDNh7ulMYDMRC5zUFM5ZBKVvlpdxT1cjgmUzQ3FN0EMNWaYzLB5objwmVVMlJ+WXPTZCncsM0pkClwslivXHOKhuWOh5MPBZLbnDikaLaMh5MPohp4kkRN6HU8nNyOBp4k0QNOa83JbU4TOK0197K5n+Vlc6K8bG6u/Cs2Jx09rYfm/K3U0Riwuc+HiqcPRsOl8hDDgOYiJbeYRsMNxD8GbE7N/a+lcAOa0wNuwOb0gNNacy+bG1NQJi+bG1NQJi+bG1NQJi+bG1NQJi+bG1NQJi+bG1NQJn+/zUU+uylS5SEJfN9XeZNkGG6MzZG95+0JMpMyDwlOPc+TDYFSDjdGcyYlsUz0hrisGxLpDzH7DZsD7dLX5a38ITUcPhwI5Mc50r/tFR0x/f62DRE5nKbmK1mguQquFmzb9u5EFRliAolUzsjI4RanDXnPqHZJc1/3N2yuA2c3H2md5SW2qBGybC9VchU1cDM014dzTTfl4Jobd79hc9UF0YFjp9VP4LR+Rg4tX59WdXCj6rnrbndt/7NLm6MXhOGjcHumfMfPS4x29QXRJJFatW31fnhyYtW2NVEFN21kVz7qOdfoh/EbPJz1u7mCzz/C83BF+jS3rzTr8OMhLe7h44/pgn++sbj0tA5cEJGSx5df/txc+Sf7EEVCPcYk0lJzJCXgbDta2pzPp26TyKpw+anqoehoc/nHJtXW5hyfBEGgqc0xOhI4WmouO6Q43XzkWtocvVptFJ1yLTVH4d6YJ6ujzZHUQRvI2aqj5lBxqXK2amhzjeinOYOQd+jgvRMtba4R/TQHc0IwyTS0ucJyvcSykkTPFiJi2xh62lzpz9FKWEvNQR5oax9paHNwdNOyIO+vjpprRD+bM0i0qyphHTWX1cErHW3Or59p0ENznYFWVhWOH7A5NekFx4+fEzJukPPtqc2pybzxT47ZLBIPXQpdRh6KcCSN3pGTDratq8Kx3teTtlUPOB1tjnWqYZIJHTXHwhG+o8844RYuCogflIEc/TTnYmwYZdhVQ5sLrbQKbeqnOSo+eZzhNqV+Nsckj6z7cNv6y3BCejfHtIwEvKIhm1OS5m08HJ8Y77CPK39NrjlFCfLGw3HlThh/3J7FShSlFpwFx8nr+dYR8vdpbuoz1ZNkFlzkVzLUtq4JZ3mlDLatmpxW/TRHJdxu7Nt5qJ7bqJmJdALcLmlBfJjlLLQGNOfcRic5UAXHPy5F+xDb4T7EwGNY/yUcEeHC/WDvayBc9ltw6OCiEMZg6pIjh4dz6uQUOmquCYHpmJfJMSuHTUfNEQwDarcD9dwKcOKEUNWbTHPKJoiaAMfnzwzqmyTynIeKptaaAtemCzx93mC67Hd5PbdyzkMSH2FcSaBRzkPhoP5wrGRtuOzwxJ9bG+7pKDBt4LSxOT4B3XUfDPYhZPk4/3M4bjhu5KWDNqduFqFJcJJmScsc1uHWRm6sUQ5rDo71IWBUvj6aa/sGz+5DqEnNMBmuTW7x7A6OmqQWk+G4tCDmGds7eR9CTcgVZCLcXzE/BFhVBhNnajQ/RA23h2o228vvt64FVyW9O5XN2MD91rUmTKkO7FXuuvRqVTiZ9lQ4VjapvA5pPbf2DEJFuYUvvd+6NhzaQX5WNnZEMveSmtgcyES4OkaXv9tnAOxrTlVsDmQiXK/d7NmcqtgcyES41xxz/L6mwP08r+GKcPmfVFRV1+aix6cCqkomwvUmQ+nPpalwfvSpcN0+adfmVp6FVNSMVvO3Frb4WGrH5pz0z3qzkPaec+1obt1peXuPWIk2p/Vsy+q6hdWxpsHF+ML/27G5gy1J0D9bJsN1skZ250Zfd/rxTrro7tzoyjo3INPhxETbouYUJdauZTqc2LsSbU5h5wZkDhxfXtScwv4DyBw43uhFm1M46y3IDDhhULygOZUuOsgMOKGJEmxO5QTaIDPghMad11zXKVgsM+AEt4i3OaWOJsgcOB6C15xSXw5kDhx/+jibU+vLgcyB4z0TTnNqPZLqONPhuJADZ3P8cCI1MguOa/w5zalt9EHmwbVDbVub689hvVjmwbWNf6s5hTN71zIXrm5fW5sT2tX83X6r02zl7E7odWdvy1DyUQQQqp821dYCuKZ9bTQntqvv9LVzuYx9kKysymB1FouhgAvoiVMfzYRr2le3rj7EdhVGvXzHZWo3w91HJZzFKu9Sw4UZo+ItRIVz+iKQ7zCGZZEHv7cOGsyEqytc58+jtL5Ou2p5XlK4JZwDByN7rz5jDO5ysszYp3AJAbgton/F1T2m6Moe6l0CR5uwHF1umxvG+GtjZ7TpEmIkD+KTxOWT4uV+eA9buAzudpfJ8EiKysR4tGycgtLr7Gpz4eiGGG8+vNhF9uaLfhfrEbCrW8zBZTDgjssW6Rjns9Fm6qvh6PeNbd8Wag65hgE85cEPRir2V5nNuVzGPnbheC2c6aJr2uY43MFiapeEjQWtsoXOh6tk4GENk9rcJSqTfzKBRKBemwT0RNddPXQ+QRpBXNDy9GqnZY4eChPvpAhu4DEX5Pt+kzaVCQwZb9OnEvo/ihAhkIMOlvt+wMrk8LUec7kU7j+VF9xc+afgsioXcAZGTS9C+nJyasjUyhFbPnp2O/VwbNwcrR6ck+dB1QYtt+/F3uc5TdiUgENX72/AMa+BAgCYcypYhcrmKqwnUxyo934HDrRDTx1zeyyrgWMvcAHcFeFQuH0nedUEdeACGNd8XzUmTJtvanMyuNU1FzGf0YTWufmEC6EGXN/mKFS4B3/MYZ+bTBM4GNTHcgOH2/Ief7h9gw/omLDOSaz6Do7S8LxKof0SvJGmlF1f9hsKp7Gsfe5e8n8rOXte1XkSchYiLpVf96w8iDgPBEuoTZgvCOPagwwSZLBlPuvgDArtlXlJHg27YyFfHdZ+nf98VFWYCA0G61S/oyJJcUqPhV3keDcIa1Dv8NlgmeKHWwiF18+iRv068nxC7M5TTKxTzZplcBiM1OJyXcdPvFSrdHWOVWp6+ETx5VE3T4EXCQeq/bqje6e//ArznR8diMNV5ctlJ3xsvtdw5XhPKGTHFnocKtXGByTfD4h7ZxOrfyMvyqi6zxDucHF2uZY7Qt0JMcJ7CP0HfKCnyQ1RlKDbESVBU/4Qg7dSblOuLycUKMd7siK32Mo+Kxcr3jfbiPspNVcWYvENl7lCO1iGY8v9LkuUmguaTsIJXPUd/EWWdUh96j54UV2+8lLKbWB947GwU8ugv+P4XMVSGFu7TbufcvsypnG9ULhoH11DagMZXXZ3LbcMXLkmDwcOCP2VtJxLy1nunXgR7PS9Ks/6FV5pRxGs9wW4bXms0HbYcV1m8O027X5QvYJtVEZ6MApxBMvoXh5liUS41O8l3BZGvoL9fYN7Q+2mLg/LNtWQ3XJ9dVqZbTG72yILF+zJu+paaLaJTe64qAkUH1mQOW0nM8nf36tbRichOFiN2Tyy5WyOB8O5X7nyzKCrbco5IFA7TwRTFxyLHQOF32WSjHob6hO2x+UExptbc/oopkoPeECyk5fOesRSaWd6SBw/mHXTVGkYopX/AXhItat9r3bIAAAAAElFTkSuQmCC"/>
          <p:cNvSpPr>
            <a:spLocks noChangeAspect="1" noChangeArrowheads="1"/>
          </p:cNvSpPr>
          <p:nvPr/>
        </p:nvSpPr>
        <p:spPr bwMode="auto">
          <a:xfrm>
            <a:off x="5194143" y="4247696"/>
            <a:ext cx="205794" cy="2057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1738" tIns="30869" rIns="61738" bIns="30869" numCol="1" anchor="t" anchorCtr="0" compatLnSpc="1">
            <a:prstTxWarp prst="textNoShape">
              <a:avLst/>
            </a:prstTxWarp>
          </a:bodyPr>
          <a:lstStyle/>
          <a:p>
            <a:endParaRPr lang="en-US" sz="1215"/>
          </a:p>
        </p:txBody>
      </p:sp>
      <p:sp>
        <p:nvSpPr>
          <p:cNvPr id="10" name="Title 1">
            <a:extLst>
              <a:ext uri="{FF2B5EF4-FFF2-40B4-BE49-F238E27FC236}">
                <a16:creationId xmlns:a16="http://schemas.microsoft.com/office/drawing/2014/main" id="{E2EFFEF3-D674-4963-B565-E7AF87984FA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45E31194-305A-4941-974C-1A7AAB4EF78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05F8B218-6692-458E-91EA-BABED2AAC2C2}"/>
              </a:ext>
            </a:extLst>
          </p:cNvPr>
          <p:cNvSpPr>
            <a:spLocks noGrp="1"/>
          </p:cNvSpPr>
          <p:nvPr>
            <p:ph type="sldNum" sz="quarter" idx="12"/>
          </p:nvPr>
        </p:nvSpPr>
        <p:spPr/>
        <p:txBody>
          <a:bodyPr/>
          <a:lstStyle/>
          <a:p>
            <a:fld id="{127DDC20-79C9-9647-820E-6D40A3D210C3}" type="slidenum">
              <a:rPr lang="en-US" smtClean="0"/>
              <a:pPr/>
              <a:t>56</a:t>
            </a:fld>
            <a:endParaRPr lang="en-US"/>
          </a:p>
        </p:txBody>
      </p:sp>
    </p:spTree>
    <p:extLst>
      <p:ext uri="{BB962C8B-B14F-4D97-AF65-F5344CB8AC3E}">
        <p14:creationId xmlns:p14="http://schemas.microsoft.com/office/powerpoint/2010/main" val="480014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57</a:t>
            </a:fld>
            <a:endParaRPr lang="en-US"/>
          </a:p>
        </p:txBody>
      </p:sp>
      <p:pic>
        <p:nvPicPr>
          <p:cNvPr id="4" name="Picture 3" descr="Diagram&#10;&#10;Description automatically generated">
            <a:extLst>
              <a:ext uri="{FF2B5EF4-FFF2-40B4-BE49-F238E27FC236}">
                <a16:creationId xmlns:a16="http://schemas.microsoft.com/office/drawing/2014/main" id="{41B3E801-CAFA-4E0B-8015-6E6733E38125}"/>
              </a:ext>
            </a:extLst>
          </p:cNvPr>
          <p:cNvPicPr>
            <a:picLocks noChangeAspect="1"/>
          </p:cNvPicPr>
          <p:nvPr/>
        </p:nvPicPr>
        <p:blipFill>
          <a:blip r:embed="rId3"/>
          <a:stretch>
            <a:fillRect/>
          </a:stretch>
        </p:blipFill>
        <p:spPr>
          <a:xfrm>
            <a:off x="1470208" y="1547459"/>
            <a:ext cx="1808164" cy="3440110"/>
          </a:xfrm>
          <a:prstGeom prst="rect">
            <a:avLst/>
          </a:prstGeom>
        </p:spPr>
      </p:pic>
      <p:pic>
        <p:nvPicPr>
          <p:cNvPr id="13" name="Picture 12" descr="Diagram, map&#10;&#10;Description automatically generated">
            <a:extLst>
              <a:ext uri="{FF2B5EF4-FFF2-40B4-BE49-F238E27FC236}">
                <a16:creationId xmlns:a16="http://schemas.microsoft.com/office/drawing/2014/main" id="{053408B1-18AA-4BF8-9974-22CAB1EF5F66}"/>
              </a:ext>
            </a:extLst>
          </p:cNvPr>
          <p:cNvPicPr>
            <a:picLocks noChangeAspect="1"/>
          </p:cNvPicPr>
          <p:nvPr/>
        </p:nvPicPr>
        <p:blipFill>
          <a:blip r:embed="rId4"/>
          <a:stretch>
            <a:fillRect/>
          </a:stretch>
        </p:blipFill>
        <p:spPr>
          <a:xfrm>
            <a:off x="5401010" y="1530604"/>
            <a:ext cx="1688541" cy="3512956"/>
          </a:xfrm>
          <a:prstGeom prst="rect">
            <a:avLst/>
          </a:prstGeom>
        </p:spPr>
      </p:pic>
      <p:sp>
        <p:nvSpPr>
          <p:cNvPr id="14" name="TextBox 13">
            <a:extLst>
              <a:ext uri="{FF2B5EF4-FFF2-40B4-BE49-F238E27FC236}">
                <a16:creationId xmlns:a16="http://schemas.microsoft.com/office/drawing/2014/main" id="{6B091684-7C40-47F7-BBD6-7A61C5D3067A}"/>
              </a:ext>
            </a:extLst>
          </p:cNvPr>
          <p:cNvSpPr txBox="1"/>
          <p:nvPr/>
        </p:nvSpPr>
        <p:spPr>
          <a:xfrm>
            <a:off x="152400" y="3459234"/>
            <a:ext cx="1511300" cy="646331"/>
          </a:xfrm>
          <a:prstGeom prst="rect">
            <a:avLst/>
          </a:prstGeom>
          <a:noFill/>
        </p:spPr>
        <p:txBody>
          <a:bodyPr wrap="square" rtlCol="0">
            <a:spAutoFit/>
          </a:bodyPr>
          <a:lstStyle/>
          <a:p>
            <a:r>
              <a:rPr lang="en-US" dirty="0"/>
              <a:t>Northern hemisphere</a:t>
            </a:r>
          </a:p>
        </p:txBody>
      </p:sp>
      <p:sp>
        <p:nvSpPr>
          <p:cNvPr id="15" name="TextBox 14">
            <a:extLst>
              <a:ext uri="{FF2B5EF4-FFF2-40B4-BE49-F238E27FC236}">
                <a16:creationId xmlns:a16="http://schemas.microsoft.com/office/drawing/2014/main" id="{649D934A-78BE-4262-9970-15267411AFC3}"/>
              </a:ext>
            </a:extLst>
          </p:cNvPr>
          <p:cNvSpPr txBox="1"/>
          <p:nvPr/>
        </p:nvSpPr>
        <p:spPr>
          <a:xfrm>
            <a:off x="4178300" y="3436110"/>
            <a:ext cx="1511300" cy="646331"/>
          </a:xfrm>
          <a:prstGeom prst="rect">
            <a:avLst/>
          </a:prstGeom>
          <a:noFill/>
        </p:spPr>
        <p:txBody>
          <a:bodyPr wrap="square" rtlCol="0">
            <a:spAutoFit/>
          </a:bodyPr>
          <a:lstStyle/>
          <a:p>
            <a:r>
              <a:rPr lang="en-US" dirty="0"/>
              <a:t>Southern hemisphere</a:t>
            </a:r>
          </a:p>
        </p:txBody>
      </p:sp>
      <p:sp>
        <p:nvSpPr>
          <p:cNvPr id="16" name="TextBox 15">
            <a:extLst>
              <a:ext uri="{FF2B5EF4-FFF2-40B4-BE49-F238E27FC236}">
                <a16:creationId xmlns:a16="http://schemas.microsoft.com/office/drawing/2014/main" id="{DBCCB0EC-0B0D-402A-93B5-CEC91139C52A}"/>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333918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pic>
        <p:nvPicPr>
          <p:cNvPr id="8" name="Picture 7"/>
          <p:cNvPicPr/>
          <p:nvPr/>
        </p:nvPicPr>
        <p:blipFill>
          <a:blip r:embed="rId3"/>
          <a:stretch>
            <a:fillRect/>
          </a:stretch>
        </p:blipFill>
        <p:spPr>
          <a:xfrm>
            <a:off x="50377" y="1760366"/>
            <a:ext cx="4249445" cy="2668204"/>
          </a:xfrm>
          <a:prstGeom prst="rect">
            <a:avLst/>
          </a:prstGeom>
        </p:spPr>
      </p:pic>
      <p:pic>
        <p:nvPicPr>
          <p:cNvPr id="9" name="Picture 8"/>
          <p:cNvPicPr/>
          <p:nvPr/>
        </p:nvPicPr>
        <p:blipFill>
          <a:blip r:embed="rId4"/>
          <a:stretch>
            <a:fillRect/>
          </a:stretch>
        </p:blipFill>
        <p:spPr>
          <a:xfrm>
            <a:off x="4474939" y="1954370"/>
            <a:ext cx="3624540" cy="2262269"/>
          </a:xfrm>
          <a:prstGeom prst="rect">
            <a:avLst/>
          </a:prstGeom>
        </p:spPr>
      </p:pic>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58</a:t>
            </a:fld>
            <a:endParaRPr lang="en-US"/>
          </a:p>
        </p:txBody>
      </p:sp>
      <p:sp>
        <p:nvSpPr>
          <p:cNvPr id="13" name="TextBox 12">
            <a:extLst>
              <a:ext uri="{FF2B5EF4-FFF2-40B4-BE49-F238E27FC236}">
                <a16:creationId xmlns:a16="http://schemas.microsoft.com/office/drawing/2014/main" id="{7FFCC547-A699-47A5-BF67-EDDCC41BF01D}"/>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81658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125 geographic zones designed for specific regions in the United States</a:t>
            </a:r>
          </a:p>
          <a:p>
            <a:pPr lvl="1">
              <a:buFont typeface="Wingdings" panose="05000000000000000000" pitchFamily="2" charset="2"/>
              <a:buChar char="ü"/>
            </a:pPr>
            <a:r>
              <a:rPr lang="en-US" dirty="0"/>
              <a:t>Zones follow county boundaries</a:t>
            </a:r>
          </a:p>
          <a:p>
            <a:pPr lvl="1">
              <a:buFont typeface="Wingdings" panose="05000000000000000000" pitchFamily="2" charset="2"/>
              <a:buChar char="ü"/>
            </a:pPr>
            <a:r>
              <a:rPr lang="en-US" dirty="0"/>
              <a:t>city- to county-scale</a:t>
            </a:r>
          </a:p>
          <a:p>
            <a:pPr marL="0" indent="0">
              <a:buNone/>
            </a:pPr>
            <a:endParaRPr lang="en-US" dirty="0">
              <a:solidFill>
                <a:schemeClr val="tx2"/>
              </a:solidFill>
            </a:endParaRPr>
          </a:p>
        </p:txBody>
      </p:sp>
      <p:pic>
        <p:nvPicPr>
          <p:cNvPr id="8194" name="Picture 2" descr="Image result for state plane coordinate system">
            <a:extLst>
              <a:ext uri="{FF2B5EF4-FFF2-40B4-BE49-F238E27FC236}">
                <a16:creationId xmlns:a16="http://schemas.microsoft.com/office/drawing/2014/main" id="{D65021F9-CA2B-46D0-966F-4E892D6A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1986" y="3261663"/>
            <a:ext cx="2871788" cy="179308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36B6FDBD-198E-4155-9630-766005C7CEA5}"/>
              </a:ext>
            </a:extLst>
          </p:cNvPr>
          <p:cNvSpPr/>
          <p:nvPr/>
        </p:nvSpPr>
        <p:spPr>
          <a:xfrm>
            <a:off x="1020158" y="4707152"/>
            <a:ext cx="3429000" cy="219291"/>
          </a:xfrm>
          <a:prstGeom prst="rect">
            <a:avLst/>
          </a:prstGeom>
        </p:spPr>
        <p:txBody>
          <a:bodyPr>
            <a:spAutoFit/>
          </a:bodyPr>
          <a:lstStyle/>
          <a:p>
            <a:r>
              <a:rPr lang="en-US" sz="825" dirty="0">
                <a:hlinkClick r:id="rId4"/>
              </a:rPr>
              <a:t>https://www.e-education.psu.edu/natureofgeoinfo/c2_p26.html</a:t>
            </a:r>
            <a:endParaRPr lang="en-US" sz="8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59</a:t>
            </a:fld>
            <a:endParaRPr lang="en-US"/>
          </a:p>
        </p:txBody>
      </p:sp>
    </p:spTree>
    <p:extLst>
      <p:ext uri="{BB962C8B-B14F-4D97-AF65-F5344CB8AC3E}">
        <p14:creationId xmlns:p14="http://schemas.microsoft.com/office/powerpoint/2010/main" val="1118588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7836954" cy="629325"/>
          </a:xfrm>
          <a:prstGeom prst="rect">
            <a:avLst/>
          </a:prstGeom>
        </p:spPr>
        <p:txBody>
          <a:bodyPr vert="horz" lIns="51449" tIns="25724" rIns="51449" bIns="25724"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Transverse Mercator projection (for states with long north-south axis) </a:t>
            </a:r>
          </a:p>
          <a:p>
            <a:pPr lvl="1">
              <a:buFont typeface="Wingdings" panose="05000000000000000000" pitchFamily="2" charset="2"/>
              <a:buChar char="ü"/>
            </a:pPr>
            <a:r>
              <a:rPr lang="en-US" dirty="0"/>
              <a:t>Lambert conformal conic projection (for states with long east-west axis)</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60</a:t>
            </a:fld>
            <a:endParaRPr lang="en-US"/>
          </a:p>
        </p:txBody>
      </p:sp>
      <p:pic>
        <p:nvPicPr>
          <p:cNvPr id="9" name="Picture 8" descr="Diagram&#10;&#10;Description automatically generated">
            <a:extLst>
              <a:ext uri="{FF2B5EF4-FFF2-40B4-BE49-F238E27FC236}">
                <a16:creationId xmlns:a16="http://schemas.microsoft.com/office/drawing/2014/main" id="{A398956F-3C88-466E-94BD-D9CAC8379493}"/>
              </a:ext>
            </a:extLst>
          </p:cNvPr>
          <p:cNvPicPr>
            <a:picLocks noChangeAspect="1"/>
          </p:cNvPicPr>
          <p:nvPr/>
        </p:nvPicPr>
        <p:blipFill>
          <a:blip r:embed="rId3"/>
          <a:stretch>
            <a:fillRect/>
          </a:stretch>
        </p:blipFill>
        <p:spPr>
          <a:xfrm>
            <a:off x="4248041" y="2531723"/>
            <a:ext cx="3169239" cy="2319603"/>
          </a:xfrm>
          <a:prstGeom prst="rect">
            <a:avLst/>
          </a:prstGeom>
        </p:spPr>
      </p:pic>
      <p:sp>
        <p:nvSpPr>
          <p:cNvPr id="16" name="TextBox 15">
            <a:extLst>
              <a:ext uri="{FF2B5EF4-FFF2-40B4-BE49-F238E27FC236}">
                <a16:creationId xmlns:a16="http://schemas.microsoft.com/office/drawing/2014/main" id="{5FFA3C2C-4824-4770-B9CA-0D7F1CB40060}"/>
              </a:ext>
            </a:extLst>
          </p:cNvPr>
          <p:cNvSpPr txBox="1"/>
          <p:nvPr/>
        </p:nvSpPr>
        <p:spPr>
          <a:xfrm>
            <a:off x="4594931" y="4749718"/>
            <a:ext cx="2605969" cy="369332"/>
          </a:xfrm>
          <a:prstGeom prst="rect">
            <a:avLst/>
          </a:prstGeom>
          <a:noFill/>
        </p:spPr>
        <p:txBody>
          <a:bodyPr wrap="square">
            <a:spAutoFit/>
          </a:bodyPr>
          <a:lstStyle/>
          <a:p>
            <a:r>
              <a:rPr lang="en-US" dirty="0"/>
              <a:t>Lambert conformal conic</a:t>
            </a:r>
          </a:p>
        </p:txBody>
      </p:sp>
      <p:pic>
        <p:nvPicPr>
          <p:cNvPr id="12" name="Picture 11" descr="Diagram, engineering drawing&#10;&#10;Description automatically generated">
            <a:extLst>
              <a:ext uri="{FF2B5EF4-FFF2-40B4-BE49-F238E27FC236}">
                <a16:creationId xmlns:a16="http://schemas.microsoft.com/office/drawing/2014/main" id="{B0629C80-CD48-4381-9DD1-9282CD95D655}"/>
              </a:ext>
            </a:extLst>
          </p:cNvPr>
          <p:cNvPicPr>
            <a:picLocks noChangeAspect="1"/>
          </p:cNvPicPr>
          <p:nvPr/>
        </p:nvPicPr>
        <p:blipFill>
          <a:blip r:embed="rId4"/>
          <a:stretch>
            <a:fillRect/>
          </a:stretch>
        </p:blipFill>
        <p:spPr>
          <a:xfrm>
            <a:off x="531844" y="2503259"/>
            <a:ext cx="3308478" cy="2348067"/>
          </a:xfrm>
          <a:prstGeom prst="rect">
            <a:avLst/>
          </a:prstGeom>
        </p:spPr>
      </p:pic>
      <p:sp>
        <p:nvSpPr>
          <p:cNvPr id="17" name="TextBox 16">
            <a:extLst>
              <a:ext uri="{FF2B5EF4-FFF2-40B4-BE49-F238E27FC236}">
                <a16:creationId xmlns:a16="http://schemas.microsoft.com/office/drawing/2014/main" id="{D489E261-A5AA-48E4-8876-2D156FF01FF8}"/>
              </a:ext>
            </a:extLst>
          </p:cNvPr>
          <p:cNvSpPr txBox="1"/>
          <p:nvPr/>
        </p:nvSpPr>
        <p:spPr>
          <a:xfrm>
            <a:off x="990597" y="4775510"/>
            <a:ext cx="2605969" cy="369332"/>
          </a:xfrm>
          <a:prstGeom prst="rect">
            <a:avLst/>
          </a:prstGeom>
          <a:noFill/>
        </p:spPr>
        <p:txBody>
          <a:bodyPr wrap="square">
            <a:spAutoFit/>
          </a:bodyPr>
          <a:lstStyle/>
          <a:p>
            <a:r>
              <a:rPr lang="en-US" dirty="0"/>
              <a:t>Transverse Mercator</a:t>
            </a:r>
          </a:p>
        </p:txBody>
      </p:sp>
      <p:sp>
        <p:nvSpPr>
          <p:cNvPr id="18" name="TextBox 17">
            <a:extLst>
              <a:ext uri="{FF2B5EF4-FFF2-40B4-BE49-F238E27FC236}">
                <a16:creationId xmlns:a16="http://schemas.microsoft.com/office/drawing/2014/main" id="{2934D5A3-2016-49CA-8F3D-F4D6FC9212DD}"/>
              </a:ext>
            </a:extLst>
          </p:cNvPr>
          <p:cNvSpPr txBox="1"/>
          <p:nvPr/>
        </p:nvSpPr>
        <p:spPr>
          <a:xfrm>
            <a:off x="3462680" y="489727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54201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The zones may change!</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61</a:t>
            </a:fld>
            <a:endParaRPr lang="en-US"/>
          </a:p>
        </p:txBody>
      </p:sp>
      <p:pic>
        <p:nvPicPr>
          <p:cNvPr id="5" name="Picture 4" descr="Diagram&#10;&#10;Description automatically generated">
            <a:extLst>
              <a:ext uri="{FF2B5EF4-FFF2-40B4-BE49-F238E27FC236}">
                <a16:creationId xmlns:a16="http://schemas.microsoft.com/office/drawing/2014/main" id="{4A6C90AF-40C5-4C42-A8DD-720EBD346397}"/>
              </a:ext>
            </a:extLst>
          </p:cNvPr>
          <p:cNvPicPr>
            <a:picLocks noChangeAspect="1"/>
          </p:cNvPicPr>
          <p:nvPr/>
        </p:nvPicPr>
        <p:blipFill>
          <a:blip r:embed="rId3"/>
          <a:stretch>
            <a:fillRect/>
          </a:stretch>
        </p:blipFill>
        <p:spPr>
          <a:xfrm>
            <a:off x="2169123" y="2249700"/>
            <a:ext cx="3891354" cy="2666462"/>
          </a:xfrm>
          <a:prstGeom prst="rect">
            <a:avLst/>
          </a:prstGeom>
        </p:spPr>
      </p:pic>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017322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268530"/>
            <a:ext cx="4764559" cy="3143450"/>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It is not a coordinate system, but used widely for land parcels since 1800s</a:t>
            </a:r>
          </a:p>
          <a:p>
            <a:pPr lvl="1">
              <a:lnSpc>
                <a:spcPct val="90000"/>
              </a:lnSpc>
              <a:buFont typeface="Wingdings" panose="05000000000000000000" pitchFamily="2" charset="2"/>
              <a:buChar char="ü"/>
            </a:pPr>
            <a:r>
              <a:rPr lang="en-US" sz="2440" dirty="0"/>
              <a:t>Divided lands by north-south lines, 6 miles apart</a:t>
            </a:r>
          </a:p>
          <a:p>
            <a:pPr lvl="1">
              <a:lnSpc>
                <a:spcPct val="90000"/>
              </a:lnSpc>
              <a:buFont typeface="Wingdings" panose="05000000000000000000" pitchFamily="2" charset="2"/>
              <a:buChar char="ü"/>
            </a:pPr>
            <a:r>
              <a:rPr lang="en-US" sz="2440" dirty="0"/>
              <a:t>East-west lines were surveyed perpendicular to those north-south lines, also at 6 miles intervals</a:t>
            </a:r>
          </a:p>
          <a:p>
            <a:pPr lvl="1">
              <a:lnSpc>
                <a:spcPct val="90000"/>
              </a:lnSpc>
              <a:buFont typeface="Wingdings" panose="05000000000000000000" pitchFamily="2" charset="2"/>
              <a:buChar char="ü"/>
            </a:pPr>
            <a:r>
              <a:rPr lang="en-US" sz="2440" dirty="0"/>
              <a:t>30 states adopted PLSS</a:t>
            </a:r>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62</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1" name="Picture 10" descr="A picture containing table&#10;&#10;Description automatically generated">
            <a:extLst>
              <a:ext uri="{FF2B5EF4-FFF2-40B4-BE49-F238E27FC236}">
                <a16:creationId xmlns:a16="http://schemas.microsoft.com/office/drawing/2014/main" id="{8DEF1450-2A32-45B7-8129-FDB4514317DD}"/>
              </a:ext>
            </a:extLst>
          </p:cNvPr>
          <p:cNvPicPr>
            <a:picLocks noChangeAspect="1"/>
          </p:cNvPicPr>
          <p:nvPr/>
        </p:nvPicPr>
        <p:blipFill>
          <a:blip r:embed="rId3"/>
          <a:stretch>
            <a:fillRect/>
          </a:stretch>
        </p:blipFill>
        <p:spPr>
          <a:xfrm>
            <a:off x="5067299" y="2028839"/>
            <a:ext cx="2859559" cy="2553756"/>
          </a:xfrm>
          <a:prstGeom prst="rect">
            <a:avLst/>
          </a:prstGeom>
        </p:spPr>
      </p:pic>
    </p:spTree>
    <p:extLst>
      <p:ext uri="{BB962C8B-B14F-4D97-AF65-F5344CB8AC3E}">
        <p14:creationId xmlns:p14="http://schemas.microsoft.com/office/powerpoint/2010/main" val="426645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151667"/>
            <a:ext cx="8511059" cy="314345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Place roads, powerlines, and other public services</a:t>
            </a:r>
          </a:p>
          <a:p>
            <a:pPr>
              <a:buFont typeface="Courier New" panose="02070309020205020404" pitchFamily="49" charset="0"/>
              <a:buChar char="o"/>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63</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white, tiled&#10;&#10;Description automatically generated">
            <a:extLst>
              <a:ext uri="{FF2B5EF4-FFF2-40B4-BE49-F238E27FC236}">
                <a16:creationId xmlns:a16="http://schemas.microsoft.com/office/drawing/2014/main" id="{BDDA5C05-5773-468B-B8AB-06C1CC28675C}"/>
              </a:ext>
            </a:extLst>
          </p:cNvPr>
          <p:cNvPicPr>
            <a:picLocks noChangeAspect="1"/>
          </p:cNvPicPr>
          <p:nvPr/>
        </p:nvPicPr>
        <p:blipFill>
          <a:blip r:embed="rId3"/>
          <a:stretch>
            <a:fillRect/>
          </a:stretch>
        </p:blipFill>
        <p:spPr>
          <a:xfrm>
            <a:off x="1442524" y="1693615"/>
            <a:ext cx="5553634" cy="3115997"/>
          </a:xfrm>
          <a:prstGeom prst="rect">
            <a:avLst/>
          </a:prstGeom>
        </p:spPr>
      </p:pic>
    </p:spTree>
    <p:extLst>
      <p:ext uri="{BB962C8B-B14F-4D97-AF65-F5344CB8AC3E}">
        <p14:creationId xmlns:p14="http://schemas.microsoft.com/office/powerpoint/2010/main" val="1202943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0" indent="0">
              <a:lnSpc>
                <a:spcPct val="90000"/>
              </a:lnSpc>
              <a:buNone/>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3"/>
          <p:cNvSpPr txBox="1">
            <a:spLocks noChangeArrowheads="1"/>
          </p:cNvSpPr>
          <p:nvPr/>
        </p:nvSpPr>
        <p:spPr>
          <a:xfrm>
            <a:off x="307619" y="1281106"/>
            <a:ext cx="7845781" cy="3413815"/>
          </a:xfrm>
          <a:prstGeom prst="rect">
            <a:avLst/>
          </a:prstGeom>
        </p:spPr>
        <p:txBody>
          <a:bodyPr vert="horz" lIns="61738" tIns="30869" rIns="61738" bIns="30869"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a:buFont typeface="Courier New" panose="02070309020205020404" pitchFamily="49" charset="0"/>
              <a:buChar char="o"/>
            </a:pPr>
            <a:r>
              <a:rPr lang="en-US" sz="2000" dirty="0"/>
              <a:t>Projection used is related to type of map and area covered by map (extent)</a:t>
            </a:r>
          </a:p>
          <a:p>
            <a:pPr>
              <a:buFont typeface="Courier New" panose="02070309020205020404" pitchFamily="49" charset="0"/>
              <a:buChar char="o"/>
            </a:pPr>
            <a:r>
              <a:rPr lang="en-US" sz="2000" dirty="0"/>
              <a:t>Continental-scale data (North America)</a:t>
            </a:r>
          </a:p>
          <a:p>
            <a:pPr lvl="1">
              <a:buFont typeface="Wingdings" panose="05000000000000000000" pitchFamily="2" charset="2"/>
              <a:buChar char="ü"/>
            </a:pPr>
            <a:r>
              <a:rPr lang="en-US" dirty="0"/>
              <a:t>Geographic projection (decimal degrees)</a:t>
            </a:r>
          </a:p>
          <a:p>
            <a:pPr lvl="1">
              <a:buFont typeface="Wingdings" panose="05000000000000000000" pitchFamily="2" charset="2"/>
              <a:buChar char="ü"/>
            </a:pPr>
            <a:r>
              <a:rPr lang="en-US" dirty="0"/>
              <a:t>Lambert Conformal Conic </a:t>
            </a:r>
          </a:p>
          <a:p>
            <a:pPr lvl="1">
              <a:buFont typeface="Wingdings" panose="05000000000000000000" pitchFamily="2" charset="2"/>
              <a:buChar char="ü"/>
            </a:pPr>
            <a:r>
              <a:rPr lang="en-US" dirty="0"/>
              <a:t>Albers Equal Area </a:t>
            </a:r>
          </a:p>
          <a:p>
            <a:pPr>
              <a:buFont typeface="Courier New" panose="02070309020205020404" pitchFamily="49" charset="0"/>
              <a:buChar char="o"/>
            </a:pPr>
            <a:r>
              <a:rPr lang="en-US" sz="2000" dirty="0"/>
              <a:t>State-scale data (Arkansas)</a:t>
            </a:r>
          </a:p>
          <a:p>
            <a:pPr lvl="1">
              <a:buFont typeface="Wingdings" panose="05000000000000000000" pitchFamily="2" charset="2"/>
              <a:buChar char="ü"/>
            </a:pPr>
            <a:r>
              <a:rPr lang="en-US" dirty="0"/>
              <a:t>UTM Projection, Zone </a:t>
            </a:r>
            <a:r>
              <a:rPr lang="en-US" dirty="0" err="1"/>
              <a:t>15N</a:t>
            </a:r>
            <a:endParaRPr lang="en-US" dirty="0"/>
          </a:p>
          <a:p>
            <a:pPr marL="274320" lvl="1">
              <a:spcBef>
                <a:spcPts val="1800"/>
              </a:spcBef>
              <a:buFont typeface="Courier New" panose="02070309020205020404" pitchFamily="49" charset="0"/>
              <a:buChar char="o"/>
            </a:pPr>
            <a:r>
              <a:rPr lang="en-US" sz="2100" dirty="0"/>
              <a:t>County, city-scale data</a:t>
            </a:r>
          </a:p>
          <a:p>
            <a:pPr lvl="1">
              <a:buFont typeface="Wingdings" panose="05000000000000000000" pitchFamily="2" charset="2"/>
              <a:buChar char="ü"/>
            </a:pPr>
            <a:r>
              <a:rPr lang="en-US" dirty="0"/>
              <a:t>State Plane</a:t>
            </a:r>
          </a:p>
          <a:p>
            <a:endParaRPr lang="en-US" sz="1620" dirty="0"/>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18533" y="184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7C7406D-7C4F-4206-A954-6121BB047A56}"/>
              </a:ext>
            </a:extLst>
          </p:cNvPr>
          <p:cNvSpPr>
            <a:spLocks noGrp="1"/>
          </p:cNvSpPr>
          <p:nvPr>
            <p:ph type="sldNum" sz="quarter" idx="12"/>
          </p:nvPr>
        </p:nvSpPr>
        <p:spPr/>
        <p:txBody>
          <a:bodyPr/>
          <a:lstStyle/>
          <a:p>
            <a:fld id="{127DDC20-79C9-9647-820E-6D40A3D210C3}" type="slidenum">
              <a:rPr lang="en-US" smtClean="0"/>
              <a:pPr/>
              <a:t>64</a:t>
            </a:fld>
            <a:endParaRPr lang="en-US"/>
          </a:p>
        </p:txBody>
      </p:sp>
    </p:spTree>
    <p:extLst>
      <p:ext uri="{BB962C8B-B14F-4D97-AF65-F5344CB8AC3E}">
        <p14:creationId xmlns:p14="http://schemas.microsoft.com/office/powerpoint/2010/main" val="426679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308701" indent="-308701">
              <a:buFont typeface="+mj-lt"/>
              <a:buAutoNum type="arabicPeriod"/>
            </a:pPr>
            <a:r>
              <a:rPr lang="en-US" dirty="0"/>
              <a:t>Should use same projection and datum for all data</a:t>
            </a:r>
          </a:p>
          <a:p>
            <a:pPr marL="308701" indent="-308701">
              <a:buFont typeface="+mj-lt"/>
              <a:buAutoNum type="arabicPeriod"/>
            </a:pPr>
            <a:r>
              <a:rPr lang="en-US" dirty="0"/>
              <a:t>Use projection appropriate for scale and extent</a:t>
            </a:r>
          </a:p>
          <a:p>
            <a:pPr marL="308701" indent="-308701">
              <a:buFont typeface="+mj-lt"/>
              <a:buAutoNum type="arabicPeriod"/>
            </a:pPr>
            <a:r>
              <a:rPr lang="en-US" dirty="0"/>
              <a:t>Think about what map properties are maintained or distorted</a:t>
            </a:r>
          </a:p>
        </p:txBody>
      </p:sp>
      <p:sp>
        <p:nvSpPr>
          <p:cNvPr id="6" name="Title 1">
            <a:extLst>
              <a:ext uri="{FF2B5EF4-FFF2-40B4-BE49-F238E27FC236}">
                <a16:creationId xmlns:a16="http://schemas.microsoft.com/office/drawing/2014/main" id="{FF74196D-2E82-44B0-B604-0B51E1E8585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Best Practice</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B37F0C81-4BAB-4395-8FEA-261074EC10C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9240D4AF-FAC1-4C45-A5C2-6D2801DA8A15}"/>
              </a:ext>
            </a:extLst>
          </p:cNvPr>
          <p:cNvSpPr>
            <a:spLocks noGrp="1"/>
          </p:cNvSpPr>
          <p:nvPr>
            <p:ph type="sldNum" sz="quarter" idx="12"/>
          </p:nvPr>
        </p:nvSpPr>
        <p:spPr/>
        <p:txBody>
          <a:bodyPr/>
          <a:lstStyle/>
          <a:p>
            <a:fld id="{127DDC20-79C9-9647-820E-6D40A3D210C3}" type="slidenum">
              <a:rPr lang="en-US" smtClean="0"/>
              <a:pPr/>
              <a:t>65</a:t>
            </a:fld>
            <a:endParaRPr lang="en-US"/>
          </a:p>
        </p:txBody>
      </p:sp>
    </p:spTree>
    <p:extLst>
      <p:ext uri="{BB962C8B-B14F-4D97-AF65-F5344CB8AC3E}">
        <p14:creationId xmlns:p14="http://schemas.microsoft.com/office/powerpoint/2010/main" val="200476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3" name="TextBox 2"/>
          <p:cNvSpPr txBox="1"/>
          <p:nvPr/>
        </p:nvSpPr>
        <p:spPr>
          <a:xfrm>
            <a:off x="322729" y="1697127"/>
            <a:ext cx="6981872" cy="2031325"/>
          </a:xfrm>
          <a:prstGeom prst="rect">
            <a:avLst/>
          </a:prstGeom>
          <a:noFill/>
        </p:spPr>
        <p:txBody>
          <a:bodyPr wrap="square" rtlCol="0">
            <a:spAutoFit/>
          </a:bodyPr>
          <a:lstStyle/>
          <a:p>
            <a:pPr marL="342900" indent="-342900">
              <a:lnSpc>
                <a:spcPct val="90000"/>
              </a:lnSpc>
              <a:buFont typeface="Courier New" panose="02070309020205020404" pitchFamily="49" charset="0"/>
              <a:buChar char="o"/>
            </a:pPr>
            <a:r>
              <a:rPr lang="en-GB" sz="2000" dirty="0"/>
              <a:t>ArcGIS can apply a projection transformation on-the-fly</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So, it is not always necessary to reproject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Okay if you are visualizing the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Need to reproject if you plan to perform an analysis </a:t>
            </a:r>
          </a:p>
        </p:txBody>
      </p:sp>
      <p:sp>
        <p:nvSpPr>
          <p:cNvPr id="5" name="Title 1">
            <a:extLst>
              <a:ext uri="{FF2B5EF4-FFF2-40B4-BE49-F238E27FC236}">
                <a16:creationId xmlns:a16="http://schemas.microsoft.com/office/drawing/2014/main" id="{E4CE9013-BE1F-47A9-8CD2-B3210F9E1BC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Projection-on-the-Fly (ArcGIS)</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DE46FEB8-9369-46A6-BF64-19532EAF77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8A5634A-9C5D-4F15-A64E-3FAF2010E9B8}"/>
              </a:ext>
            </a:extLst>
          </p:cNvPr>
          <p:cNvSpPr>
            <a:spLocks noGrp="1"/>
          </p:cNvSpPr>
          <p:nvPr>
            <p:ph type="sldNum" sz="quarter" idx="12"/>
          </p:nvPr>
        </p:nvSpPr>
        <p:spPr/>
        <p:txBody>
          <a:bodyPr/>
          <a:lstStyle/>
          <a:p>
            <a:fld id="{127DDC20-79C9-9647-820E-6D40A3D210C3}" type="slidenum">
              <a:rPr lang="en-US" smtClean="0"/>
              <a:pPr/>
              <a:t>66</a:t>
            </a:fld>
            <a:endParaRPr lang="en-US"/>
          </a:p>
        </p:txBody>
      </p:sp>
    </p:spTree>
    <p:extLst>
      <p:ext uri="{BB962C8B-B14F-4D97-AF65-F5344CB8AC3E}">
        <p14:creationId xmlns:p14="http://schemas.microsoft.com/office/powerpoint/2010/main" val="2820372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67</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7318</TotalTime>
  <Words>7925</Words>
  <Application>Microsoft Office PowerPoint</Application>
  <PresentationFormat>Custom</PresentationFormat>
  <Paragraphs>1046</Paragraphs>
  <Slides>67</Slides>
  <Notes>64</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67</vt:i4>
      </vt:variant>
    </vt:vector>
  </HeadingPairs>
  <TitlesOfParts>
    <vt:vector size="79" baseType="lpstr">
      <vt:lpstr>Avenir Next W01</vt:lpstr>
      <vt:lpstr>Helvetica Neue</vt:lpstr>
      <vt:lpstr>Sabon-Roman</vt:lpstr>
      <vt:lpstr>Arial</vt:lpstr>
      <vt:lpstr>Calibri</vt:lpstr>
      <vt:lpstr>Consolas</vt:lpstr>
      <vt:lpstr>Courier New</vt:lpstr>
      <vt:lpstr>Roboto</vt:lpstr>
      <vt:lpstr>Source Sans Pro</vt:lpstr>
      <vt:lpstr>Times New Roman</vt:lpstr>
      <vt:lpstr>Wingdings</vt:lpstr>
      <vt:lpstr>Office Theme</vt:lpstr>
      <vt:lpstr>GEOG 2475: Geographic Information Systems I</vt:lpstr>
      <vt:lpstr>PowerPoint Presentation</vt:lpstr>
      <vt:lpstr>PowerPoint Presentation</vt:lpstr>
      <vt:lpstr>PowerPoint Presentation</vt:lpstr>
      <vt:lpstr>PowerPoint Presentation</vt:lpstr>
      <vt:lpstr>Modeling the Earth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Geographic vs Projected Coordinate Systems</vt:lpstr>
      <vt:lpstr>Geographic vs Projected Coordinate Systems</vt:lpstr>
      <vt:lpstr>PowerPoint Presentation</vt:lpstr>
      <vt:lpstr>PowerPoint Presentation</vt:lpstr>
      <vt:lpstr>PowerPoint Presentation</vt:lpstr>
      <vt:lpstr>PowerPoint Presentation</vt:lpstr>
      <vt:lpstr>Tangency      Secancy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Yaqian He</cp:lastModifiedBy>
  <cp:revision>406</cp:revision>
  <cp:lastPrinted>2020-03-26T12:59:04Z</cp:lastPrinted>
  <dcterms:created xsi:type="dcterms:W3CDTF">2020-03-24T14:51:54Z</dcterms:created>
  <dcterms:modified xsi:type="dcterms:W3CDTF">2022-09-29T18:58:02Z</dcterms:modified>
</cp:coreProperties>
</file>