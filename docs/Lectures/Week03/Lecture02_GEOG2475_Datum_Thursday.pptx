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38"/>
  </p:notesMasterIdLst>
  <p:sldIdLst>
    <p:sldId id="914" r:id="rId4"/>
    <p:sldId id="915" r:id="rId5"/>
    <p:sldId id="639" r:id="rId6"/>
    <p:sldId id="643" r:id="rId7"/>
    <p:sldId id="268" r:id="rId8"/>
    <p:sldId id="644" r:id="rId9"/>
    <p:sldId id="633" r:id="rId10"/>
    <p:sldId id="311" r:id="rId11"/>
    <p:sldId id="375" r:id="rId12"/>
    <p:sldId id="273" r:id="rId13"/>
    <p:sldId id="272" r:id="rId14"/>
    <p:sldId id="652" r:id="rId15"/>
    <p:sldId id="330" r:id="rId16"/>
    <p:sldId id="305" r:id="rId17"/>
    <p:sldId id="323" r:id="rId18"/>
    <p:sldId id="319" r:id="rId19"/>
    <p:sldId id="651" r:id="rId20"/>
    <p:sldId id="329" r:id="rId21"/>
    <p:sldId id="308" r:id="rId22"/>
    <p:sldId id="613" r:id="rId23"/>
    <p:sldId id="310" r:id="rId24"/>
    <p:sldId id="923" r:id="rId25"/>
    <p:sldId id="625" r:id="rId26"/>
    <p:sldId id="276" r:id="rId27"/>
    <p:sldId id="615" r:id="rId28"/>
    <p:sldId id="635" r:id="rId29"/>
    <p:sldId id="647" r:id="rId30"/>
    <p:sldId id="648" r:id="rId31"/>
    <p:sldId id="649" r:id="rId32"/>
    <p:sldId id="650" r:id="rId33"/>
    <p:sldId id="612" r:id="rId34"/>
    <p:sldId id="312" r:id="rId35"/>
    <p:sldId id="313" r:id="rId36"/>
    <p:sldId id="270" r:id="rId37"/>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432" autoAdjust="0"/>
  </p:normalViewPr>
  <p:slideViewPr>
    <p:cSldViewPr snapToGrid="0" snapToObjects="1">
      <p:cViewPr varScale="1">
        <p:scale>
          <a:sx n="113" d="100"/>
          <a:sy n="113" d="100"/>
        </p:scale>
        <p:origin x="1878" y="96"/>
      </p:cViewPr>
      <p:guideLst>
        <p:guide orient="horz" pos="1620"/>
        <p:guide pos="2592"/>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9/1/2025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26.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27.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28.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29.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a:t>
            </a:fld>
            <a:endParaRPr lang="en-US"/>
          </a:p>
        </p:txBody>
      </p:sp>
    </p:spTree>
    <p:extLst>
      <p:ext uri="{BB962C8B-B14F-4D97-AF65-F5344CB8AC3E}">
        <p14:creationId xmlns:p14="http://schemas.microsoft.com/office/powerpoint/2010/main" val="1055563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984136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order to flatten the Earth, coordinates on the globe must be mathematically transformed or moved to a geometric surface that can be flattened. These are called developable surfaces. </a:t>
            </a:r>
          </a:p>
          <a:p>
            <a:endParaRPr lang="en-US" baseline="0" dirty="0"/>
          </a:p>
          <a:p>
            <a:r>
              <a:rPr lang="en-US" baseline="0" dirty="0"/>
              <a:t>The most commonly used surfaces are cylinders, cones, and planes. Cylindrical projections use cylinders, conic projections use cones, and azimuthal projections use planes. </a:t>
            </a:r>
          </a:p>
          <a:p>
            <a:endParaRPr lang="en-US" baseline="0" dirty="0"/>
          </a:p>
          <a:p>
            <a:r>
              <a:rPr lang="en-US" baseline="0" dirty="0"/>
              <a:t>There are other shapes available or shapes can be combined. Here, we will focus on just these most commonly used surfaces. </a:t>
            </a:r>
          </a:p>
          <a:p>
            <a:endParaRPr lang="en-US" baseline="0" dirty="0"/>
          </a:p>
          <a:p>
            <a:r>
              <a:rPr lang="en-US" baseline="0" dirty="0"/>
              <a:t>Note that all three of these surface can be flattened. If you cut a cylinder, it can be folded out to a plane. A cone can be folded out into a fan shape.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4040785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219733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4190444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curved, 3D surface of the Earth is converted to a</a:t>
            </a:r>
            <a:r>
              <a:rPr lang="en-US" baseline="0" dirty="0"/>
              <a:t> flat space, some distortions will be produced. </a:t>
            </a:r>
          </a:p>
          <a:p>
            <a:endParaRPr lang="en-US" baseline="0" dirty="0"/>
          </a:p>
          <a:p>
            <a:r>
              <a:rPr lang="en-US" baseline="0" dirty="0"/>
              <a:t>It is not possible to convert a curved 3D surface into a flat surface without some distortions. </a:t>
            </a:r>
          </a:p>
          <a:p>
            <a:endParaRPr lang="en-US" baseline="0" dirty="0"/>
          </a:p>
          <a:p>
            <a:r>
              <a:rPr lang="en-US" baseline="0" dirty="0"/>
              <a:t>Specifically, map projections can produce distortions in feature shape, relative area of features, distance between features, and direction between locations. </a:t>
            </a:r>
          </a:p>
          <a:p>
            <a:endParaRPr lang="en-US" baseline="0" dirty="0"/>
          </a:p>
          <a:p>
            <a:r>
              <a:rPr lang="en-US" baseline="0" dirty="0"/>
              <a:t>The type and magnitude of the distortions produced depends on the projection used.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1017020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3063658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12</a:t>
            </a:fld>
            <a:endParaRPr lang="en-US"/>
          </a:p>
        </p:txBody>
      </p:sp>
    </p:spTree>
    <p:extLst>
      <p:ext uri="{BB962C8B-B14F-4D97-AF65-F5344CB8AC3E}">
        <p14:creationId xmlns:p14="http://schemas.microsoft.com/office/powerpoint/2010/main" val="2257967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broad</a:t>
            </a:r>
            <a:r>
              <a:rPr lang="en-US" baseline="0" dirty="0"/>
              <a:t> types of projections exist based on what map properties are maintained. </a:t>
            </a:r>
          </a:p>
          <a:p>
            <a:endParaRPr lang="en-US" baseline="0" dirty="0"/>
          </a:p>
          <a:p>
            <a:r>
              <a:rPr lang="en-US" baseline="0" dirty="0"/>
              <a:t>Conformal projections maintain local angles and shapes. Equivalent projections maintain areas of features in correct relative size. Both are global properties, or shape or size can be maintained across the entire globe not just for specific areas. Also, these properties are mutually exclusive. Or, you cannot maintain both shape and relative size. </a:t>
            </a:r>
          </a:p>
          <a:p>
            <a:endParaRPr lang="en-US" baseline="0" dirty="0"/>
          </a:p>
          <a:p>
            <a:r>
              <a:rPr lang="en-US" baseline="0" dirty="0"/>
              <a:t>Equidistant projections maintain scale or distance along certain lines while azimuthal projections maintain accurate directions relative to a certain vantage point. Equidistant and azimuthal properties are local properties and may be true only from or to the center of the map projection. You cannot maintain distance or direction between all points in the map space.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4136483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Mercator projections</a:t>
            </a:r>
            <a:r>
              <a:rPr lang="en-US" baseline="0" dirty="0"/>
              <a:t> are examples of cylindrical projections that are conformal, or maintain shape and local angles. (</a:t>
            </a:r>
            <a:r>
              <a:rPr lang="en-US" b="0" i="0" dirty="0">
                <a:solidFill>
                  <a:srgbClr val="222222"/>
                </a:solidFill>
                <a:effectLst/>
                <a:latin typeface="Roboto"/>
              </a:rPr>
              <a:t>To </a:t>
            </a:r>
            <a:r>
              <a:rPr lang="en-US" b="1" i="0" dirty="0">
                <a:solidFill>
                  <a:srgbClr val="222222"/>
                </a:solidFill>
                <a:effectLst/>
                <a:latin typeface="Roboto"/>
              </a:rPr>
              <a:t>preserve</a:t>
            </a:r>
            <a:r>
              <a:rPr lang="en-US" b="0" i="0" dirty="0">
                <a:solidFill>
                  <a:srgbClr val="222222"/>
                </a:solidFill>
                <a:effectLst/>
                <a:latin typeface="Roboto"/>
              </a:rPr>
              <a:t> individual </a:t>
            </a:r>
            <a:r>
              <a:rPr lang="en-US" b="1" i="0" dirty="0">
                <a:solidFill>
                  <a:srgbClr val="222222"/>
                </a:solidFill>
                <a:effectLst/>
                <a:latin typeface="Roboto"/>
              </a:rPr>
              <a:t>angles</a:t>
            </a:r>
            <a:r>
              <a:rPr lang="en-US" b="0" i="0" dirty="0">
                <a:solidFill>
                  <a:srgbClr val="222222"/>
                </a:solidFill>
                <a:effectLst/>
                <a:latin typeface="Roboto"/>
              </a:rPr>
              <a:t> describing the spatial relationships, a Conformal </a:t>
            </a:r>
            <a:r>
              <a:rPr lang="en-US" b="1" i="0" dirty="0">
                <a:solidFill>
                  <a:srgbClr val="222222"/>
                </a:solidFill>
                <a:effectLst/>
                <a:latin typeface="Roboto"/>
              </a:rPr>
              <a:t>projection</a:t>
            </a:r>
            <a:r>
              <a:rPr lang="en-US" b="0" i="0" dirty="0">
                <a:solidFill>
                  <a:srgbClr val="222222"/>
                </a:solidFill>
                <a:effectLst/>
                <a:latin typeface="Roboto"/>
              </a:rPr>
              <a:t> must show the perpendicular graticule lines intersecting at 90-degree </a:t>
            </a:r>
            <a:r>
              <a:rPr lang="en-US" b="1" i="0" dirty="0">
                <a:solidFill>
                  <a:srgbClr val="222222"/>
                </a:solidFill>
                <a:effectLst/>
                <a:latin typeface="Roboto"/>
              </a:rPr>
              <a:t>angles</a:t>
            </a:r>
            <a:r>
              <a:rPr lang="en-US" b="0" i="0" dirty="0">
                <a:solidFill>
                  <a:srgbClr val="222222"/>
                </a:solidFill>
                <a:effectLst/>
                <a:latin typeface="Roboto"/>
              </a:rPr>
              <a:t> on the map</a:t>
            </a:r>
            <a:r>
              <a:rPr lang="en-US" baseline="0" dirty="0"/>
              <a:t>)</a:t>
            </a:r>
          </a:p>
          <a:p>
            <a:endParaRPr lang="en-US" baseline="0" dirty="0"/>
          </a:p>
          <a:p>
            <a:r>
              <a:rPr lang="en-US" baseline="0" dirty="0"/>
              <a:t>Relative size tends to be heavily distorted. For example, the </a:t>
            </a:r>
            <a:r>
              <a:rPr lang="en-US" baseline="0" dirty="0" err="1"/>
              <a:t>Tissot</a:t>
            </a:r>
            <a:r>
              <a:rPr lang="en-US" baseline="0" dirty="0"/>
              <a:t> Indicatrix suggests that sizes close to the poles are much larger than they should be in comparison to equatorial features. Remember from the example above that Greenland is actually smaller than Australia. </a:t>
            </a:r>
          </a:p>
          <a:p>
            <a:endParaRPr lang="en-US" baseline="0" dirty="0"/>
          </a:p>
          <a:p>
            <a:r>
              <a:rPr lang="en-US" baseline="0" dirty="0"/>
              <a:t>In Mercator projections, parallels and meridians will cross at right-angles.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1648094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Mercator is a modification of the Mercator projection</a:t>
            </a:r>
            <a:r>
              <a:rPr lang="en-US" baseline="0" dirty="0"/>
              <a:t> that is commonly used in web maps including Bing Maps, </a:t>
            </a:r>
            <a:r>
              <a:rPr lang="en-US" baseline="0" dirty="0" err="1"/>
              <a:t>OpenStreetMap</a:t>
            </a:r>
            <a:r>
              <a:rPr lang="en-US" baseline="0" dirty="0"/>
              <a:t>, Google Maps, MapQuest, and ArcGIS Online.</a:t>
            </a:r>
          </a:p>
          <a:p>
            <a:endParaRPr lang="en-US" baseline="0" dirty="0"/>
          </a:p>
          <a:p>
            <a:r>
              <a:rPr lang="en-US" baseline="0" dirty="0"/>
              <a:t>It uses a true sphere as opposed to a spheroid. </a:t>
            </a:r>
          </a:p>
          <a:p>
            <a:endParaRPr lang="en-US" baseline="0" dirty="0"/>
          </a:p>
          <a:p>
            <a:r>
              <a:rPr lang="en-US" baseline="0" dirty="0"/>
              <a:t>One reason this projection is used on the web is that it is easy to generate tiles from data since latitude and longitude lines intersect at right 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12185307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Mollweide</a:t>
            </a:r>
            <a:r>
              <a:rPr lang="en-US" baseline="0" dirty="0"/>
              <a:t> is an example of a equivalent projection that maintains relative size or area but distorts shape and local angles. </a:t>
            </a:r>
          </a:p>
          <a:p>
            <a:endParaRPr lang="en-US" baseline="0" dirty="0"/>
          </a:p>
          <a:p>
            <a:r>
              <a:rPr lang="en-US" baseline="0" dirty="0"/>
              <a:t>It is </a:t>
            </a:r>
            <a:r>
              <a:rPr lang="en-US" baseline="0" dirty="0" err="1"/>
              <a:t>pseudosylindrical</a:t>
            </a:r>
            <a:r>
              <a:rPr lang="en-US" baseline="0" dirty="0"/>
              <a:t>, which means that is uses multiple cylinders as opposed to one in an attempt to further minimize distortions.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3364490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15938317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now discuss continental-scale</a:t>
            </a:r>
            <a:r>
              <a:rPr lang="en-US" baseline="0" dirty="0"/>
              <a:t> projections using the United States as an example.</a:t>
            </a:r>
          </a:p>
          <a:p>
            <a:endParaRPr lang="en-US" baseline="0" dirty="0"/>
          </a:p>
          <a:p>
            <a:r>
              <a:rPr lang="en-US" baseline="0" dirty="0"/>
              <a:t>The first image shows the US as not projected. Or, latitude and longitude are being treated like Cartesian coordinates in flat space. This results in some extreme distortions and should be avoided. </a:t>
            </a:r>
          </a:p>
          <a:p>
            <a:endParaRPr lang="en-US" baseline="0" dirty="0"/>
          </a:p>
          <a:p>
            <a:r>
              <a:rPr lang="en-US" baseline="0" dirty="0"/>
              <a:t>The second image shows a Mercator projection for the US. Here, shape and local angle is maintained but relative size is distorted.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3987560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a:t>
            </a:r>
            <a:r>
              <a:rPr lang="en-US" baseline="0" dirty="0"/>
              <a:t> maps of the US, I prefer to use Albers Equal Area or Lambert Conformal Conic.</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2254320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Albers</a:t>
            </a:r>
            <a:r>
              <a:rPr lang="en-US" baseline="0" dirty="0"/>
              <a:t> Equal Area uses a conic developable surface with two standard parallels. It is equivalent, so it maintains relative size but distorts shape and local angles. </a:t>
            </a:r>
          </a:p>
          <a:p>
            <a:endParaRPr lang="en-US" baseline="0" dirty="0"/>
          </a:p>
          <a:p>
            <a:r>
              <a:rPr lang="en-US" baseline="0" dirty="0"/>
              <a:t>However, distortions are generally pretty minimal.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2122817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Lambert</a:t>
            </a:r>
            <a:r>
              <a:rPr lang="en-US" baseline="0" dirty="0"/>
              <a:t> Conformal Conic also uses a cone with two standard parallels. Since it is conformal it maintains shape and local angles but distorts local size. </a:t>
            </a:r>
          </a:p>
          <a:p>
            <a:endParaRPr lang="en-US" baseline="0" dirty="0"/>
          </a:p>
          <a:p>
            <a:r>
              <a:rPr lang="en-US" baseline="0" dirty="0"/>
              <a:t>However, distortions are minimal.</a:t>
            </a:r>
          </a:p>
          <a:p>
            <a:endParaRPr lang="en-US" baseline="0" dirty="0"/>
          </a:p>
          <a:p>
            <a:r>
              <a:rPr lang="en-US" baseline="0" dirty="0"/>
              <a:t>So, if I want to created a map of the US that maintains relative size, I tend to use Albers Equal Area. If I want to maintain shape, I will use Lambert Conformal Conic.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569754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27442510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a:t>
            </a:r>
            <a:r>
              <a:rPr lang="en-US" baseline="0" dirty="0"/>
              <a:t> now discuss projections that are appropriate at more local scales, such as for states, counties, or cities. </a:t>
            </a:r>
          </a:p>
          <a:p>
            <a:endParaRPr lang="en-US" baseline="0" dirty="0"/>
          </a:p>
          <a:p>
            <a:r>
              <a:rPr lang="en-US" baseline="0" dirty="0"/>
              <a:t>Universal Transverse Mercator is a set of projections that are commonly used at these scales.</a:t>
            </a:r>
          </a:p>
          <a:p>
            <a:endParaRPr lang="en-US" baseline="0" dirty="0"/>
          </a:p>
          <a:p>
            <a:r>
              <a:rPr lang="en-US" baseline="0" dirty="0"/>
              <a:t>This is not one system but a set of systems in which the Earth is broken into 60 zones. </a:t>
            </a:r>
          </a:p>
          <a:p>
            <a:endParaRPr lang="en-US" baseline="0" dirty="0"/>
          </a:p>
          <a:p>
            <a:r>
              <a:rPr lang="en-US" baseline="0" dirty="0"/>
              <a:t>Within each zone coordinates are provided in length units, generally meters, as northing and easting. </a:t>
            </a:r>
          </a:p>
          <a:p>
            <a:endParaRPr lang="en-US" baseline="0" dirty="0"/>
          </a:p>
          <a:p>
            <a:r>
              <a:rPr lang="en-US" baseline="0" dirty="0"/>
              <a:t>Northing measures up and down or north to south. </a:t>
            </a:r>
            <a:r>
              <a:rPr lang="en-US" dirty="0"/>
              <a:t>In the northern hemisphere, the equator is assigned a value of 0 meters, and you add</a:t>
            </a:r>
            <a:r>
              <a:rPr lang="en-US" baseline="0" dirty="0"/>
              <a:t> as you move north</a:t>
            </a:r>
            <a:r>
              <a:rPr lang="en-US" dirty="0"/>
              <a:t>. So, this is</a:t>
            </a:r>
            <a:r>
              <a:rPr lang="en-US" baseline="0" dirty="0"/>
              <a:t> effectively the distance from the equator. </a:t>
            </a:r>
            <a:r>
              <a:rPr lang="en-US" dirty="0"/>
              <a:t>In the southern hemisphere, the equator is assigned a value of 10,000,000 meters, and you</a:t>
            </a:r>
            <a:r>
              <a:rPr lang="en-US" baseline="0" dirty="0"/>
              <a:t> subtract as you move south. </a:t>
            </a:r>
          </a:p>
          <a:p>
            <a:endParaRPr lang="en-US" baseline="0" dirty="0"/>
          </a:p>
          <a:p>
            <a:r>
              <a:rPr lang="en-US" baseline="0" dirty="0"/>
              <a:t>Easting is calculated relative to the central meridian or center line in each zone. The central meridian is assigned a value of 500,000 meters, and you add as you move east of it and subtract if you move west.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3741125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UTM</a:t>
            </a:r>
            <a:r>
              <a:rPr lang="en-US" baseline="0" dirty="0"/>
              <a:t> systems break the Earth into 60 zones vertically. </a:t>
            </a:r>
          </a:p>
          <a:p>
            <a:endParaRPr lang="en-US" baseline="0" dirty="0"/>
          </a:p>
          <a:p>
            <a:r>
              <a:rPr lang="en-US" baseline="0" dirty="0"/>
              <a:t>Each zone is only appropriate for areas within it. You should not project the entire Earth to a single UTM projection. </a:t>
            </a:r>
          </a:p>
          <a:p>
            <a:endParaRPr lang="en-US" baseline="0" dirty="0"/>
          </a:p>
          <a:p>
            <a:r>
              <a:rPr lang="en-US" baseline="0" dirty="0"/>
              <a:t>Easting values will be defined relative to the central meridian in each zone. </a:t>
            </a:r>
          </a:p>
          <a:p>
            <a:endParaRPr lang="en-US" baseline="0" dirty="0"/>
          </a:p>
          <a:p>
            <a:r>
              <a:rPr lang="en-US" baseline="0" dirty="0"/>
              <a:t>In the US, the zone number increases as you move east and decreases as you move west. </a:t>
            </a:r>
          </a:p>
          <a:p>
            <a:endParaRPr lang="en-US" baseline="0" dirty="0"/>
          </a:p>
          <a:p>
            <a:r>
              <a:rPr lang="en-US" baseline="0" dirty="0"/>
              <a:t>The majority of Arkansas is in UTM Zone 15 North. So, this is a common projection for Arkansas. So, Arkansas generally uses a geographic coordinate system of NAD83 or WGS84 and a projected coordinate system of UTM Zone 15 North. </a:t>
            </a:r>
          </a:p>
          <a:p>
            <a:endParaRPr lang="en-US" baseline="0" dirty="0"/>
          </a:p>
          <a:p>
            <a:r>
              <a:rPr lang="en-US" baseline="0" dirty="0"/>
              <a:t>Some states fit well into a single UTM zone, for example Nevada, Utah, and Alabama. Others do not, such as California or Pennsylvania.</a:t>
            </a:r>
          </a:p>
          <a:p>
            <a:endParaRPr lang="en-US" baseline="0" dirty="0"/>
          </a:p>
          <a:p>
            <a:r>
              <a:rPr lang="en-US" baseline="0" dirty="0"/>
              <a:t>For states that do not fit well into one UTM zone, other projections are generally used to display them. </a:t>
            </a:r>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39781845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37160581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40063169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10002383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3694762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PLSS is important because:</a:t>
            </a:r>
          </a:p>
          <a:p>
            <a:r>
              <a:rPr lang="en-US" baseline="0" dirty="0"/>
              <a:t>1) The PLSS lines are often property boundaries, they form natural corridors in which to place roads, powerlines, and other public services; they are often evident on the landscape. Many road intersections occur at PLSS corner points, and these can be viewed and referenced on many maps or imagery used for GIS database development efforts. Further, PLSS corners are sometimes resurveyed using high precision methods to provide property line control, particularly when a GIS is to be developed.</a:t>
            </a:r>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19520654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best map projection to use partially depends on the extent being mapped or the scale of the map. </a:t>
            </a:r>
          </a:p>
          <a:p>
            <a:endParaRPr lang="en-US" baseline="0" dirty="0"/>
          </a:p>
          <a:p>
            <a:r>
              <a:rPr lang="en-US" baseline="0" dirty="0"/>
              <a:t>We will now investigate some common map projections that can be used at different scales. </a:t>
            </a:r>
          </a:p>
          <a:p>
            <a:endParaRPr lang="en-US" baseline="0" dirty="0"/>
          </a:p>
          <a:p>
            <a:r>
              <a:rPr lang="en-US" baseline="0" dirty="0"/>
              <a:t>Note that all maps and spatial data layers will be referenced to a datum or geographic coordinate system. </a:t>
            </a:r>
          </a:p>
          <a:p>
            <a:endParaRPr lang="en-US" baseline="0" dirty="0"/>
          </a:p>
          <a:p>
            <a:r>
              <a:rPr lang="en-US" baseline="0" dirty="0"/>
              <a:t>If the map or data have been projected, they will also have a projected coordinate system where measurements are made in length units as opposed to angles.</a:t>
            </a:r>
          </a:p>
          <a:p>
            <a:endParaRPr lang="en-US" baseline="0" dirty="0"/>
          </a:p>
          <a:p>
            <a:r>
              <a:rPr lang="en-US" baseline="0" dirty="0"/>
              <a:t>We will begin with a discussion of some common global-scale projections followed by continent- and sate-scale options.</a:t>
            </a:r>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11700154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a:t>
            </a:r>
            <a:r>
              <a:rPr lang="en-US" baseline="0" dirty="0"/>
              <a:t> best practices for working with projections. </a:t>
            </a:r>
          </a:p>
          <a:p>
            <a:endParaRPr lang="en-US" baseline="0" dirty="0"/>
          </a:p>
          <a:p>
            <a:r>
              <a:rPr lang="en-US" baseline="0" dirty="0"/>
              <a:t>First, it is generally best to use the same projection for all data layers in a map or project to avoid any issues with misalignment.</a:t>
            </a:r>
          </a:p>
          <a:p>
            <a:endParaRPr lang="en-US" baseline="0" dirty="0"/>
          </a:p>
          <a:p>
            <a:r>
              <a:rPr lang="en-US" baseline="0" dirty="0"/>
              <a:t>You should use a projection appropriate for the scale and extent of the map. For example, you would not use a specific UTM zone to project the entire globe. On the other hand, a global projection would not be the best choice for data just within A</a:t>
            </a:r>
            <a:r>
              <a:rPr lang="en-US" altLang="zh-CN" baseline="0" dirty="0"/>
              <a:t>rkansas</a:t>
            </a:r>
            <a:r>
              <a:rPr lang="en-US" baseline="0" dirty="0"/>
              <a:t>. </a:t>
            </a:r>
          </a:p>
          <a:p>
            <a:endParaRPr lang="en-US" baseline="0" dirty="0"/>
          </a:p>
          <a:p>
            <a:r>
              <a:rPr lang="en-US" baseline="0" dirty="0"/>
              <a:t>You should also think about what map properties are maintained or distorted. If you are interested in maintaining relative size, then you should use an equivalent projection.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28118611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ArcGIS</a:t>
            </a:r>
            <a:r>
              <a:rPr lang="en-US" baseline="0" dirty="0"/>
              <a:t> Pro can apply a projection transformation on-the-fly or in memory. </a:t>
            </a:r>
          </a:p>
          <a:p>
            <a:endParaRPr lang="en-US" baseline="0" dirty="0"/>
          </a:p>
          <a:p>
            <a:r>
              <a:rPr lang="en-US" baseline="0" dirty="0"/>
              <a:t>So, data that are read into a map that are in a different projection than the map can be </a:t>
            </a:r>
            <a:r>
              <a:rPr lang="en-US" baseline="0" dirty="0" err="1"/>
              <a:t>reprojected</a:t>
            </a:r>
            <a:r>
              <a:rPr lang="en-US" baseline="0" dirty="0"/>
              <a:t> to match the map on-the-fly. </a:t>
            </a:r>
          </a:p>
          <a:p>
            <a:endParaRPr lang="en-US" baseline="0" dirty="0"/>
          </a:p>
          <a:p>
            <a:r>
              <a:rPr lang="en-US" baseline="0" dirty="0"/>
              <a:t>So, it is not always necessary to </a:t>
            </a:r>
            <a:r>
              <a:rPr lang="en-US" baseline="0" dirty="0" err="1"/>
              <a:t>reproject</a:t>
            </a:r>
            <a:r>
              <a:rPr lang="en-US" baseline="0" dirty="0"/>
              <a:t> data if you are simply visualizing it or making a map layout. </a:t>
            </a:r>
          </a:p>
          <a:p>
            <a:endParaRPr lang="en-US" baseline="0" dirty="0"/>
          </a:p>
          <a:p>
            <a:r>
              <a:rPr lang="en-US" baseline="0" dirty="0"/>
              <a:t>However, I suggest transforming all data layers into the same projection if you plan to perform spatial analysis.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17784290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34</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720AEDC-E445-4777-AA58-256DBE856A2E}" type="datetime1">
              <a:rPr lang="en-US" smtClean="0"/>
              <a:t>9/1/2025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4630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2AFFDC0E-2571-4B49-A099-A35911FE2571}" type="datetime1">
              <a:rPr lang="en-US" smtClean="0"/>
              <a:t>9/1/2025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6852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52A49ABB-4417-47CD-80B9-0D55D8A8F9A6}" type="datetime1">
              <a:rPr lang="en-US" smtClean="0"/>
              <a:t>9/1/2025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00153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34475E-0273-439D-974C-8782C6CF6085}" type="datetime1">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8104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C4C3F7-B696-4E33-B8CA-A5029D94236E}" type="datetime1">
              <a:rPr lang="en-US" smtClean="0"/>
              <a:t>9/1/2025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88584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9F242B4-A1B4-4224-ACE8-F64A6DFDF6CB}" type="datetime1">
              <a:rPr lang="en-US" smtClean="0"/>
              <a:t>9/1/2025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993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D0FCFC-EFD5-4D6F-AF5D-114622F47081}" type="datetime1">
              <a:rPr lang="en-US" smtClean="0"/>
              <a:t>9/1/2025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3206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FAFBCFB9-675F-4800-8AC7-ED3B357177A4}" type="datetime1">
              <a:rPr lang="en-US" smtClean="0"/>
              <a:t>9/1/2025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39752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9D67AFB5-74EF-4A25-966B-E982CF09D51D}" type="datetime1">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2362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704811"/>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7A43A2-25E5-4F4A-8CC5-2EB1720C6339}" type="datetime1">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74458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B211E9CE-A9D6-4C10-9743-25DD5C510D14}" type="datetime1">
              <a:rPr lang="en-US" smtClean="0"/>
              <a:t>9/1/2025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10966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470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30065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4320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77234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9109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765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95850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163510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374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2488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6635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916042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3960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2035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8974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1006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79589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0471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5276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63898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70888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96734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5239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696387"/>
            <a:ext cx="7444991" cy="89216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775824D9-FB06-4772-8A16-CEC7F6E704E4}" type="datetime1">
              <a:rPr lang="en-US" smtClean="0"/>
              <a:t>9/1/2025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638855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277647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2400"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1997935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youtu.be/mE-dyEjaTuY?si=BHJLtAv6R0u6FXP_"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kIID5FDi2JQ"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thetruesize.co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www.e-education.psu.edu/natureofgeoinfo/c2_p26.html"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2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346990" y="937607"/>
            <a:ext cx="4143417" cy="1356597"/>
          </a:xfrm>
        </p:spPr>
        <p:txBody>
          <a:bodyPr>
            <a:normAutofit/>
          </a:bodyPr>
          <a:lstStyle/>
          <a:p>
            <a:r>
              <a:rPr lang="en-US" sz="2700">
                <a:solidFill>
                  <a:srgbClr val="FFFFFF"/>
                </a:solidFill>
              </a:rPr>
              <a:t>WEEK 03</a:t>
            </a:r>
            <a:br>
              <a:rPr lang="en-US" sz="2700" dirty="0">
                <a:solidFill>
                  <a:srgbClr val="FFFFFF"/>
                </a:solidFill>
              </a:rPr>
            </a:br>
            <a:br>
              <a:rPr lang="en-US" sz="2700">
                <a:solidFill>
                  <a:srgbClr val="FFFFFF"/>
                </a:solidFill>
              </a:rPr>
            </a:br>
            <a:r>
              <a:rPr lang="en-US" sz="2800"/>
              <a:t>Projection</a:t>
            </a:r>
            <a:endParaRPr lang="en-US" sz="2700" dirty="0">
              <a:solidFill>
                <a:srgbClr val="FFFFFF"/>
              </a:solidFill>
            </a:endParaRP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348018" y="2617455"/>
            <a:ext cx="3512300" cy="1537292"/>
          </a:xfrm>
        </p:spPr>
        <p:txBody>
          <a:bodyPr>
            <a:noAutofit/>
          </a:bodyPr>
          <a:lstStyle/>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240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a:solidFill>
                  <a:srgbClr val="FFFFFF"/>
                </a:solidFill>
              </a:rPr>
              <a:t>2.1 </a:t>
            </a:r>
            <a:br>
              <a:rPr lang="en-US" sz="4050">
                <a:solidFill>
                  <a:srgbClr val="FFFFFF"/>
                </a:solidFill>
              </a:rPr>
            </a:br>
            <a:r>
              <a:rPr lang="en-US" sz="4050">
                <a:solidFill>
                  <a:srgbClr val="FFFFFF"/>
                </a:solidFill>
              </a:rPr>
              <a:t>KEY ASSUMPTION</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58688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247135" y="18667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3</a:t>
            </a:fld>
            <a:endParaRPr lang="en-US"/>
          </a:p>
        </p:txBody>
      </p:sp>
      <p:sp>
        <p:nvSpPr>
          <p:cNvPr id="8" name="Rectangle 1027">
            <a:extLst>
              <a:ext uri="{FF2B5EF4-FFF2-40B4-BE49-F238E27FC236}">
                <a16:creationId xmlns:a16="http://schemas.microsoft.com/office/drawing/2014/main" id="{95E0B5C8-DE5F-410D-955B-E0CA34F0F8D2}"/>
              </a:ext>
            </a:extLst>
          </p:cNvPr>
          <p:cNvSpPr txBox="1">
            <a:spLocks noChangeArrowheads="1"/>
          </p:cNvSpPr>
          <p:nvPr/>
        </p:nvSpPr>
        <p:spPr>
          <a:xfrm>
            <a:off x="302741" y="1029961"/>
            <a:ext cx="7679724" cy="2119636"/>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dirty="0"/>
              <a:t>Transformation</a:t>
            </a:r>
          </a:p>
          <a:p>
            <a:pPr lvl="1">
              <a:lnSpc>
                <a:spcPct val="90000"/>
              </a:lnSpc>
              <a:buFont typeface="Wingdings" panose="05000000000000000000" pitchFamily="2" charset="2"/>
              <a:buChar char="ü"/>
            </a:pPr>
            <a:r>
              <a:rPr lang="en-GB" sz="2240" dirty="0"/>
              <a:t>Converting coordinates from one datum to another</a:t>
            </a:r>
          </a:p>
          <a:p>
            <a:pPr lvl="2">
              <a:lnSpc>
                <a:spcPct val="90000"/>
              </a:lnSpc>
              <a:buFont typeface="Arial" panose="020B0604020202020204" pitchFamily="34" charset="0"/>
              <a:buChar char="•"/>
            </a:pPr>
            <a:r>
              <a:rPr lang="en-GB" sz="1800" dirty="0"/>
              <a:t>Shift origin</a:t>
            </a:r>
          </a:p>
          <a:p>
            <a:pPr lvl="2">
              <a:lnSpc>
                <a:spcPct val="90000"/>
              </a:lnSpc>
              <a:buFont typeface="Arial" panose="020B0604020202020204" pitchFamily="34" charset="0"/>
              <a:buChar char="•"/>
            </a:pPr>
            <a:r>
              <a:rPr lang="en-GB" sz="1800" dirty="0"/>
              <a:t>Scale</a:t>
            </a:r>
          </a:p>
          <a:p>
            <a:pPr lvl="2">
              <a:lnSpc>
                <a:spcPct val="90000"/>
              </a:lnSpc>
              <a:buFont typeface="Arial" panose="020B0604020202020204" pitchFamily="34" charset="0"/>
              <a:buChar char="•"/>
            </a:pPr>
            <a:r>
              <a:rPr lang="en-GB" sz="1800" dirty="0"/>
              <a:t>rotation</a:t>
            </a:r>
          </a:p>
          <a:p>
            <a:pPr>
              <a:lnSpc>
                <a:spcPct val="90000"/>
              </a:lnSpc>
              <a:buFont typeface="Courier New" panose="02070309020205020404" pitchFamily="49" charset="0"/>
              <a:buChar char="o"/>
            </a:pPr>
            <a:endParaRPr lang="en-GB" sz="2800"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pic>
        <p:nvPicPr>
          <p:cNvPr id="4" name="Picture 3" descr="Diagram&#10;&#10;Description automatically generated">
            <a:extLst>
              <a:ext uri="{FF2B5EF4-FFF2-40B4-BE49-F238E27FC236}">
                <a16:creationId xmlns:a16="http://schemas.microsoft.com/office/drawing/2014/main" id="{09B8CBFA-369C-48C4-A012-D6955A0931BC}"/>
              </a:ext>
            </a:extLst>
          </p:cNvPr>
          <p:cNvPicPr>
            <a:picLocks noChangeAspect="1"/>
          </p:cNvPicPr>
          <p:nvPr/>
        </p:nvPicPr>
        <p:blipFill>
          <a:blip r:embed="rId3"/>
          <a:stretch>
            <a:fillRect/>
          </a:stretch>
        </p:blipFill>
        <p:spPr>
          <a:xfrm>
            <a:off x="3068400" y="1824637"/>
            <a:ext cx="3892696" cy="3212307"/>
          </a:xfrm>
          <a:prstGeom prst="rect">
            <a:avLst/>
          </a:prstGeom>
        </p:spPr>
      </p:pic>
      <p:sp>
        <p:nvSpPr>
          <p:cNvPr id="10" name="TextBox 9">
            <a:extLst>
              <a:ext uri="{FF2B5EF4-FFF2-40B4-BE49-F238E27FC236}">
                <a16:creationId xmlns:a16="http://schemas.microsoft.com/office/drawing/2014/main" id="{BDE0E188-9F51-4642-AA57-24F05AFA3557}"/>
              </a:ext>
            </a:extLst>
          </p:cNvPr>
          <p:cNvSpPr txBox="1"/>
          <p:nvPr/>
        </p:nvSpPr>
        <p:spPr>
          <a:xfrm>
            <a:off x="462777" y="4897280"/>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113157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689" y="87192"/>
            <a:ext cx="7741920" cy="857250"/>
          </a:xfrm>
        </p:spPr>
        <p:txBody>
          <a:bodyPr>
            <a:noAutofit/>
          </a:bodyPr>
          <a:lstStyle/>
          <a:p>
            <a:pPr algn="l"/>
            <a:r>
              <a:rPr lang="en-US" sz="3200" b="1" dirty="0">
                <a:solidFill>
                  <a:srgbClr val="7030A0"/>
                </a:solidFill>
              </a:rPr>
              <a:t>MAP PROJECTION</a:t>
            </a:r>
          </a:p>
        </p:txBody>
      </p:sp>
      <p:sp>
        <p:nvSpPr>
          <p:cNvPr id="12" name="Content Placeholder 2">
            <a:extLst>
              <a:ext uri="{FF2B5EF4-FFF2-40B4-BE49-F238E27FC236}">
                <a16:creationId xmlns:a16="http://schemas.microsoft.com/office/drawing/2014/main" id="{C63EAEC2-9BD1-4BF7-BC6D-C5D2665ECE82}"/>
              </a:ext>
            </a:extLst>
          </p:cNvPr>
          <p:cNvSpPr>
            <a:spLocks noGrp="1"/>
          </p:cNvSpPr>
          <p:nvPr>
            <p:ph idx="1"/>
          </p:nvPr>
        </p:nvSpPr>
        <p:spPr>
          <a:xfrm>
            <a:off x="211689" y="1124184"/>
            <a:ext cx="4494152" cy="1061135"/>
          </a:xfrm>
        </p:spPr>
        <p:txBody>
          <a:bodyPr>
            <a:normAutofit/>
          </a:bodyPr>
          <a:lstStyle/>
          <a:p>
            <a:pPr>
              <a:buFont typeface="Courier New" panose="02070309020205020404" pitchFamily="49" charset="0"/>
              <a:buChar char="o"/>
            </a:pPr>
            <a:r>
              <a:rPr lang="en-US" sz="2600" dirty="0"/>
              <a:t>Conversion from geographic to projected coordinates</a:t>
            </a:r>
          </a:p>
        </p:txBody>
      </p:sp>
      <p:sp>
        <p:nvSpPr>
          <p:cNvPr id="3" name="Slide Number Placeholder 2">
            <a:extLst>
              <a:ext uri="{FF2B5EF4-FFF2-40B4-BE49-F238E27FC236}">
                <a16:creationId xmlns:a16="http://schemas.microsoft.com/office/drawing/2014/main" id="{00D14853-EB2E-435F-91F6-A58993870A1A}"/>
              </a:ext>
            </a:extLst>
          </p:cNvPr>
          <p:cNvSpPr>
            <a:spLocks noGrp="1"/>
          </p:cNvSpPr>
          <p:nvPr>
            <p:ph type="sldNum" sz="quarter" idx="12"/>
          </p:nvPr>
        </p:nvSpPr>
        <p:spPr/>
        <p:txBody>
          <a:bodyPr/>
          <a:lstStyle/>
          <a:p>
            <a:fld id="{127DDC20-79C9-9647-820E-6D40A3D210C3}" type="slidenum">
              <a:rPr lang="en-US" smtClean="0"/>
              <a:pPr/>
              <a:t>4</a:t>
            </a:fld>
            <a:endParaRPr lang="en-US"/>
          </a:p>
        </p:txBody>
      </p:sp>
      <p:cxnSp>
        <p:nvCxnSpPr>
          <p:cNvPr id="11" name="Straight Connector 10">
            <a:extLst>
              <a:ext uri="{FF2B5EF4-FFF2-40B4-BE49-F238E27FC236}">
                <a16:creationId xmlns:a16="http://schemas.microsoft.com/office/drawing/2014/main" id="{8FEE7F4C-E570-40FC-AFA7-A77890CFC4F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Text, letter&#10;&#10;Description automatically generated">
            <a:extLst>
              <a:ext uri="{FF2B5EF4-FFF2-40B4-BE49-F238E27FC236}">
                <a16:creationId xmlns:a16="http://schemas.microsoft.com/office/drawing/2014/main" id="{29333DFF-1DB2-4DED-8188-40788E9C258D}"/>
              </a:ext>
            </a:extLst>
          </p:cNvPr>
          <p:cNvPicPr>
            <a:picLocks noChangeAspect="1"/>
          </p:cNvPicPr>
          <p:nvPr/>
        </p:nvPicPr>
        <p:blipFill>
          <a:blip r:embed="rId3"/>
          <a:stretch>
            <a:fillRect/>
          </a:stretch>
        </p:blipFill>
        <p:spPr>
          <a:xfrm>
            <a:off x="4905632" y="1175437"/>
            <a:ext cx="2209669" cy="3709537"/>
          </a:xfrm>
          <a:prstGeom prst="rect">
            <a:avLst/>
          </a:prstGeom>
        </p:spPr>
      </p:pic>
      <p:sp>
        <p:nvSpPr>
          <p:cNvPr id="13" name="TextBox 12">
            <a:extLst>
              <a:ext uri="{FF2B5EF4-FFF2-40B4-BE49-F238E27FC236}">
                <a16:creationId xmlns:a16="http://schemas.microsoft.com/office/drawing/2014/main" id="{22ECDBEB-6A46-46D4-BB1D-FFB2399B2062}"/>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6" name="Picture 5">
            <a:extLst>
              <a:ext uri="{FF2B5EF4-FFF2-40B4-BE49-F238E27FC236}">
                <a16:creationId xmlns:a16="http://schemas.microsoft.com/office/drawing/2014/main" id="{17CA91F4-6BE4-2243-133F-525CDDFC39C6}"/>
              </a:ext>
            </a:extLst>
          </p:cNvPr>
          <p:cNvPicPr>
            <a:picLocks noChangeAspect="1"/>
          </p:cNvPicPr>
          <p:nvPr/>
        </p:nvPicPr>
        <p:blipFill>
          <a:blip r:embed="rId4"/>
          <a:stretch>
            <a:fillRect/>
          </a:stretch>
        </p:blipFill>
        <p:spPr>
          <a:xfrm>
            <a:off x="211689" y="2534022"/>
            <a:ext cx="4494152" cy="2067310"/>
          </a:xfrm>
          <a:prstGeom prst="rect">
            <a:avLst/>
          </a:prstGeom>
        </p:spPr>
      </p:pic>
    </p:spTree>
    <p:extLst>
      <p:ext uri="{BB962C8B-B14F-4D97-AF65-F5344CB8AC3E}">
        <p14:creationId xmlns:p14="http://schemas.microsoft.com/office/powerpoint/2010/main" val="2980962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p:nvPr/>
        </p:nvPicPr>
        <p:blipFill>
          <a:blip r:embed="rId3"/>
          <a:stretch>
            <a:fillRect/>
          </a:stretch>
        </p:blipFill>
        <p:spPr>
          <a:xfrm>
            <a:off x="1229042" y="1820230"/>
            <a:ext cx="5923915" cy="2675317"/>
          </a:xfrm>
          <a:prstGeom prst="rect">
            <a:avLst/>
          </a:prstGeom>
        </p:spPr>
      </p:pic>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5724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2" name="TextBox 1"/>
          <p:cNvSpPr txBox="1"/>
          <p:nvPr/>
        </p:nvSpPr>
        <p:spPr>
          <a:xfrm>
            <a:off x="247135" y="4428571"/>
            <a:ext cx="7830064" cy="279307"/>
          </a:xfrm>
          <a:prstGeom prst="rect">
            <a:avLst/>
          </a:prstGeom>
          <a:noFill/>
        </p:spPr>
        <p:txBody>
          <a:bodyPr wrap="square" rtlCol="0">
            <a:spAutoFit/>
          </a:bodyPr>
          <a:lstStyle/>
          <a:p>
            <a:pPr>
              <a:lnSpc>
                <a:spcPct val="90000"/>
              </a:lnSpc>
            </a:pPr>
            <a:r>
              <a:rPr lang="en-US" sz="1350" dirty="0"/>
              <a:t>Cylindrical Projections = Cylinder	     Conic Projections = Cone            Azimuthal Projections = Plane</a:t>
            </a:r>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152400" y="2052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125041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8533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247135" y="1933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6</a:t>
            </a:fld>
            <a:endParaRPr lang="en-US"/>
          </a:p>
        </p:txBody>
      </p:sp>
      <p:pic>
        <p:nvPicPr>
          <p:cNvPr id="9" name="Picture 8" descr="Diagram&#10;&#10;Description automatically generated">
            <a:extLst>
              <a:ext uri="{FF2B5EF4-FFF2-40B4-BE49-F238E27FC236}">
                <a16:creationId xmlns:a16="http://schemas.microsoft.com/office/drawing/2014/main" id="{EBC07721-9392-4B43-8F5C-98619941CAA0}"/>
              </a:ext>
            </a:extLst>
          </p:cNvPr>
          <p:cNvPicPr>
            <a:picLocks noChangeAspect="1"/>
          </p:cNvPicPr>
          <p:nvPr/>
        </p:nvPicPr>
        <p:blipFill>
          <a:blip r:embed="rId3"/>
          <a:stretch>
            <a:fillRect/>
          </a:stretch>
        </p:blipFill>
        <p:spPr>
          <a:xfrm>
            <a:off x="1420389" y="2144639"/>
            <a:ext cx="5388184" cy="2422383"/>
          </a:xfrm>
          <a:prstGeom prst="rect">
            <a:avLst/>
          </a:prstGeom>
        </p:spPr>
      </p:pic>
      <p:sp>
        <p:nvSpPr>
          <p:cNvPr id="11" name="TextBox 10">
            <a:extLst>
              <a:ext uri="{FF2B5EF4-FFF2-40B4-BE49-F238E27FC236}">
                <a16:creationId xmlns:a16="http://schemas.microsoft.com/office/drawing/2014/main" id="{DE2EEE40-9677-4E8A-A99F-02BFF20D9B8F}"/>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589566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728061-0418-463D-8B53-51F6E02BB7EC}"/>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9" name="Title 1">
            <a:extLst>
              <a:ext uri="{FF2B5EF4-FFF2-40B4-BE49-F238E27FC236}">
                <a16:creationId xmlns:a16="http://schemas.microsoft.com/office/drawing/2014/main" id="{C2248E23-A2FA-4EF7-9546-754DFD6CEA26}"/>
              </a:ext>
            </a:extLst>
          </p:cNvPr>
          <p:cNvSpPr txBox="1">
            <a:spLocks/>
          </p:cNvSpPr>
          <p:nvPr/>
        </p:nvSpPr>
        <p:spPr>
          <a:xfrm>
            <a:off x="247135" y="19365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Cylindrical Projection</a:t>
            </a:r>
          </a:p>
        </p:txBody>
      </p:sp>
      <p:cxnSp>
        <p:nvCxnSpPr>
          <p:cNvPr id="10" name="Straight Connector 9">
            <a:extLst>
              <a:ext uri="{FF2B5EF4-FFF2-40B4-BE49-F238E27FC236}">
                <a16:creationId xmlns:a16="http://schemas.microsoft.com/office/drawing/2014/main" id="{93401179-845D-4B9F-92C3-4F3DE7CFD83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87AD19FA-4DBE-6B87-53E2-57D8038218F7}"/>
              </a:ext>
            </a:extLst>
          </p:cNvPr>
          <p:cNvSpPr txBox="1"/>
          <p:nvPr/>
        </p:nvSpPr>
        <p:spPr>
          <a:xfrm>
            <a:off x="247135" y="1309039"/>
            <a:ext cx="2548467" cy="2862322"/>
          </a:xfrm>
          <a:prstGeom prst="rect">
            <a:avLst/>
          </a:prstGeom>
          <a:noFill/>
        </p:spPr>
        <p:txBody>
          <a:bodyPr wrap="square" rtlCol="0">
            <a:spAutoFit/>
          </a:bodyPr>
          <a:lstStyle/>
          <a:p>
            <a:pPr marL="285750" indent="-285750">
              <a:buFont typeface="Wingdings" panose="05000000000000000000" pitchFamily="2" charset="2"/>
              <a:buChar char="ü"/>
            </a:pPr>
            <a:r>
              <a:rPr lang="en-US" dirty="0"/>
              <a:t>This creates a </a:t>
            </a:r>
            <a:r>
              <a:rPr lang="en-US" b="1" dirty="0"/>
              <a:t>rectangular grid</a:t>
            </a:r>
          </a:p>
          <a:p>
            <a:pPr marL="285750" indent="-285750">
              <a:buFont typeface="Wingdings" panose="05000000000000000000" pitchFamily="2" charset="2"/>
              <a:buChar char="ü"/>
            </a:pPr>
            <a:endParaRPr lang="en-US" b="1" dirty="0"/>
          </a:p>
          <a:p>
            <a:pPr marL="285750" indent="-285750">
              <a:buFont typeface="Wingdings" panose="05000000000000000000" pitchFamily="2" charset="2"/>
              <a:buChar char="ü"/>
            </a:pPr>
            <a:r>
              <a:rPr lang="en-US" dirty="0"/>
              <a:t>Distortion </a:t>
            </a:r>
            <a:r>
              <a:rPr lang="en-US" b="1" dirty="0"/>
              <a:t>increases toward the poles</a:t>
            </a:r>
            <a:r>
              <a:rPr lang="en-US" dirty="0"/>
              <a:t> — shapes and areas get stretched</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kern="0" dirty="0"/>
              <a:t>Good for navigation</a:t>
            </a:r>
          </a:p>
          <a:p>
            <a:endParaRPr lang="en-US" dirty="0"/>
          </a:p>
        </p:txBody>
      </p:sp>
      <p:sp>
        <p:nvSpPr>
          <p:cNvPr id="12" name="TextBox 11">
            <a:extLst>
              <a:ext uri="{FF2B5EF4-FFF2-40B4-BE49-F238E27FC236}">
                <a16:creationId xmlns:a16="http://schemas.microsoft.com/office/drawing/2014/main" id="{891C7E3A-20AA-9ADA-9BFF-4150C75F4674}"/>
              </a:ext>
            </a:extLst>
          </p:cNvPr>
          <p:cNvSpPr txBox="1"/>
          <p:nvPr/>
        </p:nvSpPr>
        <p:spPr>
          <a:xfrm>
            <a:off x="584199" y="4580510"/>
            <a:ext cx="3462867" cy="369332"/>
          </a:xfrm>
          <a:prstGeom prst="rect">
            <a:avLst/>
          </a:prstGeom>
          <a:noFill/>
        </p:spPr>
        <p:txBody>
          <a:bodyPr wrap="square" rtlCol="0">
            <a:spAutoFit/>
          </a:bodyPr>
          <a:lstStyle/>
          <a:p>
            <a:r>
              <a:rPr lang="en-US" i="1" dirty="0"/>
              <a:t>* </a:t>
            </a:r>
            <a:r>
              <a:rPr lang="en-US" i="1" dirty="0">
                <a:hlinkClick r:id="rId3"/>
              </a:rPr>
              <a:t>Creation of cylindrical projection</a:t>
            </a:r>
            <a:endParaRPr lang="en-US" i="1" dirty="0"/>
          </a:p>
        </p:txBody>
      </p:sp>
      <p:pic>
        <p:nvPicPr>
          <p:cNvPr id="13" name="Picture 12" descr="cylindrical">
            <a:extLst>
              <a:ext uri="{FF2B5EF4-FFF2-40B4-BE49-F238E27FC236}">
                <a16:creationId xmlns:a16="http://schemas.microsoft.com/office/drawing/2014/main" id="{AA677263-5E4E-C657-DBC5-67BC8CC4FECD}"/>
              </a:ext>
            </a:extLst>
          </p:cNvPr>
          <p:cNvPicPr>
            <a:picLocks noChangeAspect="1" noChangeArrowheads="1"/>
          </p:cNvPicPr>
          <p:nvPr/>
        </p:nvPicPr>
        <p:blipFill>
          <a:blip r:embed="rId4"/>
          <a:srcRect/>
          <a:stretch>
            <a:fillRect/>
          </a:stretch>
        </p:blipFill>
        <p:spPr bwMode="auto">
          <a:xfrm>
            <a:off x="3204749" y="1050908"/>
            <a:ext cx="4777716" cy="3076695"/>
          </a:xfrm>
          <a:prstGeom prst="rect">
            <a:avLst/>
          </a:prstGeom>
          <a:noFill/>
        </p:spPr>
      </p:pic>
    </p:spTree>
    <p:extLst>
      <p:ext uri="{BB962C8B-B14F-4D97-AF65-F5344CB8AC3E}">
        <p14:creationId xmlns:p14="http://schemas.microsoft.com/office/powerpoint/2010/main" val="117423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225C1B1A-ED5E-43CA-A84F-24CCD37E518E}"/>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Plane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23850" y="1543681"/>
            <a:ext cx="3829050" cy="3429000"/>
          </a:xfrm>
          <a:prstGeom prst="rect">
            <a:avLst/>
          </a:prstGeom>
        </p:spPr>
        <p:txBody>
          <a:bodyPr/>
          <a:lstStyle>
            <a:lvl1pPr marL="342900" indent="-342900" algn="l" rtl="0" eaLnBrk="0" fontAlgn="base" hangingPunct="0">
              <a:spcBef>
                <a:spcPct val="20000"/>
              </a:spcBef>
              <a:spcAft>
                <a:spcPct val="0"/>
              </a:spcAft>
              <a:buSzPct val="80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100" kern="0" dirty="0"/>
              <a:t>Plane positioned at pole</a:t>
            </a:r>
          </a:p>
          <a:p>
            <a:pPr>
              <a:lnSpc>
                <a:spcPct val="80000"/>
              </a:lnSpc>
              <a:buFont typeface="Wingdings" panose="05000000000000000000" pitchFamily="2" charset="2"/>
              <a:buChar char="ü"/>
            </a:pPr>
            <a:r>
              <a:rPr lang="en-US" sz="2100" b="1" kern="0" dirty="0"/>
              <a:t>Grid:  </a:t>
            </a:r>
          </a:p>
          <a:p>
            <a:pPr lvl="1">
              <a:lnSpc>
                <a:spcPct val="80000"/>
              </a:lnSpc>
              <a:buFont typeface="Arial" panose="020B0604020202020204" pitchFamily="34" charset="0"/>
              <a:buChar char="•"/>
            </a:pPr>
            <a:r>
              <a:rPr lang="en-US" sz="1800" b="1" kern="0" dirty="0"/>
              <a:t>Longitude: </a:t>
            </a:r>
            <a:r>
              <a:rPr lang="en-US" sz="1800" kern="0" dirty="0"/>
              <a:t>straight, radiating</a:t>
            </a:r>
          </a:p>
          <a:p>
            <a:pPr lvl="1">
              <a:lnSpc>
                <a:spcPct val="80000"/>
              </a:lnSpc>
              <a:buFont typeface="Arial" panose="020B0604020202020204" pitchFamily="34" charset="0"/>
              <a:buChar char="•"/>
            </a:pPr>
            <a:r>
              <a:rPr lang="en-US" sz="1800" b="1" kern="0" dirty="0"/>
              <a:t>Latitude:</a:t>
            </a:r>
            <a:r>
              <a:rPr lang="en-US" sz="1800" kern="0" dirty="0"/>
              <a:t> circles</a:t>
            </a:r>
          </a:p>
          <a:p>
            <a:pPr>
              <a:lnSpc>
                <a:spcPct val="80000"/>
              </a:lnSpc>
              <a:buFont typeface="Wingdings" panose="05000000000000000000" pitchFamily="2" charset="2"/>
              <a:buChar char="ü"/>
            </a:pPr>
            <a:r>
              <a:rPr lang="en-US" sz="2100" kern="0" dirty="0"/>
              <a:t>Distortion increases away from center ("principal point") </a:t>
            </a:r>
          </a:p>
          <a:p>
            <a:pPr>
              <a:lnSpc>
                <a:spcPct val="80000"/>
              </a:lnSpc>
              <a:buFont typeface="Wingdings" panose="05000000000000000000" pitchFamily="2" charset="2"/>
              <a:buChar char="ü"/>
            </a:pPr>
            <a:r>
              <a:rPr lang="en-US" sz="2100" kern="0" dirty="0"/>
              <a:t>Good for polar regions</a:t>
            </a:r>
          </a:p>
          <a:p>
            <a:pPr>
              <a:lnSpc>
                <a:spcPct val="80000"/>
              </a:lnSpc>
              <a:buFont typeface="Wingdings" panose="05000000000000000000" pitchFamily="2" charset="2"/>
              <a:buChar char="ü"/>
            </a:pPr>
            <a:r>
              <a:rPr lang="en-US" sz="2100" kern="0" dirty="0"/>
              <a:t>Can't show more than half the world.</a:t>
            </a:r>
          </a:p>
          <a:p>
            <a:pPr marL="457200" indent="-457200">
              <a:lnSpc>
                <a:spcPct val="80000"/>
              </a:lnSpc>
              <a:buNone/>
            </a:pPr>
            <a:endParaRPr lang="en-US" sz="2100" kern="0" dirty="0"/>
          </a:p>
          <a:p>
            <a:pPr marL="457200" indent="-457200">
              <a:lnSpc>
                <a:spcPct val="80000"/>
              </a:lnSpc>
              <a:buNone/>
            </a:pPr>
            <a:endParaRPr lang="en-US" sz="2100" kern="0" dirty="0"/>
          </a:p>
        </p:txBody>
      </p:sp>
      <p:pic>
        <p:nvPicPr>
          <p:cNvPr id="18" name="Picture 8" descr="azimuthal"/>
          <p:cNvPicPr>
            <a:picLocks noChangeAspect="1" noChangeArrowheads="1"/>
          </p:cNvPicPr>
          <p:nvPr/>
        </p:nvPicPr>
        <p:blipFill>
          <a:blip r:embed="rId3"/>
          <a:srcRect/>
          <a:stretch>
            <a:fillRect/>
          </a:stretch>
        </p:blipFill>
        <p:spPr bwMode="auto">
          <a:xfrm>
            <a:off x="5314950" y="1257300"/>
            <a:ext cx="2101454" cy="3771900"/>
          </a:xfrm>
          <a:prstGeom prst="rect">
            <a:avLst/>
          </a:prstGeom>
          <a:noFill/>
        </p:spPr>
      </p:pic>
      <p:sp>
        <p:nvSpPr>
          <p:cNvPr id="10" name="Title 1">
            <a:extLst>
              <a:ext uri="{FF2B5EF4-FFF2-40B4-BE49-F238E27FC236}">
                <a16:creationId xmlns:a16="http://schemas.microsoft.com/office/drawing/2014/main" id="{FC297498-58D3-4DDD-AD28-5005C4470BDF}"/>
              </a:ext>
            </a:extLst>
          </p:cNvPr>
          <p:cNvSpPr txBox="1">
            <a:spLocks/>
          </p:cNvSpPr>
          <p:nvPr/>
        </p:nvSpPr>
        <p:spPr>
          <a:xfrm>
            <a:off x="247135" y="2042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Plane projection</a:t>
            </a:r>
          </a:p>
        </p:txBody>
      </p:sp>
      <p:cxnSp>
        <p:nvCxnSpPr>
          <p:cNvPr id="13" name="Straight Connector 12">
            <a:extLst>
              <a:ext uri="{FF2B5EF4-FFF2-40B4-BE49-F238E27FC236}">
                <a16:creationId xmlns:a16="http://schemas.microsoft.com/office/drawing/2014/main" id="{17FB9979-1B52-4FA4-8CBA-996B4B1FDB0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850F73B-16FD-4B27-BD25-7353E3B4D3DE}"/>
              </a:ext>
            </a:extLst>
          </p:cNvPr>
          <p:cNvSpPr>
            <a:spLocks noGrp="1"/>
          </p:cNvSpPr>
          <p:nvPr>
            <p:ph type="sldNum" sz="quarter" idx="12"/>
          </p:nvPr>
        </p:nvSpPr>
        <p:spPr/>
        <p:txBody>
          <a:bodyPr/>
          <a:lstStyle/>
          <a:p>
            <a:fld id="{127DDC20-79C9-9647-820E-6D40A3D210C3}" type="slidenum">
              <a:rPr lang="en-US" smtClean="0"/>
              <a:pPr/>
              <a:t>8</a:t>
            </a:fld>
            <a:endParaRPr lang="en-US"/>
          </a:p>
        </p:txBody>
      </p:sp>
    </p:spTree>
    <p:extLst>
      <p:ext uri="{BB962C8B-B14F-4D97-AF65-F5344CB8AC3E}">
        <p14:creationId xmlns:p14="http://schemas.microsoft.com/office/powerpoint/2010/main" val="4271239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6CEA6F7E-434E-4DD5-83B6-19E592DC6D9A}"/>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Conic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13260" y="1514475"/>
            <a:ext cx="6419057" cy="3526632"/>
          </a:xfrm>
          <a:prstGeom prst="rect">
            <a:avLst/>
          </a:prstGeom>
        </p:spPr>
        <p:txBody>
          <a:bodyPr/>
          <a:lstStyle>
            <a:lvl1pPr marL="342900" indent="-342900" algn="l" rtl="0" eaLnBrk="0" fontAlgn="base" hangingPunct="0">
              <a:spcBef>
                <a:spcPct val="20000"/>
              </a:spcBef>
              <a:spcAft>
                <a:spcPct val="0"/>
              </a:spcAft>
              <a:buSzPct val="80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100" kern="0" dirty="0"/>
              <a:t>Hold cone over pole</a:t>
            </a:r>
          </a:p>
          <a:p>
            <a:pPr>
              <a:lnSpc>
                <a:spcPct val="80000"/>
              </a:lnSpc>
              <a:buFont typeface="Wingdings" panose="05000000000000000000" pitchFamily="2" charset="2"/>
              <a:buChar char="ü"/>
            </a:pPr>
            <a:r>
              <a:rPr lang="en-US" sz="2100" b="1" kern="0" dirty="0"/>
              <a:t>Grid:  </a:t>
            </a:r>
          </a:p>
          <a:p>
            <a:pPr lvl="1">
              <a:lnSpc>
                <a:spcPct val="80000"/>
              </a:lnSpc>
              <a:buFont typeface="Arial" panose="020B0604020202020204" pitchFamily="34" charset="0"/>
              <a:buChar char="•"/>
            </a:pPr>
            <a:r>
              <a:rPr lang="en-US" sz="2100" b="1" kern="0" dirty="0"/>
              <a:t>Longitude: </a:t>
            </a:r>
            <a:r>
              <a:rPr lang="en-US" sz="2100" kern="0" dirty="0"/>
              <a:t>straight, converge</a:t>
            </a:r>
          </a:p>
          <a:p>
            <a:pPr lvl="1">
              <a:lnSpc>
                <a:spcPct val="80000"/>
              </a:lnSpc>
              <a:buFont typeface="Arial" panose="020B0604020202020204" pitchFamily="34" charset="0"/>
              <a:buChar char="•"/>
            </a:pPr>
            <a:r>
              <a:rPr lang="en-US" sz="1800" b="1" kern="0" dirty="0"/>
              <a:t>Latitude:</a:t>
            </a:r>
            <a:r>
              <a:rPr lang="en-US" sz="1800" kern="0" dirty="0"/>
              <a:t> </a:t>
            </a:r>
            <a:r>
              <a:rPr lang="en-US" sz="2100" kern="0" dirty="0"/>
              <a:t>curve</a:t>
            </a:r>
          </a:p>
          <a:p>
            <a:pPr lvl="1">
              <a:lnSpc>
                <a:spcPct val="80000"/>
              </a:lnSpc>
              <a:buFont typeface="Arial" panose="020B0604020202020204" pitchFamily="34" charset="0"/>
              <a:buChar char="•"/>
            </a:pPr>
            <a:r>
              <a:rPr lang="en-US" sz="2100" kern="0" dirty="0"/>
              <a:t>Distortion increases away from standard parallel</a:t>
            </a:r>
          </a:p>
          <a:p>
            <a:pPr>
              <a:lnSpc>
                <a:spcPct val="80000"/>
              </a:lnSpc>
              <a:buFont typeface="Wingdings" panose="05000000000000000000" pitchFamily="2" charset="2"/>
              <a:buChar char="ü"/>
            </a:pPr>
            <a:r>
              <a:rPr lang="en-US" sz="2100" kern="0" dirty="0"/>
              <a:t>Good for Mid-latitudes </a:t>
            </a:r>
          </a:p>
          <a:p>
            <a:pPr marL="457200" indent="-457200">
              <a:lnSpc>
                <a:spcPct val="80000"/>
              </a:lnSpc>
              <a:buNone/>
            </a:pPr>
            <a:endParaRPr lang="en-US" sz="2100" kern="0" dirty="0">
              <a:solidFill>
                <a:schemeClr val="tx2">
                  <a:lumMod val="75000"/>
                </a:schemeClr>
              </a:solidFill>
            </a:endParaRPr>
          </a:p>
        </p:txBody>
      </p:sp>
      <p:pic>
        <p:nvPicPr>
          <p:cNvPr id="9" name="Picture 8" descr="cone proj"/>
          <p:cNvPicPr>
            <a:picLocks noChangeAspect="1" noChangeArrowheads="1"/>
          </p:cNvPicPr>
          <p:nvPr/>
        </p:nvPicPr>
        <p:blipFill>
          <a:blip r:embed="rId3"/>
          <a:srcRect/>
          <a:stretch>
            <a:fillRect/>
          </a:stretch>
        </p:blipFill>
        <p:spPr bwMode="auto">
          <a:xfrm>
            <a:off x="2114550" y="3506667"/>
            <a:ext cx="4080128" cy="1582605"/>
          </a:xfrm>
          <a:prstGeom prst="rect">
            <a:avLst/>
          </a:prstGeom>
          <a:noFill/>
        </p:spPr>
      </p:pic>
      <p:sp>
        <p:nvSpPr>
          <p:cNvPr id="13" name="Title 1">
            <a:extLst>
              <a:ext uri="{FF2B5EF4-FFF2-40B4-BE49-F238E27FC236}">
                <a16:creationId xmlns:a16="http://schemas.microsoft.com/office/drawing/2014/main" id="{27D4896A-6A8A-4150-8967-C5DD8536C506}"/>
              </a:ext>
            </a:extLst>
          </p:cNvPr>
          <p:cNvSpPr txBox="1">
            <a:spLocks/>
          </p:cNvSpPr>
          <p:nvPr/>
        </p:nvSpPr>
        <p:spPr>
          <a:xfrm>
            <a:off x="152400" y="20177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Conic projection</a:t>
            </a:r>
          </a:p>
        </p:txBody>
      </p:sp>
      <p:cxnSp>
        <p:nvCxnSpPr>
          <p:cNvPr id="14" name="Straight Connector 13">
            <a:extLst>
              <a:ext uri="{FF2B5EF4-FFF2-40B4-BE49-F238E27FC236}">
                <a16:creationId xmlns:a16="http://schemas.microsoft.com/office/drawing/2014/main" id="{7D1C246A-045F-4F43-B078-5F9A3B1B272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15FB4021-D911-4220-B9C5-FB64C178097D}"/>
              </a:ext>
            </a:extLst>
          </p:cNvPr>
          <p:cNvSpPr>
            <a:spLocks noGrp="1"/>
          </p:cNvSpPr>
          <p:nvPr>
            <p:ph type="sldNum" sz="quarter" idx="12"/>
          </p:nvPr>
        </p:nvSpPr>
        <p:spPr/>
        <p:txBody>
          <a:bodyPr/>
          <a:lstStyle/>
          <a:p>
            <a:fld id="{127DDC20-79C9-9647-820E-6D40A3D210C3}" type="slidenum">
              <a:rPr lang="en-US" smtClean="0"/>
              <a:pPr/>
              <a:t>9</a:t>
            </a:fld>
            <a:endParaRPr lang="en-US"/>
          </a:p>
        </p:txBody>
      </p:sp>
    </p:spTree>
    <p:extLst>
      <p:ext uri="{BB962C8B-B14F-4D97-AF65-F5344CB8AC3E}">
        <p14:creationId xmlns:p14="http://schemas.microsoft.com/office/powerpoint/2010/main" val="2589653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051DFB31-93A0-4929-88AA-CE2C0E0324FD}"/>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All map projections produce distortions of at least one of the following: </a:t>
            </a:r>
          </a:p>
          <a:p>
            <a:pPr lvl="1">
              <a:lnSpc>
                <a:spcPct val="90000"/>
              </a:lnSpc>
              <a:buFont typeface="Wingdings" panose="05000000000000000000" pitchFamily="2" charset="2"/>
              <a:buChar char="ü"/>
            </a:pPr>
            <a:r>
              <a:rPr lang="en-US" sz="2440" dirty="0"/>
              <a:t>Shape</a:t>
            </a:r>
          </a:p>
          <a:p>
            <a:pPr lvl="1">
              <a:lnSpc>
                <a:spcPct val="90000"/>
              </a:lnSpc>
              <a:buFont typeface="Wingdings" panose="05000000000000000000" pitchFamily="2" charset="2"/>
              <a:buChar char="ü"/>
            </a:pPr>
            <a:r>
              <a:rPr lang="en-US" sz="2440" dirty="0"/>
              <a:t>Area</a:t>
            </a:r>
          </a:p>
          <a:p>
            <a:pPr lvl="1">
              <a:lnSpc>
                <a:spcPct val="90000"/>
              </a:lnSpc>
              <a:buFont typeface="Wingdings" panose="05000000000000000000" pitchFamily="2" charset="2"/>
              <a:buChar char="ü"/>
            </a:pPr>
            <a:r>
              <a:rPr lang="en-US" sz="2440" dirty="0"/>
              <a:t>Distance</a:t>
            </a:r>
          </a:p>
          <a:p>
            <a:pPr lvl="1">
              <a:lnSpc>
                <a:spcPct val="90000"/>
              </a:lnSpc>
              <a:buFont typeface="Wingdings" panose="05000000000000000000" pitchFamily="2" charset="2"/>
              <a:buChar char="ü"/>
            </a:pPr>
            <a:r>
              <a:rPr lang="en-US" sz="2440" dirty="0"/>
              <a:t>Direction</a:t>
            </a:r>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Text Box 4"/>
          <p:cNvSpPr txBox="1">
            <a:spLocks noChangeArrowheads="1"/>
          </p:cNvSpPr>
          <p:nvPr/>
        </p:nvSpPr>
        <p:spPr bwMode="gray">
          <a:xfrm>
            <a:off x="4282006" y="2438842"/>
            <a:ext cx="743858" cy="279751"/>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S</a:t>
            </a:r>
            <a:r>
              <a:rPr lang="en-US" sz="1620" dirty="0"/>
              <a:t>hape</a:t>
            </a:r>
          </a:p>
        </p:txBody>
      </p:sp>
      <p:sp>
        <p:nvSpPr>
          <p:cNvPr id="9" name="Text Box 5"/>
          <p:cNvSpPr txBox="1">
            <a:spLocks noChangeArrowheads="1"/>
          </p:cNvSpPr>
          <p:nvPr/>
        </p:nvSpPr>
        <p:spPr bwMode="gray">
          <a:xfrm>
            <a:off x="4366683" y="3032106"/>
            <a:ext cx="565932" cy="279750"/>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A</a:t>
            </a:r>
            <a:r>
              <a:rPr lang="en-US" sz="1620" dirty="0"/>
              <a:t>rea</a:t>
            </a:r>
          </a:p>
        </p:txBody>
      </p:sp>
      <p:sp>
        <p:nvSpPr>
          <p:cNvPr id="10" name="Text Box 6"/>
          <p:cNvSpPr txBox="1">
            <a:spLocks noChangeArrowheads="1"/>
          </p:cNvSpPr>
          <p:nvPr/>
        </p:nvSpPr>
        <p:spPr bwMode="gray">
          <a:xfrm>
            <a:off x="4158745" y="3554897"/>
            <a:ext cx="962514" cy="278679"/>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D</a:t>
            </a:r>
            <a:r>
              <a:rPr lang="en-US" sz="1620" dirty="0"/>
              <a:t>istance</a:t>
            </a:r>
          </a:p>
        </p:txBody>
      </p:sp>
      <p:grpSp>
        <p:nvGrpSpPr>
          <p:cNvPr id="3" name="Group 2"/>
          <p:cNvGrpSpPr/>
          <p:nvPr/>
        </p:nvGrpSpPr>
        <p:grpSpPr>
          <a:xfrm>
            <a:off x="4104082" y="2005818"/>
            <a:ext cx="3825402" cy="2320537"/>
            <a:chOff x="4794250" y="3024187"/>
            <a:chExt cx="5665787" cy="3436938"/>
          </a:xfrm>
        </p:grpSpPr>
        <p:sp>
          <p:nvSpPr>
            <p:cNvPr id="11" name="Text Box 7"/>
            <p:cNvSpPr txBox="1">
              <a:spLocks noChangeArrowheads="1"/>
            </p:cNvSpPr>
            <p:nvPr/>
          </p:nvSpPr>
          <p:spPr bwMode="gray">
            <a:xfrm>
              <a:off x="4794250" y="5983286"/>
              <a:ext cx="1331308" cy="463564"/>
            </a:xfrm>
            <a:prstGeom prst="rect">
              <a:avLst/>
            </a:prstGeom>
            <a:solidFill>
              <a:srgbClr val="FFCC00"/>
            </a:solidFill>
            <a:ln w="9525">
              <a:solidFill>
                <a:srgbClr val="000066"/>
              </a:solidFill>
              <a:miter lim="800000"/>
              <a:headEnd/>
              <a:tailEnd/>
            </a:ln>
          </p:spPr>
          <p:txBody>
            <a:bodyPr wrap="none" lIns="63071" tIns="31536" rIns="63071" bIns="31536">
              <a:spAutoFit/>
            </a:bodyPr>
            <a:lstStyle/>
            <a:p>
              <a:pPr>
                <a:spcBef>
                  <a:spcPct val="30000"/>
                </a:spcBef>
              </a:pPr>
              <a:r>
                <a:rPr lang="en-US" sz="1620" u="sng" dirty="0"/>
                <a:t>D</a:t>
              </a:r>
              <a:r>
                <a:rPr lang="en-US" sz="1620" dirty="0"/>
                <a:t>irection</a:t>
              </a:r>
            </a:p>
          </p:txBody>
        </p:sp>
        <p:sp>
          <p:nvSpPr>
            <p:cNvPr id="12" name="Oval 8"/>
            <p:cNvSpPr>
              <a:spLocks noChangeArrowheads="1"/>
            </p:cNvSpPr>
            <p:nvPr/>
          </p:nvSpPr>
          <p:spPr bwMode="gray">
            <a:xfrm>
              <a:off x="9169400" y="4200525"/>
              <a:ext cx="1168400" cy="11017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4" name="Oval 9"/>
            <p:cNvSpPr>
              <a:spLocks noChangeArrowheads="1"/>
            </p:cNvSpPr>
            <p:nvPr/>
          </p:nvSpPr>
          <p:spPr bwMode="gray">
            <a:xfrm>
              <a:off x="6675437" y="4419600"/>
              <a:ext cx="757238"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5" name="Line 10"/>
            <p:cNvSpPr>
              <a:spLocks noChangeShapeType="1"/>
            </p:cNvSpPr>
            <p:nvPr/>
          </p:nvSpPr>
          <p:spPr bwMode="gray">
            <a:xfrm>
              <a:off x="6702425" y="5592762"/>
              <a:ext cx="75723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6" name="Line 11"/>
            <p:cNvSpPr>
              <a:spLocks noChangeShapeType="1"/>
            </p:cNvSpPr>
            <p:nvPr/>
          </p:nvSpPr>
          <p:spPr bwMode="gray">
            <a:xfrm>
              <a:off x="8947150" y="5592762"/>
              <a:ext cx="151288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7" name="Freeform 12"/>
            <p:cNvSpPr>
              <a:spLocks/>
            </p:cNvSpPr>
            <p:nvPr/>
          </p:nvSpPr>
          <p:spPr bwMode="gray">
            <a:xfrm>
              <a:off x="6804025" y="5910262"/>
              <a:ext cx="687387" cy="550863"/>
            </a:xfrm>
            <a:custGeom>
              <a:avLst/>
              <a:gdLst>
                <a:gd name="T0" fmla="*/ 0 w 480"/>
                <a:gd name="T1" fmla="*/ 0 h 384"/>
                <a:gd name="T2" fmla="*/ 0 w 480"/>
                <a:gd name="T3" fmla="*/ 790233164 h 384"/>
                <a:gd name="T4" fmla="*/ 984378389 w 480"/>
                <a:gd name="T5" fmla="*/ 790233164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384"/>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8" name="Freeform 13"/>
            <p:cNvSpPr>
              <a:spLocks/>
            </p:cNvSpPr>
            <p:nvPr/>
          </p:nvSpPr>
          <p:spPr bwMode="gray">
            <a:xfrm>
              <a:off x="9410700" y="5910262"/>
              <a:ext cx="687387" cy="550863"/>
            </a:xfrm>
            <a:custGeom>
              <a:avLst/>
              <a:gdLst>
                <a:gd name="T0" fmla="*/ 0 w 480"/>
                <a:gd name="T1" fmla="*/ 0 h 384"/>
                <a:gd name="T2" fmla="*/ 0 w 480"/>
                <a:gd name="T3" fmla="*/ 790233164 h 384"/>
                <a:gd name="T4" fmla="*/ 984378389 w 480"/>
                <a:gd name="T5" fmla="*/ 493896042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240"/>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9" name="Line 14"/>
            <p:cNvSpPr>
              <a:spLocks noChangeShapeType="1"/>
            </p:cNvSpPr>
            <p:nvPr/>
          </p:nvSpPr>
          <p:spPr bwMode="gray">
            <a:xfrm>
              <a:off x="7889875" y="627221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0" name="Line 15"/>
            <p:cNvSpPr>
              <a:spLocks noChangeShapeType="1"/>
            </p:cNvSpPr>
            <p:nvPr/>
          </p:nvSpPr>
          <p:spPr bwMode="gray">
            <a:xfrm>
              <a:off x="7861300" y="559276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1" name="Line 16"/>
            <p:cNvSpPr>
              <a:spLocks noChangeShapeType="1"/>
            </p:cNvSpPr>
            <p:nvPr/>
          </p:nvSpPr>
          <p:spPr bwMode="gray">
            <a:xfrm>
              <a:off x="7889875" y="4743450"/>
              <a:ext cx="757237" cy="1587"/>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2" name="Oval 17"/>
            <p:cNvSpPr>
              <a:spLocks noChangeArrowheads="1"/>
            </p:cNvSpPr>
            <p:nvPr/>
          </p:nvSpPr>
          <p:spPr bwMode="gray">
            <a:xfrm>
              <a:off x="6657975" y="3554412"/>
              <a:ext cx="757237"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3" name="Oval 18"/>
            <p:cNvSpPr>
              <a:spLocks noChangeArrowheads="1"/>
            </p:cNvSpPr>
            <p:nvPr/>
          </p:nvSpPr>
          <p:spPr bwMode="gray">
            <a:xfrm>
              <a:off x="8980487" y="3590925"/>
              <a:ext cx="1466850" cy="488950"/>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5" name="Line 19"/>
            <p:cNvSpPr>
              <a:spLocks noChangeShapeType="1"/>
            </p:cNvSpPr>
            <p:nvPr/>
          </p:nvSpPr>
          <p:spPr bwMode="gray">
            <a:xfrm>
              <a:off x="7881937" y="3903662"/>
              <a:ext cx="757238"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6" name="Text Box 20"/>
            <p:cNvSpPr txBox="1">
              <a:spLocks noChangeArrowheads="1"/>
            </p:cNvSpPr>
            <p:nvPr/>
          </p:nvSpPr>
          <p:spPr bwMode="gray">
            <a:xfrm>
              <a:off x="6475412" y="3024187"/>
              <a:ext cx="999206"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3D Earth</a:t>
              </a:r>
            </a:p>
          </p:txBody>
        </p:sp>
        <p:sp>
          <p:nvSpPr>
            <p:cNvPr id="27" name="Text Box 21"/>
            <p:cNvSpPr txBox="1">
              <a:spLocks noChangeArrowheads="1"/>
            </p:cNvSpPr>
            <p:nvPr/>
          </p:nvSpPr>
          <p:spPr bwMode="gray">
            <a:xfrm>
              <a:off x="9245601" y="3024187"/>
              <a:ext cx="929404"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2D Map</a:t>
              </a:r>
            </a:p>
          </p:txBody>
        </p:sp>
      </p:grpSp>
      <p:sp>
        <p:nvSpPr>
          <p:cNvPr id="28" name="Title 1">
            <a:extLst>
              <a:ext uri="{FF2B5EF4-FFF2-40B4-BE49-F238E27FC236}">
                <a16:creationId xmlns:a16="http://schemas.microsoft.com/office/drawing/2014/main" id="{824C551C-33CC-4EA0-A7EB-026F9F989E15}"/>
              </a:ext>
            </a:extLst>
          </p:cNvPr>
          <p:cNvSpPr txBox="1">
            <a:spLocks/>
          </p:cNvSpPr>
          <p:nvPr/>
        </p:nvSpPr>
        <p:spPr>
          <a:xfrm>
            <a:off x="243406" y="1631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29" name="Straight Connector 28">
            <a:extLst>
              <a:ext uri="{FF2B5EF4-FFF2-40B4-BE49-F238E27FC236}">
                <a16:creationId xmlns:a16="http://schemas.microsoft.com/office/drawing/2014/main" id="{1DFD9287-2369-486B-878E-DC116BC8D6A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F112001B-AA49-455D-89F0-16669F81C458}"/>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900295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27">
            <a:extLst>
              <a:ext uri="{FF2B5EF4-FFF2-40B4-BE49-F238E27FC236}">
                <a16:creationId xmlns:a16="http://schemas.microsoft.com/office/drawing/2014/main" id="{640A67BC-646A-442C-9E4C-27354613D30C}"/>
              </a:ext>
            </a:extLst>
          </p:cNvPr>
          <p:cNvSpPr txBox="1">
            <a:spLocks noChangeArrowheads="1"/>
          </p:cNvSpPr>
          <p:nvPr/>
        </p:nvSpPr>
        <p:spPr>
          <a:xfrm>
            <a:off x="302741" y="1029962"/>
            <a:ext cx="7679724" cy="2468308"/>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All map projections produce distortions of at least one of the following: </a:t>
            </a:r>
          </a:p>
          <a:p>
            <a:pPr lvl="1">
              <a:lnSpc>
                <a:spcPct val="90000"/>
              </a:lnSpc>
              <a:buFont typeface="Wingdings" panose="05000000000000000000" pitchFamily="2" charset="2"/>
              <a:buChar char="ü"/>
            </a:pPr>
            <a:r>
              <a:rPr lang="en-US" sz="2440" dirty="0"/>
              <a:t>Shape</a:t>
            </a:r>
          </a:p>
          <a:p>
            <a:pPr lvl="1">
              <a:lnSpc>
                <a:spcPct val="90000"/>
              </a:lnSpc>
              <a:buFont typeface="Wingdings" panose="05000000000000000000" pitchFamily="2" charset="2"/>
              <a:buChar char="ü"/>
            </a:pPr>
            <a:r>
              <a:rPr lang="en-US" sz="2440" dirty="0"/>
              <a:t>Area</a:t>
            </a:r>
          </a:p>
          <a:p>
            <a:pPr lvl="1">
              <a:lnSpc>
                <a:spcPct val="90000"/>
              </a:lnSpc>
              <a:buFont typeface="Wingdings" panose="05000000000000000000" pitchFamily="2" charset="2"/>
              <a:buChar char="ü"/>
            </a:pPr>
            <a:r>
              <a:rPr lang="en-US" sz="2440" dirty="0"/>
              <a:t>Distance</a:t>
            </a:r>
          </a:p>
          <a:p>
            <a:pPr lvl="1">
              <a:lnSpc>
                <a:spcPct val="90000"/>
              </a:lnSpc>
              <a:buFont typeface="Wingdings" panose="05000000000000000000" pitchFamily="2" charset="2"/>
              <a:buChar char="ü"/>
            </a:pPr>
            <a:r>
              <a:rPr lang="en-US" sz="2440" dirty="0"/>
              <a:t>Direction</a:t>
            </a:r>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9" name="Title 1">
            <a:extLst>
              <a:ext uri="{FF2B5EF4-FFF2-40B4-BE49-F238E27FC236}">
                <a16:creationId xmlns:a16="http://schemas.microsoft.com/office/drawing/2014/main" id="{01A65D0E-1CDF-415C-9072-DC5B85531F1D}"/>
              </a:ext>
            </a:extLst>
          </p:cNvPr>
          <p:cNvSpPr txBox="1">
            <a:spLocks/>
          </p:cNvSpPr>
          <p:nvPr/>
        </p:nvSpPr>
        <p:spPr>
          <a:xfrm>
            <a:off x="247135" y="1973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29BBFCA4-97C1-43E4-BC41-2986C183A94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DCF57F55-BDA3-4ACF-9F8F-EE3A141EEE21}"/>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8" name="Picture 7" descr="Diagram&#10;&#10;Description automatically generated">
            <a:extLst>
              <a:ext uri="{FF2B5EF4-FFF2-40B4-BE49-F238E27FC236}">
                <a16:creationId xmlns:a16="http://schemas.microsoft.com/office/drawing/2014/main" id="{FD0887AC-93F4-4738-A69E-6FFC2F19EF4E}"/>
              </a:ext>
            </a:extLst>
          </p:cNvPr>
          <p:cNvPicPr>
            <a:picLocks noChangeAspect="1"/>
          </p:cNvPicPr>
          <p:nvPr/>
        </p:nvPicPr>
        <p:blipFill>
          <a:blip r:embed="rId3"/>
          <a:stretch>
            <a:fillRect/>
          </a:stretch>
        </p:blipFill>
        <p:spPr>
          <a:xfrm>
            <a:off x="3521070" y="1945681"/>
            <a:ext cx="3814251" cy="3197819"/>
          </a:xfrm>
          <a:prstGeom prst="rect">
            <a:avLst/>
          </a:prstGeom>
        </p:spPr>
      </p:pic>
      <p:sp>
        <p:nvSpPr>
          <p:cNvPr id="11" name="TextBox 10">
            <a:extLst>
              <a:ext uri="{FF2B5EF4-FFF2-40B4-BE49-F238E27FC236}">
                <a16:creationId xmlns:a16="http://schemas.microsoft.com/office/drawing/2014/main" id="{71735430-B1F3-40D7-BFAC-EE6F7CC89A53}"/>
              </a:ext>
            </a:extLst>
          </p:cNvPr>
          <p:cNvSpPr txBox="1"/>
          <p:nvPr/>
        </p:nvSpPr>
        <p:spPr>
          <a:xfrm>
            <a:off x="1764957" y="4794886"/>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
        <p:nvSpPr>
          <p:cNvPr id="14" name="TextBox 13">
            <a:extLst>
              <a:ext uri="{FF2B5EF4-FFF2-40B4-BE49-F238E27FC236}">
                <a16:creationId xmlns:a16="http://schemas.microsoft.com/office/drawing/2014/main" id="{7CB4316C-A0EE-47F8-9170-AD4E258DABAC}"/>
              </a:ext>
            </a:extLst>
          </p:cNvPr>
          <p:cNvSpPr txBox="1"/>
          <p:nvPr/>
        </p:nvSpPr>
        <p:spPr>
          <a:xfrm>
            <a:off x="2466644" y="3988825"/>
            <a:ext cx="1143254" cy="338554"/>
          </a:xfrm>
          <a:prstGeom prst="rect">
            <a:avLst/>
          </a:prstGeom>
          <a:noFill/>
        </p:spPr>
        <p:txBody>
          <a:bodyPr wrap="square" rtlCol="0">
            <a:spAutoFit/>
          </a:bodyPr>
          <a:lstStyle/>
          <a:p>
            <a:r>
              <a:rPr lang="en-US" sz="1600" dirty="0"/>
              <a:t>Mercator</a:t>
            </a:r>
          </a:p>
        </p:txBody>
      </p:sp>
      <p:sp>
        <p:nvSpPr>
          <p:cNvPr id="15" name="TextBox 14">
            <a:extLst>
              <a:ext uri="{FF2B5EF4-FFF2-40B4-BE49-F238E27FC236}">
                <a16:creationId xmlns:a16="http://schemas.microsoft.com/office/drawing/2014/main" id="{81CD2DDF-232D-45CC-AB26-87257A7B692F}"/>
              </a:ext>
            </a:extLst>
          </p:cNvPr>
          <p:cNvSpPr txBox="1"/>
          <p:nvPr/>
        </p:nvSpPr>
        <p:spPr>
          <a:xfrm>
            <a:off x="7265100" y="3928202"/>
            <a:ext cx="1124647" cy="584775"/>
          </a:xfrm>
          <a:prstGeom prst="rect">
            <a:avLst/>
          </a:prstGeom>
          <a:noFill/>
        </p:spPr>
        <p:txBody>
          <a:bodyPr wrap="square" rtlCol="0">
            <a:spAutoFit/>
          </a:bodyPr>
          <a:lstStyle/>
          <a:p>
            <a:r>
              <a:rPr lang="en-US" sz="1600" dirty="0"/>
              <a:t>Transverse Mercator</a:t>
            </a:r>
          </a:p>
        </p:txBody>
      </p:sp>
    </p:spTree>
    <p:extLst>
      <p:ext uri="{BB962C8B-B14F-4D97-AF65-F5344CB8AC3E}">
        <p14:creationId xmlns:p14="http://schemas.microsoft.com/office/powerpoint/2010/main" val="633407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40C786-1801-4D67-8BE8-237F4470E6B3}"/>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5" name="Title 1">
            <a:extLst>
              <a:ext uri="{FF2B5EF4-FFF2-40B4-BE49-F238E27FC236}">
                <a16:creationId xmlns:a16="http://schemas.microsoft.com/office/drawing/2014/main" id="{3B6A7E13-16E3-4E5E-AFDA-35BB3D6649C8}"/>
              </a:ext>
            </a:extLst>
          </p:cNvPr>
          <p:cNvSpPr txBox="1">
            <a:spLocks/>
          </p:cNvSpPr>
          <p:nvPr/>
        </p:nvSpPr>
        <p:spPr>
          <a:xfrm>
            <a:off x="152400" y="1956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6" name="Straight Connector 5">
            <a:extLst>
              <a:ext uri="{FF2B5EF4-FFF2-40B4-BE49-F238E27FC236}">
                <a16:creationId xmlns:a16="http://schemas.microsoft.com/office/drawing/2014/main" id="{BA38A5A2-8EBD-4005-8A18-0A56C5731A5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D6CD3AC-CCF1-34FA-F1E0-3C32D94E5980}"/>
              </a:ext>
            </a:extLst>
          </p:cNvPr>
          <p:cNvSpPr txBox="1"/>
          <p:nvPr/>
        </p:nvSpPr>
        <p:spPr>
          <a:xfrm>
            <a:off x="1487605" y="2571750"/>
            <a:ext cx="5868537" cy="584775"/>
          </a:xfrm>
          <a:prstGeom prst="rect">
            <a:avLst/>
          </a:prstGeom>
          <a:noFill/>
        </p:spPr>
        <p:txBody>
          <a:bodyPr wrap="square" rtlCol="0">
            <a:spAutoFit/>
          </a:bodyPr>
          <a:lstStyle/>
          <a:p>
            <a:r>
              <a:rPr lang="en-US" sz="3200" dirty="0">
                <a:hlinkClick r:id="rId3"/>
              </a:rPr>
              <a:t>Why all world maps are wrong</a:t>
            </a:r>
            <a:r>
              <a:rPr lang="en-US" sz="3200" dirty="0"/>
              <a:t>?</a:t>
            </a:r>
          </a:p>
        </p:txBody>
      </p:sp>
    </p:spTree>
    <p:extLst>
      <p:ext uri="{BB962C8B-B14F-4D97-AF65-F5344CB8AC3E}">
        <p14:creationId xmlns:p14="http://schemas.microsoft.com/office/powerpoint/2010/main" val="9240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075764"/>
            <a:ext cx="7406640" cy="4016015"/>
          </a:xfrm>
        </p:spPr>
        <p:txBody>
          <a:bodyPr>
            <a:normAutofit lnSpcReduction="10000"/>
          </a:bodyPr>
          <a:lstStyle/>
          <a:p>
            <a:pPr marL="0" indent="0">
              <a:buNone/>
            </a:pPr>
            <a:r>
              <a:rPr lang="en-US" sz="3600" dirty="0"/>
              <a:t>Type</a:t>
            </a:r>
          </a:p>
          <a:p>
            <a:pPr>
              <a:buFont typeface="Wingdings" panose="05000000000000000000" pitchFamily="2" charset="2"/>
              <a:buChar char="ü"/>
            </a:pPr>
            <a:r>
              <a:rPr lang="en-US" sz="1600" b="1" dirty="0">
                <a:solidFill>
                  <a:srgbClr val="E3874F"/>
                </a:solidFill>
              </a:rPr>
              <a:t>Conformal Projections: </a:t>
            </a:r>
            <a:r>
              <a:rPr lang="en-US" sz="1600" dirty="0"/>
              <a:t>preserves local angles and shape</a:t>
            </a:r>
          </a:p>
          <a:p>
            <a:pPr>
              <a:buFont typeface="Wingdings" panose="05000000000000000000" pitchFamily="2" charset="2"/>
              <a:buChar char="ü"/>
            </a:pPr>
            <a:r>
              <a:rPr lang="en-US" sz="1600" b="1" dirty="0">
                <a:solidFill>
                  <a:srgbClr val="E3874F"/>
                </a:solidFill>
              </a:rPr>
              <a:t>Equivalent Projections: </a:t>
            </a:r>
            <a:r>
              <a:rPr lang="en-US" sz="1600" dirty="0"/>
              <a:t>represents areas in correct relative size</a:t>
            </a:r>
          </a:p>
          <a:p>
            <a:pPr>
              <a:buFont typeface="Wingdings" panose="05000000000000000000" pitchFamily="2" charset="2"/>
              <a:buChar char="ü"/>
            </a:pPr>
            <a:r>
              <a:rPr lang="en-US" sz="1600" b="1" dirty="0">
                <a:solidFill>
                  <a:srgbClr val="E3874F"/>
                </a:solidFill>
              </a:rPr>
              <a:t>Equidistant Projections: </a:t>
            </a:r>
            <a:r>
              <a:rPr lang="en-US" sz="1600" dirty="0"/>
              <a:t>maintains consistent scale or distance along certain lines</a:t>
            </a:r>
          </a:p>
          <a:p>
            <a:pPr>
              <a:buFont typeface="Wingdings" panose="05000000000000000000" pitchFamily="2" charset="2"/>
              <a:buChar char="ü"/>
            </a:pPr>
            <a:r>
              <a:rPr lang="en-US" sz="1600" b="1" dirty="0">
                <a:solidFill>
                  <a:srgbClr val="E3874F"/>
                </a:solidFill>
              </a:rPr>
              <a:t>Azimuthal Projections: </a:t>
            </a:r>
            <a:r>
              <a:rPr lang="en-US" sz="1600" dirty="0"/>
              <a:t>maintains certain accurate directions relative to certain vantage point</a:t>
            </a:r>
          </a:p>
          <a:p>
            <a:pPr marL="0" indent="0">
              <a:buNone/>
            </a:pPr>
            <a:endParaRPr lang="en-US" sz="1600" dirty="0"/>
          </a:p>
          <a:p>
            <a:pPr>
              <a:buFont typeface="Wingdings" panose="05000000000000000000" pitchFamily="2" charset="2"/>
              <a:buChar char="§"/>
            </a:pPr>
            <a:r>
              <a:rPr lang="en-US" sz="1600" dirty="0"/>
              <a:t>Conformal and equivalent projections’ properties are mutually exclusive</a:t>
            </a:r>
          </a:p>
          <a:p>
            <a:pPr>
              <a:buFont typeface="Wingdings" panose="05000000000000000000" pitchFamily="2" charset="2"/>
              <a:buChar char="§"/>
            </a:pPr>
            <a:r>
              <a:rPr lang="en-US" sz="1600" dirty="0"/>
              <a:t>Conformal and equivalent projections’ properties are global properties</a:t>
            </a:r>
          </a:p>
          <a:p>
            <a:pPr>
              <a:buFont typeface="Wingdings" panose="05000000000000000000" pitchFamily="2" charset="2"/>
              <a:buChar char="§"/>
            </a:pPr>
            <a:endParaRPr lang="en-US" sz="1600" dirty="0"/>
          </a:p>
          <a:p>
            <a:pPr>
              <a:buFont typeface="Wingdings" panose="05000000000000000000" pitchFamily="2" charset="2"/>
              <a:buChar char="§"/>
            </a:pPr>
            <a:r>
              <a:rPr lang="en-US" sz="1600" dirty="0"/>
              <a:t>Equidistant and azimuthal projections’ properties are local properties and may be true only from or to the center of the map projection</a:t>
            </a:r>
          </a:p>
        </p:txBody>
      </p:sp>
      <p:sp>
        <p:nvSpPr>
          <p:cNvPr id="2" name="Slide Number Placeholder 1">
            <a:extLst>
              <a:ext uri="{FF2B5EF4-FFF2-40B4-BE49-F238E27FC236}">
                <a16:creationId xmlns:a16="http://schemas.microsoft.com/office/drawing/2014/main" id="{E230E1B9-106B-410E-A708-B415AA55DD53}"/>
              </a:ext>
            </a:extLst>
          </p:cNvPr>
          <p:cNvSpPr>
            <a:spLocks noGrp="1"/>
          </p:cNvSpPr>
          <p:nvPr>
            <p:ph type="sldNum" sz="quarter" idx="12"/>
          </p:nvPr>
        </p:nvSpPr>
        <p:spPr/>
        <p:txBody>
          <a:bodyPr/>
          <a:lstStyle/>
          <a:p>
            <a:fld id="{127DDC20-79C9-9647-820E-6D40A3D210C3}" type="slidenum">
              <a:rPr lang="en-US" smtClean="0"/>
              <a:pPr/>
              <a:t>13</a:t>
            </a:fld>
            <a:endParaRPr lang="en-US"/>
          </a:p>
        </p:txBody>
      </p:sp>
      <p:sp>
        <p:nvSpPr>
          <p:cNvPr id="6" name="Title 1">
            <a:extLst>
              <a:ext uri="{FF2B5EF4-FFF2-40B4-BE49-F238E27FC236}">
                <a16:creationId xmlns:a16="http://schemas.microsoft.com/office/drawing/2014/main" id="{E2266D52-F98D-4363-BFC0-5605F0A2DA78}"/>
              </a:ext>
            </a:extLst>
          </p:cNvPr>
          <p:cNvSpPr txBox="1">
            <a:spLocks/>
          </p:cNvSpPr>
          <p:nvPr/>
        </p:nvSpPr>
        <p:spPr>
          <a:xfrm>
            <a:off x="118533" y="1992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A0BD5C66-E08E-436F-B77F-3958622AF557}"/>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519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9384" y="1667220"/>
            <a:ext cx="3921319" cy="1326659"/>
          </a:xfrm>
        </p:spPr>
        <p:txBody>
          <a:bodyPr>
            <a:normAutofit/>
          </a:bodyPr>
          <a:lstStyle/>
          <a:p>
            <a:pPr lvl="1">
              <a:buFont typeface="Wingdings" panose="05000000000000000000" pitchFamily="2" charset="2"/>
              <a:buChar char="ü"/>
            </a:pPr>
            <a:r>
              <a:rPr lang="en-US" sz="2000" dirty="0"/>
              <a:t>Cylindrical conformal projection</a:t>
            </a:r>
          </a:p>
          <a:p>
            <a:pPr lvl="1">
              <a:buFont typeface="Wingdings" panose="05000000000000000000" pitchFamily="2" charset="2"/>
              <a:buChar char="ü"/>
            </a:pPr>
            <a:r>
              <a:rPr lang="en-US" sz="2000" dirty="0"/>
              <a:t>Parallels and meridians cross at right-angles</a:t>
            </a:r>
          </a:p>
        </p:txBody>
      </p:sp>
      <p:sp>
        <p:nvSpPr>
          <p:cNvPr id="2" name="Slide Number Placeholder 1">
            <a:extLst>
              <a:ext uri="{FF2B5EF4-FFF2-40B4-BE49-F238E27FC236}">
                <a16:creationId xmlns:a16="http://schemas.microsoft.com/office/drawing/2014/main" id="{D76A41AB-FFE2-4D3D-9A93-65E335532DAA}"/>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320593" y="1572040"/>
            <a:ext cx="3588526" cy="3069557"/>
          </a:xfrm>
          <a:prstGeom prst="rect">
            <a:avLst/>
          </a:prstGeom>
        </p:spPr>
      </p:pic>
      <p:sp>
        <p:nvSpPr>
          <p:cNvPr id="6" name="Title 1">
            <a:extLst>
              <a:ext uri="{FF2B5EF4-FFF2-40B4-BE49-F238E27FC236}">
                <a16:creationId xmlns:a16="http://schemas.microsoft.com/office/drawing/2014/main" id="{3147BAC6-D640-4806-A578-F6E610051D1C}"/>
              </a:ext>
            </a:extLst>
          </p:cNvPr>
          <p:cNvSpPr txBox="1">
            <a:spLocks/>
          </p:cNvSpPr>
          <p:nvPr/>
        </p:nvSpPr>
        <p:spPr>
          <a:xfrm>
            <a:off x="281993" y="1967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World projection - Mercator</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0C34C3E8-DAF3-4EC4-9765-9A5017C1474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BD43FA0-376B-42F7-B273-21243F737AE5}"/>
              </a:ext>
            </a:extLst>
          </p:cNvPr>
          <p:cNvSpPr txBox="1"/>
          <p:nvPr/>
        </p:nvSpPr>
        <p:spPr>
          <a:xfrm>
            <a:off x="4881282" y="4521660"/>
            <a:ext cx="2931459" cy="523220"/>
          </a:xfrm>
          <a:prstGeom prst="rect">
            <a:avLst/>
          </a:prstGeom>
          <a:noFill/>
        </p:spPr>
        <p:txBody>
          <a:bodyPr wrap="square">
            <a:spAutoFit/>
          </a:bodyPr>
          <a:lstStyle/>
          <a:p>
            <a:r>
              <a:rPr lang="en-US" sz="2800" baseline="0" dirty="0"/>
              <a:t>Tissot Indicatrix </a:t>
            </a:r>
            <a:endParaRPr lang="en-US" sz="2800" dirty="0"/>
          </a:p>
        </p:txBody>
      </p:sp>
      <p:sp>
        <p:nvSpPr>
          <p:cNvPr id="8" name="TextBox 7">
            <a:extLst>
              <a:ext uri="{FF2B5EF4-FFF2-40B4-BE49-F238E27FC236}">
                <a16:creationId xmlns:a16="http://schemas.microsoft.com/office/drawing/2014/main" id="{FB3E9392-6512-2B7B-EA79-EDFCCD9C27B3}"/>
              </a:ext>
            </a:extLst>
          </p:cNvPr>
          <p:cNvSpPr txBox="1"/>
          <p:nvPr/>
        </p:nvSpPr>
        <p:spPr>
          <a:xfrm>
            <a:off x="624189" y="3275828"/>
            <a:ext cx="3591708" cy="461665"/>
          </a:xfrm>
          <a:prstGeom prst="rect">
            <a:avLst/>
          </a:prstGeom>
          <a:noFill/>
        </p:spPr>
        <p:txBody>
          <a:bodyPr wrap="square" rtlCol="0">
            <a:spAutoFit/>
          </a:bodyPr>
          <a:lstStyle/>
          <a:p>
            <a:r>
              <a:rPr lang="en-US" sz="2400" b="1" i="1" dirty="0">
                <a:solidFill>
                  <a:srgbClr val="FF0000"/>
                </a:solidFill>
              </a:rPr>
              <a:t>Distort size but not shape </a:t>
            </a:r>
          </a:p>
        </p:txBody>
      </p:sp>
      <p:sp>
        <p:nvSpPr>
          <p:cNvPr id="10" name="TextBox 9">
            <a:extLst>
              <a:ext uri="{FF2B5EF4-FFF2-40B4-BE49-F238E27FC236}">
                <a16:creationId xmlns:a16="http://schemas.microsoft.com/office/drawing/2014/main" id="{5F084CFA-A8EB-1024-66A8-ECBD2AF7FE42}"/>
              </a:ext>
            </a:extLst>
          </p:cNvPr>
          <p:cNvSpPr txBox="1"/>
          <p:nvPr/>
        </p:nvSpPr>
        <p:spPr>
          <a:xfrm>
            <a:off x="-208080" y="1019494"/>
            <a:ext cx="8285280" cy="369332"/>
          </a:xfrm>
          <a:prstGeom prst="rect">
            <a:avLst/>
          </a:prstGeom>
          <a:noFill/>
        </p:spPr>
        <p:txBody>
          <a:bodyPr wrap="square">
            <a:spAutoFit/>
          </a:bodyPr>
          <a:lstStyle/>
          <a:p>
            <a:pPr lvl="1">
              <a:buFont typeface="Wingdings" panose="05000000000000000000" pitchFamily="2" charset="2"/>
              <a:buChar char="ü"/>
            </a:pPr>
            <a:r>
              <a:rPr lang="en-US" sz="1800" dirty="0"/>
              <a:t>Without any distortions, the circles will all be the same shape and size</a:t>
            </a:r>
            <a:endParaRPr lang="en-US" altLang="en-US" sz="1800" dirty="0"/>
          </a:p>
        </p:txBody>
      </p:sp>
      <p:sp>
        <p:nvSpPr>
          <p:cNvPr id="11" name="TextBox 10">
            <a:extLst>
              <a:ext uri="{FF2B5EF4-FFF2-40B4-BE49-F238E27FC236}">
                <a16:creationId xmlns:a16="http://schemas.microsoft.com/office/drawing/2014/main" id="{1D0B287D-A9BE-AAA5-BB1D-6870B27EC869}"/>
              </a:ext>
            </a:extLst>
          </p:cNvPr>
          <p:cNvSpPr txBox="1"/>
          <p:nvPr/>
        </p:nvSpPr>
        <p:spPr>
          <a:xfrm>
            <a:off x="845345" y="4318431"/>
            <a:ext cx="3725316" cy="646331"/>
          </a:xfrm>
          <a:prstGeom prst="rect">
            <a:avLst/>
          </a:prstGeom>
          <a:noFill/>
        </p:spPr>
        <p:txBody>
          <a:bodyPr wrap="square" rtlCol="0">
            <a:spAutoFit/>
          </a:bodyPr>
          <a:lstStyle/>
          <a:p>
            <a:r>
              <a:rPr lang="en-US" dirty="0"/>
              <a:t>Q: In the projection, are the circles distorted in shape or in size?</a:t>
            </a:r>
          </a:p>
        </p:txBody>
      </p:sp>
      <p:sp>
        <p:nvSpPr>
          <p:cNvPr id="13" name="TextBox 12">
            <a:extLst>
              <a:ext uri="{FF2B5EF4-FFF2-40B4-BE49-F238E27FC236}">
                <a16:creationId xmlns:a16="http://schemas.microsoft.com/office/drawing/2014/main" id="{99F8A540-2821-B590-029C-86799D0BA8CA}"/>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4270254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370713"/>
            <a:ext cx="3588878" cy="2881110"/>
          </a:xfrm>
        </p:spPr>
        <p:txBody>
          <a:bodyPr>
            <a:normAutofit/>
          </a:bodyPr>
          <a:lstStyle/>
          <a:p>
            <a:pPr lvl="1">
              <a:buFont typeface="Wingdings" panose="05000000000000000000" pitchFamily="2" charset="2"/>
              <a:buChar char="ü"/>
            </a:pPr>
            <a:r>
              <a:rPr lang="en-US" sz="2000" dirty="0"/>
              <a:t>Modification of Mercator projection that is commonly used for web maps</a:t>
            </a:r>
          </a:p>
          <a:p>
            <a:pPr lvl="1">
              <a:buFont typeface="Wingdings" panose="05000000000000000000" pitchFamily="2" charset="2"/>
              <a:buChar char="ü"/>
            </a:pPr>
            <a:r>
              <a:rPr lang="en-US" sz="2000" dirty="0"/>
              <a:t>Bing Maps, OpenStreetMap, Google Maps, MapQuest, ArcGIS Online</a:t>
            </a:r>
          </a:p>
        </p:txBody>
      </p:sp>
      <p:sp>
        <p:nvSpPr>
          <p:cNvPr id="2" name="Slide Number Placeholder 1">
            <a:extLst>
              <a:ext uri="{FF2B5EF4-FFF2-40B4-BE49-F238E27FC236}">
                <a16:creationId xmlns:a16="http://schemas.microsoft.com/office/drawing/2014/main" id="{BCA44A32-7B3C-41B5-9BE4-F369E12DDCC3}"/>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6" name="Title 1">
            <a:extLst>
              <a:ext uri="{FF2B5EF4-FFF2-40B4-BE49-F238E27FC236}">
                <a16:creationId xmlns:a16="http://schemas.microsoft.com/office/drawing/2014/main" id="{EB9026F9-6B38-481F-8EBD-1566BA24D432}"/>
              </a:ext>
            </a:extLst>
          </p:cNvPr>
          <p:cNvSpPr txBox="1">
            <a:spLocks/>
          </p:cNvSpPr>
          <p:nvPr/>
        </p:nvSpPr>
        <p:spPr>
          <a:xfrm>
            <a:off x="247381"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 – Web Mercator</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82AAAB95-9CC2-44A4-9E51-82AE352FC40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a:extLst>
              <a:ext uri="{FF2B5EF4-FFF2-40B4-BE49-F238E27FC236}">
                <a16:creationId xmlns:a16="http://schemas.microsoft.com/office/drawing/2014/main" id="{7A389798-0B3A-4E3B-8434-5A1362890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7724" y="1563736"/>
            <a:ext cx="4428659" cy="265685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7D16D68-E2C9-4636-8111-9CA9911E5B23}"/>
              </a:ext>
            </a:extLst>
          </p:cNvPr>
          <p:cNvSpPr txBox="1"/>
          <p:nvPr/>
        </p:nvSpPr>
        <p:spPr>
          <a:xfrm>
            <a:off x="3588878" y="4559074"/>
            <a:ext cx="4646352" cy="246221"/>
          </a:xfrm>
          <a:prstGeom prst="rect">
            <a:avLst/>
          </a:prstGeom>
          <a:noFill/>
        </p:spPr>
        <p:txBody>
          <a:bodyPr wrap="square">
            <a:spAutoFit/>
          </a:bodyPr>
          <a:lstStyle/>
          <a:p>
            <a:r>
              <a:rPr lang="en-US" sz="1000" dirty="0">
                <a:solidFill>
                  <a:srgbClr val="7030A0"/>
                </a:solidFill>
              </a:rPr>
              <a:t>http://cartonerd.blogspot.com/2014/08/web-mercator-and-comparisons.html</a:t>
            </a:r>
          </a:p>
        </p:txBody>
      </p:sp>
    </p:spTree>
    <p:extLst>
      <p:ext uri="{BB962C8B-B14F-4D97-AF65-F5344CB8AC3E}">
        <p14:creationId xmlns:p14="http://schemas.microsoft.com/office/powerpoint/2010/main" val="3412434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7135" y="1469160"/>
            <a:ext cx="3435541" cy="1852341"/>
          </a:xfrm>
        </p:spPr>
        <p:txBody>
          <a:bodyPr>
            <a:normAutofit/>
          </a:bodyPr>
          <a:lstStyle/>
          <a:p>
            <a:pPr lvl="1">
              <a:buFont typeface="Wingdings" panose="05000000000000000000" pitchFamily="2" charset="2"/>
              <a:buChar char="ü"/>
            </a:pPr>
            <a:r>
              <a:rPr lang="en-US" sz="2000" dirty="0"/>
              <a:t>Equivalent projection</a:t>
            </a:r>
          </a:p>
          <a:p>
            <a:pPr lvl="1">
              <a:buFont typeface="Wingdings" panose="05000000000000000000" pitchFamily="2" charset="2"/>
              <a:buChar char="ü"/>
            </a:pPr>
            <a:r>
              <a:rPr lang="en-US" sz="2000" dirty="0"/>
              <a:t>Pseudo cylindrical</a:t>
            </a:r>
          </a:p>
          <a:p>
            <a:pPr lvl="1">
              <a:buFont typeface="Wingdings" panose="05000000000000000000" pitchFamily="2" charset="2"/>
              <a:buChar char="ü"/>
            </a:pPr>
            <a:r>
              <a:rPr lang="en-US" sz="2000" dirty="0"/>
              <a:t>Not based on developable surface</a:t>
            </a:r>
          </a:p>
        </p:txBody>
      </p:sp>
      <p:sp>
        <p:nvSpPr>
          <p:cNvPr id="2" name="Slide Number Placeholder 1">
            <a:extLst>
              <a:ext uri="{FF2B5EF4-FFF2-40B4-BE49-F238E27FC236}">
                <a16:creationId xmlns:a16="http://schemas.microsoft.com/office/drawing/2014/main" id="{DB47974D-9191-4F6C-A98F-138B823229A1}"/>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3563875" y="1169959"/>
            <a:ext cx="4665726" cy="2660825"/>
          </a:xfrm>
          <a:prstGeom prst="rect">
            <a:avLst/>
          </a:prstGeom>
        </p:spPr>
      </p:pic>
      <p:sp>
        <p:nvSpPr>
          <p:cNvPr id="8" name="Title 1">
            <a:extLst>
              <a:ext uri="{FF2B5EF4-FFF2-40B4-BE49-F238E27FC236}">
                <a16:creationId xmlns:a16="http://schemas.microsoft.com/office/drawing/2014/main" id="{4F1E3919-3063-495F-B9C0-65932DAA1069}"/>
              </a:ext>
            </a:extLst>
          </p:cNvPr>
          <p:cNvSpPr txBox="1">
            <a:spLocks/>
          </p:cNvSpPr>
          <p:nvPr/>
        </p:nvSpPr>
        <p:spPr>
          <a:xfrm>
            <a:off x="247135" y="18400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 - Mollweide</a:t>
            </a:r>
          </a:p>
        </p:txBody>
      </p:sp>
      <p:cxnSp>
        <p:nvCxnSpPr>
          <p:cNvPr id="9" name="Straight Connector 8">
            <a:extLst>
              <a:ext uri="{FF2B5EF4-FFF2-40B4-BE49-F238E27FC236}">
                <a16:creationId xmlns:a16="http://schemas.microsoft.com/office/drawing/2014/main" id="{7740DABC-0132-4F64-8D48-5CB068208C6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F591871-FD45-1C9E-C439-04B2C8A30063}"/>
              </a:ext>
            </a:extLst>
          </p:cNvPr>
          <p:cNvSpPr txBox="1"/>
          <p:nvPr/>
        </p:nvSpPr>
        <p:spPr>
          <a:xfrm>
            <a:off x="625385" y="3342511"/>
            <a:ext cx="3172164" cy="369332"/>
          </a:xfrm>
          <a:prstGeom prst="rect">
            <a:avLst/>
          </a:prstGeom>
          <a:noFill/>
        </p:spPr>
        <p:txBody>
          <a:bodyPr wrap="square" rtlCol="0">
            <a:spAutoFit/>
          </a:bodyPr>
          <a:lstStyle/>
          <a:p>
            <a:r>
              <a:rPr lang="en-US" b="1" i="1" dirty="0">
                <a:solidFill>
                  <a:srgbClr val="FF0000"/>
                </a:solidFill>
              </a:rPr>
              <a:t>Distort shape but not size </a:t>
            </a:r>
          </a:p>
        </p:txBody>
      </p:sp>
      <p:sp>
        <p:nvSpPr>
          <p:cNvPr id="6" name="TextBox 5">
            <a:extLst>
              <a:ext uri="{FF2B5EF4-FFF2-40B4-BE49-F238E27FC236}">
                <a16:creationId xmlns:a16="http://schemas.microsoft.com/office/drawing/2014/main" id="{D5CA7945-4D72-FCDF-9F1E-E78F2D588B79}"/>
              </a:ext>
            </a:extLst>
          </p:cNvPr>
          <p:cNvSpPr txBox="1"/>
          <p:nvPr/>
        </p:nvSpPr>
        <p:spPr>
          <a:xfrm>
            <a:off x="918709" y="4405162"/>
            <a:ext cx="6208144" cy="369332"/>
          </a:xfrm>
          <a:prstGeom prst="rect">
            <a:avLst/>
          </a:prstGeom>
          <a:noFill/>
        </p:spPr>
        <p:txBody>
          <a:bodyPr wrap="square" rtlCol="0">
            <a:spAutoFit/>
          </a:bodyPr>
          <a:lstStyle/>
          <a:p>
            <a:r>
              <a:rPr lang="en-US" dirty="0"/>
              <a:t>Q: In the projection, are the circles distorted in shape or in size?</a:t>
            </a:r>
          </a:p>
        </p:txBody>
      </p:sp>
      <p:sp>
        <p:nvSpPr>
          <p:cNvPr id="10" name="TextBox 9">
            <a:extLst>
              <a:ext uri="{FF2B5EF4-FFF2-40B4-BE49-F238E27FC236}">
                <a16:creationId xmlns:a16="http://schemas.microsoft.com/office/drawing/2014/main" id="{7E88A7FA-58D1-4102-33B0-B527EB6A32A1}"/>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74283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152400" y="2283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Class Activity</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4" name="AutoShape 2">
            <a:extLst>
              <a:ext uri="{FF2B5EF4-FFF2-40B4-BE49-F238E27FC236}">
                <a16:creationId xmlns:a16="http://schemas.microsoft.com/office/drawing/2014/main" id="{6BDC2AAD-5DF9-4145-90CB-88E29F5FAF32}"/>
              </a:ext>
            </a:extLst>
          </p:cNvPr>
          <p:cNvSpPr>
            <a:spLocks noChangeAspect="1" noChangeArrowheads="1"/>
          </p:cNvSpPr>
          <p:nvPr/>
        </p:nvSpPr>
        <p:spPr bwMode="auto">
          <a:xfrm>
            <a:off x="39624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8321A32B-9F97-4159-AB21-E42738EE0484}"/>
              </a:ext>
            </a:extLst>
          </p:cNvPr>
          <p:cNvSpPr txBox="1"/>
          <p:nvPr/>
        </p:nvSpPr>
        <p:spPr>
          <a:xfrm>
            <a:off x="152400" y="1232238"/>
            <a:ext cx="7665720" cy="2554545"/>
          </a:xfrm>
          <a:prstGeom prst="rect">
            <a:avLst/>
          </a:prstGeom>
          <a:noFill/>
        </p:spPr>
        <p:txBody>
          <a:bodyPr wrap="square">
            <a:spAutoFit/>
          </a:bodyPr>
          <a:lstStyle/>
          <a:p>
            <a:pPr marL="285750" indent="-285750">
              <a:buFont typeface="Courier New" panose="02070309020205020404" pitchFamily="49" charset="0"/>
              <a:buChar char="o"/>
            </a:pPr>
            <a:r>
              <a:rPr lang="en-US" sz="2000" dirty="0"/>
              <a:t>Explore the true size tool </a:t>
            </a:r>
            <a:r>
              <a:rPr lang="en-US" sz="2000" dirty="0">
                <a:hlinkClick r:id="rId3"/>
              </a:rPr>
              <a:t>https://thetruesize.com/#</a:t>
            </a:r>
            <a:r>
              <a:rPr lang="en-US" sz="2000" dirty="0"/>
              <a:t>.</a:t>
            </a:r>
          </a:p>
          <a:p>
            <a:pPr marL="285750" indent="-285750">
              <a:buFont typeface="Courier New" panose="02070309020205020404" pitchFamily="49" charset="0"/>
              <a:buChar char="o"/>
            </a:pPr>
            <a:endParaRPr lang="en-US" sz="2000" dirty="0"/>
          </a:p>
          <a:p>
            <a:pPr marL="800100" lvl="1" indent="-342900">
              <a:buFont typeface="Wingdings" panose="05000000000000000000" pitchFamily="2" charset="2"/>
              <a:buChar char="ü"/>
            </a:pPr>
            <a:r>
              <a:rPr lang="en-US" sz="2000" dirty="0"/>
              <a:t>Does Greenland look larger or smaller than Brazil on the basemap?</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Search for ‘Greenland’</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Drag Greenland over Brazil to compare their areas</a:t>
            </a:r>
          </a:p>
        </p:txBody>
      </p:sp>
    </p:spTree>
    <p:extLst>
      <p:ext uri="{BB962C8B-B14F-4D97-AF65-F5344CB8AC3E}">
        <p14:creationId xmlns:p14="http://schemas.microsoft.com/office/powerpoint/2010/main" val="1069939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27897" y="4423893"/>
            <a:ext cx="2315177" cy="316690"/>
          </a:xfrm>
          <a:prstGeom prst="rect">
            <a:avLst/>
          </a:prstGeom>
          <a:noFill/>
        </p:spPr>
        <p:txBody>
          <a:bodyPr wrap="square" rtlCol="0">
            <a:spAutoFit/>
          </a:bodyPr>
          <a:lstStyle/>
          <a:p>
            <a:pPr>
              <a:lnSpc>
                <a:spcPct val="90000"/>
              </a:lnSpc>
            </a:pPr>
            <a:r>
              <a:rPr lang="en-US" sz="1620" dirty="0"/>
              <a:t>Not Projected</a:t>
            </a:r>
          </a:p>
        </p:txBody>
      </p:sp>
      <p:sp>
        <p:nvSpPr>
          <p:cNvPr id="7" name="TextBox 6"/>
          <p:cNvSpPr txBox="1"/>
          <p:nvPr/>
        </p:nvSpPr>
        <p:spPr>
          <a:xfrm>
            <a:off x="4886528" y="4413121"/>
            <a:ext cx="2879786" cy="316690"/>
          </a:xfrm>
          <a:prstGeom prst="rect">
            <a:avLst/>
          </a:prstGeom>
          <a:noFill/>
        </p:spPr>
        <p:txBody>
          <a:bodyPr wrap="square" rtlCol="0">
            <a:spAutoFit/>
          </a:bodyPr>
          <a:lstStyle/>
          <a:p>
            <a:pPr algn="ctr">
              <a:lnSpc>
                <a:spcPct val="90000"/>
              </a:lnSpc>
            </a:pPr>
            <a:r>
              <a:rPr lang="en-US" sz="1620" dirty="0"/>
              <a:t>Mercator</a:t>
            </a:r>
          </a:p>
        </p:txBody>
      </p:sp>
      <p:pic>
        <p:nvPicPr>
          <p:cNvPr id="4" name="Picture 3"/>
          <p:cNvPicPr>
            <a:picLocks noChangeAspect="1"/>
          </p:cNvPicPr>
          <p:nvPr/>
        </p:nvPicPr>
        <p:blipFill>
          <a:blip r:embed="rId3">
            <a:clrChange>
              <a:clrFrom>
                <a:srgbClr val="9C9C9C"/>
              </a:clrFrom>
              <a:clrTo>
                <a:srgbClr val="9C9C9C">
                  <a:alpha val="0"/>
                </a:srgbClr>
              </a:clrTo>
            </a:clrChange>
          </a:blip>
          <a:stretch>
            <a:fillRect/>
          </a:stretch>
        </p:blipFill>
        <p:spPr>
          <a:xfrm>
            <a:off x="101825" y="1902921"/>
            <a:ext cx="3909006" cy="2063955"/>
          </a:xfrm>
          <a:prstGeom prst="rect">
            <a:avLst/>
          </a:prstGeom>
        </p:spPr>
      </p:pic>
      <p:pic>
        <p:nvPicPr>
          <p:cNvPr id="5" name="Picture 4"/>
          <p:cNvPicPr>
            <a:picLocks noChangeAspect="1"/>
          </p:cNvPicPr>
          <p:nvPr/>
        </p:nvPicPr>
        <p:blipFill>
          <a:blip r:embed="rId4">
            <a:clrChange>
              <a:clrFrom>
                <a:srgbClr val="9C9C9C"/>
              </a:clrFrom>
              <a:clrTo>
                <a:srgbClr val="9C9C9C">
                  <a:alpha val="0"/>
                </a:srgbClr>
              </a:clrTo>
            </a:clrChange>
          </a:blip>
          <a:stretch>
            <a:fillRect/>
          </a:stretch>
        </p:blipFill>
        <p:spPr>
          <a:xfrm>
            <a:off x="4112635" y="1887596"/>
            <a:ext cx="3942233" cy="2309521"/>
          </a:xfrm>
          <a:prstGeom prst="rect">
            <a:avLst/>
          </a:prstGeom>
        </p:spPr>
      </p:pic>
      <p:sp>
        <p:nvSpPr>
          <p:cNvPr id="8" name="Rectangle 1027">
            <a:extLst>
              <a:ext uri="{FF2B5EF4-FFF2-40B4-BE49-F238E27FC236}">
                <a16:creationId xmlns:a16="http://schemas.microsoft.com/office/drawing/2014/main" id="{44B0FAA8-31E9-42B0-9632-CFE003AD9A49}"/>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9" name="Title 1">
            <a:extLst>
              <a:ext uri="{FF2B5EF4-FFF2-40B4-BE49-F238E27FC236}">
                <a16:creationId xmlns:a16="http://schemas.microsoft.com/office/drawing/2014/main" id="{8E56CD9F-13C1-419F-9C85-88A784ADC844}"/>
              </a:ext>
            </a:extLst>
          </p:cNvPr>
          <p:cNvSpPr txBox="1">
            <a:spLocks/>
          </p:cNvSpPr>
          <p:nvPr/>
        </p:nvSpPr>
        <p:spPr>
          <a:xfrm>
            <a:off x="247135"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37F03E5F-19CA-48DA-BCF1-34EC19E0116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01B0C23-6277-4EA6-933C-F761054ED0E4}"/>
              </a:ext>
            </a:extLst>
          </p:cNvPr>
          <p:cNvSpPr>
            <a:spLocks noGrp="1"/>
          </p:cNvSpPr>
          <p:nvPr>
            <p:ph type="sldNum" sz="quarter" idx="12"/>
          </p:nvPr>
        </p:nvSpPr>
        <p:spPr/>
        <p:txBody>
          <a:bodyPr/>
          <a:lstStyle/>
          <a:p>
            <a:fld id="{127DDC20-79C9-9647-820E-6D40A3D210C3}" type="slidenum">
              <a:rPr lang="en-US" smtClean="0"/>
              <a:pPr/>
              <a:t>18</a:t>
            </a:fld>
            <a:endParaRPr lang="en-US" dirty="0"/>
          </a:p>
        </p:txBody>
      </p:sp>
    </p:spTree>
    <p:extLst>
      <p:ext uri="{BB962C8B-B14F-4D97-AF65-F5344CB8AC3E}">
        <p14:creationId xmlns:p14="http://schemas.microsoft.com/office/powerpoint/2010/main" val="325236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85800" y="4423893"/>
            <a:ext cx="2605825" cy="316690"/>
          </a:xfrm>
          <a:prstGeom prst="rect">
            <a:avLst/>
          </a:prstGeom>
          <a:noFill/>
        </p:spPr>
        <p:txBody>
          <a:bodyPr wrap="square" rtlCol="0">
            <a:spAutoFit/>
          </a:bodyPr>
          <a:lstStyle/>
          <a:p>
            <a:pPr algn="ctr">
              <a:lnSpc>
                <a:spcPct val="90000"/>
              </a:lnSpc>
            </a:pPr>
            <a:r>
              <a:rPr lang="en-US" sz="1620" dirty="0"/>
              <a:t>Albers Equal Area</a:t>
            </a:r>
          </a:p>
        </p:txBody>
      </p:sp>
      <p:sp>
        <p:nvSpPr>
          <p:cNvPr id="7" name="TextBox 6"/>
          <p:cNvSpPr txBox="1"/>
          <p:nvPr/>
        </p:nvSpPr>
        <p:spPr>
          <a:xfrm>
            <a:off x="4732181" y="4423893"/>
            <a:ext cx="2811619" cy="316690"/>
          </a:xfrm>
          <a:prstGeom prst="rect">
            <a:avLst/>
          </a:prstGeom>
          <a:noFill/>
        </p:spPr>
        <p:txBody>
          <a:bodyPr wrap="square" rtlCol="0">
            <a:spAutoFit/>
          </a:bodyPr>
          <a:lstStyle/>
          <a:p>
            <a:pPr algn="ctr">
              <a:lnSpc>
                <a:spcPct val="90000"/>
              </a:lnSpc>
            </a:pPr>
            <a:r>
              <a:rPr lang="en-US" sz="1620" dirty="0"/>
              <a:t>Lambert Conformal Conic</a:t>
            </a:r>
          </a:p>
        </p:txBody>
      </p:sp>
      <p:pic>
        <p:nvPicPr>
          <p:cNvPr id="8" name="Picture 7"/>
          <p:cNvPicPr>
            <a:picLocks noChangeAspect="1"/>
          </p:cNvPicPr>
          <p:nvPr/>
        </p:nvPicPr>
        <p:blipFill>
          <a:blip r:embed="rId3">
            <a:clrChange>
              <a:clrFrom>
                <a:srgbClr val="9C9C9C"/>
              </a:clrFrom>
              <a:clrTo>
                <a:srgbClr val="9C9C9C">
                  <a:alpha val="0"/>
                </a:srgbClr>
              </a:clrTo>
            </a:clrChange>
          </a:blip>
          <a:stretch>
            <a:fillRect/>
          </a:stretch>
        </p:blipFill>
        <p:spPr>
          <a:xfrm>
            <a:off x="50377" y="1583207"/>
            <a:ext cx="4064423" cy="2529382"/>
          </a:xfrm>
          <a:prstGeom prst="rect">
            <a:avLst/>
          </a:prstGeom>
        </p:spPr>
      </p:pic>
      <p:pic>
        <p:nvPicPr>
          <p:cNvPr id="9" name="Picture 8"/>
          <p:cNvPicPr>
            <a:picLocks noChangeAspect="1"/>
          </p:cNvPicPr>
          <p:nvPr/>
        </p:nvPicPr>
        <p:blipFill>
          <a:blip r:embed="rId4">
            <a:clrChange>
              <a:clrFrom>
                <a:srgbClr val="9C9C9C"/>
              </a:clrFrom>
              <a:clrTo>
                <a:srgbClr val="9C9C9C">
                  <a:alpha val="0"/>
                </a:srgbClr>
              </a:clrTo>
            </a:clrChange>
          </a:blip>
          <a:stretch>
            <a:fillRect/>
          </a:stretch>
        </p:blipFill>
        <p:spPr>
          <a:xfrm>
            <a:off x="4011904" y="1753803"/>
            <a:ext cx="4114800" cy="2670090"/>
          </a:xfrm>
          <a:prstGeom prst="rect">
            <a:avLst/>
          </a:prstGeom>
        </p:spPr>
      </p:pic>
      <p:sp>
        <p:nvSpPr>
          <p:cNvPr id="10" name="Rectangle 1027">
            <a:extLst>
              <a:ext uri="{FF2B5EF4-FFF2-40B4-BE49-F238E27FC236}">
                <a16:creationId xmlns:a16="http://schemas.microsoft.com/office/drawing/2014/main" id="{A5A80368-4053-4CA8-9128-FA28025697E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1021B37C-8720-498D-9240-AA6F91FCDC9B}"/>
              </a:ext>
            </a:extLst>
          </p:cNvPr>
          <p:cNvSpPr txBox="1">
            <a:spLocks/>
          </p:cNvSpPr>
          <p:nvPr/>
        </p:nvSpPr>
        <p:spPr>
          <a:xfrm>
            <a:off x="247135"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EA8A2355-E507-4ECC-AC93-AFD2A0F7CF8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4EC69ED4-BBE1-424E-B7F4-D3810684C333}"/>
              </a:ext>
            </a:extLst>
          </p:cNvPr>
          <p:cNvSpPr>
            <a:spLocks noGrp="1"/>
          </p:cNvSpPr>
          <p:nvPr>
            <p:ph type="sldNum" sz="quarter" idx="12"/>
          </p:nvPr>
        </p:nvSpPr>
        <p:spPr/>
        <p:txBody>
          <a:bodyPr/>
          <a:lstStyle/>
          <a:p>
            <a:fld id="{127DDC20-79C9-9647-820E-6D40A3D210C3}" type="slidenum">
              <a:rPr lang="en-US" smtClean="0"/>
              <a:pPr/>
              <a:t>19</a:t>
            </a:fld>
            <a:endParaRPr lang="en-US" dirty="0"/>
          </a:p>
        </p:txBody>
      </p:sp>
    </p:spTree>
    <p:extLst>
      <p:ext uri="{BB962C8B-B14F-4D97-AF65-F5344CB8AC3E}">
        <p14:creationId xmlns:p14="http://schemas.microsoft.com/office/powerpoint/2010/main" val="1711664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E2D5E632-8AA2-41DB-9402-0645CFBD2E67}"/>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Albers Equal Area</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827336"/>
            <a:ext cx="4590535" cy="2881110"/>
          </a:xfrm>
        </p:spPr>
        <p:txBody>
          <a:bodyPr>
            <a:noAutofit/>
          </a:bodyPr>
          <a:lstStyle/>
          <a:p>
            <a:pPr lvl="1">
              <a:buFont typeface="Wingdings" panose="05000000000000000000" pitchFamily="2" charset="2"/>
              <a:buChar char="ü"/>
            </a:pPr>
            <a:r>
              <a:rPr lang="en-US" sz="2800" dirty="0"/>
              <a:t>Conic </a:t>
            </a:r>
          </a:p>
          <a:p>
            <a:pPr lvl="1">
              <a:buFont typeface="Wingdings" panose="05000000000000000000" pitchFamily="2" charset="2"/>
              <a:buChar char="ü"/>
            </a:pPr>
            <a:r>
              <a:rPr lang="en-US" sz="2800" dirty="0"/>
              <a:t>Equivalent</a:t>
            </a:r>
          </a:p>
          <a:p>
            <a:pPr lvl="1">
              <a:buFont typeface="Wingdings" panose="05000000000000000000" pitchFamily="2" charset="2"/>
              <a:buChar char="ü"/>
            </a:pPr>
            <a:r>
              <a:rPr lang="en-US" sz="2800" dirty="0"/>
              <a:t>Maintains area</a:t>
            </a:r>
          </a:p>
          <a:p>
            <a:pPr lvl="1">
              <a:buFont typeface="Wingdings" panose="05000000000000000000" pitchFamily="2" charset="2"/>
              <a:buChar char="ü"/>
            </a:pPr>
            <a:r>
              <a:rPr lang="en-US" sz="2800" dirty="0"/>
              <a:t>Distort shape and local angles</a:t>
            </a:r>
          </a:p>
        </p:txBody>
      </p:sp>
      <p:sp>
        <p:nvSpPr>
          <p:cNvPr id="2" name="Slide Number Placeholder 1">
            <a:extLst>
              <a:ext uri="{FF2B5EF4-FFF2-40B4-BE49-F238E27FC236}">
                <a16:creationId xmlns:a16="http://schemas.microsoft.com/office/drawing/2014/main" id="{AF0297D7-EDD3-4A04-A68C-176D9C4DF8C1}"/>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3680875" y="1858964"/>
            <a:ext cx="4472526" cy="2783354"/>
          </a:xfrm>
          <a:prstGeom prst="rect">
            <a:avLst/>
          </a:prstGeom>
        </p:spPr>
      </p:pic>
      <p:sp>
        <p:nvSpPr>
          <p:cNvPr id="7" name="Title 1">
            <a:extLst>
              <a:ext uri="{FF2B5EF4-FFF2-40B4-BE49-F238E27FC236}">
                <a16:creationId xmlns:a16="http://schemas.microsoft.com/office/drawing/2014/main" id="{178A724E-C334-4173-8F92-B5AC57BD7403}"/>
              </a:ext>
            </a:extLst>
          </p:cNvPr>
          <p:cNvSpPr txBox="1">
            <a:spLocks/>
          </p:cNvSpPr>
          <p:nvPr/>
        </p:nvSpPr>
        <p:spPr>
          <a:xfrm>
            <a:off x="247135" y="2351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BBEA8A48-D0CF-43F2-89E7-7CC18837F8A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44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99DA9822-C890-468F-807E-2FD2032A05D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Lambert Conformal Conic</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827336"/>
            <a:ext cx="3997410" cy="2881110"/>
          </a:xfrm>
        </p:spPr>
        <p:txBody>
          <a:bodyPr>
            <a:normAutofit/>
          </a:bodyPr>
          <a:lstStyle/>
          <a:p>
            <a:pPr lvl="1">
              <a:buFont typeface="Wingdings" panose="05000000000000000000" pitchFamily="2" charset="2"/>
              <a:buChar char="ü"/>
            </a:pPr>
            <a:r>
              <a:rPr lang="en-US" sz="2800" dirty="0"/>
              <a:t>Conic</a:t>
            </a:r>
          </a:p>
          <a:p>
            <a:pPr lvl="1">
              <a:buFont typeface="Wingdings" panose="05000000000000000000" pitchFamily="2" charset="2"/>
              <a:buChar char="ü"/>
            </a:pPr>
            <a:r>
              <a:rPr lang="en-US" sz="2800" dirty="0"/>
              <a:t>Conformal</a:t>
            </a:r>
          </a:p>
          <a:p>
            <a:pPr lvl="1">
              <a:buFont typeface="Wingdings" panose="05000000000000000000" pitchFamily="2" charset="2"/>
              <a:buChar char="ü"/>
            </a:pPr>
            <a:r>
              <a:rPr lang="en-US" sz="2800" dirty="0"/>
              <a:t>Maintains shape and local angles</a:t>
            </a:r>
          </a:p>
          <a:p>
            <a:pPr lvl="1">
              <a:buFont typeface="Wingdings" panose="05000000000000000000" pitchFamily="2" charset="2"/>
              <a:buChar char="ü"/>
            </a:pPr>
            <a:r>
              <a:rPr lang="en-US" sz="2800" dirty="0"/>
              <a:t>Distorts local size</a:t>
            </a:r>
          </a:p>
        </p:txBody>
      </p:sp>
      <p:sp>
        <p:nvSpPr>
          <p:cNvPr id="2" name="Slide Number Placeholder 1">
            <a:extLst>
              <a:ext uri="{FF2B5EF4-FFF2-40B4-BE49-F238E27FC236}">
                <a16:creationId xmlns:a16="http://schemas.microsoft.com/office/drawing/2014/main" id="{A684FFBB-1250-476F-A12A-BE4B19B4C4E8}"/>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4011904" y="2040794"/>
            <a:ext cx="4114800" cy="2670090"/>
          </a:xfrm>
          <a:prstGeom prst="rect">
            <a:avLst/>
          </a:prstGeom>
        </p:spPr>
      </p:pic>
      <p:sp>
        <p:nvSpPr>
          <p:cNvPr id="7" name="Title 1">
            <a:extLst>
              <a:ext uri="{FF2B5EF4-FFF2-40B4-BE49-F238E27FC236}">
                <a16:creationId xmlns:a16="http://schemas.microsoft.com/office/drawing/2014/main" id="{7B2EF69D-C653-428C-A0F7-50CFD03846B1}"/>
              </a:ext>
            </a:extLst>
          </p:cNvPr>
          <p:cNvSpPr txBox="1">
            <a:spLocks/>
          </p:cNvSpPr>
          <p:nvPr/>
        </p:nvSpPr>
        <p:spPr>
          <a:xfrm>
            <a:off x="152400" y="19815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6DB008D3-5207-4739-9C3F-5842D52F646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0348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B95DC-BE07-CDE3-ED47-5FDE0C6102E3}"/>
              </a:ext>
            </a:extLst>
          </p:cNvPr>
          <p:cNvSpPr>
            <a:spLocks noGrp="1"/>
          </p:cNvSpPr>
          <p:nvPr>
            <p:ph type="title"/>
          </p:nvPr>
        </p:nvSpPr>
        <p:spPr>
          <a:xfrm>
            <a:off x="392305" y="526617"/>
            <a:ext cx="7444991" cy="582516"/>
          </a:xfrm>
        </p:spPr>
        <p:txBody>
          <a:bodyPr>
            <a:normAutofit/>
          </a:bodyPr>
          <a:lstStyle/>
          <a:p>
            <a:r>
              <a:rPr lang="en-US" sz="3200" dirty="0"/>
              <a:t>Example Scenarios</a:t>
            </a:r>
          </a:p>
        </p:txBody>
      </p:sp>
      <p:sp>
        <p:nvSpPr>
          <p:cNvPr id="3" name="Content Placeholder 2">
            <a:extLst>
              <a:ext uri="{FF2B5EF4-FFF2-40B4-BE49-F238E27FC236}">
                <a16:creationId xmlns:a16="http://schemas.microsoft.com/office/drawing/2014/main" id="{4313F69B-3AC8-699B-CD74-BD0979A9E87F}"/>
              </a:ext>
            </a:extLst>
          </p:cNvPr>
          <p:cNvSpPr>
            <a:spLocks noGrp="1"/>
          </p:cNvSpPr>
          <p:nvPr>
            <p:ph idx="1"/>
          </p:nvPr>
        </p:nvSpPr>
        <p:spPr>
          <a:xfrm>
            <a:off x="392307" y="1109133"/>
            <a:ext cx="7444990" cy="2725865"/>
          </a:xfrm>
        </p:spPr>
        <p:txBody>
          <a:bodyPr>
            <a:normAutofit/>
          </a:bodyPr>
          <a:lstStyle/>
          <a:p>
            <a:pPr marL="342900" indent="-342900">
              <a:buFont typeface="+mj-lt"/>
              <a:buAutoNum type="arabicPeriod"/>
            </a:pPr>
            <a:r>
              <a:rPr lang="en-US" sz="2400" dirty="0"/>
              <a:t>An airline wants to create flight maps across the </a:t>
            </a:r>
            <a:r>
              <a:rPr lang="en-US" sz="2400" b="1" dirty="0"/>
              <a:t>contiguous U.S.</a:t>
            </a:r>
          </a:p>
          <a:p>
            <a:pPr marL="342900" indent="-342900">
              <a:buFont typeface="+mj-lt"/>
              <a:buAutoNum type="arabicPeriod"/>
            </a:pPr>
            <a:endParaRPr lang="en-US" sz="2400" dirty="0"/>
          </a:p>
          <a:p>
            <a:pPr marL="342900" indent="-342900">
              <a:buFont typeface="+mj-lt"/>
              <a:buAutoNum type="arabicPeriod"/>
            </a:pPr>
            <a:r>
              <a:rPr lang="en-US" sz="2400" dirty="0"/>
              <a:t>The U.S. Census Bureau makes a map of </a:t>
            </a:r>
            <a:r>
              <a:rPr lang="en-US" sz="2400" b="1" dirty="0"/>
              <a:t>population density</a:t>
            </a:r>
            <a:r>
              <a:rPr lang="en-US" sz="2400" dirty="0"/>
              <a:t> by state.</a:t>
            </a:r>
          </a:p>
        </p:txBody>
      </p:sp>
      <p:sp>
        <p:nvSpPr>
          <p:cNvPr id="4" name="Slide Number Placeholder 3">
            <a:extLst>
              <a:ext uri="{FF2B5EF4-FFF2-40B4-BE49-F238E27FC236}">
                <a16:creationId xmlns:a16="http://schemas.microsoft.com/office/drawing/2014/main" id="{F2F6032D-17C2-4BC2-A74C-334AEEB966A8}"/>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5" name="TextBox 4">
            <a:extLst>
              <a:ext uri="{FF2B5EF4-FFF2-40B4-BE49-F238E27FC236}">
                <a16:creationId xmlns:a16="http://schemas.microsoft.com/office/drawing/2014/main" id="{FB7FD149-0C34-C3F3-868A-F14782292EBC}"/>
              </a:ext>
            </a:extLst>
          </p:cNvPr>
          <p:cNvSpPr txBox="1"/>
          <p:nvPr/>
        </p:nvSpPr>
        <p:spPr>
          <a:xfrm>
            <a:off x="918709" y="4405162"/>
            <a:ext cx="6208144" cy="369332"/>
          </a:xfrm>
          <a:prstGeom prst="rect">
            <a:avLst/>
          </a:prstGeom>
          <a:noFill/>
        </p:spPr>
        <p:txBody>
          <a:bodyPr wrap="square" rtlCol="0">
            <a:spAutoFit/>
          </a:bodyPr>
          <a:lstStyle/>
          <a:p>
            <a:r>
              <a:rPr lang="en-US" dirty="0"/>
              <a:t>Q: W</a:t>
            </a:r>
            <a:r>
              <a:rPr lang="en-US" altLang="zh-CN" dirty="0"/>
              <a:t>hich</a:t>
            </a:r>
            <a:r>
              <a:rPr lang="zh-CN" altLang="en-US" dirty="0"/>
              <a:t> </a:t>
            </a:r>
            <a:r>
              <a:rPr lang="en-US" altLang="zh-CN" dirty="0"/>
              <a:t>projection</a:t>
            </a:r>
            <a:r>
              <a:rPr lang="zh-CN" altLang="en-US" dirty="0"/>
              <a:t> </a:t>
            </a:r>
            <a:r>
              <a:rPr lang="en-US" altLang="zh-CN" dirty="0"/>
              <a:t>we</a:t>
            </a:r>
            <a:r>
              <a:rPr lang="zh-CN" altLang="en-US" dirty="0"/>
              <a:t> </a:t>
            </a:r>
            <a:r>
              <a:rPr lang="en-US" altLang="zh-CN" dirty="0"/>
              <a:t>should</a:t>
            </a:r>
            <a:r>
              <a:rPr lang="zh-CN" altLang="en-US" dirty="0"/>
              <a:t> </a:t>
            </a:r>
            <a:r>
              <a:rPr lang="en-US" altLang="zh-CN" dirty="0"/>
              <a:t>use in above scenario? </a:t>
            </a:r>
            <a:endParaRPr lang="en-US" dirty="0"/>
          </a:p>
        </p:txBody>
      </p:sp>
      <p:sp>
        <p:nvSpPr>
          <p:cNvPr id="6" name="TextBox 5">
            <a:extLst>
              <a:ext uri="{FF2B5EF4-FFF2-40B4-BE49-F238E27FC236}">
                <a16:creationId xmlns:a16="http://schemas.microsoft.com/office/drawing/2014/main" id="{BE149E20-BA0B-2D98-6082-A87B01A85518}"/>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2943466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947DA25D-FB66-4EB0-938A-983DB254031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Examples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11" name="Rectangle 10"/>
          <p:cNvSpPr/>
          <p:nvPr/>
        </p:nvSpPr>
        <p:spPr>
          <a:xfrm>
            <a:off x="302741" y="1667890"/>
            <a:ext cx="7679724" cy="2246769"/>
          </a:xfrm>
          <a:prstGeom prst="rect">
            <a:avLst/>
          </a:prstGeom>
        </p:spPr>
        <p:txBody>
          <a:bodyPr wrap="square">
            <a:spAutoFit/>
          </a:bodyPr>
          <a:lstStyle/>
          <a:p>
            <a:pPr marL="800100" lvl="1" indent="-342900">
              <a:buFont typeface="Wingdings" panose="05000000000000000000" pitchFamily="2" charset="2"/>
              <a:buChar char="ü"/>
            </a:pPr>
            <a:r>
              <a:rPr lang="en-US" sz="2000" dirty="0"/>
              <a:t>Projected coordinate systems do not use longitude and latitude to measure locations</a:t>
            </a:r>
          </a:p>
          <a:p>
            <a:endParaRPr lang="en-US" sz="2000" dirty="0"/>
          </a:p>
          <a:p>
            <a:pPr marL="800100" lvl="1" indent="-342900">
              <a:buFont typeface="Wingdings" panose="05000000000000000000" pitchFamily="2" charset="2"/>
              <a:buChar char="ü"/>
            </a:pPr>
            <a:r>
              <a:rPr lang="en-US" sz="2000" dirty="0"/>
              <a:t>Instead, they use map units of the projection itself:</a:t>
            </a:r>
          </a:p>
          <a:p>
            <a:endParaRPr lang="en-US" sz="2000" dirty="0"/>
          </a:p>
          <a:p>
            <a:pPr lvl="1"/>
            <a:r>
              <a:rPr lang="en-US" sz="2000" dirty="0"/>
              <a:t>	Meters (UTM, Albers, most others)</a:t>
            </a:r>
          </a:p>
          <a:p>
            <a:pPr lvl="1"/>
            <a:r>
              <a:rPr lang="en-US" sz="2000" dirty="0"/>
              <a:t>	Feet (State Plane, few others)</a:t>
            </a:r>
          </a:p>
        </p:txBody>
      </p:sp>
      <p:sp>
        <p:nvSpPr>
          <p:cNvPr id="8" name="Title 1">
            <a:extLst>
              <a:ext uri="{FF2B5EF4-FFF2-40B4-BE49-F238E27FC236}">
                <a16:creationId xmlns:a16="http://schemas.microsoft.com/office/drawing/2014/main" id="{0E9BE37C-A4E5-4717-B8B8-115CA693B790}"/>
              </a:ext>
            </a:extLst>
          </p:cNvPr>
          <p:cNvSpPr txBox="1">
            <a:spLocks/>
          </p:cNvSpPr>
          <p:nvPr/>
        </p:nvSpPr>
        <p:spPr>
          <a:xfrm>
            <a:off x="152400"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9" name="Straight Connector 8">
            <a:extLst>
              <a:ext uri="{FF2B5EF4-FFF2-40B4-BE49-F238E27FC236}">
                <a16:creationId xmlns:a16="http://schemas.microsoft.com/office/drawing/2014/main" id="{790D58DA-F81D-4A92-B298-614D433C7EC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1BA8F926-0EC4-45B9-925B-AAF329A5EA4B}"/>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694731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7C0F8912-C786-4A33-A4D3-D8985E9F319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86214" y="1569821"/>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Rectangle 3"/>
          <p:cNvSpPr txBox="1">
            <a:spLocks noChangeArrowheads="1"/>
          </p:cNvSpPr>
          <p:nvPr/>
        </p:nvSpPr>
        <p:spPr>
          <a:xfrm>
            <a:off x="312496" y="1550138"/>
            <a:ext cx="7614363" cy="3597298"/>
          </a:xfrm>
          <a:prstGeom prst="rect">
            <a:avLst/>
          </a:prstGeom>
        </p:spPr>
        <p:txBody>
          <a:bodyPr vert="horz" lIns="61738" tIns="30869" rIns="61738" bIns="30869" rtlCol="0">
            <a:no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sz="1600" dirty="0"/>
              <a:t>60 zones</a:t>
            </a:r>
          </a:p>
          <a:p>
            <a:pPr lvl="1">
              <a:buFont typeface="Wingdings" panose="05000000000000000000" pitchFamily="2" charset="2"/>
              <a:buChar char="ü"/>
            </a:pPr>
            <a:r>
              <a:rPr lang="en-US" sz="1600" dirty="0"/>
              <a:t>Location provided in meters as </a:t>
            </a:r>
            <a:r>
              <a:rPr lang="en-US" sz="1600" b="1" dirty="0">
                <a:solidFill>
                  <a:srgbClr val="E3874F"/>
                </a:solidFill>
              </a:rPr>
              <a:t>Easting</a:t>
            </a:r>
            <a:r>
              <a:rPr lang="en-US" sz="1600" dirty="0"/>
              <a:t> and </a:t>
            </a:r>
            <a:r>
              <a:rPr lang="en-US" sz="1600" b="1" dirty="0">
                <a:solidFill>
                  <a:srgbClr val="E3874F"/>
                </a:solidFill>
              </a:rPr>
              <a:t>Northing</a:t>
            </a:r>
          </a:p>
          <a:p>
            <a:pPr lvl="1">
              <a:buFont typeface="Wingdings" panose="05000000000000000000" pitchFamily="2" charset="2"/>
              <a:buChar char="ü"/>
            </a:pPr>
            <a:r>
              <a:rPr lang="en-US" sz="1600" b="1" dirty="0">
                <a:solidFill>
                  <a:srgbClr val="E3874F"/>
                </a:solidFill>
              </a:rPr>
              <a:t>Northing: </a:t>
            </a:r>
            <a:r>
              <a:rPr lang="en-US" sz="1600" dirty="0"/>
              <a:t>meters north of equator </a:t>
            </a:r>
          </a:p>
          <a:p>
            <a:pPr lvl="2">
              <a:buFont typeface="Arial" panose="020B0604020202020204" pitchFamily="34" charset="0"/>
              <a:buChar char="•"/>
            </a:pPr>
            <a:r>
              <a:rPr lang="en-US" dirty="0"/>
              <a:t>In northern hemisphere, equator is assigned a value of 0 meters, add as you go up</a:t>
            </a:r>
          </a:p>
          <a:p>
            <a:pPr lvl="2">
              <a:buFont typeface="Arial" panose="020B0604020202020204" pitchFamily="34" charset="0"/>
              <a:buChar char="•"/>
            </a:pPr>
            <a:r>
              <a:rPr lang="en-US" dirty="0"/>
              <a:t>In southern hemisphere, equator is assigned a value of 10,000,000 meters, subtract as you go down</a:t>
            </a:r>
          </a:p>
          <a:p>
            <a:pPr lvl="1">
              <a:buFont typeface="Wingdings" panose="05000000000000000000" pitchFamily="2" charset="2"/>
              <a:buChar char="ü"/>
            </a:pPr>
            <a:r>
              <a:rPr lang="en-US" sz="1600" b="1" dirty="0">
                <a:solidFill>
                  <a:srgbClr val="E3874F"/>
                </a:solidFill>
              </a:rPr>
              <a:t>Easting: </a:t>
            </a:r>
            <a:r>
              <a:rPr lang="en-US" sz="1600" dirty="0"/>
              <a:t>distance from central meridian in UTM zone</a:t>
            </a:r>
          </a:p>
          <a:p>
            <a:pPr lvl="2">
              <a:buFont typeface="Arial" panose="020B0604020202020204" pitchFamily="34" charset="0"/>
              <a:buChar char="•"/>
            </a:pPr>
            <a:r>
              <a:rPr lang="en-US" dirty="0"/>
              <a:t>Central meridian is assigned a value of 500,000 meters</a:t>
            </a:r>
          </a:p>
          <a:p>
            <a:pPr lvl="2">
              <a:buFont typeface="Arial" panose="020B0604020202020204" pitchFamily="34" charset="0"/>
              <a:buChar char="•"/>
            </a:pPr>
            <a:r>
              <a:rPr lang="en-US" dirty="0"/>
              <a:t>Add as you go east</a:t>
            </a:r>
          </a:p>
          <a:p>
            <a:pPr lvl="2">
              <a:buFont typeface="Arial" panose="020B0604020202020204" pitchFamily="34" charset="0"/>
              <a:buChar char="•"/>
            </a:pPr>
            <a:r>
              <a:rPr lang="en-US" dirty="0"/>
              <a:t>Subtract as you go west</a:t>
            </a:r>
          </a:p>
        </p:txBody>
      </p:sp>
      <p:sp>
        <p:nvSpPr>
          <p:cNvPr id="3" name="AutoShape 6" descr="data:image/png;base64,iVBORw0KGgoAAAANSUhEUgAAAJwAAAEwCAMAAAB1z+heAAAAeFBMVEX///8AAACMjIyvr6+zs7M1NTXm5ub5+fm8vLxLS0t+fn7g4ODj4+MkJCTKysru7u7CwsIqKip1dXWEhISUlJShoaEWFhYeHh5paWn09PSampowMDDw8PDOzs6enp4+Pj5VVVVHR0dubm7Y2NgNDQ1gYGBTU1M0NDQ+Q6/PAAAPiklEQVR4nO2dCXuqvBKAE5aAgICgrSjqadH2///DmwlbAsGy5Cs55zpPXQoBXochmQxhgrDGgvBmb2gp+w2F2yNNZU/hjLUhhsT4t+Di+s20TAehwrLoZ2ZarmWSZt1acPaVvm2pQVAqDyHvRD8Nx3TvrhntULluNbjb5UQJ0Smk36Mj8gL6eQbo6lW+rQRnZ6lDARgUpRLgbsT3yW1NOGSZAOeX/6T0tLpGBfeRel76sSoc2Ts8nJskCOlyWhFK8htKCPzzxk6rQXSBgyvySO3qQXyyQUyD7OLYVa/ybSW4U/2WeEmGkBXRr/tqUbNuLbhflBfcXFkKFwTKUPqyFM40pYszerWwT4u+PgvqH9BXefF0Lhgz4v+LLJVwliVdDPXMkX6+pfR7lBLk4gxVFTdX1dAiESIcre8pgcsDkjdwEQkyYS0AUO8k3xoVnBVuUdOqsE18grJthHIUHx1Ea3HCllE436/3NRvOwPhP7F5cF1lufMfYFdaCP3Wgisu86rRa7iHk4cjeS/0YX2lLc/wu0Duif3TZNUVh4h2yZXCFfYhT2j06Pvb0nX7/k/fhXJPUp4lq+M7D+RGKEvjqBSRly2zqvaJ9CgpP/WVwMSbICUhIyXJCr1gXC3DgQ+2QF0VpCxceDO60HnY7o4QLvAqOlqHfN7aNg0VwBFfOuFufTrqjDpx9sW/nuhw9MDGSFo5qKUwruJSVr+GouTrtPufAHeyiOWgpMb5w6w16WsGdb04rVDn+nWkEu5YVF1f34aFziBI/uBFa3sWouFonD12p1x8tgmv6um09t+E9YIf2fuAzq35DWVkXWfl7KBwqTFSgkH5mmRlAeYt1lgrYJal/4ky42pac+hQg+2v6bn6QeXAtCNdCNMDKZB5cewq5FkJ9WGMWHGf8nOaai0SZzILjqo3W5trqRZnMgbO4Cpf3SmKs2H+aA+di0nznvRJ+uRKZA8driNeciyNJ6QUyAy66H9p/OJtDTqKuV8hkBhzh3SPBExbb1+UyA06oMgRPWGxfl8sMOKGyFfsQG3URJpA5cHx53uYQ+tgoQGplOlyGueuho7nk5iCFMiPKJHgfnd6X2sZ/OtxGOHWdfqva6MF0uC8h/ibanGLPZDJcKtZlHc3lWN7JnieT4ToVbcfmSKf/ukyWwnU0tzLcXoTr2Fyg1KebCmeJnedelEmpTzcVruuzdaNMSn26pXBdza0K1z1tHZvrnfZFMhGuZ/C9yOZeoU83Ea5XVfQimyodzqVwPc3pBNe1uTXhQhyKC3qaO+AMqZKJcD2vox9N/1rtrmGvbP8+xEadq74UrmdzOsH1NXdbC+7Sczr6NnfY+kuhapkG19eK5N6Xuk7ONLi+PfVtTmEnZymcTHPawEnuGq4F169gZZpT1j2cBCdpmiQ212viZsskOEmjLtGcuh7YUjiJzekDp7XmJDa3DpwsIC3RnBDQXiRT4GShfNnoCGUd62lw/T6pbFyJsr7rUjiJzekDp7XmZDanDZzWmtPG5g73flUi05yyln8CnDRqKR0FpiqYMwFO2ixJx8+pCkkshZPZnDZwWmtOanO6wGmtOV1sTlp9STX3JEZn7s6PDOVvxpgbs+PgYrcY6PLJR7tCFzK0JKOHYDRrZiKMXPkQ3jlwBf4w5OXk44Q3f4jxtpW4nNVQ2zDZj2nhpHCnnS3KB8b4WwontTn0hbcYv3109rKNkW8ctjB+2B81PGac5hy8vU3TXPGBZSMlAmq3JBkDNh7ulMYDMRC5zUFM5ZBKVvlpdxT1cjgmUzQ3FN0EMNWaYzLB5objwmVVMlJ+WXPTZCncsM0pkClwslivXHOKhuWOh5MPBZLbnDikaLaMh5MPohp4kkRN6HU8nNyOBp4k0QNOa83JbU4TOK0197K5n+Vlc6K8bG6u/Cs2Jx09rYfm/K3U0Riwuc+HiqcPRsOl8hDDgOYiJbeYRsMNxD8GbE7N/a+lcAOa0wNuwOb0gNNacy+bG1NQJi+bG1NQJi+bG1NQJi+bG1NQJi+bG1NQJi+bG1NQJn+/zUU+uylS5SEJfN9XeZNkGG6MzZG95+0JMpMyDwlOPc+TDYFSDjdGcyYlsUz0hrisGxLpDzH7DZsD7dLX5a38ITUcPhwI5Mc50r/tFR0x/f62DRE5nKbmK1mguQquFmzb9u5EFRliAolUzsjI4RanDXnPqHZJc1/3N2yuA2c3H2md5SW2qBGybC9VchU1cDM014dzTTfl4Jobd79hc9UF0YFjp9VP4LR+Rg4tX59WdXCj6rnrbndt/7NLm6MXhOGjcHumfMfPS4x29QXRJJFatW31fnhyYtW2NVEFN21kVz7qOdfoh/EbPJz1u7mCzz/C83BF+jS3rzTr8OMhLe7h44/pgn++sbj0tA5cEJGSx5df/txc+Sf7EEVCPcYk0lJzJCXgbDta2pzPp26TyKpw+anqoehoc/nHJtXW5hyfBEGgqc0xOhI4WmouO6Q43XzkWtocvVptFJ1yLTVH4d6YJ6ujzZHUQRvI2aqj5lBxqXK2amhzjeinOYOQd+jgvRMtba4R/TQHc0IwyTS0ucJyvcSykkTPFiJi2xh62lzpz9FKWEvNQR5oax9paHNwdNOyIO+vjpprRD+bM0i0qyphHTWX1cErHW3Or59p0ENznYFWVhWOH7A5NekFx4+fEzJukPPtqc2pybzxT47ZLBIPXQpdRh6KcCSN3pGTDratq8Kx3teTtlUPOB1tjnWqYZIJHTXHwhG+o8844RYuCogflIEc/TTnYmwYZdhVQ5sLrbQKbeqnOSo+eZzhNqV+Nsckj6z7cNv6y3BCejfHtIwEvKIhm1OS5m08HJ8Y77CPK39NrjlFCfLGw3HlThh/3J7FShSlFpwFx8nr+dYR8vdpbuoz1ZNkFlzkVzLUtq4JZ3mlDLatmpxW/TRHJdxu7Nt5qJ7bqJmJdALcLmlBfJjlLLQGNOfcRic5UAXHPy5F+xDb4T7EwGNY/yUcEeHC/WDvayBc9ltw6OCiEMZg6pIjh4dz6uQUOmquCYHpmJfJMSuHTUfNEQwDarcD9dwKcOKEUNWbTHPKJoiaAMfnzwzqmyTynIeKptaaAtemCzx93mC67Hd5PbdyzkMSH2FcSaBRzkPhoP5wrGRtuOzwxJ9bG+7pKDBt4LSxOT4B3XUfDPYhZPk4/3M4bjhu5KWDNqduFqFJcJJmScsc1uHWRm6sUQ5rDo71IWBUvj6aa/sGz+5DqEnNMBmuTW7x7A6OmqQWk+G4tCDmGds7eR9CTcgVZCLcXzE/BFhVBhNnajQ/RA23h2o228vvt64FVyW9O5XN2MD91rUmTKkO7FXuuvRqVTiZ9lQ4VjapvA5pPbf2DEJFuYUvvd+6NhzaQX5WNnZEMveSmtgcyES4OkaXv9tnAOxrTlVsDmQiXK/d7NmcqtgcyES41xxz/L6mwP08r+GKcPmfVFRV1+aix6cCqkomwvUmQ+nPpalwfvSpcN0+adfmVp6FVNSMVvO3Frb4WGrH5pz0z3qzkPaec+1obt1peXuPWIk2p/Vsy+q6hdWxpsHF+ML/27G5gy1J0D9bJsN1skZ250Zfd/rxTrro7tzoyjo3INPhxETbouYUJdauZTqc2LsSbU5h5wZkDhxfXtScwv4DyBw43uhFm1M46y3IDDhhULygOZUuOsgMOKGJEmxO5QTaIDPghMad11zXKVgsM+AEt4i3OaWOJsgcOB6C15xSXw5kDhx/+jibU+vLgcyB4z0TTnNqPZLqONPhuJADZ3P8cCI1MguOa/w5zalt9EHmwbVDbVub689hvVjmwbWNf6s5hTN71zIXrm5fW5sT2tX83X6r02zl7E7odWdvy1DyUQQQqp821dYCuKZ9bTQntqvv9LVzuYx9kKysymB1FouhgAvoiVMfzYRr2le3rj7EdhVGvXzHZWo3w91HJZzFKu9Sw4UZo+ItRIVz+iKQ7zCGZZEHv7cOGsyEqytc58+jtL5Ou2p5XlK4JZwDByN7rz5jDO5ysszYp3AJAbgton/F1T2m6Moe6l0CR5uwHF1umxvG+GtjZ7TpEmIkD+KTxOWT4uV+eA9buAzudpfJ8EiKysR4tGycgtLr7Gpz4eiGGG8+vNhF9uaLfhfrEbCrW8zBZTDgjssW6Rjns9Fm6qvh6PeNbd8Wag65hgE85cEPRir2V5nNuVzGPnbheC2c6aJr2uY43MFiapeEjQWtsoXOh6tk4GENk9rcJSqTfzKBRKBemwT0RNddPXQ+QRpBXNDy9GqnZY4eChPvpAhu4DEX5Pt+kzaVCQwZb9OnEvo/ihAhkIMOlvt+wMrk8LUec7kU7j+VF9xc+afgsioXcAZGTS9C+nJyasjUyhFbPnp2O/VwbNwcrR6ck+dB1QYtt+/F3uc5TdiUgENX72/AMa+BAgCYcypYhcrmKqwnUxyo934HDrRDTx1zeyyrgWMvcAHcFeFQuH0nedUEdeACGNd8XzUmTJtvanMyuNU1FzGf0YTWufmEC6EGXN/mKFS4B3/MYZ+bTBM4GNTHcgOH2/Ief7h9gw/omLDOSaz6Do7S8LxKof0SvJGmlF1f9hsKp7Gsfe5e8n8rOXte1XkSchYiLpVf96w8iDgPBEuoTZgvCOPagwwSZLBlPuvgDArtlXlJHg27YyFfHdZ+nf98VFWYCA0G61S/oyJJcUqPhV3keDcIa1Dv8NlgmeKHWwiF18+iRv068nxC7M5TTKxTzZplcBiM1OJyXcdPvFSrdHWOVWp6+ETx5VE3T4EXCQeq/bqje6e//ArznR8diMNV5ctlJ3xsvtdw5XhPKGTHFnocKtXGByTfD4h7ZxOrfyMvyqi6zxDucHF2uZY7Qt0JMcJ7CP0HfKCnyQ1RlKDbESVBU/4Qg7dSblOuLycUKMd7siK32Mo+Kxcr3jfbiPspNVcWYvENl7lCO1iGY8v9LkuUmguaTsIJXPUd/EWWdUh96j54UV2+8lLKbWB947GwU8ugv+P4XMVSGFu7TbufcvsypnG9ULhoH11DagMZXXZ3LbcMXLkmDwcOCP2VtJxLy1nunXgR7PS9Ks/6FV5pRxGs9wW4bXms0HbYcV1m8O027X5QvYJtVEZ6MApxBMvoXh5liUS41O8l3BZGvoL9fYN7Q+2mLg/LNtWQ3XJ9dVqZbTG72yILF+zJu+paaLaJTe64qAkUH1mQOW0nM8nf36tbRichOFiN2Tyy5WyOB8O5X7nyzKCrbco5IFA7TwRTFxyLHQOF32WSjHob6hO2x+UExptbc/oopkoPeECyk5fOesRSaWd6SBw/mHXTVGkYopX/AXhItat9r3bIAAAAAElFTkSuQmCC"/>
          <p:cNvSpPr>
            <a:spLocks noChangeAspect="1" noChangeArrowheads="1"/>
          </p:cNvSpPr>
          <p:nvPr/>
        </p:nvSpPr>
        <p:spPr bwMode="auto">
          <a:xfrm>
            <a:off x="5194143" y="4247696"/>
            <a:ext cx="205794" cy="2057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1738" tIns="30869" rIns="61738" bIns="30869" numCol="1" anchor="t" anchorCtr="0" compatLnSpc="1">
            <a:prstTxWarp prst="textNoShape">
              <a:avLst/>
            </a:prstTxWarp>
          </a:bodyPr>
          <a:lstStyle/>
          <a:p>
            <a:endParaRPr lang="en-US" sz="1215"/>
          </a:p>
        </p:txBody>
      </p:sp>
      <p:sp>
        <p:nvSpPr>
          <p:cNvPr id="10" name="Title 1">
            <a:extLst>
              <a:ext uri="{FF2B5EF4-FFF2-40B4-BE49-F238E27FC236}">
                <a16:creationId xmlns:a16="http://schemas.microsoft.com/office/drawing/2014/main" id="{E2EFFEF3-D674-4963-B565-E7AF87984FA3}"/>
              </a:ext>
            </a:extLst>
          </p:cNvPr>
          <p:cNvSpPr txBox="1">
            <a:spLocks/>
          </p:cNvSpPr>
          <p:nvPr/>
        </p:nvSpPr>
        <p:spPr>
          <a:xfrm>
            <a:off x="302741" y="1812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1" name="Straight Connector 10">
            <a:extLst>
              <a:ext uri="{FF2B5EF4-FFF2-40B4-BE49-F238E27FC236}">
                <a16:creationId xmlns:a16="http://schemas.microsoft.com/office/drawing/2014/main" id="{45E31194-305A-4941-974C-1A7AAB4EF78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5F8B218-6692-458E-91EA-BABED2AAC2C2}"/>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480014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pic>
        <p:nvPicPr>
          <p:cNvPr id="8" name="Picture 7"/>
          <p:cNvPicPr/>
          <p:nvPr/>
        </p:nvPicPr>
        <p:blipFill>
          <a:blip r:embed="rId3"/>
          <a:stretch>
            <a:fillRect/>
          </a:stretch>
        </p:blipFill>
        <p:spPr>
          <a:xfrm>
            <a:off x="50377" y="1760366"/>
            <a:ext cx="4249445" cy="2668204"/>
          </a:xfrm>
          <a:prstGeom prst="rect">
            <a:avLst/>
          </a:prstGeom>
        </p:spPr>
      </p:pic>
      <p:pic>
        <p:nvPicPr>
          <p:cNvPr id="9" name="Picture 8"/>
          <p:cNvPicPr/>
          <p:nvPr/>
        </p:nvPicPr>
        <p:blipFill>
          <a:blip r:embed="rId4"/>
          <a:stretch>
            <a:fillRect/>
          </a:stretch>
        </p:blipFill>
        <p:spPr>
          <a:xfrm>
            <a:off x="4474939" y="1954370"/>
            <a:ext cx="3624540" cy="2262269"/>
          </a:xfrm>
          <a:prstGeom prst="rect">
            <a:avLst/>
          </a:prstGeom>
        </p:spPr>
      </p:pic>
      <p:sp>
        <p:nvSpPr>
          <p:cNvPr id="10" name="Rectangle 1027">
            <a:extLst>
              <a:ext uri="{FF2B5EF4-FFF2-40B4-BE49-F238E27FC236}">
                <a16:creationId xmlns:a16="http://schemas.microsoft.com/office/drawing/2014/main" id="{99486372-22C0-428B-83EF-CB771BDA407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EBBA0623-973D-4C03-A14B-C6350AAB19A4}"/>
              </a:ext>
            </a:extLst>
          </p:cNvPr>
          <p:cNvSpPr txBox="1">
            <a:spLocks/>
          </p:cNvSpPr>
          <p:nvPr/>
        </p:nvSpPr>
        <p:spPr>
          <a:xfrm>
            <a:off x="247135" y="1896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D47C07C3-C910-464A-B18A-93E326DC4FD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AF977B42-6F19-47E1-8D63-5253A6DE7EFC}"/>
              </a:ext>
            </a:extLst>
          </p:cNvPr>
          <p:cNvSpPr>
            <a:spLocks noGrp="1"/>
          </p:cNvSpPr>
          <p:nvPr>
            <p:ph type="sldNum" sz="quarter" idx="12"/>
          </p:nvPr>
        </p:nvSpPr>
        <p:spPr/>
        <p:txBody>
          <a:bodyPr/>
          <a:lstStyle/>
          <a:p>
            <a:fld id="{127DDC20-79C9-9647-820E-6D40A3D210C3}" type="slidenum">
              <a:rPr lang="en-US" smtClean="0"/>
              <a:pPr/>
              <a:t>25</a:t>
            </a:fld>
            <a:endParaRPr lang="en-US"/>
          </a:p>
        </p:txBody>
      </p:sp>
      <p:sp>
        <p:nvSpPr>
          <p:cNvPr id="13" name="TextBox 12">
            <a:extLst>
              <a:ext uri="{FF2B5EF4-FFF2-40B4-BE49-F238E27FC236}">
                <a16:creationId xmlns:a16="http://schemas.microsoft.com/office/drawing/2014/main" id="{7FFCC547-A699-47A5-BF67-EDDCC41BF01D}"/>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181658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6530225" cy="284484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125 geographic zones designed for specific regions in the United States</a:t>
            </a:r>
          </a:p>
          <a:p>
            <a:pPr lvl="1">
              <a:buFont typeface="Wingdings" panose="05000000000000000000" pitchFamily="2" charset="2"/>
              <a:buChar char="ü"/>
            </a:pPr>
            <a:r>
              <a:rPr lang="en-US" dirty="0"/>
              <a:t>Zones follow county boundaries</a:t>
            </a:r>
          </a:p>
          <a:p>
            <a:pPr lvl="1">
              <a:buFont typeface="Wingdings" panose="05000000000000000000" pitchFamily="2" charset="2"/>
              <a:buChar char="ü"/>
            </a:pPr>
            <a:r>
              <a:rPr lang="en-US" dirty="0"/>
              <a:t>city- to county-scale</a:t>
            </a:r>
          </a:p>
          <a:p>
            <a:pPr marL="0" indent="0">
              <a:buNone/>
            </a:pPr>
            <a:endParaRPr lang="en-US" dirty="0">
              <a:solidFill>
                <a:schemeClr val="tx2"/>
              </a:solidFill>
            </a:endParaRPr>
          </a:p>
        </p:txBody>
      </p:sp>
      <p:pic>
        <p:nvPicPr>
          <p:cNvPr id="8194" name="Picture 2" descr="Image result for state plane coordinate system">
            <a:extLst>
              <a:ext uri="{FF2B5EF4-FFF2-40B4-BE49-F238E27FC236}">
                <a16:creationId xmlns:a16="http://schemas.microsoft.com/office/drawing/2014/main" id="{D65021F9-CA2B-46D0-966F-4E892D6ACF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1986" y="3261663"/>
            <a:ext cx="2871788" cy="179308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36B6FDBD-198E-4155-9630-766005C7CEA5}"/>
              </a:ext>
            </a:extLst>
          </p:cNvPr>
          <p:cNvSpPr/>
          <p:nvPr/>
        </p:nvSpPr>
        <p:spPr>
          <a:xfrm>
            <a:off x="1020158" y="4707152"/>
            <a:ext cx="3429000" cy="219291"/>
          </a:xfrm>
          <a:prstGeom prst="rect">
            <a:avLst/>
          </a:prstGeom>
        </p:spPr>
        <p:txBody>
          <a:bodyPr>
            <a:spAutoFit/>
          </a:bodyPr>
          <a:lstStyle/>
          <a:p>
            <a:r>
              <a:rPr lang="en-US" sz="825" dirty="0">
                <a:hlinkClick r:id="rId4"/>
              </a:rPr>
              <a:t>https://www.e-education.psu.edu/natureofgeoinfo/c2_p26.html</a:t>
            </a:r>
            <a:endParaRPr lang="en-US" sz="8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26</a:t>
            </a:fld>
            <a:endParaRPr lang="en-US"/>
          </a:p>
        </p:txBody>
      </p:sp>
    </p:spTree>
    <p:extLst>
      <p:ext uri="{BB962C8B-B14F-4D97-AF65-F5344CB8AC3E}">
        <p14:creationId xmlns:p14="http://schemas.microsoft.com/office/powerpoint/2010/main" val="1118588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7836954" cy="629325"/>
          </a:xfrm>
          <a:prstGeom prst="rect">
            <a:avLst/>
          </a:prstGeom>
        </p:spPr>
        <p:txBody>
          <a:bodyPr vert="horz" lIns="51449" tIns="25724" rIns="51449" bIns="25724" rtlCol="0">
            <a:normAutofit fontScale="92500" lnSpcReduction="1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Transverse Mercator projection (for states with long north-south axis) </a:t>
            </a:r>
          </a:p>
          <a:p>
            <a:pPr lvl="1">
              <a:buFont typeface="Wingdings" panose="05000000000000000000" pitchFamily="2" charset="2"/>
              <a:buChar char="ü"/>
            </a:pPr>
            <a:r>
              <a:rPr lang="en-US" dirty="0"/>
              <a:t>Lambert conformal conic projection (for states with long east-west axis)</a:t>
            </a:r>
          </a:p>
          <a:p>
            <a:pPr marL="0" indent="0">
              <a:buNone/>
            </a:pPr>
            <a:endParaRPr lang="en-US" dirty="0">
              <a:solidFill>
                <a:schemeClr val="tx2"/>
              </a:solidFill>
            </a:endParaRPr>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27</a:t>
            </a:fld>
            <a:endParaRPr lang="en-US"/>
          </a:p>
        </p:txBody>
      </p:sp>
      <p:pic>
        <p:nvPicPr>
          <p:cNvPr id="9" name="Picture 8" descr="Diagram&#10;&#10;Description automatically generated">
            <a:extLst>
              <a:ext uri="{FF2B5EF4-FFF2-40B4-BE49-F238E27FC236}">
                <a16:creationId xmlns:a16="http://schemas.microsoft.com/office/drawing/2014/main" id="{A398956F-3C88-466E-94BD-D9CAC8379493}"/>
              </a:ext>
            </a:extLst>
          </p:cNvPr>
          <p:cNvPicPr>
            <a:picLocks noChangeAspect="1"/>
          </p:cNvPicPr>
          <p:nvPr/>
        </p:nvPicPr>
        <p:blipFill>
          <a:blip r:embed="rId3"/>
          <a:stretch>
            <a:fillRect/>
          </a:stretch>
        </p:blipFill>
        <p:spPr>
          <a:xfrm>
            <a:off x="4248041" y="2531723"/>
            <a:ext cx="3169239" cy="2319603"/>
          </a:xfrm>
          <a:prstGeom prst="rect">
            <a:avLst/>
          </a:prstGeom>
        </p:spPr>
      </p:pic>
      <p:sp>
        <p:nvSpPr>
          <p:cNvPr id="16" name="TextBox 15">
            <a:extLst>
              <a:ext uri="{FF2B5EF4-FFF2-40B4-BE49-F238E27FC236}">
                <a16:creationId xmlns:a16="http://schemas.microsoft.com/office/drawing/2014/main" id="{5FFA3C2C-4824-4770-B9CA-0D7F1CB40060}"/>
              </a:ext>
            </a:extLst>
          </p:cNvPr>
          <p:cNvSpPr txBox="1"/>
          <p:nvPr/>
        </p:nvSpPr>
        <p:spPr>
          <a:xfrm>
            <a:off x="4594931" y="4749718"/>
            <a:ext cx="2605969" cy="369332"/>
          </a:xfrm>
          <a:prstGeom prst="rect">
            <a:avLst/>
          </a:prstGeom>
          <a:noFill/>
        </p:spPr>
        <p:txBody>
          <a:bodyPr wrap="square">
            <a:spAutoFit/>
          </a:bodyPr>
          <a:lstStyle/>
          <a:p>
            <a:r>
              <a:rPr lang="en-US" dirty="0"/>
              <a:t>Lambert conformal conic</a:t>
            </a:r>
          </a:p>
        </p:txBody>
      </p:sp>
      <p:pic>
        <p:nvPicPr>
          <p:cNvPr id="12" name="Picture 11" descr="Diagram, engineering drawing&#10;&#10;Description automatically generated">
            <a:extLst>
              <a:ext uri="{FF2B5EF4-FFF2-40B4-BE49-F238E27FC236}">
                <a16:creationId xmlns:a16="http://schemas.microsoft.com/office/drawing/2014/main" id="{B0629C80-CD48-4381-9DD1-9282CD95D655}"/>
              </a:ext>
            </a:extLst>
          </p:cNvPr>
          <p:cNvPicPr>
            <a:picLocks noChangeAspect="1"/>
          </p:cNvPicPr>
          <p:nvPr/>
        </p:nvPicPr>
        <p:blipFill>
          <a:blip r:embed="rId4"/>
          <a:stretch>
            <a:fillRect/>
          </a:stretch>
        </p:blipFill>
        <p:spPr>
          <a:xfrm>
            <a:off x="531844" y="2503259"/>
            <a:ext cx="3308478" cy="2348067"/>
          </a:xfrm>
          <a:prstGeom prst="rect">
            <a:avLst/>
          </a:prstGeom>
        </p:spPr>
      </p:pic>
      <p:sp>
        <p:nvSpPr>
          <p:cNvPr id="17" name="TextBox 16">
            <a:extLst>
              <a:ext uri="{FF2B5EF4-FFF2-40B4-BE49-F238E27FC236}">
                <a16:creationId xmlns:a16="http://schemas.microsoft.com/office/drawing/2014/main" id="{D489E261-A5AA-48E4-8876-2D156FF01FF8}"/>
              </a:ext>
            </a:extLst>
          </p:cNvPr>
          <p:cNvSpPr txBox="1"/>
          <p:nvPr/>
        </p:nvSpPr>
        <p:spPr>
          <a:xfrm>
            <a:off x="990597" y="4775510"/>
            <a:ext cx="2605969" cy="369332"/>
          </a:xfrm>
          <a:prstGeom prst="rect">
            <a:avLst/>
          </a:prstGeom>
          <a:noFill/>
        </p:spPr>
        <p:txBody>
          <a:bodyPr wrap="square">
            <a:spAutoFit/>
          </a:bodyPr>
          <a:lstStyle/>
          <a:p>
            <a:r>
              <a:rPr lang="en-US" dirty="0"/>
              <a:t>Transverse Mercator</a:t>
            </a:r>
          </a:p>
        </p:txBody>
      </p:sp>
      <p:sp>
        <p:nvSpPr>
          <p:cNvPr id="18" name="TextBox 17">
            <a:extLst>
              <a:ext uri="{FF2B5EF4-FFF2-40B4-BE49-F238E27FC236}">
                <a16:creationId xmlns:a16="http://schemas.microsoft.com/office/drawing/2014/main" id="{2934D5A3-2016-49CA-8F3D-F4D6FC9212DD}"/>
              </a:ext>
            </a:extLst>
          </p:cNvPr>
          <p:cNvSpPr txBox="1"/>
          <p:nvPr/>
        </p:nvSpPr>
        <p:spPr>
          <a:xfrm>
            <a:off x="3462680" y="489727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25420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6530225" cy="284484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The zones may change!</a:t>
            </a:r>
          </a:p>
          <a:p>
            <a:pPr marL="0" indent="0">
              <a:buNone/>
            </a:pPr>
            <a:endParaRPr lang="en-US" dirty="0">
              <a:solidFill>
                <a:schemeClr val="tx2"/>
              </a:solidFill>
            </a:endParaRPr>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28</a:t>
            </a:fld>
            <a:endParaRPr lang="en-US"/>
          </a:p>
        </p:txBody>
      </p:sp>
      <p:pic>
        <p:nvPicPr>
          <p:cNvPr id="5" name="Picture 4" descr="Diagram&#10;&#10;Description automatically generated">
            <a:extLst>
              <a:ext uri="{FF2B5EF4-FFF2-40B4-BE49-F238E27FC236}">
                <a16:creationId xmlns:a16="http://schemas.microsoft.com/office/drawing/2014/main" id="{4A6C90AF-40C5-4C42-A8DD-720EBD346397}"/>
              </a:ext>
            </a:extLst>
          </p:cNvPr>
          <p:cNvPicPr>
            <a:picLocks noChangeAspect="1"/>
          </p:cNvPicPr>
          <p:nvPr/>
        </p:nvPicPr>
        <p:blipFill>
          <a:blip r:embed="rId3"/>
          <a:stretch>
            <a:fillRect/>
          </a:stretch>
        </p:blipFill>
        <p:spPr>
          <a:xfrm>
            <a:off x="2169123" y="2249700"/>
            <a:ext cx="3891354" cy="2666462"/>
          </a:xfrm>
          <a:prstGeom prst="rect">
            <a:avLst/>
          </a:prstGeom>
        </p:spPr>
      </p:pic>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01732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268530"/>
            <a:ext cx="4764559" cy="3143450"/>
          </a:xfrm>
          <a:prstGeom prst="rect">
            <a:avLst/>
          </a:prstGeom>
        </p:spPr>
        <p:txBody>
          <a:bodyPr vert="horz" lIns="91440" tIns="45720" rIns="91440" bIns="45720" rtlCol="0">
            <a:normAutofit fontScale="925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It is not a coordinate system, but used widely for land parcels since 1800s</a:t>
            </a:r>
          </a:p>
          <a:p>
            <a:pPr lvl="1">
              <a:lnSpc>
                <a:spcPct val="90000"/>
              </a:lnSpc>
              <a:buFont typeface="Wingdings" panose="05000000000000000000" pitchFamily="2" charset="2"/>
              <a:buChar char="ü"/>
            </a:pPr>
            <a:r>
              <a:rPr lang="en-US" sz="2440" dirty="0"/>
              <a:t>Divided lands by north-south lines, 6 miles apart</a:t>
            </a:r>
          </a:p>
          <a:p>
            <a:pPr lvl="1">
              <a:lnSpc>
                <a:spcPct val="90000"/>
              </a:lnSpc>
              <a:buFont typeface="Wingdings" panose="05000000000000000000" pitchFamily="2" charset="2"/>
              <a:buChar char="ü"/>
            </a:pPr>
            <a:r>
              <a:rPr lang="en-US" sz="2440" dirty="0"/>
              <a:t>East-west lines were surveyed perpendicular to those north-south lines, also at 6 miles intervals</a:t>
            </a:r>
          </a:p>
          <a:p>
            <a:pPr lvl="1">
              <a:lnSpc>
                <a:spcPct val="90000"/>
              </a:lnSpc>
              <a:buFont typeface="Wingdings" panose="05000000000000000000" pitchFamily="2" charset="2"/>
              <a:buChar char="ü"/>
            </a:pPr>
            <a:r>
              <a:rPr lang="en-US" sz="2440" dirty="0"/>
              <a:t>30 states adopted PLSS</a:t>
            </a:r>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29</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11" name="Picture 10" descr="A picture containing table&#10;&#10;Description automatically generated">
            <a:extLst>
              <a:ext uri="{FF2B5EF4-FFF2-40B4-BE49-F238E27FC236}">
                <a16:creationId xmlns:a16="http://schemas.microsoft.com/office/drawing/2014/main" id="{8DEF1450-2A32-45B7-8129-FDB4514317DD}"/>
              </a:ext>
            </a:extLst>
          </p:cNvPr>
          <p:cNvPicPr>
            <a:picLocks noChangeAspect="1"/>
          </p:cNvPicPr>
          <p:nvPr/>
        </p:nvPicPr>
        <p:blipFill>
          <a:blip r:embed="rId3"/>
          <a:stretch>
            <a:fillRect/>
          </a:stretch>
        </p:blipFill>
        <p:spPr>
          <a:xfrm>
            <a:off x="5067299" y="2028839"/>
            <a:ext cx="2859559" cy="2553756"/>
          </a:xfrm>
          <a:prstGeom prst="rect">
            <a:avLst/>
          </a:prstGeom>
        </p:spPr>
      </p:pic>
    </p:spTree>
    <p:extLst>
      <p:ext uri="{BB962C8B-B14F-4D97-AF65-F5344CB8AC3E}">
        <p14:creationId xmlns:p14="http://schemas.microsoft.com/office/powerpoint/2010/main" val="426645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151667"/>
            <a:ext cx="8511059" cy="314345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Place roads, powerlines, and other public services</a:t>
            </a:r>
          </a:p>
          <a:p>
            <a:pPr>
              <a:buFont typeface="Courier New" panose="02070309020205020404" pitchFamily="49" charset="0"/>
              <a:buChar char="o"/>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30</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5" name="Picture 4" descr="A picture containing text, white, tiled&#10;&#10;Description automatically generated">
            <a:extLst>
              <a:ext uri="{FF2B5EF4-FFF2-40B4-BE49-F238E27FC236}">
                <a16:creationId xmlns:a16="http://schemas.microsoft.com/office/drawing/2014/main" id="{BDDA5C05-5773-468B-B8AB-06C1CC28675C}"/>
              </a:ext>
            </a:extLst>
          </p:cNvPr>
          <p:cNvPicPr>
            <a:picLocks noChangeAspect="1"/>
          </p:cNvPicPr>
          <p:nvPr/>
        </p:nvPicPr>
        <p:blipFill>
          <a:blip r:embed="rId3"/>
          <a:stretch>
            <a:fillRect/>
          </a:stretch>
        </p:blipFill>
        <p:spPr>
          <a:xfrm>
            <a:off x="1442524" y="1693615"/>
            <a:ext cx="5553634" cy="3115997"/>
          </a:xfrm>
          <a:prstGeom prst="rect">
            <a:avLst/>
          </a:prstGeom>
        </p:spPr>
      </p:pic>
    </p:spTree>
    <p:extLst>
      <p:ext uri="{BB962C8B-B14F-4D97-AF65-F5344CB8AC3E}">
        <p14:creationId xmlns:p14="http://schemas.microsoft.com/office/powerpoint/2010/main" val="1202943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947DA25D-FB66-4EB0-938A-983DB254031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lnSpc>
                <a:spcPct val="90000"/>
              </a:lnSpc>
              <a:buNone/>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10" name="Rectangle 3"/>
          <p:cNvSpPr txBox="1">
            <a:spLocks noChangeArrowheads="1"/>
          </p:cNvSpPr>
          <p:nvPr/>
        </p:nvSpPr>
        <p:spPr>
          <a:xfrm>
            <a:off x="307619" y="1281106"/>
            <a:ext cx="7845781" cy="3413815"/>
          </a:xfrm>
          <a:prstGeom prst="rect">
            <a:avLst/>
          </a:prstGeom>
        </p:spPr>
        <p:txBody>
          <a:bodyPr vert="horz" lIns="61738" tIns="30869" rIns="61738" bIns="30869" rtlCol="0">
            <a:normAutofit fontScale="92500" lnSpcReduction="1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a:buFont typeface="Courier New" panose="02070309020205020404" pitchFamily="49" charset="0"/>
              <a:buChar char="o"/>
            </a:pPr>
            <a:r>
              <a:rPr lang="en-US" sz="2000" dirty="0"/>
              <a:t>Projection used is related to type of map and area covered by map (extent)</a:t>
            </a:r>
          </a:p>
          <a:p>
            <a:pPr>
              <a:buFont typeface="Courier New" panose="02070309020205020404" pitchFamily="49" charset="0"/>
              <a:buChar char="o"/>
            </a:pPr>
            <a:r>
              <a:rPr lang="en-US" sz="2000" dirty="0"/>
              <a:t>Continental-scale data (North America)</a:t>
            </a:r>
          </a:p>
          <a:p>
            <a:pPr lvl="1">
              <a:buFont typeface="Wingdings" panose="05000000000000000000" pitchFamily="2" charset="2"/>
              <a:buChar char="ü"/>
            </a:pPr>
            <a:r>
              <a:rPr lang="en-US" dirty="0"/>
              <a:t>Geographic projection (decimal degrees)</a:t>
            </a:r>
          </a:p>
          <a:p>
            <a:pPr lvl="1">
              <a:buFont typeface="Wingdings" panose="05000000000000000000" pitchFamily="2" charset="2"/>
              <a:buChar char="ü"/>
            </a:pPr>
            <a:r>
              <a:rPr lang="en-US" dirty="0"/>
              <a:t>Lambert Conformal Conic </a:t>
            </a:r>
          </a:p>
          <a:p>
            <a:pPr lvl="1">
              <a:buFont typeface="Wingdings" panose="05000000000000000000" pitchFamily="2" charset="2"/>
              <a:buChar char="ü"/>
            </a:pPr>
            <a:r>
              <a:rPr lang="en-US" dirty="0"/>
              <a:t>Albers Equal Area </a:t>
            </a:r>
          </a:p>
          <a:p>
            <a:pPr>
              <a:buFont typeface="Courier New" panose="02070309020205020404" pitchFamily="49" charset="0"/>
              <a:buChar char="o"/>
            </a:pPr>
            <a:r>
              <a:rPr lang="en-US" sz="2000" dirty="0"/>
              <a:t>State-scale data (Arkansas)</a:t>
            </a:r>
          </a:p>
          <a:p>
            <a:pPr lvl="1">
              <a:buFont typeface="Wingdings" panose="05000000000000000000" pitchFamily="2" charset="2"/>
              <a:buChar char="ü"/>
            </a:pPr>
            <a:r>
              <a:rPr lang="en-US" dirty="0"/>
              <a:t>UTM Projection, Zone </a:t>
            </a:r>
            <a:r>
              <a:rPr lang="en-US" dirty="0" err="1"/>
              <a:t>15N</a:t>
            </a:r>
            <a:endParaRPr lang="en-US" dirty="0"/>
          </a:p>
          <a:p>
            <a:pPr marL="274320" lvl="1">
              <a:spcBef>
                <a:spcPts val="1800"/>
              </a:spcBef>
              <a:buFont typeface="Courier New" panose="02070309020205020404" pitchFamily="49" charset="0"/>
              <a:buChar char="o"/>
            </a:pPr>
            <a:r>
              <a:rPr lang="en-US" sz="2100" dirty="0"/>
              <a:t>County, city-scale data</a:t>
            </a:r>
          </a:p>
          <a:p>
            <a:pPr lvl="1">
              <a:buFont typeface="Wingdings" panose="05000000000000000000" pitchFamily="2" charset="2"/>
              <a:buChar char="ü"/>
            </a:pPr>
            <a:r>
              <a:rPr lang="en-US" dirty="0"/>
              <a:t>State Plane</a:t>
            </a:r>
          </a:p>
          <a:p>
            <a:endParaRPr lang="en-US" sz="1620" dirty="0"/>
          </a:p>
        </p:txBody>
      </p:sp>
      <p:sp>
        <p:nvSpPr>
          <p:cNvPr id="8" name="Title 1">
            <a:extLst>
              <a:ext uri="{FF2B5EF4-FFF2-40B4-BE49-F238E27FC236}">
                <a16:creationId xmlns:a16="http://schemas.microsoft.com/office/drawing/2014/main" id="{0E9BE37C-A4E5-4717-B8B8-115CA693B790}"/>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9" name="Straight Connector 8">
            <a:extLst>
              <a:ext uri="{FF2B5EF4-FFF2-40B4-BE49-F238E27FC236}">
                <a16:creationId xmlns:a16="http://schemas.microsoft.com/office/drawing/2014/main" id="{790D58DA-F81D-4A92-B298-614D433C7EC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7C7406D-7C4F-4206-A954-6121BB047A56}"/>
              </a:ext>
            </a:extLst>
          </p:cNvPr>
          <p:cNvSpPr>
            <a:spLocks noGrp="1"/>
          </p:cNvSpPr>
          <p:nvPr>
            <p:ph type="sldNum" sz="quarter" idx="12"/>
          </p:nvPr>
        </p:nvSpPr>
        <p:spPr/>
        <p:txBody>
          <a:bodyPr/>
          <a:lstStyle/>
          <a:p>
            <a:fld id="{127DDC20-79C9-9647-820E-6D40A3D210C3}" type="slidenum">
              <a:rPr lang="en-US" smtClean="0"/>
              <a:pPr/>
              <a:t>31</a:t>
            </a:fld>
            <a:endParaRPr lang="en-US"/>
          </a:p>
        </p:txBody>
      </p:sp>
    </p:spTree>
    <p:extLst>
      <p:ext uri="{BB962C8B-B14F-4D97-AF65-F5344CB8AC3E}">
        <p14:creationId xmlns:p14="http://schemas.microsoft.com/office/powerpoint/2010/main" val="4266795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08701" indent="-308701">
              <a:buFont typeface="+mj-lt"/>
              <a:buAutoNum type="arabicPeriod"/>
            </a:pPr>
            <a:r>
              <a:rPr lang="en-US" dirty="0"/>
              <a:t>Should use same projection and datum for all data</a:t>
            </a:r>
          </a:p>
          <a:p>
            <a:pPr marL="308701" indent="-308701">
              <a:buFont typeface="+mj-lt"/>
              <a:buAutoNum type="arabicPeriod"/>
            </a:pPr>
            <a:r>
              <a:rPr lang="en-US" dirty="0"/>
              <a:t>Use projection appropriate for scale and extent</a:t>
            </a:r>
          </a:p>
          <a:p>
            <a:pPr marL="308701" indent="-308701">
              <a:buFont typeface="+mj-lt"/>
              <a:buAutoNum type="arabicPeriod"/>
            </a:pPr>
            <a:r>
              <a:rPr lang="en-US" dirty="0"/>
              <a:t>Think about what map properties are maintained or distorted</a:t>
            </a:r>
          </a:p>
        </p:txBody>
      </p:sp>
      <p:sp>
        <p:nvSpPr>
          <p:cNvPr id="2" name="Slide Number Placeholder 1">
            <a:extLst>
              <a:ext uri="{FF2B5EF4-FFF2-40B4-BE49-F238E27FC236}">
                <a16:creationId xmlns:a16="http://schemas.microsoft.com/office/drawing/2014/main" id="{9240D4AF-FAC1-4C45-A5C2-6D2801DA8A15}"/>
              </a:ext>
            </a:extLst>
          </p:cNvPr>
          <p:cNvSpPr>
            <a:spLocks noGrp="1"/>
          </p:cNvSpPr>
          <p:nvPr>
            <p:ph type="sldNum" sz="quarter" idx="12"/>
          </p:nvPr>
        </p:nvSpPr>
        <p:spPr/>
        <p:txBody>
          <a:bodyPr/>
          <a:lstStyle/>
          <a:p>
            <a:fld id="{127DDC20-79C9-9647-820E-6D40A3D210C3}" type="slidenum">
              <a:rPr lang="en-US" smtClean="0"/>
              <a:pPr/>
              <a:t>32</a:t>
            </a:fld>
            <a:endParaRPr lang="en-US"/>
          </a:p>
        </p:txBody>
      </p:sp>
      <p:sp>
        <p:nvSpPr>
          <p:cNvPr id="6" name="Title 1">
            <a:extLst>
              <a:ext uri="{FF2B5EF4-FFF2-40B4-BE49-F238E27FC236}">
                <a16:creationId xmlns:a16="http://schemas.microsoft.com/office/drawing/2014/main" id="{FF74196D-2E82-44B0-B604-0B51E1E8585D}"/>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Best Practice</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B37F0C81-4BAB-4395-8FEA-261074EC10C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4760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3" name="TextBox 2"/>
          <p:cNvSpPr txBox="1"/>
          <p:nvPr/>
        </p:nvSpPr>
        <p:spPr>
          <a:xfrm>
            <a:off x="322729" y="1697127"/>
            <a:ext cx="6981872" cy="2031325"/>
          </a:xfrm>
          <a:prstGeom prst="rect">
            <a:avLst/>
          </a:prstGeom>
          <a:noFill/>
        </p:spPr>
        <p:txBody>
          <a:bodyPr wrap="square" rtlCol="0">
            <a:spAutoFit/>
          </a:bodyPr>
          <a:lstStyle/>
          <a:p>
            <a:pPr marL="342900" indent="-342900">
              <a:lnSpc>
                <a:spcPct val="90000"/>
              </a:lnSpc>
              <a:buFont typeface="Courier New" panose="02070309020205020404" pitchFamily="49" charset="0"/>
              <a:buChar char="o"/>
            </a:pPr>
            <a:r>
              <a:rPr lang="en-GB" sz="2000" dirty="0"/>
              <a:t>ArcGIS can apply a projection transformation on-the-fly</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So, it is not always necessary to reproject data</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Okay if you are visualizing the data</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Need to reproject if you plan to perform an analysis </a:t>
            </a:r>
          </a:p>
        </p:txBody>
      </p:sp>
      <p:sp>
        <p:nvSpPr>
          <p:cNvPr id="5" name="Title 1">
            <a:extLst>
              <a:ext uri="{FF2B5EF4-FFF2-40B4-BE49-F238E27FC236}">
                <a16:creationId xmlns:a16="http://schemas.microsoft.com/office/drawing/2014/main" id="{E4CE9013-BE1F-47A9-8CD2-B3210F9E1BC2}"/>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Projection-on-the-Fly (ArcGIS)</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DE46FEB8-9369-46A6-BF64-19532EAF77E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28A5634A-9C5D-4F15-A64E-3FAF2010E9B8}"/>
              </a:ext>
            </a:extLst>
          </p:cNvPr>
          <p:cNvSpPr>
            <a:spLocks noGrp="1"/>
          </p:cNvSpPr>
          <p:nvPr>
            <p:ph type="sldNum" sz="quarter" idx="12"/>
          </p:nvPr>
        </p:nvSpPr>
        <p:spPr/>
        <p:txBody>
          <a:bodyPr/>
          <a:lstStyle/>
          <a:p>
            <a:fld id="{127DDC20-79C9-9647-820E-6D40A3D210C3}" type="slidenum">
              <a:rPr lang="en-US" smtClean="0"/>
              <a:pPr/>
              <a:t>33</a:t>
            </a:fld>
            <a:endParaRPr lang="en-US"/>
          </a:p>
        </p:txBody>
      </p:sp>
    </p:spTree>
    <p:extLst>
      <p:ext uri="{BB962C8B-B14F-4D97-AF65-F5344CB8AC3E}">
        <p14:creationId xmlns:p14="http://schemas.microsoft.com/office/powerpoint/2010/main" val="2820372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34</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Week04_BivariateRegression_Part02</Template>
  <TotalTime>8204</TotalTime>
  <Words>3899</Words>
  <Application>Microsoft Office PowerPoint</Application>
  <PresentationFormat>Custom</PresentationFormat>
  <Paragraphs>500</Paragraphs>
  <Slides>34</Slides>
  <Notes>29</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34</vt:i4>
      </vt:variant>
    </vt:vector>
  </HeadingPairs>
  <TitlesOfParts>
    <vt:vector size="45" baseType="lpstr">
      <vt:lpstr>Arial</vt:lpstr>
      <vt:lpstr>Arial Black</vt:lpstr>
      <vt:lpstr>Calibri</vt:lpstr>
      <vt:lpstr>Courier New</vt:lpstr>
      <vt:lpstr>Roboto</vt:lpstr>
      <vt:lpstr>Source Sans Pro</vt:lpstr>
      <vt:lpstr>Wingdings</vt:lpstr>
      <vt:lpstr>Wingdings 2</vt:lpstr>
      <vt:lpstr>DividendVTI</vt:lpstr>
      <vt:lpstr>1_DividendVTI</vt:lpstr>
      <vt:lpstr>2_DividendVTI</vt:lpstr>
      <vt:lpstr>WEEK 03  Projection</vt:lpstr>
      <vt:lpstr>2.1  KEY ASSUMPTION</vt:lpstr>
      <vt:lpstr>PowerPoint Presentation</vt:lpstr>
      <vt:lpstr>MAP PROJECTION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Scenarios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454</cp:revision>
  <cp:lastPrinted>2020-03-26T12:59:04Z</cp:lastPrinted>
  <dcterms:created xsi:type="dcterms:W3CDTF">2020-03-24T14:51:54Z</dcterms:created>
  <dcterms:modified xsi:type="dcterms:W3CDTF">2025-09-01T20:33:53Z</dcterms:modified>
</cp:coreProperties>
</file>