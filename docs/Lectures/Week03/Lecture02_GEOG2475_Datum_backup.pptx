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69"/>
  </p:notesMasterIdLst>
  <p:sldIdLst>
    <p:sldId id="914" r:id="rId4"/>
    <p:sldId id="915" r:id="rId5"/>
    <p:sldId id="617" r:id="rId6"/>
    <p:sldId id="260" r:id="rId7"/>
    <p:sldId id="281" r:id="rId8"/>
    <p:sldId id="619" r:id="rId9"/>
    <p:sldId id="618" r:id="rId10"/>
    <p:sldId id="604" r:id="rId11"/>
    <p:sldId id="653" r:id="rId12"/>
    <p:sldId id="654" r:id="rId13"/>
    <p:sldId id="655" r:id="rId14"/>
    <p:sldId id="605" r:id="rId15"/>
    <p:sldId id="916" r:id="rId16"/>
    <p:sldId id="918" r:id="rId17"/>
    <p:sldId id="919" r:id="rId18"/>
    <p:sldId id="920" r:id="rId19"/>
    <p:sldId id="921" r:id="rId20"/>
    <p:sldId id="637" r:id="rId21"/>
    <p:sldId id="288" r:id="rId22"/>
    <p:sldId id="620" r:id="rId23"/>
    <p:sldId id="638" r:id="rId24"/>
    <p:sldId id="922" r:id="rId25"/>
    <p:sldId id="917" r:id="rId26"/>
    <p:sldId id="640" r:id="rId27"/>
    <p:sldId id="296" r:id="rId28"/>
    <p:sldId id="608" r:id="rId29"/>
    <p:sldId id="622" r:id="rId30"/>
    <p:sldId id="609" r:id="rId31"/>
    <p:sldId id="297" r:id="rId32"/>
    <p:sldId id="611" r:id="rId33"/>
    <p:sldId id="623" r:id="rId34"/>
    <p:sldId id="299" r:id="rId35"/>
    <p:sldId id="295" r:id="rId36"/>
    <p:sldId id="639" r:id="rId37"/>
    <p:sldId id="643" r:id="rId38"/>
    <p:sldId id="268" r:id="rId39"/>
    <p:sldId id="644" r:id="rId40"/>
    <p:sldId id="633" r:id="rId41"/>
    <p:sldId id="311" r:id="rId42"/>
    <p:sldId id="375" r:id="rId43"/>
    <p:sldId id="273" r:id="rId44"/>
    <p:sldId id="272" r:id="rId45"/>
    <p:sldId id="652" r:id="rId46"/>
    <p:sldId id="330" r:id="rId47"/>
    <p:sldId id="305" r:id="rId48"/>
    <p:sldId id="323" r:id="rId49"/>
    <p:sldId id="319" r:id="rId50"/>
    <p:sldId id="651" r:id="rId51"/>
    <p:sldId id="329" r:id="rId52"/>
    <p:sldId id="308" r:id="rId53"/>
    <p:sldId id="613" r:id="rId54"/>
    <p:sldId id="310" r:id="rId55"/>
    <p:sldId id="923" r:id="rId56"/>
    <p:sldId id="625" r:id="rId57"/>
    <p:sldId id="276" r:id="rId58"/>
    <p:sldId id="615" r:id="rId59"/>
    <p:sldId id="635" r:id="rId60"/>
    <p:sldId id="647" r:id="rId61"/>
    <p:sldId id="648" r:id="rId62"/>
    <p:sldId id="649" r:id="rId63"/>
    <p:sldId id="650" r:id="rId64"/>
    <p:sldId id="612" r:id="rId65"/>
    <p:sldId id="312" r:id="rId66"/>
    <p:sldId id="313" r:id="rId67"/>
    <p:sldId id="270" r:id="rId68"/>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432" autoAdjust="0"/>
  </p:normalViewPr>
  <p:slideViewPr>
    <p:cSldViewPr snapToGrid="0" snapToObjects="1">
      <p:cViewPr varScale="1">
        <p:scale>
          <a:sx n="113" d="100"/>
          <a:sy n="113" d="100"/>
        </p:scale>
        <p:origin x="1878" y="96"/>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5834EA-327D-45DD-98AB-07FE2DC7700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8FB469D-1A78-42B1-A58E-7A72D53631FC}">
      <dgm:prSet custT="1"/>
      <dgm:spPr/>
      <dgm:t>
        <a:bodyPr/>
        <a:lstStyle/>
        <a:p>
          <a:r>
            <a:rPr lang="en-US" sz="1800" dirty="0"/>
            <a:t>In geodesy, the geoid is an imaginary sea (mean sea level) that covers the entire Earth</a:t>
          </a:r>
        </a:p>
      </dgm:t>
    </dgm:pt>
    <dgm:pt modelId="{0372EF15-20EF-4398-8CCA-179783FAEE2A}" type="parTrans" cxnId="{D93FF82C-5CCD-4CCF-AA77-B252A4248F8A}">
      <dgm:prSet/>
      <dgm:spPr/>
      <dgm:t>
        <a:bodyPr/>
        <a:lstStyle/>
        <a:p>
          <a:endParaRPr lang="en-US"/>
        </a:p>
      </dgm:t>
    </dgm:pt>
    <dgm:pt modelId="{16A2E504-B63D-4959-9132-37DF9F61991C}" type="sibTrans" cxnId="{D93FF82C-5CCD-4CCF-AA77-B252A4248F8A}">
      <dgm:prSet/>
      <dgm:spPr/>
      <dgm:t>
        <a:bodyPr/>
        <a:lstStyle/>
        <a:p>
          <a:endParaRPr lang="en-US"/>
        </a:p>
      </dgm:t>
    </dgm:pt>
    <dgm:pt modelId="{74D99BED-F0EE-4C1E-83AA-904B30C44494}">
      <dgm:prSet custT="1"/>
      <dgm:spPr/>
      <dgm:t>
        <a:bodyPr/>
        <a:lstStyle/>
        <a:p>
          <a:r>
            <a:rPr lang="en-US" sz="1800" dirty="0"/>
            <a:t>It is not affected by wind, waves, the Moon, or forces other than Earth’s gravity. .</a:t>
          </a:r>
        </a:p>
      </dgm:t>
    </dgm:pt>
    <dgm:pt modelId="{9D6A5FC4-6686-41F4-AE44-19FC36C9B09C}" type="parTrans" cxnId="{9557528C-F2D5-4B77-AE4C-96C485E4791A}">
      <dgm:prSet/>
      <dgm:spPr/>
      <dgm:t>
        <a:bodyPr/>
        <a:lstStyle/>
        <a:p>
          <a:endParaRPr lang="en-US"/>
        </a:p>
      </dgm:t>
    </dgm:pt>
    <dgm:pt modelId="{EAA11220-777B-4B22-9E15-25F09C8809C5}" type="sibTrans" cxnId="{9557528C-F2D5-4B77-AE4C-96C485E4791A}">
      <dgm:prSet/>
      <dgm:spPr/>
      <dgm:t>
        <a:bodyPr/>
        <a:lstStyle/>
        <a:p>
          <a:endParaRPr lang="en-US"/>
        </a:p>
      </dgm:t>
    </dgm:pt>
    <dgm:pt modelId="{2722C20B-E4A0-4060-83C2-C2780A959189}" type="pres">
      <dgm:prSet presAssocID="{135834EA-327D-45DD-98AB-07FE2DC7700D}" presName="linear" presStyleCnt="0">
        <dgm:presLayoutVars>
          <dgm:animLvl val="lvl"/>
          <dgm:resizeHandles val="exact"/>
        </dgm:presLayoutVars>
      </dgm:prSet>
      <dgm:spPr/>
    </dgm:pt>
    <dgm:pt modelId="{72651F47-2E3D-48D3-A8C3-C7C5FD7AA023}" type="pres">
      <dgm:prSet presAssocID="{48FB469D-1A78-42B1-A58E-7A72D53631FC}" presName="parentText" presStyleLbl="node1" presStyleIdx="0" presStyleCnt="2">
        <dgm:presLayoutVars>
          <dgm:chMax val="0"/>
          <dgm:bulletEnabled val="1"/>
        </dgm:presLayoutVars>
      </dgm:prSet>
      <dgm:spPr/>
    </dgm:pt>
    <dgm:pt modelId="{4204E0B9-2EE3-4606-BB7A-545E4E5E4E72}" type="pres">
      <dgm:prSet presAssocID="{16A2E504-B63D-4959-9132-37DF9F61991C}" presName="spacer" presStyleCnt="0"/>
      <dgm:spPr/>
    </dgm:pt>
    <dgm:pt modelId="{79BF11A6-FC7E-4A9F-BE12-DF944A6D0F75}" type="pres">
      <dgm:prSet presAssocID="{74D99BED-F0EE-4C1E-83AA-904B30C44494}" presName="parentText" presStyleLbl="node1" presStyleIdx="1" presStyleCnt="2">
        <dgm:presLayoutVars>
          <dgm:chMax val="0"/>
          <dgm:bulletEnabled val="1"/>
        </dgm:presLayoutVars>
      </dgm:prSet>
      <dgm:spPr/>
    </dgm:pt>
  </dgm:ptLst>
  <dgm:cxnLst>
    <dgm:cxn modelId="{D93FF82C-5CCD-4CCF-AA77-B252A4248F8A}" srcId="{135834EA-327D-45DD-98AB-07FE2DC7700D}" destId="{48FB469D-1A78-42B1-A58E-7A72D53631FC}" srcOrd="0" destOrd="0" parTransId="{0372EF15-20EF-4398-8CCA-179783FAEE2A}" sibTransId="{16A2E504-B63D-4959-9132-37DF9F61991C}"/>
    <dgm:cxn modelId="{30593446-2127-41F1-8381-6E433AB08620}" type="presOf" srcId="{74D99BED-F0EE-4C1E-83AA-904B30C44494}" destId="{79BF11A6-FC7E-4A9F-BE12-DF944A6D0F75}" srcOrd="0" destOrd="0" presId="urn:microsoft.com/office/officeart/2005/8/layout/vList2"/>
    <dgm:cxn modelId="{9557528C-F2D5-4B77-AE4C-96C485E4791A}" srcId="{135834EA-327D-45DD-98AB-07FE2DC7700D}" destId="{74D99BED-F0EE-4C1E-83AA-904B30C44494}" srcOrd="1" destOrd="0" parTransId="{9D6A5FC4-6686-41F4-AE44-19FC36C9B09C}" sibTransId="{EAA11220-777B-4B22-9E15-25F09C8809C5}"/>
    <dgm:cxn modelId="{DA8F798D-0DAB-4E5A-9EC7-117B5278C727}" type="presOf" srcId="{135834EA-327D-45DD-98AB-07FE2DC7700D}" destId="{2722C20B-E4A0-4060-83C2-C2780A959189}" srcOrd="0" destOrd="0" presId="urn:microsoft.com/office/officeart/2005/8/layout/vList2"/>
    <dgm:cxn modelId="{5481CCED-8C8C-4440-AF4A-F44135705F94}" type="presOf" srcId="{48FB469D-1A78-42B1-A58E-7A72D53631FC}" destId="{72651F47-2E3D-48D3-A8C3-C7C5FD7AA023}" srcOrd="0" destOrd="0" presId="urn:microsoft.com/office/officeart/2005/8/layout/vList2"/>
    <dgm:cxn modelId="{5742ABAF-BBCB-4586-9CEA-F18D464D5C0D}" type="presParOf" srcId="{2722C20B-E4A0-4060-83C2-C2780A959189}" destId="{72651F47-2E3D-48D3-A8C3-C7C5FD7AA023}" srcOrd="0" destOrd="0" presId="urn:microsoft.com/office/officeart/2005/8/layout/vList2"/>
    <dgm:cxn modelId="{7E79F552-C376-4919-BC0C-E68E740C7593}" type="presParOf" srcId="{2722C20B-E4A0-4060-83C2-C2780A959189}" destId="{4204E0B9-2EE3-4606-BB7A-545E4E5E4E72}" srcOrd="1" destOrd="0" presId="urn:microsoft.com/office/officeart/2005/8/layout/vList2"/>
    <dgm:cxn modelId="{0A266720-0B79-4A69-952E-8B4C7AE98C5E}" type="presParOf" srcId="{2722C20B-E4A0-4060-83C2-C2780A959189}" destId="{79BF11A6-FC7E-4A9F-BE12-DF944A6D0F75}"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51F47-2E3D-48D3-A8C3-C7C5FD7AA023}">
      <dsp:nvSpPr>
        <dsp:cNvPr id="0" name=""/>
        <dsp:cNvSpPr/>
      </dsp:nvSpPr>
      <dsp:spPr>
        <a:xfrm>
          <a:off x="0" y="5199"/>
          <a:ext cx="4666271" cy="119808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In geodesy, the geoid is an imaginary sea (mean sea level) that covers the entire Earth</a:t>
          </a:r>
        </a:p>
      </dsp:txBody>
      <dsp:txXfrm>
        <a:off x="58485" y="63684"/>
        <a:ext cx="4549301" cy="1081110"/>
      </dsp:txXfrm>
    </dsp:sp>
    <dsp:sp modelId="{79BF11A6-FC7E-4A9F-BE12-DF944A6D0F75}">
      <dsp:nvSpPr>
        <dsp:cNvPr id="0" name=""/>
        <dsp:cNvSpPr/>
      </dsp:nvSpPr>
      <dsp:spPr>
        <a:xfrm>
          <a:off x="0" y="1387600"/>
          <a:ext cx="4666271" cy="119808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It is not affected by wind, waves, the Moon, or forces other than Earth’s gravity. .</a:t>
          </a:r>
        </a:p>
      </dsp:txBody>
      <dsp:txXfrm>
        <a:off x="58485" y="1446085"/>
        <a:ext cx="4549301" cy="10811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57.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58.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59.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60.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38280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All spatial data must be referenced to the surface of the Earth so that they draw at the correct location in the map space. </a:t>
            </a:r>
          </a:p>
          <a:p>
            <a:endParaRPr lang="en-US" baseline="0" dirty="0"/>
          </a:p>
          <a:p>
            <a:r>
              <a:rPr lang="en-US" baseline="0" dirty="0"/>
              <a:t>This means that we need models of the Earth to which we can reference maps and data. </a:t>
            </a:r>
          </a:p>
          <a:p>
            <a:endParaRPr lang="en-US" baseline="0" dirty="0"/>
          </a:p>
          <a:p>
            <a:r>
              <a:rPr lang="en-US" baseline="0" dirty="0"/>
              <a:t>This is a component of the science of geodesy, which relates to measuring the Earth’s shape and positions on it.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4103421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103118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2587384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model the Earth,</a:t>
            </a:r>
            <a:r>
              <a:rPr lang="en-US" baseline="0" dirty="0"/>
              <a:t> simplification is required. </a:t>
            </a:r>
          </a:p>
          <a:p>
            <a:endParaRPr lang="en-US" baseline="0" dirty="0"/>
          </a:p>
          <a:p>
            <a:r>
              <a:rPr lang="en-US" baseline="0" dirty="0"/>
              <a:t>The true Earth surface need to be generalized. First, it is generalized to a geoid. </a:t>
            </a:r>
          </a:p>
          <a:p>
            <a:endParaRPr lang="en-US" baseline="0" dirty="0"/>
          </a:p>
          <a:p>
            <a:r>
              <a:rPr lang="en-US" baseline="0" dirty="0"/>
              <a:t>This is further simplified to an ellipsoid. </a:t>
            </a:r>
          </a:p>
          <a:p>
            <a:endParaRPr lang="en-US" baseline="0" dirty="0"/>
          </a:p>
          <a:p>
            <a:r>
              <a:rPr lang="en-US" baseline="0" dirty="0"/>
              <a:t>We will explore these concepts now.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53068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geoid models the distribution of mass across the Earth, which is not uniform. The Earth is a bumpy surface. </a:t>
            </a:r>
          </a:p>
          <a:p>
            <a:endParaRPr lang="en-US" baseline="0" dirty="0"/>
          </a:p>
          <a:p>
            <a:r>
              <a:rPr lang="en-US" baseline="0" dirty="0"/>
              <a:t>This is partially accomplished by measuring gravitational forces across the globe. </a:t>
            </a:r>
          </a:p>
          <a:p>
            <a:endParaRPr lang="en-US" baseline="0" dirty="0"/>
          </a:p>
          <a:p>
            <a:r>
              <a:rPr lang="en-US" baseline="0" dirty="0"/>
              <a:t>A conceptualization of the geoid is a globe that is fully covered by water or has no continental masses.</a:t>
            </a:r>
          </a:p>
          <a:p>
            <a:endParaRPr lang="en-US" baseline="0" dirty="0"/>
          </a:p>
          <a:p>
            <a:r>
              <a:rPr lang="en-US" baseline="0" dirty="0"/>
              <a:t>Because there are differences in mass and gravitational forces across the globe, the water surface would not be smooth. </a:t>
            </a:r>
          </a:p>
          <a:p>
            <a:endParaRPr lang="en-US" baseline="0" dirty="0"/>
          </a:p>
          <a:p>
            <a:r>
              <a:rPr lang="en-US" baseline="0" dirty="0"/>
              <a:t>Instead, it would be a smoothly undulating shape.</a:t>
            </a:r>
          </a:p>
          <a:p>
            <a:endParaRPr lang="en-US" baseline="0" dirty="0"/>
          </a:p>
          <a:p>
            <a:r>
              <a:rPr lang="en-US" baseline="0" dirty="0"/>
              <a:t>This smoothly undulating shape that takes into account the distribution of mass is called the geoid. </a:t>
            </a:r>
          </a:p>
          <a:p>
            <a:endParaRPr lang="en-US" baseline="0" dirty="0"/>
          </a:p>
          <a:p>
            <a:r>
              <a:rPr lang="en-US" baseline="0" dirty="0"/>
              <a:t>The geoid surface can them be used as a reference for zero elevation.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2983013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geoid</a:t>
            </a:r>
            <a:r>
              <a:rPr lang="en-US" baseline="0" dirty="0"/>
              <a:t> is still a complex shape that cannot be modeled with a simple mathematical equation. </a:t>
            </a:r>
          </a:p>
          <a:p>
            <a:endParaRPr lang="en-US" baseline="0" dirty="0"/>
          </a:p>
          <a:p>
            <a:r>
              <a:rPr lang="en-US" baseline="0" dirty="0"/>
              <a:t>So, it is further simplified to an ellipsoid or spheroid model of the Earth. </a:t>
            </a:r>
          </a:p>
          <a:p>
            <a:endParaRPr lang="en-US" baseline="0" dirty="0"/>
          </a:p>
          <a:p>
            <a:r>
              <a:rPr lang="en-US" baseline="0" dirty="0"/>
              <a:t>This is a mathematical model that approximates the geoid as a smooth surface. Basically, this is a 3D ellipse. </a:t>
            </a:r>
          </a:p>
          <a:p>
            <a:endParaRPr lang="en-US" baseline="0" dirty="0"/>
          </a:p>
          <a:p>
            <a:r>
              <a:rPr lang="en-US" baseline="0" dirty="0"/>
              <a:t>Combining this model with ground survey data allows us to produce </a:t>
            </a:r>
            <a:r>
              <a:rPr lang="en-US" baseline="0" dirty="0" err="1"/>
              <a:t>datums</a:t>
            </a:r>
            <a:r>
              <a:rPr lang="en-US" baseline="0" dirty="0"/>
              <a:t>. </a:t>
            </a:r>
          </a:p>
          <a:p>
            <a:endParaRPr lang="en-US" baseline="0" dirty="0"/>
          </a:p>
          <a:p>
            <a:r>
              <a:rPr lang="en-US" baseline="0" dirty="0"/>
              <a:t>These </a:t>
            </a:r>
            <a:r>
              <a:rPr lang="en-US" baseline="0" dirty="0" err="1"/>
              <a:t>datums</a:t>
            </a:r>
            <a:r>
              <a:rPr lang="en-US" baseline="0" dirty="0"/>
              <a:t> serve as the reference systems by which we represent locations on Earth’s surface. </a:t>
            </a:r>
          </a:p>
          <a:p>
            <a:endParaRPr lang="en-US" baseline="0" dirty="0"/>
          </a:p>
          <a:p>
            <a:r>
              <a:rPr lang="en-US" baseline="0" dirty="0"/>
              <a:t>Our map and geospatial data will be referenced to one of these models.</a:t>
            </a:r>
          </a:p>
          <a:p>
            <a:endParaRPr lang="en-US" baseline="0" dirty="0"/>
          </a:p>
          <a:p>
            <a:r>
              <a:rPr lang="en-US" b="0" i="0" dirty="0">
                <a:solidFill>
                  <a:srgbClr val="000000"/>
                </a:solidFill>
                <a:effectLst/>
                <a:latin typeface="Times New Roman" panose="02020603050405020304" pitchFamily="18" charset="0"/>
              </a:rPr>
              <a:t>The arc lengths may be measured by surface surveys, and the angles from astronomical observations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138182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NGS (National Geodetic Survey),Triangulation survey</a:t>
            </a:r>
          </a:p>
          <a:p>
            <a:r>
              <a:rPr lang="en-US" dirty="0"/>
              <a:t>For the most of the past 150 years, the most accurate observations were referenced to the Sun, stars, or other celestial bodies</a:t>
            </a:r>
          </a:p>
          <a:p>
            <a:r>
              <a:rPr lang="en-US" dirty="0"/>
              <a:t>Every few years</a:t>
            </a:r>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2044195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57932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different</a:t>
            </a:r>
            <a:r>
              <a:rPr lang="en-US" baseline="0" dirty="0"/>
              <a:t> datums by which we reference are horizontal measurements or coordinates on the Earth. </a:t>
            </a:r>
          </a:p>
          <a:p>
            <a:endParaRPr lang="en-US" baseline="0" dirty="0"/>
          </a:p>
          <a:p>
            <a:r>
              <a:rPr lang="en-US" baseline="0" dirty="0"/>
              <a:t>Examples include the North American Datum of 1927 (or NAD27), the North American Datum of 1983 (or NAD83), and the World Geodetic System of 1984 (or WGS83).</a:t>
            </a:r>
          </a:p>
          <a:p>
            <a:endParaRPr lang="en-US" baseline="0" dirty="0"/>
          </a:p>
          <a:p>
            <a:r>
              <a:rPr lang="en-US" baseline="0" dirty="0"/>
              <a:t>In North America, it is common to reference data against NAD83 or WGS84. </a:t>
            </a:r>
          </a:p>
          <a:p>
            <a:endParaRPr lang="en-US" baseline="0" dirty="0"/>
          </a:p>
          <a:p>
            <a:r>
              <a:rPr lang="en-US" baseline="0" dirty="0"/>
              <a:t>Global Navigation Satellite Systems, or GNSS, often make use of WGS84 as a worldwide datum.</a:t>
            </a:r>
          </a:p>
          <a:p>
            <a:endParaRPr lang="en-US" baseline="0" dirty="0"/>
          </a:p>
          <a:p>
            <a:r>
              <a:rPr lang="en-US" baseline="0" dirty="0"/>
              <a:t>Again, think of these as different models of the Earth, all of which are simplifications. </a:t>
            </a:r>
          </a:p>
          <a:p>
            <a:endParaRPr lang="en-US" baseline="0" dirty="0"/>
          </a:p>
          <a:p>
            <a:r>
              <a:rPr lang="en-US" baseline="0" dirty="0"/>
              <a:t>The </a:t>
            </a:r>
            <a:r>
              <a:rPr lang="en-US" baseline="0" dirty="0" err="1"/>
              <a:t>HARN</a:t>
            </a:r>
            <a:r>
              <a:rPr lang="en-US" baseline="0" dirty="0"/>
              <a:t> and subsequent </a:t>
            </a:r>
            <a:r>
              <a:rPr lang="en-US" baseline="0" dirty="0" err="1"/>
              <a:t>NAD83</a:t>
            </a:r>
            <a:r>
              <a:rPr lang="en-US" baseline="0" dirty="0"/>
              <a:t> adjustments are largely satellite-based, including </a:t>
            </a:r>
            <a:r>
              <a:rPr lang="en-US" baseline="0" dirty="0" err="1"/>
              <a:t>WGS84</a:t>
            </a:r>
            <a:r>
              <a:rPr lang="en-US" baseline="0" dirty="0"/>
              <a:t> and </a:t>
            </a:r>
            <a:r>
              <a:rPr lang="en-US" baseline="0" dirty="0" err="1"/>
              <a:t>ITRF</a:t>
            </a:r>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3333175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Tectonic movement, crustal deformation</a:t>
            </a:r>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513487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1837886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Coordinates</a:t>
            </a:r>
            <a:r>
              <a:rPr lang="en-US" baseline="0" dirty="0"/>
              <a:t> on Earth are measured in degree units relative to the center of the Earth. </a:t>
            </a:r>
          </a:p>
          <a:p>
            <a:endParaRPr lang="en-US" baseline="0" dirty="0"/>
          </a:p>
          <a:p>
            <a:r>
              <a:rPr lang="en-US" baseline="0" dirty="0"/>
              <a:t>Latitude is measures as an angle of rise relative to the center of the Earth while longitude represents angles of rotation around the center of the Earth. </a:t>
            </a:r>
          </a:p>
          <a:p>
            <a:endParaRPr lang="en-US" baseline="0" dirty="0"/>
          </a:p>
          <a:p>
            <a:r>
              <a:rPr lang="en-US" baseline="0" dirty="0"/>
              <a:t>Note that it is not easy to make measures of distance using lengths on a spherical surface.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2337622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Latitude measures north to south or up and down. There are 90° of latitude in each hemisphere.</a:t>
            </a:r>
            <a:r>
              <a:rPr lang="en-US" baseline="0" dirty="0"/>
              <a:t> The value increases as you move north or south relative to the equator. The equator has a latitude of </a:t>
            </a:r>
            <a:r>
              <a:rPr lang="en-US" dirty="0"/>
              <a:t>0° and</a:t>
            </a:r>
            <a:r>
              <a:rPr lang="en-US" baseline="0" dirty="0"/>
              <a:t> the poles have a latitude of </a:t>
            </a:r>
            <a:r>
              <a:rPr lang="en-US" dirty="0"/>
              <a:t>90°.</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2762027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Longitude</a:t>
            </a:r>
            <a:r>
              <a:rPr lang="en-US" baseline="0" dirty="0"/>
              <a:t> measures east to west or side to side. There are </a:t>
            </a:r>
            <a:r>
              <a:rPr lang="en-US" sz="1200" dirty="0"/>
              <a:t>180° of longitude in each hemisphere, east and west.</a:t>
            </a:r>
            <a:r>
              <a:rPr lang="en-US" sz="1200" baseline="0" dirty="0"/>
              <a:t> Longitude increases has you move west in the western hemisphere and increase as you move east in the eastern hemisphere. </a:t>
            </a:r>
            <a:r>
              <a:rPr lang="en-US" sz="1200" dirty="0"/>
              <a:t>0°</a:t>
            </a:r>
            <a:r>
              <a:rPr lang="en-US" sz="1200" baseline="0" dirty="0"/>
              <a:t> longitude is refined relative to the prime meridian which passes through Greenwich, England.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It makes sense to use the equator to represent 0° latitude.</a:t>
            </a:r>
            <a:r>
              <a:rPr lang="en-US" sz="1200" baseline="0" dirty="0"/>
              <a:t> The </a:t>
            </a:r>
            <a:r>
              <a:rPr lang="en-US" sz="1200" dirty="0"/>
              <a:t>0° reference for longitude</a:t>
            </a:r>
            <a:r>
              <a:rPr lang="en-US" sz="1200" baseline="0" dirty="0"/>
              <a:t> is somewhat arbitrary.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We can specify the northern or southern hemispheres for latitude by including an “N” or “S” with the measurements. For longitude, we can use “E” or “W”.</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In software, this can be problematic due to the mix of numbers and letters. So, instead we tend to use positive angles to represent the northern or eastern hemispheres and negative angles to represent the southern or western hemispheres.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Coordinates referenced to a datum representing the 3D Earth or globe are known as geographic coordinate systems as opposed to projected coordinate systems, which will be discussed later.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1608188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a:t>
            </a:r>
            <a:r>
              <a:rPr lang="en-US" baseline="0" dirty="0"/>
              <a:t> degree of latitude or longitude can be a large distance. So, in order to provide precise measurements, we need to be able to further divide degrees into smaller units. </a:t>
            </a:r>
          </a:p>
          <a:p>
            <a:endParaRPr lang="en-US" baseline="0" dirty="0"/>
          </a:p>
          <a:p>
            <a:r>
              <a:rPr lang="en-US" baseline="0" dirty="0"/>
              <a:t>A degree can be divided into minutes and second, similar to an hour on a clock. </a:t>
            </a:r>
          </a:p>
          <a:p>
            <a:endParaRPr lang="en-US" baseline="0" dirty="0"/>
          </a:p>
          <a:p>
            <a:r>
              <a:rPr lang="en-US" baseline="0" dirty="0"/>
              <a:t>1 degree equals 60 minutes or 3600 seconds. </a:t>
            </a:r>
          </a:p>
          <a:p>
            <a:endParaRPr lang="en-US" baseline="0" dirty="0"/>
          </a:p>
          <a:p>
            <a:r>
              <a:rPr lang="en-US" baseline="0" dirty="0"/>
              <a:t>We can also use decimal degrees as opposed to minutes and seconds. </a:t>
            </a:r>
          </a:p>
          <a:p>
            <a:endParaRPr lang="en-US" baseline="0" dirty="0"/>
          </a:p>
          <a:p>
            <a:r>
              <a:rPr lang="en-US" baseline="0" dirty="0"/>
              <a:t>It is possible to convert between degrees, minutes, and second and degrees and decimal degrees.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2796412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a:t>
            </a:r>
            <a:r>
              <a:rPr lang="en-US" baseline="0" dirty="0"/>
              <a:t> are some advantages to modeling the Earth as a 3D globe. First, this is an accurate representation in which map features and latitude and longitude lines can be plotted without distortion.</a:t>
            </a:r>
          </a:p>
          <a:p>
            <a:endParaRPr lang="en-US" baseline="0" dirty="0"/>
          </a:p>
          <a:p>
            <a:r>
              <a:rPr lang="en-US" baseline="0" dirty="0"/>
              <a:t>However, there are some disadvantages. Making globes can be expensive. They are also cumbersome to handle and store. It is also not easy to make distance measurements on the curved surface of the globe. Duo to the 3D nature of a globe, it is not possible to view the entirety of Earth’s surface from a single vantage point. </a:t>
            </a:r>
          </a:p>
          <a:p>
            <a:endParaRPr lang="en-US" baseline="0" dirty="0"/>
          </a:p>
          <a:p>
            <a:r>
              <a:rPr lang="en-US" baseline="0" dirty="0"/>
              <a:t>So, we need a means by which to represent the curved, 3D Earth in a flat map space. We do this using projections, which we will discuss next.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1460548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using a the 3D</a:t>
            </a:r>
            <a:r>
              <a:rPr lang="en-US" baseline="0" dirty="0"/>
              <a:t> spherical globe, we can mathematically transform the Earth into a flat map space. </a:t>
            </a:r>
          </a:p>
          <a:p>
            <a:endParaRPr lang="en-US" baseline="0" dirty="0"/>
          </a:p>
          <a:p>
            <a:r>
              <a:rPr lang="en-US" baseline="0" dirty="0"/>
              <a:t>Now, instead of making measurements of distance or length in angles, we can make measurements in length units. </a:t>
            </a:r>
          </a:p>
          <a:p>
            <a:endParaRPr lang="en-US" baseline="0" dirty="0"/>
          </a:p>
          <a:p>
            <a:r>
              <a:rPr lang="en-US" baseline="0" dirty="0"/>
              <a:t>These 2D surfaces are known as projected coordinate systems or map projections. </a:t>
            </a:r>
          </a:p>
          <a:p>
            <a:endParaRPr lang="en-US" baseline="0" dirty="0"/>
          </a:p>
          <a:p>
            <a:r>
              <a:rPr lang="en-US" baseline="0" dirty="0"/>
              <a:t>They allow us to make measurements in a Cartesian coordinate system on a plane. </a:t>
            </a:r>
            <a:r>
              <a:rPr lang="en-US" dirty="0"/>
              <a:t> </a:t>
            </a:r>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21239640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3444649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example of the difference between geographic</a:t>
            </a:r>
            <a:r>
              <a:rPr lang="en-US" baseline="0" dirty="0"/>
              <a:t> and projected coordinate systems. </a:t>
            </a:r>
          </a:p>
          <a:p>
            <a:endParaRPr lang="en-US" baseline="0" dirty="0"/>
          </a:p>
          <a:p>
            <a:r>
              <a:rPr lang="en-US" baseline="0" dirty="0"/>
              <a:t>The globe provides a 3D representation of the Earth where measurements are made in angles. </a:t>
            </a:r>
          </a:p>
          <a:p>
            <a:endParaRPr lang="en-US" baseline="0" dirty="0"/>
          </a:p>
          <a:p>
            <a:r>
              <a:rPr lang="en-US" baseline="0" dirty="0"/>
              <a:t>In contrast, projections are 2D and allow for measurements to be made in Cartesian coordinate space.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850635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Datum and sometimes</a:t>
            </a:r>
            <a:r>
              <a:rPr lang="en-US" baseline="0" dirty="0"/>
              <a:t> </a:t>
            </a:r>
            <a:r>
              <a:rPr lang="en-US" dirty="0"/>
              <a:t>projection</a:t>
            </a:r>
            <a:r>
              <a:rPr lang="en-US" baseline="0" dirty="0"/>
              <a:t> information are associated with maps and geospatial data layers. </a:t>
            </a:r>
          </a:p>
          <a:p>
            <a:endParaRPr lang="en-US" baseline="0" dirty="0"/>
          </a:p>
          <a:p>
            <a:r>
              <a:rPr lang="en-US" baseline="0" dirty="0"/>
              <a:t>In ArcGIS Pro, datum and projection information for a layer can be found in the Source tab. </a:t>
            </a:r>
          </a:p>
          <a:p>
            <a:endParaRPr lang="en-US" baseline="0" dirty="0"/>
          </a:p>
          <a:p>
            <a:r>
              <a:rPr lang="en-US" baseline="0" dirty="0"/>
              <a:t>We will talk about projections later in this module.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428449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10555635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1984136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order to flatten the Earth, coordinates on the globe must be mathematically transformed or moved to a geometric surface that can be flattened. These are called developable surfaces. </a:t>
            </a:r>
          </a:p>
          <a:p>
            <a:endParaRPr lang="en-US" baseline="0" dirty="0"/>
          </a:p>
          <a:p>
            <a:r>
              <a:rPr lang="en-US" baseline="0" dirty="0"/>
              <a:t>The most commonly used surfaces are cylinders, cones, and planes. Cylindrical projections use cylinders, conic projections use cones, and azimuthal projections use planes. </a:t>
            </a:r>
          </a:p>
          <a:p>
            <a:endParaRPr lang="en-US" baseline="0" dirty="0"/>
          </a:p>
          <a:p>
            <a:r>
              <a:rPr lang="en-US" baseline="0" dirty="0"/>
              <a:t>There are other shapes available or shapes can be combined. Here, we will focus on just these most commonly used surfaces. </a:t>
            </a:r>
          </a:p>
          <a:p>
            <a:endParaRPr lang="en-US" baseline="0" dirty="0"/>
          </a:p>
          <a:p>
            <a:r>
              <a:rPr lang="en-US" baseline="0" dirty="0"/>
              <a:t>Note that all three of these surface can be flattened. If you cut a cylinder, it can be folded out to a plane. A cone can be folded out into a fan shape.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40407856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2197338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41904447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curved, 3D surface of the Earth is converted to a</a:t>
            </a:r>
            <a:r>
              <a:rPr lang="en-US" baseline="0" dirty="0"/>
              <a:t> flat space, some distortions will be produced. </a:t>
            </a:r>
          </a:p>
          <a:p>
            <a:endParaRPr lang="en-US" baseline="0" dirty="0"/>
          </a:p>
          <a:p>
            <a:r>
              <a:rPr lang="en-US" baseline="0" dirty="0"/>
              <a:t>It is not possible to convert a curved 3D surface into a flat surface without some distortions. </a:t>
            </a:r>
          </a:p>
          <a:p>
            <a:endParaRPr lang="en-US" baseline="0" dirty="0"/>
          </a:p>
          <a:p>
            <a:r>
              <a:rPr lang="en-US" baseline="0" dirty="0"/>
              <a:t>Specifically, map projections can produce distortions in feature shape, relative area of features, distance between features, and direction between locations. </a:t>
            </a:r>
          </a:p>
          <a:p>
            <a:endParaRPr lang="en-US" baseline="0" dirty="0"/>
          </a:p>
          <a:p>
            <a:r>
              <a:rPr lang="en-US" baseline="0" dirty="0"/>
              <a:t>The type and magnitude of the distortions produced depends on the projection used.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1017020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42</a:t>
            </a:fld>
            <a:endParaRPr lang="en-US"/>
          </a:p>
        </p:txBody>
      </p:sp>
    </p:spTree>
    <p:extLst>
      <p:ext uri="{BB962C8B-B14F-4D97-AF65-F5344CB8AC3E}">
        <p14:creationId xmlns:p14="http://schemas.microsoft.com/office/powerpoint/2010/main" val="3063658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43</a:t>
            </a:fld>
            <a:endParaRPr lang="en-US"/>
          </a:p>
        </p:txBody>
      </p:sp>
    </p:spTree>
    <p:extLst>
      <p:ext uri="{BB962C8B-B14F-4D97-AF65-F5344CB8AC3E}">
        <p14:creationId xmlns:p14="http://schemas.microsoft.com/office/powerpoint/2010/main" val="2257967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broad</a:t>
            </a:r>
            <a:r>
              <a:rPr lang="en-US" baseline="0" dirty="0"/>
              <a:t> types of projections exist based on what map properties are maintained. </a:t>
            </a:r>
          </a:p>
          <a:p>
            <a:endParaRPr lang="en-US" baseline="0" dirty="0"/>
          </a:p>
          <a:p>
            <a:r>
              <a:rPr lang="en-US" baseline="0" dirty="0"/>
              <a:t>Conformal projections maintain local angles and shapes. Equivalent projections maintain areas of features in correct relative size. Both are global properties, or shape or size can be maintained across the entire globe not just for specific areas. Also, these properties are mutually exclusive. Or, you cannot maintain both shape and relative size. </a:t>
            </a:r>
          </a:p>
          <a:p>
            <a:endParaRPr lang="en-US" baseline="0" dirty="0"/>
          </a:p>
          <a:p>
            <a:r>
              <a:rPr lang="en-US" baseline="0" dirty="0"/>
              <a:t>Equidistant projections maintain scale or distance along certain lines while azimuthal projections maintain accurate directions relative to a certain vantage point. Equidistant and azimuthal properties are local properties and may be true only from or to the center of the map projection. You cannot maintain distance or direction between all points in the map space.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44</a:t>
            </a:fld>
            <a:endParaRPr lang="en-US"/>
          </a:p>
        </p:txBody>
      </p:sp>
    </p:spTree>
    <p:extLst>
      <p:ext uri="{BB962C8B-B14F-4D97-AF65-F5344CB8AC3E}">
        <p14:creationId xmlns:p14="http://schemas.microsoft.com/office/powerpoint/2010/main" val="41364832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Mercator projections</a:t>
            </a:r>
            <a:r>
              <a:rPr lang="en-US" baseline="0" dirty="0"/>
              <a:t> are examples of cylindrical projections that are conformal, or maintain shape and local angles. (</a:t>
            </a:r>
            <a:r>
              <a:rPr lang="en-US" b="0" i="0" dirty="0">
                <a:solidFill>
                  <a:srgbClr val="222222"/>
                </a:solidFill>
                <a:effectLst/>
                <a:latin typeface="Roboto"/>
              </a:rPr>
              <a:t>To </a:t>
            </a:r>
            <a:r>
              <a:rPr lang="en-US" b="1" i="0" dirty="0">
                <a:solidFill>
                  <a:srgbClr val="222222"/>
                </a:solidFill>
                <a:effectLst/>
                <a:latin typeface="Roboto"/>
              </a:rPr>
              <a:t>preserve</a:t>
            </a:r>
            <a:r>
              <a:rPr lang="en-US" b="0" i="0" dirty="0">
                <a:solidFill>
                  <a:srgbClr val="222222"/>
                </a:solidFill>
                <a:effectLst/>
                <a:latin typeface="Roboto"/>
              </a:rPr>
              <a:t> individual </a:t>
            </a:r>
            <a:r>
              <a:rPr lang="en-US" b="1" i="0" dirty="0">
                <a:solidFill>
                  <a:srgbClr val="222222"/>
                </a:solidFill>
                <a:effectLst/>
                <a:latin typeface="Roboto"/>
              </a:rPr>
              <a:t>angles</a:t>
            </a:r>
            <a:r>
              <a:rPr lang="en-US" b="0" i="0" dirty="0">
                <a:solidFill>
                  <a:srgbClr val="222222"/>
                </a:solidFill>
                <a:effectLst/>
                <a:latin typeface="Roboto"/>
              </a:rPr>
              <a:t> describing the spatial relationships, a Conformal </a:t>
            </a:r>
            <a:r>
              <a:rPr lang="en-US" b="1" i="0" dirty="0">
                <a:solidFill>
                  <a:srgbClr val="222222"/>
                </a:solidFill>
                <a:effectLst/>
                <a:latin typeface="Roboto"/>
              </a:rPr>
              <a:t>projection</a:t>
            </a:r>
            <a:r>
              <a:rPr lang="en-US" b="0" i="0" dirty="0">
                <a:solidFill>
                  <a:srgbClr val="222222"/>
                </a:solidFill>
                <a:effectLst/>
                <a:latin typeface="Roboto"/>
              </a:rPr>
              <a:t> must show the perpendicular graticule lines intersecting at 90-degree </a:t>
            </a:r>
            <a:r>
              <a:rPr lang="en-US" b="1" i="0" dirty="0">
                <a:solidFill>
                  <a:srgbClr val="222222"/>
                </a:solidFill>
                <a:effectLst/>
                <a:latin typeface="Roboto"/>
              </a:rPr>
              <a:t>angles</a:t>
            </a:r>
            <a:r>
              <a:rPr lang="en-US" b="0" i="0" dirty="0">
                <a:solidFill>
                  <a:srgbClr val="222222"/>
                </a:solidFill>
                <a:effectLst/>
                <a:latin typeface="Roboto"/>
              </a:rPr>
              <a:t> on the map</a:t>
            </a:r>
            <a:r>
              <a:rPr lang="en-US" baseline="0" dirty="0"/>
              <a:t>)</a:t>
            </a:r>
          </a:p>
          <a:p>
            <a:endParaRPr lang="en-US" baseline="0" dirty="0"/>
          </a:p>
          <a:p>
            <a:r>
              <a:rPr lang="en-US" baseline="0" dirty="0"/>
              <a:t>Relative size tends to be heavily distorted. For example, the </a:t>
            </a:r>
            <a:r>
              <a:rPr lang="en-US" baseline="0" dirty="0" err="1"/>
              <a:t>Tissot</a:t>
            </a:r>
            <a:r>
              <a:rPr lang="en-US" baseline="0" dirty="0"/>
              <a:t> Indicatrix suggests that sizes close to the poles are much larger than they should be in comparison to equatorial features. Remember from the example above that Greenland is actually smaller than Australia. </a:t>
            </a:r>
          </a:p>
          <a:p>
            <a:endParaRPr lang="en-US" baseline="0" dirty="0"/>
          </a:p>
          <a:p>
            <a:r>
              <a:rPr lang="en-US" baseline="0" dirty="0"/>
              <a:t>In Mercator projections, parallels and meridians will cross at right-angles.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45</a:t>
            </a:fld>
            <a:endParaRPr lang="en-US"/>
          </a:p>
        </p:txBody>
      </p:sp>
    </p:spTree>
    <p:extLst>
      <p:ext uri="{BB962C8B-B14F-4D97-AF65-F5344CB8AC3E}">
        <p14:creationId xmlns:p14="http://schemas.microsoft.com/office/powerpoint/2010/main" val="16480941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Mercator is a modification of the Mercator projection</a:t>
            </a:r>
            <a:r>
              <a:rPr lang="en-US" baseline="0" dirty="0"/>
              <a:t> that is commonly used in web maps including Bing Maps, </a:t>
            </a:r>
            <a:r>
              <a:rPr lang="en-US" baseline="0" dirty="0" err="1"/>
              <a:t>OpenStreetMap</a:t>
            </a:r>
            <a:r>
              <a:rPr lang="en-US" baseline="0" dirty="0"/>
              <a:t>, Google Maps, MapQuest, and ArcGIS Online.</a:t>
            </a:r>
          </a:p>
          <a:p>
            <a:endParaRPr lang="en-US" baseline="0" dirty="0"/>
          </a:p>
          <a:p>
            <a:r>
              <a:rPr lang="en-US" baseline="0" dirty="0"/>
              <a:t>It uses a true sphere as opposed to a spheroid. </a:t>
            </a:r>
          </a:p>
          <a:p>
            <a:endParaRPr lang="en-US" baseline="0" dirty="0"/>
          </a:p>
          <a:p>
            <a:r>
              <a:rPr lang="en-US" baseline="0" dirty="0"/>
              <a:t>One reason this projection is used on the web is that it is easy to generate tiles from data since latitude and longitude lines intersect at right 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46</a:t>
            </a:fld>
            <a:endParaRPr lang="en-US"/>
          </a:p>
        </p:txBody>
      </p:sp>
    </p:spTree>
    <p:extLst>
      <p:ext uri="{BB962C8B-B14F-4D97-AF65-F5344CB8AC3E}">
        <p14:creationId xmlns:p14="http://schemas.microsoft.com/office/powerpoint/2010/main" val="12185307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Mollweide</a:t>
            </a:r>
            <a:r>
              <a:rPr lang="en-US" baseline="0" dirty="0"/>
              <a:t> is an example of a equivalent projection that maintains relative size or area but distorts shape and local angles. </a:t>
            </a:r>
          </a:p>
          <a:p>
            <a:endParaRPr lang="en-US" baseline="0" dirty="0"/>
          </a:p>
          <a:p>
            <a:r>
              <a:rPr lang="en-US" baseline="0" dirty="0"/>
              <a:t>It is </a:t>
            </a:r>
            <a:r>
              <a:rPr lang="en-US" baseline="0" dirty="0" err="1"/>
              <a:t>pseudosylindrical</a:t>
            </a:r>
            <a:r>
              <a:rPr lang="en-US" baseline="0" dirty="0"/>
              <a:t>, which means that is uses multiple cylinders as opposed to one in an attempt to further minimize distortions.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47</a:t>
            </a:fld>
            <a:endParaRPr lang="en-US"/>
          </a:p>
        </p:txBody>
      </p:sp>
    </p:spTree>
    <p:extLst>
      <p:ext uri="{BB962C8B-B14F-4D97-AF65-F5344CB8AC3E}">
        <p14:creationId xmlns:p14="http://schemas.microsoft.com/office/powerpoint/2010/main" val="33644907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48</a:t>
            </a:fld>
            <a:endParaRPr lang="en-US"/>
          </a:p>
        </p:txBody>
      </p:sp>
    </p:spTree>
    <p:extLst>
      <p:ext uri="{BB962C8B-B14F-4D97-AF65-F5344CB8AC3E}">
        <p14:creationId xmlns:p14="http://schemas.microsoft.com/office/powerpoint/2010/main" val="15938317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discuss continental-scale</a:t>
            </a:r>
            <a:r>
              <a:rPr lang="en-US" baseline="0" dirty="0"/>
              <a:t> projections using the United States as an example.</a:t>
            </a:r>
          </a:p>
          <a:p>
            <a:endParaRPr lang="en-US" baseline="0" dirty="0"/>
          </a:p>
          <a:p>
            <a:r>
              <a:rPr lang="en-US" baseline="0" dirty="0"/>
              <a:t>The first image shows the US as not projected. Or, latitude and longitude are being treated like Cartesian coordinates in flat space. This results in some extreme distortions and should be avoided. </a:t>
            </a:r>
          </a:p>
          <a:p>
            <a:endParaRPr lang="en-US" baseline="0" dirty="0"/>
          </a:p>
          <a:p>
            <a:r>
              <a:rPr lang="en-US" baseline="0" dirty="0"/>
              <a:t>The second image shows a Mercator projection for the US. Here, shape and local angle is maintained but relative size is distorted.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49</a:t>
            </a:fld>
            <a:endParaRPr lang="en-US"/>
          </a:p>
        </p:txBody>
      </p:sp>
    </p:spTree>
    <p:extLst>
      <p:ext uri="{BB962C8B-B14F-4D97-AF65-F5344CB8AC3E}">
        <p14:creationId xmlns:p14="http://schemas.microsoft.com/office/powerpoint/2010/main" val="39875602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maps of the US, I prefer to use Albers Equal Area or Lambert Conformal Conic.</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50</a:t>
            </a:fld>
            <a:endParaRPr lang="en-US"/>
          </a:p>
        </p:txBody>
      </p:sp>
    </p:spTree>
    <p:extLst>
      <p:ext uri="{BB962C8B-B14F-4D97-AF65-F5344CB8AC3E}">
        <p14:creationId xmlns:p14="http://schemas.microsoft.com/office/powerpoint/2010/main" val="22543204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Albers</a:t>
            </a:r>
            <a:r>
              <a:rPr lang="en-US" baseline="0" dirty="0"/>
              <a:t> Equal Area uses a conic developable surface with two standard parallels. It is equivalent, so it maintains relative size but distorts shape and local angles. </a:t>
            </a:r>
          </a:p>
          <a:p>
            <a:endParaRPr lang="en-US" baseline="0" dirty="0"/>
          </a:p>
          <a:p>
            <a:r>
              <a:rPr lang="en-US" baseline="0" dirty="0"/>
              <a:t>However, distortions are generally pretty minimal.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51</a:t>
            </a:fld>
            <a:endParaRPr lang="en-US"/>
          </a:p>
        </p:txBody>
      </p:sp>
    </p:spTree>
    <p:extLst>
      <p:ext uri="{BB962C8B-B14F-4D97-AF65-F5344CB8AC3E}">
        <p14:creationId xmlns:p14="http://schemas.microsoft.com/office/powerpoint/2010/main" val="21228177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Lambert</a:t>
            </a:r>
            <a:r>
              <a:rPr lang="en-US" baseline="0" dirty="0"/>
              <a:t> Conformal Conic also uses a cone with two standard parallels. Since it is conformal it maintains shape and local angles but distorts local size. </a:t>
            </a:r>
          </a:p>
          <a:p>
            <a:endParaRPr lang="en-US" baseline="0" dirty="0"/>
          </a:p>
          <a:p>
            <a:r>
              <a:rPr lang="en-US" baseline="0" dirty="0"/>
              <a:t>However, distortions are minimal.</a:t>
            </a:r>
          </a:p>
          <a:p>
            <a:endParaRPr lang="en-US" baseline="0" dirty="0"/>
          </a:p>
          <a:p>
            <a:r>
              <a:rPr lang="en-US" baseline="0" dirty="0"/>
              <a:t>So, if I want to created a map of the US that maintains relative size, I tend to use Albers Equal Area. If I want to maintain shape, I will use Lambert Conformal Conic.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52</a:t>
            </a:fld>
            <a:endParaRPr lang="en-US"/>
          </a:p>
        </p:txBody>
      </p:sp>
    </p:spTree>
    <p:extLst>
      <p:ext uri="{BB962C8B-B14F-4D97-AF65-F5344CB8AC3E}">
        <p14:creationId xmlns:p14="http://schemas.microsoft.com/office/powerpoint/2010/main" val="5697543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54</a:t>
            </a:fld>
            <a:endParaRPr lang="en-US"/>
          </a:p>
        </p:txBody>
      </p:sp>
    </p:spTree>
    <p:extLst>
      <p:ext uri="{BB962C8B-B14F-4D97-AF65-F5344CB8AC3E}">
        <p14:creationId xmlns:p14="http://schemas.microsoft.com/office/powerpoint/2010/main" val="27442510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a:t>
            </a:r>
            <a:r>
              <a:rPr lang="en-US" baseline="0" dirty="0"/>
              <a:t> now discuss projections that are appropriate at more local scales, such as for states, counties, or cities. </a:t>
            </a:r>
          </a:p>
          <a:p>
            <a:endParaRPr lang="en-US" baseline="0" dirty="0"/>
          </a:p>
          <a:p>
            <a:r>
              <a:rPr lang="en-US" baseline="0" dirty="0"/>
              <a:t>Universal Transverse Mercator is a set of projections that are commonly used at these scales.</a:t>
            </a:r>
          </a:p>
          <a:p>
            <a:endParaRPr lang="en-US" baseline="0" dirty="0"/>
          </a:p>
          <a:p>
            <a:r>
              <a:rPr lang="en-US" baseline="0" dirty="0"/>
              <a:t>This is not one system but a set of systems in which the Earth is broken into 60 zones. </a:t>
            </a:r>
          </a:p>
          <a:p>
            <a:endParaRPr lang="en-US" baseline="0" dirty="0"/>
          </a:p>
          <a:p>
            <a:r>
              <a:rPr lang="en-US" baseline="0" dirty="0"/>
              <a:t>Within each zone coordinates are provided in length units, generally meters, as northing and easting. </a:t>
            </a:r>
          </a:p>
          <a:p>
            <a:endParaRPr lang="en-US" baseline="0" dirty="0"/>
          </a:p>
          <a:p>
            <a:r>
              <a:rPr lang="en-US" baseline="0" dirty="0"/>
              <a:t>Northing measures up and down or north to south. </a:t>
            </a:r>
            <a:r>
              <a:rPr lang="en-US" dirty="0"/>
              <a:t>In the northern hemisphere, the equator is assigned a value of 0 meters, and you add</a:t>
            </a:r>
            <a:r>
              <a:rPr lang="en-US" baseline="0" dirty="0"/>
              <a:t> as you move north</a:t>
            </a:r>
            <a:r>
              <a:rPr lang="en-US" dirty="0"/>
              <a:t>. So, this is</a:t>
            </a:r>
            <a:r>
              <a:rPr lang="en-US" baseline="0" dirty="0"/>
              <a:t> effectively the distance from the equator. </a:t>
            </a:r>
            <a:r>
              <a:rPr lang="en-US" dirty="0"/>
              <a:t>In the southern hemisphere, the equator is assigned a value of 10,000,000 meters, and you</a:t>
            </a:r>
            <a:r>
              <a:rPr lang="en-US" baseline="0" dirty="0"/>
              <a:t> subtract as you move south. </a:t>
            </a:r>
          </a:p>
          <a:p>
            <a:endParaRPr lang="en-US" baseline="0" dirty="0"/>
          </a:p>
          <a:p>
            <a:r>
              <a:rPr lang="en-US" baseline="0" dirty="0"/>
              <a:t>Easting is calculated relative to the central meridian or center line in each zone. The central meridian is assigned a value of 500,000 meters, and you add as you move east of it and subtract if you move west.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55</a:t>
            </a:fld>
            <a:endParaRPr lang="en-US"/>
          </a:p>
        </p:txBody>
      </p:sp>
    </p:spTree>
    <p:extLst>
      <p:ext uri="{BB962C8B-B14F-4D97-AF65-F5344CB8AC3E}">
        <p14:creationId xmlns:p14="http://schemas.microsoft.com/office/powerpoint/2010/main" val="37411259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UTM</a:t>
            </a:r>
            <a:r>
              <a:rPr lang="en-US" baseline="0" dirty="0"/>
              <a:t> systems break the Earth into 60 zones vertically. </a:t>
            </a:r>
          </a:p>
          <a:p>
            <a:endParaRPr lang="en-US" baseline="0" dirty="0"/>
          </a:p>
          <a:p>
            <a:r>
              <a:rPr lang="en-US" baseline="0" dirty="0"/>
              <a:t>Each zone is only appropriate for areas within it. You should not project the entire Earth to a single UTM projection. </a:t>
            </a:r>
          </a:p>
          <a:p>
            <a:endParaRPr lang="en-US" baseline="0" dirty="0"/>
          </a:p>
          <a:p>
            <a:r>
              <a:rPr lang="en-US" baseline="0" dirty="0"/>
              <a:t>Easting values will be defined relative to the central meridian in each zone. </a:t>
            </a:r>
          </a:p>
          <a:p>
            <a:endParaRPr lang="en-US" baseline="0" dirty="0"/>
          </a:p>
          <a:p>
            <a:r>
              <a:rPr lang="en-US" baseline="0" dirty="0"/>
              <a:t>In the US, the zone number increases as you move east and decreases as you move west. </a:t>
            </a:r>
          </a:p>
          <a:p>
            <a:endParaRPr lang="en-US" baseline="0" dirty="0"/>
          </a:p>
          <a:p>
            <a:r>
              <a:rPr lang="en-US" baseline="0" dirty="0"/>
              <a:t>The majority of Arkansas is in UTM Zone 15 North. So, this is a common projection for Arkansas. So, Arkansas generally uses a geographic coordinate system of NAD83 or WGS84 and a projected coordinate system of UTM Zone 15 North. </a:t>
            </a:r>
          </a:p>
          <a:p>
            <a:endParaRPr lang="en-US" baseline="0" dirty="0"/>
          </a:p>
          <a:p>
            <a:r>
              <a:rPr lang="en-US" baseline="0" dirty="0"/>
              <a:t>Some states fit well into a single UTM zone, for example Nevada, Utah, and Alabama. Others do not, such as California or Pennsylvania.</a:t>
            </a:r>
          </a:p>
          <a:p>
            <a:endParaRPr lang="en-US" baseline="0" dirty="0"/>
          </a:p>
          <a:p>
            <a:r>
              <a:rPr lang="en-US" baseline="0" dirty="0"/>
              <a:t>For states that do not fit well into one UTM zone, other projections are generally used to display them. </a:t>
            </a:r>
          </a:p>
        </p:txBody>
      </p:sp>
      <p:sp>
        <p:nvSpPr>
          <p:cNvPr id="4" name="Slide Number Placeholder 3"/>
          <p:cNvSpPr>
            <a:spLocks noGrp="1"/>
          </p:cNvSpPr>
          <p:nvPr>
            <p:ph type="sldNum" sz="quarter" idx="10"/>
          </p:nvPr>
        </p:nvSpPr>
        <p:spPr/>
        <p:txBody>
          <a:bodyPr/>
          <a:lstStyle/>
          <a:p>
            <a:fld id="{01F2A70B-78F2-4DCF-B53B-C990D2FAFB8A}" type="slidenum">
              <a:rPr lang="en-US" smtClean="0"/>
              <a:t>56</a:t>
            </a:fld>
            <a:endParaRPr lang="en-US"/>
          </a:p>
        </p:txBody>
      </p:sp>
    </p:spTree>
    <p:extLst>
      <p:ext uri="{BB962C8B-B14F-4D97-AF65-F5344CB8AC3E}">
        <p14:creationId xmlns:p14="http://schemas.microsoft.com/office/powerpoint/2010/main" val="39781845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57</a:t>
            </a:fld>
            <a:endParaRPr lang="en-US"/>
          </a:p>
        </p:txBody>
      </p:sp>
    </p:spTree>
    <p:extLst>
      <p:ext uri="{BB962C8B-B14F-4D97-AF65-F5344CB8AC3E}">
        <p14:creationId xmlns:p14="http://schemas.microsoft.com/office/powerpoint/2010/main" val="37160581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58</a:t>
            </a:fld>
            <a:endParaRPr lang="en-US"/>
          </a:p>
        </p:txBody>
      </p:sp>
    </p:spTree>
    <p:extLst>
      <p:ext uri="{BB962C8B-B14F-4D97-AF65-F5344CB8AC3E}">
        <p14:creationId xmlns:p14="http://schemas.microsoft.com/office/powerpoint/2010/main" val="40063169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59</a:t>
            </a:fld>
            <a:endParaRPr lang="en-US"/>
          </a:p>
        </p:txBody>
      </p:sp>
    </p:spTree>
    <p:extLst>
      <p:ext uri="{BB962C8B-B14F-4D97-AF65-F5344CB8AC3E}">
        <p14:creationId xmlns:p14="http://schemas.microsoft.com/office/powerpoint/2010/main" val="10002383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60</a:t>
            </a:fld>
            <a:endParaRPr lang="en-US"/>
          </a:p>
        </p:txBody>
      </p:sp>
    </p:spTree>
    <p:extLst>
      <p:ext uri="{BB962C8B-B14F-4D97-AF65-F5344CB8AC3E}">
        <p14:creationId xmlns:p14="http://schemas.microsoft.com/office/powerpoint/2010/main" val="3694762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PLSS is important because:</a:t>
            </a:r>
          </a:p>
          <a:p>
            <a:r>
              <a:rPr lang="en-US" baseline="0" dirty="0"/>
              <a:t>1) The PLSS lines are often property boundaries, they form natural corridors in which to place roads, powerlines, and other public services; they are often evident on the landscape. Many road intersections occur at PLSS corner points, and these can be viewed and referenced on many maps or imagery used for GIS database development efforts. Further, PLSS corners are sometimes resurveyed using high precision methods to provide property line control, particularly when a GIS is to be developed.</a:t>
            </a:r>
          </a:p>
        </p:txBody>
      </p:sp>
      <p:sp>
        <p:nvSpPr>
          <p:cNvPr id="4" name="Slide Number Placeholder 3"/>
          <p:cNvSpPr>
            <a:spLocks noGrp="1"/>
          </p:cNvSpPr>
          <p:nvPr>
            <p:ph type="sldNum" sz="quarter" idx="10"/>
          </p:nvPr>
        </p:nvSpPr>
        <p:spPr/>
        <p:txBody>
          <a:bodyPr/>
          <a:lstStyle/>
          <a:p>
            <a:fld id="{01F2A70B-78F2-4DCF-B53B-C990D2FAFB8A}" type="slidenum">
              <a:rPr lang="en-US" smtClean="0"/>
              <a:t>61</a:t>
            </a:fld>
            <a:endParaRPr lang="en-US"/>
          </a:p>
        </p:txBody>
      </p:sp>
    </p:spTree>
    <p:extLst>
      <p:ext uri="{BB962C8B-B14F-4D97-AF65-F5344CB8AC3E}">
        <p14:creationId xmlns:p14="http://schemas.microsoft.com/office/powerpoint/2010/main" val="19520654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best map projection to use partially depends on the extent being mapped or the scale of the map. </a:t>
            </a:r>
          </a:p>
          <a:p>
            <a:endParaRPr lang="en-US" baseline="0" dirty="0"/>
          </a:p>
          <a:p>
            <a:r>
              <a:rPr lang="en-US" baseline="0" dirty="0"/>
              <a:t>We will now investigate some common map projections that can be used at different scales. </a:t>
            </a:r>
          </a:p>
          <a:p>
            <a:endParaRPr lang="en-US" baseline="0" dirty="0"/>
          </a:p>
          <a:p>
            <a:r>
              <a:rPr lang="en-US" baseline="0" dirty="0"/>
              <a:t>Note that all maps and spatial data layers will be referenced to a datum or geographic coordinate system. </a:t>
            </a:r>
          </a:p>
          <a:p>
            <a:endParaRPr lang="en-US" baseline="0" dirty="0"/>
          </a:p>
          <a:p>
            <a:r>
              <a:rPr lang="en-US" baseline="0" dirty="0"/>
              <a:t>If the map or data have been projected, they will also have a projected coordinate system where measurements are made in length units as opposed to angles.</a:t>
            </a:r>
          </a:p>
          <a:p>
            <a:endParaRPr lang="en-US" baseline="0" dirty="0"/>
          </a:p>
          <a:p>
            <a:r>
              <a:rPr lang="en-US" baseline="0" dirty="0"/>
              <a:t>We will begin with a discussion of some common global-scale projections followed by continent- and sate-scale options.</a:t>
            </a:r>
          </a:p>
        </p:txBody>
      </p:sp>
      <p:sp>
        <p:nvSpPr>
          <p:cNvPr id="4" name="Slide Number Placeholder 3"/>
          <p:cNvSpPr>
            <a:spLocks noGrp="1"/>
          </p:cNvSpPr>
          <p:nvPr>
            <p:ph type="sldNum" sz="quarter" idx="10"/>
          </p:nvPr>
        </p:nvSpPr>
        <p:spPr/>
        <p:txBody>
          <a:bodyPr/>
          <a:lstStyle/>
          <a:p>
            <a:fld id="{01F2A70B-78F2-4DCF-B53B-C990D2FAFB8A}" type="slidenum">
              <a:rPr lang="en-US" smtClean="0"/>
              <a:t>62</a:t>
            </a:fld>
            <a:endParaRPr lang="en-US"/>
          </a:p>
        </p:txBody>
      </p:sp>
    </p:spTree>
    <p:extLst>
      <p:ext uri="{BB962C8B-B14F-4D97-AF65-F5344CB8AC3E}">
        <p14:creationId xmlns:p14="http://schemas.microsoft.com/office/powerpoint/2010/main" val="11700154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a:t>
            </a:r>
            <a:r>
              <a:rPr lang="en-US" baseline="0" dirty="0"/>
              <a:t> best practices for working with projections. </a:t>
            </a:r>
          </a:p>
          <a:p>
            <a:endParaRPr lang="en-US" baseline="0" dirty="0"/>
          </a:p>
          <a:p>
            <a:r>
              <a:rPr lang="en-US" baseline="0" dirty="0"/>
              <a:t>First, it is generally best to use the same projection for all data layers in a map or project to avoid any issues with misalignment.</a:t>
            </a:r>
          </a:p>
          <a:p>
            <a:endParaRPr lang="en-US" baseline="0" dirty="0"/>
          </a:p>
          <a:p>
            <a:r>
              <a:rPr lang="en-US" baseline="0" dirty="0"/>
              <a:t>You should use a projection appropriate for the scale and extent of the map. For example, you would not use a specific UTM zone to project the entire globe. On the other hand, a global projection would not be the best choice for data just within A</a:t>
            </a:r>
            <a:r>
              <a:rPr lang="en-US" altLang="zh-CN" baseline="0" dirty="0"/>
              <a:t>rkansas</a:t>
            </a:r>
            <a:r>
              <a:rPr lang="en-US" baseline="0" dirty="0"/>
              <a:t>. </a:t>
            </a:r>
          </a:p>
          <a:p>
            <a:endParaRPr lang="en-US" baseline="0" dirty="0"/>
          </a:p>
          <a:p>
            <a:r>
              <a:rPr lang="en-US" baseline="0" dirty="0"/>
              <a:t>You should also think about what map properties are maintained or distorted. If you are interested in maintaining relative size, then you should use an equivalent projection.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63</a:t>
            </a:fld>
            <a:endParaRPr lang="en-US"/>
          </a:p>
        </p:txBody>
      </p:sp>
    </p:spTree>
    <p:extLst>
      <p:ext uri="{BB962C8B-B14F-4D97-AF65-F5344CB8AC3E}">
        <p14:creationId xmlns:p14="http://schemas.microsoft.com/office/powerpoint/2010/main" val="28118611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ArcGIS</a:t>
            </a:r>
            <a:r>
              <a:rPr lang="en-US" baseline="0" dirty="0"/>
              <a:t> Pro can apply a projection transformation on-the-fly or in memory. </a:t>
            </a:r>
          </a:p>
          <a:p>
            <a:endParaRPr lang="en-US" baseline="0" dirty="0"/>
          </a:p>
          <a:p>
            <a:r>
              <a:rPr lang="en-US" baseline="0" dirty="0"/>
              <a:t>So, data that are read into a map that are in a different projection than the map can be </a:t>
            </a:r>
            <a:r>
              <a:rPr lang="en-US" baseline="0" dirty="0" err="1"/>
              <a:t>reprojected</a:t>
            </a:r>
            <a:r>
              <a:rPr lang="en-US" baseline="0" dirty="0"/>
              <a:t> to match the map on-the-fly. </a:t>
            </a:r>
          </a:p>
          <a:p>
            <a:endParaRPr lang="en-US" baseline="0" dirty="0"/>
          </a:p>
          <a:p>
            <a:r>
              <a:rPr lang="en-US" baseline="0" dirty="0"/>
              <a:t>So, it is not always necessary to </a:t>
            </a:r>
            <a:r>
              <a:rPr lang="en-US" baseline="0" dirty="0" err="1"/>
              <a:t>reproject</a:t>
            </a:r>
            <a:r>
              <a:rPr lang="en-US" baseline="0" dirty="0"/>
              <a:t> data if you are simply visualizing it or making a map layout. </a:t>
            </a:r>
          </a:p>
          <a:p>
            <a:endParaRPr lang="en-US" baseline="0" dirty="0"/>
          </a:p>
          <a:p>
            <a:r>
              <a:rPr lang="en-US" baseline="0" dirty="0"/>
              <a:t>However, I suggest transforming all data layers into the same projection if you plan to perform spatial analysis.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64</a:t>
            </a:fld>
            <a:endParaRPr lang="en-US"/>
          </a:p>
        </p:txBody>
      </p:sp>
    </p:spTree>
    <p:extLst>
      <p:ext uri="{BB962C8B-B14F-4D97-AF65-F5344CB8AC3E}">
        <p14:creationId xmlns:p14="http://schemas.microsoft.com/office/powerpoint/2010/main" val="17784290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65</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9/1/2025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9/1/2025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9/1/2025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9/1/2025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9/1/2025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9/1/2025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2400"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_Cj1vgmXr5M&amp;ab_channel=NASAGoddard"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commons.wikimedia.org/wiki/File:Geoundnsrp.png" TargetMode="Externa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en.wikipedia.org/wiki/Geoid" TargetMode="External"/><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oid/geoidViewer.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weforum.org/stories/2020/11/50-highest-cities-world-sea-leve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youtube.com/watch?v=kXTHaMY3cVk&amp;t=130s&amp;ab_channel=TheCOMETProgram%2FMetEd"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youtu.be/mE-dyEjaTuY?si=BHJLtAv6R0u6FXP_"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kIID5FDi2JQ"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thetruesize.com/"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7.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hyperlink" Target="https://www.e-education.psu.edu/natureofgeoinfo/c2_p26.html"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59.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dirty="0">
                <a:solidFill>
                  <a:srgbClr val="FFFFFF"/>
                </a:solidFill>
              </a:rPr>
              <a:t>WEEK 03</a:t>
            </a:r>
            <a:br>
              <a:rPr lang="en-US" sz="2700" dirty="0">
                <a:solidFill>
                  <a:srgbClr val="FFFFFF"/>
                </a:solidFill>
              </a:rPr>
            </a:br>
            <a:br>
              <a:rPr lang="en-US" sz="2700" dirty="0">
                <a:solidFill>
                  <a:srgbClr val="FFFFFF"/>
                </a:solidFill>
              </a:rPr>
            </a:br>
            <a:r>
              <a:rPr lang="en-US" sz="2800" dirty="0"/>
              <a:t>Datum and Projection</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2617455"/>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a:solidFill>
                  <a:srgbClr val="FFFFFF"/>
                </a:solidFill>
              </a:rPr>
              <a:t>2.1 </a:t>
            </a:r>
            <a:br>
              <a:rPr lang="en-US" sz="4050">
                <a:solidFill>
                  <a:srgbClr val="FFFFFF"/>
                </a:solidFill>
              </a:rPr>
            </a:br>
            <a:r>
              <a:rPr lang="en-US" sz="4050">
                <a:solidFill>
                  <a:srgbClr val="FFFFFF"/>
                </a:solidFill>
              </a:rPr>
              <a:t>KEY ASSUMPTION</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199939" y="1084588"/>
            <a:ext cx="4861262" cy="3973508"/>
          </a:xfrm>
        </p:spPr>
        <p:txBody>
          <a:bodyPr>
            <a:noAutofit/>
          </a:bodyPr>
          <a:lstStyle/>
          <a:p>
            <a:r>
              <a:rPr lang="en-US" altLang="en-US" sz="1600" dirty="0"/>
              <a:t>Datum</a:t>
            </a:r>
          </a:p>
          <a:p>
            <a:pPr lvl="1"/>
            <a:r>
              <a:rPr lang="en-US" altLang="en-US" sz="1600" dirty="0"/>
              <a:t>Shape of Earth</a:t>
            </a:r>
          </a:p>
          <a:p>
            <a:pPr lvl="1"/>
            <a:r>
              <a:rPr lang="en-US" altLang="en-US" sz="1600" dirty="0"/>
              <a:t>Geoid</a:t>
            </a:r>
          </a:p>
          <a:p>
            <a:r>
              <a:rPr lang="en-US" altLang="en-US" sz="1600" dirty="0"/>
              <a:t>Coordinate system</a:t>
            </a:r>
          </a:p>
          <a:p>
            <a:pPr lvl="1"/>
            <a:r>
              <a:rPr lang="en-US" sz="1600" dirty="0"/>
              <a:t>Geographic coordinate systems</a:t>
            </a:r>
          </a:p>
          <a:p>
            <a:pPr lvl="1"/>
            <a:r>
              <a:rPr lang="en-US" altLang="en-US" sz="1600" dirty="0"/>
              <a:t>Projected coordinate systems</a:t>
            </a:r>
          </a:p>
          <a:p>
            <a:r>
              <a:rPr lang="en-US" altLang="en-US" sz="1600" dirty="0"/>
              <a:t>Projections</a:t>
            </a:r>
          </a:p>
          <a:p>
            <a:pPr lvl="1"/>
            <a:r>
              <a:rPr lang="en-US" sz="1600" dirty="0"/>
              <a:t>Plane projection</a:t>
            </a:r>
          </a:p>
          <a:p>
            <a:pPr lvl="1"/>
            <a:r>
              <a:rPr lang="en-US" altLang="en-US" sz="1600" dirty="0"/>
              <a:t>Conic projection</a:t>
            </a:r>
          </a:p>
          <a:p>
            <a:pPr lvl="1"/>
            <a:r>
              <a:rPr lang="en-US" altLang="en-US" sz="1600" dirty="0"/>
              <a:t>Cylindrical projection</a:t>
            </a:r>
          </a:p>
          <a:p>
            <a:pPr lvl="1"/>
            <a:r>
              <a:rPr lang="en-US" altLang="en-US" sz="1600" dirty="0"/>
              <a:t>Examples: Global, continental, and state scales</a:t>
            </a:r>
          </a:p>
          <a:p>
            <a:pPr lvl="1"/>
            <a:endParaRPr lang="en-US" altLang="en-US" sz="160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0400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753796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27DB8FA9-BDA5-4B3E-BDD4-93B7C42F443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hlinkClick r:id="rId3"/>
              </a:rPr>
              <a:t>Geodesy</a:t>
            </a:r>
            <a:endParaRPr lang="en-US" altLang="en-US" sz="2600" dirty="0"/>
          </a:p>
          <a:p>
            <a:pPr lvl="1">
              <a:buFont typeface="Wingdings" panose="05000000000000000000" pitchFamily="2" charset="2"/>
              <a:buChar char="ü"/>
            </a:pPr>
            <a:r>
              <a:rPr lang="en-US" altLang="en-US" sz="2160" dirty="0"/>
              <a:t>Science of measuring Earth’s shape</a:t>
            </a: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3074" name="Picture 2" descr="File:Geoundnsrp.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0086" y="1978339"/>
            <a:ext cx="2546696" cy="24502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7135" y="4859449"/>
            <a:ext cx="3259226" cy="433196"/>
          </a:xfrm>
          <a:prstGeom prst="rect">
            <a:avLst/>
          </a:prstGeom>
        </p:spPr>
        <p:txBody>
          <a:bodyPr wrap="none">
            <a:spAutoFit/>
          </a:bodyPr>
          <a:lstStyle/>
          <a:p>
            <a:r>
              <a:rPr lang="en-US" sz="1000" dirty="0">
                <a:hlinkClick r:id="rId5"/>
              </a:rPr>
              <a:t>https://commons.wikimedia.org/wiki/File:Geoundnsrp.png</a:t>
            </a:r>
            <a:endParaRPr lang="en-US" sz="1000" dirty="0"/>
          </a:p>
          <a:p>
            <a:endParaRPr lang="en-US" sz="1215" dirty="0"/>
          </a:p>
        </p:txBody>
      </p:sp>
      <p:cxnSp>
        <p:nvCxnSpPr>
          <p:cNvPr id="7" name="Straight Connector 6">
            <a:extLst>
              <a:ext uri="{FF2B5EF4-FFF2-40B4-BE49-F238E27FC236}">
                <a16:creationId xmlns:a16="http://schemas.microsoft.com/office/drawing/2014/main" id="{887169D0-0D27-4724-9609-1F1856F2AFA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3AFA498-9D77-44AF-AA2F-9C61F0248172}"/>
              </a:ext>
            </a:extLst>
          </p:cNvPr>
          <p:cNvSpPr txBox="1">
            <a:spLocks/>
          </p:cNvSpPr>
          <p:nvPr/>
        </p:nvSpPr>
        <p:spPr>
          <a:xfrm>
            <a:off x="104003" y="1813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1D813555-35FD-44B8-90EE-078819E9A143}"/>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2402047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2131519" y="2708588"/>
            <a:ext cx="3966561" cy="1893944"/>
          </a:xfrm>
          <a:prstGeom prst="rect">
            <a:avLst/>
          </a:prstGeom>
        </p:spPr>
      </p:pic>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18533" y="17229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48406186-F2E8-4D8D-97C6-590CE149A3BD}"/>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2979019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0400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pic>
        <p:nvPicPr>
          <p:cNvPr id="14" name="Picture 13">
            <a:extLst>
              <a:ext uri="{FF2B5EF4-FFF2-40B4-BE49-F238E27FC236}">
                <a16:creationId xmlns:a16="http://schemas.microsoft.com/office/drawing/2014/main" id="{1C3836D6-3642-47E5-A9E6-C939910CD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7143" y="2595836"/>
            <a:ext cx="2595311" cy="2210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A37278D-2929-4879-83B7-668DE83FC6F7}"/>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393554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067" y="1060366"/>
            <a:ext cx="6172200" cy="536870"/>
          </a:xfrm>
        </p:spPr>
        <p:txBody>
          <a:bodyPr>
            <a:normAutofit/>
          </a:bodyPr>
          <a:lstStyle/>
          <a:p>
            <a:r>
              <a:rPr lang="en-US" sz="2400" dirty="0">
                <a:solidFill>
                  <a:schemeClr val="tx2"/>
                </a:solidFill>
              </a:rPr>
              <a:t>Modeling the Earth</a:t>
            </a:r>
          </a:p>
        </p:txBody>
      </p:sp>
      <p:sp>
        <p:nvSpPr>
          <p:cNvPr id="6" name="Content Placeholder 2"/>
          <p:cNvSpPr>
            <a:spLocks noGrp="1"/>
          </p:cNvSpPr>
          <p:nvPr>
            <p:ph idx="1"/>
          </p:nvPr>
        </p:nvSpPr>
        <p:spPr>
          <a:xfrm>
            <a:off x="2357797" y="1890227"/>
            <a:ext cx="3685500" cy="2745551"/>
          </a:xfrm>
        </p:spPr>
        <p:txBody>
          <a:bodyPr>
            <a:noAutofit/>
          </a:bodyPr>
          <a:lstStyle/>
          <a:p>
            <a:pPr marL="0" indent="0" algn="ctr">
              <a:buNone/>
            </a:pPr>
            <a:r>
              <a:rPr lang="en-US" sz="2400" dirty="0">
                <a:solidFill>
                  <a:schemeClr val="tx2"/>
                </a:solidFill>
              </a:rPr>
              <a:t>True Earth surface</a:t>
            </a:r>
          </a:p>
          <a:p>
            <a:pPr marL="0" indent="0" algn="ctr">
              <a:buNone/>
            </a:pPr>
            <a:endParaRPr lang="en-US" sz="2400" dirty="0">
              <a:solidFill>
                <a:schemeClr val="tx2"/>
              </a:solidFill>
            </a:endParaRPr>
          </a:p>
          <a:p>
            <a:pPr marL="0" indent="0" algn="ctr">
              <a:buNone/>
            </a:pPr>
            <a:endParaRPr lang="en-US" sz="2400" dirty="0">
              <a:solidFill>
                <a:schemeClr val="tx2"/>
              </a:solidFill>
            </a:endParaRPr>
          </a:p>
          <a:p>
            <a:pPr marL="0" indent="0" algn="ctr">
              <a:buNone/>
            </a:pPr>
            <a:r>
              <a:rPr lang="en-US" sz="2400" dirty="0">
                <a:solidFill>
                  <a:schemeClr val="tx2"/>
                </a:solidFill>
              </a:rPr>
              <a:t>Geoid (Includes ocean)</a:t>
            </a:r>
          </a:p>
          <a:p>
            <a:pPr marL="0" indent="0" algn="ctr">
              <a:buNone/>
            </a:pPr>
            <a:endParaRPr lang="en-US" sz="2400" dirty="0">
              <a:solidFill>
                <a:schemeClr val="tx2"/>
              </a:solidFill>
            </a:endParaRPr>
          </a:p>
          <a:p>
            <a:pPr marL="0" indent="0" algn="ctr">
              <a:buNone/>
            </a:pPr>
            <a:endParaRPr lang="en-US" sz="2400" dirty="0">
              <a:solidFill>
                <a:schemeClr val="tx2"/>
              </a:solidFill>
            </a:endParaRPr>
          </a:p>
          <a:p>
            <a:pPr marL="0" indent="0" algn="ctr">
              <a:buNone/>
            </a:pPr>
            <a:r>
              <a:rPr lang="en-US" sz="2400" dirty="0">
                <a:solidFill>
                  <a:schemeClr val="tx2"/>
                </a:solidFill>
              </a:rPr>
              <a:t>Ellipsoid</a:t>
            </a:r>
          </a:p>
        </p:txBody>
      </p:sp>
      <p:sp>
        <p:nvSpPr>
          <p:cNvPr id="4" name="Slide Number Placeholder 3">
            <a:extLst>
              <a:ext uri="{FF2B5EF4-FFF2-40B4-BE49-F238E27FC236}">
                <a16:creationId xmlns:a16="http://schemas.microsoft.com/office/drawing/2014/main" id="{872E2B27-DDD0-47A6-84AE-FC43F2F3E8E7}"/>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3" name="Down Arrow 2"/>
          <p:cNvSpPr/>
          <p:nvPr/>
        </p:nvSpPr>
        <p:spPr>
          <a:xfrm>
            <a:off x="3899439" y="2192291"/>
            <a:ext cx="602215" cy="790698"/>
          </a:xfrm>
          <a:prstGeom prst="downArrow">
            <a:avLst/>
          </a:prstGeom>
          <a:solidFill>
            <a:schemeClr val="accent5"/>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7" name="Down Arrow 6"/>
          <p:cNvSpPr/>
          <p:nvPr/>
        </p:nvSpPr>
        <p:spPr>
          <a:xfrm>
            <a:off x="3899439" y="3602097"/>
            <a:ext cx="602215" cy="790698"/>
          </a:xfrm>
          <a:prstGeom prst="downArrow">
            <a:avLst/>
          </a:prstGeom>
          <a:solidFill>
            <a:schemeClr val="accent5"/>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cxnSp>
        <p:nvCxnSpPr>
          <p:cNvPr id="9" name="Straight Connector 8">
            <a:extLst>
              <a:ext uri="{FF2B5EF4-FFF2-40B4-BE49-F238E27FC236}">
                <a16:creationId xmlns:a16="http://schemas.microsoft.com/office/drawing/2014/main" id="{4DD5FDEA-7F92-46EF-9DDB-3A4476A840A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8E270F8A-347D-4DA4-84D0-648F79F85F45}"/>
              </a:ext>
            </a:extLst>
          </p:cNvPr>
          <p:cNvSpPr txBox="1">
            <a:spLocks/>
          </p:cNvSpPr>
          <p:nvPr/>
        </p:nvSpPr>
        <p:spPr>
          <a:xfrm>
            <a:off x="237067" y="2069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Earth Model</a:t>
            </a:r>
            <a:endParaRPr lang="en-US" sz="2600" dirty="0">
              <a:solidFill>
                <a:srgbClr val="7030A0"/>
              </a:solidFill>
            </a:endParaRPr>
          </a:p>
        </p:txBody>
      </p:sp>
    </p:spTree>
    <p:extLst>
      <p:ext uri="{BB962C8B-B14F-4D97-AF65-F5344CB8AC3E}">
        <p14:creationId xmlns:p14="http://schemas.microsoft.com/office/powerpoint/2010/main" val="1220890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230" y="4857520"/>
            <a:ext cx="4113728" cy="249684"/>
          </a:xfrm>
          <a:prstGeom prst="rect">
            <a:avLst/>
          </a:prstGeom>
        </p:spPr>
        <p:txBody>
          <a:bodyPr>
            <a:spAutoFit/>
          </a:bodyPr>
          <a:lstStyle/>
          <a:p>
            <a:pPr>
              <a:lnSpc>
                <a:spcPct val="107000"/>
              </a:lnSpc>
              <a:spcAft>
                <a:spcPts val="540"/>
              </a:spcAft>
            </a:pPr>
            <a:r>
              <a:rPr lang="en-US" sz="1000" dirty="0">
                <a:hlinkClick r:id="rId3"/>
              </a:rPr>
              <a:t>https://en.wikipedia.org/wiki/Geoid</a:t>
            </a:r>
            <a:endParaRPr lang="en-US" sz="1000"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376729C-592A-456C-8742-EE7FC5D27C8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3091769-5A78-4A75-99DB-506EEF9ACF66}"/>
              </a:ext>
            </a:extLst>
          </p:cNvPr>
          <p:cNvSpPr txBox="1">
            <a:spLocks/>
          </p:cNvSpPr>
          <p:nvPr/>
        </p:nvSpPr>
        <p:spPr>
          <a:xfrm>
            <a:off x="114300" y="1677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gravity-related vertical reference </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DDA0B7A-1231-4BB4-8A98-0B08770C2378}"/>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8</a:t>
            </a:fld>
            <a:endParaRPr lang="en-US"/>
          </a:p>
        </p:txBody>
      </p:sp>
      <p:sp>
        <p:nvSpPr>
          <p:cNvPr id="6" name="TextBox 5">
            <a:extLst>
              <a:ext uri="{FF2B5EF4-FFF2-40B4-BE49-F238E27FC236}">
                <a16:creationId xmlns:a16="http://schemas.microsoft.com/office/drawing/2014/main" id="{B5B4CAEF-9E5D-65A7-E7B1-ADFB0EF8910B}"/>
              </a:ext>
            </a:extLst>
          </p:cNvPr>
          <p:cNvSpPr txBox="1"/>
          <p:nvPr/>
        </p:nvSpPr>
        <p:spPr>
          <a:xfrm>
            <a:off x="632178" y="2901244"/>
            <a:ext cx="970844" cy="649270"/>
          </a:xfrm>
          <a:prstGeom prst="rect">
            <a:avLst/>
          </a:prstGeom>
          <a:noFill/>
        </p:spPr>
        <p:txBody>
          <a:bodyPr wrap="square" rtlCol="0">
            <a:spAutoFit/>
          </a:bodyPr>
          <a:lstStyle/>
          <a:p>
            <a:endParaRPr lang="en-US" dirty="0"/>
          </a:p>
        </p:txBody>
      </p:sp>
      <p:graphicFrame>
        <p:nvGraphicFramePr>
          <p:cNvPr id="2052" name="TextBox 12">
            <a:extLst>
              <a:ext uri="{FF2B5EF4-FFF2-40B4-BE49-F238E27FC236}">
                <a16:creationId xmlns:a16="http://schemas.microsoft.com/office/drawing/2014/main" id="{9171D8EA-90E9-752E-A668-3C67A32D15B0}"/>
              </a:ext>
            </a:extLst>
          </p:cNvPr>
          <p:cNvGraphicFramePr/>
          <p:nvPr>
            <p:extLst>
              <p:ext uri="{D42A27DB-BD31-4B8C-83A1-F6EECF244321}">
                <p14:modId xmlns:p14="http://schemas.microsoft.com/office/powerpoint/2010/main" val="1318580538"/>
              </p:ext>
            </p:extLst>
          </p:nvPr>
        </p:nvGraphicFramePr>
        <p:xfrm>
          <a:off x="283377" y="1559742"/>
          <a:ext cx="4666271" cy="25908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Picture 18">
            <a:extLst>
              <a:ext uri="{FF2B5EF4-FFF2-40B4-BE49-F238E27FC236}">
                <a16:creationId xmlns:a16="http://schemas.microsoft.com/office/drawing/2014/main" id="{936041FA-F5AC-6F64-95C0-F05301F86021}"/>
              </a:ext>
            </a:extLst>
          </p:cNvPr>
          <p:cNvPicPr>
            <a:picLocks noChangeAspect="1"/>
          </p:cNvPicPr>
          <p:nvPr/>
        </p:nvPicPr>
        <p:blipFill>
          <a:blip r:embed="rId9"/>
          <a:stretch>
            <a:fillRect/>
          </a:stretch>
        </p:blipFill>
        <p:spPr>
          <a:xfrm>
            <a:off x="4942114" y="1368218"/>
            <a:ext cx="3211286" cy="3066052"/>
          </a:xfrm>
          <a:prstGeom prst="rect">
            <a:avLst/>
          </a:prstGeom>
        </p:spPr>
      </p:pic>
    </p:spTree>
    <p:extLst>
      <p:ext uri="{BB962C8B-B14F-4D97-AF65-F5344CB8AC3E}">
        <p14:creationId xmlns:p14="http://schemas.microsoft.com/office/powerpoint/2010/main" val="316266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A7CF6-A01A-9674-9466-7A90338FCA66}"/>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5" name="Title 1">
            <a:extLst>
              <a:ext uri="{FF2B5EF4-FFF2-40B4-BE49-F238E27FC236}">
                <a16:creationId xmlns:a16="http://schemas.microsoft.com/office/drawing/2014/main" id="{797FB215-6895-CDF9-48A8-5E566773035C}"/>
              </a:ext>
            </a:extLst>
          </p:cNvPr>
          <p:cNvSpPr txBox="1">
            <a:spLocks/>
          </p:cNvSpPr>
          <p:nvPr/>
        </p:nvSpPr>
        <p:spPr>
          <a:xfrm>
            <a:off x="152400" y="22454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Height</a:t>
            </a:r>
            <a:endParaRPr lang="en-US" sz="2600" dirty="0">
              <a:solidFill>
                <a:srgbClr val="7030A0"/>
              </a:solidFill>
            </a:endParaRPr>
          </a:p>
        </p:txBody>
      </p:sp>
      <p:pic>
        <p:nvPicPr>
          <p:cNvPr id="7" name="Picture 6">
            <a:extLst>
              <a:ext uri="{FF2B5EF4-FFF2-40B4-BE49-F238E27FC236}">
                <a16:creationId xmlns:a16="http://schemas.microsoft.com/office/drawing/2014/main" id="{537B8E12-E4AF-CC97-4A66-C6A24884362B}"/>
              </a:ext>
            </a:extLst>
          </p:cNvPr>
          <p:cNvPicPr>
            <a:picLocks noChangeAspect="1"/>
          </p:cNvPicPr>
          <p:nvPr/>
        </p:nvPicPr>
        <p:blipFill>
          <a:blip r:embed="rId2"/>
          <a:stretch>
            <a:fillRect/>
          </a:stretch>
        </p:blipFill>
        <p:spPr>
          <a:xfrm>
            <a:off x="1207771" y="1167039"/>
            <a:ext cx="6172743" cy="3502427"/>
          </a:xfrm>
          <a:prstGeom prst="rect">
            <a:avLst/>
          </a:prstGeom>
        </p:spPr>
      </p:pic>
    </p:spTree>
    <p:extLst>
      <p:ext uri="{BB962C8B-B14F-4D97-AF65-F5344CB8AC3E}">
        <p14:creationId xmlns:p14="http://schemas.microsoft.com/office/powerpoint/2010/main" val="143438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9C3AA-7165-CED6-42E1-00B6E54979C6}"/>
              </a:ext>
            </a:extLst>
          </p:cNvPr>
          <p:cNvSpPr>
            <a:spLocks noGrp="1"/>
          </p:cNvSpPr>
          <p:nvPr>
            <p:ph type="title"/>
          </p:nvPr>
        </p:nvSpPr>
        <p:spPr>
          <a:xfrm>
            <a:off x="341494" y="102393"/>
            <a:ext cx="7406640" cy="857250"/>
          </a:xfrm>
        </p:spPr>
        <p:txBody>
          <a:bodyPr>
            <a:normAutofit/>
          </a:bodyPr>
          <a:lstStyle/>
          <a:p>
            <a:pPr defTabSz="411480"/>
            <a:r>
              <a:rPr lang="en-US" sz="3200" dirty="0">
                <a:solidFill>
                  <a:srgbClr val="7030A0"/>
                </a:solidFill>
              </a:rPr>
              <a:t>Geoid height</a:t>
            </a:r>
          </a:p>
        </p:txBody>
      </p:sp>
      <p:sp>
        <p:nvSpPr>
          <p:cNvPr id="4" name="Slide Number Placeholder 3">
            <a:extLst>
              <a:ext uri="{FF2B5EF4-FFF2-40B4-BE49-F238E27FC236}">
                <a16:creationId xmlns:a16="http://schemas.microsoft.com/office/drawing/2014/main" id="{C1A2F9F1-82FA-E2DC-6269-081DE2E76C5B}"/>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6" name="Picture 5">
            <a:hlinkClick r:id="rId2" action="ppaction://hlinkfile"/>
            <a:extLst>
              <a:ext uri="{FF2B5EF4-FFF2-40B4-BE49-F238E27FC236}">
                <a16:creationId xmlns:a16="http://schemas.microsoft.com/office/drawing/2014/main" id="{F2FEE311-EB1F-5CF1-FEAC-DA10291DD8F6}"/>
              </a:ext>
            </a:extLst>
          </p:cNvPr>
          <p:cNvPicPr>
            <a:picLocks noChangeAspect="1"/>
          </p:cNvPicPr>
          <p:nvPr/>
        </p:nvPicPr>
        <p:blipFill>
          <a:blip r:embed="rId3"/>
          <a:stretch>
            <a:fillRect/>
          </a:stretch>
        </p:blipFill>
        <p:spPr>
          <a:xfrm>
            <a:off x="446473" y="1195938"/>
            <a:ext cx="7336654" cy="3154250"/>
          </a:xfrm>
          <a:prstGeom prst="rect">
            <a:avLst/>
          </a:prstGeom>
        </p:spPr>
      </p:pic>
    </p:spTree>
    <p:extLst>
      <p:ext uri="{BB962C8B-B14F-4D97-AF65-F5344CB8AC3E}">
        <p14:creationId xmlns:p14="http://schemas.microsoft.com/office/powerpoint/2010/main" val="3339934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38B9D-CBD8-A1CB-7744-B70E02C30494}"/>
              </a:ext>
            </a:extLst>
          </p:cNvPr>
          <p:cNvSpPr>
            <a:spLocks noGrp="1"/>
          </p:cNvSpPr>
          <p:nvPr>
            <p:ph type="title"/>
          </p:nvPr>
        </p:nvSpPr>
        <p:spPr>
          <a:xfrm>
            <a:off x="411480" y="678860"/>
            <a:ext cx="7313295" cy="575071"/>
          </a:xfrm>
        </p:spPr>
        <p:txBody>
          <a:bodyPr>
            <a:noAutofit/>
          </a:bodyPr>
          <a:lstStyle/>
          <a:p>
            <a:r>
              <a:rPr lang="en-US" sz="2400" dirty="0"/>
              <a:t>What Do We Really Mean by 'Sea Level'? A Journey into the Geoid</a:t>
            </a:r>
          </a:p>
        </p:txBody>
      </p:sp>
      <p:pic>
        <p:nvPicPr>
          <p:cNvPr id="8" name="Content Placeholder 7">
            <a:hlinkClick r:id="rId2"/>
            <a:extLst>
              <a:ext uri="{FF2B5EF4-FFF2-40B4-BE49-F238E27FC236}">
                <a16:creationId xmlns:a16="http://schemas.microsoft.com/office/drawing/2014/main" id="{9D676B93-C055-CC16-0AD3-12D727D60669}"/>
              </a:ext>
            </a:extLst>
          </p:cNvPr>
          <p:cNvPicPr>
            <a:picLocks noGrp="1" noChangeAspect="1"/>
          </p:cNvPicPr>
          <p:nvPr>
            <p:ph idx="1"/>
          </p:nvPr>
        </p:nvPicPr>
        <p:blipFill>
          <a:blip r:embed="rId3"/>
          <a:stretch>
            <a:fillRect/>
          </a:stretch>
        </p:blipFill>
        <p:spPr>
          <a:xfrm>
            <a:off x="392112" y="1635890"/>
            <a:ext cx="7445375" cy="2800086"/>
          </a:xfrm>
        </p:spPr>
      </p:pic>
      <p:sp>
        <p:nvSpPr>
          <p:cNvPr id="4" name="Slide Number Placeholder 3">
            <a:extLst>
              <a:ext uri="{FF2B5EF4-FFF2-40B4-BE49-F238E27FC236}">
                <a16:creationId xmlns:a16="http://schemas.microsoft.com/office/drawing/2014/main" id="{100F7D2D-1A4A-5402-0F05-B2F685731E94}"/>
              </a:ext>
            </a:extLst>
          </p:cNvPr>
          <p:cNvSpPr>
            <a:spLocks noGrp="1"/>
          </p:cNvSpPr>
          <p:nvPr>
            <p:ph type="sldNum" sz="quarter" idx="12"/>
          </p:nvPr>
        </p:nvSpPr>
        <p:spPr/>
        <p:txBody>
          <a:bodyPr/>
          <a:lstStyle/>
          <a:p>
            <a:fld id="{127DDC20-79C9-9647-820E-6D40A3D210C3}" type="slidenum">
              <a:rPr lang="en-US" smtClean="0"/>
              <a:pPr/>
              <a:t>11</a:t>
            </a:fld>
            <a:endParaRPr lang="en-US"/>
          </a:p>
        </p:txBody>
      </p:sp>
    </p:spTree>
    <p:extLst>
      <p:ext uri="{BB962C8B-B14F-4D97-AF65-F5344CB8AC3E}">
        <p14:creationId xmlns:p14="http://schemas.microsoft.com/office/powerpoint/2010/main" val="3477827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7">
            <a:extLst>
              <a:ext uri="{FF2B5EF4-FFF2-40B4-BE49-F238E27FC236}">
                <a16:creationId xmlns:a16="http://schemas.microsoft.com/office/drawing/2014/main" id="{9B279F75-48B4-4031-87F7-D061E46BE766}"/>
              </a:ext>
            </a:extLst>
          </p:cNvPr>
          <p:cNvSpPr txBox="1">
            <a:spLocks noChangeArrowheads="1"/>
          </p:cNvSpPr>
          <p:nvPr/>
        </p:nvSpPr>
        <p:spPr>
          <a:xfrm>
            <a:off x="302741" y="1029962"/>
            <a:ext cx="7679724" cy="2034514"/>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We need a mathematically simple model of the Earth’s Surface</a:t>
            </a:r>
          </a:p>
          <a:p>
            <a:pPr>
              <a:buFont typeface="Courier New" panose="02070309020205020404" pitchFamily="49" charset="0"/>
              <a:buChar char="o"/>
            </a:pPr>
            <a:r>
              <a:rPr lang="en-US" altLang="en-US" sz="2600" dirty="0"/>
              <a:t>We use an ellipsoid / spheroid</a:t>
            </a:r>
          </a:p>
          <a:p>
            <a:pPr>
              <a:buFont typeface="Courier New" panose="02070309020205020404" pitchFamily="49" charset="0"/>
              <a:buChar char="o"/>
            </a:pPr>
            <a:r>
              <a:rPr lang="en-US" altLang="en-US" sz="2600" dirty="0"/>
              <a:t>There are different ellipsoids/ spheroids used</a:t>
            </a:r>
          </a:p>
          <a:p>
            <a:pPr>
              <a:buFont typeface="Courier New" panose="02070309020205020404" pitchFamily="49" charset="0"/>
              <a:buChar char="o"/>
            </a:pPr>
            <a:r>
              <a:rPr lang="en-US" altLang="en-US" sz="2600" dirty="0"/>
              <a:t>Combined with ground survey data, we call these </a:t>
            </a:r>
            <a:r>
              <a:rPr lang="en-US" altLang="en-US" sz="2600" dirty="0">
                <a:solidFill>
                  <a:srgbClr val="FF0000"/>
                </a:solidFill>
              </a:rPr>
              <a:t>datums</a:t>
            </a:r>
          </a:p>
        </p:txBody>
      </p:sp>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11853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274476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46D13-C729-E912-2B53-1D69AA01894C}"/>
              </a:ext>
            </a:extLst>
          </p:cNvPr>
          <p:cNvSpPr>
            <a:spLocks noGrp="1"/>
          </p:cNvSpPr>
          <p:nvPr>
            <p:ph type="title"/>
          </p:nvPr>
        </p:nvSpPr>
        <p:spPr>
          <a:xfrm>
            <a:off x="392305" y="426090"/>
            <a:ext cx="7444991" cy="641378"/>
          </a:xfrm>
        </p:spPr>
        <p:txBody>
          <a:bodyPr>
            <a:noAutofit/>
          </a:bodyPr>
          <a:lstStyle/>
          <a:p>
            <a:r>
              <a:rPr lang="en-US" sz="3200" dirty="0"/>
              <a:t>What is datum?</a:t>
            </a:r>
          </a:p>
        </p:txBody>
      </p:sp>
      <p:pic>
        <p:nvPicPr>
          <p:cNvPr id="6" name="Content Placeholder 5">
            <a:hlinkClick r:id="rId2"/>
            <a:extLst>
              <a:ext uri="{FF2B5EF4-FFF2-40B4-BE49-F238E27FC236}">
                <a16:creationId xmlns:a16="http://schemas.microsoft.com/office/drawing/2014/main" id="{B23066BB-A765-511B-6511-67DA6F279696}"/>
              </a:ext>
            </a:extLst>
          </p:cNvPr>
          <p:cNvPicPr>
            <a:picLocks noGrp="1" noChangeAspect="1"/>
          </p:cNvPicPr>
          <p:nvPr>
            <p:ph idx="1"/>
          </p:nvPr>
        </p:nvPicPr>
        <p:blipFill>
          <a:blip r:embed="rId3"/>
          <a:stretch>
            <a:fillRect/>
          </a:stretch>
        </p:blipFill>
        <p:spPr>
          <a:xfrm>
            <a:off x="392305" y="1167995"/>
            <a:ext cx="7560435" cy="3448887"/>
          </a:xfrm>
        </p:spPr>
      </p:pic>
      <p:sp>
        <p:nvSpPr>
          <p:cNvPr id="4" name="Slide Number Placeholder 3">
            <a:extLst>
              <a:ext uri="{FF2B5EF4-FFF2-40B4-BE49-F238E27FC236}">
                <a16:creationId xmlns:a16="http://schemas.microsoft.com/office/drawing/2014/main" id="{308FB293-23BD-9C64-F7F1-6B64D06DCAAE}"/>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2565901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C0DC-AA63-CFFE-85FF-59B6840736B4}"/>
              </a:ext>
            </a:extLst>
          </p:cNvPr>
          <p:cNvSpPr>
            <a:spLocks noGrp="1"/>
          </p:cNvSpPr>
          <p:nvPr>
            <p:ph type="title"/>
          </p:nvPr>
        </p:nvSpPr>
        <p:spPr>
          <a:xfrm>
            <a:off x="392305" y="526616"/>
            <a:ext cx="7444991" cy="455517"/>
          </a:xfrm>
        </p:spPr>
        <p:txBody>
          <a:bodyPr>
            <a:noAutofit/>
          </a:bodyPr>
          <a:lstStyle/>
          <a:p>
            <a:r>
              <a:rPr lang="en-US" altLang="zh-CN" sz="2800" dirty="0"/>
              <a:t>Horizontal datum</a:t>
            </a:r>
            <a:endParaRPr lang="en-US" sz="2800" dirty="0"/>
          </a:p>
        </p:txBody>
      </p:sp>
      <p:sp>
        <p:nvSpPr>
          <p:cNvPr id="3" name="Content Placeholder 2">
            <a:extLst>
              <a:ext uri="{FF2B5EF4-FFF2-40B4-BE49-F238E27FC236}">
                <a16:creationId xmlns:a16="http://schemas.microsoft.com/office/drawing/2014/main" id="{A136308D-7965-253B-1A6A-7B25831617B4}"/>
              </a:ext>
            </a:extLst>
          </p:cNvPr>
          <p:cNvSpPr>
            <a:spLocks noGrp="1"/>
          </p:cNvSpPr>
          <p:nvPr>
            <p:ph idx="1"/>
          </p:nvPr>
        </p:nvSpPr>
        <p:spPr>
          <a:xfrm>
            <a:off x="392307" y="1160865"/>
            <a:ext cx="7444990" cy="1410885"/>
          </a:xfrm>
        </p:spPr>
        <p:txBody>
          <a:bodyPr>
            <a:normAutofit/>
          </a:bodyPr>
          <a:lstStyle/>
          <a:p>
            <a:r>
              <a:rPr lang="en-US" sz="2000" dirty="0"/>
              <a:t>A mathematical model and reference system</a:t>
            </a:r>
          </a:p>
          <a:p>
            <a:r>
              <a:rPr lang="en-US" sz="2000" dirty="0"/>
              <a:t>It defines how to pinpoint locations on the Earth's surface using latitude and longitude coordinates</a:t>
            </a:r>
          </a:p>
        </p:txBody>
      </p:sp>
      <p:sp>
        <p:nvSpPr>
          <p:cNvPr id="4" name="Slide Number Placeholder 3">
            <a:extLst>
              <a:ext uri="{FF2B5EF4-FFF2-40B4-BE49-F238E27FC236}">
                <a16:creationId xmlns:a16="http://schemas.microsoft.com/office/drawing/2014/main" id="{5ABA03A2-AA5B-ACBE-54DA-19ECF0CDCE41}"/>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6" name="Picture 5">
            <a:extLst>
              <a:ext uri="{FF2B5EF4-FFF2-40B4-BE49-F238E27FC236}">
                <a16:creationId xmlns:a16="http://schemas.microsoft.com/office/drawing/2014/main" id="{D922FABF-C9CC-7647-9FAB-64F80647A4E6}"/>
              </a:ext>
            </a:extLst>
          </p:cNvPr>
          <p:cNvPicPr>
            <a:picLocks noChangeAspect="1"/>
          </p:cNvPicPr>
          <p:nvPr/>
        </p:nvPicPr>
        <p:blipFill>
          <a:blip r:embed="rId2"/>
          <a:stretch>
            <a:fillRect/>
          </a:stretch>
        </p:blipFill>
        <p:spPr>
          <a:xfrm>
            <a:off x="1545166" y="2495518"/>
            <a:ext cx="5139267" cy="2596262"/>
          </a:xfrm>
          <a:prstGeom prst="rect">
            <a:avLst/>
          </a:prstGeom>
        </p:spPr>
      </p:pic>
    </p:spTree>
    <p:extLst>
      <p:ext uri="{BB962C8B-B14F-4D97-AF65-F5344CB8AC3E}">
        <p14:creationId xmlns:p14="http://schemas.microsoft.com/office/powerpoint/2010/main" val="3924772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9B407-E925-6325-7587-C47CAD1FE8B2}"/>
              </a:ext>
            </a:extLst>
          </p:cNvPr>
          <p:cNvSpPr>
            <a:spLocks noGrp="1"/>
          </p:cNvSpPr>
          <p:nvPr>
            <p:ph type="title"/>
          </p:nvPr>
        </p:nvSpPr>
        <p:spPr>
          <a:xfrm>
            <a:off x="392305" y="573174"/>
            <a:ext cx="7617162" cy="891540"/>
          </a:xfrm>
        </p:spPr>
        <p:txBody>
          <a:bodyPr>
            <a:noAutofit/>
          </a:bodyPr>
          <a:lstStyle/>
          <a:p>
            <a:r>
              <a:rPr lang="en-US" sz="2800" dirty="0"/>
              <a:t>The World at Zero: Equator &amp; Prime Meridian</a:t>
            </a:r>
          </a:p>
        </p:txBody>
      </p:sp>
      <p:sp>
        <p:nvSpPr>
          <p:cNvPr id="4" name="Slide Number Placeholder 3">
            <a:extLst>
              <a:ext uri="{FF2B5EF4-FFF2-40B4-BE49-F238E27FC236}">
                <a16:creationId xmlns:a16="http://schemas.microsoft.com/office/drawing/2014/main" id="{54DB4DA8-0E05-0F00-F4C4-FBCF7830654F}"/>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5" name="Rectangle 1">
            <a:extLst>
              <a:ext uri="{FF2B5EF4-FFF2-40B4-BE49-F238E27FC236}">
                <a16:creationId xmlns:a16="http://schemas.microsoft.com/office/drawing/2014/main" id="{D31D0D77-0577-2FAD-949D-F31BEC7ECEBF}"/>
              </a:ext>
            </a:extLst>
          </p:cNvPr>
          <p:cNvSpPr>
            <a:spLocks noGrp="1" noChangeArrowheads="1"/>
          </p:cNvSpPr>
          <p:nvPr>
            <p:ph idx="1"/>
          </p:nvPr>
        </p:nvSpPr>
        <p:spPr bwMode="auto">
          <a:xfrm>
            <a:off x="392306" y="1464714"/>
            <a:ext cx="7515562" cy="2927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06550" lvl="8" indent="-206550" fontAlgn="base">
              <a:buClr>
                <a:schemeClr val="accent1"/>
              </a:buClr>
            </a:pPr>
            <a:r>
              <a:rPr lang="en-US" altLang="en-US" sz="2400" dirty="0">
                <a:solidFill>
                  <a:schemeClr val="tx1">
                    <a:lumMod val="75000"/>
                    <a:lumOff val="25000"/>
                  </a:schemeClr>
                </a:solidFill>
              </a:rPr>
              <a:t>Using Google Earth, find the location at the intersection of the Equator (0° latitude) and the Prime Meridian (0° longitude). Does this point fall on land or in the ocean?</a:t>
            </a:r>
          </a:p>
          <a:p>
            <a:pPr marR="0" lvl="0" fontAlgn="base">
              <a:tabLst/>
            </a:pPr>
            <a:r>
              <a:rPr lang="en-US" altLang="en-US" sz="2400" dirty="0"/>
              <a:t>Identify one country that lies near the Prime Meridian (0° longitude).</a:t>
            </a:r>
          </a:p>
          <a:p>
            <a:pPr marR="0" lvl="0" fontAlgn="base">
              <a:tabLst/>
            </a:pPr>
            <a:r>
              <a:rPr lang="en-US" altLang="en-US" sz="2400" dirty="0"/>
              <a:t>Identify one country that lies near the Equator (0° latitude).</a:t>
            </a:r>
          </a:p>
        </p:txBody>
      </p:sp>
      <p:sp>
        <p:nvSpPr>
          <p:cNvPr id="6" name="TextBox 5">
            <a:extLst>
              <a:ext uri="{FF2B5EF4-FFF2-40B4-BE49-F238E27FC236}">
                <a16:creationId xmlns:a16="http://schemas.microsoft.com/office/drawing/2014/main" id="{43C134F2-7F8D-DAF4-3D12-D089C7379F31}"/>
              </a:ext>
            </a:extLst>
          </p:cNvPr>
          <p:cNvSpPr txBox="1"/>
          <p:nvPr/>
        </p:nvSpPr>
        <p:spPr>
          <a:xfrm>
            <a:off x="685799" y="4605867"/>
            <a:ext cx="6062133" cy="369332"/>
          </a:xfrm>
          <a:prstGeom prst="rect">
            <a:avLst/>
          </a:prstGeom>
          <a:noFill/>
        </p:spPr>
        <p:txBody>
          <a:bodyPr wrap="square" rtlCol="0">
            <a:spAutoFit/>
          </a:bodyPr>
          <a:lstStyle/>
          <a:p>
            <a:r>
              <a:rPr lang="en-US" dirty="0"/>
              <a:t>* Click view – show gridlines to display gridlines on earth</a:t>
            </a:r>
          </a:p>
        </p:txBody>
      </p:sp>
    </p:spTree>
    <p:extLst>
      <p:ext uri="{BB962C8B-B14F-4D97-AF65-F5344CB8AC3E}">
        <p14:creationId xmlns:p14="http://schemas.microsoft.com/office/powerpoint/2010/main" val="358789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FEED-430B-6730-B9AE-9EC938B6A8F9}"/>
              </a:ext>
            </a:extLst>
          </p:cNvPr>
          <p:cNvSpPr>
            <a:spLocks noGrp="1"/>
          </p:cNvSpPr>
          <p:nvPr>
            <p:ph type="title"/>
          </p:nvPr>
        </p:nvSpPr>
        <p:spPr>
          <a:xfrm>
            <a:off x="392304" y="679949"/>
            <a:ext cx="7444991" cy="438583"/>
          </a:xfrm>
        </p:spPr>
        <p:txBody>
          <a:bodyPr>
            <a:noAutofit/>
          </a:bodyPr>
          <a:lstStyle/>
          <a:p>
            <a:r>
              <a:rPr lang="en-US" sz="2800" dirty="0"/>
              <a:t>Vertical datum</a:t>
            </a:r>
          </a:p>
        </p:txBody>
      </p:sp>
      <p:sp>
        <p:nvSpPr>
          <p:cNvPr id="3" name="Content Placeholder 2">
            <a:extLst>
              <a:ext uri="{FF2B5EF4-FFF2-40B4-BE49-F238E27FC236}">
                <a16:creationId xmlns:a16="http://schemas.microsoft.com/office/drawing/2014/main" id="{79A6F83D-5527-FCE0-8948-C80B9F3ABD76}"/>
              </a:ext>
            </a:extLst>
          </p:cNvPr>
          <p:cNvSpPr>
            <a:spLocks noGrp="1"/>
          </p:cNvSpPr>
          <p:nvPr>
            <p:ph idx="1"/>
          </p:nvPr>
        </p:nvSpPr>
        <p:spPr>
          <a:xfrm>
            <a:off x="392305" y="1169332"/>
            <a:ext cx="7444990" cy="1402418"/>
          </a:xfrm>
        </p:spPr>
        <p:txBody>
          <a:bodyPr>
            <a:noAutofit/>
          </a:bodyPr>
          <a:lstStyle/>
          <a:p>
            <a:r>
              <a:rPr lang="en-US" sz="2400" dirty="0"/>
              <a:t>A standardized reference surface used to define elevations and depths on the Earth's surface, serving as a "zero" point for measurements.</a:t>
            </a:r>
          </a:p>
        </p:txBody>
      </p:sp>
      <p:sp>
        <p:nvSpPr>
          <p:cNvPr id="4" name="Slide Number Placeholder 3">
            <a:extLst>
              <a:ext uri="{FF2B5EF4-FFF2-40B4-BE49-F238E27FC236}">
                <a16:creationId xmlns:a16="http://schemas.microsoft.com/office/drawing/2014/main" id="{036E6BD3-2ED6-47BA-3B81-FA8AFCBE1546}"/>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1301021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5C4F4-FD25-7BE1-A7BF-C20D18BBCCBF}"/>
              </a:ext>
            </a:extLst>
          </p:cNvPr>
          <p:cNvSpPr>
            <a:spLocks noGrp="1"/>
          </p:cNvSpPr>
          <p:nvPr>
            <p:ph type="title"/>
          </p:nvPr>
        </p:nvSpPr>
        <p:spPr>
          <a:xfrm>
            <a:off x="392305" y="526617"/>
            <a:ext cx="7444991" cy="472450"/>
          </a:xfrm>
        </p:spPr>
        <p:txBody>
          <a:bodyPr>
            <a:normAutofit/>
          </a:bodyPr>
          <a:lstStyle/>
          <a:p>
            <a:r>
              <a:rPr lang="en-US" sz="2400" dirty="0"/>
              <a:t>Vertical datum - examples</a:t>
            </a:r>
          </a:p>
        </p:txBody>
      </p:sp>
      <p:sp>
        <p:nvSpPr>
          <p:cNvPr id="4" name="Slide Number Placeholder 3">
            <a:extLst>
              <a:ext uri="{FF2B5EF4-FFF2-40B4-BE49-F238E27FC236}">
                <a16:creationId xmlns:a16="http://schemas.microsoft.com/office/drawing/2014/main" id="{212A2E4F-292C-A6C9-BBEC-3BADA51BE4A0}"/>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5" name="Content Placeholder 4">
            <a:extLst>
              <a:ext uri="{FF2B5EF4-FFF2-40B4-BE49-F238E27FC236}">
                <a16:creationId xmlns:a16="http://schemas.microsoft.com/office/drawing/2014/main" id="{4FA343E3-0018-7856-9452-B79A7AA9ADDA}"/>
              </a:ext>
            </a:extLst>
          </p:cNvPr>
          <p:cNvSpPr txBox="1">
            <a:spLocks noGrp="1"/>
          </p:cNvSpPr>
          <p:nvPr>
            <p:ph idx="1"/>
          </p:nvPr>
        </p:nvSpPr>
        <p:spPr>
          <a:xfrm>
            <a:off x="468313" y="1286413"/>
            <a:ext cx="7445375" cy="3118803"/>
          </a:xfrm>
          <a:prstGeom prst="rect">
            <a:avLst/>
          </a:prstGeom>
          <a:noFill/>
        </p:spPr>
        <p:txBody>
          <a:bodyPr wrap="square" rtlCol="0">
            <a:spAutoFit/>
          </a:bodyPr>
          <a:lstStyle/>
          <a:p>
            <a:r>
              <a:rPr lang="en-US" sz="2000" dirty="0"/>
              <a:t>Elevation of cities and landmarks 🏔️</a:t>
            </a:r>
          </a:p>
          <a:p>
            <a:pPr marL="0" indent="0">
              <a:buNone/>
            </a:pPr>
            <a:r>
              <a:rPr lang="en-US" sz="2000" dirty="0"/>
              <a:t>– Example: The elevation of Denver (“Mile High City”) is measured relative to NAVD88 in the U.S.</a:t>
            </a:r>
          </a:p>
          <a:p>
            <a:endParaRPr lang="en-US" sz="2000" dirty="0"/>
          </a:p>
          <a:p>
            <a:r>
              <a:rPr lang="en-US" sz="2000" dirty="0"/>
              <a:t>Flood levels &amp; floodplain mapping 🌊</a:t>
            </a:r>
          </a:p>
          <a:p>
            <a:pPr marL="0" indent="0">
              <a:buNone/>
            </a:pPr>
            <a:r>
              <a:rPr lang="en-US" sz="2000" dirty="0"/>
              <a:t>– FEMA flood maps use vertical datums (e.g., NAVD88) to define the Base Flood Elevation (BFE).</a:t>
            </a:r>
          </a:p>
          <a:p>
            <a:endParaRPr lang="en-US" sz="2000" dirty="0"/>
          </a:p>
        </p:txBody>
      </p:sp>
    </p:spTree>
    <p:extLst>
      <p:ext uri="{BB962C8B-B14F-4D97-AF65-F5344CB8AC3E}">
        <p14:creationId xmlns:p14="http://schemas.microsoft.com/office/powerpoint/2010/main" val="3032169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00BFBDE-1E47-E447-3038-E154848F45D7}"/>
              </a:ext>
            </a:extLst>
          </p:cNvPr>
          <p:cNvPicPr>
            <a:picLocks noChangeAspect="1"/>
          </p:cNvPicPr>
          <p:nvPr/>
        </p:nvPicPr>
        <p:blipFill>
          <a:blip r:embed="rId3"/>
          <a:stretch>
            <a:fillRect/>
          </a:stretch>
        </p:blipFill>
        <p:spPr>
          <a:xfrm>
            <a:off x="1715492" y="3561379"/>
            <a:ext cx="5411361" cy="1530401"/>
          </a:xfrm>
          <a:prstGeom prst="rect">
            <a:avLst/>
          </a:prstGeom>
        </p:spPr>
      </p:pic>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222330" y="2143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defTabSz="308610"/>
            <a:r>
              <a:rPr lang="en-US" sz="2000" cap="all" dirty="0">
                <a:solidFill>
                  <a:schemeClr val="tx1">
                    <a:lumMod val="75000"/>
                    <a:lumOff val="25000"/>
                  </a:schemeClr>
                </a:solidFill>
              </a:rPr>
              <a:t>Relationship between terrain, an datum, and an ellipsoid</a:t>
            </a: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7" name="Picture 6">
            <a:extLst>
              <a:ext uri="{FF2B5EF4-FFF2-40B4-BE49-F238E27FC236}">
                <a16:creationId xmlns:a16="http://schemas.microsoft.com/office/drawing/2014/main" id="{90297F4A-943C-AAE9-C30F-68A3F6E67790}"/>
              </a:ext>
            </a:extLst>
          </p:cNvPr>
          <p:cNvPicPr>
            <a:picLocks noChangeAspect="1"/>
          </p:cNvPicPr>
          <p:nvPr/>
        </p:nvPicPr>
        <p:blipFill>
          <a:blip r:embed="rId4"/>
          <a:stretch>
            <a:fillRect/>
          </a:stretch>
        </p:blipFill>
        <p:spPr>
          <a:xfrm>
            <a:off x="613868" y="1009004"/>
            <a:ext cx="7078063" cy="3019846"/>
          </a:xfrm>
          <a:prstGeom prst="rect">
            <a:avLst/>
          </a:prstGeom>
        </p:spPr>
      </p:pic>
    </p:spTree>
    <p:extLst>
      <p:ext uri="{BB962C8B-B14F-4D97-AF65-F5344CB8AC3E}">
        <p14:creationId xmlns:p14="http://schemas.microsoft.com/office/powerpoint/2010/main" val="2639691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B4DB0BA8-71AC-4495-9AC5-ACEFECE1E3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NGVD29: National Geodetic Vertical Datum of 1929</a:t>
            </a:r>
          </a:p>
          <a:p>
            <a:pPr lvl="1">
              <a:lnSpc>
                <a:spcPct val="90000"/>
              </a:lnSpc>
              <a:buFont typeface="Wingdings" panose="05000000000000000000" pitchFamily="2" charset="2"/>
              <a:buChar char="ü"/>
            </a:pPr>
            <a:r>
              <a:rPr lang="en-US" sz="2440" dirty="0"/>
              <a:t>No geoid, mean sea level</a:t>
            </a:r>
          </a:p>
          <a:p>
            <a:pPr>
              <a:lnSpc>
                <a:spcPct val="90000"/>
              </a:lnSpc>
              <a:buFont typeface="Courier New" panose="02070309020205020404" pitchFamily="49" charset="0"/>
              <a:buChar char="o"/>
            </a:pPr>
            <a:r>
              <a:rPr lang="en-US" sz="2800" dirty="0"/>
              <a:t>NAVD88: North American Vertical Datum of 1988 (NAVD88)</a:t>
            </a:r>
          </a:p>
          <a:p>
            <a:pPr lvl="1">
              <a:lnSpc>
                <a:spcPct val="90000"/>
              </a:lnSpc>
              <a:buFont typeface="Wingdings" panose="05000000000000000000" pitchFamily="2" charset="2"/>
              <a:buChar char="ü"/>
            </a:pPr>
            <a:r>
              <a:rPr lang="en-US" sz="2440" dirty="0"/>
              <a:t>GEOID03, GEOID09, GEOID12B</a:t>
            </a: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152400"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vertical 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extLst>
      <p:ext uri="{BB962C8B-B14F-4D97-AF65-F5344CB8AC3E}">
        <p14:creationId xmlns:p14="http://schemas.microsoft.com/office/powerpoint/2010/main" val="4115392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1853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Horizontal Datum</a:t>
            </a:r>
            <a:endParaRPr lang="en-US" sz="2600" dirty="0">
              <a:solidFill>
                <a:srgbClr val="7030A0"/>
              </a:solidFill>
            </a:endParaRPr>
          </a:p>
        </p:txBody>
      </p:sp>
      <p:sp>
        <p:nvSpPr>
          <p:cNvPr id="4" name="Rectangle 1027">
            <a:extLst>
              <a:ext uri="{FF2B5EF4-FFF2-40B4-BE49-F238E27FC236}">
                <a16:creationId xmlns:a16="http://schemas.microsoft.com/office/drawing/2014/main" id="{69E91D31-722B-4BC5-8372-946A640556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b="1" dirty="0"/>
              <a:t>NAD27: </a:t>
            </a:r>
            <a:r>
              <a:rPr lang="en-GB" sz="2600" dirty="0"/>
              <a:t>North American Datum of 1927</a:t>
            </a:r>
            <a:endParaRPr lang="en-GB" sz="2600" b="1" dirty="0"/>
          </a:p>
          <a:p>
            <a:pPr>
              <a:lnSpc>
                <a:spcPct val="90000"/>
              </a:lnSpc>
              <a:buFont typeface="Courier New" panose="02070309020205020404" pitchFamily="49" charset="0"/>
              <a:buChar char="o"/>
            </a:pPr>
            <a:r>
              <a:rPr lang="en-GB" sz="2600" b="1" dirty="0"/>
              <a:t>NAD83: </a:t>
            </a:r>
            <a:r>
              <a:rPr lang="en-GB" sz="2600" dirty="0"/>
              <a:t>North American Datum of 1983</a:t>
            </a:r>
          </a:p>
          <a:p>
            <a:pPr lvl="1">
              <a:lnSpc>
                <a:spcPct val="90000"/>
              </a:lnSpc>
              <a:buFont typeface="Wingdings" panose="05000000000000000000" pitchFamily="2" charset="2"/>
              <a:buChar char="ü"/>
            </a:pPr>
            <a:r>
              <a:rPr lang="en-GB" sz="2240" dirty="0"/>
              <a:t>NAD83(xx), xx represents year, version of datum adjustment</a:t>
            </a:r>
          </a:p>
          <a:p>
            <a:pPr lvl="1">
              <a:lnSpc>
                <a:spcPct val="90000"/>
              </a:lnSpc>
              <a:buFont typeface="Wingdings" panose="05000000000000000000" pitchFamily="2" charset="2"/>
              <a:buChar char="ü"/>
            </a:pPr>
            <a:r>
              <a:rPr lang="en-GB" sz="2240" dirty="0"/>
              <a:t>NAD83(HARN/HPGN): High Accuracy Reference Networks or High Precision Geodetic Networks</a:t>
            </a:r>
          </a:p>
          <a:p>
            <a:pPr>
              <a:lnSpc>
                <a:spcPct val="90000"/>
              </a:lnSpc>
              <a:buFont typeface="Courier New" panose="02070309020205020404" pitchFamily="49" charset="0"/>
              <a:buChar char="o"/>
            </a:pPr>
            <a:r>
              <a:rPr lang="en-GB" sz="2600" b="1" dirty="0"/>
              <a:t>WGS84: </a:t>
            </a:r>
            <a:r>
              <a:rPr lang="en-GB" sz="2600" dirty="0"/>
              <a:t>World Geodetic System 0f 1984</a:t>
            </a:r>
          </a:p>
          <a:p>
            <a:pPr lvl="1">
              <a:lnSpc>
                <a:spcPct val="90000"/>
              </a:lnSpc>
              <a:buFont typeface="Wingdings" panose="05000000000000000000" pitchFamily="2" charset="2"/>
              <a:buChar char="ü"/>
            </a:pPr>
            <a:r>
              <a:rPr lang="en-GB" sz="2240" dirty="0"/>
              <a:t>WGS84(xx)</a:t>
            </a:r>
          </a:p>
          <a:p>
            <a:pPr>
              <a:lnSpc>
                <a:spcPct val="90000"/>
              </a:lnSpc>
              <a:buFont typeface="Courier New" panose="02070309020205020404" pitchFamily="49" charset="0"/>
              <a:buChar char="o"/>
            </a:pPr>
            <a:r>
              <a:rPr lang="en-GB" sz="2800" b="1" dirty="0"/>
              <a:t>ITRF: </a:t>
            </a:r>
            <a:r>
              <a:rPr lang="en-GB" sz="2800" dirty="0"/>
              <a:t>International Terrestrial Reference Frames</a:t>
            </a:r>
          </a:p>
          <a:p>
            <a:pPr lvl="1">
              <a:lnSpc>
                <a:spcPct val="90000"/>
              </a:lnSpc>
              <a:buFont typeface="Wingdings" panose="05000000000000000000" pitchFamily="2" charset="2"/>
              <a:buChar char="ü"/>
            </a:pPr>
            <a:r>
              <a:rPr lang="en-GB" sz="2440" dirty="0"/>
              <a:t>ITRF89, ITRF90, ITRF91</a:t>
            </a:r>
          </a:p>
          <a:p>
            <a:pPr>
              <a:lnSpc>
                <a:spcPct val="90000"/>
              </a:lnSpc>
            </a:pPr>
            <a:endParaRPr lang="en-GB" sz="2800" b="1"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2640908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52400" y="2020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5" name="Picture 4" descr="Diagram&#10;&#10;Description automatically generated">
            <a:extLst>
              <a:ext uri="{FF2B5EF4-FFF2-40B4-BE49-F238E27FC236}">
                <a16:creationId xmlns:a16="http://schemas.microsoft.com/office/drawing/2014/main" id="{8E5A012B-77DC-45C8-8F2D-98C4CF7F71FA}"/>
              </a:ext>
            </a:extLst>
          </p:cNvPr>
          <p:cNvPicPr>
            <a:picLocks noChangeAspect="1"/>
          </p:cNvPicPr>
          <p:nvPr/>
        </p:nvPicPr>
        <p:blipFill>
          <a:blip r:embed="rId3"/>
          <a:stretch>
            <a:fillRect/>
          </a:stretch>
        </p:blipFill>
        <p:spPr>
          <a:xfrm>
            <a:off x="1841157" y="2117671"/>
            <a:ext cx="4337221" cy="3025829"/>
          </a:xfrm>
          <a:prstGeom prst="rect">
            <a:avLst/>
          </a:prstGeom>
        </p:spPr>
      </p:pic>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2"/>
            <a:ext cx="7679724" cy="121896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dirty="0"/>
              <a:t>WGS84 and </a:t>
            </a:r>
            <a:r>
              <a:rPr lang="en-GB" sz="2800" dirty="0"/>
              <a:t>ITRF can be considered equivalent for most purpose, as difference between them since 1995 are generally only a few centimetres</a:t>
            </a: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10" name="TextBox 9">
            <a:extLst>
              <a:ext uri="{FF2B5EF4-FFF2-40B4-BE49-F238E27FC236}">
                <a16:creationId xmlns:a16="http://schemas.microsoft.com/office/drawing/2014/main" id="{B74B018C-907B-4E6E-B81B-898FEC17D5FC}"/>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80717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F4EB1E6-E70B-810F-DF9C-FD6A59B8267D}"/>
              </a:ext>
            </a:extLst>
          </p:cNvPr>
          <p:cNvPicPr>
            <a:picLocks noGrp="1" noChangeAspect="1"/>
          </p:cNvPicPr>
          <p:nvPr>
            <p:ph idx="1"/>
          </p:nvPr>
        </p:nvPicPr>
        <p:blipFill>
          <a:blip r:embed="rId2"/>
          <a:stretch>
            <a:fillRect/>
          </a:stretch>
        </p:blipFill>
        <p:spPr>
          <a:xfrm>
            <a:off x="1771461" y="855133"/>
            <a:ext cx="5865472" cy="4302633"/>
          </a:xfrm>
          <a:prstGeom prst="rect">
            <a:avLst/>
          </a:prstGeom>
        </p:spPr>
      </p:pic>
      <p:sp>
        <p:nvSpPr>
          <p:cNvPr id="4" name="Slide Number Placeholder 3">
            <a:extLst>
              <a:ext uri="{FF2B5EF4-FFF2-40B4-BE49-F238E27FC236}">
                <a16:creationId xmlns:a16="http://schemas.microsoft.com/office/drawing/2014/main" id="{BF29F389-CFE1-C09F-6418-3DA44E588C01}"/>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5" name="Title 1">
            <a:extLst>
              <a:ext uri="{FF2B5EF4-FFF2-40B4-BE49-F238E27FC236}">
                <a16:creationId xmlns:a16="http://schemas.microsoft.com/office/drawing/2014/main" id="{5FFFA57A-2386-A149-9679-04A5C6A41AD7}"/>
              </a:ext>
            </a:extLst>
          </p:cNvPr>
          <p:cNvSpPr txBox="1">
            <a:spLocks/>
          </p:cNvSpPr>
          <p:nvPr/>
        </p:nvSpPr>
        <p:spPr>
          <a:xfrm>
            <a:off x="228599" y="392844"/>
            <a:ext cx="8077200" cy="462289"/>
          </a:xfrm>
          <a:prstGeom prst="rect">
            <a:avLst/>
          </a:prstGeom>
        </p:spPr>
        <p:txBody>
          <a:bodyPr vert="horz" lIns="91440" tIns="45720" rIns="91440" bIns="45720" rtlCol="0" anchor="ctr">
            <a:normAutofit fontScale="85000"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 Inconsistent</a:t>
            </a:r>
            <a:endParaRPr lang="en-US" sz="2600" dirty="0">
              <a:solidFill>
                <a:srgbClr val="7030A0"/>
              </a:solidFill>
            </a:endParaRPr>
          </a:p>
        </p:txBody>
      </p:sp>
    </p:spTree>
    <p:extLst>
      <p:ext uri="{BB962C8B-B14F-4D97-AF65-F5344CB8AC3E}">
        <p14:creationId xmlns:p14="http://schemas.microsoft.com/office/powerpoint/2010/main" val="3525514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AD71-4312-90A7-3C6E-3E0C16EC2851}"/>
              </a:ext>
            </a:extLst>
          </p:cNvPr>
          <p:cNvSpPr>
            <a:spLocks noGrp="1"/>
          </p:cNvSpPr>
          <p:nvPr>
            <p:ph type="title"/>
          </p:nvPr>
        </p:nvSpPr>
        <p:spPr>
          <a:xfrm>
            <a:off x="392305" y="526617"/>
            <a:ext cx="7444991" cy="514783"/>
          </a:xfrm>
        </p:spPr>
        <p:txBody>
          <a:bodyPr>
            <a:noAutofit/>
          </a:bodyPr>
          <a:lstStyle/>
          <a:p>
            <a:r>
              <a:rPr lang="en-US" sz="2800" dirty="0"/>
              <a:t>Which datum google map use?</a:t>
            </a:r>
          </a:p>
        </p:txBody>
      </p:sp>
      <p:sp>
        <p:nvSpPr>
          <p:cNvPr id="4" name="Slide Number Placeholder 3">
            <a:extLst>
              <a:ext uri="{FF2B5EF4-FFF2-40B4-BE49-F238E27FC236}">
                <a16:creationId xmlns:a16="http://schemas.microsoft.com/office/drawing/2014/main" id="{0AA6773C-6614-0C8E-F998-73A80DEBC02A}"/>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3074" name="Picture 2">
            <a:extLst>
              <a:ext uri="{FF2B5EF4-FFF2-40B4-BE49-F238E27FC236}">
                <a16:creationId xmlns:a16="http://schemas.microsoft.com/office/drawing/2014/main" id="{748EA289-03D9-E071-0691-CFE39498BE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9654" y="1570311"/>
            <a:ext cx="6608569" cy="334274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C8E79D03-084E-1BA2-71FD-7626938CFD48}"/>
              </a:ext>
            </a:extLst>
          </p:cNvPr>
          <p:cNvGrpSpPr/>
          <p:nvPr/>
        </p:nvGrpSpPr>
        <p:grpSpPr>
          <a:xfrm>
            <a:off x="5664499" y="678482"/>
            <a:ext cx="2172795" cy="2172795"/>
            <a:chOff x="5664499" y="678482"/>
            <a:chExt cx="2172795" cy="2172795"/>
          </a:xfrm>
        </p:grpSpPr>
        <p:pic>
          <p:nvPicPr>
            <p:cNvPr id="3078" name="Picture 6" descr="Thinking Person Icons - Free SVG &amp; PNG ...">
              <a:extLst>
                <a:ext uri="{FF2B5EF4-FFF2-40B4-BE49-F238E27FC236}">
                  <a16:creationId xmlns:a16="http://schemas.microsoft.com/office/drawing/2014/main" id="{E08C63B5-0B05-FC54-EA6E-C0A7BB395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4499" y="678482"/>
              <a:ext cx="2172795" cy="217279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ongitude and latitude lines color icon ...">
              <a:extLst>
                <a:ext uri="{FF2B5EF4-FFF2-40B4-BE49-F238E27FC236}">
                  <a16:creationId xmlns:a16="http://schemas.microsoft.com/office/drawing/2014/main" id="{814DD969-E927-E2FE-7F6D-EE4DCB6F989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176" t="13645" r="6267" b="8530"/>
            <a:stretch>
              <a:fillRect/>
            </a:stretch>
          </p:blipFill>
          <p:spPr bwMode="auto">
            <a:xfrm>
              <a:off x="6838223" y="1094189"/>
              <a:ext cx="438186" cy="42333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31250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211667" y="2420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 Pairing</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6" name="Picture 5" descr="Text&#10;&#10;Description automatically generated">
            <a:extLst>
              <a:ext uri="{FF2B5EF4-FFF2-40B4-BE49-F238E27FC236}">
                <a16:creationId xmlns:a16="http://schemas.microsoft.com/office/drawing/2014/main" id="{30C37468-DE9B-42C6-993A-67D3A12115FE}"/>
              </a:ext>
            </a:extLst>
          </p:cNvPr>
          <p:cNvPicPr>
            <a:picLocks noChangeAspect="1"/>
          </p:cNvPicPr>
          <p:nvPr/>
        </p:nvPicPr>
        <p:blipFill>
          <a:blip r:embed="rId3"/>
          <a:stretch>
            <a:fillRect/>
          </a:stretch>
        </p:blipFill>
        <p:spPr>
          <a:xfrm>
            <a:off x="3977640" y="1188770"/>
            <a:ext cx="1920240" cy="3715415"/>
          </a:xfrm>
          <a:prstGeom prst="rect">
            <a:avLst/>
          </a:prstGeom>
        </p:spPr>
      </p:pic>
      <p:sp>
        <p:nvSpPr>
          <p:cNvPr id="8" name="Rectangle 1027">
            <a:extLst>
              <a:ext uri="{FF2B5EF4-FFF2-40B4-BE49-F238E27FC236}">
                <a16:creationId xmlns:a16="http://schemas.microsoft.com/office/drawing/2014/main" id="{5E7CC563-6B5C-41EA-9C3D-76E343DE1D41}"/>
              </a:ext>
            </a:extLst>
          </p:cNvPr>
          <p:cNvSpPr txBox="1">
            <a:spLocks noChangeArrowheads="1"/>
          </p:cNvSpPr>
          <p:nvPr/>
        </p:nvSpPr>
        <p:spPr>
          <a:xfrm>
            <a:off x="302741" y="1029962"/>
            <a:ext cx="3340128" cy="2924199"/>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Pairing for horizontal and vertical datums for North America</a:t>
            </a:r>
            <a:endParaRPr lang="en-US" sz="2440" dirty="0"/>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Tree>
    <p:extLst>
      <p:ext uri="{BB962C8B-B14F-4D97-AF65-F5344CB8AC3E}">
        <p14:creationId xmlns:p14="http://schemas.microsoft.com/office/powerpoint/2010/main" val="416934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39BCE360-8580-4F4B-8587-5E8B64E7D405}"/>
              </a:ext>
            </a:extLst>
          </p:cNvPr>
          <p:cNvSpPr txBox="1">
            <a:spLocks noChangeArrowheads="1"/>
          </p:cNvSpPr>
          <p:nvPr/>
        </p:nvSpPr>
        <p:spPr>
          <a:xfrm>
            <a:off x="302741" y="1029962"/>
            <a:ext cx="5677929"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Coordinates on a Sphere</a:t>
            </a:r>
          </a:p>
          <a:p>
            <a:pPr lvl="1">
              <a:buFont typeface="Wingdings" panose="05000000000000000000" pitchFamily="2" charset="2"/>
              <a:buChar char="ü"/>
            </a:pPr>
            <a:r>
              <a:rPr lang="en-US" altLang="en-US" sz="2160" dirty="0"/>
              <a:t>Latitude and Longitude</a:t>
            </a:r>
          </a:p>
          <a:p>
            <a:pPr lvl="1">
              <a:buFont typeface="Wingdings" panose="05000000000000000000" pitchFamily="2" charset="2"/>
              <a:buChar char="ü"/>
            </a:pPr>
            <a:r>
              <a:rPr lang="en-US" altLang="en-US" sz="2160" dirty="0"/>
              <a:t>Specified as angles or degrees</a:t>
            </a:r>
          </a:p>
          <a:p>
            <a:pPr marL="308610" lvl="1" indent="-308610">
              <a:buFont typeface="Courier New" panose="02070309020205020404" pitchFamily="49" charset="0"/>
              <a:buChar char="o"/>
            </a:pPr>
            <a:r>
              <a:rPr lang="en-US" altLang="en-US" sz="2600" dirty="0"/>
              <a:t>Latitude: Angles from equator</a:t>
            </a:r>
          </a:p>
          <a:p>
            <a:pPr marL="817245" lvl="2" indent="-457200">
              <a:buFont typeface="Wingdings" panose="05000000000000000000" pitchFamily="2" charset="2"/>
              <a:buChar char="ü"/>
            </a:pPr>
            <a:r>
              <a:rPr lang="en-US" altLang="en-US" sz="2240" dirty="0"/>
              <a:t>Range 0-90 N/S</a:t>
            </a:r>
          </a:p>
          <a:p>
            <a:pPr marL="308610" lvl="1" indent="-308610">
              <a:buFont typeface="Courier New" panose="02070309020205020404" pitchFamily="49" charset="0"/>
              <a:buChar char="o"/>
            </a:pPr>
            <a:r>
              <a:rPr lang="en-US" altLang="en-US" sz="2600" dirty="0"/>
              <a:t>Longitude: Angles from prime meridian</a:t>
            </a:r>
          </a:p>
          <a:p>
            <a:pPr marL="817245" lvl="2" indent="-457200">
              <a:buFont typeface="Wingdings" panose="05000000000000000000" pitchFamily="2" charset="2"/>
              <a:buChar char="ü"/>
            </a:pPr>
            <a:r>
              <a:rPr lang="en-US" altLang="en-US" sz="2240" dirty="0"/>
              <a:t>Range 0-180 E/W</a:t>
            </a:r>
          </a:p>
          <a:p>
            <a:pPr marL="0" lvl="1" indent="0">
              <a:buNone/>
            </a:pPr>
            <a:endParaRPr lang="en-US" altLang="en-US" sz="2600" dirty="0"/>
          </a:p>
          <a:p>
            <a:pPr marL="411480" lvl="1" indent="0">
              <a:buNone/>
            </a:pPr>
            <a:endParaRPr lang="en-US" altLang="en-US" sz="2160" dirty="0"/>
          </a:p>
        </p:txBody>
      </p:sp>
      <p:cxnSp>
        <p:nvCxnSpPr>
          <p:cNvPr id="9" name="Straight Connector 8">
            <a:extLst>
              <a:ext uri="{FF2B5EF4-FFF2-40B4-BE49-F238E27FC236}">
                <a16:creationId xmlns:a16="http://schemas.microsoft.com/office/drawing/2014/main" id="{33F2CCBF-5E56-4834-8DA7-E3DBBBFB85A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A398380F-D3A4-4224-A979-1C20D39224A8}"/>
              </a:ext>
            </a:extLst>
          </p:cNvPr>
          <p:cNvSpPr txBox="1">
            <a:spLocks/>
          </p:cNvSpPr>
          <p:nvPr/>
        </p:nvSpPr>
        <p:spPr>
          <a:xfrm>
            <a:off x="152400" y="20177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pic>
        <p:nvPicPr>
          <p:cNvPr id="17" name="Picture 4" descr="Fig1_5">
            <a:extLst>
              <a:ext uri="{FF2B5EF4-FFF2-40B4-BE49-F238E27FC236}">
                <a16:creationId xmlns:a16="http://schemas.microsoft.com/office/drawing/2014/main" id="{182FF10D-FBD2-4D21-875A-451B50BAF47C}"/>
              </a:ext>
            </a:extLst>
          </p:cNvPr>
          <p:cNvPicPr>
            <a:picLocks noChangeAspect="1" noChangeArrowheads="1"/>
          </p:cNvPicPr>
          <p:nvPr/>
        </p:nvPicPr>
        <p:blipFill>
          <a:blip r:embed="rId3" cstate="print"/>
          <a:srcRect/>
          <a:stretch>
            <a:fillRect/>
          </a:stretch>
        </p:blipFill>
        <p:spPr>
          <a:xfrm>
            <a:off x="5834189" y="1018094"/>
            <a:ext cx="1862434" cy="4067601"/>
          </a:xfrm>
          <a:prstGeom prst="rect">
            <a:avLst/>
          </a:prstGeom>
          <a:noFill/>
          <a:ln/>
        </p:spPr>
      </p:pic>
      <p:sp>
        <p:nvSpPr>
          <p:cNvPr id="18" name="Footer Placeholder 8">
            <a:extLst>
              <a:ext uri="{FF2B5EF4-FFF2-40B4-BE49-F238E27FC236}">
                <a16:creationId xmlns:a16="http://schemas.microsoft.com/office/drawing/2014/main" id="{8026846C-FD1A-4037-A62E-82EFF84A6025}"/>
              </a:ext>
            </a:extLst>
          </p:cNvPr>
          <p:cNvSpPr txBox="1">
            <a:spLocks/>
          </p:cNvSpPr>
          <p:nvPr/>
        </p:nvSpPr>
        <p:spPr>
          <a:xfrm>
            <a:off x="302741" y="4753892"/>
            <a:ext cx="5105400" cy="365125"/>
          </a:xfrm>
          <a:prstGeom prst="rect">
            <a:avLst/>
          </a:prstGeom>
        </p:spPr>
        <p:txBody>
          <a:bodyPr vert="horz" lIns="91440" tIns="45720" rIns="91440" bIns="45720" rtlCol="0" anchor="ctr"/>
          <a:lstStyle>
            <a:defPPr>
              <a:defRPr lang="en-US"/>
            </a:defPPr>
            <a:lvl1pPr marL="0" algn="ctr" defTabSz="457200" rtl="0" eaLnBrk="1" latinLnBrk="0" hangingPunct="1">
              <a:defRPr sz="108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000" dirty="0">
                <a:solidFill>
                  <a:srgbClr val="7030A0"/>
                </a:solidFill>
                <a:ea typeface="ＭＳ Ｐゴシック" charset="-128"/>
              </a:rPr>
              <a:t>© 2013 by John Wiley &amp; Sons, Inc. All rights reserved.</a:t>
            </a:r>
          </a:p>
        </p:txBody>
      </p:sp>
      <p:sp>
        <p:nvSpPr>
          <p:cNvPr id="2" name="Slide Number Placeholder 1">
            <a:extLst>
              <a:ext uri="{FF2B5EF4-FFF2-40B4-BE49-F238E27FC236}">
                <a16:creationId xmlns:a16="http://schemas.microsoft.com/office/drawing/2014/main" id="{0C16B96D-0A24-49CC-8284-5913A6421139}"/>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5680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52400" y="22672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3727" y="1663955"/>
            <a:ext cx="3781457" cy="1971927"/>
          </a:xfrm>
          <a:prstGeom prst="rect">
            <a:avLst/>
          </a:prstGeom>
          <a:solidFill>
            <a:schemeClr val="tx1"/>
          </a:solidFill>
        </p:spPr>
      </p:pic>
      <p:sp>
        <p:nvSpPr>
          <p:cNvPr id="9" name="TextBox 8"/>
          <p:cNvSpPr txBox="1"/>
          <p:nvPr/>
        </p:nvSpPr>
        <p:spPr>
          <a:xfrm>
            <a:off x="77272" y="1116838"/>
            <a:ext cx="4113728" cy="3066160"/>
          </a:xfrm>
          <a:prstGeom prst="rect">
            <a:avLst/>
          </a:prstGeom>
          <a:noFill/>
        </p:spPr>
        <p:txBody>
          <a:bodyPr wrap="square" rtlCol="0">
            <a:spAutoFit/>
          </a:bodyPr>
          <a:lstStyle/>
          <a:p>
            <a:pPr marL="308610" indent="-308610" defTabSz="411480">
              <a:lnSpc>
                <a:spcPct val="90000"/>
              </a:lnSpc>
              <a:spcBef>
                <a:spcPct val="20000"/>
              </a:spcBef>
              <a:buFont typeface="Courier New" panose="02070309020205020404" pitchFamily="49" charset="0"/>
              <a:buChar char="o"/>
            </a:pPr>
            <a:r>
              <a:rPr lang="en-US" sz="2600" dirty="0"/>
              <a:t>Latitude (Parallels):</a:t>
            </a:r>
          </a:p>
          <a:p>
            <a:pPr marL="668655" lvl="1" indent="-257175" defTabSz="411480">
              <a:lnSpc>
                <a:spcPct val="90000"/>
              </a:lnSpc>
              <a:spcBef>
                <a:spcPct val="20000"/>
              </a:spcBef>
              <a:buFont typeface="Wingdings" panose="05000000000000000000" pitchFamily="2" charset="2"/>
              <a:buChar char="ü"/>
            </a:pPr>
            <a:r>
              <a:rPr lang="en-US" sz="2160" dirty="0"/>
              <a:t>Measures north to south</a:t>
            </a:r>
          </a:p>
          <a:p>
            <a:pPr marL="668655" lvl="1" indent="-257175" defTabSz="411480">
              <a:lnSpc>
                <a:spcPct val="90000"/>
              </a:lnSpc>
              <a:spcBef>
                <a:spcPct val="20000"/>
              </a:spcBef>
              <a:buFont typeface="Wingdings" panose="05000000000000000000" pitchFamily="2" charset="2"/>
              <a:buChar char="ü"/>
            </a:pPr>
            <a:r>
              <a:rPr lang="en-US" sz="2160" dirty="0"/>
              <a:t>90° in each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north in the northern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south in the southern hemisphere</a:t>
            </a:r>
          </a:p>
          <a:p>
            <a:pPr marL="668655" lvl="1" indent="-257175" defTabSz="411480">
              <a:lnSpc>
                <a:spcPct val="90000"/>
              </a:lnSpc>
              <a:spcBef>
                <a:spcPct val="20000"/>
              </a:spcBef>
              <a:buFont typeface="Wingdings" panose="05000000000000000000" pitchFamily="2" charset="2"/>
              <a:buChar char="ü"/>
            </a:pPr>
            <a:r>
              <a:rPr lang="en-US" sz="2160" dirty="0"/>
              <a:t>Zero in Equator</a:t>
            </a:r>
          </a:p>
          <a:p>
            <a:pPr>
              <a:lnSpc>
                <a:spcPct val="90000"/>
              </a:lnSpc>
            </a:pPr>
            <a:endParaRPr lang="en-US" sz="1350" dirty="0"/>
          </a:p>
        </p:txBody>
      </p:sp>
      <p:sp>
        <p:nvSpPr>
          <p:cNvPr id="2" name="Rectangle 1"/>
          <p:cNvSpPr/>
          <p:nvPr/>
        </p:nvSpPr>
        <p:spPr>
          <a:xfrm>
            <a:off x="4138380" y="4556416"/>
            <a:ext cx="3781458" cy="587084"/>
          </a:xfrm>
          <a:prstGeom prst="rect">
            <a:avLst/>
          </a:prstGeom>
        </p:spPr>
        <p:txBody>
          <a:bodyPr wrap="square">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87847239-2B7C-40FC-B8C2-ED600088FD75}"/>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321550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52400" y="2270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473" y="1478471"/>
            <a:ext cx="4193044" cy="2186558"/>
          </a:xfrm>
          <a:prstGeom prst="rect">
            <a:avLst/>
          </a:prstGeom>
          <a:solidFill>
            <a:schemeClr val="tx1"/>
          </a:solidFill>
        </p:spPr>
      </p:pic>
      <p:sp>
        <p:nvSpPr>
          <p:cNvPr id="9" name="TextBox 8"/>
          <p:cNvSpPr txBox="1"/>
          <p:nvPr/>
        </p:nvSpPr>
        <p:spPr>
          <a:xfrm>
            <a:off x="118533" y="850969"/>
            <a:ext cx="3601388" cy="4309641"/>
          </a:xfrm>
          <a:prstGeom prst="rect">
            <a:avLst/>
          </a:prstGeom>
          <a:noFill/>
        </p:spPr>
        <p:txBody>
          <a:bodyPr wrap="square" rtlCol="0">
            <a:spAutoFit/>
          </a:bodyPr>
          <a:lstStyle/>
          <a:p>
            <a:pPr>
              <a:lnSpc>
                <a:spcPct val="90000"/>
              </a:lnSpc>
            </a:pPr>
            <a:endParaRPr lang="en-US" sz="1350" dirty="0"/>
          </a:p>
          <a:p>
            <a:pPr marL="308610" indent="-308610" defTabSz="411480">
              <a:lnSpc>
                <a:spcPct val="90000"/>
              </a:lnSpc>
              <a:spcBef>
                <a:spcPct val="20000"/>
              </a:spcBef>
              <a:buFont typeface="Courier New" panose="02070309020205020404" pitchFamily="49" charset="0"/>
              <a:buChar char="o"/>
            </a:pPr>
            <a:r>
              <a:rPr lang="en-US" sz="2600" dirty="0"/>
              <a:t>Longitude (Meridians)</a:t>
            </a:r>
          </a:p>
          <a:p>
            <a:pPr marL="800100" lvl="1" indent="-342900">
              <a:lnSpc>
                <a:spcPct val="90000"/>
              </a:lnSpc>
              <a:buFont typeface="Wingdings" panose="05000000000000000000" pitchFamily="2" charset="2"/>
              <a:buChar char="ü"/>
            </a:pPr>
            <a:r>
              <a:rPr lang="en-US" sz="2160" dirty="0"/>
              <a:t>Measures east to west</a:t>
            </a:r>
          </a:p>
          <a:p>
            <a:pPr marL="800100" lvl="1" indent="-342900">
              <a:lnSpc>
                <a:spcPct val="90000"/>
              </a:lnSpc>
              <a:buFont typeface="Wingdings" panose="05000000000000000000" pitchFamily="2" charset="2"/>
              <a:buChar char="ü"/>
            </a:pPr>
            <a:r>
              <a:rPr lang="en-US" sz="2160" dirty="0"/>
              <a:t>180° in each hemisphere</a:t>
            </a:r>
          </a:p>
          <a:p>
            <a:pPr marL="800100" lvl="1" indent="-342900">
              <a:lnSpc>
                <a:spcPct val="90000"/>
              </a:lnSpc>
              <a:buFont typeface="Wingdings" panose="05000000000000000000" pitchFamily="2" charset="2"/>
              <a:buChar char="ü"/>
            </a:pPr>
            <a:r>
              <a:rPr lang="en-US" sz="2160" dirty="0"/>
              <a:t>Increases as you go east in the eastern hemisphere</a:t>
            </a:r>
          </a:p>
          <a:p>
            <a:pPr marL="800100" lvl="1" indent="-342900">
              <a:lnSpc>
                <a:spcPct val="90000"/>
              </a:lnSpc>
              <a:buFont typeface="Wingdings" panose="05000000000000000000" pitchFamily="2" charset="2"/>
              <a:buChar char="ü"/>
            </a:pPr>
            <a:r>
              <a:rPr lang="en-US" sz="2160" dirty="0"/>
              <a:t>Increases as you go west in the western hemisphere</a:t>
            </a:r>
          </a:p>
          <a:p>
            <a:pPr marL="800100" lvl="1" indent="-342900">
              <a:lnSpc>
                <a:spcPct val="90000"/>
              </a:lnSpc>
              <a:buFont typeface="Wingdings" panose="05000000000000000000" pitchFamily="2" charset="2"/>
              <a:buChar char="ü"/>
            </a:pPr>
            <a:r>
              <a:rPr lang="en-US" sz="2160" dirty="0"/>
              <a:t>Zero is </a:t>
            </a:r>
            <a:r>
              <a:rPr lang="en-US" sz="2160" dirty="0">
                <a:solidFill>
                  <a:srgbClr val="7030A0"/>
                </a:solidFill>
              </a:rPr>
              <a:t>Prime Meridian, </a:t>
            </a:r>
            <a:r>
              <a:rPr lang="en-US" sz="2160" dirty="0"/>
              <a:t>going through Greenwich, England</a:t>
            </a:r>
          </a:p>
        </p:txBody>
      </p:sp>
      <p:sp>
        <p:nvSpPr>
          <p:cNvPr id="2" name="Rectangle 1"/>
          <p:cNvSpPr/>
          <p:nvPr/>
        </p:nvSpPr>
        <p:spPr>
          <a:xfrm>
            <a:off x="3806110" y="4165821"/>
            <a:ext cx="4113728" cy="587084"/>
          </a:xfrm>
          <a:prstGeom prst="rect">
            <a:avLst/>
          </a:prstGeom>
        </p:spPr>
        <p:txBody>
          <a:bodyPr>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BC5C1C7C-3351-4663-9B00-6707BE1B9C5A}"/>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2356075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F0690D3F-1287-4907-82BD-8C9B2368ED8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1 Degree = 60 Minutes = 3600 Seconds</a:t>
            </a:r>
          </a:p>
          <a:p>
            <a:pPr lvl="1">
              <a:lnSpc>
                <a:spcPct val="90000"/>
              </a:lnSpc>
              <a:buFont typeface="Wingdings" panose="05000000000000000000" pitchFamily="2" charset="2"/>
              <a:buChar char="ü"/>
            </a:pPr>
            <a:r>
              <a:rPr lang="en-US" sz="2440" dirty="0"/>
              <a:t>˚ = Degrees</a:t>
            </a:r>
          </a:p>
          <a:p>
            <a:pPr lvl="1">
              <a:lnSpc>
                <a:spcPct val="90000"/>
              </a:lnSpc>
              <a:buFont typeface="Wingdings" panose="05000000000000000000" pitchFamily="2" charset="2"/>
              <a:buChar char="ü"/>
            </a:pPr>
            <a:r>
              <a:rPr lang="en-US" sz="2440" dirty="0"/>
              <a:t>‘ = Minutes</a:t>
            </a:r>
          </a:p>
          <a:p>
            <a:pPr lvl="1">
              <a:lnSpc>
                <a:spcPct val="90000"/>
              </a:lnSpc>
              <a:buFont typeface="Wingdings" panose="05000000000000000000" pitchFamily="2" charset="2"/>
              <a:buChar char="ü"/>
            </a:pPr>
            <a:r>
              <a:rPr lang="en-US" sz="2440" dirty="0"/>
              <a:t>“ = Seconds</a:t>
            </a:r>
          </a:p>
          <a:p>
            <a:pPr marL="411480" lvl="1" indent="0">
              <a:lnSpc>
                <a:spcPct val="90000"/>
              </a:lnSpc>
              <a:buNone/>
            </a:pPr>
            <a:r>
              <a:rPr lang="en-US" sz="2440" dirty="0"/>
              <a:t>1.5 ˚ =1 ˚ 0.5X60’= 1 ˚ 30’</a:t>
            </a:r>
          </a:p>
          <a:p>
            <a:pPr marL="411480" lvl="1" indent="0">
              <a:lnSpc>
                <a:spcPct val="90000"/>
              </a:lnSpc>
              <a:buNone/>
            </a:pPr>
            <a:r>
              <a:rPr lang="en-US" sz="2440" dirty="0"/>
              <a:t>1 ˚ 30’ = 1° + (30’/60’) = 1.5°</a:t>
            </a:r>
          </a:p>
          <a:p>
            <a:pPr marL="411480" lvl="1" indent="0">
              <a:lnSpc>
                <a:spcPct val="90000"/>
              </a:lnSpc>
              <a:buNone/>
            </a:pPr>
            <a:endParaRPr lang="en-US" sz="2440" dirty="0"/>
          </a:p>
          <a:p>
            <a:pPr marL="411480" lvl="1" indent="0">
              <a:lnSpc>
                <a:spcPct val="90000"/>
              </a:lnSpc>
              <a:buNone/>
            </a:pPr>
            <a:endParaRPr lang="en-US" sz="244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F2A322D7-BC21-4C11-B78A-E3379C2B16AD}"/>
              </a:ext>
            </a:extLst>
          </p:cNvPr>
          <p:cNvSpPr txBox="1">
            <a:spLocks/>
          </p:cNvSpPr>
          <p:nvPr/>
        </p:nvSpPr>
        <p:spPr>
          <a:xfrm>
            <a:off x="152400"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EA923B1D-85AD-49E9-9586-7D3446AA4D4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7053173-CEB8-45E8-8FE5-7B5941CA1507}"/>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46421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27">
            <a:extLst>
              <a:ext uri="{FF2B5EF4-FFF2-40B4-BE49-F238E27FC236}">
                <a16:creationId xmlns:a16="http://schemas.microsoft.com/office/drawing/2014/main" id="{7435645E-F332-4962-9C30-7E2B3B1E8757}"/>
              </a:ext>
            </a:extLst>
          </p:cNvPr>
          <p:cNvSpPr txBox="1">
            <a:spLocks noChangeArrowheads="1"/>
          </p:cNvSpPr>
          <p:nvPr/>
        </p:nvSpPr>
        <p:spPr>
          <a:xfrm>
            <a:off x="302741" y="1029962"/>
            <a:ext cx="4107894" cy="3886200"/>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Advantages:</a:t>
            </a:r>
          </a:p>
          <a:p>
            <a:pPr lvl="1">
              <a:buFont typeface="Wingdings" panose="05000000000000000000" pitchFamily="2" charset="2"/>
              <a:buChar char="ü"/>
            </a:pPr>
            <a:r>
              <a:rPr lang="en-US" altLang="en-US" sz="2160" dirty="0"/>
              <a:t>Accurate representation</a:t>
            </a:r>
          </a:p>
          <a:p>
            <a:pPr lvl="1">
              <a:buFont typeface="Wingdings" panose="05000000000000000000" pitchFamily="2" charset="2"/>
              <a:buChar char="ü"/>
            </a:pPr>
            <a:r>
              <a:rPr lang="en-US" altLang="en-US" sz="2160" dirty="0"/>
              <a:t>Latitude and longitude lines</a:t>
            </a:r>
          </a:p>
          <a:p>
            <a:pPr lvl="1">
              <a:buFont typeface="Wingdings" panose="05000000000000000000" pitchFamily="2" charset="2"/>
              <a:buChar char="ü"/>
            </a:pPr>
            <a:r>
              <a:rPr lang="en-US" altLang="en-US" sz="2160" dirty="0"/>
              <a:t>Without distortion</a:t>
            </a:r>
          </a:p>
          <a:p>
            <a:pPr marL="308610" lvl="1" indent="-308610">
              <a:buFont typeface="Courier New" panose="02070309020205020404" pitchFamily="49" charset="0"/>
              <a:buChar char="o"/>
            </a:pPr>
            <a:r>
              <a:rPr lang="en-US" altLang="en-US" sz="2600" dirty="0"/>
              <a:t>Disadvantages</a:t>
            </a:r>
          </a:p>
          <a:p>
            <a:pPr marL="817245" lvl="2" indent="-457200">
              <a:buFont typeface="Wingdings" panose="05000000000000000000" pitchFamily="2" charset="2"/>
              <a:buChar char="ü"/>
            </a:pPr>
            <a:r>
              <a:rPr lang="en-US" altLang="en-US" sz="2240" dirty="0"/>
              <a:t>Expensive to make</a:t>
            </a:r>
          </a:p>
          <a:p>
            <a:pPr marL="817245" lvl="2" indent="-457200">
              <a:buFont typeface="Wingdings" panose="05000000000000000000" pitchFamily="2" charset="2"/>
              <a:buChar char="ü"/>
            </a:pPr>
            <a:r>
              <a:rPr lang="en-US" altLang="en-US" sz="2240" dirty="0"/>
              <a:t>Cumbersome to handle and store</a:t>
            </a:r>
          </a:p>
          <a:p>
            <a:pPr marL="817245" lvl="2" indent="-457200">
              <a:buFont typeface="Wingdings" panose="05000000000000000000" pitchFamily="2" charset="2"/>
              <a:buChar char="ü"/>
            </a:pPr>
            <a:r>
              <a:rPr lang="en-US" altLang="en-US" sz="2240" dirty="0"/>
              <a:t>Difficult to measure distance</a:t>
            </a:r>
          </a:p>
          <a:p>
            <a:pPr marL="817245" lvl="2" indent="-457200">
              <a:buFont typeface="Wingdings" panose="05000000000000000000" pitchFamily="2" charset="2"/>
              <a:buChar char="ü"/>
            </a:pPr>
            <a:r>
              <a:rPr lang="en-US" altLang="en-US" sz="2240" dirty="0"/>
              <a:t>Not fully visible at one view</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BAF570F0-51AD-4159-BFD1-24845160EA17}"/>
              </a:ext>
            </a:extLst>
          </p:cNvPr>
          <p:cNvSpPr txBox="1">
            <a:spLocks/>
          </p:cNvSpPr>
          <p:nvPr/>
        </p:nvSpPr>
        <p:spPr>
          <a:xfrm>
            <a:off x="152400" y="2032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TextBox 5"/>
          <p:cNvSpPr txBox="1"/>
          <p:nvPr/>
        </p:nvSpPr>
        <p:spPr>
          <a:xfrm>
            <a:off x="4680732" y="4180707"/>
            <a:ext cx="2675317" cy="230832"/>
          </a:xfrm>
          <a:prstGeom prst="rect">
            <a:avLst/>
          </a:prstGeom>
          <a:noFill/>
        </p:spPr>
        <p:txBody>
          <a:bodyPr wrap="square" rtlCol="0">
            <a:spAutoFit/>
          </a:bodyPr>
          <a:lstStyle/>
          <a:p>
            <a:pPr>
              <a:lnSpc>
                <a:spcPct val="90000"/>
              </a:lnSpc>
            </a:pPr>
            <a:r>
              <a:rPr lang="en-US" sz="1000" dirty="0"/>
              <a:t>Image from Google Earth</a:t>
            </a:r>
          </a:p>
        </p:txBody>
      </p:sp>
      <p:cxnSp>
        <p:nvCxnSpPr>
          <p:cNvPr id="8" name="Straight Connector 7">
            <a:extLst>
              <a:ext uri="{FF2B5EF4-FFF2-40B4-BE49-F238E27FC236}">
                <a16:creationId xmlns:a16="http://schemas.microsoft.com/office/drawing/2014/main" id="{017C9FB0-1B18-4D9E-8F65-6B1A2DC2284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06C726F-532B-4100-B463-9107D18091E9}"/>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4" name="Picture 3">
            <a:extLst>
              <a:ext uri="{FF2B5EF4-FFF2-40B4-BE49-F238E27FC236}">
                <a16:creationId xmlns:a16="http://schemas.microsoft.com/office/drawing/2014/main" id="{974AD892-0985-2F70-737F-6156145CF66D}"/>
              </a:ext>
            </a:extLst>
          </p:cNvPr>
          <p:cNvPicPr>
            <a:picLocks noChangeAspect="1"/>
          </p:cNvPicPr>
          <p:nvPr/>
        </p:nvPicPr>
        <p:blipFill>
          <a:blip r:embed="rId3"/>
          <a:stretch>
            <a:fillRect/>
          </a:stretch>
        </p:blipFill>
        <p:spPr>
          <a:xfrm>
            <a:off x="4430903" y="1006878"/>
            <a:ext cx="3722497" cy="3129743"/>
          </a:xfrm>
          <a:prstGeom prst="rect">
            <a:avLst/>
          </a:prstGeom>
        </p:spPr>
      </p:pic>
    </p:spTree>
    <p:extLst>
      <p:ext uri="{BB962C8B-B14F-4D97-AF65-F5344CB8AC3E}">
        <p14:creationId xmlns:p14="http://schemas.microsoft.com/office/powerpoint/2010/main" val="69003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400" dirty="0"/>
              <a:t>Map projections allow us to view the 3D Earth on a 2D surface</a:t>
            </a:r>
          </a:p>
          <a:p>
            <a:pPr marL="308610" lvl="1" indent="-308610">
              <a:buFont typeface="Courier New" panose="02070309020205020404" pitchFamily="49" charset="0"/>
              <a:buChar char="o"/>
            </a:pPr>
            <a:r>
              <a:rPr lang="en-US" altLang="en-US" sz="2400" dirty="0"/>
              <a:t>Earth is mathematically projected to a surface that can be made flat</a:t>
            </a:r>
          </a:p>
          <a:p>
            <a:pPr marL="308610" lvl="1" indent="-308610">
              <a:buFont typeface="Courier New" panose="02070309020205020404" pitchFamily="49" charset="0"/>
              <a:buChar char="o"/>
            </a:pPr>
            <a:r>
              <a:rPr lang="en-US" altLang="en-US" sz="2400" dirty="0"/>
              <a:t>We now make measurements in distance or length units as opposed to degrees</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247135" y="24861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12" name="Picture 2" descr="File:Cartesian coordinate system (comma).svg">
            <a:extLst>
              <a:ext uri="{FF2B5EF4-FFF2-40B4-BE49-F238E27FC236}">
                <a16:creationId xmlns:a16="http://schemas.microsoft.com/office/drawing/2014/main" id="{2D31ABAD-1876-4EC1-B39B-075532755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16" name="Rectangle 15">
            <a:extLst>
              <a:ext uri="{FF2B5EF4-FFF2-40B4-BE49-F238E27FC236}">
                <a16:creationId xmlns:a16="http://schemas.microsoft.com/office/drawing/2014/main" id="{BBB1338A-3A9D-4014-AA8B-2A0796C78CD3}"/>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F0453AF4-6AD4-4087-9CBB-C630F6A20D2D}"/>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extLst>
      <p:ext uri="{BB962C8B-B14F-4D97-AF65-F5344CB8AC3E}">
        <p14:creationId xmlns:p14="http://schemas.microsoft.com/office/powerpoint/2010/main" val="4072628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308610" lvl="1" indent="-308610">
              <a:buFont typeface="Courier New" panose="02070309020205020404" pitchFamily="49" charset="0"/>
              <a:buChar char="o"/>
            </a:pPr>
            <a:r>
              <a:rPr lang="en-US" altLang="en-US" sz="2600" dirty="0"/>
              <a:t>They allow us to make measurements in a Cartesian coordinate system on a plane</a:t>
            </a:r>
          </a:p>
          <a:p>
            <a:pPr marL="308610" lvl="1" indent="-308610">
              <a:buFont typeface="Courier New" panose="02070309020205020404" pitchFamily="49" charset="0"/>
              <a:buChar char="o"/>
            </a:pPr>
            <a:r>
              <a:rPr lang="en-US" altLang="en-US" sz="2600" dirty="0"/>
              <a:t>These 2D surface are known as </a:t>
            </a:r>
            <a:r>
              <a:rPr lang="en-US" altLang="en-US" sz="2600" dirty="0">
                <a:solidFill>
                  <a:srgbClr val="7030A0"/>
                </a:solidFill>
              </a:rPr>
              <a:t>map projections</a:t>
            </a:r>
            <a:r>
              <a:rPr lang="en-US" altLang="en-US" sz="2600" dirty="0"/>
              <a:t>.</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247135" y="20261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 name="Picture 2" descr="File:Cartesian coordinate system (comma).svg">
            <a:extLst>
              <a:ext uri="{FF2B5EF4-FFF2-40B4-BE49-F238E27FC236}">
                <a16:creationId xmlns:a16="http://schemas.microsoft.com/office/drawing/2014/main" id="{3F55F73B-67A7-4338-A658-1FBC3C22C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5" name="Rectangle 4">
            <a:extLst>
              <a:ext uri="{FF2B5EF4-FFF2-40B4-BE49-F238E27FC236}">
                <a16:creationId xmlns:a16="http://schemas.microsoft.com/office/drawing/2014/main" id="{7F931FA7-089A-4943-A3A0-BB72E95F2B64}"/>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67B5BB24-EB69-471E-A74E-8E36D14CC1B7}"/>
              </a:ext>
            </a:extLst>
          </p:cNvPr>
          <p:cNvSpPr>
            <a:spLocks noGrp="1"/>
          </p:cNvSpPr>
          <p:nvPr>
            <p:ph type="sldNum" sz="quarter" idx="12"/>
          </p:nvPr>
        </p:nvSpPr>
        <p:spPr/>
        <p:txBody>
          <a:bodyPr/>
          <a:lstStyle/>
          <a:p>
            <a:fld id="{127DDC20-79C9-9647-820E-6D40A3D210C3}" type="slidenum">
              <a:rPr lang="en-US" smtClean="0"/>
              <a:pPr/>
              <a:t>31</a:t>
            </a:fld>
            <a:endParaRPr lang="en-US"/>
          </a:p>
        </p:txBody>
      </p:sp>
    </p:spTree>
    <p:extLst>
      <p:ext uri="{BB962C8B-B14F-4D97-AF65-F5344CB8AC3E}">
        <p14:creationId xmlns:p14="http://schemas.microsoft.com/office/powerpoint/2010/main" val="9076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392" y="566558"/>
            <a:ext cx="7741920" cy="857250"/>
          </a:xfrm>
        </p:spPr>
        <p:txBody>
          <a:bodyPr>
            <a:noAutofit/>
          </a:bodyPr>
          <a:lstStyle/>
          <a:p>
            <a:pPr algn="l"/>
            <a:r>
              <a:rPr lang="en-US" sz="3200" b="1" dirty="0">
                <a:solidFill>
                  <a:srgbClr val="7030A0"/>
                </a:solidFill>
              </a:rPr>
              <a:t>Geographic</a:t>
            </a:r>
            <a:r>
              <a:rPr lang="en-US" sz="3200" dirty="0">
                <a:solidFill>
                  <a:srgbClr val="7030A0"/>
                </a:solidFill>
              </a:rPr>
              <a:t> vs </a:t>
            </a:r>
            <a:r>
              <a:rPr lang="en-US" sz="3200" b="1" dirty="0">
                <a:solidFill>
                  <a:srgbClr val="7030A0"/>
                </a:solidFill>
              </a:rPr>
              <a:t>Projected Coordinate Systems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32</a:t>
            </a:fld>
            <a:endParaRPr lang="en-US"/>
          </a:p>
        </p:txBody>
      </p:sp>
      <p:pic>
        <p:nvPicPr>
          <p:cNvPr id="7" name="Picture 6"/>
          <p:cNvPicPr>
            <a:picLocks noChangeAspect="1"/>
          </p:cNvPicPr>
          <p:nvPr/>
        </p:nvPicPr>
        <p:blipFill>
          <a:blip r:embed="rId3"/>
          <a:stretch>
            <a:fillRect/>
          </a:stretch>
        </p:blipFill>
        <p:spPr>
          <a:xfrm>
            <a:off x="4269145" y="1563580"/>
            <a:ext cx="3384074" cy="2903619"/>
          </a:xfrm>
          <a:prstGeom prst="rect">
            <a:avLst/>
          </a:prstGeom>
        </p:spPr>
      </p:pic>
      <p:pic>
        <p:nvPicPr>
          <p:cNvPr id="8" name="Picture 7"/>
          <p:cNvPicPr>
            <a:picLocks noChangeAspect="1"/>
          </p:cNvPicPr>
          <p:nvPr/>
        </p:nvPicPr>
        <p:blipFill>
          <a:blip r:embed="rId4"/>
          <a:stretch>
            <a:fillRect/>
          </a:stretch>
        </p:blipFill>
        <p:spPr>
          <a:xfrm>
            <a:off x="770654" y="1661757"/>
            <a:ext cx="3111949" cy="2643161"/>
          </a:xfrm>
          <a:prstGeom prst="rect">
            <a:avLst/>
          </a:prstGeom>
        </p:spPr>
      </p:pic>
      <p:sp>
        <p:nvSpPr>
          <p:cNvPr id="9" name="TextBox 8"/>
          <p:cNvSpPr txBox="1"/>
          <p:nvPr/>
        </p:nvSpPr>
        <p:spPr>
          <a:xfrm>
            <a:off x="4835077" y="4526790"/>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sp>
        <p:nvSpPr>
          <p:cNvPr id="10" name="TextBox 9"/>
          <p:cNvSpPr txBox="1"/>
          <p:nvPr/>
        </p:nvSpPr>
        <p:spPr>
          <a:xfrm>
            <a:off x="1388035" y="4542867"/>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3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75484" y="996981"/>
            <a:ext cx="5505525" cy="4026344"/>
          </a:xfrm>
          <a:prstGeom prst="rect">
            <a:avLst/>
          </a:prstGeom>
        </p:spPr>
      </p:pic>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76200" y="23015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Datum/Projection Info in ArcGIS</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33</a:t>
            </a:fld>
            <a:endParaRPr lang="en-US"/>
          </a:p>
        </p:txBody>
      </p:sp>
    </p:spTree>
    <p:extLst>
      <p:ext uri="{BB962C8B-B14F-4D97-AF65-F5344CB8AC3E}">
        <p14:creationId xmlns:p14="http://schemas.microsoft.com/office/powerpoint/2010/main" val="1862205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247135" y="18667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34</a:t>
            </a:fld>
            <a:endParaRPr lang="en-US"/>
          </a:p>
        </p:txBody>
      </p:sp>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1"/>
            <a:ext cx="7679724" cy="2119636"/>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dirty="0"/>
              <a:t>Transformation</a:t>
            </a:r>
          </a:p>
          <a:p>
            <a:pPr lvl="1">
              <a:lnSpc>
                <a:spcPct val="90000"/>
              </a:lnSpc>
              <a:buFont typeface="Wingdings" panose="05000000000000000000" pitchFamily="2" charset="2"/>
              <a:buChar char="ü"/>
            </a:pPr>
            <a:r>
              <a:rPr lang="en-GB" sz="2240" dirty="0"/>
              <a:t>Converting coordinates from one datum to another</a:t>
            </a:r>
          </a:p>
          <a:p>
            <a:pPr lvl="2">
              <a:lnSpc>
                <a:spcPct val="90000"/>
              </a:lnSpc>
              <a:buFont typeface="Arial" panose="020B0604020202020204" pitchFamily="34" charset="0"/>
              <a:buChar char="•"/>
            </a:pPr>
            <a:r>
              <a:rPr lang="en-GB" sz="1800" dirty="0"/>
              <a:t>Shift origin</a:t>
            </a:r>
          </a:p>
          <a:p>
            <a:pPr lvl="2">
              <a:lnSpc>
                <a:spcPct val="90000"/>
              </a:lnSpc>
              <a:buFont typeface="Arial" panose="020B0604020202020204" pitchFamily="34" charset="0"/>
              <a:buChar char="•"/>
            </a:pPr>
            <a:r>
              <a:rPr lang="en-GB" sz="1800" dirty="0"/>
              <a:t>Scale</a:t>
            </a:r>
          </a:p>
          <a:p>
            <a:pPr lvl="2">
              <a:lnSpc>
                <a:spcPct val="90000"/>
              </a:lnSpc>
              <a:buFont typeface="Arial" panose="020B0604020202020204" pitchFamily="34" charset="0"/>
              <a:buChar char="•"/>
            </a:pPr>
            <a:r>
              <a:rPr lang="en-GB" sz="1800" dirty="0"/>
              <a:t>rotation</a:t>
            </a:r>
          </a:p>
          <a:p>
            <a:pPr>
              <a:lnSpc>
                <a:spcPct val="90000"/>
              </a:lnSpc>
              <a:buFont typeface="Courier New" panose="02070309020205020404" pitchFamily="49" charset="0"/>
              <a:buChar char="o"/>
            </a:pP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pic>
        <p:nvPicPr>
          <p:cNvPr id="4" name="Picture 3" descr="Diagram&#10;&#10;Description automatically generated">
            <a:extLst>
              <a:ext uri="{FF2B5EF4-FFF2-40B4-BE49-F238E27FC236}">
                <a16:creationId xmlns:a16="http://schemas.microsoft.com/office/drawing/2014/main" id="{09B8CBFA-369C-48C4-A012-D6955A0931BC}"/>
              </a:ext>
            </a:extLst>
          </p:cNvPr>
          <p:cNvPicPr>
            <a:picLocks noChangeAspect="1"/>
          </p:cNvPicPr>
          <p:nvPr/>
        </p:nvPicPr>
        <p:blipFill>
          <a:blip r:embed="rId3"/>
          <a:stretch>
            <a:fillRect/>
          </a:stretch>
        </p:blipFill>
        <p:spPr>
          <a:xfrm>
            <a:off x="3068400" y="1824637"/>
            <a:ext cx="3892696" cy="3212307"/>
          </a:xfrm>
          <a:prstGeom prst="rect">
            <a:avLst/>
          </a:prstGeom>
        </p:spPr>
      </p:pic>
      <p:sp>
        <p:nvSpPr>
          <p:cNvPr id="10" name="TextBox 9">
            <a:extLst>
              <a:ext uri="{FF2B5EF4-FFF2-40B4-BE49-F238E27FC236}">
                <a16:creationId xmlns:a16="http://schemas.microsoft.com/office/drawing/2014/main" id="{BDE0E188-9F51-4642-AA57-24F05AFA3557}"/>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11315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689" y="87192"/>
            <a:ext cx="7741920" cy="857250"/>
          </a:xfrm>
        </p:spPr>
        <p:txBody>
          <a:bodyPr>
            <a:noAutofit/>
          </a:bodyPr>
          <a:lstStyle/>
          <a:p>
            <a:pPr algn="l"/>
            <a:r>
              <a:rPr lang="en-US" sz="3200" b="1" dirty="0">
                <a:solidFill>
                  <a:srgbClr val="7030A0"/>
                </a:solidFill>
              </a:rPr>
              <a:t>MAP PROJECTION</a:t>
            </a:r>
          </a:p>
        </p:txBody>
      </p:sp>
      <p:sp>
        <p:nvSpPr>
          <p:cNvPr id="12" name="Content Placeholder 2">
            <a:extLst>
              <a:ext uri="{FF2B5EF4-FFF2-40B4-BE49-F238E27FC236}">
                <a16:creationId xmlns:a16="http://schemas.microsoft.com/office/drawing/2014/main" id="{C63EAEC2-9BD1-4BF7-BC6D-C5D2665ECE82}"/>
              </a:ext>
            </a:extLst>
          </p:cNvPr>
          <p:cNvSpPr>
            <a:spLocks noGrp="1"/>
          </p:cNvSpPr>
          <p:nvPr>
            <p:ph idx="1"/>
          </p:nvPr>
        </p:nvSpPr>
        <p:spPr>
          <a:xfrm>
            <a:off x="211689" y="1124184"/>
            <a:ext cx="4494152" cy="1061135"/>
          </a:xfrm>
        </p:spPr>
        <p:txBody>
          <a:bodyPr>
            <a:normAutofit/>
          </a:bodyPr>
          <a:lstStyle/>
          <a:p>
            <a:pPr>
              <a:buFont typeface="Courier New" panose="02070309020205020404" pitchFamily="49" charset="0"/>
              <a:buChar char="o"/>
            </a:pPr>
            <a:r>
              <a:rPr lang="en-US" sz="2600" dirty="0"/>
              <a:t>Conversion from geographic to projected coordinates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35</a:t>
            </a:fld>
            <a:endParaRPr lang="en-US"/>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Text, letter&#10;&#10;Description automatically generated">
            <a:extLst>
              <a:ext uri="{FF2B5EF4-FFF2-40B4-BE49-F238E27FC236}">
                <a16:creationId xmlns:a16="http://schemas.microsoft.com/office/drawing/2014/main" id="{29333DFF-1DB2-4DED-8188-40788E9C258D}"/>
              </a:ext>
            </a:extLst>
          </p:cNvPr>
          <p:cNvPicPr>
            <a:picLocks noChangeAspect="1"/>
          </p:cNvPicPr>
          <p:nvPr/>
        </p:nvPicPr>
        <p:blipFill>
          <a:blip r:embed="rId3"/>
          <a:stretch>
            <a:fillRect/>
          </a:stretch>
        </p:blipFill>
        <p:spPr>
          <a:xfrm>
            <a:off x="4905632" y="1175437"/>
            <a:ext cx="2209669" cy="3709537"/>
          </a:xfrm>
          <a:prstGeom prst="rect">
            <a:avLst/>
          </a:prstGeom>
        </p:spPr>
      </p:pic>
      <p:sp>
        <p:nvSpPr>
          <p:cNvPr id="13" name="TextBox 12">
            <a:extLst>
              <a:ext uri="{FF2B5EF4-FFF2-40B4-BE49-F238E27FC236}">
                <a16:creationId xmlns:a16="http://schemas.microsoft.com/office/drawing/2014/main" id="{22ECDBEB-6A46-46D4-BB1D-FFB2399B2062}"/>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6" name="Picture 5">
            <a:extLst>
              <a:ext uri="{FF2B5EF4-FFF2-40B4-BE49-F238E27FC236}">
                <a16:creationId xmlns:a16="http://schemas.microsoft.com/office/drawing/2014/main" id="{17CA91F4-6BE4-2243-133F-525CDDFC39C6}"/>
              </a:ext>
            </a:extLst>
          </p:cNvPr>
          <p:cNvPicPr>
            <a:picLocks noChangeAspect="1"/>
          </p:cNvPicPr>
          <p:nvPr/>
        </p:nvPicPr>
        <p:blipFill>
          <a:blip r:embed="rId4"/>
          <a:stretch>
            <a:fillRect/>
          </a:stretch>
        </p:blipFill>
        <p:spPr>
          <a:xfrm>
            <a:off x="211689" y="2534022"/>
            <a:ext cx="4494152" cy="2067310"/>
          </a:xfrm>
          <a:prstGeom prst="rect">
            <a:avLst/>
          </a:prstGeom>
        </p:spPr>
      </p:pic>
    </p:spTree>
    <p:extLst>
      <p:ext uri="{BB962C8B-B14F-4D97-AF65-F5344CB8AC3E}">
        <p14:creationId xmlns:p14="http://schemas.microsoft.com/office/powerpoint/2010/main" val="298096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p:nvPr/>
        </p:nvPicPr>
        <p:blipFill>
          <a:blip r:embed="rId3"/>
          <a:stretch>
            <a:fillRect/>
          </a:stretch>
        </p:blipFill>
        <p:spPr>
          <a:xfrm>
            <a:off x="1229042" y="1820230"/>
            <a:ext cx="5923915" cy="2675317"/>
          </a:xfrm>
          <a:prstGeom prst="rect">
            <a:avLst/>
          </a:prstGeom>
        </p:spPr>
      </p:pic>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5724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2" name="TextBox 1"/>
          <p:cNvSpPr txBox="1"/>
          <p:nvPr/>
        </p:nvSpPr>
        <p:spPr>
          <a:xfrm>
            <a:off x="247135" y="4428571"/>
            <a:ext cx="7830064" cy="279307"/>
          </a:xfrm>
          <a:prstGeom prst="rect">
            <a:avLst/>
          </a:prstGeom>
          <a:noFill/>
        </p:spPr>
        <p:txBody>
          <a:bodyPr wrap="square" rtlCol="0">
            <a:spAutoFit/>
          </a:bodyPr>
          <a:lstStyle/>
          <a:p>
            <a:pPr>
              <a:lnSpc>
                <a:spcPct val="90000"/>
              </a:lnSpc>
            </a:pPr>
            <a:r>
              <a:rPr lang="en-US" sz="1350" dirty="0"/>
              <a:t>Cylindrical Projections = Cylinder	     Conic Projections = Cone            Azimuthal Projections = Plane</a:t>
            </a:r>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152400" y="2052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125041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8533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247135" y="1933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37</a:t>
            </a:fld>
            <a:endParaRPr lang="en-US"/>
          </a:p>
        </p:txBody>
      </p:sp>
      <p:pic>
        <p:nvPicPr>
          <p:cNvPr id="9" name="Picture 8" descr="Diagram&#10;&#10;Description automatically generated">
            <a:extLst>
              <a:ext uri="{FF2B5EF4-FFF2-40B4-BE49-F238E27FC236}">
                <a16:creationId xmlns:a16="http://schemas.microsoft.com/office/drawing/2014/main" id="{EBC07721-9392-4B43-8F5C-98619941CAA0}"/>
              </a:ext>
            </a:extLst>
          </p:cNvPr>
          <p:cNvPicPr>
            <a:picLocks noChangeAspect="1"/>
          </p:cNvPicPr>
          <p:nvPr/>
        </p:nvPicPr>
        <p:blipFill>
          <a:blip r:embed="rId3"/>
          <a:stretch>
            <a:fillRect/>
          </a:stretch>
        </p:blipFill>
        <p:spPr>
          <a:xfrm>
            <a:off x="1420389" y="2144639"/>
            <a:ext cx="5388184" cy="2422383"/>
          </a:xfrm>
          <a:prstGeom prst="rect">
            <a:avLst/>
          </a:prstGeom>
        </p:spPr>
      </p:pic>
      <p:sp>
        <p:nvSpPr>
          <p:cNvPr id="11" name="TextBox 10">
            <a:extLst>
              <a:ext uri="{FF2B5EF4-FFF2-40B4-BE49-F238E27FC236}">
                <a16:creationId xmlns:a16="http://schemas.microsoft.com/office/drawing/2014/main" id="{DE2EEE40-9677-4E8A-A99F-02BFF20D9B8F}"/>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58956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728061-0418-463D-8B53-51F6E02BB7EC}"/>
              </a:ext>
            </a:extLst>
          </p:cNvPr>
          <p:cNvSpPr>
            <a:spLocks noGrp="1"/>
          </p:cNvSpPr>
          <p:nvPr>
            <p:ph type="sldNum" sz="quarter" idx="12"/>
          </p:nvPr>
        </p:nvSpPr>
        <p:spPr/>
        <p:txBody>
          <a:bodyPr/>
          <a:lstStyle/>
          <a:p>
            <a:fld id="{127DDC20-79C9-9647-820E-6D40A3D210C3}" type="slidenum">
              <a:rPr lang="en-US" smtClean="0"/>
              <a:pPr/>
              <a:t>38</a:t>
            </a:fld>
            <a:endParaRPr lang="en-US"/>
          </a:p>
        </p:txBody>
      </p:sp>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9365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Cylindrical Projection</a:t>
            </a: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7AD19FA-4DBE-6B87-53E2-57D8038218F7}"/>
              </a:ext>
            </a:extLst>
          </p:cNvPr>
          <p:cNvSpPr txBox="1"/>
          <p:nvPr/>
        </p:nvSpPr>
        <p:spPr>
          <a:xfrm>
            <a:off x="247135" y="1309039"/>
            <a:ext cx="2548467" cy="2862322"/>
          </a:xfrm>
          <a:prstGeom prst="rect">
            <a:avLst/>
          </a:prstGeom>
          <a:noFill/>
        </p:spPr>
        <p:txBody>
          <a:bodyPr wrap="square" rtlCol="0">
            <a:spAutoFit/>
          </a:bodyPr>
          <a:lstStyle/>
          <a:p>
            <a:pPr marL="285750" indent="-285750">
              <a:buFont typeface="Wingdings" panose="05000000000000000000" pitchFamily="2" charset="2"/>
              <a:buChar char="ü"/>
            </a:pPr>
            <a:r>
              <a:rPr lang="en-US" dirty="0"/>
              <a:t>This creates a </a:t>
            </a:r>
            <a:r>
              <a:rPr lang="en-US" b="1" dirty="0"/>
              <a:t>rectangular grid</a:t>
            </a:r>
          </a:p>
          <a:p>
            <a:pPr marL="285750" indent="-285750">
              <a:buFont typeface="Wingdings" panose="05000000000000000000" pitchFamily="2" charset="2"/>
              <a:buChar char="ü"/>
            </a:pPr>
            <a:endParaRPr lang="en-US" b="1" dirty="0"/>
          </a:p>
          <a:p>
            <a:pPr marL="285750" indent="-285750">
              <a:buFont typeface="Wingdings" panose="05000000000000000000" pitchFamily="2" charset="2"/>
              <a:buChar char="ü"/>
            </a:pPr>
            <a:r>
              <a:rPr lang="en-US" dirty="0"/>
              <a:t>Distortion </a:t>
            </a:r>
            <a:r>
              <a:rPr lang="en-US" b="1" dirty="0"/>
              <a:t>increases toward the poles</a:t>
            </a:r>
            <a:r>
              <a:rPr lang="en-US" dirty="0"/>
              <a:t> — shapes and areas get stretched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kern="0" dirty="0"/>
              <a:t>Good for navigation</a:t>
            </a:r>
          </a:p>
          <a:p>
            <a:endParaRPr lang="en-US" dirty="0"/>
          </a:p>
        </p:txBody>
      </p:sp>
      <p:sp>
        <p:nvSpPr>
          <p:cNvPr id="12" name="TextBox 11">
            <a:extLst>
              <a:ext uri="{FF2B5EF4-FFF2-40B4-BE49-F238E27FC236}">
                <a16:creationId xmlns:a16="http://schemas.microsoft.com/office/drawing/2014/main" id="{891C7E3A-20AA-9ADA-9BFF-4150C75F4674}"/>
              </a:ext>
            </a:extLst>
          </p:cNvPr>
          <p:cNvSpPr txBox="1"/>
          <p:nvPr/>
        </p:nvSpPr>
        <p:spPr>
          <a:xfrm>
            <a:off x="584199" y="4580510"/>
            <a:ext cx="3462867" cy="369332"/>
          </a:xfrm>
          <a:prstGeom prst="rect">
            <a:avLst/>
          </a:prstGeom>
          <a:noFill/>
        </p:spPr>
        <p:txBody>
          <a:bodyPr wrap="square" rtlCol="0">
            <a:spAutoFit/>
          </a:bodyPr>
          <a:lstStyle/>
          <a:p>
            <a:r>
              <a:rPr lang="en-US" i="1" dirty="0"/>
              <a:t>* </a:t>
            </a:r>
            <a:r>
              <a:rPr lang="en-US" i="1" dirty="0">
                <a:hlinkClick r:id="rId3"/>
              </a:rPr>
              <a:t>Creation of cylindrical projection</a:t>
            </a:r>
            <a:endParaRPr lang="en-US" i="1" dirty="0"/>
          </a:p>
        </p:txBody>
      </p:sp>
      <p:pic>
        <p:nvPicPr>
          <p:cNvPr id="13" name="Picture 12" descr="cylindrical">
            <a:extLst>
              <a:ext uri="{FF2B5EF4-FFF2-40B4-BE49-F238E27FC236}">
                <a16:creationId xmlns:a16="http://schemas.microsoft.com/office/drawing/2014/main" id="{AA677263-5E4E-C657-DBC5-67BC8CC4FECD}"/>
              </a:ext>
            </a:extLst>
          </p:cNvPr>
          <p:cNvPicPr>
            <a:picLocks noChangeAspect="1" noChangeArrowheads="1"/>
          </p:cNvPicPr>
          <p:nvPr/>
        </p:nvPicPr>
        <p:blipFill>
          <a:blip r:embed="rId4"/>
          <a:srcRect/>
          <a:stretch>
            <a:fillRect/>
          </a:stretch>
        </p:blipFill>
        <p:spPr bwMode="auto">
          <a:xfrm>
            <a:off x="3204749" y="1050908"/>
            <a:ext cx="4777716" cy="3076695"/>
          </a:xfrm>
          <a:prstGeom prst="rect">
            <a:avLst/>
          </a:prstGeom>
          <a:noFill/>
        </p:spPr>
      </p:pic>
    </p:spTree>
    <p:extLst>
      <p:ext uri="{BB962C8B-B14F-4D97-AF65-F5344CB8AC3E}">
        <p14:creationId xmlns:p14="http://schemas.microsoft.com/office/powerpoint/2010/main" val="117423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225C1B1A-ED5E-43CA-A84F-24CCD37E518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Plane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23850" y="1543681"/>
            <a:ext cx="3829050" cy="3429000"/>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Plane positioned at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1800" b="1" kern="0" dirty="0"/>
              <a:t>Longitude: </a:t>
            </a:r>
            <a:r>
              <a:rPr lang="en-US" sz="1800" kern="0" dirty="0"/>
              <a:t>straight, radiating</a:t>
            </a:r>
          </a:p>
          <a:p>
            <a:pPr lvl="1">
              <a:lnSpc>
                <a:spcPct val="80000"/>
              </a:lnSpc>
              <a:buFont typeface="Arial" panose="020B0604020202020204" pitchFamily="34" charset="0"/>
              <a:buChar char="•"/>
            </a:pPr>
            <a:r>
              <a:rPr lang="en-US" sz="1800" b="1" kern="0" dirty="0"/>
              <a:t>Latitude:</a:t>
            </a:r>
            <a:r>
              <a:rPr lang="en-US" sz="1800" kern="0" dirty="0"/>
              <a:t> circles</a:t>
            </a:r>
          </a:p>
          <a:p>
            <a:pPr>
              <a:lnSpc>
                <a:spcPct val="80000"/>
              </a:lnSpc>
              <a:buFont typeface="Wingdings" panose="05000000000000000000" pitchFamily="2" charset="2"/>
              <a:buChar char="ü"/>
            </a:pPr>
            <a:r>
              <a:rPr lang="en-US" sz="2100" kern="0" dirty="0"/>
              <a:t>Distortion increases away from center ("principal point") </a:t>
            </a:r>
          </a:p>
          <a:p>
            <a:pPr>
              <a:lnSpc>
                <a:spcPct val="80000"/>
              </a:lnSpc>
              <a:buFont typeface="Wingdings" panose="05000000000000000000" pitchFamily="2" charset="2"/>
              <a:buChar char="ü"/>
            </a:pPr>
            <a:r>
              <a:rPr lang="en-US" sz="2100" kern="0" dirty="0"/>
              <a:t>Good for polar regions</a:t>
            </a:r>
          </a:p>
          <a:p>
            <a:pPr>
              <a:lnSpc>
                <a:spcPct val="80000"/>
              </a:lnSpc>
              <a:buFont typeface="Wingdings" panose="05000000000000000000" pitchFamily="2" charset="2"/>
              <a:buChar char="ü"/>
            </a:pPr>
            <a:r>
              <a:rPr lang="en-US" sz="2100" kern="0" dirty="0"/>
              <a:t>Can't show more than half the world.</a:t>
            </a:r>
          </a:p>
          <a:p>
            <a:pPr marL="457200" indent="-457200">
              <a:lnSpc>
                <a:spcPct val="80000"/>
              </a:lnSpc>
              <a:buNone/>
            </a:pPr>
            <a:endParaRPr lang="en-US" sz="2100" kern="0" dirty="0"/>
          </a:p>
          <a:p>
            <a:pPr marL="457200" indent="-457200">
              <a:lnSpc>
                <a:spcPct val="80000"/>
              </a:lnSpc>
              <a:buNone/>
            </a:pPr>
            <a:endParaRPr lang="en-US" sz="2100" kern="0" dirty="0"/>
          </a:p>
        </p:txBody>
      </p:sp>
      <p:pic>
        <p:nvPicPr>
          <p:cNvPr id="18" name="Picture 8" descr="azimuthal"/>
          <p:cNvPicPr>
            <a:picLocks noChangeAspect="1" noChangeArrowheads="1"/>
          </p:cNvPicPr>
          <p:nvPr/>
        </p:nvPicPr>
        <p:blipFill>
          <a:blip r:embed="rId3"/>
          <a:srcRect/>
          <a:stretch>
            <a:fillRect/>
          </a:stretch>
        </p:blipFill>
        <p:spPr bwMode="auto">
          <a:xfrm>
            <a:off x="5314950" y="1257300"/>
            <a:ext cx="2101454" cy="3771900"/>
          </a:xfrm>
          <a:prstGeom prst="rect">
            <a:avLst/>
          </a:prstGeom>
          <a:noFill/>
        </p:spPr>
      </p:pic>
      <p:sp>
        <p:nvSpPr>
          <p:cNvPr id="10" name="Title 1">
            <a:extLst>
              <a:ext uri="{FF2B5EF4-FFF2-40B4-BE49-F238E27FC236}">
                <a16:creationId xmlns:a16="http://schemas.microsoft.com/office/drawing/2014/main" id="{FC297498-58D3-4DDD-AD28-5005C4470BDF}"/>
              </a:ext>
            </a:extLst>
          </p:cNvPr>
          <p:cNvSpPr txBox="1">
            <a:spLocks/>
          </p:cNvSpPr>
          <p:nvPr/>
        </p:nvSpPr>
        <p:spPr>
          <a:xfrm>
            <a:off x="247135" y="2042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Plane projection</a:t>
            </a:r>
          </a:p>
        </p:txBody>
      </p:sp>
      <p:cxnSp>
        <p:nvCxnSpPr>
          <p:cNvPr id="13" name="Straight Connector 12">
            <a:extLst>
              <a:ext uri="{FF2B5EF4-FFF2-40B4-BE49-F238E27FC236}">
                <a16:creationId xmlns:a16="http://schemas.microsoft.com/office/drawing/2014/main" id="{17FB9979-1B52-4FA4-8CBA-996B4B1FDB0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850F73B-16FD-4B27-BD25-7353E3B4D3DE}"/>
              </a:ext>
            </a:extLst>
          </p:cNvPr>
          <p:cNvSpPr>
            <a:spLocks noGrp="1"/>
          </p:cNvSpPr>
          <p:nvPr>
            <p:ph type="sldNum" sz="quarter" idx="12"/>
          </p:nvPr>
        </p:nvSpPr>
        <p:spPr/>
        <p:txBody>
          <a:bodyPr/>
          <a:lstStyle/>
          <a:p>
            <a:fld id="{127DDC20-79C9-9647-820E-6D40A3D210C3}" type="slidenum">
              <a:rPr lang="en-US" smtClean="0"/>
              <a:pPr/>
              <a:t>39</a:t>
            </a:fld>
            <a:endParaRPr lang="en-US"/>
          </a:p>
        </p:txBody>
      </p:sp>
    </p:spTree>
    <p:extLst>
      <p:ext uri="{BB962C8B-B14F-4D97-AF65-F5344CB8AC3E}">
        <p14:creationId xmlns:p14="http://schemas.microsoft.com/office/powerpoint/2010/main" val="42712398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6CEA6F7E-434E-4DD5-83B6-19E592DC6D9A}"/>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Conic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13260" y="1514475"/>
            <a:ext cx="6419057" cy="3526632"/>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Hold cone over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2100" b="1" kern="0" dirty="0"/>
              <a:t>Longitude: </a:t>
            </a:r>
            <a:r>
              <a:rPr lang="en-US" sz="2100" kern="0" dirty="0"/>
              <a:t>straight, converge</a:t>
            </a:r>
          </a:p>
          <a:p>
            <a:pPr lvl="1">
              <a:lnSpc>
                <a:spcPct val="80000"/>
              </a:lnSpc>
              <a:buFont typeface="Arial" panose="020B0604020202020204" pitchFamily="34" charset="0"/>
              <a:buChar char="•"/>
            </a:pPr>
            <a:r>
              <a:rPr lang="en-US" sz="1800" b="1" kern="0" dirty="0"/>
              <a:t>Latitude:</a:t>
            </a:r>
            <a:r>
              <a:rPr lang="en-US" sz="1800" kern="0" dirty="0"/>
              <a:t> </a:t>
            </a:r>
            <a:r>
              <a:rPr lang="en-US" sz="2100" kern="0" dirty="0"/>
              <a:t>curve</a:t>
            </a:r>
          </a:p>
          <a:p>
            <a:pPr lvl="1">
              <a:lnSpc>
                <a:spcPct val="80000"/>
              </a:lnSpc>
              <a:buFont typeface="Arial" panose="020B0604020202020204" pitchFamily="34" charset="0"/>
              <a:buChar char="•"/>
            </a:pPr>
            <a:r>
              <a:rPr lang="en-US" sz="2100" kern="0" dirty="0"/>
              <a:t>Distortion increases away from standard parallel</a:t>
            </a:r>
          </a:p>
          <a:p>
            <a:pPr>
              <a:lnSpc>
                <a:spcPct val="80000"/>
              </a:lnSpc>
              <a:buFont typeface="Wingdings" panose="05000000000000000000" pitchFamily="2" charset="2"/>
              <a:buChar char="ü"/>
            </a:pPr>
            <a:r>
              <a:rPr lang="en-US" sz="2100" kern="0" dirty="0"/>
              <a:t>Good for Mid-latitudes </a:t>
            </a:r>
          </a:p>
          <a:p>
            <a:pPr marL="457200" indent="-457200">
              <a:lnSpc>
                <a:spcPct val="80000"/>
              </a:lnSpc>
              <a:buNone/>
            </a:pPr>
            <a:endParaRPr lang="en-US" sz="2100" kern="0" dirty="0">
              <a:solidFill>
                <a:schemeClr val="tx2">
                  <a:lumMod val="75000"/>
                </a:schemeClr>
              </a:solidFill>
            </a:endParaRPr>
          </a:p>
        </p:txBody>
      </p:sp>
      <p:pic>
        <p:nvPicPr>
          <p:cNvPr id="9" name="Picture 8" descr="cone proj"/>
          <p:cNvPicPr>
            <a:picLocks noChangeAspect="1" noChangeArrowheads="1"/>
          </p:cNvPicPr>
          <p:nvPr/>
        </p:nvPicPr>
        <p:blipFill>
          <a:blip r:embed="rId3"/>
          <a:srcRect/>
          <a:stretch>
            <a:fillRect/>
          </a:stretch>
        </p:blipFill>
        <p:spPr bwMode="auto">
          <a:xfrm>
            <a:off x="2114550" y="3506667"/>
            <a:ext cx="4080128" cy="1582605"/>
          </a:xfrm>
          <a:prstGeom prst="rect">
            <a:avLst/>
          </a:prstGeom>
          <a:noFill/>
        </p:spPr>
      </p:pic>
      <p:sp>
        <p:nvSpPr>
          <p:cNvPr id="13" name="Title 1">
            <a:extLst>
              <a:ext uri="{FF2B5EF4-FFF2-40B4-BE49-F238E27FC236}">
                <a16:creationId xmlns:a16="http://schemas.microsoft.com/office/drawing/2014/main" id="{27D4896A-6A8A-4150-8967-C5DD8536C506}"/>
              </a:ext>
            </a:extLst>
          </p:cNvPr>
          <p:cNvSpPr txBox="1">
            <a:spLocks/>
          </p:cNvSpPr>
          <p:nvPr/>
        </p:nvSpPr>
        <p:spPr>
          <a:xfrm>
            <a:off x="152400" y="20177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Conic projection</a:t>
            </a:r>
          </a:p>
        </p:txBody>
      </p:sp>
      <p:cxnSp>
        <p:nvCxnSpPr>
          <p:cNvPr id="14" name="Straight Connector 13">
            <a:extLst>
              <a:ext uri="{FF2B5EF4-FFF2-40B4-BE49-F238E27FC236}">
                <a16:creationId xmlns:a16="http://schemas.microsoft.com/office/drawing/2014/main" id="{7D1C246A-045F-4F43-B078-5F9A3B1B2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15FB4021-D911-4220-B9C5-FB64C178097D}"/>
              </a:ext>
            </a:extLst>
          </p:cNvPr>
          <p:cNvSpPr>
            <a:spLocks noGrp="1"/>
          </p:cNvSpPr>
          <p:nvPr>
            <p:ph type="sldNum" sz="quarter" idx="12"/>
          </p:nvPr>
        </p:nvSpPr>
        <p:spPr/>
        <p:txBody>
          <a:bodyPr/>
          <a:lstStyle/>
          <a:p>
            <a:fld id="{127DDC20-79C9-9647-820E-6D40A3D210C3}" type="slidenum">
              <a:rPr lang="en-US" smtClean="0"/>
              <a:pPr/>
              <a:t>40</a:t>
            </a:fld>
            <a:endParaRPr lang="en-US"/>
          </a:p>
        </p:txBody>
      </p:sp>
    </p:spTree>
    <p:extLst>
      <p:ext uri="{BB962C8B-B14F-4D97-AF65-F5344CB8AC3E}">
        <p14:creationId xmlns:p14="http://schemas.microsoft.com/office/powerpoint/2010/main" val="25896535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051DFB31-93A0-4929-88AA-CE2C0E0324F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Text Box 4"/>
          <p:cNvSpPr txBox="1">
            <a:spLocks noChangeArrowheads="1"/>
          </p:cNvSpPr>
          <p:nvPr/>
        </p:nvSpPr>
        <p:spPr bwMode="gray">
          <a:xfrm>
            <a:off x="4282006" y="2438842"/>
            <a:ext cx="743858" cy="279751"/>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S</a:t>
            </a:r>
            <a:r>
              <a:rPr lang="en-US" sz="1620" dirty="0"/>
              <a:t>hape</a:t>
            </a:r>
          </a:p>
        </p:txBody>
      </p:sp>
      <p:sp>
        <p:nvSpPr>
          <p:cNvPr id="9" name="Text Box 5"/>
          <p:cNvSpPr txBox="1">
            <a:spLocks noChangeArrowheads="1"/>
          </p:cNvSpPr>
          <p:nvPr/>
        </p:nvSpPr>
        <p:spPr bwMode="gray">
          <a:xfrm>
            <a:off x="4366683" y="3032106"/>
            <a:ext cx="565932" cy="279750"/>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A</a:t>
            </a:r>
            <a:r>
              <a:rPr lang="en-US" sz="1620" dirty="0"/>
              <a:t>rea</a:t>
            </a:r>
          </a:p>
        </p:txBody>
      </p:sp>
      <p:sp>
        <p:nvSpPr>
          <p:cNvPr id="10" name="Text Box 6"/>
          <p:cNvSpPr txBox="1">
            <a:spLocks noChangeArrowheads="1"/>
          </p:cNvSpPr>
          <p:nvPr/>
        </p:nvSpPr>
        <p:spPr bwMode="gray">
          <a:xfrm>
            <a:off x="4158745" y="3554897"/>
            <a:ext cx="962514" cy="278679"/>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D</a:t>
            </a:r>
            <a:r>
              <a:rPr lang="en-US" sz="1620" dirty="0"/>
              <a:t>istance</a:t>
            </a:r>
          </a:p>
        </p:txBody>
      </p:sp>
      <p:grpSp>
        <p:nvGrpSpPr>
          <p:cNvPr id="3" name="Group 2"/>
          <p:cNvGrpSpPr/>
          <p:nvPr/>
        </p:nvGrpSpPr>
        <p:grpSpPr>
          <a:xfrm>
            <a:off x="4104082" y="2005818"/>
            <a:ext cx="3825402" cy="2320537"/>
            <a:chOff x="4794250" y="3024187"/>
            <a:chExt cx="5665787" cy="3436938"/>
          </a:xfrm>
        </p:grpSpPr>
        <p:sp>
          <p:nvSpPr>
            <p:cNvPr id="11" name="Text Box 7"/>
            <p:cNvSpPr txBox="1">
              <a:spLocks noChangeArrowheads="1"/>
            </p:cNvSpPr>
            <p:nvPr/>
          </p:nvSpPr>
          <p:spPr bwMode="gray">
            <a:xfrm>
              <a:off x="4794250" y="5983286"/>
              <a:ext cx="1331308" cy="463564"/>
            </a:xfrm>
            <a:prstGeom prst="rect">
              <a:avLst/>
            </a:prstGeom>
            <a:solidFill>
              <a:srgbClr val="FFCC00"/>
            </a:solidFill>
            <a:ln w="9525">
              <a:solidFill>
                <a:srgbClr val="000066"/>
              </a:solidFill>
              <a:miter lim="800000"/>
              <a:headEnd/>
              <a:tailEnd/>
            </a:ln>
          </p:spPr>
          <p:txBody>
            <a:bodyPr wrap="none" lIns="63071" tIns="31536" rIns="63071" bIns="31536">
              <a:spAutoFit/>
            </a:bodyPr>
            <a:lstStyle/>
            <a:p>
              <a:pPr>
                <a:spcBef>
                  <a:spcPct val="30000"/>
                </a:spcBef>
              </a:pPr>
              <a:r>
                <a:rPr lang="en-US" sz="1620" u="sng" dirty="0"/>
                <a:t>D</a:t>
              </a:r>
              <a:r>
                <a:rPr lang="en-US" sz="1620" dirty="0"/>
                <a:t>irection</a:t>
              </a:r>
            </a:p>
          </p:txBody>
        </p:sp>
        <p:sp>
          <p:nvSpPr>
            <p:cNvPr id="12" name="Oval 8"/>
            <p:cNvSpPr>
              <a:spLocks noChangeArrowheads="1"/>
            </p:cNvSpPr>
            <p:nvPr/>
          </p:nvSpPr>
          <p:spPr bwMode="gray">
            <a:xfrm>
              <a:off x="9169400" y="4200525"/>
              <a:ext cx="1168400" cy="11017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4" name="Oval 9"/>
            <p:cNvSpPr>
              <a:spLocks noChangeArrowheads="1"/>
            </p:cNvSpPr>
            <p:nvPr/>
          </p:nvSpPr>
          <p:spPr bwMode="gray">
            <a:xfrm>
              <a:off x="6675437" y="4419600"/>
              <a:ext cx="757238"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5" name="Line 10"/>
            <p:cNvSpPr>
              <a:spLocks noChangeShapeType="1"/>
            </p:cNvSpPr>
            <p:nvPr/>
          </p:nvSpPr>
          <p:spPr bwMode="gray">
            <a:xfrm>
              <a:off x="6702425" y="5592762"/>
              <a:ext cx="75723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6" name="Line 11"/>
            <p:cNvSpPr>
              <a:spLocks noChangeShapeType="1"/>
            </p:cNvSpPr>
            <p:nvPr/>
          </p:nvSpPr>
          <p:spPr bwMode="gray">
            <a:xfrm>
              <a:off x="8947150" y="5592762"/>
              <a:ext cx="151288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7" name="Freeform 12"/>
            <p:cNvSpPr>
              <a:spLocks/>
            </p:cNvSpPr>
            <p:nvPr/>
          </p:nvSpPr>
          <p:spPr bwMode="gray">
            <a:xfrm>
              <a:off x="6804025" y="5910262"/>
              <a:ext cx="687387" cy="550863"/>
            </a:xfrm>
            <a:custGeom>
              <a:avLst/>
              <a:gdLst>
                <a:gd name="T0" fmla="*/ 0 w 480"/>
                <a:gd name="T1" fmla="*/ 0 h 384"/>
                <a:gd name="T2" fmla="*/ 0 w 480"/>
                <a:gd name="T3" fmla="*/ 790233164 h 384"/>
                <a:gd name="T4" fmla="*/ 984378389 w 480"/>
                <a:gd name="T5" fmla="*/ 790233164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384"/>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8" name="Freeform 13"/>
            <p:cNvSpPr>
              <a:spLocks/>
            </p:cNvSpPr>
            <p:nvPr/>
          </p:nvSpPr>
          <p:spPr bwMode="gray">
            <a:xfrm>
              <a:off x="9410700" y="5910262"/>
              <a:ext cx="687387" cy="550863"/>
            </a:xfrm>
            <a:custGeom>
              <a:avLst/>
              <a:gdLst>
                <a:gd name="T0" fmla="*/ 0 w 480"/>
                <a:gd name="T1" fmla="*/ 0 h 384"/>
                <a:gd name="T2" fmla="*/ 0 w 480"/>
                <a:gd name="T3" fmla="*/ 790233164 h 384"/>
                <a:gd name="T4" fmla="*/ 984378389 w 480"/>
                <a:gd name="T5" fmla="*/ 493896042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240"/>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9" name="Line 14"/>
            <p:cNvSpPr>
              <a:spLocks noChangeShapeType="1"/>
            </p:cNvSpPr>
            <p:nvPr/>
          </p:nvSpPr>
          <p:spPr bwMode="gray">
            <a:xfrm>
              <a:off x="7889875" y="627221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0" name="Line 15"/>
            <p:cNvSpPr>
              <a:spLocks noChangeShapeType="1"/>
            </p:cNvSpPr>
            <p:nvPr/>
          </p:nvSpPr>
          <p:spPr bwMode="gray">
            <a:xfrm>
              <a:off x="7861300" y="559276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1" name="Line 16"/>
            <p:cNvSpPr>
              <a:spLocks noChangeShapeType="1"/>
            </p:cNvSpPr>
            <p:nvPr/>
          </p:nvSpPr>
          <p:spPr bwMode="gray">
            <a:xfrm>
              <a:off x="7889875" y="4743450"/>
              <a:ext cx="757237" cy="1587"/>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2" name="Oval 17"/>
            <p:cNvSpPr>
              <a:spLocks noChangeArrowheads="1"/>
            </p:cNvSpPr>
            <p:nvPr/>
          </p:nvSpPr>
          <p:spPr bwMode="gray">
            <a:xfrm>
              <a:off x="6657975" y="3554412"/>
              <a:ext cx="757237"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3" name="Oval 18"/>
            <p:cNvSpPr>
              <a:spLocks noChangeArrowheads="1"/>
            </p:cNvSpPr>
            <p:nvPr/>
          </p:nvSpPr>
          <p:spPr bwMode="gray">
            <a:xfrm>
              <a:off x="8980487" y="3590925"/>
              <a:ext cx="1466850" cy="488950"/>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5" name="Line 19"/>
            <p:cNvSpPr>
              <a:spLocks noChangeShapeType="1"/>
            </p:cNvSpPr>
            <p:nvPr/>
          </p:nvSpPr>
          <p:spPr bwMode="gray">
            <a:xfrm>
              <a:off x="7881937" y="3903662"/>
              <a:ext cx="757238"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6" name="Text Box 20"/>
            <p:cNvSpPr txBox="1">
              <a:spLocks noChangeArrowheads="1"/>
            </p:cNvSpPr>
            <p:nvPr/>
          </p:nvSpPr>
          <p:spPr bwMode="gray">
            <a:xfrm>
              <a:off x="6475412" y="3024187"/>
              <a:ext cx="999206"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3D Earth</a:t>
              </a:r>
            </a:p>
          </p:txBody>
        </p:sp>
        <p:sp>
          <p:nvSpPr>
            <p:cNvPr id="27" name="Text Box 21"/>
            <p:cNvSpPr txBox="1">
              <a:spLocks noChangeArrowheads="1"/>
            </p:cNvSpPr>
            <p:nvPr/>
          </p:nvSpPr>
          <p:spPr bwMode="gray">
            <a:xfrm>
              <a:off x="9245601" y="3024187"/>
              <a:ext cx="929404"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2D Map</a:t>
              </a:r>
            </a:p>
          </p:txBody>
        </p:sp>
      </p:grpSp>
      <p:sp>
        <p:nvSpPr>
          <p:cNvPr id="28" name="Title 1">
            <a:extLst>
              <a:ext uri="{FF2B5EF4-FFF2-40B4-BE49-F238E27FC236}">
                <a16:creationId xmlns:a16="http://schemas.microsoft.com/office/drawing/2014/main" id="{824C551C-33CC-4EA0-A7EB-026F9F989E15}"/>
              </a:ext>
            </a:extLst>
          </p:cNvPr>
          <p:cNvSpPr txBox="1">
            <a:spLocks/>
          </p:cNvSpPr>
          <p:nvPr/>
        </p:nvSpPr>
        <p:spPr>
          <a:xfrm>
            <a:off x="243406" y="1631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29" name="Straight Connector 28">
            <a:extLst>
              <a:ext uri="{FF2B5EF4-FFF2-40B4-BE49-F238E27FC236}">
                <a16:creationId xmlns:a16="http://schemas.microsoft.com/office/drawing/2014/main" id="{1DFD9287-2369-486B-878E-DC116BC8D6A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F112001B-AA49-455D-89F0-16669F81C458}"/>
              </a:ext>
            </a:extLst>
          </p:cNvPr>
          <p:cNvSpPr>
            <a:spLocks noGrp="1"/>
          </p:cNvSpPr>
          <p:nvPr>
            <p:ph type="sldNum" sz="quarter" idx="12"/>
          </p:nvPr>
        </p:nvSpPr>
        <p:spPr/>
        <p:txBody>
          <a:bodyPr/>
          <a:lstStyle/>
          <a:p>
            <a:fld id="{127DDC20-79C9-9647-820E-6D40A3D210C3}" type="slidenum">
              <a:rPr lang="en-US" smtClean="0"/>
              <a:pPr/>
              <a:t>41</a:t>
            </a:fld>
            <a:endParaRPr lang="en-US"/>
          </a:p>
        </p:txBody>
      </p:sp>
    </p:spTree>
    <p:extLst>
      <p:ext uri="{BB962C8B-B14F-4D97-AF65-F5344CB8AC3E}">
        <p14:creationId xmlns:p14="http://schemas.microsoft.com/office/powerpoint/2010/main" val="90029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27">
            <a:extLst>
              <a:ext uri="{FF2B5EF4-FFF2-40B4-BE49-F238E27FC236}">
                <a16:creationId xmlns:a16="http://schemas.microsoft.com/office/drawing/2014/main" id="{640A67BC-646A-442C-9E4C-27354613D30C}"/>
              </a:ext>
            </a:extLst>
          </p:cNvPr>
          <p:cNvSpPr txBox="1">
            <a:spLocks noChangeArrowheads="1"/>
          </p:cNvSpPr>
          <p:nvPr/>
        </p:nvSpPr>
        <p:spPr>
          <a:xfrm>
            <a:off x="302741" y="1029962"/>
            <a:ext cx="7679724" cy="246830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9" name="Title 1">
            <a:extLst>
              <a:ext uri="{FF2B5EF4-FFF2-40B4-BE49-F238E27FC236}">
                <a16:creationId xmlns:a16="http://schemas.microsoft.com/office/drawing/2014/main" id="{01A65D0E-1CDF-415C-9072-DC5B85531F1D}"/>
              </a:ext>
            </a:extLst>
          </p:cNvPr>
          <p:cNvSpPr txBox="1">
            <a:spLocks/>
          </p:cNvSpPr>
          <p:nvPr/>
        </p:nvSpPr>
        <p:spPr>
          <a:xfrm>
            <a:off x="247135" y="1973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29BBFCA4-97C1-43E4-BC41-2986C183A9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CF57F55-BDA3-4ACF-9F8F-EE3A141EEE21}"/>
              </a:ext>
            </a:extLst>
          </p:cNvPr>
          <p:cNvSpPr>
            <a:spLocks noGrp="1"/>
          </p:cNvSpPr>
          <p:nvPr>
            <p:ph type="sldNum" sz="quarter" idx="12"/>
          </p:nvPr>
        </p:nvSpPr>
        <p:spPr/>
        <p:txBody>
          <a:bodyPr/>
          <a:lstStyle/>
          <a:p>
            <a:fld id="{127DDC20-79C9-9647-820E-6D40A3D210C3}" type="slidenum">
              <a:rPr lang="en-US" smtClean="0"/>
              <a:pPr/>
              <a:t>42</a:t>
            </a:fld>
            <a:endParaRPr lang="en-US"/>
          </a:p>
        </p:txBody>
      </p:sp>
      <p:pic>
        <p:nvPicPr>
          <p:cNvPr id="8" name="Picture 7" descr="Diagram&#10;&#10;Description automatically generated">
            <a:extLst>
              <a:ext uri="{FF2B5EF4-FFF2-40B4-BE49-F238E27FC236}">
                <a16:creationId xmlns:a16="http://schemas.microsoft.com/office/drawing/2014/main" id="{FD0887AC-93F4-4738-A69E-6FFC2F19EF4E}"/>
              </a:ext>
            </a:extLst>
          </p:cNvPr>
          <p:cNvPicPr>
            <a:picLocks noChangeAspect="1"/>
          </p:cNvPicPr>
          <p:nvPr/>
        </p:nvPicPr>
        <p:blipFill>
          <a:blip r:embed="rId3"/>
          <a:stretch>
            <a:fillRect/>
          </a:stretch>
        </p:blipFill>
        <p:spPr>
          <a:xfrm>
            <a:off x="3521070" y="1945681"/>
            <a:ext cx="3814251" cy="3197819"/>
          </a:xfrm>
          <a:prstGeom prst="rect">
            <a:avLst/>
          </a:prstGeom>
        </p:spPr>
      </p:pic>
      <p:sp>
        <p:nvSpPr>
          <p:cNvPr id="11" name="TextBox 10">
            <a:extLst>
              <a:ext uri="{FF2B5EF4-FFF2-40B4-BE49-F238E27FC236}">
                <a16:creationId xmlns:a16="http://schemas.microsoft.com/office/drawing/2014/main" id="{71735430-B1F3-40D7-BFAC-EE6F7CC89A53}"/>
              </a:ext>
            </a:extLst>
          </p:cNvPr>
          <p:cNvSpPr txBox="1"/>
          <p:nvPr/>
        </p:nvSpPr>
        <p:spPr>
          <a:xfrm>
            <a:off x="1764957" y="4794886"/>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
        <p:nvSpPr>
          <p:cNvPr id="14" name="TextBox 13">
            <a:extLst>
              <a:ext uri="{FF2B5EF4-FFF2-40B4-BE49-F238E27FC236}">
                <a16:creationId xmlns:a16="http://schemas.microsoft.com/office/drawing/2014/main" id="{7CB4316C-A0EE-47F8-9170-AD4E258DABAC}"/>
              </a:ext>
            </a:extLst>
          </p:cNvPr>
          <p:cNvSpPr txBox="1"/>
          <p:nvPr/>
        </p:nvSpPr>
        <p:spPr>
          <a:xfrm>
            <a:off x="2466644" y="3988825"/>
            <a:ext cx="1143254" cy="338554"/>
          </a:xfrm>
          <a:prstGeom prst="rect">
            <a:avLst/>
          </a:prstGeom>
          <a:noFill/>
        </p:spPr>
        <p:txBody>
          <a:bodyPr wrap="square" rtlCol="0">
            <a:spAutoFit/>
          </a:bodyPr>
          <a:lstStyle/>
          <a:p>
            <a:r>
              <a:rPr lang="en-US" sz="1600" dirty="0"/>
              <a:t>Mercator</a:t>
            </a:r>
          </a:p>
        </p:txBody>
      </p:sp>
      <p:sp>
        <p:nvSpPr>
          <p:cNvPr id="15" name="TextBox 14">
            <a:extLst>
              <a:ext uri="{FF2B5EF4-FFF2-40B4-BE49-F238E27FC236}">
                <a16:creationId xmlns:a16="http://schemas.microsoft.com/office/drawing/2014/main" id="{81CD2DDF-232D-45CC-AB26-87257A7B692F}"/>
              </a:ext>
            </a:extLst>
          </p:cNvPr>
          <p:cNvSpPr txBox="1"/>
          <p:nvPr/>
        </p:nvSpPr>
        <p:spPr>
          <a:xfrm>
            <a:off x="7265100" y="3928202"/>
            <a:ext cx="1124647" cy="584775"/>
          </a:xfrm>
          <a:prstGeom prst="rect">
            <a:avLst/>
          </a:prstGeom>
          <a:noFill/>
        </p:spPr>
        <p:txBody>
          <a:bodyPr wrap="square" rtlCol="0">
            <a:spAutoFit/>
          </a:bodyPr>
          <a:lstStyle/>
          <a:p>
            <a:r>
              <a:rPr lang="en-US" sz="1600" dirty="0"/>
              <a:t>Transverse Mercator</a:t>
            </a:r>
          </a:p>
        </p:txBody>
      </p:sp>
    </p:spTree>
    <p:extLst>
      <p:ext uri="{BB962C8B-B14F-4D97-AF65-F5344CB8AC3E}">
        <p14:creationId xmlns:p14="http://schemas.microsoft.com/office/powerpoint/2010/main" val="63340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40C786-1801-4D67-8BE8-237F4470E6B3}"/>
              </a:ext>
            </a:extLst>
          </p:cNvPr>
          <p:cNvSpPr>
            <a:spLocks noGrp="1"/>
          </p:cNvSpPr>
          <p:nvPr>
            <p:ph type="sldNum" sz="quarter" idx="12"/>
          </p:nvPr>
        </p:nvSpPr>
        <p:spPr/>
        <p:txBody>
          <a:bodyPr/>
          <a:lstStyle/>
          <a:p>
            <a:fld id="{127DDC20-79C9-9647-820E-6D40A3D210C3}" type="slidenum">
              <a:rPr lang="en-US" smtClean="0"/>
              <a:pPr/>
              <a:t>43</a:t>
            </a:fld>
            <a:endParaRPr lang="en-US"/>
          </a:p>
        </p:txBody>
      </p:sp>
      <p:sp>
        <p:nvSpPr>
          <p:cNvPr id="5" name="Title 1">
            <a:extLst>
              <a:ext uri="{FF2B5EF4-FFF2-40B4-BE49-F238E27FC236}">
                <a16:creationId xmlns:a16="http://schemas.microsoft.com/office/drawing/2014/main" id="{3B6A7E13-16E3-4E5E-AFDA-35BB3D6649C8}"/>
              </a:ext>
            </a:extLst>
          </p:cNvPr>
          <p:cNvSpPr txBox="1">
            <a:spLocks/>
          </p:cNvSpPr>
          <p:nvPr/>
        </p:nvSpPr>
        <p:spPr>
          <a:xfrm>
            <a:off x="152400" y="1956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BA38A5A2-8EBD-4005-8A18-0A56C5731A5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D6CD3AC-CCF1-34FA-F1E0-3C32D94E5980}"/>
              </a:ext>
            </a:extLst>
          </p:cNvPr>
          <p:cNvSpPr txBox="1"/>
          <p:nvPr/>
        </p:nvSpPr>
        <p:spPr>
          <a:xfrm>
            <a:off x="1487605" y="2571750"/>
            <a:ext cx="5868537" cy="584775"/>
          </a:xfrm>
          <a:prstGeom prst="rect">
            <a:avLst/>
          </a:prstGeom>
          <a:noFill/>
        </p:spPr>
        <p:txBody>
          <a:bodyPr wrap="square" rtlCol="0">
            <a:spAutoFit/>
          </a:bodyPr>
          <a:lstStyle/>
          <a:p>
            <a:r>
              <a:rPr lang="en-US" sz="3200" dirty="0">
                <a:hlinkClick r:id="rId3"/>
              </a:rPr>
              <a:t>Why all world maps are wrong</a:t>
            </a:r>
            <a:r>
              <a:rPr lang="en-US" sz="3200" dirty="0"/>
              <a:t>?</a:t>
            </a:r>
          </a:p>
        </p:txBody>
      </p:sp>
    </p:spTree>
    <p:extLst>
      <p:ext uri="{BB962C8B-B14F-4D97-AF65-F5344CB8AC3E}">
        <p14:creationId xmlns:p14="http://schemas.microsoft.com/office/powerpoint/2010/main" val="92407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075764"/>
            <a:ext cx="7406640" cy="4016015"/>
          </a:xfrm>
        </p:spPr>
        <p:txBody>
          <a:bodyPr>
            <a:normAutofit lnSpcReduction="10000"/>
          </a:bodyPr>
          <a:lstStyle/>
          <a:p>
            <a:pPr marL="0" indent="0">
              <a:buNone/>
            </a:pPr>
            <a:r>
              <a:rPr lang="en-US" sz="3600" dirty="0"/>
              <a:t>Type</a:t>
            </a:r>
          </a:p>
          <a:p>
            <a:pPr>
              <a:buFont typeface="Wingdings" panose="05000000000000000000" pitchFamily="2" charset="2"/>
              <a:buChar char="ü"/>
            </a:pPr>
            <a:r>
              <a:rPr lang="en-US" sz="1600" b="1" dirty="0">
                <a:solidFill>
                  <a:srgbClr val="E3874F"/>
                </a:solidFill>
              </a:rPr>
              <a:t>Conformal Projections: </a:t>
            </a:r>
            <a:r>
              <a:rPr lang="en-US" sz="1600" dirty="0"/>
              <a:t>preserves local angles and shape</a:t>
            </a:r>
          </a:p>
          <a:p>
            <a:pPr>
              <a:buFont typeface="Wingdings" panose="05000000000000000000" pitchFamily="2" charset="2"/>
              <a:buChar char="ü"/>
            </a:pPr>
            <a:r>
              <a:rPr lang="en-US" sz="1600" b="1" dirty="0">
                <a:solidFill>
                  <a:srgbClr val="E3874F"/>
                </a:solidFill>
              </a:rPr>
              <a:t>Equivalent Projections: </a:t>
            </a:r>
            <a:r>
              <a:rPr lang="en-US" sz="1600" dirty="0"/>
              <a:t>represents areas in correct relative size</a:t>
            </a:r>
          </a:p>
          <a:p>
            <a:pPr>
              <a:buFont typeface="Wingdings" panose="05000000000000000000" pitchFamily="2" charset="2"/>
              <a:buChar char="ü"/>
            </a:pPr>
            <a:r>
              <a:rPr lang="en-US" sz="1600" b="1" dirty="0">
                <a:solidFill>
                  <a:srgbClr val="E3874F"/>
                </a:solidFill>
              </a:rPr>
              <a:t>Equidistant Projections: </a:t>
            </a:r>
            <a:r>
              <a:rPr lang="en-US" sz="1600" dirty="0"/>
              <a:t>maintains consistent scale or distance along certain lines</a:t>
            </a:r>
          </a:p>
          <a:p>
            <a:pPr>
              <a:buFont typeface="Wingdings" panose="05000000000000000000" pitchFamily="2" charset="2"/>
              <a:buChar char="ü"/>
            </a:pPr>
            <a:r>
              <a:rPr lang="en-US" sz="1600" b="1" dirty="0">
                <a:solidFill>
                  <a:srgbClr val="E3874F"/>
                </a:solidFill>
              </a:rPr>
              <a:t>Azimuthal Projections: </a:t>
            </a:r>
            <a:r>
              <a:rPr lang="en-US" sz="1600" dirty="0"/>
              <a:t>maintains certain accurate directions relative to certain vantage point</a:t>
            </a:r>
          </a:p>
          <a:p>
            <a:pPr marL="0" indent="0">
              <a:buNone/>
            </a:pPr>
            <a:endParaRPr lang="en-US" sz="1600" dirty="0"/>
          </a:p>
          <a:p>
            <a:pPr>
              <a:buFont typeface="Wingdings" panose="05000000000000000000" pitchFamily="2" charset="2"/>
              <a:buChar char="§"/>
            </a:pPr>
            <a:r>
              <a:rPr lang="en-US" sz="1600" dirty="0"/>
              <a:t>Conformal and equivalent projections’ properties are mutually exclusive</a:t>
            </a:r>
          </a:p>
          <a:p>
            <a:pPr>
              <a:buFont typeface="Wingdings" panose="05000000000000000000" pitchFamily="2" charset="2"/>
              <a:buChar char="§"/>
            </a:pPr>
            <a:r>
              <a:rPr lang="en-US" sz="1600" dirty="0"/>
              <a:t>Conformal and equivalent projections’ properties are global properties</a:t>
            </a:r>
          </a:p>
          <a:p>
            <a:pPr>
              <a:buFont typeface="Wingdings" panose="05000000000000000000" pitchFamily="2" charset="2"/>
              <a:buChar char="§"/>
            </a:pPr>
            <a:endParaRPr lang="en-US" sz="1600" dirty="0"/>
          </a:p>
          <a:p>
            <a:pPr>
              <a:buFont typeface="Wingdings" panose="05000000000000000000" pitchFamily="2" charset="2"/>
              <a:buChar char="§"/>
            </a:pPr>
            <a:r>
              <a:rPr lang="en-US" sz="1600" dirty="0"/>
              <a:t>Equidistant and azimuthal projections’ properties are local properties and may be true only from or to the center of the map projection</a:t>
            </a:r>
          </a:p>
        </p:txBody>
      </p:sp>
      <p:sp>
        <p:nvSpPr>
          <p:cNvPr id="2" name="Slide Number Placeholder 1">
            <a:extLst>
              <a:ext uri="{FF2B5EF4-FFF2-40B4-BE49-F238E27FC236}">
                <a16:creationId xmlns:a16="http://schemas.microsoft.com/office/drawing/2014/main" id="{E230E1B9-106B-410E-A708-B415AA55DD53}"/>
              </a:ext>
            </a:extLst>
          </p:cNvPr>
          <p:cNvSpPr>
            <a:spLocks noGrp="1"/>
          </p:cNvSpPr>
          <p:nvPr>
            <p:ph type="sldNum" sz="quarter" idx="12"/>
          </p:nvPr>
        </p:nvSpPr>
        <p:spPr/>
        <p:txBody>
          <a:bodyPr/>
          <a:lstStyle/>
          <a:p>
            <a:fld id="{127DDC20-79C9-9647-820E-6D40A3D210C3}" type="slidenum">
              <a:rPr lang="en-US" smtClean="0"/>
              <a:pPr/>
              <a:t>44</a:t>
            </a:fld>
            <a:endParaRPr lang="en-US"/>
          </a:p>
        </p:txBody>
      </p:sp>
      <p:sp>
        <p:nvSpPr>
          <p:cNvPr id="6" name="Title 1">
            <a:extLst>
              <a:ext uri="{FF2B5EF4-FFF2-40B4-BE49-F238E27FC236}">
                <a16:creationId xmlns:a16="http://schemas.microsoft.com/office/drawing/2014/main" id="{E2266D52-F98D-4363-BFC0-5605F0A2DA78}"/>
              </a:ext>
            </a:extLst>
          </p:cNvPr>
          <p:cNvSpPr txBox="1">
            <a:spLocks/>
          </p:cNvSpPr>
          <p:nvPr/>
        </p:nvSpPr>
        <p:spPr>
          <a:xfrm>
            <a:off x="118533" y="1992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A0BD5C66-E08E-436F-B77F-3958622AF55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51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384" y="1667220"/>
            <a:ext cx="3921319" cy="1326659"/>
          </a:xfrm>
        </p:spPr>
        <p:txBody>
          <a:bodyPr>
            <a:normAutofit/>
          </a:bodyPr>
          <a:lstStyle/>
          <a:p>
            <a:pPr lvl="1">
              <a:buFont typeface="Wingdings" panose="05000000000000000000" pitchFamily="2" charset="2"/>
              <a:buChar char="ü"/>
            </a:pPr>
            <a:r>
              <a:rPr lang="en-US" sz="2000" dirty="0"/>
              <a:t>Cylindrical conformal projection</a:t>
            </a:r>
          </a:p>
          <a:p>
            <a:pPr lvl="1">
              <a:buFont typeface="Wingdings" panose="05000000000000000000" pitchFamily="2" charset="2"/>
              <a:buChar char="ü"/>
            </a:pPr>
            <a:r>
              <a:rPr lang="en-US" sz="2000" dirty="0"/>
              <a:t>Parallels and meridians cross at right-angles</a:t>
            </a:r>
          </a:p>
        </p:txBody>
      </p:sp>
      <p:sp>
        <p:nvSpPr>
          <p:cNvPr id="2" name="Slide Number Placeholder 1">
            <a:extLst>
              <a:ext uri="{FF2B5EF4-FFF2-40B4-BE49-F238E27FC236}">
                <a16:creationId xmlns:a16="http://schemas.microsoft.com/office/drawing/2014/main" id="{D76A41AB-FFE2-4D3D-9A93-65E335532DAA}"/>
              </a:ext>
            </a:extLst>
          </p:cNvPr>
          <p:cNvSpPr>
            <a:spLocks noGrp="1"/>
          </p:cNvSpPr>
          <p:nvPr>
            <p:ph type="sldNum" sz="quarter" idx="12"/>
          </p:nvPr>
        </p:nvSpPr>
        <p:spPr/>
        <p:txBody>
          <a:bodyPr/>
          <a:lstStyle/>
          <a:p>
            <a:fld id="{127DDC20-79C9-9647-820E-6D40A3D210C3}" type="slidenum">
              <a:rPr lang="en-US" smtClean="0"/>
              <a:pPr/>
              <a:t>45</a:t>
            </a:fld>
            <a:endParaRPr lang="en-US"/>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320593" y="1572040"/>
            <a:ext cx="3588526" cy="3069557"/>
          </a:xfrm>
          <a:prstGeom prst="rect">
            <a:avLst/>
          </a:prstGeom>
        </p:spPr>
      </p:pic>
      <p:sp>
        <p:nvSpPr>
          <p:cNvPr id="6" name="Title 1">
            <a:extLst>
              <a:ext uri="{FF2B5EF4-FFF2-40B4-BE49-F238E27FC236}">
                <a16:creationId xmlns:a16="http://schemas.microsoft.com/office/drawing/2014/main" id="{3147BAC6-D640-4806-A578-F6E610051D1C}"/>
              </a:ext>
            </a:extLst>
          </p:cNvPr>
          <p:cNvSpPr txBox="1">
            <a:spLocks/>
          </p:cNvSpPr>
          <p:nvPr/>
        </p:nvSpPr>
        <p:spPr>
          <a:xfrm>
            <a:off x="281993" y="1967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World projection -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0C34C3E8-DAF3-4EC4-9765-9A5017C1474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BD43FA0-376B-42F7-B273-21243F737AE5}"/>
              </a:ext>
            </a:extLst>
          </p:cNvPr>
          <p:cNvSpPr txBox="1"/>
          <p:nvPr/>
        </p:nvSpPr>
        <p:spPr>
          <a:xfrm>
            <a:off x="4881282" y="4521660"/>
            <a:ext cx="2931459" cy="523220"/>
          </a:xfrm>
          <a:prstGeom prst="rect">
            <a:avLst/>
          </a:prstGeom>
          <a:noFill/>
        </p:spPr>
        <p:txBody>
          <a:bodyPr wrap="square">
            <a:spAutoFit/>
          </a:bodyPr>
          <a:lstStyle/>
          <a:p>
            <a:r>
              <a:rPr lang="en-US" sz="2800" baseline="0" dirty="0"/>
              <a:t>Tissot Indicatrix </a:t>
            </a:r>
            <a:endParaRPr lang="en-US" sz="2800" dirty="0"/>
          </a:p>
        </p:txBody>
      </p:sp>
      <p:sp>
        <p:nvSpPr>
          <p:cNvPr id="8" name="TextBox 7">
            <a:extLst>
              <a:ext uri="{FF2B5EF4-FFF2-40B4-BE49-F238E27FC236}">
                <a16:creationId xmlns:a16="http://schemas.microsoft.com/office/drawing/2014/main" id="{FB3E9392-6512-2B7B-EA79-EDFCCD9C27B3}"/>
              </a:ext>
            </a:extLst>
          </p:cNvPr>
          <p:cNvSpPr txBox="1"/>
          <p:nvPr/>
        </p:nvSpPr>
        <p:spPr>
          <a:xfrm>
            <a:off x="624189" y="3275828"/>
            <a:ext cx="3591708" cy="461665"/>
          </a:xfrm>
          <a:prstGeom prst="rect">
            <a:avLst/>
          </a:prstGeom>
          <a:noFill/>
        </p:spPr>
        <p:txBody>
          <a:bodyPr wrap="square" rtlCol="0">
            <a:spAutoFit/>
          </a:bodyPr>
          <a:lstStyle/>
          <a:p>
            <a:r>
              <a:rPr lang="en-US" sz="2400" b="1" i="1" dirty="0">
                <a:solidFill>
                  <a:srgbClr val="FF0000"/>
                </a:solidFill>
              </a:rPr>
              <a:t>Distort size but not shape </a:t>
            </a:r>
          </a:p>
        </p:txBody>
      </p:sp>
      <p:sp>
        <p:nvSpPr>
          <p:cNvPr id="10" name="TextBox 9">
            <a:extLst>
              <a:ext uri="{FF2B5EF4-FFF2-40B4-BE49-F238E27FC236}">
                <a16:creationId xmlns:a16="http://schemas.microsoft.com/office/drawing/2014/main" id="{5F084CFA-A8EB-1024-66A8-ECBD2AF7FE42}"/>
              </a:ext>
            </a:extLst>
          </p:cNvPr>
          <p:cNvSpPr txBox="1"/>
          <p:nvPr/>
        </p:nvSpPr>
        <p:spPr>
          <a:xfrm>
            <a:off x="-208080" y="1019494"/>
            <a:ext cx="8285280" cy="369332"/>
          </a:xfrm>
          <a:prstGeom prst="rect">
            <a:avLst/>
          </a:prstGeom>
          <a:noFill/>
        </p:spPr>
        <p:txBody>
          <a:bodyPr wrap="square">
            <a:spAutoFit/>
          </a:bodyPr>
          <a:lstStyle/>
          <a:p>
            <a:pPr lvl="1">
              <a:buFont typeface="Wingdings" panose="05000000000000000000" pitchFamily="2" charset="2"/>
              <a:buChar char="ü"/>
            </a:pPr>
            <a:r>
              <a:rPr lang="en-US" sz="1800" dirty="0"/>
              <a:t>Without any distortions, the circles will all be the same shape and size</a:t>
            </a:r>
            <a:endParaRPr lang="en-US" altLang="en-US" sz="1800" dirty="0"/>
          </a:p>
        </p:txBody>
      </p:sp>
      <p:sp>
        <p:nvSpPr>
          <p:cNvPr id="11" name="TextBox 10">
            <a:extLst>
              <a:ext uri="{FF2B5EF4-FFF2-40B4-BE49-F238E27FC236}">
                <a16:creationId xmlns:a16="http://schemas.microsoft.com/office/drawing/2014/main" id="{1D0B287D-A9BE-AAA5-BB1D-6870B27EC869}"/>
              </a:ext>
            </a:extLst>
          </p:cNvPr>
          <p:cNvSpPr txBox="1"/>
          <p:nvPr/>
        </p:nvSpPr>
        <p:spPr>
          <a:xfrm>
            <a:off x="845345" y="4318431"/>
            <a:ext cx="3725316" cy="646331"/>
          </a:xfrm>
          <a:prstGeom prst="rect">
            <a:avLst/>
          </a:prstGeom>
          <a:noFill/>
        </p:spPr>
        <p:txBody>
          <a:bodyPr wrap="square" rtlCol="0">
            <a:spAutoFit/>
          </a:bodyPr>
          <a:lstStyle/>
          <a:p>
            <a:r>
              <a:rPr lang="en-US" dirty="0"/>
              <a:t>Q: In the projection, are the circles distorted in shape or in size?</a:t>
            </a:r>
          </a:p>
        </p:txBody>
      </p:sp>
      <p:sp>
        <p:nvSpPr>
          <p:cNvPr id="13" name="TextBox 12">
            <a:extLst>
              <a:ext uri="{FF2B5EF4-FFF2-40B4-BE49-F238E27FC236}">
                <a16:creationId xmlns:a16="http://schemas.microsoft.com/office/drawing/2014/main" id="{99F8A540-2821-B590-029C-86799D0BA8CA}"/>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427025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370713"/>
            <a:ext cx="3588878" cy="2881110"/>
          </a:xfrm>
        </p:spPr>
        <p:txBody>
          <a:bodyPr>
            <a:normAutofit/>
          </a:bodyPr>
          <a:lstStyle/>
          <a:p>
            <a:pPr lvl="1">
              <a:buFont typeface="Wingdings" panose="05000000000000000000" pitchFamily="2" charset="2"/>
              <a:buChar char="ü"/>
            </a:pPr>
            <a:r>
              <a:rPr lang="en-US" sz="2000" dirty="0"/>
              <a:t>Modification of Mercator projection that is commonly used for web maps</a:t>
            </a:r>
          </a:p>
          <a:p>
            <a:pPr lvl="1">
              <a:buFont typeface="Wingdings" panose="05000000000000000000" pitchFamily="2" charset="2"/>
              <a:buChar char="ü"/>
            </a:pPr>
            <a:r>
              <a:rPr lang="en-US" sz="2000" dirty="0"/>
              <a:t>Bing Maps, OpenStreetMap, Google Maps, MapQuest, ArcGIS Online</a:t>
            </a:r>
          </a:p>
        </p:txBody>
      </p:sp>
      <p:sp>
        <p:nvSpPr>
          <p:cNvPr id="2" name="Slide Number Placeholder 1">
            <a:extLst>
              <a:ext uri="{FF2B5EF4-FFF2-40B4-BE49-F238E27FC236}">
                <a16:creationId xmlns:a16="http://schemas.microsoft.com/office/drawing/2014/main" id="{BCA44A32-7B3C-41B5-9BE4-F369E12DDCC3}"/>
              </a:ext>
            </a:extLst>
          </p:cNvPr>
          <p:cNvSpPr>
            <a:spLocks noGrp="1"/>
          </p:cNvSpPr>
          <p:nvPr>
            <p:ph type="sldNum" sz="quarter" idx="12"/>
          </p:nvPr>
        </p:nvSpPr>
        <p:spPr/>
        <p:txBody>
          <a:bodyPr/>
          <a:lstStyle/>
          <a:p>
            <a:fld id="{127DDC20-79C9-9647-820E-6D40A3D210C3}" type="slidenum">
              <a:rPr lang="en-US" smtClean="0"/>
              <a:pPr/>
              <a:t>46</a:t>
            </a:fld>
            <a:endParaRPr lang="en-US"/>
          </a:p>
        </p:txBody>
      </p:sp>
      <p:sp>
        <p:nvSpPr>
          <p:cNvPr id="6" name="Title 1">
            <a:extLst>
              <a:ext uri="{FF2B5EF4-FFF2-40B4-BE49-F238E27FC236}">
                <a16:creationId xmlns:a16="http://schemas.microsoft.com/office/drawing/2014/main" id="{EB9026F9-6B38-481F-8EBD-1566BA24D432}"/>
              </a:ext>
            </a:extLst>
          </p:cNvPr>
          <p:cNvSpPr txBox="1">
            <a:spLocks/>
          </p:cNvSpPr>
          <p:nvPr/>
        </p:nvSpPr>
        <p:spPr>
          <a:xfrm>
            <a:off x="24738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Web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82AAAB95-9CC2-44A4-9E51-82AE352FC40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7A389798-0B3A-4E3B-8434-5A1362890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7724" y="1563736"/>
            <a:ext cx="4428659" cy="265685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7D16D68-E2C9-4636-8111-9CA9911E5B23}"/>
              </a:ext>
            </a:extLst>
          </p:cNvPr>
          <p:cNvSpPr txBox="1"/>
          <p:nvPr/>
        </p:nvSpPr>
        <p:spPr>
          <a:xfrm>
            <a:off x="3588878" y="4559074"/>
            <a:ext cx="4646352" cy="246221"/>
          </a:xfrm>
          <a:prstGeom prst="rect">
            <a:avLst/>
          </a:prstGeom>
          <a:noFill/>
        </p:spPr>
        <p:txBody>
          <a:bodyPr wrap="square">
            <a:spAutoFit/>
          </a:bodyPr>
          <a:lstStyle/>
          <a:p>
            <a:r>
              <a:rPr lang="en-US" sz="1000" dirty="0">
                <a:solidFill>
                  <a:srgbClr val="7030A0"/>
                </a:solidFill>
              </a:rPr>
              <a:t>http://cartonerd.blogspot.com/2014/08/web-mercator-and-comparisons.html</a:t>
            </a:r>
          </a:p>
        </p:txBody>
      </p:sp>
    </p:spTree>
    <p:extLst>
      <p:ext uri="{BB962C8B-B14F-4D97-AF65-F5344CB8AC3E}">
        <p14:creationId xmlns:p14="http://schemas.microsoft.com/office/powerpoint/2010/main" val="341243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135" y="1469160"/>
            <a:ext cx="3435541" cy="1852341"/>
          </a:xfrm>
        </p:spPr>
        <p:txBody>
          <a:bodyPr>
            <a:normAutofit/>
          </a:bodyPr>
          <a:lstStyle/>
          <a:p>
            <a:pPr lvl="1">
              <a:buFont typeface="Wingdings" panose="05000000000000000000" pitchFamily="2" charset="2"/>
              <a:buChar char="ü"/>
            </a:pPr>
            <a:r>
              <a:rPr lang="en-US" sz="2000" dirty="0"/>
              <a:t>Equivalent projection</a:t>
            </a:r>
          </a:p>
          <a:p>
            <a:pPr lvl="1">
              <a:buFont typeface="Wingdings" panose="05000000000000000000" pitchFamily="2" charset="2"/>
              <a:buChar char="ü"/>
            </a:pPr>
            <a:r>
              <a:rPr lang="en-US" sz="2000" dirty="0"/>
              <a:t>Pseudo cylindrical</a:t>
            </a:r>
          </a:p>
          <a:p>
            <a:pPr lvl="1">
              <a:buFont typeface="Wingdings" panose="05000000000000000000" pitchFamily="2" charset="2"/>
              <a:buChar char="ü"/>
            </a:pPr>
            <a:r>
              <a:rPr lang="en-US" sz="2000" dirty="0"/>
              <a:t>Not based on developable surface</a:t>
            </a:r>
          </a:p>
        </p:txBody>
      </p:sp>
      <p:sp>
        <p:nvSpPr>
          <p:cNvPr id="2" name="Slide Number Placeholder 1">
            <a:extLst>
              <a:ext uri="{FF2B5EF4-FFF2-40B4-BE49-F238E27FC236}">
                <a16:creationId xmlns:a16="http://schemas.microsoft.com/office/drawing/2014/main" id="{DB47974D-9191-4F6C-A98F-138B823229A1}"/>
              </a:ext>
            </a:extLst>
          </p:cNvPr>
          <p:cNvSpPr>
            <a:spLocks noGrp="1"/>
          </p:cNvSpPr>
          <p:nvPr>
            <p:ph type="sldNum" sz="quarter" idx="12"/>
          </p:nvPr>
        </p:nvSpPr>
        <p:spPr/>
        <p:txBody>
          <a:bodyPr/>
          <a:lstStyle/>
          <a:p>
            <a:fld id="{127DDC20-79C9-9647-820E-6D40A3D210C3}" type="slidenum">
              <a:rPr lang="en-US" smtClean="0"/>
              <a:pPr/>
              <a:t>47</a:t>
            </a:fld>
            <a:endParaRPr lang="en-US"/>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563875" y="1169959"/>
            <a:ext cx="4665726" cy="2660825"/>
          </a:xfrm>
          <a:prstGeom prst="rect">
            <a:avLst/>
          </a:prstGeom>
        </p:spPr>
      </p:pic>
      <p:sp>
        <p:nvSpPr>
          <p:cNvPr id="8" name="Title 1">
            <a:extLst>
              <a:ext uri="{FF2B5EF4-FFF2-40B4-BE49-F238E27FC236}">
                <a16:creationId xmlns:a16="http://schemas.microsoft.com/office/drawing/2014/main" id="{4F1E3919-3063-495F-B9C0-65932DAA1069}"/>
              </a:ext>
            </a:extLst>
          </p:cNvPr>
          <p:cNvSpPr txBox="1">
            <a:spLocks/>
          </p:cNvSpPr>
          <p:nvPr/>
        </p:nvSpPr>
        <p:spPr>
          <a:xfrm>
            <a:off x="247135" y="1840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Mollweide</a:t>
            </a:r>
          </a:p>
        </p:txBody>
      </p:sp>
      <p:cxnSp>
        <p:nvCxnSpPr>
          <p:cNvPr id="9" name="Straight Connector 8">
            <a:extLst>
              <a:ext uri="{FF2B5EF4-FFF2-40B4-BE49-F238E27FC236}">
                <a16:creationId xmlns:a16="http://schemas.microsoft.com/office/drawing/2014/main" id="{7740DABC-0132-4F64-8D48-5CB068208C6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F591871-FD45-1C9E-C439-04B2C8A30063}"/>
              </a:ext>
            </a:extLst>
          </p:cNvPr>
          <p:cNvSpPr txBox="1"/>
          <p:nvPr/>
        </p:nvSpPr>
        <p:spPr>
          <a:xfrm>
            <a:off x="625385" y="3342511"/>
            <a:ext cx="3172164" cy="369332"/>
          </a:xfrm>
          <a:prstGeom prst="rect">
            <a:avLst/>
          </a:prstGeom>
          <a:noFill/>
        </p:spPr>
        <p:txBody>
          <a:bodyPr wrap="square" rtlCol="0">
            <a:spAutoFit/>
          </a:bodyPr>
          <a:lstStyle/>
          <a:p>
            <a:r>
              <a:rPr lang="en-US" b="1" i="1" dirty="0">
                <a:solidFill>
                  <a:srgbClr val="FF0000"/>
                </a:solidFill>
              </a:rPr>
              <a:t>Distort shape but not size </a:t>
            </a:r>
          </a:p>
        </p:txBody>
      </p:sp>
      <p:sp>
        <p:nvSpPr>
          <p:cNvPr id="6" name="TextBox 5">
            <a:extLst>
              <a:ext uri="{FF2B5EF4-FFF2-40B4-BE49-F238E27FC236}">
                <a16:creationId xmlns:a16="http://schemas.microsoft.com/office/drawing/2014/main" id="{D5CA7945-4D72-FCDF-9F1E-E78F2D588B79}"/>
              </a:ext>
            </a:extLst>
          </p:cNvPr>
          <p:cNvSpPr txBox="1"/>
          <p:nvPr/>
        </p:nvSpPr>
        <p:spPr>
          <a:xfrm>
            <a:off x="918709" y="4405162"/>
            <a:ext cx="6208144" cy="369332"/>
          </a:xfrm>
          <a:prstGeom prst="rect">
            <a:avLst/>
          </a:prstGeom>
          <a:noFill/>
        </p:spPr>
        <p:txBody>
          <a:bodyPr wrap="square" rtlCol="0">
            <a:spAutoFit/>
          </a:bodyPr>
          <a:lstStyle/>
          <a:p>
            <a:r>
              <a:rPr lang="en-US" dirty="0"/>
              <a:t>Q: In the projection, are the circles distorted in shape or in size?</a:t>
            </a:r>
          </a:p>
        </p:txBody>
      </p:sp>
      <p:sp>
        <p:nvSpPr>
          <p:cNvPr id="10" name="TextBox 9">
            <a:extLst>
              <a:ext uri="{FF2B5EF4-FFF2-40B4-BE49-F238E27FC236}">
                <a16:creationId xmlns:a16="http://schemas.microsoft.com/office/drawing/2014/main" id="{7E88A7FA-58D1-4102-33B0-B527EB6A32A1}"/>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74283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52400" y="228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Class Activity</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48</a:t>
            </a:fld>
            <a:endParaRPr lang="en-US"/>
          </a:p>
        </p:txBody>
      </p:sp>
      <p:sp>
        <p:nvSpPr>
          <p:cNvPr id="4" name="AutoShape 2">
            <a:extLst>
              <a:ext uri="{FF2B5EF4-FFF2-40B4-BE49-F238E27FC236}">
                <a16:creationId xmlns:a16="http://schemas.microsoft.com/office/drawing/2014/main" id="{6BDC2AAD-5DF9-4145-90CB-88E29F5FAF32}"/>
              </a:ext>
            </a:extLst>
          </p:cNvPr>
          <p:cNvSpPr>
            <a:spLocks noChangeAspect="1" noChangeArrowheads="1"/>
          </p:cNvSpPr>
          <p:nvPr/>
        </p:nvSpPr>
        <p:spPr bwMode="auto">
          <a:xfrm>
            <a:off x="39624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321A32B-9F97-4159-AB21-E42738EE0484}"/>
              </a:ext>
            </a:extLst>
          </p:cNvPr>
          <p:cNvSpPr txBox="1"/>
          <p:nvPr/>
        </p:nvSpPr>
        <p:spPr>
          <a:xfrm>
            <a:off x="152400" y="1232238"/>
            <a:ext cx="7665720" cy="2554545"/>
          </a:xfrm>
          <a:prstGeom prst="rect">
            <a:avLst/>
          </a:prstGeom>
          <a:noFill/>
        </p:spPr>
        <p:txBody>
          <a:bodyPr wrap="square">
            <a:spAutoFit/>
          </a:bodyPr>
          <a:lstStyle/>
          <a:p>
            <a:pPr marL="285750" indent="-285750">
              <a:buFont typeface="Courier New" panose="02070309020205020404" pitchFamily="49" charset="0"/>
              <a:buChar char="o"/>
            </a:pPr>
            <a:r>
              <a:rPr lang="en-US" sz="2000" dirty="0"/>
              <a:t>Explore the true size tool </a:t>
            </a:r>
            <a:r>
              <a:rPr lang="en-US" sz="2000" dirty="0">
                <a:hlinkClick r:id="rId3"/>
              </a:rPr>
              <a:t>https://thetruesize.com/#</a:t>
            </a:r>
            <a:r>
              <a:rPr lang="en-US" sz="2000" dirty="0"/>
              <a:t>.</a:t>
            </a:r>
          </a:p>
          <a:p>
            <a:pPr marL="285750" indent="-285750">
              <a:buFont typeface="Courier New" panose="02070309020205020404" pitchFamily="49" charset="0"/>
              <a:buChar char="o"/>
            </a:pPr>
            <a:endParaRPr lang="en-US" sz="2000" dirty="0"/>
          </a:p>
          <a:p>
            <a:pPr marL="800100" lvl="1" indent="-342900">
              <a:buFont typeface="Wingdings" panose="05000000000000000000" pitchFamily="2" charset="2"/>
              <a:buChar char="ü"/>
            </a:pPr>
            <a:r>
              <a:rPr lang="en-US" sz="2000" dirty="0"/>
              <a:t>Does Greenland look larger or smaller than Brazil on the basemap?</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Search for ‘Greenland’</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Drag Greenland over Brazil to compare their areas</a:t>
            </a:r>
          </a:p>
        </p:txBody>
      </p:sp>
    </p:spTree>
    <p:extLst>
      <p:ext uri="{BB962C8B-B14F-4D97-AF65-F5344CB8AC3E}">
        <p14:creationId xmlns:p14="http://schemas.microsoft.com/office/powerpoint/2010/main" val="106993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27897" y="4423893"/>
            <a:ext cx="2315177" cy="316690"/>
          </a:xfrm>
          <a:prstGeom prst="rect">
            <a:avLst/>
          </a:prstGeom>
          <a:noFill/>
        </p:spPr>
        <p:txBody>
          <a:bodyPr wrap="square" rtlCol="0">
            <a:spAutoFit/>
          </a:bodyPr>
          <a:lstStyle/>
          <a:p>
            <a:pPr>
              <a:lnSpc>
                <a:spcPct val="90000"/>
              </a:lnSpc>
            </a:pPr>
            <a:r>
              <a:rPr lang="en-US" sz="1620" dirty="0"/>
              <a:t>Not Projected</a:t>
            </a:r>
          </a:p>
        </p:txBody>
      </p:sp>
      <p:sp>
        <p:nvSpPr>
          <p:cNvPr id="7" name="TextBox 6"/>
          <p:cNvSpPr txBox="1"/>
          <p:nvPr/>
        </p:nvSpPr>
        <p:spPr>
          <a:xfrm>
            <a:off x="4886528" y="4413121"/>
            <a:ext cx="2879786" cy="316690"/>
          </a:xfrm>
          <a:prstGeom prst="rect">
            <a:avLst/>
          </a:prstGeom>
          <a:noFill/>
        </p:spPr>
        <p:txBody>
          <a:bodyPr wrap="square" rtlCol="0">
            <a:spAutoFit/>
          </a:bodyPr>
          <a:lstStyle/>
          <a:p>
            <a:pPr algn="ctr">
              <a:lnSpc>
                <a:spcPct val="90000"/>
              </a:lnSpc>
            </a:pPr>
            <a:r>
              <a:rPr lang="en-US" sz="1620" dirty="0"/>
              <a:t>Mercator</a:t>
            </a:r>
          </a:p>
        </p:txBody>
      </p:sp>
      <p:pic>
        <p:nvPicPr>
          <p:cNvPr id="4" name="Picture 3"/>
          <p:cNvPicPr>
            <a:picLocks noChangeAspect="1"/>
          </p:cNvPicPr>
          <p:nvPr/>
        </p:nvPicPr>
        <p:blipFill>
          <a:blip r:embed="rId3">
            <a:clrChange>
              <a:clrFrom>
                <a:srgbClr val="9C9C9C"/>
              </a:clrFrom>
              <a:clrTo>
                <a:srgbClr val="9C9C9C">
                  <a:alpha val="0"/>
                </a:srgbClr>
              </a:clrTo>
            </a:clrChange>
          </a:blip>
          <a:stretch>
            <a:fillRect/>
          </a:stretch>
        </p:blipFill>
        <p:spPr>
          <a:xfrm>
            <a:off x="101825" y="1902921"/>
            <a:ext cx="3909006" cy="2063955"/>
          </a:xfrm>
          <a:prstGeom prst="rect">
            <a:avLst/>
          </a:prstGeom>
        </p:spPr>
      </p:pic>
      <p:pic>
        <p:nvPicPr>
          <p:cNvPr id="5" name="Picture 4"/>
          <p:cNvPicPr>
            <a:picLocks noChangeAspect="1"/>
          </p:cNvPicPr>
          <p:nvPr/>
        </p:nvPicPr>
        <p:blipFill>
          <a:blip r:embed="rId4">
            <a:clrChange>
              <a:clrFrom>
                <a:srgbClr val="9C9C9C"/>
              </a:clrFrom>
              <a:clrTo>
                <a:srgbClr val="9C9C9C">
                  <a:alpha val="0"/>
                </a:srgbClr>
              </a:clrTo>
            </a:clrChange>
          </a:blip>
          <a:stretch>
            <a:fillRect/>
          </a:stretch>
        </p:blipFill>
        <p:spPr>
          <a:xfrm>
            <a:off x="4112635" y="1887596"/>
            <a:ext cx="3942233" cy="2309521"/>
          </a:xfrm>
          <a:prstGeom prst="rect">
            <a:avLst/>
          </a:prstGeom>
        </p:spPr>
      </p:pic>
      <p:sp>
        <p:nvSpPr>
          <p:cNvPr id="8" name="Rectangle 1027">
            <a:extLst>
              <a:ext uri="{FF2B5EF4-FFF2-40B4-BE49-F238E27FC236}">
                <a16:creationId xmlns:a16="http://schemas.microsoft.com/office/drawing/2014/main" id="{44B0FAA8-31E9-42B0-9632-CFE003AD9A4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9" name="Title 1">
            <a:extLst>
              <a:ext uri="{FF2B5EF4-FFF2-40B4-BE49-F238E27FC236}">
                <a16:creationId xmlns:a16="http://schemas.microsoft.com/office/drawing/2014/main" id="{8E56CD9F-13C1-419F-9C85-88A784ADC844}"/>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37F03E5F-19CA-48DA-BCF1-34EC19E0116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01B0C23-6277-4EA6-933C-F761054ED0E4}"/>
              </a:ext>
            </a:extLst>
          </p:cNvPr>
          <p:cNvSpPr>
            <a:spLocks noGrp="1"/>
          </p:cNvSpPr>
          <p:nvPr>
            <p:ph type="sldNum" sz="quarter" idx="12"/>
          </p:nvPr>
        </p:nvSpPr>
        <p:spPr/>
        <p:txBody>
          <a:bodyPr/>
          <a:lstStyle/>
          <a:p>
            <a:fld id="{127DDC20-79C9-9647-820E-6D40A3D210C3}" type="slidenum">
              <a:rPr lang="en-US" smtClean="0"/>
              <a:pPr/>
              <a:t>49</a:t>
            </a:fld>
            <a:endParaRPr lang="en-US" dirty="0"/>
          </a:p>
        </p:txBody>
      </p:sp>
    </p:spTree>
    <p:extLst>
      <p:ext uri="{BB962C8B-B14F-4D97-AF65-F5344CB8AC3E}">
        <p14:creationId xmlns:p14="http://schemas.microsoft.com/office/powerpoint/2010/main" val="325236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4423893"/>
            <a:ext cx="2605825" cy="316690"/>
          </a:xfrm>
          <a:prstGeom prst="rect">
            <a:avLst/>
          </a:prstGeom>
          <a:noFill/>
        </p:spPr>
        <p:txBody>
          <a:bodyPr wrap="square" rtlCol="0">
            <a:spAutoFit/>
          </a:bodyPr>
          <a:lstStyle/>
          <a:p>
            <a:pPr algn="ctr">
              <a:lnSpc>
                <a:spcPct val="90000"/>
              </a:lnSpc>
            </a:pPr>
            <a:r>
              <a:rPr lang="en-US" sz="1620" dirty="0"/>
              <a:t>Albers Equal Area</a:t>
            </a:r>
          </a:p>
        </p:txBody>
      </p:sp>
      <p:sp>
        <p:nvSpPr>
          <p:cNvPr id="7" name="TextBox 6"/>
          <p:cNvSpPr txBox="1"/>
          <p:nvPr/>
        </p:nvSpPr>
        <p:spPr>
          <a:xfrm>
            <a:off x="4732181" y="4423893"/>
            <a:ext cx="2811619" cy="316690"/>
          </a:xfrm>
          <a:prstGeom prst="rect">
            <a:avLst/>
          </a:prstGeom>
          <a:noFill/>
        </p:spPr>
        <p:txBody>
          <a:bodyPr wrap="square" rtlCol="0">
            <a:spAutoFit/>
          </a:bodyPr>
          <a:lstStyle/>
          <a:p>
            <a:pPr algn="ctr">
              <a:lnSpc>
                <a:spcPct val="90000"/>
              </a:lnSpc>
            </a:pPr>
            <a:r>
              <a:rPr lang="en-US" sz="1620" dirty="0"/>
              <a:t>Lambert Conformal Conic</a:t>
            </a:r>
          </a:p>
        </p:txBody>
      </p:sp>
      <p:pic>
        <p:nvPicPr>
          <p:cNvPr id="8" name="Picture 7"/>
          <p:cNvPicPr>
            <a:picLocks noChangeAspect="1"/>
          </p:cNvPicPr>
          <p:nvPr/>
        </p:nvPicPr>
        <p:blipFill>
          <a:blip r:embed="rId3">
            <a:clrChange>
              <a:clrFrom>
                <a:srgbClr val="9C9C9C"/>
              </a:clrFrom>
              <a:clrTo>
                <a:srgbClr val="9C9C9C">
                  <a:alpha val="0"/>
                </a:srgbClr>
              </a:clrTo>
            </a:clrChange>
          </a:blip>
          <a:stretch>
            <a:fillRect/>
          </a:stretch>
        </p:blipFill>
        <p:spPr>
          <a:xfrm>
            <a:off x="50377" y="1583207"/>
            <a:ext cx="4064423" cy="2529382"/>
          </a:xfrm>
          <a:prstGeom prst="rect">
            <a:avLst/>
          </a:prstGeom>
        </p:spPr>
      </p:pic>
      <p:pic>
        <p:nvPicPr>
          <p:cNvPr id="9" name="Picture 8"/>
          <p:cNvPicPr>
            <a:picLocks noChangeAspect="1"/>
          </p:cNvPicPr>
          <p:nvPr/>
        </p:nvPicPr>
        <p:blipFill>
          <a:blip r:embed="rId4">
            <a:clrChange>
              <a:clrFrom>
                <a:srgbClr val="9C9C9C"/>
              </a:clrFrom>
              <a:clrTo>
                <a:srgbClr val="9C9C9C">
                  <a:alpha val="0"/>
                </a:srgbClr>
              </a:clrTo>
            </a:clrChange>
          </a:blip>
          <a:stretch>
            <a:fillRect/>
          </a:stretch>
        </p:blipFill>
        <p:spPr>
          <a:xfrm>
            <a:off x="4011904" y="1753803"/>
            <a:ext cx="4114800" cy="2670090"/>
          </a:xfrm>
          <a:prstGeom prst="rect">
            <a:avLst/>
          </a:prstGeom>
        </p:spPr>
      </p:pic>
      <p:sp>
        <p:nvSpPr>
          <p:cNvPr id="10" name="Rectangle 1027">
            <a:extLst>
              <a:ext uri="{FF2B5EF4-FFF2-40B4-BE49-F238E27FC236}">
                <a16:creationId xmlns:a16="http://schemas.microsoft.com/office/drawing/2014/main" id="{A5A80368-4053-4CA8-9128-FA28025697E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1021B37C-8720-498D-9240-AA6F91FCDC9B}"/>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EA8A2355-E507-4ECC-AC93-AFD2A0F7CF8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EC69ED4-BBE1-424E-B7F4-D3810684C333}"/>
              </a:ext>
            </a:extLst>
          </p:cNvPr>
          <p:cNvSpPr>
            <a:spLocks noGrp="1"/>
          </p:cNvSpPr>
          <p:nvPr>
            <p:ph type="sldNum" sz="quarter" idx="12"/>
          </p:nvPr>
        </p:nvSpPr>
        <p:spPr/>
        <p:txBody>
          <a:bodyPr/>
          <a:lstStyle/>
          <a:p>
            <a:fld id="{127DDC20-79C9-9647-820E-6D40A3D210C3}" type="slidenum">
              <a:rPr lang="en-US" smtClean="0"/>
              <a:pPr/>
              <a:t>50</a:t>
            </a:fld>
            <a:endParaRPr lang="en-US" dirty="0"/>
          </a:p>
        </p:txBody>
      </p:sp>
    </p:spTree>
    <p:extLst>
      <p:ext uri="{BB962C8B-B14F-4D97-AF65-F5344CB8AC3E}">
        <p14:creationId xmlns:p14="http://schemas.microsoft.com/office/powerpoint/2010/main" val="171166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E2D5E632-8AA2-41DB-9402-0645CFBD2E67}"/>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Albers Equal Area</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4590535" cy="2881110"/>
          </a:xfrm>
        </p:spPr>
        <p:txBody>
          <a:bodyPr>
            <a:noAutofit/>
          </a:bodyPr>
          <a:lstStyle/>
          <a:p>
            <a:pPr lvl="1">
              <a:buFont typeface="Wingdings" panose="05000000000000000000" pitchFamily="2" charset="2"/>
              <a:buChar char="ü"/>
            </a:pPr>
            <a:r>
              <a:rPr lang="en-US" sz="2800" dirty="0"/>
              <a:t>Conic </a:t>
            </a:r>
          </a:p>
          <a:p>
            <a:pPr lvl="1">
              <a:buFont typeface="Wingdings" panose="05000000000000000000" pitchFamily="2" charset="2"/>
              <a:buChar char="ü"/>
            </a:pPr>
            <a:r>
              <a:rPr lang="en-US" sz="2800" dirty="0"/>
              <a:t>Equivalent</a:t>
            </a:r>
          </a:p>
          <a:p>
            <a:pPr lvl="1">
              <a:buFont typeface="Wingdings" panose="05000000000000000000" pitchFamily="2" charset="2"/>
              <a:buChar char="ü"/>
            </a:pPr>
            <a:r>
              <a:rPr lang="en-US" sz="2800" dirty="0"/>
              <a:t>Maintains area</a:t>
            </a:r>
          </a:p>
          <a:p>
            <a:pPr lvl="1">
              <a:buFont typeface="Wingdings" panose="05000000000000000000" pitchFamily="2" charset="2"/>
              <a:buChar char="ü"/>
            </a:pPr>
            <a:r>
              <a:rPr lang="en-US" sz="2800" dirty="0"/>
              <a:t>Distort shape and local angles</a:t>
            </a:r>
          </a:p>
        </p:txBody>
      </p:sp>
      <p:sp>
        <p:nvSpPr>
          <p:cNvPr id="2" name="Slide Number Placeholder 1">
            <a:extLst>
              <a:ext uri="{FF2B5EF4-FFF2-40B4-BE49-F238E27FC236}">
                <a16:creationId xmlns:a16="http://schemas.microsoft.com/office/drawing/2014/main" id="{AF0297D7-EDD3-4A04-A68C-176D9C4DF8C1}"/>
              </a:ext>
            </a:extLst>
          </p:cNvPr>
          <p:cNvSpPr>
            <a:spLocks noGrp="1"/>
          </p:cNvSpPr>
          <p:nvPr>
            <p:ph type="sldNum" sz="quarter" idx="12"/>
          </p:nvPr>
        </p:nvSpPr>
        <p:spPr/>
        <p:txBody>
          <a:bodyPr/>
          <a:lstStyle/>
          <a:p>
            <a:fld id="{127DDC20-79C9-9647-820E-6D40A3D210C3}" type="slidenum">
              <a:rPr lang="en-US" smtClean="0"/>
              <a:pPr/>
              <a:t>51</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3680875" y="1858964"/>
            <a:ext cx="4472526" cy="2783354"/>
          </a:xfrm>
          <a:prstGeom prst="rect">
            <a:avLst/>
          </a:prstGeom>
        </p:spPr>
      </p:pic>
      <p:sp>
        <p:nvSpPr>
          <p:cNvPr id="7" name="Title 1">
            <a:extLst>
              <a:ext uri="{FF2B5EF4-FFF2-40B4-BE49-F238E27FC236}">
                <a16:creationId xmlns:a16="http://schemas.microsoft.com/office/drawing/2014/main" id="{178A724E-C334-4173-8F92-B5AC57BD7403}"/>
              </a:ext>
            </a:extLst>
          </p:cNvPr>
          <p:cNvSpPr txBox="1">
            <a:spLocks/>
          </p:cNvSpPr>
          <p:nvPr/>
        </p:nvSpPr>
        <p:spPr>
          <a:xfrm>
            <a:off x="247135" y="2351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BBEA8A48-D0CF-43F2-89E7-7CC18837F8A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44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99DA9822-C890-468F-807E-2FD2032A05D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Lambert Conformal Conic</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3997410" cy="2881110"/>
          </a:xfrm>
        </p:spPr>
        <p:txBody>
          <a:bodyPr>
            <a:normAutofit/>
          </a:bodyPr>
          <a:lstStyle/>
          <a:p>
            <a:pPr lvl="1">
              <a:buFont typeface="Wingdings" panose="05000000000000000000" pitchFamily="2" charset="2"/>
              <a:buChar char="ü"/>
            </a:pPr>
            <a:r>
              <a:rPr lang="en-US" sz="2800" dirty="0"/>
              <a:t>Conic</a:t>
            </a:r>
          </a:p>
          <a:p>
            <a:pPr lvl="1">
              <a:buFont typeface="Wingdings" panose="05000000000000000000" pitchFamily="2" charset="2"/>
              <a:buChar char="ü"/>
            </a:pPr>
            <a:r>
              <a:rPr lang="en-US" sz="2800" dirty="0"/>
              <a:t>Conformal</a:t>
            </a:r>
          </a:p>
          <a:p>
            <a:pPr lvl="1">
              <a:buFont typeface="Wingdings" panose="05000000000000000000" pitchFamily="2" charset="2"/>
              <a:buChar char="ü"/>
            </a:pPr>
            <a:r>
              <a:rPr lang="en-US" sz="2800" dirty="0"/>
              <a:t>Maintains shape and local angles</a:t>
            </a:r>
          </a:p>
          <a:p>
            <a:pPr lvl="1">
              <a:buFont typeface="Wingdings" panose="05000000000000000000" pitchFamily="2" charset="2"/>
              <a:buChar char="ü"/>
            </a:pPr>
            <a:r>
              <a:rPr lang="en-US" sz="2800" dirty="0"/>
              <a:t>Distorts local size</a:t>
            </a:r>
          </a:p>
        </p:txBody>
      </p:sp>
      <p:sp>
        <p:nvSpPr>
          <p:cNvPr id="2" name="Slide Number Placeholder 1">
            <a:extLst>
              <a:ext uri="{FF2B5EF4-FFF2-40B4-BE49-F238E27FC236}">
                <a16:creationId xmlns:a16="http://schemas.microsoft.com/office/drawing/2014/main" id="{A684FFBB-1250-476F-A12A-BE4B19B4C4E8}"/>
              </a:ext>
            </a:extLst>
          </p:cNvPr>
          <p:cNvSpPr>
            <a:spLocks noGrp="1"/>
          </p:cNvSpPr>
          <p:nvPr>
            <p:ph type="sldNum" sz="quarter" idx="12"/>
          </p:nvPr>
        </p:nvSpPr>
        <p:spPr/>
        <p:txBody>
          <a:bodyPr/>
          <a:lstStyle/>
          <a:p>
            <a:fld id="{127DDC20-79C9-9647-820E-6D40A3D210C3}" type="slidenum">
              <a:rPr lang="en-US" smtClean="0"/>
              <a:pPr/>
              <a:t>52</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4011904" y="2040794"/>
            <a:ext cx="4114800" cy="2670090"/>
          </a:xfrm>
          <a:prstGeom prst="rect">
            <a:avLst/>
          </a:prstGeom>
        </p:spPr>
      </p:pic>
      <p:sp>
        <p:nvSpPr>
          <p:cNvPr id="7" name="Title 1">
            <a:extLst>
              <a:ext uri="{FF2B5EF4-FFF2-40B4-BE49-F238E27FC236}">
                <a16:creationId xmlns:a16="http://schemas.microsoft.com/office/drawing/2014/main" id="{7B2EF69D-C653-428C-A0F7-50CFD03846B1}"/>
              </a:ext>
            </a:extLst>
          </p:cNvPr>
          <p:cNvSpPr txBox="1">
            <a:spLocks/>
          </p:cNvSpPr>
          <p:nvPr/>
        </p:nvSpPr>
        <p:spPr>
          <a:xfrm>
            <a:off x="152400" y="1981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6DB008D3-5207-4739-9C3F-5842D52F646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034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95DC-BE07-CDE3-ED47-5FDE0C6102E3}"/>
              </a:ext>
            </a:extLst>
          </p:cNvPr>
          <p:cNvSpPr>
            <a:spLocks noGrp="1"/>
          </p:cNvSpPr>
          <p:nvPr>
            <p:ph type="title"/>
          </p:nvPr>
        </p:nvSpPr>
        <p:spPr>
          <a:xfrm>
            <a:off x="392305" y="526617"/>
            <a:ext cx="7444991" cy="582516"/>
          </a:xfrm>
        </p:spPr>
        <p:txBody>
          <a:bodyPr>
            <a:normAutofit/>
          </a:bodyPr>
          <a:lstStyle/>
          <a:p>
            <a:r>
              <a:rPr lang="en-US" sz="3200" dirty="0"/>
              <a:t>Example Scenarios</a:t>
            </a:r>
          </a:p>
        </p:txBody>
      </p:sp>
      <p:sp>
        <p:nvSpPr>
          <p:cNvPr id="3" name="Content Placeholder 2">
            <a:extLst>
              <a:ext uri="{FF2B5EF4-FFF2-40B4-BE49-F238E27FC236}">
                <a16:creationId xmlns:a16="http://schemas.microsoft.com/office/drawing/2014/main" id="{4313F69B-3AC8-699B-CD74-BD0979A9E87F}"/>
              </a:ext>
            </a:extLst>
          </p:cNvPr>
          <p:cNvSpPr>
            <a:spLocks noGrp="1"/>
          </p:cNvSpPr>
          <p:nvPr>
            <p:ph idx="1"/>
          </p:nvPr>
        </p:nvSpPr>
        <p:spPr>
          <a:xfrm>
            <a:off x="392307" y="1109133"/>
            <a:ext cx="7444990" cy="2725865"/>
          </a:xfrm>
        </p:spPr>
        <p:txBody>
          <a:bodyPr>
            <a:normAutofit/>
          </a:bodyPr>
          <a:lstStyle/>
          <a:p>
            <a:pPr marL="342900" indent="-342900">
              <a:buFont typeface="+mj-lt"/>
              <a:buAutoNum type="arabicPeriod"/>
            </a:pPr>
            <a:r>
              <a:rPr lang="en-US" sz="2400" dirty="0"/>
              <a:t>An airline wants to create flight maps across the </a:t>
            </a:r>
            <a:r>
              <a:rPr lang="en-US" sz="2400" b="1" dirty="0"/>
              <a:t>contiguous U.S.</a:t>
            </a:r>
          </a:p>
          <a:p>
            <a:pPr marL="342900" indent="-342900">
              <a:buFont typeface="+mj-lt"/>
              <a:buAutoNum type="arabicPeriod"/>
            </a:pPr>
            <a:endParaRPr lang="en-US" sz="2400" dirty="0"/>
          </a:p>
          <a:p>
            <a:pPr marL="342900" indent="-342900">
              <a:buFont typeface="+mj-lt"/>
              <a:buAutoNum type="arabicPeriod"/>
            </a:pPr>
            <a:r>
              <a:rPr lang="en-US" sz="2400" dirty="0"/>
              <a:t>The U.S. Census Bureau makes a map of </a:t>
            </a:r>
            <a:r>
              <a:rPr lang="en-US" sz="2400" b="1" dirty="0"/>
              <a:t>population density</a:t>
            </a:r>
            <a:r>
              <a:rPr lang="en-US" sz="2400" dirty="0"/>
              <a:t> by state.</a:t>
            </a:r>
          </a:p>
        </p:txBody>
      </p:sp>
      <p:sp>
        <p:nvSpPr>
          <p:cNvPr id="4" name="Slide Number Placeholder 3">
            <a:extLst>
              <a:ext uri="{FF2B5EF4-FFF2-40B4-BE49-F238E27FC236}">
                <a16:creationId xmlns:a16="http://schemas.microsoft.com/office/drawing/2014/main" id="{F2F6032D-17C2-4BC2-A74C-334AEEB966A8}"/>
              </a:ext>
            </a:extLst>
          </p:cNvPr>
          <p:cNvSpPr>
            <a:spLocks noGrp="1"/>
          </p:cNvSpPr>
          <p:nvPr>
            <p:ph type="sldNum" sz="quarter" idx="12"/>
          </p:nvPr>
        </p:nvSpPr>
        <p:spPr/>
        <p:txBody>
          <a:bodyPr/>
          <a:lstStyle/>
          <a:p>
            <a:fld id="{127DDC20-79C9-9647-820E-6D40A3D210C3}" type="slidenum">
              <a:rPr lang="en-US" smtClean="0"/>
              <a:pPr/>
              <a:t>53</a:t>
            </a:fld>
            <a:endParaRPr lang="en-US"/>
          </a:p>
        </p:txBody>
      </p:sp>
      <p:sp>
        <p:nvSpPr>
          <p:cNvPr id="5" name="TextBox 4">
            <a:extLst>
              <a:ext uri="{FF2B5EF4-FFF2-40B4-BE49-F238E27FC236}">
                <a16:creationId xmlns:a16="http://schemas.microsoft.com/office/drawing/2014/main" id="{FB7FD149-0C34-C3F3-868A-F14782292EBC}"/>
              </a:ext>
            </a:extLst>
          </p:cNvPr>
          <p:cNvSpPr txBox="1"/>
          <p:nvPr/>
        </p:nvSpPr>
        <p:spPr>
          <a:xfrm>
            <a:off x="918709" y="4405162"/>
            <a:ext cx="6208144" cy="369332"/>
          </a:xfrm>
          <a:prstGeom prst="rect">
            <a:avLst/>
          </a:prstGeom>
          <a:noFill/>
        </p:spPr>
        <p:txBody>
          <a:bodyPr wrap="square" rtlCol="0">
            <a:spAutoFit/>
          </a:bodyPr>
          <a:lstStyle/>
          <a:p>
            <a:r>
              <a:rPr lang="en-US" dirty="0"/>
              <a:t>Q: W</a:t>
            </a:r>
            <a:r>
              <a:rPr lang="en-US" altLang="zh-CN" dirty="0"/>
              <a:t>hich</a:t>
            </a:r>
            <a:r>
              <a:rPr lang="zh-CN" altLang="en-US" dirty="0"/>
              <a:t> </a:t>
            </a:r>
            <a:r>
              <a:rPr lang="en-US" altLang="zh-CN" dirty="0"/>
              <a:t>projection</a:t>
            </a:r>
            <a:r>
              <a:rPr lang="zh-CN" altLang="en-US" dirty="0"/>
              <a:t> </a:t>
            </a:r>
            <a:r>
              <a:rPr lang="en-US" altLang="zh-CN" dirty="0"/>
              <a:t>we</a:t>
            </a:r>
            <a:r>
              <a:rPr lang="zh-CN" altLang="en-US" dirty="0"/>
              <a:t> </a:t>
            </a:r>
            <a:r>
              <a:rPr lang="en-US" altLang="zh-CN" dirty="0"/>
              <a:t>should</a:t>
            </a:r>
            <a:r>
              <a:rPr lang="zh-CN" altLang="en-US" dirty="0"/>
              <a:t> </a:t>
            </a:r>
            <a:r>
              <a:rPr lang="en-US" altLang="zh-CN" dirty="0"/>
              <a:t>use in above scenario? </a:t>
            </a:r>
            <a:endParaRPr lang="en-US" dirty="0"/>
          </a:p>
        </p:txBody>
      </p:sp>
      <p:sp>
        <p:nvSpPr>
          <p:cNvPr id="6" name="TextBox 5">
            <a:extLst>
              <a:ext uri="{FF2B5EF4-FFF2-40B4-BE49-F238E27FC236}">
                <a16:creationId xmlns:a16="http://schemas.microsoft.com/office/drawing/2014/main" id="{BE149E20-BA0B-2D98-6082-A87B01A85518}"/>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29434663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Examples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1" name="Rectangle 10"/>
          <p:cNvSpPr/>
          <p:nvPr/>
        </p:nvSpPr>
        <p:spPr>
          <a:xfrm>
            <a:off x="302741" y="1667890"/>
            <a:ext cx="7679724" cy="2246769"/>
          </a:xfrm>
          <a:prstGeom prst="rect">
            <a:avLst/>
          </a:prstGeom>
        </p:spPr>
        <p:txBody>
          <a:bodyPr wrap="square">
            <a:spAutoFit/>
          </a:bodyPr>
          <a:lstStyle/>
          <a:p>
            <a:pPr marL="800100" lvl="1" indent="-342900">
              <a:buFont typeface="Wingdings" panose="05000000000000000000" pitchFamily="2" charset="2"/>
              <a:buChar char="ü"/>
            </a:pPr>
            <a:r>
              <a:rPr lang="en-US" sz="2000" dirty="0"/>
              <a:t>Projected coordinate systems do not use longitude and latitude to measure locations</a:t>
            </a:r>
          </a:p>
          <a:p>
            <a:endParaRPr lang="en-US" sz="2000" dirty="0"/>
          </a:p>
          <a:p>
            <a:pPr marL="800100" lvl="1" indent="-342900">
              <a:buFont typeface="Wingdings" panose="05000000000000000000" pitchFamily="2" charset="2"/>
              <a:buChar char="ü"/>
            </a:pPr>
            <a:r>
              <a:rPr lang="en-US" sz="2000" dirty="0"/>
              <a:t>Instead, they use map units of the projection itself:</a:t>
            </a:r>
          </a:p>
          <a:p>
            <a:endParaRPr lang="en-US" sz="2000" dirty="0"/>
          </a:p>
          <a:p>
            <a:pPr lvl="1"/>
            <a:r>
              <a:rPr lang="en-US" sz="2000" dirty="0"/>
              <a:t>	Meters (UTM, Albers, most others)</a:t>
            </a:r>
          </a:p>
          <a:p>
            <a:pPr lvl="1"/>
            <a:r>
              <a:rPr lang="en-US" sz="2000" dirty="0"/>
              <a:t>	Feet (State Plane, few others)</a:t>
            </a:r>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52400"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1BA8F926-0EC4-45B9-925B-AAF329A5EA4B}"/>
              </a:ext>
            </a:extLst>
          </p:cNvPr>
          <p:cNvSpPr>
            <a:spLocks noGrp="1"/>
          </p:cNvSpPr>
          <p:nvPr>
            <p:ph type="sldNum" sz="quarter" idx="12"/>
          </p:nvPr>
        </p:nvSpPr>
        <p:spPr/>
        <p:txBody>
          <a:bodyPr/>
          <a:lstStyle/>
          <a:p>
            <a:fld id="{127DDC20-79C9-9647-820E-6D40A3D210C3}" type="slidenum">
              <a:rPr lang="en-US" smtClean="0"/>
              <a:pPr/>
              <a:t>54</a:t>
            </a:fld>
            <a:endParaRPr lang="en-US"/>
          </a:p>
        </p:txBody>
      </p:sp>
    </p:spTree>
    <p:extLst>
      <p:ext uri="{BB962C8B-B14F-4D97-AF65-F5344CB8AC3E}">
        <p14:creationId xmlns:p14="http://schemas.microsoft.com/office/powerpoint/2010/main" val="69473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7C0F8912-C786-4A33-A4D3-D8985E9F319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86214" y="1569821"/>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Rectangle 3"/>
          <p:cNvSpPr txBox="1">
            <a:spLocks noChangeArrowheads="1"/>
          </p:cNvSpPr>
          <p:nvPr/>
        </p:nvSpPr>
        <p:spPr>
          <a:xfrm>
            <a:off x="312496" y="1550138"/>
            <a:ext cx="7614363" cy="3597298"/>
          </a:xfrm>
          <a:prstGeom prst="rect">
            <a:avLst/>
          </a:prstGeom>
        </p:spPr>
        <p:txBody>
          <a:bodyPr vert="horz" lIns="61738" tIns="30869" rIns="61738" bIns="30869" rtlCol="0">
            <a:no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sz="1600" dirty="0"/>
              <a:t>60 zones</a:t>
            </a:r>
          </a:p>
          <a:p>
            <a:pPr lvl="1">
              <a:buFont typeface="Wingdings" panose="05000000000000000000" pitchFamily="2" charset="2"/>
              <a:buChar char="ü"/>
            </a:pPr>
            <a:r>
              <a:rPr lang="en-US" sz="1600" dirty="0"/>
              <a:t>Location provided in meters as </a:t>
            </a:r>
            <a:r>
              <a:rPr lang="en-US" sz="1600" b="1" dirty="0">
                <a:solidFill>
                  <a:srgbClr val="E3874F"/>
                </a:solidFill>
              </a:rPr>
              <a:t>Easting</a:t>
            </a:r>
            <a:r>
              <a:rPr lang="en-US" sz="1600" dirty="0"/>
              <a:t> and </a:t>
            </a:r>
            <a:r>
              <a:rPr lang="en-US" sz="1600" b="1" dirty="0">
                <a:solidFill>
                  <a:srgbClr val="E3874F"/>
                </a:solidFill>
              </a:rPr>
              <a:t>Northing</a:t>
            </a:r>
          </a:p>
          <a:p>
            <a:pPr lvl="1">
              <a:buFont typeface="Wingdings" panose="05000000000000000000" pitchFamily="2" charset="2"/>
              <a:buChar char="ü"/>
            </a:pPr>
            <a:r>
              <a:rPr lang="en-US" sz="1600" b="1" dirty="0">
                <a:solidFill>
                  <a:srgbClr val="E3874F"/>
                </a:solidFill>
              </a:rPr>
              <a:t>Northing: </a:t>
            </a:r>
            <a:r>
              <a:rPr lang="en-US" sz="1600" dirty="0"/>
              <a:t>meters north of equator </a:t>
            </a:r>
          </a:p>
          <a:p>
            <a:pPr lvl="2">
              <a:buFont typeface="Arial" panose="020B0604020202020204" pitchFamily="34" charset="0"/>
              <a:buChar char="•"/>
            </a:pPr>
            <a:r>
              <a:rPr lang="en-US" dirty="0"/>
              <a:t>In northern hemisphere, equator is assigned a value of 0 meters, add as you go up</a:t>
            </a:r>
          </a:p>
          <a:p>
            <a:pPr lvl="2">
              <a:buFont typeface="Arial" panose="020B0604020202020204" pitchFamily="34" charset="0"/>
              <a:buChar char="•"/>
            </a:pPr>
            <a:r>
              <a:rPr lang="en-US" dirty="0"/>
              <a:t>In southern hemisphere, equator is assigned a value of 10,000,000 meters, subtract as you go down</a:t>
            </a:r>
          </a:p>
          <a:p>
            <a:pPr lvl="1">
              <a:buFont typeface="Wingdings" panose="05000000000000000000" pitchFamily="2" charset="2"/>
              <a:buChar char="ü"/>
            </a:pPr>
            <a:r>
              <a:rPr lang="en-US" sz="1600" b="1" dirty="0">
                <a:solidFill>
                  <a:srgbClr val="E3874F"/>
                </a:solidFill>
              </a:rPr>
              <a:t>Easting: </a:t>
            </a:r>
            <a:r>
              <a:rPr lang="en-US" sz="1600" dirty="0"/>
              <a:t>distance from central meridian in UTM zone</a:t>
            </a:r>
          </a:p>
          <a:p>
            <a:pPr lvl="2">
              <a:buFont typeface="Arial" panose="020B0604020202020204" pitchFamily="34" charset="0"/>
              <a:buChar char="•"/>
            </a:pPr>
            <a:r>
              <a:rPr lang="en-US" dirty="0"/>
              <a:t>Central meridian is assigned a value of 500,000 meters</a:t>
            </a:r>
          </a:p>
          <a:p>
            <a:pPr lvl="2">
              <a:buFont typeface="Arial" panose="020B0604020202020204" pitchFamily="34" charset="0"/>
              <a:buChar char="•"/>
            </a:pPr>
            <a:r>
              <a:rPr lang="en-US" dirty="0"/>
              <a:t>Add as you go east</a:t>
            </a:r>
          </a:p>
          <a:p>
            <a:pPr lvl="2">
              <a:buFont typeface="Arial" panose="020B0604020202020204" pitchFamily="34" charset="0"/>
              <a:buChar char="•"/>
            </a:pPr>
            <a:r>
              <a:rPr lang="en-US" dirty="0"/>
              <a:t>Subtract as you go west</a:t>
            </a:r>
          </a:p>
        </p:txBody>
      </p:sp>
      <p:sp>
        <p:nvSpPr>
          <p:cNvPr id="3" name="AutoShape 6" descr="data:image/png;base64,iVBORw0KGgoAAAANSUhEUgAAAJwAAAEwCAMAAAB1z+heAAAAeFBMVEX///8AAACMjIyvr6+zs7M1NTXm5ub5+fm8vLxLS0t+fn7g4ODj4+MkJCTKysru7u7CwsIqKip1dXWEhISUlJShoaEWFhYeHh5paWn09PSampowMDDw8PDOzs6enp4+Pj5VVVVHR0dubm7Y2NgNDQ1gYGBTU1M0NDQ+Q6/PAAAPiklEQVR4nO2dCXuqvBKAE5aAgICgrSjqadH2///DmwlbAsGy5Cs55zpPXQoBXochmQxhgrDGgvBmb2gp+w2F2yNNZU/hjLUhhsT4t+Di+s20TAehwrLoZ2ZarmWSZt1acPaVvm2pQVAqDyHvRD8Nx3TvrhntULluNbjb5UQJ0Smk36Mj8gL6eQbo6lW+rQRnZ6lDARgUpRLgbsT3yW1NOGSZAOeX/6T0tLpGBfeRel76sSoc2Ts8nJskCOlyWhFK8htKCPzzxk6rQXSBgyvySO3qQXyyQUyD7OLYVa/ybSW4U/2WeEmGkBXRr/tqUbNuLbhflBfcXFkKFwTKUPqyFM40pYszerWwT4u+PgvqH9BXefF0Lhgz4v+LLJVwliVdDPXMkX6+pfR7lBLk4gxVFTdX1dAiESIcre8pgcsDkjdwEQkyYS0AUO8k3xoVnBVuUdOqsE18grJthHIUHx1Ea3HCllE436/3NRvOwPhP7F5cF1lufMfYFdaCP3Wgisu86rRa7iHk4cjeS/0YX2lLc/wu0Duif3TZNUVh4h2yZXCFfYhT2j06Pvb0nX7/k/fhXJPUp4lq+M7D+RGKEvjqBSRly2zqvaJ9CgpP/WVwMSbICUhIyXJCr1gXC3DgQ+2QF0VpCxceDO60HnY7o4QLvAqOlqHfN7aNg0VwBFfOuFufTrqjDpx9sW/nuhw9MDGSFo5qKUwruJSVr+GouTrtPufAHeyiOWgpMb5w6w16WsGdb04rVDn+nWkEu5YVF1f34aFziBI/uBFa3sWouFonD12p1x8tgmv6um09t+E9YIf2fuAzq35DWVkXWfl7KBwqTFSgkH5mmRlAeYt1lgrYJal/4ky42pac+hQg+2v6bn6QeXAtCNdCNMDKZB5cewq5FkJ9WGMWHGf8nOaai0SZzILjqo3W5trqRZnMgbO4Cpf3SmKs2H+aA+di0nznvRJ+uRKZA8driNeciyNJ6QUyAy66H9p/OJtDTqKuV8hkBhzh3SPBExbb1+UyA06oMgRPWGxfl8sMOKGyFfsQG3URJpA5cHx53uYQ+tgoQGplOlyGueuho7nk5iCFMiPKJHgfnd6X2sZ/OtxGOHWdfqva6MF0uC8h/ibanGLPZDJcKtZlHc3lWN7JnieT4ToVbcfmSKf/ukyWwnU0tzLcXoTr2Fyg1KebCmeJnedelEmpTzcVruuzdaNMSn26pXBdza0K1z1tHZvrnfZFMhGuZ/C9yOZeoU83Ea5XVfQimyodzqVwPc3pBNe1uTXhQhyKC3qaO+AMqZKJcD2vox9N/1rtrmGvbP8+xEadq74UrmdzOsH1NXdbC+7Sczr6NnfY+kuhapkG19eK5N6Xuk7ONLi+PfVtTmEnZymcTHPawEnuGq4F169gZZpT1j2cBCdpmiQ212viZsskOEmjLtGcuh7YUjiJzekDp7XmJDa3DpwsIC3RnBDQXiRT4GShfNnoCGUd62lw/T6pbFyJsr7rUjiJzekDp7XmZDanDZzWmtPG5g73flUi05yyln8CnDRqKR0FpiqYMwFO2ixJx8+pCkkshZPZnDZwWmtOanO6wGmtOV1sTlp9STX3JEZn7s6PDOVvxpgbs+PgYrcY6PLJR7tCFzK0JKOHYDRrZiKMXPkQ3jlwBf4w5OXk44Q3f4jxtpW4nNVQ2zDZj2nhpHCnnS3KB8b4WwontTn0hbcYv3109rKNkW8ctjB+2B81PGac5hy8vU3TXPGBZSMlAmq3JBkDNh7ulMYDMRC5zUFM5ZBKVvlpdxT1cjgmUzQ3FN0EMNWaYzLB5objwmVVMlJ+WXPTZCncsM0pkClwslivXHOKhuWOh5MPBZLbnDikaLaMh5MPohp4kkRN6HU8nNyOBp4k0QNOa83JbU4TOK0197K5n+Vlc6K8bG6u/Cs2Jx09rYfm/K3U0Riwuc+HiqcPRsOl8hDDgOYiJbeYRsMNxD8GbE7N/a+lcAOa0wNuwOb0gNNacy+bG1NQJi+bG1NQJi+bG1NQJi+bG1NQJi+bG1NQJi+bG1NQJn+/zUU+uylS5SEJfN9XeZNkGG6MzZG95+0JMpMyDwlOPc+TDYFSDjdGcyYlsUz0hrisGxLpDzH7DZsD7dLX5a38ITUcPhwI5Mc50r/tFR0x/f62DRE5nKbmK1mguQquFmzb9u5EFRliAolUzsjI4RanDXnPqHZJc1/3N2yuA2c3H2md5SW2qBGybC9VchU1cDM014dzTTfl4Jobd79hc9UF0YFjp9VP4LR+Rg4tX59WdXCj6rnrbndt/7NLm6MXhOGjcHumfMfPS4x29QXRJJFatW31fnhyYtW2NVEFN21kVz7qOdfoh/EbPJz1u7mCzz/C83BF+jS3rzTr8OMhLe7h44/pgn++sbj0tA5cEJGSx5df/txc+Sf7EEVCPcYk0lJzJCXgbDta2pzPp26TyKpw+anqoehoc/nHJtXW5hyfBEGgqc0xOhI4WmouO6Q43XzkWtocvVptFJ1yLTVH4d6YJ6ujzZHUQRvI2aqj5lBxqXK2amhzjeinOYOQd+jgvRMtba4R/TQHc0IwyTS0ucJyvcSykkTPFiJi2xh62lzpz9FKWEvNQR5oax9paHNwdNOyIO+vjpprRD+bM0i0qyphHTWX1cErHW3Or59p0ENznYFWVhWOH7A5NekFx4+fEzJukPPtqc2pybzxT47ZLBIPXQpdRh6KcCSN3pGTDratq8Kx3teTtlUPOB1tjnWqYZIJHTXHwhG+o8844RYuCogflIEc/TTnYmwYZdhVQ5sLrbQKbeqnOSo+eZzhNqV+Nsckj6z7cNv6y3BCejfHtIwEvKIhm1OS5m08HJ8Y77CPK39NrjlFCfLGw3HlThh/3J7FShSlFpwFx8nr+dYR8vdpbuoz1ZNkFlzkVzLUtq4JZ3mlDLatmpxW/TRHJdxu7Nt5qJ7bqJmJdALcLmlBfJjlLLQGNOfcRic5UAXHPy5F+xDb4T7EwGNY/yUcEeHC/WDvayBc9ltw6OCiEMZg6pIjh4dz6uQUOmquCYHpmJfJMSuHTUfNEQwDarcD9dwKcOKEUNWbTHPKJoiaAMfnzwzqmyTynIeKptaaAtemCzx93mC67Hd5PbdyzkMSH2FcSaBRzkPhoP5wrGRtuOzwxJ9bG+7pKDBt4LSxOT4B3XUfDPYhZPk4/3M4bjhu5KWDNqduFqFJcJJmScsc1uHWRm6sUQ5rDo71IWBUvj6aa/sGz+5DqEnNMBmuTW7x7A6OmqQWk+G4tCDmGds7eR9CTcgVZCLcXzE/BFhVBhNnajQ/RA23h2o228vvt64FVyW9O5XN2MD91rUmTKkO7FXuuvRqVTiZ9lQ4VjapvA5pPbf2DEJFuYUvvd+6NhzaQX5WNnZEMveSmtgcyES4OkaXv9tnAOxrTlVsDmQiXK/d7NmcqtgcyES41xxz/L6mwP08r+GKcPmfVFRV1+aix6cCqkomwvUmQ+nPpalwfvSpcN0+adfmVp6FVNSMVvO3Frb4WGrH5pz0z3qzkPaec+1obt1peXuPWIk2p/Vsy+q6hdWxpsHF+ML/27G5gy1J0D9bJsN1skZ250Zfd/rxTrro7tzoyjo3INPhxETbouYUJdauZTqc2LsSbU5h5wZkDhxfXtScwv4DyBw43uhFm1M46y3IDDhhULygOZUuOsgMOKGJEmxO5QTaIDPghMad11zXKVgsM+AEt4i3OaWOJsgcOB6C15xSXw5kDhx/+jibU+vLgcyB4z0TTnNqPZLqONPhuJADZ3P8cCI1MguOa/w5zalt9EHmwbVDbVub689hvVjmwbWNf6s5hTN71zIXrm5fW5sT2tX83X6r02zl7E7odWdvy1DyUQQQqp821dYCuKZ9bTQntqvv9LVzuYx9kKysymB1FouhgAvoiVMfzYRr2le3rj7EdhVGvXzHZWo3w91HJZzFKu9Sw4UZo+ItRIVz+iKQ7zCGZZEHv7cOGsyEqytc58+jtL5Ou2p5XlK4JZwDByN7rz5jDO5ysszYp3AJAbgton/F1T2m6Moe6l0CR5uwHF1umxvG+GtjZ7TpEmIkD+KTxOWT4uV+eA9buAzudpfJ8EiKysR4tGycgtLr7Gpz4eiGGG8+vNhF9uaLfhfrEbCrW8zBZTDgjssW6Rjns9Fm6qvh6PeNbd8Wag65hgE85cEPRir2V5nNuVzGPnbheC2c6aJr2uY43MFiapeEjQWtsoXOh6tk4GENk9rcJSqTfzKBRKBemwT0RNddPXQ+QRpBXNDy9GqnZY4eChPvpAhu4DEX5Pt+kzaVCQwZb9OnEvo/ihAhkIMOlvt+wMrk8LUec7kU7j+VF9xc+afgsioXcAZGTS9C+nJyasjUyhFbPnp2O/VwbNwcrR6ck+dB1QYtt+/F3uc5TdiUgENX72/AMa+BAgCYcypYhcrmKqwnUxyo934HDrRDTx1zeyyrgWMvcAHcFeFQuH0nedUEdeACGNd8XzUmTJtvanMyuNU1FzGf0YTWufmEC6EGXN/mKFS4B3/MYZ+bTBM4GNTHcgOH2/Ief7h9gw/omLDOSaz6Do7S8LxKof0SvJGmlF1f9hsKp7Gsfe5e8n8rOXte1XkSchYiLpVf96w8iDgPBEuoTZgvCOPagwwSZLBlPuvgDArtlXlJHg27YyFfHdZ+nf98VFWYCA0G61S/oyJJcUqPhV3keDcIa1Dv8NlgmeKHWwiF18+iRv068nxC7M5TTKxTzZplcBiM1OJyXcdPvFSrdHWOVWp6+ETx5VE3T4EXCQeq/bqje6e//ArznR8diMNV5ctlJ3xsvtdw5XhPKGTHFnocKtXGByTfD4h7ZxOrfyMvyqi6zxDucHF2uZY7Qt0JMcJ7CP0HfKCnyQ1RlKDbESVBU/4Qg7dSblOuLycUKMd7siK32Mo+Kxcr3jfbiPspNVcWYvENl7lCO1iGY8v9LkuUmguaTsIJXPUd/EWWdUh96j54UV2+8lLKbWB947GwU8ugv+P4XMVSGFu7TbufcvsypnG9ULhoH11DagMZXXZ3LbcMXLkmDwcOCP2VtJxLy1nunXgR7PS9Ks/6FV5pRxGs9wW4bXms0HbYcV1m8O027X5QvYJtVEZ6MApxBMvoXh5liUS41O8l3BZGvoL9fYN7Q+2mLg/LNtWQ3XJ9dVqZbTG72yILF+zJu+paaLaJTe64qAkUH1mQOW0nM8nf36tbRichOFiN2Tyy5WyOB8O5X7nyzKCrbco5IFA7TwRTFxyLHQOF32WSjHob6hO2x+UExptbc/oopkoPeECyk5fOesRSaWd6SBw/mHXTVGkYopX/AXhItat9r3bIAAAAAElFTkSuQmCC"/>
          <p:cNvSpPr>
            <a:spLocks noChangeAspect="1" noChangeArrowheads="1"/>
          </p:cNvSpPr>
          <p:nvPr/>
        </p:nvSpPr>
        <p:spPr bwMode="auto">
          <a:xfrm>
            <a:off x="5194143" y="4247696"/>
            <a:ext cx="205794" cy="2057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1738" tIns="30869" rIns="61738" bIns="30869" numCol="1" anchor="t" anchorCtr="0" compatLnSpc="1">
            <a:prstTxWarp prst="textNoShape">
              <a:avLst/>
            </a:prstTxWarp>
          </a:bodyPr>
          <a:lstStyle/>
          <a:p>
            <a:endParaRPr lang="en-US" sz="1215"/>
          </a:p>
        </p:txBody>
      </p:sp>
      <p:sp>
        <p:nvSpPr>
          <p:cNvPr id="10" name="Title 1">
            <a:extLst>
              <a:ext uri="{FF2B5EF4-FFF2-40B4-BE49-F238E27FC236}">
                <a16:creationId xmlns:a16="http://schemas.microsoft.com/office/drawing/2014/main" id="{E2EFFEF3-D674-4963-B565-E7AF87984FA3}"/>
              </a:ext>
            </a:extLst>
          </p:cNvPr>
          <p:cNvSpPr txBox="1">
            <a:spLocks/>
          </p:cNvSpPr>
          <p:nvPr/>
        </p:nvSpPr>
        <p:spPr>
          <a:xfrm>
            <a:off x="302741"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1" name="Straight Connector 10">
            <a:extLst>
              <a:ext uri="{FF2B5EF4-FFF2-40B4-BE49-F238E27FC236}">
                <a16:creationId xmlns:a16="http://schemas.microsoft.com/office/drawing/2014/main" id="{45E31194-305A-4941-974C-1A7AAB4EF78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5F8B218-6692-458E-91EA-BABED2AAC2C2}"/>
              </a:ext>
            </a:extLst>
          </p:cNvPr>
          <p:cNvSpPr>
            <a:spLocks noGrp="1"/>
          </p:cNvSpPr>
          <p:nvPr>
            <p:ph type="sldNum" sz="quarter" idx="12"/>
          </p:nvPr>
        </p:nvSpPr>
        <p:spPr/>
        <p:txBody>
          <a:bodyPr/>
          <a:lstStyle/>
          <a:p>
            <a:fld id="{127DDC20-79C9-9647-820E-6D40A3D210C3}" type="slidenum">
              <a:rPr lang="en-US" smtClean="0"/>
              <a:pPr/>
              <a:t>55</a:t>
            </a:fld>
            <a:endParaRPr lang="en-US"/>
          </a:p>
        </p:txBody>
      </p:sp>
    </p:spTree>
    <p:extLst>
      <p:ext uri="{BB962C8B-B14F-4D97-AF65-F5344CB8AC3E}">
        <p14:creationId xmlns:p14="http://schemas.microsoft.com/office/powerpoint/2010/main" val="48001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pic>
        <p:nvPicPr>
          <p:cNvPr id="8" name="Picture 7"/>
          <p:cNvPicPr/>
          <p:nvPr/>
        </p:nvPicPr>
        <p:blipFill>
          <a:blip r:embed="rId3"/>
          <a:stretch>
            <a:fillRect/>
          </a:stretch>
        </p:blipFill>
        <p:spPr>
          <a:xfrm>
            <a:off x="50377" y="1760366"/>
            <a:ext cx="4249445" cy="2668204"/>
          </a:xfrm>
          <a:prstGeom prst="rect">
            <a:avLst/>
          </a:prstGeom>
        </p:spPr>
      </p:pic>
      <p:pic>
        <p:nvPicPr>
          <p:cNvPr id="9" name="Picture 8"/>
          <p:cNvPicPr/>
          <p:nvPr/>
        </p:nvPicPr>
        <p:blipFill>
          <a:blip r:embed="rId4"/>
          <a:stretch>
            <a:fillRect/>
          </a:stretch>
        </p:blipFill>
        <p:spPr>
          <a:xfrm>
            <a:off x="4474939" y="1954370"/>
            <a:ext cx="3624540" cy="2262269"/>
          </a:xfrm>
          <a:prstGeom prst="rect">
            <a:avLst/>
          </a:prstGeom>
        </p:spPr>
      </p:pic>
      <p:sp>
        <p:nvSpPr>
          <p:cNvPr id="10" name="Rectangle 1027">
            <a:extLst>
              <a:ext uri="{FF2B5EF4-FFF2-40B4-BE49-F238E27FC236}">
                <a16:creationId xmlns:a16="http://schemas.microsoft.com/office/drawing/2014/main" id="{99486372-22C0-428B-83EF-CB771BDA407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EBBA0623-973D-4C03-A14B-C6350AAB19A4}"/>
              </a:ext>
            </a:extLst>
          </p:cNvPr>
          <p:cNvSpPr txBox="1">
            <a:spLocks/>
          </p:cNvSpPr>
          <p:nvPr/>
        </p:nvSpPr>
        <p:spPr>
          <a:xfrm>
            <a:off x="247135" y="1896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D47C07C3-C910-464A-B18A-93E326DC4FD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F977B42-6F19-47E1-8D63-5253A6DE7EFC}"/>
              </a:ext>
            </a:extLst>
          </p:cNvPr>
          <p:cNvSpPr>
            <a:spLocks noGrp="1"/>
          </p:cNvSpPr>
          <p:nvPr>
            <p:ph type="sldNum" sz="quarter" idx="12"/>
          </p:nvPr>
        </p:nvSpPr>
        <p:spPr/>
        <p:txBody>
          <a:bodyPr/>
          <a:lstStyle/>
          <a:p>
            <a:fld id="{127DDC20-79C9-9647-820E-6D40A3D210C3}" type="slidenum">
              <a:rPr lang="en-US" smtClean="0"/>
              <a:pPr/>
              <a:t>56</a:t>
            </a:fld>
            <a:endParaRPr lang="en-US"/>
          </a:p>
        </p:txBody>
      </p:sp>
      <p:sp>
        <p:nvSpPr>
          <p:cNvPr id="13" name="TextBox 12">
            <a:extLst>
              <a:ext uri="{FF2B5EF4-FFF2-40B4-BE49-F238E27FC236}">
                <a16:creationId xmlns:a16="http://schemas.microsoft.com/office/drawing/2014/main" id="{7FFCC547-A699-47A5-BF67-EDDCC41BF01D}"/>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181658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125 geographic zones designed for specific regions in the United States</a:t>
            </a:r>
          </a:p>
          <a:p>
            <a:pPr lvl="1">
              <a:buFont typeface="Wingdings" panose="05000000000000000000" pitchFamily="2" charset="2"/>
              <a:buChar char="ü"/>
            </a:pPr>
            <a:r>
              <a:rPr lang="en-US" dirty="0"/>
              <a:t>Zones follow county boundaries</a:t>
            </a:r>
          </a:p>
          <a:p>
            <a:pPr lvl="1">
              <a:buFont typeface="Wingdings" panose="05000000000000000000" pitchFamily="2" charset="2"/>
              <a:buChar char="ü"/>
            </a:pPr>
            <a:r>
              <a:rPr lang="en-US" dirty="0"/>
              <a:t>city- to county-scale</a:t>
            </a:r>
          </a:p>
          <a:p>
            <a:pPr marL="0" indent="0">
              <a:buNone/>
            </a:pPr>
            <a:endParaRPr lang="en-US" dirty="0">
              <a:solidFill>
                <a:schemeClr val="tx2"/>
              </a:solidFill>
            </a:endParaRPr>
          </a:p>
        </p:txBody>
      </p:sp>
      <p:pic>
        <p:nvPicPr>
          <p:cNvPr id="8194" name="Picture 2" descr="Image result for state plane coordinate system">
            <a:extLst>
              <a:ext uri="{FF2B5EF4-FFF2-40B4-BE49-F238E27FC236}">
                <a16:creationId xmlns:a16="http://schemas.microsoft.com/office/drawing/2014/main" id="{D65021F9-CA2B-46D0-966F-4E892D6AC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1986" y="3261663"/>
            <a:ext cx="2871788" cy="179308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6B6FDBD-198E-4155-9630-766005C7CEA5}"/>
              </a:ext>
            </a:extLst>
          </p:cNvPr>
          <p:cNvSpPr/>
          <p:nvPr/>
        </p:nvSpPr>
        <p:spPr>
          <a:xfrm>
            <a:off x="1020158" y="4707152"/>
            <a:ext cx="3429000" cy="219291"/>
          </a:xfrm>
          <a:prstGeom prst="rect">
            <a:avLst/>
          </a:prstGeom>
        </p:spPr>
        <p:txBody>
          <a:bodyPr>
            <a:spAutoFit/>
          </a:bodyPr>
          <a:lstStyle/>
          <a:p>
            <a:r>
              <a:rPr lang="en-US" sz="825" dirty="0">
                <a:hlinkClick r:id="rId4"/>
              </a:rPr>
              <a:t>https://www.e-education.psu.edu/natureofgeoinfo/c2_p26.html</a:t>
            </a:r>
            <a:endParaRPr lang="en-US" sz="8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57</a:t>
            </a:fld>
            <a:endParaRPr lang="en-US"/>
          </a:p>
        </p:txBody>
      </p:sp>
    </p:spTree>
    <p:extLst>
      <p:ext uri="{BB962C8B-B14F-4D97-AF65-F5344CB8AC3E}">
        <p14:creationId xmlns:p14="http://schemas.microsoft.com/office/powerpoint/2010/main" val="111858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7836954" cy="629325"/>
          </a:xfrm>
          <a:prstGeom prst="rect">
            <a:avLst/>
          </a:prstGeom>
        </p:spPr>
        <p:txBody>
          <a:bodyPr vert="horz" lIns="51449" tIns="25724" rIns="51449" bIns="25724" rtlCol="0">
            <a:normAutofit fontScale="925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Transverse Mercator projection (for states with long north-south axis) </a:t>
            </a:r>
          </a:p>
          <a:p>
            <a:pPr lvl="1">
              <a:buFont typeface="Wingdings" panose="05000000000000000000" pitchFamily="2" charset="2"/>
              <a:buChar char="ü"/>
            </a:pPr>
            <a:r>
              <a:rPr lang="en-US" dirty="0"/>
              <a:t>Lambert conformal conic projection (for states with long east-west axis)</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58</a:t>
            </a:fld>
            <a:endParaRPr lang="en-US"/>
          </a:p>
        </p:txBody>
      </p:sp>
      <p:pic>
        <p:nvPicPr>
          <p:cNvPr id="9" name="Picture 8" descr="Diagram&#10;&#10;Description automatically generated">
            <a:extLst>
              <a:ext uri="{FF2B5EF4-FFF2-40B4-BE49-F238E27FC236}">
                <a16:creationId xmlns:a16="http://schemas.microsoft.com/office/drawing/2014/main" id="{A398956F-3C88-466E-94BD-D9CAC8379493}"/>
              </a:ext>
            </a:extLst>
          </p:cNvPr>
          <p:cNvPicPr>
            <a:picLocks noChangeAspect="1"/>
          </p:cNvPicPr>
          <p:nvPr/>
        </p:nvPicPr>
        <p:blipFill>
          <a:blip r:embed="rId3"/>
          <a:stretch>
            <a:fillRect/>
          </a:stretch>
        </p:blipFill>
        <p:spPr>
          <a:xfrm>
            <a:off x="4248041" y="2531723"/>
            <a:ext cx="3169239" cy="2319603"/>
          </a:xfrm>
          <a:prstGeom prst="rect">
            <a:avLst/>
          </a:prstGeom>
        </p:spPr>
      </p:pic>
      <p:sp>
        <p:nvSpPr>
          <p:cNvPr id="16" name="TextBox 15">
            <a:extLst>
              <a:ext uri="{FF2B5EF4-FFF2-40B4-BE49-F238E27FC236}">
                <a16:creationId xmlns:a16="http://schemas.microsoft.com/office/drawing/2014/main" id="{5FFA3C2C-4824-4770-B9CA-0D7F1CB40060}"/>
              </a:ext>
            </a:extLst>
          </p:cNvPr>
          <p:cNvSpPr txBox="1"/>
          <p:nvPr/>
        </p:nvSpPr>
        <p:spPr>
          <a:xfrm>
            <a:off x="4594931" y="4749718"/>
            <a:ext cx="2605969" cy="369332"/>
          </a:xfrm>
          <a:prstGeom prst="rect">
            <a:avLst/>
          </a:prstGeom>
          <a:noFill/>
        </p:spPr>
        <p:txBody>
          <a:bodyPr wrap="square">
            <a:spAutoFit/>
          </a:bodyPr>
          <a:lstStyle/>
          <a:p>
            <a:r>
              <a:rPr lang="en-US" dirty="0"/>
              <a:t>Lambert conformal conic</a:t>
            </a:r>
          </a:p>
        </p:txBody>
      </p:sp>
      <p:pic>
        <p:nvPicPr>
          <p:cNvPr id="12" name="Picture 11" descr="Diagram, engineering drawing&#10;&#10;Description automatically generated">
            <a:extLst>
              <a:ext uri="{FF2B5EF4-FFF2-40B4-BE49-F238E27FC236}">
                <a16:creationId xmlns:a16="http://schemas.microsoft.com/office/drawing/2014/main" id="{B0629C80-CD48-4381-9DD1-9282CD95D655}"/>
              </a:ext>
            </a:extLst>
          </p:cNvPr>
          <p:cNvPicPr>
            <a:picLocks noChangeAspect="1"/>
          </p:cNvPicPr>
          <p:nvPr/>
        </p:nvPicPr>
        <p:blipFill>
          <a:blip r:embed="rId4"/>
          <a:stretch>
            <a:fillRect/>
          </a:stretch>
        </p:blipFill>
        <p:spPr>
          <a:xfrm>
            <a:off x="531844" y="2503259"/>
            <a:ext cx="3308478" cy="2348067"/>
          </a:xfrm>
          <a:prstGeom prst="rect">
            <a:avLst/>
          </a:prstGeom>
        </p:spPr>
      </p:pic>
      <p:sp>
        <p:nvSpPr>
          <p:cNvPr id="17" name="TextBox 16">
            <a:extLst>
              <a:ext uri="{FF2B5EF4-FFF2-40B4-BE49-F238E27FC236}">
                <a16:creationId xmlns:a16="http://schemas.microsoft.com/office/drawing/2014/main" id="{D489E261-A5AA-48E4-8876-2D156FF01FF8}"/>
              </a:ext>
            </a:extLst>
          </p:cNvPr>
          <p:cNvSpPr txBox="1"/>
          <p:nvPr/>
        </p:nvSpPr>
        <p:spPr>
          <a:xfrm>
            <a:off x="990597" y="4775510"/>
            <a:ext cx="2605969" cy="369332"/>
          </a:xfrm>
          <a:prstGeom prst="rect">
            <a:avLst/>
          </a:prstGeom>
          <a:noFill/>
        </p:spPr>
        <p:txBody>
          <a:bodyPr wrap="square">
            <a:spAutoFit/>
          </a:bodyPr>
          <a:lstStyle/>
          <a:p>
            <a:r>
              <a:rPr lang="en-US" dirty="0"/>
              <a:t>Transverse Mercator</a:t>
            </a:r>
          </a:p>
        </p:txBody>
      </p:sp>
      <p:sp>
        <p:nvSpPr>
          <p:cNvPr id="18" name="TextBox 17">
            <a:extLst>
              <a:ext uri="{FF2B5EF4-FFF2-40B4-BE49-F238E27FC236}">
                <a16:creationId xmlns:a16="http://schemas.microsoft.com/office/drawing/2014/main" id="{2934D5A3-2016-49CA-8F3D-F4D6FC9212DD}"/>
              </a:ext>
            </a:extLst>
          </p:cNvPr>
          <p:cNvSpPr txBox="1"/>
          <p:nvPr/>
        </p:nvSpPr>
        <p:spPr>
          <a:xfrm>
            <a:off x="3462680" y="489727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25420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The zones may change!</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59</a:t>
            </a:fld>
            <a:endParaRPr lang="en-US"/>
          </a:p>
        </p:txBody>
      </p:sp>
      <p:pic>
        <p:nvPicPr>
          <p:cNvPr id="5" name="Picture 4" descr="Diagram&#10;&#10;Description automatically generated">
            <a:extLst>
              <a:ext uri="{FF2B5EF4-FFF2-40B4-BE49-F238E27FC236}">
                <a16:creationId xmlns:a16="http://schemas.microsoft.com/office/drawing/2014/main" id="{4A6C90AF-40C5-4C42-A8DD-720EBD346397}"/>
              </a:ext>
            </a:extLst>
          </p:cNvPr>
          <p:cNvPicPr>
            <a:picLocks noChangeAspect="1"/>
          </p:cNvPicPr>
          <p:nvPr/>
        </p:nvPicPr>
        <p:blipFill>
          <a:blip r:embed="rId3"/>
          <a:stretch>
            <a:fillRect/>
          </a:stretch>
        </p:blipFill>
        <p:spPr>
          <a:xfrm>
            <a:off x="2169123" y="2249700"/>
            <a:ext cx="3891354" cy="2666462"/>
          </a:xfrm>
          <a:prstGeom prst="rect">
            <a:avLst/>
          </a:prstGeom>
        </p:spPr>
      </p:pic>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01732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268530"/>
            <a:ext cx="4764559" cy="3143450"/>
          </a:xfrm>
          <a:prstGeom prst="rect">
            <a:avLst/>
          </a:prstGeom>
        </p:spPr>
        <p:txBody>
          <a:bodyPr vert="horz" lIns="91440" tIns="45720" rIns="91440" bIns="45720" rtlCol="0">
            <a:normAutofit fontScale="925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It is not a coordinate system, but used widely for land parcels since 1800s</a:t>
            </a:r>
          </a:p>
          <a:p>
            <a:pPr lvl="1">
              <a:lnSpc>
                <a:spcPct val="90000"/>
              </a:lnSpc>
              <a:buFont typeface="Wingdings" panose="05000000000000000000" pitchFamily="2" charset="2"/>
              <a:buChar char="ü"/>
            </a:pPr>
            <a:r>
              <a:rPr lang="en-US" sz="2440" dirty="0"/>
              <a:t>Divided lands by north-south lines, 6 miles apart</a:t>
            </a:r>
          </a:p>
          <a:p>
            <a:pPr lvl="1">
              <a:lnSpc>
                <a:spcPct val="90000"/>
              </a:lnSpc>
              <a:buFont typeface="Wingdings" panose="05000000000000000000" pitchFamily="2" charset="2"/>
              <a:buChar char="ü"/>
            </a:pPr>
            <a:r>
              <a:rPr lang="en-US" sz="2440" dirty="0"/>
              <a:t>East-west lines were surveyed perpendicular to those north-south lines, also at 6 miles intervals</a:t>
            </a:r>
          </a:p>
          <a:p>
            <a:pPr lvl="1">
              <a:lnSpc>
                <a:spcPct val="90000"/>
              </a:lnSpc>
              <a:buFont typeface="Wingdings" panose="05000000000000000000" pitchFamily="2" charset="2"/>
              <a:buChar char="ü"/>
            </a:pPr>
            <a:r>
              <a:rPr lang="en-US" sz="2440" dirty="0"/>
              <a:t>30 states adopted PLSS</a:t>
            </a:r>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60</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11" name="Picture 10" descr="A picture containing table&#10;&#10;Description automatically generated">
            <a:extLst>
              <a:ext uri="{FF2B5EF4-FFF2-40B4-BE49-F238E27FC236}">
                <a16:creationId xmlns:a16="http://schemas.microsoft.com/office/drawing/2014/main" id="{8DEF1450-2A32-45B7-8129-FDB4514317DD}"/>
              </a:ext>
            </a:extLst>
          </p:cNvPr>
          <p:cNvPicPr>
            <a:picLocks noChangeAspect="1"/>
          </p:cNvPicPr>
          <p:nvPr/>
        </p:nvPicPr>
        <p:blipFill>
          <a:blip r:embed="rId3"/>
          <a:stretch>
            <a:fillRect/>
          </a:stretch>
        </p:blipFill>
        <p:spPr>
          <a:xfrm>
            <a:off x="5067299" y="2028839"/>
            <a:ext cx="2859559" cy="2553756"/>
          </a:xfrm>
          <a:prstGeom prst="rect">
            <a:avLst/>
          </a:prstGeom>
        </p:spPr>
      </p:pic>
    </p:spTree>
    <p:extLst>
      <p:ext uri="{BB962C8B-B14F-4D97-AF65-F5344CB8AC3E}">
        <p14:creationId xmlns:p14="http://schemas.microsoft.com/office/powerpoint/2010/main" val="426645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151667"/>
            <a:ext cx="8511059" cy="314345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Place roads, powerlines, and other public services</a:t>
            </a:r>
          </a:p>
          <a:p>
            <a:pPr>
              <a:buFont typeface="Courier New" panose="02070309020205020404" pitchFamily="49" charset="0"/>
              <a:buChar char="o"/>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61</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5" name="Picture 4" descr="A picture containing text, white, tiled&#10;&#10;Description automatically generated">
            <a:extLst>
              <a:ext uri="{FF2B5EF4-FFF2-40B4-BE49-F238E27FC236}">
                <a16:creationId xmlns:a16="http://schemas.microsoft.com/office/drawing/2014/main" id="{BDDA5C05-5773-468B-B8AB-06C1CC28675C}"/>
              </a:ext>
            </a:extLst>
          </p:cNvPr>
          <p:cNvPicPr>
            <a:picLocks noChangeAspect="1"/>
          </p:cNvPicPr>
          <p:nvPr/>
        </p:nvPicPr>
        <p:blipFill>
          <a:blip r:embed="rId3"/>
          <a:stretch>
            <a:fillRect/>
          </a:stretch>
        </p:blipFill>
        <p:spPr>
          <a:xfrm>
            <a:off x="1442524" y="1693615"/>
            <a:ext cx="5553634" cy="3115997"/>
          </a:xfrm>
          <a:prstGeom prst="rect">
            <a:avLst/>
          </a:prstGeom>
        </p:spPr>
      </p:pic>
    </p:spTree>
    <p:extLst>
      <p:ext uri="{BB962C8B-B14F-4D97-AF65-F5344CB8AC3E}">
        <p14:creationId xmlns:p14="http://schemas.microsoft.com/office/powerpoint/2010/main" val="120294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lnSpc>
                <a:spcPct val="90000"/>
              </a:lnSpc>
              <a:buNone/>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0" name="Rectangle 3"/>
          <p:cNvSpPr txBox="1">
            <a:spLocks noChangeArrowheads="1"/>
          </p:cNvSpPr>
          <p:nvPr/>
        </p:nvSpPr>
        <p:spPr>
          <a:xfrm>
            <a:off x="307619" y="1281106"/>
            <a:ext cx="7845781" cy="3413815"/>
          </a:xfrm>
          <a:prstGeom prst="rect">
            <a:avLst/>
          </a:prstGeom>
        </p:spPr>
        <p:txBody>
          <a:bodyPr vert="horz" lIns="61738" tIns="30869" rIns="61738" bIns="30869" rtlCol="0">
            <a:normAutofit fontScale="925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2000" dirty="0"/>
              <a:t>Projection used is related to type of map and area covered by map (extent)</a:t>
            </a:r>
          </a:p>
          <a:p>
            <a:pPr>
              <a:buFont typeface="Courier New" panose="02070309020205020404" pitchFamily="49" charset="0"/>
              <a:buChar char="o"/>
            </a:pPr>
            <a:r>
              <a:rPr lang="en-US" sz="2000" dirty="0"/>
              <a:t>Continental-scale data (North America)</a:t>
            </a:r>
          </a:p>
          <a:p>
            <a:pPr lvl="1">
              <a:buFont typeface="Wingdings" panose="05000000000000000000" pitchFamily="2" charset="2"/>
              <a:buChar char="ü"/>
            </a:pPr>
            <a:r>
              <a:rPr lang="en-US" dirty="0"/>
              <a:t>Geographic projection (decimal degrees)</a:t>
            </a:r>
          </a:p>
          <a:p>
            <a:pPr lvl="1">
              <a:buFont typeface="Wingdings" panose="05000000000000000000" pitchFamily="2" charset="2"/>
              <a:buChar char="ü"/>
            </a:pPr>
            <a:r>
              <a:rPr lang="en-US" dirty="0"/>
              <a:t>Lambert Conformal Conic </a:t>
            </a:r>
          </a:p>
          <a:p>
            <a:pPr lvl="1">
              <a:buFont typeface="Wingdings" panose="05000000000000000000" pitchFamily="2" charset="2"/>
              <a:buChar char="ü"/>
            </a:pPr>
            <a:r>
              <a:rPr lang="en-US" dirty="0"/>
              <a:t>Albers Equal Area </a:t>
            </a:r>
          </a:p>
          <a:p>
            <a:pPr>
              <a:buFont typeface="Courier New" panose="02070309020205020404" pitchFamily="49" charset="0"/>
              <a:buChar char="o"/>
            </a:pPr>
            <a:r>
              <a:rPr lang="en-US" sz="2000" dirty="0"/>
              <a:t>State-scale data (Arkansas)</a:t>
            </a:r>
          </a:p>
          <a:p>
            <a:pPr lvl="1">
              <a:buFont typeface="Wingdings" panose="05000000000000000000" pitchFamily="2" charset="2"/>
              <a:buChar char="ü"/>
            </a:pPr>
            <a:r>
              <a:rPr lang="en-US" dirty="0"/>
              <a:t>UTM Projection, Zone </a:t>
            </a:r>
            <a:r>
              <a:rPr lang="en-US" dirty="0" err="1"/>
              <a:t>15N</a:t>
            </a:r>
            <a:endParaRPr lang="en-US" dirty="0"/>
          </a:p>
          <a:p>
            <a:pPr marL="274320" lvl="1">
              <a:spcBef>
                <a:spcPts val="1800"/>
              </a:spcBef>
              <a:buFont typeface="Courier New" panose="02070309020205020404" pitchFamily="49" charset="0"/>
              <a:buChar char="o"/>
            </a:pPr>
            <a:r>
              <a:rPr lang="en-US" sz="2100" dirty="0"/>
              <a:t>County, city-scale data</a:t>
            </a:r>
          </a:p>
          <a:p>
            <a:pPr lvl="1">
              <a:buFont typeface="Wingdings" panose="05000000000000000000" pitchFamily="2" charset="2"/>
              <a:buChar char="ü"/>
            </a:pPr>
            <a:r>
              <a:rPr lang="en-US" dirty="0"/>
              <a:t>State Plane</a:t>
            </a:r>
          </a:p>
          <a:p>
            <a:endParaRPr lang="en-US" sz="1620" dirty="0"/>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7C7406D-7C4F-4206-A954-6121BB047A56}"/>
              </a:ext>
            </a:extLst>
          </p:cNvPr>
          <p:cNvSpPr>
            <a:spLocks noGrp="1"/>
          </p:cNvSpPr>
          <p:nvPr>
            <p:ph type="sldNum" sz="quarter" idx="12"/>
          </p:nvPr>
        </p:nvSpPr>
        <p:spPr/>
        <p:txBody>
          <a:bodyPr/>
          <a:lstStyle/>
          <a:p>
            <a:fld id="{127DDC20-79C9-9647-820E-6D40A3D210C3}" type="slidenum">
              <a:rPr lang="en-US" smtClean="0"/>
              <a:pPr/>
              <a:t>62</a:t>
            </a:fld>
            <a:endParaRPr lang="en-US"/>
          </a:p>
        </p:txBody>
      </p:sp>
    </p:spTree>
    <p:extLst>
      <p:ext uri="{BB962C8B-B14F-4D97-AF65-F5344CB8AC3E}">
        <p14:creationId xmlns:p14="http://schemas.microsoft.com/office/powerpoint/2010/main" val="426679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08701" indent="-308701">
              <a:buFont typeface="+mj-lt"/>
              <a:buAutoNum type="arabicPeriod"/>
            </a:pPr>
            <a:r>
              <a:rPr lang="en-US" dirty="0"/>
              <a:t>Should use same projection and datum for all data</a:t>
            </a:r>
          </a:p>
          <a:p>
            <a:pPr marL="308701" indent="-308701">
              <a:buFont typeface="+mj-lt"/>
              <a:buAutoNum type="arabicPeriod"/>
            </a:pPr>
            <a:r>
              <a:rPr lang="en-US" dirty="0"/>
              <a:t>Use projection appropriate for scale and extent</a:t>
            </a:r>
          </a:p>
          <a:p>
            <a:pPr marL="308701" indent="-308701">
              <a:buFont typeface="+mj-lt"/>
              <a:buAutoNum type="arabicPeriod"/>
            </a:pPr>
            <a:r>
              <a:rPr lang="en-US" dirty="0"/>
              <a:t>Think about what map properties are maintained or distorted</a:t>
            </a:r>
          </a:p>
        </p:txBody>
      </p:sp>
      <p:sp>
        <p:nvSpPr>
          <p:cNvPr id="2" name="Slide Number Placeholder 1">
            <a:extLst>
              <a:ext uri="{FF2B5EF4-FFF2-40B4-BE49-F238E27FC236}">
                <a16:creationId xmlns:a16="http://schemas.microsoft.com/office/drawing/2014/main" id="{9240D4AF-FAC1-4C45-A5C2-6D2801DA8A15}"/>
              </a:ext>
            </a:extLst>
          </p:cNvPr>
          <p:cNvSpPr>
            <a:spLocks noGrp="1"/>
          </p:cNvSpPr>
          <p:nvPr>
            <p:ph type="sldNum" sz="quarter" idx="12"/>
          </p:nvPr>
        </p:nvSpPr>
        <p:spPr/>
        <p:txBody>
          <a:bodyPr/>
          <a:lstStyle/>
          <a:p>
            <a:fld id="{127DDC20-79C9-9647-820E-6D40A3D210C3}" type="slidenum">
              <a:rPr lang="en-US" smtClean="0"/>
              <a:pPr/>
              <a:t>63</a:t>
            </a:fld>
            <a:endParaRPr lang="en-US"/>
          </a:p>
        </p:txBody>
      </p:sp>
      <p:sp>
        <p:nvSpPr>
          <p:cNvPr id="6" name="Title 1">
            <a:extLst>
              <a:ext uri="{FF2B5EF4-FFF2-40B4-BE49-F238E27FC236}">
                <a16:creationId xmlns:a16="http://schemas.microsoft.com/office/drawing/2014/main" id="{FF74196D-2E82-44B0-B604-0B51E1E8585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Best Practice</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B37F0C81-4BAB-4395-8FEA-261074EC10C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476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3" name="TextBox 2"/>
          <p:cNvSpPr txBox="1"/>
          <p:nvPr/>
        </p:nvSpPr>
        <p:spPr>
          <a:xfrm>
            <a:off x="322729" y="1697127"/>
            <a:ext cx="6981872" cy="2031325"/>
          </a:xfrm>
          <a:prstGeom prst="rect">
            <a:avLst/>
          </a:prstGeom>
          <a:noFill/>
        </p:spPr>
        <p:txBody>
          <a:bodyPr wrap="square" rtlCol="0">
            <a:spAutoFit/>
          </a:bodyPr>
          <a:lstStyle/>
          <a:p>
            <a:pPr marL="342900" indent="-342900">
              <a:lnSpc>
                <a:spcPct val="90000"/>
              </a:lnSpc>
              <a:buFont typeface="Courier New" panose="02070309020205020404" pitchFamily="49" charset="0"/>
              <a:buChar char="o"/>
            </a:pPr>
            <a:r>
              <a:rPr lang="en-GB" sz="2000" dirty="0"/>
              <a:t>ArcGIS can apply a projection transformation on-the-fly</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So, it is not always necessary to reproject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Okay if you are visualizing the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Need to reproject if you plan to perform an analysis </a:t>
            </a:r>
          </a:p>
        </p:txBody>
      </p:sp>
      <p:sp>
        <p:nvSpPr>
          <p:cNvPr id="5" name="Title 1">
            <a:extLst>
              <a:ext uri="{FF2B5EF4-FFF2-40B4-BE49-F238E27FC236}">
                <a16:creationId xmlns:a16="http://schemas.microsoft.com/office/drawing/2014/main" id="{E4CE9013-BE1F-47A9-8CD2-B3210F9E1BC2}"/>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Projection-on-the-Fly (ArcGIS)</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DE46FEB8-9369-46A6-BF64-19532EAF77E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8A5634A-9C5D-4F15-A64E-3FAF2010E9B8}"/>
              </a:ext>
            </a:extLst>
          </p:cNvPr>
          <p:cNvSpPr>
            <a:spLocks noGrp="1"/>
          </p:cNvSpPr>
          <p:nvPr>
            <p:ph type="sldNum" sz="quarter" idx="12"/>
          </p:nvPr>
        </p:nvSpPr>
        <p:spPr/>
        <p:txBody>
          <a:bodyPr/>
          <a:lstStyle/>
          <a:p>
            <a:fld id="{127DDC20-79C9-9647-820E-6D40A3D210C3}" type="slidenum">
              <a:rPr lang="en-US" smtClean="0"/>
              <a:pPr/>
              <a:t>64</a:t>
            </a:fld>
            <a:endParaRPr lang="en-US"/>
          </a:p>
        </p:txBody>
      </p:sp>
    </p:spTree>
    <p:extLst>
      <p:ext uri="{BB962C8B-B14F-4D97-AF65-F5344CB8AC3E}">
        <p14:creationId xmlns:p14="http://schemas.microsoft.com/office/powerpoint/2010/main" val="282037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65</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8204</TotalTime>
  <Words>6526</Words>
  <Application>Microsoft Office PowerPoint</Application>
  <PresentationFormat>Custom</PresentationFormat>
  <Paragraphs>829</Paragraphs>
  <Slides>65</Slides>
  <Notes>50</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65</vt:i4>
      </vt:variant>
    </vt:vector>
  </HeadingPairs>
  <TitlesOfParts>
    <vt:vector size="79" baseType="lpstr">
      <vt:lpstr>Helvetica Neue</vt:lpstr>
      <vt:lpstr>ＭＳ Ｐゴシック</vt:lpstr>
      <vt:lpstr>Arial</vt:lpstr>
      <vt:lpstr>Arial Black</vt:lpstr>
      <vt:lpstr>Calibri</vt:lpstr>
      <vt:lpstr>Courier New</vt:lpstr>
      <vt:lpstr>Roboto</vt:lpstr>
      <vt:lpstr>Source Sans Pro</vt:lpstr>
      <vt:lpstr>Times New Roman</vt:lpstr>
      <vt:lpstr>Wingdings</vt:lpstr>
      <vt:lpstr>Wingdings 2</vt:lpstr>
      <vt:lpstr>DividendVTI</vt:lpstr>
      <vt:lpstr>1_DividendVTI</vt:lpstr>
      <vt:lpstr>2_DividendVTI</vt:lpstr>
      <vt:lpstr>WEEK 03  Datum and Projection</vt:lpstr>
      <vt:lpstr>2.1  KEY ASSUMPTION</vt:lpstr>
      <vt:lpstr>PowerPoint Presentation</vt:lpstr>
      <vt:lpstr>PowerPoint Presentation</vt:lpstr>
      <vt:lpstr>PowerPoint Presentation</vt:lpstr>
      <vt:lpstr>PowerPoint Presentation</vt:lpstr>
      <vt:lpstr>Modeling the Earth</vt:lpstr>
      <vt:lpstr>PowerPoint Presentation</vt:lpstr>
      <vt:lpstr>PowerPoint Presentation</vt:lpstr>
      <vt:lpstr>Geoid height</vt:lpstr>
      <vt:lpstr>What Do We Really Mean by 'Sea Level'? A Journey into the Geoid</vt:lpstr>
      <vt:lpstr>PowerPoint Presentation</vt:lpstr>
      <vt:lpstr>What is datum?</vt:lpstr>
      <vt:lpstr>Horizontal datum</vt:lpstr>
      <vt:lpstr>The World at Zero: Equator &amp; Prime Meridian</vt:lpstr>
      <vt:lpstr>Vertical datum</vt:lpstr>
      <vt:lpstr>Vertical datum - examples</vt:lpstr>
      <vt:lpstr>PowerPoint Presentation</vt:lpstr>
      <vt:lpstr>PowerPoint Presentation</vt:lpstr>
      <vt:lpstr>PowerPoint Presentation</vt:lpstr>
      <vt:lpstr>PowerPoint Presentation</vt:lpstr>
      <vt:lpstr>PowerPoint Presentation</vt:lpstr>
      <vt:lpstr>Which datum google map use?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Geographic vs Projected Coordinate Systems</vt:lpstr>
      <vt:lpstr>PowerPoint Presentation</vt:lpstr>
      <vt:lpstr>PowerPoint Presentation</vt:lpstr>
      <vt:lpstr>MAP PROJECTION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Scenarios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451</cp:revision>
  <cp:lastPrinted>2020-03-26T12:59:04Z</cp:lastPrinted>
  <dcterms:created xsi:type="dcterms:W3CDTF">2020-03-24T14:51:54Z</dcterms:created>
  <dcterms:modified xsi:type="dcterms:W3CDTF">2025-09-01T20:31:10Z</dcterms:modified>
</cp:coreProperties>
</file>