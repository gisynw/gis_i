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</p:sldMasterIdLst>
  <p:sldIdLst>
    <p:sldId id="256" r:id="rId4"/>
    <p:sldId id="259" r:id="rId5"/>
    <p:sldId id="257" r:id="rId6"/>
    <p:sldId id="258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tableStyles" Target="tableStyle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90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825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583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1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93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559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70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977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67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167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4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0AEDC-E445-4777-AA58-256DBE856A2E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7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FDC0E-2571-4B49-A099-A35911FE2571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7401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49ABB-4417-47CD-80B9-0D55D8A8F9A6}" type="datetime1">
              <a:rPr lang="en-US" smtClean="0"/>
              <a:t>9/23/2025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373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4475E-0273-439D-974C-8782C6CF6085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336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C3F7-B696-4E33-B8CA-A5029D94236E}" type="datetime1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78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242B4-A1B4-4224-ACE8-F64A6DFDF6CB}" type="datetime1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7195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0FCFC-EFD5-4D6F-AF5D-114622F47081}" type="datetime1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18032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FAFBCFB9-675F-4800-8AC7-ED3B357177A4}" type="datetime1">
              <a:rPr lang="en-US" smtClean="0"/>
              <a:t>9/23/2025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9498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7AFB5-74EF-4A25-966B-E982CF09D51D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3922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939748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A43A2-25E5-4F4A-8CC5-2EB1720C6339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91217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1E9CE-A9D6-4C10-9743-25DD5C510D14}" type="datetime1">
              <a:rPr lang="en-US" smtClean="0"/>
              <a:t>9/23/2025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752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5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2"/>
            <a:ext cx="10993550" cy="1475013"/>
          </a:xfrm>
          <a:effectLst/>
        </p:spPr>
        <p:txBody>
          <a:bodyPr anchor="b">
            <a:normAutofit/>
          </a:bodyPr>
          <a:lstStyle>
            <a:lvl1pPr>
              <a:defRPr sz="324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6"/>
            <a:ext cx="10993547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440" cap="all">
                <a:solidFill>
                  <a:schemeClr val="accent1"/>
                </a:solidFill>
              </a:defRPr>
            </a:lvl1pPr>
            <a:lvl2pPr marL="4114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2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44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88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80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293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3" y="2340865"/>
            <a:ext cx="11029615" cy="36344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0676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5"/>
            <a:ext cx="11290861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2393951"/>
            <a:ext cx="11029615" cy="2147467"/>
          </a:xfrm>
        </p:spPr>
        <p:txBody>
          <a:bodyPr anchor="b">
            <a:normAutofit/>
          </a:bodyPr>
          <a:lstStyle>
            <a:lvl1pPr algn="l">
              <a:defRPr sz="324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620" cap="all">
                <a:solidFill>
                  <a:schemeClr val="accent1"/>
                </a:solidFill>
              </a:defRPr>
            </a:lvl1pPr>
            <a:lvl2pPr marL="411470" indent="0">
              <a:buNone/>
              <a:defRPr sz="1620">
                <a:solidFill>
                  <a:schemeClr val="tx1">
                    <a:tint val="75000"/>
                  </a:schemeClr>
                </a:solidFill>
              </a:defRPr>
            </a:lvl2pPr>
            <a:lvl3pPr marL="822939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23440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64587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2057349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46881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88028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329175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2057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4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223398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5" y="2926054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11470" indent="0">
              <a:buNone/>
              <a:defRPr sz="1800" b="1"/>
            </a:lvl2pPr>
            <a:lvl3pPr marL="822939" indent="0">
              <a:buNone/>
              <a:defRPr sz="1620" b="1"/>
            </a:lvl3pPr>
            <a:lvl4pPr marL="1234409" indent="0">
              <a:buNone/>
              <a:defRPr sz="1440" b="1"/>
            </a:lvl4pPr>
            <a:lvl5pPr marL="1645879" indent="0">
              <a:buNone/>
              <a:defRPr sz="1440" b="1"/>
            </a:lvl5pPr>
            <a:lvl6pPr marL="2057349" indent="0">
              <a:buNone/>
              <a:defRPr sz="1440" b="1"/>
            </a:lvl6pPr>
            <a:lvl7pPr marL="2468818" indent="0">
              <a:buNone/>
              <a:defRPr sz="1440" b="1"/>
            </a:lvl7pPr>
            <a:lvl8pPr marL="2880288" indent="0">
              <a:buNone/>
              <a:defRPr sz="1440" b="1"/>
            </a:lvl8pPr>
            <a:lvl9pPr marL="3291758" indent="0">
              <a:buNone/>
              <a:defRPr sz="1440" b="1"/>
            </a:lvl9pPr>
          </a:lstStyle>
          <a:p>
            <a:pPr marL="0" marR="0" lvl="0" indent="0" algn="l" defTabSz="41147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9" y="2926054"/>
            <a:ext cx="519477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9120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9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116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4323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8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8" y="933451"/>
            <a:ext cx="3031852" cy="172241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1800">
                <a:solidFill>
                  <a:schemeClr val="tx2"/>
                </a:solidFill>
              </a:defRPr>
            </a:lvl1pPr>
            <a:lvl2pPr>
              <a:defRPr sz="1620">
                <a:solidFill>
                  <a:schemeClr val="tx2"/>
                </a:solidFill>
              </a:defRPr>
            </a:lvl2pPr>
            <a:lvl3pPr>
              <a:defRPr sz="1440">
                <a:solidFill>
                  <a:schemeClr val="tx2"/>
                </a:solidFill>
              </a:defRPr>
            </a:lvl3pPr>
            <a:lvl4pPr>
              <a:defRPr sz="1260">
                <a:solidFill>
                  <a:schemeClr val="tx2"/>
                </a:solidFill>
              </a:defRPr>
            </a:lvl4pPr>
            <a:lvl5pPr>
              <a:defRPr sz="1260">
                <a:solidFill>
                  <a:schemeClr val="tx2"/>
                </a:solidFill>
              </a:defRPr>
            </a:lvl5pPr>
            <a:lvl6pPr>
              <a:defRPr sz="1260">
                <a:solidFill>
                  <a:schemeClr val="tx2"/>
                </a:solidFill>
              </a:defRPr>
            </a:lvl6pPr>
            <a:lvl7pPr>
              <a:defRPr sz="1260">
                <a:solidFill>
                  <a:schemeClr val="tx2"/>
                </a:solidFill>
              </a:defRPr>
            </a:lvl7pPr>
            <a:lvl8pPr>
              <a:defRPr sz="1260">
                <a:solidFill>
                  <a:schemeClr val="tx2"/>
                </a:solidFill>
              </a:defRPr>
            </a:lvl8pPr>
            <a:lvl9pPr>
              <a:defRPr sz="126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8" y="2836655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440">
                <a:solidFill>
                  <a:srgbClr val="FFFFFF"/>
                </a:solidFill>
              </a:defRPr>
            </a:lvl1pPr>
            <a:lvl2pPr marL="411470" indent="0">
              <a:buNone/>
              <a:defRPr sz="991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2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1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4287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9"/>
          </a:xfrm>
        </p:spPr>
        <p:txBody>
          <a:bodyPr anchor="b">
            <a:normAutofit/>
          </a:bodyPr>
          <a:lstStyle>
            <a:lvl1pPr algn="l">
              <a:defRPr sz="216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8" y="641352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440"/>
            </a:lvl1pPr>
            <a:lvl2pPr marL="411470" indent="0">
              <a:buNone/>
              <a:defRPr sz="1440"/>
            </a:lvl2pPr>
            <a:lvl3pPr marL="822939" indent="0">
              <a:buNone/>
              <a:defRPr sz="1440"/>
            </a:lvl3pPr>
            <a:lvl4pPr marL="1234409" indent="0">
              <a:buNone/>
              <a:defRPr sz="1440"/>
            </a:lvl4pPr>
            <a:lvl5pPr marL="1645879" indent="0">
              <a:buNone/>
              <a:defRPr sz="1440"/>
            </a:lvl5pPr>
            <a:lvl6pPr marL="2057349" indent="0">
              <a:buNone/>
              <a:defRPr sz="1440"/>
            </a:lvl6pPr>
            <a:lvl7pPr marL="2468818" indent="0">
              <a:buNone/>
              <a:defRPr sz="1440"/>
            </a:lvl7pPr>
            <a:lvl8pPr marL="2880288" indent="0">
              <a:buNone/>
              <a:defRPr sz="1440"/>
            </a:lvl8pPr>
            <a:lvl9pPr marL="3291758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6" cy="998148"/>
          </a:xfrm>
        </p:spPr>
        <p:txBody>
          <a:bodyPr anchor="t">
            <a:normAutofit/>
          </a:bodyPr>
          <a:lstStyle>
            <a:lvl1pPr marL="0" indent="0">
              <a:buNone/>
              <a:defRPr sz="1440"/>
            </a:lvl1pPr>
            <a:lvl2pPr marL="411470" indent="0">
              <a:buNone/>
              <a:defRPr sz="1080"/>
            </a:lvl2pPr>
            <a:lvl3pPr marL="822939" indent="0">
              <a:buNone/>
              <a:defRPr sz="900"/>
            </a:lvl3pPr>
            <a:lvl4pPr marL="1234409" indent="0">
              <a:buNone/>
              <a:defRPr sz="811"/>
            </a:lvl4pPr>
            <a:lvl5pPr marL="1645879" indent="0">
              <a:buNone/>
              <a:defRPr sz="811"/>
            </a:lvl5pPr>
            <a:lvl6pPr marL="2057349" indent="0">
              <a:buNone/>
              <a:defRPr sz="811"/>
            </a:lvl6pPr>
            <a:lvl7pPr marL="2468818" indent="0">
              <a:buNone/>
              <a:defRPr sz="811"/>
            </a:lvl7pPr>
            <a:lvl8pPr marL="2880288" indent="0">
              <a:buNone/>
              <a:defRPr sz="811"/>
            </a:lvl8pPr>
            <a:lvl9pPr marL="3291758" indent="0">
              <a:buNone/>
              <a:defRPr sz="8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1378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3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2468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6"/>
            <a:ext cx="3687316" cy="58169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1" y="863601"/>
            <a:ext cx="3124200" cy="4807327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4" y="863601"/>
            <a:ext cx="7161625" cy="4807327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72271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415600" y="796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99288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BBD7142-2D62-4275-8D30-E189AD7A810B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5E750CD-EB9A-4987-B764-BFBBFF3C782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8722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928516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75824D9-FB06-4772-8A16-CEC7F6E704E4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9847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3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2336003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2" y="6423915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5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1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6423915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1283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411470" rtl="0" eaLnBrk="1" latinLnBrk="0" hangingPunct="1">
        <a:lnSpc>
          <a:spcPct val="100000"/>
        </a:lnSpc>
        <a:spcBef>
          <a:spcPct val="0"/>
        </a:spcBef>
        <a:buNone/>
        <a:defRPr sz="252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5393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66986" indent="-275393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980" indent="-242994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117772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441764" indent="-210595" algn="l" defTabSz="411470" rtl="0" eaLnBrk="1" latinLnBrk="0" hangingPunct="1">
        <a:lnSpc>
          <a:spcPct val="100000"/>
        </a:lnSpc>
        <a:spcBef>
          <a:spcPct val="20000"/>
        </a:spcBef>
        <a:spcAft>
          <a:spcPts val="54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70995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6pPr>
      <a:lvl7pPr marL="1979951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7pPr>
      <a:lvl8pPr marL="2249944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8pPr>
      <a:lvl9pPr marL="2519937" indent="-205735" algn="l" defTabSz="411470" rtl="0" eaLnBrk="1" latinLnBrk="0" hangingPunct="1">
        <a:spcBef>
          <a:spcPct val="20000"/>
        </a:spcBef>
        <a:spcAft>
          <a:spcPts val="54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70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3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0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87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349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1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28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758" algn="l" defTabSz="41147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9628" y="496959"/>
            <a:ext cx="1106164" cy="585973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2856" y="496958"/>
            <a:ext cx="9961047" cy="36780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15FF2A-DBDE-DFB4-BB72-2E38BC76C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93715" y="708498"/>
            <a:ext cx="7574507" cy="3330055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rgbClr val="FFFFFF"/>
                </a:solidFill>
              </a:rPr>
              <a:t>Lab 03 &amp; 04 summary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2789" y="4284212"/>
            <a:ext cx="9961115" cy="2072481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843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0BFB2F-DC81-2E96-2B00-A680521F9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8653" y="1858164"/>
            <a:ext cx="6996868" cy="48130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7B87E4-CD55-1ABD-E1B9-CE4357D31F70}"/>
              </a:ext>
            </a:extLst>
          </p:cNvPr>
          <p:cNvSpPr txBox="1"/>
          <p:nvPr/>
        </p:nvSpPr>
        <p:spPr>
          <a:xfrm>
            <a:off x="581194" y="1225296"/>
            <a:ext cx="11287718" cy="70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350" indent="-6350">
              <a:lnSpc>
                <a:spcPct val="108000"/>
              </a:lnSpc>
              <a:spcBef>
                <a:spcPts val="200"/>
              </a:spcBef>
              <a:buNone/>
            </a:pPr>
            <a:r>
              <a:rPr lang="en-US" altLang="zh-CN" sz="1800" b="1" dirty="0">
                <a:effectLst/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Question 2. Is this map currently being displayed in a geographic or projected coordinate system? (3 Points) </a:t>
            </a:r>
            <a:endParaRPr lang="zh-CN" altLang="zh-CN" sz="1800" b="1" dirty="0">
              <a:effectLst/>
              <a:latin typeface="Calibri" panose="020F050202020403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  <a:p>
            <a:pPr marL="6350" indent="-6350">
              <a:lnSpc>
                <a:spcPct val="108000"/>
              </a:lnSpc>
              <a:spcBef>
                <a:spcPts val="200"/>
              </a:spcBef>
              <a:buNone/>
            </a:pPr>
            <a:r>
              <a:rPr lang="en-US" altLang="zh-CN" sz="1800" b="1" dirty="0">
                <a:effectLst/>
                <a:latin typeface="Calibri" panose="020F050202020403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Answer: Projected coordinate system</a:t>
            </a:r>
            <a:endParaRPr lang="zh-CN" altLang="zh-CN" sz="1800" b="1" dirty="0">
              <a:effectLst/>
              <a:latin typeface="Calibri" panose="020F050202020403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CA8E54C-F8AF-5F1A-4F92-7AE972264B45}"/>
              </a:ext>
            </a:extLst>
          </p:cNvPr>
          <p:cNvSpPr txBox="1">
            <a:spLocks/>
          </p:cNvSpPr>
          <p:nvPr/>
        </p:nvSpPr>
        <p:spPr>
          <a:xfrm>
            <a:off x="581194" y="592428"/>
            <a:ext cx="11029616" cy="6328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/>
              <a:t>Lab 03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183668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0592-8F93-E4F0-E934-9E7A1ECC7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592428"/>
            <a:ext cx="11029616" cy="63286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Lab 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1E175-7A99-92B4-7A2B-28E01F505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4" y="1408177"/>
            <a:ext cx="11029615" cy="1408175"/>
          </a:xfrm>
        </p:spPr>
        <p:txBody>
          <a:bodyPr>
            <a:normAutofit/>
          </a:bodyPr>
          <a:lstStyle/>
          <a:p>
            <a:r>
              <a:rPr lang="en-US" sz="2800" b="1" dirty="0"/>
              <a:t>Question 8.</a:t>
            </a:r>
            <a:r>
              <a:rPr lang="en-US" sz="2800" dirty="0"/>
              <a:t> What is the pixel depth? (3 Points) </a:t>
            </a:r>
          </a:p>
          <a:p>
            <a:r>
              <a:rPr lang="en-US" sz="2800" b="1" dirty="0"/>
              <a:t>Answer:</a:t>
            </a:r>
            <a:r>
              <a:rPr lang="en-US" sz="2800" dirty="0"/>
              <a:t> 8 bit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86D09-35A9-7F6C-D424-73B55484C6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8197" y="3198468"/>
            <a:ext cx="3971429" cy="26190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081AB4F-8005-AAF5-BC61-EFA05CF97957}"/>
              </a:ext>
            </a:extLst>
          </p:cNvPr>
          <p:cNvSpPr txBox="1"/>
          <p:nvPr/>
        </p:nvSpPr>
        <p:spPr>
          <a:xfrm>
            <a:off x="581194" y="2889504"/>
            <a:ext cx="6094476" cy="2064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The number of bits used to represent the color or value of each pixel. </a:t>
            </a:r>
          </a:p>
          <a:p>
            <a:pPr marL="457200" indent="-457200" defTabSz="411470">
              <a:spcBef>
                <a:spcPct val="20000"/>
              </a:spcBef>
              <a:spcAft>
                <a:spcPts val="540"/>
              </a:spcAft>
              <a:buClr>
                <a:schemeClr val="accent1"/>
              </a:buClr>
              <a:buSzPct val="92000"/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higher pixel depth means more bits are allocated per pixel, allowing for a greater range of values and a more accurate representation of color or intensity.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3C2438-4179-C858-42BD-DE07CA40F2A1}"/>
                  </a:ext>
                </a:extLst>
              </p:cNvPr>
              <p:cNvSpPr txBox="1"/>
              <p:nvPr/>
            </p:nvSpPr>
            <p:spPr>
              <a:xfrm>
                <a:off x="2311696" y="5449823"/>
                <a:ext cx="316439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=256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possible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value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23C2438-4179-C858-42BD-DE07CA40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696" y="5449823"/>
                <a:ext cx="3164392" cy="276999"/>
              </a:xfrm>
              <a:prstGeom prst="rect">
                <a:avLst/>
              </a:prstGeom>
              <a:blipFill>
                <a:blip r:embed="rId3"/>
                <a:stretch>
                  <a:fillRect t="-2222" b="-3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73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04BDE3-61DE-9D05-B5A8-E96B510823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2668" y="2012379"/>
            <a:ext cx="5844124" cy="46674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00FF2-5C16-58FD-A6C4-E004363B3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3280938"/>
            <a:ext cx="5101797" cy="33723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BEA44A-8F86-C8F2-7057-B42B2E8B6790}"/>
              </a:ext>
            </a:extLst>
          </p:cNvPr>
          <p:cNvSpPr txBox="1"/>
          <p:nvPr/>
        </p:nvSpPr>
        <p:spPr>
          <a:xfrm>
            <a:off x="581190" y="1289304"/>
            <a:ext cx="11187138" cy="39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altLang="zh-CN" sz="1800" b="1" kern="100" dirty="0">
                <a:solidFill>
                  <a:srgbClr val="FF0000"/>
                </a:solidFill>
                <a:effectLst/>
                <a:latin typeface="Aptos Display" panose="020B000402020202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Question 10. </a:t>
            </a:r>
            <a:r>
              <a:rPr lang="en-US" altLang="zh-CN" sz="1800" b="1" kern="100" dirty="0">
                <a:solidFill>
                  <a:srgbClr val="0F4761"/>
                </a:solidFill>
                <a:effectLst/>
                <a:latin typeface="Aptos Display" panose="020B0004020202020204" pitchFamily="34" charset="0"/>
                <a:ea typeface="DengXian Light" panose="02010600030101010101" pitchFamily="2" charset="-122"/>
                <a:cs typeface="Times New Roman" panose="02020603050405020304" pitchFamily="18" charset="0"/>
              </a:rPr>
              <a:t>What is the area for cultivated crop? (3 Points) (Hint, area= number of pixels x size of a pixel)</a:t>
            </a:r>
            <a:endParaRPr lang="zh-CN" altLang="zh-CN" sz="1800" b="1" kern="100" dirty="0">
              <a:solidFill>
                <a:srgbClr val="0F4761"/>
              </a:solidFill>
              <a:effectLst/>
              <a:latin typeface="Aptos Display" panose="020B0004020202020204" pitchFamily="34" charset="0"/>
              <a:ea typeface="DengXian Light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39A71DE-C442-69BA-BB3C-C52749B82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592428"/>
            <a:ext cx="11029616" cy="632868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Lab 03</a:t>
            </a:r>
          </a:p>
        </p:txBody>
      </p:sp>
    </p:spTree>
    <p:extLst>
      <p:ext uri="{BB962C8B-B14F-4D97-AF65-F5344CB8AC3E}">
        <p14:creationId xmlns:p14="http://schemas.microsoft.com/office/powerpoint/2010/main" val="720521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CFCDD4C-99CF-1361-98B1-991366D740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5278" y="2522057"/>
            <a:ext cx="5222628" cy="36337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BB9E6A-40A9-4164-BEFB-E235C7D72FCF}"/>
              </a:ext>
            </a:extLst>
          </p:cNvPr>
          <p:cNvSpPr txBox="1"/>
          <p:nvPr/>
        </p:nvSpPr>
        <p:spPr>
          <a:xfrm>
            <a:off x="581194" y="1536192"/>
            <a:ext cx="10467594" cy="814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Question 5. How many town halls in Faulkner county? (5 points)</a:t>
            </a:r>
            <a:endParaRPr lang="zh-CN" altLang="zh-CN" sz="1800" kern="100" dirty="0">
              <a:effectLst/>
              <a:latin typeface="DengXian" panose="02010600030101010101" pitchFamily="2" charset="-122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rPr>
              <a:t>Answer: 2</a:t>
            </a:r>
            <a:endParaRPr lang="zh-CN" altLang="zh-CN" sz="1800" kern="100" dirty="0">
              <a:effectLst/>
              <a:latin typeface="DengXian" panose="02010600030101010101" pitchFamily="2" charset="-122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6F7F7E4-64CE-44BE-60BC-C67A06C0F42C}"/>
              </a:ext>
            </a:extLst>
          </p:cNvPr>
          <p:cNvSpPr txBox="1">
            <a:spLocks/>
          </p:cNvSpPr>
          <p:nvPr/>
        </p:nvSpPr>
        <p:spPr>
          <a:xfrm>
            <a:off x="581194" y="702156"/>
            <a:ext cx="11029616" cy="6328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dirty="0"/>
              <a:t>Lab 04</a:t>
            </a:r>
          </a:p>
        </p:txBody>
      </p:sp>
    </p:spTree>
    <p:extLst>
      <p:ext uri="{BB962C8B-B14F-4D97-AF65-F5344CB8AC3E}">
        <p14:creationId xmlns:p14="http://schemas.microsoft.com/office/powerpoint/2010/main" val="1113730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2DE24D7-C02D-9372-E164-A7B4AD99C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03" y="1417321"/>
            <a:ext cx="11029615" cy="795527"/>
          </a:xfrm>
        </p:spPr>
        <p:txBody>
          <a:bodyPr/>
          <a:lstStyle/>
          <a:p>
            <a:r>
              <a:rPr lang="en-US" altLang="zh-CN" b="1" dirty="0"/>
              <a:t>Question 6. How many town halls that are in Faulkner County and within 2 miles of a railroad? (5 points)</a:t>
            </a:r>
            <a:endParaRPr lang="zh-CN" altLang="zh-CN" dirty="0"/>
          </a:p>
          <a:p>
            <a:r>
              <a:rPr lang="en-US" altLang="zh-CN" b="1" dirty="0"/>
              <a:t>Answer: 1</a:t>
            </a:r>
            <a:endParaRPr lang="zh-CN" altLang="zh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966D3A-01F7-DCAC-48F1-0D995BF1D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666" y="2026697"/>
            <a:ext cx="6644031" cy="426282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0C61F33D-C451-BE7E-466F-C4C7C2C6117C}"/>
              </a:ext>
            </a:extLst>
          </p:cNvPr>
          <p:cNvSpPr txBox="1">
            <a:spLocks/>
          </p:cNvSpPr>
          <p:nvPr/>
        </p:nvSpPr>
        <p:spPr>
          <a:xfrm>
            <a:off x="581192" y="568482"/>
            <a:ext cx="11029616" cy="6328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dirty="0"/>
              <a:t>Lab 04</a:t>
            </a:r>
          </a:p>
        </p:txBody>
      </p:sp>
    </p:spTree>
    <p:extLst>
      <p:ext uri="{BB962C8B-B14F-4D97-AF65-F5344CB8AC3E}">
        <p14:creationId xmlns:p14="http://schemas.microsoft.com/office/powerpoint/2010/main" val="2851968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03D40-BCBA-DBD0-9662-78D136DD6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941" y="1455341"/>
            <a:ext cx="4327691" cy="1759497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Question 7. How many streams intersect a railroad? (5 Points) </a:t>
            </a:r>
            <a:endParaRPr lang="zh-CN" altLang="zh-CN" sz="2000" dirty="0"/>
          </a:p>
          <a:p>
            <a:r>
              <a:rPr lang="en-US" altLang="zh-CN" sz="2000" b="1" dirty="0"/>
              <a:t>Answer: 19</a:t>
            </a:r>
            <a:endParaRPr lang="zh-CN" altLang="zh-CN" sz="2000" dirty="0"/>
          </a:p>
          <a:p>
            <a:endParaRPr lang="zh-CN" alt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825F43-99E2-EF6D-DDF9-FDE65CB53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746" y="1296516"/>
            <a:ext cx="6486577" cy="540870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2880718-9CBB-6DCC-CD79-A4BF43F08A42}"/>
              </a:ext>
            </a:extLst>
          </p:cNvPr>
          <p:cNvSpPr txBox="1">
            <a:spLocks/>
          </p:cNvSpPr>
          <p:nvPr/>
        </p:nvSpPr>
        <p:spPr>
          <a:xfrm>
            <a:off x="581192" y="568482"/>
            <a:ext cx="11029616" cy="6328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dirty="0"/>
              <a:t>Lab 04</a:t>
            </a:r>
          </a:p>
        </p:txBody>
      </p:sp>
    </p:spTree>
    <p:extLst>
      <p:ext uri="{BB962C8B-B14F-4D97-AF65-F5344CB8AC3E}">
        <p14:creationId xmlns:p14="http://schemas.microsoft.com/office/powerpoint/2010/main" val="40264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F51DF-B1E0-C3CA-8269-11D06DA92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898649"/>
            <a:ext cx="4127967" cy="1453895"/>
          </a:xfrm>
        </p:spPr>
        <p:txBody>
          <a:bodyPr/>
          <a:lstStyle/>
          <a:p>
            <a:r>
              <a:rPr lang="en-US" altLang="zh-CN" b="1" dirty="0"/>
              <a:t>Question 8. How many hydrographic landmarks are within 10 miles of a stream? (5 Points). </a:t>
            </a:r>
            <a:endParaRPr lang="zh-CN" altLang="zh-CN" dirty="0"/>
          </a:p>
          <a:p>
            <a:r>
              <a:rPr lang="en-US" altLang="zh-CN" b="1" dirty="0"/>
              <a:t>Answer: 15</a:t>
            </a:r>
            <a:endParaRPr lang="zh-CN" altLang="zh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5759B1-85C7-58A0-9229-6B0791EEF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7755" y="753749"/>
            <a:ext cx="6706472" cy="574369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82A176F-C537-C6F4-C3D5-1841FF0361B6}"/>
              </a:ext>
            </a:extLst>
          </p:cNvPr>
          <p:cNvSpPr txBox="1">
            <a:spLocks/>
          </p:cNvSpPr>
          <p:nvPr/>
        </p:nvSpPr>
        <p:spPr>
          <a:xfrm>
            <a:off x="581192" y="568482"/>
            <a:ext cx="11029616" cy="6328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1147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52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600" dirty="0"/>
              <a:t>Lab 04</a:t>
            </a:r>
          </a:p>
        </p:txBody>
      </p:sp>
    </p:spTree>
    <p:extLst>
      <p:ext uri="{BB962C8B-B14F-4D97-AF65-F5344CB8AC3E}">
        <p14:creationId xmlns:p14="http://schemas.microsoft.com/office/powerpoint/2010/main" val="2909911395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Week03_GEOG2475_Datum_Tuesday</Template>
  <TotalTime>147</TotalTime>
  <Words>227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DengXian</vt:lpstr>
      <vt:lpstr>Aptos Display</vt:lpstr>
      <vt:lpstr>Arial Black</vt:lpstr>
      <vt:lpstr>Calibri</vt:lpstr>
      <vt:lpstr>Cambria Math</vt:lpstr>
      <vt:lpstr>Wingdings</vt:lpstr>
      <vt:lpstr>Wingdings 2</vt:lpstr>
      <vt:lpstr>2_DividendVTI</vt:lpstr>
      <vt:lpstr>DividendVTI</vt:lpstr>
      <vt:lpstr>1_DividendVTI</vt:lpstr>
      <vt:lpstr>Lab 03 &amp; 04 summary</vt:lpstr>
      <vt:lpstr>PowerPoint Presentation</vt:lpstr>
      <vt:lpstr>Lab 03</vt:lpstr>
      <vt:lpstr>Lab 03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Yanan Wu</dc:creator>
  <cp:lastModifiedBy>Yanan Wu</cp:lastModifiedBy>
  <cp:revision>8</cp:revision>
  <dcterms:created xsi:type="dcterms:W3CDTF">2025-09-22T00:49:12Z</dcterms:created>
  <dcterms:modified xsi:type="dcterms:W3CDTF">2025-09-23T15:02:04Z</dcterms:modified>
</cp:coreProperties>
</file>