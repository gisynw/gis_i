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6" r:id="rId4"/>
    <p:sldId id="259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5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8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1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3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59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7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6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67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0AEDC-E445-4777-AA58-256DBE856A2E}" type="datetime1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17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FDC0E-2571-4B49-A099-A35911FE2571}" type="datetime1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40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49ABB-4417-47CD-80B9-0D55D8A8F9A6}" type="datetime1">
              <a:rPr lang="en-US" smtClean="0"/>
              <a:t>9/22/2025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737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4475E-0273-439D-974C-8782C6CF6085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3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4C3F7-B696-4E33-B8CA-A5029D94236E}" type="datetime1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78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242B4-A1B4-4224-ACE8-F64A6DFDF6CB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19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0FCFC-EFD5-4D6F-AF5D-114622F47081}" type="datetime1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80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FAFBCFB9-675F-4800-8AC7-ED3B357177A4}" type="datetime1">
              <a:rPr lang="en-US" smtClean="0"/>
              <a:t>9/22/2025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49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7AFB5-74EF-4A25-966B-E982CF09D51D}" type="datetime1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3922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939748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A43A2-25E5-4F4A-8CC5-2EB1720C6339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12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E9CE-A9D6-4C10-9743-25DD5C510D14}" type="datetime1">
              <a:rPr lang="en-US" smtClean="0"/>
              <a:t>9/22/2025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752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5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2"/>
            <a:ext cx="10993550" cy="1475013"/>
          </a:xfrm>
          <a:effectLst/>
        </p:spPr>
        <p:txBody>
          <a:bodyPr anchor="b">
            <a:normAutofit/>
          </a:bodyPr>
          <a:lstStyle>
            <a:lvl1pPr>
              <a:defRPr sz="324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6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440" cap="all">
                <a:solidFill>
                  <a:schemeClr val="accent1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29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340865"/>
            <a:ext cx="11029615" cy="3634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0676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5"/>
            <a:ext cx="11290861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2393951"/>
            <a:ext cx="11029615" cy="2147467"/>
          </a:xfrm>
        </p:spPr>
        <p:txBody>
          <a:bodyPr anchor="b">
            <a:normAutofit/>
          </a:bodyPr>
          <a:lstStyle>
            <a:lvl1pPr algn="l">
              <a:defRPr sz="324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8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620" cap="all">
                <a:solidFill>
                  <a:schemeClr val="accent1"/>
                </a:solidFill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05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33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marL="0" marR="0" lvl="0" indent="0" algn="l" defTabSz="4114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9" y="2926054"/>
            <a:ext cx="519477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1204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16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4323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8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8" y="933451"/>
            <a:ext cx="3031852" cy="172241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1800">
                <a:solidFill>
                  <a:schemeClr val="tx2"/>
                </a:solidFill>
              </a:defRPr>
            </a:lvl1pPr>
            <a:lvl2pPr>
              <a:defRPr sz="1620">
                <a:solidFill>
                  <a:schemeClr val="tx2"/>
                </a:solidFill>
              </a:defRPr>
            </a:lvl2pPr>
            <a:lvl3pPr>
              <a:defRPr sz="1440">
                <a:solidFill>
                  <a:schemeClr val="tx2"/>
                </a:solidFill>
              </a:defRPr>
            </a:lvl3pPr>
            <a:lvl4pPr>
              <a:defRPr sz="1260">
                <a:solidFill>
                  <a:schemeClr val="tx2"/>
                </a:solidFill>
              </a:defRPr>
            </a:lvl4pPr>
            <a:lvl5pPr>
              <a:defRPr sz="1260">
                <a:solidFill>
                  <a:schemeClr val="tx2"/>
                </a:solidFill>
              </a:defRPr>
            </a:lvl5pPr>
            <a:lvl6pPr>
              <a:defRPr sz="1260">
                <a:solidFill>
                  <a:schemeClr val="tx2"/>
                </a:solidFill>
              </a:defRPr>
            </a:lvl6pPr>
            <a:lvl7pPr>
              <a:defRPr sz="1260">
                <a:solidFill>
                  <a:schemeClr val="tx2"/>
                </a:solidFill>
              </a:defRPr>
            </a:lvl7pPr>
            <a:lvl8pPr>
              <a:defRPr sz="1260">
                <a:solidFill>
                  <a:schemeClr val="tx2"/>
                </a:solidFill>
              </a:defRPr>
            </a:lvl8pPr>
            <a:lvl9pPr>
              <a:defRPr sz="126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8" y="2836655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440">
                <a:solidFill>
                  <a:srgbClr val="FFFFFF"/>
                </a:solidFill>
              </a:defRPr>
            </a:lvl1pPr>
            <a:lvl2pPr marL="411470" indent="0">
              <a:buNone/>
              <a:defRPr sz="991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2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1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428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9"/>
          </a:xfrm>
        </p:spPr>
        <p:txBody>
          <a:bodyPr anchor="b">
            <a:normAutofit/>
          </a:bodyPr>
          <a:lstStyle>
            <a:lvl1pPr algn="l">
              <a:defRPr sz="216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8" y="641352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440"/>
            </a:lvl1pPr>
            <a:lvl2pPr marL="411470" indent="0">
              <a:buNone/>
              <a:defRPr sz="1440"/>
            </a:lvl2pPr>
            <a:lvl3pPr marL="822939" indent="0">
              <a:buNone/>
              <a:defRPr sz="1440"/>
            </a:lvl3pPr>
            <a:lvl4pPr marL="1234409" indent="0">
              <a:buNone/>
              <a:defRPr sz="1440"/>
            </a:lvl4pPr>
            <a:lvl5pPr marL="1645879" indent="0">
              <a:buNone/>
              <a:defRPr sz="1440"/>
            </a:lvl5pPr>
            <a:lvl6pPr marL="2057349" indent="0">
              <a:buNone/>
              <a:defRPr sz="1440"/>
            </a:lvl6pPr>
            <a:lvl7pPr marL="2468818" indent="0">
              <a:buNone/>
              <a:defRPr sz="1440"/>
            </a:lvl7pPr>
            <a:lvl8pPr marL="2880288" indent="0">
              <a:buNone/>
              <a:defRPr sz="1440"/>
            </a:lvl8pPr>
            <a:lvl9pPr marL="3291758" indent="0">
              <a:buNone/>
              <a:defRPr sz="144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6" cy="998148"/>
          </a:xfrm>
        </p:spPr>
        <p:txBody>
          <a:bodyPr anchor="t">
            <a:normAutofit/>
          </a:bodyPr>
          <a:lstStyle>
            <a:lvl1pPr marL="0" indent="0">
              <a:buNone/>
              <a:defRPr sz="1440"/>
            </a:lvl1pPr>
            <a:lvl2pPr marL="411470" indent="0">
              <a:buNone/>
              <a:defRPr sz="1080"/>
            </a:lvl2pPr>
            <a:lvl3pPr marL="822939" indent="0">
              <a:buNone/>
              <a:defRPr sz="900"/>
            </a:lvl3pPr>
            <a:lvl4pPr marL="1234409" indent="0">
              <a:buNone/>
              <a:defRPr sz="811"/>
            </a:lvl4pPr>
            <a:lvl5pPr marL="1645879" indent="0">
              <a:buNone/>
              <a:defRPr sz="811"/>
            </a:lvl5pPr>
            <a:lvl6pPr marL="2057349" indent="0">
              <a:buNone/>
              <a:defRPr sz="811"/>
            </a:lvl6pPr>
            <a:lvl7pPr marL="2468818" indent="0">
              <a:buNone/>
              <a:defRPr sz="811"/>
            </a:lvl7pPr>
            <a:lvl8pPr marL="2880288" indent="0">
              <a:buNone/>
              <a:defRPr sz="811"/>
            </a:lvl8pPr>
            <a:lvl9pPr marL="3291758" indent="0">
              <a:buNone/>
              <a:defRPr sz="8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1378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3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2468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6"/>
            <a:ext cx="3687316" cy="58169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1" y="863601"/>
            <a:ext cx="3124200" cy="4807327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4" y="863601"/>
            <a:ext cx="7161625" cy="4807327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7227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9288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BBD7142-2D62-4275-8D30-E189AD7A810B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5E750CD-EB9A-4987-B764-BFBBFF3C782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722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928516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75824D9-FB06-4772-8A16-CEC7F6E704E4}" type="datetime1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4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3" y="705124"/>
            <a:ext cx="11029616" cy="11895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2336003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2" y="642391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5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6423915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5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28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411470" rtl="0" eaLnBrk="1" latinLnBrk="0" hangingPunct="1">
        <a:lnSpc>
          <a:spcPct val="100000"/>
        </a:lnSpc>
        <a:spcBef>
          <a:spcPct val="0"/>
        </a:spcBef>
        <a:buNone/>
        <a:defRPr sz="252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5393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66986" indent="-275393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980" indent="-242994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17772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41764" indent="-210595" algn="l" defTabSz="411470" rtl="0" eaLnBrk="1" latinLnBrk="0" hangingPunct="1">
        <a:lnSpc>
          <a:spcPct val="100000"/>
        </a:lnSpc>
        <a:spcBef>
          <a:spcPct val="20000"/>
        </a:spcBef>
        <a:spcAft>
          <a:spcPts val="54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70995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6pPr>
      <a:lvl7pPr marL="1979951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7pPr>
      <a:lvl8pPr marL="2249944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8pPr>
      <a:lvl9pPr marL="2519937" indent="-205735" algn="l" defTabSz="411470" rtl="0" eaLnBrk="1" latinLnBrk="0" hangingPunct="1">
        <a:spcBef>
          <a:spcPct val="20000"/>
        </a:spcBef>
        <a:spcAft>
          <a:spcPts val="54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41147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5FF2A-DBDE-DFB4-BB72-2E38BC76C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715" y="708498"/>
            <a:ext cx="7574507" cy="333005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Lab 03 &amp; 04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C9145E-CBDE-EF21-2EED-2958983E1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715" y="4502576"/>
            <a:ext cx="7574507" cy="1640983"/>
          </a:xfrm>
        </p:spPr>
        <p:txBody>
          <a:bodyPr anchor="t">
            <a:normAutofit/>
          </a:bodyPr>
          <a:lstStyle/>
          <a:p>
            <a:endParaRPr lang="en-US" sz="3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843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0BFB2F-DC81-2E96-2B00-A680521F9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8653" y="1858164"/>
            <a:ext cx="6996868" cy="48130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7B87E4-CD55-1ABD-E1B9-CE4357D31F70}"/>
              </a:ext>
            </a:extLst>
          </p:cNvPr>
          <p:cNvSpPr txBox="1"/>
          <p:nvPr/>
        </p:nvSpPr>
        <p:spPr>
          <a:xfrm>
            <a:off x="581194" y="1225296"/>
            <a:ext cx="11287718" cy="70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indent="-635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altLang="zh-CN" sz="1800" b="1" dirty="0">
                <a:effectLst/>
                <a:latin typeface="Calibri" panose="020F05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Question 2. Is this map currently being displayed in a geographic or projected coordinate system? (3 Points) </a:t>
            </a:r>
            <a:endParaRPr lang="zh-CN" altLang="zh-CN" sz="1800" b="1" dirty="0">
              <a:effectLst/>
              <a:latin typeface="Calibri" panose="020F05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  <a:p>
            <a:pPr marL="6350" indent="-6350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altLang="zh-CN" sz="1800" b="1" dirty="0">
                <a:effectLst/>
                <a:latin typeface="Calibri" panose="020F050202020403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Answer: Projected coordinate system</a:t>
            </a:r>
            <a:endParaRPr lang="zh-CN" altLang="zh-CN" sz="1800" b="1" dirty="0">
              <a:effectLst/>
              <a:latin typeface="Calibri" panose="020F050202020403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A8E54C-F8AF-5F1A-4F92-7AE972264B45}"/>
              </a:ext>
            </a:extLst>
          </p:cNvPr>
          <p:cNvSpPr txBox="1">
            <a:spLocks/>
          </p:cNvSpPr>
          <p:nvPr/>
        </p:nvSpPr>
        <p:spPr>
          <a:xfrm>
            <a:off x="581194" y="592428"/>
            <a:ext cx="11029616" cy="6328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1147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52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600"/>
              <a:t>Lab 03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83668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0592-8F93-E4F0-E934-9E7A1ECC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92428"/>
            <a:ext cx="11029616" cy="63286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E175-7A99-92B4-7A2B-28E01F505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408177"/>
            <a:ext cx="11029615" cy="1408175"/>
          </a:xfrm>
        </p:spPr>
        <p:txBody>
          <a:bodyPr>
            <a:normAutofit/>
          </a:bodyPr>
          <a:lstStyle/>
          <a:p>
            <a:r>
              <a:rPr lang="en-US" sz="2800" b="1" dirty="0"/>
              <a:t>Question 8.</a:t>
            </a:r>
            <a:r>
              <a:rPr lang="en-US" sz="2800" dirty="0"/>
              <a:t> What is the pixel depth? (3 Points) </a:t>
            </a:r>
          </a:p>
          <a:p>
            <a:r>
              <a:rPr lang="en-US" sz="2800" b="1" dirty="0"/>
              <a:t>Answer:</a:t>
            </a:r>
            <a:r>
              <a:rPr lang="en-US" sz="2800" dirty="0"/>
              <a:t> 8 bit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86D09-35A9-7F6C-D424-73B55484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197" y="3198468"/>
            <a:ext cx="3971429" cy="2619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81AB4F-8005-AAF5-BC61-EFA05CF97957}"/>
              </a:ext>
            </a:extLst>
          </p:cNvPr>
          <p:cNvSpPr txBox="1"/>
          <p:nvPr/>
        </p:nvSpPr>
        <p:spPr>
          <a:xfrm>
            <a:off x="581194" y="2889504"/>
            <a:ext cx="6094476" cy="2064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number of bits used to represent the color or value of each pixel. </a:t>
            </a:r>
          </a:p>
          <a:p>
            <a:pPr marL="457200" indent="-457200" defTabSz="411470">
              <a:spcBef>
                <a:spcPct val="20000"/>
              </a:spcBef>
              <a:spcAft>
                <a:spcPts val="540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higher pixel depth means more bits are allocated per pixel, allowing for a greater range of values and a more accurate representation of color or intensity.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C2438-4179-C858-42BD-DE07CA40F2A1}"/>
                  </a:ext>
                </a:extLst>
              </p:cNvPr>
              <p:cNvSpPr txBox="1"/>
              <p:nvPr/>
            </p:nvSpPr>
            <p:spPr>
              <a:xfrm>
                <a:off x="2311696" y="5449823"/>
                <a:ext cx="31643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=256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possible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value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C2438-4179-C858-42BD-DE07CA40F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696" y="5449823"/>
                <a:ext cx="3164392" cy="276999"/>
              </a:xfrm>
              <a:prstGeom prst="rect">
                <a:avLst/>
              </a:prstGeom>
              <a:blipFill>
                <a:blip r:embed="rId3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73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4BDE3-61DE-9D05-B5A8-E96B510823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668" y="2012379"/>
            <a:ext cx="5844124" cy="4667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00FF2-5C16-58FD-A6C4-E004363B3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3280938"/>
            <a:ext cx="5101797" cy="3372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BEA44A-8F86-C8F2-7057-B42B2E8B6790}"/>
              </a:ext>
            </a:extLst>
          </p:cNvPr>
          <p:cNvSpPr txBox="1"/>
          <p:nvPr/>
        </p:nvSpPr>
        <p:spPr>
          <a:xfrm>
            <a:off x="581190" y="1289304"/>
            <a:ext cx="11187138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Question 10. </a:t>
            </a:r>
            <a:r>
              <a:rPr lang="en-US" altLang="zh-CN" sz="18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DengXian Light" panose="02010600030101010101" pitchFamily="2" charset="-122"/>
                <a:cs typeface="Times New Roman" panose="02020603050405020304" pitchFamily="18" charset="0"/>
              </a:rPr>
              <a:t>What is the area for cultivated crop? (3 Points) (Hint, area= number of pixels x size of a pixel)</a:t>
            </a:r>
            <a:endParaRPr lang="zh-CN" altLang="zh-CN" sz="1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DengXian Light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39A71DE-C442-69BA-BB3C-C52749B8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4" y="592428"/>
            <a:ext cx="11029616" cy="63286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Lab 03</a:t>
            </a:r>
          </a:p>
        </p:txBody>
      </p:sp>
    </p:spTree>
    <p:extLst>
      <p:ext uri="{BB962C8B-B14F-4D97-AF65-F5344CB8AC3E}">
        <p14:creationId xmlns:p14="http://schemas.microsoft.com/office/powerpoint/2010/main" val="720521790"/>
      </p:ext>
    </p:extLst>
  </p:cSld>
  <p:clrMapOvr>
    <a:masterClrMapping/>
  </p:clrMapOvr>
</p:sld>
</file>

<file path=ppt/theme/theme1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Week03_GEOG2475_Datum_Tuesday</Template>
  <TotalTime>114</TotalTime>
  <Words>135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 Display</vt:lpstr>
      <vt:lpstr>Arial Black</vt:lpstr>
      <vt:lpstr>Calibri</vt:lpstr>
      <vt:lpstr>Cambria Math</vt:lpstr>
      <vt:lpstr>Wingdings</vt:lpstr>
      <vt:lpstr>Wingdings 2</vt:lpstr>
      <vt:lpstr>2_DividendVTI</vt:lpstr>
      <vt:lpstr>DividendVTI</vt:lpstr>
      <vt:lpstr>1_DividendVTI</vt:lpstr>
      <vt:lpstr>Lab 03 &amp; 04 summary</vt:lpstr>
      <vt:lpstr>PowerPoint Presentation</vt:lpstr>
      <vt:lpstr>Lab 03</vt:lpstr>
      <vt:lpstr>Lab 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Yanan Wu</dc:creator>
  <cp:lastModifiedBy>Yanan Wu</cp:lastModifiedBy>
  <cp:revision>4</cp:revision>
  <dcterms:created xsi:type="dcterms:W3CDTF">2025-09-22T00:49:12Z</dcterms:created>
  <dcterms:modified xsi:type="dcterms:W3CDTF">2025-09-22T21:26:32Z</dcterms:modified>
</cp:coreProperties>
</file>