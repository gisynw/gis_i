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9" r:id="rId5"/>
    <p:sldMasterId id="2147483722" r:id="rId6"/>
    <p:sldMasterId id="2147483734" r:id="rId7"/>
  </p:sldMasterIdLst>
  <p:notesMasterIdLst>
    <p:notesMasterId r:id="rId16"/>
  </p:notesMasterIdLst>
  <p:sldIdLst>
    <p:sldId id="914" r:id="rId8"/>
    <p:sldId id="1647" r:id="rId9"/>
    <p:sldId id="1648" r:id="rId10"/>
    <p:sldId id="1649" r:id="rId11"/>
    <p:sldId id="1650" r:id="rId12"/>
    <p:sldId id="1651" r:id="rId13"/>
    <p:sldId id="1652" r:id="rId14"/>
    <p:sldId id="165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D7BB3-82EF-4F72-89D3-BF5798D9E9AF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AA43C-FBAB-4A75-8279-7A00E3AEEC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71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07943-197E-CE46-82F0-5A323A24AE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019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65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33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31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454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34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056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995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43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30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346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650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AF446-C7A3-4A2D-B01C-4080BC0DDC51}" type="datetime1">
              <a:rPr lang="en-US" smtClean="0"/>
              <a:t>9/18/2025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08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5B41-BFC4-4275-B283-99B49DA65AE7}" type="datetime1">
              <a:rPr lang="en-US" smtClean="0"/>
              <a:t>9/18/2025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30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5041-7C46-4557-A8EF-D9C07452E04F}" type="datetime1">
              <a:rPr lang="en-US" smtClean="0"/>
              <a:t>9/18/2025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34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F29B-8031-46B1-B8C6-0E15991220BD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57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BC96-89B3-4A8F-8C3A-8FECB7F0AF50}" type="datetime1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37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BEE-F3E4-4F76-B56D-1C48BBD7AEA9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90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79E3-AE5C-4717-978E-15FC3620ACEF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16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07B82B69-02FF-4A00-BF94-063310C8EF70}" type="datetime1">
              <a:rPr lang="en-US" smtClean="0"/>
              <a:t>9/18/2025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95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3C19-50BF-43F6-AD63-C05469BE5035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98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5F4A-7979-4619-A182-7748F9FBAA45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28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0E10-3CDB-43FE-B1B5-7D3654751138}" type="datetime1">
              <a:rPr lang="en-US" smtClean="0"/>
              <a:t>9/18/2025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798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9/18/2025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40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9/18/2025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67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9/18/2025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8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75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30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210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448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1E09BAED-B7FC-4220-8037-60663F890984}" type="datetime1">
              <a:rPr lang="en-US" smtClean="0"/>
              <a:t>9/18/2025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071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90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662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9/18/2025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718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1200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5493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451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6970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625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335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695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307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7226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351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5913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82911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553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336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5461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0028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94270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747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124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240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576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1096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6890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08049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7409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0982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662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3856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3263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6278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859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4161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16281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51063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7859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1844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80406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39045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0467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31412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19675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40393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5835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98231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502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3451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1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64CF15-8E02-4BE3-8BED-2B7E53A4CE0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85ED863-5916-47AD-B630-516A65E1DCB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4268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1ED8BDC-014F-440E-B651-A3D5A758B980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946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113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14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664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1913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4490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AAAB002-E48E-4009-828A-511F7A828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192" b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7EF55D5-23F0-4398-B16B-AEF5778C3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7" y="423123"/>
            <a:ext cx="4216219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F32581-CAA1-43C6-8532-DC56C8435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067" y="601200"/>
            <a:ext cx="4214869" cy="5757055"/>
          </a:xfrm>
          <a:prstGeom prst="rect">
            <a:avLst/>
          </a:prstGeom>
          <a:solidFill>
            <a:srgbClr val="465359">
              <a:alpha val="97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540" y="1131195"/>
            <a:ext cx="3730810" cy="12479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WEEK 05 </a:t>
            </a:r>
            <a:b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zh-CN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attribute and </a:t>
            </a:r>
            <a:br>
              <a:rPr lang="en-US" altLang="zh-CN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zh-CN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geodatabase</a:t>
            </a:r>
            <a:b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16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531" y="2438399"/>
            <a:ext cx="3730810" cy="3505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Instructor: Yanan Wu</a:t>
            </a:r>
          </a:p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 </a:t>
            </a:r>
          </a:p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r>
              <a:rPr lang="en-US">
                <a:solidFill>
                  <a:srgbClr val="FFFFFF"/>
                </a:solidFill>
              </a:rPr>
              <a:t>fALL 2025</a:t>
            </a:r>
          </a:p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endParaRPr lang="en-US">
              <a:solidFill>
                <a:srgbClr val="FFFFFF"/>
              </a:solidFill>
            </a:endParaRPr>
          </a:p>
          <a:p>
            <a:pPr defTabSz="457200">
              <a:spcAft>
                <a:spcPts val="600"/>
              </a:spcAft>
              <a:buFont typeface="Wingdings 2" panose="05020102010507070707" pitchFamily="18" charset="2"/>
              <a:buChar char=""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7574507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/>
            <a:r>
              <a:rPr lang="en-US" sz="60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5.1 </a:t>
            </a:r>
            <a:br>
              <a:rPr lang="en-US" sz="60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Attribute table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B3F76-666B-AEB2-D381-65728CEAE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047" y="1703199"/>
            <a:ext cx="3853649" cy="2313432"/>
          </a:xfrm>
        </p:spPr>
        <p:txBody>
          <a:bodyPr>
            <a:normAutofit/>
          </a:bodyPr>
          <a:lstStyle/>
          <a:p>
            <a:r>
              <a:rPr lang="en-US" altLang="zh-CN" b="1" dirty="0"/>
              <a:t>Question 1. How many layers are included on this map excepting the background layers of World Topographic Map and World </a:t>
            </a:r>
            <a:r>
              <a:rPr lang="en-US" altLang="zh-CN" b="1" dirty="0" err="1"/>
              <a:t>Hillshade</a:t>
            </a:r>
            <a:r>
              <a:rPr lang="en-US" altLang="zh-CN" b="1" dirty="0"/>
              <a:t>? (5 Points) </a:t>
            </a:r>
            <a:endParaRPr lang="zh-CN" altLang="zh-CN" b="1" dirty="0"/>
          </a:p>
          <a:p>
            <a:r>
              <a:rPr lang="en-US" altLang="zh-CN" b="1" dirty="0"/>
              <a:t>Answer 1:</a:t>
            </a:r>
            <a:r>
              <a:rPr lang="en-US" altLang="zh-CN" dirty="0"/>
              <a:t> 8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42F9EE-3757-1D85-8DC0-EB62ACCF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938" y="793701"/>
            <a:ext cx="5752015" cy="579792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596FA6F-5733-0F95-E736-160AF2C4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77" y="618034"/>
            <a:ext cx="11029616" cy="477420"/>
          </a:xfrm>
        </p:spPr>
        <p:txBody>
          <a:bodyPr/>
          <a:lstStyle/>
          <a:p>
            <a:r>
              <a:rPr lang="en-US" altLang="zh-CN" dirty="0"/>
              <a:t>Lab 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855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9837-D9D6-9869-DFD8-E7FDE3ED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495708"/>
          </a:xfrm>
        </p:spPr>
        <p:txBody>
          <a:bodyPr/>
          <a:lstStyle/>
          <a:p>
            <a:r>
              <a:rPr lang="en-US" altLang="zh-CN" dirty="0"/>
              <a:t>Lab 02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24334-FB88-B2F1-9F1A-FF68D1F27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298449"/>
            <a:ext cx="11029615" cy="2779775"/>
          </a:xfrm>
        </p:spPr>
        <p:txBody>
          <a:bodyPr>
            <a:normAutofit/>
          </a:bodyPr>
          <a:lstStyle/>
          <a:p>
            <a:r>
              <a:rPr lang="en-US" altLang="zh-CN" b="1" dirty="0"/>
              <a:t>Question 7. What property (distance, local angels, area, shape) are conformal projections designed to maintain? (4 Points) </a:t>
            </a:r>
            <a:endParaRPr lang="zh-CN" altLang="zh-CN" b="1" dirty="0"/>
          </a:p>
          <a:p>
            <a:pPr marL="0" indent="0">
              <a:buNone/>
            </a:pPr>
            <a:r>
              <a:rPr lang="en-US" altLang="zh-CN" b="1" dirty="0"/>
              <a:t>Answer:</a:t>
            </a:r>
            <a:r>
              <a:rPr lang="en-US" altLang="zh-CN" dirty="0"/>
              <a:t> local angels, and shape</a:t>
            </a:r>
          </a:p>
          <a:p>
            <a:endParaRPr lang="en-US" altLang="zh-CN" dirty="0"/>
          </a:p>
          <a:p>
            <a:r>
              <a:rPr lang="en-US" altLang="zh-CN" b="1" dirty="0"/>
              <a:t>Question 4. In what UTM zone is Arkansas located? (4 Points) </a:t>
            </a:r>
            <a:endParaRPr lang="zh-CN" altLang="zh-CN" b="1" dirty="0"/>
          </a:p>
          <a:p>
            <a:pPr marL="0" marR="473710" indent="0">
              <a:buNone/>
            </a:pPr>
            <a:r>
              <a:rPr lang="en-US" altLang="zh-CN" b="1" dirty="0"/>
              <a:t>Answer: 15 (58 is OBJECT ID, assigned by system)</a:t>
            </a:r>
            <a:endParaRPr lang="zh-CN" altLang="zh-CN" b="1" dirty="0"/>
          </a:p>
          <a:p>
            <a:endParaRPr lang="zh-CN" altLang="zh-CN" dirty="0"/>
          </a:p>
        </p:txBody>
      </p:sp>
      <p:pic>
        <p:nvPicPr>
          <p:cNvPr id="8" name="Picture 7" descr="A map of the united states&#10;&#10;AI-generated content may be incorrect.">
            <a:extLst>
              <a:ext uri="{FF2B5EF4-FFF2-40B4-BE49-F238E27FC236}">
                <a16:creationId xmlns:a16="http://schemas.microsoft.com/office/drawing/2014/main" id="{1C7F303C-B49C-8D7D-917E-33F1D4FBF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017" y="2502569"/>
            <a:ext cx="5551394" cy="401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5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A64D99-2AC0-2B82-92F1-6FFCE1655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97697"/>
            <a:ext cx="5423853" cy="3633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FB038A-A9E2-748A-BCCD-1D4C49068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97697"/>
            <a:ext cx="5423853" cy="37907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B85D51-9101-B33B-1BBF-9FCFA8C9069D}"/>
              </a:ext>
            </a:extLst>
          </p:cNvPr>
          <p:cNvSpPr txBox="1"/>
          <p:nvPr/>
        </p:nvSpPr>
        <p:spPr>
          <a:xfrm>
            <a:off x="478937" y="1256437"/>
            <a:ext cx="1123412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365125" indent="-6350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2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Deliverable 1. Provide a screenshot of Asia map using Asian Lambert Conformal Conic projection that can maintain the relative shape of the countries. (4  Points) </a:t>
            </a:r>
            <a:endParaRPr lang="zh-CN" altLang="zh-CN" sz="162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D8EA696-3FAA-FDB0-6318-08DE5DEC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33625"/>
            <a:ext cx="11029616" cy="495708"/>
          </a:xfrm>
        </p:spPr>
        <p:txBody>
          <a:bodyPr/>
          <a:lstStyle/>
          <a:p>
            <a:r>
              <a:rPr lang="en-US" altLang="zh-CN" dirty="0"/>
              <a:t>Lab 02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748F2-7DDC-2F88-D976-E2BF778D12E7}"/>
              </a:ext>
            </a:extLst>
          </p:cNvPr>
          <p:cNvSpPr txBox="1"/>
          <p:nvPr/>
        </p:nvSpPr>
        <p:spPr>
          <a:xfrm>
            <a:off x="1892808" y="2346870"/>
            <a:ext cx="124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WGS 1984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3547BB-FD75-A79F-D697-7AEFCF863183}"/>
              </a:ext>
            </a:extLst>
          </p:cNvPr>
          <p:cNvSpPr txBox="1"/>
          <p:nvPr/>
        </p:nvSpPr>
        <p:spPr>
          <a:xfrm>
            <a:off x="6096000" y="2346870"/>
            <a:ext cx="4523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Asian Lambert Conformal Conic projection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615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14638A-0F53-B2A3-8029-DC996E8D1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3" y="3024663"/>
            <a:ext cx="6673703" cy="3633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C31930-F446-654F-08E7-E0CC94D71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004" y="3341802"/>
            <a:ext cx="5304996" cy="33166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A97A84-F61A-5955-EC58-265BF3CBCC25}"/>
              </a:ext>
            </a:extLst>
          </p:cNvPr>
          <p:cNvSpPr txBox="1"/>
          <p:nvPr/>
        </p:nvSpPr>
        <p:spPr>
          <a:xfrm>
            <a:off x="581192" y="1369784"/>
            <a:ext cx="110296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effectLst/>
                <a:latin typeface="Calibri" panose="020F05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Question 9. What was the reported distance in kilometers between New York and London (they are red points on the map)?</a:t>
            </a:r>
          </a:p>
          <a:p>
            <a:r>
              <a:rPr lang="en-US" altLang="zh-CN" b="1" kern="0" dirty="0">
                <a:latin typeface="Calibri" panose="020F05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A: </a:t>
            </a:r>
            <a:r>
              <a:rPr lang="en-US" altLang="zh-CN" dirty="0"/>
              <a:t>8379.92 km</a:t>
            </a:r>
            <a:endParaRPr lang="zh-CN" altLang="en-US" b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72A45BB-24DC-C37B-5F9D-F7A16600987F}"/>
              </a:ext>
            </a:extLst>
          </p:cNvPr>
          <p:cNvSpPr txBox="1">
            <a:spLocks/>
          </p:cNvSpPr>
          <p:nvPr/>
        </p:nvSpPr>
        <p:spPr>
          <a:xfrm>
            <a:off x="581192" y="698020"/>
            <a:ext cx="11029616" cy="4957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114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2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Lab 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5128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72708-2971-BA89-A402-79F3A1C66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1166" y="2901625"/>
            <a:ext cx="6020400" cy="3089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8257E7-A94D-A6BA-243A-A6CC0C1DA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34" y="2901625"/>
            <a:ext cx="5757556" cy="30892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1CBC81-09C4-8FC7-F8D4-C5BBF30E0D42}"/>
              </a:ext>
            </a:extLst>
          </p:cNvPr>
          <p:cNvSpPr txBox="1"/>
          <p:nvPr/>
        </p:nvSpPr>
        <p:spPr>
          <a:xfrm>
            <a:off x="1163420" y="2065490"/>
            <a:ext cx="3212866" cy="704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365125" indent="-6350" algn="ctr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2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Geographic Coordinate System</a:t>
            </a:r>
          </a:p>
          <a:p>
            <a:pPr marL="6350" marR="365125" indent="-6350" algn="ctr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2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WGS 84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CAE00B-6622-9742-F573-008A2C8D5C46}"/>
              </a:ext>
            </a:extLst>
          </p:cNvPr>
          <p:cNvSpPr txBox="1"/>
          <p:nvPr/>
        </p:nvSpPr>
        <p:spPr>
          <a:xfrm>
            <a:off x="7815716" y="2065490"/>
            <a:ext cx="3212866" cy="704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365125" indent="-6350" algn="ctr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2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Projected Coordinate System</a:t>
            </a:r>
          </a:p>
          <a:p>
            <a:pPr marL="6350" marR="365125" indent="-6350" algn="ctr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2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Mercator Projection</a:t>
            </a:r>
            <a:endParaRPr lang="zh-CN" altLang="zh-CN" sz="162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F7108F-C460-B3D1-C4BB-DA3C05E9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608708"/>
            <a:ext cx="11029950" cy="514477"/>
          </a:xfrm>
        </p:spPr>
        <p:txBody>
          <a:bodyPr/>
          <a:lstStyle/>
          <a:p>
            <a:r>
              <a:rPr lang="en-US" altLang="zh-CN" dirty="0"/>
              <a:t>Lab 02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F85E1-A847-BA45-8A87-D0705883DA44}"/>
              </a:ext>
            </a:extLst>
          </p:cNvPr>
          <p:cNvSpPr txBox="1"/>
          <p:nvPr/>
        </p:nvSpPr>
        <p:spPr>
          <a:xfrm>
            <a:off x="581025" y="1329062"/>
            <a:ext cx="11029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0" dirty="0">
                <a:effectLst/>
                <a:latin typeface="Calibri" panose="020F05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Question 9. What was the reported distance in kilometers between New York and London (they are red points on the map)?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06035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6F50E7-18E7-8A36-CBDC-C3CE3604C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311" y="3400139"/>
            <a:ext cx="5218663" cy="3133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619F79-9CFE-8B7D-B32F-8279B766C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00138"/>
            <a:ext cx="5617945" cy="31134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9198D-77F1-24BE-35DE-0E4151DD7687}"/>
              </a:ext>
            </a:extLst>
          </p:cNvPr>
          <p:cNvSpPr txBox="1"/>
          <p:nvPr/>
        </p:nvSpPr>
        <p:spPr>
          <a:xfrm>
            <a:off x="1154276" y="2558041"/>
            <a:ext cx="3212866" cy="704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365125" indent="-6350" algn="ctr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2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Geographic Coordinate System</a:t>
            </a:r>
          </a:p>
          <a:p>
            <a:pPr marL="6350" marR="365125" indent="-6350" algn="ctr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2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WGS 84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DEA6D-1A0F-A49D-5B0A-BC0CE36F9011}"/>
              </a:ext>
            </a:extLst>
          </p:cNvPr>
          <p:cNvSpPr txBox="1"/>
          <p:nvPr/>
        </p:nvSpPr>
        <p:spPr>
          <a:xfrm>
            <a:off x="7552991" y="2561760"/>
            <a:ext cx="3212866" cy="701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365125" indent="-6350" algn="ctr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2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Projected Coordinate System</a:t>
            </a:r>
          </a:p>
          <a:p>
            <a:pPr marL="6350" marR="365125" indent="-6350" algn="ctr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</a:pPr>
            <a:r>
              <a:rPr lang="en-US" altLang="zh-CN" sz="1600" kern="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Mollweide projection</a:t>
            </a:r>
            <a:endParaRPr lang="en-US" altLang="zh-CN" sz="162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113491-E510-F091-73C3-A1FDD6732CA8}"/>
              </a:ext>
            </a:extLst>
          </p:cNvPr>
          <p:cNvSpPr txBox="1"/>
          <p:nvPr/>
        </p:nvSpPr>
        <p:spPr>
          <a:xfrm>
            <a:off x="773049" y="121217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Verdana" panose="020B0604030504040204" pitchFamily="34" charset="0"/>
              </a:rPr>
              <a:t>Q10: Does the Mollweide projection distort shape?</a:t>
            </a:r>
          </a:p>
          <a:p>
            <a:r>
              <a:rPr lang="en-US" altLang="zh-CN" kern="0" dirty="0">
                <a:solidFill>
                  <a:srgbClr val="000000"/>
                </a:solidFill>
                <a:latin typeface="Calibri" panose="020F0502020204030204" pitchFamily="34" charset="0"/>
                <a:ea typeface="Verdana" panose="020B0604030504040204" pitchFamily="34" charset="0"/>
              </a:rPr>
              <a:t>Yes</a:t>
            </a:r>
            <a:endParaRPr lang="zh-CN" alt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AB5BBF8-83D6-3720-0ADF-5AAF00622BF3}"/>
              </a:ext>
            </a:extLst>
          </p:cNvPr>
          <p:cNvSpPr txBox="1">
            <a:spLocks/>
          </p:cNvSpPr>
          <p:nvPr/>
        </p:nvSpPr>
        <p:spPr>
          <a:xfrm>
            <a:off x="581025" y="563266"/>
            <a:ext cx="11029950" cy="514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114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2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dirty="0"/>
              <a:t>Lab 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908110"/>
      </p:ext>
    </p:extLst>
  </p:cSld>
  <p:clrMapOvr>
    <a:masterClrMapping/>
  </p:clrMapOvr>
</p:sld>
</file>

<file path=ppt/theme/theme1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4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Week05_GEOG2475_TU</Template>
  <TotalTime>121</TotalTime>
  <Words>244</Words>
  <Application>Microsoft Office PowerPoint</Application>
  <PresentationFormat>Widescreen</PresentationFormat>
  <Paragraphs>35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等线</vt:lpstr>
      <vt:lpstr>Arial Black</vt:lpstr>
      <vt:lpstr>Calibri</vt:lpstr>
      <vt:lpstr>Wingdings 2</vt:lpstr>
      <vt:lpstr>3_DividendVTI</vt:lpstr>
      <vt:lpstr>2_DividendVTI</vt:lpstr>
      <vt:lpstr>DividendVTI</vt:lpstr>
      <vt:lpstr>1_DividendVTI</vt:lpstr>
      <vt:lpstr>4_DividendVTI</vt:lpstr>
      <vt:lpstr>5_DividendVTI</vt:lpstr>
      <vt:lpstr>6_DividendVTI</vt:lpstr>
      <vt:lpstr>WEEK 05  attribute and  geodatabase  lecture</vt:lpstr>
      <vt:lpstr>5.1  Attribute table</vt:lpstr>
      <vt:lpstr>Lab 01</vt:lpstr>
      <vt:lpstr>Lab 02</vt:lpstr>
      <vt:lpstr>Lab 02</vt:lpstr>
      <vt:lpstr>PowerPoint Presentation</vt:lpstr>
      <vt:lpstr>Lab 02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Yanan Wu</dc:creator>
  <cp:lastModifiedBy>Yanan Wu</cp:lastModifiedBy>
  <cp:revision>7</cp:revision>
  <dcterms:created xsi:type="dcterms:W3CDTF">2025-09-17T14:00:24Z</dcterms:created>
  <dcterms:modified xsi:type="dcterms:W3CDTF">2025-09-18T14:36:39Z</dcterms:modified>
</cp:coreProperties>
</file>